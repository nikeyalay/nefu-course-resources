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5" r:id="rId10"/>
    <p:sldId id="264" r:id="rId11"/>
    <p:sldId id="263" r:id="rId12"/>
    <p:sldId id="266" r:id="rId13"/>
    <p:sldId id="268" r:id="rId14"/>
    <p:sldId id="267" r:id="rId15"/>
    <p:sldId id="269" r:id="rId16"/>
    <p:sldId id="271" r:id="rId17"/>
    <p:sldId id="270" r:id="rId18"/>
    <p:sldId id="272" r:id="rId19"/>
    <p:sldId id="274" r:id="rId20"/>
    <p:sldId id="273" r:id="rId21"/>
    <p:sldId id="276" r:id="rId22"/>
    <p:sldId id="275" r:id="rId23"/>
    <p:sldId id="278" r:id="rId24"/>
    <p:sldId id="277" r:id="rId25"/>
    <p:sldId id="280" r:id="rId26"/>
    <p:sldId id="279" r:id="rId27"/>
    <p:sldId id="282" r:id="rId28"/>
    <p:sldId id="281" r:id="rId29"/>
    <p:sldId id="284" r:id="rId30"/>
    <p:sldId id="283" r:id="rId31"/>
    <p:sldId id="286" r:id="rId32"/>
    <p:sldId id="285" r:id="rId33"/>
    <p:sldId id="288" r:id="rId34"/>
    <p:sldId id="287" r:id="rId35"/>
    <p:sldId id="290" r:id="rId36"/>
    <p:sldId id="289" r:id="rId37"/>
    <p:sldId id="292" r:id="rId38"/>
    <p:sldId id="291" r:id="rId39"/>
    <p:sldId id="294" r:id="rId40"/>
    <p:sldId id="293" r:id="rId41"/>
    <p:sldId id="296" r:id="rId42"/>
    <p:sldId id="295" r:id="rId43"/>
    <p:sldId id="298" r:id="rId44"/>
    <p:sldId id="297" r:id="rId45"/>
    <p:sldId id="398" r:id="rId46"/>
    <p:sldId id="300" r:id="rId47"/>
    <p:sldId id="299" r:id="rId48"/>
    <p:sldId id="302" r:id="rId49"/>
    <p:sldId id="301" r:id="rId50"/>
    <p:sldId id="305" r:id="rId51"/>
    <p:sldId id="304" r:id="rId52"/>
    <p:sldId id="303" r:id="rId53"/>
    <p:sldId id="307" r:id="rId54"/>
    <p:sldId id="306" r:id="rId55"/>
    <p:sldId id="309" r:id="rId56"/>
    <p:sldId id="308" r:id="rId57"/>
    <p:sldId id="311" r:id="rId58"/>
    <p:sldId id="310" r:id="rId59"/>
    <p:sldId id="313" r:id="rId60"/>
    <p:sldId id="312" r:id="rId61"/>
    <p:sldId id="315" r:id="rId62"/>
    <p:sldId id="314" r:id="rId63"/>
    <p:sldId id="317" r:id="rId64"/>
    <p:sldId id="316" r:id="rId65"/>
    <p:sldId id="319" r:id="rId66"/>
    <p:sldId id="318" r:id="rId67"/>
    <p:sldId id="502" r:id="rId68"/>
    <p:sldId id="401" r:id="rId69"/>
    <p:sldId id="321" r:id="rId70"/>
    <p:sldId id="320" r:id="rId71"/>
    <p:sldId id="323" r:id="rId72"/>
    <p:sldId id="322" r:id="rId73"/>
    <p:sldId id="325" r:id="rId74"/>
    <p:sldId id="324" r:id="rId75"/>
    <p:sldId id="327" r:id="rId76"/>
    <p:sldId id="326" r:id="rId77"/>
    <p:sldId id="329" r:id="rId78"/>
    <p:sldId id="328" r:id="rId79"/>
    <p:sldId id="331" r:id="rId80"/>
    <p:sldId id="330" r:id="rId81"/>
    <p:sldId id="333" r:id="rId82"/>
    <p:sldId id="332" r:id="rId83"/>
    <p:sldId id="335" r:id="rId84"/>
    <p:sldId id="334" r:id="rId85"/>
    <p:sldId id="338" r:id="rId86"/>
    <p:sldId id="341" r:id="rId87"/>
    <p:sldId id="340" r:id="rId88"/>
    <p:sldId id="343" r:id="rId89"/>
    <p:sldId id="342" r:id="rId90"/>
    <p:sldId id="345" r:id="rId91"/>
    <p:sldId id="344" r:id="rId92"/>
    <p:sldId id="347" r:id="rId93"/>
    <p:sldId id="346" r:id="rId94"/>
    <p:sldId id="581" r:id="rId95"/>
    <p:sldId id="348" r:id="rId96"/>
    <p:sldId id="350" r:id="rId97"/>
    <p:sldId id="349" r:id="rId98"/>
    <p:sldId id="353" r:id="rId99"/>
    <p:sldId id="352" r:id="rId100"/>
    <p:sldId id="351" r:id="rId101"/>
    <p:sldId id="356" r:id="rId102"/>
    <p:sldId id="355" r:id="rId103"/>
    <p:sldId id="354" r:id="rId104"/>
    <p:sldId id="359" r:id="rId105"/>
    <p:sldId id="358" r:id="rId106"/>
    <p:sldId id="357" r:id="rId107"/>
    <p:sldId id="361" r:id="rId108"/>
    <p:sldId id="360" r:id="rId109"/>
    <p:sldId id="402" r:id="rId110"/>
    <p:sldId id="363" r:id="rId111"/>
    <p:sldId id="362" r:id="rId112"/>
    <p:sldId id="365" r:id="rId113"/>
    <p:sldId id="364" r:id="rId114"/>
    <p:sldId id="394" r:id="rId115"/>
    <p:sldId id="367" r:id="rId116"/>
    <p:sldId id="366" r:id="rId117"/>
    <p:sldId id="369" r:id="rId118"/>
    <p:sldId id="403" r:id="rId119"/>
    <p:sldId id="404" r:id="rId120"/>
    <p:sldId id="407" r:id="rId121"/>
    <p:sldId id="406" r:id="rId122"/>
    <p:sldId id="368" r:id="rId123"/>
    <p:sldId id="370" r:id="rId124"/>
    <p:sldId id="372" r:id="rId125"/>
    <p:sldId id="371" r:id="rId126"/>
    <p:sldId id="374" r:id="rId127"/>
    <p:sldId id="373" r:id="rId128"/>
    <p:sldId id="376" r:id="rId129"/>
    <p:sldId id="375" r:id="rId130"/>
    <p:sldId id="378" r:id="rId131"/>
    <p:sldId id="377" r:id="rId132"/>
    <p:sldId id="380" r:id="rId133"/>
    <p:sldId id="379" r:id="rId134"/>
    <p:sldId id="381" r:id="rId135"/>
    <p:sldId id="384" r:id="rId136"/>
    <p:sldId id="383" r:id="rId137"/>
    <p:sldId id="386" r:id="rId138"/>
    <p:sldId id="385" r:id="rId139"/>
    <p:sldId id="388" r:id="rId140"/>
    <p:sldId id="408" r:id="rId141"/>
    <p:sldId id="387" r:id="rId142"/>
    <p:sldId id="390" r:id="rId143"/>
    <p:sldId id="389" r:id="rId144"/>
    <p:sldId id="392" r:id="rId145"/>
    <p:sldId id="391" r:id="rId146"/>
    <p:sldId id="393" r:id="rId147"/>
  </p:sldIdLst>
  <p:sldSz cx="9144000" cy="6858000" type="screen4x3"/>
  <p:notesSz cx="6858000" cy="9144000"/>
  <p:custDataLst>
    <p:tags r:id="rId151"/>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8"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68" d="100"/>
          <a:sy n="68" d="100"/>
        </p:scale>
        <p:origin x="-82" y="-446"/>
      </p:cViewPr>
      <p:guideLst>
        <p:guide orient="horz" pos="2208"/>
        <p:guide pos="294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94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1" Type="http://schemas.openxmlformats.org/officeDocument/2006/relationships/tags" Target="tags/tag2.xml"/><Relationship Id="rId150" Type="http://schemas.openxmlformats.org/officeDocument/2006/relationships/tableStyles" Target="tableStyles.xml"/><Relationship Id="rId15" Type="http://schemas.openxmlformats.org/officeDocument/2006/relationships/slide" Target="slides/slide13.xml"/><Relationship Id="rId149" Type="http://schemas.openxmlformats.org/officeDocument/2006/relationships/viewProps" Target="viewProps.xml"/><Relationship Id="rId148" Type="http://schemas.openxmlformats.org/officeDocument/2006/relationships/presProps" Target="presProps.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3.wmf"/><Relationship Id="rId1"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68.wmf"/><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6.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37.vml.rels><?xml version="1.0" encoding="UTF-8" standalone="yes"?>
<Relationships xmlns="http://schemas.openxmlformats.org/package/2006/relationships"><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2.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22.wmf"/><Relationship Id="rId1" Type="http://schemas.openxmlformats.org/officeDocument/2006/relationships/image" Target="../media/image121.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3.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24.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27.wmf"/><Relationship Id="rId1" Type="http://schemas.openxmlformats.org/officeDocument/2006/relationships/image" Target="../media/image126.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31.wmf"/><Relationship Id="rId1" Type="http://schemas.openxmlformats.org/officeDocument/2006/relationships/image" Target="../media/image130.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26.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40.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41.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45.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46.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151.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157.wmf"/><Relationship Id="rId1" Type="http://schemas.openxmlformats.org/officeDocument/2006/relationships/image" Target="../media/image156.wmf"/></Relationships>
</file>

<file path=ppt/drawings/_rels/vmlDrawing67.vml.rels><?xml version="1.0" encoding="UTF-8" standalone="yes"?>
<Relationships xmlns="http://schemas.openxmlformats.org/package/2006/relationships"><Relationship Id="rId2" Type="http://schemas.openxmlformats.org/officeDocument/2006/relationships/image" Target="../media/image159.wmf"/><Relationship Id="rId1" Type="http://schemas.openxmlformats.org/officeDocument/2006/relationships/image" Target="../media/image158.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61.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70.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164.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167.wmf"/><Relationship Id="rId1" Type="http://schemas.openxmlformats.org/officeDocument/2006/relationships/image" Target="../media/image16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8" name="页脚占位符 7"/>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4" name="页脚占位符 3"/>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3" name="页脚占位符 2"/>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5.GIF"/><Relationship Id="rId15" Type="http://schemas.openxmlformats.org/officeDocument/2006/relationships/image" Target="../media/image4.GIF"/><Relationship Id="rId14" Type="http://schemas.openxmlformats.org/officeDocument/2006/relationships/image" Target="../media/image3.jpeg"/><Relationship Id="rId13" Type="http://schemas.openxmlformats.org/officeDocument/2006/relationships/image" Target="../media/image2.jpeg"/><Relationship Id="rId12" Type="http://schemas.openxmlformats.org/officeDocument/2006/relationships/image" Target="../media/image1.GI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fontAlgn="base"/>
            <a:endParaRPr lang="zh-CN" altLang="en-US" strike="noStrike" noProof="1"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fontAlgn="base"/>
            <a:endParaRPr lang="zh-CN" altLang="en-US" strike="noStrike" noProof="1"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pic>
        <p:nvPicPr>
          <p:cNvPr id="1031" name="图片 1030" descr="GIF134"/>
          <p:cNvPicPr>
            <a:picLocks noChangeAspect="1"/>
          </p:cNvPicPr>
          <p:nvPr userDrawn="1"/>
        </p:nvPicPr>
        <p:blipFill>
          <a:blip r:embed="rId12"/>
          <a:stretch>
            <a:fillRect/>
          </a:stretch>
        </p:blipFill>
        <p:spPr>
          <a:xfrm>
            <a:off x="152400" y="381000"/>
            <a:ext cx="3968750" cy="76200"/>
          </a:xfrm>
          <a:prstGeom prst="rect">
            <a:avLst/>
          </a:prstGeom>
          <a:noFill/>
          <a:ln w="9525">
            <a:noFill/>
          </a:ln>
        </p:spPr>
      </p:pic>
      <p:pic>
        <p:nvPicPr>
          <p:cNvPr id="1032" name="图片 1031" descr="BJ2031"/>
          <p:cNvPicPr>
            <a:picLocks noChangeAspect="1"/>
          </p:cNvPicPr>
          <p:nvPr userDrawn="1"/>
        </p:nvPicPr>
        <p:blipFill>
          <a:blip r:embed="rId13"/>
          <a:stretch>
            <a:fillRect/>
          </a:stretch>
        </p:blipFill>
        <p:spPr>
          <a:xfrm>
            <a:off x="0" y="6096000"/>
            <a:ext cx="9144000" cy="762000"/>
          </a:xfrm>
          <a:prstGeom prst="rect">
            <a:avLst/>
          </a:prstGeom>
          <a:noFill/>
          <a:ln w="9525">
            <a:noFill/>
          </a:ln>
        </p:spPr>
      </p:pic>
      <p:pic>
        <p:nvPicPr>
          <p:cNvPr id="1033" name="图片 1032" descr="BJ2063"/>
          <p:cNvPicPr>
            <a:picLocks noChangeAspect="1"/>
          </p:cNvPicPr>
          <p:nvPr userDrawn="1"/>
        </p:nvPicPr>
        <p:blipFill>
          <a:blip r:embed="rId14"/>
          <a:stretch>
            <a:fillRect/>
          </a:stretch>
        </p:blipFill>
        <p:spPr>
          <a:xfrm>
            <a:off x="8305800" y="0"/>
            <a:ext cx="838200" cy="628650"/>
          </a:xfrm>
          <a:prstGeom prst="rect">
            <a:avLst/>
          </a:prstGeom>
          <a:noFill/>
          <a:ln w="9525">
            <a:noFill/>
          </a:ln>
        </p:spPr>
      </p:pic>
      <p:pic>
        <p:nvPicPr>
          <p:cNvPr id="1034" name="图片 1033" descr="GIF185"/>
          <p:cNvPicPr>
            <a:picLocks noChangeAspect="1"/>
          </p:cNvPicPr>
          <p:nvPr userDrawn="1"/>
        </p:nvPicPr>
        <p:blipFill>
          <a:blip r:embed="rId15"/>
          <a:stretch>
            <a:fillRect/>
          </a:stretch>
        </p:blipFill>
        <p:spPr>
          <a:xfrm>
            <a:off x="0" y="0"/>
            <a:ext cx="374650" cy="533400"/>
          </a:xfrm>
          <a:prstGeom prst="rect">
            <a:avLst/>
          </a:prstGeom>
          <a:noFill/>
          <a:ln w="9525">
            <a:noFill/>
          </a:ln>
        </p:spPr>
      </p:pic>
      <p:pic>
        <p:nvPicPr>
          <p:cNvPr id="1035" name="图片 1034" descr="GIF-366"/>
          <p:cNvPicPr>
            <a:picLocks noChangeAspect="1"/>
          </p:cNvPicPr>
          <p:nvPr userDrawn="1"/>
        </p:nvPicPr>
        <p:blipFill>
          <a:blip r:embed="rId16"/>
          <a:stretch>
            <a:fillRect/>
          </a:stretch>
        </p:blipFill>
        <p:spPr>
          <a:xfrm>
            <a:off x="3276600" y="6172200"/>
            <a:ext cx="3962400" cy="288925"/>
          </a:xfrm>
          <a:prstGeom prst="rect">
            <a:avLst/>
          </a:prstGeom>
          <a:noFill/>
          <a:ln w="9525">
            <a:noFill/>
          </a:ln>
        </p:spPr>
      </p:pic>
      <p:sp>
        <p:nvSpPr>
          <p:cNvPr id="1036" name="文本框 1035"/>
          <p:cNvSpPr txBox="1"/>
          <p:nvPr userDrawn="1"/>
        </p:nvSpPr>
        <p:spPr>
          <a:xfrm>
            <a:off x="609600" y="30163"/>
            <a:ext cx="3232150" cy="457200"/>
          </a:xfrm>
          <a:prstGeom prst="rect">
            <a:avLst/>
          </a:prstGeom>
          <a:noFill/>
          <a:ln w="9525">
            <a:noFill/>
          </a:ln>
        </p:spPr>
        <p:txBody>
          <a:bodyPr wrap="none" anchor="t">
            <a:spAutoFit/>
          </a:bodyPr>
          <a:p>
            <a:pPr lvl="0"/>
            <a:r>
              <a:rPr lang="zh-CN" altLang="en-US" dirty="0">
                <a:latin typeface="华文行楷" pitchFamily="2" charset="-122"/>
                <a:ea typeface="华文行楷" pitchFamily="2" charset="-122"/>
              </a:rPr>
              <a:t>第</a:t>
            </a:r>
            <a:r>
              <a:rPr lang="en-US" altLang="zh-CN" dirty="0">
                <a:latin typeface="华文行楷" pitchFamily="2" charset="-122"/>
                <a:ea typeface="华文行楷" pitchFamily="2" charset="-122"/>
              </a:rPr>
              <a:t>3</a:t>
            </a:r>
            <a:r>
              <a:rPr lang="zh-CN" altLang="en-US" dirty="0">
                <a:latin typeface="华文行楷" pitchFamily="2" charset="-122"/>
                <a:ea typeface="华文行楷" pitchFamily="2" charset="-122"/>
              </a:rPr>
              <a:t>章 快速傅里叶变换 </a:t>
            </a:r>
            <a:endParaRPr lang="zh-CN" altLang="en-US">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84.xml"/><Relationship Id="rId8" Type="http://schemas.openxmlformats.org/officeDocument/2006/relationships/slide" Target="slide65.xml"/><Relationship Id="rId7" Type="http://schemas.openxmlformats.org/officeDocument/2006/relationships/slide" Target="slide63.xml"/><Relationship Id="rId6" Type="http://schemas.openxmlformats.org/officeDocument/2006/relationships/slide" Target="slide49.xml"/><Relationship Id="rId5" Type="http://schemas.openxmlformats.org/officeDocument/2006/relationships/slide" Target="slide10.xml"/><Relationship Id="rId4" Type="http://schemas.openxmlformats.org/officeDocument/2006/relationships/slide" Target="slide3.xml"/><Relationship Id="rId3" Type="http://schemas.openxmlformats.org/officeDocument/2006/relationships/slide" Target="slide2.xml"/><Relationship Id="rId2" Type="http://schemas.openxmlformats.org/officeDocument/2006/relationships/image" Target="../media/image6.GIF"/><Relationship Id="rId11" Type="http://schemas.openxmlformats.org/officeDocument/2006/relationships/slideLayout" Target="../slideLayouts/slideLayout7.xml"/><Relationship Id="rId10" Type="http://schemas.openxmlformats.org/officeDocument/2006/relationships/slide" Target="slide121.xml"/><Relationship Id="rId1" Type="http://schemas.openxmlformats.org/officeDocument/2006/relationships/hyperlink" Target="&#23553;&#38754;&#21450;&#30446;&#24405;.pp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1.wmf"/><Relationship Id="rId3" Type="http://schemas.openxmlformats.org/officeDocument/2006/relationships/oleObject" Target="../embeddings/oleObject5.bin"/><Relationship Id="rId2" Type="http://schemas.openxmlformats.org/officeDocument/2006/relationships/image" Target="../media/image10.wmf"/><Relationship Id="rId1"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wmf"/><Relationship Id="rId3" Type="http://schemas.openxmlformats.org/officeDocument/2006/relationships/oleObject" Target="../embeddings/oleObject7.bin"/><Relationship Id="rId2" Type="http://schemas.openxmlformats.org/officeDocument/2006/relationships/image" Target="../media/image12.wmf"/><Relationship Id="rId1"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image" Target="../media/image18.wmf"/><Relationship Id="rId5" Type="http://schemas.openxmlformats.org/officeDocument/2006/relationships/oleObject" Target="../embeddings/oleObject12.bin"/><Relationship Id="rId4" Type="http://schemas.openxmlformats.org/officeDocument/2006/relationships/image" Target="../media/image17.wmf"/><Relationship Id="rId3" Type="http://schemas.openxmlformats.org/officeDocument/2006/relationships/oleObject" Target="../embeddings/oleObject11.bin"/><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image" Target="../media/image21.wmf"/><Relationship Id="rId3" Type="http://schemas.openxmlformats.org/officeDocument/2006/relationships/oleObject" Target="../embeddings/oleObject15.bin"/><Relationship Id="rId2" Type="http://schemas.openxmlformats.org/officeDocument/2006/relationships/image" Target="../media/image20.wmf"/><Relationship Id="rId1"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wmf"/><Relationship Id="rId7" Type="http://schemas.openxmlformats.org/officeDocument/2006/relationships/oleObject" Target="../embeddings/oleObject20.bin"/><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 Id="rId3" Type="http://schemas.openxmlformats.org/officeDocument/2006/relationships/oleObject" Target="../embeddings/oleObject18.bin"/><Relationship Id="rId2" Type="http://schemas.openxmlformats.org/officeDocument/2006/relationships/image" Target="../media/image23.wmf"/><Relationship Id="rId10" Type="http://schemas.openxmlformats.org/officeDocument/2006/relationships/vmlDrawing" Target="../drawings/vmlDrawing9.vml"/><Relationship Id="rId1" Type="http://schemas.openxmlformats.org/officeDocument/2006/relationships/oleObject" Target="../embeddings/oleObject17.bin"/></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7.xml"/><Relationship Id="rId3" Type="http://schemas.openxmlformats.org/officeDocument/2006/relationships/image" Target="../media/image28.wmf"/><Relationship Id="rId2" Type="http://schemas.openxmlformats.org/officeDocument/2006/relationships/oleObject" Target="../embeddings/oleObject21.bin"/><Relationship Id="rId1" Type="http://schemas.openxmlformats.org/officeDocument/2006/relationships/image" Target="../media/image27.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31.wmf"/><Relationship Id="rId3" Type="http://schemas.openxmlformats.org/officeDocument/2006/relationships/oleObject" Target="../embeddings/oleObject23.bin"/><Relationship Id="rId2" Type="http://schemas.openxmlformats.org/officeDocument/2006/relationships/image" Target="../media/image30.wmf"/><Relationship Id="rId1" Type="http://schemas.openxmlformats.org/officeDocument/2006/relationships/oleObject" Target="../embeddings/oleObject22.bin"/></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26.bin"/><Relationship Id="rId4" Type="http://schemas.openxmlformats.org/officeDocument/2006/relationships/image" Target="../media/image33.wmf"/><Relationship Id="rId3" Type="http://schemas.openxmlformats.org/officeDocument/2006/relationships/oleObject" Target="../embeddings/oleObject25.bin"/><Relationship Id="rId2" Type="http://schemas.openxmlformats.org/officeDocument/2006/relationships/image" Target="../media/image32.wmf"/><Relationship Id="rId1"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7.xml"/><Relationship Id="rId5" Type="http://schemas.openxmlformats.org/officeDocument/2006/relationships/image" Target="../media/image37.wmf"/><Relationship Id="rId4" Type="http://schemas.openxmlformats.org/officeDocument/2006/relationships/oleObject" Target="../embeddings/oleObject28.bin"/><Relationship Id="rId3" Type="http://schemas.openxmlformats.org/officeDocument/2006/relationships/image" Target="../media/image36.wmf"/><Relationship Id="rId2" Type="http://schemas.openxmlformats.org/officeDocument/2006/relationships/oleObject" Target="../embeddings/oleObject27.bin"/><Relationship Id="rId1" Type="http://schemas.openxmlformats.org/officeDocument/2006/relationships/image" Target="../media/image35.jpeg"/></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31.bin"/><Relationship Id="rId4" Type="http://schemas.openxmlformats.org/officeDocument/2006/relationships/image" Target="../media/image33.wmf"/><Relationship Id="rId3" Type="http://schemas.openxmlformats.org/officeDocument/2006/relationships/oleObject" Target="../embeddings/oleObject30.bin"/><Relationship Id="rId2" Type="http://schemas.openxmlformats.org/officeDocument/2006/relationships/image" Target="../media/image38.wmf"/><Relationship Id="rId1" Type="http://schemas.openxmlformats.org/officeDocument/2006/relationships/oleObject" Target="../embeddings/oleObject29.bin"/></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jpeg"/></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42.wmf"/><Relationship Id="rId3" Type="http://schemas.openxmlformats.org/officeDocument/2006/relationships/oleObject" Target="../embeddings/oleObject33.bin"/><Relationship Id="rId2" Type="http://schemas.openxmlformats.org/officeDocument/2006/relationships/image" Target="../media/image41.wmf"/><Relationship Id="rId1" Type="http://schemas.openxmlformats.org/officeDocument/2006/relationships/oleObject" Target="../embeddings/oleObject32.bin"/></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7.xml"/><Relationship Id="rId3" Type="http://schemas.openxmlformats.org/officeDocument/2006/relationships/image" Target="../media/image44.wmf"/><Relationship Id="rId2" Type="http://schemas.openxmlformats.org/officeDocument/2006/relationships/oleObject" Target="../embeddings/oleObject34.bin"/><Relationship Id="rId1" Type="http://schemas.openxmlformats.org/officeDocument/2006/relationships/image" Target="../media/image43.jpeg"/></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7.xml"/><Relationship Id="rId4" Type="http://schemas.openxmlformats.org/officeDocument/2006/relationships/image" Target="../media/image46.wmf"/><Relationship Id="rId3" Type="http://schemas.openxmlformats.org/officeDocument/2006/relationships/oleObject" Target="../embeddings/oleObject36.bin"/><Relationship Id="rId2" Type="http://schemas.openxmlformats.org/officeDocument/2006/relationships/image" Target="../media/image45.wmf"/><Relationship Id="rId1" Type="http://schemas.openxmlformats.org/officeDocument/2006/relationships/oleObject" Target="../embeddings/oleObject35.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47.wmf"/><Relationship Id="rId1"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48.wmf"/><Relationship Id="rId1" Type="http://schemas.openxmlformats.org/officeDocument/2006/relationships/oleObject" Target="../embeddings/oleObject38.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7.xml"/><Relationship Id="rId2" Type="http://schemas.openxmlformats.org/officeDocument/2006/relationships/image" Target="../media/image49.wmf"/><Relationship Id="rId1" Type="http://schemas.openxmlformats.org/officeDocument/2006/relationships/oleObject" Target="../embeddings/oleObject39.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53.wmf"/><Relationship Id="rId1" Type="http://schemas.openxmlformats.org/officeDocument/2006/relationships/oleObject" Target="../embeddings/oleObject40.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oleObject" Target="../embeddings/oleObject41.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59.wmf"/><Relationship Id="rId5" Type="http://schemas.openxmlformats.org/officeDocument/2006/relationships/oleObject" Target="../embeddings/oleObject44.bin"/><Relationship Id="rId4" Type="http://schemas.openxmlformats.org/officeDocument/2006/relationships/image" Target="../media/image58.wmf"/><Relationship Id="rId3" Type="http://schemas.openxmlformats.org/officeDocument/2006/relationships/oleObject" Target="../embeddings/oleObject43.bin"/><Relationship Id="rId2" Type="http://schemas.openxmlformats.org/officeDocument/2006/relationships/image" Target="../media/image57.wmf"/><Relationship Id="rId1" Type="http://schemas.openxmlformats.org/officeDocument/2006/relationships/oleObject" Target="../embeddings/oleObject42.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jpeg"/></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61.wmf"/><Relationship Id="rId1" Type="http://schemas.openxmlformats.org/officeDocument/2006/relationships/oleObject" Target="../embeddings/oleObject45.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65.wmf"/><Relationship Id="rId7" Type="http://schemas.openxmlformats.org/officeDocument/2006/relationships/oleObject" Target="../embeddings/oleObject49.bin"/><Relationship Id="rId6" Type="http://schemas.openxmlformats.org/officeDocument/2006/relationships/image" Target="../media/image64.wmf"/><Relationship Id="rId5" Type="http://schemas.openxmlformats.org/officeDocument/2006/relationships/oleObject" Target="../embeddings/oleObject48.bin"/><Relationship Id="rId4" Type="http://schemas.openxmlformats.org/officeDocument/2006/relationships/image" Target="../media/image63.wmf"/><Relationship Id="rId3" Type="http://schemas.openxmlformats.org/officeDocument/2006/relationships/oleObject" Target="../embeddings/oleObject47.bin"/><Relationship Id="rId2" Type="http://schemas.openxmlformats.org/officeDocument/2006/relationships/image" Target="../media/image62.wmf"/><Relationship Id="rId16" Type="http://schemas.openxmlformats.org/officeDocument/2006/relationships/vmlDrawing" Target="../drawings/vmlDrawing25.vml"/><Relationship Id="rId15" Type="http://schemas.openxmlformats.org/officeDocument/2006/relationships/slideLayout" Target="../slideLayouts/slideLayout7.xml"/><Relationship Id="rId14" Type="http://schemas.openxmlformats.org/officeDocument/2006/relationships/image" Target="../media/image68.wmf"/><Relationship Id="rId13" Type="http://schemas.openxmlformats.org/officeDocument/2006/relationships/oleObject" Target="../embeddings/oleObject52.bin"/><Relationship Id="rId12" Type="http://schemas.openxmlformats.org/officeDocument/2006/relationships/image" Target="../media/image67.wmf"/><Relationship Id="rId11" Type="http://schemas.openxmlformats.org/officeDocument/2006/relationships/oleObject" Target="../embeddings/oleObject51.bin"/><Relationship Id="rId10" Type="http://schemas.openxmlformats.org/officeDocument/2006/relationships/image" Target="../media/image66.wmf"/><Relationship Id="rId1" Type="http://schemas.openxmlformats.org/officeDocument/2006/relationships/oleObject" Target="../embeddings/oleObject46.bin"/></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image" Target="../media/image68.wmf"/><Relationship Id="rId3" Type="http://schemas.openxmlformats.org/officeDocument/2006/relationships/oleObject" Target="../embeddings/oleObject54.bin"/><Relationship Id="rId2" Type="http://schemas.openxmlformats.org/officeDocument/2006/relationships/image" Target="../media/image69.wmf"/><Relationship Id="rId1" Type="http://schemas.openxmlformats.org/officeDocument/2006/relationships/oleObject" Target="../embeddings/oleObject53.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72.jpeg"/><Relationship Id="rId4" Type="http://schemas.openxmlformats.org/officeDocument/2006/relationships/image" Target="../media/image71.wmf"/><Relationship Id="rId3" Type="http://schemas.openxmlformats.org/officeDocument/2006/relationships/oleObject" Target="../embeddings/oleObject56.bin"/><Relationship Id="rId2" Type="http://schemas.openxmlformats.org/officeDocument/2006/relationships/image" Target="../media/image70.wmf"/><Relationship Id="rId1" Type="http://schemas.openxmlformats.org/officeDocument/2006/relationships/oleObject" Target="../embeddings/oleObject55.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jpeg"/></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7.xml"/><Relationship Id="rId2" Type="http://schemas.openxmlformats.org/officeDocument/2006/relationships/image" Target="../media/image76.wmf"/><Relationship Id="rId1" Type="http://schemas.openxmlformats.org/officeDocument/2006/relationships/oleObject" Target="../embeddings/oleObject57.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7.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8.jpeg"/><Relationship Id="rId1" Type="http://schemas.openxmlformats.org/officeDocument/2006/relationships/tags" Target="../tags/tag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7.xml"/><Relationship Id="rId2" Type="http://schemas.openxmlformats.org/officeDocument/2006/relationships/image" Target="../media/image79.wmf"/><Relationship Id="rId1" Type="http://schemas.openxmlformats.org/officeDocument/2006/relationships/oleObject" Target="../embeddings/oleObject58.bin"/></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63.bin"/><Relationship Id="rId8" Type="http://schemas.openxmlformats.org/officeDocument/2006/relationships/image" Target="../media/image83.wmf"/><Relationship Id="rId7" Type="http://schemas.openxmlformats.org/officeDocument/2006/relationships/oleObject" Target="../embeddings/oleObject62.bin"/><Relationship Id="rId6" Type="http://schemas.openxmlformats.org/officeDocument/2006/relationships/image" Target="../media/image82.wmf"/><Relationship Id="rId5" Type="http://schemas.openxmlformats.org/officeDocument/2006/relationships/oleObject" Target="../embeddings/oleObject61.bin"/><Relationship Id="rId4" Type="http://schemas.openxmlformats.org/officeDocument/2006/relationships/image" Target="../media/image81.wmf"/><Relationship Id="rId3" Type="http://schemas.openxmlformats.org/officeDocument/2006/relationships/oleObject" Target="../embeddings/oleObject60.bin"/><Relationship Id="rId2" Type="http://schemas.openxmlformats.org/officeDocument/2006/relationships/image" Target="../media/image80.wmf"/><Relationship Id="rId12" Type="http://schemas.openxmlformats.org/officeDocument/2006/relationships/vmlDrawing" Target="../drawings/vmlDrawing30.vml"/><Relationship Id="rId11" Type="http://schemas.openxmlformats.org/officeDocument/2006/relationships/slideLayout" Target="../slideLayouts/slideLayout7.xml"/><Relationship Id="rId10" Type="http://schemas.openxmlformats.org/officeDocument/2006/relationships/image" Target="../media/image84.wmf"/><Relationship Id="rId1" Type="http://schemas.openxmlformats.org/officeDocument/2006/relationships/oleObject" Target="../embeddings/oleObject59.bin"/></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31.vml"/><Relationship Id="rId5" Type="http://schemas.openxmlformats.org/officeDocument/2006/relationships/slideLayout" Target="../slideLayouts/slideLayout7.xml"/><Relationship Id="rId4" Type="http://schemas.openxmlformats.org/officeDocument/2006/relationships/image" Target="../media/image87.wmf"/><Relationship Id="rId3" Type="http://schemas.openxmlformats.org/officeDocument/2006/relationships/oleObject" Target="../embeddings/oleObject65.bin"/><Relationship Id="rId2" Type="http://schemas.openxmlformats.org/officeDocument/2006/relationships/image" Target="../media/image86.wmf"/><Relationship Id="rId1" Type="http://schemas.openxmlformats.org/officeDocument/2006/relationships/oleObject" Target="../embeddings/oleObject64.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7.xml"/><Relationship Id="rId6" Type="http://schemas.openxmlformats.org/officeDocument/2006/relationships/image" Target="../media/image90.wmf"/><Relationship Id="rId5" Type="http://schemas.openxmlformats.org/officeDocument/2006/relationships/oleObject" Target="../embeddings/oleObject68.bin"/><Relationship Id="rId4" Type="http://schemas.openxmlformats.org/officeDocument/2006/relationships/image" Target="../media/image89.wmf"/><Relationship Id="rId3" Type="http://schemas.openxmlformats.org/officeDocument/2006/relationships/oleObject" Target="../embeddings/oleObject67.bin"/><Relationship Id="rId2" Type="http://schemas.openxmlformats.org/officeDocument/2006/relationships/image" Target="../media/image88.wmf"/><Relationship Id="rId1" Type="http://schemas.openxmlformats.org/officeDocument/2006/relationships/oleObject" Target="../embeddings/oleObject66.bin"/></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7.xml"/><Relationship Id="rId4" Type="http://schemas.openxmlformats.org/officeDocument/2006/relationships/image" Target="../media/image92.wmf"/><Relationship Id="rId3" Type="http://schemas.openxmlformats.org/officeDocument/2006/relationships/oleObject" Target="../embeddings/oleObject70.bin"/><Relationship Id="rId2" Type="http://schemas.openxmlformats.org/officeDocument/2006/relationships/image" Target="../media/image91.wmf"/><Relationship Id="rId1" Type="http://schemas.openxmlformats.org/officeDocument/2006/relationships/oleObject" Target="../embeddings/oleObject69.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7.xml"/><Relationship Id="rId4" Type="http://schemas.openxmlformats.org/officeDocument/2006/relationships/image" Target="../media/image94.wmf"/><Relationship Id="rId3" Type="http://schemas.openxmlformats.org/officeDocument/2006/relationships/oleObject" Target="../embeddings/oleObject72.bin"/><Relationship Id="rId2" Type="http://schemas.openxmlformats.org/officeDocument/2006/relationships/image" Target="../media/image93.wmf"/><Relationship Id="rId1" Type="http://schemas.openxmlformats.org/officeDocument/2006/relationships/oleObject" Target="../embeddings/oleObject71.bin"/></Relationships>
</file>

<file path=ppt/slides/_rels/slide77.xml.rels><?xml version="1.0" encoding="UTF-8" standalone="yes"?>
<Relationships xmlns="http://schemas.openxmlformats.org/package/2006/relationships"><Relationship Id="rId7" Type="http://schemas.openxmlformats.org/officeDocument/2006/relationships/vmlDrawing" Target="../drawings/vmlDrawing35.vml"/><Relationship Id="rId6" Type="http://schemas.openxmlformats.org/officeDocument/2006/relationships/slideLayout" Target="../slideLayouts/slideLayout7.xml"/><Relationship Id="rId5" Type="http://schemas.openxmlformats.org/officeDocument/2006/relationships/image" Target="../media/image97.wmf"/><Relationship Id="rId4" Type="http://schemas.openxmlformats.org/officeDocument/2006/relationships/oleObject" Target="../embeddings/oleObject74.bin"/><Relationship Id="rId3" Type="http://schemas.openxmlformats.org/officeDocument/2006/relationships/image" Target="../media/image96.wmf"/><Relationship Id="rId2" Type="http://schemas.openxmlformats.org/officeDocument/2006/relationships/oleObject" Target="../embeddings/oleObject73.bin"/><Relationship Id="rId1" Type="http://schemas.openxmlformats.org/officeDocument/2006/relationships/image" Target="../media/image95.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8.jpeg"/></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36.vml"/><Relationship Id="rId7" Type="http://schemas.openxmlformats.org/officeDocument/2006/relationships/slideLayout" Target="../slideLayouts/slideLayout7.xml"/><Relationship Id="rId6" Type="http://schemas.openxmlformats.org/officeDocument/2006/relationships/image" Target="../media/image101.wmf"/><Relationship Id="rId5" Type="http://schemas.openxmlformats.org/officeDocument/2006/relationships/oleObject" Target="../embeddings/oleObject77.bin"/><Relationship Id="rId4" Type="http://schemas.openxmlformats.org/officeDocument/2006/relationships/image" Target="../media/image100.wmf"/><Relationship Id="rId3" Type="http://schemas.openxmlformats.org/officeDocument/2006/relationships/oleObject" Target="../embeddings/oleObject76.bin"/><Relationship Id="rId2" Type="http://schemas.openxmlformats.org/officeDocument/2006/relationships/image" Target="../media/image99.wmf"/><Relationship Id="rId1" Type="http://schemas.openxmlformats.org/officeDocument/2006/relationships/oleObject" Target="../embeddings/oleObject75.bin"/></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82.bin"/><Relationship Id="rId8" Type="http://schemas.openxmlformats.org/officeDocument/2006/relationships/image" Target="../media/image105.wmf"/><Relationship Id="rId7" Type="http://schemas.openxmlformats.org/officeDocument/2006/relationships/oleObject" Target="../embeddings/oleObject81.bin"/><Relationship Id="rId6" Type="http://schemas.openxmlformats.org/officeDocument/2006/relationships/image" Target="../media/image104.wmf"/><Relationship Id="rId5" Type="http://schemas.openxmlformats.org/officeDocument/2006/relationships/oleObject" Target="../embeddings/oleObject80.bin"/><Relationship Id="rId4" Type="http://schemas.openxmlformats.org/officeDocument/2006/relationships/image" Target="../media/image103.wmf"/><Relationship Id="rId3" Type="http://schemas.openxmlformats.org/officeDocument/2006/relationships/oleObject" Target="../embeddings/oleObject79.bin"/><Relationship Id="rId2" Type="http://schemas.openxmlformats.org/officeDocument/2006/relationships/image" Target="../media/image102.wmf"/><Relationship Id="rId14" Type="http://schemas.openxmlformats.org/officeDocument/2006/relationships/vmlDrawing" Target="../drawings/vmlDrawing37.vml"/><Relationship Id="rId13" Type="http://schemas.openxmlformats.org/officeDocument/2006/relationships/slideLayout" Target="../slideLayouts/slideLayout7.xml"/><Relationship Id="rId12" Type="http://schemas.openxmlformats.org/officeDocument/2006/relationships/image" Target="../media/image107.wmf"/><Relationship Id="rId11" Type="http://schemas.openxmlformats.org/officeDocument/2006/relationships/oleObject" Target="../embeddings/oleObject83.bin"/><Relationship Id="rId10" Type="http://schemas.openxmlformats.org/officeDocument/2006/relationships/image" Target="../media/image106.wmf"/><Relationship Id="rId1" Type="http://schemas.openxmlformats.org/officeDocument/2006/relationships/oleObject" Target="../embeddings/oleObject78.bin"/></Relationships>
</file>

<file path=ppt/slides/_rels/slide82.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109.wmf"/><Relationship Id="rId3" Type="http://schemas.openxmlformats.org/officeDocument/2006/relationships/oleObject" Target="../embeddings/oleObject85.bin"/><Relationship Id="rId2" Type="http://schemas.openxmlformats.org/officeDocument/2006/relationships/image" Target="../media/image108.wmf"/><Relationship Id="rId1" Type="http://schemas.openxmlformats.org/officeDocument/2006/relationships/oleObject" Target="../embeddings/oleObject84.bin"/></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39.vml"/><Relationship Id="rId3" Type="http://schemas.openxmlformats.org/officeDocument/2006/relationships/slideLayout" Target="../slideLayouts/slideLayout7.xml"/><Relationship Id="rId2" Type="http://schemas.openxmlformats.org/officeDocument/2006/relationships/image" Target="../media/image110.wmf"/><Relationship Id="rId1" Type="http://schemas.openxmlformats.org/officeDocument/2006/relationships/oleObject" Target="../embeddings/oleObject86.bin"/></Relationships>
</file>

<file path=ppt/slides/_rels/slide84.xml.rels><?xml version="1.0" encoding="UTF-8" standalone="yes"?>
<Relationships xmlns="http://schemas.openxmlformats.org/package/2006/relationships"><Relationship Id="rId5" Type="http://schemas.openxmlformats.org/officeDocument/2006/relationships/vmlDrawing" Target="../drawings/vmlDrawing40.vml"/><Relationship Id="rId4" Type="http://schemas.openxmlformats.org/officeDocument/2006/relationships/slideLayout" Target="../slideLayouts/slideLayout7.xml"/><Relationship Id="rId3" Type="http://schemas.openxmlformats.org/officeDocument/2006/relationships/image" Target="../media/image112.wmf"/><Relationship Id="rId2" Type="http://schemas.openxmlformats.org/officeDocument/2006/relationships/oleObject" Target="../embeddings/oleObject87.bin"/><Relationship Id="rId1" Type="http://schemas.openxmlformats.org/officeDocument/2006/relationships/image" Target="../media/image111.jpeg"/></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41.vml"/><Relationship Id="rId5" Type="http://schemas.openxmlformats.org/officeDocument/2006/relationships/slideLayout" Target="../slideLayouts/slideLayout7.xml"/><Relationship Id="rId4" Type="http://schemas.openxmlformats.org/officeDocument/2006/relationships/image" Target="../media/image113.wmf"/><Relationship Id="rId3" Type="http://schemas.openxmlformats.org/officeDocument/2006/relationships/oleObject" Target="../embeddings/oleObject89.bin"/><Relationship Id="rId2" Type="http://schemas.openxmlformats.org/officeDocument/2006/relationships/image" Target="../media/image112.wmf"/><Relationship Id="rId1" Type="http://schemas.openxmlformats.org/officeDocument/2006/relationships/oleObject" Target="../embeddings/oleObject88.bin"/></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7.xml"/><Relationship Id="rId4" Type="http://schemas.openxmlformats.org/officeDocument/2006/relationships/image" Target="../media/image115.wmf"/><Relationship Id="rId3" Type="http://schemas.openxmlformats.org/officeDocument/2006/relationships/oleObject" Target="../embeddings/oleObject91.bin"/><Relationship Id="rId2" Type="http://schemas.openxmlformats.org/officeDocument/2006/relationships/image" Target="../media/image114.wmf"/><Relationship Id="rId1" Type="http://schemas.openxmlformats.org/officeDocument/2006/relationships/oleObject" Target="../embeddings/oleObject90.bin"/></Relationships>
</file>

<file path=ppt/slides/_rels/slide87.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7.xml"/><Relationship Id="rId6" Type="http://schemas.openxmlformats.org/officeDocument/2006/relationships/image" Target="../media/image118.wmf"/><Relationship Id="rId5" Type="http://schemas.openxmlformats.org/officeDocument/2006/relationships/oleObject" Target="../embeddings/oleObject94.bin"/><Relationship Id="rId4" Type="http://schemas.openxmlformats.org/officeDocument/2006/relationships/image" Target="../media/image117.wmf"/><Relationship Id="rId3" Type="http://schemas.openxmlformats.org/officeDocument/2006/relationships/oleObject" Target="../embeddings/oleObject93.bin"/><Relationship Id="rId2" Type="http://schemas.openxmlformats.org/officeDocument/2006/relationships/image" Target="../media/image116.wmf"/><Relationship Id="rId1" Type="http://schemas.openxmlformats.org/officeDocument/2006/relationships/oleObject" Target="../embeddings/oleObject92.bin"/></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119.wmf"/><Relationship Id="rId1" Type="http://schemas.openxmlformats.org/officeDocument/2006/relationships/oleObject" Target="../embeddings/oleObject95.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0.jpeg"/></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7.xml"/><Relationship Id="rId4" Type="http://schemas.openxmlformats.org/officeDocument/2006/relationships/image" Target="../media/image122.wmf"/><Relationship Id="rId3" Type="http://schemas.openxmlformats.org/officeDocument/2006/relationships/oleObject" Target="../embeddings/oleObject97.bin"/><Relationship Id="rId2" Type="http://schemas.openxmlformats.org/officeDocument/2006/relationships/image" Target="../media/image121.wmf"/><Relationship Id="rId1" Type="http://schemas.openxmlformats.org/officeDocument/2006/relationships/oleObject" Target="../embeddings/oleObject96.bin"/></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7.xml"/><Relationship Id="rId2" Type="http://schemas.openxmlformats.org/officeDocument/2006/relationships/image" Target="../media/image123.wmf"/><Relationship Id="rId1" Type="http://schemas.openxmlformats.org/officeDocument/2006/relationships/oleObject" Target="../embeddings/oleObject98.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7.xml"/><Relationship Id="rId4" Type="http://schemas.openxmlformats.org/officeDocument/2006/relationships/image" Target="../media/image125.wmf"/><Relationship Id="rId3" Type="http://schemas.openxmlformats.org/officeDocument/2006/relationships/oleObject" Target="../embeddings/oleObject100.bin"/><Relationship Id="rId2" Type="http://schemas.openxmlformats.org/officeDocument/2006/relationships/image" Target="../media/image124.wmf"/><Relationship Id="rId1" Type="http://schemas.openxmlformats.org/officeDocument/2006/relationships/oleObject" Target="../embeddings/oleObject99.bin"/></Relationships>
</file>

<file path=ppt/slides/_rels/slide96.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7.xml"/><Relationship Id="rId4" Type="http://schemas.openxmlformats.org/officeDocument/2006/relationships/image" Target="../media/image127.wmf"/><Relationship Id="rId3" Type="http://schemas.openxmlformats.org/officeDocument/2006/relationships/oleObject" Target="../embeddings/oleObject102.bin"/><Relationship Id="rId2" Type="http://schemas.openxmlformats.org/officeDocument/2006/relationships/image" Target="../media/image126.wmf"/><Relationship Id="rId1" Type="http://schemas.openxmlformats.org/officeDocument/2006/relationships/oleObject" Target="../embeddings/oleObject101.bin"/></Relationships>
</file>

<file path=ppt/slides/_rels/slide97.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7.xml"/><Relationship Id="rId4" Type="http://schemas.openxmlformats.org/officeDocument/2006/relationships/image" Target="../media/image129.wmf"/><Relationship Id="rId3" Type="http://schemas.openxmlformats.org/officeDocument/2006/relationships/oleObject" Target="../embeddings/oleObject104.bin"/><Relationship Id="rId2" Type="http://schemas.openxmlformats.org/officeDocument/2006/relationships/image" Target="../media/image128.wmf"/><Relationship Id="rId1" Type="http://schemas.openxmlformats.org/officeDocument/2006/relationships/oleObject" Target="../embeddings/oleObject103.bin"/></Relationships>
</file>

<file path=ppt/slides/_rels/slide98.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7.xml"/><Relationship Id="rId4" Type="http://schemas.openxmlformats.org/officeDocument/2006/relationships/image" Target="../media/image131.wmf"/><Relationship Id="rId3" Type="http://schemas.openxmlformats.org/officeDocument/2006/relationships/oleObject" Target="../embeddings/oleObject106.bin"/><Relationship Id="rId2" Type="http://schemas.openxmlformats.org/officeDocument/2006/relationships/image" Target="../media/image130.wmf"/><Relationship Id="rId1" Type="http://schemas.openxmlformats.org/officeDocument/2006/relationships/oleObject" Target="../embeddings/oleObject105.bin"/></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2.jpeg"/></Relationships>
</file>

<file path=ppt/slides/_rels/slide100.xml.rels><?xml version="1.0" encoding="UTF-8" standalone="yes"?>
<Relationships xmlns="http://schemas.openxmlformats.org/package/2006/relationships"><Relationship Id="rId6" Type="http://schemas.openxmlformats.org/officeDocument/2006/relationships/vmlDrawing" Target="../drawings/vmlDrawing51.vml"/><Relationship Id="rId5" Type="http://schemas.openxmlformats.org/officeDocument/2006/relationships/slideLayout" Target="../slideLayouts/slideLayout7.xml"/><Relationship Id="rId4" Type="http://schemas.openxmlformats.org/officeDocument/2006/relationships/image" Target="../media/image133.wmf"/><Relationship Id="rId3" Type="http://schemas.openxmlformats.org/officeDocument/2006/relationships/oleObject" Target="../embeddings/oleObject108.bin"/><Relationship Id="rId2" Type="http://schemas.openxmlformats.org/officeDocument/2006/relationships/image" Target="../media/image126.wmf"/><Relationship Id="rId1" Type="http://schemas.openxmlformats.org/officeDocument/2006/relationships/oleObject" Target="../embeddings/oleObject107.bin"/></Relationships>
</file>

<file path=ppt/slides/_rels/slide101.xml.rels><?xml version="1.0" encoding="UTF-8" standalone="yes"?>
<Relationships xmlns="http://schemas.openxmlformats.org/package/2006/relationships"><Relationship Id="rId4" Type="http://schemas.openxmlformats.org/officeDocument/2006/relationships/vmlDrawing" Target="../drawings/vmlDrawing52.vml"/><Relationship Id="rId3" Type="http://schemas.openxmlformats.org/officeDocument/2006/relationships/slideLayout" Target="../slideLayouts/slideLayout7.xml"/><Relationship Id="rId2" Type="http://schemas.openxmlformats.org/officeDocument/2006/relationships/image" Target="../media/image134.wmf"/><Relationship Id="rId1" Type="http://schemas.openxmlformats.org/officeDocument/2006/relationships/oleObject" Target="../embeddings/oleObject109.bin"/></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135.wmf"/><Relationship Id="rId1" Type="http://schemas.openxmlformats.org/officeDocument/2006/relationships/oleObject" Target="../embeddings/oleObject110.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7.xml"/><Relationship Id="rId2" Type="http://schemas.openxmlformats.org/officeDocument/2006/relationships/image" Target="../media/image136.wmf"/><Relationship Id="rId1" Type="http://schemas.openxmlformats.org/officeDocument/2006/relationships/oleObject" Target="../embeddings/oleObject111.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7.jpeg"/></Relationships>
</file>

<file path=ppt/slides/_rels/slide110.xml.rels><?xml version="1.0" encoding="UTF-8" standalone="yes"?>
<Relationships xmlns="http://schemas.openxmlformats.org/package/2006/relationships"><Relationship Id="rId6" Type="http://schemas.openxmlformats.org/officeDocument/2006/relationships/vmlDrawing" Target="../drawings/vmlDrawing55.vml"/><Relationship Id="rId5" Type="http://schemas.openxmlformats.org/officeDocument/2006/relationships/slideLayout" Target="../slideLayouts/slideLayout7.xml"/><Relationship Id="rId4" Type="http://schemas.openxmlformats.org/officeDocument/2006/relationships/image" Target="../media/image139.wmf"/><Relationship Id="rId3" Type="http://schemas.openxmlformats.org/officeDocument/2006/relationships/oleObject" Target="../embeddings/oleObject113.bin"/><Relationship Id="rId2" Type="http://schemas.openxmlformats.org/officeDocument/2006/relationships/image" Target="../media/image138.wmf"/><Relationship Id="rId1" Type="http://schemas.openxmlformats.org/officeDocument/2006/relationships/oleObject" Target="../embeddings/oleObject112.bin"/></Relationships>
</file>

<file path=ppt/slides/_rels/slide111.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140.wmf"/><Relationship Id="rId1" Type="http://schemas.openxmlformats.org/officeDocument/2006/relationships/oleObject" Target="../embeddings/oleObject114.bin"/></Relationships>
</file>

<file path=ppt/slides/_rels/slide112.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7.xml"/><Relationship Id="rId2" Type="http://schemas.openxmlformats.org/officeDocument/2006/relationships/image" Target="../media/image141.wmf"/><Relationship Id="rId1" Type="http://schemas.openxmlformats.org/officeDocument/2006/relationships/oleObject" Target="../embeddings/oleObject115.bin"/></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2.jpeg"/></Relationships>
</file>

<file path=ppt/slides/_rels/slide114.xml.rels><?xml version="1.0" encoding="UTF-8" standalone="yes"?>
<Relationships xmlns="http://schemas.openxmlformats.org/package/2006/relationships"><Relationship Id="rId4" Type="http://schemas.openxmlformats.org/officeDocument/2006/relationships/vmlDrawing" Target="../drawings/vmlDrawing58.vml"/><Relationship Id="rId3" Type="http://schemas.openxmlformats.org/officeDocument/2006/relationships/slideLayout" Target="../slideLayouts/slideLayout7.xml"/><Relationship Id="rId2" Type="http://schemas.openxmlformats.org/officeDocument/2006/relationships/image" Target="../media/image143.wmf"/><Relationship Id="rId1" Type="http://schemas.openxmlformats.org/officeDocument/2006/relationships/oleObject" Target="../embeddings/oleObject116.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4.jpeg"/></Relationships>
</file>

<file path=ppt/slides/_rels/slide117.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7.xml"/><Relationship Id="rId2" Type="http://schemas.openxmlformats.org/officeDocument/2006/relationships/image" Target="../media/image145.emf"/><Relationship Id="rId1" Type="http://schemas.openxmlformats.org/officeDocument/2006/relationships/oleObject" Target="../embeddings/oleObject117.bin"/></Relationships>
</file>

<file path=ppt/slides/_rels/slide118.xml.rels><?xml version="1.0" encoding="UTF-8" standalone="yes"?>
<Relationships xmlns="http://schemas.openxmlformats.org/package/2006/relationships"><Relationship Id="rId4" Type="http://schemas.openxmlformats.org/officeDocument/2006/relationships/vmlDrawing" Target="../drawings/vmlDrawing60.vml"/><Relationship Id="rId3" Type="http://schemas.openxmlformats.org/officeDocument/2006/relationships/slideLayout" Target="../slideLayouts/slideLayout7.xml"/><Relationship Id="rId2" Type="http://schemas.openxmlformats.org/officeDocument/2006/relationships/image" Target="../media/image146.emf"/><Relationship Id="rId1" Type="http://schemas.openxmlformats.org/officeDocument/2006/relationships/oleObject" Target="../embeddings/oleObject118.bin"/></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7.jpe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4" Type="http://schemas.openxmlformats.org/officeDocument/2006/relationships/vmlDrawing" Target="../drawings/vmlDrawing61.vml"/><Relationship Id="rId3" Type="http://schemas.openxmlformats.org/officeDocument/2006/relationships/slideLayout" Target="../slideLayouts/slideLayout7.xml"/><Relationship Id="rId2" Type="http://schemas.openxmlformats.org/officeDocument/2006/relationships/image" Target="../media/image148.wmf"/><Relationship Id="rId1" Type="http://schemas.openxmlformats.org/officeDocument/2006/relationships/oleObject" Target="../embeddings/oleObject119.bin"/></Relationships>
</file>

<file path=ppt/slides/_rels/slide122.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7.xml"/><Relationship Id="rId4" Type="http://schemas.openxmlformats.org/officeDocument/2006/relationships/image" Target="../media/image150.wmf"/><Relationship Id="rId3" Type="http://schemas.openxmlformats.org/officeDocument/2006/relationships/oleObject" Target="../embeddings/oleObject121.bin"/><Relationship Id="rId2" Type="http://schemas.openxmlformats.org/officeDocument/2006/relationships/image" Target="../media/image149.wmf"/><Relationship Id="rId1" Type="http://schemas.openxmlformats.org/officeDocument/2006/relationships/oleObject" Target="../embeddings/oleObject120.bin"/></Relationships>
</file>

<file path=ppt/slides/_rels/slide123.xml.rels><?xml version="1.0" encoding="UTF-8" standalone="yes"?>
<Relationships xmlns="http://schemas.openxmlformats.org/package/2006/relationships"><Relationship Id="rId4" Type="http://schemas.openxmlformats.org/officeDocument/2006/relationships/vmlDrawing" Target="../drawings/vmlDrawing63.vml"/><Relationship Id="rId3" Type="http://schemas.openxmlformats.org/officeDocument/2006/relationships/slideLayout" Target="../slideLayouts/slideLayout7.xml"/><Relationship Id="rId2" Type="http://schemas.openxmlformats.org/officeDocument/2006/relationships/image" Target="../media/image151.wmf"/><Relationship Id="rId1" Type="http://schemas.openxmlformats.org/officeDocument/2006/relationships/oleObject" Target="../embeddings/oleObject122.bin"/></Relationships>
</file>

<file path=ppt/slides/_rels/slide124.xml.rels><?xml version="1.0" encoding="UTF-8" standalone="yes"?>
<Relationships xmlns="http://schemas.openxmlformats.org/package/2006/relationships"><Relationship Id="rId8" Type="http://schemas.openxmlformats.org/officeDocument/2006/relationships/vmlDrawing" Target="../drawings/vmlDrawing64.vml"/><Relationship Id="rId7" Type="http://schemas.openxmlformats.org/officeDocument/2006/relationships/slideLayout" Target="../slideLayouts/slideLayout7.xml"/><Relationship Id="rId6" Type="http://schemas.openxmlformats.org/officeDocument/2006/relationships/image" Target="../media/image154.wmf"/><Relationship Id="rId5" Type="http://schemas.openxmlformats.org/officeDocument/2006/relationships/oleObject" Target="../embeddings/oleObject125.bin"/><Relationship Id="rId4" Type="http://schemas.openxmlformats.org/officeDocument/2006/relationships/image" Target="../media/image153.wmf"/><Relationship Id="rId3" Type="http://schemas.openxmlformats.org/officeDocument/2006/relationships/oleObject" Target="../embeddings/oleObject124.bin"/><Relationship Id="rId2" Type="http://schemas.openxmlformats.org/officeDocument/2006/relationships/image" Target="../media/image152.wmf"/><Relationship Id="rId1" Type="http://schemas.openxmlformats.org/officeDocument/2006/relationships/oleObject" Target="../embeddings/oleObject123.bin"/></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65.vml"/><Relationship Id="rId3" Type="http://schemas.openxmlformats.org/officeDocument/2006/relationships/slideLayout" Target="../slideLayouts/slideLayout7.xml"/><Relationship Id="rId2" Type="http://schemas.openxmlformats.org/officeDocument/2006/relationships/image" Target="../media/image155.wmf"/><Relationship Id="rId1" Type="http://schemas.openxmlformats.org/officeDocument/2006/relationships/oleObject" Target="../embeddings/oleObject126.bin"/></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6" Type="http://schemas.openxmlformats.org/officeDocument/2006/relationships/vmlDrawing" Target="../drawings/vmlDrawing66.vml"/><Relationship Id="rId5" Type="http://schemas.openxmlformats.org/officeDocument/2006/relationships/slideLayout" Target="../slideLayouts/slideLayout7.xml"/><Relationship Id="rId4" Type="http://schemas.openxmlformats.org/officeDocument/2006/relationships/image" Target="../media/image157.wmf"/><Relationship Id="rId3" Type="http://schemas.openxmlformats.org/officeDocument/2006/relationships/oleObject" Target="../embeddings/oleObject128.bin"/><Relationship Id="rId2" Type="http://schemas.openxmlformats.org/officeDocument/2006/relationships/image" Target="../media/image156.wmf"/><Relationship Id="rId1" Type="http://schemas.openxmlformats.org/officeDocument/2006/relationships/oleObject" Target="../embeddings/oleObject127.bin"/></Relationships>
</file>

<file path=ppt/slides/_rels/slide128.xml.rels><?xml version="1.0" encoding="UTF-8" standalone="yes"?>
<Relationships xmlns="http://schemas.openxmlformats.org/package/2006/relationships"><Relationship Id="rId6" Type="http://schemas.openxmlformats.org/officeDocument/2006/relationships/vmlDrawing" Target="../drawings/vmlDrawing67.vml"/><Relationship Id="rId5" Type="http://schemas.openxmlformats.org/officeDocument/2006/relationships/slideLayout" Target="../slideLayouts/slideLayout7.xml"/><Relationship Id="rId4" Type="http://schemas.openxmlformats.org/officeDocument/2006/relationships/image" Target="../media/image159.wmf"/><Relationship Id="rId3" Type="http://schemas.openxmlformats.org/officeDocument/2006/relationships/oleObject" Target="../embeddings/oleObject130.bin"/><Relationship Id="rId2" Type="http://schemas.openxmlformats.org/officeDocument/2006/relationships/image" Target="../media/image158.wmf"/><Relationship Id="rId1" Type="http://schemas.openxmlformats.org/officeDocument/2006/relationships/oleObject" Target="../embeddings/oleObject129.bin"/></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0.jpeg"/></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68.vml"/><Relationship Id="rId3" Type="http://schemas.openxmlformats.org/officeDocument/2006/relationships/slideLayout" Target="../slideLayouts/slideLayout7.xml"/><Relationship Id="rId2" Type="http://schemas.openxmlformats.org/officeDocument/2006/relationships/image" Target="../media/image161.wmf"/><Relationship Id="rId1" Type="http://schemas.openxmlformats.org/officeDocument/2006/relationships/oleObject" Target="../embeddings/oleObject131.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2.jpeg"/></Relationships>
</file>

<file path=ppt/slides/_rels/slide133.xml.rels><?xml version="1.0" encoding="UTF-8" standalone="yes"?>
<Relationships xmlns="http://schemas.openxmlformats.org/package/2006/relationships"><Relationship Id="rId4" Type="http://schemas.openxmlformats.org/officeDocument/2006/relationships/vmlDrawing" Target="../drawings/vmlDrawing69.vml"/><Relationship Id="rId3" Type="http://schemas.openxmlformats.org/officeDocument/2006/relationships/slideLayout" Target="../slideLayouts/slideLayout7.xml"/><Relationship Id="rId2" Type="http://schemas.openxmlformats.org/officeDocument/2006/relationships/image" Target="../media/image163.wmf"/><Relationship Id="rId1" Type="http://schemas.openxmlformats.org/officeDocument/2006/relationships/oleObject" Target="../embeddings/oleObject132.bin"/></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6" Type="http://schemas.openxmlformats.org/officeDocument/2006/relationships/vmlDrawing" Target="../drawings/vmlDrawing70.vml"/><Relationship Id="rId5" Type="http://schemas.openxmlformats.org/officeDocument/2006/relationships/slideLayout" Target="../slideLayouts/slideLayout7.xml"/><Relationship Id="rId4" Type="http://schemas.openxmlformats.org/officeDocument/2006/relationships/image" Target="../media/image165.wmf"/><Relationship Id="rId3" Type="http://schemas.openxmlformats.org/officeDocument/2006/relationships/oleObject" Target="../embeddings/oleObject134.bin"/><Relationship Id="rId2" Type="http://schemas.openxmlformats.org/officeDocument/2006/relationships/image" Target="../media/image164.wmf"/><Relationship Id="rId1" Type="http://schemas.openxmlformats.org/officeDocument/2006/relationships/oleObject" Target="../embeddings/oleObject133.bin"/></Relationships>
</file>

<file path=ppt/slides/_rels/slide136.xml.rels><?xml version="1.0" encoding="UTF-8" standalone="yes"?>
<Relationships xmlns="http://schemas.openxmlformats.org/package/2006/relationships"><Relationship Id="rId6" Type="http://schemas.openxmlformats.org/officeDocument/2006/relationships/vmlDrawing" Target="../drawings/vmlDrawing71.vml"/><Relationship Id="rId5" Type="http://schemas.openxmlformats.org/officeDocument/2006/relationships/slideLayout" Target="../slideLayouts/slideLayout7.xml"/><Relationship Id="rId4" Type="http://schemas.openxmlformats.org/officeDocument/2006/relationships/image" Target="../media/image167.wmf"/><Relationship Id="rId3" Type="http://schemas.openxmlformats.org/officeDocument/2006/relationships/oleObject" Target="../embeddings/oleObject136.bin"/><Relationship Id="rId2" Type="http://schemas.openxmlformats.org/officeDocument/2006/relationships/image" Target="../media/image166.wmf"/><Relationship Id="rId1" Type="http://schemas.openxmlformats.org/officeDocument/2006/relationships/oleObject" Target="../embeddings/oleObject135.bin"/></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8.jpeg"/></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9.jpe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0.jpe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9" name="文本框 2051"/>
          <p:cNvSpPr txBox="1"/>
          <p:nvPr/>
        </p:nvSpPr>
        <p:spPr>
          <a:xfrm>
            <a:off x="1747838" y="549275"/>
            <a:ext cx="6280150" cy="823913"/>
          </a:xfrm>
          <a:prstGeom prst="rect">
            <a:avLst/>
          </a:prstGeom>
          <a:noFill/>
          <a:ln w="9525">
            <a:noFill/>
          </a:ln>
        </p:spPr>
        <p:txBody>
          <a:bodyPr wrap="none" anchor="t">
            <a:spAutoFit/>
          </a:bodyPr>
          <a:p>
            <a:r>
              <a:rPr lang="zh-CN" altLang="en-US" sz="4800" dirty="0">
                <a:latin typeface="华文行楷" pitchFamily="2" charset="-122"/>
                <a:ea typeface="华文行楷" pitchFamily="2" charset="-122"/>
              </a:rPr>
              <a:t>第</a:t>
            </a:r>
            <a:r>
              <a:rPr lang="en-US" altLang="zh-CN" sz="4800" dirty="0">
                <a:latin typeface="华文行楷" pitchFamily="2" charset="-122"/>
                <a:ea typeface="华文行楷" pitchFamily="2" charset="-122"/>
              </a:rPr>
              <a:t>3</a:t>
            </a:r>
            <a:r>
              <a:rPr lang="zh-CN" altLang="en-US" sz="4800" dirty="0">
                <a:latin typeface="华文行楷" pitchFamily="2" charset="-122"/>
                <a:ea typeface="华文行楷" pitchFamily="2" charset="-122"/>
              </a:rPr>
              <a:t>章 快速傅里叶变换 </a:t>
            </a:r>
            <a:endParaRPr lang="zh-CN" altLang="en-US" sz="4800">
              <a:latin typeface="华文行楷" pitchFamily="2" charset="-122"/>
              <a:ea typeface="华文行楷" pitchFamily="2" charset="-122"/>
            </a:endParaRPr>
          </a:p>
        </p:txBody>
      </p:sp>
      <p:pic>
        <p:nvPicPr>
          <p:cNvPr id="2050" name="图片 2052" descr="GIF014">
            <a:hlinkClick r:id="rId1" action="ppaction://hlinkpres?slideindex=1&amp;slidetitle="/>
          </p:cNvPr>
          <p:cNvPicPr>
            <a:picLocks noChangeAspect="1"/>
          </p:cNvPicPr>
          <p:nvPr/>
        </p:nvPicPr>
        <p:blipFill>
          <a:blip r:embed="rId2"/>
          <a:stretch>
            <a:fillRect/>
          </a:stretch>
        </p:blipFill>
        <p:spPr>
          <a:xfrm>
            <a:off x="8229600" y="6370638"/>
            <a:ext cx="914400" cy="481012"/>
          </a:xfrm>
          <a:prstGeom prst="rect">
            <a:avLst/>
          </a:prstGeom>
          <a:noFill/>
          <a:ln w="9525">
            <a:noFill/>
          </a:ln>
        </p:spPr>
      </p:pic>
      <p:sp>
        <p:nvSpPr>
          <p:cNvPr id="2051" name="文本框 2053"/>
          <p:cNvSpPr txBox="1"/>
          <p:nvPr/>
        </p:nvSpPr>
        <p:spPr>
          <a:xfrm>
            <a:off x="2117725" y="1412875"/>
            <a:ext cx="5681663" cy="4765675"/>
          </a:xfrm>
          <a:prstGeom prst="rect">
            <a:avLst/>
          </a:prstGeom>
          <a:noFill/>
          <a:ln w="9525">
            <a:noFill/>
          </a:ln>
        </p:spPr>
        <p:txBody>
          <a:bodyPr wrap="none" anchor="t">
            <a:spAutoFit/>
          </a:bodyPr>
          <a:p>
            <a:pPr>
              <a:lnSpc>
                <a:spcPct val="160000"/>
              </a:lnSpc>
            </a:pPr>
            <a:r>
              <a:rPr lang="en-US" altLang="zh-CN" b="1" dirty="0">
                <a:latin typeface="Times New Roman" panose="02020603050405020304" pitchFamily="18" charset="0"/>
                <a:ea typeface="宋体" panose="02010600030101010101" pitchFamily="2" charset="-122"/>
                <a:hlinkClick r:id="rId3" action="ppaction://hlinksldjump"/>
              </a:rPr>
              <a:t>3.1 </a:t>
            </a:r>
            <a:r>
              <a:rPr lang="zh-CN" altLang="en-US" b="1" dirty="0">
                <a:latin typeface="Times New Roman" panose="02020603050405020304" pitchFamily="18" charset="0"/>
                <a:ea typeface="宋体" panose="02010600030101010101" pitchFamily="2" charset="-122"/>
                <a:hlinkClick r:id="rId3" action="ppaction://hlinksldjump"/>
              </a:rPr>
              <a:t>引言 </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4" action="ppaction://hlinksldjump"/>
              </a:rPr>
              <a:t>3.2 </a:t>
            </a:r>
            <a:r>
              <a:rPr lang="zh-CN" altLang="en-US" b="1" dirty="0">
                <a:latin typeface="Times New Roman" panose="02020603050405020304" pitchFamily="18" charset="0"/>
                <a:ea typeface="宋体" panose="02010600030101010101" pitchFamily="2" charset="-122"/>
                <a:hlinkClick r:id="rId4" action="ppaction://hlinksldjump"/>
              </a:rPr>
              <a:t>直接计算</a:t>
            </a:r>
            <a:r>
              <a:rPr lang="en-US" altLang="zh-CN" b="1" dirty="0">
                <a:latin typeface="Times New Roman" panose="02020603050405020304" pitchFamily="18" charset="0"/>
                <a:ea typeface="宋体" panose="02010600030101010101" pitchFamily="2" charset="-122"/>
                <a:hlinkClick r:id="rId4" action="ppaction://hlinksldjump"/>
              </a:rPr>
              <a:t>DFT</a:t>
            </a:r>
            <a:r>
              <a:rPr lang="zh-CN" altLang="en-US" b="1" dirty="0">
                <a:latin typeface="Times New Roman" panose="02020603050405020304" pitchFamily="18" charset="0"/>
                <a:ea typeface="宋体" panose="02010600030101010101" pitchFamily="2" charset="-122"/>
                <a:hlinkClick r:id="rId4" action="ppaction://hlinksldjump"/>
              </a:rPr>
              <a:t>的问题及改进的途径 </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5" action="ppaction://hlinksldjump"/>
              </a:rPr>
              <a:t>3.3 </a:t>
            </a:r>
            <a:r>
              <a:rPr lang="zh-CN" altLang="en-US" b="1" dirty="0">
                <a:latin typeface="Times New Roman" panose="02020603050405020304" pitchFamily="18" charset="0"/>
                <a:ea typeface="宋体" panose="02010600030101010101" pitchFamily="2" charset="-122"/>
                <a:hlinkClick r:id="rId5" action="ppaction://hlinksldjump"/>
              </a:rPr>
              <a:t>按时间抽取（</a:t>
            </a:r>
            <a:r>
              <a:rPr lang="en-US" altLang="zh-CN" b="1" dirty="0">
                <a:latin typeface="Times New Roman" panose="02020603050405020304" pitchFamily="18" charset="0"/>
                <a:ea typeface="宋体" panose="02010600030101010101" pitchFamily="2" charset="-122"/>
                <a:hlinkClick r:id="rId5" action="ppaction://hlinksldjump"/>
              </a:rPr>
              <a:t>DIT</a:t>
            </a:r>
            <a:r>
              <a:rPr lang="zh-CN" altLang="en-US" b="1" dirty="0">
                <a:latin typeface="Times New Roman" panose="02020603050405020304" pitchFamily="18" charset="0"/>
                <a:ea typeface="宋体" panose="02010600030101010101" pitchFamily="2" charset="-122"/>
                <a:hlinkClick r:id="rId5" action="ppaction://hlinksldjump"/>
              </a:rPr>
              <a:t>）的基</a:t>
            </a:r>
            <a:r>
              <a:rPr lang="en-US" altLang="zh-CN" b="1" dirty="0">
                <a:latin typeface="Times New Roman" panose="02020603050405020304" pitchFamily="18" charset="0"/>
                <a:ea typeface="宋体" panose="02010600030101010101" pitchFamily="2" charset="-122"/>
                <a:hlinkClick r:id="rId5" action="ppaction://hlinksldjump"/>
              </a:rPr>
              <a:t>2-FFT</a:t>
            </a:r>
            <a:r>
              <a:rPr lang="zh-CN" altLang="en-US" b="1" dirty="0">
                <a:latin typeface="Times New Roman" panose="02020603050405020304" pitchFamily="18" charset="0"/>
                <a:ea typeface="宋体" panose="02010600030101010101" pitchFamily="2" charset="-122"/>
                <a:hlinkClick r:id="rId5" action="ppaction://hlinksldjump"/>
              </a:rPr>
              <a:t>算法</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6" action="ppaction://hlinksldjump"/>
              </a:rPr>
              <a:t>3.4 </a:t>
            </a:r>
            <a:r>
              <a:rPr lang="zh-CN" altLang="en-US" b="1" dirty="0">
                <a:latin typeface="Times New Roman" panose="02020603050405020304" pitchFamily="18" charset="0"/>
                <a:ea typeface="宋体" panose="02010600030101010101" pitchFamily="2" charset="-122"/>
                <a:hlinkClick r:id="rId6" action="ppaction://hlinksldjump"/>
              </a:rPr>
              <a:t>按频率抽取（</a:t>
            </a:r>
            <a:r>
              <a:rPr lang="en-US" altLang="zh-CN" b="1" dirty="0">
                <a:latin typeface="Times New Roman" panose="02020603050405020304" pitchFamily="18" charset="0"/>
                <a:ea typeface="宋体" panose="02010600030101010101" pitchFamily="2" charset="-122"/>
                <a:hlinkClick r:id="rId6" action="ppaction://hlinksldjump"/>
              </a:rPr>
              <a:t>DIF</a:t>
            </a:r>
            <a:r>
              <a:rPr lang="zh-CN" altLang="en-US" b="1" dirty="0">
                <a:latin typeface="Times New Roman" panose="02020603050405020304" pitchFamily="18" charset="0"/>
                <a:ea typeface="宋体" panose="02010600030101010101" pitchFamily="2" charset="-122"/>
                <a:hlinkClick r:id="rId6" action="ppaction://hlinksldjump"/>
              </a:rPr>
              <a:t>）的基</a:t>
            </a:r>
            <a:r>
              <a:rPr lang="en-US" altLang="zh-CN" b="1" dirty="0">
                <a:latin typeface="Times New Roman" panose="02020603050405020304" pitchFamily="18" charset="0"/>
                <a:ea typeface="宋体" panose="02010600030101010101" pitchFamily="2" charset="-122"/>
                <a:hlinkClick r:id="rId6" action="ppaction://hlinksldjump"/>
              </a:rPr>
              <a:t>2-FFT</a:t>
            </a:r>
            <a:r>
              <a:rPr lang="zh-CN" altLang="en-US" b="1" dirty="0">
                <a:latin typeface="Times New Roman" panose="02020603050405020304" pitchFamily="18" charset="0"/>
                <a:ea typeface="宋体" panose="02010600030101010101" pitchFamily="2" charset="-122"/>
                <a:hlinkClick r:id="rId6" action="ppaction://hlinksldjump"/>
              </a:rPr>
              <a:t>算法</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7" action="ppaction://hlinksldjump"/>
              </a:rPr>
              <a:t>3.5 N</a:t>
            </a:r>
            <a:r>
              <a:rPr lang="zh-CN" altLang="en-US" b="1" dirty="0">
                <a:latin typeface="Times New Roman" panose="02020603050405020304" pitchFamily="18" charset="0"/>
                <a:ea typeface="宋体" panose="02010600030101010101" pitchFamily="2" charset="-122"/>
                <a:hlinkClick r:id="rId7" action="ppaction://hlinksldjump"/>
              </a:rPr>
              <a:t>为复合数的</a:t>
            </a:r>
            <a:r>
              <a:rPr lang="en-US" altLang="zh-CN" b="1" dirty="0">
                <a:latin typeface="Times New Roman" panose="02020603050405020304" pitchFamily="18" charset="0"/>
                <a:ea typeface="宋体" panose="02010600030101010101" pitchFamily="2" charset="-122"/>
                <a:hlinkClick r:id="rId7" action="ppaction://hlinksldjump"/>
              </a:rPr>
              <a:t>FFT</a:t>
            </a:r>
            <a:r>
              <a:rPr lang="zh-CN" altLang="en-US" b="1" dirty="0">
                <a:latin typeface="Times New Roman" panose="02020603050405020304" pitchFamily="18" charset="0"/>
                <a:ea typeface="宋体" panose="02010600030101010101" pitchFamily="2" charset="-122"/>
                <a:hlinkClick r:id="rId7" action="ppaction://hlinksldjump"/>
              </a:rPr>
              <a:t>算法  </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8" action="ppaction://hlinksldjump"/>
              </a:rPr>
              <a:t>3.6 </a:t>
            </a:r>
            <a:r>
              <a:rPr lang="zh-CN" altLang="en-US" b="1" dirty="0">
                <a:latin typeface="Times New Roman" panose="02020603050405020304" pitchFamily="18" charset="0"/>
                <a:ea typeface="宋体" panose="02010600030101010101" pitchFamily="2" charset="-122"/>
                <a:hlinkClick r:id="rId8" action="ppaction://hlinksldjump"/>
              </a:rPr>
              <a:t>线性调频</a:t>
            </a:r>
            <a:r>
              <a:rPr lang="en-US" altLang="zh-CN" b="1" dirty="0">
                <a:latin typeface="Times New Roman" panose="02020603050405020304" pitchFamily="18" charset="0"/>
                <a:ea typeface="宋体" panose="02010600030101010101" pitchFamily="2" charset="-122"/>
                <a:hlinkClick r:id="rId8" action="ppaction://hlinksldjump"/>
              </a:rPr>
              <a:t>Z</a:t>
            </a:r>
            <a:r>
              <a:rPr lang="zh-CN" altLang="en-US" b="1" dirty="0">
                <a:latin typeface="Times New Roman" panose="02020603050405020304" pitchFamily="18" charset="0"/>
                <a:ea typeface="宋体" panose="02010600030101010101" pitchFamily="2" charset="-122"/>
                <a:hlinkClick r:id="rId8" action="ppaction://hlinksldjump"/>
              </a:rPr>
              <a:t>变换（</a:t>
            </a:r>
            <a:r>
              <a:rPr lang="en-US" altLang="zh-CN" b="1" dirty="0">
                <a:latin typeface="Times New Roman" panose="02020603050405020304" pitchFamily="18" charset="0"/>
                <a:ea typeface="宋体" panose="02010600030101010101" pitchFamily="2" charset="-122"/>
                <a:hlinkClick r:id="rId8" action="ppaction://hlinksldjump"/>
              </a:rPr>
              <a:t>Chirp-Z</a:t>
            </a:r>
            <a:r>
              <a:rPr lang="zh-CN" altLang="en-US" b="1" dirty="0">
                <a:latin typeface="Times New Roman" panose="02020603050405020304" pitchFamily="18" charset="0"/>
                <a:ea typeface="宋体" panose="02010600030101010101" pitchFamily="2" charset="-122"/>
                <a:hlinkClick r:id="rId8" action="ppaction://hlinksldjump"/>
              </a:rPr>
              <a:t>变换）算法 </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9" action="ppaction://hlinksldjump"/>
              </a:rPr>
              <a:t>3.7 </a:t>
            </a:r>
            <a:r>
              <a:rPr lang="zh-CN" altLang="en-US" b="1" dirty="0">
                <a:latin typeface="Times New Roman" panose="02020603050405020304" pitchFamily="18" charset="0"/>
                <a:ea typeface="宋体" panose="02010600030101010101" pitchFamily="2" charset="-122"/>
                <a:hlinkClick r:id="rId9" action="ppaction://hlinksldjump"/>
              </a:rPr>
              <a:t>利用</a:t>
            </a:r>
            <a:r>
              <a:rPr lang="en-US" altLang="zh-CN" b="1" dirty="0">
                <a:latin typeface="Times New Roman" panose="02020603050405020304" pitchFamily="18" charset="0"/>
                <a:ea typeface="宋体" panose="02010600030101010101" pitchFamily="2" charset="-122"/>
                <a:hlinkClick r:id="rId9" action="ppaction://hlinksldjump"/>
              </a:rPr>
              <a:t>FFT</a:t>
            </a:r>
            <a:r>
              <a:rPr lang="zh-CN" altLang="en-US" b="1" dirty="0">
                <a:latin typeface="Times New Roman" panose="02020603050405020304" pitchFamily="18" charset="0"/>
                <a:ea typeface="宋体" panose="02010600030101010101" pitchFamily="2" charset="-122"/>
                <a:hlinkClick r:id="rId9" action="ppaction://hlinksldjump"/>
              </a:rPr>
              <a:t>分析时域连续信号频谱 </a:t>
            </a:r>
            <a:endParaRPr lang="zh-CN" altLang="en-US" b="1">
              <a:latin typeface="Times New Roman" panose="02020603050405020304" pitchFamily="18" charset="0"/>
              <a:ea typeface="宋体" panose="02010600030101010101" pitchFamily="2" charset="-122"/>
            </a:endParaRPr>
          </a:p>
          <a:p>
            <a:pPr>
              <a:lnSpc>
                <a:spcPct val="160000"/>
              </a:lnSpc>
            </a:pPr>
            <a:r>
              <a:rPr lang="en-US" altLang="zh-CN" b="1" dirty="0">
                <a:latin typeface="Times New Roman" panose="02020603050405020304" pitchFamily="18" charset="0"/>
                <a:ea typeface="宋体" panose="02010600030101010101" pitchFamily="2" charset="-122"/>
                <a:hlinkClick r:id="rId10" action="ppaction://hlinksldjump"/>
              </a:rPr>
              <a:t>3.8 FFT</a:t>
            </a:r>
            <a:r>
              <a:rPr lang="zh-CN" altLang="en-US" b="1" dirty="0">
                <a:latin typeface="Times New Roman" panose="02020603050405020304" pitchFamily="18" charset="0"/>
                <a:ea typeface="宋体" panose="02010600030101010101" pitchFamily="2" charset="-122"/>
                <a:hlinkClick r:id="rId10" action="ppaction://hlinksldjump"/>
              </a:rPr>
              <a:t>的其他应用  </a:t>
            </a:r>
            <a:endParaRPr lang="zh-CN" altLang="en-US" b="1">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文本框 3075"/>
          <p:cNvSpPr txBox="1"/>
          <p:nvPr/>
        </p:nvSpPr>
        <p:spPr>
          <a:xfrm>
            <a:off x="3886200" y="609600"/>
            <a:ext cx="1901825"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3.1 </a:t>
            </a:r>
            <a:r>
              <a:rPr lang="zh-CN" altLang="en-US" sz="3200" b="1" dirty="0">
                <a:latin typeface="Times New Roman" panose="02020603050405020304" pitchFamily="18" charset="0"/>
                <a:ea typeface="宋体" panose="02010600030101010101" pitchFamily="2" charset="-122"/>
              </a:rPr>
              <a:t>引  言 </a:t>
            </a:r>
            <a:endParaRPr lang="zh-CN" altLang="en-US" sz="3200" b="1">
              <a:latin typeface="Times New Roman" panose="02020603050405020304" pitchFamily="18" charset="0"/>
              <a:ea typeface="宋体" panose="02010600030101010101" pitchFamily="2" charset="-122"/>
            </a:endParaRPr>
          </a:p>
        </p:txBody>
      </p:sp>
      <p:sp>
        <p:nvSpPr>
          <p:cNvPr id="3074" name="文本框 3076"/>
          <p:cNvSpPr txBox="1"/>
          <p:nvPr/>
        </p:nvSpPr>
        <p:spPr>
          <a:xfrm>
            <a:off x="228600" y="1219200"/>
            <a:ext cx="8686800" cy="5338763"/>
          </a:xfrm>
          <a:prstGeom prst="rect">
            <a:avLst/>
          </a:prstGeom>
          <a:noFill/>
          <a:ln w="9525">
            <a:noFill/>
          </a:ln>
        </p:spPr>
        <p:txBody>
          <a:bodyPr anchor="t">
            <a:spAutoFit/>
          </a:bodyPr>
          <a:p>
            <a:pPr algn="just">
              <a:lnSpc>
                <a:spcPct val="138000"/>
              </a:lnSpc>
              <a:spcBef>
                <a:spcPct val="50000"/>
              </a:spcBef>
            </a:pPr>
            <a:r>
              <a:rPr lang="en-US" altLang="zh-CN" sz="2000" dirty="0">
                <a:latin typeface="Times New Roman" panose="02020603050405020304" pitchFamily="18" charset="0"/>
                <a:ea typeface="宋体" panose="02010600030101010101" pitchFamily="2" charset="-122"/>
              </a:rPr>
              <a:t>         </a:t>
            </a:r>
            <a:r>
              <a:rPr lang="zh-CN" altLang="en-US" sz="2000" b="1" dirty="0">
                <a:solidFill>
                  <a:srgbClr val="FF0000"/>
                </a:solidFill>
                <a:latin typeface="Times New Roman" panose="02020603050405020304" pitchFamily="18" charset="0"/>
                <a:ea typeface="宋体" panose="02010600030101010101" pitchFamily="2" charset="-122"/>
              </a:rPr>
              <a:t>快速傅里叶变换（</a:t>
            </a:r>
            <a:r>
              <a:rPr lang="en-US" altLang="zh-CN" sz="2000" b="1" dirty="0">
                <a:solidFill>
                  <a:srgbClr val="FF0000"/>
                </a:solidFill>
                <a:latin typeface="Times New Roman" panose="02020603050405020304" pitchFamily="18" charset="0"/>
                <a:ea typeface="宋体" panose="02010600030101010101" pitchFamily="2" charset="-122"/>
              </a:rPr>
              <a:t>FFT</a:t>
            </a:r>
            <a:r>
              <a:rPr lang="zh-CN" altLang="en-US" sz="2000" b="1" dirty="0">
                <a:solidFill>
                  <a:srgbClr val="FF0000"/>
                </a:solidFill>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并不是一种新的变换， 而</a:t>
            </a:r>
            <a:r>
              <a:rPr lang="zh-CN" altLang="en-US" sz="2000" b="1" dirty="0">
                <a:solidFill>
                  <a:srgbClr val="FF0000"/>
                </a:solidFill>
                <a:latin typeface="Times New Roman" panose="02020603050405020304" pitchFamily="18" charset="0"/>
                <a:ea typeface="宋体" panose="02010600030101010101" pitchFamily="2" charset="-122"/>
              </a:rPr>
              <a:t>是离散傅里叶变换（</a:t>
            </a:r>
            <a:r>
              <a:rPr lang="en-US" altLang="zh-CN" sz="2000" b="1" dirty="0">
                <a:solidFill>
                  <a:srgbClr val="FF0000"/>
                </a:solidFill>
                <a:latin typeface="Times New Roman" panose="02020603050405020304" pitchFamily="18" charset="0"/>
                <a:ea typeface="宋体" panose="02010600030101010101" pitchFamily="2" charset="-122"/>
              </a:rPr>
              <a:t>DFT</a:t>
            </a:r>
            <a:r>
              <a:rPr lang="zh-CN" altLang="en-US" sz="2000" b="1" dirty="0">
                <a:solidFill>
                  <a:srgbClr val="FF0000"/>
                </a:solidFill>
                <a:latin typeface="Times New Roman" panose="02020603050405020304" pitchFamily="18" charset="0"/>
                <a:ea typeface="宋体" panose="02010600030101010101" pitchFamily="2" charset="-122"/>
              </a:rPr>
              <a:t>）的一种快速算法。  </a:t>
            </a:r>
            <a:endParaRPr lang="zh-CN" altLang="en-US" sz="2000" b="1" dirty="0">
              <a:solidFill>
                <a:srgbClr val="FF0000"/>
              </a:solidFill>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sz="2000" dirty="0">
                <a:latin typeface="Times New Roman" panose="02020603050405020304" pitchFamily="18" charset="0"/>
                <a:ea typeface="宋体" panose="02010600030101010101" pitchFamily="2" charset="-122"/>
              </a:rPr>
              <a:t>        由于有限长序列在其频域也可离散化为有限长序列（</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），因此离散傅里叶变换（</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）在数字信号处理中是非常有用的。例如，在信号的频谱分析、 系统的分析、 设计和实现中都会用到</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的计算。 但是，在相当长的时间里， 由于</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的计算量太大，即使采用计算机也很难对问题进行实时处理，所以并没有得到真正的运用。 直到</a:t>
            </a:r>
            <a:r>
              <a:rPr lang="en-US" altLang="zh-CN" sz="2000" dirty="0">
                <a:latin typeface="Times New Roman" panose="02020603050405020304" pitchFamily="18" charset="0"/>
                <a:ea typeface="宋体" panose="02010600030101010101" pitchFamily="2" charset="-122"/>
              </a:rPr>
              <a:t>1965</a:t>
            </a:r>
            <a:r>
              <a:rPr lang="zh-CN" altLang="en-US" sz="2000" dirty="0">
                <a:latin typeface="Times New Roman" panose="02020603050405020304" pitchFamily="18" charset="0"/>
                <a:ea typeface="宋体" panose="02010600030101010101" pitchFamily="2" charset="-122"/>
              </a:rPr>
              <a:t>年首次发现了</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运算的一种快速算法以后，情况才发生了根本的变化。人们开始认识到</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运算的一些内在规律，从而很快地发展和完善了一套高速有效的运算方法， 这就是现在人们普遍称之为快速傅里叶变换（</a:t>
            </a:r>
            <a:r>
              <a:rPr lang="en-US" altLang="zh-CN" sz="2000" dirty="0">
                <a:latin typeface="Times New Roman" panose="02020603050405020304" pitchFamily="18" charset="0"/>
                <a:ea typeface="宋体" panose="02010600030101010101" pitchFamily="2" charset="-122"/>
              </a:rPr>
              <a:t>FFT</a:t>
            </a:r>
            <a:r>
              <a:rPr lang="zh-CN" altLang="en-US" sz="2000" dirty="0">
                <a:latin typeface="Times New Roman" panose="02020603050405020304" pitchFamily="18" charset="0"/>
                <a:ea typeface="宋体" panose="02010600030101010101" pitchFamily="2" charset="-122"/>
              </a:rPr>
              <a:t>）的算法。 </a:t>
            </a:r>
            <a:r>
              <a:rPr lang="en-US" altLang="zh-CN" sz="2000" dirty="0">
                <a:latin typeface="Times New Roman" panose="02020603050405020304" pitchFamily="18" charset="0"/>
                <a:ea typeface="宋体" panose="02010600030101010101" pitchFamily="2" charset="-122"/>
              </a:rPr>
              <a:t>FFT</a:t>
            </a:r>
            <a:r>
              <a:rPr lang="zh-CN" altLang="en-US" sz="2000" dirty="0">
                <a:latin typeface="Times New Roman" panose="02020603050405020304" pitchFamily="18" charset="0"/>
                <a:ea typeface="宋体" panose="02010600030101010101" pitchFamily="2" charset="-122"/>
              </a:rPr>
              <a:t>出现后使</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的运算大大简化，运算时间一般可缩短一二个数</a:t>
            </a:r>
            <a:r>
              <a:rPr lang="zh-CN" altLang="en-US" sz="2000" dirty="0">
                <a:latin typeface="Times New Roman" panose="02020603050405020304" pitchFamily="18" charset="0"/>
                <a:ea typeface="宋体" panose="02010600030101010101" pitchFamily="2" charset="-122"/>
              </a:rPr>
              <a:t>量级之多，从而使</a:t>
            </a:r>
            <a:r>
              <a:rPr lang="en-US" altLang="zh-CN" sz="2000" dirty="0">
                <a:latin typeface="Times New Roman" panose="02020603050405020304" pitchFamily="18" charset="0"/>
                <a:ea typeface="宋体" panose="02010600030101010101" pitchFamily="2" charset="-122"/>
              </a:rPr>
              <a:t>DFT</a:t>
            </a:r>
            <a:r>
              <a:rPr lang="zh-CN" altLang="en-US" sz="2000" dirty="0">
                <a:latin typeface="Times New Roman" panose="02020603050405020304" pitchFamily="18" charset="0"/>
                <a:ea typeface="宋体" panose="02010600030101010101" pitchFamily="2" charset="-122"/>
              </a:rPr>
              <a:t>的运算在实际中真正得到了广泛的应用。 </a:t>
            </a:r>
            <a:endParaRPr lang="zh-CN" altLang="en-US" sz="200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4099"/>
          <p:cNvSpPr txBox="1"/>
          <p:nvPr/>
        </p:nvSpPr>
        <p:spPr>
          <a:xfrm>
            <a:off x="1219200" y="838200"/>
            <a:ext cx="7032625"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3.2 </a:t>
            </a:r>
            <a:r>
              <a:rPr lang="zh-CN" altLang="en-US" sz="3200" b="1" dirty="0">
                <a:latin typeface="Times New Roman" panose="02020603050405020304" pitchFamily="18" charset="0"/>
                <a:ea typeface="宋体" panose="02010600030101010101" pitchFamily="2" charset="-122"/>
              </a:rPr>
              <a:t>直接计算</a:t>
            </a:r>
            <a:r>
              <a:rPr lang="en-US" altLang="zh-CN" sz="3200" b="1" dirty="0">
                <a:latin typeface="Times New Roman" panose="02020603050405020304" pitchFamily="18" charset="0"/>
                <a:ea typeface="宋体" panose="02010600030101010101" pitchFamily="2" charset="-122"/>
              </a:rPr>
              <a:t>DFT</a:t>
            </a:r>
            <a:r>
              <a:rPr lang="zh-CN" altLang="en-US" sz="3200" b="1" dirty="0">
                <a:latin typeface="Times New Roman" panose="02020603050405020304" pitchFamily="18" charset="0"/>
                <a:ea typeface="宋体" panose="02010600030101010101" pitchFamily="2" charset="-122"/>
              </a:rPr>
              <a:t>的问题及改进的途径 </a:t>
            </a:r>
            <a:endParaRPr lang="zh-CN" altLang="en-US" sz="3200" b="1">
              <a:latin typeface="Times New Roman" panose="02020603050405020304" pitchFamily="18" charset="0"/>
              <a:ea typeface="宋体" panose="02010600030101010101" pitchFamily="2" charset="-122"/>
            </a:endParaRPr>
          </a:p>
        </p:txBody>
      </p:sp>
      <p:sp>
        <p:nvSpPr>
          <p:cNvPr id="4098" name="文本框 4100"/>
          <p:cNvSpPr txBox="1"/>
          <p:nvPr/>
        </p:nvSpPr>
        <p:spPr>
          <a:xfrm>
            <a:off x="288925" y="1651000"/>
            <a:ext cx="5567363" cy="1257300"/>
          </a:xfrm>
          <a:prstGeom prst="rect">
            <a:avLst/>
          </a:prstGeom>
          <a:noFill/>
          <a:ln w="9525">
            <a:noFill/>
          </a:ln>
        </p:spPr>
        <p:txBody>
          <a:bodyPr wrap="none" anchor="t">
            <a:spAutoFit/>
          </a:bodyPr>
          <a:p>
            <a:pPr>
              <a:lnSpc>
                <a:spcPct val="158000"/>
              </a:lnSpc>
            </a:pPr>
            <a:r>
              <a:rPr lang="en-US" altLang="zh-CN" b="1" dirty="0">
                <a:latin typeface="Times New Roman" panose="02020603050405020304" pitchFamily="18" charset="0"/>
                <a:ea typeface="宋体" panose="02010600030101010101" pitchFamily="2" charset="-122"/>
              </a:rPr>
              <a:t>3.2.1 </a:t>
            </a:r>
            <a:r>
              <a:rPr lang="zh-CN" altLang="en-US" b="1" dirty="0">
                <a:latin typeface="Times New Roman" panose="02020603050405020304" pitchFamily="18" charset="0"/>
                <a:ea typeface="宋体" panose="02010600030101010101" pitchFamily="2" charset="-122"/>
              </a:rPr>
              <a:t>直接计算</a:t>
            </a:r>
            <a:r>
              <a:rPr lang="en-US" altLang="zh-CN" b="1" dirty="0">
                <a:latin typeface="Times New Roman" panose="02020603050405020304" pitchFamily="18" charset="0"/>
                <a:ea typeface="宋体" panose="02010600030101010101" pitchFamily="2" charset="-122"/>
              </a:rPr>
              <a:t>DFT</a:t>
            </a:r>
            <a:r>
              <a:rPr lang="zh-CN" altLang="en-US" b="1" dirty="0">
                <a:latin typeface="Times New Roman" panose="02020603050405020304" pitchFamily="18" charset="0"/>
                <a:ea typeface="宋体" panose="02010600030101010101" pitchFamily="2" charset="-122"/>
              </a:rPr>
              <a:t>的运算量问题</a:t>
            </a:r>
            <a:endParaRPr lang="zh-CN" altLang="en-US">
              <a:latin typeface="Times New Roman" panose="02020603050405020304" pitchFamily="18" charset="0"/>
              <a:ea typeface="宋体" panose="02010600030101010101" pitchFamily="2" charset="-122"/>
            </a:endParaRPr>
          </a:p>
          <a:p>
            <a:pPr>
              <a:lnSpc>
                <a:spcPct val="158000"/>
              </a:lnSpc>
            </a:pPr>
            <a:r>
              <a:rPr lang="zh-CN" altLang="en-US">
                <a:latin typeface="Times New Roman" panose="02020603050405020304" pitchFamily="18" charset="0"/>
                <a:ea typeface="宋体" panose="02010600030101010101" pitchFamily="2" charset="-122"/>
              </a:rPr>
              <a:t>         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点有限长序列，其</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4099" name="对象 4101"/>
          <p:cNvGraphicFramePr/>
          <p:nvPr/>
        </p:nvGraphicFramePr>
        <p:xfrm>
          <a:off x="1219200" y="3048000"/>
          <a:ext cx="3200400" cy="1133475"/>
        </p:xfrm>
        <a:graphic>
          <a:graphicData uri="http://schemas.openxmlformats.org/presentationml/2006/ole">
            <mc:AlternateContent xmlns:mc="http://schemas.openxmlformats.org/markup-compatibility/2006">
              <mc:Choice xmlns:v="urn:schemas-microsoft-com:vml" Requires="v">
                <p:oleObj spid="_x0000_s3078" name="" r:id="rId1" imgW="1218565" imgH="431800" progId="Equation.3">
                  <p:embed/>
                </p:oleObj>
              </mc:Choice>
              <mc:Fallback>
                <p:oleObj name="" r:id="rId1" imgW="1218565" imgH="431800" progId="Equation.3">
                  <p:embed/>
                  <p:pic>
                    <p:nvPicPr>
                      <p:cNvPr id="0" name="图片 3077"/>
                      <p:cNvPicPr/>
                      <p:nvPr/>
                    </p:nvPicPr>
                    <p:blipFill>
                      <a:blip r:embed="rId2"/>
                      <a:stretch>
                        <a:fillRect/>
                      </a:stretch>
                    </p:blipFill>
                    <p:spPr>
                      <a:xfrm>
                        <a:off x="1219200" y="3048000"/>
                        <a:ext cx="3200400" cy="1133475"/>
                      </a:xfrm>
                      <a:prstGeom prst="rect">
                        <a:avLst/>
                      </a:prstGeom>
                      <a:solidFill>
                        <a:schemeClr val="accent1"/>
                      </a:solidFill>
                      <a:ln w="38100">
                        <a:noFill/>
                        <a:miter/>
                      </a:ln>
                    </p:spPr>
                  </p:pic>
                </p:oleObj>
              </mc:Fallback>
            </mc:AlternateContent>
          </a:graphicData>
        </a:graphic>
      </p:graphicFrame>
      <p:sp>
        <p:nvSpPr>
          <p:cNvPr id="4100" name="文本框 4102"/>
          <p:cNvSpPr txBox="1"/>
          <p:nvPr/>
        </p:nvSpPr>
        <p:spPr>
          <a:xfrm>
            <a:off x="4937125" y="3394075"/>
            <a:ext cx="2090738"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4101" name="文本框 4103"/>
          <p:cNvSpPr txBox="1"/>
          <p:nvPr/>
        </p:nvSpPr>
        <p:spPr>
          <a:xfrm>
            <a:off x="7880350" y="34290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4102" name="文本框 4104"/>
          <p:cNvSpPr txBox="1"/>
          <p:nvPr/>
        </p:nvSpPr>
        <p:spPr>
          <a:xfrm>
            <a:off x="365125" y="4308475"/>
            <a:ext cx="27543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反变换（</a:t>
            </a:r>
            <a:r>
              <a:rPr lang="en-US" altLang="zh-CN" dirty="0">
                <a:latin typeface="Times New Roman" panose="02020603050405020304" pitchFamily="18" charset="0"/>
                <a:ea typeface="宋体" panose="02010600030101010101" pitchFamily="2" charset="-122"/>
              </a:rPr>
              <a:t>IDFT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4103" name="对象 4105"/>
          <p:cNvGraphicFramePr/>
          <p:nvPr/>
        </p:nvGraphicFramePr>
        <p:xfrm>
          <a:off x="979488" y="5029200"/>
          <a:ext cx="3803650" cy="1133475"/>
        </p:xfrm>
        <a:graphic>
          <a:graphicData uri="http://schemas.openxmlformats.org/presentationml/2006/ole">
            <mc:AlternateContent xmlns:mc="http://schemas.openxmlformats.org/markup-compatibility/2006">
              <mc:Choice xmlns:v="urn:schemas-microsoft-com:vml" Requires="v">
                <p:oleObj spid="_x0000_s3077" name="" r:id="rId3" imgW="1447800" imgH="431800" progId="Equation.3">
                  <p:embed/>
                </p:oleObj>
              </mc:Choice>
              <mc:Fallback>
                <p:oleObj name="" r:id="rId3" imgW="1447800" imgH="431800" progId="Equation.3">
                  <p:embed/>
                  <p:pic>
                    <p:nvPicPr>
                      <p:cNvPr id="0" name="图片 3076"/>
                      <p:cNvPicPr/>
                      <p:nvPr/>
                    </p:nvPicPr>
                    <p:blipFill>
                      <a:blip r:embed="rId4"/>
                      <a:stretch>
                        <a:fillRect/>
                      </a:stretch>
                    </p:blipFill>
                    <p:spPr>
                      <a:xfrm>
                        <a:off x="979488" y="5029200"/>
                        <a:ext cx="3803650" cy="1133475"/>
                      </a:xfrm>
                      <a:prstGeom prst="rect">
                        <a:avLst/>
                      </a:prstGeom>
                      <a:solidFill>
                        <a:schemeClr val="accent1"/>
                      </a:solidFill>
                      <a:ln w="38100">
                        <a:noFill/>
                        <a:miter/>
                      </a:ln>
                    </p:spPr>
                  </p:pic>
                </p:oleObj>
              </mc:Fallback>
            </mc:AlternateContent>
          </a:graphicData>
        </a:graphic>
      </p:graphicFrame>
      <p:sp>
        <p:nvSpPr>
          <p:cNvPr id="4104" name="文本框 4106"/>
          <p:cNvSpPr txBox="1"/>
          <p:nvPr/>
        </p:nvSpPr>
        <p:spPr>
          <a:xfrm>
            <a:off x="5410200" y="5334000"/>
            <a:ext cx="2108200"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 1,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4105" name="文本框 4107"/>
          <p:cNvSpPr txBox="1"/>
          <p:nvPr/>
        </p:nvSpPr>
        <p:spPr>
          <a:xfrm>
            <a:off x="7880350" y="53340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5123"/>
          <p:cNvSpPr txBox="1"/>
          <p:nvPr/>
        </p:nvSpPr>
        <p:spPr>
          <a:xfrm>
            <a:off x="304800" y="609600"/>
            <a:ext cx="8610600" cy="5527675"/>
          </a:xfrm>
          <a:prstGeom prst="rect">
            <a:avLst/>
          </a:prstGeom>
          <a:noFill/>
          <a:ln w="9525">
            <a:noFill/>
          </a:ln>
        </p:spPr>
        <p:txBody>
          <a:bodyPr anchor="t">
            <a:spAutoFit/>
          </a:bodyPr>
          <a:p>
            <a:pPr algn="just">
              <a:lnSpc>
                <a:spcPct val="158000"/>
              </a:lnSpc>
              <a:spcBef>
                <a:spcPct val="50000"/>
              </a:spcBef>
            </a:pPr>
            <a:r>
              <a:rPr lang="en-US" altLang="zh-CN" noProof="1" dirty="0">
                <a:latin typeface="Times New Roman" panose="02020603050405020304" pitchFamily="18" charset="0"/>
                <a:ea typeface="宋体" panose="02010600030101010101" pitchFamily="2" charset="-122"/>
                <a:cs typeface="+mn-cs"/>
              </a:rPr>
              <a:t>        </a:t>
            </a:r>
            <a:r>
              <a:rPr lang="zh-CN" altLang="en-US" noProof="1" dirty="0">
                <a:latin typeface="Times New Roman" panose="02020603050405020304" pitchFamily="18" charset="0"/>
                <a:ea typeface="宋体" panose="02010600030101010101" pitchFamily="2" charset="-122"/>
                <a:cs typeface="+mn-cs"/>
              </a:rPr>
              <a:t>二者的差别只在于</a:t>
            </a:r>
            <a:r>
              <a:rPr lang="en-US" altLang="zh-CN" i="1" noProof="1">
                <a:latin typeface="Times New Roman" panose="02020603050405020304" pitchFamily="18" charset="0"/>
                <a:ea typeface="宋体" panose="02010600030101010101" pitchFamily="2" charset="-122"/>
                <a:cs typeface="+mn-cs"/>
              </a:rPr>
              <a:t>W</a:t>
            </a:r>
            <a:r>
              <a:rPr lang="en-US" altLang="zh-CN" i="1" baseline="-25000"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的指数符号不同，以及差一个常数乘因子</a:t>
            </a:r>
            <a:r>
              <a:rPr lang="en-US" altLang="zh-CN" noProof="1">
                <a:latin typeface="Times New Roman" panose="02020603050405020304" pitchFamily="18" charset="0"/>
                <a:ea typeface="宋体" panose="02010600030101010101" pitchFamily="2" charset="-122"/>
                <a:cs typeface="+mn-cs"/>
              </a:rPr>
              <a:t>1/</a:t>
            </a:r>
            <a:r>
              <a:rPr lang="en-US" altLang="zh-CN" i="1"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，所以</a:t>
            </a:r>
            <a:r>
              <a:rPr lang="en-US" altLang="zh-CN" noProof="1">
                <a:latin typeface="Times New Roman" panose="02020603050405020304" pitchFamily="18" charset="0"/>
                <a:ea typeface="宋体" panose="02010600030101010101" pitchFamily="2" charset="-122"/>
                <a:cs typeface="+mn-cs"/>
              </a:rPr>
              <a:t>IDFT</a:t>
            </a:r>
            <a:r>
              <a:rPr lang="zh-CN" altLang="en-US" noProof="1">
                <a:latin typeface="Times New Roman" panose="02020603050405020304" pitchFamily="18" charset="0"/>
                <a:ea typeface="宋体" panose="02010600030101010101" pitchFamily="2" charset="-122"/>
                <a:cs typeface="+mn-cs"/>
              </a:rPr>
              <a:t>与</a:t>
            </a:r>
            <a:r>
              <a:rPr lang="en-US" altLang="zh-CN" noProof="1">
                <a:latin typeface="Times New Roman" panose="02020603050405020304" pitchFamily="18" charset="0"/>
                <a:ea typeface="宋体" panose="02010600030101010101" pitchFamily="2" charset="-122"/>
                <a:cs typeface="+mn-cs"/>
              </a:rPr>
              <a:t>DFT</a:t>
            </a:r>
            <a:r>
              <a:rPr lang="zh-CN" altLang="en-US" noProof="1" dirty="0">
                <a:latin typeface="Times New Roman" panose="02020603050405020304" pitchFamily="18" charset="0"/>
                <a:ea typeface="宋体" panose="02010600030101010101" pitchFamily="2" charset="-122"/>
                <a:cs typeface="+mn-cs"/>
              </a:rPr>
              <a:t>具有相同的运算工作量。 下面我们只讨论</a:t>
            </a:r>
            <a:r>
              <a:rPr lang="en-US" altLang="zh-CN" noProof="1">
                <a:latin typeface="Times New Roman" panose="02020603050405020304" pitchFamily="18" charset="0"/>
                <a:ea typeface="宋体" panose="02010600030101010101" pitchFamily="2" charset="-122"/>
                <a:cs typeface="+mn-cs"/>
              </a:rPr>
              <a:t>DFT</a:t>
            </a:r>
            <a:r>
              <a:rPr lang="zh-CN" altLang="en-US" noProof="1" dirty="0">
                <a:latin typeface="Times New Roman" panose="02020603050405020304" pitchFamily="18" charset="0"/>
                <a:ea typeface="宋体" panose="02010600030101010101" pitchFamily="2" charset="-122"/>
                <a:cs typeface="+mn-cs"/>
              </a:rPr>
              <a:t>的运算量。 </a:t>
            </a:r>
            <a:endParaRPr lang="zh-CN" altLang="en-US" noProof="1"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noProof="1" dirty="0">
                <a:latin typeface="Times New Roman" panose="02020603050405020304" pitchFamily="18" charset="0"/>
                <a:ea typeface="宋体" panose="02010600030101010101" pitchFamily="2" charset="-122"/>
                <a:cs typeface="+mn-cs"/>
              </a:rPr>
              <a:t>         一般来说，</a:t>
            </a:r>
            <a:r>
              <a:rPr lang="en-US" altLang="zh-CN" i="1" noProof="1">
                <a:latin typeface="Times New Roman" panose="02020603050405020304" pitchFamily="18" charset="0"/>
                <a:ea typeface="宋体" panose="02010600030101010101" pitchFamily="2" charset="-122"/>
                <a:cs typeface="+mn-cs"/>
              </a:rPr>
              <a:t>x</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n</a:t>
            </a:r>
            <a:r>
              <a:rPr lang="en-US" altLang="zh-CN" noProof="1">
                <a:latin typeface="Times New Roman" panose="02020603050405020304" pitchFamily="18" charset="0"/>
                <a:ea typeface="宋体" panose="02010600030101010101" pitchFamily="2" charset="-122"/>
                <a:cs typeface="+mn-cs"/>
              </a:rPr>
              <a:t>)</a:t>
            </a:r>
            <a:r>
              <a:rPr lang="zh-CN" altLang="en-US" noProof="1">
                <a:latin typeface="Times New Roman" panose="02020603050405020304" pitchFamily="18" charset="0"/>
                <a:ea typeface="宋体" panose="02010600030101010101" pitchFamily="2" charset="-122"/>
                <a:cs typeface="+mn-cs"/>
              </a:rPr>
              <a:t>和</a:t>
            </a:r>
            <a:r>
              <a:rPr lang="en-US" altLang="zh-CN" i="1" noProof="1" err="1">
                <a:latin typeface="Times New Roman" panose="02020603050405020304" pitchFamily="18" charset="0"/>
                <a:ea typeface="宋体" panose="02010600030101010101" pitchFamily="2" charset="-122"/>
                <a:cs typeface="+mn-cs"/>
              </a:rPr>
              <a:t>W</a:t>
            </a:r>
            <a:r>
              <a:rPr lang="en-US" altLang="zh-CN" i="1" baseline="-25000" noProof="1" err="1">
                <a:latin typeface="Times New Roman" panose="02020603050405020304" pitchFamily="18" charset="0"/>
                <a:ea typeface="宋体" panose="02010600030101010101" pitchFamily="2" charset="-122"/>
                <a:cs typeface="+mn-cs"/>
              </a:rPr>
              <a:t>N</a:t>
            </a:r>
            <a:r>
              <a:rPr lang="en-US" altLang="zh-CN" i="1" baseline="30000" noProof="1" err="1">
                <a:latin typeface="Times New Roman" panose="02020603050405020304" pitchFamily="18" charset="0"/>
                <a:ea typeface="宋体" panose="02010600030101010101" pitchFamily="2" charset="-122"/>
                <a:cs typeface="+mn-cs"/>
              </a:rPr>
              <a:t>nk</a:t>
            </a:r>
            <a:r>
              <a:rPr lang="zh-CN" altLang="en-US" noProof="1" dirty="0">
                <a:latin typeface="Times New Roman" panose="02020603050405020304" pitchFamily="18" charset="0"/>
                <a:ea typeface="宋体" panose="02010600030101010101" pitchFamily="2" charset="-122"/>
                <a:cs typeface="+mn-cs"/>
              </a:rPr>
              <a:t>都是复数，</a:t>
            </a:r>
            <a:r>
              <a:rPr lang="en-US" altLang="zh-CN" i="1" noProof="1">
                <a:latin typeface="Times New Roman" panose="02020603050405020304" pitchFamily="18" charset="0"/>
                <a:ea typeface="宋体" panose="02010600030101010101" pitchFamily="2" charset="-122"/>
                <a:cs typeface="+mn-cs"/>
              </a:rPr>
              <a:t>X</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k</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也是复数，因此每计算一个</a:t>
            </a:r>
            <a:r>
              <a:rPr lang="en-US" altLang="zh-CN" i="1" noProof="1">
                <a:latin typeface="Times New Roman" panose="02020603050405020304" pitchFamily="18" charset="0"/>
                <a:ea typeface="宋体" panose="02010600030101010101" pitchFamily="2" charset="-122"/>
                <a:cs typeface="+mn-cs"/>
              </a:rPr>
              <a:t>X</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k</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值，需要</a:t>
            </a:r>
            <a:r>
              <a:rPr lang="en-US" altLang="zh-CN" i="1"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次复数乘法和</a:t>
            </a:r>
            <a:r>
              <a:rPr lang="en-US" altLang="zh-CN" i="1" noProof="1">
                <a:latin typeface="Times New Roman" panose="02020603050405020304" pitchFamily="18" charset="0"/>
                <a:ea typeface="宋体" panose="02010600030101010101" pitchFamily="2" charset="-122"/>
                <a:cs typeface="+mn-cs"/>
              </a:rPr>
              <a:t>N</a:t>
            </a:r>
            <a:r>
              <a:rPr lang="en-US" altLang="zh-CN" noProof="1" dirty="0">
                <a:latin typeface="Times New Roman" panose="02020603050405020304" pitchFamily="18" charset="0"/>
                <a:ea typeface="宋体" panose="02010600030101010101" pitchFamily="2" charset="-122"/>
                <a:cs typeface="+mn-cs"/>
              </a:rPr>
              <a:t>-1</a:t>
            </a:r>
            <a:r>
              <a:rPr lang="zh-CN" altLang="en-US" noProof="1" dirty="0">
                <a:latin typeface="Times New Roman" panose="02020603050405020304" pitchFamily="18" charset="0"/>
                <a:ea typeface="宋体" panose="02010600030101010101" pitchFamily="2" charset="-122"/>
                <a:cs typeface="+mn-cs"/>
              </a:rPr>
              <a:t>次复数加法。而</a:t>
            </a:r>
            <a:r>
              <a:rPr lang="en-US" altLang="zh-CN" i="1" noProof="1">
                <a:latin typeface="Times New Roman" panose="02020603050405020304" pitchFamily="18" charset="0"/>
                <a:ea typeface="宋体" panose="02010600030101010101" pitchFamily="2" charset="-122"/>
                <a:cs typeface="+mn-cs"/>
              </a:rPr>
              <a:t>X</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k</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一共有</a:t>
            </a:r>
            <a:r>
              <a:rPr lang="en-US" altLang="zh-CN" i="1"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个点（</a:t>
            </a:r>
            <a:r>
              <a:rPr lang="en-US" altLang="zh-CN" i="1" noProof="1">
                <a:latin typeface="Times New Roman" panose="02020603050405020304" pitchFamily="18" charset="0"/>
                <a:ea typeface="宋体" panose="02010600030101010101" pitchFamily="2" charset="-122"/>
                <a:cs typeface="+mn-cs"/>
              </a:rPr>
              <a:t>k</a:t>
            </a:r>
            <a:r>
              <a:rPr lang="zh-CN" altLang="en-US" noProof="1" dirty="0">
                <a:latin typeface="Times New Roman" panose="02020603050405020304" pitchFamily="18" charset="0"/>
                <a:ea typeface="宋体" panose="02010600030101010101" pitchFamily="2" charset="-122"/>
                <a:cs typeface="+mn-cs"/>
              </a:rPr>
              <a:t>从</a:t>
            </a:r>
            <a:r>
              <a:rPr lang="en-US" altLang="zh-CN" noProof="1" dirty="0">
                <a:latin typeface="Times New Roman" panose="02020603050405020304" pitchFamily="18" charset="0"/>
                <a:ea typeface="宋体" panose="02010600030101010101" pitchFamily="2" charset="-122"/>
                <a:cs typeface="+mn-cs"/>
              </a:rPr>
              <a:t>0</a:t>
            </a:r>
            <a:r>
              <a:rPr lang="zh-CN" altLang="en-US" noProof="1" dirty="0">
                <a:latin typeface="Times New Roman" panose="02020603050405020304" pitchFamily="18" charset="0"/>
                <a:ea typeface="宋体" panose="02010600030101010101" pitchFamily="2" charset="-122"/>
                <a:cs typeface="+mn-cs"/>
              </a:rPr>
              <a:t>取到</a:t>
            </a:r>
            <a:r>
              <a:rPr lang="en-US" altLang="zh-CN" i="1" noProof="1">
                <a:latin typeface="Times New Roman" panose="02020603050405020304" pitchFamily="18" charset="0"/>
                <a:ea typeface="宋体" panose="02010600030101010101" pitchFamily="2" charset="-122"/>
                <a:cs typeface="+mn-cs"/>
              </a:rPr>
              <a:t>N</a:t>
            </a:r>
            <a:r>
              <a:rPr lang="en-US" altLang="zh-CN" noProof="1" dirty="0">
                <a:latin typeface="Times New Roman" panose="02020603050405020304" pitchFamily="18" charset="0"/>
                <a:ea typeface="宋体" panose="02010600030101010101" pitchFamily="2" charset="-122"/>
                <a:cs typeface="+mn-cs"/>
              </a:rPr>
              <a:t>-1</a:t>
            </a:r>
            <a:r>
              <a:rPr lang="zh-CN" altLang="en-US" noProof="1" dirty="0">
                <a:latin typeface="Times New Roman" panose="02020603050405020304" pitchFamily="18" charset="0"/>
                <a:ea typeface="宋体" panose="02010600030101010101" pitchFamily="2" charset="-122"/>
                <a:cs typeface="+mn-cs"/>
              </a:rPr>
              <a:t>），所以完成整个</a:t>
            </a:r>
            <a:r>
              <a:rPr lang="en-US" altLang="zh-CN" noProof="1" dirty="0">
                <a:latin typeface="Times New Roman" panose="02020603050405020304" pitchFamily="18" charset="0"/>
                <a:ea typeface="宋体" panose="02010600030101010101" pitchFamily="2" charset="-122"/>
                <a:cs typeface="+mn-cs"/>
              </a:rPr>
              <a:t>DFT</a:t>
            </a:r>
            <a:r>
              <a:rPr lang="zh-CN" altLang="en-US" noProof="1" dirty="0">
                <a:latin typeface="Times New Roman" panose="02020603050405020304" pitchFamily="18" charset="0"/>
                <a:ea typeface="宋体" panose="02010600030101010101" pitchFamily="2" charset="-122"/>
                <a:cs typeface="+mn-cs"/>
              </a:rPr>
              <a:t>运算总共需要</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N</a:t>
            </a:r>
            <a:r>
              <a:rPr lang="en-US" altLang="zh-CN" b="1" baseline="30000"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2</a:t>
            </a:r>
            <a:r>
              <a:rPr lang="zh-CN" altLang="en-US" noProof="1" dirty="0">
                <a:latin typeface="Times New Roman" panose="02020603050405020304" pitchFamily="18" charset="0"/>
                <a:ea typeface="宋体" panose="02010600030101010101" pitchFamily="2" charset="-122"/>
                <a:cs typeface="+mn-cs"/>
              </a:rPr>
              <a:t>次复数乘法及</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N</a:t>
            </a:r>
            <a:r>
              <a:rPr lang="en-US" altLang="zh-CN" b="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N</a:t>
            </a:r>
            <a:r>
              <a:rPr lang="en-US" altLang="zh-CN"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-1)</a:t>
            </a:r>
            <a:r>
              <a:rPr lang="zh-CN" altLang="en-US" noProof="1" dirty="0">
                <a:latin typeface="Times New Roman" panose="02020603050405020304" pitchFamily="18" charset="0"/>
                <a:ea typeface="宋体" panose="02010600030101010101" pitchFamily="2" charset="-122"/>
                <a:cs typeface="+mn-cs"/>
              </a:rPr>
              <a:t>次复数加法。 在这些运算中乘法运算要比加法运算复杂，需要的运算时间也多一些。因为复数运算实际上是由实数运算来完成的， 这时</a:t>
            </a:r>
            <a:r>
              <a:rPr lang="en-US" altLang="zh-CN" noProof="1" dirty="0">
                <a:latin typeface="Times New Roman" panose="02020603050405020304" pitchFamily="18" charset="0"/>
                <a:ea typeface="宋体" panose="02010600030101010101" pitchFamily="2" charset="-122"/>
                <a:cs typeface="+mn-cs"/>
              </a:rPr>
              <a:t>DFT</a:t>
            </a:r>
            <a:r>
              <a:rPr lang="zh-CN" altLang="en-US" noProof="1" dirty="0">
                <a:latin typeface="Times New Roman" panose="02020603050405020304" pitchFamily="18" charset="0"/>
                <a:ea typeface="宋体" panose="02010600030101010101" pitchFamily="2" charset="-122"/>
                <a:cs typeface="+mn-cs"/>
              </a:rPr>
              <a:t>运算式可写成 </a:t>
            </a:r>
            <a:endParaRPr lang="zh-CN" altLang="en-US" noProof="1">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5" name="对象 6147"/>
          <p:cNvGraphicFramePr/>
          <p:nvPr/>
        </p:nvGraphicFramePr>
        <p:xfrm>
          <a:off x="-31750" y="619125"/>
          <a:ext cx="9132888" cy="3101975"/>
        </p:xfrm>
        <a:graphic>
          <a:graphicData uri="http://schemas.openxmlformats.org/presentationml/2006/ole">
            <mc:AlternateContent xmlns:mc="http://schemas.openxmlformats.org/markup-compatibility/2006">
              <mc:Choice xmlns:v="urn:schemas-microsoft-com:vml" Requires="v">
                <p:oleObj spid="_x0000_s3076" name="" r:id="rId1" imgW="4394200" imgH="1282700" progId="Equation.3">
                  <p:embed/>
                </p:oleObj>
              </mc:Choice>
              <mc:Fallback>
                <p:oleObj name="" r:id="rId1" imgW="4394200" imgH="1282700" progId="Equation.3">
                  <p:embed/>
                  <p:pic>
                    <p:nvPicPr>
                      <p:cNvPr id="0" name="图片 3075"/>
                      <p:cNvPicPr/>
                      <p:nvPr/>
                    </p:nvPicPr>
                    <p:blipFill>
                      <a:blip r:embed="rId2"/>
                      <a:stretch>
                        <a:fillRect/>
                      </a:stretch>
                    </p:blipFill>
                    <p:spPr>
                      <a:xfrm>
                        <a:off x="-31750" y="619125"/>
                        <a:ext cx="9132888" cy="3101975"/>
                      </a:xfrm>
                      <a:prstGeom prst="rect">
                        <a:avLst/>
                      </a:prstGeom>
                      <a:solidFill>
                        <a:schemeClr val="accent1"/>
                      </a:solidFill>
                      <a:ln w="38100">
                        <a:noFill/>
                        <a:miter/>
                      </a:ln>
                    </p:spPr>
                  </p:pic>
                </p:oleObj>
              </mc:Fallback>
            </mc:AlternateContent>
          </a:graphicData>
        </a:graphic>
      </p:graphicFrame>
      <p:sp>
        <p:nvSpPr>
          <p:cNvPr id="6146" name="文本框 6148"/>
          <p:cNvSpPr txBox="1"/>
          <p:nvPr/>
        </p:nvSpPr>
        <p:spPr>
          <a:xfrm>
            <a:off x="7620000" y="2667000"/>
            <a:ext cx="1263650" cy="457200"/>
          </a:xfrm>
          <a:prstGeom prst="rect">
            <a:avLst/>
          </a:prstGeom>
          <a:noFill/>
          <a:ln w="9525">
            <a:noFill/>
          </a:ln>
        </p:spPr>
        <p:txBody>
          <a:bodyPr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6147" name="文本框 6149"/>
          <p:cNvSpPr txBox="1"/>
          <p:nvPr/>
        </p:nvSpPr>
        <p:spPr>
          <a:xfrm>
            <a:off x="228600" y="3546475"/>
            <a:ext cx="8686800" cy="2425065"/>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由此可见，一次复数乘法需用四次实数乘法和二次实数加法；一次复数加法需二次实数加法。 因而每运算一个</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需</a:t>
            </a:r>
            <a:r>
              <a:rPr lang="en-US" altLang="zh-CN" b="1" i="1" dirty="0">
                <a:solidFill>
                  <a:srgbClr val="FF0000"/>
                </a:solidFill>
                <a:latin typeface="Times New Roman" panose="02020603050405020304" pitchFamily="18" charset="0"/>
                <a:ea typeface="宋体" panose="02010600030101010101" pitchFamily="2" charset="-122"/>
              </a:rPr>
              <a:t>4N</a:t>
            </a:r>
            <a:r>
              <a:rPr lang="zh-CN" altLang="en-US" dirty="0">
                <a:latin typeface="Times New Roman" panose="02020603050405020304" pitchFamily="18" charset="0"/>
                <a:ea typeface="宋体" panose="02010600030101010101" pitchFamily="2" charset="-122"/>
              </a:rPr>
              <a:t>次实数乘法和</a:t>
            </a:r>
            <a:r>
              <a:rPr lang="en-US" altLang="zh-CN" b="1" i="1">
                <a:solidFill>
                  <a:srgbClr val="FF0000"/>
                </a:solidFill>
                <a:latin typeface="Times New Roman" panose="02020603050405020304" pitchFamily="18" charset="0"/>
                <a:ea typeface="宋体" panose="02010600030101010101" pitchFamily="2" charset="-122"/>
              </a:rPr>
              <a:t>2N+2(N-1)=2(2N</a:t>
            </a:r>
            <a:r>
              <a:rPr lang="en-US" altLang="zh-CN" b="1" i="1" dirty="0">
                <a:solidFill>
                  <a:srgbClr val="FF0000"/>
                </a:solidFill>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次实数加法。所以，整个</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运算总共需要</a:t>
            </a:r>
            <a:r>
              <a:rPr lang="en-US" altLang="zh-CN">
                <a:latin typeface="Times New Roman" panose="02020603050405020304" pitchFamily="18" charset="0"/>
                <a:ea typeface="宋体" panose="02010600030101010101" pitchFamily="2" charset="-122"/>
              </a:rPr>
              <a:t>4</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次实数乘法和</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次实数加法。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907540" y="2132965"/>
            <a:ext cx="4176395"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69" name="文本框 7171"/>
          <p:cNvSpPr txBox="1"/>
          <p:nvPr/>
        </p:nvSpPr>
        <p:spPr>
          <a:xfrm>
            <a:off x="304800" y="685800"/>
            <a:ext cx="8610600" cy="589470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当然，上述统计与实际需要的运算次数稍有出入，因为某些</a:t>
            </a:r>
            <a:r>
              <a:rPr lang="en-US" altLang="zh-CN" b="1" i="1" err="1">
                <a:latin typeface="Times New Roman" panose="02020603050405020304" pitchFamily="18" charset="0"/>
                <a:ea typeface="宋体" panose="02010600030101010101" pitchFamily="2" charset="-122"/>
              </a:rPr>
              <a:t>W</a:t>
            </a:r>
            <a:r>
              <a:rPr lang="en-US" altLang="zh-CN" b="1" i="1" baseline="-25000" err="1">
                <a:latin typeface="Times New Roman" panose="02020603050405020304" pitchFamily="18" charset="0"/>
                <a:ea typeface="宋体" panose="02010600030101010101" pitchFamily="2" charset="-122"/>
              </a:rPr>
              <a:t>N</a:t>
            </a:r>
            <a:r>
              <a:rPr lang="en-US" altLang="zh-CN" b="1" i="1" baseline="30000" err="1">
                <a:latin typeface="Times New Roman" panose="02020603050405020304" pitchFamily="18" charset="0"/>
                <a:ea typeface="宋体" panose="02010600030101010101" pitchFamily="2" charset="-122"/>
              </a:rPr>
              <a:t>nk</a:t>
            </a:r>
            <a:r>
              <a:rPr lang="zh-CN" altLang="en-US" b="1" dirty="0">
                <a:latin typeface="Times New Roman" panose="02020603050405020304" pitchFamily="18" charset="0"/>
                <a:ea typeface="宋体" panose="02010600030101010101" pitchFamily="2" charset="-122"/>
              </a:rPr>
              <a:t>可能是</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或</a:t>
            </a:r>
            <a:r>
              <a:rPr lang="en-US" altLang="zh-CN" b="1" i="1">
                <a:latin typeface="Times New Roman" panose="02020603050405020304" pitchFamily="18" charset="0"/>
                <a:ea typeface="宋体" panose="02010600030101010101" pitchFamily="2" charset="-122"/>
              </a:rPr>
              <a:t>j</a:t>
            </a:r>
            <a:r>
              <a:rPr lang="zh-CN" altLang="en-US" b="1" dirty="0">
                <a:latin typeface="Times New Roman" panose="02020603050405020304" pitchFamily="18" charset="0"/>
                <a:ea typeface="宋体" panose="02010600030101010101" pitchFamily="2" charset="-122"/>
              </a:rPr>
              <a:t>，就不必相乘了，例如</a:t>
            </a:r>
            <a:endParaRPr lang="zh-CN" altLang="en-US" b="1" dirty="0">
              <a:latin typeface="Times New Roman" panose="02020603050405020304" pitchFamily="18" charset="0"/>
              <a:ea typeface="宋体" panose="02010600030101010101" pitchFamily="2" charset="-122"/>
            </a:endParaRPr>
          </a:p>
          <a:p>
            <a:pPr algn="just">
              <a:lnSpc>
                <a:spcPct val="158000"/>
              </a:lnSpc>
              <a:spcBef>
                <a:spcPct val="50000"/>
              </a:spcBef>
            </a:pPr>
            <a:r>
              <a:rPr lang="en-US" altLang="zh-CN" b="1" i="1">
                <a:solidFill>
                  <a:srgbClr val="FF0000"/>
                </a:solidFill>
                <a:latin typeface="Times New Roman" panose="02020603050405020304" pitchFamily="18" charset="0"/>
                <a:ea typeface="宋体" panose="02010600030101010101" pitchFamily="2" charset="-122"/>
              </a:rPr>
              <a:t>                    W</a:t>
            </a:r>
            <a:r>
              <a:rPr lang="en-US" altLang="zh-CN" b="1" baseline="30000">
                <a:solidFill>
                  <a:srgbClr val="FF0000"/>
                </a:solidFill>
                <a:latin typeface="Times New Roman" panose="02020603050405020304" pitchFamily="18" charset="0"/>
                <a:ea typeface="宋体" panose="02010600030101010101" pitchFamily="2" charset="-122"/>
              </a:rPr>
              <a:t>0</a:t>
            </a:r>
            <a:r>
              <a:rPr lang="en-US" altLang="zh-CN" b="1" i="1" baseline="-25000">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W</a:t>
            </a:r>
            <a:r>
              <a:rPr lang="en-US" altLang="zh-CN" b="1" i="1" baseline="-25000">
                <a:solidFill>
                  <a:srgbClr val="FF0000"/>
                </a:solidFill>
                <a:latin typeface="Times New Roman" panose="02020603050405020304" pitchFamily="18" charset="0"/>
                <a:ea typeface="宋体" panose="02010600030101010101" pitchFamily="2" charset="-122"/>
              </a:rPr>
              <a:t>N</a:t>
            </a:r>
            <a:r>
              <a:rPr lang="zh-CN" altLang="en-US" b="1" i="1" baseline="30000" dirty="0">
                <a:solidFill>
                  <a:srgbClr val="FF0000"/>
                </a:solidFill>
                <a:latin typeface="Times New Roman" panose="02020603050405020304" pitchFamily="18" charset="0"/>
                <a:ea typeface="宋体" panose="02010600030101010101" pitchFamily="2" charset="-122"/>
              </a:rPr>
              <a:t>Ｎ</a:t>
            </a:r>
            <a:r>
              <a:rPr lang="zh-CN" altLang="en-US" b="1" baseline="30000" dirty="0">
                <a:solidFill>
                  <a:srgbClr val="FF0000"/>
                </a:solidFill>
                <a:latin typeface="Times New Roman" panose="02020603050405020304" pitchFamily="18" charset="0"/>
                <a:ea typeface="宋体" panose="02010600030101010101" pitchFamily="2" charset="-122"/>
              </a:rPr>
              <a:t>／２</a:t>
            </a:r>
            <a:r>
              <a:rPr lang="en-US" altLang="zh-CN" b="1">
                <a:solidFill>
                  <a:srgbClr val="FF0000"/>
                </a:solidFill>
                <a:latin typeface="Times New Roman" panose="02020603050405020304" pitchFamily="18" charset="0"/>
                <a:ea typeface="宋体" panose="02010600030101010101" pitchFamily="2" charset="-122"/>
              </a:rPr>
              <a:t>=-1</a:t>
            </a:r>
            <a:r>
              <a:rPr lang="zh-CN" altLang="en-US" b="1">
                <a:latin typeface="Times New Roman" panose="02020603050405020304" pitchFamily="18" charset="0"/>
                <a:ea typeface="宋体" panose="02010600030101010101" pitchFamily="2" charset="-122"/>
              </a:rPr>
              <a:t>， </a:t>
            </a:r>
            <a:r>
              <a:rPr lang="en-US" altLang="zh-CN" b="1" i="1">
                <a:solidFill>
                  <a:srgbClr val="FF0000"/>
                </a:solidFill>
                <a:latin typeface="Times New Roman" panose="02020603050405020304" pitchFamily="18" charset="0"/>
                <a:ea typeface="宋体" panose="02010600030101010101" pitchFamily="2" charset="-122"/>
              </a:rPr>
              <a:t>W</a:t>
            </a:r>
            <a:r>
              <a:rPr lang="en-US" altLang="zh-CN" b="1" i="1" baseline="-25000">
                <a:solidFill>
                  <a:srgbClr val="FF0000"/>
                </a:solidFill>
                <a:latin typeface="Times New Roman" panose="02020603050405020304" pitchFamily="18" charset="0"/>
                <a:ea typeface="宋体" panose="02010600030101010101" pitchFamily="2" charset="-122"/>
              </a:rPr>
              <a:t>N</a:t>
            </a:r>
            <a:r>
              <a:rPr lang="en-US" altLang="zh-CN" b="1" i="1" baseline="30000">
                <a:solidFill>
                  <a:srgbClr val="FF0000"/>
                </a:solidFill>
                <a:latin typeface="Times New Roman" panose="02020603050405020304" pitchFamily="18" charset="0"/>
                <a:ea typeface="宋体" panose="02010600030101010101" pitchFamily="2" charset="-122"/>
              </a:rPr>
              <a:t>N</a:t>
            </a:r>
            <a:r>
              <a:rPr lang="en-US" altLang="zh-CN" b="1" baseline="30000">
                <a:solidFill>
                  <a:srgbClr val="FF0000"/>
                </a:solidFill>
                <a:latin typeface="Times New Roman" panose="02020603050405020304" pitchFamily="18" charset="0"/>
                <a:ea typeface="宋体" panose="02010600030101010101" pitchFamily="2" charset="-122"/>
              </a:rPr>
              <a:t>/</a:t>
            </a:r>
            <a:r>
              <a:rPr lang="en-US" altLang="zh-CN" b="1" i="1" baseline="30000">
                <a:solidFill>
                  <a:srgbClr val="FF0000"/>
                </a:solidFill>
                <a:latin typeface="Times New Roman" panose="02020603050405020304" pitchFamily="18" charset="0"/>
                <a:ea typeface="宋体" panose="02010600030101010101" pitchFamily="2" charset="-122"/>
              </a:rPr>
              <a:t>4</a:t>
            </a:r>
            <a:r>
              <a:rPr lang="en-US" altLang="zh-CN" b="1" i="1">
                <a:solidFill>
                  <a:srgbClr val="FF0000"/>
                </a:solidFill>
                <a:latin typeface="Times New Roman" panose="02020603050405020304" pitchFamily="18" charset="0"/>
                <a:ea typeface="宋体" panose="02010600030101010101" pitchFamily="2" charset="-122"/>
              </a:rPr>
              <a:t>=</a:t>
            </a:r>
            <a:r>
              <a:rPr lang="en-US" altLang="zh-CN" b="1" dirty="0">
                <a:solidFill>
                  <a:srgbClr val="FF0000"/>
                </a:solidFill>
                <a:latin typeface="Times New Roman" panose="02020603050405020304" pitchFamily="18" charset="0"/>
                <a:ea typeface="宋体" panose="02010600030101010101" pitchFamily="2" charset="-122"/>
              </a:rPr>
              <a:t>-j</a:t>
            </a:r>
            <a:endParaRPr lang="en-US" altLang="zh-CN" b="1" dirty="0">
              <a:solidFill>
                <a:srgbClr val="FF0000"/>
              </a:solidFill>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b="1" dirty="0">
                <a:latin typeface="Times New Roman" panose="02020603050405020304" pitchFamily="18" charset="0"/>
                <a:ea typeface="宋体" panose="02010600030101010101" pitchFamily="2" charset="-122"/>
              </a:rPr>
              <a:t>等就不需乘法。但是为了便于和其他运算方法作比较， 一般都不考虑这些特殊情况，而是把</a:t>
            </a:r>
            <a:r>
              <a:rPr lang="en-US" altLang="zh-CN" b="1" i="1" err="1">
                <a:latin typeface="Times New Roman" panose="02020603050405020304" pitchFamily="18" charset="0"/>
                <a:ea typeface="宋体" panose="02010600030101010101" pitchFamily="2" charset="-122"/>
              </a:rPr>
              <a:t>W</a:t>
            </a:r>
            <a:r>
              <a:rPr lang="en-US" altLang="zh-CN" b="1" i="1" baseline="-25000" err="1">
                <a:latin typeface="Times New Roman" panose="02020603050405020304" pitchFamily="18" charset="0"/>
                <a:ea typeface="宋体" panose="02010600030101010101" pitchFamily="2" charset="-122"/>
              </a:rPr>
              <a:t>N</a:t>
            </a:r>
            <a:r>
              <a:rPr lang="en-US" altLang="zh-CN" b="1" i="1" baseline="30000" err="1">
                <a:latin typeface="Times New Roman" panose="02020603050405020304" pitchFamily="18" charset="0"/>
                <a:ea typeface="宋体" panose="02010600030101010101" pitchFamily="2" charset="-122"/>
              </a:rPr>
              <a:t>nk</a:t>
            </a:r>
            <a:r>
              <a:rPr lang="zh-CN" altLang="en-US" b="1" dirty="0">
                <a:latin typeface="Times New Roman" panose="02020603050405020304" pitchFamily="18" charset="0"/>
                <a:ea typeface="宋体" panose="02010600030101010101" pitchFamily="2" charset="-122"/>
              </a:rPr>
              <a:t>都看成复数，当</a:t>
            </a:r>
            <a:r>
              <a:rPr lang="en-US" altLang="zh-CN" b="1" i="1">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宋体" panose="02010600030101010101" pitchFamily="2" charset="-122"/>
              </a:rPr>
              <a:t>很大时，这种特例的影响很小。</a:t>
            </a:r>
            <a:endParaRPr lang="zh-CN" altLang="en-US" b="1"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b="1" dirty="0">
                <a:latin typeface="Times New Roman" panose="02020603050405020304" pitchFamily="18" charset="0"/>
                <a:ea typeface="宋体" panose="02010600030101010101" pitchFamily="2" charset="-122"/>
              </a:rPr>
              <a:t>        从上面的统计可以看到，直接计算</a:t>
            </a:r>
            <a:r>
              <a:rPr lang="en-US" altLang="zh-CN" b="1" dirty="0">
                <a:latin typeface="Times New Roman" panose="02020603050405020304" pitchFamily="18" charset="0"/>
                <a:ea typeface="宋体" panose="02010600030101010101" pitchFamily="2" charset="-122"/>
              </a:rPr>
              <a:t>DFT</a:t>
            </a:r>
            <a:r>
              <a:rPr lang="zh-CN" altLang="en-US" b="1" dirty="0">
                <a:latin typeface="Times New Roman" panose="02020603050405020304" pitchFamily="18" charset="0"/>
                <a:ea typeface="宋体" panose="02010600030101010101" pitchFamily="2" charset="-122"/>
              </a:rPr>
              <a:t>，乘法次数和加法次数都是和</a:t>
            </a:r>
            <a:r>
              <a:rPr lang="en-US" altLang="zh-CN" b="1" i="1">
                <a:latin typeface="Times New Roman" panose="02020603050405020304" pitchFamily="18" charset="0"/>
                <a:ea typeface="宋体" panose="02010600030101010101" pitchFamily="2" charset="-122"/>
              </a:rPr>
              <a:t>N</a:t>
            </a:r>
            <a:r>
              <a:rPr lang="en-US" altLang="zh-CN" b="1" baseline="3000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成正比的，当</a:t>
            </a:r>
            <a:r>
              <a:rPr lang="en-US" altLang="zh-CN" b="1" i="1">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宋体" panose="02010600030101010101" pitchFamily="2" charset="-122"/>
              </a:rPr>
              <a:t>很大时，运算量是很可观的，有时是无法忍受的。 </a:t>
            </a:r>
            <a:endParaRPr lang="zh-CN" altLang="en-US" b="1">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8195"/>
          <p:cNvSpPr txBox="1"/>
          <p:nvPr/>
        </p:nvSpPr>
        <p:spPr>
          <a:xfrm>
            <a:off x="228600" y="685800"/>
            <a:ext cx="8763000" cy="512762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3-1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根据式（</a:t>
            </a:r>
            <a:r>
              <a:rPr lang="en-US" altLang="zh-CN" dirty="0">
                <a:latin typeface="Times New Roman" panose="02020603050405020304" pitchFamily="18" charset="0"/>
                <a:ea typeface="宋体" panose="02010600030101010101" pitchFamily="2" charset="-122"/>
              </a:rPr>
              <a:t>3-1</a:t>
            </a:r>
            <a:r>
              <a:rPr lang="zh-CN" altLang="en-US" dirty="0">
                <a:latin typeface="Times New Roman" panose="02020603050405020304" pitchFamily="18" charset="0"/>
                <a:ea typeface="宋体" panose="02010600030101010101" pitchFamily="2" charset="-122"/>
              </a:rPr>
              <a:t>），对一幅</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点的二维图像进行</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变换，如用每秒可做</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万次复数乘法的计算机，当</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=1024</a:t>
            </a:r>
            <a:r>
              <a:rPr lang="zh-CN" altLang="en-US" dirty="0">
                <a:latin typeface="Times New Roman" panose="02020603050405020304" pitchFamily="18" charset="0"/>
                <a:ea typeface="宋体" panose="02010600030101010101" pitchFamily="2" charset="-122"/>
              </a:rPr>
              <a:t>时，问需要多少时间（不考虑加法运算时间）？</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 解 </a:t>
            </a:r>
            <a:r>
              <a:rPr lang="zh-CN" altLang="en-US" dirty="0">
                <a:latin typeface="Times New Roman" panose="02020603050405020304" pitchFamily="18" charset="0"/>
                <a:ea typeface="宋体" panose="02010600030101010101" pitchFamily="2" charset="-122"/>
              </a:rPr>
              <a:t>直接计算</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所需复乘次数为（</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≈10</a:t>
            </a:r>
            <a:r>
              <a:rPr lang="en-US" altLang="zh-CN" baseline="3000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次，因此用每秒可做</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万次复数乘法的计算机，则需要近</a:t>
            </a:r>
            <a:r>
              <a:rPr lang="en-US" altLang="zh-CN" dirty="0">
                <a:latin typeface="Times New Roman" panose="02020603050405020304" pitchFamily="18" charset="0"/>
                <a:ea typeface="宋体" panose="02010600030101010101" pitchFamily="2" charset="-122"/>
              </a:rPr>
              <a:t>3000</a:t>
            </a:r>
            <a:r>
              <a:rPr lang="zh-CN" altLang="en-US" dirty="0">
                <a:latin typeface="Times New Roman" panose="02020603050405020304" pitchFamily="18" charset="0"/>
                <a:ea typeface="宋体" panose="02010600030101010101" pitchFamily="2" charset="-122"/>
              </a:rPr>
              <a:t>小时。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这对实时性很强的信号处理来说，要么提高计算速度，而这样，对计算速度的要求太高</a:t>
            </a:r>
            <a:r>
              <a:rPr lang="zh-CN" altLang="en-US" dirty="0">
                <a:latin typeface="Times New Roman" panose="02020603050405020304" pitchFamily="18" charset="0"/>
                <a:ea typeface="宋体" panose="02010600030101010101" pitchFamily="2" charset="-122"/>
              </a:rPr>
              <a:t>了。另外，只能通过改进对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的计算方法，以大大减少运算次数。 </a:t>
            </a:r>
            <a:endParaRPr lang="zh-CN" altLang="en-US">
              <a:latin typeface="Times New Roman" panose="02020603050405020304" pitchFamily="18" charset="0"/>
              <a:ea typeface="宋体" panose="02010600030101010101" pitchFamily="2" charset="-122"/>
            </a:endParaRPr>
          </a:p>
        </p:txBody>
      </p:sp>
      <p:sp>
        <p:nvSpPr>
          <p:cNvPr id="4" name="十字星 3"/>
          <p:cNvSpPr/>
          <p:nvPr/>
        </p:nvSpPr>
        <p:spPr>
          <a:xfrm>
            <a:off x="314325" y="606425"/>
            <a:ext cx="601663" cy="73025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11267"/>
          <p:cNvSpPr txBox="1"/>
          <p:nvPr/>
        </p:nvSpPr>
        <p:spPr>
          <a:xfrm>
            <a:off x="304800" y="531813"/>
            <a:ext cx="8610600" cy="3006725"/>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3.2.2 </a:t>
            </a:r>
            <a:r>
              <a:rPr lang="zh-CN" altLang="en-US" b="1" dirty="0">
                <a:solidFill>
                  <a:srgbClr val="FF0000"/>
                </a:solidFill>
                <a:latin typeface="Times New Roman" panose="02020603050405020304" pitchFamily="18" charset="0"/>
                <a:ea typeface="宋体" panose="02010600030101010101" pitchFamily="2" charset="-122"/>
              </a:rPr>
              <a:t>改善途径</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能否减少运算量，从而缩短计算时间呢？仔细观察</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的运算就可看出， 利用系数</a:t>
            </a:r>
            <a:r>
              <a:rPr lang="en-US" altLang="zh-CN" i="1">
                <a:latin typeface="Times New Roman" panose="02020603050405020304" pitchFamily="18" charset="0"/>
                <a:ea typeface="宋体" panose="02010600030101010101" pitchFamily="2" charset="-122"/>
              </a:rPr>
              <a:t>W</a:t>
            </a:r>
            <a:r>
              <a:rPr lang="zh-CN" altLang="en-US" i="1" baseline="-25000">
                <a:latin typeface="Times New Roman" panose="02020603050405020304" pitchFamily="18" charset="0"/>
                <a:ea typeface="宋体" panose="02010600030101010101" pitchFamily="2" charset="-122"/>
              </a:rPr>
              <a:t>Ｎ</a:t>
            </a:r>
            <a:r>
              <a:rPr lang="en-US" altLang="zh-CN" i="1" baseline="30000" err="1">
                <a:latin typeface="Times New Roman" panose="02020603050405020304" pitchFamily="18" charset="0"/>
                <a:ea typeface="宋体" panose="02010600030101010101" pitchFamily="2" charset="-122"/>
              </a:rPr>
              <a:t>nk</a:t>
            </a:r>
            <a:r>
              <a:rPr lang="zh-CN" altLang="en-US" dirty="0">
                <a:latin typeface="Times New Roman" panose="02020603050405020304" pitchFamily="18" charset="0"/>
                <a:ea typeface="宋体" panose="02010600030101010101" pitchFamily="2" charset="-122"/>
              </a:rPr>
              <a:t>的以下固有特性，就可减少运算量：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a:t>
            </a:r>
            <a:r>
              <a:rPr lang="en-US" altLang="zh-CN" b="1" i="1" err="1">
                <a:solidFill>
                  <a:srgbClr val="FF0000"/>
                </a:solidFill>
                <a:latin typeface="Times New Roman" panose="02020603050405020304" pitchFamily="18" charset="0"/>
                <a:ea typeface="宋体" panose="02010600030101010101" pitchFamily="2" charset="-122"/>
              </a:rPr>
              <a:t>W</a:t>
            </a:r>
            <a:r>
              <a:rPr lang="en-US" altLang="zh-CN" b="1" i="1" baseline="-25000" err="1">
                <a:solidFill>
                  <a:srgbClr val="FF0000"/>
                </a:solidFill>
                <a:latin typeface="Times New Roman" panose="02020603050405020304" pitchFamily="18" charset="0"/>
                <a:ea typeface="宋体" panose="02010600030101010101" pitchFamily="2" charset="-122"/>
              </a:rPr>
              <a:t>N</a:t>
            </a:r>
            <a:r>
              <a:rPr lang="en-US" altLang="zh-CN" b="1" i="1" baseline="30000" err="1">
                <a:solidFill>
                  <a:srgbClr val="FF0000"/>
                </a:solidFill>
                <a:latin typeface="Times New Roman" panose="02020603050405020304" pitchFamily="18" charset="0"/>
                <a:ea typeface="宋体" panose="02010600030101010101" pitchFamily="2" charset="-122"/>
              </a:rPr>
              <a:t>nk</a:t>
            </a:r>
            <a:r>
              <a:rPr lang="zh-CN" altLang="en-US" b="1" dirty="0">
                <a:solidFill>
                  <a:srgbClr val="FF0000"/>
                </a:solidFill>
                <a:latin typeface="Times New Roman" panose="02020603050405020304" pitchFamily="18" charset="0"/>
                <a:ea typeface="宋体" panose="02010600030101010101" pitchFamily="2" charset="-122"/>
              </a:rPr>
              <a:t>的对称性</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9218" name="对象 11268"/>
          <p:cNvGraphicFramePr/>
          <p:nvPr/>
        </p:nvGraphicFramePr>
        <p:xfrm>
          <a:off x="3581400" y="3429000"/>
          <a:ext cx="2133600" cy="571500"/>
        </p:xfrm>
        <a:graphic>
          <a:graphicData uri="http://schemas.openxmlformats.org/presentationml/2006/ole">
            <mc:AlternateContent xmlns:mc="http://schemas.openxmlformats.org/markup-compatibility/2006">
              <mc:Choice xmlns:v="urn:schemas-microsoft-com:vml" Requires="v">
                <p:oleObj spid="_x0000_s3080" name="" r:id="rId1" imgW="901065" imgH="241300" progId="Equation.3">
                  <p:embed/>
                </p:oleObj>
              </mc:Choice>
              <mc:Fallback>
                <p:oleObj name="" r:id="rId1" imgW="901065" imgH="241300" progId="Equation.3">
                  <p:embed/>
                  <p:pic>
                    <p:nvPicPr>
                      <p:cNvPr id="0" name="图片 3079"/>
                      <p:cNvPicPr/>
                      <p:nvPr/>
                    </p:nvPicPr>
                    <p:blipFill>
                      <a:blip r:embed="rId2"/>
                      <a:stretch>
                        <a:fillRect/>
                      </a:stretch>
                    </p:blipFill>
                    <p:spPr>
                      <a:xfrm>
                        <a:off x="3581400" y="3429000"/>
                        <a:ext cx="2133600" cy="571500"/>
                      </a:xfrm>
                      <a:prstGeom prst="rect">
                        <a:avLst/>
                      </a:prstGeom>
                      <a:solidFill>
                        <a:schemeClr val="accent1"/>
                      </a:solidFill>
                      <a:ln w="38100">
                        <a:noFill/>
                        <a:miter/>
                      </a:ln>
                    </p:spPr>
                  </p:pic>
                </p:oleObj>
              </mc:Fallback>
            </mc:AlternateContent>
          </a:graphicData>
        </a:graphic>
      </p:graphicFrame>
      <p:sp>
        <p:nvSpPr>
          <p:cNvPr id="9219" name="文本框 11269"/>
          <p:cNvSpPr txBox="1"/>
          <p:nvPr/>
        </p:nvSpPr>
        <p:spPr>
          <a:xfrm>
            <a:off x="762000" y="4308475"/>
            <a:ext cx="2944813"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 </a:t>
            </a:r>
            <a:r>
              <a:rPr lang="en-US" altLang="zh-CN" b="1" i="1" err="1">
                <a:solidFill>
                  <a:srgbClr val="FF0000"/>
                </a:solidFill>
                <a:latin typeface="Times New Roman" panose="02020603050405020304" pitchFamily="18" charset="0"/>
                <a:ea typeface="宋体" panose="02010600030101010101" pitchFamily="2" charset="-122"/>
              </a:rPr>
              <a:t>W</a:t>
            </a:r>
            <a:r>
              <a:rPr lang="en-US" altLang="zh-CN" b="1" i="1" baseline="-25000" err="1">
                <a:solidFill>
                  <a:srgbClr val="FF0000"/>
                </a:solidFill>
                <a:latin typeface="Times New Roman" panose="02020603050405020304" pitchFamily="18" charset="0"/>
                <a:ea typeface="宋体" panose="02010600030101010101" pitchFamily="2" charset="-122"/>
              </a:rPr>
              <a:t>N</a:t>
            </a:r>
            <a:r>
              <a:rPr lang="en-US" altLang="zh-CN" b="1" i="1" baseline="30000" err="1">
                <a:solidFill>
                  <a:srgbClr val="FF0000"/>
                </a:solidFill>
                <a:latin typeface="Times New Roman" panose="02020603050405020304" pitchFamily="18" charset="0"/>
                <a:ea typeface="宋体" panose="02010600030101010101" pitchFamily="2" charset="-122"/>
              </a:rPr>
              <a:t>nk</a:t>
            </a:r>
            <a:r>
              <a:rPr lang="zh-CN" altLang="en-US" b="1" dirty="0">
                <a:solidFill>
                  <a:srgbClr val="FF0000"/>
                </a:solidFill>
                <a:latin typeface="Times New Roman" panose="02020603050405020304" pitchFamily="18" charset="0"/>
                <a:ea typeface="宋体" panose="02010600030101010101" pitchFamily="2" charset="-122"/>
              </a:rPr>
              <a:t>的周期性</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9220" name="对象 11270"/>
          <p:cNvGraphicFramePr/>
          <p:nvPr/>
        </p:nvGraphicFramePr>
        <p:xfrm>
          <a:off x="2589213" y="5105400"/>
          <a:ext cx="4533900" cy="723900"/>
        </p:xfrm>
        <a:graphic>
          <a:graphicData uri="http://schemas.openxmlformats.org/presentationml/2006/ole">
            <mc:AlternateContent xmlns:mc="http://schemas.openxmlformats.org/markup-compatibility/2006">
              <mc:Choice xmlns:v="urn:schemas-microsoft-com:vml" Requires="v">
                <p:oleObj spid="_x0000_s3081" name="" r:id="rId3" imgW="1511300" imgH="241300" progId="Equation.3">
                  <p:embed/>
                </p:oleObj>
              </mc:Choice>
              <mc:Fallback>
                <p:oleObj name="" r:id="rId3" imgW="1511300" imgH="241300" progId="Equation.3">
                  <p:embed/>
                  <p:pic>
                    <p:nvPicPr>
                      <p:cNvPr id="0" name="图片 3080"/>
                      <p:cNvPicPr/>
                      <p:nvPr/>
                    </p:nvPicPr>
                    <p:blipFill>
                      <a:blip r:embed="rId4"/>
                      <a:stretch>
                        <a:fillRect/>
                      </a:stretch>
                    </p:blipFill>
                    <p:spPr>
                      <a:xfrm>
                        <a:off x="2589213" y="5105400"/>
                        <a:ext cx="4533900" cy="723900"/>
                      </a:xfrm>
                      <a:prstGeom prst="rect">
                        <a:avLst/>
                      </a:prstGeom>
                      <a:solidFill>
                        <a:schemeClr val="accent1"/>
                      </a:solidFill>
                      <a:ln w="38100">
                        <a:noFill/>
                        <a:miter/>
                      </a:ln>
                    </p:spPr>
                  </p:pic>
                </p:oleObj>
              </mc:Fallback>
            </mc:AlternateContent>
          </a:graphicData>
        </a:graphic>
      </p:graphicFrame>
      <p:sp>
        <p:nvSpPr>
          <p:cNvPr id="2" name="椭圆 1"/>
          <p:cNvSpPr/>
          <p:nvPr/>
        </p:nvSpPr>
        <p:spPr>
          <a:xfrm>
            <a:off x="4373563" y="5086350"/>
            <a:ext cx="558800"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椭圆 2"/>
          <p:cNvSpPr/>
          <p:nvPr/>
        </p:nvSpPr>
        <p:spPr>
          <a:xfrm>
            <a:off x="6365875" y="5105400"/>
            <a:ext cx="558800"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10243"/>
          <p:cNvSpPr txBox="1"/>
          <p:nvPr/>
        </p:nvSpPr>
        <p:spPr>
          <a:xfrm>
            <a:off x="762000" y="457200"/>
            <a:ext cx="2947988"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a:t>
            </a:r>
            <a:r>
              <a:rPr lang="en-US" altLang="zh-CN" b="1" dirty="0">
                <a:solidFill>
                  <a:srgbClr val="FF0000"/>
                </a:solidFill>
                <a:latin typeface="Times New Roman" panose="02020603050405020304" pitchFamily="18" charset="0"/>
                <a:ea typeface="宋体" panose="02010600030101010101" pitchFamily="2" charset="-122"/>
              </a:rPr>
              <a:t>3</a:t>
            </a:r>
            <a:r>
              <a:rPr lang="zh-CN" altLang="en-US" b="1" dirty="0">
                <a:solidFill>
                  <a:srgbClr val="FF0000"/>
                </a:solidFill>
                <a:latin typeface="Times New Roman" panose="02020603050405020304" pitchFamily="18" charset="0"/>
                <a:ea typeface="宋体" panose="02010600030101010101" pitchFamily="2" charset="-122"/>
              </a:rPr>
              <a:t>） </a:t>
            </a:r>
            <a:r>
              <a:rPr lang="en-US" altLang="zh-CN" b="1" i="1" err="1">
                <a:solidFill>
                  <a:srgbClr val="FF0000"/>
                </a:solidFill>
                <a:latin typeface="Times New Roman" panose="02020603050405020304" pitchFamily="18" charset="0"/>
                <a:ea typeface="宋体" panose="02010600030101010101" pitchFamily="2" charset="-122"/>
              </a:rPr>
              <a:t>W</a:t>
            </a:r>
            <a:r>
              <a:rPr lang="en-US" altLang="zh-CN" b="1" i="1" baseline="-25000" err="1">
                <a:solidFill>
                  <a:srgbClr val="FF0000"/>
                </a:solidFill>
                <a:latin typeface="Times New Roman" panose="02020603050405020304" pitchFamily="18" charset="0"/>
                <a:ea typeface="宋体" panose="02010600030101010101" pitchFamily="2" charset="-122"/>
              </a:rPr>
              <a:t>N</a:t>
            </a:r>
            <a:r>
              <a:rPr lang="en-US" altLang="zh-CN" b="1" i="1" baseline="30000" err="1">
                <a:solidFill>
                  <a:srgbClr val="FF0000"/>
                </a:solidFill>
                <a:latin typeface="Times New Roman" panose="02020603050405020304" pitchFamily="18" charset="0"/>
                <a:ea typeface="宋体" panose="02010600030101010101" pitchFamily="2" charset="-122"/>
              </a:rPr>
              <a:t>nk</a:t>
            </a:r>
            <a:r>
              <a:rPr lang="zh-CN" altLang="en-US" b="1" dirty="0">
                <a:solidFill>
                  <a:srgbClr val="FF0000"/>
                </a:solidFill>
                <a:latin typeface="Times New Roman" panose="02020603050405020304" pitchFamily="18" charset="0"/>
                <a:ea typeface="宋体" panose="02010600030101010101" pitchFamily="2" charset="-122"/>
              </a:rPr>
              <a:t>的可约性</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10242" name="对象 10244"/>
          <p:cNvGraphicFramePr/>
          <p:nvPr/>
        </p:nvGraphicFramePr>
        <p:xfrm>
          <a:off x="2590800" y="1066800"/>
          <a:ext cx="4114800" cy="636588"/>
        </p:xfrm>
        <a:graphic>
          <a:graphicData uri="http://schemas.openxmlformats.org/presentationml/2006/ole">
            <mc:AlternateContent xmlns:mc="http://schemas.openxmlformats.org/markup-compatibility/2006">
              <mc:Choice xmlns:v="urn:schemas-microsoft-com:vml" Requires="v">
                <p:oleObj spid="_x0000_s3079" name="" r:id="rId1" imgW="1561465" imgH="241300" progId="Equation.3">
                  <p:embed/>
                </p:oleObj>
              </mc:Choice>
              <mc:Fallback>
                <p:oleObj name="" r:id="rId1" imgW="1561465" imgH="241300" progId="Equation.3">
                  <p:embed/>
                  <p:pic>
                    <p:nvPicPr>
                      <p:cNvPr id="0" name="图片 3078"/>
                      <p:cNvPicPr/>
                      <p:nvPr/>
                    </p:nvPicPr>
                    <p:blipFill>
                      <a:blip r:embed="rId2"/>
                      <a:stretch>
                        <a:fillRect/>
                      </a:stretch>
                    </p:blipFill>
                    <p:spPr>
                      <a:xfrm>
                        <a:off x="2590800" y="1066800"/>
                        <a:ext cx="4114800" cy="636588"/>
                      </a:xfrm>
                      <a:prstGeom prst="rect">
                        <a:avLst/>
                      </a:prstGeom>
                      <a:solidFill>
                        <a:schemeClr val="accent1"/>
                      </a:solidFill>
                      <a:ln w="38100">
                        <a:noFill/>
                        <a:miter/>
                      </a:ln>
                    </p:spPr>
                  </p:pic>
                </p:oleObj>
              </mc:Fallback>
            </mc:AlternateContent>
          </a:graphicData>
        </a:graphic>
      </p:graphicFrame>
      <p:sp>
        <p:nvSpPr>
          <p:cNvPr id="10243" name="文本框 10245"/>
          <p:cNvSpPr txBox="1"/>
          <p:nvPr/>
        </p:nvSpPr>
        <p:spPr>
          <a:xfrm>
            <a:off x="517525" y="14478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另外 </a:t>
            </a:r>
            <a:endParaRPr lang="zh-CN" altLang="en-US">
              <a:latin typeface="Times New Roman" panose="02020603050405020304" pitchFamily="18" charset="0"/>
              <a:ea typeface="宋体" panose="02010600030101010101" pitchFamily="2" charset="-122"/>
            </a:endParaRPr>
          </a:p>
        </p:txBody>
      </p:sp>
      <p:graphicFrame>
        <p:nvGraphicFramePr>
          <p:cNvPr id="10244" name="对象 10246"/>
          <p:cNvGraphicFramePr/>
          <p:nvPr/>
        </p:nvGraphicFramePr>
        <p:xfrm>
          <a:off x="685800" y="2092325"/>
          <a:ext cx="7848600" cy="582613"/>
        </p:xfrm>
        <a:graphic>
          <a:graphicData uri="http://schemas.openxmlformats.org/presentationml/2006/ole">
            <mc:AlternateContent xmlns:mc="http://schemas.openxmlformats.org/markup-compatibility/2006">
              <mc:Choice xmlns:v="urn:schemas-microsoft-com:vml" Requires="v">
                <p:oleObj spid="_x0000_s3083" name="" r:id="rId3" imgW="3249930" imgH="241300" progId="Equation.3">
                  <p:embed/>
                </p:oleObj>
              </mc:Choice>
              <mc:Fallback>
                <p:oleObj name="" r:id="rId3" imgW="3249930" imgH="241300" progId="Equation.3">
                  <p:embed/>
                  <p:pic>
                    <p:nvPicPr>
                      <p:cNvPr id="0" name="图片 3082"/>
                      <p:cNvPicPr/>
                      <p:nvPr/>
                    </p:nvPicPr>
                    <p:blipFill>
                      <a:blip r:embed="rId4"/>
                      <a:stretch>
                        <a:fillRect/>
                      </a:stretch>
                    </p:blipFill>
                    <p:spPr>
                      <a:xfrm>
                        <a:off x="685800" y="2092325"/>
                        <a:ext cx="7848600" cy="582613"/>
                      </a:xfrm>
                      <a:prstGeom prst="rect">
                        <a:avLst/>
                      </a:prstGeom>
                      <a:solidFill>
                        <a:schemeClr val="accent1"/>
                      </a:solidFill>
                      <a:ln w="38100">
                        <a:noFill/>
                        <a:miter/>
                      </a:ln>
                    </p:spPr>
                  </p:pic>
                </p:oleObj>
              </mc:Fallback>
            </mc:AlternateContent>
          </a:graphicData>
        </a:graphic>
      </p:graphicFrame>
      <p:sp>
        <p:nvSpPr>
          <p:cNvPr id="10245" name="文本框 10247"/>
          <p:cNvSpPr txBox="1"/>
          <p:nvPr/>
        </p:nvSpPr>
        <p:spPr>
          <a:xfrm>
            <a:off x="87313" y="2674938"/>
            <a:ext cx="8839200" cy="3968750"/>
          </a:xfrm>
          <a:prstGeom prst="rect">
            <a:avLst/>
          </a:prstGeom>
          <a:noFill/>
          <a:ln w="9525">
            <a:noFill/>
          </a:ln>
        </p:spPr>
        <p:txBody>
          <a:bodyPr anchor="t">
            <a:spAutoFit/>
          </a:bodyPr>
          <a:p>
            <a:pPr algn="just">
              <a:lnSpc>
                <a:spcPct val="12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这样，利用这些特性，使</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运算中有些项可以合并，并能使</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分解为更少点数的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运算。而前面已经说到，</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的运算量是与</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成正比的，所以</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越小越有利，因而小点数序列的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比大点数序列的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的运算量要小。 </a:t>
            </a:r>
            <a:endParaRPr lang="zh-CN" altLang="en-US" dirty="0">
              <a:latin typeface="Times New Roman" panose="02020603050405020304" pitchFamily="18" charset="0"/>
              <a:ea typeface="宋体" panose="02010600030101010101" pitchFamily="2" charset="-122"/>
            </a:endParaRPr>
          </a:p>
          <a:p>
            <a:pPr algn="just">
              <a:lnSpc>
                <a:spcPct val="125000"/>
              </a:lnSpc>
              <a:spcBef>
                <a:spcPct val="50000"/>
              </a:spcBef>
            </a:pPr>
            <a:r>
              <a:rPr lang="zh-CN" altLang="en-US" dirty="0">
                <a:latin typeface="Times New Roman" panose="02020603050405020304" pitchFamily="18" charset="0"/>
                <a:ea typeface="宋体" panose="02010600030101010101" pitchFamily="2" charset="-122"/>
              </a:rPr>
              <a:t>        快速傅里叶变换算法正是基于这样的基本思想而发展起来的。  它的算法形式有很多种，但基本上可以分成两大类，即按时间抽取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Ｄ</a:t>
            </a:r>
            <a:r>
              <a:rPr lang="en-US" altLang="zh-CN" err="1">
                <a:latin typeface="Times New Roman" panose="02020603050405020304" pitchFamily="18" charset="0"/>
                <a:ea typeface="宋体" panose="02010600030101010101" pitchFamily="2" charset="-122"/>
              </a:rPr>
              <a:t>ecimation</a:t>
            </a:r>
            <a:r>
              <a:rPr lang="zh-CN" altLang="en-US" err="1">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in</a:t>
            </a:r>
            <a:r>
              <a:rPr lang="zh-CN" altLang="en-US" err="1">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Time</a:t>
            </a:r>
            <a:r>
              <a:rPr lang="zh-CN" altLang="en-US" dirty="0">
                <a:latin typeface="Times New Roman" panose="02020603050405020304" pitchFamily="18" charset="0"/>
                <a:ea typeface="宋体" panose="02010600030101010101" pitchFamily="2" charset="-122"/>
              </a:rPr>
              <a:t>，缩写为</a:t>
            </a:r>
            <a:r>
              <a:rPr lang="en-US" altLang="zh-CN">
                <a:latin typeface="Times New Roman" panose="02020603050405020304" pitchFamily="18" charset="0"/>
                <a:ea typeface="宋体" panose="02010600030101010101" pitchFamily="2" charset="-122"/>
              </a:rPr>
              <a:t>DI</a:t>
            </a:r>
            <a:r>
              <a:rPr lang="en-US" altLang="zh-CN"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）法和按频率抽取（</a:t>
            </a:r>
            <a:r>
              <a:rPr lang="en-US" altLang="zh-CN" err="1">
                <a:latin typeface="Times New Roman" panose="02020603050405020304" pitchFamily="18" charset="0"/>
                <a:ea typeface="宋体" panose="02010600030101010101" pitchFamily="2" charset="-122"/>
              </a:rPr>
              <a:t>Decimation</a:t>
            </a:r>
            <a:r>
              <a:rPr lang="zh-CN" altLang="en-US" err="1">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in</a:t>
            </a:r>
            <a:r>
              <a:rPr lang="zh-CN" altLang="en-US" err="1">
                <a:latin typeface="Times New Roman" panose="02020603050405020304" pitchFamily="18" charset="0"/>
                <a:ea typeface="宋体" panose="02010600030101010101" pitchFamily="2" charset="-122"/>
              </a:rPr>
              <a:t> Ｆ</a:t>
            </a:r>
            <a:r>
              <a:rPr lang="en-US" altLang="zh-CN" err="1">
                <a:latin typeface="Times New Roman" panose="02020603050405020304" pitchFamily="18" charset="0"/>
                <a:ea typeface="宋体" panose="02010600030101010101" pitchFamily="2" charset="-122"/>
              </a:rPr>
              <a:t>requency</a:t>
            </a:r>
            <a:r>
              <a:rPr lang="zh-CN" altLang="en-US" dirty="0">
                <a:latin typeface="Times New Roman" panose="02020603050405020304" pitchFamily="18" charset="0"/>
                <a:ea typeface="宋体" panose="02010600030101010101" pitchFamily="2" charset="-122"/>
              </a:rPr>
              <a:t>， 缩写为</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）法。 </a:t>
            </a:r>
            <a:endParaRPr lang="zh-CN" altLang="en-US">
              <a:latin typeface="Times New Roman" panose="02020603050405020304" pitchFamily="18" charset="0"/>
              <a:ea typeface="宋体" panose="02010600030101010101" pitchFamily="2" charset="-122"/>
            </a:endParaRPr>
          </a:p>
        </p:txBody>
      </p:sp>
      <p:sp>
        <p:nvSpPr>
          <p:cNvPr id="2" name="椭圆 1"/>
          <p:cNvSpPr/>
          <p:nvPr/>
        </p:nvSpPr>
        <p:spPr>
          <a:xfrm>
            <a:off x="3814763" y="1377950"/>
            <a:ext cx="558800"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椭圆 2"/>
          <p:cNvSpPr/>
          <p:nvPr/>
        </p:nvSpPr>
        <p:spPr>
          <a:xfrm>
            <a:off x="4011613" y="1016000"/>
            <a:ext cx="558800"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椭圆 3"/>
          <p:cNvSpPr/>
          <p:nvPr/>
        </p:nvSpPr>
        <p:spPr>
          <a:xfrm>
            <a:off x="5976938" y="1016000"/>
            <a:ext cx="728663"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 name="椭圆 4"/>
          <p:cNvSpPr/>
          <p:nvPr/>
        </p:nvSpPr>
        <p:spPr>
          <a:xfrm>
            <a:off x="5976938" y="1377950"/>
            <a:ext cx="558800" cy="4318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6" name="对象 5">
            <a:hlinkClick r:id="" action="ppaction://ole?verb="/>
          </p:cNvPr>
          <p:cNvGraphicFramePr>
            <a:graphicFrameLocks noChangeAspect="1"/>
          </p:cNvGraphicFramePr>
          <p:nvPr/>
        </p:nvGraphicFramePr>
        <p:xfrm>
          <a:off x="7164070" y="1196340"/>
          <a:ext cx="1449070" cy="638810"/>
        </p:xfrm>
        <a:graphic>
          <a:graphicData uri="http://schemas.openxmlformats.org/presentationml/2006/ole">
            <mc:AlternateContent xmlns:mc="http://schemas.openxmlformats.org/markup-compatibility/2006">
              <mc:Choice xmlns:v="urn:schemas-microsoft-com:vml" Requires="v">
                <p:oleObj spid="_x0000_s1025" name="" r:id="rId5" imgW="609600" imgH="342900" progId="Equation.KSEE3">
                  <p:embed/>
                </p:oleObj>
              </mc:Choice>
              <mc:Fallback>
                <p:oleObj name="" r:id="rId5" imgW="609600" imgH="342900" progId="Equation.KSEE3">
                  <p:embed/>
                  <p:pic>
                    <p:nvPicPr>
                      <p:cNvPr id="0" name="图片 1024"/>
                      <p:cNvPicPr/>
                      <p:nvPr/>
                    </p:nvPicPr>
                    <p:blipFill>
                      <a:blip r:embed="rId6"/>
                      <a:stretch>
                        <a:fillRect/>
                      </a:stretch>
                    </p:blipFill>
                    <p:spPr>
                      <a:xfrm>
                        <a:off x="7164070" y="1196340"/>
                        <a:ext cx="1449070" cy="638810"/>
                      </a:xfrm>
                      <a:prstGeom prst="rect">
                        <a:avLst/>
                      </a:prstGeom>
                      <a:solidFill>
                        <a:schemeClr val="accent1"/>
                      </a:solidFill>
                    </p:spPr>
                  </p:pic>
                </p:oleObj>
              </mc:Fallback>
            </mc:AlternateContent>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4" grpId="0" bldLvl="0" animBg="1"/>
      <p:bldP spid="5"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788535" y="2853055"/>
            <a:ext cx="791845" cy="5035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65" name="文本框 9219"/>
          <p:cNvSpPr txBox="1"/>
          <p:nvPr/>
        </p:nvSpPr>
        <p:spPr>
          <a:xfrm>
            <a:off x="838200" y="914400"/>
            <a:ext cx="7345363"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3.3 </a:t>
            </a:r>
            <a:r>
              <a:rPr lang="zh-CN" altLang="en-US" sz="3200" b="1" dirty="0">
                <a:latin typeface="Times New Roman" panose="02020603050405020304" pitchFamily="18" charset="0"/>
                <a:ea typeface="宋体" panose="02010600030101010101" pitchFamily="2" charset="-122"/>
              </a:rPr>
              <a:t>按时间抽取（</a:t>
            </a:r>
            <a:r>
              <a:rPr lang="en-US" altLang="zh-CN" sz="3200" b="1" dirty="0">
                <a:latin typeface="Times New Roman" panose="02020603050405020304" pitchFamily="18" charset="0"/>
                <a:ea typeface="宋体" panose="02010600030101010101" pitchFamily="2" charset="-122"/>
              </a:rPr>
              <a:t>DIT</a:t>
            </a:r>
            <a:r>
              <a:rPr lang="zh-CN" altLang="en-US" sz="3200" b="1" dirty="0">
                <a:latin typeface="Times New Roman" panose="02020603050405020304" pitchFamily="18" charset="0"/>
                <a:ea typeface="宋体" panose="02010600030101010101" pitchFamily="2" charset="-122"/>
              </a:rPr>
              <a:t>）的基 </a:t>
            </a:r>
            <a:r>
              <a:rPr lang="en-US" altLang="zh-CN" sz="3200" b="1" dirty="0">
                <a:latin typeface="Times New Roman" panose="02020603050405020304" pitchFamily="18" charset="0"/>
                <a:ea typeface="宋体" panose="02010600030101010101" pitchFamily="2" charset="-122"/>
              </a:rPr>
              <a:t>-2 FFT</a:t>
            </a:r>
            <a:r>
              <a:rPr lang="zh-CN" altLang="en-US" sz="3200" b="1" dirty="0">
                <a:latin typeface="Times New Roman" panose="02020603050405020304" pitchFamily="18" charset="0"/>
                <a:ea typeface="宋体" panose="02010600030101010101" pitchFamily="2" charset="-122"/>
              </a:rPr>
              <a:t>算法 </a:t>
            </a:r>
            <a:endParaRPr lang="zh-CN" altLang="en-US" sz="3200" b="1">
              <a:latin typeface="Times New Roman" panose="02020603050405020304" pitchFamily="18" charset="0"/>
              <a:ea typeface="宋体" panose="02010600030101010101" pitchFamily="2" charset="-122"/>
            </a:endParaRPr>
          </a:p>
        </p:txBody>
      </p:sp>
      <p:sp>
        <p:nvSpPr>
          <p:cNvPr id="11266" name="文本框 9220"/>
          <p:cNvSpPr txBox="1"/>
          <p:nvPr/>
        </p:nvSpPr>
        <p:spPr>
          <a:xfrm>
            <a:off x="228600" y="1676400"/>
            <a:ext cx="8686800" cy="2492375"/>
          </a:xfrm>
          <a:prstGeom prst="rect">
            <a:avLst/>
          </a:prstGeom>
          <a:noFill/>
          <a:ln w="9525">
            <a:noFill/>
          </a:ln>
        </p:spPr>
        <p:txBody>
          <a:bodyPr anchor="t">
            <a:spAutoFit/>
          </a:bodyPr>
          <a:p>
            <a:pPr algn="just">
              <a:lnSpc>
                <a:spcPct val="200000"/>
              </a:lnSpc>
              <a:spcBef>
                <a:spcPct val="50000"/>
              </a:spcBef>
            </a:pPr>
            <a:r>
              <a:rPr lang="en-US" altLang="zh-CN" b="1" dirty="0">
                <a:latin typeface="Times New Roman" panose="02020603050405020304" pitchFamily="18" charset="0"/>
                <a:ea typeface="宋体" panose="02010600030101010101" pitchFamily="2" charset="-122"/>
              </a:rPr>
              <a:t>3.3.1 </a:t>
            </a:r>
            <a:r>
              <a:rPr lang="zh-CN" altLang="en-US" b="1" dirty="0">
                <a:latin typeface="Times New Roman" panose="02020603050405020304" pitchFamily="18" charset="0"/>
                <a:ea typeface="宋体" panose="02010600030101010101" pitchFamily="2" charset="-122"/>
              </a:rPr>
              <a:t>算法原理</a:t>
            </a:r>
            <a:endParaRPr lang="zh-CN" altLang="en-US">
              <a:latin typeface="Times New Roman" panose="02020603050405020304" pitchFamily="18" charset="0"/>
              <a:ea typeface="宋体" panose="02010600030101010101" pitchFamily="2" charset="-122"/>
            </a:endParaRPr>
          </a:p>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        设序列</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长度为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，且满足</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为正整数。按</a:t>
            </a:r>
            <a:r>
              <a:rPr lang="en-US" altLang="zh-CN" b="1" i="1">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的奇偶</a:t>
            </a:r>
            <a:r>
              <a:rPr lang="zh-CN" altLang="en-US" dirty="0">
                <a:latin typeface="Times New Roman" panose="02020603050405020304" pitchFamily="18" charset="0"/>
                <a:ea typeface="宋体" panose="02010600030101010101" pitchFamily="2" charset="-122"/>
              </a:rPr>
              <a:t>把</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分解为两个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zh-CN" altLang="en-US" dirty="0">
                <a:latin typeface="Times New Roman" panose="02020603050405020304" pitchFamily="18" charset="0"/>
                <a:ea typeface="宋体" panose="02010600030101010101" pitchFamily="2" charset="-122"/>
              </a:rPr>
              <a:t>的子序列： </a:t>
            </a:r>
            <a:endParaRPr lang="zh-CN" altLang="en-US">
              <a:latin typeface="Times New Roman" panose="02020603050405020304" pitchFamily="18" charset="0"/>
              <a:ea typeface="宋体" panose="02010600030101010101" pitchFamily="2" charset="-122"/>
            </a:endParaRPr>
          </a:p>
        </p:txBody>
      </p:sp>
      <p:graphicFrame>
        <p:nvGraphicFramePr>
          <p:cNvPr id="11267" name="对象 9221"/>
          <p:cNvGraphicFramePr/>
          <p:nvPr/>
        </p:nvGraphicFramePr>
        <p:xfrm>
          <a:off x="1905000" y="4456113"/>
          <a:ext cx="5257800" cy="1335087"/>
        </p:xfrm>
        <a:graphic>
          <a:graphicData uri="http://schemas.openxmlformats.org/presentationml/2006/ole">
            <mc:AlternateContent xmlns:mc="http://schemas.openxmlformats.org/markup-compatibility/2006">
              <mc:Choice xmlns:v="urn:schemas-microsoft-com:vml" Requires="v">
                <p:oleObj spid="_x0000_s3082" name="" r:id="rId1" imgW="2297430" imgH="584200" progId="Equation.3">
                  <p:embed/>
                </p:oleObj>
              </mc:Choice>
              <mc:Fallback>
                <p:oleObj name="" r:id="rId1" imgW="2297430" imgH="584200" progId="Equation.3">
                  <p:embed/>
                  <p:pic>
                    <p:nvPicPr>
                      <p:cNvPr id="0" name="图片 3081"/>
                      <p:cNvPicPr/>
                      <p:nvPr/>
                    </p:nvPicPr>
                    <p:blipFill>
                      <a:blip r:embed="rId2"/>
                      <a:stretch>
                        <a:fillRect/>
                      </a:stretch>
                    </p:blipFill>
                    <p:spPr>
                      <a:xfrm>
                        <a:off x="1905000" y="4456113"/>
                        <a:ext cx="5257800" cy="1335087"/>
                      </a:xfrm>
                      <a:prstGeom prst="rect">
                        <a:avLst/>
                      </a:prstGeom>
                      <a:solidFill>
                        <a:schemeClr val="accent1"/>
                      </a:solidFill>
                      <a:ln w="38100">
                        <a:noFill/>
                        <a:miter/>
                      </a:ln>
                    </p:spPr>
                  </p:pic>
                </p:oleObj>
              </mc:Fallback>
            </mc:AlternateContent>
          </a:graphicData>
        </a:graphic>
      </p:graphicFrame>
      <p:sp>
        <p:nvSpPr>
          <p:cNvPr id="11268" name="文本框 9222"/>
          <p:cNvSpPr txBox="1"/>
          <p:nvPr/>
        </p:nvSpPr>
        <p:spPr>
          <a:xfrm>
            <a:off x="7880350" y="4837113"/>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2291"/>
          <p:cNvSpPr txBox="1"/>
          <p:nvPr/>
        </p:nvSpPr>
        <p:spPr>
          <a:xfrm>
            <a:off x="381000" y="533400"/>
            <a:ext cx="235426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则可将</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化为 </a:t>
            </a:r>
            <a:endParaRPr lang="zh-CN" altLang="en-US">
              <a:latin typeface="Times New Roman" panose="02020603050405020304" pitchFamily="18" charset="0"/>
              <a:ea typeface="宋体" panose="02010600030101010101" pitchFamily="2" charset="-122"/>
            </a:endParaRPr>
          </a:p>
        </p:txBody>
      </p:sp>
      <p:graphicFrame>
        <p:nvGraphicFramePr>
          <p:cNvPr id="12290" name="对象 12292"/>
          <p:cNvGraphicFramePr/>
          <p:nvPr/>
        </p:nvGraphicFramePr>
        <p:xfrm>
          <a:off x="685800" y="838200"/>
          <a:ext cx="7924800" cy="3703638"/>
        </p:xfrm>
        <a:graphic>
          <a:graphicData uri="http://schemas.openxmlformats.org/presentationml/2006/ole">
            <mc:AlternateContent xmlns:mc="http://schemas.openxmlformats.org/markup-compatibility/2006">
              <mc:Choice xmlns:v="urn:schemas-microsoft-com:vml" Requires="v">
                <p:oleObj spid="_x0000_s3079" name="" r:id="rId1" imgW="3886200" imgH="1816100" progId="Equation.3">
                  <p:embed/>
                </p:oleObj>
              </mc:Choice>
              <mc:Fallback>
                <p:oleObj name="" r:id="rId1" imgW="3886200" imgH="1816100" progId="Equation.3">
                  <p:embed/>
                  <p:pic>
                    <p:nvPicPr>
                      <p:cNvPr id="0" name="图片 3078"/>
                      <p:cNvPicPr/>
                      <p:nvPr/>
                    </p:nvPicPr>
                    <p:blipFill>
                      <a:blip r:embed="rId2"/>
                      <a:stretch>
                        <a:fillRect/>
                      </a:stretch>
                    </p:blipFill>
                    <p:spPr>
                      <a:xfrm>
                        <a:off x="685800" y="838200"/>
                        <a:ext cx="7924800" cy="3703638"/>
                      </a:xfrm>
                      <a:prstGeom prst="rect">
                        <a:avLst/>
                      </a:prstGeom>
                      <a:noFill/>
                      <a:ln w="38100">
                        <a:noFill/>
                        <a:miter/>
                      </a:ln>
                    </p:spPr>
                  </p:pic>
                </p:oleObj>
              </mc:Fallback>
            </mc:AlternateContent>
          </a:graphicData>
        </a:graphic>
      </p:graphicFrame>
      <p:sp>
        <p:nvSpPr>
          <p:cNvPr id="12291" name="文本框 12293"/>
          <p:cNvSpPr txBox="1"/>
          <p:nvPr/>
        </p:nvSpPr>
        <p:spPr>
          <a:xfrm>
            <a:off x="533400" y="4876800"/>
            <a:ext cx="80137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由于					         </a:t>
            </a:r>
            <a:r>
              <a:rPr lang="zh-CN" altLang="en-US" dirty="0">
                <a:latin typeface="Times New Roman" panose="02020603050405020304" pitchFamily="18" charset="0"/>
                <a:ea typeface="宋体" panose="02010600030101010101" pitchFamily="2" charset="-122"/>
              </a:rPr>
              <a:t>， 故上式可表示成 </a:t>
            </a:r>
            <a:endParaRPr lang="zh-CN" altLang="en-US">
              <a:latin typeface="Times New Roman" panose="02020603050405020304" pitchFamily="18" charset="0"/>
              <a:ea typeface="宋体" panose="02010600030101010101" pitchFamily="2" charset="-122"/>
            </a:endParaRPr>
          </a:p>
        </p:txBody>
      </p:sp>
      <p:graphicFrame>
        <p:nvGraphicFramePr>
          <p:cNvPr id="12292" name="对象 12294"/>
          <p:cNvGraphicFramePr/>
          <p:nvPr/>
        </p:nvGraphicFramePr>
        <p:xfrm>
          <a:off x="1293813" y="4572000"/>
          <a:ext cx="4575175" cy="896938"/>
        </p:xfrm>
        <a:graphic>
          <a:graphicData uri="http://schemas.openxmlformats.org/presentationml/2006/ole">
            <mc:AlternateContent xmlns:mc="http://schemas.openxmlformats.org/markup-compatibility/2006">
              <mc:Choice xmlns:v="urn:schemas-microsoft-com:vml" Requires="v">
                <p:oleObj spid="_x0000_s3078" name="" r:id="rId3" imgW="1879600" imgH="368300" progId="Equation.3">
                  <p:embed/>
                </p:oleObj>
              </mc:Choice>
              <mc:Fallback>
                <p:oleObj name="" r:id="rId3" imgW="1879600" imgH="368300" progId="Equation.3">
                  <p:embed/>
                  <p:pic>
                    <p:nvPicPr>
                      <p:cNvPr id="0" name="图片 3077"/>
                      <p:cNvPicPr/>
                      <p:nvPr/>
                    </p:nvPicPr>
                    <p:blipFill>
                      <a:blip r:embed="rId4"/>
                      <a:stretch>
                        <a:fillRect/>
                      </a:stretch>
                    </p:blipFill>
                    <p:spPr>
                      <a:xfrm>
                        <a:off x="1293813" y="4572000"/>
                        <a:ext cx="4575175" cy="896938"/>
                      </a:xfrm>
                      <a:prstGeom prst="rect">
                        <a:avLst/>
                      </a:prstGeom>
                      <a:noFill/>
                      <a:ln w="38100">
                        <a:noFill/>
                        <a:miter/>
                      </a:ln>
                    </p:spPr>
                  </p:pic>
                </p:oleObj>
              </mc:Fallback>
            </mc:AlternateContent>
          </a:graphicData>
        </a:graphic>
      </p:graphicFrame>
      <p:graphicFrame>
        <p:nvGraphicFramePr>
          <p:cNvPr id="12293" name="对象 12295"/>
          <p:cNvGraphicFramePr/>
          <p:nvPr/>
        </p:nvGraphicFramePr>
        <p:xfrm>
          <a:off x="0" y="5529263"/>
          <a:ext cx="9144000" cy="1328737"/>
        </p:xfrm>
        <a:graphic>
          <a:graphicData uri="http://schemas.openxmlformats.org/presentationml/2006/ole">
            <mc:AlternateContent xmlns:mc="http://schemas.openxmlformats.org/markup-compatibility/2006">
              <mc:Choice xmlns:v="urn:schemas-microsoft-com:vml" Requires="v">
                <p:oleObj spid="_x0000_s3082" name="" r:id="rId5" imgW="3769995" imgH="546100" progId="Equation.3">
                  <p:embed/>
                </p:oleObj>
              </mc:Choice>
              <mc:Fallback>
                <p:oleObj name="" r:id="rId5" imgW="3769995" imgH="546100" progId="Equation.3">
                  <p:embed/>
                  <p:pic>
                    <p:nvPicPr>
                      <p:cNvPr id="0" name="图片 3081"/>
                      <p:cNvPicPr/>
                      <p:nvPr/>
                    </p:nvPicPr>
                    <p:blipFill>
                      <a:blip r:embed="rId6"/>
                      <a:stretch>
                        <a:fillRect/>
                      </a:stretch>
                    </p:blipFill>
                    <p:spPr>
                      <a:xfrm>
                        <a:off x="0" y="5529263"/>
                        <a:ext cx="9144000" cy="1328737"/>
                      </a:xfrm>
                      <a:prstGeom prst="rect">
                        <a:avLst/>
                      </a:prstGeom>
                      <a:solidFill>
                        <a:schemeClr val="accent1"/>
                      </a:solidFill>
                      <a:ln w="38100">
                        <a:noFill/>
                        <a:miter/>
                      </a:ln>
                    </p:spPr>
                  </p:pic>
                </p:oleObj>
              </mc:Fallback>
            </mc:AlternateContent>
          </a:graphicData>
        </a:graphic>
      </p:graphicFrame>
      <p:sp>
        <p:nvSpPr>
          <p:cNvPr id="12294" name="文本框 12296"/>
          <p:cNvSpPr txBox="1"/>
          <p:nvPr/>
        </p:nvSpPr>
        <p:spPr>
          <a:xfrm>
            <a:off x="7880350" y="64008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 name="下箭头 1"/>
          <p:cNvSpPr/>
          <p:nvPr/>
        </p:nvSpPr>
        <p:spPr>
          <a:xfrm>
            <a:off x="2338388" y="2925763"/>
            <a:ext cx="220663" cy="935038"/>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下箭头 2"/>
          <p:cNvSpPr/>
          <p:nvPr/>
        </p:nvSpPr>
        <p:spPr>
          <a:xfrm>
            <a:off x="4684713" y="2960688"/>
            <a:ext cx="220663" cy="936625"/>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椭圆 3"/>
          <p:cNvSpPr/>
          <p:nvPr/>
        </p:nvSpPr>
        <p:spPr>
          <a:xfrm>
            <a:off x="3636010" y="3716655"/>
            <a:ext cx="648335" cy="64833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4339"/>
          <p:cNvSpPr txBox="1"/>
          <p:nvPr/>
        </p:nvSpPr>
        <p:spPr>
          <a:xfrm>
            <a:off x="517525" y="533400"/>
            <a:ext cx="69596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分别是</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13314" name="对象 14340"/>
          <p:cNvGraphicFramePr/>
          <p:nvPr/>
        </p:nvGraphicFramePr>
        <p:xfrm>
          <a:off x="1524000" y="990600"/>
          <a:ext cx="6427788" cy="2841625"/>
        </p:xfrm>
        <a:graphic>
          <a:graphicData uri="http://schemas.openxmlformats.org/presentationml/2006/ole">
            <mc:AlternateContent xmlns:mc="http://schemas.openxmlformats.org/markup-compatibility/2006">
              <mc:Choice xmlns:v="urn:schemas-microsoft-com:vml" Requires="v">
                <p:oleObj spid="_x0000_s3084" name="" r:id="rId1" imgW="2641600" imgH="1168400" progId="Equation.3">
                  <p:embed/>
                </p:oleObj>
              </mc:Choice>
              <mc:Fallback>
                <p:oleObj name="" r:id="rId1" imgW="2641600" imgH="1168400" progId="Equation.3">
                  <p:embed/>
                  <p:pic>
                    <p:nvPicPr>
                      <p:cNvPr id="0" name="图片 3083"/>
                      <p:cNvPicPr/>
                      <p:nvPr/>
                    </p:nvPicPr>
                    <p:blipFill>
                      <a:blip r:embed="rId2"/>
                      <a:stretch>
                        <a:fillRect/>
                      </a:stretch>
                    </p:blipFill>
                    <p:spPr>
                      <a:xfrm>
                        <a:off x="1524000" y="990600"/>
                        <a:ext cx="6427788" cy="2841625"/>
                      </a:xfrm>
                      <a:prstGeom prst="rect">
                        <a:avLst/>
                      </a:prstGeom>
                      <a:solidFill>
                        <a:schemeClr val="accent1"/>
                      </a:solidFill>
                      <a:ln w="38100">
                        <a:noFill/>
                        <a:miter/>
                      </a:ln>
                    </p:spPr>
                  </p:pic>
                </p:oleObj>
              </mc:Fallback>
            </mc:AlternateContent>
          </a:graphicData>
        </a:graphic>
      </p:graphicFrame>
      <p:sp>
        <p:nvSpPr>
          <p:cNvPr id="13315" name="文本框 14341"/>
          <p:cNvSpPr txBox="1"/>
          <p:nvPr/>
        </p:nvSpPr>
        <p:spPr>
          <a:xfrm>
            <a:off x="7880350" y="15240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316" name="文本框 14342"/>
          <p:cNvSpPr txBox="1"/>
          <p:nvPr/>
        </p:nvSpPr>
        <p:spPr>
          <a:xfrm>
            <a:off x="7880350" y="30480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317" name="文本框 14343"/>
          <p:cNvSpPr txBox="1"/>
          <p:nvPr/>
        </p:nvSpPr>
        <p:spPr>
          <a:xfrm>
            <a:off x="228600" y="3733800"/>
            <a:ext cx="8763000" cy="2968625"/>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由此，我们可以看到，</a:t>
            </a:r>
            <a:r>
              <a:rPr lang="zh-CN" altLang="en-US" b="1" u="sng" dirty="0">
                <a:solidFill>
                  <a:srgbClr val="FF0000"/>
                </a:solidFill>
                <a:latin typeface="Times New Roman" panose="02020603050405020304" pitchFamily="18" charset="0"/>
                <a:ea typeface="宋体" panose="02010600030101010101" pitchFamily="2" charset="-122"/>
              </a:rPr>
              <a:t>一个</a:t>
            </a:r>
            <a:r>
              <a:rPr lang="en-US" altLang="zh-CN" b="1" i="1" u="sng">
                <a:solidFill>
                  <a:srgbClr val="FF0000"/>
                </a:solidFill>
                <a:latin typeface="Times New Roman" panose="02020603050405020304" pitchFamily="18" charset="0"/>
                <a:ea typeface="宋体" panose="02010600030101010101" pitchFamily="2" charset="-122"/>
              </a:rPr>
              <a:t>N</a:t>
            </a:r>
            <a:r>
              <a:rPr lang="zh-CN" altLang="en-US" b="1" u="sng" dirty="0">
                <a:solidFill>
                  <a:srgbClr val="FF0000"/>
                </a:solidFill>
                <a:latin typeface="Times New Roman" panose="02020603050405020304" pitchFamily="18" charset="0"/>
                <a:ea typeface="宋体" panose="02010600030101010101" pitchFamily="2" charset="-122"/>
              </a:rPr>
              <a:t>点</a:t>
            </a:r>
            <a:r>
              <a:rPr lang="en-US" altLang="zh-CN" b="1" u="sng" dirty="0">
                <a:solidFill>
                  <a:srgbClr val="FF0000"/>
                </a:solidFill>
                <a:latin typeface="Times New Roman" panose="02020603050405020304" pitchFamily="18" charset="0"/>
                <a:ea typeface="宋体" panose="02010600030101010101" pitchFamily="2" charset="-122"/>
              </a:rPr>
              <a:t>DFT</a:t>
            </a:r>
            <a:r>
              <a:rPr lang="zh-CN" altLang="en-US" b="1" u="sng" dirty="0">
                <a:solidFill>
                  <a:srgbClr val="FF0000"/>
                </a:solidFill>
                <a:latin typeface="Times New Roman" panose="02020603050405020304" pitchFamily="18" charset="0"/>
                <a:ea typeface="宋体" panose="02010600030101010101" pitchFamily="2" charset="-122"/>
              </a:rPr>
              <a:t>已分解成两个</a:t>
            </a:r>
            <a:r>
              <a:rPr lang="en-US" altLang="zh-CN" b="1" i="1" u="sng">
                <a:solidFill>
                  <a:srgbClr val="FF0000"/>
                </a:solidFill>
                <a:latin typeface="Times New Roman" panose="02020603050405020304" pitchFamily="18" charset="0"/>
                <a:ea typeface="宋体" panose="02010600030101010101" pitchFamily="2" charset="-122"/>
              </a:rPr>
              <a:t>N</a:t>
            </a:r>
            <a:r>
              <a:rPr lang="en-US" altLang="zh-CN" b="1" u="sng" dirty="0">
                <a:solidFill>
                  <a:srgbClr val="FF0000"/>
                </a:solidFill>
                <a:latin typeface="Times New Roman" panose="02020603050405020304" pitchFamily="18" charset="0"/>
                <a:ea typeface="宋体" panose="02010600030101010101" pitchFamily="2" charset="-122"/>
              </a:rPr>
              <a:t>/2</a:t>
            </a:r>
            <a:r>
              <a:rPr lang="zh-CN" altLang="en-US" b="1" u="sng" dirty="0">
                <a:solidFill>
                  <a:srgbClr val="FF0000"/>
                </a:solidFill>
                <a:latin typeface="Times New Roman" panose="02020603050405020304" pitchFamily="18" charset="0"/>
                <a:ea typeface="宋体" panose="02010600030101010101" pitchFamily="2" charset="-122"/>
              </a:rPr>
              <a:t>点的</a:t>
            </a:r>
            <a:r>
              <a:rPr lang="en-US" altLang="zh-CN" b="1" u="sng" dirty="0">
                <a:solidFill>
                  <a:srgbClr val="FF0000"/>
                </a:solidFill>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这两个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再按照式（</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）组合成一个</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。这里应该看到</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只有</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个点，即</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/2-1</a:t>
            </a:r>
            <a:r>
              <a:rPr lang="zh-CN" altLang="en-US">
                <a:latin typeface="Times New Roman" panose="02020603050405020304" pitchFamily="18" charset="0"/>
                <a:ea typeface="宋体" panose="02010600030101010101" pitchFamily="2" charset="-122"/>
              </a:rPr>
              <a:t>。而</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却有</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个点，即</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故用式（</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）计算得到的只是</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的前一半的结果，要用</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来表达全部的</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值，还必须应</a:t>
            </a:r>
            <a:r>
              <a:rPr lang="zh-CN" altLang="en-US" dirty="0">
                <a:latin typeface="Times New Roman" panose="02020603050405020304" pitchFamily="18" charset="0"/>
                <a:ea typeface="宋体" panose="02010600030101010101" pitchFamily="2" charset="-122"/>
              </a:rPr>
              <a:t>用系数的周期性， 即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337" name="对象 13315"/>
          <p:cNvGraphicFramePr/>
          <p:nvPr/>
        </p:nvGraphicFramePr>
        <p:xfrm>
          <a:off x="3352800" y="685800"/>
          <a:ext cx="2387600" cy="911225"/>
        </p:xfrm>
        <a:graphic>
          <a:graphicData uri="http://schemas.openxmlformats.org/presentationml/2006/ole">
            <mc:AlternateContent xmlns:mc="http://schemas.openxmlformats.org/markup-compatibility/2006">
              <mc:Choice xmlns:v="urn:schemas-microsoft-com:vml" Requires="v">
                <p:oleObj spid="_x0000_s3088" name="" r:id="rId1" imgW="965200" imgH="368300" progId="Equation.3">
                  <p:embed/>
                </p:oleObj>
              </mc:Choice>
              <mc:Fallback>
                <p:oleObj name="" r:id="rId1" imgW="965200" imgH="368300" progId="Equation.3">
                  <p:embed/>
                  <p:pic>
                    <p:nvPicPr>
                      <p:cNvPr id="0" name="图片 3087"/>
                      <p:cNvPicPr/>
                      <p:nvPr/>
                    </p:nvPicPr>
                    <p:blipFill>
                      <a:blip r:embed="rId2"/>
                      <a:stretch>
                        <a:fillRect/>
                      </a:stretch>
                    </p:blipFill>
                    <p:spPr>
                      <a:xfrm>
                        <a:off x="3352800" y="685800"/>
                        <a:ext cx="2387600" cy="911225"/>
                      </a:xfrm>
                      <a:prstGeom prst="rect">
                        <a:avLst/>
                      </a:prstGeom>
                      <a:solidFill>
                        <a:schemeClr val="accent1"/>
                      </a:solidFill>
                      <a:ln w="38100">
                        <a:noFill/>
                        <a:miter/>
                      </a:ln>
                    </p:spPr>
                  </p:pic>
                </p:oleObj>
              </mc:Fallback>
            </mc:AlternateContent>
          </a:graphicData>
        </a:graphic>
      </p:graphicFrame>
      <p:sp>
        <p:nvSpPr>
          <p:cNvPr id="14338" name="文本框 13317"/>
          <p:cNvSpPr txBox="1"/>
          <p:nvPr/>
        </p:nvSpPr>
        <p:spPr>
          <a:xfrm>
            <a:off x="381000" y="1600200"/>
            <a:ext cx="1771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这样可得到 </a:t>
            </a:r>
            <a:endParaRPr lang="zh-CN" altLang="en-US">
              <a:latin typeface="Times New Roman" panose="02020603050405020304" pitchFamily="18" charset="0"/>
              <a:ea typeface="宋体" panose="02010600030101010101" pitchFamily="2" charset="-122"/>
            </a:endParaRPr>
          </a:p>
        </p:txBody>
      </p:sp>
      <p:graphicFrame>
        <p:nvGraphicFramePr>
          <p:cNvPr id="14339" name="对象 13318"/>
          <p:cNvGraphicFramePr/>
          <p:nvPr/>
        </p:nvGraphicFramePr>
        <p:xfrm>
          <a:off x="685800" y="2133600"/>
          <a:ext cx="8137525" cy="1352550"/>
        </p:xfrm>
        <a:graphic>
          <a:graphicData uri="http://schemas.openxmlformats.org/presentationml/2006/ole">
            <mc:AlternateContent xmlns:mc="http://schemas.openxmlformats.org/markup-compatibility/2006">
              <mc:Choice xmlns:v="urn:schemas-microsoft-com:vml" Requires="v">
                <p:oleObj spid="_x0000_s3080" name="" r:id="rId3" imgW="3288030" imgH="546100" progId="Equation.3">
                  <p:embed/>
                </p:oleObj>
              </mc:Choice>
              <mc:Fallback>
                <p:oleObj name="" r:id="rId3" imgW="3288030" imgH="546100" progId="Equation.3">
                  <p:embed/>
                  <p:pic>
                    <p:nvPicPr>
                      <p:cNvPr id="0" name="图片 3079"/>
                      <p:cNvPicPr/>
                      <p:nvPr/>
                    </p:nvPicPr>
                    <p:blipFill>
                      <a:blip r:embed="rId4"/>
                      <a:stretch>
                        <a:fillRect/>
                      </a:stretch>
                    </p:blipFill>
                    <p:spPr>
                      <a:xfrm>
                        <a:off x="685800" y="2133600"/>
                        <a:ext cx="8137525" cy="1352550"/>
                      </a:xfrm>
                      <a:prstGeom prst="rect">
                        <a:avLst/>
                      </a:prstGeom>
                      <a:noFill/>
                      <a:ln w="38100">
                        <a:noFill/>
                        <a:miter/>
                      </a:ln>
                    </p:spPr>
                  </p:pic>
                </p:oleObj>
              </mc:Fallback>
            </mc:AlternateContent>
          </a:graphicData>
        </a:graphic>
      </p:graphicFrame>
      <p:sp>
        <p:nvSpPr>
          <p:cNvPr id="14340" name="文本框 13319"/>
          <p:cNvSpPr txBox="1"/>
          <p:nvPr/>
        </p:nvSpPr>
        <p:spPr>
          <a:xfrm>
            <a:off x="7880350" y="33528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341" name="文本框 13320"/>
          <p:cNvSpPr txBox="1"/>
          <p:nvPr/>
        </p:nvSpPr>
        <p:spPr>
          <a:xfrm>
            <a:off x="457200" y="3698875"/>
            <a:ext cx="14668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同理可得 </a:t>
            </a:r>
            <a:endParaRPr lang="zh-CN" altLang="en-US">
              <a:latin typeface="Times New Roman" panose="02020603050405020304" pitchFamily="18" charset="0"/>
              <a:ea typeface="宋体" panose="02010600030101010101" pitchFamily="2" charset="-122"/>
            </a:endParaRPr>
          </a:p>
        </p:txBody>
      </p:sp>
      <p:graphicFrame>
        <p:nvGraphicFramePr>
          <p:cNvPr id="14342" name="对象 13321"/>
          <p:cNvGraphicFramePr/>
          <p:nvPr/>
        </p:nvGraphicFramePr>
        <p:xfrm>
          <a:off x="3352800" y="3886200"/>
          <a:ext cx="2895600" cy="974725"/>
        </p:xfrm>
        <a:graphic>
          <a:graphicData uri="http://schemas.openxmlformats.org/presentationml/2006/ole">
            <mc:AlternateContent xmlns:mc="http://schemas.openxmlformats.org/markup-compatibility/2006">
              <mc:Choice xmlns:v="urn:schemas-microsoft-com:vml" Requires="v">
                <p:oleObj spid="_x0000_s3081" name="" r:id="rId5" imgW="1282065" imgH="431800" progId="Equation.3">
                  <p:embed/>
                </p:oleObj>
              </mc:Choice>
              <mc:Fallback>
                <p:oleObj name="" r:id="rId5" imgW="1282065" imgH="431800" progId="Equation.3">
                  <p:embed/>
                  <p:pic>
                    <p:nvPicPr>
                      <p:cNvPr id="0" name="图片 3080"/>
                      <p:cNvPicPr/>
                      <p:nvPr/>
                    </p:nvPicPr>
                    <p:blipFill>
                      <a:blip r:embed="rId6"/>
                      <a:stretch>
                        <a:fillRect/>
                      </a:stretch>
                    </p:blipFill>
                    <p:spPr>
                      <a:xfrm>
                        <a:off x="3352800" y="3886200"/>
                        <a:ext cx="2895600" cy="974725"/>
                      </a:xfrm>
                      <a:prstGeom prst="rect">
                        <a:avLst/>
                      </a:prstGeom>
                      <a:noFill/>
                      <a:ln w="38100">
                        <a:noFill/>
                        <a:miter/>
                      </a:ln>
                    </p:spPr>
                  </p:pic>
                </p:oleObj>
              </mc:Fallback>
            </mc:AlternateContent>
          </a:graphicData>
        </a:graphic>
      </p:graphicFrame>
      <p:sp>
        <p:nvSpPr>
          <p:cNvPr id="14343" name="文本框 13322"/>
          <p:cNvSpPr txBox="1"/>
          <p:nvPr/>
        </p:nvSpPr>
        <p:spPr>
          <a:xfrm>
            <a:off x="7880350" y="4114800"/>
            <a:ext cx="1263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344" name="文本框 13323"/>
          <p:cNvSpPr txBox="1"/>
          <p:nvPr/>
        </p:nvSpPr>
        <p:spPr>
          <a:xfrm>
            <a:off x="228600" y="4875213"/>
            <a:ext cx="8763000" cy="16192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3-8</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3-9</a:t>
            </a:r>
            <a:r>
              <a:rPr lang="zh-CN" altLang="en-US" dirty="0">
                <a:latin typeface="Times New Roman" panose="02020603050405020304" pitchFamily="18" charset="0"/>
                <a:ea typeface="宋体" panose="02010600030101010101" pitchFamily="2" charset="-122"/>
              </a:rPr>
              <a:t>）说明了</a:t>
            </a:r>
            <a:r>
              <a:rPr lang="zh-CN" altLang="en-US" b="1" dirty="0">
                <a:solidFill>
                  <a:srgbClr val="FF0000"/>
                </a:solidFill>
                <a:latin typeface="Times New Roman" panose="02020603050405020304" pitchFamily="18" charset="0"/>
                <a:ea typeface="宋体" panose="02010600030101010101" pitchFamily="2" charset="-122"/>
              </a:rPr>
              <a:t>后半部分</a:t>
            </a:r>
            <a:r>
              <a:rPr lang="en-US" altLang="zh-CN" b="1" i="1">
                <a:solidFill>
                  <a:srgbClr val="FF0000"/>
                </a:solidFill>
                <a:latin typeface="Times New Roman" panose="02020603050405020304" pitchFamily="18" charset="0"/>
                <a:ea typeface="宋体" panose="02010600030101010101" pitchFamily="2" charset="-122"/>
              </a:rPr>
              <a:t>k</a:t>
            </a:r>
            <a:r>
              <a:rPr lang="zh-CN" altLang="en-US" b="1" dirty="0">
                <a:solidFill>
                  <a:srgbClr val="FF0000"/>
                </a:solidFill>
                <a:latin typeface="Times New Roman" panose="02020603050405020304" pitchFamily="18" charset="0"/>
                <a:ea typeface="宋体" panose="02010600030101010101" pitchFamily="2" charset="-122"/>
              </a:rPr>
              <a:t>值（</a:t>
            </a:r>
            <a:r>
              <a:rPr lang="en-US" altLang="zh-CN" b="1" i="1">
                <a:solidFill>
                  <a:srgbClr val="FF0000"/>
                </a:solidFill>
                <a:latin typeface="Times New Roman" panose="02020603050405020304" pitchFamily="18" charset="0"/>
                <a:ea typeface="宋体" panose="02010600030101010101" pitchFamily="2" charset="-122"/>
              </a:rPr>
              <a:t>N</a:t>
            </a:r>
            <a:r>
              <a:rPr lang="en-US" altLang="zh-CN" b="1">
                <a:solidFill>
                  <a:srgbClr val="FF0000"/>
                </a:solidFill>
                <a:latin typeface="Times New Roman" panose="02020603050405020304" pitchFamily="18" charset="0"/>
                <a:ea typeface="宋体" panose="02010600030101010101" pitchFamily="2" charset="-122"/>
              </a:rPr>
              <a:t>/2≤</a:t>
            </a:r>
            <a:r>
              <a:rPr lang="en-US" altLang="zh-CN" b="1" i="1">
                <a:solidFill>
                  <a:srgbClr val="FF0000"/>
                </a:solidFill>
                <a:latin typeface="Times New Roman" panose="02020603050405020304" pitchFamily="18" charset="0"/>
                <a:ea typeface="宋体" panose="02010600030101010101" pitchFamily="2" charset="-122"/>
              </a:rPr>
              <a:t>k</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-1</a:t>
            </a:r>
            <a:r>
              <a:rPr lang="zh-CN" altLang="en-US" b="1" dirty="0">
                <a:solidFill>
                  <a:srgbClr val="FF0000"/>
                </a:solidFill>
                <a:latin typeface="Times New Roman" panose="02020603050405020304" pitchFamily="18" charset="0"/>
                <a:ea typeface="宋体" panose="02010600030101010101" pitchFamily="2" charset="-122"/>
              </a:rPr>
              <a:t>）所对应的</a:t>
            </a:r>
            <a:r>
              <a:rPr lang="en-US" altLang="zh-CN" b="1" i="1">
                <a:solidFill>
                  <a:srgbClr val="FF0000"/>
                </a:solidFill>
                <a:latin typeface="Times New Roman" panose="02020603050405020304" pitchFamily="18" charset="0"/>
                <a:ea typeface="宋体" panose="02010600030101010101" pitchFamily="2" charset="-122"/>
              </a:rPr>
              <a:t>X</a:t>
            </a:r>
            <a:r>
              <a:rPr lang="en-US" altLang="zh-CN" b="1" baseline="-25000">
                <a:solidFill>
                  <a:srgbClr val="FF0000"/>
                </a:solidFill>
                <a:latin typeface="Times New Roman" panose="02020603050405020304" pitchFamily="18" charset="0"/>
                <a:ea typeface="宋体" panose="02010600030101010101" pitchFamily="2" charset="-122"/>
              </a:rPr>
              <a:t>1</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k</a:t>
            </a:r>
            <a:r>
              <a:rPr lang="en-US" altLang="zh-CN" b="1">
                <a:solidFill>
                  <a:srgbClr val="FF0000"/>
                </a:solidFill>
                <a:latin typeface="Times New Roman" panose="02020603050405020304" pitchFamily="18" charset="0"/>
                <a:ea typeface="宋体" panose="02010600030101010101" pitchFamily="2" charset="-122"/>
              </a:rPr>
              <a:t>)</a:t>
            </a:r>
            <a:r>
              <a:rPr lang="zh-CN" altLang="en-US" b="1">
                <a:solidFill>
                  <a:srgbClr val="FF0000"/>
                </a:solidFill>
                <a:latin typeface="Times New Roman" panose="02020603050405020304" pitchFamily="18" charset="0"/>
                <a:ea typeface="宋体" panose="02010600030101010101" pitchFamily="2" charset="-122"/>
              </a:rPr>
              <a:t>，</a:t>
            </a:r>
            <a:r>
              <a:rPr lang="zh-CN" altLang="en-US" b="1" i="1" dirty="0">
                <a:solidFill>
                  <a:srgbClr val="FF0000"/>
                </a:solidFill>
                <a:latin typeface="Times New Roman" panose="02020603050405020304" pitchFamily="18" charset="0"/>
                <a:ea typeface="宋体" panose="02010600030101010101" pitchFamily="2" charset="-122"/>
              </a:rPr>
              <a:t>Ｘ</a:t>
            </a:r>
            <a:r>
              <a:rPr lang="en-US" altLang="zh-CN" b="1" baseline="-25000">
                <a:solidFill>
                  <a:srgbClr val="FF0000"/>
                </a:solidFill>
                <a:latin typeface="Times New Roman" panose="02020603050405020304" pitchFamily="18" charset="0"/>
                <a:ea typeface="宋体" panose="02010600030101010101" pitchFamily="2" charset="-122"/>
              </a:rPr>
              <a:t>2</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k</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分别等于前半部分</a:t>
            </a:r>
            <a:r>
              <a:rPr lang="en-US" altLang="zh-CN" b="1" i="1">
                <a:solidFill>
                  <a:srgbClr val="FF0000"/>
                </a:solidFill>
                <a:latin typeface="Times New Roman" panose="02020603050405020304" pitchFamily="18" charset="0"/>
                <a:ea typeface="宋体" panose="02010600030101010101" pitchFamily="2" charset="-122"/>
              </a:rPr>
              <a:t>k</a:t>
            </a:r>
            <a:r>
              <a:rPr lang="zh-CN" altLang="en-US" b="1" dirty="0">
                <a:solidFill>
                  <a:srgbClr val="FF0000"/>
                </a:solidFill>
                <a:latin typeface="Times New Roman" panose="02020603050405020304" pitchFamily="18" charset="0"/>
                <a:ea typeface="宋体" panose="02010600030101010101" pitchFamily="2" charset="-122"/>
              </a:rPr>
              <a:t>值（</a:t>
            </a:r>
            <a:r>
              <a:rPr lang="en-US" altLang="zh-CN" b="1">
                <a:solidFill>
                  <a:srgbClr val="FF0000"/>
                </a:solidFill>
                <a:latin typeface="Times New Roman" panose="02020603050405020304" pitchFamily="18" charset="0"/>
                <a:ea typeface="宋体" panose="02010600030101010101" pitchFamily="2" charset="-122"/>
              </a:rPr>
              <a:t>0≤</a:t>
            </a:r>
            <a:r>
              <a:rPr lang="en-US" altLang="zh-CN" b="1" i="1">
                <a:solidFill>
                  <a:srgbClr val="FF0000"/>
                </a:solidFill>
                <a:latin typeface="Times New Roman" panose="02020603050405020304" pitchFamily="18" charset="0"/>
                <a:ea typeface="宋体" panose="02010600030101010101" pitchFamily="2" charset="-122"/>
              </a:rPr>
              <a:t>k</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/2-1</a:t>
            </a:r>
            <a:r>
              <a:rPr lang="zh-CN" altLang="en-US" b="1" dirty="0">
                <a:solidFill>
                  <a:srgbClr val="FF0000"/>
                </a:solidFill>
                <a:latin typeface="Times New Roman" panose="02020603050405020304" pitchFamily="18" charset="0"/>
                <a:ea typeface="宋体" panose="02010600030101010101" pitchFamily="2" charset="-122"/>
              </a:rPr>
              <a:t>）所对应的</a:t>
            </a:r>
            <a:r>
              <a:rPr lang="en-US" altLang="zh-CN" b="1" i="1">
                <a:solidFill>
                  <a:srgbClr val="FF0000"/>
                </a:solidFill>
                <a:latin typeface="Times New Roman" panose="02020603050405020304" pitchFamily="18" charset="0"/>
                <a:ea typeface="宋体" panose="02010600030101010101" pitchFamily="2" charset="-122"/>
              </a:rPr>
              <a:t>X</a:t>
            </a:r>
            <a:r>
              <a:rPr lang="en-US" altLang="zh-CN" b="1" baseline="-25000">
                <a:solidFill>
                  <a:srgbClr val="FF0000"/>
                </a:solidFill>
                <a:latin typeface="Times New Roman" panose="02020603050405020304" pitchFamily="18" charset="0"/>
                <a:ea typeface="宋体" panose="02010600030101010101" pitchFamily="2" charset="-122"/>
              </a:rPr>
              <a:t>1</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k</a:t>
            </a:r>
            <a:r>
              <a:rPr lang="en-US" altLang="zh-CN" b="1">
                <a:solidFill>
                  <a:srgbClr val="FF0000"/>
                </a:solidFill>
                <a:latin typeface="Times New Roman" panose="02020603050405020304" pitchFamily="18" charset="0"/>
                <a:ea typeface="宋体" panose="02010600030101010101" pitchFamily="2" charset="-122"/>
              </a:rPr>
              <a:t>)</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X</a:t>
            </a:r>
            <a:r>
              <a:rPr lang="en-US" altLang="zh-CN" b="1" baseline="-25000">
                <a:solidFill>
                  <a:srgbClr val="FF0000"/>
                </a:solidFill>
                <a:latin typeface="Times New Roman" panose="02020603050405020304" pitchFamily="18" charset="0"/>
                <a:ea typeface="宋体" panose="02010600030101010101" pitchFamily="2" charset="-122"/>
              </a:rPr>
              <a:t>2</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k</a:t>
            </a:r>
            <a:r>
              <a:rPr lang="en-US" altLang="zh-CN" b="1">
                <a:solidFill>
                  <a:srgbClr val="FF0000"/>
                </a:solidFill>
                <a:latin typeface="Times New Roman" panose="02020603050405020304" pitchFamily="18" charset="0"/>
                <a:ea typeface="宋体" panose="02010600030101010101" pitchFamily="2" charset="-122"/>
              </a:rPr>
              <a:t>)</a:t>
            </a:r>
            <a:r>
              <a:rPr lang="zh-CN" altLang="en-US" b="1">
                <a:solidFill>
                  <a:srgbClr val="FF0000"/>
                </a:solidFill>
                <a:latin typeface="Times New Roman" panose="02020603050405020304" pitchFamily="18" charset="0"/>
                <a:ea typeface="宋体" panose="02010600030101010101" pitchFamily="2" charset="-122"/>
              </a:rPr>
              <a:t>。 </a:t>
            </a:r>
            <a:endParaRPr lang="zh-CN" altLang="en-US"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628265" y="5308600"/>
            <a:ext cx="2916555"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1332230" y="4293235"/>
            <a:ext cx="6120765"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835785" y="3213100"/>
            <a:ext cx="6120765"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61" name="文本框 15363"/>
          <p:cNvSpPr txBox="1"/>
          <p:nvPr/>
        </p:nvSpPr>
        <p:spPr>
          <a:xfrm>
            <a:off x="517525" y="685800"/>
            <a:ext cx="36052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再考虑到</a:t>
            </a:r>
            <a:r>
              <a:rPr lang="en-US" altLang="zh-CN" i="1" err="1">
                <a:latin typeface="Times New Roman" panose="02020603050405020304" pitchFamily="18" charset="0"/>
                <a:ea typeface="宋体" panose="02010600030101010101" pitchFamily="2" charset="-122"/>
              </a:rPr>
              <a:t>W</a:t>
            </a:r>
            <a:r>
              <a:rPr lang="en-US" altLang="zh-CN" i="1" baseline="30000" err="1">
                <a:latin typeface="Times New Roman" panose="02020603050405020304" pitchFamily="18" charset="0"/>
                <a:ea typeface="宋体" panose="02010600030101010101" pitchFamily="2" charset="-122"/>
              </a:rPr>
              <a:t>k</a:t>
            </a:r>
            <a:r>
              <a:rPr lang="en-US" altLang="zh-CN" i="1" baseline="-25000" err="1">
                <a:latin typeface="Times New Roman" panose="02020603050405020304" pitchFamily="18" charset="0"/>
                <a:ea typeface="宋体" panose="02010600030101010101" pitchFamily="2" charset="-122"/>
              </a:rPr>
              <a:t>N</a:t>
            </a:r>
            <a:r>
              <a:rPr lang="en-US" altLang="zh-CN" i="1" baseline="-2500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的以下性质</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5362" name="对象 15364"/>
          <p:cNvGraphicFramePr/>
          <p:nvPr/>
        </p:nvGraphicFramePr>
        <p:xfrm>
          <a:off x="2362200" y="1143000"/>
          <a:ext cx="4495800" cy="1042988"/>
        </p:xfrm>
        <a:graphic>
          <a:graphicData uri="http://schemas.openxmlformats.org/presentationml/2006/ole">
            <mc:AlternateContent xmlns:mc="http://schemas.openxmlformats.org/markup-compatibility/2006">
              <mc:Choice xmlns:v="urn:schemas-microsoft-com:vml" Requires="v">
                <p:oleObj spid="_x0000_s3083" name="" r:id="rId1" imgW="1587500" imgH="368300" progId="Equation.3">
                  <p:embed/>
                </p:oleObj>
              </mc:Choice>
              <mc:Fallback>
                <p:oleObj name="" r:id="rId1" imgW="1587500" imgH="368300" progId="Equation.3">
                  <p:embed/>
                  <p:pic>
                    <p:nvPicPr>
                      <p:cNvPr id="0" name="图片 3082"/>
                      <p:cNvPicPr/>
                      <p:nvPr/>
                    </p:nvPicPr>
                    <p:blipFill>
                      <a:blip r:embed="rId2"/>
                      <a:stretch>
                        <a:fillRect/>
                      </a:stretch>
                    </p:blipFill>
                    <p:spPr>
                      <a:xfrm>
                        <a:off x="2362200" y="1143000"/>
                        <a:ext cx="4495800" cy="1042988"/>
                      </a:xfrm>
                      <a:prstGeom prst="rect">
                        <a:avLst/>
                      </a:prstGeom>
                      <a:solidFill>
                        <a:schemeClr val="accent1"/>
                      </a:solidFill>
                      <a:ln w="38100">
                        <a:noFill/>
                        <a:miter/>
                      </a:ln>
                    </p:spPr>
                  </p:pic>
                </p:oleObj>
              </mc:Fallback>
            </mc:AlternateContent>
          </a:graphicData>
        </a:graphic>
      </p:graphicFrame>
      <p:sp>
        <p:nvSpPr>
          <p:cNvPr id="15363" name="文本框 15365"/>
          <p:cNvSpPr txBox="1"/>
          <p:nvPr/>
        </p:nvSpPr>
        <p:spPr>
          <a:xfrm>
            <a:off x="0" y="220980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这样，把式（</a:t>
            </a:r>
            <a:r>
              <a:rPr lang="en-US" altLang="zh-CN" dirty="0">
                <a:latin typeface="Times New Roman" panose="02020603050405020304" pitchFamily="18" charset="0"/>
                <a:ea typeface="宋体" panose="02010600030101010101" pitchFamily="2" charset="-122"/>
              </a:rPr>
              <a:t>3-8</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3-9</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3-10</a:t>
            </a:r>
            <a:r>
              <a:rPr lang="zh-CN" altLang="en-US" dirty="0">
                <a:latin typeface="Times New Roman" panose="02020603050405020304" pitchFamily="18" charset="0"/>
                <a:ea typeface="宋体" panose="02010600030101010101" pitchFamily="2" charset="-122"/>
              </a:rPr>
              <a:t>）代入式（</a:t>
            </a:r>
            <a:r>
              <a:rPr lang="en-US" altLang="zh-CN">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），就可将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表达为前后两部分： </a:t>
            </a:r>
            <a:endParaRPr lang="zh-CN" altLang="en-US">
              <a:latin typeface="Times New Roman" panose="02020603050405020304" pitchFamily="18" charset="0"/>
              <a:ea typeface="宋体" panose="02010600030101010101" pitchFamily="2" charset="-122"/>
            </a:endParaRPr>
          </a:p>
        </p:txBody>
      </p:sp>
      <p:graphicFrame>
        <p:nvGraphicFramePr>
          <p:cNvPr id="15364" name="对象 15366"/>
          <p:cNvGraphicFramePr/>
          <p:nvPr/>
        </p:nvGraphicFramePr>
        <p:xfrm>
          <a:off x="1828800" y="3200400"/>
          <a:ext cx="6019800" cy="885825"/>
        </p:xfrm>
        <a:graphic>
          <a:graphicData uri="http://schemas.openxmlformats.org/presentationml/2006/ole">
            <mc:AlternateContent xmlns:mc="http://schemas.openxmlformats.org/markup-compatibility/2006">
              <mc:Choice xmlns:v="urn:schemas-microsoft-com:vml" Requires="v">
                <p:oleObj spid="_x0000_s3085" name="" r:id="rId3" imgW="2678430" imgH="393700" progId="Equation.3">
                  <p:embed/>
                </p:oleObj>
              </mc:Choice>
              <mc:Fallback>
                <p:oleObj name="" r:id="rId3" imgW="2678430" imgH="393700" progId="Equation.3">
                  <p:embed/>
                  <p:pic>
                    <p:nvPicPr>
                      <p:cNvPr id="0" name="图片 3084"/>
                      <p:cNvPicPr/>
                      <p:nvPr/>
                    </p:nvPicPr>
                    <p:blipFill>
                      <a:blip r:embed="rId4"/>
                      <a:stretch>
                        <a:fillRect/>
                      </a:stretch>
                    </p:blipFill>
                    <p:spPr>
                      <a:xfrm>
                        <a:off x="1828800" y="3200400"/>
                        <a:ext cx="6019800" cy="885825"/>
                      </a:xfrm>
                      <a:prstGeom prst="rect">
                        <a:avLst/>
                      </a:prstGeom>
                      <a:noFill/>
                      <a:ln w="38100">
                        <a:noFill/>
                        <a:miter/>
                      </a:ln>
                    </p:spPr>
                  </p:pic>
                </p:oleObj>
              </mc:Fallback>
            </mc:AlternateContent>
          </a:graphicData>
        </a:graphic>
      </p:graphicFrame>
      <p:graphicFrame>
        <p:nvGraphicFramePr>
          <p:cNvPr id="15365" name="对象 15367"/>
          <p:cNvGraphicFramePr/>
          <p:nvPr/>
        </p:nvGraphicFramePr>
        <p:xfrm>
          <a:off x="1295400" y="4191000"/>
          <a:ext cx="6096000" cy="1757045"/>
        </p:xfrm>
        <a:graphic>
          <a:graphicData uri="http://schemas.openxmlformats.org/presentationml/2006/ole">
            <mc:AlternateContent xmlns:mc="http://schemas.openxmlformats.org/markup-compatibility/2006">
              <mc:Choice xmlns:v="urn:schemas-microsoft-com:vml" Requires="v">
                <p:oleObj spid="_x0000_s3086" name="" r:id="rId5" imgW="2818130" imgH="812165" progId="Equation.3">
                  <p:embed/>
                </p:oleObj>
              </mc:Choice>
              <mc:Fallback>
                <p:oleObj name="" r:id="rId5" imgW="2818130" imgH="812165" progId="Equation.3">
                  <p:embed/>
                  <p:pic>
                    <p:nvPicPr>
                      <p:cNvPr id="0" name="图片 3085"/>
                      <p:cNvPicPr/>
                      <p:nvPr/>
                    </p:nvPicPr>
                    <p:blipFill>
                      <a:blip r:embed="rId6"/>
                      <a:stretch>
                        <a:fillRect/>
                      </a:stretch>
                    </p:blipFill>
                    <p:spPr>
                      <a:xfrm>
                        <a:off x="1295400" y="4191000"/>
                        <a:ext cx="6096000" cy="1757045"/>
                      </a:xfrm>
                      <a:prstGeom prst="rect">
                        <a:avLst/>
                      </a:prstGeom>
                      <a:noFill/>
                      <a:ln w="38100">
                        <a:noFill/>
                        <a:miter/>
                      </a:ln>
                    </p:spPr>
                  </p:pic>
                </p:oleObj>
              </mc:Fallback>
            </mc:AlternateContent>
          </a:graphicData>
        </a:graphic>
      </p:graphicFrame>
      <p:graphicFrame>
        <p:nvGraphicFramePr>
          <p:cNvPr id="15366" name="对象 15368"/>
          <p:cNvGraphicFramePr/>
          <p:nvPr/>
        </p:nvGraphicFramePr>
        <p:xfrm>
          <a:off x="6588443" y="5481638"/>
          <a:ext cx="2338387" cy="690562"/>
        </p:xfrm>
        <a:graphic>
          <a:graphicData uri="http://schemas.openxmlformats.org/presentationml/2006/ole">
            <mc:AlternateContent xmlns:mc="http://schemas.openxmlformats.org/markup-compatibility/2006">
              <mc:Choice xmlns:v="urn:schemas-microsoft-com:vml" Requires="v">
                <p:oleObj spid="_x0000_s3087" name="" r:id="rId7" imgW="1040765" imgH="393700" progId="Equation.3">
                  <p:embed/>
                </p:oleObj>
              </mc:Choice>
              <mc:Fallback>
                <p:oleObj name="" r:id="rId7" imgW="1040765" imgH="393700" progId="Equation.3">
                  <p:embed/>
                  <p:pic>
                    <p:nvPicPr>
                      <p:cNvPr id="0" name="图片 3086"/>
                      <p:cNvPicPr/>
                      <p:nvPr/>
                    </p:nvPicPr>
                    <p:blipFill>
                      <a:blip r:embed="rId8"/>
                      <a:stretch>
                        <a:fillRect/>
                      </a:stretch>
                    </p:blipFill>
                    <p:spPr>
                      <a:xfrm>
                        <a:off x="6588443" y="5481638"/>
                        <a:ext cx="2338387" cy="690562"/>
                      </a:xfrm>
                      <a:prstGeom prst="rect">
                        <a:avLst/>
                      </a:prstGeom>
                      <a:solidFill>
                        <a:schemeClr val="accent1"/>
                      </a:solidFill>
                      <a:ln w="38100">
                        <a:noFill/>
                        <a:miter/>
                      </a:ln>
                    </p:spPr>
                  </p:pic>
                </p:oleObj>
              </mc:Fallback>
            </mc:AlternateContent>
          </a:graphicData>
        </a:graphic>
      </p:graphicFrame>
      <p:sp>
        <p:nvSpPr>
          <p:cNvPr id="15367" name="文本框 15369"/>
          <p:cNvSpPr txBox="1"/>
          <p:nvPr/>
        </p:nvSpPr>
        <p:spPr>
          <a:xfrm>
            <a:off x="7848600" y="15240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5368" name="文本框 15370"/>
          <p:cNvSpPr txBox="1"/>
          <p:nvPr/>
        </p:nvSpPr>
        <p:spPr>
          <a:xfrm>
            <a:off x="7956550" y="33528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5369" name="文本框 15371"/>
          <p:cNvSpPr txBox="1"/>
          <p:nvPr/>
        </p:nvSpPr>
        <p:spPr>
          <a:xfrm>
            <a:off x="8001000" y="48768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 name="矩形 1"/>
          <p:cNvSpPr/>
          <p:nvPr/>
        </p:nvSpPr>
        <p:spPr>
          <a:xfrm>
            <a:off x="4017963" y="3213100"/>
            <a:ext cx="504825" cy="8636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矩形 2"/>
          <p:cNvSpPr/>
          <p:nvPr/>
        </p:nvSpPr>
        <p:spPr>
          <a:xfrm>
            <a:off x="4090988" y="5216525"/>
            <a:ext cx="504825" cy="8636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17411"/>
          <p:cNvSpPr txBox="1"/>
          <p:nvPr/>
        </p:nvSpPr>
        <p:spPr>
          <a:xfrm>
            <a:off x="2438400" y="5562600"/>
            <a:ext cx="50800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 </a:t>
            </a:r>
            <a:r>
              <a:rPr lang="zh-CN" altLang="en-US" dirty="0">
                <a:latin typeface="Times New Roman" panose="02020603050405020304" pitchFamily="18" charset="0"/>
                <a:ea typeface="宋体" panose="02010600030101010101" pitchFamily="2" charset="-122"/>
              </a:rPr>
              <a:t>时间抽取法蝶形运算流图符号 </a:t>
            </a:r>
            <a:endParaRPr lang="zh-CN" altLang="en-US">
              <a:latin typeface="Times New Roman" panose="02020603050405020304" pitchFamily="18" charset="0"/>
              <a:ea typeface="宋体" panose="02010600030101010101" pitchFamily="2" charset="-122"/>
            </a:endParaRPr>
          </a:p>
        </p:txBody>
      </p:sp>
      <p:pic>
        <p:nvPicPr>
          <p:cNvPr id="16386" name="图片 17414" descr="3-1"/>
          <p:cNvPicPr>
            <a:picLocks noChangeAspect="1"/>
          </p:cNvPicPr>
          <p:nvPr/>
        </p:nvPicPr>
        <p:blipFill>
          <a:blip r:embed="rId1"/>
          <a:stretch>
            <a:fillRect/>
          </a:stretch>
        </p:blipFill>
        <p:spPr>
          <a:xfrm>
            <a:off x="1714500" y="2309813"/>
            <a:ext cx="5715000" cy="2238375"/>
          </a:xfrm>
          <a:prstGeom prst="rect">
            <a:avLst/>
          </a:prstGeom>
          <a:noFill/>
          <a:ln w="9525">
            <a:noFill/>
          </a:ln>
        </p:spPr>
      </p:pic>
      <p:sp>
        <p:nvSpPr>
          <p:cNvPr id="2" name="椭圆 1"/>
          <p:cNvSpPr/>
          <p:nvPr/>
        </p:nvSpPr>
        <p:spPr>
          <a:xfrm>
            <a:off x="6365875" y="1989138"/>
            <a:ext cx="1371600" cy="273685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等腰三角形 2"/>
          <p:cNvSpPr/>
          <p:nvPr/>
        </p:nvSpPr>
        <p:spPr>
          <a:xfrm>
            <a:off x="6296025" y="2565400"/>
            <a:ext cx="76200" cy="14446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等腰三角形 3"/>
          <p:cNvSpPr/>
          <p:nvPr/>
        </p:nvSpPr>
        <p:spPr>
          <a:xfrm>
            <a:off x="6365875" y="4338638"/>
            <a:ext cx="76200" cy="14446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10242" name="对象 56324"/>
          <p:cNvGraphicFramePr/>
          <p:nvPr/>
        </p:nvGraphicFramePr>
        <p:xfrm>
          <a:off x="2411730" y="476250"/>
          <a:ext cx="3717925" cy="1611630"/>
        </p:xfrm>
        <a:graphic>
          <a:graphicData uri="http://schemas.openxmlformats.org/presentationml/2006/ole">
            <mc:AlternateContent xmlns:mc="http://schemas.openxmlformats.org/markup-compatibility/2006">
              <mc:Choice xmlns:v="urn:schemas-microsoft-com:vml" Requires="v">
                <p:oleObj spid="_x0000_s3084" name="" r:id="rId2" imgW="2004060" imgH="899160" progId="Visio.Drawing.4">
                  <p:embed/>
                </p:oleObj>
              </mc:Choice>
              <mc:Fallback>
                <p:oleObj name="" r:id="rId2" imgW="2004060" imgH="899160" progId="Visio.Drawing.4">
                  <p:embed/>
                  <p:pic>
                    <p:nvPicPr>
                      <p:cNvPr id="0" name="图片 3083"/>
                      <p:cNvPicPr/>
                      <p:nvPr/>
                    </p:nvPicPr>
                    <p:blipFill>
                      <a:blip r:embed="rId3"/>
                      <a:stretch>
                        <a:fillRect/>
                      </a:stretch>
                    </p:blipFill>
                    <p:spPr>
                      <a:xfrm>
                        <a:off x="2411730" y="476250"/>
                        <a:ext cx="3717925" cy="1611630"/>
                      </a:xfrm>
                      <a:prstGeom prst="rect">
                        <a:avLst/>
                      </a:prstGeom>
                      <a:solidFill>
                        <a:schemeClr val="accent1"/>
                      </a:solidFill>
                      <a:ln w="38100">
                        <a:noFill/>
                        <a:miter/>
                      </a:ln>
                    </p:spPr>
                  </p:pic>
                </p:oleObj>
              </mc:Fallback>
            </mc:AlternateContent>
          </a:graphicData>
        </a:graphic>
      </p:graphicFrame>
      <p:sp>
        <p:nvSpPr>
          <p:cNvPr id="5" name="乘号 4"/>
          <p:cNvSpPr/>
          <p:nvPr/>
        </p:nvSpPr>
        <p:spPr>
          <a:xfrm>
            <a:off x="4932045" y="1196340"/>
            <a:ext cx="792480" cy="504190"/>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7" presetClass="entr" presetSubtype="4" fill="hold" nodeType="clickEffect">
                                  <p:stCondLst>
                                    <p:cond delay="0"/>
                                  </p:stCondLst>
                                  <p:childTnLst>
                                    <p:set>
                                      <p:cBhvr>
                                        <p:cTn id="20" dur="1" fill="hold">
                                          <p:stCondLst>
                                            <p:cond delay="0"/>
                                          </p:stCondLst>
                                        </p:cTn>
                                        <p:tgtEl>
                                          <p:spTgt spid="10242"/>
                                        </p:tgtEl>
                                        <p:attrNameLst>
                                          <p:attrName>style.visibility</p:attrName>
                                        </p:attrNameLst>
                                      </p:cBhvr>
                                      <p:to>
                                        <p:strVal val="visible"/>
                                      </p:to>
                                    </p:set>
                                    <p:anim calcmode="lin" valueType="num">
                                      <p:cBhvr additive="base">
                                        <p:cTn id="21" dur="5000" fill="hold"/>
                                        <p:tgtEl>
                                          <p:spTgt spid="10242"/>
                                        </p:tgtEl>
                                        <p:attrNameLst>
                                          <p:attrName>ppt_x</p:attrName>
                                        </p:attrNameLst>
                                      </p:cBhvr>
                                      <p:tavLst>
                                        <p:tav tm="0">
                                          <p:val>
                                            <p:strVal val="#ppt_x"/>
                                          </p:val>
                                        </p:tav>
                                        <p:tav tm="100000">
                                          <p:val>
                                            <p:strVal val="#ppt_x"/>
                                          </p:val>
                                        </p:tav>
                                      </p:tavLst>
                                    </p:anim>
                                    <p:anim calcmode="lin" valueType="num">
                                      <p:cBhvr additive="base">
                                        <p:cTn id="22" dur="5000" fill="hold"/>
                                        <p:tgtEl>
                                          <p:spTgt spid="1024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16387"/>
          <p:cNvSpPr txBox="1"/>
          <p:nvPr/>
        </p:nvSpPr>
        <p:spPr>
          <a:xfrm>
            <a:off x="1981200" y="5562600"/>
            <a:ext cx="5256213" cy="82232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按时间抽取将一个</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分解</a:t>
            </a:r>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            为两个</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pic>
        <p:nvPicPr>
          <p:cNvPr id="17410" name="图片 16390" descr="3-2"/>
          <p:cNvPicPr>
            <a:picLocks noChangeAspect="1"/>
          </p:cNvPicPr>
          <p:nvPr/>
        </p:nvPicPr>
        <p:blipFill>
          <a:blip r:embed="rId1"/>
          <a:stretch>
            <a:fillRect/>
          </a:stretch>
        </p:blipFill>
        <p:spPr>
          <a:xfrm>
            <a:off x="1714500" y="1268413"/>
            <a:ext cx="5715000" cy="3867150"/>
          </a:xfrm>
          <a:prstGeom prst="rect">
            <a:avLst/>
          </a:prstGeom>
          <a:noFill/>
          <a:ln w="9525">
            <a:noFill/>
          </a:ln>
        </p:spPr>
      </p:pic>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8435"/>
          <p:cNvSpPr txBox="1"/>
          <p:nvPr/>
        </p:nvSpPr>
        <p:spPr>
          <a:xfrm>
            <a:off x="228600" y="609600"/>
            <a:ext cx="8763000" cy="587692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一个</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分解为两个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，每一个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只需</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次复数乘法，</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/2-1)</a:t>
            </a:r>
            <a:r>
              <a:rPr lang="zh-CN" altLang="en-US" dirty="0">
                <a:latin typeface="Times New Roman" panose="02020603050405020304" pitchFamily="18" charset="0"/>
                <a:ea typeface="宋体" panose="02010600030101010101" pitchFamily="2" charset="-122"/>
              </a:rPr>
              <a:t>次复数加法。两个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共需</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次复数乘法和</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/2-1)</a:t>
            </a:r>
            <a:r>
              <a:rPr lang="zh-CN" altLang="en-US" dirty="0">
                <a:latin typeface="Times New Roman" panose="02020603050405020304" pitchFamily="18" charset="0"/>
                <a:ea typeface="宋体" panose="02010600030101010101" pitchFamily="2" charset="-122"/>
              </a:rPr>
              <a:t>次复数加法。此外，把两个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合成为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时，有</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个蝶形运算，还需要</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次复数乘法及</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次复数加法。因而通过第一步分解后，总共需要</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+1)/2≈</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次复数乘法和</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/2-1)+</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次复数加法。由此可见，通过这样分解后运算工作量差不多节省了一半。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既然这样分解是有效的，由于</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，因而</a:t>
            </a:r>
            <a:r>
              <a:rPr lang="en-US" altLang="zh-CN" dirty="0">
                <a:latin typeface="Times New Roman" panose="02020603050405020304" pitchFamily="18" charset="0"/>
                <a:ea typeface="宋体" panose="02010600030101010101" pitchFamily="2" charset="-122"/>
              </a:rPr>
              <a:t>N/2</a:t>
            </a:r>
            <a:r>
              <a:rPr lang="zh-CN" altLang="en-US" dirty="0">
                <a:latin typeface="Times New Roman" panose="02020603050405020304" pitchFamily="18" charset="0"/>
                <a:ea typeface="宋体" panose="02010600030101010101" pitchFamily="2" charset="-122"/>
              </a:rPr>
              <a:t>仍是偶数，可以进一步把每个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点子</a:t>
            </a:r>
            <a:r>
              <a:rPr lang="zh-CN" altLang="en-US" dirty="0">
                <a:latin typeface="Times New Roman" panose="02020603050405020304" pitchFamily="18" charset="0"/>
                <a:ea typeface="宋体" panose="02010600030101010101" pitchFamily="2" charset="-122"/>
              </a:rPr>
              <a:t>序列再按其奇偶部分分解为两个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点的子序列。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835785" y="3742055"/>
            <a:ext cx="5264785" cy="125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1999615" y="5156835"/>
            <a:ext cx="3361055"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219200" y="2276475"/>
            <a:ext cx="6455410" cy="11823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9457" name="对象 20484"/>
          <p:cNvGraphicFramePr/>
          <p:nvPr/>
        </p:nvGraphicFramePr>
        <p:xfrm>
          <a:off x="1691640" y="764540"/>
          <a:ext cx="4419600" cy="1179513"/>
        </p:xfrm>
        <a:graphic>
          <a:graphicData uri="http://schemas.openxmlformats.org/presentationml/2006/ole">
            <mc:AlternateContent xmlns:mc="http://schemas.openxmlformats.org/markup-compatibility/2006">
              <mc:Choice xmlns:v="urn:schemas-microsoft-com:vml" Requires="v">
                <p:oleObj spid="_x0000_s3093" name="" r:id="rId1" imgW="2095500" imgH="558800" progId="Equation.3">
                  <p:embed/>
                </p:oleObj>
              </mc:Choice>
              <mc:Fallback>
                <p:oleObj name="" r:id="rId1" imgW="2095500" imgH="558800" progId="Equation.3">
                  <p:embed/>
                  <p:pic>
                    <p:nvPicPr>
                      <p:cNvPr id="0" name="图片 3092"/>
                      <p:cNvPicPr/>
                      <p:nvPr/>
                    </p:nvPicPr>
                    <p:blipFill>
                      <a:blip r:embed="rId2"/>
                      <a:stretch>
                        <a:fillRect/>
                      </a:stretch>
                    </p:blipFill>
                    <p:spPr>
                      <a:xfrm>
                        <a:off x="1691640" y="764540"/>
                        <a:ext cx="4419600" cy="1179513"/>
                      </a:xfrm>
                      <a:prstGeom prst="rect">
                        <a:avLst/>
                      </a:prstGeom>
                      <a:solidFill>
                        <a:schemeClr val="accent1"/>
                      </a:solidFill>
                      <a:ln w="38100">
                        <a:noFill/>
                        <a:miter/>
                      </a:ln>
                    </p:spPr>
                  </p:pic>
                </p:oleObj>
              </mc:Fallback>
            </mc:AlternateContent>
          </a:graphicData>
        </a:graphic>
      </p:graphicFrame>
      <p:sp>
        <p:nvSpPr>
          <p:cNvPr id="19458" name="文本框 20485"/>
          <p:cNvSpPr txBox="1"/>
          <p:nvPr/>
        </p:nvSpPr>
        <p:spPr>
          <a:xfrm>
            <a:off x="7223125" y="879475"/>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3-13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19459" name="对象 20486"/>
          <p:cNvGraphicFramePr/>
          <p:nvPr/>
        </p:nvGraphicFramePr>
        <p:xfrm>
          <a:off x="1043305" y="2132965"/>
          <a:ext cx="6781800" cy="3879850"/>
        </p:xfrm>
        <a:graphic>
          <a:graphicData uri="http://schemas.openxmlformats.org/presentationml/2006/ole">
            <mc:AlternateContent xmlns:mc="http://schemas.openxmlformats.org/markup-compatibility/2006">
              <mc:Choice xmlns:v="urn:schemas-microsoft-com:vml" Requires="v">
                <p:oleObj spid="_x0000_s3092" name="" r:id="rId3" imgW="2908300" imgH="1511300" progId="Equation.3">
                  <p:embed/>
                </p:oleObj>
              </mc:Choice>
              <mc:Fallback>
                <p:oleObj name="" r:id="rId3" imgW="2908300" imgH="1511300" progId="Equation.3">
                  <p:embed/>
                  <p:pic>
                    <p:nvPicPr>
                      <p:cNvPr id="0" name="图片 3091"/>
                      <p:cNvPicPr/>
                      <p:nvPr/>
                    </p:nvPicPr>
                    <p:blipFill>
                      <a:blip r:embed="rId4"/>
                      <a:stretch>
                        <a:fillRect/>
                      </a:stretch>
                    </p:blipFill>
                    <p:spPr>
                      <a:xfrm>
                        <a:off x="1043305" y="2132965"/>
                        <a:ext cx="6781800" cy="3879850"/>
                      </a:xfrm>
                      <a:prstGeom prst="rect">
                        <a:avLst/>
                      </a:prstGeom>
                      <a:noFill/>
                      <a:ln w="38100">
                        <a:noFill/>
                        <a:miter/>
                      </a:ln>
                    </p:spPr>
                  </p:pic>
                </p:oleObj>
              </mc:Fallback>
            </mc:AlternateContent>
          </a:graphicData>
        </a:graphic>
      </p:graphicFrame>
      <p:sp>
        <p:nvSpPr>
          <p:cNvPr id="5" name="矩形 4"/>
          <p:cNvSpPr/>
          <p:nvPr/>
        </p:nvSpPr>
        <p:spPr>
          <a:xfrm>
            <a:off x="3427730" y="5149215"/>
            <a:ext cx="706755" cy="8636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文本框 19459"/>
          <p:cNvSpPr txBox="1"/>
          <p:nvPr/>
        </p:nvSpPr>
        <p:spPr>
          <a:xfrm>
            <a:off x="533400" y="6858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且 </a:t>
            </a:r>
            <a:endParaRPr lang="zh-CN" altLang="en-US">
              <a:latin typeface="Times New Roman" panose="02020603050405020304" pitchFamily="18" charset="0"/>
              <a:ea typeface="宋体" panose="02010600030101010101" pitchFamily="2" charset="-122"/>
            </a:endParaRPr>
          </a:p>
        </p:txBody>
      </p:sp>
      <p:graphicFrame>
        <p:nvGraphicFramePr>
          <p:cNvPr id="20482" name="对象 19460"/>
          <p:cNvGraphicFramePr/>
          <p:nvPr/>
        </p:nvGraphicFramePr>
        <p:xfrm>
          <a:off x="1524000" y="914400"/>
          <a:ext cx="4267200" cy="895350"/>
        </p:xfrm>
        <a:graphic>
          <a:graphicData uri="http://schemas.openxmlformats.org/presentationml/2006/ole">
            <mc:AlternateContent xmlns:mc="http://schemas.openxmlformats.org/markup-compatibility/2006">
              <mc:Choice xmlns:v="urn:schemas-microsoft-com:vml" Requires="v">
                <p:oleObj spid="_x0000_s3089" name="" r:id="rId1" imgW="2056765" imgH="431800" progId="Equation.3">
                  <p:embed/>
                </p:oleObj>
              </mc:Choice>
              <mc:Fallback>
                <p:oleObj name="" r:id="rId1" imgW="2056765" imgH="431800" progId="Equation.3">
                  <p:embed/>
                  <p:pic>
                    <p:nvPicPr>
                      <p:cNvPr id="0" name="图片 3088"/>
                      <p:cNvPicPr/>
                      <p:nvPr/>
                    </p:nvPicPr>
                    <p:blipFill>
                      <a:blip r:embed="rId2"/>
                      <a:stretch>
                        <a:fillRect/>
                      </a:stretch>
                    </p:blipFill>
                    <p:spPr>
                      <a:xfrm>
                        <a:off x="1524000" y="914400"/>
                        <a:ext cx="4267200" cy="895350"/>
                      </a:xfrm>
                      <a:prstGeom prst="rect">
                        <a:avLst/>
                      </a:prstGeom>
                      <a:solidFill>
                        <a:schemeClr val="accent1"/>
                      </a:solidFill>
                      <a:ln w="38100">
                        <a:noFill/>
                        <a:miter/>
                      </a:ln>
                    </p:spPr>
                  </p:pic>
                </p:oleObj>
              </mc:Fallback>
            </mc:AlternateContent>
          </a:graphicData>
        </a:graphic>
      </p:graphicFrame>
      <p:graphicFrame>
        <p:nvGraphicFramePr>
          <p:cNvPr id="20483" name="对象 19461"/>
          <p:cNvGraphicFramePr/>
          <p:nvPr/>
        </p:nvGraphicFramePr>
        <p:xfrm>
          <a:off x="6096000" y="914400"/>
          <a:ext cx="2273300" cy="858838"/>
        </p:xfrm>
        <a:graphic>
          <a:graphicData uri="http://schemas.openxmlformats.org/presentationml/2006/ole">
            <mc:AlternateContent xmlns:mc="http://schemas.openxmlformats.org/markup-compatibility/2006">
              <mc:Choice xmlns:v="urn:schemas-microsoft-com:vml" Requires="v">
                <p:oleObj spid="_x0000_s3090" name="" r:id="rId3" imgW="1040765" imgH="393700" progId="Equation.3">
                  <p:embed/>
                </p:oleObj>
              </mc:Choice>
              <mc:Fallback>
                <p:oleObj name="" r:id="rId3" imgW="1040765" imgH="393700" progId="Equation.3">
                  <p:embed/>
                  <p:pic>
                    <p:nvPicPr>
                      <p:cNvPr id="0" name="图片 3089"/>
                      <p:cNvPicPr/>
                      <p:nvPr/>
                    </p:nvPicPr>
                    <p:blipFill>
                      <a:blip r:embed="rId4"/>
                      <a:stretch>
                        <a:fillRect/>
                      </a:stretch>
                    </p:blipFill>
                    <p:spPr>
                      <a:xfrm>
                        <a:off x="6096000" y="914400"/>
                        <a:ext cx="2273300" cy="858838"/>
                      </a:xfrm>
                      <a:prstGeom prst="rect">
                        <a:avLst/>
                      </a:prstGeom>
                      <a:noFill/>
                      <a:ln w="38100">
                        <a:noFill/>
                        <a:miter/>
                      </a:ln>
                    </p:spPr>
                  </p:pic>
                </p:oleObj>
              </mc:Fallback>
            </mc:AlternateContent>
          </a:graphicData>
        </a:graphic>
      </p:graphicFrame>
      <p:sp>
        <p:nvSpPr>
          <p:cNvPr id="20484" name="文本框 19462"/>
          <p:cNvSpPr txBox="1"/>
          <p:nvPr/>
        </p:nvSpPr>
        <p:spPr>
          <a:xfrm>
            <a:off x="609600" y="2209800"/>
            <a:ext cx="1162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a:latin typeface="Times New Roman" panose="02020603050405020304" pitchFamily="18" charset="0"/>
              <a:ea typeface="宋体" panose="02010600030101010101" pitchFamily="2" charset="-122"/>
            </a:endParaRPr>
          </a:p>
        </p:txBody>
      </p:sp>
      <p:graphicFrame>
        <p:nvGraphicFramePr>
          <p:cNvPr id="20485" name="对象 19463"/>
          <p:cNvGraphicFramePr/>
          <p:nvPr/>
        </p:nvGraphicFramePr>
        <p:xfrm>
          <a:off x="3048000" y="2133600"/>
          <a:ext cx="3048000" cy="2644775"/>
        </p:xfrm>
        <a:graphic>
          <a:graphicData uri="http://schemas.openxmlformats.org/presentationml/2006/ole">
            <mc:AlternateContent xmlns:mc="http://schemas.openxmlformats.org/markup-compatibility/2006">
              <mc:Choice xmlns:v="urn:schemas-microsoft-com:vml" Requires="v">
                <p:oleObj spid="_x0000_s3091" name="" r:id="rId5" imgW="1346200" imgH="1168400" progId="Equation.3">
                  <p:embed/>
                </p:oleObj>
              </mc:Choice>
              <mc:Fallback>
                <p:oleObj name="" r:id="rId5" imgW="1346200" imgH="1168400" progId="Equation.3">
                  <p:embed/>
                  <p:pic>
                    <p:nvPicPr>
                      <p:cNvPr id="0" name="图片 3090"/>
                      <p:cNvPicPr/>
                      <p:nvPr/>
                    </p:nvPicPr>
                    <p:blipFill>
                      <a:blip r:embed="rId6"/>
                      <a:stretch>
                        <a:fillRect/>
                      </a:stretch>
                    </p:blipFill>
                    <p:spPr>
                      <a:xfrm>
                        <a:off x="3048000" y="2133600"/>
                        <a:ext cx="3048000" cy="2644775"/>
                      </a:xfrm>
                      <a:prstGeom prst="rect">
                        <a:avLst/>
                      </a:prstGeom>
                      <a:noFill/>
                      <a:ln w="38100">
                        <a:noFill/>
                        <a:miter/>
                      </a:ln>
                    </p:spPr>
                  </p:pic>
                </p:oleObj>
              </mc:Fallback>
            </mc:AlternateContent>
          </a:graphicData>
        </a:graphic>
      </p:graphicFrame>
      <p:sp>
        <p:nvSpPr>
          <p:cNvPr id="20486" name="文本框 19464"/>
          <p:cNvSpPr txBox="1"/>
          <p:nvPr/>
        </p:nvSpPr>
        <p:spPr>
          <a:xfrm>
            <a:off x="7239000" y="25908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3-14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0487" name="文本框 19465"/>
          <p:cNvSpPr txBox="1"/>
          <p:nvPr/>
        </p:nvSpPr>
        <p:spPr>
          <a:xfrm>
            <a:off x="7239000" y="40386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3-15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0488" name="文本框 19466"/>
          <p:cNvSpPr txBox="1"/>
          <p:nvPr/>
        </p:nvSpPr>
        <p:spPr>
          <a:xfrm>
            <a:off x="228600" y="4984750"/>
            <a:ext cx="8763000" cy="118745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3-3</a:t>
            </a:r>
            <a:r>
              <a:rPr lang="zh-CN" altLang="en-US" dirty="0">
                <a:latin typeface="Times New Roman" panose="02020603050405020304" pitchFamily="18" charset="0"/>
                <a:ea typeface="宋体" panose="02010600030101010101" pitchFamily="2" charset="-122"/>
              </a:rPr>
              <a:t>给出</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时，将一个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分解成两个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由这两个</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组合成一个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的流图。 </a:t>
            </a:r>
            <a:endParaRPr lang="zh-CN" altLang="en-US">
              <a:latin typeface="Times New Roman" panose="02020603050405020304" pitchFamily="18" charset="0"/>
              <a:ea typeface="宋体" panose="02010600030101010101" pitchFamily="2" charset="-122"/>
            </a:endParaRPr>
          </a:p>
        </p:txBody>
      </p:sp>
      <p:sp>
        <p:nvSpPr>
          <p:cNvPr id="3" name="矩形 2"/>
          <p:cNvSpPr/>
          <p:nvPr/>
        </p:nvSpPr>
        <p:spPr>
          <a:xfrm>
            <a:off x="4319905" y="946150"/>
            <a:ext cx="648335" cy="8636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22531"/>
          <p:cNvSpPr txBox="1"/>
          <p:nvPr/>
        </p:nvSpPr>
        <p:spPr>
          <a:xfrm>
            <a:off x="1828800" y="5638800"/>
            <a:ext cx="54229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a:latin typeface="Times New Roman" panose="02020603050405020304" pitchFamily="18" charset="0"/>
                <a:ea typeface="宋体" panose="02010600030101010101" pitchFamily="2" charset="-122"/>
              </a:rPr>
              <a:t>3-3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分解为两个</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 </a:t>
            </a:r>
            <a:endParaRPr lang="en-US" altLang="zh-CN">
              <a:latin typeface="Times New Roman" panose="02020603050405020304" pitchFamily="18" charset="0"/>
              <a:ea typeface="宋体" panose="02010600030101010101" pitchFamily="2" charset="-122"/>
            </a:endParaRPr>
          </a:p>
        </p:txBody>
      </p:sp>
      <p:pic>
        <p:nvPicPr>
          <p:cNvPr id="21506" name="图片 22535" descr="3-3"/>
          <p:cNvPicPr>
            <a:picLocks noChangeAspect="1"/>
          </p:cNvPicPr>
          <p:nvPr/>
        </p:nvPicPr>
        <p:blipFill>
          <a:blip r:embed="rId1"/>
          <a:stretch>
            <a:fillRect/>
          </a:stretch>
        </p:blipFill>
        <p:spPr>
          <a:xfrm>
            <a:off x="1714500" y="1947863"/>
            <a:ext cx="5715000" cy="2962275"/>
          </a:xfrm>
          <a:prstGeom prst="rect">
            <a:avLst/>
          </a:prstGeom>
          <a:noFill/>
          <a:ln w="9525">
            <a:noFill/>
          </a:ln>
        </p:spPr>
      </p:pic>
      <p:graphicFrame>
        <p:nvGraphicFramePr>
          <p:cNvPr id="2" name="对象 1">
            <a:hlinkClick r:id="" action="ppaction://ole?verb="/>
          </p:cNvPr>
          <p:cNvGraphicFramePr>
            <a:graphicFrameLocks noChangeAspect="1"/>
          </p:cNvGraphicFramePr>
          <p:nvPr/>
        </p:nvGraphicFramePr>
        <p:xfrm>
          <a:off x="5270500" y="3213100"/>
          <a:ext cx="690563" cy="431800"/>
        </p:xfrm>
        <a:graphic>
          <a:graphicData uri="http://schemas.openxmlformats.org/presentationml/2006/ole">
            <mc:AlternateContent xmlns:mc="http://schemas.openxmlformats.org/markup-compatibility/2006">
              <mc:Choice xmlns:v="urn:schemas-microsoft-com:vml" Requires="v">
                <p:oleObj spid="_x0000_s3096" name="" r:id="rId2" imgW="405765" imgH="254000" progId="Equation.KSEE3">
                  <p:embed/>
                </p:oleObj>
              </mc:Choice>
              <mc:Fallback>
                <p:oleObj name="" r:id="rId2" imgW="405765" imgH="254000" progId="Equation.KSEE3">
                  <p:embed/>
                  <p:pic>
                    <p:nvPicPr>
                      <p:cNvPr id="0" name="图片 3095"/>
                      <p:cNvPicPr/>
                      <p:nvPr/>
                    </p:nvPicPr>
                    <p:blipFill>
                      <a:blip r:embed="rId3"/>
                      <a:stretch>
                        <a:fillRect/>
                      </a:stretch>
                    </p:blipFill>
                    <p:spPr>
                      <a:xfrm>
                        <a:off x="5270500" y="3213100"/>
                        <a:ext cx="690563" cy="431800"/>
                      </a:xfrm>
                      <a:prstGeom prst="rect">
                        <a:avLst/>
                      </a:prstGeom>
                      <a:solidFill>
                        <a:schemeClr val="accent1"/>
                      </a:solid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5380038" y="4646613"/>
          <a:ext cx="690562" cy="433387"/>
        </p:xfrm>
        <a:graphic>
          <a:graphicData uri="http://schemas.openxmlformats.org/presentationml/2006/ole">
            <mc:AlternateContent xmlns:mc="http://schemas.openxmlformats.org/markup-compatibility/2006">
              <mc:Choice xmlns:v="urn:schemas-microsoft-com:vml" Requires="v">
                <p:oleObj spid="_x0000_s3094" name="" r:id="rId4" imgW="405765" imgH="254000" progId="Equation.KSEE3">
                  <p:embed/>
                </p:oleObj>
              </mc:Choice>
              <mc:Fallback>
                <p:oleObj name="" r:id="rId4" imgW="405765" imgH="254000" progId="Equation.KSEE3">
                  <p:embed/>
                  <p:pic>
                    <p:nvPicPr>
                      <p:cNvPr id="0" name="图片 3093"/>
                      <p:cNvPicPr/>
                      <p:nvPr/>
                    </p:nvPicPr>
                    <p:blipFill>
                      <a:blip r:embed="rId5"/>
                      <a:stretch>
                        <a:fillRect/>
                      </a:stretch>
                    </p:blipFill>
                    <p:spPr>
                      <a:xfrm>
                        <a:off x="5380038" y="4646613"/>
                        <a:ext cx="690562" cy="433387"/>
                      </a:xfrm>
                      <a:prstGeom prst="rect">
                        <a:avLst/>
                      </a:prstGeom>
                      <a:solidFill>
                        <a:schemeClr val="accent1"/>
                      </a:solidFill>
                      <a:ln w="38100">
                        <a:noFill/>
                        <a:miter/>
                      </a:ln>
                    </p:spPr>
                  </p:pic>
                </p:oleObj>
              </mc:Fallback>
            </mc:AlternateContent>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21508"/>
          <p:cNvSpPr txBox="1"/>
          <p:nvPr/>
        </p:nvSpPr>
        <p:spPr>
          <a:xfrm>
            <a:off x="685800" y="685800"/>
            <a:ext cx="4000500" cy="457200"/>
          </a:xfrm>
          <a:prstGeom prst="rect">
            <a:avLst/>
          </a:prstGeom>
          <a:noFill/>
          <a:ln w="9525">
            <a:noFill/>
          </a:ln>
        </p:spPr>
        <p:txBody>
          <a:bodyPr wrap="none" anchor="t">
            <a:spAutoFit/>
          </a:bodyPr>
          <a:p>
            <a:r>
              <a:rPr lang="en-US" altLang="zh-CN" b="1" i="1">
                <a:latin typeface="Times New Roman" panose="02020603050405020304" pitchFamily="18" charset="0"/>
                <a:ea typeface="宋体" panose="02010600030101010101" pitchFamily="2" charset="-122"/>
              </a:rPr>
              <a:t>X</a:t>
            </a:r>
            <a:r>
              <a:rPr lang="en-US" altLang="zh-CN" b="1" baseline="-25000">
                <a:latin typeface="Times New Roman" panose="02020603050405020304" pitchFamily="18" charset="0"/>
                <a:ea typeface="宋体" panose="02010600030101010101" pitchFamily="2" charset="-122"/>
              </a:rPr>
              <a:t>2</a:t>
            </a:r>
            <a:r>
              <a:rPr lang="en-US" altLang="zh-CN" b="1">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k</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也可进行同样的分解： </a:t>
            </a:r>
            <a:endParaRPr lang="zh-CN" altLang="en-US" b="1">
              <a:latin typeface="Times New Roman" panose="02020603050405020304" pitchFamily="18" charset="0"/>
              <a:ea typeface="宋体" panose="02010600030101010101" pitchFamily="2" charset="-122"/>
            </a:endParaRPr>
          </a:p>
        </p:txBody>
      </p:sp>
      <p:graphicFrame>
        <p:nvGraphicFramePr>
          <p:cNvPr id="22530" name="对象 21509"/>
          <p:cNvGraphicFramePr/>
          <p:nvPr/>
        </p:nvGraphicFramePr>
        <p:xfrm>
          <a:off x="1143000" y="1295400"/>
          <a:ext cx="5334000" cy="1957388"/>
        </p:xfrm>
        <a:graphic>
          <a:graphicData uri="http://schemas.openxmlformats.org/presentationml/2006/ole">
            <mc:AlternateContent xmlns:mc="http://schemas.openxmlformats.org/markup-compatibility/2006">
              <mc:Choice xmlns:v="urn:schemas-microsoft-com:vml" Requires="v">
                <p:oleObj spid="_x0000_s3097" name="" r:id="rId1" imgW="2146300" imgH="787400" progId="Equation.3">
                  <p:embed/>
                </p:oleObj>
              </mc:Choice>
              <mc:Fallback>
                <p:oleObj name="" r:id="rId1" imgW="2146300" imgH="787400" progId="Equation.3">
                  <p:embed/>
                  <p:pic>
                    <p:nvPicPr>
                      <p:cNvPr id="0" name="图片 3096"/>
                      <p:cNvPicPr/>
                      <p:nvPr/>
                    </p:nvPicPr>
                    <p:blipFill>
                      <a:blip r:embed="rId2"/>
                      <a:stretch>
                        <a:fillRect/>
                      </a:stretch>
                    </p:blipFill>
                    <p:spPr>
                      <a:xfrm>
                        <a:off x="1143000" y="1295400"/>
                        <a:ext cx="5334000" cy="1957388"/>
                      </a:xfrm>
                      <a:prstGeom prst="rect">
                        <a:avLst/>
                      </a:prstGeom>
                      <a:solidFill>
                        <a:schemeClr val="accent1"/>
                      </a:solidFill>
                      <a:ln w="38100">
                        <a:noFill/>
                        <a:miter/>
                      </a:ln>
                    </p:spPr>
                  </p:pic>
                </p:oleObj>
              </mc:Fallback>
            </mc:AlternateContent>
          </a:graphicData>
        </a:graphic>
      </p:graphicFrame>
      <p:graphicFrame>
        <p:nvGraphicFramePr>
          <p:cNvPr id="22531" name="对象 21510"/>
          <p:cNvGraphicFramePr/>
          <p:nvPr/>
        </p:nvGraphicFramePr>
        <p:xfrm>
          <a:off x="6629400" y="1752600"/>
          <a:ext cx="2273300" cy="858838"/>
        </p:xfrm>
        <a:graphic>
          <a:graphicData uri="http://schemas.openxmlformats.org/presentationml/2006/ole">
            <mc:AlternateContent xmlns:mc="http://schemas.openxmlformats.org/markup-compatibility/2006">
              <mc:Choice xmlns:v="urn:schemas-microsoft-com:vml" Requires="v">
                <p:oleObj spid="_x0000_s3098" name="" r:id="rId3" imgW="1040765" imgH="393700" progId="Equation.3">
                  <p:embed/>
                </p:oleObj>
              </mc:Choice>
              <mc:Fallback>
                <p:oleObj name="" r:id="rId3" imgW="1040765" imgH="393700" progId="Equation.3">
                  <p:embed/>
                  <p:pic>
                    <p:nvPicPr>
                      <p:cNvPr id="0" name="图片 3097"/>
                      <p:cNvPicPr/>
                      <p:nvPr/>
                    </p:nvPicPr>
                    <p:blipFill>
                      <a:blip r:embed="rId4"/>
                      <a:stretch>
                        <a:fillRect/>
                      </a:stretch>
                    </p:blipFill>
                    <p:spPr>
                      <a:xfrm>
                        <a:off x="6629400" y="1752600"/>
                        <a:ext cx="2273300" cy="858838"/>
                      </a:xfrm>
                      <a:prstGeom prst="rect">
                        <a:avLst/>
                      </a:prstGeom>
                      <a:noFill/>
                      <a:ln w="38100">
                        <a:noFill/>
                        <a:miter/>
                      </a:ln>
                    </p:spPr>
                  </p:pic>
                </p:oleObj>
              </mc:Fallback>
            </mc:AlternateContent>
          </a:graphicData>
        </a:graphic>
      </p:graphicFrame>
      <p:sp>
        <p:nvSpPr>
          <p:cNvPr id="22532" name="文本框 21511"/>
          <p:cNvSpPr txBox="1"/>
          <p:nvPr/>
        </p:nvSpPr>
        <p:spPr>
          <a:xfrm>
            <a:off x="457200" y="3657600"/>
            <a:ext cx="1162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a:latin typeface="Times New Roman" panose="02020603050405020304" pitchFamily="18" charset="0"/>
              <a:ea typeface="宋体" panose="02010600030101010101" pitchFamily="2" charset="-122"/>
            </a:endParaRPr>
          </a:p>
        </p:txBody>
      </p:sp>
      <p:graphicFrame>
        <p:nvGraphicFramePr>
          <p:cNvPr id="22533" name="对象 21512"/>
          <p:cNvGraphicFramePr/>
          <p:nvPr/>
        </p:nvGraphicFramePr>
        <p:xfrm>
          <a:off x="1619250" y="3500438"/>
          <a:ext cx="5829300" cy="2708275"/>
        </p:xfrm>
        <a:graphic>
          <a:graphicData uri="http://schemas.openxmlformats.org/presentationml/2006/ole">
            <mc:AlternateContent xmlns:mc="http://schemas.openxmlformats.org/markup-compatibility/2006">
              <mc:Choice xmlns:v="urn:schemas-microsoft-com:vml" Requires="v">
                <p:oleObj spid="_x0000_s3099" name="" r:id="rId5" imgW="2514600" imgH="1168400" progId="Equation.3">
                  <p:embed/>
                </p:oleObj>
              </mc:Choice>
              <mc:Fallback>
                <p:oleObj name="" r:id="rId5" imgW="2514600" imgH="1168400" progId="Equation.3">
                  <p:embed/>
                  <p:pic>
                    <p:nvPicPr>
                      <p:cNvPr id="0" name="图片 3098"/>
                      <p:cNvPicPr/>
                      <p:nvPr/>
                    </p:nvPicPr>
                    <p:blipFill>
                      <a:blip r:embed="rId6"/>
                      <a:stretch>
                        <a:fillRect/>
                      </a:stretch>
                    </p:blipFill>
                    <p:spPr>
                      <a:xfrm>
                        <a:off x="1619250" y="3500438"/>
                        <a:ext cx="5829300" cy="2708275"/>
                      </a:xfrm>
                      <a:prstGeom prst="rect">
                        <a:avLst/>
                      </a:prstGeom>
                      <a:noFill/>
                      <a:ln w="38100">
                        <a:noFill/>
                        <a:miter/>
                      </a:ln>
                    </p:spPr>
                  </p:pic>
                </p:oleObj>
              </mc:Fallback>
            </mc:AlternateContent>
          </a:graphicData>
        </a:graphic>
      </p:graphicFrame>
      <p:sp>
        <p:nvSpPr>
          <p:cNvPr id="22534" name="文本框 21513"/>
          <p:cNvSpPr txBox="1"/>
          <p:nvPr/>
        </p:nvSpPr>
        <p:spPr>
          <a:xfrm>
            <a:off x="7648575" y="3952875"/>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(3-16)</a:t>
            </a:r>
            <a:endParaRPr lang="en-US" altLang="zh-CN">
              <a:latin typeface="Times New Roman" panose="02020603050405020304" pitchFamily="18" charset="0"/>
              <a:ea typeface="宋体" panose="02010600030101010101" pitchFamily="2" charset="-122"/>
            </a:endParaRPr>
          </a:p>
        </p:txBody>
      </p:sp>
      <p:sp>
        <p:nvSpPr>
          <p:cNvPr id="22535" name="文本框 21514"/>
          <p:cNvSpPr txBox="1"/>
          <p:nvPr/>
        </p:nvSpPr>
        <p:spPr>
          <a:xfrm>
            <a:off x="7740650" y="5445125"/>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(3-17)</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24579"/>
          <p:cNvSpPr txBox="1"/>
          <p:nvPr/>
        </p:nvSpPr>
        <p:spPr>
          <a:xfrm>
            <a:off x="1905000" y="5943600"/>
            <a:ext cx="613886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3-4   </a:t>
            </a:r>
            <a:r>
              <a:rPr lang="zh-CN" altLang="en-US" dirty="0">
                <a:latin typeface="Times New Roman" panose="02020603050405020304" pitchFamily="18" charset="0"/>
                <a:ea typeface="宋体" panose="02010600030101010101" pitchFamily="2" charset="-122"/>
              </a:rPr>
              <a:t>一个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分解为四个</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 </a:t>
            </a:r>
            <a:endParaRPr lang="en-US" altLang="zh-CN">
              <a:latin typeface="Times New Roman" panose="02020603050405020304" pitchFamily="18" charset="0"/>
              <a:ea typeface="宋体" panose="02010600030101010101" pitchFamily="2" charset="-122"/>
            </a:endParaRPr>
          </a:p>
        </p:txBody>
      </p:sp>
      <p:pic>
        <p:nvPicPr>
          <p:cNvPr id="23554" name="图片 24582" descr="3-4"/>
          <p:cNvPicPr>
            <a:picLocks noChangeAspect="1"/>
          </p:cNvPicPr>
          <p:nvPr/>
        </p:nvPicPr>
        <p:blipFill>
          <a:blip r:embed="rId1"/>
          <a:stretch>
            <a:fillRect/>
          </a:stretch>
        </p:blipFill>
        <p:spPr>
          <a:xfrm>
            <a:off x="1416050" y="1320800"/>
            <a:ext cx="6311900" cy="3905250"/>
          </a:xfrm>
          <a:prstGeom prst="rect">
            <a:avLst/>
          </a:prstGeom>
          <a:noFill/>
          <a:ln w="9525">
            <a:noFill/>
          </a:ln>
        </p:spPr>
      </p:pic>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23555"/>
          <p:cNvSpPr txBox="1"/>
          <p:nvPr/>
        </p:nvSpPr>
        <p:spPr>
          <a:xfrm>
            <a:off x="304800" y="381000"/>
            <a:ext cx="8610600" cy="3633788"/>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根据上面同样的分析知道，利用四个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点的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及两级蝶形组合运算来计算</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，比只用一次分解蝶形组合方式的计算量又减少了大约一半。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最后，剩下的是</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，对于此例</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，就是四个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/4=2 </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，其输出为</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4</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1</a:t>
            </a:r>
            <a:r>
              <a:rPr lang="zh-CN" altLang="en-US" dirty="0">
                <a:latin typeface="Times New Roman" panose="02020603050405020304" pitchFamily="18" charset="0"/>
                <a:ea typeface="宋体" panose="02010600030101010101" pitchFamily="2" charset="-122"/>
              </a:rPr>
              <a:t>，这由式（</a:t>
            </a:r>
            <a:r>
              <a:rPr lang="en-US" altLang="zh-CN" dirty="0">
                <a:latin typeface="Times New Roman" panose="02020603050405020304" pitchFamily="18" charset="0"/>
                <a:ea typeface="宋体" panose="02010600030101010101" pitchFamily="2" charset="-122"/>
              </a:rPr>
              <a:t>3-14</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3-17</a:t>
            </a:r>
            <a:r>
              <a:rPr lang="zh-CN" altLang="en-US" dirty="0">
                <a:latin typeface="Times New Roman" panose="02020603050405020304" pitchFamily="18" charset="0"/>
                <a:ea typeface="宋体" panose="02010600030101010101" pitchFamily="2" charset="-122"/>
              </a:rPr>
              <a:t>）四个式子可以计算出来。例如，由式（</a:t>
            </a:r>
            <a:r>
              <a:rPr lang="en-US" altLang="zh-CN">
                <a:latin typeface="Times New Roman" panose="02020603050405020304" pitchFamily="18" charset="0"/>
                <a:ea typeface="宋体" panose="02010600030101010101" pitchFamily="2" charset="-122"/>
              </a:rPr>
              <a:t>3-14</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24578" name="对象 23556"/>
          <p:cNvGraphicFramePr/>
          <p:nvPr/>
        </p:nvGraphicFramePr>
        <p:xfrm>
          <a:off x="533400" y="3962400"/>
          <a:ext cx="8153400" cy="1290638"/>
        </p:xfrm>
        <a:graphic>
          <a:graphicData uri="http://schemas.openxmlformats.org/presentationml/2006/ole">
            <mc:AlternateContent xmlns:mc="http://schemas.openxmlformats.org/markup-compatibility/2006">
              <mc:Choice xmlns:v="urn:schemas-microsoft-com:vml" Requires="v">
                <p:oleObj spid="_x0000_s3100" name="" r:id="rId1" imgW="3530600" imgH="558800" progId="Equation.3">
                  <p:embed/>
                </p:oleObj>
              </mc:Choice>
              <mc:Fallback>
                <p:oleObj name="" r:id="rId1" imgW="3530600" imgH="558800" progId="Equation.3">
                  <p:embed/>
                  <p:pic>
                    <p:nvPicPr>
                      <p:cNvPr id="0" name="图片 3099"/>
                      <p:cNvPicPr/>
                      <p:nvPr/>
                    </p:nvPicPr>
                    <p:blipFill>
                      <a:blip r:embed="rId2"/>
                      <a:stretch>
                        <a:fillRect/>
                      </a:stretch>
                    </p:blipFill>
                    <p:spPr>
                      <a:xfrm>
                        <a:off x="533400" y="3962400"/>
                        <a:ext cx="8153400" cy="1290638"/>
                      </a:xfrm>
                      <a:prstGeom prst="rect">
                        <a:avLst/>
                      </a:prstGeom>
                      <a:noFill/>
                      <a:ln w="38100">
                        <a:noFill/>
                        <a:miter/>
                      </a:ln>
                    </p:spPr>
                  </p:pic>
                </p:oleObj>
              </mc:Fallback>
            </mc:AlternateContent>
          </a:graphicData>
        </a:graphic>
      </p:graphicFrame>
      <p:grpSp>
        <p:nvGrpSpPr>
          <p:cNvPr id="24579" name="组合 23559"/>
          <p:cNvGrpSpPr/>
          <p:nvPr/>
        </p:nvGrpSpPr>
        <p:grpSpPr>
          <a:xfrm>
            <a:off x="0" y="5410200"/>
            <a:ext cx="8991600" cy="1174750"/>
            <a:chOff x="0" y="3408"/>
            <a:chExt cx="5664" cy="740"/>
          </a:xfrm>
        </p:grpSpPr>
        <p:sp>
          <p:nvSpPr>
            <p:cNvPr id="24580" name="文本框 23557"/>
            <p:cNvSpPr txBox="1"/>
            <p:nvPr/>
          </p:nvSpPr>
          <p:spPr>
            <a:xfrm>
              <a:off x="0" y="3456"/>
              <a:ext cx="5664" cy="692"/>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故上式不需要乘法。 类似地</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可求出</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4</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24581" name="对象 23558"/>
            <p:cNvGraphicFramePr/>
            <p:nvPr/>
          </p:nvGraphicFramePr>
          <p:xfrm>
            <a:off x="528" y="3408"/>
            <a:ext cx="2784" cy="497"/>
          </p:xfrm>
          <a:graphic>
            <a:graphicData uri="http://schemas.openxmlformats.org/presentationml/2006/ole">
              <mc:AlternateContent xmlns:mc="http://schemas.openxmlformats.org/markup-compatibility/2006">
                <mc:Choice xmlns:v="urn:schemas-microsoft-com:vml" Requires="v">
                  <p:oleObj spid="_x0000_s3095" name="" r:id="rId3" imgW="1917065" imgH="342900" progId="Equation.3">
                    <p:embed/>
                  </p:oleObj>
                </mc:Choice>
                <mc:Fallback>
                  <p:oleObj name="" r:id="rId3" imgW="1917065" imgH="342900" progId="Equation.3">
                    <p:embed/>
                    <p:pic>
                      <p:nvPicPr>
                        <p:cNvPr id="0" name="图片 3094"/>
                        <p:cNvPicPr/>
                        <p:nvPr/>
                      </p:nvPicPr>
                      <p:blipFill>
                        <a:blip r:embed="rId4"/>
                        <a:stretch>
                          <a:fillRect/>
                        </a:stretch>
                      </p:blipFill>
                      <p:spPr>
                        <a:xfrm>
                          <a:off x="528" y="3408"/>
                          <a:ext cx="2784" cy="497"/>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26627"/>
          <p:cNvSpPr txBox="1"/>
          <p:nvPr/>
        </p:nvSpPr>
        <p:spPr>
          <a:xfrm>
            <a:off x="228600" y="457200"/>
            <a:ext cx="8686800" cy="1516063"/>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这种方法的每一步分解，都是按输入序列在时间上的次序是属于偶数还是属于奇数来分解</a:t>
            </a:r>
            <a:r>
              <a:rPr lang="zh-CN" altLang="en-US" dirty="0">
                <a:latin typeface="Times New Roman" panose="02020603050405020304" pitchFamily="18" charset="0"/>
                <a:ea typeface="宋体" panose="02010600030101010101" pitchFamily="2" charset="-122"/>
              </a:rPr>
              <a:t>为两个更短的子序列，所以称为“按时间抽取法”。 </a:t>
            </a:r>
            <a:endParaRPr lang="zh-CN" altLang="en-US">
              <a:latin typeface="Times New Roman" panose="02020603050405020304" pitchFamily="18" charset="0"/>
              <a:ea typeface="宋体" panose="02010600030101010101" pitchFamily="2" charset="-122"/>
            </a:endParaRPr>
          </a:p>
        </p:txBody>
      </p:sp>
      <p:sp>
        <p:nvSpPr>
          <p:cNvPr id="25602" name="文本框 26628"/>
          <p:cNvSpPr txBox="1"/>
          <p:nvPr/>
        </p:nvSpPr>
        <p:spPr>
          <a:xfrm>
            <a:off x="2057400" y="5943600"/>
            <a:ext cx="522446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a:latin typeface="Times New Roman" panose="02020603050405020304" pitchFamily="18" charset="0"/>
                <a:ea typeface="宋体" panose="02010600030101010101" pitchFamily="2" charset="-122"/>
              </a:rPr>
              <a:t>3-5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按时间抽取的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运算流图</a:t>
            </a:r>
            <a:endParaRPr lang="zh-CN" altLang="en-US">
              <a:latin typeface="Times New Roman" panose="02020603050405020304" pitchFamily="18" charset="0"/>
              <a:ea typeface="宋体" panose="02010600030101010101" pitchFamily="2" charset="-122"/>
            </a:endParaRPr>
          </a:p>
        </p:txBody>
      </p:sp>
      <p:pic>
        <p:nvPicPr>
          <p:cNvPr id="25603" name="图片 26631" descr="3-5"/>
          <p:cNvPicPr>
            <a:picLocks noChangeAspect="1"/>
          </p:cNvPicPr>
          <p:nvPr/>
        </p:nvPicPr>
        <p:blipFill>
          <a:blip r:embed="rId1"/>
          <a:stretch>
            <a:fillRect/>
          </a:stretch>
        </p:blipFill>
        <p:spPr>
          <a:xfrm>
            <a:off x="1468438" y="1973263"/>
            <a:ext cx="6207125" cy="3754437"/>
          </a:xfrm>
          <a:prstGeom prst="rect">
            <a:avLst/>
          </a:prstGeom>
          <a:noFill/>
          <a:ln w="9525">
            <a:noFill/>
          </a:ln>
        </p:spPr>
      </p:pic>
      <p:sp>
        <p:nvSpPr>
          <p:cNvPr id="2" name="文本框 1"/>
          <p:cNvSpPr txBox="1"/>
          <p:nvPr/>
        </p:nvSpPr>
        <p:spPr>
          <a:xfrm>
            <a:off x="339725" y="2289175"/>
            <a:ext cx="919163" cy="460375"/>
          </a:xfrm>
          <a:prstGeom prst="rect">
            <a:avLst/>
          </a:prstGeom>
          <a:noFill/>
          <a:ln w="9525">
            <a:noFill/>
          </a:ln>
        </p:spPr>
        <p:txBody>
          <a:bodyPr wrap="square" anchor="t">
            <a:spAutoFit/>
          </a:bodyPr>
          <a:p>
            <a:r>
              <a:rPr lang="zh-CN" altLang="en-US" b="1">
                <a:solidFill>
                  <a:srgbClr val="FF0000"/>
                </a:solidFill>
                <a:latin typeface="Times New Roman" panose="02020603050405020304" pitchFamily="18" charset="0"/>
                <a:ea typeface="宋体" panose="02010600030101010101" pitchFamily="2" charset="-122"/>
              </a:rPr>
              <a:t>级数</a:t>
            </a:r>
            <a:endParaRPr lang="zh-CN" altLang="en-US" b="1">
              <a:solidFill>
                <a:srgbClr val="FF0000"/>
              </a:solidFill>
              <a:latin typeface="Times New Roman" panose="02020603050405020304" pitchFamily="18" charset="0"/>
              <a:ea typeface="宋体" panose="02010600030101010101" pitchFamily="2" charset="-122"/>
            </a:endParaRPr>
          </a:p>
        </p:txBody>
      </p:sp>
      <p:sp>
        <p:nvSpPr>
          <p:cNvPr id="3" name="文本框 2"/>
          <p:cNvSpPr txBox="1"/>
          <p:nvPr/>
        </p:nvSpPr>
        <p:spPr>
          <a:xfrm>
            <a:off x="339725" y="2997200"/>
            <a:ext cx="919163" cy="460375"/>
          </a:xfrm>
          <a:prstGeom prst="rect">
            <a:avLst/>
          </a:prstGeom>
          <a:noFill/>
          <a:ln w="9525">
            <a:noFill/>
          </a:ln>
        </p:spPr>
        <p:txBody>
          <a:bodyPr wrap="square" anchor="t">
            <a:spAutoFit/>
          </a:bodyPr>
          <a:p>
            <a:r>
              <a:rPr lang="zh-CN" altLang="en-US" b="1">
                <a:solidFill>
                  <a:srgbClr val="FF0000"/>
                </a:solidFill>
                <a:latin typeface="Times New Roman" panose="02020603050405020304" pitchFamily="18" charset="0"/>
                <a:ea typeface="宋体" panose="02010600030101010101" pitchFamily="2" charset="-122"/>
              </a:rPr>
              <a:t>距离</a:t>
            </a:r>
            <a:endParaRPr lang="zh-CN" altLang="en-US" b="1">
              <a:solidFill>
                <a:srgbClr val="FF0000"/>
              </a:solidFill>
              <a:latin typeface="Times New Roman" panose="02020603050405020304" pitchFamily="18" charset="0"/>
              <a:ea typeface="宋体" panose="02010600030101010101" pitchFamily="2" charset="-122"/>
            </a:endParaRPr>
          </a:p>
        </p:txBody>
      </p:sp>
      <p:sp>
        <p:nvSpPr>
          <p:cNvPr id="4" name="文本框 3"/>
          <p:cNvSpPr txBox="1"/>
          <p:nvPr/>
        </p:nvSpPr>
        <p:spPr>
          <a:xfrm>
            <a:off x="339725" y="3708400"/>
            <a:ext cx="919163" cy="460375"/>
          </a:xfrm>
          <a:prstGeom prst="rect">
            <a:avLst/>
          </a:prstGeom>
          <a:noFill/>
          <a:ln w="9525">
            <a:noFill/>
          </a:ln>
        </p:spPr>
        <p:txBody>
          <a:bodyPr wrap="square" anchor="t">
            <a:spAutoFit/>
          </a:bodyPr>
          <a:p>
            <a:r>
              <a:rPr lang="zh-CN" altLang="en-US" b="1">
                <a:solidFill>
                  <a:srgbClr val="FF0000"/>
                </a:solidFill>
                <a:latin typeface="Times New Roman" panose="02020603050405020304" pitchFamily="18" charset="0"/>
                <a:ea typeface="宋体" panose="02010600030101010101" pitchFamily="2" charset="-122"/>
              </a:rPr>
              <a:t>顺序</a:t>
            </a:r>
            <a:endParaRPr lang="zh-CN" altLang="en-US" b="1">
              <a:solidFill>
                <a:srgbClr val="FF0000"/>
              </a:solidFill>
              <a:latin typeface="Times New Roman" panose="02020603050405020304" pitchFamily="18" charset="0"/>
              <a:ea typeface="宋体" panose="02010600030101010101" pitchFamily="2" charset="-122"/>
            </a:endParaRPr>
          </a:p>
        </p:txBody>
      </p:sp>
      <p:sp>
        <p:nvSpPr>
          <p:cNvPr id="5" name="文本框 4"/>
          <p:cNvSpPr txBox="1"/>
          <p:nvPr/>
        </p:nvSpPr>
        <p:spPr>
          <a:xfrm>
            <a:off x="339725" y="4519613"/>
            <a:ext cx="919163" cy="460375"/>
          </a:xfrm>
          <a:prstGeom prst="rect">
            <a:avLst/>
          </a:prstGeom>
          <a:noFill/>
          <a:ln w="9525">
            <a:noFill/>
          </a:ln>
        </p:spPr>
        <p:txBody>
          <a:bodyPr wrap="square" anchor="t">
            <a:spAutoFit/>
          </a:bodyPr>
          <a:p>
            <a:r>
              <a:rPr lang="zh-CN" altLang="en-US" b="1">
                <a:solidFill>
                  <a:srgbClr val="FF0000"/>
                </a:solidFill>
                <a:latin typeface="Times New Roman" panose="02020603050405020304" pitchFamily="18" charset="0"/>
                <a:ea typeface="宋体" panose="02010600030101010101" pitchFamily="2" charset="-122"/>
              </a:rPr>
              <a:t>系数</a:t>
            </a:r>
            <a:endParaRPr lang="zh-CN" altLang="en-US" b="1">
              <a:solidFill>
                <a:srgbClr val="FF0000"/>
              </a:solidFill>
              <a:latin typeface="Times New Roman" panose="02020603050405020304" pitchFamily="18" charset="0"/>
              <a:ea typeface="宋体" panose="02010600030101010101" pitchFamily="2" charset="-122"/>
            </a:endParaRPr>
          </a:p>
        </p:txBody>
      </p:sp>
      <p:graphicFrame>
        <p:nvGraphicFramePr>
          <p:cNvPr id="16386" name="对象 62468"/>
          <p:cNvGraphicFramePr/>
          <p:nvPr/>
        </p:nvGraphicFramePr>
        <p:xfrm>
          <a:off x="179705" y="1916430"/>
          <a:ext cx="8839200" cy="3924300"/>
        </p:xfrm>
        <a:graphic>
          <a:graphicData uri="http://schemas.openxmlformats.org/presentationml/2006/ole">
            <mc:AlternateContent xmlns:mc="http://schemas.openxmlformats.org/markup-compatibility/2006">
              <mc:Choice xmlns:v="urn:schemas-microsoft-com:vml" Requires="v">
                <p:oleObj spid="_x0000_s3078" name="" r:id="rId2" imgW="4168140" imgH="1851660" progId="Visio.Drawing.4">
                  <p:embed/>
                </p:oleObj>
              </mc:Choice>
              <mc:Fallback>
                <p:oleObj name="" r:id="rId2" imgW="4168140" imgH="1851660" progId="Visio.Drawing.4">
                  <p:embed/>
                  <p:pic>
                    <p:nvPicPr>
                      <p:cNvPr id="0" name="图片 3077"/>
                      <p:cNvPicPr/>
                      <p:nvPr/>
                    </p:nvPicPr>
                    <p:blipFill>
                      <a:blip r:embed="rId3"/>
                      <a:stretch>
                        <a:fillRect/>
                      </a:stretch>
                    </p:blipFill>
                    <p:spPr>
                      <a:xfrm>
                        <a:off x="179705" y="1916430"/>
                        <a:ext cx="8839200" cy="3924300"/>
                      </a:xfrm>
                      <a:prstGeom prst="rect">
                        <a:avLst/>
                      </a:prstGeom>
                      <a:solidFill>
                        <a:schemeClr val="accent1"/>
                      </a:solidFill>
                      <a:ln w="38100">
                        <a:noFill/>
                        <a:miter/>
                      </a:ln>
                    </p:spPr>
                  </p:pic>
                </p:oleObj>
              </mc:Fallback>
            </mc:AlternateContent>
          </a:graphicData>
        </a:graphic>
      </p:graphicFrame>
      <p:sp>
        <p:nvSpPr>
          <p:cNvPr id="6" name="乘号 5"/>
          <p:cNvSpPr/>
          <p:nvPr/>
        </p:nvSpPr>
        <p:spPr>
          <a:xfrm>
            <a:off x="6012180" y="2204720"/>
            <a:ext cx="720090" cy="504190"/>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386"/>
                                        </p:tgtEl>
                                        <p:attrNameLst>
                                          <p:attrName>style.visibility</p:attrName>
                                        </p:attrNameLst>
                                      </p:cBhvr>
                                      <p:to>
                                        <p:strVal val="visible"/>
                                      </p:to>
                                    </p:set>
                                    <p:anim calcmode="lin" valueType="num">
                                      <p:cBhvr additive="base">
                                        <p:cTn id="31" dur="500" fill="hold"/>
                                        <p:tgtEl>
                                          <p:spTgt spid="16386"/>
                                        </p:tgtEl>
                                        <p:attrNameLst>
                                          <p:attrName>ppt_x</p:attrName>
                                        </p:attrNameLst>
                                      </p:cBhvr>
                                      <p:tavLst>
                                        <p:tav tm="0">
                                          <p:val>
                                            <p:strVal val="#ppt_x"/>
                                          </p:val>
                                        </p:tav>
                                        <p:tav tm="100000">
                                          <p:val>
                                            <p:strVal val="#ppt_x"/>
                                          </p:val>
                                        </p:tav>
                                      </p:tavLst>
                                    </p:anim>
                                    <p:anim calcmode="lin" valueType="num">
                                      <p:cBhvr additive="base">
                                        <p:cTn id="32" dur="500" fill="hold"/>
                                        <p:tgtEl>
                                          <p:spTgt spid="163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7"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0" fill="hold"/>
                                        <p:tgtEl>
                                          <p:spTgt spid="6"/>
                                        </p:tgtEl>
                                        <p:attrNameLst>
                                          <p:attrName>ppt_x</p:attrName>
                                        </p:attrNameLst>
                                      </p:cBhvr>
                                      <p:tavLst>
                                        <p:tav tm="0">
                                          <p:val>
                                            <p:strVal val="#ppt_x"/>
                                          </p:val>
                                        </p:tav>
                                        <p:tav tm="100000">
                                          <p:val>
                                            <p:strVal val="#ppt_x"/>
                                          </p:val>
                                        </p:tav>
                                      </p:tavLst>
                                    </p:anim>
                                    <p:anim calcmode="lin" valueType="num">
                                      <p:cBhvr additive="base">
                                        <p:cTn id="38" dur="5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文本框 25603"/>
          <p:cNvSpPr txBox="1"/>
          <p:nvPr/>
        </p:nvSpPr>
        <p:spPr>
          <a:xfrm>
            <a:off x="228600" y="609600"/>
            <a:ext cx="8763000" cy="2841625"/>
          </a:xfrm>
          <a:prstGeom prst="rect">
            <a:avLst/>
          </a:prstGeom>
          <a:noFill/>
          <a:ln w="9525">
            <a:noFill/>
          </a:ln>
        </p:spPr>
        <p:txBody>
          <a:bodyPr anchor="t">
            <a:spAutoFit/>
          </a:bodyPr>
          <a:p>
            <a:pPr algn="just">
              <a:lnSpc>
                <a:spcPct val="139000"/>
              </a:lnSpc>
              <a:spcBef>
                <a:spcPct val="50000"/>
              </a:spcBef>
            </a:pPr>
            <a:r>
              <a:rPr lang="en-US" altLang="zh-CN" b="1" dirty="0">
                <a:latin typeface="Times New Roman" panose="02020603050405020304" pitchFamily="18" charset="0"/>
                <a:ea typeface="宋体" panose="02010600030101010101" pitchFamily="2" charset="-122"/>
              </a:rPr>
              <a:t>3.3.2 </a:t>
            </a:r>
            <a:r>
              <a:rPr lang="zh-CN" altLang="en-US" b="1" dirty="0">
                <a:latin typeface="Times New Roman" panose="02020603050405020304" pitchFamily="18" charset="0"/>
                <a:ea typeface="宋体" panose="02010600030101010101" pitchFamily="2" charset="-122"/>
              </a:rPr>
              <a:t>按时间抽取的</a:t>
            </a:r>
            <a:r>
              <a:rPr lang="en-US" altLang="zh-CN" b="1" dirty="0">
                <a:latin typeface="Times New Roman" panose="02020603050405020304" pitchFamily="18" charset="0"/>
                <a:ea typeface="宋体" panose="02010600030101010101" pitchFamily="2" charset="-122"/>
              </a:rPr>
              <a:t>FFT</a:t>
            </a:r>
            <a:r>
              <a:rPr lang="zh-CN" altLang="en-US" b="1" dirty="0">
                <a:latin typeface="Times New Roman" panose="02020603050405020304" pitchFamily="18" charset="0"/>
                <a:ea typeface="宋体" panose="02010600030101010101" pitchFamily="2" charset="-122"/>
              </a:rPr>
              <a:t>算法与直接计算</a:t>
            </a:r>
            <a:r>
              <a:rPr lang="en-US" altLang="zh-CN" b="1" dirty="0">
                <a:latin typeface="Times New Roman" panose="02020603050405020304" pitchFamily="18" charset="0"/>
                <a:ea typeface="宋体" panose="02010600030101010101" pitchFamily="2" charset="-122"/>
              </a:rPr>
              <a:t>DFT</a:t>
            </a:r>
            <a:r>
              <a:rPr lang="zh-CN" altLang="en-US" b="1" dirty="0">
                <a:latin typeface="Times New Roman" panose="02020603050405020304" pitchFamily="18" charset="0"/>
                <a:ea typeface="宋体" panose="02010600030101010101" pitchFamily="2" charset="-122"/>
              </a:rPr>
              <a:t>运算量的比较</a:t>
            </a:r>
            <a:endParaRPr lang="zh-CN" altLang="en-US" b="1" dirty="0">
              <a:latin typeface="Times New Roman" panose="02020603050405020304" pitchFamily="18" charset="0"/>
              <a:ea typeface="宋体" panose="02010600030101010101" pitchFamily="2" charset="-122"/>
            </a:endParaRPr>
          </a:p>
          <a:p>
            <a:pPr algn="just">
              <a:lnSpc>
                <a:spcPct val="139000"/>
              </a:lnSpc>
              <a:spcBef>
                <a:spcPct val="50000"/>
              </a:spcBef>
            </a:pPr>
            <a:r>
              <a:rPr lang="zh-CN" altLang="en-US" dirty="0">
                <a:latin typeface="Times New Roman" panose="02020603050405020304" pitchFamily="18" charset="0"/>
                <a:ea typeface="宋体" panose="02010600030101010101" pitchFamily="2" charset="-122"/>
              </a:rPr>
              <a:t>       由按时间抽取法</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的流图可见，当</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时，共有</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级蝶形， 每级都由</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个蝶形运算组成，每个蝶形需要一次复乘、 二次复加，因而每级运算都需</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次复乘和</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次</a:t>
            </a:r>
            <a:r>
              <a:rPr lang="zh-CN" altLang="en-US" dirty="0">
                <a:latin typeface="Times New Roman" panose="02020603050405020304" pitchFamily="18" charset="0"/>
                <a:ea typeface="宋体" panose="02010600030101010101" pitchFamily="2" charset="-122"/>
              </a:rPr>
              <a:t>复加，这样</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级运算总共需要 </a:t>
            </a:r>
            <a:endParaRPr lang="zh-CN" altLang="en-US">
              <a:latin typeface="Times New Roman" panose="02020603050405020304" pitchFamily="18" charset="0"/>
              <a:ea typeface="宋体" panose="02010600030101010101" pitchFamily="2" charset="-122"/>
            </a:endParaRPr>
          </a:p>
        </p:txBody>
      </p:sp>
      <p:grpSp>
        <p:nvGrpSpPr>
          <p:cNvPr id="26626" name="组合 25607"/>
          <p:cNvGrpSpPr/>
          <p:nvPr/>
        </p:nvGrpSpPr>
        <p:grpSpPr>
          <a:xfrm>
            <a:off x="974725" y="3509963"/>
            <a:ext cx="5094288" cy="1443037"/>
            <a:chOff x="614" y="2211"/>
            <a:chExt cx="3209" cy="909"/>
          </a:xfrm>
        </p:grpSpPr>
        <p:sp>
          <p:nvSpPr>
            <p:cNvPr id="26627" name="文本框 25604"/>
            <p:cNvSpPr txBox="1"/>
            <p:nvPr/>
          </p:nvSpPr>
          <p:spPr>
            <a:xfrm>
              <a:off x="614" y="2282"/>
              <a:ext cx="728"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复乘数 </a:t>
              </a:r>
              <a:endParaRPr lang="zh-CN" altLang="en-US">
                <a:latin typeface="Times New Roman" panose="02020603050405020304" pitchFamily="18" charset="0"/>
                <a:ea typeface="宋体" panose="02010600030101010101" pitchFamily="2" charset="-122"/>
              </a:endParaRPr>
            </a:p>
          </p:txBody>
        </p:sp>
        <p:graphicFrame>
          <p:nvGraphicFramePr>
            <p:cNvPr id="26628" name="对象 25605"/>
            <p:cNvGraphicFramePr/>
            <p:nvPr/>
          </p:nvGraphicFramePr>
          <p:xfrm>
            <a:off x="2128" y="2211"/>
            <a:ext cx="1695" cy="846"/>
          </p:xfrm>
          <a:graphic>
            <a:graphicData uri="http://schemas.openxmlformats.org/presentationml/2006/ole">
              <mc:AlternateContent xmlns:mc="http://schemas.openxmlformats.org/markup-compatibility/2006">
                <mc:Choice xmlns:v="urn:schemas-microsoft-com:vml" Requires="v">
                  <p:oleObj spid="_x0000_s3103" name="" r:id="rId1" imgW="1270000" imgH="634365" progId="Equation.3">
                    <p:embed/>
                  </p:oleObj>
                </mc:Choice>
                <mc:Fallback>
                  <p:oleObj name="" r:id="rId1" imgW="1270000" imgH="634365" progId="Equation.3">
                    <p:embed/>
                    <p:pic>
                      <p:nvPicPr>
                        <p:cNvPr id="0" name="图片 3102"/>
                        <p:cNvPicPr/>
                        <p:nvPr/>
                      </p:nvPicPr>
                      <p:blipFill>
                        <a:blip r:embed="rId2"/>
                        <a:stretch>
                          <a:fillRect/>
                        </a:stretch>
                      </p:blipFill>
                      <p:spPr>
                        <a:xfrm>
                          <a:off x="2128" y="2211"/>
                          <a:ext cx="1695" cy="846"/>
                        </a:xfrm>
                        <a:prstGeom prst="rect">
                          <a:avLst/>
                        </a:prstGeom>
                        <a:noFill/>
                        <a:ln w="38100">
                          <a:noFill/>
                          <a:miter/>
                        </a:ln>
                      </p:spPr>
                    </p:pic>
                  </p:oleObj>
                </mc:Fallback>
              </mc:AlternateContent>
            </a:graphicData>
          </a:graphic>
        </p:graphicFrame>
        <p:sp>
          <p:nvSpPr>
            <p:cNvPr id="26629" name="文本框 25606"/>
            <p:cNvSpPr txBox="1"/>
            <p:nvPr/>
          </p:nvSpPr>
          <p:spPr>
            <a:xfrm>
              <a:off x="624" y="2832"/>
              <a:ext cx="732"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复加数 </a:t>
              </a:r>
              <a:endParaRPr lang="zh-CN" altLang="en-US">
                <a:latin typeface="Times New Roman" panose="02020603050405020304" pitchFamily="18" charset="0"/>
                <a:ea typeface="宋体" panose="02010600030101010101" pitchFamily="2" charset="-122"/>
              </a:endParaRPr>
            </a:p>
          </p:txBody>
        </p:sp>
      </p:grpSp>
      <p:sp>
        <p:nvSpPr>
          <p:cNvPr id="26630" name="文本框 25608"/>
          <p:cNvSpPr txBox="1"/>
          <p:nvPr/>
        </p:nvSpPr>
        <p:spPr>
          <a:xfrm>
            <a:off x="304800" y="5486400"/>
            <a:ext cx="2392363"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式中，数学符号</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6631" name="文本框 25609"/>
          <p:cNvSpPr txBox="1"/>
          <p:nvPr/>
        </p:nvSpPr>
        <p:spPr>
          <a:xfrm>
            <a:off x="7359650" y="3594100"/>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(3-18)</a:t>
            </a:r>
            <a:endParaRPr lang="en-US" altLang="zh-CN">
              <a:latin typeface="Times New Roman" panose="02020603050405020304" pitchFamily="18" charset="0"/>
              <a:ea typeface="宋体" panose="02010600030101010101" pitchFamily="2" charset="-122"/>
            </a:endParaRPr>
          </a:p>
        </p:txBody>
      </p:sp>
      <p:sp>
        <p:nvSpPr>
          <p:cNvPr id="26632" name="文本框 25610"/>
          <p:cNvSpPr txBox="1"/>
          <p:nvPr/>
        </p:nvSpPr>
        <p:spPr>
          <a:xfrm>
            <a:off x="7370763" y="4437063"/>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(3-19)</a:t>
            </a:r>
            <a:endParaRPr lang="en-US" altLang="zh-CN">
              <a:latin typeface="Times New Roman" panose="02020603050405020304" pitchFamily="18" charset="0"/>
              <a:ea typeface="宋体" panose="02010600030101010101" pitchFamily="2" charset="-122"/>
            </a:endParaRPr>
          </a:p>
        </p:txBody>
      </p:sp>
      <p:graphicFrame>
        <p:nvGraphicFramePr>
          <p:cNvPr id="26633" name="对象 1"/>
          <p:cNvGraphicFramePr/>
          <p:nvPr/>
        </p:nvGraphicFramePr>
        <p:xfrm>
          <a:off x="2538413" y="5508625"/>
          <a:ext cx="1663700" cy="415925"/>
        </p:xfrm>
        <a:graphic>
          <a:graphicData uri="http://schemas.openxmlformats.org/presentationml/2006/ole">
            <mc:AlternateContent xmlns:mc="http://schemas.openxmlformats.org/markup-compatibility/2006">
              <mc:Choice xmlns:v="urn:schemas-microsoft-com:vml" Requires="v">
                <p:oleObj spid="_x0000_s3105" name="" r:id="rId3" imgW="558800" imgH="215900" progId="Equation.KSEE3">
                  <p:embed/>
                </p:oleObj>
              </mc:Choice>
              <mc:Fallback>
                <p:oleObj name="" r:id="rId3" imgW="558800" imgH="215900" progId="Equation.KSEE3">
                  <p:embed/>
                  <p:pic>
                    <p:nvPicPr>
                      <p:cNvPr id="0" name="图片 3104"/>
                      <p:cNvPicPr/>
                      <p:nvPr/>
                    </p:nvPicPr>
                    <p:blipFill>
                      <a:blip r:embed="rId4"/>
                      <a:stretch>
                        <a:fillRect/>
                      </a:stretch>
                    </p:blipFill>
                    <p:spPr>
                      <a:xfrm>
                        <a:off x="2538413" y="5508625"/>
                        <a:ext cx="1663700" cy="415925"/>
                      </a:xfrm>
                      <a:prstGeom prst="rect">
                        <a:avLst/>
                      </a:prstGeom>
                      <a:noFill/>
                      <a:ln w="38100">
                        <a:noFill/>
                        <a:miter/>
                      </a:ln>
                    </p:spPr>
                  </p:pic>
                </p:oleObj>
              </mc:Fallback>
            </mc:AlternateContent>
          </a:graphicData>
        </a:graphic>
      </p:graphicFrame>
      <p:cxnSp>
        <p:nvCxnSpPr>
          <p:cNvPr id="2" name="直接连接符 1"/>
          <p:cNvCxnSpPr/>
          <p:nvPr/>
        </p:nvCxnSpPr>
        <p:spPr>
          <a:xfrm flipV="1">
            <a:off x="3225800" y="4321175"/>
            <a:ext cx="3213100" cy="238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28675"/>
          <p:cNvSpPr txBox="1"/>
          <p:nvPr/>
        </p:nvSpPr>
        <p:spPr>
          <a:xfrm>
            <a:off x="228600" y="381000"/>
            <a:ext cx="8763000" cy="3779838"/>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实际计算量与这个数字稍有不同，因为</a:t>
            </a:r>
            <a:r>
              <a:rPr lang="en-US" altLang="zh-CN" i="1">
                <a:latin typeface="Times New Roman" panose="02020603050405020304" pitchFamily="18" charset="0"/>
                <a:ea typeface="宋体" panose="02010600030101010101" pitchFamily="2" charset="-122"/>
              </a:rPr>
              <a:t>W</a:t>
            </a:r>
            <a:r>
              <a:rPr lang="en-US" altLang="zh-CN" baseline="30000">
                <a:latin typeface="Times New Roman" panose="02020603050405020304" pitchFamily="18" charset="0"/>
                <a:ea typeface="宋体" panose="02010600030101010101" pitchFamily="2" charset="-122"/>
              </a:rPr>
              <a:t>0</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zh-CN" altLang="en-US" i="1">
                <a:latin typeface="Times New Roman" panose="02020603050405020304" pitchFamily="18" charset="0"/>
                <a:ea typeface="宋体" panose="02010600030101010101" pitchFamily="2" charset="-122"/>
              </a:rPr>
              <a:t>Ｗ</a:t>
            </a:r>
            <a:r>
              <a:rPr lang="en-US" altLang="zh-CN" i="1" baseline="-25000">
                <a:latin typeface="Times New Roman" panose="02020603050405020304" pitchFamily="18" charset="0"/>
                <a:ea typeface="宋体" panose="02010600030101010101" pitchFamily="2" charset="-122"/>
              </a:rPr>
              <a:t>N</a:t>
            </a:r>
            <a:r>
              <a:rPr lang="en-US" altLang="zh-CN" i="1" baseline="30000">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i="1">
                <a:latin typeface="Times New Roman" panose="02020603050405020304" pitchFamily="18" charset="0"/>
                <a:ea typeface="宋体" panose="02010600030101010101" pitchFamily="2" charset="-122"/>
              </a:rPr>
              <a:t>Ｗ</a:t>
            </a:r>
            <a:r>
              <a:rPr lang="en-US" altLang="zh-CN" i="1" baseline="-25000">
                <a:latin typeface="Times New Roman" panose="02020603050405020304" pitchFamily="18" charset="0"/>
                <a:ea typeface="宋体" panose="02010600030101010101" pitchFamily="2" charset="-122"/>
              </a:rPr>
              <a:t>N</a:t>
            </a:r>
            <a:r>
              <a:rPr lang="en-US" altLang="zh-CN" i="1" baseline="30000">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，这几个系数都不用乘法运算，但是这些情况在直接计算</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中也是存在的。此外，当</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较大时，这些特例相对而言就很少。所以，为了统一作比较起见，下面都不考虑这些特例。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由于计算机上乘法运算所需的时间比加法运算所需的时间多得多，故以乘法为例，直接</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复数乘法次数是</a:t>
            </a:r>
            <a:r>
              <a:rPr lang="en-US" altLang="zh-CN" i="1">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复数乘法次数是</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/2) lb</a:t>
            </a:r>
            <a:r>
              <a:rPr lang="en-US" altLang="zh-CN" i="1" err="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 直接计算</a:t>
            </a:r>
            <a:r>
              <a:rPr lang="en-US" altLang="zh-CN">
                <a:latin typeface="Times New Roman" panose="02020603050405020304" pitchFamily="18" charset="0"/>
                <a:ea typeface="宋体" panose="02010600030101010101" pitchFamily="2" charset="-122"/>
              </a:rPr>
              <a:t>DF</a:t>
            </a:r>
            <a:r>
              <a:rPr lang="en-US" altLang="zh-CN"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算法的计算量之比为 </a:t>
            </a:r>
            <a:endParaRPr lang="zh-CN" altLang="en-US">
              <a:latin typeface="Times New Roman" panose="02020603050405020304" pitchFamily="18" charset="0"/>
              <a:ea typeface="宋体" panose="02010600030101010101" pitchFamily="2" charset="-122"/>
            </a:endParaRPr>
          </a:p>
        </p:txBody>
      </p:sp>
      <p:graphicFrame>
        <p:nvGraphicFramePr>
          <p:cNvPr id="27650" name="对象 28676"/>
          <p:cNvGraphicFramePr/>
          <p:nvPr/>
        </p:nvGraphicFramePr>
        <p:xfrm>
          <a:off x="2940050" y="4098925"/>
          <a:ext cx="3340100" cy="1457325"/>
        </p:xfrm>
        <a:graphic>
          <a:graphicData uri="http://schemas.openxmlformats.org/presentationml/2006/ole">
            <mc:AlternateContent xmlns:mc="http://schemas.openxmlformats.org/markup-compatibility/2006">
              <mc:Choice xmlns:v="urn:schemas-microsoft-com:vml" Requires="v">
                <p:oleObj spid="_x0000_s3101" name="" r:id="rId1" imgW="1397000" imgH="609600" progId="Equation.3">
                  <p:embed/>
                </p:oleObj>
              </mc:Choice>
              <mc:Fallback>
                <p:oleObj name="" r:id="rId1" imgW="1397000" imgH="609600" progId="Equation.3">
                  <p:embed/>
                  <p:pic>
                    <p:nvPicPr>
                      <p:cNvPr id="0" name="图片 3100"/>
                      <p:cNvPicPr/>
                      <p:nvPr/>
                    </p:nvPicPr>
                    <p:blipFill>
                      <a:blip r:embed="rId2"/>
                      <a:stretch>
                        <a:fillRect/>
                      </a:stretch>
                    </p:blipFill>
                    <p:spPr>
                      <a:xfrm>
                        <a:off x="2940050" y="4098925"/>
                        <a:ext cx="3340100" cy="1457325"/>
                      </a:xfrm>
                      <a:prstGeom prst="rect">
                        <a:avLst/>
                      </a:prstGeom>
                      <a:noFill/>
                      <a:ln w="38100">
                        <a:noFill/>
                        <a:miter/>
                      </a:ln>
                    </p:spPr>
                  </p:pic>
                </p:oleObj>
              </mc:Fallback>
            </mc:AlternateContent>
          </a:graphicData>
        </a:graphic>
      </p:graphicFrame>
      <p:sp>
        <p:nvSpPr>
          <p:cNvPr id="27651" name="文本框 28678"/>
          <p:cNvSpPr txBox="1"/>
          <p:nvPr/>
        </p:nvSpPr>
        <p:spPr>
          <a:xfrm>
            <a:off x="228600" y="5334000"/>
            <a:ext cx="8686800" cy="1041400"/>
          </a:xfrm>
          <a:prstGeom prst="rect">
            <a:avLst/>
          </a:prstGeom>
          <a:noFill/>
          <a:ln w="9525">
            <a:noFill/>
          </a:ln>
        </p:spPr>
        <p:txBody>
          <a:bodyPr anchor="t">
            <a:spAutoFit/>
          </a:bodyPr>
          <a:p>
            <a:pPr algn="just">
              <a:lnSpc>
                <a:spcPct val="130000"/>
              </a:lnSpc>
              <a:spcBef>
                <a:spcPct val="50000"/>
              </a:spcBef>
            </a:pPr>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=2048</a:t>
            </a:r>
            <a:r>
              <a:rPr lang="zh-CN" altLang="en-US" dirty="0">
                <a:latin typeface="Times New Roman" panose="02020603050405020304" pitchFamily="18" charset="0"/>
                <a:ea typeface="宋体" panose="02010600030101010101" pitchFamily="2" charset="-122"/>
              </a:rPr>
              <a:t>时，这一比值为</a:t>
            </a:r>
            <a:r>
              <a:rPr lang="en-US" altLang="zh-CN" dirty="0">
                <a:latin typeface="Times New Roman" panose="02020603050405020304" pitchFamily="18" charset="0"/>
                <a:ea typeface="宋体" panose="02010600030101010101" pitchFamily="2" charset="-122"/>
              </a:rPr>
              <a:t>372.4</a:t>
            </a:r>
            <a:r>
              <a:rPr lang="zh-CN" altLang="en-US" dirty="0">
                <a:latin typeface="Times New Roman" panose="02020603050405020304" pitchFamily="18" charset="0"/>
                <a:ea typeface="宋体" panose="02010600030101010101" pitchFamily="2" charset="-122"/>
              </a:rPr>
              <a:t>，即直接计算</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的运算量是</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运算量的</a:t>
            </a:r>
            <a:r>
              <a:rPr lang="en-US" altLang="zh-CN" dirty="0">
                <a:latin typeface="Times New Roman" panose="02020603050405020304" pitchFamily="18" charset="0"/>
                <a:ea typeface="宋体" panose="02010600030101010101" pitchFamily="2" charset="-122"/>
              </a:rPr>
              <a:t>372.4</a:t>
            </a:r>
            <a:r>
              <a:rPr lang="zh-CN" altLang="en-US" dirty="0">
                <a:latin typeface="Times New Roman" panose="02020603050405020304" pitchFamily="18" charset="0"/>
                <a:ea typeface="宋体" panose="02010600030101010101" pitchFamily="2" charset="-122"/>
              </a:rPr>
              <a:t>倍。</a:t>
            </a:r>
            <a:r>
              <a:rPr lang="zh-CN" altLang="en-US" dirty="0">
                <a:latin typeface="Times New Roman" panose="02020603050405020304" pitchFamily="18" charset="0"/>
                <a:ea typeface="宋体" panose="02010600030101010101" pitchFamily="2" charset="-122"/>
              </a:rPr>
              <a:t>当点数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越大时，</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的优点更为明显。 </a:t>
            </a:r>
            <a:endParaRPr lang="zh-CN" altLang="en-US">
              <a:latin typeface="Times New Roman" panose="02020603050405020304" pitchFamily="18" charset="0"/>
              <a:ea typeface="宋体" panose="02010600030101010101" pitchFamily="2" charset="-122"/>
            </a:endParaRPr>
          </a:p>
        </p:txBody>
      </p:sp>
      <p:sp>
        <p:nvSpPr>
          <p:cNvPr id="27652" name="文本框 28679"/>
          <p:cNvSpPr txBox="1"/>
          <p:nvPr/>
        </p:nvSpPr>
        <p:spPr>
          <a:xfrm>
            <a:off x="7239000" y="44958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673" name="组合 27654"/>
          <p:cNvGrpSpPr/>
          <p:nvPr/>
        </p:nvGrpSpPr>
        <p:grpSpPr>
          <a:xfrm>
            <a:off x="228600" y="677863"/>
            <a:ext cx="8686800" cy="4708525"/>
            <a:chOff x="192" y="288"/>
            <a:chExt cx="5472" cy="2966"/>
          </a:xfrm>
        </p:grpSpPr>
        <p:sp>
          <p:nvSpPr>
            <p:cNvPr id="28674" name="文本框 27651"/>
            <p:cNvSpPr txBox="1"/>
            <p:nvPr/>
          </p:nvSpPr>
          <p:spPr>
            <a:xfrm>
              <a:off x="192" y="288"/>
              <a:ext cx="5472" cy="2966"/>
            </a:xfrm>
            <a:prstGeom prst="rect">
              <a:avLst/>
            </a:prstGeom>
            <a:noFill/>
            <a:ln w="9525">
              <a:noFill/>
            </a:ln>
          </p:spPr>
          <p:txBody>
            <a:bodyPr anchor="t">
              <a:spAutoFit/>
            </a:bodyPr>
            <a:p>
              <a:pPr algn="just">
                <a:lnSpc>
                  <a:spcPct val="20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3-2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算法处理一幅</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点的二维图像，如用每秒可做</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万次复数乘法的计算机，当</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=1024</a:t>
              </a:r>
              <a:r>
                <a:rPr lang="zh-CN" altLang="en-US" dirty="0">
                  <a:latin typeface="Times New Roman" panose="02020603050405020304" pitchFamily="18" charset="0"/>
                  <a:ea typeface="宋体" panose="02010600030101010101" pitchFamily="2" charset="-122"/>
                </a:rPr>
                <a:t>时，问需要多少时间（不考虑加法运算时间）？</a:t>
              </a:r>
              <a:endParaRPr lang="zh-CN" altLang="en-US" dirty="0">
                <a:latin typeface="Times New Roman" panose="02020603050405020304" pitchFamily="18" charset="0"/>
                <a:ea typeface="宋体" panose="02010600030101010101" pitchFamily="2" charset="-122"/>
              </a:endParaRPr>
            </a:p>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当</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=1024</a:t>
              </a:r>
              <a:r>
                <a:rPr lang="zh-CN" altLang="en-US" dirty="0">
                  <a:latin typeface="Times New Roman" panose="02020603050405020304" pitchFamily="18" charset="0"/>
                  <a:ea typeface="宋体" panose="02010600030101010101" pitchFamily="2" charset="-122"/>
                </a:rPr>
                <a:t>点时，</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算法处理一幅二维图像所需复数乘法约为		次，仅为直接计算</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所需时间的</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万分之一。 即原需要</a:t>
              </a:r>
              <a:r>
                <a:rPr lang="en-US" altLang="zh-CN" dirty="0">
                  <a:latin typeface="Times New Roman" panose="02020603050405020304" pitchFamily="18" charset="0"/>
                  <a:ea typeface="宋体" panose="02010600030101010101" pitchFamily="2" charset="-122"/>
                </a:rPr>
                <a:t>3000</a:t>
              </a:r>
              <a:r>
                <a:rPr lang="zh-CN" altLang="en-US" dirty="0">
                  <a:latin typeface="Times New Roman" panose="02020603050405020304" pitchFamily="18" charset="0"/>
                  <a:ea typeface="宋体" panose="02010600030101010101" pitchFamily="2" charset="-122"/>
                </a:rPr>
                <a:t>小时，现在只需要</a:t>
              </a:r>
              <a:r>
                <a:rPr lang="en-US" altLang="zh-CN">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分钟。 </a:t>
              </a:r>
              <a:endParaRPr lang="zh-CN" altLang="en-US">
                <a:latin typeface="Times New Roman" panose="02020603050405020304" pitchFamily="18" charset="0"/>
                <a:ea typeface="宋体" panose="02010600030101010101" pitchFamily="2" charset="-122"/>
              </a:endParaRPr>
            </a:p>
          </p:txBody>
        </p:sp>
        <p:graphicFrame>
          <p:nvGraphicFramePr>
            <p:cNvPr id="28675" name="对象 27652"/>
            <p:cNvGraphicFramePr/>
            <p:nvPr/>
          </p:nvGraphicFramePr>
          <p:xfrm>
            <a:off x="824" y="2313"/>
            <a:ext cx="1184" cy="535"/>
          </p:xfrm>
          <a:graphic>
            <a:graphicData uri="http://schemas.openxmlformats.org/presentationml/2006/ole">
              <mc:AlternateContent xmlns:mc="http://schemas.openxmlformats.org/markup-compatibility/2006">
                <mc:Choice xmlns:v="urn:schemas-microsoft-com:vml" Requires="v">
                  <p:oleObj spid="_x0000_s3102" name="" r:id="rId1" imgW="927100" imgH="419100" progId="Equation.3">
                    <p:embed/>
                  </p:oleObj>
                </mc:Choice>
                <mc:Fallback>
                  <p:oleObj name="" r:id="rId1" imgW="927100" imgH="419100" progId="Equation.3">
                    <p:embed/>
                    <p:pic>
                      <p:nvPicPr>
                        <p:cNvPr id="0" name="图片 3101"/>
                        <p:cNvPicPr/>
                        <p:nvPr/>
                      </p:nvPicPr>
                      <p:blipFill>
                        <a:blip r:embed="rId2"/>
                        <a:stretch>
                          <a:fillRect/>
                        </a:stretch>
                      </p:blipFill>
                      <p:spPr>
                        <a:xfrm>
                          <a:off x="824" y="2313"/>
                          <a:ext cx="1184" cy="535"/>
                        </a:xfrm>
                        <a:prstGeom prst="rect">
                          <a:avLst/>
                        </a:prstGeom>
                        <a:noFill/>
                        <a:ln w="38100">
                          <a:noFill/>
                          <a:miter/>
                        </a:ln>
                      </p:spPr>
                    </p:pic>
                  </p:oleObj>
                </mc:Fallback>
              </mc:AlternateContent>
            </a:graphicData>
          </a:graphic>
        </p:graphicFrame>
      </p:grpSp>
      <p:sp>
        <p:nvSpPr>
          <p:cNvPr id="2" name="十字星 1"/>
          <p:cNvSpPr/>
          <p:nvPr/>
        </p:nvSpPr>
        <p:spPr>
          <a:xfrm>
            <a:off x="395288" y="620713"/>
            <a:ext cx="431800" cy="1008063"/>
          </a:xfrm>
          <a:prstGeom prst="star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框 30723"/>
          <p:cNvSpPr txBox="1"/>
          <p:nvPr/>
        </p:nvSpPr>
        <p:spPr>
          <a:xfrm>
            <a:off x="381000" y="609600"/>
            <a:ext cx="7686675" cy="457200"/>
          </a:xfrm>
          <a:prstGeom prst="rect">
            <a:avLst/>
          </a:prstGeom>
          <a:no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3.3.3  </a:t>
            </a:r>
            <a:r>
              <a:rPr lang="zh-CN" altLang="en-US" b="1" dirty="0">
                <a:latin typeface="Times New Roman" panose="02020603050405020304" pitchFamily="18" charset="0"/>
                <a:ea typeface="宋体" panose="02010600030101010101" pitchFamily="2" charset="-122"/>
              </a:rPr>
              <a:t>按时间抽取的</a:t>
            </a:r>
            <a:r>
              <a:rPr lang="en-US" altLang="zh-CN" b="1" dirty="0">
                <a:latin typeface="Times New Roman" panose="02020603050405020304" pitchFamily="18" charset="0"/>
                <a:ea typeface="宋体" panose="02010600030101010101" pitchFamily="2" charset="-122"/>
              </a:rPr>
              <a:t>FFT</a:t>
            </a:r>
            <a:r>
              <a:rPr lang="zh-CN" altLang="en-US" b="1" dirty="0">
                <a:latin typeface="Times New Roman" panose="02020603050405020304" pitchFamily="18" charset="0"/>
                <a:ea typeface="宋体" panose="02010600030101010101" pitchFamily="2" charset="-122"/>
              </a:rPr>
              <a:t>算法的特点及</a:t>
            </a:r>
            <a:r>
              <a:rPr lang="en-US" altLang="zh-CN" b="1" dirty="0">
                <a:latin typeface="Times New Roman" panose="02020603050405020304" pitchFamily="18" charset="0"/>
                <a:ea typeface="宋体" panose="02010600030101010101" pitchFamily="2" charset="-122"/>
              </a:rPr>
              <a:t>DIT-FFT</a:t>
            </a:r>
            <a:r>
              <a:rPr lang="zh-CN" altLang="en-US" b="1" dirty="0">
                <a:latin typeface="Times New Roman" panose="02020603050405020304" pitchFamily="18" charset="0"/>
                <a:ea typeface="宋体" panose="02010600030101010101" pitchFamily="2" charset="-122"/>
              </a:rPr>
              <a:t>程序框图 </a:t>
            </a:r>
            <a:endParaRPr lang="zh-CN" altLang="en-US" b="1">
              <a:latin typeface="Times New Roman" panose="02020603050405020304" pitchFamily="18" charset="0"/>
              <a:ea typeface="宋体" panose="02010600030101010101" pitchFamily="2" charset="-122"/>
            </a:endParaRPr>
          </a:p>
        </p:txBody>
      </p:sp>
      <p:sp>
        <p:nvSpPr>
          <p:cNvPr id="29698" name="文本框 30724"/>
          <p:cNvSpPr txBox="1"/>
          <p:nvPr/>
        </p:nvSpPr>
        <p:spPr>
          <a:xfrm>
            <a:off x="304800" y="1143000"/>
            <a:ext cx="8610600" cy="2249488"/>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1. </a:t>
            </a:r>
            <a:r>
              <a:rPr lang="zh-CN" altLang="en-US" b="1" dirty="0">
                <a:latin typeface="Times New Roman" panose="02020603050405020304" pitchFamily="18" charset="0"/>
                <a:ea typeface="宋体" panose="02010600030101010101" pitchFamily="2" charset="-122"/>
              </a:rPr>
              <a:t>原位运算（同址运算）</a:t>
            </a:r>
            <a:endParaRPr lang="zh-CN" altLang="en-US">
              <a:latin typeface="Times New Roman" panose="02020603050405020304" pitchFamily="18" charset="0"/>
              <a:ea typeface="宋体" panose="02010600030101010101" pitchFamily="2" charset="-122"/>
            </a:endParaRPr>
          </a:p>
          <a:p>
            <a:pPr algn="just">
              <a:lnSpc>
                <a:spcPct val="135000"/>
              </a:lnSpc>
              <a:spcBef>
                <a:spcPct val="50000"/>
              </a:spcBef>
            </a:pPr>
            <a:r>
              <a:rPr lang="zh-CN" altLang="en-US" dirty="0">
                <a:latin typeface="Times New Roman" panose="02020603050405020304" pitchFamily="18" charset="0"/>
                <a:ea typeface="宋体" panose="02010600030101010101" pitchFamily="2" charset="-122"/>
              </a:rPr>
              <a:t>        从图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可以看出这种运算是很有规律的，其每级（每列）计算都是由</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个蝶形</a:t>
            </a:r>
            <a:r>
              <a:rPr lang="zh-CN" altLang="en-US" dirty="0">
                <a:latin typeface="Times New Roman" panose="02020603050405020304" pitchFamily="18" charset="0"/>
                <a:ea typeface="宋体" panose="02010600030101010101" pitchFamily="2" charset="-122"/>
              </a:rPr>
              <a:t>运算构成的，每一个蝶形结构完成下述基本迭代运算： </a:t>
            </a:r>
            <a:endParaRPr lang="zh-CN" altLang="en-US">
              <a:latin typeface="Times New Roman" panose="02020603050405020304" pitchFamily="18" charset="0"/>
              <a:ea typeface="宋体" panose="02010600030101010101" pitchFamily="2" charset="-122"/>
            </a:endParaRPr>
          </a:p>
        </p:txBody>
      </p:sp>
      <p:grpSp>
        <p:nvGrpSpPr>
          <p:cNvPr id="29699" name="组合 30728"/>
          <p:cNvGrpSpPr/>
          <p:nvPr/>
        </p:nvGrpSpPr>
        <p:grpSpPr>
          <a:xfrm>
            <a:off x="1524000" y="3429000"/>
            <a:ext cx="6989763" cy="1366838"/>
            <a:chOff x="960" y="2160"/>
            <a:chExt cx="4403" cy="861"/>
          </a:xfrm>
        </p:grpSpPr>
        <p:graphicFrame>
          <p:nvGraphicFramePr>
            <p:cNvPr id="29700" name="对象 30725"/>
            <p:cNvGraphicFramePr/>
            <p:nvPr/>
          </p:nvGraphicFramePr>
          <p:xfrm>
            <a:off x="960" y="2160"/>
            <a:ext cx="2896" cy="861"/>
          </p:xfrm>
          <a:graphic>
            <a:graphicData uri="http://schemas.openxmlformats.org/presentationml/2006/ole">
              <mc:AlternateContent xmlns:mc="http://schemas.openxmlformats.org/markup-compatibility/2006">
                <mc:Choice xmlns:v="urn:schemas-microsoft-com:vml" Requires="v">
                  <p:oleObj spid="_x0000_s3104" name="" r:id="rId1" imgW="1879600" imgH="558800" progId="Equation.3">
                    <p:embed/>
                  </p:oleObj>
                </mc:Choice>
                <mc:Fallback>
                  <p:oleObj name="" r:id="rId1" imgW="1879600" imgH="558800" progId="Equation.3">
                    <p:embed/>
                    <p:pic>
                      <p:nvPicPr>
                        <p:cNvPr id="0" name="图片 3103"/>
                        <p:cNvPicPr/>
                        <p:nvPr/>
                      </p:nvPicPr>
                      <p:blipFill>
                        <a:blip r:embed="rId2"/>
                        <a:stretch>
                          <a:fillRect/>
                        </a:stretch>
                      </p:blipFill>
                      <p:spPr>
                        <a:xfrm>
                          <a:off x="960" y="2160"/>
                          <a:ext cx="2896" cy="861"/>
                        </a:xfrm>
                        <a:prstGeom prst="rect">
                          <a:avLst/>
                        </a:prstGeom>
                        <a:solidFill>
                          <a:schemeClr val="accent1"/>
                        </a:solidFill>
                        <a:ln w="38100">
                          <a:noFill/>
                          <a:miter/>
                        </a:ln>
                      </p:spPr>
                    </p:pic>
                  </p:oleObj>
                </mc:Fallback>
              </mc:AlternateContent>
            </a:graphicData>
          </a:graphic>
        </p:graphicFrame>
        <p:sp>
          <p:nvSpPr>
            <p:cNvPr id="29701" name="文本框 30726"/>
            <p:cNvSpPr txBox="1"/>
            <p:nvPr/>
          </p:nvSpPr>
          <p:spPr>
            <a:xfrm>
              <a:off x="4320" y="2208"/>
              <a:ext cx="1032" cy="29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3-21 a</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9702" name="文本框 30727"/>
            <p:cNvSpPr txBox="1"/>
            <p:nvPr/>
          </p:nvSpPr>
          <p:spPr>
            <a:xfrm>
              <a:off x="4320" y="2688"/>
              <a:ext cx="1043" cy="29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3-21 b</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pSp>
      <p:sp>
        <p:nvSpPr>
          <p:cNvPr id="29703" name="文本框 30729"/>
          <p:cNvSpPr txBox="1"/>
          <p:nvPr/>
        </p:nvSpPr>
        <p:spPr>
          <a:xfrm>
            <a:off x="152400" y="4927600"/>
            <a:ext cx="8839200" cy="124460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表示第</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列迭代，</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为数据所在行数。式（</a:t>
            </a:r>
            <a:r>
              <a:rPr lang="en-US" altLang="zh-CN" dirty="0">
                <a:latin typeface="Times New Roman" panose="02020603050405020304" pitchFamily="18" charset="0"/>
                <a:ea typeface="宋体" panose="02010600030101010101" pitchFamily="2" charset="-122"/>
              </a:rPr>
              <a:t>3-21</a:t>
            </a:r>
            <a:r>
              <a:rPr lang="zh-CN" altLang="en-US" dirty="0">
                <a:latin typeface="Times New Roman" panose="02020603050405020304" pitchFamily="18" charset="0"/>
                <a:ea typeface="宋体" panose="02010600030101010101" pitchFamily="2" charset="-122"/>
              </a:rPr>
              <a:t>）的蝶形运算如图</a:t>
            </a:r>
            <a:r>
              <a:rPr lang="en-US" altLang="zh-CN">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所示，由一次复乘和两次复加（减）组成。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29699"/>
          <p:cNvSpPr txBox="1"/>
          <p:nvPr/>
        </p:nvSpPr>
        <p:spPr>
          <a:xfrm>
            <a:off x="3352800" y="5300663"/>
            <a:ext cx="2952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3-6 </a:t>
            </a:r>
            <a:r>
              <a:rPr lang="zh-CN" altLang="en-US" dirty="0">
                <a:latin typeface="Times New Roman" panose="02020603050405020304" pitchFamily="18" charset="0"/>
                <a:ea typeface="宋体" panose="02010600030101010101" pitchFamily="2" charset="-122"/>
              </a:rPr>
              <a:t>蝶形运算单元 </a:t>
            </a:r>
            <a:endParaRPr lang="zh-CN" altLang="en-US">
              <a:latin typeface="Times New Roman" panose="02020603050405020304" pitchFamily="18" charset="0"/>
              <a:ea typeface="宋体" panose="02010600030101010101" pitchFamily="2" charset="-122"/>
            </a:endParaRPr>
          </a:p>
        </p:txBody>
      </p:sp>
      <p:pic>
        <p:nvPicPr>
          <p:cNvPr id="30722" name="图片 29702" descr="3-6"/>
          <p:cNvPicPr>
            <a:picLocks noChangeAspect="1"/>
          </p:cNvPicPr>
          <p:nvPr/>
        </p:nvPicPr>
        <p:blipFill>
          <a:blip r:embed="rId1"/>
          <a:stretch>
            <a:fillRect/>
          </a:stretch>
        </p:blipFill>
        <p:spPr>
          <a:xfrm>
            <a:off x="1714500" y="2862263"/>
            <a:ext cx="5715000" cy="1133475"/>
          </a:xfrm>
          <a:prstGeom prst="rect">
            <a:avLst/>
          </a:prstGeom>
          <a:noFill/>
          <a:ln w="9525">
            <a:noFill/>
          </a:ln>
        </p:spPr>
      </p:pic>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框 32771"/>
          <p:cNvSpPr txBox="1"/>
          <p:nvPr/>
        </p:nvSpPr>
        <p:spPr>
          <a:xfrm>
            <a:off x="152400" y="533400"/>
            <a:ext cx="8763000" cy="563086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的流图看出，某一列的任何两个节点</a:t>
            </a:r>
            <a:r>
              <a:rPr lang="en-US" altLang="zh-CN"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的节点变量进行蝶形运算后，得到结果为下一列</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两节点的节点变量，而和其他节点变量无关，因而可以采用原位运算， 即某一列的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个数据送到存储器后，经蝶形运算，其结果为下一列数据，它们以蝶形为单位仍存储在这同一组存储器中，直到最后输出，中间无需其他存储器。也就是</a:t>
            </a:r>
            <a:r>
              <a:rPr lang="zh-CN" altLang="en-US" b="1" dirty="0">
                <a:solidFill>
                  <a:srgbClr val="FF0000"/>
                </a:solidFill>
                <a:latin typeface="Times New Roman" panose="02020603050405020304" pitchFamily="18" charset="0"/>
                <a:ea typeface="宋体" panose="02010600030101010101" pitchFamily="2" charset="-122"/>
              </a:rPr>
              <a:t>蝶形的两个输出值仍放回蝶形的两个输入所在的存储器中</a:t>
            </a:r>
            <a:r>
              <a:rPr lang="zh-CN" altLang="en-US" dirty="0">
                <a:latin typeface="Times New Roman" panose="02020603050405020304" pitchFamily="18" charset="0"/>
                <a:ea typeface="宋体" panose="02010600030101010101" pitchFamily="2" charset="-122"/>
              </a:rPr>
              <a:t>。 每列的</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个蝶形运算全部完成后， 再开始下一列的蝶形运算。 这样存储器数据只需</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个存储单元。 下一级的运算仍采用这种原位方式，只不过进入蝶形结的组</a:t>
            </a:r>
            <a:r>
              <a:rPr lang="zh-CN" altLang="en-US" dirty="0">
                <a:latin typeface="Times New Roman" panose="02020603050405020304" pitchFamily="18" charset="0"/>
                <a:ea typeface="宋体" panose="02010600030101010101" pitchFamily="2" charset="-122"/>
              </a:rPr>
              <a:t>合关系有所不同。  这种原位运算结构可以节省存储单元， 降低设备成本。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文本框 31747"/>
          <p:cNvSpPr txBox="1"/>
          <p:nvPr/>
        </p:nvSpPr>
        <p:spPr>
          <a:xfrm>
            <a:off x="304800" y="685800"/>
            <a:ext cx="8610600" cy="4217988"/>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 </a:t>
            </a:r>
            <a:r>
              <a:rPr lang="zh-CN" altLang="en-US" b="1" dirty="0">
                <a:latin typeface="Times New Roman" panose="02020603050405020304" pitchFamily="18" charset="0"/>
                <a:ea typeface="宋体" panose="02010600030101010101" pitchFamily="2" charset="-122"/>
              </a:rPr>
              <a:t>倒位序规律</a:t>
            </a:r>
            <a:endParaRPr lang="zh-CN" altLang="en-US">
              <a:latin typeface="Times New Roman" panose="02020603050405020304" pitchFamily="18" charset="0"/>
              <a:ea typeface="宋体" panose="02010600030101010101" pitchFamily="2" charset="-122"/>
            </a:endParaRPr>
          </a:p>
          <a:p>
            <a:pPr algn="just">
              <a:lnSpc>
                <a:spcPct val="180000"/>
              </a:lnSpc>
              <a:spcBef>
                <a:spcPct val="50000"/>
              </a:spcBef>
            </a:pPr>
            <a:r>
              <a:rPr lang="zh-CN" altLang="en-US" dirty="0">
                <a:latin typeface="Times New Roman" panose="02020603050405020304" pitchFamily="18" charset="0"/>
                <a:ea typeface="宋体" panose="02010600030101010101" pitchFamily="2" charset="-122"/>
              </a:rPr>
              <a:t>        观察图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的同址计算结构，发现当运算完成后，</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的输出</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按正常顺序排列在存储单元中，即按</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a:latin typeface="Courier New" panose="02070309020205020404" pitchFamily="49"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的顺序排列，但是这时输入</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却不是按自然顺序存储的，而是按</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 </a:t>
            </a:r>
            <a:r>
              <a:rPr lang="en-US" altLang="zh-CN">
                <a:latin typeface="Courier New" panose="02070309020205020404" pitchFamily="49"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的顺序存入存储单元，看起来好像是“混乱无序”的，实际上是有规律的，我们称之为倒</a:t>
            </a:r>
            <a:r>
              <a:rPr lang="zh-CN" altLang="en-US" dirty="0">
                <a:latin typeface="Times New Roman" panose="02020603050405020304" pitchFamily="18" charset="0"/>
                <a:ea typeface="宋体" panose="02010600030101010101" pitchFamily="2" charset="-122"/>
              </a:rPr>
              <a:t>位序。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框 34819"/>
          <p:cNvSpPr txBox="1"/>
          <p:nvPr/>
        </p:nvSpPr>
        <p:spPr>
          <a:xfrm>
            <a:off x="228600" y="533400"/>
            <a:ext cx="8686800" cy="5286375"/>
          </a:xfrm>
          <a:prstGeom prst="rect">
            <a:avLst/>
          </a:prstGeom>
          <a:noFill/>
          <a:ln w="9525">
            <a:noFill/>
          </a:ln>
        </p:spPr>
        <p:txBody>
          <a:bodyPr anchor="t">
            <a:spAutoFit/>
          </a:bodyPr>
          <a:p>
            <a:pPr algn="just">
              <a:lnSpc>
                <a:spcPct val="17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造成倒位序的原因是输入</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按标号</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的偶奇的不断分组。  如果</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用二进制数表示为</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=8=2</a:t>
            </a:r>
            <a:r>
              <a:rPr lang="en-US" altLang="zh-CN" baseline="3000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时，二进制为三位）， 第一次分组，由图</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看出，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为偶数（相当于</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的二进制数的最低位</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）在上半部分，</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为奇数（相当于</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的二进制数的最低位 </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）在下半部分。 下一次则根据次最低位</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或是“</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来分偶奇（而不管原来的子序列是偶序列还是奇序列）， 如此继续分下去，直到最后</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个长度为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的子序列。 图</a:t>
            </a:r>
            <a:r>
              <a:rPr lang="en-US" altLang="zh-CN" dirty="0">
                <a:latin typeface="Times New Roman" panose="02020603050405020304" pitchFamily="18" charset="0"/>
                <a:ea typeface="宋体" panose="02010600030101010101" pitchFamily="2" charset="-122"/>
              </a:rPr>
              <a:t>3-7</a:t>
            </a:r>
            <a:r>
              <a:rPr lang="zh-CN" altLang="en-US" dirty="0">
                <a:latin typeface="Times New Roman" panose="02020603050405020304" pitchFamily="18" charset="0"/>
                <a:ea typeface="宋体" panose="02010600030101010101" pitchFamily="2" charset="-122"/>
              </a:rPr>
              <a:t>的树状图描述了这种分成偶数子序列和奇数子序列</a:t>
            </a:r>
            <a:r>
              <a:rPr lang="zh-CN" altLang="en-US" dirty="0">
                <a:latin typeface="Times New Roman" panose="02020603050405020304" pitchFamily="18" charset="0"/>
                <a:ea typeface="宋体" panose="02010600030101010101" pitchFamily="2" charset="-122"/>
              </a:rPr>
              <a:t>的过程。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框 33795"/>
          <p:cNvSpPr txBox="1"/>
          <p:nvPr/>
        </p:nvSpPr>
        <p:spPr>
          <a:xfrm>
            <a:off x="3200400" y="5734050"/>
            <a:ext cx="2876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3-7 </a:t>
            </a:r>
            <a:r>
              <a:rPr lang="zh-CN" altLang="en-US" dirty="0">
                <a:latin typeface="Times New Roman" panose="02020603050405020304" pitchFamily="18" charset="0"/>
                <a:ea typeface="宋体" panose="02010600030101010101" pitchFamily="2" charset="-122"/>
              </a:rPr>
              <a:t>倒位序的形成 </a:t>
            </a:r>
            <a:endParaRPr lang="zh-CN" altLang="en-US">
              <a:latin typeface="Times New Roman" panose="02020603050405020304" pitchFamily="18" charset="0"/>
              <a:ea typeface="宋体" panose="02010600030101010101" pitchFamily="2" charset="-122"/>
            </a:endParaRPr>
          </a:p>
        </p:txBody>
      </p:sp>
      <p:pic>
        <p:nvPicPr>
          <p:cNvPr id="34818" name="图片 33798" descr="3-7"/>
          <p:cNvPicPr>
            <a:picLocks noChangeAspect="1"/>
          </p:cNvPicPr>
          <p:nvPr/>
        </p:nvPicPr>
        <p:blipFill>
          <a:blip r:embed="rId1"/>
          <a:stretch>
            <a:fillRect/>
          </a:stretch>
        </p:blipFill>
        <p:spPr>
          <a:xfrm>
            <a:off x="1714500" y="1481138"/>
            <a:ext cx="5715000" cy="3895725"/>
          </a:xfrm>
          <a:prstGeom prst="rect">
            <a:avLst/>
          </a:prstGeom>
          <a:noFill/>
          <a:ln w="9525">
            <a:noFill/>
          </a:ln>
        </p:spPr>
      </p:pic>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36867"/>
          <p:cNvSpPr txBox="1"/>
          <p:nvPr/>
        </p:nvSpPr>
        <p:spPr>
          <a:xfrm>
            <a:off x="228600" y="762000"/>
            <a:ext cx="8763000" cy="5203825"/>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一般实际运算中，总是先按自然顺序将输入序列存入存储单元，为了得到倒位序的排列，我们通过变址运算来完成。</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如果输入序列的自然顺序号</a:t>
            </a:r>
            <a:r>
              <a:rPr lang="en-US" altLang="zh-CN" i="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用二进制数（例如</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）表示，则其倒位序</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对应的二进制数就是（</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），这样，在原来自然顺序时应该放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的单元，现在倒位序后应放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例如</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的标号是</a:t>
            </a:r>
            <a:r>
              <a:rPr lang="en-US" altLang="zh-CN" i="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，它的二进制数是</a:t>
            </a:r>
            <a:r>
              <a:rPr lang="en-US" altLang="zh-CN" dirty="0">
                <a:latin typeface="Times New Roman" panose="02020603050405020304" pitchFamily="18" charset="0"/>
                <a:ea typeface="宋体" panose="02010600030101010101" pitchFamily="2" charset="-122"/>
              </a:rPr>
              <a:t>011</a:t>
            </a:r>
            <a:r>
              <a:rPr lang="zh-CN" altLang="en-US" dirty="0">
                <a:latin typeface="Times New Roman" panose="02020603050405020304" pitchFamily="18" charset="0"/>
                <a:ea typeface="宋体" panose="02010600030101010101" pitchFamily="2" charset="-122"/>
              </a:rPr>
              <a:t>，倒位序的二进制数是</a:t>
            </a:r>
            <a:r>
              <a:rPr lang="en-US" altLang="zh-CN" dirty="0">
                <a:latin typeface="Times New Roman" panose="02020603050405020304" pitchFamily="18" charset="0"/>
                <a:ea typeface="宋体" panose="02010600030101010101" pitchFamily="2" charset="-122"/>
              </a:rPr>
              <a:t>110</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J=6</a:t>
            </a:r>
            <a:r>
              <a:rPr lang="zh-CN" altLang="en-US" dirty="0">
                <a:latin typeface="Times New Roman" panose="02020603050405020304" pitchFamily="18" charset="0"/>
                <a:ea typeface="宋体" panose="02010600030101010101" pitchFamily="2" charset="-122"/>
              </a:rPr>
              <a:t>，所以原来存放在</a:t>
            </a:r>
            <a:r>
              <a:rPr lang="en-US" altLang="zh-CN" dirty="0">
                <a:latin typeface="Times New Roman" panose="02020603050405020304" pitchFamily="18" charset="0"/>
                <a:ea typeface="宋体" panose="02010600030101010101" pitchFamily="2" charset="-122"/>
              </a:rPr>
              <a:t>x(011)</a:t>
            </a:r>
            <a:r>
              <a:rPr lang="zh-CN" altLang="en-US" dirty="0">
                <a:latin typeface="Times New Roman" panose="02020603050405020304" pitchFamily="18" charset="0"/>
                <a:ea typeface="宋体" panose="02010600030101010101" pitchFamily="2" charset="-122"/>
              </a:rPr>
              <a:t>单元的数据现在应该存放在</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(110)</a:t>
            </a:r>
            <a:r>
              <a:rPr lang="zh-CN" altLang="en-US" dirty="0">
                <a:latin typeface="Times New Roman" panose="02020603050405020304" pitchFamily="18" charset="0"/>
                <a:ea typeface="宋体" panose="02010600030101010101" pitchFamily="2" charset="-122"/>
              </a:rPr>
              <a:t>内。表</a:t>
            </a:r>
            <a:r>
              <a:rPr lang="en-US" altLang="zh-CN" dirty="0">
                <a:latin typeface="Times New Roman" panose="02020603050405020304" pitchFamily="18" charset="0"/>
                <a:ea typeface="宋体" panose="02010600030101010101" pitchFamily="2" charset="-122"/>
              </a:rPr>
              <a:t>3-1</a:t>
            </a:r>
            <a:r>
              <a:rPr lang="zh-CN" altLang="en-US" dirty="0">
                <a:latin typeface="Times New Roman" panose="02020603050405020304" pitchFamily="18" charset="0"/>
                <a:ea typeface="宋体" panose="02010600030101010101" pitchFamily="2" charset="-122"/>
              </a:rPr>
              <a:t>列出了</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时的自然顺序二进制数以及相</a:t>
            </a:r>
            <a:r>
              <a:rPr lang="zh-CN" altLang="en-US" dirty="0">
                <a:latin typeface="Times New Roman" panose="02020603050405020304" pitchFamily="18" charset="0"/>
                <a:ea typeface="宋体" panose="02010600030101010101" pitchFamily="2" charset="-122"/>
              </a:rPr>
              <a:t>应的倒位序二进制数。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框 35843"/>
          <p:cNvSpPr txBox="1"/>
          <p:nvPr/>
        </p:nvSpPr>
        <p:spPr>
          <a:xfrm>
            <a:off x="685800" y="914400"/>
            <a:ext cx="8001000" cy="457200"/>
          </a:xfrm>
          <a:prstGeom prst="rect">
            <a:avLst/>
          </a:prstGeom>
          <a:noFill/>
          <a:ln w="9525">
            <a:noFill/>
          </a:ln>
        </p:spPr>
        <p:txBody>
          <a:bodyPr anchor="t">
            <a:spAutoFit/>
          </a:bodyPr>
          <a:p>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3-1 N=8</a:t>
            </a:r>
            <a:r>
              <a:rPr lang="zh-CN" altLang="en-US" b="1" dirty="0">
                <a:latin typeface="Times New Roman" panose="02020603050405020304" pitchFamily="18" charset="0"/>
                <a:ea typeface="宋体" panose="02010600030101010101" pitchFamily="2" charset="-122"/>
              </a:rPr>
              <a:t>时的自然顺序二进制数和相应的倒位序二进制</a:t>
            </a:r>
            <a:r>
              <a:rPr lang="zh-CN" altLang="en-US" b="1" dirty="0">
                <a:latin typeface="Times New Roman" panose="02020603050405020304" pitchFamily="18" charset="0"/>
                <a:ea typeface="宋体" panose="02010600030101010101" pitchFamily="2" charset="-122"/>
              </a:rPr>
              <a:t>数 </a:t>
            </a:r>
            <a:endParaRPr lang="zh-CN" altLang="en-US" b="1">
              <a:latin typeface="Times New Roman" panose="02020603050405020304" pitchFamily="18" charset="0"/>
              <a:ea typeface="宋体" panose="02010600030101010101" pitchFamily="2" charset="-122"/>
            </a:endParaRPr>
          </a:p>
        </p:txBody>
      </p:sp>
      <p:graphicFrame>
        <p:nvGraphicFramePr>
          <p:cNvPr id="35872" name="表格 35871"/>
          <p:cNvGraphicFramePr/>
          <p:nvPr/>
        </p:nvGraphicFramePr>
        <p:xfrm>
          <a:off x="752475" y="1727200"/>
          <a:ext cx="8001000" cy="3641725"/>
        </p:xfrm>
        <a:graphic>
          <a:graphicData uri="http://schemas.openxmlformats.org/drawingml/2006/table">
            <a:tbl>
              <a:tblPr/>
              <a:tblGrid>
                <a:gridCol w="2000250"/>
                <a:gridCol w="2000250"/>
                <a:gridCol w="2000250"/>
                <a:gridCol w="2000250"/>
              </a:tblGrid>
              <a:tr h="6858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zh-CN" altLang="en-US" sz="2000" dirty="0"/>
                        <a:t>自然顺序（</a:t>
                      </a:r>
                      <a:r>
                        <a:rPr lang="en-US" altLang="zh-CN" sz="2000"/>
                        <a:t>I</a:t>
                      </a:r>
                      <a:r>
                        <a:rPr lang="zh-CN" altLang="en-US" sz="2000"/>
                        <a:t>） </a:t>
                      </a:r>
                      <a:endParaRPr lang="zh-CN" altLang="en-US" sz="2000"/>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zh-CN" altLang="en-US" sz="2000" dirty="0"/>
                        <a:t>二进制数 </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zh-CN" altLang="en-US" sz="2000" dirty="0"/>
                        <a:t>倒位序二进制数 </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zh-CN" altLang="en-US" sz="2000" dirty="0"/>
                        <a:t>倒位序（</a:t>
                      </a:r>
                      <a:r>
                        <a:rPr lang="en-US" altLang="zh-CN" sz="2000" i="1"/>
                        <a:t>J</a:t>
                      </a:r>
                      <a:r>
                        <a:rPr lang="zh-CN" altLang="en-US" sz="2000"/>
                        <a:t>） </a:t>
                      </a:r>
                      <a:endParaRPr lang="zh-CN" altLang="en-US" sz="2000"/>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51163">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0</a:t>
                      </a:r>
                      <a:endParaRPr lang="en-US" altLang="zh-CN" sz="2000"/>
                    </a:p>
                    <a:p>
                      <a:pPr marL="0" lvl="0" indent="0" algn="ctr">
                        <a:buNone/>
                      </a:pPr>
                      <a:r>
                        <a:rPr lang="en-US" altLang="zh-CN" sz="2000"/>
                        <a:t>1</a:t>
                      </a:r>
                      <a:endParaRPr lang="en-US" altLang="zh-CN" sz="2000"/>
                    </a:p>
                    <a:p>
                      <a:pPr marL="0" lvl="0" indent="0" algn="ctr">
                        <a:buNone/>
                      </a:pPr>
                      <a:r>
                        <a:rPr lang="en-US" altLang="zh-CN" sz="2000"/>
                        <a:t>2</a:t>
                      </a:r>
                      <a:endParaRPr lang="en-US" altLang="zh-CN" sz="2000"/>
                    </a:p>
                    <a:p>
                      <a:pPr marL="0" lvl="0" indent="0" algn="ctr">
                        <a:buNone/>
                      </a:pPr>
                      <a:r>
                        <a:rPr lang="en-US" altLang="zh-CN" sz="2000"/>
                        <a:t>3</a:t>
                      </a:r>
                      <a:endParaRPr lang="en-US" altLang="zh-CN" sz="2000"/>
                    </a:p>
                    <a:p>
                      <a:pPr marL="0" lvl="0" indent="0" algn="ctr">
                        <a:buNone/>
                      </a:pPr>
                      <a:r>
                        <a:rPr lang="en-US" altLang="zh-CN" sz="2000"/>
                        <a:t>4</a:t>
                      </a:r>
                      <a:endParaRPr lang="en-US" altLang="zh-CN" sz="2000"/>
                    </a:p>
                    <a:p>
                      <a:pPr marL="0" lvl="0" indent="0" algn="ctr">
                        <a:buNone/>
                      </a:pPr>
                      <a:r>
                        <a:rPr lang="en-US" altLang="zh-CN" sz="2000"/>
                        <a:t>5</a:t>
                      </a:r>
                      <a:endParaRPr lang="en-US" altLang="zh-CN" sz="2000"/>
                    </a:p>
                    <a:p>
                      <a:pPr marL="0" lvl="0" indent="0" algn="ctr">
                        <a:buNone/>
                      </a:pPr>
                      <a:r>
                        <a:rPr lang="en-US" altLang="zh-CN" sz="2000"/>
                        <a:t>6</a:t>
                      </a:r>
                      <a:endParaRPr lang="en-US" altLang="zh-CN" sz="2000"/>
                    </a:p>
                    <a:p>
                      <a:pPr marL="0" lvl="0" indent="0" algn="ctr">
                        <a:buNone/>
                      </a:pPr>
                      <a:r>
                        <a:rPr lang="en-US" altLang="zh-CN" sz="2000"/>
                        <a:t>7</a:t>
                      </a:r>
                      <a:endParaRPr lang="zh-CN" altLang="en-US" sz="2000"/>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000</a:t>
                      </a:r>
                      <a:endParaRPr lang="en-US" altLang="zh-CN" sz="2000"/>
                    </a:p>
                    <a:p>
                      <a:pPr marL="0" lvl="0" indent="0" algn="ctr">
                        <a:buNone/>
                      </a:pPr>
                      <a:r>
                        <a:rPr lang="en-US" altLang="zh-CN" sz="2000"/>
                        <a:t>001</a:t>
                      </a:r>
                      <a:endParaRPr lang="en-US" altLang="zh-CN" sz="2000"/>
                    </a:p>
                    <a:p>
                      <a:pPr marL="0" lvl="0" indent="0" algn="ctr">
                        <a:buNone/>
                      </a:pPr>
                      <a:r>
                        <a:rPr lang="en-US" altLang="zh-CN" sz="2000"/>
                        <a:t>010</a:t>
                      </a:r>
                      <a:endParaRPr lang="en-US" altLang="zh-CN" sz="2000"/>
                    </a:p>
                    <a:p>
                      <a:pPr marL="0" lvl="0" indent="0" algn="ctr">
                        <a:buNone/>
                      </a:pPr>
                      <a:r>
                        <a:rPr lang="en-US" altLang="zh-CN" sz="2000"/>
                        <a:t>011</a:t>
                      </a:r>
                      <a:endParaRPr lang="en-US" altLang="zh-CN" sz="2000"/>
                    </a:p>
                    <a:p>
                      <a:pPr marL="0" lvl="0" indent="0" algn="ctr">
                        <a:buNone/>
                      </a:pPr>
                      <a:r>
                        <a:rPr lang="en-US" altLang="zh-CN" sz="2000"/>
                        <a:t>100</a:t>
                      </a:r>
                      <a:endParaRPr lang="en-US" altLang="zh-CN" sz="2000"/>
                    </a:p>
                    <a:p>
                      <a:pPr marL="0" lvl="0" indent="0" algn="ctr">
                        <a:buNone/>
                      </a:pPr>
                      <a:r>
                        <a:rPr lang="en-US" altLang="zh-CN" sz="2000"/>
                        <a:t>101</a:t>
                      </a:r>
                      <a:endParaRPr lang="en-US" altLang="zh-CN" sz="2000"/>
                    </a:p>
                    <a:p>
                      <a:pPr marL="0" lvl="0" indent="0" algn="ctr">
                        <a:buNone/>
                      </a:pPr>
                      <a:r>
                        <a:rPr lang="en-US" altLang="zh-CN" sz="2000"/>
                        <a:t>110</a:t>
                      </a:r>
                      <a:endParaRPr lang="en-US" altLang="zh-CN" sz="2000"/>
                    </a:p>
                    <a:p>
                      <a:pPr marL="0" lvl="0" indent="0" algn="ctr">
                        <a:buNone/>
                      </a:pPr>
                      <a:r>
                        <a:rPr lang="en-US" altLang="zh-CN" sz="2000"/>
                        <a:t>111</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000</a:t>
                      </a:r>
                      <a:endParaRPr lang="en-US" altLang="zh-CN" sz="2000"/>
                    </a:p>
                    <a:p>
                      <a:pPr marL="0" lvl="0" indent="0" algn="ctr">
                        <a:buNone/>
                      </a:pPr>
                      <a:r>
                        <a:rPr lang="en-US" altLang="zh-CN" sz="2000"/>
                        <a:t>100</a:t>
                      </a:r>
                      <a:endParaRPr lang="en-US" altLang="zh-CN" sz="2000"/>
                    </a:p>
                    <a:p>
                      <a:pPr marL="0" lvl="0" indent="0" algn="ctr">
                        <a:buNone/>
                      </a:pPr>
                      <a:r>
                        <a:rPr lang="en-US" altLang="zh-CN" sz="2000"/>
                        <a:t>010</a:t>
                      </a:r>
                      <a:endParaRPr lang="en-US" altLang="zh-CN" sz="2000"/>
                    </a:p>
                    <a:p>
                      <a:pPr marL="0" lvl="0" indent="0" algn="ctr">
                        <a:buNone/>
                      </a:pPr>
                      <a:r>
                        <a:rPr lang="en-US" altLang="zh-CN" sz="2000"/>
                        <a:t>110</a:t>
                      </a:r>
                      <a:endParaRPr lang="en-US" altLang="zh-CN" sz="2000"/>
                    </a:p>
                    <a:p>
                      <a:pPr marL="0" lvl="0" indent="0" algn="ctr">
                        <a:buNone/>
                      </a:pPr>
                      <a:r>
                        <a:rPr lang="en-US" altLang="zh-CN" sz="2000"/>
                        <a:t>001</a:t>
                      </a:r>
                      <a:endParaRPr lang="en-US" altLang="zh-CN" sz="2000"/>
                    </a:p>
                    <a:p>
                      <a:pPr marL="0" lvl="0" indent="0" algn="ctr">
                        <a:buNone/>
                      </a:pPr>
                      <a:r>
                        <a:rPr lang="en-US" altLang="zh-CN" sz="2000"/>
                        <a:t>101</a:t>
                      </a:r>
                      <a:endParaRPr lang="en-US" altLang="zh-CN" sz="2000"/>
                    </a:p>
                    <a:p>
                      <a:pPr marL="0" lvl="0" indent="0" algn="ctr">
                        <a:buNone/>
                      </a:pPr>
                      <a:r>
                        <a:rPr lang="en-US" altLang="zh-CN" sz="2000"/>
                        <a:t>011</a:t>
                      </a:r>
                      <a:endParaRPr lang="en-US" altLang="zh-CN" sz="2000"/>
                    </a:p>
                    <a:p>
                      <a:pPr marL="0" lvl="0" indent="0" algn="ctr">
                        <a:buNone/>
                      </a:pPr>
                      <a:r>
                        <a:rPr lang="en-US" altLang="zh-CN" sz="2000"/>
                        <a:t>111</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0</a:t>
                      </a:r>
                      <a:endParaRPr lang="en-US" altLang="zh-CN" sz="2000"/>
                    </a:p>
                    <a:p>
                      <a:pPr marL="0" lvl="0" indent="0" algn="ctr">
                        <a:buNone/>
                      </a:pPr>
                      <a:r>
                        <a:rPr lang="en-US" altLang="zh-CN" sz="2000"/>
                        <a:t>4</a:t>
                      </a:r>
                      <a:endParaRPr lang="en-US" altLang="zh-CN" sz="2000"/>
                    </a:p>
                    <a:p>
                      <a:pPr marL="0" lvl="0" indent="0" algn="ctr">
                        <a:buNone/>
                      </a:pPr>
                      <a:r>
                        <a:rPr lang="en-US" altLang="zh-CN" sz="2000"/>
                        <a:t>2</a:t>
                      </a:r>
                      <a:endParaRPr lang="en-US" altLang="zh-CN" sz="2000"/>
                    </a:p>
                    <a:p>
                      <a:pPr marL="0" lvl="0" indent="0" algn="ctr">
                        <a:buNone/>
                      </a:pPr>
                      <a:r>
                        <a:rPr lang="en-US" altLang="zh-CN" sz="2000"/>
                        <a:t>6</a:t>
                      </a:r>
                      <a:endParaRPr lang="en-US" altLang="zh-CN" sz="2000"/>
                    </a:p>
                    <a:p>
                      <a:pPr marL="0" lvl="0" indent="0" algn="ctr">
                        <a:buNone/>
                      </a:pPr>
                      <a:r>
                        <a:rPr lang="en-US" altLang="zh-CN" sz="2000"/>
                        <a:t>1</a:t>
                      </a:r>
                      <a:endParaRPr lang="en-US" altLang="zh-CN" sz="2000"/>
                    </a:p>
                    <a:p>
                      <a:pPr marL="0" lvl="0" indent="0" algn="ctr">
                        <a:buNone/>
                      </a:pPr>
                      <a:r>
                        <a:rPr lang="en-US" altLang="zh-CN" sz="2000"/>
                        <a:t>5</a:t>
                      </a:r>
                      <a:endParaRPr lang="en-US" altLang="zh-CN" sz="2000"/>
                    </a:p>
                    <a:p>
                      <a:pPr marL="0" lvl="0" indent="0" algn="ctr">
                        <a:buNone/>
                      </a:pPr>
                      <a:r>
                        <a:rPr lang="en-US" altLang="zh-CN" sz="2000"/>
                        <a:t>3</a:t>
                      </a:r>
                      <a:endParaRPr lang="en-US" altLang="zh-CN" sz="2000"/>
                    </a:p>
                    <a:p>
                      <a:pPr marL="0" lvl="0" indent="0" algn="ctr">
                        <a:buNone/>
                      </a:pPr>
                      <a:r>
                        <a:rPr lang="en-US" altLang="zh-CN" sz="2000"/>
                        <a:t>7</a:t>
                      </a:r>
                      <a:endParaRPr lang="zh-CN" altLang="en-US" sz="2000"/>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文本框 38915"/>
          <p:cNvSpPr txBox="1"/>
          <p:nvPr/>
        </p:nvSpPr>
        <p:spPr>
          <a:xfrm>
            <a:off x="304800" y="762000"/>
            <a:ext cx="8686800" cy="438150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由表</a:t>
            </a:r>
            <a:r>
              <a:rPr lang="en-US" altLang="zh-CN" dirty="0">
                <a:latin typeface="Times New Roman" panose="02020603050405020304" pitchFamily="18" charset="0"/>
                <a:ea typeface="宋体" panose="02010600030101010101" pitchFamily="2" charset="-122"/>
              </a:rPr>
              <a:t>3-1</a:t>
            </a:r>
            <a:r>
              <a:rPr lang="zh-CN" altLang="en-US" dirty="0">
                <a:latin typeface="Times New Roman" panose="02020603050405020304" pitchFamily="18" charset="0"/>
                <a:ea typeface="宋体" panose="02010600030101010101" pitchFamily="2" charset="-122"/>
              </a:rPr>
              <a:t>可见，自然顺序数</a:t>
            </a:r>
            <a:r>
              <a:rPr lang="en-US" altLang="zh-CN" i="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增加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，是在顺序数的二进制数最低位加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，向左进位。而倒序数</a:t>
            </a:r>
            <a:r>
              <a:rPr lang="en-US" altLang="zh-CN"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则是在二进制数最高位加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逢</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向右进位。 例如，在（</a:t>
            </a:r>
            <a:r>
              <a:rPr lang="en-US" altLang="zh-CN" dirty="0">
                <a:latin typeface="Times New Roman" panose="02020603050405020304" pitchFamily="18" charset="0"/>
                <a:ea typeface="宋体" panose="02010600030101010101" pitchFamily="2" charset="-122"/>
              </a:rPr>
              <a:t>000</a:t>
            </a:r>
            <a:r>
              <a:rPr lang="zh-CN" altLang="en-US" dirty="0">
                <a:latin typeface="Times New Roman" panose="02020603050405020304" pitchFamily="18" charset="0"/>
                <a:ea typeface="宋体" panose="02010600030101010101" pitchFamily="2" charset="-122"/>
              </a:rPr>
              <a:t>）最高位加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，则得（</a:t>
            </a:r>
            <a:r>
              <a:rPr lang="en-US" altLang="zh-CN" dirty="0">
                <a:latin typeface="Times New Roman" panose="02020603050405020304" pitchFamily="18" charset="0"/>
                <a:ea typeface="宋体" panose="02010600030101010101" pitchFamily="2" charset="-122"/>
              </a:rPr>
              <a:t>100</a:t>
            </a:r>
            <a:r>
              <a:rPr lang="zh-CN" altLang="en-US" dirty="0">
                <a:latin typeface="Times New Roman" panose="02020603050405020304" pitchFamily="18" charset="0"/>
                <a:ea typeface="宋体" panose="02010600030101010101" pitchFamily="2" charset="-122"/>
              </a:rPr>
              <a:t>），再在（</a:t>
            </a:r>
            <a:r>
              <a:rPr lang="en-US" altLang="zh-CN" dirty="0">
                <a:latin typeface="Times New Roman" panose="02020603050405020304" pitchFamily="18" charset="0"/>
                <a:ea typeface="宋体" panose="02010600030101010101" pitchFamily="2" charset="-122"/>
              </a:rPr>
              <a:t>100</a:t>
            </a:r>
            <a:r>
              <a:rPr lang="zh-CN" altLang="en-US" dirty="0">
                <a:latin typeface="Times New Roman" panose="02020603050405020304" pitchFamily="18" charset="0"/>
                <a:ea typeface="宋体" panose="02010600030101010101" pitchFamily="2" charset="-122"/>
              </a:rPr>
              <a:t>）最高位加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，向右进位，则得（</a:t>
            </a:r>
            <a:r>
              <a:rPr lang="en-US" altLang="zh-CN" dirty="0">
                <a:latin typeface="Times New Roman" panose="02020603050405020304" pitchFamily="18" charset="0"/>
                <a:ea typeface="宋体" panose="02010600030101010101" pitchFamily="2" charset="-122"/>
              </a:rPr>
              <a:t>010</a:t>
            </a:r>
            <a:r>
              <a:rPr lang="zh-CN" altLang="en-US" dirty="0">
                <a:latin typeface="Times New Roman" panose="02020603050405020304" pitchFamily="18" charset="0"/>
                <a:ea typeface="宋体" panose="02010600030101010101" pitchFamily="2" charset="-122"/>
              </a:rPr>
              <a:t>）。因（</a:t>
            </a:r>
            <a:r>
              <a:rPr lang="en-US" altLang="zh-CN" dirty="0">
                <a:latin typeface="Times New Roman" panose="02020603050405020304" pitchFamily="18" charset="0"/>
                <a:ea typeface="宋体" panose="02010600030101010101" pitchFamily="2" charset="-122"/>
              </a:rPr>
              <a:t>100</a:t>
            </a:r>
            <a:r>
              <a:rPr lang="zh-CN" altLang="en-US" dirty="0">
                <a:latin typeface="Times New Roman" panose="02020603050405020304" pitchFamily="18" charset="0"/>
                <a:ea typeface="宋体" panose="02010600030101010101" pitchFamily="2" charset="-122"/>
              </a:rPr>
              <a:t>）最高位为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所以最高位加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要向次高位进位， 其实质是将最高位变为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，再在次高位加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。用这种算法，可以从当前任</a:t>
            </a:r>
            <a:r>
              <a:rPr lang="zh-CN" altLang="en-US" dirty="0">
                <a:latin typeface="Times New Roman" panose="02020603050405020304" pitchFamily="18" charset="0"/>
                <a:ea typeface="宋体" panose="02010600030101010101" pitchFamily="2" charset="-122"/>
              </a:rPr>
              <a:t>一倒序值求得下一个倒序值。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913" name="组合 37896"/>
          <p:cNvGrpSpPr/>
          <p:nvPr/>
        </p:nvGrpSpPr>
        <p:grpSpPr>
          <a:xfrm>
            <a:off x="228600" y="685800"/>
            <a:ext cx="8686800" cy="4759325"/>
            <a:chOff x="144" y="432"/>
            <a:chExt cx="5472" cy="2998"/>
          </a:xfrm>
        </p:grpSpPr>
        <p:sp>
          <p:nvSpPr>
            <p:cNvPr id="38914" name="文本框 37891"/>
            <p:cNvSpPr txBox="1"/>
            <p:nvPr/>
          </p:nvSpPr>
          <p:spPr>
            <a:xfrm>
              <a:off x="144" y="432"/>
              <a:ext cx="5472" cy="2998"/>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对于</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为二进制数最高位，其权值为</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，且从左向右二进制位的权值依次为</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a:t>
              </a:r>
              <a:r>
                <a:rPr lang="en-US" altLang="zh-CN">
                  <a:latin typeface="Courier New" panose="02070309020205020404" pitchFamily="49"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因此，最高位加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相当于十进制运算</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。如果最高位是</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&lt;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），则直接由</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得下一个倒序值；如果最高位是</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），则要将最高位变为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     </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），次高位加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）。但次高位加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时，同样要判断次高位</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值，如果为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&lt;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），则直接加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    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否则， 将次高位变为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    J</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），再</a:t>
              </a:r>
              <a:r>
                <a:rPr lang="zh-CN" altLang="en-US" dirty="0">
                  <a:latin typeface="Times New Roman" panose="02020603050405020304" pitchFamily="18" charset="0"/>
                  <a:ea typeface="宋体" panose="02010600030101010101" pitchFamily="2" charset="-122"/>
                </a:rPr>
                <a:t>判断下一位；以此类推，直到完成最高位加</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，逢</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向右进位的运算。 </a:t>
              </a:r>
              <a:endParaRPr lang="zh-CN" altLang="en-US">
                <a:latin typeface="Times New Roman" panose="02020603050405020304" pitchFamily="18" charset="0"/>
                <a:ea typeface="宋体" panose="02010600030101010101" pitchFamily="2" charset="-122"/>
              </a:endParaRPr>
            </a:p>
          </p:txBody>
        </p:sp>
        <p:sp>
          <p:nvSpPr>
            <p:cNvPr id="38915" name="左箭头 37892"/>
            <p:cNvSpPr/>
            <p:nvPr/>
          </p:nvSpPr>
          <p:spPr>
            <a:xfrm>
              <a:off x="1412" y="2112"/>
              <a:ext cx="192" cy="96"/>
            </a:xfrm>
            <a:prstGeom prst="lef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sp>
          <p:nvSpPr>
            <p:cNvPr id="38916" name="左箭头 37893"/>
            <p:cNvSpPr/>
            <p:nvPr/>
          </p:nvSpPr>
          <p:spPr>
            <a:xfrm>
              <a:off x="3587" y="2820"/>
              <a:ext cx="192" cy="96"/>
            </a:xfrm>
            <a:prstGeom prst="lef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sp>
          <p:nvSpPr>
            <p:cNvPr id="38917" name="左箭头 37894"/>
            <p:cNvSpPr/>
            <p:nvPr/>
          </p:nvSpPr>
          <p:spPr>
            <a:xfrm>
              <a:off x="524" y="2820"/>
              <a:ext cx="192" cy="96"/>
            </a:xfrm>
            <a:prstGeom prst="lef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gr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40963"/>
          <p:cNvSpPr txBox="1"/>
          <p:nvPr/>
        </p:nvSpPr>
        <p:spPr>
          <a:xfrm>
            <a:off x="228600" y="609600"/>
            <a:ext cx="8686800" cy="5278438"/>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把按自然顺序存放在存储单元中的数据，换成</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原位运算流图所要求的倒位序的变址功能如图</a:t>
            </a:r>
            <a:r>
              <a:rPr lang="en-US" altLang="zh-CN" dirty="0">
                <a:latin typeface="Times New Roman" panose="02020603050405020304" pitchFamily="18" charset="0"/>
                <a:ea typeface="宋体" panose="02010600030101010101" pitchFamily="2" charset="-122"/>
              </a:rPr>
              <a:t>3-8</a:t>
            </a:r>
            <a:r>
              <a:rPr lang="zh-CN" altLang="en-US" dirty="0">
                <a:latin typeface="Times New Roman" panose="02020603050405020304" pitchFamily="18" charset="0"/>
                <a:ea typeface="宋体" panose="02010600030101010101" pitchFamily="2" charset="-122"/>
              </a:rPr>
              <a:t>所示，当</a:t>
            </a:r>
            <a:r>
              <a:rPr lang="en-US" altLang="zh-CN" i="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时，不必调换，当</a:t>
            </a:r>
            <a:r>
              <a:rPr lang="en-US" altLang="zh-CN" i="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时， 必须将原来存放数据</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的存储单元内调入数据</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，而将存放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的存储单元内调入</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。为了避免把已调换过的数据再次调换，保证只调换一次（否则又回到原状），我们只需看</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是否比</a:t>
            </a:r>
            <a:r>
              <a:rPr lang="en-US" altLang="zh-CN" i="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小。若</a:t>
            </a:r>
            <a:r>
              <a:rPr lang="en-US" altLang="zh-CN" i="1">
                <a:latin typeface="Times New Roman" panose="02020603050405020304" pitchFamily="18" charset="0"/>
                <a:ea typeface="宋体" panose="02010600030101010101" pitchFamily="2" charset="-122"/>
              </a:rPr>
              <a:t>J</a:t>
            </a:r>
            <a:r>
              <a:rPr lang="zh-CN" altLang="en-US">
                <a:latin typeface="Times New Roman" panose="02020603050405020304" pitchFamily="18" charset="0"/>
                <a:ea typeface="宋体" panose="02010600030101010101" pitchFamily="2" charset="-122"/>
              </a:rPr>
              <a:t>比</a:t>
            </a:r>
            <a:r>
              <a:rPr lang="en-US" altLang="zh-CN" i="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小，则意味着此</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在前边已和</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互相调换过，不必再调换了</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只有当</a:t>
            </a:r>
            <a:r>
              <a:rPr lang="en-US" altLang="zh-CN" i="1">
                <a:latin typeface="Times New Roman" panose="02020603050405020304" pitchFamily="18" charset="0"/>
                <a:ea typeface="宋体" panose="02010600030101010101" pitchFamily="2" charset="-122"/>
              </a:rPr>
              <a:t>J</a:t>
            </a:r>
            <a:r>
              <a:rPr lang="en-US" altLang="zh-CN">
                <a:latin typeface="Times New Roman" panose="02020603050405020304" pitchFamily="18" charset="0"/>
                <a:ea typeface="宋体" panose="02010600030101010101" pitchFamily="2" charset="-122"/>
              </a:rPr>
              <a:t>&gt;</a:t>
            </a:r>
            <a:r>
              <a:rPr lang="en-US" altLang="zh-CN" i="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时，才将原存放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及存放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的存储单元内的内容互换。这样就得到输入所需</a:t>
            </a:r>
            <a:r>
              <a:rPr lang="zh-CN" altLang="en-US" dirty="0">
                <a:latin typeface="Times New Roman" panose="02020603050405020304" pitchFamily="18" charset="0"/>
                <a:ea typeface="宋体" panose="02010600030101010101" pitchFamily="2" charset="-122"/>
              </a:rPr>
              <a:t>的倒位序列的顺序。可以看出，其结果与图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的要求是一致的。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文本框 39939"/>
          <p:cNvSpPr txBox="1"/>
          <p:nvPr/>
        </p:nvSpPr>
        <p:spPr>
          <a:xfrm>
            <a:off x="2667000" y="5229225"/>
            <a:ext cx="41656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a:latin typeface="Times New Roman" panose="02020603050405020304" pitchFamily="18" charset="0"/>
                <a:ea typeface="宋体" panose="02010600030101010101" pitchFamily="2" charset="-122"/>
              </a:rPr>
              <a:t>3-8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倒位序的变址处理 </a:t>
            </a:r>
            <a:endParaRPr lang="zh-CN" altLang="en-US">
              <a:latin typeface="Times New Roman" panose="02020603050405020304" pitchFamily="18" charset="0"/>
              <a:ea typeface="宋体" panose="02010600030101010101" pitchFamily="2" charset="-122"/>
            </a:endParaRPr>
          </a:p>
        </p:txBody>
      </p:sp>
      <p:pic>
        <p:nvPicPr>
          <p:cNvPr id="40962" name="图片 39942" descr="3-8"/>
          <p:cNvPicPr>
            <a:picLocks noChangeAspect="1"/>
          </p:cNvPicPr>
          <p:nvPr/>
        </p:nvPicPr>
        <p:blipFill>
          <a:blip r:embed="rId1"/>
          <a:stretch>
            <a:fillRect/>
          </a:stretch>
        </p:blipFill>
        <p:spPr>
          <a:xfrm>
            <a:off x="1714500" y="2414588"/>
            <a:ext cx="5715000" cy="2028825"/>
          </a:xfrm>
          <a:prstGeom prst="rect">
            <a:avLst/>
          </a:prstGeom>
          <a:noFill/>
          <a:ln w="9525">
            <a:noFill/>
          </a:ln>
        </p:spPr>
      </p:pic>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43011"/>
          <p:cNvSpPr txBox="1"/>
          <p:nvPr/>
        </p:nvSpPr>
        <p:spPr>
          <a:xfrm>
            <a:off x="228600" y="762000"/>
            <a:ext cx="8686800" cy="4360863"/>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3. </a:t>
            </a:r>
            <a:r>
              <a:rPr lang="zh-CN" altLang="en-US" b="1" dirty="0">
                <a:latin typeface="Times New Roman" panose="02020603050405020304" pitchFamily="18" charset="0"/>
                <a:ea typeface="宋体" panose="02010600030101010101" pitchFamily="2" charset="-122"/>
              </a:rPr>
              <a:t>蝶形运算两节点的“距离”</a:t>
            </a:r>
            <a:endParaRPr lang="zh-CN" altLang="en-US">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以图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为例，其输入是倒位序的，输出是自然顺序的。 其第一级（第一列）每个蝶形的两节点间“距离”为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第二级每个蝶形的两节点“距离”为</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第三级每个蝶形的两节点“距离”为</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 由此类推得，对</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，当输入为倒位序， 输出为正常</a:t>
            </a:r>
            <a:r>
              <a:rPr lang="zh-CN" altLang="en-US" dirty="0">
                <a:latin typeface="Times New Roman" panose="02020603050405020304" pitchFamily="18" charset="0"/>
                <a:ea typeface="宋体" panose="02010600030101010101" pitchFamily="2" charset="-122"/>
              </a:rPr>
              <a:t>顺序时，其</a:t>
            </a:r>
            <a:r>
              <a:rPr lang="zh-CN" altLang="en-US" b="1" dirty="0">
                <a:solidFill>
                  <a:srgbClr val="FF0000"/>
                </a:solidFill>
                <a:latin typeface="Times New Roman" panose="02020603050405020304" pitchFamily="18" charset="0"/>
                <a:ea typeface="宋体" panose="02010600030101010101" pitchFamily="2" charset="-122"/>
              </a:rPr>
              <a:t>第</a:t>
            </a:r>
            <a:r>
              <a:rPr lang="en-US" altLang="zh-CN" b="1" i="1">
                <a:solidFill>
                  <a:srgbClr val="FF0000"/>
                </a:solidFill>
                <a:latin typeface="Times New Roman" panose="02020603050405020304" pitchFamily="18" charset="0"/>
                <a:ea typeface="宋体" panose="02010600030101010101" pitchFamily="2" charset="-122"/>
              </a:rPr>
              <a:t>m</a:t>
            </a:r>
            <a:r>
              <a:rPr lang="zh-CN" altLang="en-US" b="1" dirty="0">
                <a:solidFill>
                  <a:srgbClr val="FF0000"/>
                </a:solidFill>
                <a:latin typeface="Times New Roman" panose="02020603050405020304" pitchFamily="18" charset="0"/>
                <a:ea typeface="宋体" panose="02010600030101010101" pitchFamily="2" charset="-122"/>
              </a:rPr>
              <a:t>级运算，每个蝶形的两节点“距离”为</a:t>
            </a:r>
            <a:r>
              <a:rPr lang="en-US" altLang="zh-CN" b="1">
                <a:solidFill>
                  <a:srgbClr val="FF0000"/>
                </a:solidFill>
                <a:latin typeface="Times New Roman" panose="02020603050405020304" pitchFamily="18" charset="0"/>
                <a:ea typeface="宋体" panose="02010600030101010101" pitchFamily="2" charset="-122"/>
              </a:rPr>
              <a:t>2</a:t>
            </a:r>
            <a:r>
              <a:rPr lang="en-US" altLang="zh-CN" b="1" i="1" baseline="30000">
                <a:solidFill>
                  <a:srgbClr val="FF0000"/>
                </a:solidFill>
                <a:latin typeface="Times New Roman" panose="02020603050405020304" pitchFamily="18" charset="0"/>
                <a:ea typeface="宋体" panose="02010600030101010101" pitchFamily="2" charset="-122"/>
              </a:rPr>
              <a:t>m</a:t>
            </a:r>
            <a:r>
              <a:rPr lang="en-US" altLang="zh-CN" b="1" baseline="30000">
                <a:solidFill>
                  <a:srgbClr val="FF0000"/>
                </a:solidFill>
                <a:latin typeface="Times New Roman" panose="02020603050405020304" pitchFamily="18" charset="0"/>
                <a:ea typeface="宋体" panose="02010600030101010101" pitchFamily="2" charset="-122"/>
              </a:rPr>
              <a:t>-1</a:t>
            </a:r>
            <a:r>
              <a:rPr lang="zh-CN" altLang="en-US" b="1">
                <a:solidFill>
                  <a:srgbClr val="FF0000"/>
                </a:solidFill>
                <a:latin typeface="Times New Roman" panose="02020603050405020304" pitchFamily="18" charset="0"/>
                <a:ea typeface="宋体" panose="02010600030101010101" pitchFamily="2" charset="-122"/>
              </a:rPr>
              <a:t>。 </a:t>
            </a:r>
            <a:endParaRPr lang="zh-CN" altLang="en-US"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文本框 41987"/>
          <p:cNvSpPr txBox="1"/>
          <p:nvPr/>
        </p:nvSpPr>
        <p:spPr>
          <a:xfrm>
            <a:off x="76200" y="501650"/>
            <a:ext cx="8915400" cy="17843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err="1">
                <a:latin typeface="Times New Roman" panose="02020603050405020304" pitchFamily="18" charset="0"/>
                <a:ea typeface="宋体" panose="02010600030101010101" pitchFamily="2" charset="-122"/>
              </a:rPr>
              <a:t>4. W</a:t>
            </a:r>
            <a:r>
              <a:rPr lang="en-US" altLang="zh-CN" b="1" i="1" baseline="-25000" err="1">
                <a:latin typeface="Times New Roman" panose="02020603050405020304" pitchFamily="18" charset="0"/>
                <a:ea typeface="宋体" panose="02010600030101010101" pitchFamily="2" charset="-122"/>
              </a:rPr>
              <a:t>N</a:t>
            </a:r>
            <a:r>
              <a:rPr lang="en-US" altLang="zh-CN" b="1" baseline="30000" err="1">
                <a:latin typeface="Times New Roman" panose="02020603050405020304" pitchFamily="18" charset="0"/>
                <a:ea typeface="宋体" panose="02010600030101010101" pitchFamily="2" charset="-122"/>
              </a:rPr>
              <a:t>r</a:t>
            </a:r>
            <a:r>
              <a:rPr lang="zh-CN" altLang="en-US" b="1" dirty="0">
                <a:latin typeface="Times New Roman" panose="02020603050405020304" pitchFamily="18" charset="0"/>
                <a:ea typeface="宋体" panose="02010600030101010101" pitchFamily="2" charset="-122"/>
              </a:rPr>
              <a:t>的确定</a:t>
            </a:r>
            <a:endParaRPr lang="zh-CN" altLang="en-US" b="1"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由于对第</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级运算，一个</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蝶形运算的两节点“距离”为</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baseline="30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因而式（</a:t>
            </a:r>
            <a:r>
              <a:rPr lang="en-US" altLang="zh-CN">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-21</a:t>
            </a:r>
            <a:r>
              <a:rPr lang="zh-CN" altLang="en-US" dirty="0">
                <a:latin typeface="Times New Roman" panose="02020603050405020304" pitchFamily="18" charset="0"/>
                <a:ea typeface="宋体" panose="02010600030101010101" pitchFamily="2" charset="-122"/>
              </a:rPr>
              <a:t>）可写成</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43010" name="对象 41988"/>
          <p:cNvGraphicFramePr/>
          <p:nvPr/>
        </p:nvGraphicFramePr>
        <p:xfrm>
          <a:off x="838200" y="2438400"/>
          <a:ext cx="6400800" cy="1347788"/>
        </p:xfrm>
        <a:graphic>
          <a:graphicData uri="http://schemas.openxmlformats.org/presentationml/2006/ole">
            <mc:AlternateContent xmlns:mc="http://schemas.openxmlformats.org/markup-compatibility/2006">
              <mc:Choice xmlns:v="urn:schemas-microsoft-com:vml" Requires="v">
                <p:oleObj spid="_x0000_s3107" name="" r:id="rId1" imgW="2654300" imgH="558800" progId="Equation.3">
                  <p:embed/>
                </p:oleObj>
              </mc:Choice>
              <mc:Fallback>
                <p:oleObj name="" r:id="rId1" imgW="2654300" imgH="558800" progId="Equation.3">
                  <p:embed/>
                  <p:pic>
                    <p:nvPicPr>
                      <p:cNvPr id="0" name="图片 3106"/>
                      <p:cNvPicPr/>
                      <p:nvPr/>
                    </p:nvPicPr>
                    <p:blipFill>
                      <a:blip r:embed="rId2"/>
                      <a:stretch>
                        <a:fillRect/>
                      </a:stretch>
                    </p:blipFill>
                    <p:spPr>
                      <a:xfrm>
                        <a:off x="838200" y="2438400"/>
                        <a:ext cx="6400800" cy="1347788"/>
                      </a:xfrm>
                      <a:prstGeom prst="rect">
                        <a:avLst/>
                      </a:prstGeom>
                      <a:noFill/>
                      <a:ln w="38100">
                        <a:noFill/>
                        <a:miter/>
                      </a:ln>
                    </p:spPr>
                  </p:pic>
                </p:oleObj>
              </mc:Fallback>
            </mc:AlternateContent>
          </a:graphicData>
        </a:graphic>
      </p:graphicFrame>
      <p:sp>
        <p:nvSpPr>
          <p:cNvPr id="43011" name="文本框 41989"/>
          <p:cNvSpPr txBox="1"/>
          <p:nvPr/>
        </p:nvSpPr>
        <p:spPr>
          <a:xfrm>
            <a:off x="7620000" y="2479675"/>
            <a:ext cx="15509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3-22a</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43012" name="文本框 41990"/>
          <p:cNvSpPr txBox="1"/>
          <p:nvPr/>
        </p:nvSpPr>
        <p:spPr>
          <a:xfrm>
            <a:off x="7593013" y="3276600"/>
            <a:ext cx="15684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3-22b</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43013" name="文本框 41991"/>
          <p:cNvSpPr txBox="1"/>
          <p:nvPr/>
        </p:nvSpPr>
        <p:spPr>
          <a:xfrm>
            <a:off x="228600" y="3886200"/>
            <a:ext cx="8763000" cy="2311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为了完成上两式运算，还必须知道系数</a:t>
            </a:r>
            <a:r>
              <a:rPr lang="zh-CN" altLang="en-US" i="1" dirty="0">
                <a:latin typeface="Times New Roman" panose="02020603050405020304" pitchFamily="18" charset="0"/>
                <a:ea typeface="宋体" panose="02010600030101010101" pitchFamily="2" charset="-122"/>
              </a:rPr>
              <a:t>Ｗ</a:t>
            </a:r>
            <a:r>
              <a:rPr lang="en-US" altLang="zh-CN" i="1" baseline="-25000">
                <a:latin typeface="Times New Roman" panose="02020603050405020304" pitchFamily="18" charset="0"/>
                <a:ea typeface="宋体" panose="02010600030101010101" pitchFamily="2" charset="-122"/>
              </a:rPr>
              <a:t>N</a:t>
            </a:r>
            <a:r>
              <a:rPr lang="en-US" altLang="zh-CN" i="1" baseline="30000">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的变换规律。仔细观察图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的流图可以发现</a:t>
            </a:r>
            <a:r>
              <a:rPr lang="en-US" altLang="zh-CN" dirty="0">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的变换规律是：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① </a:t>
            </a:r>
            <a:r>
              <a:rPr lang="zh-CN" altLang="en-US" dirty="0">
                <a:latin typeface="Times New Roman" panose="02020603050405020304" pitchFamily="18" charset="0"/>
                <a:ea typeface="宋体" panose="02010600030101010101" pitchFamily="2" charset="-122"/>
              </a:rPr>
              <a:t>把式（</a:t>
            </a:r>
            <a:r>
              <a:rPr lang="en-US" altLang="zh-CN" dirty="0">
                <a:latin typeface="Times New Roman" panose="02020603050405020304" pitchFamily="18" charset="0"/>
                <a:ea typeface="宋体" panose="02010600030101010101" pitchFamily="2" charset="-122"/>
              </a:rPr>
              <a:t>3-22</a:t>
            </a:r>
            <a:r>
              <a:rPr lang="zh-CN" altLang="en-US" dirty="0">
                <a:latin typeface="Times New Roman" panose="02020603050405020304" pitchFamily="18" charset="0"/>
                <a:ea typeface="宋体" panose="02010600030101010101" pitchFamily="2" charset="-122"/>
              </a:rPr>
              <a:t>）中蝶形运算两节点中的第一个节点标号值， 即</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值，</a:t>
            </a:r>
            <a:r>
              <a:rPr lang="zh-CN" altLang="en-US" dirty="0">
                <a:latin typeface="Times New Roman" panose="02020603050405020304" pitchFamily="18" charset="0"/>
                <a:ea typeface="宋体" panose="02010600030101010101" pitchFamily="2" charset="-122"/>
              </a:rPr>
              <a:t>表示成</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位（注意</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）二进制数；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4033" name="组合 45061"/>
          <p:cNvGrpSpPr/>
          <p:nvPr/>
        </p:nvGrpSpPr>
        <p:grpSpPr>
          <a:xfrm>
            <a:off x="381000" y="685800"/>
            <a:ext cx="8458200" cy="4121150"/>
            <a:chOff x="240" y="432"/>
            <a:chExt cx="5328" cy="2596"/>
          </a:xfrm>
        </p:grpSpPr>
        <p:sp>
          <p:nvSpPr>
            <p:cNvPr id="44034" name="文本框 45059"/>
            <p:cNvSpPr txBox="1"/>
            <p:nvPr/>
          </p:nvSpPr>
          <p:spPr>
            <a:xfrm>
              <a:off x="240" y="432"/>
              <a:ext cx="5328" cy="2500"/>
            </a:xfrm>
            <a:prstGeom prst="rect">
              <a:avLst/>
            </a:prstGeom>
            <a:noFill/>
            <a:ln w="9525">
              <a:noFill/>
            </a:ln>
          </p:spPr>
          <p:txBody>
            <a:bodyPr anchor="t">
              <a:spAutoFit/>
            </a:bodyPr>
            <a:p>
              <a:pPr algn="just">
                <a:lnSpc>
                  <a:spcPct val="200000"/>
                </a:lnSpc>
                <a:spcBef>
                  <a:spcPct val="50000"/>
                </a:spcBef>
              </a:pPr>
              <a:r>
                <a:rPr lang="en-US" altLang="zh-CN" dirty="0">
                  <a:latin typeface="Times New Roman" panose="02020603050405020304" pitchFamily="18" charset="0"/>
                  <a:ea typeface="宋体" panose="02010600030101010101" pitchFamily="2" charset="-122"/>
                </a:rPr>
                <a:t>        ② </a:t>
              </a:r>
              <a:r>
                <a:rPr lang="zh-CN" altLang="en-US" dirty="0">
                  <a:latin typeface="Times New Roman" panose="02020603050405020304" pitchFamily="18" charset="0"/>
                  <a:ea typeface="宋体" panose="02010600030101010101" pitchFamily="2" charset="-122"/>
                </a:rPr>
                <a:t>把此二进制数乘上</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，即将此</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位二进制数左移</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位（注意</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是第</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级运算），把右边空出的位置补零， 此数即为所求</a:t>
              </a:r>
              <a:r>
                <a:rPr lang="en-US" altLang="zh-CN" dirty="0">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的二进制数。  </a:t>
              </a:r>
              <a:endParaRPr lang="zh-CN" altLang="en-US" dirty="0">
                <a:latin typeface="Times New Roman" panose="02020603050405020304" pitchFamily="18" charset="0"/>
                <a:ea typeface="宋体" panose="02010600030101010101" pitchFamily="2" charset="-122"/>
              </a:endParaRPr>
            </a:p>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         从图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看出，</a:t>
              </a:r>
              <a:r>
                <a:rPr lang="en-US" altLang="zh-CN" i="1" err="1">
                  <a:latin typeface="Times New Roman" panose="02020603050405020304" pitchFamily="18" charset="0"/>
                  <a:ea typeface="宋体" panose="02010600030101010101" pitchFamily="2" charset="-122"/>
                </a:rPr>
                <a:t>W</a:t>
              </a:r>
              <a:r>
                <a:rPr lang="en-US" altLang="zh-CN" i="1" baseline="-25000" err="1">
                  <a:latin typeface="Times New Roman" panose="02020603050405020304" pitchFamily="18" charset="0"/>
                  <a:ea typeface="宋体" panose="02010600030101010101" pitchFamily="2" charset="-122"/>
                </a:rPr>
                <a:t>N</a:t>
              </a:r>
              <a:r>
                <a:rPr lang="en-US" altLang="zh-CN" i="1" baseline="30000" err="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因子最后一列有</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种，顺序为</a:t>
              </a:r>
              <a:r>
                <a:rPr lang="en-US" altLang="zh-CN">
                  <a:latin typeface="Times New Roman" panose="02020603050405020304" pitchFamily="18" charset="0"/>
                  <a:ea typeface="宋体" panose="02010600030101010101" pitchFamily="2" charset="-122"/>
                </a:rPr>
                <a:t>W</a:t>
              </a:r>
              <a:r>
                <a:rPr lang="en-US" altLang="zh-CN" i="1" baseline="-25000">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W</a:t>
              </a:r>
              <a:r>
                <a:rPr lang="en-US" altLang="zh-CN" i="1" baseline="-25000">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a:latin typeface="Courier New" panose="02070309020205020404" pitchFamily="49"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 其</a:t>
              </a:r>
              <a:r>
                <a:rPr lang="zh-CN" altLang="en-US" dirty="0">
                  <a:latin typeface="Times New Roman" panose="02020603050405020304" pitchFamily="18" charset="0"/>
                  <a:ea typeface="宋体" panose="02010600030101010101" pitchFamily="2" charset="-122"/>
                </a:rPr>
                <a:t>余可类推。 </a:t>
              </a:r>
              <a:endParaRPr lang="zh-CN" altLang="en-US">
                <a:latin typeface="Times New Roman" panose="02020603050405020304" pitchFamily="18" charset="0"/>
                <a:ea typeface="宋体" panose="02010600030101010101" pitchFamily="2" charset="-122"/>
              </a:endParaRPr>
            </a:p>
          </p:txBody>
        </p:sp>
        <p:graphicFrame>
          <p:nvGraphicFramePr>
            <p:cNvPr id="44035" name="对象 45060"/>
            <p:cNvGraphicFramePr/>
            <p:nvPr/>
          </p:nvGraphicFramePr>
          <p:xfrm>
            <a:off x="1104" y="2448"/>
            <a:ext cx="720" cy="580"/>
          </p:xfrm>
          <a:graphic>
            <a:graphicData uri="http://schemas.openxmlformats.org/presentationml/2006/ole">
              <mc:AlternateContent xmlns:mc="http://schemas.openxmlformats.org/markup-compatibility/2006">
                <mc:Choice xmlns:v="urn:schemas-microsoft-com:vml" Requires="v">
                  <p:oleObj spid="_x0000_s3106" name="" r:id="rId1" imgW="457200" imgH="368300" progId="Equation.3">
                    <p:embed/>
                  </p:oleObj>
                </mc:Choice>
                <mc:Fallback>
                  <p:oleObj name="" r:id="rId1" imgW="457200" imgH="368300" progId="Equation.3">
                    <p:embed/>
                    <p:pic>
                      <p:nvPicPr>
                        <p:cNvPr id="0" name="图片 3105"/>
                        <p:cNvPicPr/>
                        <p:nvPr/>
                      </p:nvPicPr>
                      <p:blipFill>
                        <a:blip r:embed="rId2"/>
                        <a:stretch>
                          <a:fillRect/>
                        </a:stretch>
                      </p:blipFill>
                      <p:spPr>
                        <a:xfrm>
                          <a:off x="1104" y="2448"/>
                          <a:ext cx="720" cy="580"/>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文本框 44038"/>
          <p:cNvSpPr txBox="1"/>
          <p:nvPr/>
        </p:nvSpPr>
        <p:spPr>
          <a:xfrm>
            <a:off x="827088" y="684213"/>
            <a:ext cx="7991475" cy="3414712"/>
          </a:xfrm>
          <a:prstGeom prst="rect">
            <a:avLst/>
          </a:prstGeom>
          <a:noFill/>
          <a:ln w="9525">
            <a:noFill/>
          </a:ln>
        </p:spPr>
        <p:txBody>
          <a:bodyPr anchor="t">
            <a:spAutoFit/>
          </a:bodyPr>
          <a:p>
            <a:pPr>
              <a:lnSpc>
                <a:spcPct val="130000"/>
              </a:lnSpc>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5. DIT-FFT</a:t>
            </a:r>
            <a:r>
              <a:rPr lang="zh-CN" altLang="en-US" b="1" dirty="0">
                <a:latin typeface="Times New Roman" panose="02020603050405020304" pitchFamily="18" charset="0"/>
                <a:ea typeface="宋体" panose="02010600030101010101" pitchFamily="2" charset="-122"/>
              </a:rPr>
              <a:t>程序框图</a:t>
            </a:r>
            <a:endParaRPr lang="zh-CN" altLang="en-US" b="1" dirty="0">
              <a:latin typeface="Times New Roman" panose="02020603050405020304" pitchFamily="18" charset="0"/>
              <a:ea typeface="宋体" panose="02010600030101010101" pitchFamily="2" charset="-122"/>
            </a:endParaRPr>
          </a:p>
          <a:p>
            <a:pPr>
              <a:lnSpc>
                <a:spcPct val="130000"/>
              </a:lnSpc>
            </a:pPr>
            <a:r>
              <a:rPr lang="zh-CN" altLang="en-US"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总结上述运算规律，便可采用下述运算方法。 先从输入端（第一级）开始，逐级进行，共进行</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级运算。 在进行</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级运算时，依次求出</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baseline="30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个不同的系数</a:t>
            </a:r>
            <a:r>
              <a:rPr lang="en-US" altLang="zh-CN" err="1">
                <a:latin typeface="Times New Roman" panose="02020603050405020304" pitchFamily="18" charset="0"/>
                <a:ea typeface="宋体" panose="02010600030101010101" pitchFamily="2" charset="-122"/>
              </a:rPr>
              <a:t>W</a:t>
            </a:r>
            <a:r>
              <a:rPr lang="en-US" altLang="zh-CN" i="1" baseline="30000" err="1">
                <a:latin typeface="Times New Roman" panose="02020603050405020304" pitchFamily="18" charset="0"/>
                <a:ea typeface="宋体" panose="02010600030101010101" pitchFamily="2" charset="-122"/>
              </a:rPr>
              <a:t>r</a:t>
            </a:r>
            <a:r>
              <a:rPr lang="en-US" altLang="zh-CN" baseline="-25000" err="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，每求出一个系数，就计算完它对应的所有</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baseline="30000">
                <a:latin typeface="Times New Roman" panose="02020603050405020304" pitchFamily="18" charset="0"/>
                <a:ea typeface="宋体" panose="02010600030101010101" pitchFamily="2" charset="-122"/>
              </a:rPr>
              <a:t>-</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个蝶形。这样，我们可用三重循环程序实现</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 程序框图如图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所示。 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中倒序运算程序框图见图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框 305155"/>
          <p:cNvSpPr txBox="1"/>
          <p:nvPr/>
        </p:nvSpPr>
        <p:spPr>
          <a:xfrm>
            <a:off x="2843213" y="5851525"/>
            <a:ext cx="408781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3-9 DIT-FFT</a:t>
            </a:r>
            <a:r>
              <a:rPr lang="zh-CN" altLang="en-US" dirty="0">
                <a:latin typeface="Times New Roman" panose="02020603050405020304" pitchFamily="18" charset="0"/>
                <a:ea typeface="宋体" panose="02010600030101010101" pitchFamily="2" charset="-122"/>
              </a:rPr>
              <a:t>运算程序框图 </a:t>
            </a:r>
            <a:endParaRPr lang="zh-CN" altLang="en-US">
              <a:latin typeface="Times New Roman" panose="02020603050405020304" pitchFamily="18" charset="0"/>
              <a:ea typeface="宋体" panose="02010600030101010101" pitchFamily="2" charset="-122"/>
            </a:endParaRPr>
          </a:p>
        </p:txBody>
      </p:sp>
      <p:pic>
        <p:nvPicPr>
          <p:cNvPr id="46082" name="图片 305157" descr="3-9"/>
          <p:cNvPicPr>
            <a:picLocks noChangeAspect="1"/>
          </p:cNvPicPr>
          <p:nvPr/>
        </p:nvPicPr>
        <p:blipFill>
          <a:blip r:embed="rId1"/>
          <a:stretch>
            <a:fillRect/>
          </a:stretch>
        </p:blipFill>
        <p:spPr>
          <a:xfrm>
            <a:off x="3419475" y="692150"/>
            <a:ext cx="2411413" cy="5095875"/>
          </a:xfrm>
          <a:prstGeom prst="rect">
            <a:avLst/>
          </a:prstGeom>
          <a:noFill/>
          <a:ln w="9525">
            <a:noFill/>
          </a:ln>
        </p:spPr>
      </p:pic>
      <p:sp>
        <p:nvSpPr>
          <p:cNvPr id="4" name="椭圆 3"/>
          <p:cNvSpPr/>
          <p:nvPr/>
        </p:nvSpPr>
        <p:spPr>
          <a:xfrm>
            <a:off x="4211638" y="1014413"/>
            <a:ext cx="1655763" cy="1235075"/>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 name="椭圆 4"/>
          <p:cNvSpPr/>
          <p:nvPr/>
        </p:nvSpPr>
        <p:spPr>
          <a:xfrm>
            <a:off x="4211638" y="2349500"/>
            <a:ext cx="1546225" cy="719138"/>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6" name="椭圆 5"/>
          <p:cNvSpPr/>
          <p:nvPr/>
        </p:nvSpPr>
        <p:spPr>
          <a:xfrm>
            <a:off x="4175125" y="3068638"/>
            <a:ext cx="1655763" cy="1368425"/>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文本框 47107"/>
          <p:cNvSpPr txBox="1"/>
          <p:nvPr/>
        </p:nvSpPr>
        <p:spPr>
          <a:xfrm>
            <a:off x="3419475" y="5876925"/>
            <a:ext cx="310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3-10 </a:t>
            </a:r>
            <a:r>
              <a:rPr lang="zh-CN" altLang="en-US" dirty="0">
                <a:latin typeface="Times New Roman" panose="02020603050405020304" pitchFamily="18" charset="0"/>
                <a:ea typeface="宋体" panose="02010600030101010101" pitchFamily="2" charset="-122"/>
              </a:rPr>
              <a:t>倒序程序框图 </a:t>
            </a:r>
            <a:endParaRPr lang="zh-CN" altLang="en-US">
              <a:latin typeface="Times New Roman" panose="02020603050405020304" pitchFamily="18" charset="0"/>
              <a:ea typeface="宋体" panose="02010600030101010101" pitchFamily="2" charset="-122"/>
            </a:endParaRPr>
          </a:p>
        </p:txBody>
      </p:sp>
      <p:pic>
        <p:nvPicPr>
          <p:cNvPr id="47106" name="图片 47110" descr="3-10"/>
          <p:cNvPicPr>
            <a:picLocks noChangeAspect="1"/>
          </p:cNvPicPr>
          <p:nvPr/>
        </p:nvPicPr>
        <p:blipFill>
          <a:blip r:embed="rId1"/>
          <a:stretch>
            <a:fillRect/>
          </a:stretch>
        </p:blipFill>
        <p:spPr>
          <a:xfrm>
            <a:off x="3057525" y="765175"/>
            <a:ext cx="3397250" cy="4806950"/>
          </a:xfrm>
          <a:prstGeom prst="rect">
            <a:avLst/>
          </a:prstGeom>
          <a:noFill/>
          <a:ln w="9525">
            <a:noFill/>
          </a:ln>
        </p:spPr>
      </p:pic>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框 46083"/>
          <p:cNvSpPr txBox="1"/>
          <p:nvPr/>
        </p:nvSpPr>
        <p:spPr>
          <a:xfrm>
            <a:off x="228600" y="606425"/>
            <a:ext cx="8610600" cy="5489575"/>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3.3.4  </a:t>
            </a:r>
            <a:r>
              <a:rPr lang="zh-CN" altLang="en-US" b="1" dirty="0">
                <a:latin typeface="Times New Roman" panose="02020603050405020304" pitchFamily="18" charset="0"/>
                <a:ea typeface="宋体" panose="02010600030101010101" pitchFamily="2" charset="-122"/>
              </a:rPr>
              <a:t>按时间抽取的</a:t>
            </a:r>
            <a:r>
              <a:rPr lang="en-US" altLang="zh-CN" b="1" dirty="0">
                <a:latin typeface="Times New Roman" panose="02020603050405020304" pitchFamily="18" charset="0"/>
                <a:ea typeface="宋体" panose="02010600030101010101" pitchFamily="2" charset="-122"/>
              </a:rPr>
              <a:t>FFT</a:t>
            </a:r>
            <a:r>
              <a:rPr lang="zh-CN" altLang="en-US" b="1" dirty="0">
                <a:latin typeface="Times New Roman" panose="02020603050405020304" pitchFamily="18" charset="0"/>
                <a:ea typeface="宋体" panose="02010600030101010101" pitchFamily="2" charset="-122"/>
              </a:rPr>
              <a:t>算法的其他形式流图</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显然，对于任何流图，只要保持各节点所连的支路及传输系数不变，则不论节点位置怎么排列所得流图总是等效的，所得最后结果都是</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的正确结果，只是数据的提取和存放的次序不同而已。这样就可得到按时间抽取的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算法的若干其他形式流图。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将图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中和</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水平相连的所有节点和</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水平相连的所有节点位置对调，再将和</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水平相连的所有节点与和</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水平相连的所有节点对调，其余诸节点保持不变，可得图</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的流图。  图</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与图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的蝶形相同，运算量也一样，不同点是：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9153" name="组合 49162"/>
          <p:cNvGrpSpPr/>
          <p:nvPr/>
        </p:nvGrpSpPr>
        <p:grpSpPr>
          <a:xfrm>
            <a:off x="323850" y="609600"/>
            <a:ext cx="8610600" cy="5551488"/>
            <a:chOff x="204" y="384"/>
            <a:chExt cx="5424" cy="3497"/>
          </a:xfrm>
        </p:grpSpPr>
        <p:sp>
          <p:nvSpPr>
            <p:cNvPr id="49154" name="文本框 49155"/>
            <p:cNvSpPr txBox="1"/>
            <p:nvPr/>
          </p:nvSpPr>
          <p:spPr>
            <a:xfrm>
              <a:off x="204" y="384"/>
              <a:ext cx="5424" cy="3497"/>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数据存放的方式不同，图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是输入倒位序、输出自然顺序，图</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是输入自然顺序、输出倒位序；</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）取用系数的顺序不同，图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的最后一列是按                                       		     的顺序取用系数，且其前一列所用系数是后一列所用系数中具有偶数幂的那些系数（例如	      ）；图</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是最后一列是按                           的顺序取用系数，且其前一列</a:t>
              </a:r>
              <a:r>
                <a:rPr lang="zh-CN" altLang="en-US" dirty="0">
                  <a:latin typeface="Times New Roman" panose="02020603050405020304" pitchFamily="18" charset="0"/>
                  <a:ea typeface="宋体" panose="02010600030101010101" pitchFamily="2" charset="-122"/>
                </a:rPr>
                <a:t>所用系数是后一列所用系数的前一半， 这种流图是最初由库利和图基给出的时间抽取法。</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经过简单变换，也可得输入与输出都是按自然顺序排列的流图以及其他各种形式的流图 。</a:t>
              </a:r>
              <a:endParaRPr lang="zh-CN" altLang="en-US">
                <a:latin typeface="Times New Roman" panose="02020603050405020304" pitchFamily="18" charset="0"/>
                <a:ea typeface="宋体" panose="02010600030101010101" pitchFamily="2" charset="-122"/>
              </a:endParaRPr>
            </a:p>
          </p:txBody>
        </p:sp>
        <p:graphicFrame>
          <p:nvGraphicFramePr>
            <p:cNvPr id="49155" name="对象 49156"/>
            <p:cNvGraphicFramePr/>
            <p:nvPr/>
          </p:nvGraphicFramePr>
          <p:xfrm>
            <a:off x="348" y="1536"/>
            <a:ext cx="1344" cy="332"/>
          </p:xfrm>
          <a:graphic>
            <a:graphicData uri="http://schemas.openxmlformats.org/presentationml/2006/ole">
              <mc:AlternateContent xmlns:mc="http://schemas.openxmlformats.org/markup-compatibility/2006">
                <mc:Choice xmlns:v="urn:schemas-microsoft-com:vml" Requires="v">
                  <p:oleObj spid="_x0000_s3108" name="" r:id="rId1" imgW="977265" imgH="241300" progId="Equation.3">
                    <p:embed/>
                  </p:oleObj>
                </mc:Choice>
                <mc:Fallback>
                  <p:oleObj name="" r:id="rId1" imgW="977265" imgH="241300" progId="Equation.3">
                    <p:embed/>
                    <p:pic>
                      <p:nvPicPr>
                        <p:cNvPr id="0" name="图片 3107"/>
                        <p:cNvPicPr/>
                        <p:nvPr/>
                      </p:nvPicPr>
                      <p:blipFill>
                        <a:blip r:embed="rId2"/>
                        <a:stretch>
                          <a:fillRect/>
                        </a:stretch>
                      </p:blipFill>
                      <p:spPr>
                        <a:xfrm>
                          <a:off x="348" y="1536"/>
                          <a:ext cx="1344" cy="332"/>
                        </a:xfrm>
                        <a:prstGeom prst="rect">
                          <a:avLst/>
                        </a:prstGeom>
                        <a:noFill/>
                        <a:ln w="38100">
                          <a:noFill/>
                          <a:miter/>
                        </a:ln>
                      </p:spPr>
                    </p:pic>
                  </p:oleObj>
                </mc:Fallback>
              </mc:AlternateContent>
            </a:graphicData>
          </a:graphic>
        </p:graphicFrame>
        <p:graphicFrame>
          <p:nvGraphicFramePr>
            <p:cNvPr id="49156" name="对象 49157"/>
            <p:cNvGraphicFramePr/>
            <p:nvPr/>
          </p:nvGraphicFramePr>
          <p:xfrm>
            <a:off x="3932" y="1783"/>
            <a:ext cx="926" cy="332"/>
          </p:xfrm>
          <a:graphic>
            <a:graphicData uri="http://schemas.openxmlformats.org/presentationml/2006/ole">
              <mc:AlternateContent xmlns:mc="http://schemas.openxmlformats.org/markup-compatibility/2006">
                <mc:Choice xmlns:v="urn:schemas-microsoft-com:vml" Requires="v">
                  <p:oleObj spid="_x0000_s3109" name="" r:id="rId3" imgW="673100" imgH="241300" progId="Equation.3">
                    <p:embed/>
                  </p:oleObj>
                </mc:Choice>
                <mc:Fallback>
                  <p:oleObj name="" r:id="rId3" imgW="673100" imgH="241300" progId="Equation.3">
                    <p:embed/>
                    <p:pic>
                      <p:nvPicPr>
                        <p:cNvPr id="0" name="图片 3108"/>
                        <p:cNvPicPr/>
                        <p:nvPr/>
                      </p:nvPicPr>
                      <p:blipFill>
                        <a:blip r:embed="rId4"/>
                        <a:stretch>
                          <a:fillRect/>
                        </a:stretch>
                      </p:blipFill>
                      <p:spPr>
                        <a:xfrm>
                          <a:off x="3932" y="1783"/>
                          <a:ext cx="926" cy="332"/>
                        </a:xfrm>
                        <a:prstGeom prst="rect">
                          <a:avLst/>
                        </a:prstGeom>
                        <a:noFill/>
                        <a:ln w="38100">
                          <a:noFill/>
                          <a:miter/>
                        </a:ln>
                      </p:spPr>
                    </p:pic>
                  </p:oleObj>
                </mc:Fallback>
              </mc:AlternateContent>
            </a:graphicData>
          </a:graphic>
        </p:graphicFrame>
        <p:graphicFrame>
          <p:nvGraphicFramePr>
            <p:cNvPr id="49157" name="对象 49158"/>
            <p:cNvGraphicFramePr/>
            <p:nvPr/>
          </p:nvGraphicFramePr>
          <p:xfrm>
            <a:off x="1602" y="2115"/>
            <a:ext cx="1344" cy="332"/>
          </p:xfrm>
          <a:graphic>
            <a:graphicData uri="http://schemas.openxmlformats.org/presentationml/2006/ole">
              <mc:AlternateContent xmlns:mc="http://schemas.openxmlformats.org/markup-compatibility/2006">
                <mc:Choice xmlns:v="urn:schemas-microsoft-com:vml" Requires="v">
                  <p:oleObj spid="_x0000_s3110" name="" r:id="rId5" imgW="977265" imgH="241300" progId="Equation.3">
                    <p:embed/>
                  </p:oleObj>
                </mc:Choice>
                <mc:Fallback>
                  <p:oleObj name="" r:id="rId5" imgW="977265" imgH="241300" progId="Equation.3">
                    <p:embed/>
                    <p:pic>
                      <p:nvPicPr>
                        <p:cNvPr id="0" name="图片 3109"/>
                        <p:cNvPicPr/>
                        <p:nvPr/>
                      </p:nvPicPr>
                      <p:blipFill>
                        <a:blip r:embed="rId6"/>
                        <a:stretch>
                          <a:fillRect/>
                        </a:stretch>
                      </p:blipFill>
                      <p:spPr>
                        <a:xfrm>
                          <a:off x="1602" y="2115"/>
                          <a:ext cx="1344" cy="332"/>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48132"/>
          <p:cNvSpPr txBox="1"/>
          <p:nvPr/>
        </p:nvSpPr>
        <p:spPr>
          <a:xfrm>
            <a:off x="636588" y="5867400"/>
            <a:ext cx="805021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3-11 </a:t>
            </a:r>
            <a:r>
              <a:rPr lang="zh-CN" altLang="en-US" dirty="0">
                <a:latin typeface="Times New Roman" panose="02020603050405020304" pitchFamily="18" charset="0"/>
                <a:ea typeface="宋体" panose="02010600030101010101" pitchFamily="2" charset="-122"/>
              </a:rPr>
              <a:t>时间抽取、 输入自然顺序、 输出倒位序的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流图 </a:t>
            </a:r>
            <a:endParaRPr lang="zh-CN" altLang="en-US">
              <a:latin typeface="Times New Roman" panose="02020603050405020304" pitchFamily="18" charset="0"/>
              <a:ea typeface="宋体" panose="02010600030101010101" pitchFamily="2" charset="-122"/>
            </a:endParaRPr>
          </a:p>
        </p:txBody>
      </p:sp>
      <p:sp>
        <p:nvSpPr>
          <p:cNvPr id="50178" name="动作按钮: 后退或前一项 48134">
            <a:hlinkClick r:id="" action="ppaction://hlinkshowjump?jump=firstslide"/>
          </p:cNvPr>
          <p:cNvSpPr/>
          <p:nvPr/>
        </p:nvSpPr>
        <p:spPr>
          <a:xfrm>
            <a:off x="8534400" y="6470650"/>
            <a:ext cx="6096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pic>
        <p:nvPicPr>
          <p:cNvPr id="50179" name="图片 48136" descr="3-11"/>
          <p:cNvPicPr>
            <a:picLocks noChangeAspect="1"/>
          </p:cNvPicPr>
          <p:nvPr/>
        </p:nvPicPr>
        <p:blipFill>
          <a:blip r:embed="rId1"/>
          <a:stretch>
            <a:fillRect/>
          </a:stretch>
        </p:blipFill>
        <p:spPr>
          <a:xfrm>
            <a:off x="2109788" y="1285875"/>
            <a:ext cx="4924425" cy="4286250"/>
          </a:xfrm>
          <a:prstGeom prst="rect">
            <a:avLst/>
          </a:prstGeom>
          <a:noFill/>
          <a:ln w="9525">
            <a:noFill/>
          </a:ln>
        </p:spPr>
      </p:pic>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2447925" y="4509135"/>
            <a:ext cx="4248785" cy="1025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2339975" y="5661025"/>
            <a:ext cx="4248785" cy="1196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1691640" y="3161030"/>
            <a:ext cx="5688965" cy="1203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2195830" y="2204720"/>
            <a:ext cx="5184775" cy="575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201" name="文本框 52227"/>
          <p:cNvSpPr txBox="1"/>
          <p:nvPr/>
        </p:nvSpPr>
        <p:spPr>
          <a:xfrm>
            <a:off x="1066800" y="457200"/>
            <a:ext cx="7361238"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3.4 </a:t>
            </a:r>
            <a:r>
              <a:rPr lang="zh-CN" altLang="en-US" sz="3200" b="1" dirty="0">
                <a:latin typeface="Times New Roman" panose="02020603050405020304" pitchFamily="18" charset="0"/>
                <a:ea typeface="宋体" panose="02010600030101010101" pitchFamily="2" charset="-122"/>
              </a:rPr>
              <a:t>按频率抽取（</a:t>
            </a:r>
            <a:r>
              <a:rPr lang="en-US" altLang="zh-CN" sz="3200" b="1" dirty="0">
                <a:latin typeface="Times New Roman" panose="02020603050405020304" pitchFamily="18" charset="0"/>
                <a:ea typeface="宋体" panose="02010600030101010101" pitchFamily="2" charset="-122"/>
              </a:rPr>
              <a:t>DIF</a:t>
            </a:r>
            <a:r>
              <a:rPr lang="zh-CN" altLang="en-US" sz="3200" b="1" dirty="0">
                <a:latin typeface="Times New Roman" panose="02020603050405020304" pitchFamily="18" charset="0"/>
                <a:ea typeface="宋体" panose="02010600030101010101" pitchFamily="2" charset="-122"/>
              </a:rPr>
              <a:t>）的基 </a:t>
            </a:r>
            <a:r>
              <a:rPr lang="en-US" altLang="zh-CN" sz="3200" b="1" dirty="0">
                <a:latin typeface="Times New Roman" panose="02020603050405020304" pitchFamily="18" charset="0"/>
                <a:ea typeface="宋体" panose="02010600030101010101" pitchFamily="2" charset="-122"/>
              </a:rPr>
              <a:t>-2 FFT</a:t>
            </a:r>
            <a:r>
              <a:rPr lang="zh-CN" altLang="en-US" sz="3200" b="1" dirty="0">
                <a:latin typeface="Times New Roman" panose="02020603050405020304" pitchFamily="18" charset="0"/>
                <a:ea typeface="宋体" panose="02010600030101010101" pitchFamily="2" charset="-122"/>
              </a:rPr>
              <a:t>算法 </a:t>
            </a:r>
            <a:endParaRPr lang="zh-CN" altLang="en-US" sz="3200" b="1">
              <a:latin typeface="Times New Roman" panose="02020603050405020304" pitchFamily="18" charset="0"/>
              <a:ea typeface="宋体" panose="02010600030101010101" pitchFamily="2" charset="-122"/>
            </a:endParaRPr>
          </a:p>
        </p:txBody>
      </p:sp>
      <p:sp>
        <p:nvSpPr>
          <p:cNvPr id="51202" name="文本框 52228"/>
          <p:cNvSpPr txBox="1"/>
          <p:nvPr/>
        </p:nvSpPr>
        <p:spPr>
          <a:xfrm>
            <a:off x="228600" y="990600"/>
            <a:ext cx="8686800" cy="2311400"/>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3.4.1 </a:t>
            </a:r>
            <a:r>
              <a:rPr lang="zh-CN" altLang="en-US" b="1" dirty="0">
                <a:latin typeface="Times New Roman" panose="02020603050405020304" pitchFamily="18" charset="0"/>
                <a:ea typeface="宋体" panose="02010600030101010101" pitchFamily="2" charset="-122"/>
              </a:rPr>
              <a:t>算法原理</a:t>
            </a:r>
            <a:endParaRPr lang="zh-CN" altLang="en-US" b="1">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仍设序列点数为</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为正整数。在把输出</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按</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的奇偶分组之前，</a:t>
            </a:r>
            <a:r>
              <a:rPr lang="zh-CN" altLang="en-US" b="1" dirty="0">
                <a:solidFill>
                  <a:srgbClr val="C00000"/>
                </a:solidFill>
                <a:latin typeface="Times New Roman" panose="02020603050405020304" pitchFamily="18" charset="0"/>
                <a:ea typeface="宋体" panose="02010600030101010101" pitchFamily="2" charset="-122"/>
              </a:rPr>
              <a:t>先把输入序</a:t>
            </a:r>
            <a:r>
              <a:rPr lang="zh-CN" altLang="en-US" b="1" dirty="0">
                <a:solidFill>
                  <a:srgbClr val="C00000"/>
                </a:solidFill>
                <a:latin typeface="Times New Roman" panose="02020603050405020304" pitchFamily="18" charset="0"/>
                <a:ea typeface="宋体" panose="02010600030101010101" pitchFamily="2" charset="-122"/>
              </a:rPr>
              <a:t>列按前一半、后一半分开</a:t>
            </a:r>
            <a:r>
              <a:rPr lang="zh-CN" altLang="en-US" dirty="0">
                <a:latin typeface="Times New Roman" panose="02020603050405020304" pitchFamily="18" charset="0"/>
                <a:ea typeface="宋体" panose="02010600030101010101" pitchFamily="2" charset="-122"/>
              </a:rPr>
              <a:t>（不是按偶数、 奇数分开）， 把</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写成两部分。 </a:t>
            </a:r>
            <a:endParaRPr lang="zh-CN" altLang="en-US">
              <a:latin typeface="Times New Roman" panose="02020603050405020304" pitchFamily="18" charset="0"/>
              <a:ea typeface="宋体" panose="02010600030101010101" pitchFamily="2" charset="-122"/>
            </a:endParaRPr>
          </a:p>
        </p:txBody>
      </p:sp>
      <p:graphicFrame>
        <p:nvGraphicFramePr>
          <p:cNvPr id="51203" name="对象 52229"/>
          <p:cNvGraphicFramePr/>
          <p:nvPr/>
        </p:nvGraphicFramePr>
        <p:xfrm>
          <a:off x="1752600" y="3124200"/>
          <a:ext cx="5562600" cy="3692525"/>
        </p:xfrm>
        <a:graphic>
          <a:graphicData uri="http://schemas.openxmlformats.org/presentationml/2006/ole">
            <mc:AlternateContent xmlns:mc="http://schemas.openxmlformats.org/markup-compatibility/2006">
              <mc:Choice xmlns:v="urn:schemas-microsoft-com:vml" Requires="v">
                <p:oleObj spid="_x0000_s3111" name="" r:id="rId1" imgW="2908300" imgH="1930400" progId="Equation.3">
                  <p:embed/>
                </p:oleObj>
              </mc:Choice>
              <mc:Fallback>
                <p:oleObj name="" r:id="rId1" imgW="2908300" imgH="1930400" progId="Equation.3">
                  <p:embed/>
                  <p:pic>
                    <p:nvPicPr>
                      <p:cNvPr id="0" name="图片 3110"/>
                      <p:cNvPicPr/>
                      <p:nvPr/>
                    </p:nvPicPr>
                    <p:blipFill>
                      <a:blip r:embed="rId2"/>
                      <a:stretch>
                        <a:fillRect/>
                      </a:stretch>
                    </p:blipFill>
                    <p:spPr>
                      <a:xfrm>
                        <a:off x="1752600" y="3124200"/>
                        <a:ext cx="5562600" cy="3692525"/>
                      </a:xfrm>
                      <a:prstGeom prst="rect">
                        <a:avLst/>
                      </a:prstGeom>
                      <a:noFill/>
                      <a:ln w="38100">
                        <a:noFill/>
                        <a:miter/>
                      </a:ln>
                    </p:spPr>
                  </p:pic>
                </p:oleObj>
              </mc:Fallback>
            </mc:AlternateContent>
          </a:graphicData>
        </a:graphic>
      </p:graphicFrame>
      <p:sp>
        <p:nvSpPr>
          <p:cNvPr id="51204" name="文本框 52230"/>
          <p:cNvSpPr txBox="1"/>
          <p:nvPr/>
        </p:nvSpPr>
        <p:spPr>
          <a:xfrm>
            <a:off x="6781800" y="6172200"/>
            <a:ext cx="2090738" cy="457200"/>
          </a:xfrm>
          <a:prstGeom prst="rect">
            <a:avLst/>
          </a:prstGeom>
          <a:solidFill>
            <a:schemeClr val="bg1"/>
          </a:solidFill>
          <a:ln w="9525">
            <a:noFill/>
          </a:ln>
        </p:spPr>
        <p:txBody>
          <a:bodyPr wrap="none" anchor="t">
            <a:spAutoFit/>
          </a:bodyPr>
          <a:p>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4" name="椭圆 3"/>
          <p:cNvSpPr/>
          <p:nvPr/>
        </p:nvSpPr>
        <p:spPr>
          <a:xfrm>
            <a:off x="5772150" y="5889625"/>
            <a:ext cx="922338" cy="927100"/>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 name="下箭头 4"/>
          <p:cNvSpPr/>
          <p:nvPr/>
        </p:nvSpPr>
        <p:spPr>
          <a:xfrm rot="2400000">
            <a:off x="5349875" y="4093845"/>
            <a:ext cx="220980" cy="991235"/>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204720" y="5734685"/>
            <a:ext cx="4466590" cy="1123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1331595" y="4219575"/>
            <a:ext cx="5069205" cy="1236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52225" name="组合 51208"/>
          <p:cNvGrpSpPr/>
          <p:nvPr/>
        </p:nvGrpSpPr>
        <p:grpSpPr>
          <a:xfrm>
            <a:off x="152400" y="685800"/>
            <a:ext cx="8839200" cy="1235076"/>
            <a:chOff x="96" y="432"/>
            <a:chExt cx="5568" cy="778"/>
          </a:xfrm>
        </p:grpSpPr>
        <p:sp>
          <p:nvSpPr>
            <p:cNvPr id="52226" name="文本框 51203"/>
            <p:cNvSpPr txBox="1"/>
            <p:nvPr/>
          </p:nvSpPr>
          <p:spPr>
            <a:xfrm>
              <a:off x="96" y="432"/>
              <a:ext cx="5568" cy="680"/>
            </a:xfrm>
            <a:prstGeom prst="rect">
              <a:avLst/>
            </a:prstGeom>
            <a:noFill/>
            <a:ln w="9525">
              <a:noFill/>
            </a:ln>
          </p:spPr>
          <p:txBody>
            <a:bodyPr anchor="t">
              <a:spAutoFit/>
            </a:bodyPr>
            <a:p>
              <a:pPr algn="just">
                <a:lnSpc>
                  <a:spcPct val="135000"/>
                </a:lnSpc>
                <a:spcBef>
                  <a:spcPct val="50000"/>
                </a:spcBef>
              </a:pPr>
              <a:r>
                <a:rPr lang="zh-CN" altLang="en-US" dirty="0">
                  <a:latin typeface="Times New Roman" panose="02020603050405020304" pitchFamily="18" charset="0"/>
                  <a:ea typeface="宋体" panose="02010600030101010101" pitchFamily="2" charset="-122"/>
                </a:rPr>
                <a:t>式中，用的是        ，而不是        ，因而这并不是</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由于                    ，故			，可得</a:t>
              </a:r>
              <a:endParaRPr lang="zh-CN" altLang="en-US">
                <a:latin typeface="Times New Roman" panose="02020603050405020304" pitchFamily="18" charset="0"/>
                <a:ea typeface="宋体" panose="02010600030101010101" pitchFamily="2" charset="-122"/>
              </a:endParaRPr>
            </a:p>
          </p:txBody>
        </p:sp>
        <p:graphicFrame>
          <p:nvGraphicFramePr>
            <p:cNvPr id="52227" name="对象 51204"/>
            <p:cNvGraphicFramePr/>
            <p:nvPr/>
          </p:nvGraphicFramePr>
          <p:xfrm>
            <a:off x="1304" y="480"/>
            <a:ext cx="376" cy="325"/>
          </p:xfrm>
          <a:graphic>
            <a:graphicData uri="http://schemas.openxmlformats.org/presentationml/2006/ole">
              <mc:AlternateContent xmlns:mc="http://schemas.openxmlformats.org/markup-compatibility/2006">
                <mc:Choice xmlns:v="urn:schemas-microsoft-com:vml" Requires="v">
                  <p:oleObj spid="_x0000_s3112" name="" r:id="rId1" imgW="279400" imgH="241300" progId="Equation.3">
                    <p:embed/>
                  </p:oleObj>
                </mc:Choice>
                <mc:Fallback>
                  <p:oleObj name="" r:id="rId1" imgW="279400" imgH="241300" progId="Equation.3">
                    <p:embed/>
                    <p:pic>
                      <p:nvPicPr>
                        <p:cNvPr id="0" name="图片 3111"/>
                        <p:cNvPicPr/>
                        <p:nvPr/>
                      </p:nvPicPr>
                      <p:blipFill>
                        <a:blip r:embed="rId2"/>
                        <a:stretch>
                          <a:fillRect/>
                        </a:stretch>
                      </p:blipFill>
                      <p:spPr>
                        <a:xfrm>
                          <a:off x="1304" y="480"/>
                          <a:ext cx="376" cy="325"/>
                        </a:xfrm>
                        <a:prstGeom prst="rect">
                          <a:avLst/>
                        </a:prstGeom>
                        <a:noFill/>
                        <a:ln w="38100">
                          <a:noFill/>
                          <a:miter/>
                        </a:ln>
                      </p:spPr>
                    </p:pic>
                  </p:oleObj>
                </mc:Fallback>
              </mc:AlternateContent>
            </a:graphicData>
          </a:graphic>
        </p:graphicFrame>
        <p:graphicFrame>
          <p:nvGraphicFramePr>
            <p:cNvPr id="52228" name="对象 51205"/>
            <p:cNvGraphicFramePr/>
            <p:nvPr/>
          </p:nvGraphicFramePr>
          <p:xfrm>
            <a:off x="2526" y="480"/>
            <a:ext cx="445" cy="325"/>
          </p:xfrm>
          <a:graphic>
            <a:graphicData uri="http://schemas.openxmlformats.org/presentationml/2006/ole">
              <mc:AlternateContent xmlns:mc="http://schemas.openxmlformats.org/markup-compatibility/2006">
                <mc:Choice xmlns:v="urn:schemas-microsoft-com:vml" Requires="v">
                  <p:oleObj spid="_x0000_s3113" name="" r:id="rId3" imgW="330200" imgH="241300" progId="Equation.3">
                    <p:embed/>
                  </p:oleObj>
                </mc:Choice>
                <mc:Fallback>
                  <p:oleObj name="" r:id="rId3" imgW="330200" imgH="241300" progId="Equation.3">
                    <p:embed/>
                    <p:pic>
                      <p:nvPicPr>
                        <p:cNvPr id="0" name="图片 3112"/>
                        <p:cNvPicPr/>
                        <p:nvPr/>
                      </p:nvPicPr>
                      <p:blipFill>
                        <a:blip r:embed="rId4"/>
                        <a:stretch>
                          <a:fillRect/>
                        </a:stretch>
                      </p:blipFill>
                      <p:spPr>
                        <a:xfrm>
                          <a:off x="2526" y="480"/>
                          <a:ext cx="445" cy="325"/>
                        </a:xfrm>
                        <a:prstGeom prst="rect">
                          <a:avLst/>
                        </a:prstGeom>
                        <a:noFill/>
                        <a:ln w="38100">
                          <a:noFill/>
                          <a:miter/>
                        </a:ln>
                      </p:spPr>
                    </p:pic>
                  </p:oleObj>
                </mc:Fallback>
              </mc:AlternateContent>
            </a:graphicData>
          </a:graphic>
        </p:graphicFrame>
        <p:graphicFrame>
          <p:nvGraphicFramePr>
            <p:cNvPr id="52229" name="对象 51206"/>
            <p:cNvGraphicFramePr/>
            <p:nvPr/>
          </p:nvGraphicFramePr>
          <p:xfrm>
            <a:off x="384" y="748"/>
            <a:ext cx="805" cy="462"/>
          </p:xfrm>
          <a:graphic>
            <a:graphicData uri="http://schemas.openxmlformats.org/presentationml/2006/ole">
              <mc:AlternateContent xmlns:mc="http://schemas.openxmlformats.org/markup-compatibility/2006">
                <mc:Choice xmlns:v="urn:schemas-microsoft-com:vml" Requires="v">
                  <p:oleObj spid="_x0000_s3114" name="" r:id="rId5" imgW="596900" imgH="342900" progId="Equation.3">
                    <p:embed/>
                  </p:oleObj>
                </mc:Choice>
                <mc:Fallback>
                  <p:oleObj name="" r:id="rId5" imgW="596900" imgH="342900" progId="Equation.3">
                    <p:embed/>
                    <p:pic>
                      <p:nvPicPr>
                        <p:cNvPr id="0" name="图片 3113"/>
                        <p:cNvPicPr/>
                        <p:nvPr/>
                      </p:nvPicPr>
                      <p:blipFill>
                        <a:blip r:embed="rId6"/>
                        <a:stretch>
                          <a:fillRect/>
                        </a:stretch>
                      </p:blipFill>
                      <p:spPr>
                        <a:xfrm>
                          <a:off x="384" y="748"/>
                          <a:ext cx="805" cy="462"/>
                        </a:xfrm>
                        <a:prstGeom prst="rect">
                          <a:avLst/>
                        </a:prstGeom>
                        <a:solidFill>
                          <a:schemeClr val="accent1"/>
                        </a:solidFill>
                        <a:ln w="38100">
                          <a:noFill/>
                          <a:miter/>
                        </a:ln>
                      </p:spPr>
                    </p:pic>
                  </p:oleObj>
                </mc:Fallback>
              </mc:AlternateContent>
            </a:graphicData>
          </a:graphic>
        </p:graphicFrame>
        <p:graphicFrame>
          <p:nvGraphicFramePr>
            <p:cNvPr id="52230" name="对象 51207"/>
            <p:cNvGraphicFramePr/>
            <p:nvPr/>
          </p:nvGraphicFramePr>
          <p:xfrm>
            <a:off x="1776" y="816"/>
            <a:ext cx="1182" cy="325"/>
          </p:xfrm>
          <a:graphic>
            <a:graphicData uri="http://schemas.openxmlformats.org/presentationml/2006/ole">
              <mc:AlternateContent xmlns:mc="http://schemas.openxmlformats.org/markup-compatibility/2006">
                <mc:Choice xmlns:v="urn:schemas-microsoft-com:vml" Requires="v">
                  <p:oleObj spid="_x0000_s3115" name="" r:id="rId7" imgW="875665" imgH="241300" progId="Equation.3">
                    <p:embed/>
                  </p:oleObj>
                </mc:Choice>
                <mc:Fallback>
                  <p:oleObj name="" r:id="rId7" imgW="875665" imgH="241300" progId="Equation.3">
                    <p:embed/>
                    <p:pic>
                      <p:nvPicPr>
                        <p:cNvPr id="0" name="图片 3114"/>
                        <p:cNvPicPr/>
                        <p:nvPr/>
                      </p:nvPicPr>
                      <p:blipFill>
                        <a:blip r:embed="rId8"/>
                        <a:stretch>
                          <a:fillRect/>
                        </a:stretch>
                      </p:blipFill>
                      <p:spPr>
                        <a:xfrm>
                          <a:off x="1776" y="816"/>
                          <a:ext cx="1182" cy="325"/>
                        </a:xfrm>
                        <a:prstGeom prst="rect">
                          <a:avLst/>
                        </a:prstGeom>
                        <a:solidFill>
                          <a:schemeClr val="accent1"/>
                        </a:solidFill>
                        <a:ln w="38100">
                          <a:noFill/>
                          <a:miter/>
                        </a:ln>
                      </p:spPr>
                    </p:pic>
                  </p:oleObj>
                </mc:Fallback>
              </mc:AlternateContent>
            </a:graphicData>
          </a:graphic>
        </p:graphicFrame>
      </p:grpSp>
      <p:graphicFrame>
        <p:nvGraphicFramePr>
          <p:cNvPr id="52231" name="对象 51209"/>
          <p:cNvGraphicFramePr/>
          <p:nvPr/>
        </p:nvGraphicFramePr>
        <p:xfrm>
          <a:off x="900113" y="1988820"/>
          <a:ext cx="5334000" cy="1235075"/>
        </p:xfrm>
        <a:graphic>
          <a:graphicData uri="http://schemas.openxmlformats.org/presentationml/2006/ole">
            <mc:AlternateContent xmlns:mc="http://schemas.openxmlformats.org/markup-compatibility/2006">
              <mc:Choice xmlns:v="urn:schemas-microsoft-com:vml" Requires="v">
                <p:oleObj spid="_x0000_s3123" name="" r:id="rId9" imgW="2413000" imgH="558800" progId="Equation.3">
                  <p:embed/>
                </p:oleObj>
              </mc:Choice>
              <mc:Fallback>
                <p:oleObj name="" r:id="rId9" imgW="2413000" imgH="558800" progId="Equation.3">
                  <p:embed/>
                  <p:pic>
                    <p:nvPicPr>
                      <p:cNvPr id="0" name="图片 3122"/>
                      <p:cNvPicPr/>
                      <p:nvPr/>
                    </p:nvPicPr>
                    <p:blipFill>
                      <a:blip r:embed="rId10"/>
                      <a:stretch>
                        <a:fillRect/>
                      </a:stretch>
                    </p:blipFill>
                    <p:spPr>
                      <a:xfrm>
                        <a:off x="900113" y="1988820"/>
                        <a:ext cx="5334000" cy="1235075"/>
                      </a:xfrm>
                      <a:prstGeom prst="rect">
                        <a:avLst/>
                      </a:prstGeom>
                      <a:solidFill>
                        <a:schemeClr val="accent1"/>
                      </a:solidFill>
                      <a:ln w="38100">
                        <a:noFill/>
                        <a:miter/>
                      </a:ln>
                    </p:spPr>
                  </p:pic>
                </p:oleObj>
              </mc:Fallback>
            </mc:AlternateContent>
          </a:graphicData>
        </a:graphic>
      </p:graphicFrame>
      <p:sp>
        <p:nvSpPr>
          <p:cNvPr id="52232" name="文本框 51210"/>
          <p:cNvSpPr txBox="1"/>
          <p:nvPr/>
        </p:nvSpPr>
        <p:spPr>
          <a:xfrm>
            <a:off x="6400800" y="2286000"/>
            <a:ext cx="2166938"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52233" name="文本框 51211"/>
          <p:cNvSpPr txBox="1"/>
          <p:nvPr/>
        </p:nvSpPr>
        <p:spPr>
          <a:xfrm>
            <a:off x="7727950" y="28194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52234" name="文本框 51212"/>
          <p:cNvSpPr txBox="1"/>
          <p:nvPr/>
        </p:nvSpPr>
        <p:spPr>
          <a:xfrm>
            <a:off x="152400" y="3200400"/>
            <a:ext cx="86106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为偶数时，</a:t>
            </a:r>
            <a:r>
              <a:rPr lang="en-US" altLang="zh-CN">
                <a:latin typeface="Times New Roman" panose="02020603050405020304" pitchFamily="18" charset="0"/>
                <a:ea typeface="宋体" panose="02010600030101010101" pitchFamily="2" charset="-122"/>
              </a:rPr>
              <a:t>(-1)</a:t>
            </a:r>
            <a:r>
              <a:rPr lang="en-US" altLang="zh-CN" i="1" baseline="30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为奇数时，</a:t>
            </a:r>
            <a:r>
              <a:rPr lang="en-US" altLang="zh-CN">
                <a:latin typeface="Times New Roman" panose="02020603050405020304" pitchFamily="18" charset="0"/>
                <a:ea typeface="宋体" panose="02010600030101010101" pitchFamily="2" charset="-122"/>
              </a:rPr>
              <a:t>(-1)</a:t>
            </a:r>
            <a:r>
              <a:rPr lang="en-US" altLang="zh-CN" i="1" baseline="30000">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。因此，按</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的奇偶可将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分为两部分</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52235" name="对象 51213"/>
          <p:cNvGraphicFramePr/>
          <p:nvPr/>
        </p:nvGraphicFramePr>
        <p:xfrm>
          <a:off x="1447800" y="4219575"/>
          <a:ext cx="4857750" cy="2638425"/>
        </p:xfrm>
        <a:graphic>
          <a:graphicData uri="http://schemas.openxmlformats.org/presentationml/2006/ole">
            <mc:AlternateContent xmlns:mc="http://schemas.openxmlformats.org/markup-compatibility/2006">
              <mc:Choice xmlns:v="urn:schemas-microsoft-com:vml" Requires="v">
                <p:oleObj spid="_x0000_s3116" name="" r:id="rId11" imgW="2197100" imgH="1193800" progId="Equation.3">
                  <p:embed/>
                </p:oleObj>
              </mc:Choice>
              <mc:Fallback>
                <p:oleObj name="" r:id="rId11" imgW="2197100" imgH="1193800" progId="Equation.3">
                  <p:embed/>
                  <p:pic>
                    <p:nvPicPr>
                      <p:cNvPr id="0" name="图片 3115"/>
                      <p:cNvPicPr/>
                      <p:nvPr/>
                    </p:nvPicPr>
                    <p:blipFill>
                      <a:blip r:embed="rId12"/>
                      <a:stretch>
                        <a:fillRect/>
                      </a:stretch>
                    </p:blipFill>
                    <p:spPr>
                      <a:xfrm>
                        <a:off x="1447800" y="4219575"/>
                        <a:ext cx="4857750" cy="2638425"/>
                      </a:xfrm>
                      <a:prstGeom prst="rect">
                        <a:avLst/>
                      </a:prstGeom>
                      <a:noFill/>
                      <a:ln w="38100">
                        <a:noFill/>
                        <a:miter/>
                      </a:ln>
                    </p:spPr>
                  </p:pic>
                </p:oleObj>
              </mc:Fallback>
            </mc:AlternateContent>
          </a:graphicData>
        </a:graphic>
      </p:graphicFrame>
      <p:graphicFrame>
        <p:nvGraphicFramePr>
          <p:cNvPr id="52236" name="对象 51214"/>
          <p:cNvGraphicFramePr/>
          <p:nvPr/>
        </p:nvGraphicFramePr>
        <p:xfrm>
          <a:off x="6705600" y="5867400"/>
          <a:ext cx="2362200" cy="903288"/>
        </p:xfrm>
        <a:graphic>
          <a:graphicData uri="http://schemas.openxmlformats.org/presentationml/2006/ole">
            <mc:AlternateContent xmlns:mc="http://schemas.openxmlformats.org/markup-compatibility/2006">
              <mc:Choice xmlns:v="urn:schemas-microsoft-com:vml" Requires="v">
                <p:oleObj spid="_x0000_s3119" name="" r:id="rId13" imgW="1028065" imgH="393700" progId="Equation.3">
                  <p:embed/>
                </p:oleObj>
              </mc:Choice>
              <mc:Fallback>
                <p:oleObj name="" r:id="rId13" imgW="1028065" imgH="393700" progId="Equation.3">
                  <p:embed/>
                  <p:pic>
                    <p:nvPicPr>
                      <p:cNvPr id="0" name="图片 3118"/>
                      <p:cNvPicPr/>
                      <p:nvPr/>
                    </p:nvPicPr>
                    <p:blipFill>
                      <a:blip r:embed="rId14"/>
                      <a:stretch>
                        <a:fillRect/>
                      </a:stretch>
                    </p:blipFill>
                    <p:spPr>
                      <a:xfrm>
                        <a:off x="6705600" y="5867400"/>
                        <a:ext cx="2362200" cy="903288"/>
                      </a:xfrm>
                      <a:prstGeom prst="rect">
                        <a:avLst/>
                      </a:prstGeom>
                      <a:solidFill>
                        <a:schemeClr val="bg1"/>
                      </a:solidFill>
                      <a:ln w="38100">
                        <a:noFill/>
                        <a:miter/>
                      </a:ln>
                    </p:spPr>
                  </p:pic>
                </p:oleObj>
              </mc:Fallback>
            </mc:AlternateContent>
          </a:graphicData>
        </a:graphic>
      </p:graphicFrame>
      <p:sp>
        <p:nvSpPr>
          <p:cNvPr id="52237" name="文本框 51215"/>
          <p:cNvSpPr txBox="1"/>
          <p:nvPr/>
        </p:nvSpPr>
        <p:spPr>
          <a:xfrm>
            <a:off x="7756525" y="5146675"/>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cxnSp>
        <p:nvCxnSpPr>
          <p:cNvPr id="3" name="直接箭头连接符 2"/>
          <p:cNvCxnSpPr/>
          <p:nvPr/>
        </p:nvCxnSpPr>
        <p:spPr>
          <a:xfrm>
            <a:off x="1414145" y="2696210"/>
            <a:ext cx="637540" cy="2029460"/>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475740" y="1988820"/>
            <a:ext cx="7645400" cy="1374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252095" y="609600"/>
            <a:ext cx="5922010" cy="1196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53249" name="对象 50179"/>
          <p:cNvGraphicFramePr/>
          <p:nvPr/>
        </p:nvGraphicFramePr>
        <p:xfrm>
          <a:off x="381000" y="609600"/>
          <a:ext cx="6065838" cy="2695575"/>
        </p:xfrm>
        <a:graphic>
          <a:graphicData uri="http://schemas.openxmlformats.org/presentationml/2006/ole">
            <mc:AlternateContent xmlns:mc="http://schemas.openxmlformats.org/markup-compatibility/2006">
              <mc:Choice xmlns:v="urn:schemas-microsoft-com:vml" Requires="v">
                <p:oleObj spid="_x0000_s3120" name="" r:id="rId1" imgW="2743200" imgH="1219200" progId="Equation.3">
                  <p:embed/>
                </p:oleObj>
              </mc:Choice>
              <mc:Fallback>
                <p:oleObj name="" r:id="rId1" imgW="2743200" imgH="1219200" progId="Equation.3">
                  <p:embed/>
                  <p:pic>
                    <p:nvPicPr>
                      <p:cNvPr id="0" name="图片 3119"/>
                      <p:cNvPicPr/>
                      <p:nvPr/>
                    </p:nvPicPr>
                    <p:blipFill>
                      <a:blip r:embed="rId2"/>
                      <a:stretch>
                        <a:fillRect/>
                      </a:stretch>
                    </p:blipFill>
                    <p:spPr>
                      <a:xfrm>
                        <a:off x="381000" y="609600"/>
                        <a:ext cx="6065838" cy="2695575"/>
                      </a:xfrm>
                      <a:prstGeom prst="rect">
                        <a:avLst/>
                      </a:prstGeom>
                      <a:noFill/>
                      <a:ln w="38100">
                        <a:noFill/>
                        <a:miter/>
                      </a:ln>
                    </p:spPr>
                  </p:pic>
                </p:oleObj>
              </mc:Fallback>
            </mc:AlternateContent>
          </a:graphicData>
        </a:graphic>
      </p:graphicFrame>
      <p:graphicFrame>
        <p:nvGraphicFramePr>
          <p:cNvPr id="53250" name="对象 50180"/>
          <p:cNvGraphicFramePr/>
          <p:nvPr/>
        </p:nvGraphicFramePr>
        <p:xfrm>
          <a:off x="6781800" y="2362200"/>
          <a:ext cx="2362200" cy="903288"/>
        </p:xfrm>
        <a:graphic>
          <a:graphicData uri="http://schemas.openxmlformats.org/presentationml/2006/ole">
            <mc:AlternateContent xmlns:mc="http://schemas.openxmlformats.org/markup-compatibility/2006">
              <mc:Choice xmlns:v="urn:schemas-microsoft-com:vml" Requires="v">
                <p:oleObj spid="_x0000_s3121" name="" r:id="rId3" imgW="1028065" imgH="393700" progId="Equation.3">
                  <p:embed/>
                </p:oleObj>
              </mc:Choice>
              <mc:Fallback>
                <p:oleObj name="" r:id="rId3" imgW="1028065" imgH="393700" progId="Equation.3">
                  <p:embed/>
                  <p:pic>
                    <p:nvPicPr>
                      <p:cNvPr id="0" name="图片 3120"/>
                      <p:cNvPicPr/>
                      <p:nvPr/>
                    </p:nvPicPr>
                    <p:blipFill>
                      <a:blip r:embed="rId4"/>
                      <a:stretch>
                        <a:fillRect/>
                      </a:stretch>
                    </p:blipFill>
                    <p:spPr>
                      <a:xfrm>
                        <a:off x="6781800" y="2362200"/>
                        <a:ext cx="2362200" cy="903288"/>
                      </a:xfrm>
                      <a:prstGeom prst="rect">
                        <a:avLst/>
                      </a:prstGeom>
                      <a:solidFill>
                        <a:schemeClr val="bg1"/>
                      </a:solidFill>
                      <a:ln w="38100">
                        <a:noFill/>
                        <a:miter/>
                      </a:ln>
                    </p:spPr>
                  </p:pic>
                </p:oleObj>
              </mc:Fallback>
            </mc:AlternateContent>
          </a:graphicData>
        </a:graphic>
      </p:graphicFrame>
      <p:sp>
        <p:nvSpPr>
          <p:cNvPr id="53251" name="文本框 50181"/>
          <p:cNvSpPr txBox="1"/>
          <p:nvPr/>
        </p:nvSpPr>
        <p:spPr>
          <a:xfrm>
            <a:off x="7727950" y="35052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53252" name="文本框 50182"/>
          <p:cNvSpPr txBox="1"/>
          <p:nvPr/>
        </p:nvSpPr>
        <p:spPr>
          <a:xfrm>
            <a:off x="228600" y="3962400"/>
            <a:ext cx="8686800" cy="1573213"/>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3-24</a:t>
            </a:r>
            <a:r>
              <a:rPr lang="zh-CN" altLang="en-US" dirty="0">
                <a:latin typeface="Times New Roman" panose="02020603050405020304" pitchFamily="18" charset="0"/>
                <a:ea typeface="宋体" panose="02010600030101010101" pitchFamily="2" charset="-122"/>
              </a:rPr>
              <a:t>）为前一半输入与后一半输入之和的</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式（</a:t>
            </a:r>
            <a:r>
              <a:rPr lang="en-US" altLang="zh-CN" dirty="0">
                <a:latin typeface="Times New Roman" panose="02020603050405020304" pitchFamily="18" charset="0"/>
                <a:ea typeface="宋体" panose="02010600030101010101" pitchFamily="2" charset="-122"/>
              </a:rPr>
              <a:t>3-25</a:t>
            </a:r>
            <a:r>
              <a:rPr lang="zh-CN" altLang="en-US" dirty="0">
                <a:latin typeface="Times New Roman" panose="02020603050405020304" pitchFamily="18" charset="0"/>
                <a:ea typeface="宋体" panose="02010600030101010101" pitchFamily="2" charset="-122"/>
              </a:rPr>
              <a:t>）为前一半输入与后一半输入之差再与</a:t>
            </a:r>
            <a:r>
              <a:rPr lang="en-US" altLang="zh-CN" i="1" err="1">
                <a:latin typeface="Times New Roman" panose="02020603050405020304" pitchFamily="18" charset="0"/>
                <a:ea typeface="宋体" panose="02010600030101010101" pitchFamily="2" charset="-122"/>
              </a:rPr>
              <a:t>W</a:t>
            </a:r>
            <a:r>
              <a:rPr lang="en-US" altLang="zh-CN" i="1" baseline="-25000" err="1">
                <a:latin typeface="Times New Roman" panose="02020603050405020304" pitchFamily="18" charset="0"/>
                <a:ea typeface="宋体" panose="02010600030101010101" pitchFamily="2" charset="-122"/>
              </a:rPr>
              <a:t>N</a:t>
            </a:r>
            <a:r>
              <a:rPr lang="en-US" altLang="zh-CN" i="1" baseline="30000" err="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之积的</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令</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 name="右箭头 2"/>
          <p:cNvSpPr/>
          <p:nvPr/>
        </p:nvSpPr>
        <p:spPr>
          <a:xfrm rot="5940000">
            <a:off x="5010785" y="1828165"/>
            <a:ext cx="1120775" cy="287655"/>
          </a:xfrm>
          <a:prstGeom prst="rightArrow">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4273" name="对象 54275"/>
          <p:cNvGraphicFramePr/>
          <p:nvPr/>
        </p:nvGraphicFramePr>
        <p:xfrm>
          <a:off x="1763713" y="765175"/>
          <a:ext cx="4191000" cy="2176463"/>
        </p:xfrm>
        <a:graphic>
          <a:graphicData uri="http://schemas.openxmlformats.org/presentationml/2006/ole">
            <mc:AlternateContent xmlns:mc="http://schemas.openxmlformats.org/markup-compatibility/2006">
              <mc:Choice xmlns:v="urn:schemas-microsoft-com:vml" Requires="v">
                <p:oleObj spid="_x0000_s3118" name="" r:id="rId1" imgW="1955800" imgH="1016000" progId="Equation.3">
                  <p:embed/>
                </p:oleObj>
              </mc:Choice>
              <mc:Fallback>
                <p:oleObj name="" r:id="rId1" imgW="1955800" imgH="1016000" progId="Equation.3">
                  <p:embed/>
                  <p:pic>
                    <p:nvPicPr>
                      <p:cNvPr id="0" name="图片 3117"/>
                      <p:cNvPicPr/>
                      <p:nvPr/>
                    </p:nvPicPr>
                    <p:blipFill>
                      <a:blip r:embed="rId2"/>
                      <a:stretch>
                        <a:fillRect/>
                      </a:stretch>
                    </p:blipFill>
                    <p:spPr>
                      <a:xfrm>
                        <a:off x="1763713" y="765175"/>
                        <a:ext cx="4191000" cy="2176463"/>
                      </a:xfrm>
                      <a:prstGeom prst="rect">
                        <a:avLst/>
                      </a:prstGeom>
                      <a:noFill/>
                      <a:ln w="38100">
                        <a:noFill/>
                        <a:miter/>
                      </a:ln>
                    </p:spPr>
                  </p:pic>
                </p:oleObj>
              </mc:Fallback>
            </mc:AlternateContent>
          </a:graphicData>
        </a:graphic>
      </p:graphicFrame>
      <p:graphicFrame>
        <p:nvGraphicFramePr>
          <p:cNvPr id="54274" name="对象 54276"/>
          <p:cNvGraphicFramePr/>
          <p:nvPr/>
        </p:nvGraphicFramePr>
        <p:xfrm>
          <a:off x="6156325" y="1412875"/>
          <a:ext cx="2362200" cy="903288"/>
        </p:xfrm>
        <a:graphic>
          <a:graphicData uri="http://schemas.openxmlformats.org/presentationml/2006/ole">
            <mc:AlternateContent xmlns:mc="http://schemas.openxmlformats.org/markup-compatibility/2006">
              <mc:Choice xmlns:v="urn:schemas-microsoft-com:vml" Requires="v">
                <p:oleObj spid="_x0000_s3117" name="" r:id="rId3" imgW="1028065" imgH="393700" progId="Equation.3">
                  <p:embed/>
                </p:oleObj>
              </mc:Choice>
              <mc:Fallback>
                <p:oleObj name="" r:id="rId3" imgW="1028065" imgH="393700" progId="Equation.3">
                  <p:embed/>
                  <p:pic>
                    <p:nvPicPr>
                      <p:cNvPr id="0" name="图片 3116"/>
                      <p:cNvPicPr/>
                      <p:nvPr/>
                    </p:nvPicPr>
                    <p:blipFill>
                      <a:blip r:embed="rId4"/>
                      <a:stretch>
                        <a:fillRect/>
                      </a:stretch>
                    </p:blipFill>
                    <p:spPr>
                      <a:xfrm>
                        <a:off x="6156325" y="1412875"/>
                        <a:ext cx="2362200" cy="903288"/>
                      </a:xfrm>
                      <a:prstGeom prst="rect">
                        <a:avLst/>
                      </a:prstGeom>
                      <a:solidFill>
                        <a:schemeClr val="bg1"/>
                      </a:solidFill>
                      <a:ln w="38100">
                        <a:noFill/>
                        <a:miter/>
                      </a:ln>
                    </p:spPr>
                  </p:pic>
                </p:oleObj>
              </mc:Fallback>
            </mc:AlternateContent>
          </a:graphicData>
        </a:graphic>
      </p:graphicFrame>
      <p:sp>
        <p:nvSpPr>
          <p:cNvPr id="54275" name="文本框 54277"/>
          <p:cNvSpPr txBox="1"/>
          <p:nvPr/>
        </p:nvSpPr>
        <p:spPr>
          <a:xfrm>
            <a:off x="7464425" y="2708275"/>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3-26</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sp>
        <p:nvSpPr>
          <p:cNvPr id="54276" name="文本框 54280"/>
          <p:cNvSpPr txBox="1"/>
          <p:nvPr/>
        </p:nvSpPr>
        <p:spPr>
          <a:xfrm>
            <a:off x="592138" y="3213100"/>
            <a:ext cx="793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则有</a:t>
            </a:r>
            <a:endParaRPr lang="zh-CN" altLang="en-US" dirty="0">
              <a:latin typeface="Times New Roman" panose="02020603050405020304" pitchFamily="18" charset="0"/>
              <a:ea typeface="宋体" panose="02010600030101010101" pitchFamily="2" charset="-122"/>
            </a:endParaRPr>
          </a:p>
        </p:txBody>
      </p:sp>
      <p:sp>
        <p:nvSpPr>
          <p:cNvPr id="54279" name="文本框 54283"/>
          <p:cNvSpPr txBox="1"/>
          <p:nvPr/>
        </p:nvSpPr>
        <p:spPr>
          <a:xfrm>
            <a:off x="7540625" y="5348288"/>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3-27</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pic>
        <p:nvPicPr>
          <p:cNvPr id="55298" name="图片 306181" descr="3-12"/>
          <p:cNvPicPr>
            <a:picLocks noChangeAspect="1"/>
          </p:cNvPicPr>
          <p:nvPr/>
        </p:nvPicPr>
        <p:blipFill>
          <a:blip r:embed="rId5"/>
          <a:stretch>
            <a:fillRect/>
          </a:stretch>
        </p:blipFill>
        <p:spPr>
          <a:xfrm>
            <a:off x="1508125" y="3789045"/>
            <a:ext cx="5561965" cy="1314450"/>
          </a:xfrm>
          <a:prstGeom prst="rect">
            <a:avLst/>
          </a:prstGeom>
          <a:noFill/>
          <a:ln w="9525">
            <a:noFill/>
          </a:ln>
        </p:spPr>
      </p:pic>
      <p:sp>
        <p:nvSpPr>
          <p:cNvPr id="55297" name="文本框 306179"/>
          <p:cNvSpPr txBox="1"/>
          <p:nvPr/>
        </p:nvSpPr>
        <p:spPr>
          <a:xfrm>
            <a:off x="1974533" y="5156835"/>
            <a:ext cx="462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3-12 </a:t>
            </a:r>
            <a:r>
              <a:rPr lang="zh-CN" altLang="en-US" dirty="0">
                <a:latin typeface="Times New Roman" panose="02020603050405020304" pitchFamily="18" charset="0"/>
                <a:ea typeface="宋体" panose="02010600030101010101" pitchFamily="2" charset="-122"/>
              </a:rPr>
              <a:t>频率抽取法蝶形运算单元 </a:t>
            </a:r>
            <a:endParaRPr lang="zh-CN" altLang="en-US">
              <a:latin typeface="Times New Roman" panose="02020603050405020304" pitchFamily="18" charset="0"/>
              <a:ea typeface="宋体" panose="02010600030101010101" pitchFamily="2" charset="-122"/>
            </a:endParaRPr>
          </a:p>
        </p:txBody>
      </p:sp>
      <p:sp>
        <p:nvSpPr>
          <p:cNvPr id="2" name="椭圆 1"/>
          <p:cNvSpPr/>
          <p:nvPr/>
        </p:nvSpPr>
        <p:spPr>
          <a:xfrm>
            <a:off x="4572000" y="4005580"/>
            <a:ext cx="720090" cy="79184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306179"/>
          <p:cNvSpPr txBox="1"/>
          <p:nvPr/>
        </p:nvSpPr>
        <p:spPr>
          <a:xfrm>
            <a:off x="6384925" y="2247900"/>
            <a:ext cx="2232025" cy="460375"/>
          </a:xfrm>
          <a:prstGeom prst="rect">
            <a:avLst/>
          </a:prstGeom>
          <a:solidFill>
            <a:schemeClr val="accent1"/>
          </a:solidFill>
          <a:ln w="9525">
            <a:noFill/>
          </a:ln>
        </p:spPr>
        <p:txBody>
          <a:bodyPr wrap="square" anchor="t">
            <a:spAutoFit/>
          </a:bodyPr>
          <a:p>
            <a:r>
              <a:rPr lang="zh-CN" b="1" dirty="0">
                <a:solidFill>
                  <a:srgbClr val="FF0000"/>
                </a:solidFill>
                <a:latin typeface="Times New Roman" panose="02020603050405020304" pitchFamily="18" charset="0"/>
                <a:ea typeface="宋体" panose="02010600030101010101" pitchFamily="2" charset="-122"/>
              </a:rPr>
              <a:t>先求和后乘法</a:t>
            </a:r>
            <a:endParaRPr lang="zh-CN" b="1" dirty="0">
              <a:solidFill>
                <a:srgbClr val="FF0000"/>
              </a:solidFill>
              <a:latin typeface="Times New Roman" panose="02020603050405020304" pitchFamily="18" charset="0"/>
              <a:ea typeface="宋体" panose="02010600030101010101" pitchFamily="2" charset="-122"/>
            </a:endParaRPr>
          </a:p>
        </p:txBody>
      </p:sp>
      <p:pic>
        <p:nvPicPr>
          <p:cNvPr id="16386" name="图片 17414" descr="3-1"/>
          <p:cNvPicPr>
            <a:picLocks noChangeAspect="1"/>
          </p:cNvPicPr>
          <p:nvPr/>
        </p:nvPicPr>
        <p:blipFill>
          <a:blip r:embed="rId6"/>
          <a:stretch>
            <a:fillRect/>
          </a:stretch>
        </p:blipFill>
        <p:spPr>
          <a:xfrm>
            <a:off x="1475740" y="3259455"/>
            <a:ext cx="6061710" cy="2374265"/>
          </a:xfrm>
          <a:prstGeom prst="rect">
            <a:avLst/>
          </a:prstGeom>
          <a:noFill/>
          <a:ln w="9525">
            <a:noFill/>
          </a:ln>
        </p:spPr>
      </p:pic>
      <p:sp>
        <p:nvSpPr>
          <p:cNvPr id="4" name="文本框 306179"/>
          <p:cNvSpPr txBox="1"/>
          <p:nvPr/>
        </p:nvSpPr>
        <p:spPr>
          <a:xfrm>
            <a:off x="2051368" y="5636260"/>
            <a:ext cx="462788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3-12 </a:t>
            </a:r>
            <a:r>
              <a:rPr lang="zh-CN" altLang="en-US" dirty="0">
                <a:latin typeface="Times New Roman" panose="02020603050405020304" pitchFamily="18" charset="0"/>
                <a:ea typeface="宋体" panose="02010600030101010101" pitchFamily="2" charset="-122"/>
              </a:rPr>
              <a:t>时间</a:t>
            </a:r>
            <a:r>
              <a:rPr lang="zh-CN" altLang="en-US" dirty="0">
                <a:latin typeface="Times New Roman" panose="02020603050405020304" pitchFamily="18" charset="0"/>
                <a:ea typeface="宋体" panose="02010600030101010101" pitchFamily="2" charset="-122"/>
              </a:rPr>
              <a:t>抽取法蝶形运算单元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additive="base">
                                        <p:cTn id="7" dur="500" fill="hold"/>
                                        <p:tgtEl>
                                          <p:spTgt spid="55298"/>
                                        </p:tgtEl>
                                        <p:attrNameLst>
                                          <p:attrName>ppt_x</p:attrName>
                                        </p:attrNameLst>
                                      </p:cBhvr>
                                      <p:tavLst>
                                        <p:tav tm="0">
                                          <p:val>
                                            <p:strVal val="#ppt_x"/>
                                          </p:val>
                                        </p:tav>
                                        <p:tav tm="100000">
                                          <p:val>
                                            <p:strVal val="#ppt_x"/>
                                          </p:val>
                                        </p:tav>
                                      </p:tavLst>
                                    </p:anim>
                                    <p:anim calcmode="lin" valueType="num">
                                      <p:cBhvr additive="base">
                                        <p:cTn id="8" dur="500" fill="hold"/>
                                        <p:tgtEl>
                                          <p:spTgt spid="552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7"/>
                                        </p:tgtEl>
                                        <p:attrNameLst>
                                          <p:attrName>style.visibility</p:attrName>
                                        </p:attrNameLst>
                                      </p:cBhvr>
                                      <p:to>
                                        <p:strVal val="visible"/>
                                      </p:to>
                                    </p:set>
                                    <p:anim calcmode="lin" valueType="num">
                                      <p:cBhvr additive="base">
                                        <p:cTn id="13" dur="500" fill="hold"/>
                                        <p:tgtEl>
                                          <p:spTgt spid="55297"/>
                                        </p:tgtEl>
                                        <p:attrNameLst>
                                          <p:attrName>ppt_x</p:attrName>
                                        </p:attrNameLst>
                                      </p:cBhvr>
                                      <p:tavLst>
                                        <p:tav tm="0">
                                          <p:val>
                                            <p:strVal val="#ppt_x"/>
                                          </p:val>
                                        </p:tav>
                                        <p:tav tm="100000">
                                          <p:val>
                                            <p:strVal val="#ppt_x"/>
                                          </p:val>
                                        </p:tav>
                                      </p:tavLst>
                                    </p:anim>
                                    <p:anim calcmode="lin" valueType="num">
                                      <p:cBhvr additive="base">
                                        <p:cTn id="14" dur="500" fill="hold"/>
                                        <p:tgtEl>
                                          <p:spTgt spid="5529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7" grpId="0"/>
      <p:bldP spid="55297" grpId="1"/>
      <p:bldP spid="2" grpId="0" animBg="1"/>
      <p:bldP spid="2" grpId="1" animBg="1"/>
      <p:bldP spid="3" grpId="0" bldLvl="0" animBg="1"/>
      <p:bldP spid="3" grpId="1"/>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53251"/>
          <p:cNvSpPr txBox="1"/>
          <p:nvPr/>
        </p:nvSpPr>
        <p:spPr>
          <a:xfrm>
            <a:off x="304800" y="720725"/>
            <a:ext cx="8610600" cy="430847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这样，我们就把一个</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按</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的奇偶分解为两个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了。</a:t>
            </a:r>
            <a:r>
              <a:rPr lang="zh-CN" altLang="en-US" i="1"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时，上述</a:t>
            </a:r>
            <a:r>
              <a:rPr lang="zh-CN" altLang="en-US" dirty="0">
                <a:latin typeface="Times New Roman" panose="02020603050405020304" pitchFamily="18" charset="0"/>
                <a:ea typeface="宋体" panose="02010600030101010101" pitchFamily="2" charset="-122"/>
              </a:rPr>
              <a:t>分解过程示于图</a:t>
            </a:r>
            <a:r>
              <a:rPr lang="en-US" altLang="zh-CN" dirty="0">
                <a:latin typeface="Times New Roman" panose="02020603050405020304" pitchFamily="18" charset="0"/>
                <a:ea typeface="宋体" panose="02010600030101010101" pitchFamily="2" charset="-122"/>
              </a:rPr>
              <a:t>3-13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与时间抽取法的推导过程一样，由于</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仍是一个偶数，因而可以将每个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的输出再分解为偶数组与奇数组，这就将</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进一步分解为两个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这两个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的输入也是先将</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的输入上下对半分开后通过蝶形运算而形成的，图</a:t>
            </a:r>
            <a:r>
              <a:rPr lang="en-US" altLang="zh-CN" dirty="0">
                <a:latin typeface="Times New Roman" panose="02020603050405020304" pitchFamily="18" charset="0"/>
                <a:ea typeface="宋体" panose="02010600030101010101" pitchFamily="2" charset="-122"/>
              </a:rPr>
              <a:t>3-14</a:t>
            </a:r>
            <a:r>
              <a:rPr lang="zh-CN" altLang="en-US" dirty="0">
                <a:latin typeface="Times New Roman" panose="02020603050405020304" pitchFamily="18" charset="0"/>
                <a:ea typeface="宋体" panose="02010600030101010101" pitchFamily="2" charset="-122"/>
              </a:rPr>
              <a:t>示出了这一步分</a:t>
            </a:r>
            <a:r>
              <a:rPr lang="zh-CN" altLang="en-US" dirty="0">
                <a:latin typeface="Times New Roman" panose="02020603050405020304" pitchFamily="18" charset="0"/>
                <a:ea typeface="宋体" panose="02010600030101010101" pitchFamily="2" charset="-122"/>
              </a:rPr>
              <a:t>解的过程。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框 56323"/>
          <p:cNvSpPr txBox="1"/>
          <p:nvPr/>
        </p:nvSpPr>
        <p:spPr>
          <a:xfrm>
            <a:off x="2362200" y="5867400"/>
            <a:ext cx="462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3-13 </a:t>
            </a:r>
            <a:r>
              <a:rPr lang="zh-CN" altLang="en-US" dirty="0">
                <a:latin typeface="Times New Roman" panose="02020603050405020304" pitchFamily="18" charset="0"/>
                <a:ea typeface="宋体" panose="02010600030101010101" pitchFamily="2" charset="-122"/>
              </a:rPr>
              <a:t>按频率抽取的第一次分解 </a:t>
            </a:r>
            <a:endParaRPr lang="zh-CN" altLang="en-US">
              <a:latin typeface="Times New Roman" panose="02020603050405020304" pitchFamily="18" charset="0"/>
              <a:ea typeface="宋体" panose="02010600030101010101" pitchFamily="2" charset="-122"/>
            </a:endParaRPr>
          </a:p>
        </p:txBody>
      </p:sp>
      <p:pic>
        <p:nvPicPr>
          <p:cNvPr id="57346" name="图片 56326" descr="3-13"/>
          <p:cNvPicPr>
            <a:picLocks noChangeAspect="1"/>
          </p:cNvPicPr>
          <p:nvPr/>
        </p:nvPicPr>
        <p:blipFill>
          <a:blip r:embed="rId1"/>
          <a:stretch>
            <a:fillRect/>
          </a:stretch>
        </p:blipFill>
        <p:spPr>
          <a:xfrm>
            <a:off x="2200275" y="1285875"/>
            <a:ext cx="4743450" cy="4286250"/>
          </a:xfrm>
          <a:prstGeom prst="rect">
            <a:avLst/>
          </a:prstGeom>
          <a:noFill/>
          <a:ln w="9525">
            <a:noFill/>
          </a:ln>
        </p:spPr>
      </p:pic>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文本框 55299"/>
          <p:cNvSpPr txBox="1"/>
          <p:nvPr/>
        </p:nvSpPr>
        <p:spPr>
          <a:xfrm>
            <a:off x="2268538" y="5734050"/>
            <a:ext cx="5359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3-14 </a:t>
            </a:r>
            <a:r>
              <a:rPr lang="zh-CN" altLang="en-US" dirty="0">
                <a:latin typeface="Times New Roman" panose="02020603050405020304" pitchFamily="18" charset="0"/>
                <a:ea typeface="宋体" panose="02010600030101010101" pitchFamily="2" charset="-122"/>
              </a:rPr>
              <a:t>按频率抽取的第二次分解</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=8) </a:t>
            </a:r>
            <a:endParaRPr lang="en-US" altLang="zh-CN">
              <a:latin typeface="Times New Roman" panose="02020603050405020304" pitchFamily="18" charset="0"/>
              <a:ea typeface="宋体" panose="02010600030101010101" pitchFamily="2" charset="-122"/>
            </a:endParaRPr>
          </a:p>
        </p:txBody>
      </p:sp>
      <p:pic>
        <p:nvPicPr>
          <p:cNvPr id="58370" name="图片 55302" descr="3-14"/>
          <p:cNvPicPr>
            <a:picLocks noChangeAspect="1"/>
          </p:cNvPicPr>
          <p:nvPr/>
        </p:nvPicPr>
        <p:blipFill>
          <a:blip r:embed="rId1"/>
          <a:stretch>
            <a:fillRect/>
          </a:stretch>
        </p:blipFill>
        <p:spPr>
          <a:xfrm>
            <a:off x="1714500" y="1447800"/>
            <a:ext cx="5715000" cy="3962400"/>
          </a:xfrm>
          <a:prstGeom prst="rect">
            <a:avLst/>
          </a:prstGeom>
          <a:noFill/>
          <a:ln w="9525">
            <a:noFill/>
          </a:ln>
        </p:spPr>
      </p:pic>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框 58371"/>
          <p:cNvSpPr txBox="1"/>
          <p:nvPr/>
        </p:nvSpPr>
        <p:spPr>
          <a:xfrm>
            <a:off x="539750" y="812800"/>
            <a:ext cx="8088313" cy="3378200"/>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这样的分解可以一直进行到第</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次（</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），第</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次实际上是做两点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，它只有加减运算。 然而，为了有统一的运算结构，仍然用一个系数为</a:t>
            </a:r>
            <a:r>
              <a:rPr lang="en-US" altLang="zh-CN" i="1">
                <a:latin typeface="Times New Roman" panose="02020603050405020304" pitchFamily="18" charset="0"/>
                <a:ea typeface="宋体" panose="02010600030101010101" pitchFamily="2" charset="-122"/>
              </a:rPr>
              <a:t>W</a:t>
            </a:r>
            <a:r>
              <a:rPr lang="en-US" altLang="zh-CN" i="1" baseline="-25000">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的蝶形运算来表示， 这</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个两点</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个输出就是</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的结果</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图</a:t>
            </a:r>
            <a:r>
              <a:rPr lang="en-US" altLang="zh-CN" dirty="0">
                <a:latin typeface="Times New Roman" panose="02020603050405020304" pitchFamily="18" charset="0"/>
                <a:ea typeface="宋体" panose="02010600030101010101" pitchFamily="2" charset="-122"/>
              </a:rPr>
              <a:t>3-15</a:t>
            </a:r>
            <a:r>
              <a:rPr lang="zh-CN" altLang="en-US" dirty="0">
                <a:latin typeface="Times New Roman" panose="02020603050405020304" pitchFamily="18" charset="0"/>
                <a:ea typeface="宋体" panose="02010600030101010101" pitchFamily="2" charset="-122"/>
              </a:rPr>
              <a:t>表示一个</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完整的按频率抽取</a:t>
            </a:r>
            <a:r>
              <a:rPr lang="zh-CN" altLang="en-US" dirty="0">
                <a:latin typeface="Times New Roman" panose="02020603050405020304" pitchFamily="18" charset="0"/>
                <a:ea typeface="宋体" panose="02010600030101010101" pitchFamily="2" charset="-122"/>
              </a:rPr>
              <a:t>的基</a:t>
            </a:r>
            <a:r>
              <a:rPr lang="en-US" altLang="zh-CN" dirty="0">
                <a:latin typeface="Times New Roman" panose="02020603050405020304" pitchFamily="18" charset="0"/>
                <a:ea typeface="宋体" panose="02010600030101010101" pitchFamily="2" charset="-122"/>
              </a:rPr>
              <a:t>-2 FFT</a:t>
            </a:r>
            <a:r>
              <a:rPr lang="zh-CN" altLang="en-US" dirty="0">
                <a:latin typeface="Times New Roman" panose="02020603050405020304" pitchFamily="18" charset="0"/>
                <a:ea typeface="宋体" panose="02010600030101010101" pitchFamily="2" charset="-122"/>
              </a:rPr>
              <a:t>运算结构。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文本框 57347"/>
          <p:cNvSpPr txBox="1"/>
          <p:nvPr/>
        </p:nvSpPr>
        <p:spPr>
          <a:xfrm>
            <a:off x="1752600" y="5638800"/>
            <a:ext cx="60436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3-15  </a:t>
            </a:r>
            <a:r>
              <a:rPr lang="zh-CN" altLang="en-US" dirty="0">
                <a:latin typeface="Times New Roman" panose="02020603050405020304" pitchFamily="18" charset="0"/>
                <a:ea typeface="宋体" panose="02010600030101010101" pitchFamily="2" charset="-122"/>
              </a:rPr>
              <a:t>按频率抽取的</a:t>
            </a:r>
            <a:r>
              <a:rPr lang="en-US" altLang="zh-CN">
                <a:latin typeface="Times New Roman" panose="02020603050405020304" pitchFamily="18" charset="0"/>
                <a:ea typeface="宋体" panose="02010600030101010101" pitchFamily="2" charset="-122"/>
              </a:rPr>
              <a:t>FFT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）信号流图 </a:t>
            </a:r>
            <a:endParaRPr lang="zh-CN" altLang="en-US">
              <a:latin typeface="Times New Roman" panose="02020603050405020304" pitchFamily="18" charset="0"/>
              <a:ea typeface="宋体" panose="02010600030101010101" pitchFamily="2" charset="-122"/>
            </a:endParaRPr>
          </a:p>
        </p:txBody>
      </p:sp>
      <p:pic>
        <p:nvPicPr>
          <p:cNvPr id="60418" name="图片 57350" descr="3-15"/>
          <p:cNvPicPr>
            <a:picLocks noChangeAspect="1"/>
          </p:cNvPicPr>
          <p:nvPr/>
        </p:nvPicPr>
        <p:blipFill>
          <a:blip r:embed="rId1"/>
          <a:stretch>
            <a:fillRect/>
          </a:stretch>
        </p:blipFill>
        <p:spPr>
          <a:xfrm>
            <a:off x="1714500" y="1943100"/>
            <a:ext cx="5715000" cy="2971800"/>
          </a:xfrm>
          <a:prstGeom prst="rect">
            <a:avLst/>
          </a:prstGeom>
          <a:noFill/>
          <a:ln w="9525">
            <a:noFill/>
          </a:ln>
        </p:spPr>
      </p:pic>
      <p:sp>
        <p:nvSpPr>
          <p:cNvPr id="4" name="椭圆 3"/>
          <p:cNvSpPr/>
          <p:nvPr/>
        </p:nvSpPr>
        <p:spPr>
          <a:xfrm>
            <a:off x="2873375" y="3197225"/>
            <a:ext cx="844550" cy="1576388"/>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5297" name="文本框 306179"/>
          <p:cNvSpPr txBox="1"/>
          <p:nvPr/>
        </p:nvSpPr>
        <p:spPr>
          <a:xfrm>
            <a:off x="347980" y="2326640"/>
            <a:ext cx="813435" cy="460375"/>
          </a:xfrm>
          <a:prstGeom prst="rect">
            <a:avLst/>
          </a:prstGeom>
          <a:noFill/>
          <a:ln w="9525">
            <a:noFill/>
          </a:ln>
        </p:spPr>
        <p:txBody>
          <a:bodyPr wrap="square" anchor="t">
            <a:spAutoFit/>
          </a:bodyPr>
          <a:p>
            <a:r>
              <a:rPr lang="zh-CN" b="1" dirty="0">
                <a:solidFill>
                  <a:srgbClr val="FF0000"/>
                </a:solidFill>
                <a:latin typeface="Times New Roman" panose="02020603050405020304" pitchFamily="18" charset="0"/>
                <a:ea typeface="宋体" panose="02010600030101010101" pitchFamily="2" charset="-122"/>
              </a:rPr>
              <a:t>正序</a:t>
            </a:r>
            <a:endParaRPr lang="zh-CN" b="1" dirty="0">
              <a:solidFill>
                <a:srgbClr val="FF0000"/>
              </a:solidFill>
              <a:latin typeface="Times New Roman" panose="02020603050405020304" pitchFamily="18" charset="0"/>
              <a:ea typeface="宋体" panose="02010600030101010101" pitchFamily="2" charset="-122"/>
            </a:endParaRPr>
          </a:p>
        </p:txBody>
      </p:sp>
      <p:sp>
        <p:nvSpPr>
          <p:cNvPr id="2" name="文本框 306179"/>
          <p:cNvSpPr txBox="1"/>
          <p:nvPr/>
        </p:nvSpPr>
        <p:spPr>
          <a:xfrm>
            <a:off x="347980" y="2975610"/>
            <a:ext cx="813435" cy="460375"/>
          </a:xfrm>
          <a:prstGeom prst="rect">
            <a:avLst/>
          </a:prstGeom>
          <a:noFill/>
          <a:ln w="9525">
            <a:noFill/>
          </a:ln>
        </p:spPr>
        <p:txBody>
          <a:bodyPr wrap="square" anchor="t">
            <a:spAutoFit/>
          </a:bodyPr>
          <a:p>
            <a:r>
              <a:rPr lang="zh-CN" b="1" dirty="0">
                <a:solidFill>
                  <a:srgbClr val="FF0000"/>
                </a:solidFill>
                <a:latin typeface="Times New Roman" panose="02020603050405020304" pitchFamily="18" charset="0"/>
                <a:ea typeface="宋体" panose="02010600030101010101" pitchFamily="2" charset="-122"/>
              </a:rPr>
              <a:t>级数</a:t>
            </a:r>
            <a:endParaRPr lang="zh-CN" b="1" dirty="0">
              <a:solidFill>
                <a:srgbClr val="FF0000"/>
              </a:solidFill>
              <a:latin typeface="Times New Roman" panose="02020603050405020304" pitchFamily="18" charset="0"/>
              <a:ea typeface="宋体" panose="02010600030101010101" pitchFamily="2" charset="-122"/>
            </a:endParaRPr>
          </a:p>
        </p:txBody>
      </p:sp>
      <p:sp>
        <p:nvSpPr>
          <p:cNvPr id="3" name="文本框 306179"/>
          <p:cNvSpPr txBox="1"/>
          <p:nvPr/>
        </p:nvSpPr>
        <p:spPr>
          <a:xfrm>
            <a:off x="347980" y="3655695"/>
            <a:ext cx="813435" cy="460375"/>
          </a:xfrm>
          <a:prstGeom prst="rect">
            <a:avLst/>
          </a:prstGeom>
          <a:noFill/>
          <a:ln w="9525">
            <a:noFill/>
          </a:ln>
        </p:spPr>
        <p:txBody>
          <a:bodyPr wrap="square" anchor="t">
            <a:spAutoFit/>
          </a:bodyPr>
          <a:p>
            <a:r>
              <a:rPr lang="zh-CN" b="1" dirty="0">
                <a:solidFill>
                  <a:srgbClr val="FF0000"/>
                </a:solidFill>
                <a:latin typeface="Times New Roman" panose="02020603050405020304" pitchFamily="18" charset="0"/>
                <a:ea typeface="宋体" panose="02010600030101010101" pitchFamily="2" charset="-122"/>
              </a:rPr>
              <a:t>距离</a:t>
            </a:r>
            <a:endParaRPr lang="zh-CN" b="1" dirty="0">
              <a:solidFill>
                <a:srgbClr val="FF0000"/>
              </a:solidFill>
              <a:latin typeface="Times New Roman" panose="02020603050405020304" pitchFamily="18" charset="0"/>
              <a:ea typeface="宋体" panose="02010600030101010101" pitchFamily="2" charset="-122"/>
            </a:endParaRPr>
          </a:p>
        </p:txBody>
      </p:sp>
      <p:sp>
        <p:nvSpPr>
          <p:cNvPr id="5" name="文本框 306179"/>
          <p:cNvSpPr txBox="1"/>
          <p:nvPr/>
        </p:nvSpPr>
        <p:spPr>
          <a:xfrm>
            <a:off x="347980" y="4313555"/>
            <a:ext cx="813435" cy="460375"/>
          </a:xfrm>
          <a:prstGeom prst="rect">
            <a:avLst/>
          </a:prstGeom>
          <a:noFill/>
          <a:ln w="9525">
            <a:noFill/>
          </a:ln>
        </p:spPr>
        <p:txBody>
          <a:bodyPr wrap="square" anchor="t">
            <a:spAutoFit/>
          </a:bodyPr>
          <a:p>
            <a:r>
              <a:rPr lang="zh-CN" b="1" dirty="0">
                <a:solidFill>
                  <a:srgbClr val="FF0000"/>
                </a:solidFill>
                <a:latin typeface="Times New Roman" panose="02020603050405020304" pitchFamily="18" charset="0"/>
                <a:ea typeface="宋体" panose="02010600030101010101" pitchFamily="2" charset="-122"/>
              </a:rPr>
              <a:t>指数</a:t>
            </a:r>
            <a:endParaRPr lang="zh-CN"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7"/>
                                        </p:tgtEl>
                                        <p:attrNameLst>
                                          <p:attrName>style.visibility</p:attrName>
                                        </p:attrNameLst>
                                      </p:cBhvr>
                                      <p:to>
                                        <p:strVal val="visible"/>
                                      </p:to>
                                    </p:set>
                                    <p:anim calcmode="lin" valueType="num">
                                      <p:cBhvr additive="base">
                                        <p:cTn id="13" dur="500" fill="hold"/>
                                        <p:tgtEl>
                                          <p:spTgt spid="55297"/>
                                        </p:tgtEl>
                                        <p:attrNameLst>
                                          <p:attrName>ppt_x</p:attrName>
                                        </p:attrNameLst>
                                      </p:cBhvr>
                                      <p:tavLst>
                                        <p:tav tm="0">
                                          <p:val>
                                            <p:strVal val="#ppt_x"/>
                                          </p:val>
                                        </p:tav>
                                        <p:tav tm="100000">
                                          <p:val>
                                            <p:strVal val="#ppt_x"/>
                                          </p:val>
                                        </p:tav>
                                      </p:tavLst>
                                    </p:anim>
                                    <p:anim calcmode="lin" valueType="num">
                                      <p:cBhvr additive="base">
                                        <p:cTn id="14" dur="500" fill="hold"/>
                                        <p:tgtEl>
                                          <p:spTgt spid="5529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5297" grpId="0"/>
      <p:bldP spid="55297" grpId="1"/>
      <p:bldP spid="2" grpId="0"/>
      <p:bldP spid="2" grpId="1"/>
      <p:bldP spid="3" grpId="0"/>
      <p:bldP spid="3" grpId="1"/>
      <p:bldP spid="5" grpId="0"/>
      <p:bldP spid="5"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框 60419"/>
          <p:cNvSpPr txBox="1"/>
          <p:nvPr/>
        </p:nvSpPr>
        <p:spPr>
          <a:xfrm>
            <a:off x="228600" y="609600"/>
            <a:ext cx="8686800" cy="2496820"/>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3.4.2 </a:t>
            </a:r>
            <a:r>
              <a:rPr lang="zh-CN" altLang="en-US" b="1" dirty="0">
                <a:latin typeface="Times New Roman" panose="02020603050405020304" pitchFamily="18" charset="0"/>
                <a:ea typeface="宋体" panose="02010600030101010101" pitchFamily="2" charset="-122"/>
              </a:rPr>
              <a:t>按频率抽取法的运算特点</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按频率抽取法的运算特点与时间抽取法基本相同。从图</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3-15</a:t>
            </a:r>
            <a:r>
              <a:rPr lang="zh-CN" altLang="en-US" dirty="0">
                <a:latin typeface="Times New Roman" panose="02020603050405020304" pitchFamily="18" charset="0"/>
                <a:ea typeface="宋体" panose="02010600030101010101" pitchFamily="2" charset="-122"/>
              </a:rPr>
              <a:t>可以看出，它也是通</a:t>
            </a:r>
            <a:r>
              <a:rPr lang="zh-CN" altLang="en-US" dirty="0">
                <a:latin typeface="Times New Roman" panose="02020603050405020304" pitchFamily="18" charset="0"/>
                <a:ea typeface="宋体" panose="02010600030101010101" pitchFamily="2" charset="-122"/>
              </a:rPr>
              <a:t>过</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个蝶形运算完成的。每一个蝶形结构完成下述基本迭代运算： </a:t>
            </a:r>
            <a:endParaRPr lang="zh-CN" altLang="en-US">
              <a:latin typeface="Times New Roman" panose="02020603050405020304" pitchFamily="18" charset="0"/>
              <a:ea typeface="宋体" panose="02010600030101010101" pitchFamily="2" charset="-122"/>
            </a:endParaRPr>
          </a:p>
        </p:txBody>
      </p:sp>
      <p:graphicFrame>
        <p:nvGraphicFramePr>
          <p:cNvPr id="61442" name="对象 60420"/>
          <p:cNvGraphicFramePr/>
          <p:nvPr/>
        </p:nvGraphicFramePr>
        <p:xfrm>
          <a:off x="2286000" y="3200400"/>
          <a:ext cx="4800600" cy="1300163"/>
        </p:xfrm>
        <a:graphic>
          <a:graphicData uri="http://schemas.openxmlformats.org/presentationml/2006/ole">
            <mc:AlternateContent xmlns:mc="http://schemas.openxmlformats.org/markup-compatibility/2006">
              <mc:Choice xmlns:v="urn:schemas-microsoft-com:vml" Requires="v">
                <p:oleObj spid="_x0000_s3125" name="" r:id="rId1" imgW="1967865" imgH="533400" progId="Equation.3">
                  <p:embed/>
                </p:oleObj>
              </mc:Choice>
              <mc:Fallback>
                <p:oleObj name="" r:id="rId1" imgW="1967865" imgH="533400" progId="Equation.3">
                  <p:embed/>
                  <p:pic>
                    <p:nvPicPr>
                      <p:cNvPr id="0" name="图片 3124"/>
                      <p:cNvPicPr/>
                      <p:nvPr/>
                    </p:nvPicPr>
                    <p:blipFill>
                      <a:blip r:embed="rId2"/>
                      <a:stretch>
                        <a:fillRect/>
                      </a:stretch>
                    </p:blipFill>
                    <p:spPr>
                      <a:xfrm>
                        <a:off x="2286000" y="3200400"/>
                        <a:ext cx="4800600" cy="1300163"/>
                      </a:xfrm>
                      <a:prstGeom prst="rect">
                        <a:avLst/>
                      </a:prstGeom>
                      <a:solidFill>
                        <a:schemeClr val="accent1"/>
                      </a:solidFill>
                      <a:ln w="38100">
                        <a:noFill/>
                        <a:miter/>
                      </a:ln>
                    </p:spPr>
                  </p:pic>
                </p:oleObj>
              </mc:Fallback>
            </mc:AlternateContent>
          </a:graphicData>
        </a:graphic>
      </p:graphicFrame>
      <p:sp>
        <p:nvSpPr>
          <p:cNvPr id="61443" name="文本框 60421"/>
          <p:cNvSpPr txBox="1"/>
          <p:nvPr/>
        </p:nvSpPr>
        <p:spPr>
          <a:xfrm>
            <a:off x="228600" y="492125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表示</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列迭代，</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为整数所在行数，此式的蝶形运算如图</a:t>
            </a:r>
            <a:r>
              <a:rPr lang="en-US" altLang="zh-CN" dirty="0">
                <a:latin typeface="Times New Roman" panose="02020603050405020304" pitchFamily="18" charset="0"/>
                <a:ea typeface="宋体" panose="02010600030101010101" pitchFamily="2" charset="-122"/>
              </a:rPr>
              <a:t>3-16</a:t>
            </a:r>
            <a:r>
              <a:rPr lang="zh-CN" altLang="en-US" dirty="0">
                <a:latin typeface="Times New Roman" panose="02020603050405020304" pitchFamily="18" charset="0"/>
                <a:ea typeface="宋体" panose="02010600030101010101" pitchFamily="2" charset="-122"/>
              </a:rPr>
              <a:t>所示，也</a:t>
            </a:r>
            <a:r>
              <a:rPr lang="zh-CN" altLang="en-US" dirty="0">
                <a:latin typeface="Times New Roman" panose="02020603050405020304" pitchFamily="18" charset="0"/>
                <a:ea typeface="宋体" panose="02010600030101010101" pitchFamily="2" charset="-122"/>
              </a:rPr>
              <a:t>需要一次复乘和两次复加。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文本框 59395"/>
          <p:cNvSpPr txBox="1"/>
          <p:nvPr/>
        </p:nvSpPr>
        <p:spPr>
          <a:xfrm>
            <a:off x="2209800" y="4800600"/>
            <a:ext cx="462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3-16 </a:t>
            </a:r>
            <a:r>
              <a:rPr lang="zh-CN" altLang="en-US" dirty="0">
                <a:latin typeface="Times New Roman" panose="02020603050405020304" pitchFamily="18" charset="0"/>
                <a:ea typeface="宋体" panose="02010600030101010101" pitchFamily="2" charset="-122"/>
              </a:rPr>
              <a:t>频率抽取法蝶形运算单元 </a:t>
            </a:r>
            <a:endParaRPr lang="zh-CN" altLang="en-US">
              <a:latin typeface="Times New Roman" panose="02020603050405020304" pitchFamily="18" charset="0"/>
              <a:ea typeface="宋体" panose="02010600030101010101" pitchFamily="2" charset="-122"/>
            </a:endParaRPr>
          </a:p>
        </p:txBody>
      </p:sp>
      <p:pic>
        <p:nvPicPr>
          <p:cNvPr id="62466" name="图片 59398" descr="3-16"/>
          <p:cNvPicPr>
            <a:picLocks noChangeAspect="1"/>
          </p:cNvPicPr>
          <p:nvPr/>
        </p:nvPicPr>
        <p:blipFill>
          <a:blip r:embed="rId1"/>
          <a:stretch>
            <a:fillRect/>
          </a:stretch>
        </p:blipFill>
        <p:spPr>
          <a:xfrm>
            <a:off x="1714500" y="2971800"/>
            <a:ext cx="5715000" cy="914400"/>
          </a:xfrm>
          <a:prstGeom prst="rect">
            <a:avLst/>
          </a:prstGeom>
          <a:solidFill>
            <a:schemeClr val="accent1"/>
          </a:solidFill>
          <a:ln w="9525">
            <a:noFill/>
          </a:ln>
        </p:spPr>
      </p:pic>
    </p:spTree>
  </p:cSld>
  <p:clrMapOvr>
    <a:masterClrMapping/>
  </p:clrMapOvr>
  <p:transition>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文本框 62467"/>
          <p:cNvSpPr txBox="1"/>
          <p:nvPr/>
        </p:nvSpPr>
        <p:spPr>
          <a:xfrm>
            <a:off x="449263" y="765175"/>
            <a:ext cx="8299450" cy="470217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由图</a:t>
            </a:r>
            <a:r>
              <a:rPr lang="en-US" altLang="zh-CN" dirty="0">
                <a:latin typeface="Times New Roman" panose="02020603050405020304" pitchFamily="18" charset="0"/>
                <a:ea typeface="宋体" panose="02010600030101010101" pitchFamily="2" charset="-122"/>
              </a:rPr>
              <a:t>3-15</a:t>
            </a:r>
            <a:r>
              <a:rPr lang="zh-CN" altLang="en-US" dirty="0">
                <a:latin typeface="Times New Roman" panose="02020603050405020304" pitchFamily="18" charset="0"/>
                <a:ea typeface="宋体" panose="02010600030101010101" pitchFamily="2" charset="-122"/>
              </a:rPr>
              <a:t>与图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相比较，初看起来，</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法与</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法的区别是： 图</a:t>
            </a:r>
            <a:r>
              <a:rPr lang="en-US" altLang="zh-CN" dirty="0">
                <a:latin typeface="Times New Roman" panose="02020603050405020304" pitchFamily="18" charset="0"/>
                <a:ea typeface="宋体" panose="02010600030101010101" pitchFamily="2" charset="-122"/>
              </a:rPr>
              <a:t>3-15</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输入是自然顺序， 输出是倒位序的，这与图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法正好相反。但这不是实质性的区别，因为</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法与</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法一样，都可将输入或输出进行重排，使二者的输入或输出顺序变成自然顺序或倒位序顺序。</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的基本蝶形（图</a:t>
            </a:r>
            <a:r>
              <a:rPr lang="en-US" altLang="zh-CN" dirty="0">
                <a:latin typeface="Times New Roman" panose="02020603050405020304" pitchFamily="18" charset="0"/>
                <a:ea typeface="宋体" panose="02010600030101010101" pitchFamily="2" charset="-122"/>
              </a:rPr>
              <a:t>3-16</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的基本蝶形（图</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）则有所不同，这才</a:t>
            </a:r>
            <a:r>
              <a:rPr lang="zh-CN" altLang="en-US" dirty="0">
                <a:latin typeface="Times New Roman" panose="02020603050405020304" pitchFamily="18" charset="0"/>
                <a:ea typeface="宋体" panose="02010600030101010101" pitchFamily="2" charset="-122"/>
              </a:rPr>
              <a:t>是实质的不同，</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的复数乘法只出现在减法之后，</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则是先作复乘后再作加减法。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61443"/>
          <p:cNvSpPr txBox="1"/>
          <p:nvPr/>
        </p:nvSpPr>
        <p:spPr>
          <a:xfrm>
            <a:off x="304800" y="838200"/>
            <a:ext cx="8534400" cy="4076700"/>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但是，</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就运算量来说则是相同的，即都有</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级（列）运算， 每级运算需</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个蝶形运算来完成，总共需要</a:t>
            </a:r>
            <a:r>
              <a:rPr lang="en-US" altLang="zh-CN">
                <a:latin typeface="Times New Roman" panose="02020603050405020304" pitchFamily="18" charset="0"/>
                <a:ea typeface="宋体" panose="02010600030101010101" pitchFamily="2" charset="-122"/>
              </a:rPr>
              <a:t>m</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/2) lb</a:t>
            </a:r>
            <a:r>
              <a:rPr lang="en-US" altLang="zh-CN" i="1" err="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次复乘与</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 lb</a:t>
            </a:r>
            <a:r>
              <a:rPr lang="en-US" altLang="zh-CN" i="1" err="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次复加，</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法与</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法都可进行原位运算。频率抽取</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算法的输入是自然顺序，输出是倒位序的。 因此运算完毕后， 要通过变址计算将倒位序转换成自</a:t>
            </a:r>
            <a:r>
              <a:rPr lang="zh-CN" altLang="en-US" dirty="0">
                <a:latin typeface="Times New Roman" panose="02020603050405020304" pitchFamily="18" charset="0"/>
                <a:ea typeface="宋体" panose="02010600030101010101" pitchFamily="2" charset="-122"/>
              </a:rPr>
              <a:t>然位序，然后再输出。 转换方法与时间抽取法相同。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文本框 64515"/>
          <p:cNvSpPr txBox="1"/>
          <p:nvPr/>
        </p:nvSpPr>
        <p:spPr>
          <a:xfrm>
            <a:off x="225425" y="449263"/>
            <a:ext cx="8523288" cy="578802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由按时间抽取法与按频率抽取法的基本蝶形（图</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与图</a:t>
            </a:r>
            <a:r>
              <a:rPr lang="en-US" altLang="zh-CN" dirty="0">
                <a:latin typeface="Times New Roman" panose="02020603050405020304" pitchFamily="18" charset="0"/>
                <a:ea typeface="宋体" panose="02010600030101010101" pitchFamily="2" charset="-122"/>
              </a:rPr>
              <a:t>3-16</a:t>
            </a:r>
            <a:r>
              <a:rPr lang="zh-CN" altLang="en-US" dirty="0">
                <a:latin typeface="Times New Roman" panose="02020603050405020304" pitchFamily="18" charset="0"/>
                <a:ea typeface="宋体" panose="02010600030101010101" pitchFamily="2" charset="-122"/>
              </a:rPr>
              <a:t>）运算看出，如果将</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的基本蝶形加以转置，就得到</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的基本蝶形</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反过来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将</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的基本蝶形加以转置，就得到</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的基本蝶形， 因而</a:t>
            </a:r>
            <a:r>
              <a:rPr lang="en-US" altLang="zh-CN" dirty="0">
                <a:latin typeface="Times New Roman" panose="02020603050405020304" pitchFamily="18" charset="0"/>
                <a:ea typeface="宋体" panose="02010600030101010101" pitchFamily="2" charset="-122"/>
              </a:rPr>
              <a:t>DIT</a:t>
            </a:r>
            <a:r>
              <a:rPr lang="zh-CN" altLang="en-US" dirty="0">
                <a:latin typeface="Times New Roman" panose="02020603050405020304" pitchFamily="18" charset="0"/>
                <a:ea typeface="宋体" panose="02010600030101010101" pitchFamily="2" charset="-122"/>
              </a:rPr>
              <a:t>法与</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法的基本蝶形是互为转置的。按照转置定理， 两个流图的输入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输出特性必然相同。转置就是将流图的所有支路方向都反向，并且交换输入与输出，但节点变量值不交换，这样即可从图</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得到图</a:t>
            </a:r>
            <a:r>
              <a:rPr lang="en-US" altLang="zh-CN" dirty="0">
                <a:latin typeface="Times New Roman" panose="02020603050405020304" pitchFamily="18" charset="0"/>
                <a:ea typeface="宋体" panose="02010600030101010101" pitchFamily="2" charset="-122"/>
              </a:rPr>
              <a:t>3-16</a:t>
            </a:r>
            <a:r>
              <a:rPr lang="zh-CN" altLang="en-US" dirty="0">
                <a:latin typeface="Times New Roman" panose="02020603050405020304" pitchFamily="18" charset="0"/>
                <a:ea typeface="宋体" panose="02010600030101010101" pitchFamily="2" charset="-122"/>
              </a:rPr>
              <a:t>或者从图</a:t>
            </a:r>
            <a:r>
              <a:rPr lang="en-US" altLang="zh-CN" dirty="0">
                <a:latin typeface="Times New Roman" panose="02020603050405020304" pitchFamily="18" charset="0"/>
                <a:ea typeface="宋体" panose="02010600030101010101" pitchFamily="2" charset="-122"/>
              </a:rPr>
              <a:t>3-16</a:t>
            </a:r>
            <a:r>
              <a:rPr lang="zh-CN" altLang="en-US" dirty="0">
                <a:latin typeface="Times New Roman" panose="02020603050405020304" pitchFamily="18" charset="0"/>
                <a:ea typeface="宋体" panose="02010600030101010101" pitchFamily="2" charset="-122"/>
              </a:rPr>
              <a:t>得到图</a:t>
            </a:r>
            <a:r>
              <a:rPr lang="en-US" altLang="zh-CN" dirty="0">
                <a:latin typeface="Times New Roman" panose="02020603050405020304" pitchFamily="18" charset="0"/>
                <a:ea typeface="宋体" panose="02010600030101010101" pitchFamily="2" charset="-122"/>
              </a:rPr>
              <a:t>3-6</a:t>
            </a:r>
            <a:r>
              <a:rPr lang="zh-CN" altLang="en-US" dirty="0">
                <a:latin typeface="Times New Roman" panose="02020603050405020304" pitchFamily="18" charset="0"/>
                <a:ea typeface="宋体" panose="02010600030101010101" pitchFamily="2" charset="-122"/>
              </a:rPr>
              <a:t>，因而对每一种按时间抽取的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流图都存在一个按频率抽取的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流图。这样把图</a:t>
            </a:r>
            <a:r>
              <a:rPr lang="en-US" altLang="zh-CN" dirty="0">
                <a:latin typeface="Times New Roman" panose="02020603050405020304" pitchFamily="18" charset="0"/>
                <a:ea typeface="宋体" panose="02010600030101010101" pitchFamily="2" charset="-122"/>
              </a:rPr>
              <a:t>3-5</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3-11</a:t>
            </a:r>
            <a:r>
              <a:rPr lang="zh-CN" altLang="en-US" dirty="0">
                <a:latin typeface="Times New Roman" panose="02020603050405020304" pitchFamily="18" charset="0"/>
                <a:ea typeface="宋体" panose="02010600030101010101" pitchFamily="2" charset="-122"/>
              </a:rPr>
              <a:t>的流图分别加以转置，就可得到不同</a:t>
            </a:r>
            <a:r>
              <a:rPr lang="en-US" altLang="zh-CN" dirty="0">
                <a:latin typeface="Times New Roman" panose="02020603050405020304" pitchFamily="18" charset="0"/>
                <a:ea typeface="宋体" panose="02010600030101010101" pitchFamily="2" charset="-122"/>
              </a:rPr>
              <a:t>DIF</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流图。因此可以说，有多少种按时间抽取的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流图就存在多</a:t>
            </a:r>
            <a:r>
              <a:rPr lang="zh-CN" altLang="en-US" dirty="0">
                <a:latin typeface="Times New Roman" panose="02020603050405020304" pitchFamily="18" charset="0"/>
                <a:ea typeface="宋体" panose="02010600030101010101" pitchFamily="2" charset="-122"/>
              </a:rPr>
              <a:t>少种按频率抽取的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流图。频率抽取法与时间抽取法是两种等价的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3275965" y="3860800"/>
            <a:ext cx="2247265" cy="43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267335" y="3860800"/>
            <a:ext cx="1652905" cy="4533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561" name="文本框 63491"/>
          <p:cNvSpPr txBox="1"/>
          <p:nvPr/>
        </p:nvSpPr>
        <p:spPr>
          <a:xfrm>
            <a:off x="2133600" y="868363"/>
            <a:ext cx="4900613" cy="579437"/>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3.5 </a:t>
            </a:r>
            <a:r>
              <a:rPr lang="en-US" altLang="zh-CN" sz="3200" b="1" i="1">
                <a:latin typeface="Times New Roman" panose="02020603050405020304" pitchFamily="18" charset="0"/>
                <a:ea typeface="宋体" panose="02010600030101010101" pitchFamily="2" charset="-122"/>
              </a:rPr>
              <a:t> N</a:t>
            </a:r>
            <a:r>
              <a:rPr lang="zh-CN" altLang="en-US" sz="3200" b="1" dirty="0">
                <a:latin typeface="Times New Roman" panose="02020603050405020304" pitchFamily="18" charset="0"/>
                <a:ea typeface="宋体" panose="02010600030101010101" pitchFamily="2" charset="-122"/>
              </a:rPr>
              <a:t>为复合数的</a:t>
            </a:r>
            <a:r>
              <a:rPr lang="en-US" altLang="zh-CN" sz="3200" b="1" dirty="0">
                <a:latin typeface="Times New Roman" panose="02020603050405020304" pitchFamily="18" charset="0"/>
                <a:ea typeface="宋体" panose="02010600030101010101" pitchFamily="2" charset="-122"/>
              </a:rPr>
              <a:t>FFT</a:t>
            </a:r>
            <a:r>
              <a:rPr lang="zh-CN" altLang="en-US" sz="3200" b="1" dirty="0">
                <a:latin typeface="Times New Roman" panose="02020603050405020304" pitchFamily="18" charset="0"/>
                <a:ea typeface="宋体" panose="02010600030101010101" pitchFamily="2" charset="-122"/>
              </a:rPr>
              <a:t>算法 </a:t>
            </a:r>
            <a:endParaRPr lang="zh-CN" altLang="en-US" sz="3200" b="1">
              <a:latin typeface="Times New Roman" panose="02020603050405020304" pitchFamily="18" charset="0"/>
              <a:ea typeface="宋体" panose="02010600030101010101" pitchFamily="2" charset="-122"/>
            </a:endParaRPr>
          </a:p>
        </p:txBody>
      </p:sp>
      <p:sp>
        <p:nvSpPr>
          <p:cNvPr id="66562" name="文本框 63492"/>
          <p:cNvSpPr txBox="1"/>
          <p:nvPr/>
        </p:nvSpPr>
        <p:spPr>
          <a:xfrm>
            <a:off x="152400" y="1752600"/>
            <a:ext cx="8763000" cy="411797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上面讨论的是序列的点数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的幂次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情况下，按时间抽取和按频率抽取的基 </a:t>
            </a:r>
            <a:r>
              <a:rPr lang="en-US" altLang="zh-CN" dirty="0">
                <a:latin typeface="Times New Roman" panose="02020603050405020304" pitchFamily="18" charset="0"/>
                <a:ea typeface="宋体" panose="02010600030101010101" pitchFamily="2" charset="-122"/>
              </a:rPr>
              <a:t>-2FFT</a:t>
            </a:r>
            <a:r>
              <a:rPr lang="zh-CN" altLang="en-US" dirty="0">
                <a:latin typeface="Times New Roman" panose="02020603050405020304" pitchFamily="18" charset="0"/>
                <a:ea typeface="宋体" panose="02010600030101010101" pitchFamily="2" charset="-122"/>
              </a:rPr>
              <a:t>算法的基本原理。这种基</a:t>
            </a:r>
            <a:r>
              <a:rPr lang="en-US" altLang="zh-CN" dirty="0">
                <a:latin typeface="Times New Roman" panose="02020603050405020304" pitchFamily="18" charset="0"/>
                <a:ea typeface="宋体" panose="02010600030101010101" pitchFamily="2" charset="-122"/>
              </a:rPr>
              <a:t>-2FFT</a:t>
            </a:r>
            <a:r>
              <a:rPr lang="zh-CN" altLang="en-US" dirty="0">
                <a:latin typeface="Times New Roman" panose="02020603050405020304" pitchFamily="18" charset="0"/>
                <a:ea typeface="宋体" panose="02010600030101010101" pitchFamily="2" charset="-122"/>
              </a:rPr>
              <a:t>算法在实际中使用得最多，因为它的程序简单，效率高，使用方便。但实际上无法保证总是处理长度为</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的整数幂次的序列。若不满足</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，可将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增补一些零值点，以使</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增长到最邻近的一个</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数值。 有限长序列补零之后，并不影响其频谱</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，只不过其频谱的抽样点数增加了，所造成的结果是增加了计算量而已。 但是，有时计算量增加太多，浪</a:t>
            </a:r>
            <a:r>
              <a:rPr lang="zh-CN" altLang="en-US" dirty="0">
                <a:latin typeface="Times New Roman" panose="02020603050405020304" pitchFamily="18" charset="0"/>
                <a:ea typeface="宋体" panose="02010600030101010101" pitchFamily="2" charset="-122"/>
              </a:rPr>
              <a:t>费较大。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文本框 66563"/>
          <p:cNvSpPr txBox="1"/>
          <p:nvPr/>
        </p:nvSpPr>
        <p:spPr>
          <a:xfrm>
            <a:off x="228600" y="533400"/>
            <a:ext cx="8686800" cy="571182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例如</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的点数</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=300</a:t>
            </a:r>
            <a:r>
              <a:rPr lang="zh-CN" altLang="en-US" dirty="0">
                <a:latin typeface="Times New Roman" panose="02020603050405020304" pitchFamily="18" charset="0"/>
                <a:ea typeface="宋体" panose="02010600030101010101" pitchFamily="2" charset="-122"/>
              </a:rPr>
              <a:t>，则须补到</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baseline="30000">
                <a:latin typeface="Times New Roman" panose="02020603050405020304" pitchFamily="18" charset="0"/>
                <a:ea typeface="宋体" panose="02010600030101010101" pitchFamily="2" charset="-122"/>
              </a:rPr>
              <a:t>9</a:t>
            </a:r>
            <a:r>
              <a:rPr lang="en-US" altLang="zh-CN" dirty="0">
                <a:latin typeface="Times New Roman" panose="02020603050405020304" pitchFamily="18" charset="0"/>
                <a:ea typeface="宋体" panose="02010600030101010101" pitchFamily="2" charset="-122"/>
              </a:rPr>
              <a:t>=512</a:t>
            </a:r>
            <a:r>
              <a:rPr lang="zh-CN" altLang="en-US" dirty="0">
                <a:latin typeface="Times New Roman" panose="02020603050405020304" pitchFamily="18" charset="0"/>
                <a:ea typeface="宋体" panose="02010600030101010101" pitchFamily="2" charset="-122"/>
              </a:rPr>
              <a:t>，要补</a:t>
            </a:r>
            <a:r>
              <a:rPr lang="en-US" altLang="zh-CN" dirty="0">
                <a:latin typeface="Times New Roman" panose="02020603050405020304" pitchFamily="18" charset="0"/>
                <a:ea typeface="宋体" panose="02010600030101010101" pitchFamily="2" charset="-122"/>
              </a:rPr>
              <a:t>212</a:t>
            </a:r>
            <a:r>
              <a:rPr lang="zh-CN" altLang="en-US" dirty="0">
                <a:latin typeface="Times New Roman" panose="02020603050405020304" pitchFamily="18" charset="0"/>
                <a:ea typeface="宋体" panose="02010600030101010101" pitchFamily="2" charset="-122"/>
              </a:rPr>
              <a:t>个零值点，因而人们才研究</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时的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若</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是一个复合数，即它可以分解成一些因子的乘积，则可以用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的一般算法，即混合基</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算法，如库利</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图基（</a:t>
            </a:r>
            <a:r>
              <a:rPr lang="en-US" altLang="zh-CN" err="1">
                <a:latin typeface="Times New Roman" panose="02020603050405020304" pitchFamily="18" charset="0"/>
                <a:ea typeface="宋体" panose="02010600030101010101" pitchFamily="2" charset="-122"/>
              </a:rPr>
              <a:t>Cooley</a:t>
            </a:r>
            <a:r>
              <a:rPr lang="zh-CN" altLang="en-US" err="1">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Tukey</a:t>
            </a:r>
            <a:r>
              <a:rPr lang="zh-CN" altLang="en-US" dirty="0">
                <a:latin typeface="Times New Roman" panose="02020603050405020304" pitchFamily="18" charset="0"/>
                <a:ea typeface="宋体" panose="02010600030101010101" pitchFamily="2" charset="-122"/>
              </a:rPr>
              <a:t>）算法，而基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算法只是这种一般算法的特例。这里， 我们不作详细介绍， 感兴趣的话可参考文献［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总之，不管采用什么方法，计算</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的高效算法是把计算长度为</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的序列的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逐</a:t>
            </a:r>
            <a:r>
              <a:rPr lang="zh-CN" altLang="en-US" dirty="0">
                <a:latin typeface="Times New Roman" panose="02020603050405020304" pitchFamily="18" charset="0"/>
                <a:ea typeface="宋体" panose="02010600030101010101" pitchFamily="2" charset="-122"/>
              </a:rPr>
              <a:t>次分解成计算长度较短序列的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。这是很多高效算法的标准方法和基本原理。</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043305" y="5085080"/>
            <a:ext cx="1811655" cy="4533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3420110" y="4580890"/>
            <a:ext cx="1896745" cy="511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1907540" y="476250"/>
            <a:ext cx="5047615" cy="6242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609" name="文本框 65539"/>
          <p:cNvSpPr txBox="1"/>
          <p:nvPr/>
        </p:nvSpPr>
        <p:spPr>
          <a:xfrm>
            <a:off x="1309688" y="533400"/>
            <a:ext cx="6575425" cy="519113"/>
          </a:xfrm>
          <a:prstGeom prst="rect">
            <a:avLst/>
          </a:prstGeom>
          <a:noFill/>
          <a:ln w="9525">
            <a:noFill/>
          </a:ln>
        </p:spPr>
        <p:txBody>
          <a:bodyPr wrap="none" anchor="t">
            <a:spAutoFit/>
          </a:bodyPr>
          <a:p>
            <a:r>
              <a:rPr lang="en-US" altLang="zh-CN" sz="2800" b="1" dirty="0">
                <a:latin typeface="Times New Roman" panose="02020603050405020304" pitchFamily="18" charset="0"/>
                <a:ea typeface="宋体" panose="02010600030101010101" pitchFamily="2" charset="-122"/>
              </a:rPr>
              <a:t>3.6 </a:t>
            </a:r>
            <a:r>
              <a:rPr lang="zh-CN" altLang="en-US" sz="2800" b="1" dirty="0">
                <a:latin typeface="Times New Roman" panose="02020603050405020304" pitchFamily="18" charset="0"/>
                <a:ea typeface="宋体" panose="02010600030101010101" pitchFamily="2" charset="-122"/>
              </a:rPr>
              <a:t>线性调频</a:t>
            </a:r>
            <a:r>
              <a:rPr lang="en-US" altLang="zh-CN" sz="2800" b="1" i="1">
                <a:latin typeface="Times New Roman" panose="02020603050405020304" pitchFamily="18" charset="0"/>
                <a:ea typeface="宋体" panose="02010600030101010101" pitchFamily="2" charset="-122"/>
              </a:rPr>
              <a:t>Z</a:t>
            </a:r>
            <a:r>
              <a:rPr lang="zh-CN" altLang="en-US" sz="2800" b="1" dirty="0">
                <a:latin typeface="Times New Roman" panose="02020603050405020304" pitchFamily="18" charset="0"/>
                <a:ea typeface="宋体" panose="02010600030101010101" pitchFamily="2" charset="-122"/>
              </a:rPr>
              <a:t>变换（</a:t>
            </a:r>
            <a:r>
              <a:rPr lang="en-US" altLang="zh-CN" sz="2800" b="1" dirty="0">
                <a:latin typeface="Times New Roman" panose="02020603050405020304" pitchFamily="18" charset="0"/>
                <a:ea typeface="宋体" panose="02010600030101010101" pitchFamily="2" charset="-122"/>
              </a:rPr>
              <a:t>Chirp-Z</a:t>
            </a:r>
            <a:r>
              <a:rPr lang="zh-CN" altLang="en-US" sz="2800" b="1" dirty="0">
                <a:latin typeface="Times New Roman" panose="02020603050405020304" pitchFamily="18" charset="0"/>
                <a:ea typeface="宋体" panose="02010600030101010101" pitchFamily="2" charset="-122"/>
              </a:rPr>
              <a:t>变换）算法 </a:t>
            </a:r>
            <a:endParaRPr lang="zh-CN" altLang="en-US" sz="2800" b="1">
              <a:latin typeface="Times New Roman" panose="02020603050405020304" pitchFamily="18" charset="0"/>
              <a:ea typeface="宋体" panose="02010600030101010101" pitchFamily="2" charset="-122"/>
            </a:endParaRPr>
          </a:p>
        </p:txBody>
      </p:sp>
      <p:sp>
        <p:nvSpPr>
          <p:cNvPr id="68610" name="文本框 65542"/>
          <p:cNvSpPr txBox="1"/>
          <p:nvPr/>
        </p:nvSpPr>
        <p:spPr>
          <a:xfrm>
            <a:off x="323850" y="1052513"/>
            <a:ext cx="8604250" cy="5408612"/>
          </a:xfrm>
          <a:prstGeom prst="rect">
            <a:avLst/>
          </a:prstGeom>
          <a:noFill/>
          <a:ln w="9525">
            <a:noFill/>
          </a:ln>
        </p:spPr>
        <p:txBody>
          <a:bodyPr anchor="t">
            <a:spAutoFit/>
          </a:bodyPr>
          <a:p>
            <a:pPr>
              <a:lnSpc>
                <a:spcPct val="120000"/>
              </a:lnSpc>
            </a:pPr>
            <a:r>
              <a:rPr lang="zh-CN" altLang="en-US" dirty="0">
                <a:latin typeface="Times New Roman" panose="02020603050405020304" pitchFamily="18" charset="0"/>
                <a:ea typeface="宋体" panose="02010600030101010101" pitchFamily="2" charset="-122"/>
              </a:rPr>
              <a:t>　　前面已讲过，采用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算法可以很快算出全部</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值，也就是算出有限长序列</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平面单位圆上</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个等间隔采样点</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处的采样值。  </a:t>
            </a:r>
            <a:endParaRPr lang="zh-CN" altLang="en-US" dirty="0">
              <a:latin typeface="Times New Roman" panose="02020603050405020304" pitchFamily="18" charset="0"/>
              <a:ea typeface="宋体" panose="02010600030101010101" pitchFamily="2" charset="-122"/>
            </a:endParaRPr>
          </a:p>
          <a:p>
            <a:pPr>
              <a:lnSpc>
                <a:spcPct val="120000"/>
              </a:lnSpc>
            </a:pPr>
            <a:r>
              <a:rPr lang="zh-CN" altLang="en-US" dirty="0">
                <a:latin typeface="Times New Roman" panose="02020603050405020304" pitchFamily="18" charset="0"/>
                <a:ea typeface="宋体" panose="02010600030101010101" pitchFamily="2" charset="-122"/>
              </a:rPr>
              <a:t>　　实际上，</a:t>
            </a:r>
            <a:r>
              <a:rPr lang="zh-CN" altLang="en-US" b="1" dirty="0">
                <a:solidFill>
                  <a:srgbClr val="C00000"/>
                </a:solidFill>
                <a:latin typeface="Times New Roman" panose="02020603050405020304" pitchFamily="18" charset="0"/>
                <a:ea typeface="宋体" panose="02010600030101010101" pitchFamily="2" charset="-122"/>
              </a:rPr>
              <a:t>常常只对信号的某一频段感兴趣，也就是只需要计算单位圆上某一段的频谱值。</a:t>
            </a:r>
            <a:r>
              <a:rPr lang="zh-CN" altLang="en-US" dirty="0">
                <a:latin typeface="Times New Roman" panose="02020603050405020304" pitchFamily="18" charset="0"/>
                <a:ea typeface="宋体" panose="02010600030101010101" pitchFamily="2" charset="-122"/>
              </a:rPr>
              <a:t>例如， 对窄带信号就是这样，希望在窄带频带内频率的采样能够非常密集，分辨率要高，带外则不予考虑；如果用</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方法， 则需增加频域采样点数， 增加了窄带之外不需要的计算量。 此外，有时也对非单位圆上的采样感兴趣。例如，在语音信号处理中， 常常需要知道其</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变换的极点所在频率，如果极点位置离单位圆较远， 如图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17(a)</a:t>
            </a:r>
            <a:r>
              <a:rPr lang="zh-CN" altLang="en-US" dirty="0">
                <a:latin typeface="Times New Roman" panose="02020603050405020304" pitchFamily="18" charset="0"/>
                <a:ea typeface="宋体" panose="02010600030101010101" pitchFamily="2" charset="-122"/>
              </a:rPr>
              <a:t>上图所示，则其单位圆上的频谱就很平滑，如图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17(a)</a:t>
            </a:r>
            <a:r>
              <a:rPr lang="zh-CN" altLang="en-US" dirty="0">
                <a:latin typeface="Times New Roman" panose="02020603050405020304" pitchFamily="18" charset="0"/>
                <a:ea typeface="宋体" panose="02010600030101010101" pitchFamily="2" charset="-122"/>
              </a:rPr>
              <a:t>下图，这时很难从中识别出极点所在的频率</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框 307203"/>
          <p:cNvSpPr txBox="1"/>
          <p:nvPr/>
        </p:nvSpPr>
        <p:spPr>
          <a:xfrm>
            <a:off x="2484438" y="5607050"/>
            <a:ext cx="4508500" cy="701675"/>
          </a:xfrm>
          <a:prstGeom prst="rect">
            <a:avLst/>
          </a:prstGeom>
          <a:no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3-17 </a:t>
            </a:r>
            <a:r>
              <a:rPr lang="zh-CN" altLang="en-US" sz="2000" dirty="0">
                <a:latin typeface="Times New Roman" panose="02020603050405020304" pitchFamily="18" charset="0"/>
                <a:ea typeface="宋体" panose="02010600030101010101" pitchFamily="2" charset="-122"/>
              </a:rPr>
              <a:t>单位圆与非单位圆采样</a:t>
            </a:r>
            <a:endParaRPr lang="zh-CN" altLang="en-US" sz="2000" dirty="0">
              <a:latin typeface="Times New Roman" panose="02020603050405020304" pitchFamily="18" charset="0"/>
              <a:ea typeface="宋体" panose="02010600030101010101" pitchFamily="2" charset="-122"/>
            </a:endParaRPr>
          </a:p>
          <a:p>
            <a:pPr algn="ct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 沿单位圆采样</a:t>
            </a:r>
            <a:r>
              <a:rPr lang="en-US" altLang="zh-CN" sz="2000" dirty="0">
                <a:latin typeface="Times New Roman" panose="02020603050405020304" pitchFamily="18" charset="0"/>
                <a:ea typeface="宋体" panose="02010600030101010101" pitchFamily="2" charset="-122"/>
              </a:rPr>
              <a:t>;    (b) </a:t>
            </a:r>
            <a:r>
              <a:rPr lang="zh-CN" altLang="en-US" sz="2000" dirty="0">
                <a:latin typeface="Times New Roman" panose="02020603050405020304" pitchFamily="18" charset="0"/>
                <a:ea typeface="宋体" panose="02010600030101010101" pitchFamily="2" charset="-122"/>
              </a:rPr>
              <a:t>沿</a:t>
            </a:r>
            <a:r>
              <a:rPr lang="en-US" altLang="zh-CN" sz="2000" dirty="0">
                <a:latin typeface="Times New Roman" panose="02020603050405020304" pitchFamily="18" charset="0"/>
                <a:ea typeface="宋体" panose="02010600030101010101" pitchFamily="2" charset="-122"/>
              </a:rPr>
              <a:t>AB</a:t>
            </a:r>
            <a:r>
              <a:rPr lang="zh-CN" altLang="en-US" sz="2000" dirty="0">
                <a:latin typeface="Times New Roman" panose="02020603050405020304" pitchFamily="18" charset="0"/>
                <a:ea typeface="宋体" panose="02010600030101010101" pitchFamily="2" charset="-122"/>
              </a:rPr>
              <a:t>弧采样 </a:t>
            </a:r>
            <a:endParaRPr lang="zh-CN" altLang="en-US" sz="2000">
              <a:latin typeface="Times New Roman" panose="02020603050405020304" pitchFamily="18" charset="0"/>
              <a:ea typeface="宋体" panose="02010600030101010101" pitchFamily="2" charset="-122"/>
            </a:endParaRPr>
          </a:p>
        </p:txBody>
      </p:sp>
      <p:pic>
        <p:nvPicPr>
          <p:cNvPr id="70658" name="图片 307205" descr="3-17"/>
          <p:cNvPicPr>
            <a:picLocks noChangeAspect="1"/>
          </p:cNvPicPr>
          <p:nvPr>
            <p:custDataLst>
              <p:tags r:id="rId1"/>
            </p:custDataLst>
          </p:nvPr>
        </p:nvPicPr>
        <p:blipFill>
          <a:blip r:embed="rId2"/>
          <a:stretch>
            <a:fillRect/>
          </a:stretch>
        </p:blipFill>
        <p:spPr>
          <a:xfrm>
            <a:off x="1809750" y="1125538"/>
            <a:ext cx="5524500" cy="4286250"/>
          </a:xfrm>
          <a:prstGeom prst="rect">
            <a:avLst/>
          </a:prstGeom>
          <a:noFill/>
          <a:ln w="9525">
            <a:noFill/>
          </a:ln>
        </p:spPr>
      </p:pic>
      <p:sp>
        <p:nvSpPr>
          <p:cNvPr id="4" name="任意多边形 3"/>
          <p:cNvSpPr/>
          <p:nvPr/>
        </p:nvSpPr>
        <p:spPr>
          <a:xfrm>
            <a:off x="5259070" y="1675130"/>
            <a:ext cx="1454150" cy="632460"/>
          </a:xfrm>
          <a:custGeom>
            <a:avLst/>
            <a:gdLst>
              <a:gd name="connisteX0" fmla="*/ 1454150 w 1454150"/>
              <a:gd name="connsiteY0" fmla="*/ 632456 h 632456"/>
              <a:gd name="connisteX1" fmla="*/ 1343025 w 1454150"/>
              <a:gd name="connsiteY1" fmla="*/ 432431 h 632456"/>
              <a:gd name="connisteX2" fmla="*/ 1187450 w 1454150"/>
              <a:gd name="connsiteY2" fmla="*/ 266061 h 632456"/>
              <a:gd name="connisteX3" fmla="*/ 1087755 w 1454150"/>
              <a:gd name="connsiteY3" fmla="*/ 177161 h 632456"/>
              <a:gd name="connisteX4" fmla="*/ 943610 w 1454150"/>
              <a:gd name="connsiteY4" fmla="*/ 111121 h 632456"/>
              <a:gd name="connisteX5" fmla="*/ 710565 w 1454150"/>
              <a:gd name="connsiteY5" fmla="*/ 10791 h 632456"/>
              <a:gd name="connisteX6" fmla="*/ 510540 w 1454150"/>
              <a:gd name="connsiteY6" fmla="*/ 10791 h 632456"/>
              <a:gd name="connisteX7" fmla="*/ 377190 w 1454150"/>
              <a:gd name="connsiteY7" fmla="*/ 44446 h 632456"/>
              <a:gd name="connisteX8" fmla="*/ 266700 w 1454150"/>
              <a:gd name="connsiteY8" fmla="*/ 111121 h 632456"/>
              <a:gd name="connisteX9" fmla="*/ 133350 w 1454150"/>
              <a:gd name="connsiteY9" fmla="*/ 199386 h 632456"/>
              <a:gd name="connisteX10" fmla="*/ 66675 w 1454150"/>
              <a:gd name="connsiteY10" fmla="*/ 354961 h 632456"/>
              <a:gd name="connisteX11" fmla="*/ 44450 w 1454150"/>
              <a:gd name="connsiteY11" fmla="*/ 443861 h 632456"/>
              <a:gd name="connisteX12" fmla="*/ 0 w 1454150"/>
              <a:gd name="connsiteY12" fmla="*/ 521331 h 63245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Lst>
            <a:rect l="l" t="t" r="r" b="b"/>
            <a:pathLst>
              <a:path w="1454150" h="632457">
                <a:moveTo>
                  <a:pt x="1454150" y="632457"/>
                </a:moveTo>
                <a:cubicBezTo>
                  <a:pt x="1435100" y="595627"/>
                  <a:pt x="1396365" y="505457"/>
                  <a:pt x="1343025" y="432432"/>
                </a:cubicBezTo>
                <a:cubicBezTo>
                  <a:pt x="1289685" y="359407"/>
                  <a:pt x="1238250" y="316862"/>
                  <a:pt x="1187450" y="266062"/>
                </a:cubicBezTo>
                <a:cubicBezTo>
                  <a:pt x="1136650" y="215262"/>
                  <a:pt x="1136650" y="208277"/>
                  <a:pt x="1087755" y="177162"/>
                </a:cubicBezTo>
                <a:cubicBezTo>
                  <a:pt x="1038860" y="146047"/>
                  <a:pt x="1019175" y="144142"/>
                  <a:pt x="943610" y="111122"/>
                </a:cubicBezTo>
                <a:cubicBezTo>
                  <a:pt x="868045" y="78102"/>
                  <a:pt x="796925" y="31112"/>
                  <a:pt x="710565" y="10792"/>
                </a:cubicBezTo>
                <a:cubicBezTo>
                  <a:pt x="624205" y="-9528"/>
                  <a:pt x="577215" y="3807"/>
                  <a:pt x="510540" y="10792"/>
                </a:cubicBezTo>
                <a:cubicBezTo>
                  <a:pt x="443865" y="17777"/>
                  <a:pt x="426085" y="24127"/>
                  <a:pt x="377190" y="44447"/>
                </a:cubicBezTo>
                <a:cubicBezTo>
                  <a:pt x="328295" y="64767"/>
                  <a:pt x="315595" y="80007"/>
                  <a:pt x="266700" y="111122"/>
                </a:cubicBezTo>
                <a:cubicBezTo>
                  <a:pt x="217805" y="142237"/>
                  <a:pt x="173355" y="150492"/>
                  <a:pt x="133350" y="199387"/>
                </a:cubicBezTo>
                <a:cubicBezTo>
                  <a:pt x="93345" y="248282"/>
                  <a:pt x="84455" y="306067"/>
                  <a:pt x="66675" y="354962"/>
                </a:cubicBezTo>
                <a:cubicBezTo>
                  <a:pt x="48895" y="403857"/>
                  <a:pt x="57785" y="410842"/>
                  <a:pt x="44450" y="443862"/>
                </a:cubicBezTo>
                <a:cubicBezTo>
                  <a:pt x="31115" y="476882"/>
                  <a:pt x="8255" y="507362"/>
                  <a:pt x="0" y="521332"/>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3060065" y="3202305"/>
            <a:ext cx="1652905" cy="4533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3131820" y="1700530"/>
            <a:ext cx="1652905" cy="4533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633" name="文本框 308227"/>
          <p:cNvSpPr txBox="1"/>
          <p:nvPr/>
        </p:nvSpPr>
        <p:spPr>
          <a:xfrm>
            <a:off x="611188" y="692150"/>
            <a:ext cx="8064500" cy="4488180"/>
          </a:xfrm>
          <a:prstGeom prst="rect">
            <a:avLst/>
          </a:prstGeom>
          <a:noFill/>
          <a:ln w="9525">
            <a:noFill/>
          </a:ln>
        </p:spPr>
        <p:txBody>
          <a:bodyPr anchor="t">
            <a:spAutoFit/>
          </a:bodyPr>
          <a:p>
            <a:pPr>
              <a:lnSpc>
                <a:spcPct val="130000"/>
              </a:lnSpc>
            </a:pPr>
            <a:r>
              <a:rPr lang="zh-CN" altLang="en-US" dirty="0">
                <a:latin typeface="Times New Roman" panose="02020603050405020304" pitchFamily="18" charset="0"/>
                <a:ea typeface="宋体" panose="02010600030101010101" pitchFamily="2" charset="-122"/>
              </a:rPr>
              <a:t>要是采样不是沿单位圆而是沿一条接近这些极点的弧线进行， 如图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17(b)</a:t>
            </a:r>
            <a:r>
              <a:rPr lang="zh-CN" altLang="en-US" dirty="0">
                <a:latin typeface="Times New Roman" panose="02020603050405020304" pitchFamily="18" charset="0"/>
                <a:ea typeface="宋体" panose="02010600030101010101" pitchFamily="2" charset="-122"/>
              </a:rPr>
              <a:t>上图所示， 则所得的结果将会在极</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点所在频率上出现明显的尖峰，如图</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17(b)</a:t>
            </a:r>
            <a:r>
              <a:rPr lang="zh-CN" altLang="en-US" dirty="0">
                <a:latin typeface="Times New Roman" panose="02020603050405020304" pitchFamily="18" charset="0"/>
                <a:ea typeface="宋体" panose="02010600030101010101" pitchFamily="2" charset="-122"/>
              </a:rPr>
              <a:t>下图所示， 这样， 极点频率的测定就要准确得多。 再有， 如果</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是大素数时， 不能加以分解， 如何有效计算这种序列的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  从以上三方面看， </a:t>
            </a:r>
            <a:r>
              <a:rPr lang="zh-CN" altLang="en-US" sz="2800" b="1" dirty="0">
                <a:solidFill>
                  <a:srgbClr val="FF0000"/>
                </a:solidFill>
                <a:latin typeface="Times New Roman" panose="02020603050405020304" pitchFamily="18" charset="0"/>
                <a:ea typeface="宋体" panose="02010600030101010101" pitchFamily="2" charset="-122"/>
              </a:rPr>
              <a:t>螺线采样</a:t>
            </a:r>
            <a:r>
              <a:rPr lang="en-US" altLang="zh-CN" sz="2800" b="1" dirty="0">
                <a:solidFill>
                  <a:srgbClr val="FF0000"/>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就是一种适应于这些需要的变换， 并且可以采用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来快速计算。 这种变换称为线性调频</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a:t>
            </a:r>
            <a:r>
              <a:rPr lang="en-US" altLang="zh-CN" err="1">
                <a:latin typeface="Times New Roman" panose="02020603050405020304" pitchFamily="18" charset="0"/>
                <a:ea typeface="宋体" panose="02010600030101010101" pitchFamily="2" charset="-122"/>
              </a:rPr>
              <a:t>Chirp</a:t>
            </a:r>
            <a:r>
              <a:rPr lang="zh-CN" altLang="en-US" err="1">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a:t>
            </a:r>
            <a:r>
              <a:rPr lang="en-US" altLang="zh-CN" dirty="0">
                <a:latin typeface="Times New Roman" panose="02020603050405020304" pitchFamily="18" charset="0"/>
                <a:ea typeface="宋体" panose="02010600030101010101" pitchFamily="2" charset="-122"/>
              </a:rPr>
              <a:t>CZT</a:t>
            </a:r>
            <a:r>
              <a:rPr lang="zh-CN" altLang="en-US" dirty="0">
                <a:latin typeface="Times New Roman" panose="02020603050405020304" pitchFamily="18" charset="0"/>
                <a:ea typeface="宋体" panose="02010600030101010101" pitchFamily="2" charset="-122"/>
              </a:rPr>
              <a:t>）， 它是适用于这种更为一般情况下由</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求</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的快速变换算法。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2339975" y="4077335"/>
            <a:ext cx="1511935" cy="864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251460" y="549275"/>
            <a:ext cx="2808605" cy="5035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681" name="文本框 68611"/>
          <p:cNvSpPr txBox="1"/>
          <p:nvPr/>
        </p:nvSpPr>
        <p:spPr>
          <a:xfrm>
            <a:off x="288925" y="427038"/>
            <a:ext cx="7670800" cy="1187450"/>
          </a:xfrm>
          <a:prstGeom prst="rect">
            <a:avLst/>
          </a:prstGeom>
          <a:noFill/>
          <a:ln w="9525">
            <a:noFill/>
          </a:ln>
        </p:spPr>
        <p:txBody>
          <a:bodyPr wrap="none" anchor="t">
            <a:spAutoFit/>
          </a:bodyPr>
          <a:p>
            <a:pPr>
              <a:lnSpc>
                <a:spcPct val="150000"/>
              </a:lnSpc>
            </a:pPr>
            <a:r>
              <a:rPr lang="en-US" altLang="zh-CN" b="1" dirty="0">
                <a:latin typeface="Times New Roman" panose="02020603050405020304" pitchFamily="18" charset="0"/>
                <a:ea typeface="宋体" panose="02010600030101010101" pitchFamily="2" charset="-122"/>
              </a:rPr>
              <a:t>3.6.1 </a:t>
            </a:r>
            <a:r>
              <a:rPr lang="zh-CN" altLang="en-US" b="1" dirty="0">
                <a:latin typeface="Times New Roman" panose="02020603050405020304" pitchFamily="18" charset="0"/>
                <a:ea typeface="宋体" panose="02010600030101010101" pitchFamily="2" charset="-122"/>
              </a:rPr>
              <a:t>算法基本原理</a:t>
            </a:r>
            <a:endParaRPr lang="zh-CN" altLang="en-US">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已知</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）是有限长序列，其</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变换为 </a:t>
            </a:r>
            <a:endParaRPr lang="zh-CN" altLang="en-US">
              <a:latin typeface="Times New Roman" panose="02020603050405020304" pitchFamily="18" charset="0"/>
              <a:ea typeface="宋体" panose="02010600030101010101" pitchFamily="2" charset="-122"/>
            </a:endParaRPr>
          </a:p>
        </p:txBody>
      </p:sp>
      <p:graphicFrame>
        <p:nvGraphicFramePr>
          <p:cNvPr id="71682" name="对象 68612"/>
          <p:cNvGraphicFramePr/>
          <p:nvPr/>
        </p:nvGraphicFramePr>
        <p:xfrm>
          <a:off x="2971800" y="1828800"/>
          <a:ext cx="2717800" cy="1004888"/>
        </p:xfrm>
        <a:graphic>
          <a:graphicData uri="http://schemas.openxmlformats.org/presentationml/2006/ole">
            <mc:AlternateContent xmlns:mc="http://schemas.openxmlformats.org/markup-compatibility/2006">
              <mc:Choice xmlns:v="urn:schemas-microsoft-com:vml" Requires="v">
                <p:oleObj spid="_x0000_s3127" name="" r:id="rId1" imgW="1167765" imgH="431800" progId="Equation.3">
                  <p:embed/>
                </p:oleObj>
              </mc:Choice>
              <mc:Fallback>
                <p:oleObj name="" r:id="rId1" imgW="1167765" imgH="431800" progId="Equation.3">
                  <p:embed/>
                  <p:pic>
                    <p:nvPicPr>
                      <p:cNvPr id="0" name="图片 3126"/>
                      <p:cNvPicPr/>
                      <p:nvPr/>
                    </p:nvPicPr>
                    <p:blipFill>
                      <a:blip r:embed="rId2"/>
                      <a:stretch>
                        <a:fillRect/>
                      </a:stretch>
                    </p:blipFill>
                    <p:spPr>
                      <a:xfrm>
                        <a:off x="2971800" y="1828800"/>
                        <a:ext cx="2717800" cy="1004888"/>
                      </a:xfrm>
                      <a:prstGeom prst="rect">
                        <a:avLst/>
                      </a:prstGeom>
                      <a:solidFill>
                        <a:schemeClr val="accent1"/>
                      </a:solidFill>
                      <a:ln w="38100">
                        <a:noFill/>
                        <a:miter/>
                      </a:ln>
                    </p:spPr>
                  </p:pic>
                </p:oleObj>
              </mc:Fallback>
            </mc:AlternateContent>
          </a:graphicData>
        </a:graphic>
      </p:graphicFrame>
      <p:sp>
        <p:nvSpPr>
          <p:cNvPr id="71683" name="文本框 68613"/>
          <p:cNvSpPr txBox="1"/>
          <p:nvPr/>
        </p:nvSpPr>
        <p:spPr>
          <a:xfrm>
            <a:off x="6705600" y="21336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71684" name="文本框 68614"/>
          <p:cNvSpPr txBox="1"/>
          <p:nvPr/>
        </p:nvSpPr>
        <p:spPr>
          <a:xfrm>
            <a:off x="228600" y="289560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为适应</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可以沿</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平面更一般的路径取值，故沿</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平面上的一段螺线作等分角的采样</a:t>
            </a:r>
            <a:r>
              <a:rPr lang="zh-CN" altLang="en-US" dirty="0">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的这些采样点</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sp>
        <p:nvSpPr>
          <p:cNvPr id="71685" name="文本框 68615"/>
          <p:cNvSpPr txBox="1"/>
          <p:nvPr/>
        </p:nvSpPr>
        <p:spPr>
          <a:xfrm>
            <a:off x="2411413" y="4221163"/>
            <a:ext cx="4192905" cy="521970"/>
          </a:xfrm>
          <a:prstGeom prst="rect">
            <a:avLst/>
          </a:prstGeom>
          <a:noFill/>
          <a:ln w="9525">
            <a:noFill/>
          </a:ln>
        </p:spPr>
        <p:txBody>
          <a:bodyPr wrap="none" anchor="t">
            <a:spAutoFit/>
          </a:bodyPr>
          <a:p>
            <a:r>
              <a:rPr lang="en-US" altLang="zh-CN" sz="2800" i="1" err="1">
                <a:latin typeface="Times New Roman" panose="02020603050405020304" pitchFamily="18" charset="0"/>
                <a:ea typeface="宋体" panose="02010600030101010101" pitchFamily="2" charset="-122"/>
              </a:rPr>
              <a:t>z</a:t>
            </a:r>
            <a:r>
              <a:rPr lang="en-US" altLang="zh-CN" sz="2800" i="1" baseline="-25000" err="1">
                <a:latin typeface="Times New Roman" panose="02020603050405020304" pitchFamily="18" charset="0"/>
                <a:ea typeface="宋体" panose="02010600030101010101" pitchFamily="2" charset="-122"/>
              </a:rPr>
              <a:t>k</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AW</a:t>
            </a:r>
            <a:r>
              <a:rPr lang="en-US" altLang="zh-CN" sz="2800" i="1" baseline="30000">
                <a:latin typeface="Times New Roman" panose="02020603050405020304" pitchFamily="18" charset="0"/>
                <a:ea typeface="宋体" panose="02010600030101010101" pitchFamily="2" charset="-122"/>
              </a:rPr>
              <a:t>-k            </a:t>
            </a:r>
            <a:r>
              <a:rPr lang="en-US" altLang="zh-CN" sz="2800" i="1">
                <a:latin typeface="Times New Roman" panose="02020603050405020304" pitchFamily="18" charset="0"/>
                <a:ea typeface="宋体" panose="02010600030101010101" pitchFamily="2" charset="-122"/>
              </a:rPr>
              <a:t>k</a:t>
            </a:r>
            <a:r>
              <a:rPr lang="en-US" altLang="zh-CN" sz="2800">
                <a:latin typeface="Times New Roman" panose="02020603050405020304" pitchFamily="18" charset="0"/>
                <a:ea typeface="宋体" panose="02010600030101010101" pitchFamily="2" charset="-122"/>
              </a:rPr>
              <a:t>=0, 1, …, </a:t>
            </a:r>
            <a:r>
              <a:rPr lang="en-US" altLang="zh-CN" sz="2800" i="1">
                <a:latin typeface="Times New Roman" panose="02020603050405020304" pitchFamily="18" charset="0"/>
                <a:ea typeface="宋体" panose="02010600030101010101" pitchFamily="2" charset="-122"/>
              </a:rPr>
              <a:t>M</a:t>
            </a:r>
            <a:r>
              <a:rPr lang="en-US" altLang="zh-CN" sz="2800">
                <a:latin typeface="Times New Roman" panose="02020603050405020304" pitchFamily="18" charset="0"/>
                <a:ea typeface="宋体" panose="02010600030101010101" pitchFamily="2" charset="-122"/>
              </a:rPr>
              <a:t>-1 </a:t>
            </a:r>
            <a:endParaRPr lang="en-US" altLang="zh-CN" sz="2800">
              <a:latin typeface="Times New Roman" panose="02020603050405020304" pitchFamily="18" charset="0"/>
              <a:ea typeface="宋体" panose="02010600030101010101" pitchFamily="2" charset="-122"/>
            </a:endParaRPr>
          </a:p>
        </p:txBody>
      </p:sp>
      <p:sp>
        <p:nvSpPr>
          <p:cNvPr id="71686" name="文本框 68616"/>
          <p:cNvSpPr txBox="1"/>
          <p:nvPr/>
        </p:nvSpPr>
        <p:spPr>
          <a:xfrm>
            <a:off x="6659563" y="42672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71687" name="文本框 68617"/>
          <p:cNvSpPr txBox="1"/>
          <p:nvPr/>
        </p:nvSpPr>
        <p:spPr>
          <a:xfrm>
            <a:off x="304800" y="5029200"/>
            <a:ext cx="8534400" cy="1098550"/>
          </a:xfrm>
          <a:prstGeom prst="rect">
            <a:avLst/>
          </a:prstGeom>
          <a:noFill/>
          <a:ln w="9525">
            <a:noFill/>
          </a:ln>
        </p:spPr>
        <p:txBody>
          <a:bodyPr anchor="t">
            <a:spAutoFit/>
          </a:bodyPr>
          <a:p>
            <a:pPr algn="just">
              <a:lnSpc>
                <a:spcPct val="138000"/>
              </a:lnSpc>
              <a:spcBef>
                <a:spcPct val="50000"/>
              </a:spcBef>
            </a:pP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为所要分析的复频率的点数，即采样点的总数，不一定等于</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W</a:t>
            </a:r>
            <a:r>
              <a:rPr lang="zh-CN" altLang="en-US" dirty="0">
                <a:latin typeface="Times New Roman" panose="02020603050405020304" pitchFamily="18" charset="0"/>
                <a:ea typeface="宋体" panose="02010600030101010101" pitchFamily="2" charset="-122"/>
              </a:rPr>
              <a:t>都是任意复数，可</a:t>
            </a:r>
            <a:r>
              <a:rPr lang="zh-CN" altLang="en-US" dirty="0">
                <a:latin typeface="Times New Roman" panose="02020603050405020304" pitchFamily="18" charset="0"/>
                <a:ea typeface="宋体" panose="02010600030101010101" pitchFamily="2" charset="-122"/>
              </a:rPr>
              <a:t>表示为</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p:nvSpPr>
        <p:spPr>
          <a:xfrm>
            <a:off x="2483485" y="5876925"/>
            <a:ext cx="4740275" cy="79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3183255" y="457200"/>
            <a:ext cx="2432050" cy="15233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72705" name="对象 67587"/>
          <p:cNvGraphicFramePr/>
          <p:nvPr/>
        </p:nvGraphicFramePr>
        <p:xfrm>
          <a:off x="3412808" y="553720"/>
          <a:ext cx="1931035" cy="1223010"/>
        </p:xfrm>
        <a:graphic>
          <a:graphicData uri="http://schemas.openxmlformats.org/presentationml/2006/ole">
            <mc:AlternateContent xmlns:mc="http://schemas.openxmlformats.org/markup-compatibility/2006">
              <mc:Choice xmlns:v="urn:schemas-microsoft-com:vml" Requires="v">
                <p:oleObj spid="_x0000_s3126" name="" r:id="rId1" imgW="762000" imgH="482600" progId="Equation.3">
                  <p:embed/>
                </p:oleObj>
              </mc:Choice>
              <mc:Fallback>
                <p:oleObj name="" r:id="rId1" imgW="762000" imgH="482600" progId="Equation.3">
                  <p:embed/>
                  <p:pic>
                    <p:nvPicPr>
                      <p:cNvPr id="0" name="图片 3125"/>
                      <p:cNvPicPr/>
                      <p:nvPr/>
                    </p:nvPicPr>
                    <p:blipFill>
                      <a:blip r:embed="rId2"/>
                      <a:stretch>
                        <a:fillRect/>
                      </a:stretch>
                    </p:blipFill>
                    <p:spPr>
                      <a:xfrm>
                        <a:off x="3412808" y="553720"/>
                        <a:ext cx="1931035" cy="1223010"/>
                      </a:xfrm>
                      <a:prstGeom prst="rect">
                        <a:avLst/>
                      </a:prstGeom>
                      <a:noFill/>
                      <a:ln w="38100">
                        <a:noFill/>
                        <a:miter/>
                      </a:ln>
                    </p:spPr>
                  </p:pic>
                </p:oleObj>
              </mc:Fallback>
            </mc:AlternateContent>
          </a:graphicData>
        </a:graphic>
      </p:graphicFrame>
      <p:sp>
        <p:nvSpPr>
          <p:cNvPr id="72706" name="文本框 67588"/>
          <p:cNvSpPr txBox="1"/>
          <p:nvPr/>
        </p:nvSpPr>
        <p:spPr>
          <a:xfrm>
            <a:off x="152400" y="1981200"/>
            <a:ext cx="6838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将式（</a:t>
            </a:r>
            <a:r>
              <a:rPr lang="en-US" altLang="zh-CN" dirty="0">
                <a:latin typeface="Times New Roman" panose="02020603050405020304" pitchFamily="18" charset="0"/>
                <a:ea typeface="宋体" panose="02010600030101010101" pitchFamily="2" charset="-122"/>
              </a:rPr>
              <a:t>3-30</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3-31</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 可得 </a:t>
            </a:r>
            <a:endParaRPr lang="zh-CN" altLang="en-US">
              <a:latin typeface="Times New Roman" panose="02020603050405020304" pitchFamily="18" charset="0"/>
              <a:ea typeface="宋体" panose="02010600030101010101" pitchFamily="2" charset="-122"/>
            </a:endParaRPr>
          </a:p>
        </p:txBody>
      </p:sp>
      <p:graphicFrame>
        <p:nvGraphicFramePr>
          <p:cNvPr id="72707" name="对象 67589"/>
          <p:cNvGraphicFramePr/>
          <p:nvPr/>
        </p:nvGraphicFramePr>
        <p:xfrm>
          <a:off x="1600200" y="2743200"/>
          <a:ext cx="6126163" cy="673100"/>
        </p:xfrm>
        <a:graphic>
          <a:graphicData uri="http://schemas.openxmlformats.org/presentationml/2006/ole">
            <mc:AlternateContent xmlns:mc="http://schemas.openxmlformats.org/markup-compatibility/2006">
              <mc:Choice xmlns:v="urn:schemas-microsoft-com:vml" Requires="v">
                <p:oleObj spid="_x0000_s3129" name="" r:id="rId3" imgW="2195830" imgH="241300" progId="Equation.3">
                  <p:embed/>
                </p:oleObj>
              </mc:Choice>
              <mc:Fallback>
                <p:oleObj name="" r:id="rId3" imgW="2195830" imgH="241300" progId="Equation.3">
                  <p:embed/>
                  <p:pic>
                    <p:nvPicPr>
                      <p:cNvPr id="0" name="图片 3128"/>
                      <p:cNvPicPr/>
                      <p:nvPr/>
                    </p:nvPicPr>
                    <p:blipFill>
                      <a:blip r:embed="rId4"/>
                      <a:stretch>
                        <a:fillRect/>
                      </a:stretch>
                    </p:blipFill>
                    <p:spPr>
                      <a:xfrm>
                        <a:off x="1600200" y="2743200"/>
                        <a:ext cx="6126163" cy="673100"/>
                      </a:xfrm>
                      <a:prstGeom prst="rect">
                        <a:avLst/>
                      </a:prstGeom>
                      <a:noFill/>
                      <a:ln w="38100">
                        <a:noFill/>
                        <a:miter/>
                      </a:ln>
                    </p:spPr>
                  </p:pic>
                </p:oleObj>
              </mc:Fallback>
            </mc:AlternateContent>
          </a:graphicData>
        </a:graphic>
      </p:graphicFrame>
      <p:sp>
        <p:nvSpPr>
          <p:cNvPr id="72708" name="矩形 67590"/>
          <p:cNvSpPr/>
          <p:nvPr/>
        </p:nvSpPr>
        <p:spPr>
          <a:xfrm>
            <a:off x="7804150" y="533400"/>
            <a:ext cx="13398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3-30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2709" name="矩形 67591"/>
          <p:cNvSpPr/>
          <p:nvPr/>
        </p:nvSpPr>
        <p:spPr>
          <a:xfrm>
            <a:off x="7804150" y="1371600"/>
            <a:ext cx="13398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3-31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2710" name="矩形 67592"/>
          <p:cNvSpPr/>
          <p:nvPr/>
        </p:nvSpPr>
        <p:spPr>
          <a:xfrm>
            <a:off x="7804150" y="2743200"/>
            <a:ext cx="13398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3-32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72711" name="文本框 67593"/>
          <p:cNvSpPr txBox="1"/>
          <p:nvPr/>
        </p:nvSpPr>
        <p:spPr>
          <a:xfrm>
            <a:off x="212725" y="3622675"/>
            <a:ext cx="1473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因此有： </a:t>
            </a:r>
            <a:endParaRPr lang="zh-CN" altLang="en-US">
              <a:latin typeface="Times New Roman" panose="02020603050405020304" pitchFamily="18" charset="0"/>
              <a:ea typeface="宋体" panose="02010600030101010101" pitchFamily="2" charset="-122"/>
            </a:endParaRPr>
          </a:p>
        </p:txBody>
      </p:sp>
      <p:graphicFrame>
        <p:nvGraphicFramePr>
          <p:cNvPr id="72712" name="对象 67594"/>
          <p:cNvGraphicFramePr/>
          <p:nvPr/>
        </p:nvGraphicFramePr>
        <p:xfrm>
          <a:off x="2819400" y="3505200"/>
          <a:ext cx="4343400" cy="3089275"/>
        </p:xfrm>
        <a:graphic>
          <a:graphicData uri="http://schemas.openxmlformats.org/presentationml/2006/ole">
            <mc:AlternateContent xmlns:mc="http://schemas.openxmlformats.org/markup-compatibility/2006">
              <mc:Choice xmlns:v="urn:schemas-microsoft-com:vml" Requires="v">
                <p:oleObj spid="_x0000_s3134" name="" r:id="rId5" imgW="1714500" imgH="1219200" progId="Equation.3">
                  <p:embed/>
                </p:oleObj>
              </mc:Choice>
              <mc:Fallback>
                <p:oleObj name="" r:id="rId5" imgW="1714500" imgH="1219200" progId="Equation.3">
                  <p:embed/>
                  <p:pic>
                    <p:nvPicPr>
                      <p:cNvPr id="0" name="图片 3133"/>
                      <p:cNvPicPr/>
                      <p:nvPr/>
                    </p:nvPicPr>
                    <p:blipFill>
                      <a:blip r:embed="rId6"/>
                      <a:stretch>
                        <a:fillRect/>
                      </a:stretch>
                    </p:blipFill>
                    <p:spPr>
                      <a:xfrm>
                        <a:off x="2819400" y="3505200"/>
                        <a:ext cx="4343400" cy="3089275"/>
                      </a:xfrm>
                      <a:prstGeom prst="rect">
                        <a:avLst/>
                      </a:prstGeom>
                      <a:noFill/>
                      <a:ln w="38100">
                        <a:noFill/>
                        <a:miter/>
                      </a:ln>
                    </p:spPr>
                  </p:pic>
                </p:oleObj>
              </mc:Fallback>
            </mc:AlternateContent>
          </a:graphicData>
        </a:graphic>
      </p:graphicFrame>
      <p:cxnSp>
        <p:nvCxnSpPr>
          <p:cNvPr id="2" name="直接连接符 1"/>
          <p:cNvCxnSpPr/>
          <p:nvPr/>
        </p:nvCxnSpPr>
        <p:spPr>
          <a:xfrm flipV="1">
            <a:off x="2654300" y="5157470"/>
            <a:ext cx="3285490" cy="13335"/>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aphicFrame>
        <p:nvGraphicFramePr>
          <p:cNvPr id="5" name="对象 4">
            <a:hlinkClick r:id="" action="ppaction://ole?verb="/>
          </p:cNvPr>
          <p:cNvGraphicFramePr>
            <a:graphicFrameLocks noChangeAspect="1"/>
          </p:cNvGraphicFramePr>
          <p:nvPr/>
        </p:nvGraphicFramePr>
        <p:xfrm>
          <a:off x="4672965" y="3622675"/>
          <a:ext cx="4462145" cy="355600"/>
        </p:xfrm>
        <a:graphic>
          <a:graphicData uri="http://schemas.openxmlformats.org/presentationml/2006/ole">
            <mc:AlternateContent xmlns:mc="http://schemas.openxmlformats.org/markup-compatibility/2006">
              <mc:Choice xmlns:v="urn:schemas-microsoft-com:vml" Requires="v">
                <p:oleObj spid="_x0000_s1025" name="" r:id="rId7" imgW="3187700" imgH="254000" progId="Equation.KSEE3">
                  <p:embed/>
                </p:oleObj>
              </mc:Choice>
              <mc:Fallback>
                <p:oleObj name="" r:id="rId7" imgW="3187700" imgH="254000" progId="Equation.KSEE3">
                  <p:embed/>
                  <p:pic>
                    <p:nvPicPr>
                      <p:cNvPr id="0" name="图片 1024"/>
                      <p:cNvPicPr/>
                      <p:nvPr/>
                    </p:nvPicPr>
                    <p:blipFill>
                      <a:blip r:embed="rId8"/>
                      <a:stretch>
                        <a:fillRect/>
                      </a:stretch>
                    </p:blipFill>
                    <p:spPr>
                      <a:xfrm>
                        <a:off x="4672965" y="3622675"/>
                        <a:ext cx="4462145" cy="355600"/>
                      </a:xfrm>
                      <a:prstGeom prst="rect">
                        <a:avLst/>
                      </a:prstGeom>
                      <a:solidFill>
                        <a:schemeClr val="accent1"/>
                      </a:solidFill>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4672965" y="4029075"/>
          <a:ext cx="4479925" cy="355600"/>
        </p:xfrm>
        <a:graphic>
          <a:graphicData uri="http://schemas.openxmlformats.org/presentationml/2006/ole">
            <mc:AlternateContent xmlns:mc="http://schemas.openxmlformats.org/markup-compatibility/2006">
              <mc:Choice xmlns:v="urn:schemas-microsoft-com:vml" Requires="v">
                <p:oleObj spid="_x0000_s4" name="" r:id="rId9" imgW="3200400" imgH="254000" progId="Equation.KSEE3">
                  <p:embed/>
                </p:oleObj>
              </mc:Choice>
              <mc:Fallback>
                <p:oleObj name="" r:id="rId9" imgW="3200400" imgH="254000" progId="Equation.KSEE3">
                  <p:embed/>
                  <p:pic>
                    <p:nvPicPr>
                      <p:cNvPr id="0" name="图片 1024"/>
                      <p:cNvPicPr/>
                      <p:nvPr/>
                    </p:nvPicPr>
                    <p:blipFill>
                      <a:blip r:embed="rId10"/>
                      <a:stretch>
                        <a:fillRect/>
                      </a:stretch>
                    </p:blipFill>
                    <p:spPr>
                      <a:xfrm>
                        <a:off x="4672965" y="4029075"/>
                        <a:ext cx="4479925" cy="355600"/>
                      </a:xfrm>
                      <a:prstGeom prst="rect">
                        <a:avLst/>
                      </a:prstGeom>
                      <a:solidFill>
                        <a:schemeClr val="accent1"/>
                      </a:solidFill>
                    </p:spPr>
                  </p:pic>
                </p:oleObj>
              </mc:Fallback>
            </mc:AlternateContent>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文本框 70659"/>
          <p:cNvSpPr txBox="1"/>
          <p:nvPr/>
        </p:nvSpPr>
        <p:spPr>
          <a:xfrm>
            <a:off x="3635375" y="5734050"/>
            <a:ext cx="242062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3-18 </a:t>
            </a:r>
            <a:r>
              <a:rPr lang="zh-CN" altLang="en-US" b="1" dirty="0">
                <a:solidFill>
                  <a:srgbClr val="FF0000"/>
                </a:solidFill>
                <a:latin typeface="Times New Roman" panose="02020603050405020304" pitchFamily="18" charset="0"/>
                <a:ea typeface="宋体" panose="02010600030101010101" pitchFamily="2" charset="-122"/>
              </a:rPr>
              <a:t>螺线</a:t>
            </a:r>
            <a:r>
              <a:rPr lang="zh-CN" altLang="en-US" dirty="0">
                <a:latin typeface="Times New Roman" panose="02020603050405020304" pitchFamily="18" charset="0"/>
                <a:ea typeface="宋体" panose="02010600030101010101" pitchFamily="2" charset="-122"/>
              </a:rPr>
              <a:t>采样 </a:t>
            </a:r>
            <a:endParaRPr lang="zh-CN" altLang="en-US">
              <a:latin typeface="Times New Roman" panose="02020603050405020304" pitchFamily="18" charset="0"/>
              <a:ea typeface="宋体" panose="02010600030101010101" pitchFamily="2" charset="-122"/>
            </a:endParaRPr>
          </a:p>
        </p:txBody>
      </p:sp>
      <p:pic>
        <p:nvPicPr>
          <p:cNvPr id="73730" name="图片 70662" descr="3-18"/>
          <p:cNvPicPr>
            <a:picLocks noChangeAspect="1"/>
          </p:cNvPicPr>
          <p:nvPr/>
        </p:nvPicPr>
        <p:blipFill>
          <a:blip r:embed="rId1"/>
          <a:stretch>
            <a:fillRect/>
          </a:stretch>
        </p:blipFill>
        <p:spPr>
          <a:xfrm>
            <a:off x="2138363" y="1268413"/>
            <a:ext cx="4867275" cy="4286250"/>
          </a:xfrm>
          <a:prstGeom prst="rect">
            <a:avLst/>
          </a:prstGeom>
          <a:noFill/>
          <a:ln w="9525">
            <a:noFill/>
          </a:ln>
        </p:spPr>
      </p:pic>
      <p:sp>
        <p:nvSpPr>
          <p:cNvPr id="3" name="任意多边形 2"/>
          <p:cNvSpPr/>
          <p:nvPr/>
        </p:nvSpPr>
        <p:spPr>
          <a:xfrm>
            <a:off x="3302000" y="2499360"/>
            <a:ext cx="2159000" cy="1832610"/>
          </a:xfrm>
          <a:custGeom>
            <a:avLst/>
            <a:gdLst>
              <a:gd name="connisteX0" fmla="*/ 1358229 w 2159035"/>
              <a:gd name="connsiteY0" fmla="*/ 973737 h 1832398"/>
              <a:gd name="connisteX1" fmla="*/ 1346799 w 2159035"/>
              <a:gd name="connsiteY1" fmla="*/ 762917 h 1832398"/>
              <a:gd name="connisteX2" fmla="*/ 1191224 w 2159035"/>
              <a:gd name="connsiteY2" fmla="*/ 696242 h 1832398"/>
              <a:gd name="connisteX3" fmla="*/ 991834 w 2159035"/>
              <a:gd name="connsiteY3" fmla="*/ 651792 h 1832398"/>
              <a:gd name="connisteX4" fmla="*/ 858484 w 2159035"/>
              <a:gd name="connsiteY4" fmla="*/ 674017 h 1832398"/>
              <a:gd name="connisteX5" fmla="*/ 681319 w 2159035"/>
              <a:gd name="connsiteY5" fmla="*/ 740692 h 1832398"/>
              <a:gd name="connisteX6" fmla="*/ 647664 w 2159035"/>
              <a:gd name="connsiteY6" fmla="*/ 829592 h 1832398"/>
              <a:gd name="connisteX7" fmla="*/ 636869 w 2159035"/>
              <a:gd name="connsiteY7" fmla="*/ 907062 h 1832398"/>
              <a:gd name="connisteX8" fmla="*/ 636869 w 2159035"/>
              <a:gd name="connsiteY8" fmla="*/ 1051207 h 1832398"/>
              <a:gd name="connisteX9" fmla="*/ 669889 w 2159035"/>
              <a:gd name="connsiteY9" fmla="*/ 1117882 h 1832398"/>
              <a:gd name="connisteX10" fmla="*/ 747359 w 2159035"/>
              <a:gd name="connsiteY10" fmla="*/ 1217577 h 1832398"/>
              <a:gd name="connisteX11" fmla="*/ 958179 w 2159035"/>
              <a:gd name="connsiteY11" fmla="*/ 1295682 h 1832398"/>
              <a:gd name="connisteX12" fmla="*/ 1180429 w 2159035"/>
              <a:gd name="connsiteY12" fmla="*/ 1295682 h 1832398"/>
              <a:gd name="connisteX13" fmla="*/ 1313779 w 2159035"/>
              <a:gd name="connsiteY13" fmla="*/ 1262027 h 1832398"/>
              <a:gd name="connisteX14" fmla="*/ 1424269 w 2159035"/>
              <a:gd name="connsiteY14" fmla="*/ 1206782 h 1832398"/>
              <a:gd name="connisteX15" fmla="*/ 1502374 w 2159035"/>
              <a:gd name="connsiteY15" fmla="*/ 1140107 h 1832398"/>
              <a:gd name="connisteX16" fmla="*/ 1524599 w 2159035"/>
              <a:gd name="connsiteY16" fmla="*/ 1062637 h 1832398"/>
              <a:gd name="connisteX17" fmla="*/ 1535394 w 2159035"/>
              <a:gd name="connsiteY17" fmla="*/ 951512 h 1832398"/>
              <a:gd name="connisteX18" fmla="*/ 1557619 w 2159035"/>
              <a:gd name="connsiteY18" fmla="*/ 874042 h 1832398"/>
              <a:gd name="connisteX19" fmla="*/ 1546824 w 2159035"/>
              <a:gd name="connsiteY19" fmla="*/ 751487 h 1832398"/>
              <a:gd name="connisteX20" fmla="*/ 1513169 w 2159035"/>
              <a:gd name="connsiteY20" fmla="*/ 651792 h 1832398"/>
              <a:gd name="connisteX21" fmla="*/ 1468719 w 2159035"/>
              <a:gd name="connsiteY21" fmla="*/ 529872 h 1832398"/>
              <a:gd name="connisteX22" fmla="*/ 1391249 w 2159035"/>
              <a:gd name="connsiteY22" fmla="*/ 440972 h 1832398"/>
              <a:gd name="connisteX23" fmla="*/ 1257899 w 2159035"/>
              <a:gd name="connsiteY23" fmla="*/ 363502 h 1832398"/>
              <a:gd name="connisteX24" fmla="*/ 1047079 w 2159035"/>
              <a:gd name="connsiteY24" fmla="*/ 307622 h 1832398"/>
              <a:gd name="connisteX25" fmla="*/ 892139 w 2159035"/>
              <a:gd name="connsiteY25" fmla="*/ 307622 h 1832398"/>
              <a:gd name="connisteX26" fmla="*/ 791809 w 2159035"/>
              <a:gd name="connsiteY26" fmla="*/ 307622 h 1832398"/>
              <a:gd name="connisteX27" fmla="*/ 702909 w 2159035"/>
              <a:gd name="connsiteY27" fmla="*/ 352072 h 1832398"/>
              <a:gd name="connisteX28" fmla="*/ 580989 w 2159035"/>
              <a:gd name="connsiteY28" fmla="*/ 418747 h 1832398"/>
              <a:gd name="connisteX29" fmla="*/ 525744 w 2159035"/>
              <a:gd name="connsiteY29" fmla="*/ 496217 h 1832398"/>
              <a:gd name="connisteX30" fmla="*/ 459069 w 2159035"/>
              <a:gd name="connsiteY30" fmla="*/ 640997 h 1832398"/>
              <a:gd name="connisteX31" fmla="*/ 392394 w 2159035"/>
              <a:gd name="connsiteY31" fmla="*/ 707037 h 1832398"/>
              <a:gd name="connisteX32" fmla="*/ 359374 w 2159035"/>
              <a:gd name="connsiteY32" fmla="*/ 807367 h 1832398"/>
              <a:gd name="connisteX33" fmla="*/ 359374 w 2159035"/>
              <a:gd name="connsiteY33" fmla="*/ 884837 h 1832398"/>
              <a:gd name="connisteX34" fmla="*/ 359374 w 2159035"/>
              <a:gd name="connsiteY34" fmla="*/ 962307 h 1832398"/>
              <a:gd name="connisteX35" fmla="*/ 381599 w 2159035"/>
              <a:gd name="connsiteY35" fmla="*/ 1107087 h 1832398"/>
              <a:gd name="connisteX36" fmla="*/ 381599 w 2159035"/>
              <a:gd name="connsiteY36" fmla="*/ 1206782 h 1832398"/>
              <a:gd name="connisteX37" fmla="*/ 469864 w 2159035"/>
              <a:gd name="connsiteY37" fmla="*/ 1262027 h 1832398"/>
              <a:gd name="connisteX38" fmla="*/ 536539 w 2159035"/>
              <a:gd name="connsiteY38" fmla="*/ 1373152 h 1832398"/>
              <a:gd name="connisteX39" fmla="*/ 714339 w 2159035"/>
              <a:gd name="connsiteY39" fmla="*/ 1406172 h 1832398"/>
              <a:gd name="connisteX40" fmla="*/ 858484 w 2159035"/>
              <a:gd name="connsiteY40" fmla="*/ 1462052 h 1832398"/>
              <a:gd name="connisteX41" fmla="*/ 1069304 w 2159035"/>
              <a:gd name="connsiteY41" fmla="*/ 1506502 h 1832398"/>
              <a:gd name="connisteX42" fmla="*/ 1247104 w 2159035"/>
              <a:gd name="connsiteY42" fmla="*/ 1506502 h 1832398"/>
              <a:gd name="connisteX43" fmla="*/ 1346799 w 2159035"/>
              <a:gd name="connsiteY43" fmla="*/ 1506502 h 1832398"/>
              <a:gd name="connisteX44" fmla="*/ 1380454 w 2159035"/>
              <a:gd name="connsiteY44" fmla="*/ 1472847 h 1832398"/>
              <a:gd name="connisteX45" fmla="*/ 1457924 w 2159035"/>
              <a:gd name="connsiteY45" fmla="*/ 1462052 h 1832398"/>
              <a:gd name="connisteX46" fmla="*/ 1569049 w 2159035"/>
              <a:gd name="connsiteY46" fmla="*/ 1395377 h 1832398"/>
              <a:gd name="connisteX47" fmla="*/ 1713194 w 2159035"/>
              <a:gd name="connsiteY47" fmla="*/ 1239802 h 1832398"/>
              <a:gd name="connisteX48" fmla="*/ 1835114 w 2159035"/>
              <a:gd name="connsiteY48" fmla="*/ 1073432 h 1832398"/>
              <a:gd name="connisteX49" fmla="*/ 1835114 w 2159035"/>
              <a:gd name="connsiteY49" fmla="*/ 984532 h 1832398"/>
              <a:gd name="connisteX50" fmla="*/ 1835114 w 2159035"/>
              <a:gd name="connsiteY50" fmla="*/ 951512 h 1832398"/>
              <a:gd name="connisteX51" fmla="*/ 1835114 w 2159035"/>
              <a:gd name="connsiteY51" fmla="*/ 951512 h 1832398"/>
              <a:gd name="connisteX52" fmla="*/ 1835114 w 2159035"/>
              <a:gd name="connsiteY52" fmla="*/ 696242 h 1832398"/>
              <a:gd name="connisteX53" fmla="*/ 1835114 w 2159035"/>
              <a:gd name="connsiteY53" fmla="*/ 507647 h 1832398"/>
              <a:gd name="connisteX54" fmla="*/ 1835114 w 2159035"/>
              <a:gd name="connsiteY54" fmla="*/ 418747 h 1832398"/>
              <a:gd name="connisteX55" fmla="*/ 1802094 w 2159035"/>
              <a:gd name="connsiteY55" fmla="*/ 363502 h 1832398"/>
              <a:gd name="connisteX56" fmla="*/ 1768439 w 2159035"/>
              <a:gd name="connsiteY56" fmla="*/ 296827 h 1832398"/>
              <a:gd name="connisteX57" fmla="*/ 1635089 w 2159035"/>
              <a:gd name="connsiteY57" fmla="*/ 197132 h 1832398"/>
              <a:gd name="connisteX58" fmla="*/ 1480149 w 2159035"/>
              <a:gd name="connsiteY58" fmla="*/ 96802 h 1832398"/>
              <a:gd name="connisteX59" fmla="*/ 1135979 w 2159035"/>
              <a:gd name="connsiteY59" fmla="*/ 7902 h 1832398"/>
              <a:gd name="connisteX60" fmla="*/ 825464 w 2159035"/>
              <a:gd name="connsiteY60" fmla="*/ 7902 h 1832398"/>
              <a:gd name="connisteX61" fmla="*/ 781014 w 2159035"/>
              <a:gd name="connsiteY61" fmla="*/ 7902 h 1832398"/>
              <a:gd name="connisteX62" fmla="*/ 625439 w 2159035"/>
              <a:gd name="connsiteY62" fmla="*/ 7902 h 1832398"/>
              <a:gd name="connisteX63" fmla="*/ 481294 w 2159035"/>
              <a:gd name="connsiteY63" fmla="*/ 41557 h 1832398"/>
              <a:gd name="connisteX64" fmla="*/ 325719 w 2159035"/>
              <a:gd name="connsiteY64" fmla="*/ 152682 h 1832398"/>
              <a:gd name="connisteX65" fmla="*/ 159349 w 2159035"/>
              <a:gd name="connsiteY65" fmla="*/ 252377 h 1832398"/>
              <a:gd name="connisteX66" fmla="*/ 137124 w 2159035"/>
              <a:gd name="connsiteY66" fmla="*/ 363502 h 1832398"/>
              <a:gd name="connisteX67" fmla="*/ 70449 w 2159035"/>
              <a:gd name="connsiteY67" fmla="*/ 496217 h 1832398"/>
              <a:gd name="connisteX68" fmla="*/ 48224 w 2159035"/>
              <a:gd name="connsiteY68" fmla="*/ 618772 h 1832398"/>
              <a:gd name="connisteX69" fmla="*/ 4409 w 2159035"/>
              <a:gd name="connsiteY69" fmla="*/ 840387 h 1832398"/>
              <a:gd name="connisteX70" fmla="*/ 4409 w 2159035"/>
              <a:gd name="connsiteY70" fmla="*/ 984532 h 1832398"/>
              <a:gd name="connisteX71" fmla="*/ 15204 w 2159035"/>
              <a:gd name="connsiteY71" fmla="*/ 1095657 h 1832398"/>
              <a:gd name="connisteX72" fmla="*/ 92674 w 2159035"/>
              <a:gd name="connsiteY72" fmla="*/ 1383947 h 1832398"/>
              <a:gd name="connisteX73" fmla="*/ 248249 w 2159035"/>
              <a:gd name="connsiteY73" fmla="*/ 1539522 h 1832398"/>
              <a:gd name="connisteX74" fmla="*/ 381599 w 2159035"/>
              <a:gd name="connsiteY74" fmla="*/ 1639217 h 1832398"/>
              <a:gd name="connisteX75" fmla="*/ 625439 w 2159035"/>
              <a:gd name="connsiteY75" fmla="*/ 1728117 h 1832398"/>
              <a:gd name="connisteX76" fmla="*/ 880709 w 2159035"/>
              <a:gd name="connsiteY76" fmla="*/ 1806222 h 1832398"/>
              <a:gd name="connisteX77" fmla="*/ 1069304 w 2159035"/>
              <a:gd name="connsiteY77" fmla="*/ 1817017 h 1832398"/>
              <a:gd name="connisteX78" fmla="*/ 1291554 w 2159035"/>
              <a:gd name="connsiteY78" fmla="*/ 1828447 h 1832398"/>
              <a:gd name="connisteX79" fmla="*/ 1490944 w 2159035"/>
              <a:gd name="connsiteY79" fmla="*/ 1828447 h 1832398"/>
              <a:gd name="connisteX80" fmla="*/ 1790664 w 2159035"/>
              <a:gd name="connsiteY80" fmla="*/ 1828447 h 1832398"/>
              <a:gd name="connisteX81" fmla="*/ 1890359 w 2159035"/>
              <a:gd name="connsiteY81" fmla="*/ 1783997 h 1832398"/>
              <a:gd name="connisteX82" fmla="*/ 1968464 w 2159035"/>
              <a:gd name="connsiteY82" fmla="*/ 1728117 h 1832398"/>
              <a:gd name="connisteX83" fmla="*/ 2035139 w 2159035"/>
              <a:gd name="connsiteY83" fmla="*/ 1639217 h 1832398"/>
              <a:gd name="connisteX84" fmla="*/ 2078954 w 2159035"/>
              <a:gd name="connsiteY84" fmla="*/ 1484277 h 1832398"/>
              <a:gd name="connisteX85" fmla="*/ 2101179 w 2159035"/>
              <a:gd name="connsiteY85" fmla="*/ 1295682 h 1832398"/>
              <a:gd name="connisteX86" fmla="*/ 2134834 w 2159035"/>
              <a:gd name="connsiteY86" fmla="*/ 1140107 h 1832398"/>
              <a:gd name="connisteX87" fmla="*/ 2157059 w 2159035"/>
              <a:gd name="connsiteY87" fmla="*/ 995962 h 1832398"/>
              <a:gd name="connisteX88" fmla="*/ 2157059 w 2159035"/>
              <a:gd name="connsiteY88" fmla="*/ 840387 h 1832398"/>
              <a:gd name="connisteX89" fmla="*/ 2157059 w 2159035"/>
              <a:gd name="connsiteY89" fmla="*/ 751487 h 1832398"/>
              <a:gd name="connisteX90" fmla="*/ 2157059 w 2159035"/>
              <a:gd name="connsiteY90" fmla="*/ 718467 h 183239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Lst>
            <a:rect l="l" t="t" r="r" b="b"/>
            <a:pathLst>
              <a:path w="2159035" h="1832398">
                <a:moveTo>
                  <a:pt x="1358229" y="973737"/>
                </a:moveTo>
                <a:cubicBezTo>
                  <a:pt x="1358864" y="933097"/>
                  <a:pt x="1380454" y="818162"/>
                  <a:pt x="1346799" y="762917"/>
                </a:cubicBezTo>
                <a:cubicBezTo>
                  <a:pt x="1313144" y="707672"/>
                  <a:pt x="1262344" y="718467"/>
                  <a:pt x="1191224" y="696242"/>
                </a:cubicBezTo>
                <a:cubicBezTo>
                  <a:pt x="1120104" y="674017"/>
                  <a:pt x="1058509" y="656237"/>
                  <a:pt x="991834" y="651792"/>
                </a:cubicBezTo>
                <a:cubicBezTo>
                  <a:pt x="925159" y="647347"/>
                  <a:pt x="920714" y="656237"/>
                  <a:pt x="858484" y="674017"/>
                </a:cubicBezTo>
                <a:cubicBezTo>
                  <a:pt x="796254" y="691797"/>
                  <a:pt x="723229" y="709577"/>
                  <a:pt x="681319" y="740692"/>
                </a:cubicBezTo>
                <a:cubicBezTo>
                  <a:pt x="639409" y="771807"/>
                  <a:pt x="656554" y="796572"/>
                  <a:pt x="647664" y="829592"/>
                </a:cubicBezTo>
                <a:cubicBezTo>
                  <a:pt x="638774" y="862612"/>
                  <a:pt x="638774" y="862612"/>
                  <a:pt x="636869" y="907062"/>
                </a:cubicBezTo>
                <a:cubicBezTo>
                  <a:pt x="634964" y="951512"/>
                  <a:pt x="630519" y="1009297"/>
                  <a:pt x="636869" y="1051207"/>
                </a:cubicBezTo>
                <a:cubicBezTo>
                  <a:pt x="643219" y="1093117"/>
                  <a:pt x="647664" y="1084862"/>
                  <a:pt x="669889" y="1117882"/>
                </a:cubicBezTo>
                <a:cubicBezTo>
                  <a:pt x="692114" y="1150902"/>
                  <a:pt x="689574" y="1182017"/>
                  <a:pt x="747359" y="1217577"/>
                </a:cubicBezTo>
                <a:cubicBezTo>
                  <a:pt x="805144" y="1253137"/>
                  <a:pt x="871819" y="1279807"/>
                  <a:pt x="958179" y="1295682"/>
                </a:cubicBezTo>
                <a:cubicBezTo>
                  <a:pt x="1044539" y="1311557"/>
                  <a:pt x="1109309" y="1302667"/>
                  <a:pt x="1180429" y="1295682"/>
                </a:cubicBezTo>
                <a:cubicBezTo>
                  <a:pt x="1251549" y="1288697"/>
                  <a:pt x="1264884" y="1279807"/>
                  <a:pt x="1313779" y="1262027"/>
                </a:cubicBezTo>
                <a:cubicBezTo>
                  <a:pt x="1362674" y="1244247"/>
                  <a:pt x="1386804" y="1230912"/>
                  <a:pt x="1424269" y="1206782"/>
                </a:cubicBezTo>
                <a:cubicBezTo>
                  <a:pt x="1461734" y="1182652"/>
                  <a:pt x="1482054" y="1168682"/>
                  <a:pt x="1502374" y="1140107"/>
                </a:cubicBezTo>
                <a:cubicBezTo>
                  <a:pt x="1522694" y="1111532"/>
                  <a:pt x="1518249" y="1100102"/>
                  <a:pt x="1524599" y="1062637"/>
                </a:cubicBezTo>
                <a:cubicBezTo>
                  <a:pt x="1530949" y="1025172"/>
                  <a:pt x="1529044" y="988977"/>
                  <a:pt x="1535394" y="951512"/>
                </a:cubicBezTo>
                <a:cubicBezTo>
                  <a:pt x="1541744" y="914047"/>
                  <a:pt x="1555079" y="914047"/>
                  <a:pt x="1557619" y="874042"/>
                </a:cubicBezTo>
                <a:cubicBezTo>
                  <a:pt x="1560159" y="834037"/>
                  <a:pt x="1555714" y="795937"/>
                  <a:pt x="1546824" y="751487"/>
                </a:cubicBezTo>
                <a:cubicBezTo>
                  <a:pt x="1537934" y="707037"/>
                  <a:pt x="1529044" y="696242"/>
                  <a:pt x="1513169" y="651792"/>
                </a:cubicBezTo>
                <a:cubicBezTo>
                  <a:pt x="1497294" y="607342"/>
                  <a:pt x="1492849" y="571782"/>
                  <a:pt x="1468719" y="529872"/>
                </a:cubicBezTo>
                <a:cubicBezTo>
                  <a:pt x="1444589" y="487962"/>
                  <a:pt x="1433159" y="473992"/>
                  <a:pt x="1391249" y="440972"/>
                </a:cubicBezTo>
                <a:cubicBezTo>
                  <a:pt x="1349339" y="407952"/>
                  <a:pt x="1326479" y="390172"/>
                  <a:pt x="1257899" y="363502"/>
                </a:cubicBezTo>
                <a:cubicBezTo>
                  <a:pt x="1189319" y="336832"/>
                  <a:pt x="1120104" y="319052"/>
                  <a:pt x="1047079" y="307622"/>
                </a:cubicBezTo>
                <a:cubicBezTo>
                  <a:pt x="974054" y="296192"/>
                  <a:pt x="942939" y="307622"/>
                  <a:pt x="892139" y="307622"/>
                </a:cubicBezTo>
                <a:cubicBezTo>
                  <a:pt x="841339" y="307622"/>
                  <a:pt x="829909" y="298732"/>
                  <a:pt x="791809" y="307622"/>
                </a:cubicBezTo>
                <a:cubicBezTo>
                  <a:pt x="753709" y="316512"/>
                  <a:pt x="744819" y="329847"/>
                  <a:pt x="702909" y="352072"/>
                </a:cubicBezTo>
                <a:cubicBezTo>
                  <a:pt x="660999" y="374297"/>
                  <a:pt x="616549" y="390172"/>
                  <a:pt x="580989" y="418747"/>
                </a:cubicBezTo>
                <a:cubicBezTo>
                  <a:pt x="545429" y="447322"/>
                  <a:pt x="549874" y="451767"/>
                  <a:pt x="525744" y="496217"/>
                </a:cubicBezTo>
                <a:cubicBezTo>
                  <a:pt x="501614" y="540667"/>
                  <a:pt x="485739" y="599087"/>
                  <a:pt x="459069" y="640997"/>
                </a:cubicBezTo>
                <a:cubicBezTo>
                  <a:pt x="432399" y="682907"/>
                  <a:pt x="412079" y="674017"/>
                  <a:pt x="392394" y="707037"/>
                </a:cubicBezTo>
                <a:cubicBezTo>
                  <a:pt x="372709" y="740057"/>
                  <a:pt x="365724" y="771807"/>
                  <a:pt x="359374" y="807367"/>
                </a:cubicBezTo>
                <a:cubicBezTo>
                  <a:pt x="353024" y="842927"/>
                  <a:pt x="359374" y="853722"/>
                  <a:pt x="359374" y="884837"/>
                </a:cubicBezTo>
                <a:cubicBezTo>
                  <a:pt x="359374" y="915952"/>
                  <a:pt x="354929" y="917857"/>
                  <a:pt x="359374" y="962307"/>
                </a:cubicBezTo>
                <a:cubicBezTo>
                  <a:pt x="363819" y="1006757"/>
                  <a:pt x="377154" y="1058192"/>
                  <a:pt x="381599" y="1107087"/>
                </a:cubicBezTo>
                <a:cubicBezTo>
                  <a:pt x="386044" y="1155982"/>
                  <a:pt x="363819" y="1175667"/>
                  <a:pt x="381599" y="1206782"/>
                </a:cubicBezTo>
                <a:cubicBezTo>
                  <a:pt x="399379" y="1237897"/>
                  <a:pt x="438749" y="1229007"/>
                  <a:pt x="469864" y="1262027"/>
                </a:cubicBezTo>
                <a:cubicBezTo>
                  <a:pt x="500979" y="1295047"/>
                  <a:pt x="487644" y="1344577"/>
                  <a:pt x="536539" y="1373152"/>
                </a:cubicBezTo>
                <a:cubicBezTo>
                  <a:pt x="585434" y="1401727"/>
                  <a:pt x="650204" y="1388392"/>
                  <a:pt x="714339" y="1406172"/>
                </a:cubicBezTo>
                <a:cubicBezTo>
                  <a:pt x="778474" y="1423952"/>
                  <a:pt x="787364" y="1441732"/>
                  <a:pt x="858484" y="1462052"/>
                </a:cubicBezTo>
                <a:cubicBezTo>
                  <a:pt x="929604" y="1482372"/>
                  <a:pt x="991834" y="1497612"/>
                  <a:pt x="1069304" y="1506502"/>
                </a:cubicBezTo>
                <a:cubicBezTo>
                  <a:pt x="1146774" y="1515392"/>
                  <a:pt x="1191859" y="1506502"/>
                  <a:pt x="1247104" y="1506502"/>
                </a:cubicBezTo>
                <a:cubicBezTo>
                  <a:pt x="1302349" y="1506502"/>
                  <a:pt x="1320129" y="1513487"/>
                  <a:pt x="1346799" y="1506502"/>
                </a:cubicBezTo>
                <a:cubicBezTo>
                  <a:pt x="1373469" y="1499517"/>
                  <a:pt x="1358229" y="1481737"/>
                  <a:pt x="1380454" y="1472847"/>
                </a:cubicBezTo>
                <a:cubicBezTo>
                  <a:pt x="1402679" y="1463957"/>
                  <a:pt x="1420459" y="1477292"/>
                  <a:pt x="1457924" y="1462052"/>
                </a:cubicBezTo>
                <a:cubicBezTo>
                  <a:pt x="1495389" y="1446812"/>
                  <a:pt x="1518249" y="1439827"/>
                  <a:pt x="1569049" y="1395377"/>
                </a:cubicBezTo>
                <a:cubicBezTo>
                  <a:pt x="1619849" y="1350927"/>
                  <a:pt x="1659854" y="1303937"/>
                  <a:pt x="1713194" y="1239802"/>
                </a:cubicBezTo>
                <a:cubicBezTo>
                  <a:pt x="1766534" y="1175667"/>
                  <a:pt x="1810984" y="1124232"/>
                  <a:pt x="1835114" y="1073432"/>
                </a:cubicBezTo>
                <a:cubicBezTo>
                  <a:pt x="1859244" y="1022632"/>
                  <a:pt x="1835114" y="1008662"/>
                  <a:pt x="1835114" y="984532"/>
                </a:cubicBezTo>
                <a:cubicBezTo>
                  <a:pt x="1835114" y="960402"/>
                  <a:pt x="1835114" y="957862"/>
                  <a:pt x="1835114" y="951512"/>
                </a:cubicBezTo>
                <a:cubicBezTo>
                  <a:pt x="1835114" y="945162"/>
                  <a:pt x="1835114" y="1002312"/>
                  <a:pt x="1835114" y="951512"/>
                </a:cubicBezTo>
                <a:cubicBezTo>
                  <a:pt x="1835114" y="900712"/>
                  <a:pt x="1835114" y="785142"/>
                  <a:pt x="1835114" y="696242"/>
                </a:cubicBezTo>
                <a:cubicBezTo>
                  <a:pt x="1835114" y="607342"/>
                  <a:pt x="1835114" y="562892"/>
                  <a:pt x="1835114" y="507647"/>
                </a:cubicBezTo>
                <a:cubicBezTo>
                  <a:pt x="1835114" y="452402"/>
                  <a:pt x="1841464" y="447322"/>
                  <a:pt x="1835114" y="418747"/>
                </a:cubicBezTo>
                <a:cubicBezTo>
                  <a:pt x="1828764" y="390172"/>
                  <a:pt x="1815429" y="387632"/>
                  <a:pt x="1802094" y="363502"/>
                </a:cubicBezTo>
                <a:cubicBezTo>
                  <a:pt x="1788759" y="339372"/>
                  <a:pt x="1802094" y="329847"/>
                  <a:pt x="1768439" y="296827"/>
                </a:cubicBezTo>
                <a:cubicBezTo>
                  <a:pt x="1734784" y="263807"/>
                  <a:pt x="1692874" y="237137"/>
                  <a:pt x="1635089" y="197132"/>
                </a:cubicBezTo>
                <a:cubicBezTo>
                  <a:pt x="1577304" y="157127"/>
                  <a:pt x="1579844" y="134902"/>
                  <a:pt x="1480149" y="96802"/>
                </a:cubicBezTo>
                <a:cubicBezTo>
                  <a:pt x="1380454" y="58702"/>
                  <a:pt x="1266789" y="25682"/>
                  <a:pt x="1135979" y="7902"/>
                </a:cubicBezTo>
                <a:cubicBezTo>
                  <a:pt x="1005169" y="-9878"/>
                  <a:pt x="896584" y="7902"/>
                  <a:pt x="825464" y="7902"/>
                </a:cubicBezTo>
                <a:cubicBezTo>
                  <a:pt x="754344" y="7902"/>
                  <a:pt x="821019" y="7902"/>
                  <a:pt x="781014" y="7902"/>
                </a:cubicBezTo>
                <a:cubicBezTo>
                  <a:pt x="741009" y="7902"/>
                  <a:pt x="685129" y="917"/>
                  <a:pt x="625439" y="7902"/>
                </a:cubicBezTo>
                <a:cubicBezTo>
                  <a:pt x="565749" y="14887"/>
                  <a:pt x="540984" y="12347"/>
                  <a:pt x="481294" y="41557"/>
                </a:cubicBezTo>
                <a:cubicBezTo>
                  <a:pt x="421604" y="70767"/>
                  <a:pt x="389854" y="110772"/>
                  <a:pt x="325719" y="152682"/>
                </a:cubicBezTo>
                <a:cubicBezTo>
                  <a:pt x="261584" y="194592"/>
                  <a:pt x="196814" y="210467"/>
                  <a:pt x="159349" y="252377"/>
                </a:cubicBezTo>
                <a:cubicBezTo>
                  <a:pt x="121884" y="294287"/>
                  <a:pt x="154904" y="314607"/>
                  <a:pt x="137124" y="363502"/>
                </a:cubicBezTo>
                <a:cubicBezTo>
                  <a:pt x="119344" y="412397"/>
                  <a:pt x="88229" y="445417"/>
                  <a:pt x="70449" y="496217"/>
                </a:cubicBezTo>
                <a:cubicBezTo>
                  <a:pt x="52669" y="547017"/>
                  <a:pt x="61559" y="550192"/>
                  <a:pt x="48224" y="618772"/>
                </a:cubicBezTo>
                <a:cubicBezTo>
                  <a:pt x="34889" y="687352"/>
                  <a:pt x="13299" y="767362"/>
                  <a:pt x="4409" y="840387"/>
                </a:cubicBezTo>
                <a:cubicBezTo>
                  <a:pt x="-4481" y="913412"/>
                  <a:pt x="2504" y="933732"/>
                  <a:pt x="4409" y="984532"/>
                </a:cubicBezTo>
                <a:cubicBezTo>
                  <a:pt x="6314" y="1035332"/>
                  <a:pt x="-2576" y="1015647"/>
                  <a:pt x="15204" y="1095657"/>
                </a:cubicBezTo>
                <a:cubicBezTo>
                  <a:pt x="32984" y="1175667"/>
                  <a:pt x="46319" y="1295047"/>
                  <a:pt x="92674" y="1383947"/>
                </a:cubicBezTo>
                <a:cubicBezTo>
                  <a:pt x="139029" y="1472847"/>
                  <a:pt x="190464" y="1488722"/>
                  <a:pt x="248249" y="1539522"/>
                </a:cubicBezTo>
                <a:cubicBezTo>
                  <a:pt x="306034" y="1590322"/>
                  <a:pt x="306034" y="1601752"/>
                  <a:pt x="381599" y="1639217"/>
                </a:cubicBezTo>
                <a:cubicBezTo>
                  <a:pt x="457164" y="1676682"/>
                  <a:pt x="525744" y="1694462"/>
                  <a:pt x="625439" y="1728117"/>
                </a:cubicBezTo>
                <a:cubicBezTo>
                  <a:pt x="725134" y="1761772"/>
                  <a:pt x="791809" y="1788442"/>
                  <a:pt x="880709" y="1806222"/>
                </a:cubicBezTo>
                <a:cubicBezTo>
                  <a:pt x="969609" y="1824002"/>
                  <a:pt x="987389" y="1812572"/>
                  <a:pt x="1069304" y="1817017"/>
                </a:cubicBezTo>
                <a:cubicBezTo>
                  <a:pt x="1151219" y="1821462"/>
                  <a:pt x="1207099" y="1825907"/>
                  <a:pt x="1291554" y="1828447"/>
                </a:cubicBezTo>
                <a:cubicBezTo>
                  <a:pt x="1376009" y="1830987"/>
                  <a:pt x="1391249" y="1828447"/>
                  <a:pt x="1490944" y="1828447"/>
                </a:cubicBezTo>
                <a:cubicBezTo>
                  <a:pt x="1590639" y="1828447"/>
                  <a:pt x="1710654" y="1837337"/>
                  <a:pt x="1790664" y="1828447"/>
                </a:cubicBezTo>
                <a:cubicBezTo>
                  <a:pt x="1870674" y="1819557"/>
                  <a:pt x="1854799" y="1804317"/>
                  <a:pt x="1890359" y="1783997"/>
                </a:cubicBezTo>
                <a:cubicBezTo>
                  <a:pt x="1925919" y="1763677"/>
                  <a:pt x="1939254" y="1757327"/>
                  <a:pt x="1968464" y="1728117"/>
                </a:cubicBezTo>
                <a:cubicBezTo>
                  <a:pt x="1997674" y="1698907"/>
                  <a:pt x="2012914" y="1688112"/>
                  <a:pt x="2035139" y="1639217"/>
                </a:cubicBezTo>
                <a:cubicBezTo>
                  <a:pt x="2057364" y="1590322"/>
                  <a:pt x="2065619" y="1552857"/>
                  <a:pt x="2078954" y="1484277"/>
                </a:cubicBezTo>
                <a:cubicBezTo>
                  <a:pt x="2092289" y="1415697"/>
                  <a:pt x="2089749" y="1364262"/>
                  <a:pt x="2101179" y="1295682"/>
                </a:cubicBezTo>
                <a:cubicBezTo>
                  <a:pt x="2112609" y="1227102"/>
                  <a:pt x="2123404" y="1199797"/>
                  <a:pt x="2134834" y="1140107"/>
                </a:cubicBezTo>
                <a:cubicBezTo>
                  <a:pt x="2146264" y="1080417"/>
                  <a:pt x="2152614" y="1055652"/>
                  <a:pt x="2157059" y="995962"/>
                </a:cubicBezTo>
                <a:cubicBezTo>
                  <a:pt x="2161504" y="936272"/>
                  <a:pt x="2157059" y="889282"/>
                  <a:pt x="2157059" y="840387"/>
                </a:cubicBezTo>
                <a:cubicBezTo>
                  <a:pt x="2157059" y="791492"/>
                  <a:pt x="2157059" y="775617"/>
                  <a:pt x="2157059" y="751487"/>
                </a:cubicBezTo>
                <a:cubicBezTo>
                  <a:pt x="2157059" y="727357"/>
                  <a:pt x="2157059" y="723547"/>
                  <a:pt x="2157059" y="718467"/>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475740" y="4293235"/>
            <a:ext cx="4844415" cy="511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1403350" y="3356610"/>
            <a:ext cx="3589020" cy="79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1475740" y="2060575"/>
            <a:ext cx="4845050" cy="79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753" name="文本框 69635"/>
          <p:cNvSpPr txBox="1"/>
          <p:nvPr/>
        </p:nvSpPr>
        <p:spPr>
          <a:xfrm>
            <a:off x="228600" y="693738"/>
            <a:ext cx="8686800" cy="5313362"/>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采样点在</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平面上所沿的周线如图</a:t>
            </a:r>
            <a:r>
              <a:rPr lang="en-US" altLang="zh-CN" dirty="0">
                <a:latin typeface="Times New Roman" panose="02020603050405020304" pitchFamily="18" charset="0"/>
                <a:ea typeface="宋体" panose="02010600030101010101" pitchFamily="2" charset="-122"/>
              </a:rPr>
              <a:t>3-18</a:t>
            </a:r>
            <a:r>
              <a:rPr lang="zh-CN" altLang="en-US" dirty="0">
                <a:latin typeface="Times New Roman" panose="02020603050405020304" pitchFamily="18" charset="0"/>
                <a:ea typeface="宋体" panose="02010600030101010101" pitchFamily="2" charset="-122"/>
              </a:rPr>
              <a:t>所示。由以上讨论和图</a:t>
            </a:r>
            <a:r>
              <a:rPr lang="en-US" altLang="zh-CN" dirty="0">
                <a:latin typeface="Times New Roman" panose="02020603050405020304" pitchFamily="18" charset="0"/>
                <a:ea typeface="宋体" panose="02010600030101010101" pitchFamily="2" charset="-122"/>
              </a:rPr>
              <a:t>3-18</a:t>
            </a:r>
            <a:r>
              <a:rPr lang="zh-CN" altLang="en-US" dirty="0">
                <a:latin typeface="Times New Roman" panose="02020603050405020304" pitchFamily="18" charset="0"/>
                <a:ea typeface="宋体" panose="02010600030101010101" pitchFamily="2" charset="-122"/>
              </a:rPr>
              <a:t>可以看出：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表示起始采样点</a:t>
            </a:r>
            <a:r>
              <a:rPr lang="en-US" altLang="zh-CN" i="1">
                <a:latin typeface="Times New Roman" panose="02020603050405020304" pitchFamily="18" charset="0"/>
                <a:ea typeface="宋体" panose="02010600030101010101" pitchFamily="2" charset="-122"/>
              </a:rPr>
              <a:t>z</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的矢量半径长度，通常</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否则</a:t>
            </a:r>
            <a:r>
              <a:rPr lang="en-US" altLang="zh-CN" i="1">
                <a:latin typeface="Times New Roman" panose="02020603050405020304" pitchFamily="18" charset="0"/>
                <a:ea typeface="宋体" panose="02010600030101010101" pitchFamily="2" charset="-122"/>
              </a:rPr>
              <a:t>z</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将处于单位圆</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的外部。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θ</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表示起始采样点</a:t>
            </a:r>
            <a:r>
              <a:rPr lang="en-US" altLang="zh-CN" i="1">
                <a:latin typeface="Times New Roman" panose="02020603050405020304" pitchFamily="18" charset="0"/>
                <a:ea typeface="宋体" panose="02010600030101010101" pitchFamily="2" charset="-122"/>
              </a:rPr>
              <a:t>z</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的相角，它可以是正值或负值。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φ</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表示两相邻采样点之间的角度差。</a:t>
            </a:r>
            <a:r>
              <a:rPr lang="en-US" altLang="zh-CN" i="1">
                <a:latin typeface="Times New Roman" panose="02020603050405020304" pitchFamily="18" charset="0"/>
                <a:ea typeface="宋体" panose="02010600030101010101" pitchFamily="2" charset="-122"/>
              </a:rPr>
              <a:t>φ</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为正时，表示</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的路径</a:t>
            </a:r>
            <a:r>
              <a:rPr lang="zh-CN" altLang="en-US" dirty="0">
                <a:latin typeface="Times New Roman" panose="02020603050405020304" pitchFamily="18" charset="0"/>
                <a:ea typeface="宋体" panose="02010600030101010101" pitchFamily="2" charset="-122"/>
              </a:rPr>
              <a:t>是逆时针旋转的；</a:t>
            </a:r>
            <a:r>
              <a:rPr lang="en-US" altLang="zh-CN" i="1">
                <a:latin typeface="Times New Roman" panose="02020603050405020304" pitchFamily="18" charset="0"/>
                <a:ea typeface="宋体" panose="02010600030101010101" pitchFamily="2" charset="-122"/>
              </a:rPr>
              <a:t>φ</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为负时，表示</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的路径是顺时针旋转的。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文本框 72707"/>
          <p:cNvSpPr txBox="1"/>
          <p:nvPr/>
        </p:nvSpPr>
        <p:spPr>
          <a:xfrm>
            <a:off x="228600" y="381000"/>
            <a:ext cx="8686800" cy="454533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W</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的大小表示螺线的伸展率。</a:t>
            </a:r>
            <a:r>
              <a:rPr lang="en-US" altLang="zh-CN" i="1">
                <a:latin typeface="Times New Roman" panose="02020603050405020304" pitchFamily="18" charset="0"/>
                <a:ea typeface="宋体" panose="02010600030101010101" pitchFamily="2" charset="-122"/>
              </a:rPr>
              <a:t>W</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&gt;1 </a:t>
            </a:r>
            <a:r>
              <a:rPr lang="zh-CN" altLang="en-US" dirty="0">
                <a:latin typeface="Times New Roman" panose="02020603050405020304" pitchFamily="18" charset="0"/>
                <a:ea typeface="宋体" panose="02010600030101010101" pitchFamily="2" charset="-122"/>
              </a:rPr>
              <a:t>时，随着</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的增加螺线内缩</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W</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&lt;1 </a:t>
            </a:r>
            <a:r>
              <a:rPr lang="zh-CN" altLang="en-US" dirty="0">
                <a:latin typeface="Times New Roman" panose="02020603050405020304" pitchFamily="18" charset="0"/>
                <a:ea typeface="宋体" panose="02010600030101010101" pitchFamily="2" charset="-122"/>
              </a:rPr>
              <a:t>时，则随</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的增加螺线外伸</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W</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时，表示是半径为</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的一段圆弧。 若又有</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则这段圆弧是单位圆的一部分。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当</a:t>
            </a:r>
            <a:r>
              <a:rPr lang="en-US" altLang="zh-CN" i="1">
                <a:latin typeface="Times New Roman" panose="02020603050405020304" pitchFamily="18" charset="0"/>
                <a:ea typeface="宋体" panose="02010600030101010101" pitchFamily="2" charset="-122"/>
              </a:rPr>
              <a:t>M=N</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e</a:t>
            </a:r>
            <a:r>
              <a:rPr lang="en-US" altLang="zh-CN" baseline="30000">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θ</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W</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W</a:t>
            </a:r>
            <a:r>
              <a:rPr lang="en-US" altLang="zh-CN" baseline="-25000">
                <a:latin typeface="Times New Roman" panose="02020603050405020304" pitchFamily="18" charset="0"/>
                <a:ea typeface="宋体" panose="02010600030101010101" pitchFamily="2" charset="-122"/>
              </a:rPr>
              <a:t>0</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e</a:t>
            </a:r>
            <a:r>
              <a:rPr lang="en-US" altLang="zh-CN" baseline="30000">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φ</a:t>
            </a:r>
            <a:r>
              <a:rPr lang="en-US" altLang="zh-CN" baseline="30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W</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φ</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）这一特殊情况时，各</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就均匀等间隔地分布在单位圆上，这就是求序列的</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将式（</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）的</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代入变换表达式（</a:t>
            </a:r>
            <a:r>
              <a:rPr lang="en-US" altLang="zh-CN" dirty="0">
                <a:latin typeface="Times New Roman" panose="02020603050405020304" pitchFamily="18" charset="0"/>
                <a:ea typeface="宋体" panose="02010600030101010101" pitchFamily="2" charset="-122"/>
              </a:rPr>
              <a:t>3-28</a:t>
            </a:r>
            <a:r>
              <a:rPr lang="zh-CN" altLang="en-US" dirty="0">
                <a:latin typeface="Times New Roman" panose="02020603050405020304" pitchFamily="18" charset="0"/>
                <a:ea typeface="宋体" panose="02010600030101010101" pitchFamily="2" charset="-122"/>
              </a:rPr>
              <a:t>），可得</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75778" name="对象 72708"/>
          <p:cNvGraphicFramePr/>
          <p:nvPr/>
        </p:nvGraphicFramePr>
        <p:xfrm>
          <a:off x="5368925" y="2265680"/>
          <a:ext cx="838200" cy="722313"/>
        </p:xfrm>
        <a:graphic>
          <a:graphicData uri="http://schemas.openxmlformats.org/presentationml/2006/ole">
            <mc:AlternateContent xmlns:mc="http://schemas.openxmlformats.org/markup-compatibility/2006">
              <mc:Choice xmlns:v="urn:schemas-microsoft-com:vml" Requires="v">
                <p:oleObj spid="_x0000_s3128" name="" r:id="rId1" imgW="457200" imgH="393700" progId="Equation.3">
                  <p:embed/>
                </p:oleObj>
              </mc:Choice>
              <mc:Fallback>
                <p:oleObj name="" r:id="rId1" imgW="457200" imgH="393700" progId="Equation.3">
                  <p:embed/>
                  <p:pic>
                    <p:nvPicPr>
                      <p:cNvPr id="0" name="图片 3127"/>
                      <p:cNvPicPr/>
                      <p:nvPr/>
                    </p:nvPicPr>
                    <p:blipFill>
                      <a:blip r:embed="rId2"/>
                      <a:stretch>
                        <a:fillRect/>
                      </a:stretch>
                    </p:blipFill>
                    <p:spPr>
                      <a:xfrm>
                        <a:off x="5368925" y="2265680"/>
                        <a:ext cx="838200" cy="722313"/>
                      </a:xfrm>
                      <a:prstGeom prst="rect">
                        <a:avLst/>
                      </a:prstGeom>
                      <a:noFill/>
                      <a:ln w="38100">
                        <a:noFill/>
                        <a:miter/>
                      </a:ln>
                    </p:spPr>
                  </p:pic>
                </p:oleObj>
              </mc:Fallback>
            </mc:AlternateContent>
          </a:graphicData>
        </a:graphic>
      </p:graphicFrame>
      <p:grpSp>
        <p:nvGrpSpPr>
          <p:cNvPr id="75779" name="组合 72712"/>
          <p:cNvGrpSpPr/>
          <p:nvPr/>
        </p:nvGrpSpPr>
        <p:grpSpPr>
          <a:xfrm>
            <a:off x="2052638" y="4941888"/>
            <a:ext cx="6788150" cy="1209674"/>
            <a:chOff x="1293" y="3113"/>
            <a:chExt cx="4276" cy="762"/>
          </a:xfrm>
          <a:solidFill>
            <a:schemeClr val="accent1"/>
          </a:solidFill>
        </p:grpSpPr>
        <p:graphicFrame>
          <p:nvGraphicFramePr>
            <p:cNvPr id="75780" name="对象 72709"/>
            <p:cNvGraphicFramePr/>
            <p:nvPr/>
          </p:nvGraphicFramePr>
          <p:xfrm>
            <a:off x="1293" y="3113"/>
            <a:ext cx="3084" cy="586"/>
          </p:xfrm>
          <a:graphic>
            <a:graphicData uri="http://schemas.openxmlformats.org/presentationml/2006/ole">
              <mc:AlternateContent xmlns:mc="http://schemas.openxmlformats.org/markup-compatibility/2006">
                <mc:Choice xmlns:v="urn:schemas-microsoft-com:vml" Requires="v">
                  <p:oleObj spid="_x0000_s3133" name="" r:id="rId3" imgW="2272030" imgH="431800" progId="Equation.DSMT4">
                    <p:embed/>
                  </p:oleObj>
                </mc:Choice>
                <mc:Fallback>
                  <p:oleObj name="" r:id="rId3" imgW="2272030" imgH="431800" progId="Equation.DSMT4">
                    <p:embed/>
                    <p:pic>
                      <p:nvPicPr>
                        <p:cNvPr id="0" name="图片 3132"/>
                        <p:cNvPicPr/>
                        <p:nvPr/>
                      </p:nvPicPr>
                      <p:blipFill>
                        <a:blip r:embed="rId4"/>
                        <a:stretch>
                          <a:fillRect/>
                        </a:stretch>
                      </p:blipFill>
                      <p:spPr>
                        <a:xfrm>
                          <a:off x="1293" y="3113"/>
                          <a:ext cx="3084" cy="586"/>
                        </a:xfrm>
                        <a:prstGeom prst="rect">
                          <a:avLst/>
                        </a:prstGeom>
                        <a:solidFill>
                          <a:schemeClr val="accent1"/>
                        </a:solidFill>
                        <a:ln w="38100">
                          <a:noFill/>
                          <a:miter/>
                        </a:ln>
                      </p:spPr>
                    </p:pic>
                  </p:oleObj>
                </mc:Fallback>
              </mc:AlternateContent>
            </a:graphicData>
          </a:graphic>
        </p:graphicFrame>
        <p:sp>
          <p:nvSpPr>
            <p:cNvPr id="75781" name="文本框 72710"/>
            <p:cNvSpPr txBox="1"/>
            <p:nvPr/>
          </p:nvSpPr>
          <p:spPr>
            <a:xfrm>
              <a:off x="4472" y="3587"/>
              <a:ext cx="1097" cy="288"/>
            </a:xfrm>
            <a:prstGeom prst="rect">
              <a:avLst/>
            </a:prstGeom>
            <a:grp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75782" name="文本框 72711"/>
            <p:cNvSpPr txBox="1"/>
            <p:nvPr/>
          </p:nvSpPr>
          <p:spPr>
            <a:xfrm>
              <a:off x="4785" y="3233"/>
              <a:ext cx="644" cy="288"/>
            </a:xfrm>
            <a:prstGeom prst="rect">
              <a:avLst/>
            </a:prstGeom>
            <a:grpFill/>
            <a:ln w="9525">
              <a:noFill/>
            </a:ln>
          </p:spPr>
          <p:txBody>
            <a:bodyPr wrap="none" anchor="t">
              <a:spAutoFit/>
            </a:bodyPr>
            <a:p>
              <a:r>
                <a:rPr lang="en-US" altLang="zh-CN">
                  <a:latin typeface="Times New Roman" panose="02020603050405020304" pitchFamily="18" charset="0"/>
                  <a:ea typeface="宋体" panose="02010600030101010101" pitchFamily="2" charset="-122"/>
                </a:rPr>
                <a:t>(3-33) </a:t>
              </a:r>
              <a:endParaRPr lang="en-US" altLang="zh-CN">
                <a:latin typeface="Times New Roman" panose="02020603050405020304" pitchFamily="18" charset="0"/>
                <a:ea typeface="宋体" panose="02010600030101010101" pitchFamily="2" charset="-122"/>
              </a:endParaRPr>
            </a:p>
          </p:txBody>
        </p:sp>
      </p:grpSp>
    </p:spTree>
  </p:cSld>
  <p:clrMapOvr>
    <a:masterClrMapping/>
  </p:clrMapOvr>
  <p:transition>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文本框 71683"/>
          <p:cNvSpPr txBox="1"/>
          <p:nvPr/>
        </p:nvSpPr>
        <p:spPr>
          <a:xfrm>
            <a:off x="444500" y="762000"/>
            <a:ext cx="8159750" cy="354965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直接计算这一公式，与直接计算</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相似，总共算出</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个采样点，需要</a:t>
            </a:r>
            <a:r>
              <a:rPr lang="en-US" altLang="zh-CN" dirty="0">
                <a:latin typeface="Times New Roman" panose="02020603050405020304" pitchFamily="18" charset="0"/>
                <a:ea typeface="宋体" panose="02010600030101010101" pitchFamily="2" charset="-122"/>
              </a:rPr>
              <a:t>NM</a:t>
            </a:r>
            <a:r>
              <a:rPr lang="zh-CN" altLang="en-US" dirty="0">
                <a:latin typeface="Times New Roman" panose="02020603050405020304" pitchFamily="18" charset="0"/>
                <a:ea typeface="宋体" panose="02010600030101010101" pitchFamily="2" charset="-122"/>
              </a:rPr>
              <a:t>次复数乘法与</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次复数加法。当</a:t>
            </a:r>
            <a:r>
              <a:rPr lang="en-US" altLang="zh-CN" i="1">
                <a:latin typeface="Times New Roman" panose="02020603050405020304" pitchFamily="18" charset="0"/>
                <a:ea typeface="宋体" panose="02010600030101010101" pitchFamily="2" charset="-122"/>
              </a:rPr>
              <a:t>N</a:t>
            </a:r>
            <a:r>
              <a:rPr lang="zh-CN" altLang="en-US" i="1">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很大时，这个量很大，这就限制了运算速度。 但是，下面我们将看到，通过一定的变换，以上运算可以转换为卷积形式， 从而可以采用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算法，这样就可以大大提高</a:t>
            </a:r>
            <a:r>
              <a:rPr lang="zh-CN" altLang="en-US" dirty="0">
                <a:latin typeface="Times New Roman" panose="02020603050405020304" pitchFamily="18" charset="0"/>
                <a:ea typeface="宋体" panose="02010600030101010101" pitchFamily="2" charset="-122"/>
              </a:rPr>
              <a:t>运算速度。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文本框 74755"/>
          <p:cNvSpPr txBox="1"/>
          <p:nvPr/>
        </p:nvSpPr>
        <p:spPr>
          <a:xfrm>
            <a:off x="822325" y="476250"/>
            <a:ext cx="3824288" cy="457200"/>
          </a:xfrm>
          <a:prstGeom prst="rect">
            <a:avLst/>
          </a:prstGeom>
          <a:noFill/>
          <a:ln w="9525">
            <a:noFill/>
          </a:ln>
        </p:spPr>
        <p:txBody>
          <a:bodyPr wrap="none" anchor="t">
            <a:spAutoFit/>
          </a:bodyPr>
          <a:p>
            <a:r>
              <a:rPr lang="en-US" altLang="zh-CN" i="1" err="1">
                <a:latin typeface="Times New Roman" panose="02020603050405020304" pitchFamily="18" charset="0"/>
                <a:ea typeface="宋体" panose="02010600030101010101" pitchFamily="2" charset="-122"/>
              </a:rPr>
              <a:t>nk</a:t>
            </a:r>
            <a:r>
              <a:rPr lang="zh-CN" altLang="en-US" dirty="0">
                <a:latin typeface="Times New Roman" panose="02020603050405020304" pitchFamily="18" charset="0"/>
                <a:ea typeface="宋体" panose="02010600030101010101" pitchFamily="2" charset="-122"/>
              </a:rPr>
              <a:t>可以用以下表达式来替换</a:t>
            </a:r>
            <a:endParaRPr lang="zh-CN" altLang="en-US">
              <a:latin typeface="Times New Roman" panose="02020603050405020304" pitchFamily="18" charset="0"/>
              <a:ea typeface="宋体" panose="02010600030101010101" pitchFamily="2" charset="-122"/>
            </a:endParaRPr>
          </a:p>
        </p:txBody>
      </p:sp>
      <p:graphicFrame>
        <p:nvGraphicFramePr>
          <p:cNvPr id="77826" name="对象 74756"/>
          <p:cNvGraphicFramePr/>
          <p:nvPr/>
        </p:nvGraphicFramePr>
        <p:xfrm>
          <a:off x="2514600" y="892175"/>
          <a:ext cx="4235450" cy="1033463"/>
        </p:xfrm>
        <a:graphic>
          <a:graphicData uri="http://schemas.openxmlformats.org/presentationml/2006/ole">
            <mc:AlternateContent xmlns:mc="http://schemas.openxmlformats.org/markup-compatibility/2006">
              <mc:Choice xmlns:v="urn:schemas-microsoft-com:vml" Requires="v">
                <p:oleObj spid="_x0000_s3130" name="" r:id="rId1" imgW="1612265" imgH="393700" progId="Equation.3">
                  <p:embed/>
                </p:oleObj>
              </mc:Choice>
              <mc:Fallback>
                <p:oleObj name="" r:id="rId1" imgW="1612265" imgH="393700" progId="Equation.3">
                  <p:embed/>
                  <p:pic>
                    <p:nvPicPr>
                      <p:cNvPr id="0" name="图片 3129"/>
                      <p:cNvPicPr/>
                      <p:nvPr/>
                    </p:nvPicPr>
                    <p:blipFill>
                      <a:blip r:embed="rId2"/>
                      <a:stretch>
                        <a:fillRect/>
                      </a:stretch>
                    </p:blipFill>
                    <p:spPr>
                      <a:xfrm>
                        <a:off x="2514600" y="892175"/>
                        <a:ext cx="4235450" cy="1033463"/>
                      </a:xfrm>
                      <a:prstGeom prst="rect">
                        <a:avLst/>
                      </a:prstGeom>
                      <a:solidFill>
                        <a:schemeClr val="accent1"/>
                      </a:solidFill>
                      <a:ln w="38100">
                        <a:noFill/>
                        <a:miter/>
                      </a:ln>
                    </p:spPr>
                  </p:pic>
                </p:oleObj>
              </mc:Fallback>
            </mc:AlternateContent>
          </a:graphicData>
        </a:graphic>
      </p:graphicFrame>
      <p:sp>
        <p:nvSpPr>
          <p:cNvPr id="77827" name="文本框 74757"/>
          <p:cNvSpPr txBox="1"/>
          <p:nvPr/>
        </p:nvSpPr>
        <p:spPr>
          <a:xfrm>
            <a:off x="228600" y="1958975"/>
            <a:ext cx="5035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将式（</a:t>
            </a:r>
            <a:r>
              <a:rPr lang="en-US" altLang="zh-CN" dirty="0">
                <a:latin typeface="Times New Roman" panose="02020603050405020304" pitchFamily="18" charset="0"/>
                <a:ea typeface="宋体" panose="02010600030101010101" pitchFamily="2" charset="-122"/>
              </a:rPr>
              <a:t>3-34</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3-33</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77828" name="对象 74758"/>
          <p:cNvGraphicFramePr/>
          <p:nvPr/>
        </p:nvGraphicFramePr>
        <p:xfrm>
          <a:off x="1979613" y="2435225"/>
          <a:ext cx="5334000" cy="2332038"/>
        </p:xfrm>
        <a:graphic>
          <a:graphicData uri="http://schemas.openxmlformats.org/presentationml/2006/ole">
            <mc:AlternateContent xmlns:mc="http://schemas.openxmlformats.org/markup-compatibility/2006">
              <mc:Choice xmlns:v="urn:schemas-microsoft-com:vml" Requires="v">
                <p:oleObj spid="_x0000_s3131" name="" r:id="rId3" imgW="2324100" imgH="1016000" progId="Equation.3">
                  <p:embed/>
                </p:oleObj>
              </mc:Choice>
              <mc:Fallback>
                <p:oleObj name="" r:id="rId3" imgW="2324100" imgH="1016000" progId="Equation.3">
                  <p:embed/>
                  <p:pic>
                    <p:nvPicPr>
                      <p:cNvPr id="0" name="图片 3130"/>
                      <p:cNvPicPr/>
                      <p:nvPr/>
                    </p:nvPicPr>
                    <p:blipFill>
                      <a:blip r:embed="rId4"/>
                      <a:stretch>
                        <a:fillRect/>
                      </a:stretch>
                    </p:blipFill>
                    <p:spPr>
                      <a:xfrm>
                        <a:off x="1979613" y="2435225"/>
                        <a:ext cx="5334000" cy="2332038"/>
                      </a:xfrm>
                      <a:prstGeom prst="rect">
                        <a:avLst/>
                      </a:prstGeom>
                      <a:noFill/>
                      <a:ln w="38100">
                        <a:noFill/>
                        <a:miter/>
                      </a:ln>
                    </p:spPr>
                  </p:pic>
                </p:oleObj>
              </mc:Fallback>
            </mc:AlternateContent>
          </a:graphicData>
        </a:graphic>
      </p:graphicFrame>
      <p:sp>
        <p:nvSpPr>
          <p:cNvPr id="77829" name="文本框 74759"/>
          <p:cNvSpPr txBox="1"/>
          <p:nvPr/>
        </p:nvSpPr>
        <p:spPr>
          <a:xfrm>
            <a:off x="212725" y="4784725"/>
            <a:ext cx="15636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如果定义</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77830" name="对象 74760"/>
          <p:cNvGraphicFramePr/>
          <p:nvPr/>
        </p:nvGraphicFramePr>
        <p:xfrm>
          <a:off x="2700655" y="4768215"/>
          <a:ext cx="2895600" cy="1758315"/>
        </p:xfrm>
        <a:graphic>
          <a:graphicData uri="http://schemas.openxmlformats.org/presentationml/2006/ole">
            <mc:AlternateContent xmlns:mc="http://schemas.openxmlformats.org/markup-compatibility/2006">
              <mc:Choice xmlns:v="urn:schemas-microsoft-com:vml" Requires="v">
                <p:oleObj spid="_x0000_s3132" name="" r:id="rId5" imgW="1218565" imgH="812165" progId="Equation.3">
                  <p:embed/>
                </p:oleObj>
              </mc:Choice>
              <mc:Fallback>
                <p:oleObj name="" r:id="rId5" imgW="1218565" imgH="812165" progId="Equation.3">
                  <p:embed/>
                  <p:pic>
                    <p:nvPicPr>
                      <p:cNvPr id="0" name="图片 3131"/>
                      <p:cNvPicPr/>
                      <p:nvPr/>
                    </p:nvPicPr>
                    <p:blipFill>
                      <a:blip r:embed="rId6"/>
                      <a:stretch>
                        <a:fillRect/>
                      </a:stretch>
                    </p:blipFill>
                    <p:spPr>
                      <a:xfrm>
                        <a:off x="2700655" y="4768215"/>
                        <a:ext cx="2895600" cy="1758315"/>
                      </a:xfrm>
                      <a:prstGeom prst="rect">
                        <a:avLst/>
                      </a:prstGeom>
                      <a:solidFill>
                        <a:schemeClr val="accent1"/>
                      </a:solidFill>
                      <a:ln w="38100">
                        <a:noFill/>
                        <a:miter/>
                      </a:ln>
                    </p:spPr>
                  </p:pic>
                </p:oleObj>
              </mc:Fallback>
            </mc:AlternateContent>
          </a:graphicData>
        </a:graphic>
      </p:graphicFrame>
      <p:sp>
        <p:nvSpPr>
          <p:cNvPr id="77831" name="文本框 74761"/>
          <p:cNvSpPr txBox="1"/>
          <p:nvPr/>
        </p:nvSpPr>
        <p:spPr>
          <a:xfrm>
            <a:off x="5795963" y="4956175"/>
            <a:ext cx="2108200"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 1,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77832" name="文本框 74762"/>
          <p:cNvSpPr txBox="1"/>
          <p:nvPr/>
        </p:nvSpPr>
        <p:spPr>
          <a:xfrm>
            <a:off x="7667625" y="1160463"/>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(3-34)</a:t>
            </a:r>
            <a:endParaRPr lang="en-US" altLang="zh-CN">
              <a:latin typeface="Times New Roman" panose="02020603050405020304" pitchFamily="18" charset="0"/>
              <a:ea typeface="宋体" panose="02010600030101010101" pitchFamily="2" charset="-122"/>
            </a:endParaRPr>
          </a:p>
        </p:txBody>
      </p:sp>
      <p:sp>
        <p:nvSpPr>
          <p:cNvPr id="77833" name="文本框 74763"/>
          <p:cNvSpPr txBox="1"/>
          <p:nvPr/>
        </p:nvSpPr>
        <p:spPr>
          <a:xfrm>
            <a:off x="7740650" y="3876675"/>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(3-35)</a:t>
            </a:r>
            <a:endParaRPr lang="en-US" altLang="zh-CN">
              <a:latin typeface="Times New Roman" panose="02020603050405020304" pitchFamily="18" charset="0"/>
              <a:ea typeface="宋体" panose="02010600030101010101" pitchFamily="2" charset="-122"/>
            </a:endParaRPr>
          </a:p>
        </p:txBody>
      </p:sp>
      <p:sp>
        <p:nvSpPr>
          <p:cNvPr id="77834" name="文本框 74764"/>
          <p:cNvSpPr txBox="1"/>
          <p:nvPr/>
        </p:nvSpPr>
        <p:spPr>
          <a:xfrm>
            <a:off x="7885113" y="4941888"/>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(3-36)</a:t>
            </a:r>
            <a:endParaRPr lang="en-US" altLang="zh-CN">
              <a:latin typeface="Times New Roman" panose="02020603050405020304" pitchFamily="18" charset="0"/>
              <a:ea typeface="宋体" panose="02010600030101010101" pitchFamily="2" charset="-122"/>
            </a:endParaRPr>
          </a:p>
        </p:txBody>
      </p:sp>
      <p:sp>
        <p:nvSpPr>
          <p:cNvPr id="77835" name="文本框 74765"/>
          <p:cNvSpPr txBox="1"/>
          <p:nvPr/>
        </p:nvSpPr>
        <p:spPr>
          <a:xfrm>
            <a:off x="7956550" y="5924550"/>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(3-37)</a:t>
            </a:r>
            <a:endParaRPr lang="en-US" altLang="zh-CN">
              <a:latin typeface="Times New Roman" panose="02020603050405020304" pitchFamily="18" charset="0"/>
              <a:ea typeface="宋体" panose="02010600030101010101" pitchFamily="2" charset="-122"/>
            </a:endParaRPr>
          </a:p>
        </p:txBody>
      </p:sp>
      <p:cxnSp>
        <p:nvCxnSpPr>
          <p:cNvPr id="2" name="直接箭头连接符 1"/>
          <p:cNvCxnSpPr/>
          <p:nvPr/>
        </p:nvCxnSpPr>
        <p:spPr>
          <a:xfrm flipH="1">
            <a:off x="3708400" y="3073400"/>
            <a:ext cx="3028315" cy="643890"/>
          </a:xfrm>
          <a:prstGeom prst="straightConnector1">
            <a:avLst/>
          </a:prstGeom>
          <a:ln w="31750" cmpd="sng">
            <a:solidFill>
              <a:srgbClr val="C0000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5796280" y="3573145"/>
            <a:ext cx="1440180" cy="72009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文本框 73731"/>
          <p:cNvSpPr txBox="1"/>
          <p:nvPr/>
        </p:nvSpPr>
        <p:spPr>
          <a:xfrm>
            <a:off x="457200" y="609600"/>
            <a:ext cx="23812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则它们的卷积为 </a:t>
            </a:r>
            <a:endParaRPr lang="zh-CN" altLang="en-US">
              <a:latin typeface="Times New Roman" panose="02020603050405020304" pitchFamily="18" charset="0"/>
              <a:ea typeface="宋体" panose="02010600030101010101" pitchFamily="2" charset="-122"/>
            </a:endParaRPr>
          </a:p>
        </p:txBody>
      </p:sp>
      <p:graphicFrame>
        <p:nvGraphicFramePr>
          <p:cNvPr id="78850" name="对象 73732"/>
          <p:cNvGraphicFramePr/>
          <p:nvPr/>
        </p:nvGraphicFramePr>
        <p:xfrm>
          <a:off x="1828800" y="990600"/>
          <a:ext cx="5421313" cy="2273300"/>
        </p:xfrm>
        <a:graphic>
          <a:graphicData uri="http://schemas.openxmlformats.org/presentationml/2006/ole">
            <mc:AlternateContent xmlns:mc="http://schemas.openxmlformats.org/markup-compatibility/2006">
              <mc:Choice xmlns:v="urn:schemas-microsoft-com:vml" Requires="v">
                <p:oleObj spid="_x0000_s3077" name="" r:id="rId1" imgW="2360930" imgH="989965" progId="Equation.3">
                  <p:embed/>
                </p:oleObj>
              </mc:Choice>
              <mc:Fallback>
                <p:oleObj name="" r:id="rId1" imgW="2360930" imgH="989965" progId="Equation.3">
                  <p:embed/>
                  <p:pic>
                    <p:nvPicPr>
                      <p:cNvPr id="0" name="图片 3076"/>
                      <p:cNvPicPr/>
                      <p:nvPr/>
                    </p:nvPicPr>
                    <p:blipFill>
                      <a:blip r:embed="rId2"/>
                      <a:stretch>
                        <a:fillRect/>
                      </a:stretch>
                    </p:blipFill>
                    <p:spPr>
                      <a:xfrm>
                        <a:off x="1828800" y="990600"/>
                        <a:ext cx="5421313" cy="2273300"/>
                      </a:xfrm>
                      <a:prstGeom prst="rect">
                        <a:avLst/>
                      </a:prstGeom>
                      <a:noFill/>
                      <a:ln w="38100">
                        <a:noFill/>
                        <a:miter/>
                      </a:ln>
                    </p:spPr>
                  </p:pic>
                </p:oleObj>
              </mc:Fallback>
            </mc:AlternateContent>
          </a:graphicData>
        </a:graphic>
      </p:graphicFrame>
      <p:sp>
        <p:nvSpPr>
          <p:cNvPr id="78851" name="文本框 73733"/>
          <p:cNvSpPr txBox="1"/>
          <p:nvPr/>
        </p:nvSpPr>
        <p:spPr>
          <a:xfrm>
            <a:off x="228600" y="3429000"/>
            <a:ext cx="87630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式（</a:t>
            </a:r>
            <a:r>
              <a:rPr lang="en-US" altLang="zh-CN" dirty="0">
                <a:latin typeface="Times New Roman" panose="02020603050405020304" pitchFamily="18" charset="0"/>
                <a:ea typeface="宋体" panose="02010600030101010101" pitchFamily="2" charset="-122"/>
              </a:rPr>
              <a:t>3-38</a:t>
            </a:r>
            <a:r>
              <a:rPr lang="zh-CN" altLang="en-US" dirty="0">
                <a:latin typeface="Times New Roman" panose="02020603050405020304" pitchFamily="18" charset="0"/>
                <a:ea typeface="宋体" panose="02010600030101010101" pitchFamily="2" charset="-122"/>
              </a:rPr>
              <a:t>）正好是式（</a:t>
            </a:r>
            <a:r>
              <a:rPr lang="en-US" altLang="zh-CN" dirty="0">
                <a:latin typeface="Times New Roman" panose="02020603050405020304" pitchFamily="18" charset="0"/>
                <a:ea typeface="宋体" panose="02010600030101010101" pitchFamily="2" charset="-122"/>
              </a:rPr>
              <a:t>3-35</a:t>
            </a:r>
            <a:r>
              <a:rPr lang="zh-CN" altLang="en-US" dirty="0">
                <a:latin typeface="Times New Roman" panose="02020603050405020304" pitchFamily="18" charset="0"/>
                <a:ea typeface="宋体" panose="02010600030101010101" pitchFamily="2" charset="-122"/>
              </a:rPr>
              <a:t>）的一部分， 因</a:t>
            </a:r>
            <a:r>
              <a:rPr lang="zh-CN" altLang="en-US" dirty="0">
                <a:latin typeface="Times New Roman" panose="02020603050405020304" pitchFamily="18" charset="0"/>
                <a:ea typeface="宋体" panose="02010600030101010101" pitchFamily="2" charset="-122"/>
              </a:rPr>
              <a:t>此式（</a:t>
            </a:r>
            <a:r>
              <a:rPr lang="en-US" altLang="zh-CN" dirty="0">
                <a:latin typeface="Times New Roman" panose="02020603050405020304" pitchFamily="18" charset="0"/>
                <a:ea typeface="宋体" panose="02010600030101010101" pitchFamily="2" charset="-122"/>
              </a:rPr>
              <a:t>3-35</a:t>
            </a:r>
            <a:r>
              <a:rPr lang="zh-CN" altLang="en-US" dirty="0">
                <a:latin typeface="Times New Roman" panose="02020603050405020304" pitchFamily="18" charset="0"/>
                <a:ea typeface="宋体" panose="02010600030101010101" pitchFamily="2" charset="-122"/>
              </a:rPr>
              <a:t>）又可以用卷积的形式表示为 </a:t>
            </a:r>
            <a:endParaRPr lang="zh-CN" altLang="en-US">
              <a:latin typeface="Times New Roman" panose="02020603050405020304" pitchFamily="18" charset="0"/>
              <a:ea typeface="宋体" panose="02010600030101010101" pitchFamily="2" charset="-122"/>
            </a:endParaRPr>
          </a:p>
        </p:txBody>
      </p:sp>
      <p:graphicFrame>
        <p:nvGraphicFramePr>
          <p:cNvPr id="78852" name="对象 73734"/>
          <p:cNvGraphicFramePr/>
          <p:nvPr/>
        </p:nvGraphicFramePr>
        <p:xfrm>
          <a:off x="1447800" y="4724400"/>
          <a:ext cx="4114800" cy="911225"/>
        </p:xfrm>
        <a:graphic>
          <a:graphicData uri="http://schemas.openxmlformats.org/presentationml/2006/ole">
            <mc:AlternateContent xmlns:mc="http://schemas.openxmlformats.org/markup-compatibility/2006">
              <mc:Choice xmlns:v="urn:schemas-microsoft-com:vml" Requires="v">
                <p:oleObj spid="_x0000_s3076" name="" r:id="rId3" imgW="1663700" imgH="368300" progId="Equation.3">
                  <p:embed/>
                </p:oleObj>
              </mc:Choice>
              <mc:Fallback>
                <p:oleObj name="" r:id="rId3" imgW="1663700" imgH="368300" progId="Equation.3">
                  <p:embed/>
                  <p:pic>
                    <p:nvPicPr>
                      <p:cNvPr id="0" name="图片 3075"/>
                      <p:cNvPicPr/>
                      <p:nvPr/>
                    </p:nvPicPr>
                    <p:blipFill>
                      <a:blip r:embed="rId4"/>
                      <a:stretch>
                        <a:fillRect/>
                      </a:stretch>
                    </p:blipFill>
                    <p:spPr>
                      <a:xfrm>
                        <a:off x="1447800" y="4724400"/>
                        <a:ext cx="4114800" cy="911225"/>
                      </a:xfrm>
                      <a:prstGeom prst="rect">
                        <a:avLst/>
                      </a:prstGeom>
                      <a:solidFill>
                        <a:schemeClr val="accent1"/>
                      </a:solidFill>
                      <a:ln w="38100">
                        <a:noFill/>
                        <a:miter/>
                      </a:ln>
                    </p:spPr>
                  </p:pic>
                </p:oleObj>
              </mc:Fallback>
            </mc:AlternateContent>
          </a:graphicData>
        </a:graphic>
      </p:graphicFrame>
      <p:sp>
        <p:nvSpPr>
          <p:cNvPr id="78853" name="文本框 73735"/>
          <p:cNvSpPr txBox="1"/>
          <p:nvPr/>
        </p:nvSpPr>
        <p:spPr>
          <a:xfrm>
            <a:off x="6400800" y="5105400"/>
            <a:ext cx="2141538"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 </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78854" name="文本框 73736"/>
          <p:cNvSpPr txBox="1"/>
          <p:nvPr/>
        </p:nvSpPr>
        <p:spPr>
          <a:xfrm>
            <a:off x="7575550" y="2441575"/>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(3-38)</a:t>
            </a:r>
            <a:endParaRPr lang="en-US" altLang="zh-CN">
              <a:latin typeface="Times New Roman" panose="02020603050405020304" pitchFamily="18" charset="0"/>
              <a:ea typeface="宋体" panose="02010600030101010101" pitchFamily="2" charset="-122"/>
            </a:endParaRPr>
          </a:p>
        </p:txBody>
      </p:sp>
      <p:sp>
        <p:nvSpPr>
          <p:cNvPr id="78855" name="文本框 73737"/>
          <p:cNvSpPr txBox="1"/>
          <p:nvPr/>
        </p:nvSpPr>
        <p:spPr>
          <a:xfrm>
            <a:off x="7740650" y="5589588"/>
            <a:ext cx="9461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(3-39)</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9873" name="组合 76806"/>
          <p:cNvGrpSpPr/>
          <p:nvPr/>
        </p:nvGrpSpPr>
        <p:grpSpPr>
          <a:xfrm>
            <a:off x="152400" y="665163"/>
            <a:ext cx="8839200" cy="5278437"/>
            <a:chOff x="96" y="419"/>
            <a:chExt cx="5568" cy="3325"/>
          </a:xfrm>
        </p:grpSpPr>
        <p:sp>
          <p:nvSpPr>
            <p:cNvPr id="79874" name="文本框 76803"/>
            <p:cNvSpPr txBox="1"/>
            <p:nvPr/>
          </p:nvSpPr>
          <p:spPr>
            <a:xfrm>
              <a:off x="96" y="419"/>
              <a:ext cx="5568" cy="3325"/>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3-39</a:t>
              </a:r>
              <a:r>
                <a:rPr lang="zh-CN" altLang="en-US" dirty="0">
                  <a:latin typeface="Times New Roman" panose="02020603050405020304" pitchFamily="18" charset="0"/>
                  <a:ea typeface="宋体" panose="02010600030101010101" pitchFamily="2" charset="-122"/>
                </a:rPr>
                <a:t>）可看出，如果我们对信号按式（</a:t>
              </a:r>
              <a:r>
                <a:rPr lang="en-US" altLang="zh-CN" dirty="0">
                  <a:latin typeface="Times New Roman" panose="02020603050405020304" pitchFamily="18" charset="0"/>
                  <a:ea typeface="宋体" panose="02010600030101010101" pitchFamily="2" charset="-122"/>
                </a:rPr>
                <a:t>3-36</a:t>
              </a:r>
              <a:r>
                <a:rPr lang="zh-CN" altLang="en-US" dirty="0">
                  <a:latin typeface="Times New Roman" panose="02020603050405020304" pitchFamily="18" charset="0"/>
                  <a:ea typeface="宋体" panose="02010600030101010101" pitchFamily="2" charset="-122"/>
                </a:rPr>
                <a:t>）先进行一次加权处理，加权系数为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然后，通过一个单位脉冲响应为</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的线性系统即求</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最后，对该系统的前</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点输出再做一次加权，这样就得到了全部</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点螺线采样值</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 1, </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。这个过程可以用图</a:t>
              </a:r>
              <a:r>
                <a:rPr lang="en-US" altLang="zh-CN" dirty="0">
                  <a:latin typeface="Times New Roman" panose="02020603050405020304" pitchFamily="18" charset="0"/>
                  <a:ea typeface="宋体" panose="02010600030101010101" pitchFamily="2" charset="-122"/>
                </a:rPr>
                <a:t>3-19 </a:t>
              </a:r>
              <a:r>
                <a:rPr lang="zh-CN" altLang="en-US" dirty="0">
                  <a:latin typeface="Times New Roman" panose="02020603050405020304" pitchFamily="18" charset="0"/>
                  <a:ea typeface="宋体" panose="02010600030101010101" pitchFamily="2" charset="-122"/>
                </a:rPr>
                <a:t>表示。从图中我们看到， 运算的主要部分是由线性系统来完成的。由于系统的单位脉冲响应	                可以想象为频率随时间</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呈线性增长的复指数序列。在雷达系统中</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这种信号称为线性调频信号</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Chirp Signal</a:t>
              </a:r>
              <a:r>
                <a:rPr lang="zh-CN" altLang="en-US" dirty="0">
                  <a:latin typeface="Times New Roman" panose="02020603050405020304" pitchFamily="18" charset="0"/>
                  <a:ea typeface="宋体" panose="02010600030101010101" pitchFamily="2" charset="-122"/>
                </a:rPr>
                <a:t>），因此，这里的变换称为线性调频</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 </a:t>
              </a:r>
              <a:endParaRPr lang="zh-CN" altLang="en-US">
                <a:latin typeface="Times New Roman" panose="02020603050405020304" pitchFamily="18" charset="0"/>
                <a:ea typeface="宋体" panose="02010600030101010101" pitchFamily="2" charset="-122"/>
              </a:endParaRPr>
            </a:p>
          </p:txBody>
        </p:sp>
        <p:graphicFrame>
          <p:nvGraphicFramePr>
            <p:cNvPr id="79875" name="对象 76804"/>
            <p:cNvGraphicFramePr/>
            <p:nvPr/>
          </p:nvGraphicFramePr>
          <p:xfrm>
            <a:off x="2064" y="720"/>
            <a:ext cx="736" cy="478"/>
          </p:xfrm>
          <a:graphic>
            <a:graphicData uri="http://schemas.openxmlformats.org/presentationml/2006/ole">
              <mc:AlternateContent xmlns:mc="http://schemas.openxmlformats.org/markup-compatibility/2006">
                <mc:Choice xmlns:v="urn:schemas-microsoft-com:vml" Requires="v">
                  <p:oleObj spid="_x0000_s3135" name="" r:id="rId1" imgW="508000" imgH="330200" progId="Equation.3">
                    <p:embed/>
                  </p:oleObj>
                </mc:Choice>
                <mc:Fallback>
                  <p:oleObj name="" r:id="rId1" imgW="508000" imgH="330200" progId="Equation.3">
                    <p:embed/>
                    <p:pic>
                      <p:nvPicPr>
                        <p:cNvPr id="0" name="图片 3134"/>
                        <p:cNvPicPr/>
                        <p:nvPr/>
                      </p:nvPicPr>
                      <p:blipFill>
                        <a:blip r:embed="rId2"/>
                        <a:stretch>
                          <a:fillRect/>
                        </a:stretch>
                      </p:blipFill>
                      <p:spPr>
                        <a:xfrm>
                          <a:off x="2064" y="720"/>
                          <a:ext cx="736" cy="478"/>
                        </a:xfrm>
                        <a:prstGeom prst="rect">
                          <a:avLst/>
                        </a:prstGeom>
                        <a:noFill/>
                        <a:ln w="38100">
                          <a:noFill/>
                          <a:miter/>
                        </a:ln>
                      </p:spPr>
                    </p:pic>
                  </p:oleObj>
                </mc:Fallback>
              </mc:AlternateContent>
            </a:graphicData>
          </a:graphic>
        </p:graphicFrame>
        <p:graphicFrame>
          <p:nvGraphicFramePr>
            <p:cNvPr id="79876" name="对象 76805"/>
            <p:cNvGraphicFramePr/>
            <p:nvPr/>
          </p:nvGraphicFramePr>
          <p:xfrm>
            <a:off x="912" y="2544"/>
            <a:ext cx="1122" cy="514"/>
          </p:xfrm>
          <a:graphic>
            <a:graphicData uri="http://schemas.openxmlformats.org/presentationml/2006/ole">
              <mc:AlternateContent xmlns:mc="http://schemas.openxmlformats.org/markup-compatibility/2006">
                <mc:Choice xmlns:v="urn:schemas-microsoft-com:vml" Requires="v">
                  <p:oleObj spid="_x0000_s3136" name="" r:id="rId3" imgW="774065" imgH="355600" progId="Equation.3">
                    <p:embed/>
                  </p:oleObj>
                </mc:Choice>
                <mc:Fallback>
                  <p:oleObj name="" r:id="rId3" imgW="774065" imgH="355600" progId="Equation.3">
                    <p:embed/>
                    <p:pic>
                      <p:nvPicPr>
                        <p:cNvPr id="0" name="图片 3135"/>
                        <p:cNvPicPr/>
                        <p:nvPr/>
                      </p:nvPicPr>
                      <p:blipFill>
                        <a:blip r:embed="rId4"/>
                        <a:stretch>
                          <a:fillRect/>
                        </a:stretch>
                      </p:blipFill>
                      <p:spPr>
                        <a:xfrm>
                          <a:off x="912" y="2544"/>
                          <a:ext cx="1122" cy="514"/>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文本框 75779"/>
          <p:cNvSpPr txBox="1"/>
          <p:nvPr/>
        </p:nvSpPr>
        <p:spPr>
          <a:xfrm>
            <a:off x="2057400" y="5334000"/>
            <a:ext cx="512762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3-1</a:t>
            </a:r>
            <a:r>
              <a:rPr lang="zh-CN" altLang="en-US" dirty="0">
                <a:latin typeface="Times New Roman" panose="02020603050405020304" pitchFamily="18" charset="0"/>
                <a:ea typeface="宋体" panose="02010600030101010101" pitchFamily="2" charset="-122"/>
              </a:rPr>
              <a:t>９ </a:t>
            </a:r>
            <a:r>
              <a:rPr lang="en-US" altLang="zh-CN" dirty="0">
                <a:latin typeface="Times New Roman" panose="02020603050405020304" pitchFamily="18" charset="0"/>
                <a:ea typeface="宋体" panose="02010600030101010101" pitchFamily="2" charset="-122"/>
              </a:rPr>
              <a:t>Chirp-Z</a:t>
            </a:r>
            <a:r>
              <a:rPr lang="zh-CN" altLang="en-US" dirty="0">
                <a:latin typeface="Times New Roman" panose="02020603050405020304" pitchFamily="18" charset="0"/>
                <a:ea typeface="宋体" panose="02010600030101010101" pitchFamily="2" charset="-122"/>
              </a:rPr>
              <a:t>变换的线性系统表示 </a:t>
            </a:r>
            <a:endParaRPr lang="zh-CN" altLang="en-US">
              <a:latin typeface="Times New Roman" panose="02020603050405020304" pitchFamily="18" charset="0"/>
              <a:ea typeface="宋体" panose="02010600030101010101" pitchFamily="2" charset="-122"/>
            </a:endParaRPr>
          </a:p>
        </p:txBody>
      </p:sp>
      <p:pic>
        <p:nvPicPr>
          <p:cNvPr id="80898" name="图片 75782" descr="3-19"/>
          <p:cNvPicPr>
            <a:picLocks noChangeAspect="1"/>
          </p:cNvPicPr>
          <p:nvPr/>
        </p:nvPicPr>
        <p:blipFill>
          <a:blip r:embed="rId1"/>
          <a:stretch>
            <a:fillRect/>
          </a:stretch>
        </p:blipFill>
        <p:spPr>
          <a:xfrm>
            <a:off x="1714500" y="2676525"/>
            <a:ext cx="5715000" cy="1504950"/>
          </a:xfrm>
          <a:prstGeom prst="rect">
            <a:avLst/>
          </a:prstGeom>
          <a:noFill/>
          <a:ln w="9525">
            <a:noFill/>
          </a:ln>
        </p:spPr>
      </p:pic>
      <p:graphicFrame>
        <p:nvGraphicFramePr>
          <p:cNvPr id="2" name="对象 1">
            <a:hlinkClick r:id="" action="ppaction://ole?verb="/>
          </p:cNvPr>
          <p:cNvGraphicFramePr>
            <a:graphicFrameLocks noChangeAspect="1"/>
          </p:cNvGraphicFramePr>
          <p:nvPr/>
        </p:nvGraphicFramePr>
        <p:xfrm>
          <a:off x="1915795" y="1778000"/>
          <a:ext cx="2415540" cy="527050"/>
        </p:xfrm>
        <a:graphic>
          <a:graphicData uri="http://schemas.openxmlformats.org/presentationml/2006/ole">
            <mc:AlternateContent xmlns:mc="http://schemas.openxmlformats.org/markup-compatibility/2006">
              <mc:Choice xmlns:v="urn:schemas-microsoft-com:vml" Requires="v">
                <p:oleObj spid="_x0000_s2049" name="" r:id="rId2" imgW="1397000" imgH="304800" progId="Equation.KSEE3">
                  <p:embed/>
                </p:oleObj>
              </mc:Choice>
              <mc:Fallback>
                <p:oleObj name="" r:id="rId2" imgW="1397000" imgH="304800" progId="Equation.KSEE3">
                  <p:embed/>
                  <p:pic>
                    <p:nvPicPr>
                      <p:cNvPr id="0" name="图片 2048"/>
                      <p:cNvPicPr/>
                      <p:nvPr/>
                    </p:nvPicPr>
                    <p:blipFill>
                      <a:blip r:embed="rId3"/>
                      <a:stretch>
                        <a:fillRect/>
                      </a:stretch>
                    </p:blipFill>
                    <p:spPr>
                      <a:xfrm>
                        <a:off x="1915795" y="1778000"/>
                        <a:ext cx="2415540" cy="527050"/>
                      </a:xfrm>
                      <a:prstGeom prst="rect">
                        <a:avLst/>
                      </a:prstGeom>
                      <a:solidFill>
                        <a:schemeClr val="accent1"/>
                      </a:solidFill>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5221605" y="2543175"/>
          <a:ext cx="1155700" cy="336550"/>
        </p:xfrm>
        <a:graphic>
          <a:graphicData uri="http://schemas.openxmlformats.org/presentationml/2006/ole">
            <mc:AlternateContent xmlns:mc="http://schemas.openxmlformats.org/markup-compatibility/2006">
              <mc:Choice xmlns:v="urn:schemas-microsoft-com:vml" Requires="v">
                <p:oleObj spid="_x0000_s2050" name="" r:id="rId4" imgW="698500" imgH="203200" progId="Equation.KSEE3">
                  <p:embed/>
                </p:oleObj>
              </mc:Choice>
              <mc:Fallback>
                <p:oleObj name="" r:id="rId4" imgW="698500" imgH="203200" progId="Equation.KSEE3">
                  <p:embed/>
                  <p:pic>
                    <p:nvPicPr>
                      <p:cNvPr id="0" name="图片 2049"/>
                      <p:cNvPicPr/>
                      <p:nvPr/>
                    </p:nvPicPr>
                    <p:blipFill>
                      <a:blip r:embed="rId5"/>
                      <a:stretch>
                        <a:fillRect/>
                      </a:stretch>
                    </p:blipFill>
                    <p:spPr>
                      <a:xfrm>
                        <a:off x="5221605" y="2543175"/>
                        <a:ext cx="1155700" cy="336550"/>
                      </a:xfrm>
                      <a:prstGeom prst="rect">
                        <a:avLst/>
                      </a:prstGeom>
                      <a:solidFill>
                        <a:schemeClr val="accent1"/>
                      </a:solidFill>
                    </p:spPr>
                  </p:pic>
                </p:oleObj>
              </mc:Fallback>
            </mc:AlternateContent>
          </a:graphicData>
        </a:graphic>
      </p:graphicFrame>
      <p:grpSp>
        <p:nvGrpSpPr>
          <p:cNvPr id="6" name="组合 5"/>
          <p:cNvGrpSpPr/>
          <p:nvPr/>
        </p:nvGrpSpPr>
        <p:grpSpPr>
          <a:xfrm>
            <a:off x="6876415" y="1562100"/>
            <a:ext cx="935990" cy="1075055"/>
            <a:chOff x="10829" y="2460"/>
            <a:chExt cx="1474" cy="1693"/>
          </a:xfrm>
        </p:grpSpPr>
        <p:sp>
          <p:nvSpPr>
            <p:cNvPr id="4" name="矩形 3"/>
            <p:cNvSpPr/>
            <p:nvPr/>
          </p:nvSpPr>
          <p:spPr>
            <a:xfrm>
              <a:off x="10829" y="2460"/>
              <a:ext cx="1474" cy="1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rgbClr val="FF0000"/>
                  </a:solidFill>
                </a:rPr>
                <a:t>螺线采样</a:t>
              </a:r>
              <a:endParaRPr lang="zh-CN" altLang="en-US" b="1">
                <a:solidFill>
                  <a:srgbClr val="FF0000"/>
                </a:solidFill>
              </a:endParaRPr>
            </a:p>
          </p:txBody>
        </p:sp>
        <p:cxnSp>
          <p:nvCxnSpPr>
            <p:cNvPr id="5" name="直接箭头连接符 4"/>
            <p:cNvCxnSpPr>
              <a:stCxn id="4" idx="2"/>
            </p:cNvCxnSpPr>
            <p:nvPr/>
          </p:nvCxnSpPr>
          <p:spPr>
            <a:xfrm flipH="1">
              <a:off x="11056" y="3473"/>
              <a:ext cx="510" cy="68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2309495" y="4552315"/>
            <a:ext cx="641096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rgbClr val="FF0000"/>
                </a:solidFill>
              </a:rPr>
              <a:t>圆周卷积（采用基</a:t>
            </a:r>
            <a:r>
              <a:rPr lang="en-US" altLang="zh-CN" b="1">
                <a:solidFill>
                  <a:srgbClr val="FF0000"/>
                </a:solidFill>
              </a:rPr>
              <a:t>-2</a:t>
            </a:r>
            <a:r>
              <a:rPr lang="zh-CN" altLang="en-US" b="1">
                <a:solidFill>
                  <a:srgbClr val="FF0000"/>
                </a:solidFill>
              </a:rPr>
              <a:t>的运算时</a:t>
            </a:r>
            <a:r>
              <a:rPr lang="zh-CN" altLang="en-US" b="1">
                <a:solidFill>
                  <a:srgbClr val="FF0000"/>
                </a:solidFill>
              </a:rPr>
              <a:t>可能需要补零）</a:t>
            </a:r>
            <a:endParaRPr lang="zh-CN" altLang="en-US" b="1">
              <a:solidFill>
                <a:srgbClr val="FF0000"/>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框 78851"/>
          <p:cNvSpPr txBox="1"/>
          <p:nvPr/>
        </p:nvSpPr>
        <p:spPr>
          <a:xfrm>
            <a:off x="76200" y="512763"/>
            <a:ext cx="8991600" cy="5784850"/>
          </a:xfrm>
          <a:prstGeom prst="rect">
            <a:avLst/>
          </a:prstGeom>
          <a:noFill/>
          <a:ln w="9525">
            <a:noFill/>
          </a:ln>
        </p:spPr>
        <p:txBody>
          <a:bodyPr anchor="t">
            <a:spAutoFit/>
          </a:bodyPr>
          <a:p>
            <a:pPr algn="just">
              <a:lnSpc>
                <a:spcPct val="110000"/>
              </a:lnSpc>
              <a:spcBef>
                <a:spcPct val="50000"/>
              </a:spcBef>
            </a:pPr>
            <a:r>
              <a:rPr lang="en-US" altLang="zh-CN" sz="2200" b="1" dirty="0">
                <a:latin typeface="Times New Roman" panose="02020603050405020304" pitchFamily="18" charset="0"/>
                <a:ea typeface="宋体" panose="02010600030101010101" pitchFamily="2" charset="-122"/>
              </a:rPr>
              <a:t>3.6.2 Chirp-Z</a:t>
            </a:r>
            <a:r>
              <a:rPr lang="zh-CN" altLang="en-US" sz="2200" b="1" dirty="0">
                <a:latin typeface="Times New Roman" panose="02020603050405020304" pitchFamily="18" charset="0"/>
                <a:ea typeface="宋体" panose="02010600030101010101" pitchFamily="2" charset="-122"/>
              </a:rPr>
              <a:t>变换（</a:t>
            </a:r>
            <a:r>
              <a:rPr lang="en-US" altLang="zh-CN" sz="2200" b="1" dirty="0">
                <a:latin typeface="Times New Roman" panose="02020603050405020304" pitchFamily="18" charset="0"/>
                <a:ea typeface="宋体" panose="02010600030101010101" pitchFamily="2" charset="-122"/>
              </a:rPr>
              <a:t>CZT</a:t>
            </a:r>
            <a:r>
              <a:rPr lang="zh-CN" altLang="en-US" sz="2200" b="1" dirty="0">
                <a:latin typeface="Times New Roman" panose="02020603050405020304" pitchFamily="18" charset="0"/>
                <a:ea typeface="宋体" panose="02010600030101010101" pitchFamily="2" charset="-122"/>
              </a:rPr>
              <a:t>）的实现步骤</a:t>
            </a:r>
            <a:endParaRPr lang="zh-CN" altLang="en-US" sz="2200" b="1">
              <a:latin typeface="Times New Roman" panose="02020603050405020304" pitchFamily="18" charset="0"/>
              <a:ea typeface="宋体" panose="02010600030101010101" pitchFamily="2" charset="-122"/>
            </a:endParaRPr>
          </a:p>
          <a:p>
            <a:pPr algn="just">
              <a:lnSpc>
                <a:spcPct val="110000"/>
              </a:lnSpc>
              <a:spcBef>
                <a:spcPct val="50000"/>
              </a:spcBef>
            </a:pPr>
            <a:r>
              <a:rPr lang="zh-CN" altLang="en-US" sz="2200" dirty="0">
                <a:latin typeface="Times New Roman" panose="02020603050405020304" pitchFamily="18" charset="0"/>
                <a:ea typeface="宋体" panose="02010600030101010101" pitchFamily="2" charset="-122"/>
              </a:rPr>
              <a:t>        由式（</a:t>
            </a:r>
            <a:r>
              <a:rPr lang="en-US" altLang="zh-CN" sz="2200" dirty="0">
                <a:latin typeface="Times New Roman" panose="02020603050405020304" pitchFamily="18" charset="0"/>
                <a:ea typeface="宋体" panose="02010600030101010101" pitchFamily="2" charset="-122"/>
              </a:rPr>
              <a:t>3-37</a:t>
            </a:r>
            <a:r>
              <a:rPr lang="zh-CN" altLang="en-US" sz="2200" dirty="0">
                <a:latin typeface="Times New Roman" panose="02020603050405020304" pitchFamily="18" charset="0"/>
                <a:ea typeface="宋体" panose="02010600030101010101" pitchFamily="2" charset="-122"/>
              </a:rPr>
              <a:t>）可看出，线性系统</a:t>
            </a:r>
            <a:r>
              <a:rPr lang="en-US" altLang="zh-CN" sz="2200" i="1">
                <a:latin typeface="Times New Roman" panose="02020603050405020304" pitchFamily="18" charset="0"/>
                <a:ea typeface="宋体" panose="02010600030101010101" pitchFamily="2" charset="-122"/>
              </a:rPr>
              <a:t>h</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是非因果的，当</a:t>
            </a:r>
            <a:r>
              <a:rPr lang="en-US" altLang="zh-CN" sz="2200" i="1">
                <a:latin typeface="Times New Roman" panose="02020603050405020304" pitchFamily="18" charset="0"/>
                <a:ea typeface="宋体" panose="02010600030101010101" pitchFamily="2" charset="-122"/>
              </a:rPr>
              <a:t>n</a:t>
            </a:r>
            <a:r>
              <a:rPr lang="zh-CN" altLang="en-US" sz="2200" dirty="0">
                <a:latin typeface="Times New Roman" panose="02020603050405020304" pitchFamily="18" charset="0"/>
                <a:ea typeface="宋体" panose="02010600030101010101" pitchFamily="2" charset="-122"/>
              </a:rPr>
              <a:t>的取值为</a:t>
            </a:r>
            <a:r>
              <a:rPr lang="en-US" altLang="zh-CN" sz="2200" dirty="0">
                <a:latin typeface="Times New Roman" panose="02020603050405020304" pitchFamily="18" charset="0"/>
                <a:ea typeface="宋体" panose="02010600030101010101" pitchFamily="2" charset="-122"/>
              </a:rPr>
              <a:t>0</a:t>
            </a:r>
            <a:r>
              <a:rPr lang="zh-CN" altLang="en-US" sz="2200" dirty="0">
                <a:latin typeface="Times New Roman" panose="02020603050405020304" pitchFamily="18" charset="0"/>
                <a:ea typeface="宋体" panose="02010600030101010101" pitchFamily="2" charset="-122"/>
              </a:rPr>
              <a:t>到</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-1</a:t>
            </a:r>
            <a:r>
              <a:rPr lang="zh-CN" altLang="en-US"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k</a:t>
            </a:r>
            <a:r>
              <a:rPr lang="zh-CN" altLang="en-US" sz="2200" dirty="0">
                <a:latin typeface="Times New Roman" panose="02020603050405020304" pitchFamily="18" charset="0"/>
                <a:ea typeface="宋体" panose="02010600030101010101" pitchFamily="2" charset="-122"/>
              </a:rPr>
              <a:t>的取值为</a:t>
            </a:r>
            <a:r>
              <a:rPr lang="en-US" altLang="zh-CN" sz="2200">
                <a:latin typeface="Times New Roman" panose="02020603050405020304" pitchFamily="18" charset="0"/>
                <a:ea typeface="宋体" panose="02010600030101010101" pitchFamily="2" charset="-122"/>
              </a:rPr>
              <a:t>0, 1, </a:t>
            </a:r>
            <a:r>
              <a:rPr lang="en-US" altLang="zh-CN" sz="2200">
                <a:latin typeface="Courier New" panose="02070309020205020404" pitchFamily="49" charset="0"/>
                <a:ea typeface="宋体" panose="02010600030101010101" pitchFamily="2" charset="-122"/>
              </a:rPr>
              <a:t>…</a:t>
            </a:r>
            <a:r>
              <a:rPr lang="en-US" altLang="zh-CN" sz="2200">
                <a:latin typeface="Times New Roman" panose="02020603050405020304" pitchFamily="18" charset="0"/>
                <a:ea typeface="宋体" panose="02010600030101010101" pitchFamily="2" charset="-122"/>
              </a:rPr>
              <a:t>, </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时，</a:t>
            </a:r>
            <a:r>
              <a:rPr lang="en-US" altLang="zh-CN" sz="2200" i="1">
                <a:latin typeface="Times New Roman" panose="02020603050405020304" pitchFamily="18" charset="0"/>
                <a:ea typeface="宋体" panose="02010600030101010101" pitchFamily="2" charset="-122"/>
              </a:rPr>
              <a:t>h</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是在</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-1)</a:t>
            </a:r>
            <a:r>
              <a:rPr lang="zh-CN" altLang="en-US" sz="2200">
                <a:latin typeface="Times New Roman" panose="02020603050405020304" pitchFamily="18" charset="0"/>
                <a:ea typeface="宋体" panose="02010600030101010101" pitchFamily="2" charset="-122"/>
              </a:rPr>
              <a:t>到</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-1 </a:t>
            </a:r>
            <a:r>
              <a:rPr lang="zh-CN" altLang="en-US" sz="2200" dirty="0">
                <a:latin typeface="Times New Roman" panose="02020603050405020304" pitchFamily="18" charset="0"/>
                <a:ea typeface="宋体" panose="02010600030101010101" pitchFamily="2" charset="-122"/>
              </a:rPr>
              <a:t>取值。也就是说，</a:t>
            </a:r>
            <a:r>
              <a:rPr lang="en-US" altLang="zh-CN" sz="2200" i="1">
                <a:latin typeface="Times New Roman" panose="02020603050405020304" pitchFamily="18" charset="0"/>
                <a:ea typeface="宋体" panose="02010600030101010101" pitchFamily="2" charset="-122"/>
              </a:rPr>
              <a:t>h</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是一个有限长序列，点数为</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，见图</a:t>
            </a:r>
            <a:r>
              <a:rPr lang="en-US" altLang="zh-CN" sz="2200" dirty="0">
                <a:latin typeface="Times New Roman" panose="02020603050405020304" pitchFamily="18" charset="0"/>
                <a:ea typeface="宋体" panose="02010600030101010101" pitchFamily="2" charset="-122"/>
              </a:rPr>
              <a:t>3-20</a:t>
            </a:r>
            <a:r>
              <a:rPr lang="zh-CN" altLang="en-US" sz="2200" dirty="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a</a:t>
            </a:r>
            <a:r>
              <a:rPr lang="zh-CN" altLang="en-US" sz="2200" dirty="0">
                <a:latin typeface="Times New Roman" panose="02020603050405020304" pitchFamily="18" charset="0"/>
                <a:ea typeface="宋体" panose="02010600030101010101" pitchFamily="2" charset="-122"/>
              </a:rPr>
              <a:t>）。输入信号</a:t>
            </a:r>
            <a:r>
              <a:rPr lang="en-US" altLang="zh-CN" sz="2200" i="1">
                <a:latin typeface="Times New Roman" panose="02020603050405020304" pitchFamily="18" charset="0"/>
                <a:ea typeface="宋体" panose="02010600030101010101" pitchFamily="2" charset="-122"/>
              </a:rPr>
              <a:t>g</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也是有限长序列，点数为</a:t>
            </a:r>
            <a:r>
              <a:rPr lang="en-US" altLang="zh-CN" sz="2200" i="1">
                <a:latin typeface="Times New Roman" panose="02020603050405020304" pitchFamily="18" charset="0"/>
                <a:ea typeface="宋体" panose="02010600030101010101" pitchFamily="2" charset="-122"/>
              </a:rPr>
              <a:t>N</a:t>
            </a:r>
            <a:r>
              <a:rPr lang="zh-CN" altLang="en-US"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g</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h</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的点数为</a:t>
            </a:r>
            <a:r>
              <a:rPr lang="en-US" altLang="zh-CN" sz="2200">
                <a:latin typeface="Times New Roman" panose="02020603050405020304" pitchFamily="18" charset="0"/>
                <a:ea typeface="宋体" panose="02010600030101010101" pitchFamily="2" charset="-122"/>
              </a:rPr>
              <a:t>2</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，因而用圆周卷积代替线性卷积且不产生混叠失真条件是圆周卷积的点数应大于或等于</a:t>
            </a:r>
            <a:r>
              <a:rPr lang="en-US" altLang="zh-CN" sz="2200">
                <a:latin typeface="Times New Roman" panose="02020603050405020304" pitchFamily="18" charset="0"/>
                <a:ea typeface="宋体" panose="02010600030101010101" pitchFamily="2" charset="-122"/>
              </a:rPr>
              <a:t>2</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。但是，由于我们只需要前</a:t>
            </a:r>
            <a:r>
              <a:rPr lang="en-US" altLang="zh-CN" sz="2200" i="1">
                <a:latin typeface="Times New Roman" panose="02020603050405020304" pitchFamily="18" charset="0"/>
                <a:ea typeface="宋体" panose="02010600030101010101" pitchFamily="2" charset="-122"/>
              </a:rPr>
              <a:t>M</a:t>
            </a:r>
            <a:r>
              <a:rPr lang="zh-CN" altLang="en-US" sz="2200" dirty="0">
                <a:latin typeface="Times New Roman" panose="02020603050405020304" pitchFamily="18" charset="0"/>
                <a:ea typeface="宋体" panose="02010600030101010101" pitchFamily="2" charset="-122"/>
              </a:rPr>
              <a:t>个值</a:t>
            </a:r>
            <a:r>
              <a:rPr lang="en-US" altLang="zh-CN" sz="2200" i="1">
                <a:latin typeface="Times New Roman" panose="02020603050405020304" pitchFamily="18" charset="0"/>
                <a:ea typeface="宋体" panose="02010600030101010101" pitchFamily="2" charset="-122"/>
              </a:rPr>
              <a:t>X</a:t>
            </a:r>
            <a:r>
              <a:rPr lang="zh-CN" altLang="en-US" sz="2200">
                <a:latin typeface="Times New Roman" panose="02020603050405020304" pitchFamily="18" charset="0"/>
                <a:ea typeface="宋体" panose="02010600030101010101" pitchFamily="2" charset="-122"/>
              </a:rPr>
              <a:t>（</a:t>
            </a:r>
            <a:r>
              <a:rPr lang="en-US" altLang="zh-CN" sz="2200" i="1" err="1">
                <a:latin typeface="Times New Roman" panose="02020603050405020304" pitchFamily="18" charset="0"/>
                <a:ea typeface="宋体" panose="02010600030101010101" pitchFamily="2" charset="-122"/>
              </a:rPr>
              <a:t>z</a:t>
            </a:r>
            <a:r>
              <a:rPr lang="en-US" altLang="zh-CN" sz="2200" i="1" baseline="-25000" err="1">
                <a:latin typeface="Times New Roman" panose="02020603050405020304" pitchFamily="18" charset="0"/>
                <a:ea typeface="宋体" panose="02010600030101010101" pitchFamily="2" charset="-122"/>
              </a:rPr>
              <a:t>k</a:t>
            </a:r>
            <a:r>
              <a:rPr lang="zh-CN" altLang="en-US" sz="2200">
                <a:latin typeface="Times New Roman" panose="02020603050405020304" pitchFamily="18" charset="0"/>
                <a:ea typeface="宋体" panose="02010600030101010101" pitchFamily="2" charset="-122"/>
              </a:rPr>
              <a:t>）</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k</a:t>
            </a:r>
            <a:r>
              <a:rPr lang="en-US" altLang="zh-CN" sz="2200">
                <a:latin typeface="Times New Roman" panose="02020603050405020304" pitchFamily="18" charset="0"/>
                <a:ea typeface="宋体" panose="02010600030101010101" pitchFamily="2" charset="-122"/>
              </a:rPr>
              <a:t>=0, 1, </a:t>
            </a:r>
            <a:r>
              <a:rPr lang="en-US" altLang="zh-CN" sz="2200">
                <a:latin typeface="Courier New" panose="02070309020205020404" pitchFamily="49" charset="0"/>
                <a:ea typeface="宋体" panose="02010600030101010101" pitchFamily="2" charset="-122"/>
              </a:rPr>
              <a:t>…</a:t>
            </a:r>
            <a:r>
              <a:rPr lang="en-US" altLang="zh-CN" sz="2200">
                <a:latin typeface="Times New Roman" panose="02020603050405020304" pitchFamily="18" charset="0"/>
                <a:ea typeface="宋体" panose="02010600030101010101" pitchFamily="2" charset="-122"/>
              </a:rPr>
              <a:t>, </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，对以后的其他值是否有混叠失真并不感兴趣，这样可将圆周卷积的点数缩减到最小为</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。当然，为了进行基</a:t>
            </a:r>
            <a:r>
              <a:rPr lang="en-US" altLang="zh-CN" sz="2200" dirty="0">
                <a:latin typeface="Times New Roman" panose="02020603050405020304" pitchFamily="18" charset="0"/>
                <a:ea typeface="宋体" panose="02010600030101010101" pitchFamily="2" charset="-122"/>
              </a:rPr>
              <a:t>-2 FFT</a:t>
            </a:r>
            <a:r>
              <a:rPr lang="zh-CN" altLang="en-US" sz="2200" dirty="0">
                <a:latin typeface="Times New Roman" panose="02020603050405020304" pitchFamily="18" charset="0"/>
                <a:ea typeface="宋体" panose="02010600030101010101" pitchFamily="2" charset="-122"/>
              </a:rPr>
              <a:t>运算，圆周卷积的点数应取为</a:t>
            </a:r>
            <a:r>
              <a:rPr lang="en-US" altLang="zh-CN" sz="2200" i="1">
                <a:latin typeface="Times New Roman" panose="02020603050405020304" pitchFamily="18" charset="0"/>
                <a:ea typeface="宋体" panose="02010600030101010101" pitchFamily="2" charset="-122"/>
              </a:rPr>
              <a:t>L</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，同时又满足</a:t>
            </a:r>
            <a:r>
              <a:rPr lang="en-US" altLang="zh-CN" sz="2200" i="1">
                <a:latin typeface="Times New Roman" panose="02020603050405020304" pitchFamily="18" charset="0"/>
                <a:ea typeface="宋体" panose="02010600030101010101" pitchFamily="2" charset="-122"/>
              </a:rPr>
              <a:t>L</a:t>
            </a:r>
            <a:r>
              <a:rPr lang="en-US" altLang="zh-CN" sz="2200">
                <a:latin typeface="Times New Roman" panose="02020603050405020304" pitchFamily="18" charset="0"/>
                <a:ea typeface="宋体" panose="02010600030101010101" pitchFamily="2" charset="-122"/>
              </a:rPr>
              <a:t>=2</a:t>
            </a:r>
            <a:r>
              <a:rPr lang="en-US" altLang="zh-CN" sz="2200" i="1" baseline="30000">
                <a:latin typeface="Times New Roman" panose="02020603050405020304" pitchFamily="18" charset="0"/>
                <a:ea typeface="宋体" panose="02010600030101010101" pitchFamily="2" charset="-122"/>
              </a:rPr>
              <a:t>m</a:t>
            </a:r>
            <a:r>
              <a:rPr lang="zh-CN" altLang="en-US" sz="2200" dirty="0">
                <a:latin typeface="Times New Roman" panose="02020603050405020304" pitchFamily="18" charset="0"/>
                <a:ea typeface="宋体" panose="02010600030101010101" pitchFamily="2" charset="-122"/>
              </a:rPr>
              <a:t>的最小</a:t>
            </a:r>
            <a:r>
              <a:rPr lang="en-US" altLang="zh-CN" sz="2200" i="1">
                <a:latin typeface="Times New Roman" panose="02020603050405020304" pitchFamily="18" charset="0"/>
                <a:ea typeface="宋体" panose="02010600030101010101" pitchFamily="2" charset="-122"/>
              </a:rPr>
              <a:t>L</a:t>
            </a:r>
            <a:r>
              <a:rPr lang="zh-CN" altLang="en-US" sz="2200" dirty="0">
                <a:latin typeface="Times New Roman" panose="02020603050405020304" pitchFamily="18" charset="0"/>
                <a:ea typeface="宋体" panose="02010600030101010101" pitchFamily="2" charset="-122"/>
              </a:rPr>
              <a:t>。这样可将</a:t>
            </a:r>
            <a:r>
              <a:rPr lang="en-US" altLang="zh-CN" sz="2200" i="1">
                <a:latin typeface="Times New Roman" panose="02020603050405020304" pitchFamily="18" charset="0"/>
                <a:ea typeface="宋体" panose="02010600030101010101" pitchFamily="2" charset="-122"/>
              </a:rPr>
              <a:t>h</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先补零值点，补到点数等于</a:t>
            </a:r>
            <a:r>
              <a:rPr lang="en-US" altLang="zh-CN" sz="2200" i="1">
                <a:latin typeface="Times New Roman" panose="02020603050405020304" pitchFamily="18" charset="0"/>
                <a:ea typeface="宋体" panose="02010600030101010101" pitchFamily="2" charset="-122"/>
              </a:rPr>
              <a:t>L</a:t>
            </a:r>
            <a:r>
              <a:rPr lang="zh-CN" altLang="en-US" sz="2200" dirty="0">
                <a:latin typeface="Times New Roman" panose="02020603050405020304" pitchFamily="18" charset="0"/>
                <a:ea typeface="宋体" panose="02010600030101010101" pitchFamily="2" charset="-122"/>
              </a:rPr>
              <a:t>，也就是从</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zh-CN" altLang="en-US" sz="2200" dirty="0">
                <a:latin typeface="Times New Roman" panose="02020603050405020304" pitchFamily="18" charset="0"/>
                <a:ea typeface="宋体" panose="02010600030101010101" pitchFamily="2" charset="-122"/>
              </a:rPr>
              <a:t>开始补</a:t>
            </a:r>
            <a:r>
              <a:rPr lang="en-US" altLang="zh-CN" sz="2200" i="1">
                <a:latin typeface="Times New Roman" panose="02020603050405020304" pitchFamily="18" charset="0"/>
                <a:ea typeface="宋体" panose="02010600030101010101" pitchFamily="2" charset="-122"/>
              </a:rPr>
              <a:t>L</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个零值点，补到</a:t>
            </a:r>
            <a:r>
              <a:rPr lang="en-US" altLang="zh-CN" sz="2200" i="1">
                <a:latin typeface="Times New Roman" panose="02020603050405020304" pitchFamily="18" charset="0"/>
                <a:ea typeface="宋体" panose="02010600030101010101" pitchFamily="2" charset="-122"/>
              </a:rPr>
              <a:t>n</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L-N</a:t>
            </a:r>
            <a:r>
              <a:rPr lang="zh-CN" altLang="en-US" sz="2200" dirty="0">
                <a:latin typeface="Times New Roman" panose="02020603050405020304" pitchFamily="18" charset="0"/>
                <a:ea typeface="宋体" panose="02010600030101010101" pitchFamily="2" charset="-122"/>
              </a:rPr>
              <a:t>处，或补</a:t>
            </a:r>
            <a:r>
              <a:rPr lang="en-US" altLang="zh-CN" sz="2200" b="1" i="1">
                <a:latin typeface="Times New Roman" panose="02020603050405020304" pitchFamily="18" charset="0"/>
                <a:ea typeface="宋体" panose="02010600030101010101" pitchFamily="2" charset="-122"/>
              </a:rPr>
              <a:t>L</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N+M</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个任意序列值，然后将此序列以</a:t>
            </a:r>
            <a:r>
              <a:rPr lang="en-US" altLang="zh-CN" sz="2200" dirty="0">
                <a:latin typeface="Times New Roman" panose="02020603050405020304" pitchFamily="18" charset="0"/>
                <a:ea typeface="宋体" panose="02010600030101010101" pitchFamily="2" charset="-122"/>
              </a:rPr>
              <a:t>L</a:t>
            </a:r>
            <a:r>
              <a:rPr lang="zh-CN" altLang="en-US" sz="2200" dirty="0">
                <a:latin typeface="Times New Roman" panose="02020603050405020304" pitchFamily="18" charset="0"/>
                <a:ea typeface="宋体" panose="02010600030101010101" pitchFamily="2" charset="-122"/>
              </a:rPr>
              <a:t>为周期而进行周期延拓，再取主值序列，从而得到进行圆周卷积的一个序列，如图</a:t>
            </a:r>
            <a:r>
              <a:rPr lang="en-US" altLang="zh-CN" sz="2200" dirty="0">
                <a:latin typeface="Times New Roman" panose="02020603050405020304" pitchFamily="18" charset="0"/>
                <a:ea typeface="宋体" panose="02010600030101010101" pitchFamily="2" charset="-122"/>
              </a:rPr>
              <a:t>3-20</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b</a:t>
            </a:r>
            <a:r>
              <a:rPr lang="zh-CN" altLang="en-US" sz="2200" dirty="0">
                <a:latin typeface="Times New Roman" panose="02020603050405020304" pitchFamily="18" charset="0"/>
                <a:ea typeface="宋体" panose="02010600030101010101" pitchFamily="2" charset="-122"/>
              </a:rPr>
              <a:t>）所示。  进行圆周卷积的另一个</a:t>
            </a:r>
            <a:r>
              <a:rPr lang="zh-CN" altLang="en-US" sz="2200" dirty="0">
                <a:latin typeface="Times New Roman" panose="02020603050405020304" pitchFamily="18" charset="0"/>
                <a:ea typeface="宋体" panose="02010600030101010101" pitchFamily="2" charset="-122"/>
              </a:rPr>
              <a:t>序列只需要将</a:t>
            </a:r>
            <a:r>
              <a:rPr lang="en-US" altLang="zh-CN" sz="2200" i="1">
                <a:latin typeface="Times New Roman" panose="02020603050405020304" pitchFamily="18" charset="0"/>
                <a:ea typeface="宋体" panose="02010600030101010101" pitchFamily="2" charset="-122"/>
              </a:rPr>
              <a:t>g</a:t>
            </a:r>
            <a:r>
              <a:rPr lang="en-US" altLang="zh-CN" sz="220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n</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补上零值点，使之成为</a:t>
            </a:r>
            <a:r>
              <a:rPr lang="en-US" altLang="zh-CN" sz="2200" dirty="0">
                <a:latin typeface="Times New Roman" panose="02020603050405020304" pitchFamily="18" charset="0"/>
                <a:ea typeface="宋体" panose="02010600030101010101" pitchFamily="2" charset="-122"/>
              </a:rPr>
              <a:t>L</a:t>
            </a:r>
            <a:r>
              <a:rPr lang="zh-CN" altLang="en-US" sz="2200" dirty="0">
                <a:latin typeface="Times New Roman" panose="02020603050405020304" pitchFamily="18" charset="0"/>
                <a:ea typeface="宋体" panose="02010600030101010101" pitchFamily="2" charset="-122"/>
              </a:rPr>
              <a:t>点序列即可，如图</a:t>
            </a:r>
            <a:r>
              <a:rPr lang="en-US" altLang="zh-CN" sz="2200" dirty="0">
                <a:latin typeface="Times New Roman" panose="02020603050405020304" pitchFamily="18" charset="0"/>
                <a:ea typeface="宋体" panose="02010600030101010101" pitchFamily="2" charset="-122"/>
              </a:rPr>
              <a:t>3-20</a:t>
            </a:r>
            <a:r>
              <a:rPr lang="zh-CN" altLang="en-US" sz="2200" dirty="0">
                <a:latin typeface="Times New Roman" panose="02020603050405020304" pitchFamily="18" charset="0"/>
                <a:ea typeface="宋体" panose="02010600030101010101" pitchFamily="2" charset="-122"/>
              </a:rPr>
              <a:t>（</a:t>
            </a:r>
            <a:r>
              <a:rPr lang="en-US" altLang="zh-CN" sz="2200" i="1">
                <a:latin typeface="Times New Roman" panose="02020603050405020304" pitchFamily="18" charset="0"/>
                <a:ea typeface="宋体" panose="02010600030101010101" pitchFamily="2" charset="-122"/>
              </a:rPr>
              <a:t>c</a:t>
            </a:r>
            <a:r>
              <a:rPr lang="zh-CN" altLang="en-US" sz="2200" dirty="0">
                <a:latin typeface="Times New Roman" panose="02020603050405020304" pitchFamily="18" charset="0"/>
                <a:ea typeface="宋体" panose="02010600030101010101" pitchFamily="2" charset="-122"/>
              </a:rPr>
              <a:t>）所示。 </a:t>
            </a:r>
            <a:endParaRPr lang="zh-CN" altLang="en-US" sz="220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文本框 77827"/>
          <p:cNvSpPr txBox="1"/>
          <p:nvPr/>
        </p:nvSpPr>
        <p:spPr>
          <a:xfrm>
            <a:off x="1187450" y="5734050"/>
            <a:ext cx="6672263" cy="701675"/>
          </a:xfrm>
          <a:prstGeom prst="rect">
            <a:avLst/>
          </a:prstGeom>
          <a:noFill/>
          <a:ln w="9525">
            <a:noFill/>
          </a:ln>
        </p:spPr>
        <p:txBody>
          <a:bodyPr wrap="none"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3-20 Chirp-Z</a:t>
            </a:r>
            <a:r>
              <a:rPr lang="zh-CN" altLang="en-US" sz="2000" dirty="0">
                <a:latin typeface="Times New Roman" panose="02020603050405020304" pitchFamily="18" charset="0"/>
                <a:ea typeface="宋体" panose="02010600030101010101" pitchFamily="2" charset="-122"/>
              </a:rPr>
              <a:t>变换的圆周卷积图</a:t>
            </a:r>
            <a:endParaRPr lang="zh-CN" altLang="en-US" sz="2000" dirty="0">
              <a:latin typeface="Times New Roman" panose="02020603050405020304" pitchFamily="18" charset="0"/>
              <a:ea typeface="宋体" panose="02010600030101010101" pitchFamily="2" charset="-122"/>
            </a:endParaRPr>
          </a:p>
          <a:p>
            <a:pPr algn="ctr"/>
            <a:r>
              <a:rPr lang="zh-CN" altLang="en-US"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M</a:t>
            </a: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n</a:t>
            </a: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L</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时， </a:t>
            </a:r>
            <a:r>
              <a:rPr lang="en-US" altLang="zh-CN" sz="2000" i="1">
                <a:latin typeface="Times New Roman" panose="02020603050405020304" pitchFamily="18" charset="0"/>
                <a:ea typeface="宋体" panose="02010600030101010101" pitchFamily="2" charset="-122"/>
              </a:rPr>
              <a:t>h</a:t>
            </a: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n</a:t>
            </a:r>
            <a:r>
              <a:rPr lang="en-US" altLang="zh-CN" sz="2000">
                <a:latin typeface="Times New Roman" panose="02020603050405020304" pitchFamily="18" charset="0"/>
                <a:ea typeface="宋体" panose="02010600030101010101" pitchFamily="2" charset="-122"/>
              </a:rPr>
              <a:t>)</a:t>
            </a:r>
            <a:r>
              <a:rPr lang="zh-CN" altLang="en-US" sz="2000">
                <a:latin typeface="Times New Roman" panose="02020603050405020304" pitchFamily="18" charset="0"/>
                <a:ea typeface="宋体" panose="02010600030101010101" pitchFamily="2" charset="-122"/>
              </a:rPr>
              <a:t>和</a:t>
            </a:r>
            <a:r>
              <a:rPr lang="en-US" altLang="zh-CN" sz="2000" i="1">
                <a:latin typeface="Times New Roman" panose="02020603050405020304" pitchFamily="18" charset="0"/>
                <a:ea typeface="宋体" panose="02010600030101010101" pitchFamily="2" charset="-122"/>
              </a:rPr>
              <a:t>g</a:t>
            </a: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n</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的圆周卷积不代表线性卷积） </a:t>
            </a:r>
            <a:endParaRPr lang="zh-CN" altLang="en-US" sz="2000">
              <a:latin typeface="Times New Roman" panose="02020603050405020304" pitchFamily="18" charset="0"/>
              <a:ea typeface="宋体" panose="02010600030101010101" pitchFamily="2" charset="-122"/>
            </a:endParaRPr>
          </a:p>
        </p:txBody>
      </p:sp>
      <p:pic>
        <p:nvPicPr>
          <p:cNvPr id="82946" name="图片 77830" descr="3-20"/>
          <p:cNvPicPr>
            <a:picLocks noChangeAspect="1"/>
          </p:cNvPicPr>
          <p:nvPr/>
        </p:nvPicPr>
        <p:blipFill>
          <a:blip r:embed="rId1"/>
          <a:stretch>
            <a:fillRect/>
          </a:stretch>
        </p:blipFill>
        <p:spPr>
          <a:xfrm>
            <a:off x="1619250" y="511175"/>
            <a:ext cx="5184775" cy="5149850"/>
          </a:xfrm>
          <a:prstGeom prst="rect">
            <a:avLst/>
          </a:prstGeom>
          <a:noFill/>
          <a:ln w="9525">
            <a:noFill/>
          </a:ln>
        </p:spPr>
      </p:pic>
    </p:spTree>
  </p:cSld>
  <p:clrMapOvr>
    <a:masterClrMapping/>
  </p:clrMapOvr>
  <p:transition>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3969" name="组合 80905"/>
          <p:cNvGrpSpPr/>
          <p:nvPr/>
        </p:nvGrpSpPr>
        <p:grpSpPr>
          <a:xfrm>
            <a:off x="228600" y="304800"/>
            <a:ext cx="8763000" cy="3230563"/>
            <a:chOff x="144" y="336"/>
            <a:chExt cx="5520" cy="2035"/>
          </a:xfrm>
        </p:grpSpPr>
        <p:sp>
          <p:nvSpPr>
            <p:cNvPr id="83970" name="文本框 80899"/>
            <p:cNvSpPr txBox="1"/>
            <p:nvPr/>
          </p:nvSpPr>
          <p:spPr>
            <a:xfrm>
              <a:off x="144" y="336"/>
              <a:ext cx="5520" cy="2035"/>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这样， 我们可以列出</a:t>
              </a:r>
              <a:r>
                <a:rPr lang="en-US" altLang="zh-CN" dirty="0">
                  <a:latin typeface="Times New Roman" panose="02020603050405020304" pitchFamily="18" charset="0"/>
                  <a:ea typeface="宋体" panose="02010600030101010101" pitchFamily="2" charset="-122"/>
                </a:rPr>
                <a:t>CZT</a:t>
              </a:r>
              <a:r>
                <a:rPr lang="zh-CN" altLang="en-US" dirty="0">
                  <a:latin typeface="Times New Roman" panose="02020603050405020304" pitchFamily="18" charset="0"/>
                  <a:ea typeface="宋体" panose="02010600030101010101" pitchFamily="2" charset="-122"/>
                </a:rPr>
                <a:t>运算的实现步骤：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）选择一个最小的整数</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，使其满足</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，同时满足</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，以便采用基</a:t>
              </a:r>
              <a:r>
                <a:rPr lang="en-US" altLang="zh-CN" dirty="0">
                  <a:latin typeface="Times New Roman" panose="02020603050405020304" pitchFamily="18" charset="0"/>
                  <a:ea typeface="宋体" panose="02010600030101010101" pitchFamily="2" charset="-122"/>
                </a:rPr>
                <a:t>-2 FFT</a:t>
              </a:r>
              <a:r>
                <a:rPr lang="zh-CN" altLang="en-US" dirty="0">
                  <a:latin typeface="Times New Roman" panose="02020603050405020304" pitchFamily="18" charset="0"/>
                  <a:ea typeface="宋体" panose="02010600030101010101" pitchFamily="2" charset="-122"/>
                </a:rPr>
                <a:t>算法。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）将				（见</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3-20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））补上零值点， 变为</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点序列，因而有： </a:t>
              </a:r>
              <a:endParaRPr lang="zh-CN" altLang="en-US">
                <a:latin typeface="Times New Roman" panose="02020603050405020304" pitchFamily="18" charset="0"/>
                <a:ea typeface="宋体" panose="02010600030101010101" pitchFamily="2" charset="-122"/>
              </a:endParaRPr>
            </a:p>
          </p:txBody>
        </p:sp>
        <p:graphicFrame>
          <p:nvGraphicFramePr>
            <p:cNvPr id="83971" name="对象 80900"/>
            <p:cNvGraphicFramePr/>
            <p:nvPr/>
          </p:nvGraphicFramePr>
          <p:xfrm>
            <a:off x="1104" y="1440"/>
            <a:ext cx="1920" cy="560"/>
          </p:xfrm>
          <a:graphic>
            <a:graphicData uri="http://schemas.openxmlformats.org/presentationml/2006/ole">
              <mc:AlternateContent xmlns:mc="http://schemas.openxmlformats.org/markup-compatibility/2006">
                <mc:Choice xmlns:v="urn:schemas-microsoft-com:vml" Requires="v">
                  <p:oleObj spid="_x0000_s3139" name="" r:id="rId1" imgW="1217930" imgH="355600" progId="Equation.3">
                    <p:embed/>
                  </p:oleObj>
                </mc:Choice>
                <mc:Fallback>
                  <p:oleObj name="" r:id="rId1" imgW="1217930" imgH="355600" progId="Equation.3">
                    <p:embed/>
                    <p:pic>
                      <p:nvPicPr>
                        <p:cNvPr id="0" name="图片 3138"/>
                        <p:cNvPicPr/>
                        <p:nvPr/>
                      </p:nvPicPr>
                      <p:blipFill>
                        <a:blip r:embed="rId2"/>
                        <a:stretch>
                          <a:fillRect/>
                        </a:stretch>
                      </p:blipFill>
                      <p:spPr>
                        <a:xfrm>
                          <a:off x="1104" y="1440"/>
                          <a:ext cx="1920" cy="560"/>
                        </a:xfrm>
                        <a:prstGeom prst="rect">
                          <a:avLst/>
                        </a:prstGeom>
                        <a:noFill/>
                        <a:ln w="38100">
                          <a:noFill/>
                          <a:miter/>
                        </a:ln>
                      </p:spPr>
                    </p:pic>
                  </p:oleObj>
                </mc:Fallback>
              </mc:AlternateContent>
            </a:graphicData>
          </a:graphic>
        </p:graphicFrame>
      </p:grpSp>
      <p:grpSp>
        <p:nvGrpSpPr>
          <p:cNvPr id="83972" name="组合 80906"/>
          <p:cNvGrpSpPr/>
          <p:nvPr/>
        </p:nvGrpSpPr>
        <p:grpSpPr>
          <a:xfrm>
            <a:off x="1979930" y="3213100"/>
            <a:ext cx="7372350" cy="1816100"/>
            <a:chOff x="1248" y="1976"/>
            <a:chExt cx="4644" cy="1144"/>
          </a:xfrm>
        </p:grpSpPr>
        <p:graphicFrame>
          <p:nvGraphicFramePr>
            <p:cNvPr id="83973" name="对象 80901"/>
            <p:cNvGraphicFramePr/>
            <p:nvPr/>
          </p:nvGraphicFramePr>
          <p:xfrm>
            <a:off x="1248" y="1976"/>
            <a:ext cx="2160" cy="1144"/>
          </p:xfrm>
          <a:graphic>
            <a:graphicData uri="http://schemas.openxmlformats.org/presentationml/2006/ole">
              <mc:AlternateContent xmlns:mc="http://schemas.openxmlformats.org/markup-compatibility/2006">
                <mc:Choice xmlns:v="urn:schemas-microsoft-com:vml" Requires="v">
                  <p:oleObj spid="_x0000_s3140" name="" r:id="rId3" imgW="1295400" imgH="685800" progId="Equation.3">
                    <p:embed/>
                  </p:oleObj>
                </mc:Choice>
                <mc:Fallback>
                  <p:oleObj name="" r:id="rId3" imgW="1295400" imgH="685800" progId="Equation.3">
                    <p:embed/>
                    <p:pic>
                      <p:nvPicPr>
                        <p:cNvPr id="0" name="图片 3139"/>
                        <p:cNvPicPr/>
                        <p:nvPr/>
                      </p:nvPicPr>
                      <p:blipFill>
                        <a:blip r:embed="rId4"/>
                        <a:stretch>
                          <a:fillRect/>
                        </a:stretch>
                      </p:blipFill>
                      <p:spPr>
                        <a:xfrm>
                          <a:off x="1248" y="1976"/>
                          <a:ext cx="2160" cy="1144"/>
                        </a:xfrm>
                        <a:prstGeom prst="rect">
                          <a:avLst/>
                        </a:prstGeom>
                        <a:solidFill>
                          <a:schemeClr val="accent1"/>
                        </a:solidFill>
                        <a:ln w="38100">
                          <a:noFill/>
                          <a:miter/>
                        </a:ln>
                      </p:spPr>
                    </p:pic>
                  </p:oleObj>
                </mc:Fallback>
              </mc:AlternateContent>
            </a:graphicData>
          </a:graphic>
        </p:graphicFrame>
        <p:sp>
          <p:nvSpPr>
            <p:cNvPr id="83974" name="文本框 80902"/>
            <p:cNvSpPr txBox="1"/>
            <p:nvPr/>
          </p:nvSpPr>
          <p:spPr>
            <a:xfrm>
              <a:off x="4032" y="2264"/>
              <a:ext cx="1076"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83975" name="文本框 80903"/>
            <p:cNvSpPr txBox="1"/>
            <p:nvPr/>
          </p:nvSpPr>
          <p:spPr>
            <a:xfrm>
              <a:off x="4041" y="2792"/>
              <a:ext cx="1055"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83976" name="文本框 80904"/>
            <p:cNvSpPr txBox="1"/>
            <p:nvPr/>
          </p:nvSpPr>
          <p:spPr>
            <a:xfrm>
              <a:off x="4944" y="2408"/>
              <a:ext cx="948"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pSp>
      <p:sp>
        <p:nvSpPr>
          <p:cNvPr id="83977" name="文本框 80907"/>
          <p:cNvSpPr txBox="1"/>
          <p:nvPr/>
        </p:nvSpPr>
        <p:spPr>
          <a:xfrm>
            <a:off x="0" y="5085080"/>
            <a:ext cx="45545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并利用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法求此序列的</a:t>
            </a:r>
            <a:r>
              <a:rPr lang="en-US" altLang="zh-CN" i="1">
                <a:latin typeface="Times New Roman" panose="02020603050405020304" pitchFamily="18" charset="0"/>
                <a:ea typeface="宋体" panose="02010600030101010101" pitchFamily="2" charset="-122"/>
              </a:rPr>
              <a:t>L</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 </a:t>
            </a:r>
            <a:endParaRPr lang="en-US" altLang="zh-CN">
              <a:latin typeface="Times New Roman" panose="02020603050405020304" pitchFamily="18" charset="0"/>
              <a:ea typeface="宋体" panose="02010600030101010101" pitchFamily="2" charset="-122"/>
            </a:endParaRPr>
          </a:p>
        </p:txBody>
      </p:sp>
      <p:graphicFrame>
        <p:nvGraphicFramePr>
          <p:cNvPr id="83978" name="对象 80908"/>
          <p:cNvGraphicFramePr/>
          <p:nvPr/>
        </p:nvGraphicFramePr>
        <p:xfrm>
          <a:off x="2195830" y="5445125"/>
          <a:ext cx="3498850" cy="1144588"/>
        </p:xfrm>
        <a:graphic>
          <a:graphicData uri="http://schemas.openxmlformats.org/presentationml/2006/ole">
            <mc:AlternateContent xmlns:mc="http://schemas.openxmlformats.org/markup-compatibility/2006">
              <mc:Choice xmlns:v="urn:schemas-microsoft-com:vml" Requires="v">
                <p:oleObj spid="_x0000_s3137" name="" r:id="rId5" imgW="1358265" imgH="444500" progId="Equation.3">
                  <p:embed/>
                </p:oleObj>
              </mc:Choice>
              <mc:Fallback>
                <p:oleObj name="" r:id="rId5" imgW="1358265" imgH="444500" progId="Equation.3">
                  <p:embed/>
                  <p:pic>
                    <p:nvPicPr>
                      <p:cNvPr id="0" name="图片 3136"/>
                      <p:cNvPicPr/>
                      <p:nvPr/>
                    </p:nvPicPr>
                    <p:blipFill>
                      <a:blip r:embed="rId6"/>
                      <a:stretch>
                        <a:fillRect/>
                      </a:stretch>
                    </p:blipFill>
                    <p:spPr>
                      <a:xfrm>
                        <a:off x="2195830" y="5445125"/>
                        <a:ext cx="3498850" cy="1144588"/>
                      </a:xfrm>
                      <a:prstGeom prst="rect">
                        <a:avLst/>
                      </a:prstGeom>
                      <a:solidFill>
                        <a:schemeClr val="accent1"/>
                      </a:solidFill>
                      <a:ln w="38100">
                        <a:noFill/>
                        <a:miter/>
                      </a:ln>
                    </p:spPr>
                  </p:pic>
                </p:oleObj>
              </mc:Fallback>
            </mc:AlternateContent>
          </a:graphicData>
        </a:graphic>
      </p:graphicFrame>
      <p:sp>
        <p:nvSpPr>
          <p:cNvPr id="83979" name="文本框 80909"/>
          <p:cNvSpPr txBox="1"/>
          <p:nvPr/>
        </p:nvSpPr>
        <p:spPr>
          <a:xfrm>
            <a:off x="6436995" y="5938520"/>
            <a:ext cx="1628775" cy="457200"/>
          </a:xfrm>
          <a:prstGeom prst="rect">
            <a:avLst/>
          </a:prstGeom>
          <a:solidFill>
            <a:schemeClr val="accent1"/>
          </a:solid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83980" name="文本框 80910"/>
          <p:cNvSpPr txBox="1"/>
          <p:nvPr/>
        </p:nvSpPr>
        <p:spPr>
          <a:xfrm>
            <a:off x="7467600" y="6400800"/>
            <a:ext cx="14922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4993" name="对象 79880"/>
          <p:cNvGraphicFramePr/>
          <p:nvPr/>
        </p:nvGraphicFramePr>
        <p:xfrm>
          <a:off x="4932363" y="2636838"/>
          <a:ext cx="781050" cy="752475"/>
        </p:xfrm>
        <a:graphic>
          <a:graphicData uri="http://schemas.openxmlformats.org/presentationml/2006/ole">
            <mc:AlternateContent xmlns:mc="http://schemas.openxmlformats.org/markup-compatibility/2006">
              <mc:Choice xmlns:v="urn:schemas-microsoft-com:vml" Requires="v">
                <p:oleObj spid="_x0000_s3138" name="" r:id="rId1" imgW="342900" imgH="330200" progId="Equation.3">
                  <p:embed/>
                </p:oleObj>
              </mc:Choice>
              <mc:Fallback>
                <p:oleObj name="" r:id="rId1" imgW="342900" imgH="330200" progId="Equation.3">
                  <p:embed/>
                  <p:pic>
                    <p:nvPicPr>
                      <p:cNvPr id="0" name="图片 3137"/>
                      <p:cNvPicPr/>
                      <p:nvPr/>
                    </p:nvPicPr>
                    <p:blipFill>
                      <a:blip r:embed="rId2"/>
                      <a:stretch>
                        <a:fillRect/>
                      </a:stretch>
                    </p:blipFill>
                    <p:spPr>
                      <a:xfrm>
                        <a:off x="4932363" y="2636838"/>
                        <a:ext cx="781050" cy="752475"/>
                      </a:xfrm>
                      <a:prstGeom prst="rect">
                        <a:avLst/>
                      </a:prstGeom>
                      <a:noFill/>
                      <a:ln w="38100">
                        <a:noFill/>
                        <a:miter/>
                      </a:ln>
                    </p:spPr>
                  </p:pic>
                </p:oleObj>
              </mc:Fallback>
            </mc:AlternateContent>
          </a:graphicData>
        </a:graphic>
      </p:graphicFrame>
      <p:grpSp>
        <p:nvGrpSpPr>
          <p:cNvPr id="84994" name="组合 79888"/>
          <p:cNvGrpSpPr/>
          <p:nvPr/>
        </p:nvGrpSpPr>
        <p:grpSpPr>
          <a:xfrm>
            <a:off x="2051050" y="2636838"/>
            <a:ext cx="6261100" cy="2711450"/>
            <a:chOff x="1104" y="1680"/>
            <a:chExt cx="3944" cy="1708"/>
          </a:xfrm>
        </p:grpSpPr>
        <p:graphicFrame>
          <p:nvGraphicFramePr>
            <p:cNvPr id="84995" name="对象 79884"/>
            <p:cNvGraphicFramePr/>
            <p:nvPr/>
          </p:nvGraphicFramePr>
          <p:xfrm>
            <a:off x="1104" y="1680"/>
            <a:ext cx="1968" cy="1708"/>
          </p:xfrm>
          <a:graphic>
            <a:graphicData uri="http://schemas.openxmlformats.org/presentationml/2006/ole">
              <mc:AlternateContent xmlns:mc="http://schemas.openxmlformats.org/markup-compatibility/2006">
                <mc:Choice xmlns:v="urn:schemas-microsoft-com:vml" Requires="v">
                  <p:oleObj spid="_x0000_s3149" name="" r:id="rId3" imgW="1346200" imgH="1168400" progId="Equation.3">
                    <p:embed/>
                  </p:oleObj>
                </mc:Choice>
                <mc:Fallback>
                  <p:oleObj name="" r:id="rId3" imgW="1346200" imgH="1168400" progId="Equation.3">
                    <p:embed/>
                    <p:pic>
                      <p:nvPicPr>
                        <p:cNvPr id="0" name="图片 3148"/>
                        <p:cNvPicPr/>
                        <p:nvPr/>
                      </p:nvPicPr>
                      <p:blipFill>
                        <a:blip r:embed="rId4"/>
                        <a:stretch>
                          <a:fillRect/>
                        </a:stretch>
                      </p:blipFill>
                      <p:spPr>
                        <a:xfrm>
                          <a:off x="1104" y="1680"/>
                          <a:ext cx="1968" cy="1708"/>
                        </a:xfrm>
                        <a:prstGeom prst="rect">
                          <a:avLst/>
                        </a:prstGeom>
                        <a:noFill/>
                        <a:ln w="38100">
                          <a:noFill/>
                          <a:miter/>
                        </a:ln>
                      </p:spPr>
                    </p:pic>
                  </p:oleObj>
                </mc:Fallback>
              </mc:AlternateContent>
            </a:graphicData>
          </a:graphic>
        </p:graphicFrame>
        <p:sp>
          <p:nvSpPr>
            <p:cNvPr id="84996" name="文本框 79885"/>
            <p:cNvSpPr txBox="1"/>
            <p:nvPr/>
          </p:nvSpPr>
          <p:spPr>
            <a:xfrm>
              <a:off x="3590" y="1850"/>
              <a:ext cx="1108" cy="288"/>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84997" name="文本框 79886"/>
            <p:cNvSpPr txBox="1"/>
            <p:nvPr/>
          </p:nvSpPr>
          <p:spPr>
            <a:xfrm>
              <a:off x="3575" y="2976"/>
              <a:ext cx="1473" cy="288"/>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-N+1≤</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84998" name="文本框 79887"/>
            <p:cNvSpPr txBox="1"/>
            <p:nvPr/>
          </p:nvSpPr>
          <p:spPr>
            <a:xfrm>
              <a:off x="3638" y="2378"/>
              <a:ext cx="1060" cy="288"/>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grpSp>
      <p:sp>
        <p:nvSpPr>
          <p:cNvPr id="84999" name="文本框 79889"/>
          <p:cNvSpPr txBox="1"/>
          <p:nvPr/>
        </p:nvSpPr>
        <p:spPr>
          <a:xfrm>
            <a:off x="7727950" y="35814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pSp>
        <p:nvGrpSpPr>
          <p:cNvPr id="85000" name="组合 79892"/>
          <p:cNvGrpSpPr/>
          <p:nvPr/>
        </p:nvGrpSpPr>
        <p:grpSpPr>
          <a:xfrm>
            <a:off x="152400" y="5105400"/>
            <a:ext cx="8839200" cy="1139825"/>
            <a:chOff x="96" y="3216"/>
            <a:chExt cx="5568" cy="718"/>
          </a:xfrm>
        </p:grpSpPr>
        <p:sp>
          <p:nvSpPr>
            <p:cNvPr id="85001" name="文本框 79890"/>
            <p:cNvSpPr txBox="1"/>
            <p:nvPr/>
          </p:nvSpPr>
          <p:spPr>
            <a:xfrm>
              <a:off x="96" y="3216"/>
              <a:ext cx="5568" cy="692"/>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此</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可见图</a:t>
              </a:r>
              <a:r>
                <a:rPr lang="en-US" altLang="zh-CN" dirty="0">
                  <a:latin typeface="Times New Roman" panose="02020603050405020304" pitchFamily="18" charset="0"/>
                  <a:ea typeface="宋体" panose="02010600030101010101" pitchFamily="2" charset="-122"/>
                </a:rPr>
                <a:t>3-20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实际上它就是图</a:t>
              </a:r>
              <a:r>
                <a:rPr lang="en-US" altLang="zh-CN" dirty="0">
                  <a:latin typeface="Times New Roman" panose="02020603050405020304" pitchFamily="18" charset="0"/>
                  <a:ea typeface="宋体" panose="02010600030101010101" pitchFamily="2" charset="-122"/>
                </a:rPr>
                <a:t>3-20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）的序列             	</a:t>
              </a:r>
              <a:r>
                <a:rPr lang="zh-CN" altLang="en-US" dirty="0">
                  <a:latin typeface="Times New Roman" panose="02020603050405020304" pitchFamily="18" charset="0"/>
                  <a:ea typeface="宋体" panose="02010600030101010101" pitchFamily="2" charset="-122"/>
                </a:rPr>
                <a:t>以</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为周期的周期延拓序列的主值序列。 </a:t>
              </a:r>
              <a:endParaRPr lang="zh-CN" altLang="en-US">
                <a:latin typeface="Times New Roman" panose="02020603050405020304" pitchFamily="18" charset="0"/>
                <a:ea typeface="宋体" panose="02010600030101010101" pitchFamily="2" charset="-122"/>
              </a:endParaRPr>
            </a:p>
          </p:txBody>
        </p:sp>
        <p:graphicFrame>
          <p:nvGraphicFramePr>
            <p:cNvPr id="85002" name="对象 79891"/>
            <p:cNvGraphicFramePr/>
            <p:nvPr/>
          </p:nvGraphicFramePr>
          <p:xfrm>
            <a:off x="240" y="3504"/>
            <a:ext cx="480" cy="430"/>
          </p:xfrm>
          <a:graphic>
            <a:graphicData uri="http://schemas.openxmlformats.org/presentationml/2006/ole">
              <mc:AlternateContent xmlns:mc="http://schemas.openxmlformats.org/markup-compatibility/2006">
                <mc:Choice xmlns:v="urn:schemas-microsoft-com:vml" Requires="v">
                  <p:oleObj spid="_x0000_s3141" name="" r:id="rId5" imgW="368300" imgH="330200" progId="Equation.3">
                    <p:embed/>
                  </p:oleObj>
                </mc:Choice>
                <mc:Fallback>
                  <p:oleObj name="" r:id="rId5" imgW="368300" imgH="330200" progId="Equation.3">
                    <p:embed/>
                    <p:pic>
                      <p:nvPicPr>
                        <p:cNvPr id="0" name="图片 3140"/>
                        <p:cNvPicPr/>
                        <p:nvPr/>
                      </p:nvPicPr>
                      <p:blipFill>
                        <a:blip r:embed="rId6"/>
                        <a:stretch>
                          <a:fillRect/>
                        </a:stretch>
                      </p:blipFill>
                      <p:spPr>
                        <a:xfrm>
                          <a:off x="240" y="3504"/>
                          <a:ext cx="480" cy="430"/>
                        </a:xfrm>
                        <a:prstGeom prst="rect">
                          <a:avLst/>
                        </a:prstGeom>
                        <a:noFill/>
                        <a:ln w="38100">
                          <a:noFill/>
                          <a:miter/>
                        </a:ln>
                      </p:spPr>
                    </p:pic>
                  </p:oleObj>
                </mc:Fallback>
              </mc:AlternateContent>
            </a:graphicData>
          </a:graphic>
        </p:graphicFrame>
      </p:grpSp>
      <p:grpSp>
        <p:nvGrpSpPr>
          <p:cNvPr id="85003" name="组合 79894"/>
          <p:cNvGrpSpPr/>
          <p:nvPr/>
        </p:nvGrpSpPr>
        <p:grpSpPr>
          <a:xfrm>
            <a:off x="107950" y="457200"/>
            <a:ext cx="8839200" cy="2063750"/>
            <a:chOff x="68" y="288"/>
            <a:chExt cx="5568" cy="1300"/>
          </a:xfrm>
        </p:grpSpPr>
        <p:sp>
          <p:nvSpPr>
            <p:cNvPr id="85004" name="文本框 79879"/>
            <p:cNvSpPr txBox="1"/>
            <p:nvPr/>
          </p:nvSpPr>
          <p:spPr>
            <a:xfrm>
              <a:off x="68" y="288"/>
              <a:ext cx="5568" cy="1300"/>
            </a:xfrm>
            <a:prstGeom prst="rect">
              <a:avLst/>
            </a:prstGeom>
            <a:noFill/>
            <a:ln w="9525">
              <a:noFill/>
            </a:ln>
          </p:spPr>
          <p:txBody>
            <a:bodyPr anchor="t">
              <a:spAutoFit/>
            </a:bodyPr>
            <a:p>
              <a:pPr algn="just">
                <a:lnSpc>
                  <a:spcPct val="17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）形成</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点序列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，如上所述，在</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 </a:t>
              </a:r>
              <a:r>
                <a:rPr lang="zh-CN" altLang="en-US">
                  <a:latin typeface="Times New Roman" panose="02020603050405020304" pitchFamily="18" charset="0"/>
                  <a:ea typeface="宋体" panose="02010600030101010101" pitchFamily="2" charset="-122"/>
                </a:rPr>
                <a:t>到</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一段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M~L-N</a:t>
              </a:r>
              <a:r>
                <a:rPr lang="zh-CN" altLang="en-US" dirty="0">
                  <a:latin typeface="Times New Roman" panose="02020603050405020304" pitchFamily="18" charset="0"/>
                  <a:ea typeface="宋体" panose="02010600030101010101" pitchFamily="2" charset="-122"/>
                </a:rPr>
                <a:t>段取</a:t>
              </a:r>
              <a:r>
                <a:rPr lang="en-US" altLang="zh-CN" i="1" err="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为任意值（一般为零），在</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到</a:t>
              </a:r>
              <a:r>
                <a:rPr lang="en-US" altLang="zh-CN" i="1">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段取</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的周期延拓序列		</a:t>
              </a:r>
              <a:r>
                <a:rPr lang="zh-CN" altLang="en-US" dirty="0">
                  <a:latin typeface="Times New Roman" panose="02020603050405020304" pitchFamily="18" charset="0"/>
                  <a:ea typeface="宋体" panose="02010600030101010101" pitchFamily="2" charset="-122"/>
                </a:rPr>
                <a:t>， 即有</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85005" name="对象 79881"/>
            <p:cNvGraphicFramePr/>
            <p:nvPr/>
          </p:nvGraphicFramePr>
          <p:xfrm>
            <a:off x="126" y="709"/>
            <a:ext cx="1093" cy="510"/>
          </p:xfrm>
          <a:graphic>
            <a:graphicData uri="http://schemas.openxmlformats.org/presentationml/2006/ole">
              <mc:AlternateContent xmlns:mc="http://schemas.openxmlformats.org/markup-compatibility/2006">
                <mc:Choice xmlns:v="urn:schemas-microsoft-com:vml" Requires="v">
                  <p:oleObj spid="_x0000_s3144" name="" r:id="rId7" imgW="761365" imgH="355600" progId="Equation.DSMT4">
                    <p:embed/>
                  </p:oleObj>
                </mc:Choice>
                <mc:Fallback>
                  <p:oleObj name="" r:id="rId7" imgW="761365" imgH="355600" progId="Equation.DSMT4">
                    <p:embed/>
                    <p:pic>
                      <p:nvPicPr>
                        <p:cNvPr id="0" name="图片 3143"/>
                        <p:cNvPicPr/>
                        <p:nvPr/>
                      </p:nvPicPr>
                      <p:blipFill>
                        <a:blip r:embed="rId8"/>
                        <a:stretch>
                          <a:fillRect/>
                        </a:stretch>
                      </p:blipFill>
                      <p:spPr>
                        <a:xfrm>
                          <a:off x="126" y="709"/>
                          <a:ext cx="1093" cy="510"/>
                        </a:xfrm>
                        <a:prstGeom prst="rect">
                          <a:avLst/>
                        </a:prstGeom>
                        <a:noFill/>
                        <a:ln w="38100">
                          <a:noFill/>
                          <a:miter/>
                        </a:ln>
                      </p:spPr>
                    </p:pic>
                  </p:oleObj>
                </mc:Fallback>
              </mc:AlternateContent>
            </a:graphicData>
          </a:graphic>
        </p:graphicFrame>
        <p:graphicFrame>
          <p:nvGraphicFramePr>
            <p:cNvPr id="85006" name="对象 79882"/>
            <p:cNvGraphicFramePr/>
            <p:nvPr/>
          </p:nvGraphicFramePr>
          <p:xfrm>
            <a:off x="2262" y="1096"/>
            <a:ext cx="493" cy="474"/>
          </p:xfrm>
          <a:graphic>
            <a:graphicData uri="http://schemas.openxmlformats.org/presentationml/2006/ole">
              <mc:AlternateContent xmlns:mc="http://schemas.openxmlformats.org/markup-compatibility/2006">
                <mc:Choice xmlns:v="urn:schemas-microsoft-com:vml" Requires="v">
                  <p:oleObj spid="_x0000_s3142" name="" r:id="rId9" imgW="342900" imgH="330200" progId="Equation.DSMT4">
                    <p:embed/>
                  </p:oleObj>
                </mc:Choice>
                <mc:Fallback>
                  <p:oleObj name="" r:id="rId9" imgW="342900" imgH="330200" progId="Equation.DSMT4">
                    <p:embed/>
                    <p:pic>
                      <p:nvPicPr>
                        <p:cNvPr id="0" name="图片 3141"/>
                        <p:cNvPicPr/>
                        <p:nvPr/>
                      </p:nvPicPr>
                      <p:blipFill>
                        <a:blip r:embed="rId10"/>
                        <a:stretch>
                          <a:fillRect/>
                        </a:stretch>
                      </p:blipFill>
                      <p:spPr>
                        <a:xfrm>
                          <a:off x="2262" y="1096"/>
                          <a:ext cx="493" cy="474"/>
                        </a:xfrm>
                        <a:prstGeom prst="rect">
                          <a:avLst/>
                        </a:prstGeom>
                        <a:noFill/>
                        <a:ln w="38100">
                          <a:noFill/>
                          <a:miter/>
                        </a:ln>
                      </p:spPr>
                    </p:pic>
                  </p:oleObj>
                </mc:Fallback>
              </mc:AlternateContent>
            </a:graphicData>
          </a:graphic>
        </p:graphicFrame>
        <p:graphicFrame>
          <p:nvGraphicFramePr>
            <p:cNvPr id="85007" name="对象 79893"/>
            <p:cNvGraphicFramePr/>
            <p:nvPr/>
          </p:nvGraphicFramePr>
          <p:xfrm>
            <a:off x="4127" y="1096"/>
            <a:ext cx="766" cy="474"/>
          </p:xfrm>
          <a:graphic>
            <a:graphicData uri="http://schemas.openxmlformats.org/presentationml/2006/ole">
              <mc:AlternateContent xmlns:mc="http://schemas.openxmlformats.org/markup-compatibility/2006">
                <mc:Choice xmlns:v="urn:schemas-microsoft-com:vml" Requires="v">
                  <p:oleObj spid="_x0000_s3146" name="" r:id="rId11" imgW="533400" imgH="330200" progId="Equation.DSMT4">
                    <p:embed/>
                  </p:oleObj>
                </mc:Choice>
                <mc:Fallback>
                  <p:oleObj name="" r:id="rId11" imgW="533400" imgH="330200" progId="Equation.DSMT4">
                    <p:embed/>
                    <p:pic>
                      <p:nvPicPr>
                        <p:cNvPr id="0" name="图片 3145"/>
                        <p:cNvPicPr/>
                        <p:nvPr/>
                      </p:nvPicPr>
                      <p:blipFill>
                        <a:blip r:embed="rId12"/>
                        <a:stretch>
                          <a:fillRect/>
                        </a:stretch>
                      </p:blipFill>
                      <p:spPr>
                        <a:xfrm>
                          <a:off x="4127" y="1096"/>
                          <a:ext cx="766" cy="474"/>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82947"/>
          <p:cNvSpPr txBox="1"/>
          <p:nvPr/>
        </p:nvSpPr>
        <p:spPr>
          <a:xfrm>
            <a:off x="304800" y="685800"/>
            <a:ext cx="71199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对式（</a:t>
            </a:r>
            <a:r>
              <a:rPr lang="en-US" altLang="zh-CN" dirty="0">
                <a:latin typeface="Times New Roman" panose="02020603050405020304" pitchFamily="18" charset="0"/>
                <a:ea typeface="宋体" panose="02010600030101010101" pitchFamily="2" charset="-122"/>
              </a:rPr>
              <a:t>3-42</a:t>
            </a:r>
            <a:r>
              <a:rPr lang="zh-CN" altLang="en-US" dirty="0">
                <a:latin typeface="Times New Roman" panose="02020603050405020304" pitchFamily="18" charset="0"/>
                <a:ea typeface="宋体" panose="02010600030101010101" pitchFamily="2" charset="-122"/>
              </a:rPr>
              <a:t>）定义的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序列，用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法求其</a:t>
            </a:r>
            <a:r>
              <a:rPr lang="en-US" altLang="zh-CN" i="1">
                <a:latin typeface="Times New Roman" panose="02020603050405020304" pitchFamily="18" charset="0"/>
                <a:ea typeface="宋体" panose="02010600030101010101" pitchFamily="2" charset="-122"/>
              </a:rPr>
              <a:t>L</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DFT </a:t>
            </a:r>
            <a:endParaRPr lang="en-US" altLang="zh-CN">
              <a:latin typeface="Times New Roman" panose="02020603050405020304" pitchFamily="18" charset="0"/>
              <a:ea typeface="宋体" panose="02010600030101010101" pitchFamily="2" charset="-122"/>
            </a:endParaRPr>
          </a:p>
        </p:txBody>
      </p:sp>
      <p:graphicFrame>
        <p:nvGraphicFramePr>
          <p:cNvPr id="86018" name="对象 82948"/>
          <p:cNvGraphicFramePr/>
          <p:nvPr/>
        </p:nvGraphicFramePr>
        <p:xfrm>
          <a:off x="2209800" y="1295400"/>
          <a:ext cx="3048000" cy="996950"/>
        </p:xfrm>
        <a:graphic>
          <a:graphicData uri="http://schemas.openxmlformats.org/presentationml/2006/ole">
            <mc:AlternateContent xmlns:mc="http://schemas.openxmlformats.org/markup-compatibility/2006">
              <mc:Choice xmlns:v="urn:schemas-microsoft-com:vml" Requires="v">
                <p:oleObj spid="_x0000_s3145" name="" r:id="rId1" imgW="1358265" imgH="444500" progId="Equation.3">
                  <p:embed/>
                </p:oleObj>
              </mc:Choice>
              <mc:Fallback>
                <p:oleObj name="" r:id="rId1" imgW="1358265" imgH="444500" progId="Equation.3">
                  <p:embed/>
                  <p:pic>
                    <p:nvPicPr>
                      <p:cNvPr id="0" name="图片 3144"/>
                      <p:cNvPicPr/>
                      <p:nvPr/>
                    </p:nvPicPr>
                    <p:blipFill>
                      <a:blip r:embed="rId2"/>
                      <a:stretch>
                        <a:fillRect/>
                      </a:stretch>
                    </p:blipFill>
                    <p:spPr>
                      <a:xfrm>
                        <a:off x="2209800" y="1295400"/>
                        <a:ext cx="3048000" cy="996950"/>
                      </a:xfrm>
                      <a:prstGeom prst="rect">
                        <a:avLst/>
                      </a:prstGeom>
                      <a:noFill/>
                      <a:ln w="38100">
                        <a:noFill/>
                        <a:miter/>
                      </a:ln>
                    </p:spPr>
                  </p:pic>
                </p:oleObj>
              </mc:Fallback>
            </mc:AlternateContent>
          </a:graphicData>
        </a:graphic>
      </p:graphicFrame>
      <p:sp>
        <p:nvSpPr>
          <p:cNvPr id="86019" name="文本框 82949"/>
          <p:cNvSpPr txBox="1"/>
          <p:nvPr/>
        </p:nvSpPr>
        <p:spPr>
          <a:xfrm>
            <a:off x="5991225" y="1641475"/>
            <a:ext cx="1552575"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86020" name="文本框 82950"/>
          <p:cNvSpPr txBox="1"/>
          <p:nvPr/>
        </p:nvSpPr>
        <p:spPr>
          <a:xfrm>
            <a:off x="7727950" y="16002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86021" name="文本框 82951"/>
          <p:cNvSpPr txBox="1"/>
          <p:nvPr/>
        </p:nvSpPr>
        <p:spPr>
          <a:xfrm>
            <a:off x="152400" y="2362200"/>
            <a:ext cx="8839200" cy="1770063"/>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 将</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相乘，得</a:t>
            </a:r>
            <a:r>
              <a:rPr lang="en-US" altLang="zh-CN" i="1">
                <a:latin typeface="Times New Roman" panose="02020603050405020304" pitchFamily="18" charset="0"/>
                <a:ea typeface="宋体" panose="02010600030101010101" pitchFamily="2" charset="-122"/>
              </a:rPr>
              <a:t>Q</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Q</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点频域离散序列。  </a:t>
            </a:r>
            <a:endParaRPr lang="zh-CN" altLang="en-US" dirty="0">
              <a:latin typeface="Times New Roman" panose="02020603050405020304" pitchFamily="18" charset="0"/>
              <a:ea typeface="宋体" panose="02010600030101010101" pitchFamily="2" charset="-122"/>
            </a:endParaRPr>
          </a:p>
          <a:p>
            <a:pPr>
              <a:lnSpc>
                <a:spcPct val="135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法求</a:t>
            </a:r>
            <a:r>
              <a:rPr lang="en-US" altLang="zh-CN" i="1">
                <a:latin typeface="Times New Roman" panose="02020603050405020304" pitchFamily="18" charset="0"/>
                <a:ea typeface="宋体" panose="02010600030101010101" pitchFamily="2" charset="-122"/>
              </a:rPr>
              <a:t>Q</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L</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IDFT</a:t>
            </a:r>
            <a:r>
              <a:rPr lang="zh-CN" altLang="en-US">
                <a:latin typeface="Times New Roman" panose="02020603050405020304" pitchFamily="18" charset="0"/>
                <a:ea typeface="宋体" panose="02010600030101010101" pitchFamily="2" charset="-122"/>
              </a:rPr>
              <a:t>，得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的圆周卷积 </a:t>
            </a:r>
            <a:endParaRPr lang="zh-CN" altLang="en-US">
              <a:latin typeface="Times New Roman" panose="02020603050405020304" pitchFamily="18" charset="0"/>
              <a:ea typeface="宋体" panose="02010600030101010101" pitchFamily="2" charset="-122"/>
            </a:endParaRPr>
          </a:p>
        </p:txBody>
      </p:sp>
      <p:graphicFrame>
        <p:nvGraphicFramePr>
          <p:cNvPr id="86022" name="对象 82952"/>
          <p:cNvGraphicFramePr/>
          <p:nvPr/>
        </p:nvGraphicFramePr>
        <p:xfrm>
          <a:off x="1828800" y="4191000"/>
          <a:ext cx="5943600" cy="1000125"/>
        </p:xfrm>
        <a:graphic>
          <a:graphicData uri="http://schemas.openxmlformats.org/presentationml/2006/ole">
            <mc:AlternateContent xmlns:mc="http://schemas.openxmlformats.org/markup-compatibility/2006">
              <mc:Choice xmlns:v="urn:schemas-microsoft-com:vml" Requires="v">
                <p:oleObj spid="_x0000_s3147" name="" r:id="rId3" imgW="2640330" imgH="444500" progId="Equation.3">
                  <p:embed/>
                </p:oleObj>
              </mc:Choice>
              <mc:Fallback>
                <p:oleObj name="" r:id="rId3" imgW="2640330" imgH="444500" progId="Equation.3">
                  <p:embed/>
                  <p:pic>
                    <p:nvPicPr>
                      <p:cNvPr id="0" name="图片 3146"/>
                      <p:cNvPicPr/>
                      <p:nvPr/>
                    </p:nvPicPr>
                    <p:blipFill>
                      <a:blip r:embed="rId4"/>
                      <a:stretch>
                        <a:fillRect/>
                      </a:stretch>
                    </p:blipFill>
                    <p:spPr>
                      <a:xfrm>
                        <a:off x="1828800" y="4191000"/>
                        <a:ext cx="5943600" cy="1000125"/>
                      </a:xfrm>
                      <a:prstGeom prst="rect">
                        <a:avLst/>
                      </a:prstGeom>
                      <a:noFill/>
                      <a:ln w="38100">
                        <a:noFill/>
                        <a:miter/>
                      </a:ln>
                    </p:spPr>
                  </p:pic>
                </p:oleObj>
              </mc:Fallback>
            </mc:AlternateContent>
          </a:graphicData>
        </a:graphic>
      </p:graphicFrame>
      <p:grpSp>
        <p:nvGrpSpPr>
          <p:cNvPr id="86023" name="组合 82956"/>
          <p:cNvGrpSpPr/>
          <p:nvPr/>
        </p:nvGrpSpPr>
        <p:grpSpPr>
          <a:xfrm>
            <a:off x="2565400" y="4521200"/>
            <a:ext cx="311150" cy="366713"/>
            <a:chOff x="1076" y="3552"/>
            <a:chExt cx="196" cy="231"/>
          </a:xfrm>
        </p:grpSpPr>
        <p:sp>
          <p:nvSpPr>
            <p:cNvPr id="86024" name="椭圆 82954"/>
            <p:cNvSpPr/>
            <p:nvPr/>
          </p:nvSpPr>
          <p:spPr>
            <a:xfrm>
              <a:off x="1104" y="3600"/>
              <a:ext cx="144" cy="144"/>
            </a:xfrm>
            <a:prstGeom prst="ellipse">
              <a:avLst/>
            </a:prstGeom>
            <a:solidFill>
              <a:schemeClr val="bg1"/>
            </a:solidFill>
            <a:ln w="9525" cap="flat" cmpd="sng">
              <a:solidFill>
                <a:schemeClr val="tx1"/>
              </a:solidFill>
              <a:prstDash val="solid"/>
              <a:round/>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sp>
          <p:nvSpPr>
            <p:cNvPr id="86025" name="文本框 82955"/>
            <p:cNvSpPr txBox="1"/>
            <p:nvPr/>
          </p:nvSpPr>
          <p:spPr>
            <a:xfrm>
              <a:off x="1076" y="3552"/>
              <a:ext cx="196" cy="231"/>
            </a:xfrm>
            <a:prstGeom prst="rect">
              <a:avLst/>
            </a:prstGeom>
            <a:noFill/>
            <a:ln w="9525">
              <a:noFill/>
            </a:ln>
          </p:spPr>
          <p:txBody>
            <a:bodyPr wrap="none" anchor="t">
              <a:spAutoFit/>
            </a:bodyPr>
            <a:p>
              <a:r>
                <a:rPr lang="en-US" altLang="zh-CN" sz="1800" i="1">
                  <a:latin typeface="Times New Roman" panose="02020603050405020304" pitchFamily="18" charset="0"/>
                  <a:ea typeface="宋体" panose="02010600030101010101" pitchFamily="2" charset="-122"/>
                </a:rPr>
                <a:t>L</a:t>
              </a:r>
              <a:endParaRPr lang="en-US" altLang="zh-CN" sz="1800" i="1">
                <a:latin typeface="Times New Roman" panose="02020603050405020304" pitchFamily="18" charset="0"/>
                <a:ea typeface="宋体" panose="02010600030101010101" pitchFamily="2" charset="-122"/>
              </a:endParaRPr>
            </a:p>
          </p:txBody>
        </p:sp>
      </p:grpSp>
      <p:sp>
        <p:nvSpPr>
          <p:cNvPr id="86026" name="文本框 82957"/>
          <p:cNvSpPr txBox="1"/>
          <p:nvPr/>
        </p:nvSpPr>
        <p:spPr>
          <a:xfrm>
            <a:off x="7727950" y="44958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86027" name="文本框 82958"/>
          <p:cNvSpPr txBox="1"/>
          <p:nvPr/>
        </p:nvSpPr>
        <p:spPr>
          <a:xfrm>
            <a:off x="152400" y="5103813"/>
            <a:ext cx="8839200" cy="1601787"/>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式中，前</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个值等于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的线性卷积结果［</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的值没有意义，不</a:t>
            </a:r>
            <a:r>
              <a:rPr lang="zh-CN" altLang="en-US" dirty="0">
                <a:latin typeface="Times New Roman" panose="02020603050405020304" pitchFamily="18" charset="0"/>
                <a:ea typeface="宋体" panose="02010600030101010101" pitchFamily="2" charset="-122"/>
              </a:rPr>
              <a:t>必去求。</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即</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圆周卷积的前</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个值可见图</a:t>
            </a:r>
            <a:r>
              <a:rPr lang="en-US" altLang="zh-CN" dirty="0">
                <a:latin typeface="Times New Roman" panose="02020603050405020304" pitchFamily="18" charset="0"/>
                <a:ea typeface="宋体" panose="02010600030101010101" pitchFamily="2" charset="-122"/>
              </a:rPr>
              <a:t>3-20</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d</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文本框 81923"/>
          <p:cNvSpPr txBox="1"/>
          <p:nvPr/>
        </p:nvSpPr>
        <p:spPr>
          <a:xfrm>
            <a:off x="762000" y="914400"/>
            <a:ext cx="29797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  最后求</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i="1" baseline="-25000" err="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87042" name="对象 81924"/>
          <p:cNvGraphicFramePr/>
          <p:nvPr/>
        </p:nvGraphicFramePr>
        <p:xfrm>
          <a:off x="1905000" y="1752600"/>
          <a:ext cx="5715000" cy="1049338"/>
        </p:xfrm>
        <a:graphic>
          <a:graphicData uri="http://schemas.openxmlformats.org/presentationml/2006/ole">
            <mc:AlternateContent xmlns:mc="http://schemas.openxmlformats.org/markup-compatibility/2006">
              <mc:Choice xmlns:v="urn:schemas-microsoft-com:vml" Requires="v">
                <p:oleObj spid="_x0000_s3148" name="" r:id="rId1" imgW="2006600" imgH="368300" progId="Equation.3">
                  <p:embed/>
                </p:oleObj>
              </mc:Choice>
              <mc:Fallback>
                <p:oleObj name="" r:id="rId1" imgW="2006600" imgH="368300" progId="Equation.3">
                  <p:embed/>
                  <p:pic>
                    <p:nvPicPr>
                      <p:cNvPr id="0" name="图片 3147"/>
                      <p:cNvPicPr/>
                      <p:nvPr/>
                    </p:nvPicPr>
                    <p:blipFill>
                      <a:blip r:embed="rId2"/>
                      <a:stretch>
                        <a:fillRect/>
                      </a:stretch>
                    </p:blipFill>
                    <p:spPr>
                      <a:xfrm>
                        <a:off x="1905000" y="1752600"/>
                        <a:ext cx="5715000" cy="1049338"/>
                      </a:xfrm>
                      <a:prstGeom prst="rect">
                        <a:avLst/>
                      </a:prstGeom>
                      <a:noFill/>
                      <a:ln w="38100">
                        <a:noFill/>
                        <a:miter/>
                      </a:ln>
                    </p:spPr>
                  </p:pic>
                </p:oleObj>
              </mc:Fallback>
            </mc:AlternateContent>
          </a:graphicData>
        </a:graphic>
      </p:graphicFrame>
      <p:sp>
        <p:nvSpPr>
          <p:cNvPr id="87043" name="文本框 81925"/>
          <p:cNvSpPr txBox="1"/>
          <p:nvPr/>
        </p:nvSpPr>
        <p:spPr>
          <a:xfrm>
            <a:off x="7543800" y="32766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3-45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文本框 86019"/>
          <p:cNvSpPr txBox="1"/>
          <p:nvPr/>
        </p:nvSpPr>
        <p:spPr>
          <a:xfrm>
            <a:off x="1981200" y="765175"/>
            <a:ext cx="5942013" cy="519113"/>
          </a:xfrm>
          <a:prstGeom prst="rect">
            <a:avLst/>
          </a:prstGeom>
          <a:noFill/>
          <a:ln w="9525">
            <a:noFill/>
          </a:ln>
        </p:spPr>
        <p:txBody>
          <a:bodyPr wrap="none" anchor="t">
            <a:spAutoFit/>
          </a:bodyPr>
          <a:p>
            <a:r>
              <a:rPr lang="en-US" altLang="zh-CN" sz="2800" b="1" dirty="0">
                <a:latin typeface="Times New Roman" panose="02020603050405020304" pitchFamily="18" charset="0"/>
                <a:ea typeface="宋体" panose="02010600030101010101" pitchFamily="2" charset="-122"/>
              </a:rPr>
              <a:t>3.7   </a:t>
            </a:r>
            <a:r>
              <a:rPr lang="zh-CN" altLang="en-US" sz="2800" b="1" dirty="0">
                <a:latin typeface="Times New Roman" panose="02020603050405020304" pitchFamily="18" charset="0"/>
                <a:ea typeface="宋体" panose="02010600030101010101" pitchFamily="2" charset="-122"/>
              </a:rPr>
              <a:t>利用</a:t>
            </a:r>
            <a:r>
              <a:rPr lang="en-US" altLang="zh-CN" sz="2800" b="1" dirty="0">
                <a:latin typeface="Times New Roman" panose="02020603050405020304" pitchFamily="18" charset="0"/>
                <a:ea typeface="宋体" panose="02010600030101010101" pitchFamily="2" charset="-122"/>
              </a:rPr>
              <a:t>FFT</a:t>
            </a:r>
            <a:r>
              <a:rPr lang="zh-CN" altLang="en-US" sz="2800" b="1" dirty="0">
                <a:latin typeface="Times New Roman" panose="02020603050405020304" pitchFamily="18" charset="0"/>
                <a:ea typeface="宋体" panose="02010600030101010101" pitchFamily="2" charset="-122"/>
              </a:rPr>
              <a:t>分析时域连续信号频谱 </a:t>
            </a:r>
            <a:endParaRPr lang="zh-CN" altLang="en-US" sz="2800" b="1">
              <a:latin typeface="Times New Roman" panose="02020603050405020304" pitchFamily="18" charset="0"/>
              <a:ea typeface="宋体" panose="02010600030101010101" pitchFamily="2" charset="-122"/>
            </a:endParaRPr>
          </a:p>
        </p:txBody>
      </p:sp>
      <p:sp>
        <p:nvSpPr>
          <p:cNvPr id="91138" name="文本框 86020"/>
          <p:cNvSpPr txBox="1"/>
          <p:nvPr/>
        </p:nvSpPr>
        <p:spPr>
          <a:xfrm>
            <a:off x="136525" y="1819275"/>
            <a:ext cx="2171700" cy="457200"/>
          </a:xfrm>
          <a:prstGeom prst="rect">
            <a:avLst/>
          </a:prstGeom>
          <a:no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3.7.1 </a:t>
            </a:r>
            <a:r>
              <a:rPr lang="zh-CN" altLang="en-US" b="1" dirty="0">
                <a:latin typeface="Times New Roman" panose="02020603050405020304" pitchFamily="18" charset="0"/>
                <a:ea typeface="宋体" panose="02010600030101010101" pitchFamily="2" charset="-122"/>
              </a:rPr>
              <a:t>基本步骤 </a:t>
            </a:r>
            <a:endParaRPr lang="zh-CN" altLang="en-US" b="1">
              <a:latin typeface="Times New Roman" panose="02020603050405020304" pitchFamily="18" charset="0"/>
              <a:ea typeface="宋体" panose="02010600030101010101" pitchFamily="2" charset="-122"/>
            </a:endParaRPr>
          </a:p>
        </p:txBody>
      </p:sp>
      <p:sp>
        <p:nvSpPr>
          <p:cNvPr id="91139" name="文本框 86021"/>
          <p:cNvSpPr txBox="1"/>
          <p:nvPr/>
        </p:nvSpPr>
        <p:spPr>
          <a:xfrm>
            <a:off x="1259840" y="5948998"/>
            <a:ext cx="6785610" cy="460375"/>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图 </a:t>
            </a:r>
            <a:r>
              <a:rPr lang="en-US" altLang="zh-CN" b="1" dirty="0">
                <a:latin typeface="Times New Roman" panose="02020603050405020304" pitchFamily="18" charset="0"/>
                <a:ea typeface="宋体" panose="02010600030101010101" pitchFamily="2" charset="-122"/>
              </a:rPr>
              <a:t>3-21 </a:t>
            </a:r>
            <a:r>
              <a:rPr lang="zh-CN" altLang="en-US" b="1" dirty="0">
                <a:latin typeface="Times New Roman" panose="02020603050405020304" pitchFamily="18" charset="0"/>
                <a:ea typeface="宋体" panose="02010600030101010101" pitchFamily="2" charset="-122"/>
              </a:rPr>
              <a:t>时域连续信号离散傅里叶分析的处理步骤</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pic>
        <p:nvPicPr>
          <p:cNvPr id="91140" name="图片 86024" descr="3-21"/>
          <p:cNvPicPr>
            <a:picLocks noChangeAspect="1"/>
          </p:cNvPicPr>
          <p:nvPr/>
        </p:nvPicPr>
        <p:blipFill>
          <a:blip r:embed="rId1"/>
          <a:stretch>
            <a:fillRect/>
          </a:stretch>
        </p:blipFill>
        <p:spPr>
          <a:xfrm>
            <a:off x="1619885" y="3333115"/>
            <a:ext cx="5715000" cy="1057275"/>
          </a:xfrm>
          <a:prstGeom prst="rect">
            <a:avLst/>
          </a:prstGeom>
          <a:noFill/>
          <a:ln w="9525">
            <a:noFill/>
          </a:ln>
        </p:spPr>
      </p:pic>
      <p:sp>
        <p:nvSpPr>
          <p:cNvPr id="4" name="矩形 3"/>
          <p:cNvSpPr/>
          <p:nvPr/>
        </p:nvSpPr>
        <p:spPr>
          <a:xfrm>
            <a:off x="1259840" y="4220845"/>
            <a:ext cx="237490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rgbClr val="FF0000"/>
                </a:solidFill>
              </a:rPr>
              <a:t>避免频谱的混叠</a:t>
            </a:r>
            <a:endParaRPr lang="zh-CN" altLang="en-US" b="1">
              <a:solidFill>
                <a:srgbClr val="FF0000"/>
              </a:solidFill>
            </a:endParaRPr>
          </a:p>
        </p:txBody>
      </p:sp>
      <p:sp>
        <p:nvSpPr>
          <p:cNvPr id="2" name="矩形 1"/>
          <p:cNvSpPr/>
          <p:nvPr/>
        </p:nvSpPr>
        <p:spPr>
          <a:xfrm>
            <a:off x="3747135" y="2593975"/>
            <a:ext cx="93599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rgbClr val="FF0000"/>
                </a:solidFill>
              </a:rPr>
              <a:t>采样</a:t>
            </a:r>
            <a:endParaRPr lang="zh-CN" altLang="en-US" b="1">
              <a:solidFill>
                <a:srgbClr val="FF0000"/>
              </a:solidFill>
            </a:endParaRPr>
          </a:p>
        </p:txBody>
      </p:sp>
      <p:sp>
        <p:nvSpPr>
          <p:cNvPr id="3" name="矩形 2"/>
          <p:cNvSpPr/>
          <p:nvPr/>
        </p:nvSpPr>
        <p:spPr>
          <a:xfrm>
            <a:off x="4834890" y="4486275"/>
            <a:ext cx="93599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rgbClr val="FF0000"/>
                </a:solidFill>
              </a:rPr>
              <a:t>加窗</a:t>
            </a:r>
            <a:endParaRPr lang="zh-CN" altLang="en-US" b="1">
              <a:solidFill>
                <a:srgbClr val="FF0000"/>
              </a:solidFill>
            </a:endParaRPr>
          </a:p>
        </p:txBody>
      </p:sp>
      <p:sp>
        <p:nvSpPr>
          <p:cNvPr id="5" name="矩形 4"/>
          <p:cNvSpPr/>
          <p:nvPr/>
        </p:nvSpPr>
        <p:spPr>
          <a:xfrm>
            <a:off x="5688330" y="2494915"/>
            <a:ext cx="247777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rgbClr val="FF0000"/>
                </a:solidFill>
              </a:rPr>
              <a:t>离散傅里叶变换</a:t>
            </a:r>
            <a:endParaRPr lang="zh-CN" altLang="en-US" b="1">
              <a:solidFill>
                <a:srgbClr val="FF0000"/>
              </a:solidFill>
            </a:endParaRPr>
          </a:p>
        </p:txBody>
      </p:sp>
      <p:sp>
        <p:nvSpPr>
          <p:cNvPr id="6" name="矩形 5"/>
          <p:cNvSpPr/>
          <p:nvPr/>
        </p:nvSpPr>
        <p:spPr>
          <a:xfrm>
            <a:off x="1981200" y="5024120"/>
            <a:ext cx="93599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频谱混叠</a:t>
            </a:r>
            <a:endParaRPr lang="zh-CN" altLang="en-US" b="1">
              <a:solidFill>
                <a:schemeClr val="tx1"/>
              </a:solidFill>
            </a:endParaRPr>
          </a:p>
        </p:txBody>
      </p:sp>
      <p:sp>
        <p:nvSpPr>
          <p:cNvPr id="7" name="矩形 6"/>
          <p:cNvSpPr/>
          <p:nvPr/>
        </p:nvSpPr>
        <p:spPr>
          <a:xfrm>
            <a:off x="3747135" y="1819275"/>
            <a:ext cx="93599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栅栏效应</a:t>
            </a:r>
            <a:endParaRPr lang="zh-CN" altLang="en-US" b="1">
              <a:solidFill>
                <a:schemeClr val="tx1"/>
              </a:solidFill>
            </a:endParaRPr>
          </a:p>
        </p:txBody>
      </p:sp>
      <p:sp>
        <p:nvSpPr>
          <p:cNvPr id="8" name="矩形 7"/>
          <p:cNvSpPr/>
          <p:nvPr/>
        </p:nvSpPr>
        <p:spPr>
          <a:xfrm>
            <a:off x="4683125" y="5129530"/>
            <a:ext cx="145669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谱间干扰</a:t>
            </a:r>
            <a:endParaRPr lang="zh-CN" altLang="en-US" b="1">
              <a:solidFill>
                <a:schemeClr val="tx1"/>
              </a:solidFill>
            </a:endParaRPr>
          </a:p>
        </p:txBody>
      </p:sp>
      <p:sp>
        <p:nvSpPr>
          <p:cNvPr id="9" name="矩形 8"/>
          <p:cNvSpPr/>
          <p:nvPr/>
        </p:nvSpPr>
        <p:spPr>
          <a:xfrm>
            <a:off x="6269355" y="1726565"/>
            <a:ext cx="1524000" cy="643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tx1"/>
                </a:solidFill>
              </a:rPr>
              <a:t>拖尾现象</a:t>
            </a:r>
            <a:endParaRPr lang="zh-CN" altLang="en-US" b="1">
              <a:solidFill>
                <a:schemeClr val="tx1"/>
              </a:solidFill>
            </a:endParaRPr>
          </a:p>
        </p:txBody>
      </p:sp>
      <p:graphicFrame>
        <p:nvGraphicFramePr>
          <p:cNvPr id="92162" name="对象 89092"/>
          <p:cNvGraphicFramePr/>
          <p:nvPr/>
        </p:nvGraphicFramePr>
        <p:xfrm>
          <a:off x="107950" y="2420620"/>
          <a:ext cx="3428365" cy="883920"/>
        </p:xfrm>
        <a:graphic>
          <a:graphicData uri="http://schemas.openxmlformats.org/presentationml/2006/ole">
            <mc:AlternateContent xmlns:mc="http://schemas.openxmlformats.org/markup-compatibility/2006">
              <mc:Choice xmlns:v="urn:schemas-microsoft-com:vml" Requires="v">
                <p:oleObj spid="_x0000_s3152" name="" r:id="rId2" imgW="2082165" imgH="431800" progId="Equation.3">
                  <p:embed/>
                </p:oleObj>
              </mc:Choice>
              <mc:Fallback>
                <p:oleObj name="" r:id="rId2" imgW="2082165" imgH="431800" progId="Equation.3">
                  <p:embed/>
                  <p:pic>
                    <p:nvPicPr>
                      <p:cNvPr id="0" name="图片 3151"/>
                      <p:cNvPicPr/>
                      <p:nvPr/>
                    </p:nvPicPr>
                    <p:blipFill>
                      <a:blip r:embed="rId3"/>
                      <a:stretch>
                        <a:fillRect/>
                      </a:stretch>
                    </p:blipFill>
                    <p:spPr>
                      <a:xfrm>
                        <a:off x="107950" y="2420620"/>
                        <a:ext cx="3428365" cy="883920"/>
                      </a:xfrm>
                      <a:prstGeom prst="rect">
                        <a:avLst/>
                      </a:prstGeom>
                      <a:solidFill>
                        <a:schemeClr val="accent1"/>
                      </a:solidFill>
                      <a:ln w="38100">
                        <a:noFill/>
                        <a:miter/>
                      </a:ln>
                    </p:spPr>
                  </p:pic>
                </p:oleObj>
              </mc:Fallback>
            </mc:AlternateContent>
          </a:graphicData>
        </a:graphic>
      </p:graphicFrame>
      <p:sp>
        <p:nvSpPr>
          <p:cNvPr id="10" name="右箭头 9"/>
          <p:cNvSpPr/>
          <p:nvPr/>
        </p:nvSpPr>
        <p:spPr>
          <a:xfrm rot="1080000">
            <a:off x="3583305" y="3148330"/>
            <a:ext cx="1202690" cy="504190"/>
          </a:xfrm>
          <a:prstGeom prst="rightArrow">
            <a:avLst/>
          </a:prstGeom>
          <a:gradFill>
            <a:gsLst>
              <a:gs pos="0">
                <a:srgbClr val="14CD68"/>
              </a:gs>
              <a:gs pos="100000">
                <a:srgbClr val="0B6E3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5796280" y="4509135"/>
            <a:ext cx="1895475" cy="460375"/>
          </a:xfrm>
          <a:prstGeom prst="rect">
            <a:avLst/>
          </a:prstGeom>
          <a:solidFill>
            <a:schemeClr val="accent1"/>
          </a:solidFill>
        </p:spPr>
        <p:txBody>
          <a:bodyPr wrap="none" rtlCol="0" anchor="t">
            <a:spAutoFit/>
          </a:bodyPr>
          <a:p>
            <a:r>
              <a:rPr lang="en-US" altLang="zh-CN" i="1">
                <a:sym typeface="+mn-ea"/>
              </a:rPr>
              <a:t>v</a:t>
            </a:r>
            <a:r>
              <a:rPr lang="en-US" altLang="zh-CN">
                <a:sym typeface="+mn-ea"/>
              </a:rPr>
              <a:t>(</a:t>
            </a:r>
            <a:r>
              <a:rPr lang="en-US" altLang="zh-CN" i="1">
                <a:sym typeface="+mn-ea"/>
              </a:rPr>
              <a:t>n</a:t>
            </a:r>
            <a:r>
              <a:rPr lang="en-US" altLang="zh-CN">
                <a:sym typeface="+mn-ea"/>
              </a:rPr>
              <a:t>)=</a:t>
            </a:r>
            <a:r>
              <a:rPr lang="en-US" altLang="zh-CN" i="1">
                <a:sym typeface="+mn-ea"/>
              </a:rPr>
              <a:t>x</a:t>
            </a:r>
            <a:r>
              <a:rPr lang="en-US" altLang="zh-CN">
                <a:sym typeface="+mn-ea"/>
              </a:rPr>
              <a:t>(</a:t>
            </a:r>
            <a:r>
              <a:rPr lang="en-US" altLang="zh-CN" i="1">
                <a:sym typeface="+mn-ea"/>
              </a:rPr>
              <a:t>n</a:t>
            </a:r>
            <a:r>
              <a:rPr lang="en-US" altLang="zh-CN">
                <a:sym typeface="+mn-ea"/>
              </a:rPr>
              <a:t>)</a:t>
            </a:r>
            <a:r>
              <a:rPr lang="en-US" altLang="zh-CN" i="1">
                <a:sym typeface="+mn-ea"/>
              </a:rPr>
              <a:t>w</a:t>
            </a:r>
            <a:r>
              <a:rPr lang="en-US" altLang="zh-CN">
                <a:sym typeface="+mn-ea"/>
              </a:rPr>
              <a:t>(</a:t>
            </a:r>
            <a:r>
              <a:rPr lang="en-US" altLang="zh-CN" i="1">
                <a:sym typeface="+mn-ea"/>
              </a:rPr>
              <a:t>n</a:t>
            </a:r>
            <a:r>
              <a:rPr lang="en-US" altLang="zh-CN" dirty="0">
                <a:sym typeface="+mn-ea"/>
              </a:rPr>
              <a:t>)</a:t>
            </a:r>
            <a:endParaRPr lang="zh-CN" altLang="en-US"/>
          </a:p>
        </p:txBody>
      </p:sp>
      <p:sp>
        <p:nvSpPr>
          <p:cNvPr id="12" name="右箭头 11"/>
          <p:cNvSpPr/>
          <p:nvPr/>
        </p:nvSpPr>
        <p:spPr>
          <a:xfrm rot="12240000">
            <a:off x="5570220" y="3957320"/>
            <a:ext cx="1115695" cy="504190"/>
          </a:xfrm>
          <a:prstGeom prst="rightArrow">
            <a:avLst/>
          </a:prstGeom>
          <a:gradFill>
            <a:gsLst>
              <a:gs pos="0">
                <a:srgbClr val="14CD68"/>
              </a:gs>
              <a:gs pos="100000">
                <a:srgbClr val="0B6E3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62"/>
                                        </p:tgtEl>
                                        <p:attrNameLst>
                                          <p:attrName>style.visibility</p:attrName>
                                        </p:attrNameLst>
                                      </p:cBhvr>
                                      <p:to>
                                        <p:strVal val="visible"/>
                                      </p:to>
                                    </p:set>
                                    <p:anim calcmode="lin" valueType="num">
                                      <p:cBhvr additive="base">
                                        <p:cTn id="19" dur="500" fill="hold"/>
                                        <p:tgtEl>
                                          <p:spTgt spid="92162"/>
                                        </p:tgtEl>
                                        <p:attrNameLst>
                                          <p:attrName>ppt_x</p:attrName>
                                        </p:attrNameLst>
                                      </p:cBhvr>
                                      <p:tavLst>
                                        <p:tav tm="0">
                                          <p:val>
                                            <p:strVal val="#ppt_x"/>
                                          </p:val>
                                        </p:tav>
                                        <p:tav tm="100000">
                                          <p:val>
                                            <p:strVal val="#ppt_x"/>
                                          </p:val>
                                        </p:tav>
                                      </p:tavLst>
                                    </p:anim>
                                    <p:anim calcmode="lin" valueType="num">
                                      <p:cBhvr additive="base">
                                        <p:cTn id="20" dur="500" fill="hold"/>
                                        <p:tgtEl>
                                          <p:spTgt spid="9216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ppt_x"/>
                                          </p:val>
                                        </p:tav>
                                        <p:tav tm="100000">
                                          <p:val>
                                            <p:strVal val="#ppt_x"/>
                                          </p:val>
                                        </p:tav>
                                      </p:tavLst>
                                    </p:anim>
                                    <p:anim calcmode="lin" valueType="num">
                                      <p:cBhvr additive="base">
                                        <p:cTn id="4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10" grpId="0" animBg="1"/>
      <p:bldP spid="3" grpId="0" animBg="1"/>
      <p:bldP spid="12" grpId="0" animBg="1"/>
      <p:bldP spid="11" grpId="0" animBg="1"/>
      <p:bldP spid="5" grpId="0" animBg="1"/>
      <p:bldP spid="6" grpId="0" animBg="1"/>
      <p:bldP spid="7" grpId="0" animBg="1"/>
      <p:bldP spid="8" grpId="0" animBg="1"/>
      <p:bldP spid="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文本框 89091"/>
          <p:cNvSpPr txBox="1"/>
          <p:nvPr/>
        </p:nvSpPr>
        <p:spPr>
          <a:xfrm>
            <a:off x="152400" y="381000"/>
            <a:ext cx="8763000" cy="5021263"/>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在图</a:t>
            </a:r>
            <a:r>
              <a:rPr lang="en-US" altLang="zh-CN" dirty="0">
                <a:latin typeface="Times New Roman" panose="02020603050405020304" pitchFamily="18" charset="0"/>
                <a:ea typeface="宋体" panose="02010600030101010101" pitchFamily="2" charset="-122"/>
              </a:rPr>
              <a:t>3-21</a:t>
            </a:r>
            <a:r>
              <a:rPr lang="zh-CN" altLang="en-US" dirty="0">
                <a:latin typeface="Times New Roman" panose="02020603050405020304" pitchFamily="18" charset="0"/>
                <a:ea typeface="宋体" panose="02010600030101010101" pitchFamily="2" charset="-122"/>
              </a:rPr>
              <a:t>中，前置低通滤波器</a:t>
            </a:r>
            <a:r>
              <a:rPr lang="en-US" altLang="zh-CN" dirty="0">
                <a:latin typeface="Times New Roman" panose="02020603050405020304" pitchFamily="18" charset="0"/>
                <a:ea typeface="宋体" panose="02010600030101010101" pitchFamily="2" charset="-122"/>
              </a:rPr>
              <a:t>LPF</a:t>
            </a:r>
            <a:r>
              <a:rPr lang="zh-CN" altLang="en-US" dirty="0">
                <a:latin typeface="Times New Roman" panose="02020603050405020304" pitchFamily="18" charset="0"/>
                <a:ea typeface="宋体" panose="02010600030101010101" pitchFamily="2" charset="-122"/>
              </a:rPr>
              <a:t>（预滤波器）的引入，是为了消除或减少时域连续信号转换成序列时可能出现的频谱混叠的影响。 在实际工作中，时域离散信号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的时宽是很长的， 甚至是无限长的（例如语音或音乐信号）。由于</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的需要</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实际应用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计算</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，必须把</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限制在一定的时间区间之内，即进行数据截断。  数据的截断相当于加窗处理（窗函数见</a:t>
            </a:r>
            <a:r>
              <a:rPr lang="en-US" altLang="zh-CN" dirty="0">
                <a:latin typeface="Times New Roman" panose="02020603050405020304" pitchFamily="18" charset="0"/>
                <a:ea typeface="宋体" panose="02010600030101010101" pitchFamily="2" charset="-122"/>
              </a:rPr>
              <a:t>6.2</a:t>
            </a:r>
            <a:r>
              <a:rPr lang="zh-CN" altLang="en-US" dirty="0">
                <a:latin typeface="Times New Roman" panose="02020603050405020304" pitchFamily="18" charset="0"/>
                <a:ea typeface="宋体" panose="02010600030101010101" pitchFamily="2" charset="-122"/>
              </a:rPr>
              <a:t>节）。 因此， 在计算</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之前，用一个时域有限的窗函数</a:t>
            </a:r>
            <a:r>
              <a:rPr lang="en-US" altLang="zh-CN" i="1">
                <a:latin typeface="Times New Roman" panose="02020603050405020304" pitchFamily="18" charset="0"/>
                <a:ea typeface="宋体" panose="02010600030101010101" pitchFamily="2" charset="-122"/>
              </a:rPr>
              <a:t>w</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加到</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上是非常</a:t>
            </a:r>
            <a:r>
              <a:rPr lang="zh-CN" altLang="en-US" dirty="0">
                <a:latin typeface="Times New Roman" panose="02020603050405020304" pitchFamily="18" charset="0"/>
                <a:ea typeface="宋体" panose="02010600030101010101" pitchFamily="2" charset="-122"/>
              </a:rPr>
              <a:t>必要的。</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a:latin typeface="Times New Roman" panose="02020603050405020304" pitchFamily="18" charset="0"/>
                <a:ea typeface="宋体" panose="02010600030101010101" pitchFamily="2" charset="-122"/>
              </a:rPr>
              <a:t>        </a:t>
            </a:r>
            <a:r>
              <a:rPr lang="zh-CN" altLang="en-US" i="1" err="1">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x</a:t>
            </a:r>
            <a:r>
              <a:rPr lang="en-US" altLang="zh-CN" baseline="-25000" err="1">
                <a:latin typeface="Times New Roman" panose="02020603050405020304" pitchFamily="18" charset="0"/>
                <a:ea typeface="宋体" panose="02010600030101010101" pitchFamily="2" charset="-122"/>
              </a:rPr>
              <a:t>c</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通过</a:t>
            </a:r>
            <a:r>
              <a:rPr lang="en-US" altLang="zh-CN" dirty="0">
                <a:latin typeface="Times New Roman" panose="02020603050405020304" pitchFamily="18" charset="0"/>
                <a:ea typeface="宋体" panose="02010600030101010101" pitchFamily="2" charset="-122"/>
              </a:rPr>
              <a:t>A/D</a:t>
            </a:r>
            <a:r>
              <a:rPr lang="zh-CN" altLang="en-US" dirty="0">
                <a:latin typeface="Times New Roman" panose="02020603050405020304" pitchFamily="18" charset="0"/>
                <a:ea typeface="宋体" panose="02010600030101010101" pitchFamily="2" charset="-122"/>
              </a:rPr>
              <a:t>变换器转换</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忽略其幅度量化误差</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成采样序列</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，其频谱用</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表示，它是频率</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的周期函数，即  </a:t>
            </a:r>
            <a:endParaRPr lang="zh-CN" altLang="en-US">
              <a:latin typeface="Times New Roman" panose="02020603050405020304" pitchFamily="18" charset="0"/>
              <a:ea typeface="宋体" panose="02010600030101010101" pitchFamily="2" charset="-122"/>
            </a:endParaRPr>
          </a:p>
        </p:txBody>
      </p:sp>
      <p:graphicFrame>
        <p:nvGraphicFramePr>
          <p:cNvPr id="92162" name="对象 89092"/>
          <p:cNvGraphicFramePr/>
          <p:nvPr/>
        </p:nvGraphicFramePr>
        <p:xfrm>
          <a:off x="2514600" y="5364163"/>
          <a:ext cx="4267200" cy="884237"/>
        </p:xfrm>
        <a:graphic>
          <a:graphicData uri="http://schemas.openxmlformats.org/presentationml/2006/ole">
            <mc:AlternateContent xmlns:mc="http://schemas.openxmlformats.org/markup-compatibility/2006">
              <mc:Choice xmlns:v="urn:schemas-microsoft-com:vml" Requires="v">
                <p:oleObj spid="_x0000_s3152" name="" r:id="rId1" imgW="2082165" imgH="431800" progId="Equation.3">
                  <p:embed/>
                </p:oleObj>
              </mc:Choice>
              <mc:Fallback>
                <p:oleObj name="" r:id="rId1" imgW="2082165" imgH="431800" progId="Equation.3">
                  <p:embed/>
                  <p:pic>
                    <p:nvPicPr>
                      <p:cNvPr id="0" name="图片 3151"/>
                      <p:cNvPicPr/>
                      <p:nvPr/>
                    </p:nvPicPr>
                    <p:blipFill>
                      <a:blip r:embed="rId2"/>
                      <a:stretch>
                        <a:fillRect/>
                      </a:stretch>
                    </p:blipFill>
                    <p:spPr>
                      <a:xfrm>
                        <a:off x="2514600" y="5364163"/>
                        <a:ext cx="4267200" cy="884237"/>
                      </a:xfrm>
                      <a:prstGeom prst="rect">
                        <a:avLst/>
                      </a:prstGeom>
                      <a:noFill/>
                      <a:ln w="38100">
                        <a:noFill/>
                        <a:miter/>
                      </a:ln>
                    </p:spPr>
                  </p:pic>
                </p:oleObj>
              </mc:Fallback>
            </mc:AlternateContent>
          </a:graphicData>
        </a:graphic>
      </p:graphicFrame>
      <p:sp>
        <p:nvSpPr>
          <p:cNvPr id="92163" name="文本框 89093"/>
          <p:cNvSpPr txBox="1"/>
          <p:nvPr/>
        </p:nvSpPr>
        <p:spPr>
          <a:xfrm>
            <a:off x="7772400" y="55626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(3-47) </a:t>
            </a:r>
            <a:endParaRPr lang="en-US" altLang="zh-CN">
              <a:latin typeface="Times New Roman" panose="02020603050405020304" pitchFamily="18" charset="0"/>
              <a:ea typeface="宋体" panose="02010600030101010101" pitchFamily="2" charset="-122"/>
            </a:endParaRPr>
          </a:p>
        </p:txBody>
      </p:sp>
      <p:grpSp>
        <p:nvGrpSpPr>
          <p:cNvPr id="92164" name="组合 89096"/>
          <p:cNvGrpSpPr/>
          <p:nvPr/>
        </p:nvGrpSpPr>
        <p:grpSpPr>
          <a:xfrm>
            <a:off x="136525" y="6124575"/>
            <a:ext cx="5432425" cy="809625"/>
            <a:chOff x="86" y="3858"/>
            <a:chExt cx="3422" cy="510"/>
          </a:xfrm>
        </p:grpSpPr>
        <p:sp>
          <p:nvSpPr>
            <p:cNvPr id="92165" name="文本框 89094"/>
            <p:cNvSpPr txBox="1"/>
            <p:nvPr/>
          </p:nvSpPr>
          <p:spPr>
            <a:xfrm>
              <a:off x="86" y="3962"/>
              <a:ext cx="3422"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err="1">
                  <a:latin typeface="Times New Roman" panose="02020603050405020304" pitchFamily="18" charset="0"/>
                  <a:ea typeface="宋体" panose="02010600030101010101" pitchFamily="2" charset="-122"/>
                </a:rPr>
                <a:t>X</a:t>
              </a:r>
              <a:r>
                <a:rPr lang="en-US" altLang="zh-CN" baseline="-25000" err="1">
                  <a:latin typeface="Times New Roman" panose="02020603050405020304" pitchFamily="18" charset="0"/>
                  <a:ea typeface="宋体" panose="02010600030101010101" pitchFamily="2" charset="-122"/>
                </a:rPr>
                <a:t>c</a:t>
              </a:r>
              <a:r>
                <a:rPr lang="en-US" altLang="zh-CN" err="1">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或              </a:t>
              </a:r>
              <a:r>
                <a:rPr lang="zh-CN" altLang="en-US" dirty="0">
                  <a:latin typeface="Times New Roman" panose="02020603050405020304" pitchFamily="18" charset="0"/>
                  <a:ea typeface="宋体" panose="02010600030101010101" pitchFamily="2" charset="-122"/>
                </a:rPr>
                <a:t>为</a:t>
              </a:r>
              <a:r>
                <a:rPr lang="en-US" altLang="zh-CN" i="1" err="1">
                  <a:latin typeface="Times New Roman" panose="02020603050405020304" pitchFamily="18" charset="0"/>
                  <a:ea typeface="宋体" panose="02010600030101010101" pitchFamily="2" charset="-122"/>
                </a:rPr>
                <a:t>x</a:t>
              </a:r>
              <a:r>
                <a:rPr lang="en-US" altLang="zh-CN" baseline="-25000" err="1">
                  <a:latin typeface="Times New Roman" panose="02020603050405020304" pitchFamily="18" charset="0"/>
                  <a:ea typeface="宋体" panose="02010600030101010101" pitchFamily="2" charset="-122"/>
                </a:rPr>
                <a:t>c</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的频谱。 </a:t>
              </a:r>
              <a:endParaRPr lang="zh-CN" altLang="en-US">
                <a:latin typeface="Times New Roman" panose="02020603050405020304" pitchFamily="18" charset="0"/>
                <a:ea typeface="宋体" panose="02010600030101010101" pitchFamily="2" charset="-122"/>
              </a:endParaRPr>
            </a:p>
          </p:txBody>
        </p:sp>
        <p:graphicFrame>
          <p:nvGraphicFramePr>
            <p:cNvPr id="92166" name="对象 89095"/>
            <p:cNvGraphicFramePr/>
            <p:nvPr/>
          </p:nvGraphicFramePr>
          <p:xfrm>
            <a:off x="1440" y="3858"/>
            <a:ext cx="720" cy="510"/>
          </p:xfrm>
          <a:graphic>
            <a:graphicData uri="http://schemas.openxmlformats.org/presentationml/2006/ole">
              <mc:AlternateContent xmlns:mc="http://schemas.openxmlformats.org/markup-compatibility/2006">
                <mc:Choice xmlns:v="urn:schemas-microsoft-com:vml" Requires="v">
                  <p:oleObj spid="_x0000_s3156" name="" r:id="rId3" imgW="609600" imgH="431800" progId="Equation.3">
                    <p:embed/>
                  </p:oleObj>
                </mc:Choice>
                <mc:Fallback>
                  <p:oleObj name="" r:id="rId3" imgW="609600" imgH="431800" progId="Equation.3">
                    <p:embed/>
                    <p:pic>
                      <p:nvPicPr>
                        <p:cNvPr id="0" name="图片 3155"/>
                        <p:cNvPicPr/>
                        <p:nvPr/>
                      </p:nvPicPr>
                      <p:blipFill>
                        <a:blip r:embed="rId4"/>
                        <a:stretch>
                          <a:fillRect/>
                        </a:stretch>
                      </p:blipFill>
                      <p:spPr>
                        <a:xfrm>
                          <a:off x="1440" y="3858"/>
                          <a:ext cx="720" cy="510"/>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文本框 88067"/>
          <p:cNvSpPr txBox="1"/>
          <p:nvPr/>
        </p:nvSpPr>
        <p:spPr>
          <a:xfrm>
            <a:off x="228600" y="457200"/>
            <a:ext cx="8686800" cy="28209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在实际应用中，前置低通滤波器的阻带不可能是无限衰减的， 故由</a:t>
            </a:r>
            <a:r>
              <a:rPr lang="en-US" altLang="zh-CN" i="1" err="1">
                <a:latin typeface="Times New Roman" panose="02020603050405020304" pitchFamily="18" charset="0"/>
                <a:ea typeface="宋体" panose="02010600030101010101" pitchFamily="2" charset="-122"/>
              </a:rPr>
              <a:t>X</a:t>
            </a:r>
            <a:r>
              <a:rPr lang="en-US" altLang="zh-CN" baseline="-25000" err="1">
                <a:latin typeface="Times New Roman" panose="02020603050405020304" pitchFamily="18" charset="0"/>
                <a:ea typeface="宋体" panose="02010600030101010101" pitchFamily="2" charset="-122"/>
              </a:rPr>
              <a:t>c</a:t>
            </a:r>
            <a:r>
              <a:rPr lang="en-US" altLang="zh-CN" err="1">
                <a:latin typeface="Times New Roman" panose="02020603050405020304" pitchFamily="18" charset="0"/>
                <a:ea typeface="宋体" panose="02010600030101010101" pitchFamily="2" charset="-122"/>
              </a:rPr>
              <a:t>(j</a:t>
            </a:r>
            <a:r>
              <a:rPr lang="en-US" altLang="zh-CN" i="1" err="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周期延拓得到的</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err="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有非零重叠，即出现频谱混叠现象。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由于进行</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的需要，必须对序列</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进行加窗处理，即</a:t>
            </a: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w</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，加窗对</a:t>
            </a:r>
            <a:r>
              <a:rPr lang="zh-CN" altLang="en-US" dirty="0">
                <a:latin typeface="Times New Roman" panose="02020603050405020304" pitchFamily="18" charset="0"/>
                <a:ea typeface="宋体" panose="02010600030101010101" pitchFamily="2" charset="-122"/>
              </a:rPr>
              <a:t>频域的影响，用卷积表示如下</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93186" name="对象 88068"/>
          <p:cNvGraphicFramePr/>
          <p:nvPr/>
        </p:nvGraphicFramePr>
        <p:xfrm>
          <a:off x="1905000" y="3352800"/>
          <a:ext cx="5410200" cy="936625"/>
        </p:xfrm>
        <a:graphic>
          <a:graphicData uri="http://schemas.openxmlformats.org/presentationml/2006/ole">
            <mc:AlternateContent xmlns:mc="http://schemas.openxmlformats.org/markup-compatibility/2006">
              <mc:Choice xmlns:v="urn:schemas-microsoft-com:vml" Requires="v">
                <p:oleObj spid="_x0000_s3153" name="" r:id="rId1" imgW="2272030" imgH="393700" progId="Equation.3">
                  <p:embed/>
                </p:oleObj>
              </mc:Choice>
              <mc:Fallback>
                <p:oleObj name="" r:id="rId1" imgW="2272030" imgH="393700" progId="Equation.3">
                  <p:embed/>
                  <p:pic>
                    <p:nvPicPr>
                      <p:cNvPr id="0" name="图片 3152"/>
                      <p:cNvPicPr/>
                      <p:nvPr/>
                    </p:nvPicPr>
                    <p:blipFill>
                      <a:blip r:embed="rId2"/>
                      <a:stretch>
                        <a:fillRect/>
                      </a:stretch>
                    </p:blipFill>
                    <p:spPr>
                      <a:xfrm>
                        <a:off x="1905000" y="3352800"/>
                        <a:ext cx="5410200" cy="936625"/>
                      </a:xfrm>
                      <a:prstGeom prst="rect">
                        <a:avLst/>
                      </a:prstGeom>
                      <a:noFill/>
                      <a:ln w="38100">
                        <a:noFill/>
                        <a:miter/>
                      </a:ln>
                    </p:spPr>
                  </p:pic>
                </p:oleObj>
              </mc:Fallback>
            </mc:AlternateContent>
          </a:graphicData>
        </a:graphic>
      </p:graphicFrame>
      <p:sp>
        <p:nvSpPr>
          <p:cNvPr id="93187" name="文本框 88069"/>
          <p:cNvSpPr txBox="1"/>
          <p:nvPr/>
        </p:nvSpPr>
        <p:spPr>
          <a:xfrm>
            <a:off x="8121650" y="3581400"/>
            <a:ext cx="1022350" cy="457200"/>
          </a:xfrm>
          <a:prstGeom prst="rect">
            <a:avLst/>
          </a:prstGeom>
          <a:noFill/>
          <a:ln w="9525">
            <a:noFill/>
          </a:ln>
        </p:spPr>
        <p:txBody>
          <a:bodyPr anchor="t">
            <a:spAutoFit/>
          </a:bodyPr>
          <a:p>
            <a:r>
              <a:rPr lang="en-US" altLang="zh-CN">
                <a:latin typeface="Times New Roman" panose="02020603050405020304" pitchFamily="18" charset="0"/>
                <a:ea typeface="宋体" panose="02010600030101010101" pitchFamily="2" charset="-122"/>
              </a:rPr>
              <a:t>(3-48) </a:t>
            </a:r>
            <a:endParaRPr lang="en-US" altLang="zh-CN">
              <a:latin typeface="Times New Roman" panose="02020603050405020304" pitchFamily="18" charset="0"/>
              <a:ea typeface="宋体" panose="02010600030101010101" pitchFamily="2" charset="-122"/>
            </a:endParaRPr>
          </a:p>
        </p:txBody>
      </p:sp>
      <p:sp>
        <p:nvSpPr>
          <p:cNvPr id="93188" name="文本框 88070"/>
          <p:cNvSpPr txBox="1"/>
          <p:nvPr/>
        </p:nvSpPr>
        <p:spPr>
          <a:xfrm>
            <a:off x="152400" y="4343400"/>
            <a:ext cx="538162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最后是进行</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 加窗后的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是 </a:t>
            </a:r>
            <a:endParaRPr lang="zh-CN" altLang="en-US">
              <a:latin typeface="Times New Roman" panose="02020603050405020304" pitchFamily="18" charset="0"/>
              <a:ea typeface="宋体" panose="02010600030101010101" pitchFamily="2" charset="-122"/>
            </a:endParaRPr>
          </a:p>
        </p:txBody>
      </p:sp>
      <p:graphicFrame>
        <p:nvGraphicFramePr>
          <p:cNvPr id="93189" name="对象 88071"/>
          <p:cNvGraphicFramePr/>
          <p:nvPr/>
        </p:nvGraphicFramePr>
        <p:xfrm>
          <a:off x="2209800" y="4724400"/>
          <a:ext cx="3505200" cy="1157288"/>
        </p:xfrm>
        <a:graphic>
          <a:graphicData uri="http://schemas.openxmlformats.org/presentationml/2006/ole">
            <mc:AlternateContent xmlns:mc="http://schemas.openxmlformats.org/markup-compatibility/2006">
              <mc:Choice xmlns:v="urn:schemas-microsoft-com:vml" Requires="v">
                <p:oleObj spid="_x0000_s3150" name="" r:id="rId3" imgW="1345565" imgH="444500" progId="Equation.3">
                  <p:embed/>
                </p:oleObj>
              </mc:Choice>
              <mc:Fallback>
                <p:oleObj name="" r:id="rId3" imgW="1345565" imgH="444500" progId="Equation.3">
                  <p:embed/>
                  <p:pic>
                    <p:nvPicPr>
                      <p:cNvPr id="0" name="图片 3149"/>
                      <p:cNvPicPr/>
                      <p:nvPr/>
                    </p:nvPicPr>
                    <p:blipFill>
                      <a:blip r:embed="rId4"/>
                      <a:stretch>
                        <a:fillRect/>
                      </a:stretch>
                    </p:blipFill>
                    <p:spPr>
                      <a:xfrm>
                        <a:off x="2209800" y="4724400"/>
                        <a:ext cx="3505200" cy="1157288"/>
                      </a:xfrm>
                      <a:prstGeom prst="rect">
                        <a:avLst/>
                      </a:prstGeom>
                      <a:noFill/>
                      <a:ln w="38100">
                        <a:noFill/>
                        <a:miter/>
                      </a:ln>
                    </p:spPr>
                  </p:pic>
                </p:oleObj>
              </mc:Fallback>
            </mc:AlternateContent>
          </a:graphicData>
        </a:graphic>
      </p:graphicFrame>
      <p:sp>
        <p:nvSpPr>
          <p:cNvPr id="93190" name="文本框 88072"/>
          <p:cNvSpPr txBox="1"/>
          <p:nvPr/>
        </p:nvSpPr>
        <p:spPr>
          <a:xfrm>
            <a:off x="6096000" y="5105400"/>
            <a:ext cx="1601788"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93191" name="文本框 88073"/>
          <p:cNvSpPr txBox="1"/>
          <p:nvPr/>
        </p:nvSpPr>
        <p:spPr>
          <a:xfrm>
            <a:off x="8121650" y="51054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(3-49) </a:t>
            </a:r>
            <a:endParaRPr lang="en-US" altLang="zh-CN">
              <a:latin typeface="Times New Roman" panose="02020603050405020304" pitchFamily="18" charset="0"/>
              <a:ea typeface="宋体" panose="02010600030101010101" pitchFamily="2" charset="-122"/>
            </a:endParaRPr>
          </a:p>
        </p:txBody>
      </p:sp>
      <p:sp>
        <p:nvSpPr>
          <p:cNvPr id="93192" name="文本框 88074"/>
          <p:cNvSpPr txBox="1"/>
          <p:nvPr/>
        </p:nvSpPr>
        <p:spPr>
          <a:xfrm>
            <a:off x="0" y="5807075"/>
            <a:ext cx="8991600" cy="822325"/>
          </a:xfrm>
          <a:prstGeom prst="rect">
            <a:avLst/>
          </a:prstGeom>
          <a:no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式中，假设窗函数长度</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小于或等于</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长度</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，为进行</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运算，这里选择</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a:t>
            </a:r>
            <a:r>
              <a:rPr lang="en-US" altLang="zh-CN">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的整数幂次即</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=2m</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文本框 91139"/>
          <p:cNvSpPr txBox="1"/>
          <p:nvPr/>
        </p:nvSpPr>
        <p:spPr>
          <a:xfrm>
            <a:off x="228600" y="533400"/>
            <a:ext cx="8686800" cy="1098550"/>
          </a:xfrm>
          <a:prstGeom prst="rect">
            <a:avLst/>
          </a:prstGeom>
          <a:noFill/>
          <a:ln w="9525">
            <a:noFill/>
          </a:ln>
        </p:spPr>
        <p:txBody>
          <a:bodyPr anchor="t">
            <a:spAutoFit/>
          </a:bodyPr>
          <a:p>
            <a:pPr>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有限长序列</a:t>
            </a: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w</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相当于</a:t>
            </a: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傅里叶变换的等间隔采样。 </a:t>
            </a:r>
            <a:endParaRPr lang="zh-CN" altLang="en-US">
              <a:latin typeface="Times New Roman" panose="02020603050405020304" pitchFamily="18" charset="0"/>
              <a:ea typeface="宋体" panose="02010600030101010101" pitchFamily="2" charset="-122"/>
            </a:endParaRPr>
          </a:p>
        </p:txBody>
      </p:sp>
      <p:graphicFrame>
        <p:nvGraphicFramePr>
          <p:cNvPr id="94210" name="对象 91140"/>
          <p:cNvGraphicFramePr/>
          <p:nvPr/>
        </p:nvGraphicFramePr>
        <p:xfrm>
          <a:off x="3048000" y="1447800"/>
          <a:ext cx="3048000" cy="889000"/>
        </p:xfrm>
        <a:graphic>
          <a:graphicData uri="http://schemas.openxmlformats.org/presentationml/2006/ole">
            <mc:AlternateContent xmlns:mc="http://schemas.openxmlformats.org/markup-compatibility/2006">
              <mc:Choice xmlns:v="urn:schemas-microsoft-com:vml" Requires="v">
                <p:oleObj spid="_x0000_s3161" name="" r:id="rId1" imgW="1217930" imgH="355600" progId="Equation.3">
                  <p:embed/>
                </p:oleObj>
              </mc:Choice>
              <mc:Fallback>
                <p:oleObj name="" r:id="rId1" imgW="1217930" imgH="355600" progId="Equation.3">
                  <p:embed/>
                  <p:pic>
                    <p:nvPicPr>
                      <p:cNvPr id="0" name="图片 3160"/>
                      <p:cNvPicPr/>
                      <p:nvPr/>
                    </p:nvPicPr>
                    <p:blipFill>
                      <a:blip r:embed="rId2"/>
                      <a:stretch>
                        <a:fillRect/>
                      </a:stretch>
                    </p:blipFill>
                    <p:spPr>
                      <a:xfrm>
                        <a:off x="3048000" y="1447800"/>
                        <a:ext cx="3048000" cy="889000"/>
                      </a:xfrm>
                      <a:prstGeom prst="rect">
                        <a:avLst/>
                      </a:prstGeom>
                      <a:noFill/>
                      <a:ln w="38100">
                        <a:noFill/>
                        <a:miter/>
                      </a:ln>
                    </p:spPr>
                  </p:pic>
                </p:oleObj>
              </mc:Fallback>
            </mc:AlternateContent>
          </a:graphicData>
        </a:graphic>
      </p:graphicFrame>
      <p:sp>
        <p:nvSpPr>
          <p:cNvPr id="94211" name="文本框 91141"/>
          <p:cNvSpPr txBox="1"/>
          <p:nvPr/>
        </p:nvSpPr>
        <p:spPr>
          <a:xfrm>
            <a:off x="7315200" y="16002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(3-50) </a:t>
            </a:r>
            <a:endParaRPr lang="en-US" altLang="zh-CN">
              <a:latin typeface="Times New Roman" panose="02020603050405020304" pitchFamily="18" charset="0"/>
              <a:ea typeface="宋体" panose="02010600030101010101" pitchFamily="2" charset="-122"/>
            </a:endParaRPr>
          </a:p>
        </p:txBody>
      </p:sp>
      <p:sp>
        <p:nvSpPr>
          <p:cNvPr id="94212" name="文本框 91142"/>
          <p:cNvSpPr txBox="1"/>
          <p:nvPr/>
        </p:nvSpPr>
        <p:spPr>
          <a:xfrm>
            <a:off x="228600" y="2286000"/>
            <a:ext cx="8686800" cy="1601788"/>
          </a:xfrm>
          <a:prstGeom prst="rect">
            <a:avLst/>
          </a:prstGeom>
          <a:noFill/>
          <a:ln w="9525">
            <a:noFill/>
          </a:ln>
        </p:spPr>
        <p:txBody>
          <a:bodyPr anchor="t">
            <a:spAutoFit/>
          </a:bodyPr>
          <a:p>
            <a:pPr algn="just">
              <a:lnSpc>
                <a:spcPct val="138000"/>
              </a:lnSpc>
              <a:spcBef>
                <a:spcPct val="50000"/>
              </a:spcBef>
            </a:pP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便是</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的离散频率函数。因为</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对应的数字域频率间隔为</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，且模拟频率</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和数字频率</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间的关系为</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ΩΤ</a:t>
            </a:r>
            <a:r>
              <a:rPr lang="zh-CN" altLang="en-US" dirty="0">
                <a:latin typeface="Times New Roman" panose="02020603050405020304" pitchFamily="18" charset="0"/>
                <a:ea typeface="宋体" panose="02010600030101010101" pitchFamily="2" charset="-122"/>
              </a:rPr>
              <a:t>， 其中</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。所以，离散的频率</a:t>
            </a:r>
            <a:r>
              <a:rPr lang="zh-CN" altLang="en-US" dirty="0">
                <a:latin typeface="Times New Roman" panose="02020603050405020304" pitchFamily="18" charset="0"/>
                <a:ea typeface="宋体" panose="02010600030101010101" pitchFamily="2" charset="-122"/>
              </a:rPr>
              <a:t>函数第</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点对应的模拟频率为</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94213" name="对象 91143"/>
          <p:cNvGraphicFramePr/>
          <p:nvPr/>
        </p:nvGraphicFramePr>
        <p:xfrm>
          <a:off x="3200400" y="3886200"/>
          <a:ext cx="2438400" cy="1035050"/>
        </p:xfrm>
        <a:graphic>
          <a:graphicData uri="http://schemas.openxmlformats.org/presentationml/2006/ole">
            <mc:AlternateContent xmlns:mc="http://schemas.openxmlformats.org/markup-compatibility/2006">
              <mc:Choice xmlns:v="urn:schemas-microsoft-com:vml" Requires="v">
                <p:oleObj spid="_x0000_s3160" name="" r:id="rId3" imgW="926465" imgH="393700" progId="Equation.3">
                  <p:embed/>
                </p:oleObj>
              </mc:Choice>
              <mc:Fallback>
                <p:oleObj name="" r:id="rId3" imgW="926465" imgH="393700" progId="Equation.3">
                  <p:embed/>
                  <p:pic>
                    <p:nvPicPr>
                      <p:cNvPr id="0" name="图片 3159"/>
                      <p:cNvPicPr/>
                      <p:nvPr/>
                    </p:nvPicPr>
                    <p:blipFill>
                      <a:blip r:embed="rId4"/>
                      <a:stretch>
                        <a:fillRect/>
                      </a:stretch>
                    </p:blipFill>
                    <p:spPr>
                      <a:xfrm>
                        <a:off x="3200400" y="3886200"/>
                        <a:ext cx="2438400" cy="1035050"/>
                      </a:xfrm>
                      <a:prstGeom prst="rect">
                        <a:avLst/>
                      </a:prstGeom>
                      <a:noFill/>
                      <a:ln w="38100">
                        <a:noFill/>
                        <a:miter/>
                      </a:ln>
                    </p:spPr>
                  </p:pic>
                </p:oleObj>
              </mc:Fallback>
            </mc:AlternateContent>
          </a:graphicData>
        </a:graphic>
      </p:graphicFrame>
      <p:sp>
        <p:nvSpPr>
          <p:cNvPr id="94214" name="文本框 91144"/>
          <p:cNvSpPr txBox="1"/>
          <p:nvPr/>
        </p:nvSpPr>
        <p:spPr>
          <a:xfrm>
            <a:off x="7315200" y="42672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(3-51) </a:t>
            </a:r>
            <a:endParaRPr lang="en-US" altLang="zh-CN">
              <a:latin typeface="Times New Roman" panose="02020603050405020304" pitchFamily="18" charset="0"/>
              <a:ea typeface="宋体" panose="02010600030101010101" pitchFamily="2" charset="-122"/>
            </a:endParaRPr>
          </a:p>
        </p:txBody>
      </p:sp>
      <p:graphicFrame>
        <p:nvGraphicFramePr>
          <p:cNvPr id="94215" name="对象 91145"/>
          <p:cNvGraphicFramePr/>
          <p:nvPr/>
        </p:nvGraphicFramePr>
        <p:xfrm>
          <a:off x="3276600" y="5181600"/>
          <a:ext cx="1524000" cy="1027113"/>
        </p:xfrm>
        <a:graphic>
          <a:graphicData uri="http://schemas.openxmlformats.org/presentationml/2006/ole">
            <mc:AlternateContent xmlns:mc="http://schemas.openxmlformats.org/markup-compatibility/2006">
              <mc:Choice xmlns:v="urn:schemas-microsoft-com:vml" Requires="v">
                <p:oleObj spid="_x0000_s3159" name="" r:id="rId5" imgW="584200" imgH="393700" progId="Equation.3">
                  <p:embed/>
                </p:oleObj>
              </mc:Choice>
              <mc:Fallback>
                <p:oleObj name="" r:id="rId5" imgW="584200" imgH="393700" progId="Equation.3">
                  <p:embed/>
                  <p:pic>
                    <p:nvPicPr>
                      <p:cNvPr id="0" name="图片 3158"/>
                      <p:cNvPicPr/>
                      <p:nvPr/>
                    </p:nvPicPr>
                    <p:blipFill>
                      <a:blip r:embed="rId6"/>
                      <a:stretch>
                        <a:fillRect/>
                      </a:stretch>
                    </p:blipFill>
                    <p:spPr>
                      <a:xfrm>
                        <a:off x="3276600" y="5181600"/>
                        <a:ext cx="1524000" cy="1027113"/>
                      </a:xfrm>
                      <a:prstGeom prst="rect">
                        <a:avLst/>
                      </a:prstGeom>
                      <a:noFill/>
                      <a:ln w="38100">
                        <a:noFill/>
                        <a:miter/>
                      </a:ln>
                    </p:spPr>
                  </p:pic>
                </p:oleObj>
              </mc:Fallback>
            </mc:AlternateContent>
          </a:graphicData>
        </a:graphic>
      </p:graphicFrame>
      <p:sp>
        <p:nvSpPr>
          <p:cNvPr id="94216" name="文本框 91146"/>
          <p:cNvSpPr txBox="1"/>
          <p:nvPr/>
        </p:nvSpPr>
        <p:spPr>
          <a:xfrm>
            <a:off x="7391400" y="55626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(3-52)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文本框 90115"/>
          <p:cNvSpPr txBox="1"/>
          <p:nvPr/>
        </p:nvSpPr>
        <p:spPr>
          <a:xfrm>
            <a:off x="228600" y="533400"/>
            <a:ext cx="87630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3-52</a:t>
            </a:r>
            <a:r>
              <a:rPr lang="zh-CN" altLang="en-US" dirty="0">
                <a:latin typeface="Times New Roman" panose="02020603050405020304" pitchFamily="18" charset="0"/>
                <a:ea typeface="宋体" panose="02010600030101010101" pitchFamily="2" charset="-122"/>
              </a:rPr>
              <a:t>）很明显可看出，数字域频率间隔</a:t>
            </a:r>
            <a:r>
              <a:rPr lang="en-US" altLang="zh-CN">
                <a:latin typeface="Times New Roman" panose="02020603050405020304" pitchFamily="18" charset="0"/>
                <a:ea typeface="宋体" panose="02010600030101010101" pitchFamily="2" charset="-122"/>
              </a:rPr>
              <a:t>Δ</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对应的模拟域谱</a:t>
            </a:r>
            <a:r>
              <a:rPr lang="zh-CN" altLang="en-US" dirty="0">
                <a:latin typeface="Times New Roman" panose="02020603050405020304" pitchFamily="18" charset="0"/>
                <a:ea typeface="宋体" panose="02010600030101010101" pitchFamily="2" charset="-122"/>
              </a:rPr>
              <a:t>线间距为 </a:t>
            </a:r>
            <a:endParaRPr lang="zh-CN" altLang="en-US">
              <a:latin typeface="Times New Roman" panose="02020603050405020304" pitchFamily="18" charset="0"/>
              <a:ea typeface="宋体" panose="02010600030101010101" pitchFamily="2" charset="-122"/>
            </a:endParaRPr>
          </a:p>
        </p:txBody>
      </p:sp>
      <p:graphicFrame>
        <p:nvGraphicFramePr>
          <p:cNvPr id="95234" name="对象 90116"/>
          <p:cNvGraphicFramePr/>
          <p:nvPr/>
        </p:nvGraphicFramePr>
        <p:xfrm>
          <a:off x="3200400" y="1828800"/>
          <a:ext cx="2057400" cy="925513"/>
        </p:xfrm>
        <a:graphic>
          <a:graphicData uri="http://schemas.openxmlformats.org/presentationml/2006/ole">
            <mc:AlternateContent xmlns:mc="http://schemas.openxmlformats.org/markup-compatibility/2006">
              <mc:Choice xmlns:v="urn:schemas-microsoft-com:vml" Requires="v">
                <p:oleObj spid="_x0000_s3162" name="" r:id="rId1" imgW="875665" imgH="393700" progId="Equation.3">
                  <p:embed/>
                </p:oleObj>
              </mc:Choice>
              <mc:Fallback>
                <p:oleObj name="" r:id="rId1" imgW="875665" imgH="393700" progId="Equation.3">
                  <p:embed/>
                  <p:pic>
                    <p:nvPicPr>
                      <p:cNvPr id="0" name="图片 3161"/>
                      <p:cNvPicPr/>
                      <p:nvPr/>
                    </p:nvPicPr>
                    <p:blipFill>
                      <a:blip r:embed="rId2"/>
                      <a:stretch>
                        <a:fillRect/>
                      </a:stretch>
                    </p:blipFill>
                    <p:spPr>
                      <a:xfrm>
                        <a:off x="3200400" y="1828800"/>
                        <a:ext cx="2057400" cy="925513"/>
                      </a:xfrm>
                      <a:prstGeom prst="rect">
                        <a:avLst/>
                      </a:prstGeom>
                      <a:noFill/>
                      <a:ln w="38100">
                        <a:noFill/>
                        <a:miter/>
                      </a:ln>
                    </p:spPr>
                  </p:pic>
                </p:oleObj>
              </mc:Fallback>
            </mc:AlternateContent>
          </a:graphicData>
        </a:graphic>
      </p:graphicFrame>
      <p:sp>
        <p:nvSpPr>
          <p:cNvPr id="95235" name="文本框 90117"/>
          <p:cNvSpPr txBox="1"/>
          <p:nvPr/>
        </p:nvSpPr>
        <p:spPr>
          <a:xfrm>
            <a:off x="7239000" y="20574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(3-53) </a:t>
            </a:r>
            <a:endParaRPr lang="en-US" altLang="zh-CN">
              <a:latin typeface="Times New Roman" panose="02020603050405020304" pitchFamily="18" charset="0"/>
              <a:ea typeface="宋体" panose="02010600030101010101" pitchFamily="2" charset="-122"/>
            </a:endParaRPr>
          </a:p>
        </p:txBody>
      </p:sp>
      <p:sp>
        <p:nvSpPr>
          <p:cNvPr id="95236" name="文本框 90118"/>
          <p:cNvSpPr txBox="1"/>
          <p:nvPr/>
        </p:nvSpPr>
        <p:spPr>
          <a:xfrm>
            <a:off x="304800" y="3171825"/>
            <a:ext cx="8610600" cy="254317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谱线间距，又称频谱分辨率（单位：</a:t>
            </a:r>
            <a:r>
              <a:rPr lang="en-US" altLang="zh-CN" dirty="0">
                <a:latin typeface="Times New Roman" panose="02020603050405020304" pitchFamily="18" charset="0"/>
                <a:ea typeface="宋体" panose="02010600030101010101" pitchFamily="2" charset="-122"/>
              </a:rPr>
              <a:t>Hz</a:t>
            </a:r>
            <a:r>
              <a:rPr lang="zh-CN" altLang="en-US" dirty="0">
                <a:latin typeface="Times New Roman" panose="02020603050405020304" pitchFamily="18" charset="0"/>
                <a:ea typeface="宋体" panose="02010600030101010101" pitchFamily="2" charset="-122"/>
              </a:rPr>
              <a:t>）。所谓频谱分辨率是指可分辨两频率的最小间距。它的意思是，如设某频谱分析的</a:t>
            </a:r>
            <a:r>
              <a:rPr lang="en-US" altLang="zh-CN" i="1">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=5Hz</a:t>
            </a:r>
            <a:r>
              <a:rPr lang="zh-CN" altLang="en-US" dirty="0">
                <a:latin typeface="Times New Roman" panose="02020603050405020304" pitchFamily="18" charset="0"/>
                <a:ea typeface="宋体" panose="02010600030101010101" pitchFamily="2" charset="-122"/>
              </a:rPr>
              <a:t>，那么信号中频率相差小于</a:t>
            </a:r>
            <a:r>
              <a:rPr lang="en-US" altLang="zh-CN" dirty="0">
                <a:latin typeface="Times New Roman" panose="02020603050405020304" pitchFamily="18" charset="0"/>
                <a:ea typeface="宋体" panose="02010600030101010101" pitchFamily="2" charset="-122"/>
              </a:rPr>
              <a:t>5 Hz</a:t>
            </a:r>
            <a:r>
              <a:rPr lang="zh-CN" altLang="en-US" dirty="0">
                <a:latin typeface="Times New Roman" panose="02020603050405020304" pitchFamily="18" charset="0"/>
                <a:ea typeface="宋体" panose="02010600030101010101" pitchFamily="2" charset="-122"/>
              </a:rPr>
              <a:t>的两个频</a:t>
            </a:r>
            <a:r>
              <a:rPr lang="zh-CN" altLang="en-US" dirty="0">
                <a:latin typeface="Times New Roman" panose="02020603050405020304" pitchFamily="18" charset="0"/>
                <a:ea typeface="宋体" panose="02010600030101010101" pitchFamily="2" charset="-122"/>
              </a:rPr>
              <a:t>率分量在此频谱图中就分辨不出来。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框 93187"/>
          <p:cNvSpPr txBox="1"/>
          <p:nvPr/>
        </p:nvSpPr>
        <p:spPr>
          <a:xfrm>
            <a:off x="228600" y="762000"/>
            <a:ext cx="8686800" cy="443230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长度</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的时间信号</a:t>
            </a: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)=(1.1)</a:t>
            </a:r>
            <a:r>
              <a:rPr lang="en-US" altLang="zh-CN" i="1" baseline="30000">
                <a:latin typeface="Times New Roman" panose="02020603050405020304" pitchFamily="18" charset="0"/>
                <a:ea typeface="宋体" panose="02010600030101010101" pitchFamily="2" charset="-122"/>
              </a:rPr>
              <a:t>n</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16</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的图形如图 </a:t>
            </a:r>
            <a:r>
              <a:rPr lang="en-US" altLang="zh-CN">
                <a:latin typeface="Times New Roman" panose="02020603050405020304" pitchFamily="18" charset="0"/>
                <a:ea typeface="宋体" panose="02010600030101010101" pitchFamily="2" charset="-122"/>
              </a:rPr>
              <a:t>3-22(</a:t>
            </a:r>
            <a:r>
              <a:rPr lang="en-US" altLang="zh-CN" i="1">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点的</a:t>
            </a:r>
            <a:r>
              <a:rPr lang="en-US" altLang="zh-CN">
                <a:latin typeface="Times New Roman" panose="02020603050405020304" pitchFamily="18" charset="0"/>
                <a:ea typeface="宋体" panose="02010600030101010101" pitchFamily="2" charset="-122"/>
              </a:rPr>
              <a:t>DFT  </a:t>
            </a: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的示例如图 </a:t>
            </a:r>
            <a:r>
              <a:rPr lang="en-US" altLang="zh-CN">
                <a:latin typeface="Times New Roman" panose="02020603050405020304" pitchFamily="18" charset="0"/>
                <a:ea typeface="宋体" panose="02010600030101010101" pitchFamily="2" charset="-122"/>
              </a:rPr>
              <a:t>3 - 22(</a:t>
            </a:r>
            <a:r>
              <a:rPr lang="en-US" altLang="zh-CN" i="1">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 其中</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为采样时间间隔（单位：</a:t>
            </a:r>
            <a:r>
              <a:rPr lang="en-US" altLang="zh-CN">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为采样频率（单位：</a:t>
            </a:r>
            <a:r>
              <a:rPr lang="en-US" altLang="zh-CN">
                <a:latin typeface="Times New Roman" panose="02020603050405020304" pitchFamily="18" charset="0"/>
                <a:ea typeface="宋体" panose="02010600030101010101" pitchFamily="2" charset="-122"/>
              </a:rPr>
              <a:t>Hz</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为截取连续时间信号的样本长度（又称记录长度，单位：</a:t>
            </a:r>
            <a:r>
              <a:rPr lang="en-US" altLang="zh-CN">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为谱线间距，又称频谱分辨率（单位：</a:t>
            </a:r>
            <a:r>
              <a:rPr lang="en-US" altLang="zh-CN" dirty="0">
                <a:latin typeface="Times New Roman" panose="02020603050405020304" pitchFamily="18" charset="0"/>
                <a:ea typeface="宋体" panose="02010600030101010101" pitchFamily="2" charset="-122"/>
              </a:rPr>
              <a:t>Hz</a:t>
            </a:r>
            <a:r>
              <a:rPr lang="zh-CN" altLang="en-US" dirty="0">
                <a:latin typeface="Times New Roman" panose="02020603050405020304" pitchFamily="18" charset="0"/>
                <a:ea typeface="宋体" panose="02010600030101010101" pitchFamily="2" charset="-122"/>
              </a:rPr>
              <a:t>）。 注意：</a:t>
            </a:r>
            <a:r>
              <a:rPr lang="en-US" altLang="zh-CN" i="1">
                <a:latin typeface="Times New Roman" panose="02020603050405020304" pitchFamily="18" charset="0"/>
                <a:ea typeface="宋体" panose="02010600030101010101" pitchFamily="2" charset="-122"/>
              </a:rPr>
              <a:t>V</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示例图给出的频率间距</a:t>
            </a:r>
            <a:r>
              <a:rPr lang="en-US" altLang="zh-CN" i="1">
                <a:latin typeface="Times New Roman" panose="02020603050405020304" pitchFamily="18" charset="0"/>
                <a:ea typeface="宋体" panose="02010600030101010101" pitchFamily="2" charset="-122"/>
              </a:rPr>
              <a:t>F</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个频率点之间的频率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为对应的模拟域频率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单位： </a:t>
            </a:r>
            <a:r>
              <a:rPr lang="en-US" altLang="zh-CN">
                <a:latin typeface="Times New Roman" panose="02020603050405020304" pitchFamily="18" charset="0"/>
                <a:ea typeface="宋体" panose="02010600030101010101" pitchFamily="2" charset="-122"/>
              </a:rPr>
              <a:t>Hz)</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文本框 92165"/>
          <p:cNvSpPr txBox="1"/>
          <p:nvPr/>
        </p:nvSpPr>
        <p:spPr>
          <a:xfrm>
            <a:off x="1403350" y="5876925"/>
            <a:ext cx="7543165"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a:latin typeface="Times New Roman" panose="02020603050405020304" pitchFamily="18" charset="0"/>
                <a:ea typeface="宋体" panose="02010600030101010101" pitchFamily="2" charset="-122"/>
              </a:rPr>
              <a:t>3-22  </a:t>
            </a:r>
            <a:r>
              <a:rPr lang="en-US" altLang="zh-CN" i="1" err="1">
                <a:latin typeface="Times New Roman" panose="02020603050405020304" pitchFamily="18" charset="0"/>
                <a:ea typeface="宋体" panose="02010600030101010101" pitchFamily="2" charset="-122"/>
              </a:rPr>
              <a:t>v</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)=(1.1)</a:t>
            </a:r>
            <a:r>
              <a:rPr lang="en-US" altLang="zh-CN" i="1" baseline="30000">
                <a:latin typeface="Times New Roman" panose="02020603050405020304" pitchFamily="18" charset="0"/>
                <a:ea typeface="宋体" panose="02010600030101010101" pitchFamily="2" charset="-122"/>
              </a:rPr>
              <a:t>n</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16</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及其离散傅里叶变换</a:t>
            </a:r>
            <a:r>
              <a:rPr lang="en-US" altLang="zh-CN" i="1">
                <a:latin typeface="Times New Roman" panose="02020603050405020304" pitchFamily="18" charset="0"/>
                <a:ea typeface="宋体" panose="02010600030101010101" pitchFamily="2" charset="-122"/>
              </a:rPr>
              <a:t>V(k)</a:t>
            </a:r>
            <a:r>
              <a:rPr lang="zh-CN" altLang="en-US" dirty="0">
                <a:latin typeface="Times New Roman" panose="02020603050405020304" pitchFamily="18" charset="0"/>
                <a:ea typeface="宋体" panose="02010600030101010101" pitchFamily="2" charset="-122"/>
              </a:rPr>
              <a:t>示例图 </a:t>
            </a:r>
            <a:endParaRPr lang="zh-CN" altLang="en-US" dirty="0">
              <a:latin typeface="Times New Roman" panose="02020603050405020304" pitchFamily="18" charset="0"/>
              <a:ea typeface="宋体" panose="02010600030101010101" pitchFamily="2" charset="-122"/>
            </a:endParaRPr>
          </a:p>
        </p:txBody>
      </p:sp>
      <p:pic>
        <p:nvPicPr>
          <p:cNvPr id="97282" name="图片 92167" descr="3-22"/>
          <p:cNvPicPr>
            <a:picLocks noChangeAspect="1"/>
          </p:cNvPicPr>
          <p:nvPr/>
        </p:nvPicPr>
        <p:blipFill>
          <a:blip r:embed="rId1"/>
          <a:stretch>
            <a:fillRect/>
          </a:stretch>
        </p:blipFill>
        <p:spPr>
          <a:xfrm>
            <a:off x="2195513" y="549275"/>
            <a:ext cx="4770437" cy="5111750"/>
          </a:xfrm>
          <a:prstGeom prst="rect">
            <a:avLst/>
          </a:prstGeom>
          <a:noFill/>
          <a:ln w="9525">
            <a:noFill/>
          </a:ln>
        </p:spPr>
      </p:pic>
    </p:spTree>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文本框 95235"/>
          <p:cNvSpPr txBox="1"/>
          <p:nvPr/>
        </p:nvSpPr>
        <p:spPr>
          <a:xfrm>
            <a:off x="457200" y="609600"/>
            <a:ext cx="17716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由图可知： </a:t>
            </a:r>
            <a:endParaRPr lang="zh-CN" altLang="en-US">
              <a:latin typeface="Times New Roman" panose="02020603050405020304" pitchFamily="18" charset="0"/>
              <a:ea typeface="宋体" panose="02010600030101010101" pitchFamily="2" charset="-122"/>
            </a:endParaRPr>
          </a:p>
        </p:txBody>
      </p:sp>
      <p:graphicFrame>
        <p:nvGraphicFramePr>
          <p:cNvPr id="98306" name="对象 95236"/>
          <p:cNvGraphicFramePr/>
          <p:nvPr/>
        </p:nvGraphicFramePr>
        <p:xfrm>
          <a:off x="2819400" y="838200"/>
          <a:ext cx="2819400" cy="1900238"/>
        </p:xfrm>
        <a:graphic>
          <a:graphicData uri="http://schemas.openxmlformats.org/presentationml/2006/ole">
            <mc:AlternateContent xmlns:mc="http://schemas.openxmlformats.org/markup-compatibility/2006">
              <mc:Choice xmlns:v="urn:schemas-microsoft-com:vml" Requires="v">
                <p:oleObj spid="_x0000_s3158" name="" r:id="rId1" imgW="1168400" imgH="787400" progId="Equation.3">
                  <p:embed/>
                </p:oleObj>
              </mc:Choice>
              <mc:Fallback>
                <p:oleObj name="" r:id="rId1" imgW="1168400" imgH="787400" progId="Equation.3">
                  <p:embed/>
                  <p:pic>
                    <p:nvPicPr>
                      <p:cNvPr id="0" name="图片 3157"/>
                      <p:cNvPicPr/>
                      <p:nvPr/>
                    </p:nvPicPr>
                    <p:blipFill>
                      <a:blip r:embed="rId2"/>
                      <a:stretch>
                        <a:fillRect/>
                      </a:stretch>
                    </p:blipFill>
                    <p:spPr>
                      <a:xfrm>
                        <a:off x="2819400" y="838200"/>
                        <a:ext cx="2819400" cy="1900238"/>
                      </a:xfrm>
                      <a:prstGeom prst="rect">
                        <a:avLst/>
                      </a:prstGeom>
                      <a:noFill/>
                      <a:ln w="38100">
                        <a:noFill/>
                        <a:miter/>
                      </a:ln>
                    </p:spPr>
                  </p:pic>
                </p:oleObj>
              </mc:Fallback>
            </mc:AlternateContent>
          </a:graphicData>
        </a:graphic>
      </p:graphicFrame>
      <p:sp>
        <p:nvSpPr>
          <p:cNvPr id="98307" name="文本框 95237"/>
          <p:cNvSpPr txBox="1"/>
          <p:nvPr/>
        </p:nvSpPr>
        <p:spPr>
          <a:xfrm>
            <a:off x="7010400" y="9144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(3-54) </a:t>
            </a:r>
            <a:endParaRPr lang="en-US" altLang="zh-CN">
              <a:latin typeface="Times New Roman" panose="02020603050405020304" pitchFamily="18" charset="0"/>
              <a:ea typeface="宋体" panose="02010600030101010101" pitchFamily="2" charset="-122"/>
            </a:endParaRPr>
          </a:p>
        </p:txBody>
      </p:sp>
      <p:sp>
        <p:nvSpPr>
          <p:cNvPr id="98308" name="文本框 95238"/>
          <p:cNvSpPr txBox="1"/>
          <p:nvPr/>
        </p:nvSpPr>
        <p:spPr>
          <a:xfrm>
            <a:off x="7086600" y="19812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(3-55) </a:t>
            </a:r>
            <a:endParaRPr lang="en-US" altLang="zh-CN">
              <a:latin typeface="Times New Roman" panose="02020603050405020304" pitchFamily="18" charset="0"/>
              <a:ea typeface="宋体" panose="02010600030101010101" pitchFamily="2" charset="-122"/>
            </a:endParaRPr>
          </a:p>
        </p:txBody>
      </p:sp>
      <p:sp>
        <p:nvSpPr>
          <p:cNvPr id="98309" name="文本框 95239"/>
          <p:cNvSpPr txBox="1"/>
          <p:nvPr/>
        </p:nvSpPr>
        <p:spPr>
          <a:xfrm>
            <a:off x="0" y="2590800"/>
            <a:ext cx="8915400" cy="28209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在实际应用中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要根据信号最高频率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和频谱分辨率</a:t>
            </a:r>
            <a:r>
              <a:rPr lang="en-US" altLang="zh-CN" i="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的要求， 来确定</a:t>
            </a:r>
            <a:r>
              <a:rPr lang="en-US" altLang="zh-CN" i="1">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的大小。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）首先，由采样定理，为保证采样信号不失真，</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为信号频率的最高频率分量，也就是前置低通滤波器阻带的截止频率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即应</a:t>
            </a:r>
            <a:r>
              <a:rPr lang="zh-CN" altLang="en-US" dirty="0">
                <a:latin typeface="Times New Roman" panose="02020603050405020304" pitchFamily="18" charset="0"/>
                <a:ea typeface="宋体" panose="02010600030101010101" pitchFamily="2" charset="-122"/>
              </a:rPr>
              <a:t>使采样周期</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满足 </a:t>
            </a:r>
            <a:endParaRPr lang="zh-CN" altLang="en-US">
              <a:latin typeface="Times New Roman" panose="02020603050405020304" pitchFamily="18" charset="0"/>
              <a:ea typeface="宋体" panose="02010600030101010101" pitchFamily="2" charset="-122"/>
            </a:endParaRPr>
          </a:p>
        </p:txBody>
      </p:sp>
      <p:graphicFrame>
        <p:nvGraphicFramePr>
          <p:cNvPr id="98310" name="对象 95240"/>
          <p:cNvGraphicFramePr/>
          <p:nvPr/>
        </p:nvGraphicFramePr>
        <p:xfrm>
          <a:off x="3962400" y="5029200"/>
          <a:ext cx="1600200" cy="1265238"/>
        </p:xfrm>
        <a:graphic>
          <a:graphicData uri="http://schemas.openxmlformats.org/presentationml/2006/ole">
            <mc:AlternateContent xmlns:mc="http://schemas.openxmlformats.org/markup-compatibility/2006">
              <mc:Choice xmlns:v="urn:schemas-microsoft-com:vml" Requires="v">
                <p:oleObj spid="_x0000_s3168" name="" r:id="rId3" imgW="546100" imgH="431800" progId="Equation.3">
                  <p:embed/>
                </p:oleObj>
              </mc:Choice>
              <mc:Fallback>
                <p:oleObj name="" r:id="rId3" imgW="546100" imgH="431800" progId="Equation.3">
                  <p:embed/>
                  <p:pic>
                    <p:nvPicPr>
                      <p:cNvPr id="0" name="图片 3167"/>
                      <p:cNvPicPr/>
                      <p:nvPr/>
                    </p:nvPicPr>
                    <p:blipFill>
                      <a:blip r:embed="rId4"/>
                      <a:stretch>
                        <a:fillRect/>
                      </a:stretch>
                    </p:blipFill>
                    <p:spPr>
                      <a:xfrm>
                        <a:off x="3962400" y="5029200"/>
                        <a:ext cx="1600200" cy="1265238"/>
                      </a:xfrm>
                      <a:prstGeom prst="rect">
                        <a:avLst/>
                      </a:prstGeom>
                      <a:noFill/>
                      <a:ln w="38100">
                        <a:noFill/>
                        <a:miter/>
                      </a:ln>
                    </p:spPr>
                  </p:pic>
                </p:oleObj>
              </mc:Fallback>
            </mc:AlternateContent>
          </a:graphicData>
        </a:graphic>
      </p:graphicFrame>
      <p:sp>
        <p:nvSpPr>
          <p:cNvPr id="98311" name="文本框 95241"/>
          <p:cNvSpPr txBox="1"/>
          <p:nvPr/>
        </p:nvSpPr>
        <p:spPr>
          <a:xfrm>
            <a:off x="7543800" y="54102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(3-56)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文本框 94211"/>
          <p:cNvSpPr txBox="1"/>
          <p:nvPr/>
        </p:nvSpPr>
        <p:spPr>
          <a:xfrm>
            <a:off x="609600" y="838200"/>
            <a:ext cx="44577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由频谱分辨率</a:t>
            </a:r>
            <a:r>
              <a:rPr lang="en-US" altLang="zh-CN" i="1">
                <a:latin typeface="Times New Roman" panose="02020603050405020304" pitchFamily="18" charset="0"/>
                <a:ea typeface="宋体" panose="02010600030101010101" pitchFamily="2" charset="-122"/>
              </a:rPr>
              <a:t>F</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确定</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99330" name="对象 94212"/>
          <p:cNvGraphicFramePr/>
          <p:nvPr/>
        </p:nvGraphicFramePr>
        <p:xfrm>
          <a:off x="3429000" y="1600200"/>
          <a:ext cx="2209800" cy="1062038"/>
        </p:xfrm>
        <a:graphic>
          <a:graphicData uri="http://schemas.openxmlformats.org/presentationml/2006/ole">
            <mc:AlternateContent xmlns:mc="http://schemas.openxmlformats.org/markup-compatibility/2006">
              <mc:Choice xmlns:v="urn:schemas-microsoft-com:vml" Requires="v">
                <p:oleObj spid="_x0000_s3163" name="" r:id="rId1" imgW="875665" imgH="393700" progId="Equation.3">
                  <p:embed/>
                </p:oleObj>
              </mc:Choice>
              <mc:Fallback>
                <p:oleObj name="" r:id="rId1" imgW="875665" imgH="393700" progId="Equation.3">
                  <p:embed/>
                  <p:pic>
                    <p:nvPicPr>
                      <p:cNvPr id="0" name="图片 3162"/>
                      <p:cNvPicPr/>
                      <p:nvPr/>
                    </p:nvPicPr>
                    <p:blipFill>
                      <a:blip r:embed="rId2"/>
                      <a:stretch>
                        <a:fillRect/>
                      </a:stretch>
                    </p:blipFill>
                    <p:spPr>
                      <a:xfrm>
                        <a:off x="3429000" y="1600200"/>
                        <a:ext cx="2209800" cy="1062038"/>
                      </a:xfrm>
                      <a:prstGeom prst="rect">
                        <a:avLst/>
                      </a:prstGeom>
                      <a:noFill/>
                      <a:ln w="38100">
                        <a:noFill/>
                        <a:miter/>
                      </a:ln>
                    </p:spPr>
                  </p:pic>
                </p:oleObj>
              </mc:Fallback>
            </mc:AlternateContent>
          </a:graphicData>
        </a:graphic>
      </p:graphicFrame>
      <p:sp>
        <p:nvSpPr>
          <p:cNvPr id="99331" name="文本框 94213"/>
          <p:cNvSpPr txBox="1"/>
          <p:nvPr/>
        </p:nvSpPr>
        <p:spPr>
          <a:xfrm>
            <a:off x="7467600" y="19812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(3-57) </a:t>
            </a:r>
            <a:endParaRPr lang="en-US" altLang="zh-CN">
              <a:latin typeface="Times New Roman" panose="02020603050405020304" pitchFamily="18" charset="0"/>
              <a:ea typeface="宋体" panose="02010600030101010101" pitchFamily="2" charset="-122"/>
            </a:endParaRPr>
          </a:p>
        </p:txBody>
      </p:sp>
      <p:sp>
        <p:nvSpPr>
          <p:cNvPr id="99332" name="文本框 94214"/>
          <p:cNvSpPr txBox="1"/>
          <p:nvPr/>
        </p:nvSpPr>
        <p:spPr>
          <a:xfrm>
            <a:off x="0" y="2895600"/>
            <a:ext cx="8839200" cy="131762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为了使用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运算，这里选择</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的幂次即</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(3-55)</a:t>
            </a:r>
            <a:r>
              <a:rPr lang="zh-CN" altLang="en-US" dirty="0">
                <a:latin typeface="Times New Roman" panose="02020603050405020304" pitchFamily="18" charset="0"/>
                <a:ea typeface="宋体" panose="02010600030101010101" pitchFamily="2" charset="-122"/>
              </a:rPr>
              <a:t>可知</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大，分辨率好，但会增加样本记录时间</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99333" name="文本框 94215"/>
          <p:cNvSpPr txBox="1"/>
          <p:nvPr/>
        </p:nvSpPr>
        <p:spPr>
          <a:xfrm>
            <a:off x="457200" y="4876800"/>
            <a:ext cx="629126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 最后由</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确定最小记录长度，</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421380" y="2924810"/>
            <a:ext cx="2814320" cy="460375"/>
          </a:xfrm>
          <a:prstGeom prst="rect">
            <a:avLst/>
          </a:prstGeom>
          <a:noFill/>
        </p:spPr>
        <p:txBody>
          <a:bodyPr wrap="square" rtlCol="0" anchor="t">
            <a:spAutoFit/>
          </a:bodyPr>
          <a:p>
            <a:r>
              <a:rPr lang="zh-CN" altLang="en-US" b="1" dirty="0">
                <a:solidFill>
                  <a:srgbClr val="FF0000"/>
                </a:solidFill>
                <a:sym typeface="+mn-ea"/>
              </a:rPr>
              <a:t>后面内容不讲授</a:t>
            </a:r>
            <a:endParaRPr lang="zh-CN" altLang="en-US" b="1" dirty="0">
              <a:solidFill>
                <a:srgbClr val="FF0000"/>
              </a:solidFill>
              <a:sym typeface="+mn-ea"/>
            </a:endParaRPr>
          </a:p>
        </p:txBody>
      </p:sp>
    </p:spTree>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文本框 96259"/>
          <p:cNvSpPr txBox="1"/>
          <p:nvPr/>
        </p:nvSpPr>
        <p:spPr>
          <a:xfrm>
            <a:off x="369888" y="692150"/>
            <a:ext cx="8523287" cy="490283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3-3]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有一频谱分析用的</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处理器，其采样点数必须是</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的整数幂， 假定没有采用任何特殊的数据处理措施，已给条件为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① </a:t>
            </a:r>
            <a:r>
              <a:rPr lang="zh-CN" altLang="en-US" dirty="0">
                <a:latin typeface="Times New Roman" panose="02020603050405020304" pitchFamily="18" charset="0"/>
                <a:ea typeface="宋体" panose="02010600030101010101" pitchFamily="2" charset="-122"/>
              </a:rPr>
              <a:t>频率分辨率</a:t>
            </a:r>
            <a:r>
              <a:rPr lang="en-US" altLang="zh-CN" dirty="0">
                <a:latin typeface="Times New Roman" panose="02020603050405020304" pitchFamily="18" charset="0"/>
                <a:ea typeface="宋体" panose="02010600030101010101" pitchFamily="2" charset="-122"/>
              </a:rPr>
              <a:t>≤10 Hz;</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信号最高频率</a:t>
            </a:r>
            <a:r>
              <a:rPr lang="en-US" altLang="zh-CN" dirty="0">
                <a:latin typeface="Times New Roman" panose="02020603050405020304" pitchFamily="18" charset="0"/>
                <a:ea typeface="宋体" panose="02010600030101010101" pitchFamily="2" charset="-122"/>
              </a:rPr>
              <a:t>≤4kHz</a:t>
            </a:r>
            <a:r>
              <a:rPr lang="zh-CN" altLang="en-US" dirty="0">
                <a:latin typeface="Times New Roman" panose="02020603050405020304" pitchFamily="18" charset="0"/>
                <a:ea typeface="宋体" panose="02010600030101010101" pitchFamily="2" charset="-122"/>
              </a:rPr>
              <a:t>。试确定以下参量：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最小记录长度</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最大采样间隔</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（即最小采样频率）；</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在一个记录中的最少点数</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文本框 98307"/>
          <p:cNvSpPr txBox="1"/>
          <p:nvPr/>
        </p:nvSpPr>
        <p:spPr>
          <a:xfrm>
            <a:off x="838200" y="498475"/>
            <a:ext cx="4760913" cy="1568450"/>
          </a:xfrm>
          <a:prstGeom prst="rect">
            <a:avLst/>
          </a:prstGeom>
          <a:noFill/>
          <a:ln w="9525">
            <a:noFill/>
          </a:ln>
        </p:spPr>
        <p:txBody>
          <a:bodyPr wrap="none" anchor="t">
            <a:spAutoFit/>
          </a:bodyPr>
          <a:p>
            <a:pPr>
              <a:lnSpc>
                <a:spcPct val="200000"/>
              </a:lnSpc>
            </a:pPr>
            <a:r>
              <a:rPr lang="zh-CN" altLang="en-US" b="1">
                <a:latin typeface="Times New Roman" panose="02020603050405020304" pitchFamily="18" charset="0"/>
                <a:ea typeface="宋体" panose="02010600030101010101" pitchFamily="2" charset="-122"/>
              </a:rPr>
              <a:t>解</a:t>
            </a:r>
            <a:endParaRPr lang="zh-CN" altLang="en-US" b="1">
              <a:latin typeface="Times New Roman" panose="02020603050405020304" pitchFamily="18" charset="0"/>
              <a:ea typeface="宋体" panose="02010600030101010101" pitchFamily="2" charset="-122"/>
            </a:endParaRPr>
          </a:p>
          <a:p>
            <a:pPr>
              <a:lnSpc>
                <a:spcPct val="200000"/>
              </a:lnSpc>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由分辨率的要求确定最小长度</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endParaRPr lang="zh-CN" altLang="en-US">
              <a:latin typeface="Times New Roman" panose="02020603050405020304" pitchFamily="18" charset="0"/>
              <a:ea typeface="宋体" panose="02010600030101010101" pitchFamily="2" charset="-122"/>
            </a:endParaRPr>
          </a:p>
        </p:txBody>
      </p:sp>
      <p:graphicFrame>
        <p:nvGraphicFramePr>
          <p:cNvPr id="101378" name="对象 98308"/>
          <p:cNvGraphicFramePr/>
          <p:nvPr/>
        </p:nvGraphicFramePr>
        <p:xfrm>
          <a:off x="3657600" y="2133600"/>
          <a:ext cx="2209800" cy="950913"/>
        </p:xfrm>
        <a:graphic>
          <a:graphicData uri="http://schemas.openxmlformats.org/presentationml/2006/ole">
            <mc:AlternateContent xmlns:mc="http://schemas.openxmlformats.org/markup-compatibility/2006">
              <mc:Choice xmlns:v="urn:schemas-microsoft-com:vml" Requires="v">
                <p:oleObj spid="_x0000_s3165" name="" r:id="rId1" imgW="913765" imgH="393700" progId="Equation.3">
                  <p:embed/>
                </p:oleObj>
              </mc:Choice>
              <mc:Fallback>
                <p:oleObj name="" r:id="rId1" imgW="913765" imgH="393700" progId="Equation.3">
                  <p:embed/>
                  <p:pic>
                    <p:nvPicPr>
                      <p:cNvPr id="0" name="图片 3164"/>
                      <p:cNvPicPr/>
                      <p:nvPr/>
                    </p:nvPicPr>
                    <p:blipFill>
                      <a:blip r:embed="rId2"/>
                      <a:stretch>
                        <a:fillRect/>
                      </a:stretch>
                    </p:blipFill>
                    <p:spPr>
                      <a:xfrm>
                        <a:off x="3657600" y="2133600"/>
                        <a:ext cx="2209800" cy="950913"/>
                      </a:xfrm>
                      <a:prstGeom prst="rect">
                        <a:avLst/>
                      </a:prstGeom>
                      <a:noFill/>
                      <a:ln w="38100">
                        <a:noFill/>
                        <a:miter/>
                      </a:ln>
                    </p:spPr>
                  </p:pic>
                </p:oleObj>
              </mc:Fallback>
            </mc:AlternateContent>
          </a:graphicData>
        </a:graphic>
      </p:graphicFrame>
      <p:sp>
        <p:nvSpPr>
          <p:cNvPr id="101379" name="文本框 98309"/>
          <p:cNvSpPr txBox="1"/>
          <p:nvPr/>
        </p:nvSpPr>
        <p:spPr>
          <a:xfrm>
            <a:off x="838200" y="3208338"/>
            <a:ext cx="23749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所以记录长度为 </a:t>
            </a:r>
            <a:endParaRPr lang="zh-CN" altLang="en-US">
              <a:latin typeface="Times New Roman" panose="02020603050405020304" pitchFamily="18" charset="0"/>
              <a:ea typeface="宋体" panose="02010600030101010101" pitchFamily="2" charset="-122"/>
            </a:endParaRPr>
          </a:p>
        </p:txBody>
      </p:sp>
      <p:graphicFrame>
        <p:nvGraphicFramePr>
          <p:cNvPr id="101380" name="对象 98310"/>
          <p:cNvGraphicFramePr/>
          <p:nvPr/>
        </p:nvGraphicFramePr>
        <p:xfrm>
          <a:off x="3749675" y="4122738"/>
          <a:ext cx="2286000" cy="1058862"/>
        </p:xfrm>
        <a:graphic>
          <a:graphicData uri="http://schemas.openxmlformats.org/presentationml/2006/ole">
            <mc:AlternateContent xmlns:mc="http://schemas.openxmlformats.org/markup-compatibility/2006">
              <mc:Choice xmlns:v="urn:schemas-microsoft-com:vml" Requires="v">
                <p:oleObj spid="_x0000_s3170" name="" r:id="rId3" imgW="850265" imgH="393700" progId="Equation.3">
                  <p:embed/>
                </p:oleObj>
              </mc:Choice>
              <mc:Fallback>
                <p:oleObj name="" r:id="rId3" imgW="850265" imgH="393700" progId="Equation.3">
                  <p:embed/>
                  <p:pic>
                    <p:nvPicPr>
                      <p:cNvPr id="0" name="图片 3169"/>
                      <p:cNvPicPr/>
                      <p:nvPr/>
                    </p:nvPicPr>
                    <p:blipFill>
                      <a:blip r:embed="rId4"/>
                      <a:stretch>
                        <a:fillRect/>
                      </a:stretch>
                    </p:blipFill>
                    <p:spPr>
                      <a:xfrm>
                        <a:off x="3749675" y="4122738"/>
                        <a:ext cx="2286000" cy="1058862"/>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文本框 97283"/>
          <p:cNvSpPr txBox="1"/>
          <p:nvPr/>
        </p:nvSpPr>
        <p:spPr>
          <a:xfrm>
            <a:off x="228600" y="736600"/>
            <a:ext cx="8686800" cy="1092200"/>
          </a:xfrm>
          <a:prstGeom prst="rect">
            <a:avLst/>
          </a:prstGeom>
          <a:noFill/>
          <a:ln w="9525">
            <a:noFill/>
          </a:ln>
        </p:spPr>
        <p:txBody>
          <a:bodyPr anchor="t">
            <a:spAutoFit/>
          </a:bodyPr>
          <a:p>
            <a:pPr algn="just">
              <a:lnSpc>
                <a:spcPct val="137000"/>
              </a:lnSpc>
              <a:spcBef>
                <a:spcPct val="50000"/>
              </a:spcBef>
            </a:pPr>
            <a:r>
              <a:rPr lang="en-US" altLang="zh-CN" dirty="0">
                <a:latin typeface="Times New Roman" panose="02020603050405020304" pitchFamily="18" charset="0"/>
                <a:ea typeface="宋体" panose="02010600030101010101" pitchFamily="2" charset="-122"/>
              </a:rPr>
              <a:t>        (2) </a:t>
            </a:r>
            <a:r>
              <a:rPr lang="zh-CN" altLang="en-US" dirty="0">
                <a:latin typeface="Times New Roman" panose="02020603050405020304" pitchFamily="18" charset="0"/>
                <a:ea typeface="宋体" panose="02010600030101010101" pitchFamily="2" charset="-122"/>
              </a:rPr>
              <a:t>从信号的最高频率确定最大可能的采样间隔</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（即最小采样频率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按采样定理 </a:t>
            </a:r>
            <a:endParaRPr lang="zh-CN" altLang="en-US">
              <a:latin typeface="Times New Roman" panose="02020603050405020304" pitchFamily="18" charset="0"/>
              <a:ea typeface="宋体" panose="02010600030101010101" pitchFamily="2" charset="-122"/>
            </a:endParaRPr>
          </a:p>
        </p:txBody>
      </p:sp>
      <p:graphicFrame>
        <p:nvGraphicFramePr>
          <p:cNvPr id="102402" name="对象 97284"/>
          <p:cNvGraphicFramePr/>
          <p:nvPr/>
        </p:nvGraphicFramePr>
        <p:xfrm>
          <a:off x="3810000" y="2286000"/>
          <a:ext cx="1524000" cy="638175"/>
        </p:xfrm>
        <a:graphic>
          <a:graphicData uri="http://schemas.openxmlformats.org/presentationml/2006/ole">
            <mc:AlternateContent xmlns:mc="http://schemas.openxmlformats.org/markup-compatibility/2006">
              <mc:Choice xmlns:v="urn:schemas-microsoft-com:vml" Requires="v">
                <p:oleObj spid="_x0000_s3169" name="" r:id="rId1" imgW="546100" imgH="228600" progId="Equation.3">
                  <p:embed/>
                </p:oleObj>
              </mc:Choice>
              <mc:Fallback>
                <p:oleObj name="" r:id="rId1" imgW="546100" imgH="228600" progId="Equation.3">
                  <p:embed/>
                  <p:pic>
                    <p:nvPicPr>
                      <p:cNvPr id="0" name="图片 3168"/>
                      <p:cNvPicPr/>
                      <p:nvPr/>
                    </p:nvPicPr>
                    <p:blipFill>
                      <a:blip r:embed="rId2"/>
                      <a:stretch>
                        <a:fillRect/>
                      </a:stretch>
                    </p:blipFill>
                    <p:spPr>
                      <a:xfrm>
                        <a:off x="3810000" y="2286000"/>
                        <a:ext cx="1524000" cy="638175"/>
                      </a:xfrm>
                      <a:prstGeom prst="rect">
                        <a:avLst/>
                      </a:prstGeom>
                      <a:noFill/>
                      <a:ln w="38100">
                        <a:noFill/>
                        <a:miter/>
                      </a:ln>
                    </p:spPr>
                  </p:pic>
                </p:oleObj>
              </mc:Fallback>
            </mc:AlternateContent>
          </a:graphicData>
        </a:graphic>
      </p:graphicFrame>
      <p:sp>
        <p:nvSpPr>
          <p:cNvPr id="102403" name="文本框 97285"/>
          <p:cNvSpPr txBox="1"/>
          <p:nvPr/>
        </p:nvSpPr>
        <p:spPr>
          <a:xfrm>
            <a:off x="273050" y="33528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即 </a:t>
            </a:r>
            <a:endParaRPr lang="zh-CN" altLang="en-US">
              <a:latin typeface="Times New Roman" panose="02020603050405020304" pitchFamily="18" charset="0"/>
              <a:ea typeface="宋体" panose="02010600030101010101" pitchFamily="2" charset="-122"/>
            </a:endParaRPr>
          </a:p>
        </p:txBody>
      </p:sp>
      <p:graphicFrame>
        <p:nvGraphicFramePr>
          <p:cNvPr id="102404" name="对象 97286"/>
          <p:cNvGraphicFramePr/>
          <p:nvPr/>
        </p:nvGraphicFramePr>
        <p:xfrm>
          <a:off x="2133600" y="4114800"/>
          <a:ext cx="5562600" cy="1055688"/>
        </p:xfrm>
        <a:graphic>
          <a:graphicData uri="http://schemas.openxmlformats.org/presentationml/2006/ole">
            <mc:AlternateContent xmlns:mc="http://schemas.openxmlformats.org/markup-compatibility/2006">
              <mc:Choice xmlns:v="urn:schemas-microsoft-com:vml" Requires="v">
                <p:oleObj spid="_x0000_s3164" name="" r:id="rId3" imgW="2272030" imgH="431800" progId="Equation.3">
                  <p:embed/>
                </p:oleObj>
              </mc:Choice>
              <mc:Fallback>
                <p:oleObj name="" r:id="rId3" imgW="2272030" imgH="431800" progId="Equation.3">
                  <p:embed/>
                  <p:pic>
                    <p:nvPicPr>
                      <p:cNvPr id="0" name="图片 3163"/>
                      <p:cNvPicPr/>
                      <p:nvPr/>
                    </p:nvPicPr>
                    <p:blipFill>
                      <a:blip r:embed="rId4"/>
                      <a:stretch>
                        <a:fillRect/>
                      </a:stretch>
                    </p:blipFill>
                    <p:spPr>
                      <a:xfrm>
                        <a:off x="2133600" y="4114800"/>
                        <a:ext cx="5562600" cy="1055688"/>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文本框 101379"/>
          <p:cNvSpPr txBox="1"/>
          <p:nvPr/>
        </p:nvSpPr>
        <p:spPr>
          <a:xfrm>
            <a:off x="685800" y="914400"/>
            <a:ext cx="37782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最小记录点数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应满足 </a:t>
            </a:r>
            <a:endParaRPr lang="zh-CN" altLang="en-US">
              <a:latin typeface="Times New Roman" panose="02020603050405020304" pitchFamily="18" charset="0"/>
              <a:ea typeface="宋体" panose="02010600030101010101" pitchFamily="2" charset="-122"/>
            </a:endParaRPr>
          </a:p>
        </p:txBody>
      </p:sp>
      <p:graphicFrame>
        <p:nvGraphicFramePr>
          <p:cNvPr id="103426" name="对象 101381"/>
          <p:cNvGraphicFramePr/>
          <p:nvPr/>
        </p:nvGraphicFramePr>
        <p:xfrm>
          <a:off x="2438400" y="1828800"/>
          <a:ext cx="3962400" cy="954088"/>
        </p:xfrm>
        <a:graphic>
          <a:graphicData uri="http://schemas.openxmlformats.org/presentationml/2006/ole">
            <mc:AlternateContent xmlns:mc="http://schemas.openxmlformats.org/markup-compatibility/2006">
              <mc:Choice xmlns:v="urn:schemas-microsoft-com:vml" Requires="v">
                <p:oleObj spid="_x0000_s3166" name="" r:id="rId1" imgW="1739900" imgH="419100" progId="Equation.3">
                  <p:embed/>
                </p:oleObj>
              </mc:Choice>
              <mc:Fallback>
                <p:oleObj name="" r:id="rId1" imgW="1739900" imgH="419100" progId="Equation.3">
                  <p:embed/>
                  <p:pic>
                    <p:nvPicPr>
                      <p:cNvPr id="0" name="图片 3165"/>
                      <p:cNvPicPr/>
                      <p:nvPr/>
                    </p:nvPicPr>
                    <p:blipFill>
                      <a:blip r:embed="rId2"/>
                      <a:stretch>
                        <a:fillRect/>
                      </a:stretch>
                    </p:blipFill>
                    <p:spPr>
                      <a:xfrm>
                        <a:off x="2438400" y="1828800"/>
                        <a:ext cx="3962400" cy="954088"/>
                      </a:xfrm>
                      <a:prstGeom prst="rect">
                        <a:avLst/>
                      </a:prstGeom>
                      <a:noFill/>
                      <a:ln w="38100">
                        <a:noFill/>
                        <a:miter/>
                      </a:ln>
                    </p:spPr>
                  </p:pic>
                </p:oleObj>
              </mc:Fallback>
            </mc:AlternateContent>
          </a:graphicData>
        </a:graphic>
      </p:graphicFrame>
      <p:sp>
        <p:nvSpPr>
          <p:cNvPr id="103427" name="文本框 101382"/>
          <p:cNvSpPr txBox="1"/>
          <p:nvPr/>
        </p:nvSpPr>
        <p:spPr>
          <a:xfrm>
            <a:off x="736600" y="3241675"/>
            <a:ext cx="558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取 </a:t>
            </a:r>
            <a:endParaRPr lang="zh-CN" altLang="en-US">
              <a:latin typeface="Times New Roman" panose="02020603050405020304" pitchFamily="18" charset="0"/>
              <a:ea typeface="宋体" panose="02010600030101010101" pitchFamily="2" charset="-122"/>
            </a:endParaRPr>
          </a:p>
        </p:txBody>
      </p:sp>
      <p:graphicFrame>
        <p:nvGraphicFramePr>
          <p:cNvPr id="103428" name="对象 101383"/>
          <p:cNvGraphicFramePr/>
          <p:nvPr/>
        </p:nvGraphicFramePr>
        <p:xfrm>
          <a:off x="2209800" y="3886200"/>
          <a:ext cx="4552950" cy="565150"/>
        </p:xfrm>
        <a:graphic>
          <a:graphicData uri="http://schemas.openxmlformats.org/presentationml/2006/ole">
            <mc:AlternateContent xmlns:mc="http://schemas.openxmlformats.org/markup-compatibility/2006">
              <mc:Choice xmlns:v="urn:schemas-microsoft-com:vml" Requires="v">
                <p:oleObj spid="_x0000_s3167" name="" r:id="rId3" imgW="1637030" imgH="203200" progId="Equation.3">
                  <p:embed/>
                </p:oleObj>
              </mc:Choice>
              <mc:Fallback>
                <p:oleObj name="" r:id="rId3" imgW="1637030" imgH="203200" progId="Equation.3">
                  <p:embed/>
                  <p:pic>
                    <p:nvPicPr>
                      <p:cNvPr id="0" name="图片 3166"/>
                      <p:cNvPicPr/>
                      <p:nvPr/>
                    </p:nvPicPr>
                    <p:blipFill>
                      <a:blip r:embed="rId4"/>
                      <a:stretch>
                        <a:fillRect/>
                      </a:stretch>
                    </p:blipFill>
                    <p:spPr>
                      <a:xfrm>
                        <a:off x="2209800" y="3886200"/>
                        <a:ext cx="4552950" cy="565150"/>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文本框 100355"/>
          <p:cNvSpPr txBox="1"/>
          <p:nvPr/>
        </p:nvSpPr>
        <p:spPr>
          <a:xfrm>
            <a:off x="228600" y="533400"/>
            <a:ext cx="8686800" cy="31115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如果我们事先不知道信号的最高频率，可以根据信号的时域波形图来估计它。例如， 某信号的波形如图 </a:t>
            </a:r>
            <a:r>
              <a:rPr lang="en-US" altLang="zh-CN" dirty="0">
                <a:latin typeface="Times New Roman" panose="02020603050405020304" pitchFamily="18" charset="0"/>
                <a:ea typeface="宋体" panose="02010600030101010101" pitchFamily="2" charset="-122"/>
              </a:rPr>
              <a:t>3-23 </a:t>
            </a:r>
            <a:r>
              <a:rPr lang="zh-CN" altLang="en-US" dirty="0">
                <a:latin typeface="Times New Roman" panose="02020603050405020304" pitchFamily="18" charset="0"/>
                <a:ea typeface="宋体" panose="02010600030101010101" pitchFamily="2" charset="-122"/>
              </a:rPr>
              <a:t>所示。 先找出相邻的波峰与波谷之间的距离，如图中</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 然后，选出其中最小的一个如</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。这里</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可能就是由信号的最高频率分量形成的。 峰与</a:t>
            </a:r>
            <a:r>
              <a:rPr lang="zh-CN" altLang="en-US" dirty="0">
                <a:latin typeface="Times New Roman" panose="02020603050405020304" pitchFamily="18" charset="0"/>
                <a:ea typeface="宋体" panose="02010600030101010101" pitchFamily="2" charset="-122"/>
              </a:rPr>
              <a:t>谷之间的距离就是周期的一半。 因此，最高频率为 </a:t>
            </a:r>
            <a:endParaRPr lang="zh-CN" altLang="en-US">
              <a:latin typeface="Times New Roman" panose="02020603050405020304" pitchFamily="18" charset="0"/>
              <a:ea typeface="宋体" panose="02010600030101010101" pitchFamily="2" charset="-122"/>
            </a:endParaRPr>
          </a:p>
        </p:txBody>
      </p:sp>
      <p:graphicFrame>
        <p:nvGraphicFramePr>
          <p:cNvPr id="104450" name="对象 100356"/>
          <p:cNvGraphicFramePr/>
          <p:nvPr/>
        </p:nvGraphicFramePr>
        <p:xfrm>
          <a:off x="3429000" y="3200400"/>
          <a:ext cx="2159000" cy="1050925"/>
        </p:xfrm>
        <a:graphic>
          <a:graphicData uri="http://schemas.openxmlformats.org/presentationml/2006/ole">
            <mc:AlternateContent xmlns:mc="http://schemas.openxmlformats.org/markup-compatibility/2006">
              <mc:Choice xmlns:v="urn:schemas-microsoft-com:vml" Requires="v">
                <p:oleObj spid="_x0000_s3171" name="" r:id="rId1" imgW="965200" imgH="469900" progId="Equation.3">
                  <p:embed/>
                </p:oleObj>
              </mc:Choice>
              <mc:Fallback>
                <p:oleObj name="" r:id="rId1" imgW="965200" imgH="469900" progId="Equation.3">
                  <p:embed/>
                  <p:pic>
                    <p:nvPicPr>
                      <p:cNvPr id="0" name="图片 3170"/>
                      <p:cNvPicPr/>
                      <p:nvPr/>
                    </p:nvPicPr>
                    <p:blipFill>
                      <a:blip r:embed="rId2"/>
                      <a:stretch>
                        <a:fillRect/>
                      </a:stretch>
                    </p:blipFill>
                    <p:spPr>
                      <a:xfrm>
                        <a:off x="3429000" y="3200400"/>
                        <a:ext cx="2159000" cy="1050925"/>
                      </a:xfrm>
                      <a:prstGeom prst="rect">
                        <a:avLst/>
                      </a:prstGeom>
                      <a:noFill/>
                      <a:ln w="38100">
                        <a:noFill/>
                        <a:miter/>
                      </a:ln>
                    </p:spPr>
                  </p:pic>
                </p:oleObj>
              </mc:Fallback>
            </mc:AlternateContent>
          </a:graphicData>
        </a:graphic>
      </p:graphicFrame>
      <p:sp>
        <p:nvSpPr>
          <p:cNvPr id="104451" name="文本框 100357"/>
          <p:cNvSpPr txBox="1"/>
          <p:nvPr/>
        </p:nvSpPr>
        <p:spPr>
          <a:xfrm>
            <a:off x="228600" y="4308475"/>
            <a:ext cx="37798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知道</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后就能确定采样频率 </a:t>
            </a:r>
            <a:endParaRPr lang="zh-CN" altLang="en-US">
              <a:latin typeface="Times New Roman" panose="02020603050405020304" pitchFamily="18" charset="0"/>
              <a:ea typeface="宋体" panose="02010600030101010101" pitchFamily="2" charset="-122"/>
            </a:endParaRPr>
          </a:p>
        </p:txBody>
      </p:sp>
      <p:graphicFrame>
        <p:nvGraphicFramePr>
          <p:cNvPr id="104452" name="对象 100358"/>
          <p:cNvGraphicFramePr/>
          <p:nvPr/>
        </p:nvGraphicFramePr>
        <p:xfrm>
          <a:off x="3657600" y="5181600"/>
          <a:ext cx="1676400" cy="701675"/>
        </p:xfrm>
        <a:graphic>
          <a:graphicData uri="http://schemas.openxmlformats.org/presentationml/2006/ole">
            <mc:AlternateContent xmlns:mc="http://schemas.openxmlformats.org/markup-compatibility/2006">
              <mc:Choice xmlns:v="urn:schemas-microsoft-com:vml" Requires="v">
                <p:oleObj spid="_x0000_s3176" name="" r:id="rId3" imgW="546100" imgH="228600" progId="Equation.3">
                  <p:embed/>
                </p:oleObj>
              </mc:Choice>
              <mc:Fallback>
                <p:oleObj name="" r:id="rId3" imgW="546100" imgH="228600" progId="Equation.3">
                  <p:embed/>
                  <p:pic>
                    <p:nvPicPr>
                      <p:cNvPr id="0" name="图片 3175"/>
                      <p:cNvPicPr/>
                      <p:nvPr/>
                    </p:nvPicPr>
                    <p:blipFill>
                      <a:blip r:embed="rId4"/>
                      <a:stretch>
                        <a:fillRect/>
                      </a:stretch>
                    </p:blipFill>
                    <p:spPr>
                      <a:xfrm>
                        <a:off x="3657600" y="5181600"/>
                        <a:ext cx="1676400" cy="701675"/>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文本框 99331"/>
          <p:cNvSpPr txBox="1"/>
          <p:nvPr/>
        </p:nvSpPr>
        <p:spPr>
          <a:xfrm>
            <a:off x="2590800" y="5334000"/>
            <a:ext cx="39766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3-23  </a:t>
            </a:r>
            <a:r>
              <a:rPr lang="zh-CN" altLang="en-US" dirty="0">
                <a:latin typeface="Times New Roman" panose="02020603050405020304" pitchFamily="18" charset="0"/>
                <a:ea typeface="宋体" panose="02010600030101010101" pitchFamily="2" charset="-122"/>
              </a:rPr>
              <a:t>估算信号最高频率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pic>
        <p:nvPicPr>
          <p:cNvPr id="105474" name="图片 99334" descr="3-23"/>
          <p:cNvPicPr>
            <a:picLocks noChangeAspect="1"/>
          </p:cNvPicPr>
          <p:nvPr/>
        </p:nvPicPr>
        <p:blipFill>
          <a:blip r:embed="rId1"/>
          <a:stretch>
            <a:fillRect/>
          </a:stretch>
        </p:blipFill>
        <p:spPr>
          <a:xfrm>
            <a:off x="1714500" y="2133600"/>
            <a:ext cx="5715000" cy="2590800"/>
          </a:xfrm>
          <a:prstGeom prst="rect">
            <a:avLst/>
          </a:prstGeom>
          <a:noFill/>
          <a:ln w="9525">
            <a:noFill/>
          </a:ln>
        </p:spPr>
      </p:pic>
    </p:spTree>
  </p:cSld>
  <p:clrMapOvr>
    <a:masterClrMapping/>
  </p:clrMapOvr>
  <p:transition>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框 104451"/>
          <p:cNvSpPr txBox="1"/>
          <p:nvPr/>
        </p:nvSpPr>
        <p:spPr>
          <a:xfrm>
            <a:off x="228600" y="457200"/>
            <a:ext cx="8763000" cy="3476625"/>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3.7.2 </a:t>
            </a:r>
            <a:r>
              <a:rPr lang="zh-CN" altLang="en-US" b="1" dirty="0">
                <a:latin typeface="Times New Roman" panose="02020603050405020304" pitchFamily="18" charset="0"/>
                <a:ea typeface="宋体" panose="02010600030101010101" pitchFamily="2" charset="-122"/>
              </a:rPr>
              <a:t>可能出现的误差</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1. </a:t>
            </a:r>
            <a:r>
              <a:rPr lang="zh-CN" altLang="en-US" b="1" dirty="0">
                <a:latin typeface="Times New Roman" panose="02020603050405020304" pitchFamily="18" charset="0"/>
                <a:ea typeface="宋体" panose="02010600030101010101" pitchFamily="2" charset="-122"/>
              </a:rPr>
              <a:t>频谱混叠失真</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在图</a:t>
            </a:r>
            <a:r>
              <a:rPr lang="en-US" altLang="zh-CN" dirty="0">
                <a:latin typeface="Times New Roman" panose="02020603050405020304" pitchFamily="18" charset="0"/>
                <a:ea typeface="宋体" panose="02010600030101010101" pitchFamily="2" charset="-122"/>
              </a:rPr>
              <a:t>3-21 </a:t>
            </a:r>
            <a:r>
              <a:rPr lang="zh-CN" altLang="en-US" dirty="0">
                <a:latin typeface="Times New Roman" panose="02020603050405020304" pitchFamily="18" charset="0"/>
                <a:ea typeface="宋体" panose="02010600030101010101" pitchFamily="2" charset="-122"/>
              </a:rPr>
              <a:t>画出的基本步骤中，</a:t>
            </a:r>
            <a:r>
              <a:rPr lang="en-US" altLang="zh-CN" dirty="0">
                <a:latin typeface="Times New Roman" panose="02020603050405020304" pitchFamily="18" charset="0"/>
                <a:ea typeface="宋体" panose="02010600030101010101" pitchFamily="2" charset="-122"/>
              </a:rPr>
              <a:t>A/D</a:t>
            </a:r>
            <a:r>
              <a:rPr lang="zh-CN" altLang="en-US" dirty="0">
                <a:latin typeface="Times New Roman" panose="02020603050405020304" pitchFamily="18" charset="0"/>
                <a:ea typeface="宋体" panose="02010600030101010101" pitchFamily="2" charset="-122"/>
              </a:rPr>
              <a:t>变换前利用前置低通滤波器进行预滤波，使</a:t>
            </a:r>
            <a:r>
              <a:rPr lang="en-US" altLang="zh-CN" i="1" err="1">
                <a:latin typeface="Times New Roman" panose="02020603050405020304" pitchFamily="18" charset="0"/>
                <a:ea typeface="宋体" panose="02010600030101010101" pitchFamily="2" charset="-122"/>
              </a:rPr>
              <a:t>x</a:t>
            </a:r>
            <a:r>
              <a:rPr lang="en-US" altLang="zh-CN" baseline="-25000" err="1">
                <a:latin typeface="Times New Roman" panose="02020603050405020304" pitchFamily="18" charset="0"/>
                <a:ea typeface="宋体" panose="02010600030101010101" pitchFamily="2" charset="-122"/>
              </a:rPr>
              <a:t>c</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频谱中最高频率分量不超过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。假设</a:t>
            </a:r>
            <a:r>
              <a:rPr lang="en-US" altLang="zh-CN" dirty="0">
                <a:latin typeface="Times New Roman" panose="02020603050405020304" pitchFamily="18" charset="0"/>
                <a:ea typeface="宋体" panose="02010600030101010101" pitchFamily="2" charset="-122"/>
              </a:rPr>
              <a:t>A/D</a:t>
            </a:r>
            <a:r>
              <a:rPr lang="zh-CN" altLang="en-US" dirty="0">
                <a:latin typeface="Times New Roman" panose="02020603050405020304" pitchFamily="18" charset="0"/>
                <a:ea typeface="宋体" panose="02010600030101010101" pitchFamily="2" charset="-122"/>
              </a:rPr>
              <a:t>变换器的采样频率为</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，按照奈奎斯特</a:t>
            </a:r>
            <a:r>
              <a:rPr lang="zh-CN" altLang="en-US" dirty="0">
                <a:latin typeface="Times New Roman" panose="02020603050405020304" pitchFamily="18" charset="0"/>
                <a:ea typeface="宋体" panose="02010600030101010101" pitchFamily="2" charset="-122"/>
              </a:rPr>
              <a:t>采样定理，为了不产生混叠， 必须满足 </a:t>
            </a:r>
            <a:endParaRPr lang="zh-CN" altLang="en-US">
              <a:latin typeface="Times New Roman" panose="02020603050405020304" pitchFamily="18" charset="0"/>
              <a:ea typeface="宋体" panose="02010600030101010101" pitchFamily="2" charset="-122"/>
            </a:endParaRPr>
          </a:p>
        </p:txBody>
      </p:sp>
      <p:graphicFrame>
        <p:nvGraphicFramePr>
          <p:cNvPr id="106498" name="对象 104452"/>
          <p:cNvGraphicFramePr/>
          <p:nvPr/>
        </p:nvGraphicFramePr>
        <p:xfrm>
          <a:off x="3779838" y="3838575"/>
          <a:ext cx="1600200" cy="669925"/>
        </p:xfrm>
        <a:graphic>
          <a:graphicData uri="http://schemas.openxmlformats.org/presentationml/2006/ole">
            <mc:AlternateContent xmlns:mc="http://schemas.openxmlformats.org/markup-compatibility/2006">
              <mc:Choice xmlns:v="urn:schemas-microsoft-com:vml" Requires="v">
                <p:oleObj spid="_x0000_s3172" name="" r:id="rId1" imgW="546100" imgH="228600" progId="Equation.3">
                  <p:embed/>
                </p:oleObj>
              </mc:Choice>
              <mc:Fallback>
                <p:oleObj name="" r:id="rId1" imgW="546100" imgH="228600" progId="Equation.3">
                  <p:embed/>
                  <p:pic>
                    <p:nvPicPr>
                      <p:cNvPr id="0" name="图片 3171"/>
                      <p:cNvPicPr/>
                      <p:nvPr/>
                    </p:nvPicPr>
                    <p:blipFill>
                      <a:blip r:embed="rId2"/>
                      <a:stretch>
                        <a:fillRect/>
                      </a:stretch>
                    </p:blipFill>
                    <p:spPr>
                      <a:xfrm>
                        <a:off x="3779838" y="3838575"/>
                        <a:ext cx="1600200" cy="669925"/>
                      </a:xfrm>
                      <a:prstGeom prst="rect">
                        <a:avLst/>
                      </a:prstGeom>
                      <a:noFill/>
                      <a:ln w="38100">
                        <a:noFill/>
                        <a:miter/>
                      </a:ln>
                    </p:spPr>
                  </p:pic>
                </p:oleObj>
              </mc:Fallback>
            </mc:AlternateContent>
          </a:graphicData>
        </a:graphic>
      </p:graphicFrame>
      <p:sp>
        <p:nvSpPr>
          <p:cNvPr id="106499" name="文本框 104453"/>
          <p:cNvSpPr txBox="1"/>
          <p:nvPr/>
        </p:nvSpPr>
        <p:spPr>
          <a:xfrm>
            <a:off x="250825" y="4652963"/>
            <a:ext cx="31734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也就是采样间隔</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满足 </a:t>
            </a:r>
            <a:endParaRPr lang="zh-CN" altLang="en-US">
              <a:latin typeface="Times New Roman" panose="02020603050405020304" pitchFamily="18" charset="0"/>
              <a:ea typeface="宋体" panose="02010600030101010101" pitchFamily="2" charset="-122"/>
            </a:endParaRPr>
          </a:p>
        </p:txBody>
      </p:sp>
      <p:graphicFrame>
        <p:nvGraphicFramePr>
          <p:cNvPr id="106500" name="对象 104454"/>
          <p:cNvGraphicFramePr/>
          <p:nvPr/>
        </p:nvGraphicFramePr>
        <p:xfrm>
          <a:off x="3419475" y="5013325"/>
          <a:ext cx="2286000" cy="1143000"/>
        </p:xfrm>
        <a:graphic>
          <a:graphicData uri="http://schemas.openxmlformats.org/presentationml/2006/ole">
            <mc:AlternateContent xmlns:mc="http://schemas.openxmlformats.org/markup-compatibility/2006">
              <mc:Choice xmlns:v="urn:schemas-microsoft-com:vml" Requires="v">
                <p:oleObj spid="_x0000_s3175" name="" r:id="rId3" imgW="862965" imgH="431800" progId="Equation.3">
                  <p:embed/>
                </p:oleObj>
              </mc:Choice>
              <mc:Fallback>
                <p:oleObj name="" r:id="rId3" imgW="862965" imgH="431800" progId="Equation.3">
                  <p:embed/>
                  <p:pic>
                    <p:nvPicPr>
                      <p:cNvPr id="0" name="图片 3174"/>
                      <p:cNvPicPr/>
                      <p:nvPr/>
                    </p:nvPicPr>
                    <p:blipFill>
                      <a:blip r:embed="rId4"/>
                      <a:stretch>
                        <a:fillRect/>
                      </a:stretch>
                    </p:blipFill>
                    <p:spPr>
                      <a:xfrm>
                        <a:off x="3419475" y="5013325"/>
                        <a:ext cx="2286000" cy="1143000"/>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文本框 103427"/>
          <p:cNvSpPr txBox="1"/>
          <p:nvPr/>
        </p:nvSpPr>
        <p:spPr>
          <a:xfrm>
            <a:off x="533400" y="476250"/>
            <a:ext cx="147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一般应取 </a:t>
            </a:r>
            <a:endParaRPr lang="zh-CN" altLang="en-US">
              <a:latin typeface="Times New Roman" panose="02020603050405020304" pitchFamily="18" charset="0"/>
              <a:ea typeface="宋体" panose="02010600030101010101" pitchFamily="2" charset="-122"/>
            </a:endParaRPr>
          </a:p>
        </p:txBody>
      </p:sp>
      <p:sp>
        <p:nvSpPr>
          <p:cNvPr id="107522" name="文本框 103428"/>
          <p:cNvSpPr txBox="1"/>
          <p:nvPr/>
        </p:nvSpPr>
        <p:spPr>
          <a:xfrm>
            <a:off x="3352800" y="933450"/>
            <a:ext cx="2051050" cy="457200"/>
          </a:xfrm>
          <a:prstGeom prst="rect">
            <a:avLst/>
          </a:prstGeom>
          <a:noFill/>
          <a:ln w="9525">
            <a:noFill/>
          </a:ln>
        </p:spPr>
        <p:txBody>
          <a:bodyPr anchor="t">
            <a:spAutoFit/>
          </a:bodyPr>
          <a:p>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=(2.5</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3.0)</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07523" name="文本框 103429"/>
          <p:cNvSpPr txBox="1"/>
          <p:nvPr/>
        </p:nvSpPr>
        <p:spPr>
          <a:xfrm>
            <a:off x="152400" y="1543050"/>
            <a:ext cx="8763000" cy="1803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如果不满足</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，就会产生频谱混叠失真。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对于</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来说，频率函数也要采样，变成离散的序列，其采样间隔为</a:t>
            </a:r>
            <a:r>
              <a:rPr lang="en-US" altLang="zh-CN" i="1">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即频率分辨</a:t>
            </a:r>
            <a:r>
              <a:rPr lang="zh-CN" altLang="en-US" dirty="0">
                <a:latin typeface="Times New Roman" panose="02020603050405020304" pitchFamily="18" charset="0"/>
                <a:ea typeface="宋体" panose="02010600030101010101" pitchFamily="2" charset="-122"/>
              </a:rPr>
              <a:t>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由式（</a:t>
            </a:r>
            <a:r>
              <a:rPr lang="en-US" altLang="zh-CN" dirty="0">
                <a:latin typeface="Times New Roman" panose="02020603050405020304" pitchFamily="18" charset="0"/>
                <a:ea typeface="宋体" panose="02010600030101010101" pitchFamily="2" charset="-122"/>
              </a:rPr>
              <a:t>3-55</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107524" name="对象 103430"/>
          <p:cNvGraphicFramePr/>
          <p:nvPr/>
        </p:nvGraphicFramePr>
        <p:xfrm>
          <a:off x="3810000" y="3314700"/>
          <a:ext cx="1219200" cy="1050925"/>
        </p:xfrm>
        <a:graphic>
          <a:graphicData uri="http://schemas.openxmlformats.org/presentationml/2006/ole">
            <mc:AlternateContent xmlns:mc="http://schemas.openxmlformats.org/markup-compatibility/2006">
              <mc:Choice xmlns:v="urn:schemas-microsoft-com:vml" Requires="v">
                <p:oleObj spid="_x0000_s3173" name="" r:id="rId1" imgW="457200" imgH="393700" progId="Equation.3">
                  <p:embed/>
                </p:oleObj>
              </mc:Choice>
              <mc:Fallback>
                <p:oleObj name="" r:id="rId1" imgW="457200" imgH="393700" progId="Equation.3">
                  <p:embed/>
                  <p:pic>
                    <p:nvPicPr>
                      <p:cNvPr id="0" name="图片 3172"/>
                      <p:cNvPicPr/>
                      <p:nvPr/>
                    </p:nvPicPr>
                    <p:blipFill>
                      <a:blip r:embed="rId2"/>
                      <a:stretch>
                        <a:fillRect/>
                      </a:stretch>
                    </p:blipFill>
                    <p:spPr>
                      <a:xfrm>
                        <a:off x="3810000" y="3314700"/>
                        <a:ext cx="1219200" cy="1050925"/>
                      </a:xfrm>
                      <a:prstGeom prst="rect">
                        <a:avLst/>
                      </a:prstGeom>
                      <a:noFill/>
                      <a:ln w="38100">
                        <a:noFill/>
                        <a:miter/>
                      </a:ln>
                    </p:spPr>
                  </p:pic>
                </p:oleObj>
              </mc:Fallback>
            </mc:AlternateContent>
          </a:graphicData>
        </a:graphic>
      </p:graphicFrame>
      <p:sp>
        <p:nvSpPr>
          <p:cNvPr id="107525" name="文本框 103431"/>
          <p:cNvSpPr txBox="1"/>
          <p:nvPr/>
        </p:nvSpPr>
        <p:spPr>
          <a:xfrm>
            <a:off x="7451725" y="89852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3-58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07526" name="文本框 103432"/>
          <p:cNvSpPr txBox="1"/>
          <p:nvPr/>
        </p:nvSpPr>
        <p:spPr>
          <a:xfrm>
            <a:off x="7543800" y="367665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3-59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07527" name="文本框 103434"/>
          <p:cNvSpPr txBox="1"/>
          <p:nvPr/>
        </p:nvSpPr>
        <p:spPr>
          <a:xfrm>
            <a:off x="228600" y="4365625"/>
            <a:ext cx="8763000" cy="210502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从以上</a:t>
            </a:r>
            <a:r>
              <a:rPr lang="zh-CN" altLang="en-US" i="1" dirty="0">
                <a:latin typeface="Times New Roman" panose="02020603050405020304" pitchFamily="18" charset="0"/>
                <a:ea typeface="宋体" panose="02010600030101010101" pitchFamily="2" charset="-122"/>
              </a:rPr>
              <a:t>Ｔ</a:t>
            </a:r>
            <a:r>
              <a:rPr lang="zh-CN" altLang="en-US" dirty="0">
                <a:latin typeface="Times New Roman" panose="02020603050405020304" pitchFamily="18" charset="0"/>
                <a:ea typeface="宋体" panose="02010600030101010101" pitchFamily="2" charset="-122"/>
              </a:rPr>
              <a:t>和</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两个公式来看，信号的最高频率分量</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与频率分辨率</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存在矛盾关系，要想</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增加，则时域采样间隔</a:t>
            </a:r>
            <a:r>
              <a:rPr lang="en-US" altLang="zh-CN" dirty="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就一定减小， 而</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就</a:t>
            </a:r>
            <a:r>
              <a:rPr lang="zh-CN" altLang="en-US" dirty="0">
                <a:latin typeface="Times New Roman" panose="02020603050405020304" pitchFamily="18" charset="0"/>
                <a:ea typeface="宋体" panose="02010600030101010101" pitchFamily="2" charset="-122"/>
              </a:rPr>
              <a:t>增加，由式（</a:t>
            </a:r>
            <a:r>
              <a:rPr lang="en-US" altLang="zh-CN" dirty="0">
                <a:latin typeface="Times New Roman" panose="02020603050405020304" pitchFamily="18" charset="0"/>
                <a:ea typeface="宋体" panose="02010600030101010101" pitchFamily="2" charset="-122"/>
              </a:rPr>
              <a:t>3-57</a:t>
            </a:r>
            <a:r>
              <a:rPr lang="zh-CN" altLang="en-US" dirty="0">
                <a:latin typeface="Times New Roman" panose="02020603050405020304" pitchFamily="18" charset="0"/>
                <a:ea typeface="宋体" panose="02010600030101010101" pitchFamily="2" charset="-122"/>
              </a:rPr>
              <a:t>）可知，此时若是固定</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，必然要增加</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 即分辨率下降。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文本框 102403"/>
          <p:cNvSpPr txBox="1"/>
          <p:nvPr/>
        </p:nvSpPr>
        <p:spPr>
          <a:xfrm>
            <a:off x="228600" y="381000"/>
            <a:ext cx="8763000" cy="333057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反之，要提高分辨率（减小</a:t>
            </a:r>
            <a:r>
              <a:rPr lang="en-US" altLang="zh-CN" i="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），就要增加</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给定时， 必然导致</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的增加（</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减小）。 要不产生混叠失真，则必然会减小高频容量（信号的最高频率分量）</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要想兼顾高频容量</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h</a:t>
            </a:r>
            <a:r>
              <a:rPr lang="zh-CN" altLang="en-US" dirty="0">
                <a:latin typeface="Times New Roman" panose="02020603050405020304" pitchFamily="18" charset="0"/>
                <a:ea typeface="宋体" panose="02010600030101010101" pitchFamily="2" charset="-122"/>
              </a:rPr>
              <a:t>与频率分辨率</a:t>
            </a:r>
            <a:r>
              <a:rPr lang="en-US" altLang="zh-CN" i="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，即一个性能提高而另一个性能不变（或也得以</a:t>
            </a:r>
            <a:r>
              <a:rPr lang="zh-CN" altLang="en-US" dirty="0">
                <a:latin typeface="Times New Roman" panose="02020603050405020304" pitchFamily="18" charset="0"/>
                <a:ea typeface="宋体" panose="02010600030101010101" pitchFamily="2" charset="-122"/>
              </a:rPr>
              <a:t>提高）的惟一办法就是增加记录长度的点数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 即要满足 </a:t>
            </a:r>
            <a:endParaRPr lang="zh-CN" altLang="en-US">
              <a:latin typeface="Times New Roman" panose="02020603050405020304" pitchFamily="18" charset="0"/>
              <a:ea typeface="宋体" panose="02010600030101010101" pitchFamily="2" charset="-122"/>
            </a:endParaRPr>
          </a:p>
        </p:txBody>
      </p:sp>
      <p:graphicFrame>
        <p:nvGraphicFramePr>
          <p:cNvPr id="108546" name="对象 102404"/>
          <p:cNvGraphicFramePr/>
          <p:nvPr/>
        </p:nvGraphicFramePr>
        <p:xfrm>
          <a:off x="3505200" y="3276600"/>
          <a:ext cx="2209800" cy="979488"/>
        </p:xfrm>
        <a:graphic>
          <a:graphicData uri="http://schemas.openxmlformats.org/presentationml/2006/ole">
            <mc:AlternateContent xmlns:mc="http://schemas.openxmlformats.org/markup-compatibility/2006">
              <mc:Choice xmlns:v="urn:schemas-microsoft-com:vml" Requires="v">
                <p:oleObj spid="_x0000_s3174" name="" r:id="rId1" imgW="888365" imgH="393700" progId="Equation.3">
                  <p:embed/>
                </p:oleObj>
              </mc:Choice>
              <mc:Fallback>
                <p:oleObj name="" r:id="rId1" imgW="888365" imgH="393700" progId="Equation.3">
                  <p:embed/>
                  <p:pic>
                    <p:nvPicPr>
                      <p:cNvPr id="0" name="图片 3173"/>
                      <p:cNvPicPr/>
                      <p:nvPr/>
                    </p:nvPicPr>
                    <p:blipFill>
                      <a:blip r:embed="rId2"/>
                      <a:stretch>
                        <a:fillRect/>
                      </a:stretch>
                    </p:blipFill>
                    <p:spPr>
                      <a:xfrm>
                        <a:off x="3505200" y="3276600"/>
                        <a:ext cx="2209800" cy="979488"/>
                      </a:xfrm>
                      <a:prstGeom prst="rect">
                        <a:avLst/>
                      </a:prstGeom>
                      <a:noFill/>
                      <a:ln w="38100">
                        <a:noFill/>
                        <a:miter/>
                      </a:ln>
                    </p:spPr>
                  </p:pic>
                </p:oleObj>
              </mc:Fallback>
            </mc:AlternateContent>
          </a:graphicData>
        </a:graphic>
      </p:graphicFrame>
      <p:sp>
        <p:nvSpPr>
          <p:cNvPr id="108547" name="文本框 102405"/>
          <p:cNvSpPr txBox="1"/>
          <p:nvPr/>
        </p:nvSpPr>
        <p:spPr>
          <a:xfrm>
            <a:off x="7543800" y="35814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08548" name="文本框 102406"/>
          <p:cNvSpPr txBox="1"/>
          <p:nvPr/>
        </p:nvSpPr>
        <p:spPr>
          <a:xfrm>
            <a:off x="152400" y="4267200"/>
            <a:ext cx="8763000" cy="2465388"/>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这个公式是未采用任何特殊数据处理（例如加窗处理）的情况下，为实现基本</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算法所必须满足的最低条件。如果加窗处理，相当于时域相乘，则频域周期卷积，必然加宽频谱分量， 频率分辨率就可能变差，为了保证频率分辨率不变，则须增加数据长度</a:t>
            </a:r>
            <a:r>
              <a:rPr lang="en-US" altLang="zh-CN" i="1" err="1">
                <a:latin typeface="Times New Roman" panose="02020603050405020304" pitchFamily="18" charset="0"/>
                <a:ea typeface="宋体" panose="02010600030101010101" pitchFamily="2" charset="-122"/>
              </a:rPr>
              <a:t>t</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文本框 107523"/>
          <p:cNvSpPr txBox="1"/>
          <p:nvPr/>
        </p:nvSpPr>
        <p:spPr>
          <a:xfrm>
            <a:off x="228600" y="782638"/>
            <a:ext cx="8686800" cy="3560762"/>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 </a:t>
            </a:r>
            <a:r>
              <a:rPr lang="zh-CN" altLang="en-US" b="1" dirty="0">
                <a:latin typeface="Times New Roman" panose="02020603050405020304" pitchFamily="18" charset="0"/>
                <a:ea typeface="宋体" panose="02010600030101010101" pitchFamily="2" charset="-122"/>
              </a:rPr>
              <a:t>栅栏效应</a:t>
            </a:r>
            <a:endParaRPr lang="zh-CN" altLang="en-US">
              <a:latin typeface="Times New Roman" panose="02020603050405020304" pitchFamily="18" charset="0"/>
              <a:ea typeface="宋体" panose="02010600030101010101" pitchFamily="2" charset="-122"/>
            </a:endParaRPr>
          </a:p>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利用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计算频谱，只给出离散点</a:t>
            </a:r>
            <a:r>
              <a:rPr lang="en-US" altLang="zh-CN" i="1">
                <a:latin typeface="Times New Roman" panose="02020603050405020304" pitchFamily="18" charset="0"/>
                <a:ea typeface="宋体" panose="02010600030101010101" pitchFamily="2" charset="-122"/>
              </a:rPr>
              <a:t>ω</a:t>
            </a:r>
            <a:r>
              <a:rPr lang="en-US" altLang="zh-CN" i="1"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或</a:t>
            </a:r>
            <a:r>
              <a:rPr lang="en-US" altLang="zh-CN" i="1">
                <a:latin typeface="Times New Roman" panose="02020603050405020304" pitchFamily="18" charset="0"/>
                <a:ea typeface="宋体" panose="02010600030101010101" pitchFamily="2" charset="-122"/>
              </a:rPr>
              <a:t>Ω</a:t>
            </a:r>
            <a:r>
              <a:rPr lang="en-US" altLang="zh-CN" i="1"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上的频谱采样值，而不可能得到连续频谱函数， 这就像通过一个“栅栏”观看信号频谱， 只能在离散点上看到信号频谱， 称之为“栅栏效应”</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3-22</a:t>
            </a:r>
            <a:r>
              <a:rPr lang="zh-CN" altLang="en-US" dirty="0">
                <a:latin typeface="Times New Roman" panose="02020603050405020304" pitchFamily="18" charset="0"/>
                <a:ea typeface="宋体" panose="02010600030101010101" pitchFamily="2" charset="-122"/>
              </a:rPr>
              <a:t>所示。这时，如果在两个离散的谱线之间有一个特别大的频谱分量，就无法检测出来了。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文本框 106499"/>
          <p:cNvSpPr txBox="1"/>
          <p:nvPr/>
        </p:nvSpPr>
        <p:spPr>
          <a:xfrm>
            <a:off x="304800" y="457200"/>
            <a:ext cx="8610600" cy="606107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减小栅栏效应的一个方法就是要使频域采样更密，即增加频域采样点数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 在不改变时域数据的情况下，必然是在数据末端添加一些零值点，使一个周期内的点数增加，但并不改变原有的记录数据。  频谱采样为</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增加，必然使样点间距更近（单位圆上样点更多），谱线更密，谱线变密后原来看不到的谱分量就有可能看到了。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必须指出，补零以改变计算</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的周期时，所用窗函数的宽度不能改变。 换句话说，必须按照数据记录的原来的实际长度选择窗函数， 而不能按照补了零值点后的长度来选择窗函数。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补零不能提高频率分辨率，这是因为数据的实际长度仍为补零前的数据长度。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文本框 105475"/>
          <p:cNvSpPr txBox="1"/>
          <p:nvPr/>
        </p:nvSpPr>
        <p:spPr>
          <a:xfrm>
            <a:off x="228600" y="533400"/>
            <a:ext cx="8686800" cy="279082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3. </a:t>
            </a:r>
            <a:r>
              <a:rPr lang="zh-CN" altLang="en-US" b="1" dirty="0">
                <a:latin typeface="Times New Roman" panose="02020603050405020304" pitchFamily="18" charset="0"/>
                <a:ea typeface="宋体" panose="02010600030101010101" pitchFamily="2" charset="-122"/>
              </a:rPr>
              <a:t>频谱泄漏与谱间干扰</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对信号进行</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计算，首先必须使其变成有限时宽的信号， 这就相当于信号在时域乘一个窗函数如矩形窗，窗内数据并不改变。 时域相乘即</a:t>
            </a:r>
            <a:r>
              <a:rPr lang="en-US" altLang="zh-CN">
                <a:latin typeface="Times New Roman" panose="02020603050405020304" pitchFamily="18" charset="0"/>
                <a:ea typeface="宋体" panose="02010600030101010101" pitchFamily="2" charset="-122"/>
              </a:rPr>
              <a:t>v(n)=x(n)</a:t>
            </a:r>
            <a:r>
              <a:rPr lang="en-US" altLang="zh-CN">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w(n)</a:t>
            </a:r>
            <a:r>
              <a:rPr lang="zh-CN" altLang="en-US" dirty="0">
                <a:latin typeface="Times New Roman" panose="02020603050405020304" pitchFamily="18" charset="0"/>
                <a:ea typeface="宋体" panose="02010600030101010101" pitchFamily="2" charset="-122"/>
              </a:rPr>
              <a:t>， 加窗对频域的影响，</a:t>
            </a:r>
            <a:r>
              <a:rPr lang="zh-CN" altLang="en-US" dirty="0">
                <a:latin typeface="Times New Roman" panose="02020603050405020304" pitchFamily="18" charset="0"/>
                <a:ea typeface="宋体" panose="02010600030101010101" pitchFamily="2" charset="-122"/>
              </a:rPr>
              <a:t>可用式（</a:t>
            </a:r>
            <a:r>
              <a:rPr lang="en-US" altLang="zh-CN" dirty="0">
                <a:latin typeface="Times New Roman" panose="02020603050405020304" pitchFamily="18" charset="0"/>
                <a:ea typeface="宋体" panose="02010600030101010101" pitchFamily="2" charset="-122"/>
              </a:rPr>
              <a:t>3-48</a:t>
            </a:r>
            <a:r>
              <a:rPr lang="zh-CN" altLang="en-US" dirty="0">
                <a:latin typeface="Times New Roman" panose="02020603050405020304" pitchFamily="18" charset="0"/>
                <a:ea typeface="宋体" panose="02010600030101010101" pitchFamily="2" charset="-122"/>
              </a:rPr>
              <a:t>）卷积公式表示 </a:t>
            </a:r>
            <a:endParaRPr lang="zh-CN" altLang="en-US">
              <a:latin typeface="Times New Roman" panose="02020603050405020304" pitchFamily="18" charset="0"/>
              <a:ea typeface="宋体" panose="02010600030101010101" pitchFamily="2" charset="-122"/>
            </a:endParaRPr>
          </a:p>
        </p:txBody>
      </p:sp>
      <p:graphicFrame>
        <p:nvGraphicFramePr>
          <p:cNvPr id="111618" name="对象 105476"/>
          <p:cNvGraphicFramePr/>
          <p:nvPr/>
        </p:nvGraphicFramePr>
        <p:xfrm>
          <a:off x="1809750" y="3357563"/>
          <a:ext cx="5426075" cy="935037"/>
        </p:xfrm>
        <a:graphic>
          <a:graphicData uri="http://schemas.openxmlformats.org/presentationml/2006/ole">
            <mc:AlternateContent xmlns:mc="http://schemas.openxmlformats.org/markup-compatibility/2006">
              <mc:Choice xmlns:v="urn:schemas-microsoft-com:vml" Requires="v">
                <p:oleObj spid="_x0000_s3178" name="" r:id="rId1" imgW="2284730" imgH="393700" progId="Equation.DSMT4">
                  <p:embed/>
                </p:oleObj>
              </mc:Choice>
              <mc:Fallback>
                <p:oleObj name="" r:id="rId1" imgW="2284730" imgH="393700" progId="Equation.DSMT4">
                  <p:embed/>
                  <p:pic>
                    <p:nvPicPr>
                      <p:cNvPr id="0" name="图片 3177"/>
                      <p:cNvPicPr/>
                      <p:nvPr/>
                    </p:nvPicPr>
                    <p:blipFill>
                      <a:blip r:embed="rId2"/>
                      <a:stretch>
                        <a:fillRect/>
                      </a:stretch>
                    </p:blipFill>
                    <p:spPr>
                      <a:xfrm>
                        <a:off x="1809750" y="3357563"/>
                        <a:ext cx="5426075" cy="935037"/>
                      </a:xfrm>
                      <a:prstGeom prst="rect">
                        <a:avLst/>
                      </a:prstGeom>
                      <a:noFill/>
                      <a:ln w="38100">
                        <a:noFill/>
                        <a:miter/>
                      </a:ln>
                    </p:spPr>
                  </p:pic>
                </p:oleObj>
              </mc:Fallback>
            </mc:AlternateContent>
          </a:graphicData>
        </a:graphic>
      </p:graphicFrame>
      <p:sp>
        <p:nvSpPr>
          <p:cNvPr id="111619" name="文本框 105477"/>
          <p:cNvSpPr txBox="1"/>
          <p:nvPr/>
        </p:nvSpPr>
        <p:spPr>
          <a:xfrm>
            <a:off x="152400" y="4365625"/>
            <a:ext cx="8763000" cy="1820863"/>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卷积的结果，造成所得到的频谱</a:t>
            </a:r>
            <a:r>
              <a:rPr lang="en-US" altLang="zh-CN" i="1" err="1">
                <a:latin typeface="Times New Roman" panose="02020603050405020304" pitchFamily="18" charset="0"/>
                <a:ea typeface="宋体" panose="02010600030101010101" pitchFamily="2" charset="-122"/>
              </a:rPr>
              <a:t>V</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与原来的频谱</a:t>
            </a: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不相同，有失真。这种</a:t>
            </a:r>
            <a:r>
              <a:rPr lang="zh-CN" altLang="en-US" dirty="0">
                <a:latin typeface="Times New Roman" panose="02020603050405020304" pitchFamily="18" charset="0"/>
                <a:ea typeface="宋体" panose="02010600030101010101" pitchFamily="2" charset="-122"/>
              </a:rPr>
              <a:t>失真最主要的是造成频谱的“扩散”（拖尾、 变宽），这就是所谓的“频谱泄漏”。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文本框 109571"/>
          <p:cNvSpPr txBox="1"/>
          <p:nvPr/>
        </p:nvSpPr>
        <p:spPr>
          <a:xfrm>
            <a:off x="395288" y="636588"/>
            <a:ext cx="8497887" cy="5313362"/>
          </a:xfrm>
          <a:prstGeom prst="rect">
            <a:avLst/>
          </a:prstGeom>
          <a:noFill/>
          <a:ln w="9525">
            <a:noFill/>
          </a:ln>
        </p:spPr>
        <p:txBody>
          <a:bodyPr anchor="t">
            <a:spAutoFit/>
          </a:bodyPr>
          <a:p>
            <a:pPr>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由上可知，泄漏是由于我们截取有限长信号所造成的。 对具有单一谱线的正弦波来说，它必须是无限长的。也就是说，如果我们输入信号是无限长的，那么</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就能计算出完全正确的单一线频谱。 可是我们不可能这么做，而只能取有限长记录样本。 如果在该有限长记录样本中，正弦信号又不是整数个周期时，就会产生泄漏。 例如，一个周期为</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的余弦信号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)=cos(6π</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）截取一个周期长度的信号即</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)=cos(6π</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/16)</a:t>
            </a:r>
            <a:r>
              <a:rPr lang="en-US" altLang="zh-CN" i="1">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16</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的谱图见 </a:t>
            </a:r>
            <a:r>
              <a:rPr lang="en-US" altLang="zh-CN" dirty="0">
                <a:latin typeface="Times New Roman" panose="02020603050405020304" pitchFamily="18" charset="0"/>
                <a:ea typeface="宋体" panose="02010600030101010101" pitchFamily="2" charset="-122"/>
              </a:rPr>
              <a:t>3-24</a:t>
            </a:r>
            <a:r>
              <a:rPr lang="zh-CN" altLang="en-US" dirty="0">
                <a:latin typeface="Times New Roman" panose="02020603050405020304" pitchFamily="18" charset="0"/>
                <a:ea typeface="宋体" panose="02010600030101010101" pitchFamily="2" charset="-122"/>
              </a:rPr>
              <a:t>上图，若截取的长度为</a:t>
            </a:r>
            <a:r>
              <a:rPr lang="en-US" altLang="zh-CN" dirty="0">
                <a:latin typeface="Times New Roman" panose="02020603050405020304" pitchFamily="18" charset="0"/>
                <a:ea typeface="宋体" panose="02010600030101010101" pitchFamily="2" charset="-122"/>
              </a:rPr>
              <a:t>13</a:t>
            </a:r>
            <a:r>
              <a:rPr lang="zh-CN" altLang="en-US" dirty="0">
                <a:latin typeface="Times New Roman" panose="02020603050405020304" pitchFamily="18" charset="0"/>
                <a:ea typeface="宋体" panose="02010600030101010101" pitchFamily="2" charset="-122"/>
              </a:rPr>
              <a:t>，则其</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点</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的谱图见</a:t>
            </a:r>
            <a:r>
              <a:rPr lang="en-US" altLang="zh-CN" dirty="0">
                <a:latin typeface="Times New Roman" panose="02020603050405020304" pitchFamily="18" charset="0"/>
                <a:ea typeface="宋体" panose="02010600030101010101" pitchFamily="2" charset="-122"/>
              </a:rPr>
              <a:t>3-24</a:t>
            </a:r>
            <a:r>
              <a:rPr lang="zh-CN" altLang="en-US" dirty="0">
                <a:latin typeface="Times New Roman" panose="02020603050405020304" pitchFamily="18" charset="0"/>
                <a:ea typeface="宋体" panose="02010600030101010101" pitchFamily="2" charset="-122"/>
              </a:rPr>
              <a:t>下图。 由此可见，频谱不再是单一的谱线，它的能量散布到整个频谱的各处。 这种能量散布到其他谱线位置的现象即为</a:t>
            </a:r>
            <a:r>
              <a:rPr lang="zh-CN" altLang="en-US" dirty="0">
                <a:latin typeface="Times New Roman" panose="02020603050405020304" pitchFamily="18" charset="0"/>
                <a:ea typeface="宋体" panose="02010600030101010101" pitchFamily="2" charset="-122"/>
              </a:rPr>
              <a:t>“频谱泄漏”。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文本框 108547"/>
          <p:cNvSpPr txBox="1"/>
          <p:nvPr/>
        </p:nvSpPr>
        <p:spPr>
          <a:xfrm>
            <a:off x="539750" y="644525"/>
            <a:ext cx="8172450" cy="4776788"/>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应该说明，泄漏也会造成混叠，因为泄漏将会导致频谱的扩展，从而使最高频率有可能超过折叠频率（</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），造成频率响应的混叠失真。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泄漏造成的后果是降低频谱的分辨率。此外，由于在主谱线两边形成很多旁瓣，引起不同频率分量间的干扰</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简称谱间干扰</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特别是强信号谱的旁瓣可能湮没弱信号的主谱线，或者把强信号谱的旁瓣误认为是另一信号的谱线，从而造成假信号，这样就会使谱分析产生较大偏差。</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文本框 309251"/>
          <p:cNvSpPr txBox="1"/>
          <p:nvPr/>
        </p:nvSpPr>
        <p:spPr>
          <a:xfrm>
            <a:off x="684213" y="763588"/>
            <a:ext cx="8064500" cy="3889375"/>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在进行</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运算时，时域截断是必然的，从而频谱泄漏和谱间干扰也是不可避免的。为尽量减小泄漏和谱间干扰的影响，需增加窗的时域宽度</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频域主瓣变窄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但这又导致运算量及存储量的增加；其次，数据不要突然截断，也就是不要加矩形窗，而是加各种缓变的窗（例如：三角形窗、升余弦窗、改进的升余弦窗等），使得窗谱的旁瓣能量更小，卷积后造成的泄漏减小，这个问题在</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滤波器设计一章（第</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章）中将会讨论到。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文本框 111619"/>
          <p:cNvSpPr txBox="1"/>
          <p:nvPr/>
        </p:nvSpPr>
        <p:spPr>
          <a:xfrm>
            <a:off x="2484438" y="5661025"/>
            <a:ext cx="462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3-24 </a:t>
            </a:r>
            <a:r>
              <a:rPr lang="zh-CN" altLang="en-US" dirty="0">
                <a:latin typeface="Times New Roman" panose="02020603050405020304" pitchFamily="18" charset="0"/>
                <a:ea typeface="宋体" panose="02010600030101010101" pitchFamily="2" charset="-122"/>
              </a:rPr>
              <a:t>余弦信号频谱泄漏示例图 </a:t>
            </a:r>
            <a:endParaRPr lang="zh-CN" altLang="en-US">
              <a:latin typeface="Times New Roman" panose="02020603050405020304" pitchFamily="18" charset="0"/>
              <a:ea typeface="宋体" panose="02010600030101010101" pitchFamily="2" charset="-122"/>
            </a:endParaRPr>
          </a:p>
        </p:txBody>
      </p:sp>
      <p:pic>
        <p:nvPicPr>
          <p:cNvPr id="115714" name="图片 111622" descr="3-24"/>
          <p:cNvPicPr>
            <a:picLocks noChangeAspect="1"/>
          </p:cNvPicPr>
          <p:nvPr/>
        </p:nvPicPr>
        <p:blipFill>
          <a:blip r:embed="rId1"/>
          <a:stretch>
            <a:fillRect/>
          </a:stretch>
        </p:blipFill>
        <p:spPr>
          <a:xfrm>
            <a:off x="2343150" y="779463"/>
            <a:ext cx="4892675" cy="4703762"/>
          </a:xfrm>
          <a:prstGeom prst="rect">
            <a:avLst/>
          </a:prstGeom>
          <a:noFill/>
          <a:ln w="9525">
            <a:noFill/>
          </a:ln>
        </p:spPr>
      </p:pic>
    </p:spTree>
  </p:cSld>
  <p:clrMapOvr>
    <a:masterClrMapping/>
  </p:clrMapOvr>
  <p:transition>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文本框 110595"/>
          <p:cNvSpPr txBox="1"/>
          <p:nvPr/>
        </p:nvSpPr>
        <p:spPr>
          <a:xfrm>
            <a:off x="228600" y="457200"/>
            <a:ext cx="8686800" cy="1803400"/>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3.7.3 </a:t>
            </a:r>
            <a:r>
              <a:rPr lang="zh-CN" altLang="en-US" b="1" dirty="0">
                <a:latin typeface="Times New Roman" panose="02020603050405020304" pitchFamily="18" charset="0"/>
                <a:ea typeface="宋体" panose="02010600030101010101" pitchFamily="2" charset="-122"/>
              </a:rPr>
              <a:t>应用实例</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一个长度为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的时域离散序列</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，其离散傅里叶变换</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（离散频谱）是由实部和虚部组</a:t>
            </a:r>
            <a:r>
              <a:rPr lang="zh-CN" altLang="en-US" dirty="0">
                <a:latin typeface="Times New Roman" panose="02020603050405020304" pitchFamily="18" charset="0"/>
                <a:ea typeface="宋体" panose="02010600030101010101" pitchFamily="2" charset="-122"/>
              </a:rPr>
              <a:t>成的复数，即 </a:t>
            </a:r>
            <a:endParaRPr lang="zh-CN" altLang="en-US">
              <a:latin typeface="Times New Roman" panose="02020603050405020304" pitchFamily="18" charset="0"/>
              <a:ea typeface="宋体" panose="02010600030101010101" pitchFamily="2" charset="-122"/>
            </a:endParaRPr>
          </a:p>
        </p:txBody>
      </p:sp>
      <p:graphicFrame>
        <p:nvGraphicFramePr>
          <p:cNvPr id="116738" name="对象 110596"/>
          <p:cNvGraphicFramePr/>
          <p:nvPr/>
        </p:nvGraphicFramePr>
        <p:xfrm>
          <a:off x="2590800" y="2514600"/>
          <a:ext cx="3632200" cy="531813"/>
        </p:xfrm>
        <a:graphic>
          <a:graphicData uri="http://schemas.openxmlformats.org/presentationml/2006/ole">
            <mc:AlternateContent xmlns:mc="http://schemas.openxmlformats.org/markup-compatibility/2006">
              <mc:Choice xmlns:v="urn:schemas-microsoft-com:vml" Requires="v">
                <p:oleObj spid="_x0000_s3177" name="" r:id="rId1" imgW="1471295" imgH="215900" progId="Equation.3">
                  <p:embed/>
                </p:oleObj>
              </mc:Choice>
              <mc:Fallback>
                <p:oleObj name="" r:id="rId1" imgW="1471295" imgH="215900" progId="Equation.3">
                  <p:embed/>
                  <p:pic>
                    <p:nvPicPr>
                      <p:cNvPr id="0" name="图片 3176"/>
                      <p:cNvPicPr/>
                      <p:nvPr/>
                    </p:nvPicPr>
                    <p:blipFill>
                      <a:blip r:embed="rId2"/>
                      <a:stretch>
                        <a:fillRect/>
                      </a:stretch>
                    </p:blipFill>
                    <p:spPr>
                      <a:xfrm>
                        <a:off x="2590800" y="2514600"/>
                        <a:ext cx="3632200" cy="531813"/>
                      </a:xfrm>
                      <a:prstGeom prst="rect">
                        <a:avLst/>
                      </a:prstGeom>
                      <a:noFill/>
                      <a:ln w="38100">
                        <a:noFill/>
                        <a:miter/>
                      </a:ln>
                    </p:spPr>
                  </p:pic>
                </p:oleObj>
              </mc:Fallback>
            </mc:AlternateContent>
          </a:graphicData>
        </a:graphic>
      </p:graphicFrame>
      <p:sp>
        <p:nvSpPr>
          <p:cNvPr id="116739" name="文本框 110597"/>
          <p:cNvSpPr txBox="1"/>
          <p:nvPr/>
        </p:nvSpPr>
        <p:spPr>
          <a:xfrm>
            <a:off x="7162800" y="25908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16740" name="文本框 110598"/>
          <p:cNvSpPr txBox="1"/>
          <p:nvPr/>
        </p:nvSpPr>
        <p:spPr>
          <a:xfrm>
            <a:off x="228600" y="327660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对实信号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，其频谱是共轭偶对称的，故只要求出</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上的</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a:t>
            </a:r>
            <a:r>
              <a:rPr lang="zh-CN" altLang="en-US" dirty="0">
                <a:latin typeface="Times New Roman" panose="02020603050405020304" pitchFamily="18" charset="0"/>
                <a:ea typeface="宋体" panose="02010600030101010101" pitchFamily="2" charset="-122"/>
              </a:rPr>
              <a:t>可。 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写成极坐标形式 </a:t>
            </a:r>
            <a:endParaRPr lang="zh-CN" altLang="en-US">
              <a:latin typeface="Times New Roman" panose="02020603050405020304" pitchFamily="18" charset="0"/>
              <a:ea typeface="宋体" panose="02010600030101010101" pitchFamily="2" charset="-122"/>
            </a:endParaRPr>
          </a:p>
        </p:txBody>
      </p:sp>
      <p:graphicFrame>
        <p:nvGraphicFramePr>
          <p:cNvPr id="116741" name="对象 110599"/>
          <p:cNvGraphicFramePr/>
          <p:nvPr/>
        </p:nvGraphicFramePr>
        <p:xfrm>
          <a:off x="2590800" y="4572000"/>
          <a:ext cx="3962400" cy="625475"/>
        </p:xfrm>
        <a:graphic>
          <a:graphicData uri="http://schemas.openxmlformats.org/presentationml/2006/ole">
            <mc:AlternateContent xmlns:mc="http://schemas.openxmlformats.org/markup-compatibility/2006">
              <mc:Choice xmlns:v="urn:schemas-microsoft-com:vml" Requires="v">
                <p:oleObj spid="_x0000_s3179" name="" r:id="rId3" imgW="1447800" imgH="228600" progId="Equation.3">
                  <p:embed/>
                </p:oleObj>
              </mc:Choice>
              <mc:Fallback>
                <p:oleObj name="" r:id="rId3" imgW="1447800" imgH="228600" progId="Equation.3">
                  <p:embed/>
                  <p:pic>
                    <p:nvPicPr>
                      <p:cNvPr id="0" name="图片 3178"/>
                      <p:cNvPicPr/>
                      <p:nvPr/>
                    </p:nvPicPr>
                    <p:blipFill>
                      <a:blip r:embed="rId4"/>
                      <a:stretch>
                        <a:fillRect/>
                      </a:stretch>
                    </p:blipFill>
                    <p:spPr>
                      <a:xfrm>
                        <a:off x="2590800" y="4572000"/>
                        <a:ext cx="3962400" cy="625475"/>
                      </a:xfrm>
                      <a:prstGeom prst="rect">
                        <a:avLst/>
                      </a:prstGeom>
                      <a:noFill/>
                      <a:ln w="38100">
                        <a:noFill/>
                        <a:miter/>
                      </a:ln>
                    </p:spPr>
                  </p:pic>
                </p:oleObj>
              </mc:Fallback>
            </mc:AlternateContent>
          </a:graphicData>
        </a:graphic>
      </p:graphicFrame>
      <p:sp>
        <p:nvSpPr>
          <p:cNvPr id="116742" name="文本框 110600"/>
          <p:cNvSpPr txBox="1"/>
          <p:nvPr/>
        </p:nvSpPr>
        <p:spPr>
          <a:xfrm>
            <a:off x="7239000" y="46482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16743" name="文本框 110601"/>
          <p:cNvSpPr txBox="1"/>
          <p:nvPr/>
        </p:nvSpPr>
        <p:spPr>
          <a:xfrm>
            <a:off x="228600" y="5562600"/>
            <a:ext cx="69738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称为幅频谱，</a:t>
            </a:r>
            <a:r>
              <a:rPr lang="en-US" altLang="zh-CN" err="1">
                <a:latin typeface="Times New Roman" panose="02020603050405020304" pitchFamily="18" charset="0"/>
                <a:ea typeface="宋体" panose="02010600030101010101" pitchFamily="2" charset="-122"/>
              </a:rPr>
              <a:t>arg</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］称为相频谱。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文本框 113667"/>
          <p:cNvSpPr txBox="1"/>
          <p:nvPr/>
        </p:nvSpPr>
        <p:spPr>
          <a:xfrm>
            <a:off x="228600" y="457200"/>
            <a:ext cx="8763000" cy="1187450"/>
          </a:xfrm>
          <a:prstGeom prst="rect">
            <a:avLst/>
          </a:prstGeom>
          <a:noFill/>
          <a:ln w="9525">
            <a:noFill/>
          </a:ln>
        </p:spPr>
        <p:txBody>
          <a:bodyPr anchor="t">
            <a:spAutoFit/>
          </a:bodyPr>
          <a:p>
            <a:pPr>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实际中也常常用信号的功率谱表示，功率谱是幅频谱的平方， 功率谱</a:t>
            </a:r>
            <a:r>
              <a:rPr lang="en-US" altLang="zh-CN" dirty="0">
                <a:latin typeface="Times New Roman" panose="02020603050405020304" pitchFamily="18" charset="0"/>
                <a:ea typeface="宋体" panose="02010600030101010101" pitchFamily="2" charset="-122"/>
              </a:rPr>
              <a:t>PSD</a:t>
            </a:r>
            <a:r>
              <a:rPr lang="zh-CN" altLang="en-US" dirty="0">
                <a:latin typeface="Times New Roman" panose="02020603050405020304" pitchFamily="18" charset="0"/>
                <a:ea typeface="宋体" panose="02010600030101010101" pitchFamily="2" charset="-122"/>
              </a:rPr>
              <a:t>定义为 </a:t>
            </a:r>
            <a:endParaRPr lang="zh-CN" altLang="en-US">
              <a:latin typeface="Times New Roman" panose="02020603050405020304" pitchFamily="18" charset="0"/>
              <a:ea typeface="宋体" panose="02010600030101010101" pitchFamily="2" charset="-122"/>
            </a:endParaRPr>
          </a:p>
        </p:txBody>
      </p:sp>
      <p:graphicFrame>
        <p:nvGraphicFramePr>
          <p:cNvPr id="117762" name="对象 113668"/>
          <p:cNvGraphicFramePr/>
          <p:nvPr/>
        </p:nvGraphicFramePr>
        <p:xfrm>
          <a:off x="2819400" y="1692275"/>
          <a:ext cx="2895600" cy="1016000"/>
        </p:xfrm>
        <a:graphic>
          <a:graphicData uri="http://schemas.openxmlformats.org/presentationml/2006/ole">
            <mc:AlternateContent xmlns:mc="http://schemas.openxmlformats.org/markup-compatibility/2006">
              <mc:Choice xmlns:v="urn:schemas-microsoft-com:vml" Requires="v">
                <p:oleObj spid="_x0000_s3184" name="" r:id="rId1" imgW="1193800" imgH="419100" progId="Equation.3">
                  <p:embed/>
                </p:oleObj>
              </mc:Choice>
              <mc:Fallback>
                <p:oleObj name="" r:id="rId1" imgW="1193800" imgH="419100" progId="Equation.3">
                  <p:embed/>
                  <p:pic>
                    <p:nvPicPr>
                      <p:cNvPr id="0" name="图片 3183"/>
                      <p:cNvPicPr/>
                      <p:nvPr/>
                    </p:nvPicPr>
                    <p:blipFill>
                      <a:blip r:embed="rId2"/>
                      <a:stretch>
                        <a:fillRect/>
                      </a:stretch>
                    </p:blipFill>
                    <p:spPr>
                      <a:xfrm>
                        <a:off x="2819400" y="1692275"/>
                        <a:ext cx="2895600" cy="1016000"/>
                      </a:xfrm>
                      <a:prstGeom prst="rect">
                        <a:avLst/>
                      </a:prstGeom>
                      <a:noFill/>
                      <a:ln w="38100">
                        <a:noFill/>
                        <a:miter/>
                      </a:ln>
                    </p:spPr>
                  </p:pic>
                </p:oleObj>
              </mc:Fallback>
            </mc:AlternateContent>
          </a:graphicData>
        </a:graphic>
      </p:graphicFrame>
      <p:sp>
        <p:nvSpPr>
          <p:cNvPr id="117763" name="文本框 113669"/>
          <p:cNvSpPr txBox="1"/>
          <p:nvPr/>
        </p:nvSpPr>
        <p:spPr>
          <a:xfrm>
            <a:off x="6689725" y="2022475"/>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17764" name="文本框 113670"/>
          <p:cNvSpPr txBox="1"/>
          <p:nvPr/>
        </p:nvSpPr>
        <p:spPr>
          <a:xfrm>
            <a:off x="360363" y="2565400"/>
            <a:ext cx="8459787" cy="3743325"/>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功率谱具有突出主频率的特性，在分析带有噪声干扰的信号时特别有用。将式（</a:t>
            </a:r>
            <a:r>
              <a:rPr lang="en-US" altLang="zh-CN" dirty="0">
                <a:latin typeface="Times New Roman" panose="02020603050405020304" pitchFamily="18" charset="0"/>
                <a:ea typeface="宋体" panose="02010600030101010101" pitchFamily="2" charset="-122"/>
              </a:rPr>
              <a:t>3-62</a:t>
            </a:r>
            <a:r>
              <a:rPr lang="zh-CN" altLang="en-US" dirty="0">
                <a:latin typeface="Times New Roman" panose="02020603050405020304" pitchFamily="18" charset="0"/>
                <a:ea typeface="宋体" panose="02010600030101010101" pitchFamily="2" charset="-122"/>
              </a:rPr>
              <a:t>）绘成的图形称为频谱图。由频谱图可以知道信号存在哪些频率分量，它们就是谱图中峰值对应的点。谱图中</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最低频率为</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，对应实际频率为</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（即直流）；</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最高频率为</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对应实际频率为</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文本框 112643"/>
          <p:cNvSpPr txBox="1"/>
          <p:nvPr/>
        </p:nvSpPr>
        <p:spPr>
          <a:xfrm>
            <a:off x="228600" y="531813"/>
            <a:ext cx="8763000" cy="300672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对处于</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上的任意点</a:t>
            </a:r>
            <a:r>
              <a:rPr lang="en-US" altLang="zh-CN" i="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，对应的实际频率为</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kF</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kf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由于所取单位不同，频率轴有几种定标方式。 图</a:t>
            </a:r>
            <a:r>
              <a:rPr lang="en-US" altLang="zh-CN" dirty="0">
                <a:latin typeface="Times New Roman" panose="02020603050405020304" pitchFamily="18" charset="0"/>
                <a:ea typeface="宋体" panose="02010600030101010101" pitchFamily="2" charset="-122"/>
              </a:rPr>
              <a:t>3-25</a:t>
            </a:r>
            <a:r>
              <a:rPr lang="zh-CN" altLang="en-US" dirty="0">
                <a:latin typeface="Times New Roman" panose="02020603050405020304" pitchFamily="18" charset="0"/>
                <a:ea typeface="宋体" panose="02010600030101010101" pitchFamily="2" charset="-122"/>
              </a:rPr>
              <a:t>列出频率轴几种定标方式的对应关系。</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上图中</a:t>
            </a:r>
            <a:r>
              <a:rPr lang="en-US" altLang="zh-CN" i="1">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为归一化频率，定义为 </a:t>
            </a:r>
            <a:endParaRPr lang="zh-CN" altLang="en-US">
              <a:latin typeface="Times New Roman" panose="02020603050405020304" pitchFamily="18" charset="0"/>
              <a:ea typeface="宋体" panose="02010600030101010101" pitchFamily="2" charset="-122"/>
            </a:endParaRPr>
          </a:p>
        </p:txBody>
      </p:sp>
      <p:graphicFrame>
        <p:nvGraphicFramePr>
          <p:cNvPr id="118786" name="对象 112644"/>
          <p:cNvGraphicFramePr/>
          <p:nvPr/>
        </p:nvGraphicFramePr>
        <p:xfrm>
          <a:off x="3810000" y="3657600"/>
          <a:ext cx="1371600" cy="1227138"/>
        </p:xfrm>
        <a:graphic>
          <a:graphicData uri="http://schemas.openxmlformats.org/presentationml/2006/ole">
            <mc:AlternateContent xmlns:mc="http://schemas.openxmlformats.org/markup-compatibility/2006">
              <mc:Choice xmlns:v="urn:schemas-microsoft-com:vml" Requires="v">
                <p:oleObj spid="_x0000_s3183" name="" r:id="rId1" imgW="482600" imgH="431800" progId="Equation.3">
                  <p:embed/>
                </p:oleObj>
              </mc:Choice>
              <mc:Fallback>
                <p:oleObj name="" r:id="rId1" imgW="482600" imgH="431800" progId="Equation.3">
                  <p:embed/>
                  <p:pic>
                    <p:nvPicPr>
                      <p:cNvPr id="0" name="图片 3182"/>
                      <p:cNvPicPr/>
                      <p:nvPr/>
                    </p:nvPicPr>
                    <p:blipFill>
                      <a:blip r:embed="rId2"/>
                      <a:stretch>
                        <a:fillRect/>
                      </a:stretch>
                    </p:blipFill>
                    <p:spPr>
                      <a:xfrm>
                        <a:off x="3810000" y="3657600"/>
                        <a:ext cx="1371600" cy="1227138"/>
                      </a:xfrm>
                      <a:prstGeom prst="rect">
                        <a:avLst/>
                      </a:prstGeom>
                      <a:noFill/>
                      <a:ln w="38100">
                        <a:noFill/>
                        <a:miter/>
                      </a:ln>
                    </p:spPr>
                  </p:pic>
                </p:oleObj>
              </mc:Fallback>
            </mc:AlternateContent>
          </a:graphicData>
        </a:graphic>
      </p:graphicFrame>
      <p:sp>
        <p:nvSpPr>
          <p:cNvPr id="118787" name="文本框 112645"/>
          <p:cNvSpPr txBox="1"/>
          <p:nvPr/>
        </p:nvSpPr>
        <p:spPr>
          <a:xfrm>
            <a:off x="152400" y="4953000"/>
            <a:ext cx="8839200" cy="1244600"/>
          </a:xfrm>
          <a:prstGeom prst="rect">
            <a:avLst/>
          </a:prstGeom>
          <a:noFill/>
          <a:ln w="9525">
            <a:noFill/>
          </a:ln>
        </p:spPr>
        <p:txBody>
          <a:bodyPr anchor="t">
            <a:spAutoFit/>
          </a:bodyPr>
          <a:p>
            <a:pPr algn="just">
              <a:lnSpc>
                <a:spcPct val="158000"/>
              </a:lnSpc>
              <a:spcBef>
                <a:spcPct val="50000"/>
              </a:spcBef>
            </a:pPr>
            <a:r>
              <a:rPr lang="en-US" altLang="zh-CN" i="1">
                <a:latin typeface="Times New Roman" panose="02020603050405020304" pitchFamily="18" charset="0"/>
                <a:ea typeface="宋体" panose="02010600030101010101" pitchFamily="2" charset="-122"/>
              </a:rPr>
              <a:t>         f</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无量纲，在归一化频率谱图中，最高频率为</a:t>
            </a:r>
            <a:r>
              <a:rPr lang="en-US" altLang="zh-CN" dirty="0">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。专用频谱分析仪器常用归一化频率</a:t>
            </a:r>
            <a:r>
              <a:rPr lang="zh-CN" altLang="en-US" dirty="0">
                <a:latin typeface="Times New Roman" panose="02020603050405020304" pitchFamily="18" charset="0"/>
                <a:ea typeface="宋体" panose="02010600030101010101" pitchFamily="2" charset="-122"/>
              </a:rPr>
              <a:t>表示。 </a:t>
            </a:r>
            <a:endParaRPr lang="zh-CN" altLang="en-US">
              <a:latin typeface="Times New Roman" panose="02020603050405020304" pitchFamily="18" charset="0"/>
              <a:ea typeface="宋体" panose="02010600030101010101" pitchFamily="2" charset="-122"/>
            </a:endParaRPr>
          </a:p>
        </p:txBody>
      </p:sp>
      <p:sp>
        <p:nvSpPr>
          <p:cNvPr id="118788" name="文本框 112646"/>
          <p:cNvSpPr txBox="1"/>
          <p:nvPr/>
        </p:nvSpPr>
        <p:spPr>
          <a:xfrm>
            <a:off x="6156325" y="4003675"/>
            <a:ext cx="1022350" cy="457200"/>
          </a:xfrm>
          <a:prstGeom prst="rect">
            <a:avLst/>
          </a:prstGeom>
          <a:noFill/>
          <a:ln w="9525">
            <a:noFill/>
          </a:ln>
        </p:spPr>
        <p:txBody>
          <a:bodyPr anchor="t">
            <a:spAutoFit/>
          </a:bodyPr>
          <a:p>
            <a:r>
              <a:rPr lang="en-US" altLang="zh-CN">
                <a:latin typeface="Times New Roman" panose="02020603050405020304" pitchFamily="18" charset="0"/>
                <a:ea typeface="宋体" panose="02010600030101010101" pitchFamily="2" charset="-122"/>
              </a:rPr>
              <a:t>(3-64)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文本框 301059"/>
          <p:cNvSpPr txBox="1"/>
          <p:nvPr/>
        </p:nvSpPr>
        <p:spPr>
          <a:xfrm>
            <a:off x="1547813" y="5516563"/>
            <a:ext cx="6229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3-25</a:t>
            </a:r>
            <a:r>
              <a:rPr lang="zh-CN" altLang="en-US" dirty="0">
                <a:latin typeface="Times New Roman" panose="02020603050405020304" pitchFamily="18" charset="0"/>
                <a:ea typeface="宋体" panose="02010600030101010101" pitchFamily="2" charset="-122"/>
              </a:rPr>
              <a:t>　模拟频率与数字频率之间的定标关系</a:t>
            </a:r>
            <a:endParaRPr lang="zh-CN" altLang="en-US" dirty="0">
              <a:latin typeface="Times New Roman" panose="02020603050405020304" pitchFamily="18" charset="0"/>
              <a:ea typeface="宋体" panose="02010600030101010101" pitchFamily="2" charset="-122"/>
            </a:endParaRPr>
          </a:p>
        </p:txBody>
      </p:sp>
      <p:pic>
        <p:nvPicPr>
          <p:cNvPr id="119810" name="图片 301061" descr="3-25"/>
          <p:cNvPicPr>
            <a:picLocks noChangeAspect="1"/>
          </p:cNvPicPr>
          <p:nvPr/>
        </p:nvPicPr>
        <p:blipFill>
          <a:blip r:embed="rId1"/>
          <a:stretch>
            <a:fillRect/>
          </a:stretch>
        </p:blipFill>
        <p:spPr>
          <a:xfrm>
            <a:off x="1714500" y="1804988"/>
            <a:ext cx="5715000" cy="3248025"/>
          </a:xfrm>
          <a:prstGeom prst="rect">
            <a:avLst/>
          </a:prstGeom>
          <a:noFill/>
          <a:ln w="9525">
            <a:noFill/>
          </a:ln>
        </p:spPr>
      </p:pic>
    </p:spTree>
  </p:cSld>
  <p:clrMapOvr>
    <a:masterClrMapping/>
  </p:clrMapOvr>
  <p:transition>
    <p:zo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文本框 115715"/>
          <p:cNvSpPr txBox="1"/>
          <p:nvPr/>
        </p:nvSpPr>
        <p:spPr>
          <a:xfrm>
            <a:off x="228600" y="685800"/>
            <a:ext cx="8686800" cy="3951288"/>
          </a:xfrm>
          <a:prstGeom prst="rect">
            <a:avLst/>
          </a:prstGeom>
          <a:noFill/>
          <a:ln w="9525">
            <a:noFill/>
          </a:ln>
        </p:spPr>
        <p:txBody>
          <a:bodyPr anchor="t">
            <a:spAutoFit/>
          </a:bodyPr>
          <a:p>
            <a:pPr algn="just">
              <a:lnSpc>
                <a:spcPct val="168000"/>
              </a:lnSpc>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3-4</a:t>
            </a:r>
            <a:r>
              <a:rPr lang="zh-CN" altLang="en-US" dirty="0">
                <a:latin typeface="Times New Roman" panose="02020603050405020304" pitchFamily="18" charset="0"/>
                <a:ea typeface="宋体" panose="02010600030101010101" pitchFamily="2" charset="-122"/>
              </a:rPr>
              <a:t>］ 已知信号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)=0.15 sin(2π</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)+sin(2π</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)-0.1sin(2π</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3</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，其中</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=1Hz</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=2 Hz</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=3Hz</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包含三个正弦波，但从时域波形图</a:t>
            </a:r>
            <a:r>
              <a:rPr lang="en-US" altLang="zh-CN" dirty="0">
                <a:latin typeface="Times New Roman" panose="02020603050405020304" pitchFamily="18" charset="0"/>
                <a:ea typeface="宋体" panose="02010600030101010101" pitchFamily="2" charset="-122"/>
              </a:rPr>
              <a:t>3-26</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）来看，似乎是一个正弦信号，很难看到小信号的存在，因为它被大信号所掩盖。 取</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=32 Hz</a:t>
            </a:r>
            <a:r>
              <a:rPr lang="zh-CN" altLang="en-US" dirty="0">
                <a:latin typeface="Times New Roman" panose="02020603050405020304" pitchFamily="18" charset="0"/>
                <a:ea typeface="宋体" panose="02010600030101010101" pitchFamily="2" charset="-122"/>
              </a:rPr>
              <a:t>作频谱分析。  </a:t>
            </a:r>
            <a:endParaRPr lang="zh-CN" altLang="en-US" dirty="0">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  </a:t>
            </a:r>
            <a:r>
              <a:rPr lang="zh-CN" altLang="en-US" dirty="0">
                <a:latin typeface="Times New Roman" panose="02020603050405020304" pitchFamily="18" charset="0"/>
                <a:ea typeface="宋体" panose="02010600030101010101" pitchFamily="2" charset="-122"/>
              </a:rPr>
              <a:t>因</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=32 Hz</a:t>
            </a:r>
            <a:r>
              <a:rPr lang="zh-CN" altLang="en-US" dirty="0">
                <a:latin typeface="Times New Roman" panose="02020603050405020304" pitchFamily="18" charset="0"/>
                <a:ea typeface="宋体" panose="02010600030101010101" pitchFamily="2" charset="-122"/>
              </a:rPr>
              <a:t>，故 </a:t>
            </a:r>
            <a:endParaRPr lang="zh-CN" altLang="en-US">
              <a:latin typeface="Times New Roman" panose="02020603050405020304" pitchFamily="18" charset="0"/>
              <a:ea typeface="宋体" panose="02010600030101010101" pitchFamily="2" charset="-122"/>
            </a:endParaRPr>
          </a:p>
        </p:txBody>
      </p:sp>
      <p:graphicFrame>
        <p:nvGraphicFramePr>
          <p:cNvPr id="120834" name="对象 115716"/>
          <p:cNvGraphicFramePr/>
          <p:nvPr/>
        </p:nvGraphicFramePr>
        <p:xfrm>
          <a:off x="762000" y="4710113"/>
          <a:ext cx="8001000" cy="950912"/>
        </p:xfrm>
        <a:graphic>
          <a:graphicData uri="http://schemas.openxmlformats.org/presentationml/2006/ole">
            <mc:AlternateContent xmlns:mc="http://schemas.openxmlformats.org/markup-compatibility/2006">
              <mc:Choice xmlns:v="urn:schemas-microsoft-com:vml" Requires="v">
                <p:oleObj spid="_x0000_s3182" name="" r:id="rId1" imgW="3630930" imgH="431800" progId="Equation.3">
                  <p:embed/>
                </p:oleObj>
              </mc:Choice>
              <mc:Fallback>
                <p:oleObj name="" r:id="rId1" imgW="3630930" imgH="431800" progId="Equation.3">
                  <p:embed/>
                  <p:pic>
                    <p:nvPicPr>
                      <p:cNvPr id="0" name="图片 3181"/>
                      <p:cNvPicPr/>
                      <p:nvPr/>
                    </p:nvPicPr>
                    <p:blipFill>
                      <a:blip r:embed="rId2"/>
                      <a:stretch>
                        <a:fillRect/>
                      </a:stretch>
                    </p:blipFill>
                    <p:spPr>
                      <a:xfrm>
                        <a:off x="762000" y="4710113"/>
                        <a:ext cx="8001000" cy="950912"/>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文本框 114691"/>
          <p:cNvSpPr txBox="1"/>
          <p:nvPr/>
        </p:nvSpPr>
        <p:spPr>
          <a:xfrm>
            <a:off x="304800" y="838200"/>
            <a:ext cx="8610600" cy="475932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该信号为周期信号，其周期为</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。现对</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作</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点的离散傅里叶变换</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，其幅度特性</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如图</a:t>
            </a:r>
            <a:r>
              <a:rPr lang="en-US" altLang="zh-CN">
                <a:latin typeface="Times New Roman" panose="02020603050405020304" pitchFamily="18" charset="0"/>
                <a:ea typeface="宋体" panose="02010600030101010101" pitchFamily="2" charset="-122"/>
              </a:rPr>
              <a:t>3-26(</a:t>
            </a:r>
            <a:r>
              <a:rPr lang="en-US" altLang="zh-CN" i="1">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所示。图中仅给出了</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a:t>
            </a:r>
            <a:r>
              <a:rPr lang="en-US" altLang="zh-CN">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15</a:t>
            </a:r>
            <a:r>
              <a:rPr lang="zh-CN" altLang="en-US" dirty="0">
                <a:latin typeface="Times New Roman" panose="02020603050405020304" pitchFamily="18" charset="0"/>
                <a:ea typeface="宋体" panose="02010600030101010101" pitchFamily="2" charset="-122"/>
              </a:rPr>
              <a:t>的结果。</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=16, 17, </a:t>
            </a:r>
            <a:r>
              <a:rPr lang="en-US" altLang="zh-CN">
                <a:latin typeface="Courier New" panose="02070309020205020404" pitchFamily="49"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32</a:t>
            </a:r>
            <a:r>
              <a:rPr lang="zh-CN" altLang="en-US" dirty="0">
                <a:latin typeface="Times New Roman" panose="02020603050405020304" pitchFamily="18" charset="0"/>
                <a:ea typeface="宋体" panose="02010600030101010101" pitchFamily="2" charset="-122"/>
              </a:rPr>
              <a:t>的结果可由</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得出。因</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故频率分辨率</a:t>
            </a:r>
            <a:r>
              <a:rPr lang="en-US" altLang="zh-CN" i="1">
                <a:latin typeface="Times New Roman" panose="02020603050405020304" pitchFamily="18" charset="0"/>
                <a:ea typeface="宋体" panose="02010600030101010101" pitchFamily="2" charset="-122"/>
              </a:rPr>
              <a:t>F</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=1Hz</a:t>
            </a:r>
            <a:r>
              <a:rPr lang="zh-CN" altLang="en-US" dirty="0">
                <a:latin typeface="Times New Roman" panose="02020603050405020304" pitchFamily="18" charset="0"/>
                <a:ea typeface="宋体" panose="02010600030101010101" pitchFamily="2" charset="-122"/>
              </a:rPr>
              <a:t>。 由图</a:t>
            </a:r>
            <a:r>
              <a:rPr lang="en-US" altLang="zh-CN">
                <a:latin typeface="Times New Roman" panose="02020603050405020304" pitchFamily="18" charset="0"/>
                <a:ea typeface="宋体" panose="02010600030101010101" pitchFamily="2" charset="-122"/>
              </a:rPr>
              <a:t>3-26(</a:t>
            </a:r>
            <a:r>
              <a:rPr lang="en-US" altLang="zh-CN" i="1">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可知</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 k</a:t>
            </a:r>
            <a:r>
              <a:rPr lang="en-US" altLang="zh-CN" dirty="0">
                <a:latin typeface="Times New Roman" panose="02020603050405020304" pitchFamily="18" charset="0"/>
                <a:ea typeface="宋体" panose="02010600030101010101" pitchFamily="2" charset="-122"/>
              </a:rPr>
              <a:t>=1, 2, 3</a:t>
            </a:r>
            <a:r>
              <a:rPr lang="zh-CN" altLang="en-US" dirty="0">
                <a:latin typeface="Times New Roman" panose="02020603050405020304" pitchFamily="18" charset="0"/>
                <a:ea typeface="宋体" panose="02010600030101010101" pitchFamily="2" charset="-122"/>
              </a:rPr>
              <a:t>所对应的频谱即为频率</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=1 Hz</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=2 Hz, </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=3Hz</a:t>
            </a:r>
            <a:r>
              <a:rPr lang="zh-CN" altLang="en-US" dirty="0">
                <a:latin typeface="Times New Roman" panose="02020603050405020304" pitchFamily="18" charset="0"/>
                <a:ea typeface="宋体" panose="02010600030101010101" pitchFamily="2" charset="-122"/>
              </a:rPr>
              <a:t>的正弦波所对应的频谱。幅频图如图</a:t>
            </a:r>
            <a:r>
              <a:rPr lang="en-US" altLang="zh-CN" dirty="0">
                <a:latin typeface="Times New Roman" panose="02020603050405020304" pitchFamily="18" charset="0"/>
                <a:ea typeface="宋体" panose="02010600030101010101" pitchFamily="2" charset="-122"/>
              </a:rPr>
              <a:t>3-26</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该图中小信号成</a:t>
            </a:r>
            <a:r>
              <a:rPr lang="zh-CN" altLang="en-US" dirty="0">
                <a:latin typeface="Times New Roman" panose="02020603050405020304" pitchFamily="18" charset="0"/>
                <a:ea typeface="宋体" panose="02010600030101010101" pitchFamily="2" charset="-122"/>
              </a:rPr>
              <a:t>分清楚显示出来。 可见小信号成分在时域中很难辨识而在频域中容易识别。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文本框 117763"/>
          <p:cNvSpPr txBox="1"/>
          <p:nvPr/>
        </p:nvSpPr>
        <p:spPr>
          <a:xfrm>
            <a:off x="2438400" y="5562600"/>
            <a:ext cx="49149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3-26 </a:t>
            </a:r>
            <a:r>
              <a:rPr lang="zh-CN" altLang="en-US" dirty="0">
                <a:latin typeface="Times New Roman" panose="02020603050405020304" pitchFamily="18" charset="0"/>
                <a:ea typeface="宋体" panose="02010600030101010101" pitchFamily="2" charset="-122"/>
              </a:rPr>
              <a:t>已知信号的时域图和幅频图 </a:t>
            </a:r>
            <a:endParaRPr lang="zh-CN" altLang="en-US">
              <a:latin typeface="Times New Roman" panose="02020603050405020304" pitchFamily="18" charset="0"/>
              <a:ea typeface="宋体" panose="02010600030101010101" pitchFamily="2" charset="-122"/>
            </a:endParaRPr>
          </a:p>
        </p:txBody>
      </p:sp>
      <p:pic>
        <p:nvPicPr>
          <p:cNvPr id="122882" name="图片 117767" descr="3-26"/>
          <p:cNvPicPr>
            <a:picLocks noChangeAspect="1"/>
          </p:cNvPicPr>
          <p:nvPr/>
        </p:nvPicPr>
        <p:blipFill>
          <a:blip r:embed="rId1"/>
          <a:stretch>
            <a:fillRect/>
          </a:stretch>
        </p:blipFill>
        <p:spPr>
          <a:xfrm>
            <a:off x="1714500" y="2133600"/>
            <a:ext cx="5715000" cy="2590800"/>
          </a:xfrm>
          <a:prstGeom prst="rect">
            <a:avLst/>
          </a:prstGeom>
          <a:noFill/>
          <a:ln w="9525">
            <a:noFill/>
          </a:ln>
        </p:spPr>
      </p:pic>
    </p:spTree>
  </p:cSld>
  <p:clrMapOvr>
    <a:masterClrMapping/>
  </p:clrMapOvr>
  <p:transition>
    <p:zo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3905" name="对象 310276"/>
          <p:cNvGraphicFramePr/>
          <p:nvPr/>
        </p:nvGraphicFramePr>
        <p:xfrm>
          <a:off x="684213" y="620713"/>
          <a:ext cx="7993062" cy="4956175"/>
        </p:xfrm>
        <a:graphic>
          <a:graphicData uri="http://schemas.openxmlformats.org/presentationml/2006/ole">
            <mc:AlternateContent xmlns:mc="http://schemas.openxmlformats.org/markup-compatibility/2006">
              <mc:Choice xmlns:v="urn:schemas-microsoft-com:vml" Requires="v">
                <p:oleObj spid="_x0000_s3180" name="" r:id="rId1" imgW="3872230" imgH="2404745" progId="Word.Document.8">
                  <p:embed/>
                </p:oleObj>
              </mc:Choice>
              <mc:Fallback>
                <p:oleObj name="" r:id="rId1" imgW="3872230" imgH="2404745" progId="Word.Document.8">
                  <p:embed/>
                  <p:pic>
                    <p:nvPicPr>
                      <p:cNvPr id="0" name="图片 3179"/>
                      <p:cNvPicPr/>
                      <p:nvPr/>
                    </p:nvPicPr>
                    <p:blipFill>
                      <a:blip r:embed="rId2"/>
                      <a:stretch>
                        <a:fillRect/>
                      </a:stretch>
                    </p:blipFill>
                    <p:spPr>
                      <a:xfrm>
                        <a:off x="684213" y="620713"/>
                        <a:ext cx="7993062" cy="4956175"/>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4929" name="对象 311300"/>
          <p:cNvGraphicFramePr/>
          <p:nvPr/>
        </p:nvGraphicFramePr>
        <p:xfrm>
          <a:off x="827088" y="546100"/>
          <a:ext cx="7980362" cy="5762625"/>
        </p:xfrm>
        <a:graphic>
          <a:graphicData uri="http://schemas.openxmlformats.org/presentationml/2006/ole">
            <mc:AlternateContent xmlns:mc="http://schemas.openxmlformats.org/markup-compatibility/2006">
              <mc:Choice xmlns:v="urn:schemas-microsoft-com:vml" Requires="v">
                <p:oleObj spid="_x0000_s3181" name="" r:id="rId1" imgW="3565525" imgH="2576830" progId="Word.Document.8">
                  <p:embed/>
                </p:oleObj>
              </mc:Choice>
              <mc:Fallback>
                <p:oleObj name="" r:id="rId1" imgW="3565525" imgH="2576830" progId="Word.Document.8">
                  <p:embed/>
                  <p:pic>
                    <p:nvPicPr>
                      <p:cNvPr id="0" name="图片 3180"/>
                      <p:cNvPicPr/>
                      <p:nvPr/>
                    </p:nvPicPr>
                    <p:blipFill>
                      <a:blip r:embed="rId2"/>
                      <a:stretch>
                        <a:fillRect/>
                      </a:stretch>
                    </p:blipFill>
                    <p:spPr>
                      <a:xfrm>
                        <a:off x="827088" y="546100"/>
                        <a:ext cx="7980362" cy="5762625"/>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文本框 315395"/>
          <p:cNvSpPr txBox="1"/>
          <p:nvPr/>
        </p:nvSpPr>
        <p:spPr>
          <a:xfrm>
            <a:off x="2195513" y="5516563"/>
            <a:ext cx="4857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3-27  </a:t>
            </a:r>
            <a:r>
              <a:rPr lang="zh-CN" altLang="en-US" dirty="0">
                <a:latin typeface="Times New Roman" panose="02020603050405020304" pitchFamily="18" charset="0"/>
                <a:ea typeface="宋体" panose="02010600030101010101" pitchFamily="2" charset="-122"/>
              </a:rPr>
              <a:t>已知信号的时域图和幅频图</a:t>
            </a:r>
            <a:endParaRPr lang="zh-CN" altLang="en-US" dirty="0">
              <a:latin typeface="Times New Roman" panose="02020603050405020304" pitchFamily="18" charset="0"/>
              <a:ea typeface="宋体" panose="02010600030101010101" pitchFamily="2" charset="-122"/>
            </a:endParaRPr>
          </a:p>
        </p:txBody>
      </p:sp>
      <p:pic>
        <p:nvPicPr>
          <p:cNvPr id="125954" name="图片 315397" descr="3-27"/>
          <p:cNvPicPr>
            <a:picLocks noChangeAspect="1"/>
          </p:cNvPicPr>
          <p:nvPr/>
        </p:nvPicPr>
        <p:blipFill>
          <a:blip r:embed="rId1"/>
          <a:stretch>
            <a:fillRect/>
          </a:stretch>
        </p:blipFill>
        <p:spPr>
          <a:xfrm>
            <a:off x="1714500" y="1976438"/>
            <a:ext cx="5715000" cy="2905125"/>
          </a:xfrm>
          <a:prstGeom prst="rect">
            <a:avLst/>
          </a:prstGeom>
          <a:noFill/>
          <a:ln w="9525">
            <a:noFill/>
          </a:ln>
        </p:spPr>
      </p:pic>
    </p:spTree>
  </p:cSld>
  <p:clrMapOvr>
    <a:masterClrMapping/>
  </p:clrMapOvr>
  <p:transition>
    <p:zo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文本框 313348"/>
          <p:cNvSpPr txBox="1"/>
          <p:nvPr/>
        </p:nvSpPr>
        <p:spPr>
          <a:xfrm>
            <a:off x="611188" y="620713"/>
            <a:ext cx="8064500" cy="4838700"/>
          </a:xfrm>
          <a:prstGeom prst="rect">
            <a:avLst/>
          </a:prstGeom>
          <a:noFill/>
          <a:ln w="9525">
            <a:noFill/>
          </a:ln>
        </p:spPr>
        <p:txBody>
          <a:bodyPr anchor="t">
            <a:spAutoFit/>
          </a:bodyPr>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MATLAB</a:t>
            </a:r>
            <a:r>
              <a:rPr lang="zh-CN" altLang="en-US" dirty="0">
                <a:latin typeface="Times New Roman" panose="02020603050405020304" pitchFamily="18" charset="0"/>
                <a:ea typeface="宋体" panose="02010600030101010101" pitchFamily="2" charset="-122"/>
              </a:rPr>
              <a:t>中计算序列的离散傅里叶变换和逆变换是采用快速算法，利用</a:t>
            </a:r>
            <a:r>
              <a:rPr lang="en-US" altLang="zh-CN" err="1">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和</a:t>
            </a:r>
            <a:r>
              <a:rPr lang="en-US" altLang="zh-CN" err="1">
                <a:latin typeface="Times New Roman" panose="02020603050405020304" pitchFamily="18" charset="0"/>
                <a:ea typeface="宋体" panose="02010600030101010101" pitchFamily="2" charset="-122"/>
              </a:rPr>
              <a:t>ifft</a:t>
            </a:r>
            <a:r>
              <a:rPr lang="zh-CN" altLang="en-US" dirty="0">
                <a:latin typeface="Times New Roman" panose="02020603050405020304" pitchFamily="18" charset="0"/>
                <a:ea typeface="宋体" panose="02010600030101010101" pitchFamily="2" charset="-122"/>
              </a:rPr>
              <a:t>函数实现。　</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函数</a:t>
            </a:r>
            <a:r>
              <a:rPr lang="en-US" altLang="zh-CN" err="1">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用来求序列的</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调用格式为：</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[XK]=fft(xn,N</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其中，</a:t>
            </a:r>
            <a:r>
              <a:rPr lang="en-US" altLang="zh-CN" err="1">
                <a:latin typeface="Times New Roman" panose="02020603050405020304" pitchFamily="18" charset="0"/>
                <a:ea typeface="宋体" panose="02010600030101010101" pitchFamily="2" charset="-122"/>
              </a:rPr>
              <a:t>xn</a:t>
            </a:r>
            <a:r>
              <a:rPr lang="zh-CN" altLang="en-US" dirty="0">
                <a:latin typeface="Times New Roman" panose="02020603050405020304" pitchFamily="18" charset="0"/>
                <a:ea typeface="宋体" panose="02010600030101010101" pitchFamily="2" charset="-122"/>
              </a:rPr>
              <a:t>为有限长序列，</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为序列</a:t>
            </a:r>
            <a:r>
              <a:rPr lang="en-US" altLang="zh-CN" err="1">
                <a:latin typeface="Times New Roman" panose="02020603050405020304" pitchFamily="18" charset="0"/>
                <a:ea typeface="宋体" panose="02010600030101010101" pitchFamily="2" charset="-122"/>
              </a:rPr>
              <a:t>xn</a:t>
            </a:r>
            <a:r>
              <a:rPr lang="zh-CN" altLang="en-US" dirty="0">
                <a:latin typeface="Times New Roman" panose="02020603050405020304" pitchFamily="18" charset="0"/>
                <a:ea typeface="宋体" panose="02010600030101010101" pitchFamily="2" charset="-122"/>
              </a:rPr>
              <a:t>的长度，</a:t>
            </a:r>
            <a:r>
              <a:rPr lang="en-US" altLang="zh-CN" dirty="0">
                <a:latin typeface="Times New Roman" panose="02020603050405020304" pitchFamily="18" charset="0"/>
                <a:ea typeface="宋体" panose="02010600030101010101" pitchFamily="2" charset="-122"/>
              </a:rPr>
              <a:t>XK</a:t>
            </a:r>
            <a:r>
              <a:rPr lang="zh-CN" altLang="en-US" dirty="0">
                <a:latin typeface="Times New Roman" panose="02020603050405020304" pitchFamily="18" charset="0"/>
                <a:ea typeface="宋体" panose="02010600030101010101" pitchFamily="2" charset="-122"/>
              </a:rPr>
              <a:t>为序列</a:t>
            </a:r>
            <a:r>
              <a:rPr lang="en-US" altLang="zh-CN" err="1">
                <a:latin typeface="Times New Roman" panose="02020603050405020304" pitchFamily="18" charset="0"/>
                <a:ea typeface="宋体" panose="02010600030101010101" pitchFamily="2" charset="-122"/>
              </a:rPr>
              <a:t>xn</a:t>
            </a:r>
            <a:r>
              <a:rPr lang="zh-CN" altLang="en-US" dirty="0">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DFT.</a:t>
            </a:r>
            <a:endParaRPr lang="en-US" altLang="zh-CN">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函数</a:t>
            </a:r>
            <a:r>
              <a:rPr lang="en-US" altLang="zh-CN" err="1">
                <a:latin typeface="Times New Roman" panose="02020603050405020304" pitchFamily="18" charset="0"/>
                <a:ea typeface="宋体" panose="02010600030101010101" pitchFamily="2" charset="-122"/>
              </a:rPr>
              <a:t>ifft</a:t>
            </a:r>
            <a:r>
              <a:rPr lang="zh-CN" altLang="en-US" dirty="0">
                <a:latin typeface="Times New Roman" panose="02020603050405020304" pitchFamily="18" charset="0"/>
                <a:ea typeface="宋体" panose="02010600030101010101" pitchFamily="2" charset="-122"/>
              </a:rPr>
              <a:t>用来求</a:t>
            </a:r>
            <a:r>
              <a:rPr lang="en-US" altLang="zh-CN" dirty="0">
                <a:latin typeface="Times New Roman" panose="02020603050405020304" pitchFamily="18" charset="0"/>
                <a:ea typeface="宋体" panose="02010600030101010101" pitchFamily="2" charset="-122"/>
              </a:rPr>
              <a:t>IDFT,</a:t>
            </a:r>
            <a:r>
              <a:rPr lang="zh-CN" altLang="en-US" dirty="0">
                <a:latin typeface="Times New Roman" panose="02020603050405020304" pitchFamily="18" charset="0"/>
                <a:ea typeface="宋体" panose="02010600030101010101" pitchFamily="2" charset="-122"/>
              </a:rPr>
              <a:t>调用格式为：</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[xn]=ifft(XK,N</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其中，</a:t>
            </a:r>
            <a:r>
              <a:rPr lang="en-US" altLang="zh-CN" dirty="0">
                <a:latin typeface="Times New Roman" panose="02020603050405020304" pitchFamily="18" charset="0"/>
                <a:ea typeface="宋体" panose="02010600030101010101" pitchFamily="2" charset="-122"/>
              </a:rPr>
              <a:t>XK</a:t>
            </a:r>
            <a:r>
              <a:rPr lang="zh-CN" altLang="en-US" dirty="0">
                <a:latin typeface="Times New Roman" panose="02020603050405020304" pitchFamily="18" charset="0"/>
                <a:ea typeface="宋体" panose="02010600030101010101" pitchFamily="2" charset="-122"/>
              </a:rPr>
              <a:t>为有限长序列，</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为序列</a:t>
            </a:r>
            <a:r>
              <a:rPr lang="en-US" altLang="zh-CN" dirty="0">
                <a:latin typeface="Times New Roman" panose="02020603050405020304" pitchFamily="18" charset="0"/>
                <a:ea typeface="宋体" panose="02010600030101010101" pitchFamily="2" charset="-122"/>
              </a:rPr>
              <a:t>XK</a:t>
            </a:r>
            <a:r>
              <a:rPr lang="zh-CN" altLang="en-US" dirty="0">
                <a:latin typeface="Times New Roman" panose="02020603050405020304" pitchFamily="18" charset="0"/>
                <a:ea typeface="宋体" panose="02010600030101010101" pitchFamily="2" charset="-122"/>
              </a:rPr>
              <a:t>的长度，</a:t>
            </a:r>
            <a:r>
              <a:rPr lang="en-US" altLang="zh-CN" err="1">
                <a:latin typeface="Times New Roman" panose="02020603050405020304" pitchFamily="18" charset="0"/>
                <a:ea typeface="宋体" panose="02010600030101010101" pitchFamily="2" charset="-122"/>
              </a:rPr>
              <a:t>xn</a:t>
            </a:r>
            <a:r>
              <a:rPr lang="zh-CN" altLang="en-US" dirty="0">
                <a:latin typeface="Times New Roman" panose="02020603050405020304" pitchFamily="18" charset="0"/>
                <a:ea typeface="宋体" panose="02010600030101010101" pitchFamily="2" charset="-122"/>
              </a:rPr>
              <a:t>为序列</a:t>
            </a:r>
            <a:r>
              <a:rPr lang="en-US" altLang="zh-CN" dirty="0">
                <a:latin typeface="Times New Roman" panose="02020603050405020304" pitchFamily="18" charset="0"/>
                <a:ea typeface="宋体" panose="02010600030101010101" pitchFamily="2" charset="-122"/>
              </a:rPr>
              <a:t>XK</a:t>
            </a:r>
            <a:r>
              <a:rPr lang="zh-CN" altLang="en-US" dirty="0">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IDFT.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文本框 116740"/>
          <p:cNvSpPr txBox="1"/>
          <p:nvPr/>
        </p:nvSpPr>
        <p:spPr>
          <a:xfrm>
            <a:off x="2743200" y="762000"/>
            <a:ext cx="3905250"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3.8  FFT</a:t>
            </a:r>
            <a:r>
              <a:rPr lang="zh-CN" altLang="en-US" sz="3200" b="1" dirty="0">
                <a:latin typeface="Times New Roman" panose="02020603050405020304" pitchFamily="18" charset="0"/>
                <a:ea typeface="宋体" panose="02010600030101010101" pitchFamily="2" charset="-122"/>
              </a:rPr>
              <a:t>的其他应用  </a:t>
            </a:r>
            <a:endParaRPr lang="zh-CN" altLang="en-US" sz="3200" b="1">
              <a:latin typeface="Times New Roman" panose="02020603050405020304" pitchFamily="18" charset="0"/>
              <a:ea typeface="宋体" panose="02010600030101010101" pitchFamily="2" charset="-122"/>
            </a:endParaRPr>
          </a:p>
        </p:txBody>
      </p:sp>
      <p:sp>
        <p:nvSpPr>
          <p:cNvPr id="128002" name="文本框 116741"/>
          <p:cNvSpPr txBox="1"/>
          <p:nvPr/>
        </p:nvSpPr>
        <p:spPr>
          <a:xfrm>
            <a:off x="212725" y="1717675"/>
            <a:ext cx="5518150" cy="457200"/>
          </a:xfrm>
          <a:prstGeom prst="rect">
            <a:avLst/>
          </a:prstGeom>
          <a:no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3.8.1 </a:t>
            </a:r>
            <a:r>
              <a:rPr lang="zh-CN" altLang="en-US" b="1" dirty="0">
                <a:latin typeface="Times New Roman" panose="02020603050405020304" pitchFamily="18" charset="0"/>
                <a:ea typeface="宋体" panose="02010600030101010101" pitchFamily="2" charset="-122"/>
              </a:rPr>
              <a:t>线性卷积的</a:t>
            </a:r>
            <a:r>
              <a:rPr lang="en-US" altLang="zh-CN" b="1" dirty="0">
                <a:latin typeface="Times New Roman" panose="02020603050405020304" pitchFamily="18" charset="0"/>
                <a:ea typeface="宋体" panose="02010600030101010101" pitchFamily="2" charset="-122"/>
              </a:rPr>
              <a:t>FFT</a:t>
            </a:r>
            <a:r>
              <a:rPr lang="zh-CN" altLang="en-US" b="1" dirty="0">
                <a:latin typeface="Times New Roman" panose="02020603050405020304" pitchFamily="18" charset="0"/>
                <a:ea typeface="宋体" panose="02010600030101010101" pitchFamily="2" charset="-122"/>
              </a:rPr>
              <a:t>算法</a:t>
            </a:r>
            <a:r>
              <a:rPr lang="en-US" altLang="zh-CN" b="1">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快速卷积 </a:t>
            </a:r>
            <a:endParaRPr lang="zh-CN" altLang="en-US" b="1">
              <a:latin typeface="Times New Roman" panose="02020603050405020304" pitchFamily="18" charset="0"/>
              <a:ea typeface="宋体" panose="02010600030101010101" pitchFamily="2" charset="-122"/>
            </a:endParaRPr>
          </a:p>
        </p:txBody>
      </p:sp>
      <p:sp>
        <p:nvSpPr>
          <p:cNvPr id="128003" name="文本框 116742"/>
          <p:cNvSpPr txBox="1"/>
          <p:nvPr/>
        </p:nvSpPr>
        <p:spPr>
          <a:xfrm>
            <a:off x="152400" y="2362200"/>
            <a:ext cx="8839200" cy="264795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1. FFT</a:t>
            </a:r>
            <a:r>
              <a:rPr lang="zh-CN" altLang="en-US" b="1" dirty="0">
                <a:latin typeface="Times New Roman" panose="02020603050405020304" pitchFamily="18" charset="0"/>
                <a:ea typeface="宋体" panose="02010600030101010101" pitchFamily="2" charset="-122"/>
              </a:rPr>
              <a:t>的快速卷积法</a:t>
            </a:r>
            <a:endParaRPr lang="zh-CN" altLang="en-US">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以</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滤波器为例，因为它的输出等于有限长单位脉冲响应</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与有限长输入信号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的离散线性卷积。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点，</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点， 输出</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28004" name="对象 116743"/>
          <p:cNvGraphicFramePr/>
          <p:nvPr/>
        </p:nvGraphicFramePr>
        <p:xfrm>
          <a:off x="2438400" y="5105400"/>
          <a:ext cx="3886200" cy="1119188"/>
        </p:xfrm>
        <a:graphic>
          <a:graphicData uri="http://schemas.openxmlformats.org/presentationml/2006/ole">
            <mc:AlternateContent xmlns:mc="http://schemas.openxmlformats.org/markup-compatibility/2006">
              <mc:Choice xmlns:v="urn:schemas-microsoft-com:vml" Requires="v">
                <p:oleObj spid="_x0000_s3186" name="" r:id="rId1" imgW="1497965" imgH="431800" progId="Equation.3">
                  <p:embed/>
                </p:oleObj>
              </mc:Choice>
              <mc:Fallback>
                <p:oleObj name="" r:id="rId1" imgW="1497965" imgH="431800" progId="Equation.3">
                  <p:embed/>
                  <p:pic>
                    <p:nvPicPr>
                      <p:cNvPr id="0" name="图片 3185"/>
                      <p:cNvPicPr/>
                      <p:nvPr/>
                    </p:nvPicPr>
                    <p:blipFill>
                      <a:blip r:embed="rId2"/>
                      <a:stretch>
                        <a:fillRect/>
                      </a:stretch>
                    </p:blipFill>
                    <p:spPr>
                      <a:xfrm>
                        <a:off x="2438400" y="5105400"/>
                        <a:ext cx="3886200" cy="1119188"/>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文本框 118787"/>
          <p:cNvSpPr txBox="1"/>
          <p:nvPr/>
        </p:nvSpPr>
        <p:spPr>
          <a:xfrm>
            <a:off x="228600" y="457200"/>
            <a:ext cx="8686800" cy="2397125"/>
          </a:xfrm>
          <a:prstGeom prst="rect">
            <a:avLst/>
          </a:prstGeom>
          <a:noFill/>
          <a:ln w="9525">
            <a:noFill/>
          </a:ln>
        </p:spPr>
        <p:txBody>
          <a:bodyPr anchor="t">
            <a:spAutoFit/>
          </a:bodyPr>
          <a:p>
            <a:pPr algn="just">
              <a:lnSpc>
                <a:spcPct val="158000"/>
              </a:lnSpc>
              <a:spcBef>
                <a:spcPct val="50000"/>
              </a:spcBef>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也是有限长序列，其点数为</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点。 下面首先讨论直接计算线性卷积的运算量。 由于每一个</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的输入值都必须和全部的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值相乘一次，因而总共需要</a:t>
            </a:r>
            <a:r>
              <a:rPr lang="en-US" altLang="zh-CN" i="1">
                <a:latin typeface="Times New Roman" panose="02020603050405020304" pitchFamily="18" charset="0"/>
                <a:ea typeface="宋体" panose="02010600030101010101" pitchFamily="2" charset="-122"/>
              </a:rPr>
              <a:t>LM</a:t>
            </a:r>
            <a:r>
              <a:rPr lang="zh-CN" altLang="en-US" dirty="0">
                <a:latin typeface="Times New Roman" panose="02020603050405020304" pitchFamily="18" charset="0"/>
                <a:ea typeface="宋体" panose="02010600030101010101" pitchFamily="2" charset="-122"/>
              </a:rPr>
              <a:t>次乘法，这就是直接计算的乘法次</a:t>
            </a:r>
            <a:r>
              <a:rPr lang="zh-CN" altLang="en-US" dirty="0">
                <a:latin typeface="Times New Roman" panose="02020603050405020304" pitchFamily="18" charset="0"/>
                <a:ea typeface="宋体" panose="02010600030101010101" pitchFamily="2" charset="-122"/>
              </a:rPr>
              <a:t>数，以</a:t>
            </a:r>
            <a:r>
              <a:rPr lang="en-US" altLang="zh-CN" i="1" err="1">
                <a:latin typeface="Times New Roman" panose="02020603050405020304" pitchFamily="18" charset="0"/>
                <a:ea typeface="宋体" panose="02010600030101010101" pitchFamily="2" charset="-122"/>
              </a:rPr>
              <a:t>m</a:t>
            </a:r>
            <a:r>
              <a:rPr lang="en-US" altLang="zh-CN" baseline="-25000" err="1">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表示为 </a:t>
            </a:r>
            <a:endParaRPr lang="zh-CN" altLang="en-US">
              <a:latin typeface="Times New Roman" panose="02020603050405020304" pitchFamily="18" charset="0"/>
              <a:ea typeface="宋体" panose="02010600030101010101" pitchFamily="2" charset="-122"/>
            </a:endParaRPr>
          </a:p>
        </p:txBody>
      </p:sp>
      <p:sp>
        <p:nvSpPr>
          <p:cNvPr id="129026" name="文本框 118788"/>
          <p:cNvSpPr txBox="1"/>
          <p:nvPr/>
        </p:nvSpPr>
        <p:spPr>
          <a:xfrm>
            <a:off x="3962400" y="2819400"/>
            <a:ext cx="1177925" cy="457200"/>
          </a:xfrm>
          <a:prstGeom prst="rect">
            <a:avLst/>
          </a:prstGeom>
          <a:noFill/>
          <a:ln w="9525">
            <a:noFill/>
          </a:ln>
        </p:spPr>
        <p:txBody>
          <a:bodyPr wrap="none" anchor="t">
            <a:spAutoFit/>
          </a:bodyPr>
          <a:p>
            <a:r>
              <a:rPr lang="en-US" altLang="zh-CN" i="1" err="1">
                <a:latin typeface="Times New Roman" panose="02020603050405020304" pitchFamily="18" charset="0"/>
                <a:ea typeface="宋体" panose="02010600030101010101" pitchFamily="2" charset="-122"/>
              </a:rPr>
              <a:t>m</a:t>
            </a:r>
            <a:r>
              <a:rPr lang="en-US" altLang="zh-CN" baseline="-25000" err="1">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LM</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29027" name="文本框 118789"/>
          <p:cNvSpPr txBox="1"/>
          <p:nvPr/>
        </p:nvSpPr>
        <p:spPr>
          <a:xfrm>
            <a:off x="228600" y="3352800"/>
            <a:ext cx="8763000" cy="1516063"/>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算法也就是用圆周卷积来代替这一线性卷积时，为了不产生混叠，其必要</a:t>
            </a:r>
            <a:r>
              <a:rPr lang="zh-CN" altLang="en-US" dirty="0">
                <a:latin typeface="Times New Roman" panose="02020603050405020304" pitchFamily="18" charset="0"/>
                <a:ea typeface="宋体" panose="02010600030101010101" pitchFamily="2" charset="-122"/>
              </a:rPr>
              <a:t>条件是使</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都补零值点，补到至少</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即</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29028" name="文本框 118790"/>
          <p:cNvSpPr txBox="1"/>
          <p:nvPr/>
        </p:nvSpPr>
        <p:spPr>
          <a:xfrm>
            <a:off x="7239000" y="2819400"/>
            <a:ext cx="1416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129029" name="对象 118791"/>
          <p:cNvGraphicFramePr/>
          <p:nvPr/>
        </p:nvGraphicFramePr>
        <p:xfrm>
          <a:off x="304800" y="4953000"/>
          <a:ext cx="1905000" cy="1230313"/>
        </p:xfrm>
        <a:graphic>
          <a:graphicData uri="http://schemas.openxmlformats.org/presentationml/2006/ole">
            <mc:AlternateContent xmlns:mc="http://schemas.openxmlformats.org/markup-compatibility/2006">
              <mc:Choice xmlns:v="urn:schemas-microsoft-com:vml" Requires="v">
                <p:oleObj spid="_x0000_s3188" name="" r:id="rId1" imgW="824865" imgH="533400" progId="Equation.3">
                  <p:embed/>
                </p:oleObj>
              </mc:Choice>
              <mc:Fallback>
                <p:oleObj name="" r:id="rId1" imgW="824865" imgH="533400" progId="Equation.3">
                  <p:embed/>
                  <p:pic>
                    <p:nvPicPr>
                      <p:cNvPr id="0" name="图片 3187"/>
                      <p:cNvPicPr/>
                      <p:nvPr/>
                    </p:nvPicPr>
                    <p:blipFill>
                      <a:blip r:embed="rId2"/>
                      <a:stretch>
                        <a:fillRect/>
                      </a:stretch>
                    </p:blipFill>
                    <p:spPr>
                      <a:xfrm>
                        <a:off x="304800" y="4953000"/>
                        <a:ext cx="1905000" cy="1230313"/>
                      </a:xfrm>
                      <a:prstGeom prst="rect">
                        <a:avLst/>
                      </a:prstGeom>
                      <a:noFill/>
                      <a:ln w="38100">
                        <a:noFill/>
                        <a:miter/>
                      </a:ln>
                    </p:spPr>
                  </p:pic>
                </p:oleObj>
              </mc:Fallback>
            </mc:AlternateContent>
          </a:graphicData>
        </a:graphic>
      </p:graphicFrame>
      <p:sp>
        <p:nvSpPr>
          <p:cNvPr id="129030" name="文本框 118792"/>
          <p:cNvSpPr txBox="1"/>
          <p:nvPr/>
        </p:nvSpPr>
        <p:spPr>
          <a:xfrm>
            <a:off x="2498725" y="4994275"/>
            <a:ext cx="1598613"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0≤n≤L</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129031" name="文本框 118793"/>
          <p:cNvSpPr txBox="1"/>
          <p:nvPr/>
        </p:nvSpPr>
        <p:spPr>
          <a:xfrm>
            <a:off x="2498725" y="5680075"/>
            <a:ext cx="1636713"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graphicFrame>
        <p:nvGraphicFramePr>
          <p:cNvPr id="129032" name="对象 118794"/>
          <p:cNvGraphicFramePr/>
          <p:nvPr/>
        </p:nvGraphicFramePr>
        <p:xfrm>
          <a:off x="4724400" y="5029200"/>
          <a:ext cx="1905000" cy="1230313"/>
        </p:xfrm>
        <a:graphic>
          <a:graphicData uri="http://schemas.openxmlformats.org/presentationml/2006/ole">
            <mc:AlternateContent xmlns:mc="http://schemas.openxmlformats.org/markup-compatibility/2006">
              <mc:Choice xmlns:v="urn:schemas-microsoft-com:vml" Requires="v">
                <p:oleObj spid="_x0000_s3187" name="" r:id="rId3" imgW="824865" imgH="533400" progId="Equation.3">
                  <p:embed/>
                </p:oleObj>
              </mc:Choice>
              <mc:Fallback>
                <p:oleObj name="" r:id="rId3" imgW="824865" imgH="533400" progId="Equation.3">
                  <p:embed/>
                  <p:pic>
                    <p:nvPicPr>
                      <p:cNvPr id="0" name="图片 3186"/>
                      <p:cNvPicPr/>
                      <p:nvPr/>
                    </p:nvPicPr>
                    <p:blipFill>
                      <a:blip r:embed="rId4"/>
                      <a:stretch>
                        <a:fillRect/>
                      </a:stretch>
                    </p:blipFill>
                    <p:spPr>
                      <a:xfrm>
                        <a:off x="4724400" y="5029200"/>
                        <a:ext cx="1905000" cy="1230313"/>
                      </a:xfrm>
                      <a:prstGeom prst="rect">
                        <a:avLst/>
                      </a:prstGeom>
                      <a:noFill/>
                      <a:ln w="38100">
                        <a:noFill/>
                        <a:miter/>
                      </a:ln>
                    </p:spPr>
                  </p:pic>
                </p:oleObj>
              </mc:Fallback>
            </mc:AlternateContent>
          </a:graphicData>
        </a:graphic>
      </p:graphicFrame>
      <p:sp>
        <p:nvSpPr>
          <p:cNvPr id="129033" name="文本框 118795"/>
          <p:cNvSpPr txBox="1"/>
          <p:nvPr/>
        </p:nvSpPr>
        <p:spPr>
          <a:xfrm>
            <a:off x="6858000" y="5029200"/>
            <a:ext cx="16700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129034" name="文本框 118796"/>
          <p:cNvSpPr txBox="1"/>
          <p:nvPr/>
        </p:nvSpPr>
        <p:spPr>
          <a:xfrm>
            <a:off x="6781800" y="5756275"/>
            <a:ext cx="1720850"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文本框 120835"/>
          <p:cNvSpPr txBox="1"/>
          <p:nvPr/>
        </p:nvSpPr>
        <p:spPr>
          <a:xfrm>
            <a:off x="652463" y="549275"/>
            <a:ext cx="269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然后计算圆周卷积 </a:t>
            </a:r>
            <a:endParaRPr lang="zh-CN" altLang="en-US">
              <a:latin typeface="Times New Roman" panose="02020603050405020304" pitchFamily="18" charset="0"/>
              <a:ea typeface="宋体" panose="02010600030101010101" pitchFamily="2" charset="-122"/>
            </a:endParaRPr>
          </a:p>
        </p:txBody>
      </p:sp>
      <p:grpSp>
        <p:nvGrpSpPr>
          <p:cNvPr id="130050" name="组合 120840"/>
          <p:cNvGrpSpPr/>
          <p:nvPr/>
        </p:nvGrpSpPr>
        <p:grpSpPr>
          <a:xfrm>
            <a:off x="3335338" y="1041400"/>
            <a:ext cx="2590800" cy="568325"/>
            <a:chOff x="1872" y="960"/>
            <a:chExt cx="1632" cy="358"/>
          </a:xfrm>
        </p:grpSpPr>
        <p:graphicFrame>
          <p:nvGraphicFramePr>
            <p:cNvPr id="130051" name="对象 120836"/>
            <p:cNvGraphicFramePr/>
            <p:nvPr/>
          </p:nvGraphicFramePr>
          <p:xfrm>
            <a:off x="1872" y="960"/>
            <a:ext cx="1632" cy="358"/>
          </p:xfrm>
          <a:graphic>
            <a:graphicData uri="http://schemas.openxmlformats.org/presentationml/2006/ole">
              <mc:AlternateContent xmlns:mc="http://schemas.openxmlformats.org/markup-compatibility/2006">
                <mc:Choice xmlns:v="urn:schemas-microsoft-com:vml" Requires="v">
                  <p:oleObj spid="_x0000_s3185" name="" r:id="rId1" imgW="1217930" imgH="266065" progId="Equation.3">
                    <p:embed/>
                  </p:oleObj>
                </mc:Choice>
                <mc:Fallback>
                  <p:oleObj name="" r:id="rId1" imgW="1217930" imgH="266065" progId="Equation.3">
                    <p:embed/>
                    <p:pic>
                      <p:nvPicPr>
                        <p:cNvPr id="0" name="图片 3184"/>
                        <p:cNvPicPr/>
                        <p:nvPr/>
                      </p:nvPicPr>
                      <p:blipFill>
                        <a:blip r:embed="rId2"/>
                        <a:stretch>
                          <a:fillRect/>
                        </a:stretch>
                      </p:blipFill>
                      <p:spPr>
                        <a:xfrm>
                          <a:off x="1872" y="960"/>
                          <a:ext cx="1632" cy="358"/>
                        </a:xfrm>
                        <a:prstGeom prst="rect">
                          <a:avLst/>
                        </a:prstGeom>
                        <a:noFill/>
                        <a:ln w="38100">
                          <a:noFill/>
                          <a:miter/>
                        </a:ln>
                      </p:spPr>
                    </p:pic>
                  </p:oleObj>
                </mc:Fallback>
              </mc:AlternateContent>
            </a:graphicData>
          </a:graphic>
        </p:graphicFrame>
        <p:grpSp>
          <p:nvGrpSpPr>
            <p:cNvPr id="130052" name="组合 120839"/>
            <p:cNvGrpSpPr/>
            <p:nvPr/>
          </p:nvGrpSpPr>
          <p:grpSpPr>
            <a:xfrm>
              <a:off x="2865" y="1008"/>
              <a:ext cx="223" cy="250"/>
              <a:chOff x="1376" y="3136"/>
              <a:chExt cx="223" cy="250"/>
            </a:xfrm>
          </p:grpSpPr>
          <p:sp>
            <p:nvSpPr>
              <p:cNvPr id="130053" name="椭圆 120837"/>
              <p:cNvSpPr/>
              <p:nvPr/>
            </p:nvSpPr>
            <p:spPr>
              <a:xfrm>
                <a:off x="1392" y="3168"/>
                <a:ext cx="192" cy="192"/>
              </a:xfrm>
              <a:prstGeom prst="ellipse">
                <a:avLst/>
              </a:prstGeom>
              <a:solidFill>
                <a:schemeClr val="bg1"/>
              </a:solidFill>
              <a:ln w="9525" cap="flat" cmpd="sng">
                <a:solidFill>
                  <a:schemeClr val="tx1"/>
                </a:solidFill>
                <a:prstDash val="solid"/>
                <a:round/>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sp>
            <p:nvSpPr>
              <p:cNvPr id="130054" name="文本框 120838"/>
              <p:cNvSpPr txBox="1"/>
              <p:nvPr/>
            </p:nvSpPr>
            <p:spPr>
              <a:xfrm>
                <a:off x="1376" y="3136"/>
                <a:ext cx="223" cy="250"/>
              </a:xfrm>
              <a:prstGeom prst="rect">
                <a:avLst/>
              </a:prstGeom>
              <a:noFill/>
              <a:ln w="9525">
                <a:noFill/>
              </a:ln>
            </p:spPr>
            <p:txBody>
              <a:bodyPr wrap="none" anchor="t">
                <a:spAutoFit/>
              </a:bodyPr>
              <a:p>
                <a:r>
                  <a:rPr lang="en-US" altLang="zh-CN" sz="2000" i="1">
                    <a:latin typeface="Times New Roman" panose="02020603050405020304" pitchFamily="18" charset="0"/>
                    <a:ea typeface="宋体" panose="02010600030101010101" pitchFamily="2" charset="-122"/>
                  </a:rPr>
                  <a:t>N</a:t>
                </a:r>
                <a:endParaRPr lang="en-US" altLang="zh-CN" sz="2000" i="1">
                  <a:latin typeface="Times New Roman" panose="02020603050405020304" pitchFamily="18" charset="0"/>
                  <a:ea typeface="宋体" panose="02010600030101010101" pitchFamily="2" charset="-122"/>
                </a:endParaRPr>
              </a:p>
            </p:txBody>
          </p:sp>
        </p:grpSp>
      </p:grpSp>
      <p:sp>
        <p:nvSpPr>
          <p:cNvPr id="130055" name="文本框 120841"/>
          <p:cNvSpPr txBox="1"/>
          <p:nvPr/>
        </p:nvSpPr>
        <p:spPr>
          <a:xfrm>
            <a:off x="668338" y="1574800"/>
            <a:ext cx="5397500" cy="4522788"/>
          </a:xfrm>
          <a:prstGeom prst="rect">
            <a:avLst/>
          </a:prstGeom>
          <a:noFill/>
          <a:ln w="9525">
            <a:noFill/>
          </a:ln>
        </p:spPr>
        <p:txBody>
          <a:bodyPr wrap="none" anchor="t">
            <a:spAutoFit/>
          </a:bodyPr>
          <a:p>
            <a:pPr>
              <a:lnSpc>
                <a:spcPct val="200000"/>
              </a:lnSpc>
            </a:pPr>
            <a:r>
              <a:rPr lang="zh-CN" altLang="en-US" dirty="0">
                <a:latin typeface="Times New Roman" panose="02020603050405020304" pitchFamily="18" charset="0"/>
                <a:ea typeface="宋体" panose="02010600030101010101" pitchFamily="2" charset="-122"/>
              </a:rPr>
              <a:t>这时，</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就能代表线性卷积的结果。  </a:t>
            </a:r>
            <a:endParaRPr lang="zh-CN" altLang="en-US" dirty="0">
              <a:latin typeface="Times New Roman" panose="02020603050405020304" pitchFamily="18" charset="0"/>
              <a:ea typeface="宋体" panose="02010600030101010101" pitchFamily="2" charset="-122"/>
            </a:endParaRPr>
          </a:p>
          <a:p>
            <a:pPr lvl="1" indent="0">
              <a:lnSpc>
                <a:spcPct val="200000"/>
              </a:lnSpc>
            </a:pPr>
            <a:r>
              <a:rPr lang="zh-CN" altLang="en-US" dirty="0">
                <a:latin typeface="Times New Roman" panose="02020603050405020304" pitchFamily="18" charset="0"/>
                <a:ea typeface="宋体" panose="02010600030101010101" pitchFamily="2" charset="-122"/>
              </a:rPr>
              <a:t>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的步骤如下： </a:t>
            </a:r>
            <a:endParaRPr lang="zh-CN" altLang="en-US" dirty="0">
              <a:latin typeface="Times New Roman" panose="02020603050405020304" pitchFamily="18" charset="0"/>
              <a:ea typeface="宋体" panose="02010600030101010101" pitchFamily="2" charset="-122"/>
            </a:endParaRPr>
          </a:p>
          <a:p>
            <a:pPr lvl="1" indent="0">
              <a:lnSpc>
                <a:spcPct val="200000"/>
              </a:lnSpc>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求</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endParaRPr lang="zh-CN" altLang="en-US" dirty="0">
              <a:latin typeface="Times New Roman" panose="02020603050405020304" pitchFamily="18" charset="0"/>
              <a:ea typeface="宋体" panose="02010600030101010101" pitchFamily="2" charset="-122"/>
            </a:endParaRPr>
          </a:p>
          <a:p>
            <a:pPr lvl="1" indent="0">
              <a:lnSpc>
                <a:spcPct val="200000"/>
              </a:lnSpc>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求</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endParaRPr lang="zh-CN" altLang="en-US" dirty="0">
              <a:latin typeface="Times New Roman" panose="02020603050405020304" pitchFamily="18" charset="0"/>
              <a:ea typeface="宋体" panose="02010600030101010101" pitchFamily="2" charset="-122"/>
            </a:endParaRPr>
          </a:p>
          <a:p>
            <a:pPr lvl="1" indent="0">
              <a:lnSpc>
                <a:spcPct val="200000"/>
              </a:lnSpc>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lvl="1" indent="0">
              <a:lnSpc>
                <a:spcPct val="200000"/>
              </a:lnSpc>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求</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)=IDFT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1073" name="组合 119813"/>
          <p:cNvGrpSpPr/>
          <p:nvPr/>
        </p:nvGrpSpPr>
        <p:grpSpPr>
          <a:xfrm>
            <a:off x="228600" y="304800"/>
            <a:ext cx="8763000" cy="1820863"/>
            <a:chOff x="144" y="288"/>
            <a:chExt cx="5520" cy="1147"/>
          </a:xfrm>
        </p:grpSpPr>
        <p:sp>
          <p:nvSpPr>
            <p:cNvPr id="131074" name="文本框 119811"/>
            <p:cNvSpPr txBox="1"/>
            <p:nvPr/>
          </p:nvSpPr>
          <p:spPr>
            <a:xfrm>
              <a:off x="144" y="288"/>
              <a:ext cx="5520" cy="1147"/>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步骤</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都可用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来完成。 此时的工作量如下： 三次</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运算共需要		    次相乘，还有步骤</a:t>
              </a:r>
              <a:r>
                <a:rPr lang="en-US" altLang="zh-CN" dirty="0">
                  <a:latin typeface="Times New Roman" panose="02020603050405020304" pitchFamily="18" charset="0"/>
                  <a:ea typeface="宋体" panose="02010600030101010101" pitchFamily="2" charset="-122"/>
                </a:rPr>
                <a:t>③</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次相乘，因此共需要相乘</a:t>
              </a:r>
              <a:r>
                <a:rPr lang="zh-CN" altLang="en-US" dirty="0">
                  <a:latin typeface="Times New Roman" panose="02020603050405020304" pitchFamily="18" charset="0"/>
                  <a:ea typeface="宋体" panose="02010600030101010101" pitchFamily="2" charset="-122"/>
                </a:rPr>
                <a:t>次数为 </a:t>
              </a:r>
              <a:endParaRPr lang="zh-CN" altLang="en-US">
                <a:latin typeface="Times New Roman" panose="02020603050405020304" pitchFamily="18" charset="0"/>
                <a:ea typeface="宋体" panose="02010600030101010101" pitchFamily="2" charset="-122"/>
              </a:endParaRPr>
            </a:p>
          </p:txBody>
        </p:sp>
        <p:graphicFrame>
          <p:nvGraphicFramePr>
            <p:cNvPr id="131075" name="对象 119812"/>
            <p:cNvGraphicFramePr/>
            <p:nvPr/>
          </p:nvGraphicFramePr>
          <p:xfrm>
            <a:off x="1920" y="672"/>
            <a:ext cx="768" cy="496"/>
          </p:xfrm>
          <a:graphic>
            <a:graphicData uri="http://schemas.openxmlformats.org/presentationml/2006/ole">
              <mc:AlternateContent xmlns:mc="http://schemas.openxmlformats.org/markup-compatibility/2006">
                <mc:Choice xmlns:v="urn:schemas-microsoft-com:vml" Requires="v">
                  <p:oleObj spid="_x0000_s3194" name="" r:id="rId1" imgW="609600" imgH="393700" progId="Equation.3">
                    <p:embed/>
                  </p:oleObj>
                </mc:Choice>
                <mc:Fallback>
                  <p:oleObj name="" r:id="rId1" imgW="609600" imgH="393700" progId="Equation.3">
                    <p:embed/>
                    <p:pic>
                      <p:nvPicPr>
                        <p:cNvPr id="0" name="图片 3193"/>
                        <p:cNvPicPr/>
                        <p:nvPr/>
                      </p:nvPicPr>
                      <p:blipFill>
                        <a:blip r:embed="rId2"/>
                        <a:stretch>
                          <a:fillRect/>
                        </a:stretch>
                      </p:blipFill>
                      <p:spPr>
                        <a:xfrm>
                          <a:off x="1920" y="672"/>
                          <a:ext cx="768" cy="496"/>
                        </a:xfrm>
                        <a:prstGeom prst="rect">
                          <a:avLst/>
                        </a:prstGeom>
                        <a:noFill/>
                        <a:ln w="38100">
                          <a:noFill/>
                          <a:miter/>
                        </a:ln>
                      </p:spPr>
                    </p:pic>
                  </p:oleObj>
                </mc:Fallback>
              </mc:AlternateContent>
            </a:graphicData>
          </a:graphic>
        </p:graphicFrame>
      </p:grpSp>
      <p:graphicFrame>
        <p:nvGraphicFramePr>
          <p:cNvPr id="131076" name="对象 119814"/>
          <p:cNvGraphicFramePr/>
          <p:nvPr/>
        </p:nvGraphicFramePr>
        <p:xfrm>
          <a:off x="1619250" y="2133600"/>
          <a:ext cx="5257800" cy="1028700"/>
        </p:xfrm>
        <a:graphic>
          <a:graphicData uri="http://schemas.openxmlformats.org/presentationml/2006/ole">
            <mc:AlternateContent xmlns:mc="http://schemas.openxmlformats.org/markup-compatibility/2006">
              <mc:Choice xmlns:v="urn:schemas-microsoft-com:vml" Requires="v">
                <p:oleObj spid="_x0000_s3189" name="" r:id="rId3" imgW="2208530" imgH="431800" progId="Equation.3">
                  <p:embed/>
                </p:oleObj>
              </mc:Choice>
              <mc:Fallback>
                <p:oleObj name="" r:id="rId3" imgW="2208530" imgH="431800" progId="Equation.3">
                  <p:embed/>
                  <p:pic>
                    <p:nvPicPr>
                      <p:cNvPr id="0" name="图片 3188"/>
                      <p:cNvPicPr/>
                      <p:nvPr/>
                    </p:nvPicPr>
                    <p:blipFill>
                      <a:blip r:embed="rId4"/>
                      <a:stretch>
                        <a:fillRect/>
                      </a:stretch>
                    </p:blipFill>
                    <p:spPr>
                      <a:xfrm>
                        <a:off x="1619250" y="2133600"/>
                        <a:ext cx="5257800" cy="1028700"/>
                      </a:xfrm>
                      <a:prstGeom prst="rect">
                        <a:avLst/>
                      </a:prstGeom>
                      <a:noFill/>
                      <a:ln w="38100">
                        <a:noFill/>
                        <a:miter/>
                      </a:ln>
                    </p:spPr>
                  </p:pic>
                </p:oleObj>
              </mc:Fallback>
            </mc:AlternateContent>
          </a:graphicData>
        </a:graphic>
      </p:graphicFrame>
      <p:sp>
        <p:nvSpPr>
          <p:cNvPr id="131077" name="文本框 119815"/>
          <p:cNvSpPr txBox="1"/>
          <p:nvPr/>
        </p:nvSpPr>
        <p:spPr>
          <a:xfrm>
            <a:off x="7715250" y="2438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1078" name="文本框 119816"/>
          <p:cNvSpPr txBox="1"/>
          <p:nvPr/>
        </p:nvSpPr>
        <p:spPr>
          <a:xfrm>
            <a:off x="228600" y="2997200"/>
            <a:ext cx="87630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比较直接计算线性卷积</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简称直接法</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法计算线性卷积</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简称</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这两种方法的乘法次数。设式（</a:t>
            </a:r>
            <a:r>
              <a:rPr lang="en-US" altLang="zh-CN" dirty="0">
                <a:latin typeface="Times New Roman" panose="02020603050405020304" pitchFamily="18" charset="0"/>
                <a:ea typeface="宋体" panose="02010600030101010101" pitchFamily="2" charset="-122"/>
              </a:rPr>
              <a:t>3-65</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3-66</a:t>
            </a:r>
            <a:r>
              <a:rPr lang="zh-CN" altLang="en-US" dirty="0">
                <a:latin typeface="Times New Roman" panose="02020603050405020304" pitchFamily="18" charset="0"/>
                <a:ea typeface="宋体" panose="02010600030101010101" pitchFamily="2" charset="-122"/>
              </a:rPr>
              <a:t>）的比值为</a:t>
            </a:r>
            <a:r>
              <a:rPr lang="en-US" altLang="zh-CN" i="1">
                <a:latin typeface="Times New Roman" panose="02020603050405020304" pitchFamily="18" charset="0"/>
                <a:ea typeface="宋体" panose="02010600030101010101" pitchFamily="2" charset="-122"/>
              </a:rPr>
              <a:t>K</a:t>
            </a:r>
            <a:r>
              <a:rPr lang="en-US" altLang="zh-CN" baseline="-25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，则 </a:t>
            </a:r>
            <a:endParaRPr lang="zh-CN" altLang="en-US">
              <a:latin typeface="Times New Roman" panose="02020603050405020304" pitchFamily="18" charset="0"/>
              <a:ea typeface="宋体" panose="02010600030101010101" pitchFamily="2" charset="-122"/>
            </a:endParaRPr>
          </a:p>
        </p:txBody>
      </p:sp>
      <p:graphicFrame>
        <p:nvGraphicFramePr>
          <p:cNvPr id="131079" name="对象 119817"/>
          <p:cNvGraphicFramePr/>
          <p:nvPr/>
        </p:nvGraphicFramePr>
        <p:xfrm>
          <a:off x="2895600" y="4191000"/>
          <a:ext cx="4267200" cy="2373313"/>
        </p:xfrm>
        <a:graphic>
          <a:graphicData uri="http://schemas.openxmlformats.org/presentationml/2006/ole">
            <mc:AlternateContent xmlns:mc="http://schemas.openxmlformats.org/markup-compatibility/2006">
              <mc:Choice xmlns:v="urn:schemas-microsoft-com:vml" Requires="v">
                <p:oleObj spid="_x0000_s3192" name="" r:id="rId5" imgW="2373630" imgH="1320165" progId="Equation.3">
                  <p:embed/>
                </p:oleObj>
              </mc:Choice>
              <mc:Fallback>
                <p:oleObj name="" r:id="rId5" imgW="2373630" imgH="1320165" progId="Equation.3">
                  <p:embed/>
                  <p:pic>
                    <p:nvPicPr>
                      <p:cNvPr id="0" name="图片 3191"/>
                      <p:cNvPicPr/>
                      <p:nvPr/>
                    </p:nvPicPr>
                    <p:blipFill>
                      <a:blip r:embed="rId6"/>
                      <a:stretch>
                        <a:fillRect/>
                      </a:stretch>
                    </p:blipFill>
                    <p:spPr>
                      <a:xfrm>
                        <a:off x="2895600" y="4191000"/>
                        <a:ext cx="4267200" cy="2373313"/>
                      </a:xfrm>
                      <a:prstGeom prst="rect">
                        <a:avLst/>
                      </a:prstGeom>
                      <a:noFill/>
                      <a:ln w="38100">
                        <a:noFill/>
                        <a:miter/>
                      </a:ln>
                    </p:spPr>
                  </p:pic>
                </p:oleObj>
              </mc:Fallback>
            </mc:AlternateContent>
          </a:graphicData>
        </a:graphic>
      </p:graphicFrame>
      <p:sp>
        <p:nvSpPr>
          <p:cNvPr id="131080" name="文本框 119818"/>
          <p:cNvSpPr txBox="1"/>
          <p:nvPr/>
        </p:nvSpPr>
        <p:spPr>
          <a:xfrm>
            <a:off x="7715250" y="5181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文本框 122883"/>
          <p:cNvSpPr txBox="1"/>
          <p:nvPr/>
        </p:nvSpPr>
        <p:spPr>
          <a:xfrm>
            <a:off x="228600" y="468313"/>
            <a:ext cx="8601075" cy="1198562"/>
          </a:xfrm>
          <a:prstGeom prst="rect">
            <a:avLst/>
          </a:prstGeom>
          <a:noFill/>
          <a:ln w="9525">
            <a:noFill/>
          </a:ln>
        </p:spPr>
        <p:txBody>
          <a:bodyPr wrap="none" anchor="t">
            <a:spAutoFit/>
          </a:bodyPr>
          <a:p>
            <a:pPr>
              <a:lnSpc>
                <a:spcPct val="150000"/>
              </a:lnSpc>
            </a:pPr>
            <a:r>
              <a:rPr lang="zh-CN" altLang="en-US" dirty="0">
                <a:latin typeface="Times New Roman" panose="02020603050405020304" pitchFamily="18" charset="0"/>
                <a:ea typeface="宋体" panose="02010600030101010101" pitchFamily="2" charset="-122"/>
              </a:rPr>
              <a:t>分两种情况讨论如下： </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点数差不多。 例如，</a:t>
            </a:r>
            <a:r>
              <a:rPr lang="en-US" altLang="zh-CN" i="1">
                <a:latin typeface="Times New Roman" panose="02020603050405020304" pitchFamily="18" charset="0"/>
                <a:ea typeface="宋体" panose="02010600030101010101" pitchFamily="2" charset="-122"/>
              </a:rPr>
              <a:t>M=L</a:t>
            </a:r>
            <a:r>
              <a:rPr lang="zh-CN" altLang="en-US">
                <a:latin typeface="Times New Roman" panose="02020603050405020304" pitchFamily="18" charset="0"/>
                <a:ea typeface="宋体" panose="02010600030101010101" pitchFamily="2" charset="-122"/>
              </a:rPr>
              <a:t>，则</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-1≈2</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，则 </a:t>
            </a:r>
            <a:endParaRPr lang="zh-CN" altLang="en-US">
              <a:latin typeface="Times New Roman" panose="02020603050405020304" pitchFamily="18" charset="0"/>
              <a:ea typeface="宋体" panose="02010600030101010101" pitchFamily="2" charset="-122"/>
            </a:endParaRPr>
          </a:p>
        </p:txBody>
      </p:sp>
      <p:graphicFrame>
        <p:nvGraphicFramePr>
          <p:cNvPr id="132098" name="对象 122884"/>
          <p:cNvGraphicFramePr/>
          <p:nvPr/>
        </p:nvGraphicFramePr>
        <p:xfrm>
          <a:off x="2667000" y="1676400"/>
          <a:ext cx="4267200" cy="1282700"/>
        </p:xfrm>
        <a:graphic>
          <a:graphicData uri="http://schemas.openxmlformats.org/presentationml/2006/ole">
            <mc:AlternateContent xmlns:mc="http://schemas.openxmlformats.org/markup-compatibility/2006">
              <mc:Choice xmlns:v="urn:schemas-microsoft-com:vml" Requires="v">
                <p:oleObj spid="_x0000_s3190" name="" r:id="rId1" imgW="2069465" imgH="622300" progId="Equation.3">
                  <p:embed/>
                </p:oleObj>
              </mc:Choice>
              <mc:Fallback>
                <p:oleObj name="" r:id="rId1" imgW="2069465" imgH="622300" progId="Equation.3">
                  <p:embed/>
                  <p:pic>
                    <p:nvPicPr>
                      <p:cNvPr id="0" name="图片 3189"/>
                      <p:cNvPicPr/>
                      <p:nvPr/>
                    </p:nvPicPr>
                    <p:blipFill>
                      <a:blip r:embed="rId2"/>
                      <a:stretch>
                        <a:fillRect/>
                      </a:stretch>
                    </p:blipFill>
                    <p:spPr>
                      <a:xfrm>
                        <a:off x="2667000" y="1676400"/>
                        <a:ext cx="4267200" cy="1282700"/>
                      </a:xfrm>
                      <a:prstGeom prst="rect">
                        <a:avLst/>
                      </a:prstGeom>
                      <a:noFill/>
                      <a:ln w="38100">
                        <a:noFill/>
                        <a:miter/>
                      </a:ln>
                    </p:spPr>
                  </p:pic>
                </p:oleObj>
              </mc:Fallback>
            </mc:AlternateContent>
          </a:graphicData>
        </a:graphic>
      </p:graphicFrame>
      <p:sp>
        <p:nvSpPr>
          <p:cNvPr id="132099" name="文本框 122885"/>
          <p:cNvSpPr txBox="1"/>
          <p:nvPr/>
        </p:nvSpPr>
        <p:spPr>
          <a:xfrm>
            <a:off x="365125" y="2590800"/>
            <a:ext cx="2393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这样可得下表： </a:t>
            </a:r>
            <a:endParaRPr lang="zh-CN" altLang="en-US">
              <a:latin typeface="Times New Roman" panose="02020603050405020304" pitchFamily="18" charset="0"/>
              <a:ea typeface="宋体" panose="02010600030101010101" pitchFamily="2" charset="-122"/>
            </a:endParaRPr>
          </a:p>
        </p:txBody>
      </p:sp>
      <p:graphicFrame>
        <p:nvGraphicFramePr>
          <p:cNvPr id="122926" name="表格 122925"/>
          <p:cNvGraphicFramePr/>
          <p:nvPr/>
        </p:nvGraphicFramePr>
        <p:xfrm>
          <a:off x="381000" y="3276600"/>
          <a:ext cx="8458200" cy="1193800"/>
        </p:xfrm>
        <a:graphic>
          <a:graphicData uri="http://schemas.openxmlformats.org/drawingml/2006/table">
            <a:tbl>
              <a:tblPr/>
              <a:tblGrid>
                <a:gridCol w="768350"/>
                <a:gridCol w="768350"/>
                <a:gridCol w="769938"/>
                <a:gridCol w="768350"/>
                <a:gridCol w="768350"/>
                <a:gridCol w="804862"/>
                <a:gridCol w="735013"/>
                <a:gridCol w="768350"/>
                <a:gridCol w="769937"/>
                <a:gridCol w="768350"/>
                <a:gridCol w="768350"/>
              </a:tblGrid>
              <a:tr h="5969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i="1"/>
                        <a:t>M=L</a:t>
                      </a:r>
                      <a:endParaRPr lang="zh-CN" altLang="en-US" sz="2000" i="1"/>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8</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16</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32</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64</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128</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256</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512</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1024</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2048</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4096</a:t>
                      </a:r>
                      <a:endParaRPr lang="zh-CN" altLang="en-US" sz="2000"/>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9690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i="1"/>
                        <a:t>K</a:t>
                      </a:r>
                      <a:r>
                        <a:rPr lang="en-US" altLang="zh-CN" sz="2000" baseline="-25000"/>
                        <a:t>m</a:t>
                      </a:r>
                      <a:endParaRPr lang="zh-CN" altLang="en-US" sz="2000" baseline="-25000"/>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0.572</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0.941</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1.6</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2.78</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5.92</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8.82</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16</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29.24</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53.9</a:t>
                      </a:r>
                      <a:endParaRPr lang="zh-CN" altLang="en-US" sz="200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lgn="ctr">
                        <a:buNone/>
                      </a:pPr>
                      <a:r>
                        <a:rPr lang="en-US" altLang="zh-CN" sz="2000"/>
                        <a:t>99.9</a:t>
                      </a:r>
                      <a:endParaRPr lang="zh-CN" altLang="en-US" sz="2000"/>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32138" name="文本框 122926"/>
          <p:cNvSpPr txBox="1"/>
          <p:nvPr/>
        </p:nvSpPr>
        <p:spPr>
          <a:xfrm>
            <a:off x="152400" y="4495800"/>
            <a:ext cx="8839200" cy="199072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时，</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法的运算量大于直接法；当</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时，二者相当；当</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=512 </a:t>
            </a:r>
            <a:r>
              <a:rPr lang="zh-CN" altLang="en-US" dirty="0">
                <a:latin typeface="Times New Roman" panose="02020603050405020304" pitchFamily="18" charset="0"/>
                <a:ea typeface="宋体" panose="02010600030101010101" pitchFamily="2" charset="-122"/>
              </a:rPr>
              <a:t>时，</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法运算速度可快</a:t>
            </a:r>
            <a:r>
              <a:rPr lang="en-US" altLang="zh-CN" dirty="0">
                <a:latin typeface="Times New Roman" panose="02020603050405020304" pitchFamily="18" charset="0"/>
                <a:ea typeface="宋体" panose="02010600030101010101" pitchFamily="2" charset="-122"/>
              </a:rPr>
              <a:t>16</a:t>
            </a:r>
            <a:r>
              <a:rPr lang="zh-CN" altLang="en-US" dirty="0">
                <a:latin typeface="Times New Roman" panose="02020603050405020304" pitchFamily="18" charset="0"/>
                <a:ea typeface="宋体" panose="02010600030101010101" pitchFamily="2" charset="-122"/>
              </a:rPr>
              <a:t>倍；当</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=4096 </a:t>
            </a:r>
            <a:r>
              <a:rPr lang="zh-CN" altLang="en-US" dirty="0">
                <a:latin typeface="Times New Roman" panose="02020603050405020304" pitchFamily="18" charset="0"/>
                <a:ea typeface="宋体" panose="02010600030101010101" pitchFamily="2" charset="-122"/>
              </a:rPr>
              <a:t>时， </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法约快</a:t>
            </a:r>
            <a:r>
              <a:rPr lang="en-US" altLang="zh-CN" dirty="0">
                <a:latin typeface="Times New Roman" panose="02020603050405020304" pitchFamily="18" charset="0"/>
                <a:ea typeface="宋体" panose="02010600030101010101" pitchFamily="2" charset="-122"/>
              </a:rPr>
              <a:t>100</a:t>
            </a:r>
            <a:r>
              <a:rPr lang="zh-CN" altLang="en-US" dirty="0">
                <a:latin typeface="Times New Roman" panose="02020603050405020304" pitchFamily="18" charset="0"/>
                <a:ea typeface="宋体" panose="02010600030101010101" pitchFamily="2" charset="-122"/>
              </a:rPr>
              <a:t>倍。可以看出，当</a:t>
            </a:r>
            <a:r>
              <a:rPr lang="en-US" altLang="zh-CN" i="1">
                <a:latin typeface="Times New Roman" panose="02020603050405020304" pitchFamily="18" charset="0"/>
                <a:ea typeface="宋体" panose="02010600030101010101" pitchFamily="2" charset="-122"/>
              </a:rPr>
              <a:t>M=L</a:t>
            </a:r>
            <a:r>
              <a:rPr lang="zh-CN" altLang="en-US">
                <a:latin typeface="Times New Roman" panose="02020603050405020304" pitchFamily="18" charset="0"/>
                <a:ea typeface="宋体" panose="02010600030101010101" pitchFamily="2" charset="-122"/>
              </a:rPr>
              <a:t>且</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超过</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以后，</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越长， </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法的好处越明显。因而将圆周卷积称为快速卷积</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文本框 121859"/>
          <p:cNvSpPr txBox="1"/>
          <p:nvPr/>
        </p:nvSpPr>
        <p:spPr>
          <a:xfrm>
            <a:off x="228600" y="685800"/>
            <a:ext cx="8763000" cy="5278438"/>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当</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的点数很多时，即当</a:t>
            </a:r>
            <a:r>
              <a:rPr lang="en-US" altLang="zh-CN" i="1">
                <a:latin typeface="Times New Roman" panose="02020603050405020304" pitchFamily="18" charset="0"/>
                <a:ea typeface="宋体" panose="02010600030101010101" pitchFamily="2" charset="-122"/>
              </a:rPr>
              <a:t>L&gt;&gt;M</a:t>
            </a:r>
            <a:r>
              <a:rPr lang="zh-CN" altLang="en-US" dirty="0">
                <a:latin typeface="Times New Roman" panose="02020603050405020304" pitchFamily="18" charset="0"/>
                <a:ea typeface="宋体" panose="02010600030101010101" pitchFamily="2" charset="-122"/>
              </a:rPr>
              <a:t>。通常不允许等</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全部采集齐后再进行卷积</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否则，使输出相对于输入有较长的延时。此外，若</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太大，</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必须补很多个零值点，很不经济，且</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的计算时间也要很长。这时</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法的优点就表现不出来了，因此需要采用分段卷积或称分段过滤的办法。即将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分成点数和</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相仿的段，分别求出每段的卷积结果，然后用一定方式把它们合在一起，便得到总的输出，其中每一段的卷积均采用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方法处理。有两种分段卷积的办法</a:t>
            </a:r>
            <a:r>
              <a:rPr lang="en-US" altLang="zh-CN">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重叠相加法和重叠保留法。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文本框 124931"/>
          <p:cNvSpPr txBox="1"/>
          <p:nvPr/>
        </p:nvSpPr>
        <p:spPr>
          <a:xfrm>
            <a:off x="228600" y="457200"/>
            <a:ext cx="8686800" cy="2465388"/>
          </a:xfrm>
          <a:prstGeom prst="rect">
            <a:avLst/>
          </a:prstGeom>
          <a:noFill/>
          <a:ln w="9525">
            <a:noFill/>
          </a:ln>
        </p:spPr>
        <p:txBody>
          <a:bodyPr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         2</a:t>
            </a:r>
            <a:r>
              <a:rPr lang="zh-CN" altLang="en-US" b="1" dirty="0">
                <a:latin typeface="Times New Roman" panose="02020603050405020304" pitchFamily="18" charset="0"/>
                <a:ea typeface="宋体" panose="02010600030101010101" pitchFamily="2" charset="-122"/>
              </a:rPr>
              <a:t>．重叠相加法</a:t>
            </a:r>
            <a:endParaRPr lang="zh-CN" altLang="en-US" b="1">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设</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的点数为</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为很长的序列。我们将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分解为很多段，每段为</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点，</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选择成和</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的数量级相同，用</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的第</a:t>
            </a:r>
            <a:r>
              <a:rPr lang="en-US" altLang="zh-CN" i="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段： </a:t>
            </a:r>
            <a:endParaRPr lang="zh-CN" altLang="en-US">
              <a:latin typeface="Times New Roman" panose="02020603050405020304" pitchFamily="18" charset="0"/>
              <a:ea typeface="宋体" panose="02010600030101010101" pitchFamily="2" charset="-122"/>
            </a:endParaRPr>
          </a:p>
        </p:txBody>
      </p:sp>
      <p:grpSp>
        <p:nvGrpSpPr>
          <p:cNvPr id="134146" name="组合 124938"/>
          <p:cNvGrpSpPr/>
          <p:nvPr/>
        </p:nvGrpSpPr>
        <p:grpSpPr>
          <a:xfrm>
            <a:off x="1600200" y="3048000"/>
            <a:ext cx="7753350" cy="1411288"/>
            <a:chOff x="1008" y="1920"/>
            <a:chExt cx="4884" cy="889"/>
          </a:xfrm>
        </p:grpSpPr>
        <p:grpSp>
          <p:nvGrpSpPr>
            <p:cNvPr id="134147" name="组合 124936"/>
            <p:cNvGrpSpPr/>
            <p:nvPr/>
          </p:nvGrpSpPr>
          <p:grpSpPr>
            <a:xfrm>
              <a:off x="1008" y="1920"/>
              <a:ext cx="4107" cy="889"/>
              <a:chOff x="1008" y="1920"/>
              <a:chExt cx="4107" cy="889"/>
            </a:xfrm>
          </p:grpSpPr>
          <p:graphicFrame>
            <p:nvGraphicFramePr>
              <p:cNvPr id="134148" name="对象 124932"/>
              <p:cNvGraphicFramePr/>
              <p:nvPr/>
            </p:nvGraphicFramePr>
            <p:xfrm>
              <a:off x="1008" y="1920"/>
              <a:ext cx="1440" cy="889"/>
            </p:xfrm>
            <a:graphic>
              <a:graphicData uri="http://schemas.openxmlformats.org/presentationml/2006/ole">
                <mc:AlternateContent xmlns:mc="http://schemas.openxmlformats.org/markup-compatibility/2006">
                  <mc:Choice xmlns:v="urn:schemas-microsoft-com:vml" Requires="v">
                    <p:oleObj spid="_x0000_s3191" name="" r:id="rId1" imgW="862965" imgH="533400" progId="Equation.3">
                      <p:embed/>
                    </p:oleObj>
                  </mc:Choice>
                  <mc:Fallback>
                    <p:oleObj name="" r:id="rId1" imgW="862965" imgH="533400" progId="Equation.3">
                      <p:embed/>
                      <p:pic>
                        <p:nvPicPr>
                          <p:cNvPr id="0" name="图片 3190"/>
                          <p:cNvPicPr/>
                          <p:nvPr/>
                        </p:nvPicPr>
                        <p:blipFill>
                          <a:blip r:embed="rId2"/>
                          <a:stretch>
                            <a:fillRect/>
                          </a:stretch>
                        </p:blipFill>
                        <p:spPr>
                          <a:xfrm>
                            <a:off x="1008" y="1920"/>
                            <a:ext cx="1440" cy="889"/>
                          </a:xfrm>
                          <a:prstGeom prst="rect">
                            <a:avLst/>
                          </a:prstGeom>
                          <a:noFill/>
                          <a:ln w="38100">
                            <a:noFill/>
                            <a:miter/>
                          </a:ln>
                        </p:spPr>
                      </p:pic>
                    </p:oleObj>
                  </mc:Fallback>
                </mc:AlternateContent>
              </a:graphicData>
            </a:graphic>
          </p:graphicFrame>
          <p:sp>
            <p:nvSpPr>
              <p:cNvPr id="134149" name="文本框 124933"/>
              <p:cNvSpPr txBox="1"/>
              <p:nvPr/>
            </p:nvSpPr>
            <p:spPr>
              <a:xfrm>
                <a:off x="2784" y="1968"/>
                <a:ext cx="1456" cy="288"/>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iL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134150" name="文本框 124934"/>
              <p:cNvSpPr txBox="1"/>
              <p:nvPr/>
            </p:nvSpPr>
            <p:spPr>
              <a:xfrm>
                <a:off x="2736" y="2448"/>
                <a:ext cx="644"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34151" name="文本框 124935"/>
              <p:cNvSpPr txBox="1"/>
              <p:nvPr/>
            </p:nvSpPr>
            <p:spPr>
              <a:xfrm>
                <a:off x="4166" y="2234"/>
                <a:ext cx="949" cy="288"/>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=0, 1, … </a:t>
                </a:r>
                <a:endParaRPr lang="en-US" altLang="zh-CN">
                  <a:latin typeface="Times New Roman" panose="02020603050405020304" pitchFamily="18" charset="0"/>
                  <a:ea typeface="宋体" panose="02010600030101010101" pitchFamily="2" charset="-122"/>
                </a:endParaRPr>
              </a:p>
            </p:txBody>
          </p:sp>
        </p:grpSp>
        <p:sp>
          <p:nvSpPr>
            <p:cNvPr id="134152" name="文本框 124937"/>
            <p:cNvSpPr txBox="1"/>
            <p:nvPr/>
          </p:nvSpPr>
          <p:spPr>
            <a:xfrm>
              <a:off x="4992" y="2256"/>
              <a:ext cx="900"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pSp>
      <p:sp>
        <p:nvSpPr>
          <p:cNvPr id="134153" name="文本框 124939"/>
          <p:cNvSpPr txBox="1"/>
          <p:nvPr/>
        </p:nvSpPr>
        <p:spPr>
          <a:xfrm>
            <a:off x="228600" y="4724400"/>
            <a:ext cx="3003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则输入序列可表示成 </a:t>
            </a:r>
            <a:endParaRPr lang="zh-CN" altLang="en-US">
              <a:latin typeface="Times New Roman" panose="02020603050405020304" pitchFamily="18" charset="0"/>
              <a:ea typeface="宋体" panose="02010600030101010101" pitchFamily="2" charset="-122"/>
            </a:endParaRPr>
          </a:p>
        </p:txBody>
      </p:sp>
      <p:graphicFrame>
        <p:nvGraphicFramePr>
          <p:cNvPr id="134154" name="对象 124940"/>
          <p:cNvGraphicFramePr/>
          <p:nvPr/>
        </p:nvGraphicFramePr>
        <p:xfrm>
          <a:off x="3276600" y="5105400"/>
          <a:ext cx="2438400" cy="1090613"/>
        </p:xfrm>
        <a:graphic>
          <a:graphicData uri="http://schemas.openxmlformats.org/presentationml/2006/ole">
            <mc:AlternateContent xmlns:mc="http://schemas.openxmlformats.org/markup-compatibility/2006">
              <mc:Choice xmlns:v="urn:schemas-microsoft-com:vml" Requires="v">
                <p:oleObj spid="_x0000_s3193" name="" r:id="rId3" imgW="964565" imgH="431800" progId="Equation.3">
                  <p:embed/>
                </p:oleObj>
              </mc:Choice>
              <mc:Fallback>
                <p:oleObj name="" r:id="rId3" imgW="964565" imgH="431800" progId="Equation.3">
                  <p:embed/>
                  <p:pic>
                    <p:nvPicPr>
                      <p:cNvPr id="0" name="图片 3192"/>
                      <p:cNvPicPr/>
                      <p:nvPr/>
                    </p:nvPicPr>
                    <p:blipFill>
                      <a:blip r:embed="rId4"/>
                      <a:stretch>
                        <a:fillRect/>
                      </a:stretch>
                    </p:blipFill>
                    <p:spPr>
                      <a:xfrm>
                        <a:off x="3276600" y="5105400"/>
                        <a:ext cx="2438400" cy="1090613"/>
                      </a:xfrm>
                      <a:prstGeom prst="rect">
                        <a:avLst/>
                      </a:prstGeom>
                      <a:noFill/>
                      <a:ln w="38100">
                        <a:noFill/>
                        <a:miter/>
                      </a:ln>
                    </p:spPr>
                  </p:pic>
                </p:oleObj>
              </mc:Fallback>
            </mc:AlternateContent>
          </a:graphicData>
        </a:graphic>
      </p:graphicFrame>
      <p:sp>
        <p:nvSpPr>
          <p:cNvPr id="134155" name="矩形 124941"/>
          <p:cNvSpPr/>
          <p:nvPr/>
        </p:nvSpPr>
        <p:spPr>
          <a:xfrm>
            <a:off x="7924800" y="54102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3-69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文本框 123907"/>
          <p:cNvSpPr txBox="1"/>
          <p:nvPr/>
        </p:nvSpPr>
        <p:spPr>
          <a:xfrm>
            <a:off x="228600" y="609600"/>
            <a:ext cx="902017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这样，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的线性卷积等于各</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的线性卷积之和，即 </a:t>
            </a:r>
            <a:endParaRPr lang="zh-CN" altLang="en-US">
              <a:latin typeface="Times New Roman" panose="02020603050405020304" pitchFamily="18" charset="0"/>
              <a:ea typeface="宋体" panose="02010600030101010101" pitchFamily="2" charset="-122"/>
            </a:endParaRPr>
          </a:p>
        </p:txBody>
      </p:sp>
      <p:graphicFrame>
        <p:nvGraphicFramePr>
          <p:cNvPr id="135170" name="对象 123908"/>
          <p:cNvGraphicFramePr/>
          <p:nvPr/>
        </p:nvGraphicFramePr>
        <p:xfrm>
          <a:off x="1905000" y="1066800"/>
          <a:ext cx="5029200" cy="1006475"/>
        </p:xfrm>
        <a:graphic>
          <a:graphicData uri="http://schemas.openxmlformats.org/presentationml/2006/ole">
            <mc:AlternateContent xmlns:mc="http://schemas.openxmlformats.org/markup-compatibility/2006">
              <mc:Choice xmlns:v="urn:schemas-microsoft-com:vml" Requires="v">
                <p:oleObj spid="_x0000_s3196" name="" r:id="rId1" imgW="2158365" imgH="431800" progId="Equation.3">
                  <p:embed/>
                </p:oleObj>
              </mc:Choice>
              <mc:Fallback>
                <p:oleObj name="" r:id="rId1" imgW="2158365" imgH="431800" progId="Equation.3">
                  <p:embed/>
                  <p:pic>
                    <p:nvPicPr>
                      <p:cNvPr id="0" name="图片 3195"/>
                      <p:cNvPicPr/>
                      <p:nvPr/>
                    </p:nvPicPr>
                    <p:blipFill>
                      <a:blip r:embed="rId2"/>
                      <a:stretch>
                        <a:fillRect/>
                      </a:stretch>
                    </p:blipFill>
                    <p:spPr>
                      <a:xfrm>
                        <a:off x="1905000" y="1066800"/>
                        <a:ext cx="5029200" cy="1006475"/>
                      </a:xfrm>
                      <a:prstGeom prst="rect">
                        <a:avLst/>
                      </a:prstGeom>
                      <a:noFill/>
                      <a:ln w="38100">
                        <a:noFill/>
                        <a:miter/>
                      </a:ln>
                    </p:spPr>
                  </p:pic>
                </p:oleObj>
              </mc:Fallback>
            </mc:AlternateContent>
          </a:graphicData>
        </a:graphic>
      </p:graphicFrame>
      <p:sp>
        <p:nvSpPr>
          <p:cNvPr id="135171" name="文本框 123910"/>
          <p:cNvSpPr txBox="1"/>
          <p:nvPr/>
        </p:nvSpPr>
        <p:spPr>
          <a:xfrm>
            <a:off x="7315200" y="1371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3-70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5172" name="文本框 123911"/>
          <p:cNvSpPr txBox="1"/>
          <p:nvPr/>
        </p:nvSpPr>
        <p:spPr>
          <a:xfrm>
            <a:off x="152400" y="2047875"/>
            <a:ext cx="8763000" cy="199072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每一个</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都可用上面讨论的快速卷积办法来运算。  由于</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点，故先对</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补零值点，补到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  为便于利用基</a:t>
            </a:r>
            <a:r>
              <a:rPr lang="en-US" altLang="zh-CN">
                <a:latin typeface="Times New Roman" panose="02020603050405020304" pitchFamily="18" charset="0"/>
                <a:ea typeface="宋体" panose="02010600030101010101" pitchFamily="2" charset="-122"/>
              </a:rPr>
              <a:t>-2 FFT</a:t>
            </a:r>
            <a:r>
              <a:rPr lang="zh-CN" altLang="en-US" dirty="0">
                <a:latin typeface="Times New Roman" panose="02020603050405020304" pitchFamily="18" charset="0"/>
                <a:ea typeface="宋体" panose="02010600030101010101" pitchFamily="2" charset="-122"/>
              </a:rPr>
              <a:t>算法，一般取</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，然后作</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点的圆周卷积： </a:t>
            </a:r>
            <a:endParaRPr lang="zh-CN" altLang="en-US">
              <a:latin typeface="Times New Roman" panose="02020603050405020304" pitchFamily="18" charset="0"/>
              <a:ea typeface="宋体" panose="02010600030101010101" pitchFamily="2" charset="-122"/>
            </a:endParaRPr>
          </a:p>
        </p:txBody>
      </p:sp>
      <p:grpSp>
        <p:nvGrpSpPr>
          <p:cNvPr id="135173" name="组合 123916"/>
          <p:cNvGrpSpPr/>
          <p:nvPr/>
        </p:nvGrpSpPr>
        <p:grpSpPr>
          <a:xfrm>
            <a:off x="2590800" y="3656013"/>
            <a:ext cx="3505200" cy="687387"/>
            <a:chOff x="1632" y="2303"/>
            <a:chExt cx="2208" cy="433"/>
          </a:xfrm>
        </p:grpSpPr>
        <p:graphicFrame>
          <p:nvGraphicFramePr>
            <p:cNvPr id="135174" name="对象 123912"/>
            <p:cNvGraphicFramePr/>
            <p:nvPr/>
          </p:nvGraphicFramePr>
          <p:xfrm>
            <a:off x="1632" y="2303"/>
            <a:ext cx="2208" cy="433"/>
          </p:xfrm>
          <a:graphic>
            <a:graphicData uri="http://schemas.openxmlformats.org/presentationml/2006/ole">
              <mc:AlternateContent xmlns:mc="http://schemas.openxmlformats.org/markup-compatibility/2006">
                <mc:Choice xmlns:v="urn:schemas-microsoft-com:vml" Requires="v">
                  <p:oleObj spid="_x0000_s3195" name="" r:id="rId3" imgW="1294130" imgH="254000" progId="Equation.3">
                    <p:embed/>
                  </p:oleObj>
                </mc:Choice>
                <mc:Fallback>
                  <p:oleObj name="" r:id="rId3" imgW="1294130" imgH="254000" progId="Equation.3">
                    <p:embed/>
                    <p:pic>
                      <p:nvPicPr>
                        <p:cNvPr id="0" name="图片 3194"/>
                        <p:cNvPicPr/>
                        <p:nvPr/>
                      </p:nvPicPr>
                      <p:blipFill>
                        <a:blip r:embed="rId4"/>
                        <a:stretch>
                          <a:fillRect/>
                        </a:stretch>
                      </p:blipFill>
                      <p:spPr>
                        <a:xfrm>
                          <a:off x="1632" y="2303"/>
                          <a:ext cx="2208" cy="433"/>
                        </a:xfrm>
                        <a:prstGeom prst="rect">
                          <a:avLst/>
                        </a:prstGeom>
                        <a:noFill/>
                        <a:ln w="38100">
                          <a:noFill/>
                          <a:miter/>
                        </a:ln>
                      </p:spPr>
                    </p:pic>
                  </p:oleObj>
                </mc:Fallback>
              </mc:AlternateContent>
            </a:graphicData>
          </a:graphic>
        </p:graphicFrame>
        <p:grpSp>
          <p:nvGrpSpPr>
            <p:cNvPr id="135175" name="组合 123915"/>
            <p:cNvGrpSpPr/>
            <p:nvPr/>
          </p:nvGrpSpPr>
          <p:grpSpPr>
            <a:xfrm>
              <a:off x="3063" y="2428"/>
              <a:ext cx="201" cy="212"/>
              <a:chOff x="1928" y="3326"/>
              <a:chExt cx="201" cy="212"/>
            </a:xfrm>
          </p:grpSpPr>
          <p:sp>
            <p:nvSpPr>
              <p:cNvPr id="135176" name="椭圆 123913"/>
              <p:cNvSpPr/>
              <p:nvPr/>
            </p:nvSpPr>
            <p:spPr>
              <a:xfrm>
                <a:off x="1968" y="3360"/>
                <a:ext cx="144" cy="144"/>
              </a:xfrm>
              <a:prstGeom prst="ellipse">
                <a:avLst/>
              </a:prstGeom>
              <a:solidFill>
                <a:schemeClr val="bg1"/>
              </a:solidFill>
              <a:ln w="9525" cap="flat" cmpd="sng">
                <a:solidFill>
                  <a:schemeClr val="tx1"/>
                </a:solidFill>
                <a:prstDash val="solid"/>
                <a:round/>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sp>
            <p:nvSpPr>
              <p:cNvPr id="135177" name="文本框 123914"/>
              <p:cNvSpPr txBox="1"/>
              <p:nvPr/>
            </p:nvSpPr>
            <p:spPr>
              <a:xfrm>
                <a:off x="1928" y="3326"/>
                <a:ext cx="201" cy="212"/>
              </a:xfrm>
              <a:prstGeom prst="rect">
                <a:avLst/>
              </a:prstGeom>
              <a:noFill/>
              <a:ln w="9525">
                <a:noFill/>
              </a:ln>
            </p:spPr>
            <p:txBody>
              <a:bodyPr wrap="none" anchor="t">
                <a:spAutoFit/>
              </a:bodyPr>
              <a:p>
                <a:r>
                  <a:rPr lang="en-US" altLang="zh-CN" sz="1600" i="1">
                    <a:latin typeface="Times New Roman" panose="02020603050405020304" pitchFamily="18" charset="0"/>
                    <a:ea typeface="宋体" panose="02010600030101010101" pitchFamily="2" charset="-122"/>
                  </a:rPr>
                  <a:t>N</a:t>
                </a:r>
                <a:endParaRPr lang="en-US" altLang="zh-CN" sz="1600" i="1">
                  <a:latin typeface="Times New Roman" panose="02020603050405020304" pitchFamily="18" charset="0"/>
                  <a:ea typeface="宋体" panose="02010600030101010101" pitchFamily="2" charset="-122"/>
                </a:endParaRPr>
              </a:p>
            </p:txBody>
          </p:sp>
        </p:grpSp>
      </p:grpSp>
      <p:sp>
        <p:nvSpPr>
          <p:cNvPr id="135178" name="文本框 123917"/>
          <p:cNvSpPr txBox="1"/>
          <p:nvPr/>
        </p:nvSpPr>
        <p:spPr>
          <a:xfrm>
            <a:off x="0" y="4267200"/>
            <a:ext cx="8839200" cy="2465388"/>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由于</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点，而</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）点（设</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故相邻两段输出序列必然有（</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）个点发生重叠，即前一段的后（</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）个点和后一段的前（</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）个点相重叠，如图</a:t>
            </a:r>
            <a:r>
              <a:rPr lang="en-US" altLang="zh-CN" dirty="0">
                <a:latin typeface="Times New Roman" panose="02020603050405020304" pitchFamily="18" charset="0"/>
                <a:ea typeface="宋体" panose="02010600030101010101" pitchFamily="2" charset="-122"/>
              </a:rPr>
              <a:t>3-27 </a:t>
            </a:r>
            <a:r>
              <a:rPr lang="zh-CN" altLang="en-US" dirty="0">
                <a:latin typeface="Times New Roman" panose="02020603050405020304" pitchFamily="18" charset="0"/>
                <a:ea typeface="宋体" panose="02010600030101010101" pitchFamily="2" charset="-122"/>
              </a:rPr>
              <a:t>所示。按照式（</a:t>
            </a:r>
            <a:r>
              <a:rPr lang="en-US" altLang="zh-CN" dirty="0">
                <a:latin typeface="Times New Roman" panose="02020603050405020304" pitchFamily="18" charset="0"/>
                <a:ea typeface="宋体" panose="02010600030101010101" pitchFamily="2" charset="-122"/>
              </a:rPr>
              <a:t>3-70</a:t>
            </a:r>
            <a:r>
              <a:rPr lang="zh-CN" altLang="en-US" dirty="0">
                <a:latin typeface="Times New Roman" panose="02020603050405020304" pitchFamily="18" charset="0"/>
                <a:ea typeface="宋体" panose="02010600030101010101" pitchFamily="2" charset="-122"/>
              </a:rPr>
              <a:t>），应该将重叠部分相加</a:t>
            </a:r>
            <a:r>
              <a:rPr lang="zh-CN" altLang="en-US" dirty="0">
                <a:latin typeface="Times New Roman" panose="02020603050405020304" pitchFamily="18" charset="0"/>
                <a:ea typeface="宋体" panose="02010600030101010101" pitchFamily="2" charset="-122"/>
              </a:rPr>
              <a:t>再和不重叠的部分共同组成输出</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文本框 126981"/>
          <p:cNvSpPr txBox="1"/>
          <p:nvPr/>
        </p:nvSpPr>
        <p:spPr>
          <a:xfrm>
            <a:off x="3203575" y="5949950"/>
            <a:ext cx="340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3-28  </a:t>
            </a:r>
            <a:r>
              <a:rPr lang="zh-CN" altLang="en-US" dirty="0">
                <a:latin typeface="Times New Roman" panose="02020603050405020304" pitchFamily="18" charset="0"/>
                <a:ea typeface="宋体" panose="02010600030101010101" pitchFamily="2" charset="-122"/>
              </a:rPr>
              <a:t>重叠相加法图形</a:t>
            </a:r>
            <a:endParaRPr lang="zh-CN" altLang="en-US" dirty="0">
              <a:latin typeface="Times New Roman" panose="02020603050405020304" pitchFamily="18" charset="0"/>
              <a:ea typeface="宋体" panose="02010600030101010101" pitchFamily="2" charset="-122"/>
            </a:endParaRPr>
          </a:p>
        </p:txBody>
      </p:sp>
      <p:pic>
        <p:nvPicPr>
          <p:cNvPr id="136194" name="图片 126983" descr="3-28"/>
          <p:cNvPicPr>
            <a:picLocks noChangeAspect="1"/>
          </p:cNvPicPr>
          <p:nvPr/>
        </p:nvPicPr>
        <p:blipFill>
          <a:blip r:embed="rId1"/>
          <a:stretch>
            <a:fillRect/>
          </a:stretch>
        </p:blipFill>
        <p:spPr>
          <a:xfrm>
            <a:off x="3348038" y="620713"/>
            <a:ext cx="2625725" cy="5184775"/>
          </a:xfrm>
          <a:prstGeom prst="rect">
            <a:avLst/>
          </a:prstGeom>
          <a:noFill/>
          <a:ln w="9525">
            <a:noFill/>
          </a:ln>
        </p:spPr>
      </p:pic>
    </p:spTree>
  </p:cSld>
  <p:clrMapOvr>
    <a:masterClrMapping/>
  </p:clrMapOvr>
  <p:transition>
    <p:zo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7217" name="组合 125957"/>
          <p:cNvGrpSpPr/>
          <p:nvPr/>
        </p:nvGrpSpPr>
        <p:grpSpPr>
          <a:xfrm>
            <a:off x="457200" y="533400"/>
            <a:ext cx="8686800" cy="5540375"/>
            <a:chOff x="288" y="336"/>
            <a:chExt cx="5472" cy="3490"/>
          </a:xfrm>
        </p:grpSpPr>
        <p:sp>
          <p:nvSpPr>
            <p:cNvPr id="137218" name="文本框 125955"/>
            <p:cNvSpPr txBox="1"/>
            <p:nvPr/>
          </p:nvSpPr>
          <p:spPr>
            <a:xfrm>
              <a:off x="288" y="336"/>
              <a:ext cx="5472" cy="3490"/>
            </a:xfrm>
            <a:prstGeom prst="rect">
              <a:avLst/>
            </a:prstGeom>
            <a:noFill/>
            <a:ln w="9525">
              <a:noFill/>
            </a:ln>
          </p:spPr>
          <p:txBody>
            <a:bodyPr anchor="t">
              <a:spAutoFit/>
            </a:bodyPr>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和上面的讨论一样， 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法实现重叠相加法的步骤如下</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FFT</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FFT</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)=DFT</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相乘，</a:t>
              </a:r>
              <a:r>
                <a:rPr lang="en-US" altLang="zh-CN" i="1">
                  <a:latin typeface="Times New Roman" panose="02020603050405020304" pitchFamily="18" charset="0"/>
                  <a:ea typeface="宋体" panose="02010600030101010101" pitchFamily="2" charset="-122"/>
                </a:rPr>
                <a:t>Y</a:t>
              </a:r>
              <a:r>
                <a:rPr lang="en-US" altLang="zh-CN" i="1" baseline="-25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k</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计算</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点</a:t>
              </a:r>
              <a:r>
                <a:rPr lang="en-US" altLang="zh-CN">
                  <a:latin typeface="Times New Roman" panose="02020603050405020304" pitchFamily="18" charset="0"/>
                  <a:ea typeface="宋体" panose="02010600030101010101" pitchFamily="2" charset="-122"/>
                </a:rPr>
                <a:t>IFFT</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)=IDFT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Y</a:t>
              </a:r>
              <a:r>
                <a:rPr lang="en-US" altLang="zh-CN" i="1" baseline="-25000">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将各段</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（包括重叠部分）相加，                  	</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nSpc>
                  <a:spcPct val="168000"/>
                </a:lnSpc>
                <a:spcBef>
                  <a:spcPct val="50000"/>
                </a:spcBef>
              </a:pPr>
              <a:r>
                <a:rPr lang="zh-CN" altLang="en-US" dirty="0">
                  <a:latin typeface="Times New Roman" panose="02020603050405020304" pitchFamily="18" charset="0"/>
                  <a:ea typeface="宋体" panose="02010600030101010101" pitchFamily="2" charset="-122"/>
                </a:rPr>
                <a:t>重叠相加的名称是由于各输出段的重叠部分相加而得名的。 </a:t>
              </a:r>
              <a:endParaRPr lang="zh-CN" altLang="en-US">
                <a:latin typeface="Times New Roman" panose="02020603050405020304" pitchFamily="18" charset="0"/>
                <a:ea typeface="宋体" panose="02010600030101010101" pitchFamily="2" charset="-122"/>
              </a:endParaRPr>
            </a:p>
          </p:txBody>
        </p:sp>
        <p:graphicFrame>
          <p:nvGraphicFramePr>
            <p:cNvPr id="137219" name="对象 125956"/>
            <p:cNvGraphicFramePr/>
            <p:nvPr/>
          </p:nvGraphicFramePr>
          <p:xfrm>
            <a:off x="3519" y="2810"/>
            <a:ext cx="1392" cy="615"/>
          </p:xfrm>
          <a:graphic>
            <a:graphicData uri="http://schemas.openxmlformats.org/presentationml/2006/ole">
              <mc:AlternateContent xmlns:mc="http://schemas.openxmlformats.org/markup-compatibility/2006">
                <mc:Choice xmlns:v="urn:schemas-microsoft-com:vml" Requires="v">
                  <p:oleObj spid="_x0000_s3198" name="" r:id="rId1" imgW="977265" imgH="431800" progId="Equation.3">
                    <p:embed/>
                  </p:oleObj>
                </mc:Choice>
                <mc:Fallback>
                  <p:oleObj name="" r:id="rId1" imgW="977265" imgH="431800" progId="Equation.3">
                    <p:embed/>
                    <p:pic>
                      <p:nvPicPr>
                        <p:cNvPr id="0" name="图片 3197"/>
                        <p:cNvPicPr/>
                        <p:nvPr/>
                      </p:nvPicPr>
                      <p:blipFill>
                        <a:blip r:embed="rId2"/>
                        <a:stretch>
                          <a:fillRect/>
                        </a:stretch>
                      </p:blipFill>
                      <p:spPr>
                        <a:xfrm>
                          <a:off x="3519" y="2810"/>
                          <a:ext cx="1392" cy="615"/>
                        </a:xfrm>
                        <a:prstGeom prst="rect">
                          <a:avLst/>
                        </a:prstGeom>
                        <a:noFill/>
                        <a:ln w="38100">
                          <a:noFill/>
                          <a:miter/>
                        </a:ln>
                      </p:spPr>
                    </p:pic>
                  </p:oleObj>
                </mc:Fallback>
              </mc:AlternateContent>
            </a:graphicData>
          </a:graphic>
        </p:graphicFrame>
      </p:grpSp>
    </p:spTree>
  </p:cSld>
  <p:clrMapOvr>
    <a:masterClrMapping/>
  </p:clrMapOvr>
  <p:transition>
    <p:zo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文本框 129027"/>
          <p:cNvSpPr txBox="1"/>
          <p:nvPr/>
        </p:nvSpPr>
        <p:spPr>
          <a:xfrm>
            <a:off x="228600" y="533400"/>
            <a:ext cx="8686800" cy="5468938"/>
          </a:xfrm>
          <a:prstGeom prst="rect">
            <a:avLst/>
          </a:prstGeom>
          <a:noFill/>
          <a:ln w="9525">
            <a:noFill/>
          </a:ln>
        </p:spPr>
        <p:txBody>
          <a:bodyPr anchor="t">
            <a:spAutoFit/>
          </a:bodyPr>
          <a:p>
            <a:pPr algn="just">
              <a:lnSpc>
                <a:spcPct val="178000"/>
              </a:lnSpc>
              <a:spcBef>
                <a:spcPct val="50000"/>
              </a:spcBef>
            </a:pPr>
            <a:r>
              <a:rPr lang="en-US" altLang="zh-CN" b="1" dirty="0">
                <a:latin typeface="Times New Roman" panose="02020603050405020304" pitchFamily="18" charset="0"/>
                <a:ea typeface="宋体" panose="02010600030101010101" pitchFamily="2" charset="-122"/>
              </a:rPr>
              <a:t>         3</a:t>
            </a:r>
            <a:r>
              <a:rPr lang="zh-CN" altLang="en-US" b="1" dirty="0">
                <a:latin typeface="Times New Roman" panose="02020603050405020304" pitchFamily="18" charset="0"/>
                <a:ea typeface="宋体" panose="02010600030101010101" pitchFamily="2" charset="-122"/>
              </a:rPr>
              <a:t>． 重叠保留法</a:t>
            </a:r>
            <a:endParaRPr lang="zh-CN" altLang="en-US" b="1">
              <a:latin typeface="Times New Roman" panose="02020603050405020304" pitchFamily="18" charset="0"/>
              <a:ea typeface="宋体" panose="02010600030101010101" pitchFamily="2" charset="-122"/>
            </a:endParaRPr>
          </a:p>
          <a:p>
            <a:pPr algn="just">
              <a:lnSpc>
                <a:spcPct val="178000"/>
              </a:lnSpc>
              <a:spcBef>
                <a:spcPct val="50000"/>
              </a:spcBef>
            </a:pPr>
            <a:r>
              <a:rPr lang="zh-CN" altLang="en-US" dirty="0">
                <a:latin typeface="Times New Roman" panose="02020603050405020304" pitchFamily="18" charset="0"/>
                <a:ea typeface="宋体" panose="02010600030101010101" pitchFamily="2" charset="-122"/>
              </a:rPr>
              <a:t>        此方法与上述方法稍有不同。先将</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分段，每段</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个点，这是相同的。 不同之处是，序列中补零处不补零，而在每一段的前边补上前一段保留下来的（</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）个输入序列值， 组成</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点序列</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，如图</a:t>
            </a:r>
            <a:r>
              <a:rPr lang="en-US" altLang="zh-CN">
                <a:latin typeface="Times New Roman" panose="02020603050405020304" pitchFamily="18" charset="0"/>
                <a:ea typeface="宋体" panose="02010600030101010101" pitchFamily="2" charset="-122"/>
              </a:rPr>
              <a:t>3-29(</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）所示。如果</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-1&lt;2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 则可在每段序列末端补零值点，补到长度为</a:t>
            </a:r>
            <a:r>
              <a:rPr lang="en-US" altLang="zh-CN">
                <a:latin typeface="Times New Roman" panose="02020603050405020304" pitchFamily="18" charset="0"/>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，这时如果用</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实现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圆周卷积，则其每段圆周卷积结果的</a:t>
            </a:r>
            <a:r>
              <a:rPr lang="zh-CN" altLang="en-US" dirty="0">
                <a:latin typeface="Times New Roman" panose="02020603050405020304" pitchFamily="18" charset="0"/>
                <a:ea typeface="宋体" panose="02010600030101010101" pitchFamily="2" charset="-122"/>
              </a:rPr>
              <a:t>前（</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）个点的值不等于线性卷积值，必须舍去。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文本框 128003"/>
          <p:cNvSpPr txBox="1"/>
          <p:nvPr/>
        </p:nvSpPr>
        <p:spPr>
          <a:xfrm>
            <a:off x="2987675" y="6165850"/>
            <a:ext cx="371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3-29 </a:t>
            </a:r>
            <a:r>
              <a:rPr lang="zh-CN" altLang="en-US" dirty="0">
                <a:latin typeface="Times New Roman" panose="02020603050405020304" pitchFamily="18" charset="0"/>
                <a:ea typeface="宋体" panose="02010600030101010101" pitchFamily="2" charset="-122"/>
              </a:rPr>
              <a:t>重叠保留法示意图 </a:t>
            </a:r>
            <a:endParaRPr lang="zh-CN" altLang="en-US">
              <a:latin typeface="Times New Roman" panose="02020603050405020304" pitchFamily="18" charset="0"/>
              <a:ea typeface="宋体" panose="02010600030101010101" pitchFamily="2" charset="-122"/>
            </a:endParaRPr>
          </a:p>
        </p:txBody>
      </p:sp>
      <p:pic>
        <p:nvPicPr>
          <p:cNvPr id="139266" name="图片 128006" descr="3-29"/>
          <p:cNvPicPr>
            <a:picLocks noChangeAspect="1"/>
          </p:cNvPicPr>
          <p:nvPr/>
        </p:nvPicPr>
        <p:blipFill>
          <a:blip r:embed="rId1"/>
          <a:stretch>
            <a:fillRect/>
          </a:stretch>
        </p:blipFill>
        <p:spPr>
          <a:xfrm>
            <a:off x="2487613" y="476250"/>
            <a:ext cx="4394200" cy="5616575"/>
          </a:xfrm>
          <a:prstGeom prst="rect">
            <a:avLst/>
          </a:prstGeom>
          <a:noFill/>
          <a:ln w="9525">
            <a:noFill/>
          </a:ln>
        </p:spPr>
      </p:pic>
    </p:spTree>
  </p:cSld>
  <p:clrMapOvr>
    <a:masterClrMapping/>
  </p:clrMapOvr>
  <p:transition>
    <p:zo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文本框 130051"/>
          <p:cNvSpPr txBox="1"/>
          <p:nvPr/>
        </p:nvSpPr>
        <p:spPr>
          <a:xfrm>
            <a:off x="304800" y="457200"/>
            <a:ext cx="86106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为了说明以上说法的正确性，我们来看一看图</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。任一段</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a:t>
            </a:r>
            <a:r>
              <a:rPr lang="zh-CN" altLang="en-US" dirty="0">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（原为</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点，补零值后也为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点圆周卷积 </a:t>
            </a:r>
            <a:endParaRPr lang="zh-CN" altLang="en-US">
              <a:latin typeface="Times New Roman" panose="02020603050405020304" pitchFamily="18" charset="0"/>
              <a:ea typeface="宋体" panose="02010600030101010101" pitchFamily="2" charset="-122"/>
            </a:endParaRPr>
          </a:p>
        </p:txBody>
      </p:sp>
      <p:grpSp>
        <p:nvGrpSpPr>
          <p:cNvPr id="140290" name="组合 130056"/>
          <p:cNvGrpSpPr/>
          <p:nvPr/>
        </p:nvGrpSpPr>
        <p:grpSpPr>
          <a:xfrm>
            <a:off x="1143000" y="1828800"/>
            <a:ext cx="7543800" cy="1063625"/>
            <a:chOff x="720" y="1152"/>
            <a:chExt cx="4752" cy="670"/>
          </a:xfrm>
        </p:grpSpPr>
        <p:graphicFrame>
          <p:nvGraphicFramePr>
            <p:cNvPr id="140291" name="对象 130052"/>
            <p:cNvGraphicFramePr/>
            <p:nvPr/>
          </p:nvGraphicFramePr>
          <p:xfrm>
            <a:off x="720" y="1152"/>
            <a:ext cx="4752" cy="670"/>
          </p:xfrm>
          <a:graphic>
            <a:graphicData uri="http://schemas.openxmlformats.org/presentationml/2006/ole">
              <mc:AlternateContent xmlns:mc="http://schemas.openxmlformats.org/markup-compatibility/2006">
                <mc:Choice xmlns:v="urn:schemas-microsoft-com:vml" Requires="v">
                  <p:oleObj spid="_x0000_s3197" name="" r:id="rId1" imgW="3059430" imgH="431800" progId="Equation.3">
                    <p:embed/>
                  </p:oleObj>
                </mc:Choice>
                <mc:Fallback>
                  <p:oleObj name="" r:id="rId1" imgW="3059430" imgH="431800" progId="Equation.3">
                    <p:embed/>
                    <p:pic>
                      <p:nvPicPr>
                        <p:cNvPr id="0" name="图片 3196"/>
                        <p:cNvPicPr/>
                        <p:nvPr/>
                      </p:nvPicPr>
                      <p:blipFill>
                        <a:blip r:embed="rId2"/>
                        <a:stretch>
                          <a:fillRect/>
                        </a:stretch>
                      </p:blipFill>
                      <p:spPr>
                        <a:xfrm>
                          <a:off x="720" y="1152"/>
                          <a:ext cx="4752" cy="670"/>
                        </a:xfrm>
                        <a:prstGeom prst="rect">
                          <a:avLst/>
                        </a:prstGeom>
                        <a:noFill/>
                        <a:ln w="38100">
                          <a:noFill/>
                          <a:miter/>
                        </a:ln>
                      </p:spPr>
                    </p:pic>
                  </p:oleObj>
                </mc:Fallback>
              </mc:AlternateContent>
            </a:graphicData>
          </a:graphic>
        </p:graphicFrame>
        <p:grpSp>
          <p:nvGrpSpPr>
            <p:cNvPr id="140292" name="组合 130055"/>
            <p:cNvGrpSpPr/>
            <p:nvPr/>
          </p:nvGrpSpPr>
          <p:grpSpPr>
            <a:xfrm>
              <a:off x="2033" y="1382"/>
              <a:ext cx="223" cy="250"/>
              <a:chOff x="1713" y="3374"/>
              <a:chExt cx="223" cy="250"/>
            </a:xfrm>
          </p:grpSpPr>
          <p:sp>
            <p:nvSpPr>
              <p:cNvPr id="140293" name="椭圆 130053"/>
              <p:cNvSpPr/>
              <p:nvPr/>
            </p:nvSpPr>
            <p:spPr>
              <a:xfrm>
                <a:off x="1728" y="3408"/>
                <a:ext cx="192" cy="192"/>
              </a:xfrm>
              <a:prstGeom prst="ellipse">
                <a:avLst/>
              </a:prstGeom>
              <a:solidFill>
                <a:schemeClr val="bg1"/>
              </a:solidFill>
              <a:ln w="9525" cap="flat" cmpd="sng">
                <a:solidFill>
                  <a:schemeClr val="tx1"/>
                </a:solidFill>
                <a:prstDash val="solid"/>
                <a:round/>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sp>
            <p:nvSpPr>
              <p:cNvPr id="140294" name="文本框 130054"/>
              <p:cNvSpPr txBox="1"/>
              <p:nvPr/>
            </p:nvSpPr>
            <p:spPr>
              <a:xfrm>
                <a:off x="1713" y="3374"/>
                <a:ext cx="223" cy="250"/>
              </a:xfrm>
              <a:prstGeom prst="rect">
                <a:avLst/>
              </a:prstGeom>
              <a:noFill/>
              <a:ln w="9525">
                <a:noFill/>
              </a:ln>
            </p:spPr>
            <p:txBody>
              <a:bodyPr wrap="none" anchor="t">
                <a:spAutoFit/>
              </a:bodyPr>
              <a:p>
                <a:r>
                  <a:rPr lang="en-US" altLang="zh-CN" sz="2000" i="1">
                    <a:latin typeface="Times New Roman" panose="02020603050405020304" pitchFamily="18" charset="0"/>
                    <a:ea typeface="宋体" panose="02010600030101010101" pitchFamily="2" charset="-122"/>
                  </a:rPr>
                  <a:t>N</a:t>
                </a:r>
                <a:endParaRPr lang="en-US" altLang="zh-CN" sz="2000" i="1">
                  <a:latin typeface="Times New Roman" panose="02020603050405020304" pitchFamily="18" charset="0"/>
                  <a:ea typeface="宋体" panose="02010600030101010101" pitchFamily="2" charset="-122"/>
                </a:endParaRPr>
              </a:p>
            </p:txBody>
          </p:sp>
        </p:grpSp>
      </p:grpSp>
      <p:sp>
        <p:nvSpPr>
          <p:cNvPr id="140295" name="文本框 130057"/>
          <p:cNvSpPr txBox="1"/>
          <p:nvPr/>
        </p:nvSpPr>
        <p:spPr>
          <a:xfrm>
            <a:off x="7924800" y="26670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3-71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0296" name="文本框 130058"/>
          <p:cNvSpPr txBox="1"/>
          <p:nvPr/>
        </p:nvSpPr>
        <p:spPr>
          <a:xfrm>
            <a:off x="152400" y="3305175"/>
            <a:ext cx="8839200" cy="210502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由于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点，补零后作</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点圆周移位时，在</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=0,1,</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的每一种情况下，</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baseline="-25000">
                <a:latin typeface="Times New Roman" panose="02020603050405020304" pitchFamily="18" charset="0"/>
                <a:ea typeface="宋体" panose="02010600030101010101" pitchFamily="2" charset="-122"/>
              </a:rPr>
              <a:t>N</a:t>
            </a:r>
            <a:r>
              <a:rPr lang="en-US" altLang="zh-CN" i="1">
                <a:latin typeface="Times New Roman" panose="02020603050405020304" pitchFamily="18" charset="0"/>
                <a:ea typeface="宋体" panose="02010600030101010101" pitchFamily="2" charset="-122"/>
              </a:rPr>
              <a:t>R</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范围的末端出现非零值， 而此处</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是有数值存在的，图</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d</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的情况，所以在 </a:t>
            </a:r>
            <a:endParaRPr lang="zh-CN" altLang="en-US">
              <a:latin typeface="Times New Roman" panose="02020603050405020304" pitchFamily="18" charset="0"/>
              <a:ea typeface="宋体" panose="02010600030101010101" pitchFamily="2" charset="-122"/>
            </a:endParaRPr>
          </a:p>
        </p:txBody>
      </p:sp>
      <p:sp>
        <p:nvSpPr>
          <p:cNvPr id="140297" name="文本框 130059"/>
          <p:cNvSpPr txBox="1"/>
          <p:nvPr/>
        </p:nvSpPr>
        <p:spPr>
          <a:xfrm>
            <a:off x="3581400" y="5540375"/>
            <a:ext cx="2181225" cy="579438"/>
          </a:xfrm>
          <a:prstGeom prst="rect">
            <a:avLst/>
          </a:prstGeom>
          <a:noFill/>
          <a:ln w="9525">
            <a:noFill/>
          </a:ln>
        </p:spPr>
        <p:txBody>
          <a:bodyPr wrap="none" anchor="t">
            <a:spAutoFit/>
          </a:bodyPr>
          <a:p>
            <a:r>
              <a:rPr lang="en-US" altLang="zh-CN" sz="3200">
                <a:latin typeface="Times New Roman" panose="02020603050405020304" pitchFamily="18" charset="0"/>
                <a:ea typeface="宋体" panose="02010600030101010101" pitchFamily="2" charset="-122"/>
              </a:rPr>
              <a:t>0≤</a:t>
            </a:r>
            <a:r>
              <a:rPr lang="en-US" altLang="zh-CN" sz="3200" i="1">
                <a:latin typeface="Times New Roman" panose="02020603050405020304" pitchFamily="18" charset="0"/>
                <a:ea typeface="宋体" panose="02010600030101010101" pitchFamily="2" charset="-122"/>
              </a:rPr>
              <a:t>n</a:t>
            </a:r>
            <a:r>
              <a:rPr lang="en-US" altLang="zh-CN" sz="3200">
                <a:latin typeface="Times New Roman" panose="02020603050405020304" pitchFamily="18" charset="0"/>
                <a:ea typeface="宋体" panose="02010600030101010101" pitchFamily="2" charset="-122"/>
              </a:rPr>
              <a:t>≤</a:t>
            </a:r>
            <a:r>
              <a:rPr lang="en-US" altLang="zh-CN" sz="3200" i="1">
                <a:latin typeface="Times New Roman" panose="02020603050405020304" pitchFamily="18" charset="0"/>
                <a:ea typeface="宋体" panose="02010600030101010101" pitchFamily="2" charset="-122"/>
              </a:rPr>
              <a:t>M</a:t>
            </a:r>
            <a:r>
              <a:rPr lang="en-US" altLang="zh-CN" sz="3200">
                <a:latin typeface="Times New Roman" panose="02020603050405020304" pitchFamily="18" charset="0"/>
                <a:ea typeface="宋体" panose="02010600030101010101" pitchFamily="2" charset="-122"/>
              </a:rPr>
              <a:t>-2 </a:t>
            </a:r>
            <a:endParaRPr lang="en-US" altLang="zh-CN" sz="320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文本框 133123"/>
          <p:cNvSpPr txBox="1"/>
          <p:nvPr/>
        </p:nvSpPr>
        <p:spPr>
          <a:xfrm>
            <a:off x="152400" y="457200"/>
            <a:ext cx="8839200" cy="575151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这一部分的</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值中将混入</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尾部与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n-m</a:t>
            </a:r>
            <a:r>
              <a:rPr lang="en-US" altLang="zh-CN">
                <a:latin typeface="Times New Roman" panose="02020603050405020304" pitchFamily="18" charset="0"/>
                <a:ea typeface="宋体" panose="02010600030101010101" pitchFamily="2" charset="-122"/>
              </a:rPr>
              <a:t>))</a:t>
            </a:r>
            <a:r>
              <a:rPr lang="en-US" altLang="zh-CN" i="1" baseline="-25000">
                <a:latin typeface="Times New Roman" panose="02020603050405020304" pitchFamily="18" charset="0"/>
                <a:ea typeface="宋体" panose="02010600030101010101" pitchFamily="2" charset="-122"/>
              </a:rPr>
              <a:t>N</a:t>
            </a:r>
            <a:r>
              <a:rPr lang="en-US" altLang="zh-CN">
                <a:latin typeface="Courier New" panose="02070309020205020404" pitchFamily="49"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尾部的乘积值，从而使这些点的</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不同于线性卷积结果。但是从</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开始到</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n-m</a:t>
            </a:r>
            <a:r>
              <a:rPr lang="en-US" altLang="zh-CN">
                <a:latin typeface="Times New Roman" panose="02020603050405020304" pitchFamily="18" charset="0"/>
                <a:ea typeface="宋体" panose="02010600030101010101" pitchFamily="2" charset="-122"/>
              </a:rPr>
              <a:t>))</a:t>
            </a:r>
            <a:r>
              <a:rPr lang="en-US" altLang="zh-CN" i="1" baseline="-25000">
                <a:latin typeface="Times New Roman" panose="02020603050405020304" pitchFamily="18" charset="0"/>
                <a:ea typeface="宋体" panose="02010600030101010101" pitchFamily="2" charset="-122"/>
              </a:rPr>
              <a:t>N</a:t>
            </a:r>
            <a:r>
              <a:rPr lang="en-US" altLang="zh-CN" i="1">
                <a:latin typeface="Times New Roman" panose="02020603050405020304" pitchFamily="18" charset="0"/>
                <a:ea typeface="宋体" panose="02010600030101010101" pitchFamily="2" charset="-122"/>
              </a:rPr>
              <a:t>R</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n-m</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（如图</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）所示），圆周卷积值完全与线性卷积值一样，</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就是正确的线性卷积值。因而必须把每一段圆周卷积结果的前</a:t>
            </a:r>
            <a:r>
              <a:rPr lang="en-US" altLang="zh-CN" dirty="0">
                <a:latin typeface="Times New Roman" panose="02020603050405020304" pitchFamily="18" charset="0"/>
                <a:ea typeface="宋体" panose="02010600030101010101" pitchFamily="2" charset="-122"/>
              </a:rPr>
              <a:t>(M-1)</a:t>
            </a:r>
            <a:r>
              <a:rPr lang="zh-CN" altLang="en-US" dirty="0">
                <a:latin typeface="Times New Roman" panose="02020603050405020304" pitchFamily="18" charset="0"/>
                <a:ea typeface="宋体" panose="02010600030101010101" pitchFamily="2" charset="-122"/>
              </a:rPr>
              <a:t>个值去掉， 如图</a:t>
            </a:r>
            <a:r>
              <a:rPr lang="en-US" altLang="zh-CN" dirty="0">
                <a:latin typeface="Times New Roman" panose="02020603050405020304" pitchFamily="18" charset="0"/>
                <a:ea typeface="宋体" panose="02010600030101010101" pitchFamily="2" charset="-122"/>
              </a:rPr>
              <a:t>3-29</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g</a:t>
            </a:r>
            <a:r>
              <a:rPr lang="zh-CN" altLang="en-US" dirty="0">
                <a:latin typeface="Times New Roman" panose="02020603050405020304" pitchFamily="18" charset="0"/>
                <a:ea typeface="宋体" panose="02010600030101010101" pitchFamily="2" charset="-122"/>
              </a:rPr>
              <a:t>）所示。  </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因此，为了不造成输出信号的遗漏，对输入分段时，就需要使相邻两段有</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个点重叠（对于第一段，即</a:t>
            </a:r>
            <a:r>
              <a:rPr lang="en-US" altLang="zh-CN" i="1">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，由于没有前一段保留信号，则需要在序列前填充</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个零值点），</a:t>
            </a:r>
            <a:r>
              <a:rPr lang="zh-CN" altLang="en-US" dirty="0">
                <a:latin typeface="Times New Roman" panose="02020603050405020304" pitchFamily="18" charset="0"/>
                <a:ea typeface="宋体" panose="02010600030101010101" pitchFamily="2" charset="-122"/>
              </a:rPr>
              <a:t>这样，若原输入序列为</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时有值），则应重新定义输入序列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2337" name="组合 132102"/>
          <p:cNvGrpSpPr/>
          <p:nvPr/>
        </p:nvGrpSpPr>
        <p:grpSpPr>
          <a:xfrm>
            <a:off x="1295400" y="762000"/>
            <a:ext cx="6043613" cy="1206500"/>
            <a:chOff x="816" y="480"/>
            <a:chExt cx="3807" cy="760"/>
          </a:xfrm>
        </p:grpSpPr>
        <p:graphicFrame>
          <p:nvGraphicFramePr>
            <p:cNvPr id="142338" name="对象 132099"/>
            <p:cNvGraphicFramePr/>
            <p:nvPr/>
          </p:nvGraphicFramePr>
          <p:xfrm>
            <a:off x="816" y="480"/>
            <a:ext cx="2064" cy="760"/>
          </p:xfrm>
          <a:graphic>
            <a:graphicData uri="http://schemas.openxmlformats.org/presentationml/2006/ole">
              <mc:AlternateContent xmlns:mc="http://schemas.openxmlformats.org/markup-compatibility/2006">
                <mc:Choice xmlns:v="urn:schemas-microsoft-com:vml" Requires="v">
                  <p:oleObj spid="_x0000_s3199" name="" r:id="rId1" imgW="1447165" imgH="533400" progId="Equation.3">
                    <p:embed/>
                  </p:oleObj>
                </mc:Choice>
                <mc:Fallback>
                  <p:oleObj name="" r:id="rId1" imgW="1447165" imgH="533400" progId="Equation.3">
                    <p:embed/>
                    <p:pic>
                      <p:nvPicPr>
                        <p:cNvPr id="0" name="图片 3198"/>
                        <p:cNvPicPr/>
                        <p:nvPr/>
                      </p:nvPicPr>
                      <p:blipFill>
                        <a:blip r:embed="rId2"/>
                        <a:stretch>
                          <a:fillRect/>
                        </a:stretch>
                      </p:blipFill>
                      <p:spPr>
                        <a:xfrm>
                          <a:off x="816" y="480"/>
                          <a:ext cx="2064" cy="760"/>
                        </a:xfrm>
                        <a:prstGeom prst="rect">
                          <a:avLst/>
                        </a:prstGeom>
                        <a:noFill/>
                        <a:ln w="38100">
                          <a:noFill/>
                          <a:miter/>
                        </a:ln>
                      </p:spPr>
                    </p:pic>
                  </p:oleObj>
                </mc:Fallback>
              </mc:AlternateContent>
            </a:graphicData>
          </a:graphic>
        </p:graphicFrame>
        <p:sp>
          <p:nvSpPr>
            <p:cNvPr id="142339" name="文本框 132100"/>
            <p:cNvSpPr txBox="1"/>
            <p:nvPr/>
          </p:nvSpPr>
          <p:spPr>
            <a:xfrm>
              <a:off x="3552" y="480"/>
              <a:ext cx="1071" cy="288"/>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-2 </a:t>
              </a:r>
              <a:endParaRPr lang="en-US" altLang="zh-CN">
                <a:latin typeface="Times New Roman" panose="02020603050405020304" pitchFamily="18" charset="0"/>
                <a:ea typeface="宋体" panose="02010600030101010101" pitchFamily="2" charset="-122"/>
              </a:endParaRPr>
            </a:p>
          </p:txBody>
        </p:sp>
        <p:sp>
          <p:nvSpPr>
            <p:cNvPr id="142340" name="文本框 132101"/>
            <p:cNvSpPr txBox="1"/>
            <p:nvPr/>
          </p:nvSpPr>
          <p:spPr>
            <a:xfrm>
              <a:off x="3552" y="912"/>
              <a:ext cx="783" cy="288"/>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a:t>
              </a:r>
              <a:r>
                <a:rPr lang="en-US" altLang="zh-CN" b="1"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pSp>
      <p:sp>
        <p:nvSpPr>
          <p:cNvPr id="142341" name="文本框 132103"/>
          <p:cNvSpPr txBox="1"/>
          <p:nvPr/>
        </p:nvSpPr>
        <p:spPr>
          <a:xfrm>
            <a:off x="7908925" y="1184275"/>
            <a:ext cx="11747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(3-72</a:t>
            </a:r>
            <a:r>
              <a:rPr lang="en-US" altLang="zh-CN" i="1">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42342" name="文本框 132104"/>
          <p:cNvSpPr txBox="1"/>
          <p:nvPr/>
        </p:nvSpPr>
        <p:spPr>
          <a:xfrm>
            <a:off x="365125" y="2174875"/>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而 </a:t>
            </a:r>
            <a:endParaRPr lang="zh-CN" altLang="en-US">
              <a:latin typeface="Times New Roman" panose="02020603050405020304" pitchFamily="18" charset="0"/>
              <a:ea typeface="宋体" panose="02010600030101010101" pitchFamily="2" charset="-122"/>
            </a:endParaRPr>
          </a:p>
        </p:txBody>
      </p:sp>
      <p:graphicFrame>
        <p:nvGraphicFramePr>
          <p:cNvPr id="142343" name="对象 132106"/>
          <p:cNvGraphicFramePr/>
          <p:nvPr/>
        </p:nvGraphicFramePr>
        <p:xfrm>
          <a:off x="950913" y="3048000"/>
          <a:ext cx="3965575" cy="1206500"/>
        </p:xfrm>
        <a:graphic>
          <a:graphicData uri="http://schemas.openxmlformats.org/presentationml/2006/ole">
            <mc:AlternateContent xmlns:mc="http://schemas.openxmlformats.org/markup-compatibility/2006">
              <mc:Choice xmlns:v="urn:schemas-microsoft-com:vml" Requires="v">
                <p:oleObj spid="_x0000_s3200" name="" r:id="rId3" imgW="1751965" imgH="533400" progId="Equation.3">
                  <p:embed/>
                </p:oleObj>
              </mc:Choice>
              <mc:Fallback>
                <p:oleObj name="" r:id="rId3" imgW="1751965" imgH="533400" progId="Equation.3">
                  <p:embed/>
                  <p:pic>
                    <p:nvPicPr>
                      <p:cNvPr id="0" name="图片 3199"/>
                      <p:cNvPicPr/>
                      <p:nvPr/>
                    </p:nvPicPr>
                    <p:blipFill>
                      <a:blip r:embed="rId4"/>
                      <a:stretch>
                        <a:fillRect/>
                      </a:stretch>
                    </p:blipFill>
                    <p:spPr>
                      <a:xfrm>
                        <a:off x="950913" y="3048000"/>
                        <a:ext cx="3965575" cy="1206500"/>
                      </a:xfrm>
                      <a:prstGeom prst="rect">
                        <a:avLst/>
                      </a:prstGeom>
                      <a:noFill/>
                      <a:ln w="38100">
                        <a:noFill/>
                        <a:miter/>
                      </a:ln>
                    </p:spPr>
                  </p:pic>
                </p:oleObj>
              </mc:Fallback>
            </mc:AlternateContent>
          </a:graphicData>
        </a:graphic>
      </p:graphicFrame>
      <p:sp>
        <p:nvSpPr>
          <p:cNvPr id="142344" name="文本框 132107"/>
          <p:cNvSpPr txBox="1"/>
          <p:nvPr/>
        </p:nvSpPr>
        <p:spPr>
          <a:xfrm>
            <a:off x="5638800" y="3048000"/>
            <a:ext cx="1649413"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142345" name="文本框 132109"/>
          <p:cNvSpPr txBox="1"/>
          <p:nvPr/>
        </p:nvSpPr>
        <p:spPr>
          <a:xfrm>
            <a:off x="5607050" y="3698875"/>
            <a:ext cx="1022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42346" name="文本框 132110"/>
          <p:cNvSpPr txBox="1"/>
          <p:nvPr/>
        </p:nvSpPr>
        <p:spPr>
          <a:xfrm>
            <a:off x="4572000" y="4572000"/>
            <a:ext cx="1506538"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=0, 1, … </a:t>
            </a:r>
            <a:endParaRPr lang="en-US" altLang="zh-CN">
              <a:latin typeface="Times New Roman" panose="02020603050405020304" pitchFamily="18" charset="0"/>
              <a:ea typeface="宋体" panose="02010600030101010101" pitchFamily="2" charset="-122"/>
            </a:endParaRPr>
          </a:p>
        </p:txBody>
      </p:sp>
      <p:sp>
        <p:nvSpPr>
          <p:cNvPr id="142347" name="文本框 132111"/>
          <p:cNvSpPr txBox="1"/>
          <p:nvPr/>
        </p:nvSpPr>
        <p:spPr>
          <a:xfrm>
            <a:off x="7969250" y="4648200"/>
            <a:ext cx="11747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(3-72</a:t>
            </a:r>
            <a:r>
              <a:rPr lang="en-US" altLang="zh-CN" i="1">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文本框 135171"/>
          <p:cNvSpPr txBox="1"/>
          <p:nvPr/>
        </p:nvSpPr>
        <p:spPr>
          <a:xfrm>
            <a:off x="228600" y="404813"/>
            <a:ext cx="8686800" cy="31115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在这一公式中，已经把每一段的时间原点放在该段的起始点，而不是</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的原点。这种分段方法示于图</a:t>
            </a:r>
            <a:r>
              <a:rPr lang="en-US" altLang="zh-CN" dirty="0">
                <a:latin typeface="Times New Roman" panose="02020603050405020304" pitchFamily="18" charset="0"/>
                <a:ea typeface="宋体" panose="02010600030101010101" pitchFamily="2" charset="-122"/>
              </a:rPr>
              <a:t>3-28</a:t>
            </a:r>
            <a:r>
              <a:rPr lang="zh-CN" altLang="en-US" dirty="0">
                <a:latin typeface="Times New Roman" panose="02020603050405020304" pitchFamily="18" charset="0"/>
                <a:ea typeface="宋体" panose="02010600030101010101" pitchFamily="2" charset="-122"/>
              </a:rPr>
              <a:t>中，每段</a:t>
            </a: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的圆周卷积结果以</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表示，如图 </a:t>
            </a:r>
            <a:r>
              <a:rPr lang="en-US" altLang="zh-CN" dirty="0">
                <a:latin typeface="Times New Roman" panose="02020603050405020304" pitchFamily="18" charset="0"/>
                <a:ea typeface="宋体" panose="02010600030101010101" pitchFamily="2" charset="-122"/>
              </a:rPr>
              <a:t>3-28</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）所示，图中已标出每一段输出段开始的</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个点，</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部分舍掉不用。把相邻各输出段留下的序列衔接起来</a:t>
            </a:r>
            <a:r>
              <a:rPr lang="zh-CN" altLang="en-US" dirty="0">
                <a:latin typeface="Times New Roman" panose="02020603050405020304" pitchFamily="18" charset="0"/>
                <a:ea typeface="宋体" panose="02010600030101010101" pitchFamily="2" charset="-122"/>
              </a:rPr>
              <a:t>，就构成了最后的正确输出， 即 </a:t>
            </a:r>
            <a:endParaRPr lang="zh-CN" altLang="en-US">
              <a:latin typeface="Times New Roman" panose="02020603050405020304" pitchFamily="18" charset="0"/>
              <a:ea typeface="宋体" panose="02010600030101010101" pitchFamily="2" charset="-122"/>
            </a:endParaRPr>
          </a:p>
        </p:txBody>
      </p:sp>
      <p:graphicFrame>
        <p:nvGraphicFramePr>
          <p:cNvPr id="143362" name="对象 135172"/>
          <p:cNvGraphicFramePr/>
          <p:nvPr/>
        </p:nvGraphicFramePr>
        <p:xfrm>
          <a:off x="2209800" y="3284538"/>
          <a:ext cx="5029200" cy="1155700"/>
        </p:xfrm>
        <a:graphic>
          <a:graphicData uri="http://schemas.openxmlformats.org/presentationml/2006/ole">
            <mc:AlternateContent xmlns:mc="http://schemas.openxmlformats.org/markup-compatibility/2006">
              <mc:Choice xmlns:v="urn:schemas-microsoft-com:vml" Requires="v">
                <p:oleObj spid="_x0000_s3201" name="" r:id="rId1" imgW="1878965" imgH="431800" progId="Equation.3">
                  <p:embed/>
                </p:oleObj>
              </mc:Choice>
              <mc:Fallback>
                <p:oleObj name="" r:id="rId1" imgW="1878965" imgH="431800" progId="Equation.3">
                  <p:embed/>
                  <p:pic>
                    <p:nvPicPr>
                      <p:cNvPr id="0" name="图片 3200"/>
                      <p:cNvPicPr/>
                      <p:nvPr/>
                    </p:nvPicPr>
                    <p:blipFill>
                      <a:blip r:embed="rId2"/>
                      <a:stretch>
                        <a:fillRect/>
                      </a:stretch>
                    </p:blipFill>
                    <p:spPr>
                      <a:xfrm>
                        <a:off x="2209800" y="3284538"/>
                        <a:ext cx="5029200" cy="1155700"/>
                      </a:xfrm>
                      <a:prstGeom prst="rect">
                        <a:avLst/>
                      </a:prstGeom>
                      <a:noFill/>
                      <a:ln w="38100">
                        <a:noFill/>
                        <a:miter/>
                      </a:ln>
                    </p:spPr>
                  </p:pic>
                </p:oleObj>
              </mc:Fallback>
            </mc:AlternateContent>
          </a:graphicData>
        </a:graphic>
      </p:graphicFrame>
      <p:sp>
        <p:nvSpPr>
          <p:cNvPr id="143363" name="文本框 135173"/>
          <p:cNvSpPr txBox="1"/>
          <p:nvPr/>
        </p:nvSpPr>
        <p:spPr>
          <a:xfrm>
            <a:off x="7715250" y="3733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3-73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3364" name="文本框 135174"/>
          <p:cNvSpPr txBox="1"/>
          <p:nvPr/>
        </p:nvSpPr>
        <p:spPr>
          <a:xfrm>
            <a:off x="212725" y="4419600"/>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43365" name="对象 135175"/>
          <p:cNvGraphicFramePr/>
          <p:nvPr/>
        </p:nvGraphicFramePr>
        <p:xfrm>
          <a:off x="2209800" y="4648200"/>
          <a:ext cx="2362200" cy="1441450"/>
        </p:xfrm>
        <a:graphic>
          <a:graphicData uri="http://schemas.openxmlformats.org/presentationml/2006/ole">
            <mc:AlternateContent xmlns:mc="http://schemas.openxmlformats.org/markup-compatibility/2006">
              <mc:Choice xmlns:v="urn:schemas-microsoft-com:vml" Requires="v">
                <p:oleObj spid="_x0000_s3202" name="" r:id="rId3" imgW="914400" imgH="558800" progId="Equation.3">
                  <p:embed/>
                </p:oleObj>
              </mc:Choice>
              <mc:Fallback>
                <p:oleObj name="" r:id="rId3" imgW="914400" imgH="558800" progId="Equation.3">
                  <p:embed/>
                  <p:pic>
                    <p:nvPicPr>
                      <p:cNvPr id="0" name="图片 3201"/>
                      <p:cNvPicPr/>
                      <p:nvPr/>
                    </p:nvPicPr>
                    <p:blipFill>
                      <a:blip r:embed="rId4"/>
                      <a:stretch>
                        <a:fillRect/>
                      </a:stretch>
                    </p:blipFill>
                    <p:spPr>
                      <a:xfrm>
                        <a:off x="2209800" y="4648200"/>
                        <a:ext cx="2362200" cy="1441450"/>
                      </a:xfrm>
                      <a:prstGeom prst="rect">
                        <a:avLst/>
                      </a:prstGeom>
                      <a:noFill/>
                      <a:ln w="38100">
                        <a:noFill/>
                        <a:miter/>
                      </a:ln>
                    </p:spPr>
                  </p:pic>
                </p:oleObj>
              </mc:Fallback>
            </mc:AlternateContent>
          </a:graphicData>
        </a:graphic>
      </p:graphicFrame>
      <p:sp>
        <p:nvSpPr>
          <p:cNvPr id="143366" name="文本框 135176"/>
          <p:cNvSpPr txBox="1"/>
          <p:nvPr/>
        </p:nvSpPr>
        <p:spPr>
          <a:xfrm>
            <a:off x="5638800" y="4683125"/>
            <a:ext cx="1987550"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
        <p:nvSpPr>
          <p:cNvPr id="143367" name="文本框 135177"/>
          <p:cNvSpPr txBox="1"/>
          <p:nvPr/>
        </p:nvSpPr>
        <p:spPr>
          <a:xfrm>
            <a:off x="5638800" y="5521325"/>
            <a:ext cx="1022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其他</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43368" name="文本框 135178"/>
          <p:cNvSpPr txBox="1"/>
          <p:nvPr/>
        </p:nvSpPr>
        <p:spPr>
          <a:xfrm>
            <a:off x="7715250" y="525145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3-74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3369" name="文本框 135179"/>
          <p:cNvSpPr txBox="1"/>
          <p:nvPr/>
        </p:nvSpPr>
        <p:spPr>
          <a:xfrm>
            <a:off x="212725" y="6019800"/>
            <a:ext cx="8931275" cy="822325"/>
          </a:xfrm>
          <a:prstGeom prst="rect">
            <a:avLst/>
          </a:prstGeom>
          <a:noFill/>
          <a:ln w="9525">
            <a:noFill/>
          </a:ln>
        </p:spPr>
        <p:txBody>
          <a:bodyPr anchor="t">
            <a:spAutoFit/>
          </a:bodyPr>
          <a:p>
            <a:r>
              <a:rPr lang="zh-CN" altLang="en-US" dirty="0">
                <a:latin typeface="Times New Roman" panose="02020603050405020304" pitchFamily="18" charset="0"/>
                <a:ea typeface="宋体" panose="02010600030101010101" pitchFamily="2" charset="-122"/>
              </a:rPr>
              <a:t>这时，每段输出的时间原点放在</a:t>
            </a:r>
            <a:r>
              <a:rPr lang="en-US" altLang="zh-CN" i="1" err="1">
                <a:latin typeface="Times New Roman" panose="02020603050405020304" pitchFamily="18" charset="0"/>
                <a:ea typeface="宋体" panose="02010600030101010101" pitchFamily="2" charset="-122"/>
              </a:rPr>
              <a:t>y</a:t>
            </a:r>
            <a:r>
              <a:rPr lang="en-US" altLang="zh-CN" i="1" baseline="-25000" err="1">
                <a:latin typeface="Times New Roman" panose="02020603050405020304" pitchFamily="18" charset="0"/>
                <a:ea typeface="宋体" panose="02010600030101010101" pitchFamily="2" charset="-122"/>
              </a:rPr>
              <a:t>i</a:t>
            </a:r>
            <a:r>
              <a:rPr lang="en-US" altLang="zh-CN" i="1" baseline="-2500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的起始点，而不是</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的原点。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文本框 134147"/>
          <p:cNvSpPr txBox="1"/>
          <p:nvPr/>
        </p:nvSpPr>
        <p:spPr>
          <a:xfrm>
            <a:off x="517525" y="692150"/>
            <a:ext cx="8231188" cy="4616450"/>
          </a:xfrm>
          <a:prstGeom prst="rect">
            <a:avLst/>
          </a:prstGeom>
          <a:noFill/>
          <a:ln w="9525">
            <a:noFill/>
          </a:ln>
        </p:spPr>
        <p:txBody>
          <a:bodyPr anchor="t">
            <a:spAutoFit/>
          </a:bodyPr>
          <a:p>
            <a:pPr algn="just">
              <a:lnSpc>
                <a:spcPct val="168000"/>
              </a:lnSpc>
              <a:spcBef>
                <a:spcPct val="50000"/>
              </a:spcBef>
            </a:pPr>
            <a:r>
              <a:rPr lang="en-US" altLang="zh-CN" b="1" dirty="0">
                <a:latin typeface="Times New Roman" panose="02020603050405020304" pitchFamily="18" charset="0"/>
                <a:ea typeface="宋体" panose="02010600030101010101" pitchFamily="2" charset="-122"/>
              </a:rPr>
              <a:t>3.8.2 </a:t>
            </a:r>
            <a:r>
              <a:rPr lang="zh-CN" altLang="en-US" b="1" dirty="0">
                <a:latin typeface="Times New Roman" panose="02020603050405020304" pitchFamily="18" charset="0"/>
                <a:ea typeface="宋体" panose="02010600030101010101" pitchFamily="2" charset="-122"/>
              </a:rPr>
              <a:t>信号消噪</a:t>
            </a:r>
            <a:endParaRPr lang="zh-CN" altLang="en-US">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假设信号在传输过程中，受到噪声的干扰，则在接收端得到的信号由于受到噪声的干扰，信号将难以辨识。用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方法消噪就是对含噪信号的频谱进行处理，将噪声所在频段的</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值全部置零后，再对处理后的</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进行离散傅里叶反变换（</a:t>
            </a:r>
            <a:r>
              <a:rPr lang="en-US" altLang="zh-CN" dirty="0">
                <a:latin typeface="Times New Roman" panose="02020603050405020304" pitchFamily="18" charset="0"/>
                <a:ea typeface="宋体" panose="02010600030101010101" pitchFamily="2" charset="-122"/>
              </a:rPr>
              <a:t>IFFT</a:t>
            </a:r>
            <a:r>
              <a:rPr lang="zh-CN" altLang="en-US" dirty="0">
                <a:latin typeface="Times New Roman" panose="02020603050405020304" pitchFamily="18" charset="0"/>
                <a:ea typeface="宋体" panose="02010600030101010101" pitchFamily="2" charset="-122"/>
              </a:rPr>
              <a:t>）可得原信号的近似结果。</a:t>
            </a:r>
            <a:r>
              <a:rPr lang="zh-CN" altLang="en-US" dirty="0">
                <a:latin typeface="Times New Roman" panose="02020603050405020304" pitchFamily="18" charset="0"/>
                <a:ea typeface="宋体" panose="02010600030101010101" pitchFamily="2" charset="-122"/>
              </a:rPr>
              <a:t>这种方法要求噪声与信号的频谱不在同一频段， 否则，将很难处理。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文本框 137219"/>
          <p:cNvSpPr txBox="1"/>
          <p:nvPr/>
        </p:nvSpPr>
        <p:spPr>
          <a:xfrm>
            <a:off x="468313" y="404813"/>
            <a:ext cx="8231187" cy="606107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3-5</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将上述消噪原理用于语音消噪。图</a:t>
            </a:r>
            <a:r>
              <a:rPr lang="en-US" altLang="zh-CN" dirty="0">
                <a:latin typeface="Times New Roman" panose="02020603050405020304" pitchFamily="18" charset="0"/>
                <a:ea typeface="宋体" panose="02010600030101010101" pitchFamily="2" charset="-122"/>
              </a:rPr>
              <a:t>3-30</a:t>
            </a:r>
            <a:r>
              <a:rPr lang="zh-CN" altLang="en-US" dirty="0">
                <a:latin typeface="Times New Roman" panose="02020603050405020304" pitchFamily="18" charset="0"/>
                <a:ea typeface="宋体" panose="02010600030101010101" pitchFamily="2" charset="-122"/>
              </a:rPr>
              <a:t>是一个实际例子，语音信号受到了强烈的啸叫噪声干扰，无法听清语音意思，如图</a:t>
            </a:r>
            <a:r>
              <a:rPr lang="en-US" altLang="zh-CN" dirty="0">
                <a:latin typeface="Times New Roman" panose="02020603050405020304" pitchFamily="18" charset="0"/>
                <a:ea typeface="宋体" panose="02010600030101010101" pitchFamily="2" charset="-122"/>
              </a:rPr>
              <a:t>3-30(a)</a:t>
            </a:r>
            <a:r>
              <a:rPr lang="zh-CN" altLang="en-US" dirty="0">
                <a:latin typeface="Times New Roman" panose="02020603050405020304" pitchFamily="18" charset="0"/>
                <a:ea typeface="宋体" panose="02010600030101010101" pitchFamily="2" charset="-122"/>
              </a:rPr>
              <a:t>，信号淹没在噪声中（信噪比只有</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-10dB</a:t>
            </a:r>
            <a:r>
              <a:rPr lang="zh-CN" altLang="en-US" dirty="0">
                <a:latin typeface="Times New Roman" panose="02020603050405020304" pitchFamily="18" charset="0"/>
                <a:ea typeface="宋体" panose="02010600030101010101" pitchFamily="2" charset="-122"/>
              </a:rPr>
              <a:t>）。试用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方法消噪。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先作</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分析，得到其功率谱如图</a:t>
            </a:r>
            <a:r>
              <a:rPr lang="en-US" altLang="zh-CN" dirty="0">
                <a:latin typeface="Times New Roman" panose="02020603050405020304" pitchFamily="18" charset="0"/>
                <a:ea typeface="宋体" panose="02010600030101010101" pitchFamily="2" charset="-122"/>
              </a:rPr>
              <a:t>3-30(b)</a:t>
            </a:r>
            <a:r>
              <a:rPr lang="zh-CN" altLang="en-US" dirty="0">
                <a:latin typeface="Times New Roman" panose="02020603050405020304" pitchFamily="18" charset="0"/>
                <a:ea typeface="宋体" panose="02010600030101010101" pitchFamily="2" charset="-122"/>
              </a:rPr>
              <a:t>，可见在频率</a:t>
            </a:r>
            <a:r>
              <a:rPr lang="en-US" altLang="zh-CN" dirty="0">
                <a:latin typeface="Times New Roman" panose="02020603050405020304" pitchFamily="18" charset="0"/>
                <a:ea typeface="宋体" panose="02010600030101010101" pitchFamily="2" charset="-122"/>
              </a:rPr>
              <a:t>2.5 kHz</a:t>
            </a:r>
            <a:r>
              <a:rPr lang="zh-CN" altLang="en-US" dirty="0">
                <a:latin typeface="Times New Roman" panose="02020603050405020304" pitchFamily="18" charset="0"/>
                <a:ea typeface="宋体" panose="02010600030101010101" pitchFamily="2" charset="-122"/>
              </a:rPr>
              <a:t>附近有一极强分量。这就是啸叫噪声干扰。图</a:t>
            </a:r>
            <a:r>
              <a:rPr lang="en-US" altLang="zh-CN" dirty="0">
                <a:latin typeface="Times New Roman" panose="02020603050405020304" pitchFamily="18" charset="0"/>
                <a:ea typeface="宋体" panose="02010600030101010101" pitchFamily="2" charset="-122"/>
              </a:rPr>
              <a:t>3-30(b)</a:t>
            </a:r>
            <a:r>
              <a:rPr lang="zh-CN" altLang="en-US" dirty="0">
                <a:latin typeface="Times New Roman" panose="02020603050405020304" pitchFamily="18" charset="0"/>
                <a:ea typeface="宋体" panose="02010600030101010101" pitchFamily="2" charset="-122"/>
              </a:rPr>
              <a:t>中频率在</a:t>
            </a:r>
            <a:r>
              <a:rPr lang="en-US" altLang="zh-CN" dirty="0">
                <a:latin typeface="Times New Roman" panose="02020603050405020304" pitchFamily="18" charset="0"/>
                <a:ea typeface="宋体" panose="02010600030101010101" pitchFamily="2" charset="-122"/>
              </a:rPr>
              <a:t>30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800Hz</a:t>
            </a:r>
            <a:r>
              <a:rPr lang="zh-CN" altLang="en-US" dirty="0">
                <a:latin typeface="Times New Roman" panose="02020603050405020304" pitchFamily="18" charset="0"/>
                <a:ea typeface="宋体" panose="02010600030101010101" pitchFamily="2" charset="-122"/>
              </a:rPr>
              <a:t>范围是语音信号。对频谱进行修正，去除噪声频段，即将大于</a:t>
            </a:r>
            <a:r>
              <a:rPr lang="en-US" altLang="zh-CN" dirty="0">
                <a:latin typeface="Times New Roman" panose="02020603050405020304" pitchFamily="18" charset="0"/>
                <a:ea typeface="宋体" panose="02010600030101010101" pitchFamily="2" charset="-122"/>
              </a:rPr>
              <a:t>2.5 kHz</a:t>
            </a:r>
            <a:r>
              <a:rPr lang="zh-CN" altLang="en-US" dirty="0">
                <a:latin typeface="Times New Roman" panose="02020603050405020304" pitchFamily="18" charset="0"/>
                <a:ea typeface="宋体" panose="02010600030101010101" pitchFamily="2" charset="-122"/>
              </a:rPr>
              <a:t>部分的</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值全部置为零， 图</a:t>
            </a:r>
            <a:r>
              <a:rPr lang="en-US" altLang="zh-CN" dirty="0">
                <a:latin typeface="Times New Roman" panose="02020603050405020304" pitchFamily="18" charset="0"/>
                <a:ea typeface="宋体" panose="02010600030101010101" pitchFamily="2" charset="-122"/>
              </a:rPr>
              <a:t>3-30(c)</a:t>
            </a:r>
            <a:r>
              <a:rPr lang="zh-CN" altLang="en-US" dirty="0">
                <a:latin typeface="Times New Roman" panose="02020603050405020304" pitchFamily="18" charset="0"/>
                <a:ea typeface="宋体" panose="02010600030101010101" pitchFamily="2" charset="-122"/>
              </a:rPr>
              <a:t>是去噪后的功率谱。再由反变换（</a:t>
            </a:r>
            <a:r>
              <a:rPr lang="en-US" altLang="zh-CN" dirty="0">
                <a:latin typeface="Times New Roman" panose="02020603050405020304" pitchFamily="18" charset="0"/>
                <a:ea typeface="宋体" panose="02010600030101010101" pitchFamily="2" charset="-122"/>
              </a:rPr>
              <a:t>IFFT</a:t>
            </a:r>
            <a:r>
              <a:rPr lang="zh-CN" altLang="en-US" dirty="0">
                <a:latin typeface="Times New Roman" panose="02020603050405020304" pitchFamily="18" charset="0"/>
                <a:ea typeface="宋体" panose="02010600030101010101" pitchFamily="2" charset="-122"/>
              </a:rPr>
              <a:t>）重构信号得到原语音信号如图</a:t>
            </a:r>
            <a:r>
              <a:rPr lang="en-US" altLang="zh-CN" dirty="0">
                <a:latin typeface="Times New Roman" panose="02020603050405020304" pitchFamily="18" charset="0"/>
                <a:ea typeface="宋体" panose="02010600030101010101" pitchFamily="2" charset="-122"/>
              </a:rPr>
              <a:t>3-30(d)</a:t>
            </a:r>
            <a:r>
              <a:rPr lang="zh-CN" altLang="en-US" dirty="0">
                <a:latin typeface="Times New Roman" panose="02020603050405020304" pitchFamily="18" charset="0"/>
                <a:ea typeface="宋体" panose="02010600030101010101" pitchFamily="2" charset="-122"/>
              </a:rPr>
              <a:t>。这时信噪比为</a:t>
            </a:r>
            <a:r>
              <a:rPr lang="en-US" altLang="zh-CN" dirty="0">
                <a:latin typeface="Times New Roman" panose="02020603050405020304" pitchFamily="18" charset="0"/>
                <a:ea typeface="宋体" panose="02010600030101010101" pitchFamily="2" charset="-122"/>
              </a:rPr>
              <a:t>14dB</a:t>
            </a:r>
            <a:r>
              <a:rPr lang="zh-CN" altLang="en-US" dirty="0">
                <a:latin typeface="Times New Roman" panose="02020603050405020304" pitchFamily="18" charset="0"/>
                <a:ea typeface="宋体" panose="02010600030101010101" pitchFamily="2" charset="-122"/>
              </a:rPr>
              <a:t>，提高了</a:t>
            </a:r>
            <a:r>
              <a:rPr lang="en-US" altLang="zh-CN" dirty="0">
                <a:latin typeface="Times New Roman" panose="02020603050405020304" pitchFamily="18" charset="0"/>
                <a:ea typeface="宋体" panose="02010600030101010101" pitchFamily="2" charset="-122"/>
              </a:rPr>
              <a:t>24dB</a:t>
            </a:r>
            <a:r>
              <a:rPr lang="zh-CN" altLang="en-US" dirty="0">
                <a:latin typeface="Times New Roman" panose="02020603050405020304" pitchFamily="18" charset="0"/>
                <a:ea typeface="宋体" panose="02010600030101010101" pitchFamily="2" charset="-122"/>
              </a:rPr>
              <a:t>。 这就是早期的数字式录音音乐中所采用的消噪方</a:t>
            </a:r>
            <a:r>
              <a:rPr lang="zh-CN" altLang="en-US" dirty="0">
                <a:latin typeface="Times New Roman" panose="02020603050405020304" pitchFamily="18" charset="0"/>
                <a:ea typeface="宋体" panose="02010600030101010101" pitchFamily="2" charset="-122"/>
              </a:rPr>
              <a:t>法。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文本框 316419"/>
          <p:cNvSpPr txBox="1"/>
          <p:nvPr/>
        </p:nvSpPr>
        <p:spPr>
          <a:xfrm>
            <a:off x="1331913" y="5949950"/>
            <a:ext cx="6305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3-30 </a:t>
            </a:r>
            <a:r>
              <a:rPr lang="zh-CN" altLang="en-US" dirty="0">
                <a:latin typeface="Times New Roman" panose="02020603050405020304" pitchFamily="18" charset="0"/>
                <a:ea typeface="宋体" panose="02010600030101010101" pitchFamily="2" charset="-122"/>
              </a:rPr>
              <a:t>用保留信号代表补零后的局部混叠现象</a:t>
            </a:r>
            <a:endParaRPr lang="zh-CN" altLang="en-US" dirty="0">
              <a:latin typeface="Times New Roman" panose="02020603050405020304" pitchFamily="18" charset="0"/>
              <a:ea typeface="宋体" panose="02010600030101010101" pitchFamily="2" charset="-122"/>
            </a:endParaRPr>
          </a:p>
        </p:txBody>
      </p:sp>
      <p:pic>
        <p:nvPicPr>
          <p:cNvPr id="146434" name="图片 316422" descr="3-30"/>
          <p:cNvPicPr>
            <a:picLocks noChangeAspect="1"/>
          </p:cNvPicPr>
          <p:nvPr/>
        </p:nvPicPr>
        <p:blipFill>
          <a:blip r:embed="rId1"/>
          <a:stretch>
            <a:fillRect/>
          </a:stretch>
        </p:blipFill>
        <p:spPr>
          <a:xfrm>
            <a:off x="4140200" y="115888"/>
            <a:ext cx="1801813" cy="5834062"/>
          </a:xfrm>
          <a:prstGeom prst="rect">
            <a:avLst/>
          </a:prstGeom>
          <a:noFill/>
          <a:ln w="9525">
            <a:noFill/>
          </a:ln>
        </p:spPr>
      </p:pic>
    </p:spTree>
  </p:cSld>
  <p:clrMapOvr>
    <a:masterClrMapping/>
  </p:clrMapOvr>
  <p:transition>
    <p:zoom/>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文本框 136195"/>
          <p:cNvSpPr txBox="1"/>
          <p:nvPr/>
        </p:nvSpPr>
        <p:spPr>
          <a:xfrm>
            <a:off x="1524000" y="5445125"/>
            <a:ext cx="6778625" cy="1006475"/>
          </a:xfrm>
          <a:prstGeom prst="rect">
            <a:avLst/>
          </a:prstGeom>
          <a:noFill/>
          <a:ln w="9525">
            <a:noFill/>
          </a:ln>
        </p:spPr>
        <p:txBody>
          <a:bodyPr wrap="none" anchor="t">
            <a:spAutoFit/>
          </a:bodyPr>
          <a:p>
            <a:pPr marL="457200" indent="-457200"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3-31 </a:t>
            </a:r>
            <a:r>
              <a:rPr lang="zh-CN" altLang="en-US" sz="2000" dirty="0">
                <a:latin typeface="Times New Roman" panose="02020603050405020304" pitchFamily="18" charset="0"/>
                <a:ea typeface="宋体" panose="02010600030101010101" pitchFamily="2" charset="-122"/>
              </a:rPr>
              <a:t>语音信号消噪过程</a:t>
            </a:r>
            <a:endParaRPr lang="zh-CN" altLang="en-US" sz="2000" dirty="0">
              <a:latin typeface="Times New Roman" panose="02020603050405020304" pitchFamily="18" charset="0"/>
              <a:ea typeface="宋体" panose="02010600030101010101" pitchFamily="2" charset="-122"/>
            </a:endParaRPr>
          </a:p>
          <a:p>
            <a:pPr marL="457200" indent="-457200" algn="ctr">
              <a:buAutoNum type="alphaLcParenBoth"/>
            </a:pPr>
            <a:r>
              <a:rPr lang="zh-CN" altLang="en-US" sz="2000" dirty="0">
                <a:latin typeface="Times New Roman" panose="02020603050405020304" pitchFamily="18" charset="0"/>
                <a:ea typeface="宋体" panose="02010600030101010101" pitchFamily="2" charset="-122"/>
              </a:rPr>
              <a:t>信号淹没在啸叫噪声中；      </a:t>
            </a: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b</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信号与噪声的功率谱； </a:t>
            </a:r>
            <a:endParaRPr lang="zh-CN" altLang="en-US" sz="2000" dirty="0">
              <a:latin typeface="Times New Roman" panose="02020603050405020304" pitchFamily="18" charset="0"/>
              <a:ea typeface="宋体" panose="02010600030101010101" pitchFamily="2" charset="-122"/>
            </a:endParaRPr>
          </a:p>
          <a:p>
            <a:pPr marL="457200" indent="-457200" algn="ct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c</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去噪后的功率谱； </a:t>
            </a:r>
            <a:r>
              <a:rPr lang="en-US" altLang="zh-CN" sz="2000">
                <a:latin typeface="Times New Roman" panose="02020603050405020304" pitchFamily="18" charset="0"/>
                <a:ea typeface="宋体" panose="02010600030101010101" pitchFamily="2" charset="-122"/>
              </a:rPr>
              <a:t>(</a:t>
            </a:r>
            <a:r>
              <a:rPr lang="en-US" altLang="zh-CN" sz="2000" i="1">
                <a:latin typeface="Times New Roman" panose="02020603050405020304" pitchFamily="18" charset="0"/>
                <a:ea typeface="宋体" panose="02010600030101010101" pitchFamily="2" charset="-122"/>
              </a:rPr>
              <a:t>d</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重构原语音信号</a:t>
            </a:r>
            <a:endParaRPr lang="zh-CN" altLang="en-US" sz="2000">
              <a:latin typeface="Times New Roman" panose="02020603050405020304" pitchFamily="18" charset="0"/>
              <a:ea typeface="宋体" panose="02010600030101010101" pitchFamily="2" charset="-122"/>
            </a:endParaRPr>
          </a:p>
        </p:txBody>
      </p:sp>
      <p:pic>
        <p:nvPicPr>
          <p:cNvPr id="147458" name="图片 136198" descr="3-31"/>
          <p:cNvPicPr>
            <a:picLocks noChangeAspect="1"/>
          </p:cNvPicPr>
          <p:nvPr/>
        </p:nvPicPr>
        <p:blipFill>
          <a:blip r:embed="rId1"/>
          <a:stretch>
            <a:fillRect/>
          </a:stretch>
        </p:blipFill>
        <p:spPr>
          <a:xfrm>
            <a:off x="1258888" y="692150"/>
            <a:ext cx="6818312" cy="4738688"/>
          </a:xfrm>
          <a:prstGeom prst="rect">
            <a:avLst/>
          </a:prstGeom>
          <a:noFill/>
          <a:ln w="9525">
            <a:noFill/>
          </a:ln>
        </p:spPr>
      </p:pic>
    </p:spTree>
  </p:cSld>
  <p:clrMapOvr>
    <a:masterClrMapping/>
  </p:clrMapOvr>
  <p:transition>
    <p:zoom/>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文本框 139267"/>
          <p:cNvSpPr txBox="1"/>
          <p:nvPr/>
        </p:nvSpPr>
        <p:spPr>
          <a:xfrm>
            <a:off x="76200" y="457200"/>
            <a:ext cx="8991600" cy="6219825"/>
          </a:xfrm>
          <a:prstGeom prst="rect">
            <a:avLst/>
          </a:prstGeom>
          <a:noFill/>
          <a:ln w="9525">
            <a:noFill/>
          </a:ln>
        </p:spPr>
        <p:txBody>
          <a:bodyPr anchor="t">
            <a:spAutoFit/>
          </a:bodyPr>
          <a:p>
            <a:pPr algn="just">
              <a:lnSpc>
                <a:spcPct val="120000"/>
              </a:lnSpc>
              <a:spcBef>
                <a:spcPct val="50000"/>
              </a:spcBef>
            </a:pPr>
            <a:r>
              <a:rPr lang="en-US" altLang="zh-CN" b="1" dirty="0">
                <a:latin typeface="Times New Roman" panose="02020603050405020304" pitchFamily="18" charset="0"/>
                <a:ea typeface="宋体" panose="02010600030101010101" pitchFamily="2" charset="-122"/>
              </a:rPr>
              <a:t>3.8.3 FFT</a:t>
            </a:r>
            <a:r>
              <a:rPr lang="zh-CN" altLang="en-US" b="1" dirty="0">
                <a:latin typeface="Times New Roman" panose="02020603050405020304" pitchFamily="18" charset="0"/>
                <a:ea typeface="宋体" panose="02010600030101010101" pitchFamily="2" charset="-122"/>
              </a:rPr>
              <a:t>在双音多频（</a:t>
            </a:r>
            <a:r>
              <a:rPr lang="en-US" altLang="zh-CN" b="1" dirty="0">
                <a:latin typeface="Times New Roman" panose="02020603050405020304" pitchFamily="18" charset="0"/>
                <a:ea typeface="宋体" panose="02010600030101010101" pitchFamily="2" charset="-122"/>
              </a:rPr>
              <a:t>DTMF</a:t>
            </a:r>
            <a:r>
              <a:rPr lang="zh-CN" altLang="en-US" b="1" dirty="0">
                <a:latin typeface="Times New Roman" panose="02020603050405020304" pitchFamily="18" charset="0"/>
                <a:ea typeface="宋体" panose="02010600030101010101" pitchFamily="2" charset="-122"/>
              </a:rPr>
              <a:t>）信号中的应用</a:t>
            </a:r>
            <a:endParaRPr lang="zh-CN" altLang="en-US">
              <a:latin typeface="Times New Roman" panose="02020603050405020304" pitchFamily="18" charset="0"/>
              <a:ea typeface="宋体" panose="02010600030101010101" pitchFamily="2" charset="-122"/>
            </a:endParaRPr>
          </a:p>
          <a:p>
            <a:pPr algn="just">
              <a:lnSpc>
                <a:spcPct val="120000"/>
              </a:lnSpc>
              <a:spcBef>
                <a:spcPct val="50000"/>
              </a:spcBef>
            </a:pPr>
            <a:r>
              <a:rPr lang="zh-CN" altLang="en-US" dirty="0">
                <a:latin typeface="Times New Roman" panose="02020603050405020304" pitchFamily="18" charset="0"/>
                <a:ea typeface="宋体" panose="02010600030101010101" pitchFamily="2" charset="-122"/>
              </a:rPr>
              <a:t>        双音多频信号</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是按键式电话信令中的一般名称，它等效于在贝尔系统内部正在使用的按钮式拨号系统。近几年</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信号已经可以应用于需要交互控制的系统中，例如，语音控制、电子邮件和 </a:t>
            </a:r>
            <a:r>
              <a:rPr lang="en-US" altLang="zh-CN" dirty="0">
                <a:latin typeface="Times New Roman" panose="02020603050405020304" pitchFamily="18" charset="0"/>
                <a:ea typeface="宋体" panose="02010600030101010101" pitchFamily="2" charset="-122"/>
              </a:rPr>
              <a:t>ATM</a:t>
            </a:r>
            <a:r>
              <a:rPr lang="zh-CN" altLang="en-US" dirty="0">
                <a:latin typeface="Times New Roman" panose="02020603050405020304" pitchFamily="18" charset="0"/>
                <a:ea typeface="宋体" panose="02010600030101010101" pitchFamily="2" charset="-122"/>
              </a:rPr>
              <a:t>交换机等。  </a:t>
            </a:r>
            <a:endParaRPr lang="zh-CN" altLang="en-US" dirty="0">
              <a:latin typeface="Times New Roman" panose="02020603050405020304" pitchFamily="18" charset="0"/>
              <a:ea typeface="宋体" panose="02010600030101010101" pitchFamily="2" charset="-122"/>
            </a:endParaRPr>
          </a:p>
          <a:p>
            <a:pPr algn="just">
              <a:lnSpc>
                <a:spcPct val="120000"/>
              </a:lnSpc>
              <a:spcBef>
                <a:spcPct val="50000"/>
              </a:spcBef>
            </a:pPr>
            <a:r>
              <a:rPr lang="zh-CN" altLang="en-US" dirty="0">
                <a:latin typeface="Times New Roman" panose="02020603050405020304" pitchFamily="18" charset="0"/>
                <a:ea typeface="宋体" panose="02010600030101010101" pitchFamily="2" charset="-122"/>
              </a:rPr>
              <a:t>         在</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信令系统中共有八个频率，分为四个高频音和四个低频音，用一个高频音和一个低频音的组合来代表某一特定的数字，或字符</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。按键拨号设计中八个频率的分配方案如图</a:t>
            </a:r>
            <a:r>
              <a:rPr lang="en-US" altLang="zh-CN" dirty="0">
                <a:latin typeface="Times New Roman" panose="02020603050405020304" pitchFamily="18" charset="0"/>
                <a:ea typeface="宋体" panose="02010600030101010101" pitchFamily="2" charset="-122"/>
              </a:rPr>
              <a:t>3-31</a:t>
            </a:r>
            <a:r>
              <a:rPr lang="zh-CN" altLang="en-US" dirty="0">
                <a:latin typeface="Times New Roman" panose="02020603050405020304" pitchFamily="18" charset="0"/>
                <a:ea typeface="宋体" panose="02010600030101010101" pitchFamily="2" charset="-122"/>
              </a:rPr>
              <a:t>所示。其中，</a:t>
            </a:r>
            <a:r>
              <a:rPr lang="en-US" altLang="zh-CN" dirty="0">
                <a:latin typeface="Times New Roman" panose="02020603050405020304" pitchFamily="18" charset="0"/>
                <a:ea typeface="宋体" panose="02010600030101010101" pitchFamily="2" charset="-122"/>
              </a:rPr>
              <a:t>697 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770 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852 Hz</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941 Hz</a:t>
            </a:r>
            <a:r>
              <a:rPr lang="zh-CN" altLang="en-US" dirty="0">
                <a:latin typeface="Times New Roman" panose="02020603050405020304" pitchFamily="18" charset="0"/>
                <a:ea typeface="宋体" panose="02010600030101010101" pitchFamily="2" charset="-122"/>
              </a:rPr>
              <a:t>为低频音，</a:t>
            </a:r>
            <a:r>
              <a:rPr lang="en-US" altLang="zh-CN" dirty="0">
                <a:latin typeface="Times New Roman" panose="02020603050405020304" pitchFamily="18" charset="0"/>
                <a:ea typeface="宋体" panose="02010600030101010101" pitchFamily="2" charset="-122"/>
              </a:rPr>
              <a:t>1209 Hz</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1336 Hz </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1447 Hz</a:t>
            </a:r>
            <a:r>
              <a:rPr lang="zh-CN" altLang="en-US" dirty="0">
                <a:latin typeface="Times New Roman" panose="02020603050405020304" pitchFamily="18" charset="0"/>
                <a:ea typeface="宋体" panose="02010600030101010101" pitchFamily="2" charset="-122"/>
              </a:rPr>
              <a:t>为高频音。例如，按下“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键时，所选频率为</a:t>
            </a:r>
            <a:r>
              <a:rPr lang="en-US" altLang="zh-CN" dirty="0">
                <a:latin typeface="Times New Roman" panose="02020603050405020304" pitchFamily="18" charset="0"/>
                <a:ea typeface="宋体" panose="02010600030101010101" pitchFamily="2" charset="-122"/>
              </a:rPr>
              <a:t>941 Hz</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1209 Hz</a:t>
            </a:r>
            <a:r>
              <a:rPr lang="zh-CN" altLang="en-US" dirty="0">
                <a:latin typeface="Times New Roman" panose="02020603050405020304" pitchFamily="18" charset="0"/>
                <a:ea typeface="宋体" panose="02010600030101010101" pitchFamily="2" charset="-122"/>
              </a:rPr>
              <a:t>，反之，如果这两个频率被检测出来，也就是收到了“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。此外，还有第四种高频音，为 </a:t>
            </a:r>
            <a:r>
              <a:rPr lang="en-US" altLang="zh-CN" dirty="0">
                <a:latin typeface="Times New Roman" panose="02020603050405020304" pitchFamily="18" charset="0"/>
                <a:ea typeface="宋体" panose="02010600030101010101" pitchFamily="2" charset="-122"/>
              </a:rPr>
              <a:t>1633 Hz</a:t>
            </a:r>
            <a:r>
              <a:rPr lang="zh-CN" altLang="en-US" dirty="0">
                <a:latin typeface="Times New Roman" panose="02020603050405020304" pitchFamily="18" charset="0"/>
                <a:ea typeface="宋体" panose="02010600030101010101" pitchFamily="2" charset="-122"/>
              </a:rPr>
              <a:t>，目前还未</a:t>
            </a:r>
            <a:r>
              <a:rPr lang="zh-CN" altLang="en-US" dirty="0">
                <a:latin typeface="Times New Roman" panose="02020603050405020304" pitchFamily="18" charset="0"/>
                <a:ea typeface="宋体" panose="02010600030101010101" pitchFamily="2" charset="-122"/>
              </a:rPr>
              <a:t>被采用，留作日后用于特殊服务的四个附加按钮的应用。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文本框 138243"/>
          <p:cNvSpPr txBox="1"/>
          <p:nvPr/>
        </p:nvSpPr>
        <p:spPr>
          <a:xfrm>
            <a:off x="1752600" y="5791200"/>
            <a:ext cx="6153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3-32 </a:t>
            </a:r>
            <a:r>
              <a:rPr lang="zh-CN" altLang="en-US" dirty="0">
                <a:latin typeface="Times New Roman" panose="02020603050405020304" pitchFamily="18" charset="0"/>
                <a:ea typeface="宋体" panose="02010600030101010101" pitchFamily="2" charset="-122"/>
              </a:rPr>
              <a:t>按键拨号设计中八个频率的分配方案 </a:t>
            </a:r>
            <a:endParaRPr lang="zh-CN" altLang="en-US">
              <a:latin typeface="Times New Roman" panose="02020603050405020304" pitchFamily="18" charset="0"/>
              <a:ea typeface="宋体" panose="02010600030101010101" pitchFamily="2" charset="-122"/>
            </a:endParaRPr>
          </a:p>
        </p:txBody>
      </p:sp>
      <p:pic>
        <p:nvPicPr>
          <p:cNvPr id="149506" name="图片 138246" descr="3-32"/>
          <p:cNvPicPr>
            <a:picLocks noChangeAspect="1"/>
          </p:cNvPicPr>
          <p:nvPr/>
        </p:nvPicPr>
        <p:blipFill>
          <a:blip r:embed="rId1"/>
          <a:stretch>
            <a:fillRect/>
          </a:stretch>
        </p:blipFill>
        <p:spPr>
          <a:xfrm>
            <a:off x="2005013" y="1196975"/>
            <a:ext cx="5133975" cy="4286250"/>
          </a:xfrm>
          <a:prstGeom prst="rect">
            <a:avLst/>
          </a:prstGeom>
          <a:noFill/>
          <a:ln w="9525">
            <a:noFill/>
          </a:ln>
        </p:spPr>
      </p:pic>
    </p:spTree>
  </p:cSld>
  <p:clrMapOvr>
    <a:masterClrMapping/>
  </p:clrMapOvr>
  <p:transition>
    <p:zoom/>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文本框 141315"/>
          <p:cNvSpPr txBox="1"/>
          <p:nvPr/>
        </p:nvSpPr>
        <p:spPr>
          <a:xfrm>
            <a:off x="504825" y="404813"/>
            <a:ext cx="8388350" cy="6408737"/>
          </a:xfrm>
          <a:prstGeom prst="rect">
            <a:avLst/>
          </a:prstGeom>
          <a:noFill/>
          <a:ln w="9525">
            <a:noFill/>
          </a:ln>
        </p:spPr>
        <p:txBody>
          <a:bodyPr anchor="t">
            <a:spAutoFit/>
          </a:bodyPr>
          <a:p>
            <a:pPr algn="just">
              <a:lnSpc>
                <a:spcPct val="120000"/>
              </a:lnSpc>
              <a:spcBef>
                <a:spcPct val="50000"/>
              </a:spcBef>
            </a:pPr>
            <a:r>
              <a:rPr lang="en-US" altLang="zh-CN" dirty="0">
                <a:latin typeface="Times New Roman" panose="02020603050405020304" pitchFamily="18" charset="0"/>
                <a:ea typeface="宋体" panose="02010600030101010101" pitchFamily="2" charset="-122"/>
              </a:rPr>
              <a:t>        DTMF</a:t>
            </a:r>
            <a:r>
              <a:rPr lang="zh-CN" altLang="en-US" dirty="0">
                <a:latin typeface="Times New Roman" panose="02020603050405020304" pitchFamily="18" charset="0"/>
                <a:ea typeface="宋体" panose="02010600030101010101" pitchFamily="2" charset="-122"/>
              </a:rPr>
              <a:t>系统可以用模拟手段或数字手段来实现。 当用数字手段实现时，可以通过软件来模拟合成</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信号。在检测端可以用八个数字滤波器检测</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信号， 也可以用其他软件实现信号的检测。当信号需要在模拟信道上发送时还需加</a:t>
            </a:r>
            <a:r>
              <a:rPr lang="en-US" altLang="zh-CN" dirty="0">
                <a:latin typeface="Times New Roman" panose="02020603050405020304" pitchFamily="18" charset="0"/>
                <a:ea typeface="宋体" panose="02010600030101010101" pitchFamily="2" charset="-122"/>
              </a:rPr>
              <a:t>A/D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D/A</a:t>
            </a:r>
            <a:r>
              <a:rPr lang="zh-CN" altLang="en-US" dirty="0">
                <a:latin typeface="Times New Roman" panose="02020603050405020304" pitchFamily="18" charset="0"/>
                <a:ea typeface="宋体" panose="02010600030101010101" pitchFamily="2" charset="-122"/>
              </a:rPr>
              <a:t>转换器。  </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just">
              <a:lnSpc>
                <a:spcPct val="12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按键频率的识别方案见图</a:t>
            </a:r>
            <a:r>
              <a:rPr lang="en-US" altLang="zh-CN" dirty="0">
                <a:latin typeface="Times New Roman" panose="02020603050405020304" pitchFamily="18" charset="0"/>
                <a:ea typeface="宋体" panose="02010600030101010101" pitchFamily="2" charset="-122"/>
              </a:rPr>
              <a:t>3-32</a:t>
            </a:r>
            <a:r>
              <a:rPr lang="zh-CN" altLang="en-US" dirty="0">
                <a:latin typeface="Times New Roman" panose="02020603050405020304" pitchFamily="18" charset="0"/>
                <a:ea typeface="宋体" panose="02010600030101010101" pitchFamily="2" charset="-122"/>
              </a:rPr>
              <a:t>。图中，双音信号先被低通滤波器和高通滤波器分离。低通滤波器的通带截止频率略高于</a:t>
            </a:r>
            <a:r>
              <a:rPr lang="en-US" altLang="zh-CN" dirty="0">
                <a:latin typeface="Times New Roman" panose="02020603050405020304" pitchFamily="18" charset="0"/>
                <a:ea typeface="宋体" panose="02010600030101010101" pitchFamily="2" charset="-122"/>
              </a:rPr>
              <a:t>1000 Hz</a:t>
            </a:r>
            <a:r>
              <a:rPr lang="zh-CN" altLang="en-US" dirty="0">
                <a:latin typeface="Times New Roman" panose="02020603050405020304" pitchFamily="18" charset="0"/>
                <a:ea typeface="宋体" panose="02010600030101010101" pitchFamily="2" charset="-122"/>
              </a:rPr>
              <a:t>，而高通滤波器通带截止频率略低于</a:t>
            </a:r>
            <a:r>
              <a:rPr lang="en-US" altLang="zh-CN" dirty="0">
                <a:latin typeface="Times New Roman" panose="02020603050405020304" pitchFamily="18" charset="0"/>
                <a:ea typeface="宋体" panose="02010600030101010101" pitchFamily="2" charset="-122"/>
              </a:rPr>
              <a:t>1200 Hz</a:t>
            </a:r>
            <a:r>
              <a:rPr lang="zh-CN" altLang="en-US" dirty="0">
                <a:latin typeface="Times New Roman" panose="02020603050405020304" pitchFamily="18" charset="0"/>
                <a:ea typeface="宋体" panose="02010600030101010101" pitchFamily="2" charset="-122"/>
              </a:rPr>
              <a:t>。每一个滤波器的输出被一个限幅器限制在一个方波内，然后进入窄带带通滤波器。低频信道中的四个带通滤波器的中心频率分别为</a:t>
            </a:r>
            <a:r>
              <a:rPr lang="en-US" altLang="zh-CN" dirty="0">
                <a:latin typeface="Times New Roman" panose="02020603050405020304" pitchFamily="18" charset="0"/>
                <a:ea typeface="宋体" panose="02010600030101010101" pitchFamily="2" charset="-122"/>
              </a:rPr>
              <a:t>697 Hz</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770 Hz</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852 Hz</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941 Hz</a:t>
            </a:r>
            <a:r>
              <a:rPr lang="zh-CN" altLang="en-US" dirty="0">
                <a:latin typeface="Times New Roman" panose="02020603050405020304" pitchFamily="18" charset="0"/>
                <a:ea typeface="宋体" panose="02010600030101010101" pitchFamily="2" charset="-122"/>
              </a:rPr>
              <a:t>。  高频信道中的四个带通滤波器的中心频率分别为</a:t>
            </a:r>
            <a:r>
              <a:rPr lang="en-US" altLang="zh-CN" dirty="0">
                <a:latin typeface="Times New Roman" panose="02020603050405020304" pitchFamily="18" charset="0"/>
                <a:ea typeface="宋体" panose="02010600030101010101" pitchFamily="2" charset="-122"/>
              </a:rPr>
              <a:t>1209 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1336 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1477 Hz</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1633 Hz</a:t>
            </a:r>
            <a:r>
              <a:rPr lang="zh-CN" altLang="en-US" dirty="0">
                <a:latin typeface="Times New Roman" panose="02020603050405020304" pitchFamily="18" charset="0"/>
                <a:ea typeface="宋体" panose="02010600030101010101" pitchFamily="2" charset="-122"/>
              </a:rPr>
              <a:t>。当带通滤波器的输出</a:t>
            </a:r>
            <a:r>
              <a:rPr lang="zh-CN" altLang="en-US" dirty="0">
                <a:latin typeface="Times New Roman" panose="02020603050405020304" pitchFamily="18" charset="0"/>
                <a:ea typeface="宋体" panose="02010600030101010101" pitchFamily="2" charset="-122"/>
              </a:rPr>
              <a:t>高于一个特定的门限值时，检波器将显示直流电转换信号。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文本框 140291"/>
          <p:cNvSpPr txBox="1"/>
          <p:nvPr/>
        </p:nvSpPr>
        <p:spPr>
          <a:xfrm>
            <a:off x="228600" y="762000"/>
            <a:ext cx="8763000" cy="461645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对于</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数字信号的检测也可以利用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算法来实现，首先通过</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计算</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信号的频谱，然后检测八个对应频率点的幅值来确定输入的信号。  </a:t>
            </a:r>
            <a:endParaRPr lang="zh-CN" altLang="en-US" dirty="0">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如在具有</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功能的电话机上按数字键时，电话机自动将该信号转换成为</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信号，并通过电话线将信号传到交换机， 交换机再将该</a:t>
            </a:r>
            <a:r>
              <a:rPr lang="en-US" altLang="zh-CN" dirty="0">
                <a:latin typeface="Times New Roman" panose="02020603050405020304" pitchFamily="18" charset="0"/>
                <a:ea typeface="宋体" panose="02010600030101010101" pitchFamily="2" charset="-122"/>
              </a:rPr>
              <a:t>DTMF</a:t>
            </a:r>
            <a:r>
              <a:rPr lang="zh-CN" altLang="en-US" dirty="0">
                <a:latin typeface="Times New Roman" panose="02020603050405020304" pitchFamily="18" charset="0"/>
                <a:ea typeface="宋体" panose="02010600030101010101" pitchFamily="2" charset="-122"/>
              </a:rPr>
              <a:t>信号转换为原来的数字，并进行相应的操作</a:t>
            </a:r>
            <a:r>
              <a:rPr lang="zh-CN" altLang="en-US" dirty="0">
                <a:latin typeface="Times New Roman" panose="02020603050405020304" pitchFamily="18" charset="0"/>
                <a:ea typeface="宋体" panose="02010600030101010101" pitchFamily="2" charset="-122"/>
              </a:rPr>
              <a:t>。  而其中的检测过程则可用上面介绍的方法之一。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7" name="文本框 142339"/>
          <p:cNvSpPr txBox="1"/>
          <p:nvPr/>
        </p:nvSpPr>
        <p:spPr>
          <a:xfrm>
            <a:off x="2124075" y="5867400"/>
            <a:ext cx="533717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图 </a:t>
            </a:r>
            <a:r>
              <a:rPr lang="en-US" altLang="zh-CN" b="1" dirty="0">
                <a:latin typeface="Times New Roman" panose="02020603050405020304" pitchFamily="18" charset="0"/>
                <a:ea typeface="宋体" panose="02010600030101010101" pitchFamily="2" charset="-122"/>
              </a:rPr>
              <a:t>3-33  </a:t>
            </a:r>
            <a:r>
              <a:rPr lang="zh-CN" altLang="en-US" b="1" dirty="0">
                <a:latin typeface="Times New Roman" panose="02020603050405020304" pitchFamily="18" charset="0"/>
                <a:ea typeface="宋体" panose="02010600030101010101" pitchFamily="2" charset="-122"/>
              </a:rPr>
              <a:t>按键拨号设计中双音检测方案 </a:t>
            </a:r>
            <a:endParaRPr lang="zh-CN" altLang="en-US" b="1">
              <a:latin typeface="Times New Roman" panose="02020603050405020304" pitchFamily="18" charset="0"/>
              <a:ea typeface="宋体" panose="02010600030101010101" pitchFamily="2" charset="-122"/>
            </a:endParaRPr>
          </a:p>
        </p:txBody>
      </p:sp>
      <p:pic>
        <p:nvPicPr>
          <p:cNvPr id="152579" name="图片 142343" descr="3-33"/>
          <p:cNvPicPr>
            <a:picLocks noChangeAspect="1"/>
          </p:cNvPicPr>
          <p:nvPr/>
        </p:nvPicPr>
        <p:blipFill>
          <a:blip r:embed="rId1"/>
          <a:stretch>
            <a:fillRect/>
          </a:stretch>
        </p:blipFill>
        <p:spPr>
          <a:xfrm>
            <a:off x="971550" y="1052513"/>
            <a:ext cx="6913563" cy="4435475"/>
          </a:xfrm>
          <a:prstGeom prst="rect">
            <a:avLst/>
          </a:prstGeom>
          <a:noFill/>
          <a:ln w="9525">
            <a:noFill/>
          </a:ln>
        </p:spPr>
      </p:pic>
    </p:spTree>
  </p:cSld>
  <p:clrMapOvr>
    <a:masterClrMapping/>
  </p:clrMapOvr>
  <p:transition>
    <p:zoom/>
  </p:transition>
</p:sld>
</file>

<file path=ppt/tags/tag1.xml><?xml version="1.0" encoding="utf-8"?>
<p:tagLst xmlns:p="http://schemas.openxmlformats.org/presentationml/2006/main">
  <p:tag name="KSO_WM_UNIT_PLACING_PICTURE_USER_VIEWPORT" val="{&quot;height&quot;:6750,&quot;width&quot;:8700}"/>
</p:tagLst>
</file>

<file path=ppt/tags/tag2.xml><?xml version="1.0" encoding="utf-8"?>
<p:tagLst xmlns:p="http://schemas.openxmlformats.org/presentationml/2006/main">
  <p:tag name="commondata" val="eyJoZGlkIjoiZTIzNGVhN2JkNjY3NDk3ZDAxODhlODJjYTM4MTM3NGI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0000"/>
      </a:hlink>
      <a:folHlink>
        <a:srgbClr val="99330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23609</Words>
  <Application>WPS 演示</Application>
  <PresentationFormat>在屏幕上显示</PresentationFormat>
  <Paragraphs>908</Paragraphs>
  <Slides>145</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136</vt:i4>
      </vt:variant>
      <vt:variant>
        <vt:lpstr>幻灯片标题</vt:lpstr>
      </vt:variant>
      <vt:variant>
        <vt:i4>145</vt:i4>
      </vt:variant>
    </vt:vector>
  </HeadingPairs>
  <TitlesOfParts>
    <vt:vector size="291" baseType="lpstr">
      <vt:lpstr>Arial</vt:lpstr>
      <vt:lpstr>宋体</vt:lpstr>
      <vt:lpstr>Wingdings</vt:lpstr>
      <vt:lpstr>Times New Roman</vt:lpstr>
      <vt:lpstr>华文行楷</vt:lpstr>
      <vt:lpstr>微软雅黑</vt:lpstr>
      <vt:lpstr>Arial Unicode MS</vt:lpstr>
      <vt:lpstr>Calibri</vt:lpstr>
      <vt:lpstr>Courier New</vt:lpstr>
      <vt:lpstr>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Word.Document.8</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Visio.Drawing.4</vt:lpstr>
      <vt:lpstr>Equation.3</vt:lpstr>
      <vt:lpstr>Equation.3</vt:lpstr>
      <vt:lpstr>Equation.3</vt:lpstr>
      <vt:lpstr>Equation.3</vt:lpstr>
      <vt:lpstr>Equation.3</vt:lpstr>
      <vt:lpstr>Equation.KSEE3</vt:lpstr>
      <vt:lpstr>Equation.KSEE3</vt:lpstr>
      <vt:lpstr>Equation.3</vt:lpstr>
      <vt:lpstr>Equation.3</vt:lpstr>
      <vt:lpstr>Equation.3</vt:lpstr>
      <vt:lpstr>Equation.3</vt:lpstr>
      <vt:lpstr>Equation.3</vt:lpstr>
      <vt:lpstr>Equation.3</vt:lpstr>
      <vt:lpstr>Visio.Drawing.4</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Equation.DSMT4</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Equation.3</vt:lpstr>
      <vt:lpstr>Equation.3</vt:lpstr>
      <vt:lpstr>Equation.3</vt:lpstr>
      <vt:lpstr>Equation.3</vt:lpstr>
      <vt:lpstr>Equation.KSEE3</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淑玉刘</cp:lastModifiedBy>
  <cp:revision>53</cp:revision>
  <dcterms:created xsi:type="dcterms:W3CDTF">2003-07-29T00:43:00Z</dcterms:created>
  <dcterms:modified xsi:type="dcterms:W3CDTF">2023-10-16T23:36:13Z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1D47ED4236424548823D4EB8F1A1F85A</vt:lpwstr>
  </property>
</Properties>
</file>