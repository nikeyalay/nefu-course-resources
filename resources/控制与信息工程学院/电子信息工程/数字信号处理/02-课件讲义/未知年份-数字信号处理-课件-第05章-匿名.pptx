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gif" ContentType="image/gi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ctiveX/activeX1.bin" ContentType="application/vnd.ms-office.activeX"/>
  <Override PartName="/ppt/activeX/activeX1.xml" ContentType="application/vnd.ms-office.activeX+xml"/>
  <Override PartName="/ppt/activeX/activeX2.bin" ContentType="application/vnd.ms-office.activeX"/>
  <Override PartName="/ppt/activeX/activeX2.xml" ContentType="application/vnd.ms-office.activeX+xml"/>
  <Override PartName="/ppt/activeX/activeX3.bin" ContentType="application/vnd.ms-office.activeX"/>
  <Override PartName="/ppt/activeX/activeX3.xml" ContentType="application/vnd.ms-office.activeX+xml"/>
  <Override PartName="/ppt/activeX/activeX4.bin" ContentType="application/vnd.ms-office.activeX"/>
  <Override PartName="/ppt/activeX/activeX4.xml" ContentType="application/vnd.ms-office.activeX+xml"/>
  <Override PartName="/ppt/activeX/activeX5.bin" ContentType="application/vnd.ms-office.activeX"/>
  <Override PartName="/ppt/activeX/activeX5.xml" ContentType="application/vnd.ms-office.activeX+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72"/>
  </p:notesMasterIdLst>
  <p:handoutMasterIdLst>
    <p:handoutMasterId r:id="rId173"/>
  </p:handoutMasterIdLst>
  <p:sldIdLst>
    <p:sldId id="256" r:id="rId4"/>
    <p:sldId id="257" r:id="rId5"/>
    <p:sldId id="258" r:id="rId6"/>
    <p:sldId id="259" r:id="rId7"/>
    <p:sldId id="260" r:id="rId8"/>
    <p:sldId id="261" r:id="rId9"/>
    <p:sldId id="263" r:id="rId10"/>
    <p:sldId id="265" r:id="rId11"/>
    <p:sldId id="264" r:id="rId12"/>
    <p:sldId id="266" r:id="rId13"/>
    <p:sldId id="267" r:id="rId14"/>
    <p:sldId id="268" r:id="rId15"/>
    <p:sldId id="269" r:id="rId16"/>
    <p:sldId id="271" r:id="rId17"/>
    <p:sldId id="270" r:id="rId18"/>
    <p:sldId id="272" r:id="rId19"/>
    <p:sldId id="274" r:id="rId20"/>
    <p:sldId id="273" r:id="rId21"/>
    <p:sldId id="276" r:id="rId22"/>
    <p:sldId id="275" r:id="rId23"/>
    <p:sldId id="278" r:id="rId24"/>
    <p:sldId id="277" r:id="rId25"/>
    <p:sldId id="280" r:id="rId26"/>
    <p:sldId id="279" r:id="rId27"/>
    <p:sldId id="442" r:id="rId28"/>
    <p:sldId id="282" r:id="rId29"/>
    <p:sldId id="281" r:id="rId30"/>
    <p:sldId id="284" r:id="rId31"/>
    <p:sldId id="443" r:id="rId32"/>
    <p:sldId id="283" r:id="rId33"/>
    <p:sldId id="286" r:id="rId34"/>
    <p:sldId id="285" r:id="rId35"/>
    <p:sldId id="288" r:id="rId36"/>
    <p:sldId id="287" r:id="rId37"/>
    <p:sldId id="290" r:id="rId38"/>
    <p:sldId id="289" r:id="rId39"/>
    <p:sldId id="292" r:id="rId40"/>
    <p:sldId id="291" r:id="rId41"/>
    <p:sldId id="294" r:id="rId42"/>
    <p:sldId id="293" r:id="rId43"/>
    <p:sldId id="296" r:id="rId44"/>
    <p:sldId id="295" r:id="rId45"/>
    <p:sldId id="297" r:id="rId46"/>
    <p:sldId id="300" r:id="rId47"/>
    <p:sldId id="299" r:id="rId48"/>
    <p:sldId id="302" r:id="rId49"/>
    <p:sldId id="301" r:id="rId50"/>
    <p:sldId id="304" r:id="rId51"/>
    <p:sldId id="303" r:id="rId52"/>
    <p:sldId id="307" r:id="rId53"/>
    <p:sldId id="306" r:id="rId54"/>
    <p:sldId id="305" r:id="rId55"/>
    <p:sldId id="309" r:id="rId56"/>
    <p:sldId id="308" r:id="rId57"/>
    <p:sldId id="311" r:id="rId58"/>
    <p:sldId id="310" r:id="rId59"/>
    <p:sldId id="313" r:id="rId60"/>
    <p:sldId id="312" r:id="rId61"/>
    <p:sldId id="673" r:id="rId62"/>
    <p:sldId id="674" r:id="rId63"/>
    <p:sldId id="315" r:id="rId64"/>
    <p:sldId id="314" r:id="rId65"/>
    <p:sldId id="317" r:id="rId66"/>
    <p:sldId id="316" r:id="rId67"/>
    <p:sldId id="676" r:id="rId68"/>
    <p:sldId id="675" r:id="rId69"/>
    <p:sldId id="319" r:id="rId70"/>
    <p:sldId id="318" r:id="rId71"/>
    <p:sldId id="321" r:id="rId72"/>
    <p:sldId id="320" r:id="rId73"/>
    <p:sldId id="323" r:id="rId74"/>
    <p:sldId id="322" r:id="rId75"/>
    <p:sldId id="325" r:id="rId76"/>
    <p:sldId id="324" r:id="rId77"/>
    <p:sldId id="327" r:id="rId78"/>
    <p:sldId id="326" r:id="rId79"/>
    <p:sldId id="329" r:id="rId80"/>
    <p:sldId id="328" r:id="rId81"/>
    <p:sldId id="331" r:id="rId82"/>
    <p:sldId id="330" r:id="rId83"/>
    <p:sldId id="333" r:id="rId84"/>
    <p:sldId id="332" r:id="rId85"/>
    <p:sldId id="335" r:id="rId86"/>
    <p:sldId id="334" r:id="rId87"/>
    <p:sldId id="337" r:id="rId88"/>
    <p:sldId id="339" r:id="rId89"/>
    <p:sldId id="591" r:id="rId90"/>
    <p:sldId id="338" r:id="rId91"/>
    <p:sldId id="341" r:id="rId92"/>
    <p:sldId id="340" r:id="rId93"/>
    <p:sldId id="343" r:id="rId94"/>
    <p:sldId id="342" r:id="rId95"/>
    <p:sldId id="345" r:id="rId96"/>
    <p:sldId id="344" r:id="rId97"/>
    <p:sldId id="347" r:id="rId98"/>
    <p:sldId id="346" r:id="rId99"/>
    <p:sldId id="349" r:id="rId100"/>
    <p:sldId id="348" r:id="rId101"/>
    <p:sldId id="351" r:id="rId102"/>
    <p:sldId id="350" r:id="rId103"/>
    <p:sldId id="353" r:id="rId104"/>
    <p:sldId id="352" r:id="rId105"/>
    <p:sldId id="356" r:id="rId106"/>
    <p:sldId id="355" r:id="rId107"/>
    <p:sldId id="354" r:id="rId108"/>
    <p:sldId id="359" r:id="rId109"/>
    <p:sldId id="358" r:id="rId110"/>
    <p:sldId id="445" r:id="rId111"/>
    <p:sldId id="357" r:id="rId112"/>
    <p:sldId id="361" r:id="rId113"/>
    <p:sldId id="360" r:id="rId114"/>
    <p:sldId id="363" r:id="rId115"/>
    <p:sldId id="362" r:id="rId116"/>
    <p:sldId id="365" r:id="rId117"/>
    <p:sldId id="364" r:id="rId118"/>
    <p:sldId id="367" r:id="rId119"/>
    <p:sldId id="366" r:id="rId120"/>
    <p:sldId id="369" r:id="rId121"/>
    <p:sldId id="368" r:id="rId122"/>
    <p:sldId id="371" r:id="rId123"/>
    <p:sldId id="370" r:id="rId124"/>
    <p:sldId id="446" r:id="rId125"/>
    <p:sldId id="373" r:id="rId126"/>
    <p:sldId id="372" r:id="rId127"/>
    <p:sldId id="375" r:id="rId128"/>
    <p:sldId id="374" r:id="rId129"/>
    <p:sldId id="378" r:id="rId130"/>
    <p:sldId id="377" r:id="rId131"/>
    <p:sldId id="376" r:id="rId132"/>
    <p:sldId id="380" r:id="rId133"/>
    <p:sldId id="379" r:id="rId134"/>
    <p:sldId id="382" r:id="rId135"/>
    <p:sldId id="381" r:id="rId136"/>
    <p:sldId id="384" r:id="rId137"/>
    <p:sldId id="383" r:id="rId138"/>
    <p:sldId id="441" r:id="rId139"/>
    <p:sldId id="386" r:id="rId140"/>
    <p:sldId id="385" r:id="rId141"/>
    <p:sldId id="388" r:id="rId142"/>
    <p:sldId id="387" r:id="rId143"/>
    <p:sldId id="390" r:id="rId144"/>
    <p:sldId id="389" r:id="rId145"/>
    <p:sldId id="392" r:id="rId146"/>
    <p:sldId id="391" r:id="rId147"/>
    <p:sldId id="394" r:id="rId148"/>
    <p:sldId id="393" r:id="rId149"/>
    <p:sldId id="396" r:id="rId150"/>
    <p:sldId id="395" r:id="rId151"/>
    <p:sldId id="398" r:id="rId152"/>
    <p:sldId id="444" r:id="rId153"/>
    <p:sldId id="397" r:id="rId154"/>
    <p:sldId id="400" r:id="rId155"/>
    <p:sldId id="399" r:id="rId156"/>
    <p:sldId id="402" r:id="rId157"/>
    <p:sldId id="401" r:id="rId158"/>
    <p:sldId id="404" r:id="rId159"/>
    <p:sldId id="403" r:id="rId160"/>
    <p:sldId id="406" r:id="rId161"/>
    <p:sldId id="405" r:id="rId162"/>
    <p:sldId id="408" r:id="rId163"/>
    <p:sldId id="407" r:id="rId164"/>
    <p:sldId id="582" r:id="rId165"/>
    <p:sldId id="410" r:id="rId166"/>
    <p:sldId id="412" r:id="rId167"/>
    <p:sldId id="411" r:id="rId168"/>
    <p:sldId id="414" r:id="rId169"/>
    <p:sldId id="413" r:id="rId170"/>
    <p:sldId id="416" r:id="rId171"/>
  </p:sldIdLst>
  <p:sldSz cx="9144000" cy="6858000" type="screen4x3"/>
  <p:notesSz cx="6858000" cy="9144000"/>
  <p:custDataLst>
    <p:tags r:id="rId177"/>
  </p:custDataLst>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3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660"/>
  </p:normalViewPr>
  <p:slideViewPr>
    <p:cSldViewPr showGuides="1">
      <p:cViewPr varScale="1">
        <p:scale>
          <a:sx n="68" d="100"/>
          <a:sy n="68" d="100"/>
        </p:scale>
        <p:origin x="-82" y="-446"/>
      </p:cViewPr>
      <p:guideLst>
        <p:guide orient="horz" pos="2160"/>
        <p:guide pos="283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2775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7" Type="http://schemas.openxmlformats.org/officeDocument/2006/relationships/tags" Target="tags/tag4.xml"/><Relationship Id="rId176" Type="http://schemas.openxmlformats.org/officeDocument/2006/relationships/tableStyles" Target="tableStyles.xml"/><Relationship Id="rId175" Type="http://schemas.openxmlformats.org/officeDocument/2006/relationships/viewProps" Target="viewProps.xml"/><Relationship Id="rId174" Type="http://schemas.openxmlformats.org/officeDocument/2006/relationships/presProps" Target="presProps.xml"/><Relationship Id="rId173" Type="http://schemas.openxmlformats.org/officeDocument/2006/relationships/handoutMaster" Target="handoutMasters/handoutMaster1.xml"/><Relationship Id="rId172" Type="http://schemas.openxmlformats.org/officeDocument/2006/relationships/notesMaster" Target="notesMasters/notesMaster1.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_rels/activeX4.xml.rels><?xml version="1.0" encoding="UTF-8" standalone="yes"?>
<Relationships xmlns="http://schemas.openxmlformats.org/package/2006/relationships"><Relationship Id="rId1" Type="http://schemas.microsoft.com/office/2006/relationships/activeXControlBinary" Target="activeX4.bin"/></Relationships>
</file>

<file path=ppt/activeX/_rels/activeX5.xml.rels><?xml version="1.0" encoding="UTF-8" standalone="yes"?>
<Relationships xmlns="http://schemas.openxmlformats.org/package/2006/relationships"><Relationship Id="rId1" Type="http://schemas.microsoft.com/office/2006/relationships/activeXControlBinary" Target="activeX5.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activeX/activeX3.xml><?xml version="1.0" encoding="utf-8"?>
<ax:ocx xmlns:ax="http://schemas.microsoft.com/office/2006/activeX" xmlns:r="http://schemas.openxmlformats.org/officeDocument/2006/relationships" ax:classid="{D27CDB6E-AE6D-11CF-96B8-444553540000}" ax:persistence="persistStorage" r:id="rId1"/>
</file>

<file path=ppt/activeX/activeX4.xml><?xml version="1.0" encoding="utf-8"?>
<ax:ocx xmlns:ax="http://schemas.microsoft.com/office/2006/activeX" xmlns:r="http://schemas.openxmlformats.org/officeDocument/2006/relationships" ax:classid="{D27CDB6E-AE6D-11CF-96B8-444553540000}" ax:persistence="persistStorage" r:id="rId1"/>
</file>

<file path=ppt/activeX/activeX5.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4" Type="http://schemas.openxmlformats.org/officeDocument/2006/relationships/image" Target="../media/image9.wmf"/><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26.wmf"/><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image" Target="../media/image40.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46.wmf"/><Relationship Id="rId1" Type="http://schemas.openxmlformats.org/officeDocument/2006/relationships/image" Target="../media/image45.wmf"/></Relationships>
</file>

<file path=ppt/drawings/_rels/vmlDrawing19.vml.rels><?xml version="1.0" encoding="UTF-8" standalone="yes"?>
<Relationships xmlns="http://schemas.openxmlformats.org/package/2006/relationships"><Relationship Id="rId4" Type="http://schemas.openxmlformats.org/officeDocument/2006/relationships/image" Target="../media/image51.wmf"/><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s>
</file>

<file path=ppt/drawings/_rels/vmlDrawing22.vml.rels><?xml version="1.0" encoding="UTF-8" standalone="yes"?>
<Relationships xmlns="http://schemas.openxmlformats.org/package/2006/relationships"><Relationship Id="rId4" Type="http://schemas.openxmlformats.org/officeDocument/2006/relationships/image" Target="../media/image58.wmf"/><Relationship Id="rId3" Type="http://schemas.openxmlformats.org/officeDocument/2006/relationships/image" Target="../media/image51.wmf"/><Relationship Id="rId2" Type="http://schemas.openxmlformats.org/officeDocument/2006/relationships/image" Target="../media/image57.wmf"/><Relationship Id="rId1" Type="http://schemas.openxmlformats.org/officeDocument/2006/relationships/image" Target="../media/image56.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24.vml.rels><?xml version="1.0" encoding="UTF-8" standalone="yes"?>
<Relationships xmlns="http://schemas.openxmlformats.org/package/2006/relationships"><Relationship Id="rId4" Type="http://schemas.openxmlformats.org/officeDocument/2006/relationships/image" Target="../media/image63.wmf"/><Relationship Id="rId3" Type="http://schemas.openxmlformats.org/officeDocument/2006/relationships/image" Target="../media/image51.wmf"/><Relationship Id="rId2" Type="http://schemas.openxmlformats.org/officeDocument/2006/relationships/image" Target="../media/image62.wmf"/><Relationship Id="rId1" Type="http://schemas.openxmlformats.org/officeDocument/2006/relationships/image" Target="../media/image61.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image" Target="../media/image68.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71.wmf"/><Relationship Id="rId1" Type="http://schemas.openxmlformats.org/officeDocument/2006/relationships/image" Target="../media/image70.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30.vml.rels><?xml version="1.0" encoding="UTF-8" standalone="yes"?>
<Relationships xmlns="http://schemas.openxmlformats.org/package/2006/relationships"><Relationship Id="rId4" Type="http://schemas.openxmlformats.org/officeDocument/2006/relationships/image" Target="../media/image76.wmf"/><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77.wmf"/><Relationship Id="rId1" Type="http://schemas.openxmlformats.org/officeDocument/2006/relationships/image" Target="../media/image71.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image" Target="../media/image82.wmf"/><Relationship Id="rId1" Type="http://schemas.openxmlformats.org/officeDocument/2006/relationships/image" Target="../media/image81.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88.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38.vml.rels><?xml version="1.0" encoding="UTF-8" standalone="yes"?>
<Relationships xmlns="http://schemas.openxmlformats.org/package/2006/relationships"><Relationship Id="rId5" Type="http://schemas.openxmlformats.org/officeDocument/2006/relationships/image" Target="../media/image95.wmf"/><Relationship Id="rId4" Type="http://schemas.openxmlformats.org/officeDocument/2006/relationships/image" Target="../media/image94.wmf"/><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s>
</file>

<file path=ppt/drawings/_rels/vmlDrawing39.vml.rels><?xml version="1.0" encoding="UTF-8" standalone="yes"?>
<Relationships xmlns="http://schemas.openxmlformats.org/package/2006/relationships"><Relationship Id="rId4" Type="http://schemas.openxmlformats.org/officeDocument/2006/relationships/image" Target="../media/image99.wmf"/><Relationship Id="rId3" Type="http://schemas.openxmlformats.org/officeDocument/2006/relationships/image" Target="../media/image98.wmf"/><Relationship Id="rId2" Type="http://schemas.openxmlformats.org/officeDocument/2006/relationships/image" Target="../media/image97.wmf"/><Relationship Id="rId1" Type="http://schemas.openxmlformats.org/officeDocument/2006/relationships/image" Target="../media/image96.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00.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03.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04.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05.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06.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108.wmf"/><Relationship Id="rId1" Type="http://schemas.openxmlformats.org/officeDocument/2006/relationships/image" Target="../media/image107.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106.wmf"/><Relationship Id="rId1" Type="http://schemas.openxmlformats.org/officeDocument/2006/relationships/image" Target="../media/image109.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0.wmf"/></Relationships>
</file>

<file path=ppt/drawings/_rels/vmlDrawing49.vml.rels><?xml version="1.0" encoding="UTF-8" standalone="yes"?>
<Relationships xmlns="http://schemas.openxmlformats.org/package/2006/relationships"><Relationship Id="rId4" Type="http://schemas.openxmlformats.org/officeDocument/2006/relationships/image" Target="../media/image115.wmf"/><Relationship Id="rId3" Type="http://schemas.openxmlformats.org/officeDocument/2006/relationships/image" Target="../media/image114.wmf"/><Relationship Id="rId2" Type="http://schemas.openxmlformats.org/officeDocument/2006/relationships/image" Target="../media/image113.wmf"/><Relationship Id="rId1" Type="http://schemas.openxmlformats.org/officeDocument/2006/relationships/image" Target="../media/image112.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16.w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119.wmf"/><Relationship Id="rId1" Type="http://schemas.openxmlformats.org/officeDocument/2006/relationships/image" Target="../media/image118.wmf"/></Relationships>
</file>

<file path=ppt/drawings/_rels/vmlDrawing52.vml.rels><?xml version="1.0" encoding="UTF-8" standalone="yes"?>
<Relationships xmlns="http://schemas.openxmlformats.org/package/2006/relationships"><Relationship Id="rId5" Type="http://schemas.openxmlformats.org/officeDocument/2006/relationships/image" Target="../media/image125.wmf"/><Relationship Id="rId4" Type="http://schemas.openxmlformats.org/officeDocument/2006/relationships/image" Target="../media/image124.wmf"/><Relationship Id="rId3" Type="http://schemas.openxmlformats.org/officeDocument/2006/relationships/image" Target="../media/image123.wmf"/><Relationship Id="rId2" Type="http://schemas.openxmlformats.org/officeDocument/2006/relationships/image" Target="../media/image122.wmf"/><Relationship Id="rId1" Type="http://schemas.openxmlformats.org/officeDocument/2006/relationships/image" Target="../media/image121.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image" Target="../media/image127.wmf"/><Relationship Id="rId1" Type="http://schemas.openxmlformats.org/officeDocument/2006/relationships/image" Target="../media/image126.w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image" Target="../media/image129.wmf"/></Relationships>
</file>

<file path=ppt/drawings/_rels/vmlDrawing55.vml.rels><?xml version="1.0" encoding="UTF-8" standalone="yes"?>
<Relationships xmlns="http://schemas.openxmlformats.org/package/2006/relationships"><Relationship Id="rId2" Type="http://schemas.openxmlformats.org/officeDocument/2006/relationships/image" Target="../media/image133.wmf"/><Relationship Id="rId1" Type="http://schemas.openxmlformats.org/officeDocument/2006/relationships/image" Target="../media/image132.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image" Target="../media/image134.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137.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139.wmf"/></Relationships>
</file>

<file path=ppt/drawings/_rels/vmlDrawing59.vml.rels><?xml version="1.0" encoding="UTF-8" standalone="yes"?>
<Relationships xmlns="http://schemas.openxmlformats.org/package/2006/relationships"><Relationship Id="rId2" Type="http://schemas.openxmlformats.org/officeDocument/2006/relationships/image" Target="../media/image141.wmf"/><Relationship Id="rId1" Type="http://schemas.openxmlformats.org/officeDocument/2006/relationships/image" Target="../media/image140.wmf"/></Relationships>
</file>

<file path=ppt/drawings/_rels/vmlDrawing60.vml.rels><?xml version="1.0" encoding="UTF-8" standalone="yes"?>
<Relationships xmlns="http://schemas.openxmlformats.org/package/2006/relationships"><Relationship Id="rId4" Type="http://schemas.openxmlformats.org/officeDocument/2006/relationships/image" Target="../media/image145.wmf"/><Relationship Id="rId3" Type="http://schemas.openxmlformats.org/officeDocument/2006/relationships/image" Target="../media/image144.wmf"/><Relationship Id="rId2" Type="http://schemas.openxmlformats.org/officeDocument/2006/relationships/image" Target="../media/image143.wmf"/><Relationship Id="rId1" Type="http://schemas.openxmlformats.org/officeDocument/2006/relationships/image" Target="../media/image142.w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137.w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137.w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137.wmf"/></Relationships>
</file>

<file path=ppt/drawings/_rels/vmlDrawing64.v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30.wmf"/></Relationships>
</file>

<file path=ppt/drawings/_rels/vmlDrawing65.vml.rels><?xml version="1.0" encoding="UTF-8" standalone="yes"?>
<Relationships xmlns="http://schemas.openxmlformats.org/package/2006/relationships"><Relationship Id="rId2" Type="http://schemas.openxmlformats.org/officeDocument/2006/relationships/image" Target="../media/image150.wmf"/><Relationship Id="rId1" Type="http://schemas.openxmlformats.org/officeDocument/2006/relationships/image" Target="../media/image130.wmf"/></Relationships>
</file>

<file path=ppt/drawings/_rels/vmlDrawing66.vml.rels><?xml version="1.0" encoding="UTF-8" standalone="yes"?>
<Relationships xmlns="http://schemas.openxmlformats.org/package/2006/relationships"><Relationship Id="rId3" Type="http://schemas.openxmlformats.org/officeDocument/2006/relationships/image" Target="../media/image153.wmf"/><Relationship Id="rId2" Type="http://schemas.openxmlformats.org/officeDocument/2006/relationships/image" Target="../media/image152.wmf"/><Relationship Id="rId1" Type="http://schemas.openxmlformats.org/officeDocument/2006/relationships/image" Target="../media/image151.wmf"/></Relationships>
</file>

<file path=ppt/drawings/_rels/vmlDrawing67.vml.rels><?xml version="1.0" encoding="UTF-8" standalone="yes"?>
<Relationships xmlns="http://schemas.openxmlformats.org/package/2006/relationships"><Relationship Id="rId4" Type="http://schemas.openxmlformats.org/officeDocument/2006/relationships/image" Target="../media/image157.wmf"/><Relationship Id="rId3" Type="http://schemas.openxmlformats.org/officeDocument/2006/relationships/image" Target="../media/image156.wmf"/><Relationship Id="rId2" Type="http://schemas.openxmlformats.org/officeDocument/2006/relationships/image" Target="../media/image155.wmf"/><Relationship Id="rId1" Type="http://schemas.openxmlformats.org/officeDocument/2006/relationships/image" Target="../media/image154.wmf"/></Relationships>
</file>

<file path=ppt/drawings/_rels/vmlDrawing68.vml.rels><?xml version="1.0" encoding="UTF-8" standalone="yes"?>
<Relationships xmlns="http://schemas.openxmlformats.org/package/2006/relationships"><Relationship Id="rId2" Type="http://schemas.openxmlformats.org/officeDocument/2006/relationships/image" Target="../media/image159.wmf"/><Relationship Id="rId1" Type="http://schemas.openxmlformats.org/officeDocument/2006/relationships/image" Target="../media/image158.wmf"/></Relationships>
</file>

<file path=ppt/drawings/_rels/vmlDrawing69.vml.rels><?xml version="1.0" encoding="UTF-8" standalone="yes"?>
<Relationships xmlns="http://schemas.openxmlformats.org/package/2006/relationships"><Relationship Id="rId2" Type="http://schemas.openxmlformats.org/officeDocument/2006/relationships/image" Target="../media/image161.wmf"/><Relationship Id="rId1" Type="http://schemas.openxmlformats.org/officeDocument/2006/relationships/image" Target="../media/image160.wmf"/></Relationships>
</file>

<file path=ppt/drawings/_rels/vmlDrawing70.vml.rels><?xml version="1.0" encoding="UTF-8" standalone="yes"?>
<Relationships xmlns="http://schemas.openxmlformats.org/package/2006/relationships"><Relationship Id="rId6" Type="http://schemas.openxmlformats.org/officeDocument/2006/relationships/image" Target="../media/image170.wmf"/><Relationship Id="rId5" Type="http://schemas.openxmlformats.org/officeDocument/2006/relationships/image" Target="../media/image169.wmf"/><Relationship Id="rId4" Type="http://schemas.openxmlformats.org/officeDocument/2006/relationships/image" Target="../media/image168.wmf"/><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wmf"/></Relationships>
</file>

<file path=ppt/drawings/_rels/vmlDrawing71.vml.rels><?xml version="1.0" encoding="UTF-8" standalone="yes"?>
<Relationships xmlns="http://schemas.openxmlformats.org/package/2006/relationships"><Relationship Id="rId3" Type="http://schemas.openxmlformats.org/officeDocument/2006/relationships/image" Target="../media/image173.wmf"/><Relationship Id="rId2" Type="http://schemas.openxmlformats.org/officeDocument/2006/relationships/image" Target="../media/image172.wmf"/><Relationship Id="rId1" Type="http://schemas.openxmlformats.org/officeDocument/2006/relationships/image" Target="../media/image171.wmf"/></Relationships>
</file>

<file path=ppt/drawings/_rels/vmlDrawing72.vml.rels><?xml version="1.0" encoding="UTF-8" standalone="yes"?>
<Relationships xmlns="http://schemas.openxmlformats.org/package/2006/relationships"><Relationship Id="rId3" Type="http://schemas.openxmlformats.org/officeDocument/2006/relationships/image" Target="../media/image176.wmf"/><Relationship Id="rId2" Type="http://schemas.openxmlformats.org/officeDocument/2006/relationships/image" Target="../media/image175.wmf"/><Relationship Id="rId1" Type="http://schemas.openxmlformats.org/officeDocument/2006/relationships/image" Target="../media/image174.w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177.w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178.wmf"/></Relationships>
</file>

<file path=ppt/drawings/_rels/vmlDrawing75.vml.rels><?xml version="1.0" encoding="UTF-8" standalone="yes"?>
<Relationships xmlns="http://schemas.openxmlformats.org/package/2006/relationships"><Relationship Id="rId2" Type="http://schemas.openxmlformats.org/officeDocument/2006/relationships/image" Target="../media/image181.wmf"/><Relationship Id="rId1" Type="http://schemas.openxmlformats.org/officeDocument/2006/relationships/image" Target="../media/image180.wmf"/></Relationships>
</file>

<file path=ppt/drawings/_rels/vmlDrawing76.vml.rels><?xml version="1.0" encoding="UTF-8" standalone="yes"?>
<Relationships xmlns="http://schemas.openxmlformats.org/package/2006/relationships"><Relationship Id="rId3" Type="http://schemas.openxmlformats.org/officeDocument/2006/relationships/image" Target="../media/image184.wmf"/><Relationship Id="rId2" Type="http://schemas.openxmlformats.org/officeDocument/2006/relationships/image" Target="../media/image183.wmf"/><Relationship Id="rId1" Type="http://schemas.openxmlformats.org/officeDocument/2006/relationships/image" Target="../media/image182.wmf"/></Relationships>
</file>

<file path=ppt/drawings/_rels/vmlDrawing77.vml.rels><?xml version="1.0" encoding="UTF-8" standalone="yes"?>
<Relationships xmlns="http://schemas.openxmlformats.org/package/2006/relationships"><Relationship Id="rId4" Type="http://schemas.openxmlformats.org/officeDocument/2006/relationships/image" Target="../media/image188.wmf"/><Relationship Id="rId3" Type="http://schemas.openxmlformats.org/officeDocument/2006/relationships/image" Target="../media/image187.wmf"/><Relationship Id="rId2" Type="http://schemas.openxmlformats.org/officeDocument/2006/relationships/image" Target="../media/image186.wmf"/><Relationship Id="rId1" Type="http://schemas.openxmlformats.org/officeDocument/2006/relationships/image" Target="../media/image185.wmf"/></Relationships>
</file>

<file path=ppt/drawings/_rels/vmlDrawing78.vml.rels><?xml version="1.0" encoding="UTF-8" standalone="yes"?>
<Relationships xmlns="http://schemas.openxmlformats.org/package/2006/relationships"><Relationship Id="rId2" Type="http://schemas.openxmlformats.org/officeDocument/2006/relationships/image" Target="../media/image190.wmf"/><Relationship Id="rId1" Type="http://schemas.openxmlformats.org/officeDocument/2006/relationships/image" Target="../media/image189.w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193.wmf"/></Relationships>
</file>

<file path=ppt/drawings/_rels/vmlDrawing80.vml.rels><?xml version="1.0" encoding="UTF-8" standalone="yes"?>
<Relationships xmlns="http://schemas.openxmlformats.org/package/2006/relationships"><Relationship Id="rId2" Type="http://schemas.openxmlformats.org/officeDocument/2006/relationships/image" Target="../media/image195.wmf"/><Relationship Id="rId1" Type="http://schemas.openxmlformats.org/officeDocument/2006/relationships/image" Target="../media/image194.wmf"/></Relationships>
</file>

<file path=ppt/drawings/_rels/vmlDrawing81.vml.rels><?xml version="1.0" encoding="UTF-8" standalone="yes"?>
<Relationships xmlns="http://schemas.openxmlformats.org/package/2006/relationships"><Relationship Id="rId2" Type="http://schemas.openxmlformats.org/officeDocument/2006/relationships/image" Target="../media/image197.wmf"/><Relationship Id="rId1" Type="http://schemas.openxmlformats.org/officeDocument/2006/relationships/image" Target="../media/image196.w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198.wmf"/></Relationships>
</file>

<file path=ppt/drawings/_rels/vmlDrawing83.vml.rels><?xml version="1.0" encoding="UTF-8" standalone="yes"?>
<Relationships xmlns="http://schemas.openxmlformats.org/package/2006/relationships"><Relationship Id="rId2" Type="http://schemas.openxmlformats.org/officeDocument/2006/relationships/image" Target="../media/image200.wmf"/><Relationship Id="rId1" Type="http://schemas.openxmlformats.org/officeDocument/2006/relationships/image" Target="../media/image199.wmf"/></Relationships>
</file>

<file path=ppt/drawings/_rels/vmlDrawing84.vml.rels><?xml version="1.0" encoding="UTF-8" standalone="yes"?>
<Relationships xmlns="http://schemas.openxmlformats.org/package/2006/relationships"><Relationship Id="rId2" Type="http://schemas.openxmlformats.org/officeDocument/2006/relationships/image" Target="../media/image202.wmf"/><Relationship Id="rId1" Type="http://schemas.openxmlformats.org/officeDocument/2006/relationships/image" Target="../media/image201.wmf"/></Relationships>
</file>

<file path=ppt/drawings/_rels/vmlDrawing85.vml.rels><?xml version="1.0" encoding="UTF-8" standalone="yes"?>
<Relationships xmlns="http://schemas.openxmlformats.org/package/2006/relationships"><Relationship Id="rId2" Type="http://schemas.openxmlformats.org/officeDocument/2006/relationships/image" Target="../media/image204.wmf"/><Relationship Id="rId1" Type="http://schemas.openxmlformats.org/officeDocument/2006/relationships/image" Target="../media/image203.wmf"/></Relationships>
</file>

<file path=ppt/drawings/_rels/vmlDrawing86.vml.rels><?xml version="1.0" encoding="UTF-8" standalone="yes"?>
<Relationships xmlns="http://schemas.openxmlformats.org/package/2006/relationships"><Relationship Id="rId3" Type="http://schemas.openxmlformats.org/officeDocument/2006/relationships/image" Target="../media/image207.wmf"/><Relationship Id="rId2" Type="http://schemas.openxmlformats.org/officeDocument/2006/relationships/image" Target="../media/image206.wmf"/><Relationship Id="rId1" Type="http://schemas.openxmlformats.org/officeDocument/2006/relationships/image" Target="../media/image205.wmf"/></Relationships>
</file>

<file path=ppt/drawings/_rels/vmlDrawing87.vml.rels><?xml version="1.0" encoding="UTF-8" standalone="yes"?>
<Relationships xmlns="http://schemas.openxmlformats.org/package/2006/relationships"><Relationship Id="rId2" Type="http://schemas.openxmlformats.org/officeDocument/2006/relationships/image" Target="../media/image209.wmf"/><Relationship Id="rId1" Type="http://schemas.openxmlformats.org/officeDocument/2006/relationships/image" Target="../media/image208.wmf"/></Relationships>
</file>

<file path=ppt/drawings/_rels/vmlDrawing88.vml.rels><?xml version="1.0" encoding="UTF-8" standalone="yes"?>
<Relationships xmlns="http://schemas.openxmlformats.org/package/2006/relationships"><Relationship Id="rId2" Type="http://schemas.openxmlformats.org/officeDocument/2006/relationships/image" Target="../media/image211.wmf"/><Relationship Id="rId1" Type="http://schemas.openxmlformats.org/officeDocument/2006/relationships/image" Target="../media/image210.w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212.w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213.wmf"/></Relationships>
</file>

<file path=ppt/drawings/_rels/vmlDrawing91.vml.rels><?xml version="1.0" encoding="UTF-8" standalone="yes"?>
<Relationships xmlns="http://schemas.openxmlformats.org/package/2006/relationships"><Relationship Id="rId1" Type="http://schemas.openxmlformats.org/officeDocument/2006/relationships/image" Target="../media/image216.wmf"/></Relationships>
</file>

<file path=ppt/drawings/_rels/vmlDrawing92.vml.rels><?xml version="1.0" encoding="UTF-8" standalone="yes"?>
<Relationships xmlns="http://schemas.openxmlformats.org/package/2006/relationships"><Relationship Id="rId3" Type="http://schemas.openxmlformats.org/officeDocument/2006/relationships/image" Target="../media/image219.wmf"/><Relationship Id="rId2" Type="http://schemas.openxmlformats.org/officeDocument/2006/relationships/image" Target="../media/image218.wmf"/><Relationship Id="rId1" Type="http://schemas.openxmlformats.org/officeDocument/2006/relationships/image" Target="../media/image217.wmf"/></Relationships>
</file>

<file path=ppt/drawings/_rels/vmlDrawing93.vml.rels><?xml version="1.0" encoding="UTF-8" standalone="yes"?>
<Relationships xmlns="http://schemas.openxmlformats.org/package/2006/relationships"><Relationship Id="rId5" Type="http://schemas.openxmlformats.org/officeDocument/2006/relationships/image" Target="../media/image202.wmf"/><Relationship Id="rId4" Type="http://schemas.openxmlformats.org/officeDocument/2006/relationships/image" Target="../media/image201.wmf"/><Relationship Id="rId3" Type="http://schemas.openxmlformats.org/officeDocument/2006/relationships/image" Target="../media/image222.wmf"/><Relationship Id="rId2" Type="http://schemas.openxmlformats.org/officeDocument/2006/relationships/image" Target="../media/image221.wmf"/><Relationship Id="rId1" Type="http://schemas.openxmlformats.org/officeDocument/2006/relationships/image" Target="../media/image220.wmf"/></Relationships>
</file>

<file path=ppt/drawings/_rels/vmlDrawing94.vml.rels><?xml version="1.0" encoding="UTF-8" standalone="yes"?>
<Relationships xmlns="http://schemas.openxmlformats.org/package/2006/relationships"><Relationship Id="rId2" Type="http://schemas.openxmlformats.org/officeDocument/2006/relationships/image" Target="../media/image225.wmf"/><Relationship Id="rId1" Type="http://schemas.openxmlformats.org/officeDocument/2006/relationships/image" Target="../media/image224.wmf"/></Relationships>
</file>

<file path=ppt/drawings/_rels/vmlDrawing95.vml.rels><?xml version="1.0" encoding="UTF-8" standalone="yes"?>
<Relationships xmlns="http://schemas.openxmlformats.org/package/2006/relationships"><Relationship Id="rId2" Type="http://schemas.openxmlformats.org/officeDocument/2006/relationships/image" Target="../media/image227.wmf"/><Relationship Id="rId1" Type="http://schemas.openxmlformats.org/officeDocument/2006/relationships/image" Target="../media/image226.wmf"/></Relationships>
</file>

<file path=ppt/drawings/_rels/vmlDrawing96.vml.rels><?xml version="1.0" encoding="UTF-8" standalone="yes"?>
<Relationships xmlns="http://schemas.openxmlformats.org/package/2006/relationships"><Relationship Id="rId3" Type="http://schemas.openxmlformats.org/officeDocument/2006/relationships/image" Target="../media/image229.wmf"/><Relationship Id="rId2" Type="http://schemas.openxmlformats.org/officeDocument/2006/relationships/image" Target="../media/image207.wmf"/><Relationship Id="rId1" Type="http://schemas.openxmlformats.org/officeDocument/2006/relationships/image" Target="../media/image228.wmf"/></Relationships>
</file>

<file path=ppt/drawings/_rels/vmlDrawing97.vml.rels><?xml version="1.0" encoding="UTF-8" standalone="yes"?>
<Relationships xmlns="http://schemas.openxmlformats.org/package/2006/relationships"><Relationship Id="rId1" Type="http://schemas.openxmlformats.org/officeDocument/2006/relationships/image" Target="../media/image230.wmf"/></Relationships>
</file>

<file path=ppt/drawings/_rels/vmlDrawing98.vml.rels><?xml version="1.0" encoding="UTF-8" standalone="yes"?>
<Relationships xmlns="http://schemas.openxmlformats.org/package/2006/relationships"><Relationship Id="rId2" Type="http://schemas.openxmlformats.org/officeDocument/2006/relationships/image" Target="../media/image231.wmf"/><Relationship Id="rId1" Type="http://schemas.openxmlformats.org/officeDocument/2006/relationships/image" Target="../media/image210.wmf"/></Relationships>
</file>

<file path=ppt/drawings/_rels/vmlDrawing99.vml.rels><?xml version="1.0" encoding="UTF-8" standalone="yes"?>
<Relationships xmlns="http://schemas.openxmlformats.org/package/2006/relationships"><Relationship Id="rId1" Type="http://schemas.openxmlformats.org/officeDocument/2006/relationships/image" Target="../media/image232.wmf"/></Relationships>
</file>

<file path=ppt/drawings/_rels/vmlDrawing100.vml.rels><?xml version="1.0" encoding="UTF-8" standalone="yes"?>
<Relationships xmlns="http://schemas.openxmlformats.org/package/2006/relationships"><Relationship Id="rId1" Type="http://schemas.openxmlformats.org/officeDocument/2006/relationships/image" Target="../media/image233.wmf"/></Relationships>
</file>

<file path=ppt/drawings/_rels/vmlDrawing101.vml.rels><?xml version="1.0" encoding="UTF-8" standalone="yes"?>
<Relationships xmlns="http://schemas.openxmlformats.org/package/2006/relationships"><Relationship Id="rId2" Type="http://schemas.openxmlformats.org/officeDocument/2006/relationships/image" Target="../media/image237.wmf"/><Relationship Id="rId1" Type="http://schemas.openxmlformats.org/officeDocument/2006/relationships/image" Target="../media/image236.wmf"/></Relationships>
</file>

<file path=ppt/drawings/_rels/vmlDrawing102.vml.rels><?xml version="1.0" encoding="UTF-8" standalone="yes"?>
<Relationships xmlns="http://schemas.openxmlformats.org/package/2006/relationships"><Relationship Id="rId3" Type="http://schemas.openxmlformats.org/officeDocument/2006/relationships/image" Target="../media/image240.wmf"/><Relationship Id="rId2" Type="http://schemas.openxmlformats.org/officeDocument/2006/relationships/image" Target="../media/image239.wmf"/><Relationship Id="rId1" Type="http://schemas.openxmlformats.org/officeDocument/2006/relationships/image" Target="../media/image238.wmf"/></Relationships>
</file>

<file path=ppt/drawings/_rels/vmlDrawing103.vml.rels><?xml version="1.0" encoding="UTF-8" standalone="yes"?>
<Relationships xmlns="http://schemas.openxmlformats.org/package/2006/relationships"><Relationship Id="rId2" Type="http://schemas.openxmlformats.org/officeDocument/2006/relationships/image" Target="../media/image242.wmf"/><Relationship Id="rId1" Type="http://schemas.openxmlformats.org/officeDocument/2006/relationships/image" Target="../media/image241.wmf"/></Relationships>
</file>

<file path=ppt/drawings/_rels/vmlDrawing104.vml.rels><?xml version="1.0" encoding="UTF-8" standalone="yes"?>
<Relationships xmlns="http://schemas.openxmlformats.org/package/2006/relationships"><Relationship Id="rId3" Type="http://schemas.openxmlformats.org/officeDocument/2006/relationships/image" Target="../media/image225.wmf"/><Relationship Id="rId2" Type="http://schemas.openxmlformats.org/officeDocument/2006/relationships/image" Target="../media/image224.wmf"/><Relationship Id="rId1" Type="http://schemas.openxmlformats.org/officeDocument/2006/relationships/image" Target="../media/image243.wmf"/></Relationships>
</file>

<file path=ppt/drawings/_rels/vmlDrawing105.vml.rels><?xml version="1.0" encoding="UTF-8" standalone="yes"?>
<Relationships xmlns="http://schemas.openxmlformats.org/package/2006/relationships"><Relationship Id="rId1" Type="http://schemas.openxmlformats.org/officeDocument/2006/relationships/image" Target="../media/image244.wmf"/></Relationships>
</file>

<file path=ppt/drawings/_rels/vmlDrawing106.vml.rels><?xml version="1.0" encoding="UTF-8" standalone="yes"?>
<Relationships xmlns="http://schemas.openxmlformats.org/package/2006/relationships"><Relationship Id="rId3" Type="http://schemas.openxmlformats.org/officeDocument/2006/relationships/image" Target="../media/image247.wmf"/><Relationship Id="rId2" Type="http://schemas.openxmlformats.org/officeDocument/2006/relationships/image" Target="../media/image246.wmf"/><Relationship Id="rId1" Type="http://schemas.openxmlformats.org/officeDocument/2006/relationships/image" Target="../media/image245.wmf"/></Relationships>
</file>

<file path=ppt/drawings/_rels/vmlDrawing107.vml.rels><?xml version="1.0" encoding="UTF-8" standalone="yes"?>
<Relationships xmlns="http://schemas.openxmlformats.org/package/2006/relationships"><Relationship Id="rId3" Type="http://schemas.openxmlformats.org/officeDocument/2006/relationships/image" Target="../media/image250.wmf"/><Relationship Id="rId2" Type="http://schemas.openxmlformats.org/officeDocument/2006/relationships/image" Target="../media/image249.wmf"/><Relationship Id="rId1" Type="http://schemas.openxmlformats.org/officeDocument/2006/relationships/image" Target="../media/image248.wmf"/></Relationships>
</file>

<file path=ppt/drawings/_rels/vmlDrawing108.vml.rels><?xml version="1.0" encoding="UTF-8" standalone="yes"?>
<Relationships xmlns="http://schemas.openxmlformats.org/package/2006/relationships"><Relationship Id="rId3" Type="http://schemas.openxmlformats.org/officeDocument/2006/relationships/image" Target="../media/image253.wmf"/><Relationship Id="rId2" Type="http://schemas.openxmlformats.org/officeDocument/2006/relationships/image" Target="../media/image252.wmf"/><Relationship Id="rId1" Type="http://schemas.openxmlformats.org/officeDocument/2006/relationships/image" Target="../media/image251.wmf"/></Relationships>
</file>

<file path=ppt/drawings/_rels/vmlDrawing109.vml.rels><?xml version="1.0" encoding="UTF-8" standalone="yes"?>
<Relationships xmlns="http://schemas.openxmlformats.org/package/2006/relationships"><Relationship Id="rId1" Type="http://schemas.openxmlformats.org/officeDocument/2006/relationships/image" Target="../media/image254.wmf"/></Relationships>
</file>

<file path=ppt/drawings/_rels/vmlDrawing110.vml.rels><?xml version="1.0" encoding="UTF-8" standalone="yes"?>
<Relationships xmlns="http://schemas.openxmlformats.org/package/2006/relationships"><Relationship Id="rId2" Type="http://schemas.openxmlformats.org/officeDocument/2006/relationships/image" Target="../media/image257.wmf"/><Relationship Id="rId1" Type="http://schemas.openxmlformats.org/officeDocument/2006/relationships/image" Target="../media/image256.wmf"/></Relationships>
</file>

<file path=ppt/drawings/_rels/vmlDrawing111.vml.rels><?xml version="1.0" encoding="UTF-8" standalone="yes"?>
<Relationships xmlns="http://schemas.openxmlformats.org/package/2006/relationships"><Relationship Id="rId2" Type="http://schemas.openxmlformats.org/officeDocument/2006/relationships/image" Target="../media/image259.wmf"/><Relationship Id="rId1" Type="http://schemas.openxmlformats.org/officeDocument/2006/relationships/image" Target="../media/image258.wmf"/></Relationships>
</file>

<file path=ppt/drawings/_rels/vmlDrawing112.vml.rels><?xml version="1.0" encoding="UTF-8" standalone="yes"?>
<Relationships xmlns="http://schemas.openxmlformats.org/package/2006/relationships"><Relationship Id="rId1" Type="http://schemas.openxmlformats.org/officeDocument/2006/relationships/image" Target="../media/image26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Times New Roman" panose="02020603050405020304" pitchFamily="18" charset="0"/>
                <a:ea typeface="宋体" panose="02010600030101010101" pitchFamily="2" charset="-122"/>
                <a:cs typeface="+mn-cs"/>
              </a:rPr>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Times New Roman" panose="02020603050405020304" pitchFamily="18"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Times New Roman" panose="02020603050405020304" pitchFamily="18" charset="0"/>
                <a:ea typeface="宋体" panose="02010600030101010101" pitchFamily="2" charset="-122"/>
                <a:cs typeface="+mn-cs"/>
              </a:rPr>
            </a:fld>
            <a:endParaRPr lang="zh-CN" altLang="en-US" strike="noStrike" noProof="1"/>
          </a:p>
        </p:txBody>
      </p:sp>
      <p:sp>
        <p:nvSpPr>
          <p:cNvPr id="4100" name="幻灯片图像占位符 3"/>
          <p:cNvSpPr>
            <a:spLocks noGrp="1" noRot="1" noChangeAspect="1"/>
          </p:cNvSpPr>
          <p:nvPr>
            <p:ph type="sldImg"/>
          </p:nvPr>
        </p:nvSpPr>
        <p:spPr>
          <a:xfrm>
            <a:off x="1371600" y="1143000"/>
            <a:ext cx="4114800" cy="3086100"/>
          </a:xfrm>
          <a:prstGeom prst="rect">
            <a:avLst/>
          </a:prstGeom>
          <a:noFill/>
          <a:ln w="12700" cap="flat" cmpd="sng">
            <a:solidFill>
              <a:srgbClr val="000000"/>
            </a:solidFill>
            <a:prstDash val="solid"/>
            <a:round/>
            <a:headEnd type="none" w="med" len="med"/>
            <a:tailEnd type="none" w="med" len="med"/>
          </a:ln>
        </p:spPr>
      </p:sp>
      <p:sp>
        <p:nvSpPr>
          <p:cNvPr id="4101"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Times New Roman" panose="02020603050405020304" pitchFamily="18" charset="0"/>
                <a:ea typeface="宋体" panose="02010600030101010101" pitchFamily="2"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08476"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9724" y="1981200"/>
            <a:ext cx="3808476"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6" name="页脚占位符 5"/>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8" name="页脚占位符 7"/>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4" name="页脚占位符 3"/>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3" name="页脚占位符 2"/>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6" name="页脚占位符 5"/>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6" name="页脚占位符 5"/>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716657"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981200"/>
            <a:ext cx="3808476"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49724" y="1981200"/>
            <a:ext cx="3808476" cy="4114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6" name="页脚占位符 5"/>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8" name="页脚占位符 7"/>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9" name="灯片编号占位符 8"/>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4" name="页脚占位符 3"/>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5" name="灯片编号占位符 4"/>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3" name="页脚占位符 2"/>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4" name="灯片编号占位符 3"/>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6" name="页脚占位符 5"/>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6" name="页脚占位符 5"/>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7" name="灯片编号占位符 6"/>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609600"/>
            <a:ext cx="5716657" cy="54864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fontAlgn="base"/>
            <a:endParaRPr lang="zh-CN" altLang="en-US" strike="noStrike" noProof="1" dirty="0">
              <a:latin typeface="Times New Roman" panose="02020603050405020304" pitchFamily="18" charset="0"/>
            </a:endParaRPr>
          </a:p>
        </p:txBody>
      </p:sp>
      <p:sp>
        <p:nvSpPr>
          <p:cNvPr id="5" name="页脚占位符 4"/>
          <p:cNvSpPr>
            <a:spLocks noGrp="1"/>
          </p:cNvSpPr>
          <p:nvPr>
            <p:ph type="ftr" sz="quarter" idx="11"/>
          </p:nvPr>
        </p:nvSpPr>
        <p:spPr/>
        <p:txBody>
          <a:bodyPr/>
          <a:p>
            <a:pPr lvl="0" fontAlgn="base"/>
            <a:endParaRPr lang="zh-CN" altLang="en-US" strike="noStrike" noProof="1" dirty="0">
              <a:latin typeface="Times New Roman" panose="02020603050405020304" pitchFamily="18" charset="0"/>
            </a:endParaRPr>
          </a:p>
        </p:txBody>
      </p:sp>
      <p:sp>
        <p:nvSpPr>
          <p:cNvPr id="6" name="灯片编号占位符 5"/>
          <p:cNvSpPr>
            <a:spLocks noGrp="1"/>
          </p:cNvSpPr>
          <p:nvPr>
            <p:ph type="sldNum" sz="quarter" idx="12"/>
          </p:nvPr>
        </p:nvSpPr>
        <p:spPr/>
        <p:txBody>
          <a:bodyPr/>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spTree>
  </p:cSld>
  <p:clrMapOvr>
    <a:masterClrMapping/>
  </p:clrMapOvr>
  <p:transition>
    <p:blinds/>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5.GIF"/><Relationship Id="rId15" Type="http://schemas.openxmlformats.org/officeDocument/2006/relationships/image" Target="../media/image4.jpeg"/><Relationship Id="rId14" Type="http://schemas.openxmlformats.org/officeDocument/2006/relationships/image" Target="../media/image3.jpeg"/><Relationship Id="rId13" Type="http://schemas.openxmlformats.org/officeDocument/2006/relationships/image" Target="../media/image2.jpeg"/><Relationship Id="rId12" Type="http://schemas.openxmlformats.org/officeDocument/2006/relationships/image" Target="../media/image1.GIF"/><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7" Type="http://schemas.openxmlformats.org/officeDocument/2006/relationships/theme" Target="../theme/theme2.xml"/><Relationship Id="rId16" Type="http://schemas.openxmlformats.org/officeDocument/2006/relationships/image" Target="../media/image5.GIF"/><Relationship Id="rId15" Type="http://schemas.openxmlformats.org/officeDocument/2006/relationships/image" Target="../media/image4.jpeg"/><Relationship Id="rId14" Type="http://schemas.openxmlformats.org/officeDocument/2006/relationships/image" Target="../media/image3.jpeg"/><Relationship Id="rId13" Type="http://schemas.openxmlformats.org/officeDocument/2006/relationships/image" Target="../media/image2.jpeg"/><Relationship Id="rId12" Type="http://schemas.openxmlformats.org/officeDocument/2006/relationships/image" Target="../media/image1.GIF"/><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 1025"/>
          <p:cNvSpPr>
            <a:spLocks noGrp="1"/>
          </p:cNvSpPr>
          <p:nvPr>
            <p:ph type="title"/>
          </p:nvPr>
        </p:nvSpPr>
        <p:spPr>
          <a:xfrm>
            <a:off x="685800" y="609600"/>
            <a:ext cx="77724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文本占位符 1026"/>
          <p:cNvSpPr>
            <a:spLocks noGrp="1"/>
          </p:cNvSpPr>
          <p:nvPr>
            <p:ph type="body"/>
          </p:nvPr>
        </p:nvSpPr>
        <p:spPr>
          <a:xfrm>
            <a:off x="685800" y="1981200"/>
            <a:ext cx="7772400" cy="4114800"/>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日期占位符 1027"/>
          <p:cNvSpPr>
            <a:spLocks noGrp="1"/>
          </p:cNvSpPr>
          <p:nvPr>
            <p:ph type="dt" sz="half" idx="2"/>
          </p:nvPr>
        </p:nvSpPr>
        <p:spPr>
          <a:xfrm>
            <a:off x="685800" y="6248400"/>
            <a:ext cx="1905000" cy="457200"/>
          </a:xfrm>
          <a:prstGeom prst="rect">
            <a:avLst/>
          </a:prstGeom>
          <a:noFill/>
          <a:ln w="9525">
            <a:noFill/>
          </a:ln>
        </p:spPr>
        <p:txBody>
          <a:bodyPr/>
          <a:lstStyle>
            <a:lvl1pPr>
              <a:defRPr sz="1400"/>
            </a:lvl1pPr>
          </a:lstStyle>
          <a:p>
            <a:pPr lvl="0" fontAlgn="base"/>
            <a:endParaRPr lang="zh-CN" altLang="en-US" strike="noStrike" noProof="1" dirty="0">
              <a:latin typeface="Times New Roman" panose="02020603050405020304" pitchFamily="18" charset="0"/>
            </a:endParaRPr>
          </a:p>
        </p:txBody>
      </p:sp>
      <p:sp>
        <p:nvSpPr>
          <p:cNvPr id="1029" name="页脚占位符 1028"/>
          <p:cNvSpPr>
            <a:spLocks noGrp="1"/>
          </p:cNvSpPr>
          <p:nvPr>
            <p:ph type="ftr" sz="quarter" idx="3"/>
          </p:nvPr>
        </p:nvSpPr>
        <p:spPr>
          <a:xfrm>
            <a:off x="3124200" y="6248400"/>
            <a:ext cx="2895600" cy="457200"/>
          </a:xfrm>
          <a:prstGeom prst="rect">
            <a:avLst/>
          </a:prstGeom>
          <a:noFill/>
          <a:ln w="9525">
            <a:noFill/>
          </a:ln>
        </p:spPr>
        <p:txBody>
          <a:bodyPr/>
          <a:lstStyle>
            <a:lvl1pPr algn="ctr">
              <a:defRPr sz="1400"/>
            </a:lvl1pPr>
          </a:lstStyle>
          <a:p>
            <a:pPr lvl="0" fontAlgn="base"/>
            <a:endParaRPr lang="zh-CN" altLang="en-US" strike="noStrike" noProof="1" dirty="0">
              <a:latin typeface="Times New Roman" panose="02020603050405020304" pitchFamily="18" charset="0"/>
            </a:endParaRPr>
          </a:p>
        </p:txBody>
      </p:sp>
      <p:sp>
        <p:nvSpPr>
          <p:cNvPr id="1030" name="灯片编号占位符 1029"/>
          <p:cNvSpPr>
            <a:spLocks noGrp="1"/>
          </p:cNvSpPr>
          <p:nvPr>
            <p:ph type="sldNum" sz="quarter" idx="4"/>
          </p:nvPr>
        </p:nvSpPr>
        <p:spPr>
          <a:xfrm>
            <a:off x="6553200" y="6248400"/>
            <a:ext cx="1905000" cy="45720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pic>
        <p:nvPicPr>
          <p:cNvPr id="1031" name="图片 1030" descr="GIF-396"/>
          <p:cNvPicPr>
            <a:picLocks noChangeAspect="1"/>
          </p:cNvPicPr>
          <p:nvPr userDrawn="1"/>
        </p:nvPicPr>
        <p:blipFill>
          <a:blip r:embed="rId12"/>
          <a:stretch>
            <a:fillRect/>
          </a:stretch>
        </p:blipFill>
        <p:spPr>
          <a:xfrm flipV="1">
            <a:off x="0" y="457200"/>
            <a:ext cx="7010400" cy="76200"/>
          </a:xfrm>
          <a:prstGeom prst="rect">
            <a:avLst/>
          </a:prstGeom>
          <a:noFill/>
          <a:ln w="9525">
            <a:noFill/>
          </a:ln>
        </p:spPr>
      </p:pic>
      <p:pic>
        <p:nvPicPr>
          <p:cNvPr id="1032" name="图片 1031" descr="CJ3110"/>
          <p:cNvPicPr>
            <a:picLocks noChangeAspect="1"/>
          </p:cNvPicPr>
          <p:nvPr userDrawn="1"/>
        </p:nvPicPr>
        <p:blipFill>
          <a:blip r:embed="rId13"/>
          <a:stretch>
            <a:fillRect/>
          </a:stretch>
        </p:blipFill>
        <p:spPr>
          <a:xfrm>
            <a:off x="0" y="0"/>
            <a:ext cx="487363" cy="533400"/>
          </a:xfrm>
          <a:prstGeom prst="rect">
            <a:avLst/>
          </a:prstGeom>
          <a:noFill/>
          <a:ln w="9525">
            <a:noFill/>
          </a:ln>
        </p:spPr>
      </p:pic>
      <p:pic>
        <p:nvPicPr>
          <p:cNvPr id="1033" name="图片 1032" descr="BJ2087"/>
          <p:cNvPicPr>
            <a:picLocks noChangeAspect="1"/>
          </p:cNvPicPr>
          <p:nvPr userDrawn="1"/>
        </p:nvPicPr>
        <p:blipFill>
          <a:blip r:embed="rId14"/>
          <a:stretch>
            <a:fillRect/>
          </a:stretch>
        </p:blipFill>
        <p:spPr>
          <a:xfrm>
            <a:off x="0" y="6172200"/>
            <a:ext cx="9144000" cy="685800"/>
          </a:xfrm>
          <a:prstGeom prst="rect">
            <a:avLst/>
          </a:prstGeom>
          <a:noFill/>
          <a:ln w="9525">
            <a:noFill/>
          </a:ln>
        </p:spPr>
      </p:pic>
      <p:pic>
        <p:nvPicPr>
          <p:cNvPr id="1034" name="图片 1033" descr="BJ2090"/>
          <p:cNvPicPr>
            <a:picLocks noChangeAspect="1"/>
          </p:cNvPicPr>
          <p:nvPr userDrawn="1"/>
        </p:nvPicPr>
        <p:blipFill>
          <a:blip r:embed="rId15"/>
          <a:stretch>
            <a:fillRect/>
          </a:stretch>
        </p:blipFill>
        <p:spPr>
          <a:xfrm>
            <a:off x="8305800" y="0"/>
            <a:ext cx="838200" cy="628650"/>
          </a:xfrm>
          <a:prstGeom prst="rect">
            <a:avLst/>
          </a:prstGeom>
          <a:noFill/>
          <a:ln w="9525">
            <a:noFill/>
          </a:ln>
        </p:spPr>
      </p:pic>
      <p:pic>
        <p:nvPicPr>
          <p:cNvPr id="1035" name="图片 1034" descr="GIF-386"/>
          <p:cNvPicPr>
            <a:picLocks noChangeAspect="1"/>
          </p:cNvPicPr>
          <p:nvPr userDrawn="1"/>
        </p:nvPicPr>
        <p:blipFill>
          <a:blip r:embed="rId16"/>
          <a:stretch>
            <a:fillRect/>
          </a:stretch>
        </p:blipFill>
        <p:spPr>
          <a:xfrm>
            <a:off x="0" y="6589713"/>
            <a:ext cx="2286000" cy="268287"/>
          </a:xfrm>
          <a:prstGeom prst="rect">
            <a:avLst/>
          </a:prstGeom>
          <a:noFill/>
          <a:ln w="9525">
            <a:noFill/>
          </a:ln>
        </p:spPr>
      </p:pic>
      <p:sp>
        <p:nvSpPr>
          <p:cNvPr id="1036" name="文本框 1035"/>
          <p:cNvSpPr txBox="1"/>
          <p:nvPr userDrawn="1"/>
        </p:nvSpPr>
        <p:spPr>
          <a:xfrm>
            <a:off x="457200" y="125413"/>
            <a:ext cx="6646863" cy="396875"/>
          </a:xfrm>
          <a:prstGeom prst="rect">
            <a:avLst/>
          </a:prstGeom>
          <a:noFill/>
          <a:ln w="9525">
            <a:noFill/>
          </a:ln>
        </p:spPr>
        <p:txBody>
          <a:bodyPr wrap="none" anchor="t">
            <a:spAutoFit/>
          </a:bodyPr>
          <a:p>
            <a:pPr lvl="0"/>
            <a:r>
              <a:rPr lang="zh-CN" altLang="en-US" sz="2000" dirty="0">
                <a:latin typeface="华文行楷" pitchFamily="2" charset="-122"/>
                <a:ea typeface="华文行楷" pitchFamily="2" charset="-122"/>
              </a:rPr>
              <a:t>第</a:t>
            </a:r>
            <a:r>
              <a:rPr lang="en-US" altLang="zh-CN" sz="2000" dirty="0">
                <a:latin typeface="华文行楷" pitchFamily="2" charset="-122"/>
                <a:ea typeface="华文行楷" pitchFamily="2" charset="-122"/>
              </a:rPr>
              <a:t>5</a:t>
            </a:r>
            <a:r>
              <a:rPr lang="zh-CN" altLang="en-US" sz="2000" dirty="0">
                <a:latin typeface="华文行楷" pitchFamily="2" charset="-122"/>
                <a:ea typeface="华文行楷" pitchFamily="2" charset="-122"/>
              </a:rPr>
              <a:t>章 无限长单位脉冲响应（</a:t>
            </a:r>
            <a:r>
              <a:rPr lang="en-US" altLang="zh-CN" sz="2000">
                <a:latin typeface="华文行楷" pitchFamily="2" charset="-122"/>
                <a:ea typeface="华文行楷" pitchFamily="2" charset="-122"/>
              </a:rPr>
              <a:t>IIR</a:t>
            </a:r>
            <a:r>
              <a:rPr lang="zh-CN" altLang="en-US" sz="2000">
                <a:latin typeface="华文行楷" pitchFamily="2" charset="-122"/>
                <a:ea typeface="华文行楷" pitchFamily="2" charset="-122"/>
              </a:rPr>
              <a:t>）</a:t>
            </a:r>
            <a:r>
              <a:rPr lang="zh-CN" altLang="en-US" sz="2000" dirty="0">
                <a:latin typeface="华文行楷" pitchFamily="2" charset="-122"/>
                <a:ea typeface="华文行楷" pitchFamily="2" charset="-122"/>
              </a:rPr>
              <a:t>数字滤波器的设计方法 </a:t>
            </a:r>
            <a:endParaRPr lang="zh-CN" altLang="en-US" sz="2000">
              <a:latin typeface="华文行楷" pitchFamily="2" charset="-122"/>
              <a:ea typeface="华文行楷"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blinds/>
  </p:transition>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标题 1025"/>
          <p:cNvSpPr>
            <a:spLocks noGrp="1"/>
          </p:cNvSpPr>
          <p:nvPr>
            <p:ph type="title"/>
          </p:nvPr>
        </p:nvSpPr>
        <p:spPr>
          <a:xfrm>
            <a:off x="685800" y="609600"/>
            <a:ext cx="77724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2051" name="文本占位符 1026"/>
          <p:cNvSpPr>
            <a:spLocks noGrp="1"/>
          </p:cNvSpPr>
          <p:nvPr>
            <p:ph type="body"/>
          </p:nvPr>
        </p:nvSpPr>
        <p:spPr>
          <a:xfrm>
            <a:off x="685800" y="1981200"/>
            <a:ext cx="7772400" cy="4114800"/>
          </a:xfrm>
          <a:prstGeom prst="rect">
            <a:avLst/>
          </a:prstGeom>
          <a:noFill/>
          <a:ln w="9525">
            <a:noFill/>
          </a:ln>
        </p:spPr>
        <p:txBody>
          <a:bodyPr anchor="t"/>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8" name="日期占位符 1027"/>
          <p:cNvSpPr>
            <a:spLocks noGrp="1"/>
          </p:cNvSpPr>
          <p:nvPr>
            <p:ph type="dt" sz="half" idx="2"/>
          </p:nvPr>
        </p:nvSpPr>
        <p:spPr>
          <a:xfrm>
            <a:off x="685800" y="6248400"/>
            <a:ext cx="1905000" cy="457200"/>
          </a:xfrm>
          <a:prstGeom prst="rect">
            <a:avLst/>
          </a:prstGeom>
          <a:noFill/>
          <a:ln w="9525">
            <a:noFill/>
          </a:ln>
        </p:spPr>
        <p:txBody>
          <a:bodyPr/>
          <a:lstStyle>
            <a:lvl1pPr>
              <a:defRPr sz="1400"/>
            </a:lvl1pPr>
          </a:lstStyle>
          <a:p>
            <a:pPr lvl="0" fontAlgn="base"/>
            <a:endParaRPr lang="zh-CN" altLang="en-US" strike="noStrike" noProof="1" dirty="0">
              <a:latin typeface="Times New Roman" panose="02020603050405020304" pitchFamily="18" charset="0"/>
            </a:endParaRPr>
          </a:p>
        </p:txBody>
      </p:sp>
      <p:sp>
        <p:nvSpPr>
          <p:cNvPr id="1029" name="页脚占位符 1028"/>
          <p:cNvSpPr>
            <a:spLocks noGrp="1"/>
          </p:cNvSpPr>
          <p:nvPr>
            <p:ph type="ftr" sz="quarter" idx="3"/>
          </p:nvPr>
        </p:nvSpPr>
        <p:spPr>
          <a:xfrm>
            <a:off x="3124200" y="6248400"/>
            <a:ext cx="2895600" cy="457200"/>
          </a:xfrm>
          <a:prstGeom prst="rect">
            <a:avLst/>
          </a:prstGeom>
          <a:noFill/>
          <a:ln w="9525">
            <a:noFill/>
          </a:ln>
        </p:spPr>
        <p:txBody>
          <a:bodyPr/>
          <a:lstStyle>
            <a:lvl1pPr algn="ctr">
              <a:defRPr sz="1400"/>
            </a:lvl1pPr>
          </a:lstStyle>
          <a:p>
            <a:pPr lvl="0" fontAlgn="base"/>
            <a:endParaRPr lang="zh-CN" altLang="en-US" strike="noStrike" noProof="1" dirty="0">
              <a:latin typeface="Times New Roman" panose="02020603050405020304" pitchFamily="18" charset="0"/>
            </a:endParaRPr>
          </a:p>
        </p:txBody>
      </p:sp>
      <p:sp>
        <p:nvSpPr>
          <p:cNvPr id="1030" name="灯片编号占位符 1029"/>
          <p:cNvSpPr>
            <a:spLocks noGrp="1"/>
          </p:cNvSpPr>
          <p:nvPr>
            <p:ph type="sldNum" sz="quarter" idx="4"/>
          </p:nvPr>
        </p:nvSpPr>
        <p:spPr>
          <a:xfrm>
            <a:off x="6553200" y="6248400"/>
            <a:ext cx="1905000" cy="457200"/>
          </a:xfrm>
          <a:prstGeom prst="rect">
            <a:avLst/>
          </a:prstGeom>
          <a:noFill/>
          <a:ln w="9525">
            <a:noFill/>
          </a:ln>
        </p:spPr>
        <p:txBody>
          <a:bodyPr/>
          <a:lstStyle>
            <a:lvl1pPr algn="r">
              <a:defRPr sz="1400"/>
            </a:lvl1pPr>
          </a:lstStyle>
          <a:p>
            <a:pPr lvl="0" fontAlgn="base"/>
            <a:fld id="{9A0DB2DC-4C9A-4742-B13C-FB6460FD3503}" type="slidenum">
              <a:rPr lang="zh-CN" altLang="en-US" strike="noStrike" noProof="1" dirty="0">
                <a:latin typeface="Times New Roman" panose="02020603050405020304" pitchFamily="18" charset="0"/>
                <a:ea typeface="宋体" panose="02010600030101010101" pitchFamily="2" charset="-122"/>
                <a:cs typeface="+mn-cs"/>
              </a:rPr>
            </a:fld>
            <a:endParaRPr lang="zh-CN" altLang="en-US" strike="noStrike" noProof="1" dirty="0">
              <a:latin typeface="Times New Roman" panose="02020603050405020304" pitchFamily="18" charset="0"/>
            </a:endParaRPr>
          </a:p>
        </p:txBody>
      </p:sp>
      <p:pic>
        <p:nvPicPr>
          <p:cNvPr id="2055" name="图片 1030" descr="GIF-396"/>
          <p:cNvPicPr>
            <a:picLocks noChangeAspect="1"/>
          </p:cNvPicPr>
          <p:nvPr userDrawn="1"/>
        </p:nvPicPr>
        <p:blipFill>
          <a:blip r:embed="rId12"/>
          <a:stretch>
            <a:fillRect/>
          </a:stretch>
        </p:blipFill>
        <p:spPr>
          <a:xfrm flipV="1">
            <a:off x="0" y="457200"/>
            <a:ext cx="7010400" cy="76200"/>
          </a:xfrm>
          <a:prstGeom prst="rect">
            <a:avLst/>
          </a:prstGeom>
          <a:noFill/>
          <a:ln w="9525">
            <a:noFill/>
          </a:ln>
        </p:spPr>
      </p:pic>
      <p:pic>
        <p:nvPicPr>
          <p:cNvPr id="2056" name="图片 1031" descr="CJ3110"/>
          <p:cNvPicPr>
            <a:picLocks noChangeAspect="1"/>
          </p:cNvPicPr>
          <p:nvPr userDrawn="1"/>
        </p:nvPicPr>
        <p:blipFill>
          <a:blip r:embed="rId13"/>
          <a:stretch>
            <a:fillRect/>
          </a:stretch>
        </p:blipFill>
        <p:spPr>
          <a:xfrm>
            <a:off x="0" y="0"/>
            <a:ext cx="487363" cy="533400"/>
          </a:xfrm>
          <a:prstGeom prst="rect">
            <a:avLst/>
          </a:prstGeom>
          <a:noFill/>
          <a:ln w="9525">
            <a:noFill/>
          </a:ln>
        </p:spPr>
      </p:pic>
      <p:pic>
        <p:nvPicPr>
          <p:cNvPr id="2057" name="图片 1032" descr="BJ2087"/>
          <p:cNvPicPr>
            <a:picLocks noChangeAspect="1"/>
          </p:cNvPicPr>
          <p:nvPr userDrawn="1"/>
        </p:nvPicPr>
        <p:blipFill>
          <a:blip r:embed="rId14"/>
          <a:stretch>
            <a:fillRect/>
          </a:stretch>
        </p:blipFill>
        <p:spPr>
          <a:xfrm>
            <a:off x="0" y="6172200"/>
            <a:ext cx="9144000" cy="685800"/>
          </a:xfrm>
          <a:prstGeom prst="rect">
            <a:avLst/>
          </a:prstGeom>
          <a:noFill/>
          <a:ln w="9525">
            <a:noFill/>
          </a:ln>
        </p:spPr>
      </p:pic>
      <p:pic>
        <p:nvPicPr>
          <p:cNvPr id="2058" name="图片 1033" descr="BJ2090"/>
          <p:cNvPicPr>
            <a:picLocks noChangeAspect="1"/>
          </p:cNvPicPr>
          <p:nvPr userDrawn="1"/>
        </p:nvPicPr>
        <p:blipFill>
          <a:blip r:embed="rId15"/>
          <a:stretch>
            <a:fillRect/>
          </a:stretch>
        </p:blipFill>
        <p:spPr>
          <a:xfrm>
            <a:off x="8305800" y="0"/>
            <a:ext cx="838200" cy="628650"/>
          </a:xfrm>
          <a:prstGeom prst="rect">
            <a:avLst/>
          </a:prstGeom>
          <a:noFill/>
          <a:ln w="9525">
            <a:noFill/>
          </a:ln>
        </p:spPr>
      </p:pic>
      <p:pic>
        <p:nvPicPr>
          <p:cNvPr id="2059" name="图片 1034" descr="GIF-386"/>
          <p:cNvPicPr>
            <a:picLocks noChangeAspect="1"/>
          </p:cNvPicPr>
          <p:nvPr userDrawn="1"/>
        </p:nvPicPr>
        <p:blipFill>
          <a:blip r:embed="rId16"/>
          <a:stretch>
            <a:fillRect/>
          </a:stretch>
        </p:blipFill>
        <p:spPr>
          <a:xfrm>
            <a:off x="0" y="6589713"/>
            <a:ext cx="2286000" cy="268287"/>
          </a:xfrm>
          <a:prstGeom prst="rect">
            <a:avLst/>
          </a:prstGeom>
          <a:noFill/>
          <a:ln w="9525">
            <a:noFill/>
          </a:ln>
        </p:spPr>
      </p:pic>
      <p:sp>
        <p:nvSpPr>
          <p:cNvPr id="2060" name="文本框 1035"/>
          <p:cNvSpPr txBox="1"/>
          <p:nvPr userDrawn="1"/>
        </p:nvSpPr>
        <p:spPr>
          <a:xfrm>
            <a:off x="457200" y="125413"/>
            <a:ext cx="6646863" cy="396875"/>
          </a:xfrm>
          <a:prstGeom prst="rect">
            <a:avLst/>
          </a:prstGeom>
          <a:noFill/>
          <a:ln w="9525">
            <a:noFill/>
          </a:ln>
        </p:spPr>
        <p:txBody>
          <a:bodyPr wrap="none" anchor="t">
            <a:spAutoFit/>
          </a:bodyPr>
          <a:p>
            <a:pPr lvl="0"/>
            <a:r>
              <a:rPr lang="zh-CN" altLang="en-US" sz="2000" dirty="0">
                <a:latin typeface="华文行楷" pitchFamily="2" charset="-122"/>
                <a:ea typeface="华文行楷" pitchFamily="2" charset="-122"/>
              </a:rPr>
              <a:t>第</a:t>
            </a:r>
            <a:r>
              <a:rPr lang="en-US" altLang="zh-CN" sz="2000" dirty="0">
                <a:latin typeface="华文行楷" pitchFamily="2" charset="-122"/>
                <a:ea typeface="华文行楷" pitchFamily="2" charset="-122"/>
              </a:rPr>
              <a:t>5</a:t>
            </a:r>
            <a:r>
              <a:rPr lang="zh-CN" altLang="en-US" sz="2000" dirty="0">
                <a:latin typeface="华文行楷" pitchFamily="2" charset="-122"/>
                <a:ea typeface="华文行楷" pitchFamily="2" charset="-122"/>
              </a:rPr>
              <a:t>章 无限长单位脉冲响应（</a:t>
            </a:r>
            <a:r>
              <a:rPr lang="en-US" altLang="zh-CN" sz="2000">
                <a:latin typeface="华文行楷" pitchFamily="2" charset="-122"/>
                <a:ea typeface="华文行楷" pitchFamily="2" charset="-122"/>
              </a:rPr>
              <a:t>IIR</a:t>
            </a:r>
            <a:r>
              <a:rPr lang="zh-CN" altLang="en-US" sz="2000">
                <a:latin typeface="华文行楷" pitchFamily="2" charset="-122"/>
                <a:ea typeface="华文行楷" pitchFamily="2" charset="-122"/>
              </a:rPr>
              <a:t>）</a:t>
            </a:r>
            <a:r>
              <a:rPr lang="zh-CN" altLang="en-US" sz="2000" dirty="0">
                <a:latin typeface="华文行楷" pitchFamily="2" charset="-122"/>
                <a:ea typeface="华文行楷" pitchFamily="2" charset="-122"/>
              </a:rPr>
              <a:t>数字滤波器的设计方法 </a:t>
            </a:r>
            <a:endParaRPr lang="zh-CN" altLang="en-US" sz="2000">
              <a:latin typeface="华文行楷" pitchFamily="2" charset="-122"/>
              <a:ea typeface="华文行楷" pitchFamily="2"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blinds/>
  </p:transition>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slide" Target="slide156.xml"/><Relationship Id="rId6" Type="http://schemas.openxmlformats.org/officeDocument/2006/relationships/slide" Target="slide107.xml"/><Relationship Id="rId5" Type="http://schemas.openxmlformats.org/officeDocument/2006/relationships/slide" Target="slide78.xml"/><Relationship Id="rId4" Type="http://schemas.openxmlformats.org/officeDocument/2006/relationships/slide" Target="slide57.xml"/><Relationship Id="rId3" Type="http://schemas.openxmlformats.org/officeDocument/2006/relationships/slide" Target="slide21.xml"/><Relationship Id="rId2" Type="http://schemas.openxmlformats.org/officeDocument/2006/relationships/slide" Target="slide15.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9.wmf"/><Relationship Id="rId7" Type="http://schemas.openxmlformats.org/officeDocument/2006/relationships/oleObject" Target="../embeddings/oleObject4.bin"/><Relationship Id="rId6" Type="http://schemas.openxmlformats.org/officeDocument/2006/relationships/image" Target="../media/image8.wmf"/><Relationship Id="rId5" Type="http://schemas.openxmlformats.org/officeDocument/2006/relationships/oleObject" Target="../embeddings/oleObject3.bin"/><Relationship Id="rId4" Type="http://schemas.openxmlformats.org/officeDocument/2006/relationships/image" Target="../media/image7.wmf"/><Relationship Id="rId3" Type="http://schemas.openxmlformats.org/officeDocument/2006/relationships/oleObject" Target="../embeddings/oleObject2.bin"/><Relationship Id="rId2" Type="http://schemas.openxmlformats.org/officeDocument/2006/relationships/image" Target="../media/image6.wmf"/><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12.wmf"/><Relationship Id="rId3" Type="http://schemas.openxmlformats.org/officeDocument/2006/relationships/oleObject" Target="../embeddings/oleObject5.bin"/><Relationship Id="rId2" Type="http://schemas.openxmlformats.org/officeDocument/2006/relationships/image" Target="../media/image11.jpeg"/><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7.xml"/><Relationship Id="rId6" Type="http://schemas.openxmlformats.org/officeDocument/2006/relationships/image" Target="../media/image15.wmf"/><Relationship Id="rId5" Type="http://schemas.openxmlformats.org/officeDocument/2006/relationships/oleObject" Target="../embeddings/oleObject8.bin"/><Relationship Id="rId4" Type="http://schemas.openxmlformats.org/officeDocument/2006/relationships/image" Target="../media/image14.wmf"/><Relationship Id="rId3" Type="http://schemas.openxmlformats.org/officeDocument/2006/relationships/oleObject" Target="../embeddings/oleObject7.bin"/><Relationship Id="rId2" Type="http://schemas.openxmlformats.org/officeDocument/2006/relationships/image" Target="../media/image13.wmf"/><Relationship Id="rId1"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16.wmf"/><Relationship Id="rId1"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17.wmf"/><Relationship Id="rId1"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18.wmf"/><Relationship Id="rId1" Type="http://schemas.openxmlformats.org/officeDocument/2006/relationships/oleObject" Target="../embeddings/oleObject11.bin"/></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19.wmf"/><Relationship Id="rId1" Type="http://schemas.openxmlformats.org/officeDocument/2006/relationships/oleObject" Target="../embeddings/oleObject12.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7.xml"/><Relationship Id="rId2" Type="http://schemas.openxmlformats.org/officeDocument/2006/relationships/image" Target="../media/image20.wmf"/><Relationship Id="rId1" Type="http://schemas.openxmlformats.org/officeDocument/2006/relationships/oleObject" Target="../embeddings/oleObject13.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7.xml"/><Relationship Id="rId2" Type="http://schemas.openxmlformats.org/officeDocument/2006/relationships/image" Target="../media/image21.wmf"/><Relationship Id="rId1" Type="http://schemas.openxmlformats.org/officeDocument/2006/relationships/oleObject" Target="../embeddings/oleObject14.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jpe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6.wmf"/><Relationship Id="rId7" Type="http://schemas.openxmlformats.org/officeDocument/2006/relationships/oleObject" Target="../embeddings/oleObject18.bin"/><Relationship Id="rId6" Type="http://schemas.openxmlformats.org/officeDocument/2006/relationships/image" Target="../media/image25.wmf"/><Relationship Id="rId5" Type="http://schemas.openxmlformats.org/officeDocument/2006/relationships/oleObject" Target="../embeddings/oleObject17.bin"/><Relationship Id="rId4" Type="http://schemas.openxmlformats.org/officeDocument/2006/relationships/image" Target="../media/image24.wmf"/><Relationship Id="rId3" Type="http://schemas.openxmlformats.org/officeDocument/2006/relationships/oleObject" Target="../embeddings/oleObject16.bin"/><Relationship Id="rId2" Type="http://schemas.openxmlformats.org/officeDocument/2006/relationships/image" Target="../media/image23.wmf"/><Relationship Id="rId10" Type="http://schemas.openxmlformats.org/officeDocument/2006/relationships/vmlDrawing" Target="../drawings/vmlDrawing10.vml"/><Relationship Id="rId1" Type="http://schemas.openxmlformats.org/officeDocument/2006/relationships/oleObject" Target="../embeddings/oleObject15.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7.xml"/><Relationship Id="rId4" Type="http://schemas.openxmlformats.org/officeDocument/2006/relationships/image" Target="../media/image29.wmf"/><Relationship Id="rId3" Type="http://schemas.openxmlformats.org/officeDocument/2006/relationships/oleObject" Target="../embeddings/oleObject20.bin"/><Relationship Id="rId2" Type="http://schemas.openxmlformats.org/officeDocument/2006/relationships/image" Target="../media/image28.wmf"/><Relationship Id="rId1" Type="http://schemas.openxmlformats.org/officeDocument/2006/relationships/oleObject" Target="../embeddings/oleObject19.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5" Type="http://schemas.openxmlformats.org/officeDocument/2006/relationships/vmlDrawing" Target="../drawings/vmlDrawing12.vml"/><Relationship Id="rId4" Type="http://schemas.openxmlformats.org/officeDocument/2006/relationships/slideLayout" Target="../slideLayouts/slideLayout7.xml"/><Relationship Id="rId3" Type="http://schemas.openxmlformats.org/officeDocument/2006/relationships/image" Target="../media/image26.wmf"/><Relationship Id="rId2" Type="http://schemas.openxmlformats.org/officeDocument/2006/relationships/oleObject" Target="../embeddings/oleObject21.bin"/><Relationship Id="rId1" Type="http://schemas.openxmlformats.org/officeDocument/2006/relationships/image" Target="../media/image30.jpeg"/></Relationships>
</file>

<file path=ppt/slides/_rels/slide30.xml.rels><?xml version="1.0" encoding="UTF-8" standalone="yes"?>
<Relationships xmlns="http://schemas.openxmlformats.org/package/2006/relationships"><Relationship Id="rId8" Type="http://schemas.openxmlformats.org/officeDocument/2006/relationships/vmlDrawing" Target="../drawings/vmlDrawing13.vml"/><Relationship Id="rId7" Type="http://schemas.openxmlformats.org/officeDocument/2006/relationships/slideLayout" Target="../slideLayouts/slideLayout7.xml"/><Relationship Id="rId6" Type="http://schemas.openxmlformats.org/officeDocument/2006/relationships/image" Target="../media/image33.wmf"/><Relationship Id="rId5" Type="http://schemas.openxmlformats.org/officeDocument/2006/relationships/oleObject" Target="../embeddings/oleObject24.bin"/><Relationship Id="rId4" Type="http://schemas.openxmlformats.org/officeDocument/2006/relationships/image" Target="../media/image32.wmf"/><Relationship Id="rId3" Type="http://schemas.openxmlformats.org/officeDocument/2006/relationships/oleObject" Target="../embeddings/oleObject23.bin"/><Relationship Id="rId2" Type="http://schemas.openxmlformats.org/officeDocument/2006/relationships/image" Target="../media/image31.wmf"/><Relationship Id="rId1" Type="http://schemas.openxmlformats.org/officeDocument/2006/relationships/oleObject" Target="../embeddings/oleObject22.bin"/></Relationships>
</file>

<file path=ppt/slides/_rels/slide31.xml.rels><?xml version="1.0" encoding="UTF-8" standalone="yes"?>
<Relationships xmlns="http://schemas.openxmlformats.org/package/2006/relationships"><Relationship Id="rId9" Type="http://schemas.openxmlformats.org/officeDocument/2006/relationships/vmlDrawing" Target="../drawings/vmlDrawing14.vml"/><Relationship Id="rId8" Type="http://schemas.openxmlformats.org/officeDocument/2006/relationships/slideLayout" Target="../slideLayouts/slideLayout7.xml"/><Relationship Id="rId7" Type="http://schemas.openxmlformats.org/officeDocument/2006/relationships/image" Target="../media/image37.wmf"/><Relationship Id="rId6" Type="http://schemas.openxmlformats.org/officeDocument/2006/relationships/oleObject" Target="../embeddings/oleObject27.bin"/><Relationship Id="rId5" Type="http://schemas.openxmlformats.org/officeDocument/2006/relationships/image" Target="../media/image36.wmf"/><Relationship Id="rId4" Type="http://schemas.openxmlformats.org/officeDocument/2006/relationships/oleObject" Target="../embeddings/oleObject26.bin"/><Relationship Id="rId3" Type="http://schemas.openxmlformats.org/officeDocument/2006/relationships/image" Target="../media/image35.wmf"/><Relationship Id="rId2" Type="http://schemas.openxmlformats.org/officeDocument/2006/relationships/oleObject" Target="../embeddings/oleObject25.bin"/><Relationship Id="rId1" Type="http://schemas.openxmlformats.org/officeDocument/2006/relationships/image" Target="../media/image34.jpeg"/></Relationships>
</file>

<file path=ppt/slides/_rels/slide32.xml.rels><?xml version="1.0" encoding="UTF-8" standalone="yes"?>
<Relationships xmlns="http://schemas.openxmlformats.org/package/2006/relationships"><Relationship Id="rId6" Type="http://schemas.openxmlformats.org/officeDocument/2006/relationships/vmlDrawing" Target="../drawings/vmlDrawing15.vml"/><Relationship Id="rId5" Type="http://schemas.openxmlformats.org/officeDocument/2006/relationships/slideLayout" Target="../slideLayouts/slideLayout7.xml"/><Relationship Id="rId4" Type="http://schemas.openxmlformats.org/officeDocument/2006/relationships/image" Target="../media/image39.wmf"/><Relationship Id="rId3" Type="http://schemas.openxmlformats.org/officeDocument/2006/relationships/oleObject" Target="../embeddings/oleObject29.bin"/><Relationship Id="rId2" Type="http://schemas.openxmlformats.org/officeDocument/2006/relationships/image" Target="../media/image38.wmf"/><Relationship Id="rId1" Type="http://schemas.openxmlformats.org/officeDocument/2006/relationships/oleObject" Target="../embeddings/oleObject28.bin"/></Relationships>
</file>

<file path=ppt/slides/_rels/slide33.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7.xml"/><Relationship Id="rId4" Type="http://schemas.openxmlformats.org/officeDocument/2006/relationships/image" Target="../media/image41.wmf"/><Relationship Id="rId3" Type="http://schemas.openxmlformats.org/officeDocument/2006/relationships/oleObject" Target="../embeddings/oleObject31.bin"/><Relationship Id="rId2" Type="http://schemas.openxmlformats.org/officeDocument/2006/relationships/image" Target="../media/image40.wmf"/><Relationship Id="rId1" Type="http://schemas.openxmlformats.org/officeDocument/2006/relationships/oleObject" Target="../embeddings/oleObject30.bin"/></Relationships>
</file>

<file path=ppt/slides/_rels/slide34.xml.rels><?xml version="1.0" encoding="UTF-8" standalone="yes"?>
<Relationships xmlns="http://schemas.openxmlformats.org/package/2006/relationships"><Relationship Id="rId8" Type="http://schemas.openxmlformats.org/officeDocument/2006/relationships/vmlDrawing" Target="../drawings/vmlDrawing17.vml"/><Relationship Id="rId7" Type="http://schemas.openxmlformats.org/officeDocument/2006/relationships/slideLayout" Target="../slideLayouts/slideLayout7.xml"/><Relationship Id="rId6" Type="http://schemas.openxmlformats.org/officeDocument/2006/relationships/image" Target="../media/image44.wmf"/><Relationship Id="rId5" Type="http://schemas.openxmlformats.org/officeDocument/2006/relationships/oleObject" Target="../embeddings/oleObject34.bin"/><Relationship Id="rId4" Type="http://schemas.openxmlformats.org/officeDocument/2006/relationships/image" Target="../media/image43.wmf"/><Relationship Id="rId3" Type="http://schemas.openxmlformats.org/officeDocument/2006/relationships/oleObject" Target="../embeddings/oleObject33.bin"/><Relationship Id="rId2" Type="http://schemas.openxmlformats.org/officeDocument/2006/relationships/image" Target="../media/image42.wmf"/><Relationship Id="rId1" Type="http://schemas.openxmlformats.org/officeDocument/2006/relationships/oleObject" Target="../embeddings/oleObject32.bin"/></Relationships>
</file>

<file path=ppt/slides/_rels/slide35.xml.rels><?xml version="1.0" encoding="UTF-8" standalone="yes"?>
<Relationships xmlns="http://schemas.openxmlformats.org/package/2006/relationships"><Relationship Id="rId8" Type="http://schemas.openxmlformats.org/officeDocument/2006/relationships/vmlDrawing" Target="../drawings/vmlDrawing18.vml"/><Relationship Id="rId7" Type="http://schemas.openxmlformats.org/officeDocument/2006/relationships/slideLayout" Target="../slideLayouts/slideLayout7.xml"/><Relationship Id="rId6" Type="http://schemas.openxmlformats.org/officeDocument/2006/relationships/image" Target="../media/image26.wmf"/><Relationship Id="rId5" Type="http://schemas.openxmlformats.org/officeDocument/2006/relationships/oleObject" Target="../embeddings/oleObject37.bin"/><Relationship Id="rId4" Type="http://schemas.openxmlformats.org/officeDocument/2006/relationships/image" Target="../media/image46.wmf"/><Relationship Id="rId3" Type="http://schemas.openxmlformats.org/officeDocument/2006/relationships/oleObject" Target="../embeddings/oleObject36.bin"/><Relationship Id="rId2" Type="http://schemas.openxmlformats.org/officeDocument/2006/relationships/image" Target="../media/image45.wmf"/><Relationship Id="rId1" Type="http://schemas.openxmlformats.org/officeDocument/2006/relationships/oleObject" Target="../embeddings/oleObject35.bin"/></Relationships>
</file>

<file path=ppt/slides/_rels/slide36.xml.rels><?xml version="1.0" encoding="UTF-8" standalone="yes"?>
<Relationships xmlns="http://schemas.openxmlformats.org/package/2006/relationships"><Relationship Id="rId9" Type="http://schemas.openxmlformats.org/officeDocument/2006/relationships/image" Target="../media/image51.wmf"/><Relationship Id="rId8" Type="http://schemas.openxmlformats.org/officeDocument/2006/relationships/oleObject" Target="../embeddings/oleObject41.bin"/><Relationship Id="rId7" Type="http://schemas.openxmlformats.org/officeDocument/2006/relationships/image" Target="../media/image50.wmf"/><Relationship Id="rId6" Type="http://schemas.openxmlformats.org/officeDocument/2006/relationships/oleObject" Target="../embeddings/oleObject40.bin"/><Relationship Id="rId5" Type="http://schemas.openxmlformats.org/officeDocument/2006/relationships/image" Target="../media/image49.wmf"/><Relationship Id="rId4" Type="http://schemas.openxmlformats.org/officeDocument/2006/relationships/oleObject" Target="../embeddings/oleObject39.bin"/><Relationship Id="rId3" Type="http://schemas.openxmlformats.org/officeDocument/2006/relationships/image" Target="../media/image48.wmf"/><Relationship Id="rId2" Type="http://schemas.openxmlformats.org/officeDocument/2006/relationships/oleObject" Target="../embeddings/oleObject38.bin"/><Relationship Id="rId11" Type="http://schemas.openxmlformats.org/officeDocument/2006/relationships/vmlDrawing" Target="../drawings/vmlDrawing19.vml"/><Relationship Id="rId10" Type="http://schemas.openxmlformats.org/officeDocument/2006/relationships/slideLayout" Target="../slideLayouts/slideLayout7.xml"/><Relationship Id="rId1" Type="http://schemas.openxmlformats.org/officeDocument/2006/relationships/image" Target="../media/image47.jpeg"/></Relationships>
</file>

<file path=ppt/slides/_rels/slide37.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7.xml"/><Relationship Id="rId2" Type="http://schemas.openxmlformats.org/officeDocument/2006/relationships/image" Target="../media/image52.wmf"/><Relationship Id="rId1" Type="http://schemas.openxmlformats.org/officeDocument/2006/relationships/oleObject" Target="../embeddings/oleObject42.bin"/></Relationships>
</file>

<file path=ppt/slides/_rels/slide38.xml.rels><?xml version="1.0" encoding="UTF-8" standalone="yes"?>
<Relationships xmlns="http://schemas.openxmlformats.org/package/2006/relationships"><Relationship Id="rId8" Type="http://schemas.openxmlformats.org/officeDocument/2006/relationships/vmlDrawing" Target="../drawings/vmlDrawing21.vml"/><Relationship Id="rId7" Type="http://schemas.openxmlformats.org/officeDocument/2006/relationships/slideLayout" Target="../slideLayouts/slideLayout7.xml"/><Relationship Id="rId6" Type="http://schemas.openxmlformats.org/officeDocument/2006/relationships/image" Target="../media/image55.wmf"/><Relationship Id="rId5" Type="http://schemas.openxmlformats.org/officeDocument/2006/relationships/oleObject" Target="../embeddings/oleObject45.bin"/><Relationship Id="rId4" Type="http://schemas.openxmlformats.org/officeDocument/2006/relationships/image" Target="../media/image54.wmf"/><Relationship Id="rId3" Type="http://schemas.openxmlformats.org/officeDocument/2006/relationships/oleObject" Target="../embeddings/oleObject44.bin"/><Relationship Id="rId2" Type="http://schemas.openxmlformats.org/officeDocument/2006/relationships/image" Target="../media/image53.wmf"/><Relationship Id="rId1" Type="http://schemas.openxmlformats.org/officeDocument/2006/relationships/oleObject" Target="../embeddings/oleObject43.bin"/></Relationships>
</file>

<file path=ppt/slides/_rels/slide3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58.wmf"/><Relationship Id="rId7" Type="http://schemas.openxmlformats.org/officeDocument/2006/relationships/oleObject" Target="../embeddings/oleObject49.bin"/><Relationship Id="rId6" Type="http://schemas.openxmlformats.org/officeDocument/2006/relationships/image" Target="../media/image51.wmf"/><Relationship Id="rId5" Type="http://schemas.openxmlformats.org/officeDocument/2006/relationships/oleObject" Target="../embeddings/oleObject48.bin"/><Relationship Id="rId4" Type="http://schemas.openxmlformats.org/officeDocument/2006/relationships/image" Target="../media/image57.wmf"/><Relationship Id="rId3" Type="http://schemas.openxmlformats.org/officeDocument/2006/relationships/oleObject" Target="../embeddings/oleObject47.bin"/><Relationship Id="rId2" Type="http://schemas.openxmlformats.org/officeDocument/2006/relationships/image" Target="../media/image56.wmf"/><Relationship Id="rId10" Type="http://schemas.openxmlformats.org/officeDocument/2006/relationships/vmlDrawing" Target="../drawings/vmlDrawing22.vml"/><Relationship Id="rId1" Type="http://schemas.openxmlformats.org/officeDocument/2006/relationships/oleObject" Target="../embeddings/oleObject46.bin"/></Relationships>
</file>

<file path=ppt/slides/_rels/slide40.xml.rels><?xml version="1.0" encoding="UTF-8" standalone="yes"?>
<Relationships xmlns="http://schemas.openxmlformats.org/package/2006/relationships"><Relationship Id="rId6" Type="http://schemas.openxmlformats.org/officeDocument/2006/relationships/vmlDrawing" Target="../drawings/vmlDrawing23.vml"/><Relationship Id="rId5" Type="http://schemas.openxmlformats.org/officeDocument/2006/relationships/slideLayout" Target="../slideLayouts/slideLayout7.xml"/><Relationship Id="rId4" Type="http://schemas.openxmlformats.org/officeDocument/2006/relationships/image" Target="../media/image60.wmf"/><Relationship Id="rId3" Type="http://schemas.openxmlformats.org/officeDocument/2006/relationships/oleObject" Target="../embeddings/oleObject51.bin"/><Relationship Id="rId2" Type="http://schemas.openxmlformats.org/officeDocument/2006/relationships/image" Target="../media/image59.wmf"/><Relationship Id="rId1" Type="http://schemas.openxmlformats.org/officeDocument/2006/relationships/oleObject" Target="../embeddings/oleObject50.bin"/></Relationships>
</file>

<file path=ppt/slides/_rels/slide4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3.wmf"/><Relationship Id="rId7" Type="http://schemas.openxmlformats.org/officeDocument/2006/relationships/oleObject" Target="../embeddings/oleObject55.bin"/><Relationship Id="rId6" Type="http://schemas.openxmlformats.org/officeDocument/2006/relationships/image" Target="../media/image51.wmf"/><Relationship Id="rId5" Type="http://schemas.openxmlformats.org/officeDocument/2006/relationships/oleObject" Target="../embeddings/oleObject54.bin"/><Relationship Id="rId4" Type="http://schemas.openxmlformats.org/officeDocument/2006/relationships/image" Target="../media/image62.wmf"/><Relationship Id="rId3" Type="http://schemas.openxmlformats.org/officeDocument/2006/relationships/oleObject" Target="../embeddings/oleObject53.bin"/><Relationship Id="rId2" Type="http://schemas.openxmlformats.org/officeDocument/2006/relationships/image" Target="../media/image61.wmf"/><Relationship Id="rId10" Type="http://schemas.openxmlformats.org/officeDocument/2006/relationships/vmlDrawing" Target="../drawings/vmlDrawing24.vml"/><Relationship Id="rId1" Type="http://schemas.openxmlformats.org/officeDocument/2006/relationships/oleObject" Target="../embeddings/oleObject52.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4.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5.jpeg"/></Relationships>
</file>

<file path=ppt/slides/_rels/slide46.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7.xml"/><Relationship Id="rId2" Type="http://schemas.openxmlformats.org/officeDocument/2006/relationships/image" Target="../media/image66.wmf"/><Relationship Id="rId1" Type="http://schemas.openxmlformats.org/officeDocument/2006/relationships/oleObject" Target="../embeddings/oleObject56.bin"/></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7.xml"/><Relationship Id="rId2" Type="http://schemas.openxmlformats.org/officeDocument/2006/relationships/image" Target="../media/image67.wmf"/><Relationship Id="rId1" Type="http://schemas.openxmlformats.org/officeDocument/2006/relationships/oleObject" Target="../embeddings/oleObject57.bin"/></Relationships>
</file>

<file path=ppt/slides/_rels/slide48.xml.rels><?xml version="1.0" encoding="UTF-8" standalone="yes"?>
<Relationships xmlns="http://schemas.openxmlformats.org/package/2006/relationships"><Relationship Id="rId6" Type="http://schemas.openxmlformats.org/officeDocument/2006/relationships/vmlDrawing" Target="../drawings/vmlDrawing27.vml"/><Relationship Id="rId5" Type="http://schemas.openxmlformats.org/officeDocument/2006/relationships/slideLayout" Target="../slideLayouts/slideLayout7.xml"/><Relationship Id="rId4" Type="http://schemas.openxmlformats.org/officeDocument/2006/relationships/image" Target="../media/image69.wmf"/><Relationship Id="rId3" Type="http://schemas.openxmlformats.org/officeDocument/2006/relationships/oleObject" Target="../embeddings/oleObject59.bin"/><Relationship Id="rId2" Type="http://schemas.openxmlformats.org/officeDocument/2006/relationships/image" Target="../media/image68.wmf"/><Relationship Id="rId1" Type="http://schemas.openxmlformats.org/officeDocument/2006/relationships/oleObject" Target="../embeddings/oleObject58.bin"/></Relationships>
</file>

<file path=ppt/slides/_rels/slide49.xml.rels><?xml version="1.0" encoding="UTF-8" standalone="yes"?>
<Relationships xmlns="http://schemas.openxmlformats.org/package/2006/relationships"><Relationship Id="rId6" Type="http://schemas.openxmlformats.org/officeDocument/2006/relationships/vmlDrawing" Target="../drawings/vmlDrawing28.vml"/><Relationship Id="rId5" Type="http://schemas.openxmlformats.org/officeDocument/2006/relationships/slideLayout" Target="../slideLayouts/slideLayout7.xml"/><Relationship Id="rId4" Type="http://schemas.openxmlformats.org/officeDocument/2006/relationships/image" Target="../media/image71.wmf"/><Relationship Id="rId3" Type="http://schemas.openxmlformats.org/officeDocument/2006/relationships/oleObject" Target="../embeddings/oleObject61.bin"/><Relationship Id="rId2" Type="http://schemas.openxmlformats.org/officeDocument/2006/relationships/image" Target="../media/image70.wmf"/><Relationship Id="rId1" Type="http://schemas.openxmlformats.org/officeDocument/2006/relationships/oleObject" Target="../embeddings/oleObject60.bin"/></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29.vml"/><Relationship Id="rId3" Type="http://schemas.openxmlformats.org/officeDocument/2006/relationships/slideLayout" Target="../slideLayouts/slideLayout7.xml"/><Relationship Id="rId2" Type="http://schemas.openxmlformats.org/officeDocument/2006/relationships/image" Target="../media/image72.wmf"/><Relationship Id="rId1" Type="http://schemas.openxmlformats.org/officeDocument/2006/relationships/oleObject" Target="../embeddings/oleObject62.bin"/></Relationships>
</file>

<file path=ppt/slides/_rels/slide5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6.wmf"/><Relationship Id="rId7" Type="http://schemas.openxmlformats.org/officeDocument/2006/relationships/oleObject" Target="../embeddings/oleObject66.bin"/><Relationship Id="rId6" Type="http://schemas.openxmlformats.org/officeDocument/2006/relationships/image" Target="../media/image75.wmf"/><Relationship Id="rId5" Type="http://schemas.openxmlformats.org/officeDocument/2006/relationships/oleObject" Target="../embeddings/oleObject65.bin"/><Relationship Id="rId4" Type="http://schemas.openxmlformats.org/officeDocument/2006/relationships/image" Target="../media/image74.wmf"/><Relationship Id="rId3" Type="http://schemas.openxmlformats.org/officeDocument/2006/relationships/oleObject" Target="../embeddings/oleObject64.bin"/><Relationship Id="rId2" Type="http://schemas.openxmlformats.org/officeDocument/2006/relationships/image" Target="../media/image73.wmf"/><Relationship Id="rId10" Type="http://schemas.openxmlformats.org/officeDocument/2006/relationships/vmlDrawing" Target="../drawings/vmlDrawing30.vml"/><Relationship Id="rId1" Type="http://schemas.openxmlformats.org/officeDocument/2006/relationships/oleObject" Target="../embeddings/oleObject63.bin"/></Relationships>
</file>

<file path=ppt/slides/_rels/slide52.xml.rels><?xml version="1.0" encoding="UTF-8" standalone="yes"?>
<Relationships xmlns="http://schemas.openxmlformats.org/package/2006/relationships"><Relationship Id="rId6" Type="http://schemas.openxmlformats.org/officeDocument/2006/relationships/vmlDrawing" Target="../drawings/vmlDrawing31.vml"/><Relationship Id="rId5" Type="http://schemas.openxmlformats.org/officeDocument/2006/relationships/slideLayout" Target="../slideLayouts/slideLayout7.xml"/><Relationship Id="rId4" Type="http://schemas.openxmlformats.org/officeDocument/2006/relationships/image" Target="../media/image77.wmf"/><Relationship Id="rId3" Type="http://schemas.openxmlformats.org/officeDocument/2006/relationships/oleObject" Target="../embeddings/oleObject68.bin"/><Relationship Id="rId2" Type="http://schemas.openxmlformats.org/officeDocument/2006/relationships/image" Target="../media/image71.wmf"/><Relationship Id="rId1" Type="http://schemas.openxmlformats.org/officeDocument/2006/relationships/oleObject" Target="../embeddings/oleObject67.bin"/></Relationships>
</file>

<file path=ppt/slides/_rels/slide53.xml.rels><?xml version="1.0" encoding="UTF-8" standalone="yes"?>
<Relationships xmlns="http://schemas.openxmlformats.org/package/2006/relationships"><Relationship Id="rId8" Type="http://schemas.openxmlformats.org/officeDocument/2006/relationships/vmlDrawing" Target="../drawings/vmlDrawing32.vml"/><Relationship Id="rId7" Type="http://schemas.openxmlformats.org/officeDocument/2006/relationships/slideLayout" Target="../slideLayouts/slideLayout7.xml"/><Relationship Id="rId6" Type="http://schemas.openxmlformats.org/officeDocument/2006/relationships/image" Target="../media/image80.wmf"/><Relationship Id="rId5" Type="http://schemas.openxmlformats.org/officeDocument/2006/relationships/oleObject" Target="../embeddings/oleObject71.bin"/><Relationship Id="rId4" Type="http://schemas.openxmlformats.org/officeDocument/2006/relationships/image" Target="../media/image79.wmf"/><Relationship Id="rId3" Type="http://schemas.openxmlformats.org/officeDocument/2006/relationships/oleObject" Target="../embeddings/oleObject70.bin"/><Relationship Id="rId2" Type="http://schemas.openxmlformats.org/officeDocument/2006/relationships/image" Target="../media/image78.wmf"/><Relationship Id="rId1" Type="http://schemas.openxmlformats.org/officeDocument/2006/relationships/oleObject" Target="../embeddings/oleObject69.bin"/></Relationships>
</file>

<file path=ppt/slides/_rels/slide54.xml.rels><?xml version="1.0" encoding="UTF-8" standalone="yes"?>
<Relationships xmlns="http://schemas.openxmlformats.org/package/2006/relationships"><Relationship Id="rId8" Type="http://schemas.openxmlformats.org/officeDocument/2006/relationships/vmlDrawing" Target="../drawings/vmlDrawing33.vml"/><Relationship Id="rId7" Type="http://schemas.openxmlformats.org/officeDocument/2006/relationships/slideLayout" Target="../slideLayouts/slideLayout7.xml"/><Relationship Id="rId6" Type="http://schemas.openxmlformats.org/officeDocument/2006/relationships/image" Target="../media/image83.wmf"/><Relationship Id="rId5" Type="http://schemas.openxmlformats.org/officeDocument/2006/relationships/oleObject" Target="../embeddings/oleObject74.bin"/><Relationship Id="rId4" Type="http://schemas.openxmlformats.org/officeDocument/2006/relationships/image" Target="../media/image82.wmf"/><Relationship Id="rId3" Type="http://schemas.openxmlformats.org/officeDocument/2006/relationships/oleObject" Target="../embeddings/oleObject73.bin"/><Relationship Id="rId2" Type="http://schemas.openxmlformats.org/officeDocument/2006/relationships/image" Target="../media/image81.wmf"/><Relationship Id="rId1" Type="http://schemas.openxmlformats.org/officeDocument/2006/relationships/oleObject" Target="../embeddings/oleObject72.bin"/></Relationships>
</file>

<file path=ppt/slides/_rels/slide55.xml.rels><?xml version="1.0" encoding="UTF-8" standalone="yes"?>
<Relationships xmlns="http://schemas.openxmlformats.org/package/2006/relationships"><Relationship Id="rId8" Type="http://schemas.openxmlformats.org/officeDocument/2006/relationships/vmlDrawing" Target="../drawings/vmlDrawing34.vml"/><Relationship Id="rId7" Type="http://schemas.openxmlformats.org/officeDocument/2006/relationships/slideLayout" Target="../slideLayouts/slideLayout7.xml"/><Relationship Id="rId6" Type="http://schemas.openxmlformats.org/officeDocument/2006/relationships/image" Target="../media/image86.wmf"/><Relationship Id="rId5" Type="http://schemas.openxmlformats.org/officeDocument/2006/relationships/oleObject" Target="../embeddings/oleObject77.bin"/><Relationship Id="rId4" Type="http://schemas.openxmlformats.org/officeDocument/2006/relationships/image" Target="../media/image85.wmf"/><Relationship Id="rId3" Type="http://schemas.openxmlformats.org/officeDocument/2006/relationships/oleObject" Target="../embeddings/oleObject76.bin"/><Relationship Id="rId2" Type="http://schemas.openxmlformats.org/officeDocument/2006/relationships/image" Target="../media/image84.wmf"/><Relationship Id="rId1" Type="http://schemas.openxmlformats.org/officeDocument/2006/relationships/oleObject" Target="../embeddings/oleObject75.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35.vml"/><Relationship Id="rId3" Type="http://schemas.openxmlformats.org/officeDocument/2006/relationships/slideLayout" Target="../slideLayouts/slideLayout7.xml"/><Relationship Id="rId2" Type="http://schemas.openxmlformats.org/officeDocument/2006/relationships/image" Target="../media/image87.wmf"/><Relationship Id="rId1" Type="http://schemas.openxmlformats.org/officeDocument/2006/relationships/oleObject" Target="../embeddings/oleObject78.bin"/></Relationships>
</file>

<file path=ppt/slides/_rels/slide59.xml.rels><?xml version="1.0" encoding="UTF-8" standalone="yes"?>
<Relationships xmlns="http://schemas.openxmlformats.org/package/2006/relationships"><Relationship Id="rId4" Type="http://schemas.openxmlformats.org/officeDocument/2006/relationships/vmlDrawing" Target="../drawings/vmlDrawing36.vml"/><Relationship Id="rId3" Type="http://schemas.openxmlformats.org/officeDocument/2006/relationships/slideLayout" Target="../slideLayouts/slideLayout7.xml"/><Relationship Id="rId2" Type="http://schemas.openxmlformats.org/officeDocument/2006/relationships/image" Target="../media/image88.wmf"/><Relationship Id="rId1" Type="http://schemas.openxmlformats.org/officeDocument/2006/relationships/control" Target="../activeX/activeX1.xml"/></Relationships>
</file>

<file path=ppt/slides/_rels/slide60.xml.rels><?xml version="1.0" encoding="UTF-8" standalone="yes"?>
<Relationships xmlns="http://schemas.openxmlformats.org/package/2006/relationships"><Relationship Id="rId4" Type="http://schemas.openxmlformats.org/officeDocument/2006/relationships/vmlDrawing" Target="../drawings/vmlDrawing37.vml"/><Relationship Id="rId3" Type="http://schemas.openxmlformats.org/officeDocument/2006/relationships/slideLayout" Target="../slideLayouts/slideLayout7.xml"/><Relationship Id="rId2" Type="http://schemas.openxmlformats.org/officeDocument/2006/relationships/image" Target="../media/image89.wmf"/><Relationship Id="rId1" Type="http://schemas.openxmlformats.org/officeDocument/2006/relationships/control" Target="../activeX/activeX2.xml"/></Relationships>
</file>

<file path=ppt/slides/_rels/slide61.xml.rels><?xml version="1.0" encoding="UTF-8" standalone="yes"?>
<Relationships xmlns="http://schemas.openxmlformats.org/package/2006/relationships"><Relationship Id="rId9" Type="http://schemas.openxmlformats.org/officeDocument/2006/relationships/image" Target="../media/image94.wmf"/><Relationship Id="rId8" Type="http://schemas.openxmlformats.org/officeDocument/2006/relationships/oleObject" Target="../embeddings/oleObject82.bin"/><Relationship Id="rId7" Type="http://schemas.openxmlformats.org/officeDocument/2006/relationships/image" Target="../media/image93.wmf"/><Relationship Id="rId6" Type="http://schemas.openxmlformats.org/officeDocument/2006/relationships/oleObject" Target="../embeddings/oleObject81.bin"/><Relationship Id="rId5" Type="http://schemas.openxmlformats.org/officeDocument/2006/relationships/image" Target="../media/image92.wmf"/><Relationship Id="rId4" Type="http://schemas.openxmlformats.org/officeDocument/2006/relationships/oleObject" Target="../embeddings/oleObject80.bin"/><Relationship Id="rId3" Type="http://schemas.openxmlformats.org/officeDocument/2006/relationships/image" Target="../media/image91.wmf"/><Relationship Id="rId2" Type="http://schemas.openxmlformats.org/officeDocument/2006/relationships/oleObject" Target="../embeddings/oleObject79.bin"/><Relationship Id="rId13" Type="http://schemas.openxmlformats.org/officeDocument/2006/relationships/vmlDrawing" Target="../drawings/vmlDrawing38.vml"/><Relationship Id="rId12" Type="http://schemas.openxmlformats.org/officeDocument/2006/relationships/slideLayout" Target="../slideLayouts/slideLayout7.xml"/><Relationship Id="rId11" Type="http://schemas.openxmlformats.org/officeDocument/2006/relationships/image" Target="../media/image95.wmf"/><Relationship Id="rId10" Type="http://schemas.openxmlformats.org/officeDocument/2006/relationships/oleObject" Target="../embeddings/oleObject83.bin"/><Relationship Id="rId1" Type="http://schemas.openxmlformats.org/officeDocument/2006/relationships/image" Target="../media/image90.jpeg"/></Relationships>
</file>

<file path=ppt/slides/_rels/slide6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99.wmf"/><Relationship Id="rId7" Type="http://schemas.openxmlformats.org/officeDocument/2006/relationships/oleObject" Target="../embeddings/oleObject87.bin"/><Relationship Id="rId6" Type="http://schemas.openxmlformats.org/officeDocument/2006/relationships/image" Target="../media/image98.wmf"/><Relationship Id="rId5" Type="http://schemas.openxmlformats.org/officeDocument/2006/relationships/oleObject" Target="../embeddings/oleObject86.bin"/><Relationship Id="rId4" Type="http://schemas.openxmlformats.org/officeDocument/2006/relationships/image" Target="../media/image97.wmf"/><Relationship Id="rId3" Type="http://schemas.openxmlformats.org/officeDocument/2006/relationships/oleObject" Target="../embeddings/oleObject85.bin"/><Relationship Id="rId2" Type="http://schemas.openxmlformats.org/officeDocument/2006/relationships/image" Target="../media/image96.wmf"/><Relationship Id="rId10" Type="http://schemas.openxmlformats.org/officeDocument/2006/relationships/vmlDrawing" Target="../drawings/vmlDrawing39.vml"/><Relationship Id="rId1" Type="http://schemas.openxmlformats.org/officeDocument/2006/relationships/oleObject" Target="../embeddings/oleObject84.bin"/></Relationships>
</file>

<file path=ppt/slides/_rels/slide63.xml.rels><?xml version="1.0" encoding="UTF-8" standalone="yes"?>
<Relationships xmlns="http://schemas.openxmlformats.org/package/2006/relationships"><Relationship Id="rId4" Type="http://schemas.openxmlformats.org/officeDocument/2006/relationships/vmlDrawing" Target="../drawings/vmlDrawing40.vml"/><Relationship Id="rId3" Type="http://schemas.openxmlformats.org/officeDocument/2006/relationships/slideLayout" Target="../slideLayouts/slideLayout7.xml"/><Relationship Id="rId2" Type="http://schemas.openxmlformats.org/officeDocument/2006/relationships/image" Target="../media/image100.wmf"/><Relationship Id="rId1" Type="http://schemas.openxmlformats.org/officeDocument/2006/relationships/oleObject" Target="../embeddings/oleObject88.bin"/></Relationships>
</file>

<file path=ppt/slides/_rels/slide64.xml.rels><?xml version="1.0" encoding="UTF-8" standalone="yes"?>
<Relationships xmlns="http://schemas.openxmlformats.org/package/2006/relationships"><Relationship Id="rId5" Type="http://schemas.openxmlformats.org/officeDocument/2006/relationships/vmlDrawing" Target="../drawings/vmlDrawing41.vml"/><Relationship Id="rId4" Type="http://schemas.openxmlformats.org/officeDocument/2006/relationships/slideLayout" Target="../slideLayouts/slideLayout7.xml"/><Relationship Id="rId3" Type="http://schemas.openxmlformats.org/officeDocument/2006/relationships/image" Target="../media/image102.wmf"/><Relationship Id="rId2" Type="http://schemas.openxmlformats.org/officeDocument/2006/relationships/oleObject" Target="../embeddings/oleObject89.bin"/><Relationship Id="rId1" Type="http://schemas.openxmlformats.org/officeDocument/2006/relationships/image" Target="../media/image101.jpeg"/></Relationships>
</file>

<file path=ppt/slides/_rels/slide65.xml.rels><?xml version="1.0" encoding="UTF-8" standalone="yes"?>
<Relationships xmlns="http://schemas.openxmlformats.org/package/2006/relationships"><Relationship Id="rId4" Type="http://schemas.openxmlformats.org/officeDocument/2006/relationships/vmlDrawing" Target="../drawings/vmlDrawing42.vml"/><Relationship Id="rId3" Type="http://schemas.openxmlformats.org/officeDocument/2006/relationships/slideLayout" Target="../slideLayouts/slideLayout7.xml"/><Relationship Id="rId2" Type="http://schemas.openxmlformats.org/officeDocument/2006/relationships/image" Target="../media/image103.wmf"/><Relationship Id="rId1" Type="http://schemas.openxmlformats.org/officeDocument/2006/relationships/control" Target="../activeX/activeX3.xml"/></Relationships>
</file>

<file path=ppt/slides/_rels/slide66.xml.rels><?xml version="1.0" encoding="UTF-8" standalone="yes"?>
<Relationships xmlns="http://schemas.openxmlformats.org/package/2006/relationships"><Relationship Id="rId4" Type="http://schemas.openxmlformats.org/officeDocument/2006/relationships/vmlDrawing" Target="../drawings/vmlDrawing43.vml"/><Relationship Id="rId3" Type="http://schemas.openxmlformats.org/officeDocument/2006/relationships/slideLayout" Target="../slideLayouts/slideLayout7.xml"/><Relationship Id="rId2" Type="http://schemas.openxmlformats.org/officeDocument/2006/relationships/image" Target="../media/image104.wmf"/><Relationship Id="rId1" Type="http://schemas.openxmlformats.org/officeDocument/2006/relationships/control" Target="../activeX/activeX4.xml"/></Relationships>
</file>

<file path=ppt/slides/_rels/slide67.xml.rels><?xml version="1.0" encoding="UTF-8" standalone="yes"?>
<Relationships xmlns="http://schemas.openxmlformats.org/package/2006/relationships"><Relationship Id="rId4" Type="http://schemas.openxmlformats.org/officeDocument/2006/relationships/vmlDrawing" Target="../drawings/vmlDrawing44.vml"/><Relationship Id="rId3" Type="http://schemas.openxmlformats.org/officeDocument/2006/relationships/slideLayout" Target="../slideLayouts/slideLayout7.xml"/><Relationship Id="rId2" Type="http://schemas.openxmlformats.org/officeDocument/2006/relationships/image" Target="../media/image105.wmf"/><Relationship Id="rId1" Type="http://schemas.openxmlformats.org/officeDocument/2006/relationships/oleObject" Target="../embeddings/oleObject90.bin"/></Relationships>
</file>

<file path=ppt/slides/_rels/slide68.xml.rels><?xml version="1.0" encoding="UTF-8" standalone="yes"?>
<Relationships xmlns="http://schemas.openxmlformats.org/package/2006/relationships"><Relationship Id="rId4" Type="http://schemas.openxmlformats.org/officeDocument/2006/relationships/vmlDrawing" Target="../drawings/vmlDrawing45.vml"/><Relationship Id="rId3" Type="http://schemas.openxmlformats.org/officeDocument/2006/relationships/slideLayout" Target="../slideLayouts/slideLayout7.xml"/><Relationship Id="rId2" Type="http://schemas.openxmlformats.org/officeDocument/2006/relationships/image" Target="../media/image106.wmf"/><Relationship Id="rId1" Type="http://schemas.openxmlformats.org/officeDocument/2006/relationships/oleObject" Target="../embeddings/oleObject91.bin"/></Relationships>
</file>

<file path=ppt/slides/_rels/slide69.xml.rels><?xml version="1.0" encoding="UTF-8" standalone="yes"?>
<Relationships xmlns="http://schemas.openxmlformats.org/package/2006/relationships"><Relationship Id="rId6" Type="http://schemas.openxmlformats.org/officeDocument/2006/relationships/vmlDrawing" Target="../drawings/vmlDrawing46.vml"/><Relationship Id="rId5" Type="http://schemas.openxmlformats.org/officeDocument/2006/relationships/slideLayout" Target="../slideLayouts/slideLayout7.xml"/><Relationship Id="rId4" Type="http://schemas.openxmlformats.org/officeDocument/2006/relationships/image" Target="../media/image108.wmf"/><Relationship Id="rId3" Type="http://schemas.openxmlformats.org/officeDocument/2006/relationships/oleObject" Target="../embeddings/oleObject93.bin"/><Relationship Id="rId2" Type="http://schemas.openxmlformats.org/officeDocument/2006/relationships/image" Target="../media/image107.wmf"/><Relationship Id="rId1" Type="http://schemas.openxmlformats.org/officeDocument/2006/relationships/oleObject" Target="../embeddings/oleObject92.bin"/></Relationships>
</file>

<file path=ppt/slides/_rels/slide70.xml.rels><?xml version="1.0" encoding="UTF-8" standalone="yes"?>
<Relationships xmlns="http://schemas.openxmlformats.org/package/2006/relationships"><Relationship Id="rId6" Type="http://schemas.openxmlformats.org/officeDocument/2006/relationships/vmlDrawing" Target="../drawings/vmlDrawing47.vml"/><Relationship Id="rId5" Type="http://schemas.openxmlformats.org/officeDocument/2006/relationships/slideLayout" Target="../slideLayouts/slideLayout7.xml"/><Relationship Id="rId4" Type="http://schemas.openxmlformats.org/officeDocument/2006/relationships/image" Target="../media/image106.wmf"/><Relationship Id="rId3" Type="http://schemas.openxmlformats.org/officeDocument/2006/relationships/oleObject" Target="../embeddings/oleObject95.bin"/><Relationship Id="rId2" Type="http://schemas.openxmlformats.org/officeDocument/2006/relationships/image" Target="../media/image109.wmf"/><Relationship Id="rId1" Type="http://schemas.openxmlformats.org/officeDocument/2006/relationships/oleObject" Target="../embeddings/oleObject94.bin"/></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8" Type="http://schemas.openxmlformats.org/officeDocument/2006/relationships/vmlDrawing" Target="../drawings/vmlDrawing48.vml"/><Relationship Id="rId7" Type="http://schemas.openxmlformats.org/officeDocument/2006/relationships/slideLayout" Target="../slideLayouts/slideLayout7.xml"/><Relationship Id="rId6" Type="http://schemas.openxmlformats.org/officeDocument/2006/relationships/image" Target="../media/image111.wmf"/><Relationship Id="rId5" Type="http://schemas.openxmlformats.org/officeDocument/2006/relationships/oleObject" Target="../embeddings/oleObject98.bin"/><Relationship Id="rId4" Type="http://schemas.openxmlformats.org/officeDocument/2006/relationships/image" Target="../media/image110.wmf"/><Relationship Id="rId3" Type="http://schemas.openxmlformats.org/officeDocument/2006/relationships/oleObject" Target="../embeddings/oleObject97.bin"/><Relationship Id="rId2" Type="http://schemas.openxmlformats.org/officeDocument/2006/relationships/image" Target="../media/image100.wmf"/><Relationship Id="rId1" Type="http://schemas.openxmlformats.org/officeDocument/2006/relationships/oleObject" Target="../embeddings/oleObject96.bin"/></Relationships>
</file>

<file path=ppt/slides/_rels/slide7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15.wmf"/><Relationship Id="rId7" Type="http://schemas.openxmlformats.org/officeDocument/2006/relationships/oleObject" Target="../embeddings/oleObject102.bin"/><Relationship Id="rId6" Type="http://schemas.openxmlformats.org/officeDocument/2006/relationships/image" Target="../media/image114.wmf"/><Relationship Id="rId5" Type="http://schemas.openxmlformats.org/officeDocument/2006/relationships/oleObject" Target="../embeddings/oleObject101.bin"/><Relationship Id="rId4" Type="http://schemas.openxmlformats.org/officeDocument/2006/relationships/image" Target="../media/image113.wmf"/><Relationship Id="rId3" Type="http://schemas.openxmlformats.org/officeDocument/2006/relationships/oleObject" Target="../embeddings/oleObject100.bin"/><Relationship Id="rId2" Type="http://schemas.openxmlformats.org/officeDocument/2006/relationships/image" Target="../media/image112.wmf"/><Relationship Id="rId10" Type="http://schemas.openxmlformats.org/officeDocument/2006/relationships/vmlDrawing" Target="../drawings/vmlDrawing49.vml"/><Relationship Id="rId1" Type="http://schemas.openxmlformats.org/officeDocument/2006/relationships/oleObject" Target="../embeddings/oleObject99.bin"/></Relationships>
</file>

<file path=ppt/slides/_rels/slide74.xml.rels><?xml version="1.0" encoding="UTF-8" standalone="yes"?>
<Relationships xmlns="http://schemas.openxmlformats.org/package/2006/relationships"><Relationship Id="rId4" Type="http://schemas.openxmlformats.org/officeDocument/2006/relationships/vmlDrawing" Target="../drawings/vmlDrawing50.vml"/><Relationship Id="rId3" Type="http://schemas.openxmlformats.org/officeDocument/2006/relationships/slideLayout" Target="../slideLayouts/slideLayout7.xml"/><Relationship Id="rId2" Type="http://schemas.openxmlformats.org/officeDocument/2006/relationships/image" Target="../media/image116.wmf"/><Relationship Id="rId1" Type="http://schemas.openxmlformats.org/officeDocument/2006/relationships/oleObject" Target="../embeddings/oleObject103.bin"/></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7.jpeg"/></Relationships>
</file>

<file path=ppt/slides/_rels/slide76.xml.rels><?xml version="1.0" encoding="UTF-8" standalone="yes"?>
<Relationships xmlns="http://schemas.openxmlformats.org/package/2006/relationships"><Relationship Id="rId6" Type="http://schemas.openxmlformats.org/officeDocument/2006/relationships/vmlDrawing" Target="../drawings/vmlDrawing51.vml"/><Relationship Id="rId5" Type="http://schemas.openxmlformats.org/officeDocument/2006/relationships/slideLayout" Target="../slideLayouts/slideLayout7.xml"/><Relationship Id="rId4" Type="http://schemas.openxmlformats.org/officeDocument/2006/relationships/image" Target="../media/image119.wmf"/><Relationship Id="rId3" Type="http://schemas.openxmlformats.org/officeDocument/2006/relationships/oleObject" Target="../embeddings/oleObject105.bin"/><Relationship Id="rId2" Type="http://schemas.openxmlformats.org/officeDocument/2006/relationships/image" Target="../media/image118.wmf"/><Relationship Id="rId1" Type="http://schemas.openxmlformats.org/officeDocument/2006/relationships/oleObject" Target="../embeddings/oleObject104.bin"/></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9" Type="http://schemas.openxmlformats.org/officeDocument/2006/relationships/image" Target="../media/image124.wmf"/><Relationship Id="rId8" Type="http://schemas.openxmlformats.org/officeDocument/2006/relationships/oleObject" Target="../embeddings/oleObject109.bin"/><Relationship Id="rId7" Type="http://schemas.openxmlformats.org/officeDocument/2006/relationships/image" Target="../media/image123.wmf"/><Relationship Id="rId6" Type="http://schemas.openxmlformats.org/officeDocument/2006/relationships/oleObject" Target="../embeddings/oleObject108.bin"/><Relationship Id="rId5" Type="http://schemas.openxmlformats.org/officeDocument/2006/relationships/image" Target="../media/image122.wmf"/><Relationship Id="rId4" Type="http://schemas.openxmlformats.org/officeDocument/2006/relationships/oleObject" Target="../embeddings/oleObject107.bin"/><Relationship Id="rId3" Type="http://schemas.openxmlformats.org/officeDocument/2006/relationships/image" Target="../media/image121.wmf"/><Relationship Id="rId2" Type="http://schemas.openxmlformats.org/officeDocument/2006/relationships/oleObject" Target="../embeddings/oleObject106.bin"/><Relationship Id="rId13" Type="http://schemas.openxmlformats.org/officeDocument/2006/relationships/vmlDrawing" Target="../drawings/vmlDrawing52.vml"/><Relationship Id="rId12" Type="http://schemas.openxmlformats.org/officeDocument/2006/relationships/slideLayout" Target="../slideLayouts/slideLayout7.xml"/><Relationship Id="rId11" Type="http://schemas.openxmlformats.org/officeDocument/2006/relationships/image" Target="../media/image125.wmf"/><Relationship Id="rId10" Type="http://schemas.openxmlformats.org/officeDocument/2006/relationships/oleObject" Target="../embeddings/oleObject110.bin"/><Relationship Id="rId1" Type="http://schemas.openxmlformats.org/officeDocument/2006/relationships/image" Target="../media/image120.jpeg"/></Relationships>
</file>

<file path=ppt/slides/_rels/slide80.xml.rels><?xml version="1.0" encoding="UTF-8" standalone="yes"?>
<Relationships xmlns="http://schemas.openxmlformats.org/package/2006/relationships"><Relationship Id="rId8" Type="http://schemas.openxmlformats.org/officeDocument/2006/relationships/vmlDrawing" Target="../drawings/vmlDrawing53.vml"/><Relationship Id="rId7" Type="http://schemas.openxmlformats.org/officeDocument/2006/relationships/slideLayout" Target="../slideLayouts/slideLayout7.xml"/><Relationship Id="rId6" Type="http://schemas.openxmlformats.org/officeDocument/2006/relationships/image" Target="../media/image128.wmf"/><Relationship Id="rId5" Type="http://schemas.openxmlformats.org/officeDocument/2006/relationships/oleObject" Target="../embeddings/oleObject113.bin"/><Relationship Id="rId4" Type="http://schemas.openxmlformats.org/officeDocument/2006/relationships/image" Target="../media/image127.wmf"/><Relationship Id="rId3" Type="http://schemas.openxmlformats.org/officeDocument/2006/relationships/oleObject" Target="../embeddings/oleObject112.bin"/><Relationship Id="rId2" Type="http://schemas.openxmlformats.org/officeDocument/2006/relationships/image" Target="../media/image126.wmf"/><Relationship Id="rId1" Type="http://schemas.openxmlformats.org/officeDocument/2006/relationships/oleObject" Target="../embeddings/oleObject111.bin"/></Relationships>
</file>

<file path=ppt/slides/_rels/slide81.xml.rels><?xml version="1.0" encoding="UTF-8" standalone="yes"?>
<Relationships xmlns="http://schemas.openxmlformats.org/package/2006/relationships"><Relationship Id="rId8" Type="http://schemas.openxmlformats.org/officeDocument/2006/relationships/vmlDrawing" Target="../drawings/vmlDrawing54.vml"/><Relationship Id="rId7" Type="http://schemas.openxmlformats.org/officeDocument/2006/relationships/slideLayout" Target="../slideLayouts/slideLayout7.xml"/><Relationship Id="rId6" Type="http://schemas.openxmlformats.org/officeDocument/2006/relationships/image" Target="../media/image131.wmf"/><Relationship Id="rId5" Type="http://schemas.openxmlformats.org/officeDocument/2006/relationships/oleObject" Target="../embeddings/oleObject116.bin"/><Relationship Id="rId4" Type="http://schemas.openxmlformats.org/officeDocument/2006/relationships/image" Target="../media/image130.wmf"/><Relationship Id="rId3" Type="http://schemas.openxmlformats.org/officeDocument/2006/relationships/oleObject" Target="../embeddings/oleObject115.bin"/><Relationship Id="rId2" Type="http://schemas.openxmlformats.org/officeDocument/2006/relationships/image" Target="../media/image129.wmf"/><Relationship Id="rId1" Type="http://schemas.openxmlformats.org/officeDocument/2006/relationships/oleObject" Target="../embeddings/oleObject114.bin"/></Relationships>
</file>

<file path=ppt/slides/_rels/slide82.xml.rels><?xml version="1.0" encoding="UTF-8" standalone="yes"?>
<Relationships xmlns="http://schemas.openxmlformats.org/package/2006/relationships"><Relationship Id="rId6" Type="http://schemas.openxmlformats.org/officeDocument/2006/relationships/vmlDrawing" Target="../drawings/vmlDrawing55.vml"/><Relationship Id="rId5" Type="http://schemas.openxmlformats.org/officeDocument/2006/relationships/slideLayout" Target="../slideLayouts/slideLayout7.xml"/><Relationship Id="rId4" Type="http://schemas.openxmlformats.org/officeDocument/2006/relationships/image" Target="../media/image133.wmf"/><Relationship Id="rId3" Type="http://schemas.openxmlformats.org/officeDocument/2006/relationships/oleObject" Target="../embeddings/oleObject118.bin"/><Relationship Id="rId2" Type="http://schemas.openxmlformats.org/officeDocument/2006/relationships/image" Target="../media/image132.wmf"/><Relationship Id="rId1" Type="http://schemas.openxmlformats.org/officeDocument/2006/relationships/oleObject" Target="../embeddings/oleObject117.bin"/></Relationships>
</file>

<file path=ppt/slides/_rels/slide83.xml.rels><?xml version="1.0" encoding="UTF-8" standalone="yes"?>
<Relationships xmlns="http://schemas.openxmlformats.org/package/2006/relationships"><Relationship Id="rId9" Type="http://schemas.openxmlformats.org/officeDocument/2006/relationships/vmlDrawing" Target="../drawings/vmlDrawing56.vml"/><Relationship Id="rId8" Type="http://schemas.openxmlformats.org/officeDocument/2006/relationships/slideLayout" Target="../slideLayouts/slideLayout7.xml"/><Relationship Id="rId7" Type="http://schemas.openxmlformats.org/officeDocument/2006/relationships/image" Target="../media/image136.wmf"/><Relationship Id="rId6" Type="http://schemas.openxmlformats.org/officeDocument/2006/relationships/oleObject" Target="../embeddings/oleObject121.bin"/><Relationship Id="rId5" Type="http://schemas.openxmlformats.org/officeDocument/2006/relationships/tags" Target="../tags/tag2.xml"/><Relationship Id="rId4" Type="http://schemas.openxmlformats.org/officeDocument/2006/relationships/image" Target="../media/image135.wmf"/><Relationship Id="rId3" Type="http://schemas.openxmlformats.org/officeDocument/2006/relationships/oleObject" Target="../embeddings/oleObject120.bin"/><Relationship Id="rId2" Type="http://schemas.openxmlformats.org/officeDocument/2006/relationships/image" Target="../media/image134.wmf"/><Relationship Id="rId1" Type="http://schemas.openxmlformats.org/officeDocument/2006/relationships/oleObject" Target="../embeddings/oleObject119.bin"/></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4" Type="http://schemas.openxmlformats.org/officeDocument/2006/relationships/vmlDrawing" Target="../drawings/vmlDrawing57.vml"/><Relationship Id="rId3" Type="http://schemas.openxmlformats.org/officeDocument/2006/relationships/slideLayout" Target="../slideLayouts/slideLayout7.xml"/><Relationship Id="rId2" Type="http://schemas.openxmlformats.org/officeDocument/2006/relationships/image" Target="../media/image137.wmf"/><Relationship Id="rId1" Type="http://schemas.openxmlformats.org/officeDocument/2006/relationships/oleObject" Target="../embeddings/oleObject122.bin"/></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8.jpe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4" Type="http://schemas.openxmlformats.org/officeDocument/2006/relationships/vmlDrawing" Target="../drawings/vmlDrawing58.vml"/><Relationship Id="rId3" Type="http://schemas.openxmlformats.org/officeDocument/2006/relationships/slideLayout" Target="../slideLayouts/slideLayout7.xml"/><Relationship Id="rId2" Type="http://schemas.openxmlformats.org/officeDocument/2006/relationships/image" Target="../media/image139.wmf"/><Relationship Id="rId1" Type="http://schemas.openxmlformats.org/officeDocument/2006/relationships/control" Target="../activeX/activeX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6" Type="http://schemas.openxmlformats.org/officeDocument/2006/relationships/vmlDrawing" Target="../drawings/vmlDrawing59.vml"/><Relationship Id="rId5" Type="http://schemas.openxmlformats.org/officeDocument/2006/relationships/slideLayout" Target="../slideLayouts/slideLayout7.xml"/><Relationship Id="rId4" Type="http://schemas.openxmlformats.org/officeDocument/2006/relationships/image" Target="../media/image141.wmf"/><Relationship Id="rId3" Type="http://schemas.openxmlformats.org/officeDocument/2006/relationships/oleObject" Target="../embeddings/oleObject124.bin"/><Relationship Id="rId2" Type="http://schemas.openxmlformats.org/officeDocument/2006/relationships/image" Target="../media/image140.wmf"/><Relationship Id="rId1" Type="http://schemas.openxmlformats.org/officeDocument/2006/relationships/oleObject" Target="../embeddings/oleObject123.bin"/></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45.wmf"/><Relationship Id="rId7" Type="http://schemas.openxmlformats.org/officeDocument/2006/relationships/oleObject" Target="../embeddings/oleObject128.bin"/><Relationship Id="rId6" Type="http://schemas.openxmlformats.org/officeDocument/2006/relationships/image" Target="../media/image144.wmf"/><Relationship Id="rId5" Type="http://schemas.openxmlformats.org/officeDocument/2006/relationships/oleObject" Target="../embeddings/oleObject127.bin"/><Relationship Id="rId4" Type="http://schemas.openxmlformats.org/officeDocument/2006/relationships/image" Target="../media/image143.wmf"/><Relationship Id="rId3" Type="http://schemas.openxmlformats.org/officeDocument/2006/relationships/oleObject" Target="../embeddings/oleObject126.bin"/><Relationship Id="rId2" Type="http://schemas.openxmlformats.org/officeDocument/2006/relationships/image" Target="../media/image142.wmf"/><Relationship Id="rId10" Type="http://schemas.openxmlformats.org/officeDocument/2006/relationships/vmlDrawing" Target="../drawings/vmlDrawing60.vml"/><Relationship Id="rId1" Type="http://schemas.openxmlformats.org/officeDocument/2006/relationships/oleObject" Target="../embeddings/oleObject125.bin"/></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6.jpeg"/></Relationships>
</file>

<file path=ppt/slides/_rels/slide95.xml.rels><?xml version="1.0" encoding="UTF-8" standalone="yes"?>
<Relationships xmlns="http://schemas.openxmlformats.org/package/2006/relationships"><Relationship Id="rId5" Type="http://schemas.openxmlformats.org/officeDocument/2006/relationships/vmlDrawing" Target="../drawings/vmlDrawing61.vml"/><Relationship Id="rId4" Type="http://schemas.openxmlformats.org/officeDocument/2006/relationships/slideLayout" Target="../slideLayouts/slideLayout7.xml"/><Relationship Id="rId3" Type="http://schemas.openxmlformats.org/officeDocument/2006/relationships/image" Target="../media/image137.wmf"/><Relationship Id="rId2" Type="http://schemas.openxmlformats.org/officeDocument/2006/relationships/oleObject" Target="../embeddings/oleObject129.bin"/><Relationship Id="rId1" Type="http://schemas.openxmlformats.org/officeDocument/2006/relationships/image" Target="../media/image147.jpeg"/></Relationships>
</file>

<file path=ppt/slides/_rels/slide96.xml.rels><?xml version="1.0" encoding="UTF-8" standalone="yes"?>
<Relationships xmlns="http://schemas.openxmlformats.org/package/2006/relationships"><Relationship Id="rId4" Type="http://schemas.openxmlformats.org/officeDocument/2006/relationships/vmlDrawing" Target="../drawings/vmlDrawing62.vml"/><Relationship Id="rId3" Type="http://schemas.openxmlformats.org/officeDocument/2006/relationships/slideLayout" Target="../slideLayouts/slideLayout7.xml"/><Relationship Id="rId2" Type="http://schemas.openxmlformats.org/officeDocument/2006/relationships/image" Target="../media/image137.wmf"/><Relationship Id="rId1" Type="http://schemas.openxmlformats.org/officeDocument/2006/relationships/oleObject" Target="../embeddings/oleObject130.bin"/></Relationships>
</file>

<file path=ppt/slides/_rels/slide97.xml.rels><?xml version="1.0" encoding="UTF-8" standalone="yes"?>
<Relationships xmlns="http://schemas.openxmlformats.org/package/2006/relationships"><Relationship Id="rId4" Type="http://schemas.openxmlformats.org/officeDocument/2006/relationships/vmlDrawing" Target="../drawings/vmlDrawing63.vml"/><Relationship Id="rId3" Type="http://schemas.openxmlformats.org/officeDocument/2006/relationships/slideLayout" Target="../slideLayouts/slideLayout7.xml"/><Relationship Id="rId2" Type="http://schemas.openxmlformats.org/officeDocument/2006/relationships/image" Target="../media/image137.wmf"/><Relationship Id="rId1" Type="http://schemas.openxmlformats.org/officeDocument/2006/relationships/oleObject" Target="../embeddings/oleObject131.bin"/></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8" Type="http://schemas.openxmlformats.org/officeDocument/2006/relationships/vmlDrawing" Target="../drawings/vmlDrawing64.vml"/><Relationship Id="rId7" Type="http://schemas.openxmlformats.org/officeDocument/2006/relationships/slideLayout" Target="../slideLayouts/slideLayout7.xml"/><Relationship Id="rId6" Type="http://schemas.openxmlformats.org/officeDocument/2006/relationships/image" Target="../media/image149.wmf"/><Relationship Id="rId5" Type="http://schemas.openxmlformats.org/officeDocument/2006/relationships/oleObject" Target="../embeddings/oleObject134.bin"/><Relationship Id="rId4" Type="http://schemas.openxmlformats.org/officeDocument/2006/relationships/image" Target="../media/image148.wmf"/><Relationship Id="rId3" Type="http://schemas.openxmlformats.org/officeDocument/2006/relationships/oleObject" Target="../embeddings/oleObject133.bin"/><Relationship Id="rId2" Type="http://schemas.openxmlformats.org/officeDocument/2006/relationships/image" Target="../media/image130.wmf"/><Relationship Id="rId1" Type="http://schemas.openxmlformats.org/officeDocument/2006/relationships/oleObject" Target="../embeddings/oleObject132.bin"/></Relationships>
</file>

<file path=ppt/slides/_rels/slide100.xml.rels><?xml version="1.0" encoding="UTF-8" standalone="yes"?>
<Relationships xmlns="http://schemas.openxmlformats.org/package/2006/relationships"><Relationship Id="rId6" Type="http://schemas.openxmlformats.org/officeDocument/2006/relationships/vmlDrawing" Target="../drawings/vmlDrawing65.vml"/><Relationship Id="rId5" Type="http://schemas.openxmlformats.org/officeDocument/2006/relationships/slideLayout" Target="../slideLayouts/slideLayout7.xml"/><Relationship Id="rId4" Type="http://schemas.openxmlformats.org/officeDocument/2006/relationships/image" Target="../media/image150.wmf"/><Relationship Id="rId3" Type="http://schemas.openxmlformats.org/officeDocument/2006/relationships/oleObject" Target="../embeddings/oleObject136.bin"/><Relationship Id="rId2" Type="http://schemas.openxmlformats.org/officeDocument/2006/relationships/image" Target="../media/image130.wmf"/><Relationship Id="rId1" Type="http://schemas.openxmlformats.org/officeDocument/2006/relationships/oleObject" Target="../embeddings/oleObject135.bin"/></Relationships>
</file>

<file path=ppt/slides/_rels/slide101.xml.rels><?xml version="1.0" encoding="UTF-8" standalone="yes"?>
<Relationships xmlns="http://schemas.openxmlformats.org/package/2006/relationships"><Relationship Id="rId8" Type="http://schemas.openxmlformats.org/officeDocument/2006/relationships/vmlDrawing" Target="../drawings/vmlDrawing66.vml"/><Relationship Id="rId7" Type="http://schemas.openxmlformats.org/officeDocument/2006/relationships/slideLayout" Target="../slideLayouts/slideLayout7.xml"/><Relationship Id="rId6" Type="http://schemas.openxmlformats.org/officeDocument/2006/relationships/image" Target="../media/image153.wmf"/><Relationship Id="rId5" Type="http://schemas.openxmlformats.org/officeDocument/2006/relationships/oleObject" Target="../embeddings/oleObject139.bin"/><Relationship Id="rId4" Type="http://schemas.openxmlformats.org/officeDocument/2006/relationships/image" Target="../media/image152.wmf"/><Relationship Id="rId3" Type="http://schemas.openxmlformats.org/officeDocument/2006/relationships/oleObject" Target="../embeddings/oleObject138.bin"/><Relationship Id="rId2" Type="http://schemas.openxmlformats.org/officeDocument/2006/relationships/image" Target="../media/image151.wmf"/><Relationship Id="rId1" Type="http://schemas.openxmlformats.org/officeDocument/2006/relationships/oleObject" Target="../embeddings/oleObject137.bin"/></Relationships>
</file>

<file path=ppt/slides/_rels/slide10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57.wmf"/><Relationship Id="rId7" Type="http://schemas.openxmlformats.org/officeDocument/2006/relationships/oleObject" Target="../embeddings/oleObject143.bin"/><Relationship Id="rId6" Type="http://schemas.openxmlformats.org/officeDocument/2006/relationships/image" Target="../media/image156.wmf"/><Relationship Id="rId5" Type="http://schemas.openxmlformats.org/officeDocument/2006/relationships/oleObject" Target="../embeddings/oleObject142.bin"/><Relationship Id="rId4" Type="http://schemas.openxmlformats.org/officeDocument/2006/relationships/image" Target="../media/image155.wmf"/><Relationship Id="rId3" Type="http://schemas.openxmlformats.org/officeDocument/2006/relationships/oleObject" Target="../embeddings/oleObject141.bin"/><Relationship Id="rId2" Type="http://schemas.openxmlformats.org/officeDocument/2006/relationships/image" Target="../media/image154.wmf"/><Relationship Id="rId10" Type="http://schemas.openxmlformats.org/officeDocument/2006/relationships/vmlDrawing" Target="../drawings/vmlDrawing67.vml"/><Relationship Id="rId1" Type="http://schemas.openxmlformats.org/officeDocument/2006/relationships/oleObject" Target="../embeddings/oleObject140.bin"/></Relationships>
</file>

<file path=ppt/slides/_rels/slide103.xml.rels><?xml version="1.0" encoding="UTF-8" standalone="yes"?>
<Relationships xmlns="http://schemas.openxmlformats.org/package/2006/relationships"><Relationship Id="rId6" Type="http://schemas.openxmlformats.org/officeDocument/2006/relationships/vmlDrawing" Target="../drawings/vmlDrawing68.vml"/><Relationship Id="rId5" Type="http://schemas.openxmlformats.org/officeDocument/2006/relationships/slideLayout" Target="../slideLayouts/slideLayout7.xml"/><Relationship Id="rId4" Type="http://schemas.openxmlformats.org/officeDocument/2006/relationships/image" Target="../media/image159.wmf"/><Relationship Id="rId3" Type="http://schemas.openxmlformats.org/officeDocument/2006/relationships/oleObject" Target="../embeddings/oleObject145.bin"/><Relationship Id="rId2" Type="http://schemas.openxmlformats.org/officeDocument/2006/relationships/image" Target="../media/image158.wmf"/><Relationship Id="rId1" Type="http://schemas.openxmlformats.org/officeDocument/2006/relationships/oleObject" Target="../embeddings/oleObject144.bin"/></Relationships>
</file>

<file path=ppt/slides/_rels/slide104.xml.rels><?xml version="1.0" encoding="UTF-8" standalone="yes"?>
<Relationships xmlns="http://schemas.openxmlformats.org/package/2006/relationships"><Relationship Id="rId6" Type="http://schemas.openxmlformats.org/officeDocument/2006/relationships/vmlDrawing" Target="../drawings/vmlDrawing69.vml"/><Relationship Id="rId5" Type="http://schemas.openxmlformats.org/officeDocument/2006/relationships/slideLayout" Target="../slideLayouts/slideLayout7.xml"/><Relationship Id="rId4" Type="http://schemas.openxmlformats.org/officeDocument/2006/relationships/image" Target="../media/image161.wmf"/><Relationship Id="rId3" Type="http://schemas.openxmlformats.org/officeDocument/2006/relationships/oleObject" Target="../embeddings/oleObject147.bin"/><Relationship Id="rId2" Type="http://schemas.openxmlformats.org/officeDocument/2006/relationships/image" Target="../media/image160.wmf"/><Relationship Id="rId1" Type="http://schemas.openxmlformats.org/officeDocument/2006/relationships/oleObject" Target="../embeddings/oleObject146.bin"/></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2.jpeg"/></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3.jpe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9" Type="http://schemas.openxmlformats.org/officeDocument/2006/relationships/oleObject" Target="../embeddings/oleObject151.bin"/><Relationship Id="rId8" Type="http://schemas.openxmlformats.org/officeDocument/2006/relationships/image" Target="../media/image167.wmf"/><Relationship Id="rId7" Type="http://schemas.openxmlformats.org/officeDocument/2006/relationships/oleObject" Target="../embeddings/oleObject150.bin"/><Relationship Id="rId6" Type="http://schemas.openxmlformats.org/officeDocument/2006/relationships/image" Target="../media/image166.wmf"/><Relationship Id="rId5" Type="http://schemas.openxmlformats.org/officeDocument/2006/relationships/oleObject" Target="../embeddings/oleObject149.bin"/><Relationship Id="rId4" Type="http://schemas.openxmlformats.org/officeDocument/2006/relationships/image" Target="../media/image165.wmf"/><Relationship Id="rId3" Type="http://schemas.openxmlformats.org/officeDocument/2006/relationships/oleObject" Target="../embeddings/oleObject148.bin"/><Relationship Id="rId2" Type="http://schemas.openxmlformats.org/officeDocument/2006/relationships/image" Target="../media/image164.png"/><Relationship Id="rId18" Type="http://schemas.openxmlformats.org/officeDocument/2006/relationships/vmlDrawing" Target="../drawings/vmlDrawing70.vml"/><Relationship Id="rId17" Type="http://schemas.openxmlformats.org/officeDocument/2006/relationships/slideLayout" Target="../slideLayouts/slideLayout7.xml"/><Relationship Id="rId16" Type="http://schemas.openxmlformats.org/officeDocument/2006/relationships/oleObject" Target="../embeddings/oleObject155.bin"/><Relationship Id="rId15" Type="http://schemas.openxmlformats.org/officeDocument/2006/relationships/image" Target="../media/image170.wmf"/><Relationship Id="rId14" Type="http://schemas.openxmlformats.org/officeDocument/2006/relationships/oleObject" Target="../embeddings/oleObject154.bin"/><Relationship Id="rId13" Type="http://schemas.openxmlformats.org/officeDocument/2006/relationships/oleObject" Target="../embeddings/oleObject153.bin"/><Relationship Id="rId12" Type="http://schemas.openxmlformats.org/officeDocument/2006/relationships/image" Target="../media/image169.wmf"/><Relationship Id="rId11" Type="http://schemas.openxmlformats.org/officeDocument/2006/relationships/oleObject" Target="../embeddings/oleObject152.bin"/><Relationship Id="rId10" Type="http://schemas.openxmlformats.org/officeDocument/2006/relationships/image" Target="../media/image168.wmf"/><Relationship Id="rId1" Type="http://schemas.openxmlformats.org/officeDocument/2006/relationships/tags" Target="../tags/tag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8" Type="http://schemas.openxmlformats.org/officeDocument/2006/relationships/vmlDrawing" Target="../drawings/vmlDrawing71.vml"/><Relationship Id="rId7" Type="http://schemas.openxmlformats.org/officeDocument/2006/relationships/slideLayout" Target="../slideLayouts/slideLayout7.xml"/><Relationship Id="rId6" Type="http://schemas.openxmlformats.org/officeDocument/2006/relationships/image" Target="../media/image173.wmf"/><Relationship Id="rId5" Type="http://schemas.openxmlformats.org/officeDocument/2006/relationships/oleObject" Target="../embeddings/oleObject158.bin"/><Relationship Id="rId4" Type="http://schemas.openxmlformats.org/officeDocument/2006/relationships/image" Target="../media/image172.wmf"/><Relationship Id="rId3" Type="http://schemas.openxmlformats.org/officeDocument/2006/relationships/oleObject" Target="../embeddings/oleObject157.bin"/><Relationship Id="rId2" Type="http://schemas.openxmlformats.org/officeDocument/2006/relationships/image" Target="../media/image171.wmf"/><Relationship Id="rId1" Type="http://schemas.openxmlformats.org/officeDocument/2006/relationships/oleObject" Target="../embeddings/oleObject156.bin"/></Relationships>
</file>

<file path=ppt/slides/_rels/slide113.xml.rels><?xml version="1.0" encoding="UTF-8" standalone="yes"?>
<Relationships xmlns="http://schemas.openxmlformats.org/package/2006/relationships"><Relationship Id="rId8" Type="http://schemas.openxmlformats.org/officeDocument/2006/relationships/vmlDrawing" Target="../drawings/vmlDrawing72.vml"/><Relationship Id="rId7" Type="http://schemas.openxmlformats.org/officeDocument/2006/relationships/slideLayout" Target="../slideLayouts/slideLayout7.xml"/><Relationship Id="rId6" Type="http://schemas.openxmlformats.org/officeDocument/2006/relationships/image" Target="../media/image176.wmf"/><Relationship Id="rId5" Type="http://schemas.openxmlformats.org/officeDocument/2006/relationships/oleObject" Target="../embeddings/oleObject161.bin"/><Relationship Id="rId4" Type="http://schemas.openxmlformats.org/officeDocument/2006/relationships/image" Target="../media/image175.wmf"/><Relationship Id="rId3" Type="http://schemas.openxmlformats.org/officeDocument/2006/relationships/oleObject" Target="../embeddings/oleObject160.bin"/><Relationship Id="rId2" Type="http://schemas.openxmlformats.org/officeDocument/2006/relationships/image" Target="../media/image174.wmf"/><Relationship Id="rId1" Type="http://schemas.openxmlformats.org/officeDocument/2006/relationships/oleObject" Target="../embeddings/oleObject159.bin"/></Relationships>
</file>

<file path=ppt/slides/_rels/slide114.xml.rels><?xml version="1.0" encoding="UTF-8" standalone="yes"?>
<Relationships xmlns="http://schemas.openxmlformats.org/package/2006/relationships"><Relationship Id="rId4" Type="http://schemas.openxmlformats.org/officeDocument/2006/relationships/vmlDrawing" Target="../drawings/vmlDrawing73.vml"/><Relationship Id="rId3" Type="http://schemas.openxmlformats.org/officeDocument/2006/relationships/slideLayout" Target="../slideLayouts/slideLayout7.xml"/><Relationship Id="rId2" Type="http://schemas.openxmlformats.org/officeDocument/2006/relationships/image" Target="../media/image177.wmf"/><Relationship Id="rId1" Type="http://schemas.openxmlformats.org/officeDocument/2006/relationships/oleObject" Target="../embeddings/oleObject162.bin"/></Relationships>
</file>

<file path=ppt/slides/_rels/slide115.xml.rels><?xml version="1.0" encoding="UTF-8" standalone="yes"?>
<Relationships xmlns="http://schemas.openxmlformats.org/package/2006/relationships"><Relationship Id="rId4" Type="http://schemas.openxmlformats.org/officeDocument/2006/relationships/vmlDrawing" Target="../drawings/vmlDrawing74.vml"/><Relationship Id="rId3" Type="http://schemas.openxmlformats.org/officeDocument/2006/relationships/slideLayout" Target="../slideLayouts/slideLayout7.xml"/><Relationship Id="rId2" Type="http://schemas.openxmlformats.org/officeDocument/2006/relationships/image" Target="../media/image178.wmf"/><Relationship Id="rId1" Type="http://schemas.openxmlformats.org/officeDocument/2006/relationships/oleObject" Target="../embeddings/oleObject163.bin"/></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9.jpeg"/></Relationships>
</file>

<file path=ppt/slides/_rels/slide117.xml.rels><?xml version="1.0" encoding="UTF-8" standalone="yes"?>
<Relationships xmlns="http://schemas.openxmlformats.org/package/2006/relationships"><Relationship Id="rId6" Type="http://schemas.openxmlformats.org/officeDocument/2006/relationships/vmlDrawing" Target="../drawings/vmlDrawing75.vml"/><Relationship Id="rId5" Type="http://schemas.openxmlformats.org/officeDocument/2006/relationships/slideLayout" Target="../slideLayouts/slideLayout7.xml"/><Relationship Id="rId4" Type="http://schemas.openxmlformats.org/officeDocument/2006/relationships/image" Target="../media/image181.wmf"/><Relationship Id="rId3" Type="http://schemas.openxmlformats.org/officeDocument/2006/relationships/oleObject" Target="../embeddings/oleObject165.bin"/><Relationship Id="rId2" Type="http://schemas.openxmlformats.org/officeDocument/2006/relationships/image" Target="../media/image180.wmf"/><Relationship Id="rId1" Type="http://schemas.openxmlformats.org/officeDocument/2006/relationships/oleObject" Target="../embeddings/oleObject164.bin"/></Relationships>
</file>

<file path=ppt/slides/_rels/slide118.xml.rels><?xml version="1.0" encoding="UTF-8" standalone="yes"?>
<Relationships xmlns="http://schemas.openxmlformats.org/package/2006/relationships"><Relationship Id="rId8" Type="http://schemas.openxmlformats.org/officeDocument/2006/relationships/vmlDrawing" Target="../drawings/vmlDrawing76.vml"/><Relationship Id="rId7" Type="http://schemas.openxmlformats.org/officeDocument/2006/relationships/slideLayout" Target="../slideLayouts/slideLayout7.xml"/><Relationship Id="rId6" Type="http://schemas.openxmlformats.org/officeDocument/2006/relationships/image" Target="../media/image184.wmf"/><Relationship Id="rId5" Type="http://schemas.openxmlformats.org/officeDocument/2006/relationships/oleObject" Target="../embeddings/oleObject168.bin"/><Relationship Id="rId4" Type="http://schemas.openxmlformats.org/officeDocument/2006/relationships/image" Target="../media/image183.wmf"/><Relationship Id="rId3" Type="http://schemas.openxmlformats.org/officeDocument/2006/relationships/oleObject" Target="../embeddings/oleObject167.bin"/><Relationship Id="rId2" Type="http://schemas.openxmlformats.org/officeDocument/2006/relationships/image" Target="../media/image182.wmf"/><Relationship Id="rId1" Type="http://schemas.openxmlformats.org/officeDocument/2006/relationships/oleObject" Target="../embeddings/oleObject166.bin"/></Relationships>
</file>

<file path=ppt/slides/_rels/slide11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88.wmf"/><Relationship Id="rId7" Type="http://schemas.openxmlformats.org/officeDocument/2006/relationships/oleObject" Target="../embeddings/oleObject172.bin"/><Relationship Id="rId6" Type="http://schemas.openxmlformats.org/officeDocument/2006/relationships/image" Target="../media/image187.wmf"/><Relationship Id="rId5" Type="http://schemas.openxmlformats.org/officeDocument/2006/relationships/oleObject" Target="../embeddings/oleObject171.bin"/><Relationship Id="rId4" Type="http://schemas.openxmlformats.org/officeDocument/2006/relationships/image" Target="../media/image186.wmf"/><Relationship Id="rId3" Type="http://schemas.openxmlformats.org/officeDocument/2006/relationships/oleObject" Target="../embeddings/oleObject170.bin"/><Relationship Id="rId2" Type="http://schemas.openxmlformats.org/officeDocument/2006/relationships/image" Target="../media/image185.wmf"/><Relationship Id="rId10" Type="http://schemas.openxmlformats.org/officeDocument/2006/relationships/vmlDrawing" Target="../drawings/vmlDrawing77.vml"/><Relationship Id="rId1" Type="http://schemas.openxmlformats.org/officeDocument/2006/relationships/oleObject" Target="../embeddings/oleObject169.bin"/></Relationships>
</file>

<file path=ppt/slides/_rels/slide120.xml.rels><?xml version="1.0" encoding="UTF-8" standalone="yes"?>
<Relationships xmlns="http://schemas.openxmlformats.org/package/2006/relationships"><Relationship Id="rId6" Type="http://schemas.openxmlformats.org/officeDocument/2006/relationships/vmlDrawing" Target="../drawings/vmlDrawing78.vml"/><Relationship Id="rId5" Type="http://schemas.openxmlformats.org/officeDocument/2006/relationships/slideLayout" Target="../slideLayouts/slideLayout7.xml"/><Relationship Id="rId4" Type="http://schemas.openxmlformats.org/officeDocument/2006/relationships/image" Target="../media/image190.wmf"/><Relationship Id="rId3" Type="http://schemas.openxmlformats.org/officeDocument/2006/relationships/oleObject" Target="../embeddings/oleObject174.bin"/><Relationship Id="rId2" Type="http://schemas.openxmlformats.org/officeDocument/2006/relationships/image" Target="../media/image189.wmf"/><Relationship Id="rId1" Type="http://schemas.openxmlformats.org/officeDocument/2006/relationships/oleObject" Target="../embeddings/oleObject173.bin"/></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1.jpeg"/></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2.jpeg"/></Relationships>
</file>

<file path=ppt/slides/_rels/slide124.xml.rels><?xml version="1.0" encoding="UTF-8" standalone="yes"?>
<Relationships xmlns="http://schemas.openxmlformats.org/package/2006/relationships"><Relationship Id="rId4" Type="http://schemas.openxmlformats.org/officeDocument/2006/relationships/vmlDrawing" Target="../drawings/vmlDrawing79.vml"/><Relationship Id="rId3" Type="http://schemas.openxmlformats.org/officeDocument/2006/relationships/slideLayout" Target="../slideLayouts/slideLayout7.xml"/><Relationship Id="rId2" Type="http://schemas.openxmlformats.org/officeDocument/2006/relationships/image" Target="../media/image193.wmf"/><Relationship Id="rId1" Type="http://schemas.openxmlformats.org/officeDocument/2006/relationships/oleObject" Target="../embeddings/oleObject175.bin"/></Relationships>
</file>

<file path=ppt/slides/_rels/slide125.xml.rels><?xml version="1.0" encoding="UTF-8" standalone="yes"?>
<Relationships xmlns="http://schemas.openxmlformats.org/package/2006/relationships"><Relationship Id="rId6" Type="http://schemas.openxmlformats.org/officeDocument/2006/relationships/vmlDrawing" Target="../drawings/vmlDrawing80.vml"/><Relationship Id="rId5" Type="http://schemas.openxmlformats.org/officeDocument/2006/relationships/slideLayout" Target="../slideLayouts/slideLayout7.xml"/><Relationship Id="rId4" Type="http://schemas.openxmlformats.org/officeDocument/2006/relationships/image" Target="../media/image195.wmf"/><Relationship Id="rId3" Type="http://schemas.openxmlformats.org/officeDocument/2006/relationships/oleObject" Target="../embeddings/oleObject177.bin"/><Relationship Id="rId2" Type="http://schemas.openxmlformats.org/officeDocument/2006/relationships/image" Target="../media/image194.wmf"/><Relationship Id="rId1" Type="http://schemas.openxmlformats.org/officeDocument/2006/relationships/oleObject" Target="../embeddings/oleObject176.bin"/></Relationships>
</file>

<file path=ppt/slides/_rels/slide126.xml.rels><?xml version="1.0" encoding="UTF-8" standalone="yes"?>
<Relationships xmlns="http://schemas.openxmlformats.org/package/2006/relationships"><Relationship Id="rId6" Type="http://schemas.openxmlformats.org/officeDocument/2006/relationships/vmlDrawing" Target="../drawings/vmlDrawing81.vml"/><Relationship Id="rId5" Type="http://schemas.openxmlformats.org/officeDocument/2006/relationships/slideLayout" Target="../slideLayouts/slideLayout7.xml"/><Relationship Id="rId4" Type="http://schemas.openxmlformats.org/officeDocument/2006/relationships/image" Target="../media/image197.wmf"/><Relationship Id="rId3" Type="http://schemas.openxmlformats.org/officeDocument/2006/relationships/oleObject" Target="../embeddings/oleObject179.bin"/><Relationship Id="rId2" Type="http://schemas.openxmlformats.org/officeDocument/2006/relationships/image" Target="../media/image196.wmf"/><Relationship Id="rId1" Type="http://schemas.openxmlformats.org/officeDocument/2006/relationships/oleObject" Target="../embeddings/oleObject178.bin"/></Relationships>
</file>

<file path=ppt/slides/_rels/slide127.xml.rels><?xml version="1.0" encoding="UTF-8" standalone="yes"?>
<Relationships xmlns="http://schemas.openxmlformats.org/package/2006/relationships"><Relationship Id="rId4" Type="http://schemas.openxmlformats.org/officeDocument/2006/relationships/vmlDrawing" Target="../drawings/vmlDrawing82.vml"/><Relationship Id="rId3" Type="http://schemas.openxmlformats.org/officeDocument/2006/relationships/slideLayout" Target="../slideLayouts/slideLayout7.xml"/><Relationship Id="rId2" Type="http://schemas.openxmlformats.org/officeDocument/2006/relationships/image" Target="../media/image198.wmf"/><Relationship Id="rId1" Type="http://schemas.openxmlformats.org/officeDocument/2006/relationships/oleObject" Target="../embeddings/oleObject180.bin"/></Relationships>
</file>

<file path=ppt/slides/_rels/slide128.xml.rels><?xml version="1.0" encoding="UTF-8" standalone="yes"?>
<Relationships xmlns="http://schemas.openxmlformats.org/package/2006/relationships"><Relationship Id="rId6" Type="http://schemas.openxmlformats.org/officeDocument/2006/relationships/vmlDrawing" Target="../drawings/vmlDrawing83.vml"/><Relationship Id="rId5" Type="http://schemas.openxmlformats.org/officeDocument/2006/relationships/slideLayout" Target="../slideLayouts/slideLayout7.xml"/><Relationship Id="rId4" Type="http://schemas.openxmlformats.org/officeDocument/2006/relationships/image" Target="../media/image200.wmf"/><Relationship Id="rId3" Type="http://schemas.openxmlformats.org/officeDocument/2006/relationships/oleObject" Target="../embeddings/oleObject182.bin"/><Relationship Id="rId2" Type="http://schemas.openxmlformats.org/officeDocument/2006/relationships/image" Target="../media/image199.wmf"/><Relationship Id="rId1" Type="http://schemas.openxmlformats.org/officeDocument/2006/relationships/oleObject" Target="../embeddings/oleObject181.bin"/></Relationships>
</file>

<file path=ppt/slides/_rels/slide129.xml.rels><?xml version="1.0" encoding="UTF-8" standalone="yes"?>
<Relationships xmlns="http://schemas.openxmlformats.org/package/2006/relationships"><Relationship Id="rId6" Type="http://schemas.openxmlformats.org/officeDocument/2006/relationships/vmlDrawing" Target="../drawings/vmlDrawing84.vml"/><Relationship Id="rId5" Type="http://schemas.openxmlformats.org/officeDocument/2006/relationships/slideLayout" Target="../slideLayouts/slideLayout7.xml"/><Relationship Id="rId4" Type="http://schemas.openxmlformats.org/officeDocument/2006/relationships/image" Target="../media/image202.wmf"/><Relationship Id="rId3" Type="http://schemas.openxmlformats.org/officeDocument/2006/relationships/oleObject" Target="../embeddings/oleObject184.bin"/><Relationship Id="rId2" Type="http://schemas.openxmlformats.org/officeDocument/2006/relationships/image" Target="../media/image201.wmf"/><Relationship Id="rId1" Type="http://schemas.openxmlformats.org/officeDocument/2006/relationships/oleObject" Target="../embeddings/oleObject183.bin"/></Relationships>
</file>

<file path=ppt/slides/_rels/slide130.xml.rels><?xml version="1.0" encoding="UTF-8" standalone="yes"?>
<Relationships xmlns="http://schemas.openxmlformats.org/package/2006/relationships"><Relationship Id="rId6" Type="http://schemas.openxmlformats.org/officeDocument/2006/relationships/vmlDrawing" Target="../drawings/vmlDrawing85.vml"/><Relationship Id="rId5" Type="http://schemas.openxmlformats.org/officeDocument/2006/relationships/slideLayout" Target="../slideLayouts/slideLayout7.xml"/><Relationship Id="rId4" Type="http://schemas.openxmlformats.org/officeDocument/2006/relationships/image" Target="../media/image204.wmf"/><Relationship Id="rId3" Type="http://schemas.openxmlformats.org/officeDocument/2006/relationships/oleObject" Target="../embeddings/oleObject186.bin"/><Relationship Id="rId2" Type="http://schemas.openxmlformats.org/officeDocument/2006/relationships/image" Target="../media/image203.wmf"/><Relationship Id="rId1" Type="http://schemas.openxmlformats.org/officeDocument/2006/relationships/oleObject" Target="../embeddings/oleObject185.bin"/></Relationships>
</file>

<file path=ppt/slides/_rels/slide131.xml.rels><?xml version="1.0" encoding="UTF-8" standalone="yes"?>
<Relationships xmlns="http://schemas.openxmlformats.org/package/2006/relationships"><Relationship Id="rId8" Type="http://schemas.openxmlformats.org/officeDocument/2006/relationships/vmlDrawing" Target="../drawings/vmlDrawing86.vml"/><Relationship Id="rId7" Type="http://schemas.openxmlformats.org/officeDocument/2006/relationships/slideLayout" Target="../slideLayouts/slideLayout7.xml"/><Relationship Id="rId6" Type="http://schemas.openxmlformats.org/officeDocument/2006/relationships/image" Target="../media/image207.wmf"/><Relationship Id="rId5" Type="http://schemas.openxmlformats.org/officeDocument/2006/relationships/oleObject" Target="../embeddings/oleObject189.bin"/><Relationship Id="rId4" Type="http://schemas.openxmlformats.org/officeDocument/2006/relationships/image" Target="../media/image206.wmf"/><Relationship Id="rId3" Type="http://schemas.openxmlformats.org/officeDocument/2006/relationships/oleObject" Target="../embeddings/oleObject188.bin"/><Relationship Id="rId2" Type="http://schemas.openxmlformats.org/officeDocument/2006/relationships/image" Target="../media/image205.wmf"/><Relationship Id="rId1" Type="http://schemas.openxmlformats.org/officeDocument/2006/relationships/oleObject" Target="../embeddings/oleObject187.bin"/></Relationships>
</file>

<file path=ppt/slides/_rels/slide132.xml.rels><?xml version="1.0" encoding="UTF-8" standalone="yes"?>
<Relationships xmlns="http://schemas.openxmlformats.org/package/2006/relationships"><Relationship Id="rId6" Type="http://schemas.openxmlformats.org/officeDocument/2006/relationships/vmlDrawing" Target="../drawings/vmlDrawing87.vml"/><Relationship Id="rId5" Type="http://schemas.openxmlformats.org/officeDocument/2006/relationships/slideLayout" Target="../slideLayouts/slideLayout7.xml"/><Relationship Id="rId4" Type="http://schemas.openxmlformats.org/officeDocument/2006/relationships/image" Target="../media/image209.wmf"/><Relationship Id="rId3" Type="http://schemas.openxmlformats.org/officeDocument/2006/relationships/oleObject" Target="../embeddings/oleObject191.bin"/><Relationship Id="rId2" Type="http://schemas.openxmlformats.org/officeDocument/2006/relationships/image" Target="../media/image208.wmf"/><Relationship Id="rId1" Type="http://schemas.openxmlformats.org/officeDocument/2006/relationships/oleObject" Target="../embeddings/oleObject190.bin"/></Relationships>
</file>

<file path=ppt/slides/_rels/slide133.xml.rels><?xml version="1.0" encoding="UTF-8" standalone="yes"?>
<Relationships xmlns="http://schemas.openxmlformats.org/package/2006/relationships"><Relationship Id="rId6" Type="http://schemas.openxmlformats.org/officeDocument/2006/relationships/vmlDrawing" Target="../drawings/vmlDrawing88.vml"/><Relationship Id="rId5" Type="http://schemas.openxmlformats.org/officeDocument/2006/relationships/slideLayout" Target="../slideLayouts/slideLayout7.xml"/><Relationship Id="rId4" Type="http://schemas.openxmlformats.org/officeDocument/2006/relationships/image" Target="../media/image211.wmf"/><Relationship Id="rId3" Type="http://schemas.openxmlformats.org/officeDocument/2006/relationships/oleObject" Target="../embeddings/oleObject193.bin"/><Relationship Id="rId2" Type="http://schemas.openxmlformats.org/officeDocument/2006/relationships/image" Target="../media/image210.wmf"/><Relationship Id="rId1" Type="http://schemas.openxmlformats.org/officeDocument/2006/relationships/oleObject" Target="../embeddings/oleObject192.bin"/></Relationships>
</file>

<file path=ppt/slides/_rels/slide134.xml.rels><?xml version="1.0" encoding="UTF-8" standalone="yes"?>
<Relationships xmlns="http://schemas.openxmlformats.org/package/2006/relationships"><Relationship Id="rId4" Type="http://schemas.openxmlformats.org/officeDocument/2006/relationships/vmlDrawing" Target="../drawings/vmlDrawing89.vml"/><Relationship Id="rId3" Type="http://schemas.openxmlformats.org/officeDocument/2006/relationships/slideLayout" Target="../slideLayouts/slideLayout7.xml"/><Relationship Id="rId2" Type="http://schemas.openxmlformats.org/officeDocument/2006/relationships/image" Target="../media/image212.wmf"/><Relationship Id="rId1" Type="http://schemas.openxmlformats.org/officeDocument/2006/relationships/oleObject" Target="../embeddings/oleObject194.bin"/></Relationships>
</file>

<file path=ppt/slides/_rels/slide135.xml.rels><?xml version="1.0" encoding="UTF-8" standalone="yes"?>
<Relationships xmlns="http://schemas.openxmlformats.org/package/2006/relationships"><Relationship Id="rId4" Type="http://schemas.openxmlformats.org/officeDocument/2006/relationships/vmlDrawing" Target="../drawings/vmlDrawing90.vml"/><Relationship Id="rId3" Type="http://schemas.openxmlformats.org/officeDocument/2006/relationships/slideLayout" Target="../slideLayouts/slideLayout7.xml"/><Relationship Id="rId2" Type="http://schemas.openxmlformats.org/officeDocument/2006/relationships/image" Target="../media/image213.wmf"/><Relationship Id="rId1" Type="http://schemas.openxmlformats.org/officeDocument/2006/relationships/oleObject" Target="../embeddings/oleObject195.bin"/></Relationships>
</file>

<file path=ppt/slides/_rels/slide1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4.jpeg"/></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5.jpeg"/></Relationships>
</file>

<file path=ppt/slides/_rels/slide138.xml.rels><?xml version="1.0" encoding="UTF-8" standalone="yes"?>
<Relationships xmlns="http://schemas.openxmlformats.org/package/2006/relationships"><Relationship Id="rId4" Type="http://schemas.openxmlformats.org/officeDocument/2006/relationships/vmlDrawing" Target="../drawings/vmlDrawing91.vml"/><Relationship Id="rId3" Type="http://schemas.openxmlformats.org/officeDocument/2006/relationships/slideLayout" Target="../slideLayouts/slideLayout7.xml"/><Relationship Id="rId2" Type="http://schemas.openxmlformats.org/officeDocument/2006/relationships/image" Target="../media/image216.wmf"/><Relationship Id="rId1" Type="http://schemas.openxmlformats.org/officeDocument/2006/relationships/oleObject" Target="../embeddings/oleObject196.bin"/></Relationships>
</file>

<file path=ppt/slides/_rels/slide139.xml.rels><?xml version="1.0" encoding="UTF-8" standalone="yes"?>
<Relationships xmlns="http://schemas.openxmlformats.org/package/2006/relationships"><Relationship Id="rId8" Type="http://schemas.openxmlformats.org/officeDocument/2006/relationships/vmlDrawing" Target="../drawings/vmlDrawing92.vml"/><Relationship Id="rId7" Type="http://schemas.openxmlformats.org/officeDocument/2006/relationships/slideLayout" Target="../slideLayouts/slideLayout7.xml"/><Relationship Id="rId6" Type="http://schemas.openxmlformats.org/officeDocument/2006/relationships/image" Target="../media/image219.wmf"/><Relationship Id="rId5" Type="http://schemas.openxmlformats.org/officeDocument/2006/relationships/oleObject" Target="../embeddings/oleObject199.bin"/><Relationship Id="rId4" Type="http://schemas.openxmlformats.org/officeDocument/2006/relationships/image" Target="../media/image218.wmf"/><Relationship Id="rId3" Type="http://schemas.openxmlformats.org/officeDocument/2006/relationships/oleObject" Target="../embeddings/oleObject198.bin"/><Relationship Id="rId2" Type="http://schemas.openxmlformats.org/officeDocument/2006/relationships/image" Target="../media/image217.wmf"/><Relationship Id="rId1" Type="http://schemas.openxmlformats.org/officeDocument/2006/relationships/oleObject" Target="../embeddings/oleObject197.bin"/></Relationships>
</file>

<file path=ppt/slides/_rels/slide140.xml.rels><?xml version="1.0" encoding="UTF-8" standalone="yes"?>
<Relationships xmlns="http://schemas.openxmlformats.org/package/2006/relationships"><Relationship Id="rId9" Type="http://schemas.openxmlformats.org/officeDocument/2006/relationships/oleObject" Target="../embeddings/oleObject204.bin"/><Relationship Id="rId8" Type="http://schemas.openxmlformats.org/officeDocument/2006/relationships/image" Target="../media/image201.wmf"/><Relationship Id="rId7" Type="http://schemas.openxmlformats.org/officeDocument/2006/relationships/oleObject" Target="../embeddings/oleObject203.bin"/><Relationship Id="rId6" Type="http://schemas.openxmlformats.org/officeDocument/2006/relationships/image" Target="../media/image222.wmf"/><Relationship Id="rId5" Type="http://schemas.openxmlformats.org/officeDocument/2006/relationships/oleObject" Target="../embeddings/oleObject202.bin"/><Relationship Id="rId4" Type="http://schemas.openxmlformats.org/officeDocument/2006/relationships/image" Target="../media/image221.wmf"/><Relationship Id="rId3" Type="http://schemas.openxmlformats.org/officeDocument/2006/relationships/oleObject" Target="../embeddings/oleObject201.bin"/><Relationship Id="rId2" Type="http://schemas.openxmlformats.org/officeDocument/2006/relationships/image" Target="../media/image220.wmf"/><Relationship Id="rId12" Type="http://schemas.openxmlformats.org/officeDocument/2006/relationships/vmlDrawing" Target="../drawings/vmlDrawing93.vml"/><Relationship Id="rId11" Type="http://schemas.openxmlformats.org/officeDocument/2006/relationships/slideLayout" Target="../slideLayouts/slideLayout7.xml"/><Relationship Id="rId10" Type="http://schemas.openxmlformats.org/officeDocument/2006/relationships/image" Target="../media/image202.wmf"/><Relationship Id="rId1" Type="http://schemas.openxmlformats.org/officeDocument/2006/relationships/oleObject" Target="../embeddings/oleObject200.bin"/></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3.jpe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6" Type="http://schemas.openxmlformats.org/officeDocument/2006/relationships/vmlDrawing" Target="../drawings/vmlDrawing94.vml"/><Relationship Id="rId5" Type="http://schemas.openxmlformats.org/officeDocument/2006/relationships/slideLayout" Target="../slideLayouts/slideLayout7.xml"/><Relationship Id="rId4" Type="http://schemas.openxmlformats.org/officeDocument/2006/relationships/image" Target="../media/image225.wmf"/><Relationship Id="rId3" Type="http://schemas.openxmlformats.org/officeDocument/2006/relationships/oleObject" Target="../embeddings/oleObject206.bin"/><Relationship Id="rId2" Type="http://schemas.openxmlformats.org/officeDocument/2006/relationships/image" Target="../media/image224.wmf"/><Relationship Id="rId1" Type="http://schemas.openxmlformats.org/officeDocument/2006/relationships/oleObject" Target="../embeddings/oleObject205.bin"/></Relationships>
</file>

<file path=ppt/slides/_rels/slide144.xml.rels><?xml version="1.0" encoding="UTF-8" standalone="yes"?>
<Relationships xmlns="http://schemas.openxmlformats.org/package/2006/relationships"><Relationship Id="rId6" Type="http://schemas.openxmlformats.org/officeDocument/2006/relationships/vmlDrawing" Target="../drawings/vmlDrawing95.vml"/><Relationship Id="rId5" Type="http://schemas.openxmlformats.org/officeDocument/2006/relationships/slideLayout" Target="../slideLayouts/slideLayout7.xml"/><Relationship Id="rId4" Type="http://schemas.openxmlformats.org/officeDocument/2006/relationships/image" Target="../media/image227.wmf"/><Relationship Id="rId3" Type="http://schemas.openxmlformats.org/officeDocument/2006/relationships/oleObject" Target="../embeddings/oleObject208.bin"/><Relationship Id="rId2" Type="http://schemas.openxmlformats.org/officeDocument/2006/relationships/image" Target="../media/image226.wmf"/><Relationship Id="rId1" Type="http://schemas.openxmlformats.org/officeDocument/2006/relationships/oleObject" Target="../embeddings/oleObject207.bin"/></Relationships>
</file>

<file path=ppt/slides/_rels/slide145.xml.rels><?xml version="1.0" encoding="UTF-8" standalone="yes"?>
<Relationships xmlns="http://schemas.openxmlformats.org/package/2006/relationships"><Relationship Id="rId8" Type="http://schemas.openxmlformats.org/officeDocument/2006/relationships/vmlDrawing" Target="../drawings/vmlDrawing96.vml"/><Relationship Id="rId7" Type="http://schemas.openxmlformats.org/officeDocument/2006/relationships/slideLayout" Target="../slideLayouts/slideLayout7.xml"/><Relationship Id="rId6" Type="http://schemas.openxmlformats.org/officeDocument/2006/relationships/image" Target="../media/image229.wmf"/><Relationship Id="rId5" Type="http://schemas.openxmlformats.org/officeDocument/2006/relationships/oleObject" Target="../embeddings/oleObject211.bin"/><Relationship Id="rId4" Type="http://schemas.openxmlformats.org/officeDocument/2006/relationships/image" Target="../media/image207.wmf"/><Relationship Id="rId3" Type="http://schemas.openxmlformats.org/officeDocument/2006/relationships/oleObject" Target="../embeddings/oleObject210.bin"/><Relationship Id="rId2" Type="http://schemas.openxmlformats.org/officeDocument/2006/relationships/image" Target="../media/image228.wmf"/><Relationship Id="rId1" Type="http://schemas.openxmlformats.org/officeDocument/2006/relationships/oleObject" Target="../embeddings/oleObject209.bin"/></Relationships>
</file>

<file path=ppt/slides/_rels/slide146.xml.rels><?xml version="1.0" encoding="UTF-8" standalone="yes"?>
<Relationships xmlns="http://schemas.openxmlformats.org/package/2006/relationships"><Relationship Id="rId4" Type="http://schemas.openxmlformats.org/officeDocument/2006/relationships/vmlDrawing" Target="../drawings/vmlDrawing97.vml"/><Relationship Id="rId3" Type="http://schemas.openxmlformats.org/officeDocument/2006/relationships/slideLayout" Target="../slideLayouts/slideLayout7.xml"/><Relationship Id="rId2" Type="http://schemas.openxmlformats.org/officeDocument/2006/relationships/image" Target="../media/image230.wmf"/><Relationship Id="rId1" Type="http://schemas.openxmlformats.org/officeDocument/2006/relationships/oleObject" Target="../embeddings/oleObject212.bin"/></Relationships>
</file>

<file path=ppt/slides/_rels/slide147.xml.rels><?xml version="1.0" encoding="UTF-8" standalone="yes"?>
<Relationships xmlns="http://schemas.openxmlformats.org/package/2006/relationships"><Relationship Id="rId6" Type="http://schemas.openxmlformats.org/officeDocument/2006/relationships/vmlDrawing" Target="../drawings/vmlDrawing98.vml"/><Relationship Id="rId5" Type="http://schemas.openxmlformats.org/officeDocument/2006/relationships/slideLayout" Target="../slideLayouts/slideLayout7.xml"/><Relationship Id="rId4" Type="http://schemas.openxmlformats.org/officeDocument/2006/relationships/image" Target="../media/image231.wmf"/><Relationship Id="rId3" Type="http://schemas.openxmlformats.org/officeDocument/2006/relationships/oleObject" Target="../embeddings/oleObject214.bin"/><Relationship Id="rId2" Type="http://schemas.openxmlformats.org/officeDocument/2006/relationships/image" Target="../media/image210.wmf"/><Relationship Id="rId1" Type="http://schemas.openxmlformats.org/officeDocument/2006/relationships/oleObject" Target="../embeddings/oleObject213.bin"/></Relationships>
</file>

<file path=ppt/slides/_rels/slide148.xml.rels><?xml version="1.0" encoding="UTF-8" standalone="yes"?>
<Relationships xmlns="http://schemas.openxmlformats.org/package/2006/relationships"><Relationship Id="rId4" Type="http://schemas.openxmlformats.org/officeDocument/2006/relationships/vmlDrawing" Target="../drawings/vmlDrawing99.vml"/><Relationship Id="rId3" Type="http://schemas.openxmlformats.org/officeDocument/2006/relationships/slideLayout" Target="../slideLayouts/slideLayout7.xml"/><Relationship Id="rId2" Type="http://schemas.openxmlformats.org/officeDocument/2006/relationships/image" Target="../media/image232.wmf"/><Relationship Id="rId1" Type="http://schemas.openxmlformats.org/officeDocument/2006/relationships/oleObject" Target="../embeddings/oleObject215.bin"/></Relationships>
</file>

<file path=ppt/slides/_rels/slide149.xml.rels><?xml version="1.0" encoding="UTF-8" standalone="yes"?>
<Relationships xmlns="http://schemas.openxmlformats.org/package/2006/relationships"><Relationship Id="rId4" Type="http://schemas.openxmlformats.org/officeDocument/2006/relationships/vmlDrawing" Target="../drawings/vmlDrawing100.vml"/><Relationship Id="rId3" Type="http://schemas.openxmlformats.org/officeDocument/2006/relationships/slideLayout" Target="../slideLayouts/slideLayout7.xml"/><Relationship Id="rId2" Type="http://schemas.openxmlformats.org/officeDocument/2006/relationships/image" Target="../media/image233.wmf"/><Relationship Id="rId1" Type="http://schemas.openxmlformats.org/officeDocument/2006/relationships/oleObject" Target="../embeddings/oleObject216.bin"/></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4.jpeg"/></Relationships>
</file>

<file path=ppt/slides/_rels/slide1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5.jpeg"/></Relationships>
</file>

<file path=ppt/slides/_rels/slide152.xml.rels><?xml version="1.0" encoding="UTF-8" standalone="yes"?>
<Relationships xmlns="http://schemas.openxmlformats.org/package/2006/relationships"><Relationship Id="rId6" Type="http://schemas.openxmlformats.org/officeDocument/2006/relationships/vmlDrawing" Target="../drawings/vmlDrawing101.vml"/><Relationship Id="rId5" Type="http://schemas.openxmlformats.org/officeDocument/2006/relationships/slideLayout" Target="../slideLayouts/slideLayout7.xml"/><Relationship Id="rId4" Type="http://schemas.openxmlformats.org/officeDocument/2006/relationships/image" Target="../media/image237.wmf"/><Relationship Id="rId3" Type="http://schemas.openxmlformats.org/officeDocument/2006/relationships/oleObject" Target="../embeddings/oleObject218.bin"/><Relationship Id="rId2" Type="http://schemas.openxmlformats.org/officeDocument/2006/relationships/image" Target="../media/image236.wmf"/><Relationship Id="rId1" Type="http://schemas.openxmlformats.org/officeDocument/2006/relationships/oleObject" Target="../embeddings/oleObject217.bin"/></Relationships>
</file>

<file path=ppt/slides/_rels/slide153.xml.rels><?xml version="1.0" encoding="UTF-8" standalone="yes"?>
<Relationships xmlns="http://schemas.openxmlformats.org/package/2006/relationships"><Relationship Id="rId8" Type="http://schemas.openxmlformats.org/officeDocument/2006/relationships/vmlDrawing" Target="../drawings/vmlDrawing102.vml"/><Relationship Id="rId7" Type="http://schemas.openxmlformats.org/officeDocument/2006/relationships/slideLayout" Target="../slideLayouts/slideLayout7.xml"/><Relationship Id="rId6" Type="http://schemas.openxmlformats.org/officeDocument/2006/relationships/image" Target="../media/image240.wmf"/><Relationship Id="rId5" Type="http://schemas.openxmlformats.org/officeDocument/2006/relationships/oleObject" Target="../embeddings/oleObject221.bin"/><Relationship Id="rId4" Type="http://schemas.openxmlformats.org/officeDocument/2006/relationships/image" Target="../media/image239.wmf"/><Relationship Id="rId3" Type="http://schemas.openxmlformats.org/officeDocument/2006/relationships/oleObject" Target="../embeddings/oleObject220.bin"/><Relationship Id="rId2" Type="http://schemas.openxmlformats.org/officeDocument/2006/relationships/image" Target="../media/image238.wmf"/><Relationship Id="rId1" Type="http://schemas.openxmlformats.org/officeDocument/2006/relationships/oleObject" Target="../embeddings/oleObject219.bin"/></Relationships>
</file>

<file path=ppt/slides/_rels/slide154.xml.rels><?xml version="1.0" encoding="UTF-8" standalone="yes"?>
<Relationships xmlns="http://schemas.openxmlformats.org/package/2006/relationships"><Relationship Id="rId6" Type="http://schemas.openxmlformats.org/officeDocument/2006/relationships/vmlDrawing" Target="../drawings/vmlDrawing103.vml"/><Relationship Id="rId5" Type="http://schemas.openxmlformats.org/officeDocument/2006/relationships/slideLayout" Target="../slideLayouts/slideLayout7.xml"/><Relationship Id="rId4" Type="http://schemas.openxmlformats.org/officeDocument/2006/relationships/image" Target="../media/image242.wmf"/><Relationship Id="rId3" Type="http://schemas.openxmlformats.org/officeDocument/2006/relationships/oleObject" Target="../embeddings/oleObject223.bin"/><Relationship Id="rId2" Type="http://schemas.openxmlformats.org/officeDocument/2006/relationships/image" Target="../media/image241.wmf"/><Relationship Id="rId1" Type="http://schemas.openxmlformats.org/officeDocument/2006/relationships/oleObject" Target="../embeddings/oleObject222.bin"/></Relationships>
</file>

<file path=ppt/slides/_rels/slide155.xml.rels><?xml version="1.0" encoding="UTF-8" standalone="yes"?>
<Relationships xmlns="http://schemas.openxmlformats.org/package/2006/relationships"><Relationship Id="rId8" Type="http://schemas.openxmlformats.org/officeDocument/2006/relationships/vmlDrawing" Target="../drawings/vmlDrawing104.vml"/><Relationship Id="rId7" Type="http://schemas.openxmlformats.org/officeDocument/2006/relationships/slideLayout" Target="../slideLayouts/slideLayout7.xml"/><Relationship Id="rId6" Type="http://schemas.openxmlformats.org/officeDocument/2006/relationships/image" Target="../media/image225.wmf"/><Relationship Id="rId5" Type="http://schemas.openxmlformats.org/officeDocument/2006/relationships/oleObject" Target="../embeddings/oleObject226.bin"/><Relationship Id="rId4" Type="http://schemas.openxmlformats.org/officeDocument/2006/relationships/image" Target="../media/image224.wmf"/><Relationship Id="rId3" Type="http://schemas.openxmlformats.org/officeDocument/2006/relationships/oleObject" Target="../embeddings/oleObject225.bin"/><Relationship Id="rId2" Type="http://schemas.openxmlformats.org/officeDocument/2006/relationships/image" Target="../media/image243.wmf"/><Relationship Id="rId1" Type="http://schemas.openxmlformats.org/officeDocument/2006/relationships/oleObject" Target="../embeddings/oleObject224.bin"/></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4" Type="http://schemas.openxmlformats.org/officeDocument/2006/relationships/vmlDrawing" Target="../drawings/vmlDrawing105.vml"/><Relationship Id="rId3" Type="http://schemas.openxmlformats.org/officeDocument/2006/relationships/slideLayout" Target="../slideLayouts/slideLayout7.xml"/><Relationship Id="rId2" Type="http://schemas.openxmlformats.org/officeDocument/2006/relationships/image" Target="../media/image244.wmf"/><Relationship Id="rId1" Type="http://schemas.openxmlformats.org/officeDocument/2006/relationships/oleObject" Target="../embeddings/oleObject227.bin"/></Relationships>
</file>

<file path=ppt/slides/_rels/slide158.xml.rels><?xml version="1.0" encoding="UTF-8" standalone="yes"?>
<Relationships xmlns="http://schemas.openxmlformats.org/package/2006/relationships"><Relationship Id="rId8" Type="http://schemas.openxmlformats.org/officeDocument/2006/relationships/vmlDrawing" Target="../drawings/vmlDrawing106.vml"/><Relationship Id="rId7" Type="http://schemas.openxmlformats.org/officeDocument/2006/relationships/slideLayout" Target="../slideLayouts/slideLayout7.xml"/><Relationship Id="rId6" Type="http://schemas.openxmlformats.org/officeDocument/2006/relationships/image" Target="../media/image247.wmf"/><Relationship Id="rId5" Type="http://schemas.openxmlformats.org/officeDocument/2006/relationships/oleObject" Target="../embeddings/oleObject230.bin"/><Relationship Id="rId4" Type="http://schemas.openxmlformats.org/officeDocument/2006/relationships/image" Target="../media/image246.wmf"/><Relationship Id="rId3" Type="http://schemas.openxmlformats.org/officeDocument/2006/relationships/oleObject" Target="../embeddings/oleObject229.bin"/><Relationship Id="rId2" Type="http://schemas.openxmlformats.org/officeDocument/2006/relationships/image" Target="../media/image245.wmf"/><Relationship Id="rId1" Type="http://schemas.openxmlformats.org/officeDocument/2006/relationships/oleObject" Target="../embeddings/oleObject228.bin"/></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8" Type="http://schemas.openxmlformats.org/officeDocument/2006/relationships/vmlDrawing" Target="../drawings/vmlDrawing107.vml"/><Relationship Id="rId7" Type="http://schemas.openxmlformats.org/officeDocument/2006/relationships/slideLayout" Target="../slideLayouts/slideLayout7.xml"/><Relationship Id="rId6" Type="http://schemas.openxmlformats.org/officeDocument/2006/relationships/image" Target="../media/image250.wmf"/><Relationship Id="rId5" Type="http://schemas.openxmlformats.org/officeDocument/2006/relationships/oleObject" Target="../embeddings/oleObject233.bin"/><Relationship Id="rId4" Type="http://schemas.openxmlformats.org/officeDocument/2006/relationships/image" Target="../media/image249.wmf"/><Relationship Id="rId3" Type="http://schemas.openxmlformats.org/officeDocument/2006/relationships/oleObject" Target="../embeddings/oleObject232.bin"/><Relationship Id="rId2" Type="http://schemas.openxmlformats.org/officeDocument/2006/relationships/image" Target="../media/image248.wmf"/><Relationship Id="rId1" Type="http://schemas.openxmlformats.org/officeDocument/2006/relationships/oleObject" Target="../embeddings/oleObject231.bin"/></Relationships>
</file>

<file path=ppt/slides/_rels/slide161.xml.rels><?xml version="1.0" encoding="UTF-8" standalone="yes"?>
<Relationships xmlns="http://schemas.openxmlformats.org/package/2006/relationships"><Relationship Id="rId8" Type="http://schemas.openxmlformats.org/officeDocument/2006/relationships/vmlDrawing" Target="../drawings/vmlDrawing108.vml"/><Relationship Id="rId7" Type="http://schemas.openxmlformats.org/officeDocument/2006/relationships/slideLayout" Target="../slideLayouts/slideLayout7.xml"/><Relationship Id="rId6" Type="http://schemas.openxmlformats.org/officeDocument/2006/relationships/image" Target="../media/image253.wmf"/><Relationship Id="rId5" Type="http://schemas.openxmlformats.org/officeDocument/2006/relationships/oleObject" Target="../embeddings/oleObject236.bin"/><Relationship Id="rId4" Type="http://schemas.openxmlformats.org/officeDocument/2006/relationships/image" Target="../media/image252.wmf"/><Relationship Id="rId3" Type="http://schemas.openxmlformats.org/officeDocument/2006/relationships/oleObject" Target="../embeddings/oleObject235.bin"/><Relationship Id="rId2" Type="http://schemas.openxmlformats.org/officeDocument/2006/relationships/image" Target="../media/image251.wmf"/><Relationship Id="rId1" Type="http://schemas.openxmlformats.org/officeDocument/2006/relationships/oleObject" Target="../embeddings/oleObject234.bin"/></Relationships>
</file>

<file path=ppt/slides/_rels/slide162.xml.rels><?xml version="1.0" encoding="UTF-8" standalone="yes"?>
<Relationships xmlns="http://schemas.openxmlformats.org/package/2006/relationships"><Relationship Id="rId4" Type="http://schemas.openxmlformats.org/officeDocument/2006/relationships/vmlDrawing" Target="../drawings/vmlDrawing109.vml"/><Relationship Id="rId3" Type="http://schemas.openxmlformats.org/officeDocument/2006/relationships/slideLayout" Target="../slideLayouts/slideLayout7.xml"/><Relationship Id="rId2" Type="http://schemas.openxmlformats.org/officeDocument/2006/relationships/image" Target="../media/image254.wmf"/><Relationship Id="rId1" Type="http://schemas.openxmlformats.org/officeDocument/2006/relationships/oleObject" Target="../embeddings/oleObject237.bin"/></Relationships>
</file>

<file path=ppt/slides/_rels/slide1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5.jpeg"/></Relationships>
</file>

<file path=ppt/slides/_rels/slide164.xml.rels><?xml version="1.0" encoding="UTF-8" standalone="yes"?>
<Relationships xmlns="http://schemas.openxmlformats.org/package/2006/relationships"><Relationship Id="rId6" Type="http://schemas.openxmlformats.org/officeDocument/2006/relationships/vmlDrawing" Target="../drawings/vmlDrawing110.vml"/><Relationship Id="rId5" Type="http://schemas.openxmlformats.org/officeDocument/2006/relationships/slideLayout" Target="../slideLayouts/slideLayout7.xml"/><Relationship Id="rId4" Type="http://schemas.openxmlformats.org/officeDocument/2006/relationships/image" Target="../media/image257.wmf"/><Relationship Id="rId3" Type="http://schemas.openxmlformats.org/officeDocument/2006/relationships/oleObject" Target="../embeddings/oleObject239.bin"/><Relationship Id="rId2" Type="http://schemas.openxmlformats.org/officeDocument/2006/relationships/image" Target="../media/image256.wmf"/><Relationship Id="rId1" Type="http://schemas.openxmlformats.org/officeDocument/2006/relationships/oleObject" Target="../embeddings/oleObject238.bin"/></Relationships>
</file>

<file path=ppt/slides/_rels/slide165.xml.rels><?xml version="1.0" encoding="UTF-8" standalone="yes"?>
<Relationships xmlns="http://schemas.openxmlformats.org/package/2006/relationships"><Relationship Id="rId6" Type="http://schemas.openxmlformats.org/officeDocument/2006/relationships/vmlDrawing" Target="../drawings/vmlDrawing111.vml"/><Relationship Id="rId5" Type="http://schemas.openxmlformats.org/officeDocument/2006/relationships/slideLayout" Target="../slideLayouts/slideLayout7.xml"/><Relationship Id="rId4" Type="http://schemas.openxmlformats.org/officeDocument/2006/relationships/image" Target="../media/image259.wmf"/><Relationship Id="rId3" Type="http://schemas.openxmlformats.org/officeDocument/2006/relationships/oleObject" Target="../embeddings/oleObject241.bin"/><Relationship Id="rId2" Type="http://schemas.openxmlformats.org/officeDocument/2006/relationships/image" Target="../media/image258.wmf"/><Relationship Id="rId1" Type="http://schemas.openxmlformats.org/officeDocument/2006/relationships/oleObject" Target="../embeddings/oleObject240.bin"/></Relationships>
</file>

<file path=ppt/slides/_rels/slide166.xml.rels><?xml version="1.0" encoding="UTF-8" standalone="yes"?>
<Relationships xmlns="http://schemas.openxmlformats.org/package/2006/relationships"><Relationship Id="rId4" Type="http://schemas.openxmlformats.org/officeDocument/2006/relationships/vmlDrawing" Target="../drawings/vmlDrawing112.vml"/><Relationship Id="rId3" Type="http://schemas.openxmlformats.org/officeDocument/2006/relationships/slideLayout" Target="../slideLayouts/slideLayout7.xml"/><Relationship Id="rId2" Type="http://schemas.openxmlformats.org/officeDocument/2006/relationships/image" Target="../media/image260.wmf"/><Relationship Id="rId1" Type="http://schemas.openxmlformats.org/officeDocument/2006/relationships/oleObject" Target="../embeddings/oleObject242.bin"/></Relationships>
</file>

<file path=ppt/slides/_rels/slide16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1.jpe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文本框 2051"/>
          <p:cNvSpPr txBox="1"/>
          <p:nvPr/>
        </p:nvSpPr>
        <p:spPr>
          <a:xfrm>
            <a:off x="1219200" y="641350"/>
            <a:ext cx="7015163" cy="1190625"/>
          </a:xfrm>
          <a:prstGeom prst="rect">
            <a:avLst/>
          </a:prstGeom>
          <a:noFill/>
          <a:ln w="9525">
            <a:noFill/>
          </a:ln>
        </p:spPr>
        <p:txBody>
          <a:bodyPr wrap="none" anchor="t">
            <a:spAutoFit/>
          </a:bodyPr>
          <a:p>
            <a:r>
              <a:rPr lang="zh-CN" altLang="en-US" sz="3600" b="1" dirty="0">
                <a:latin typeface="华文行楷" pitchFamily="2" charset="-122"/>
                <a:ea typeface="华文行楷" pitchFamily="2" charset="-122"/>
              </a:rPr>
              <a:t>第</a:t>
            </a:r>
            <a:r>
              <a:rPr lang="en-US" altLang="zh-CN" sz="3600" b="1" dirty="0">
                <a:latin typeface="华文行楷" pitchFamily="2" charset="-122"/>
                <a:ea typeface="华文行楷" pitchFamily="2" charset="-122"/>
              </a:rPr>
              <a:t>5</a:t>
            </a:r>
            <a:r>
              <a:rPr lang="zh-CN" altLang="en-US" sz="3600" b="1" dirty="0">
                <a:latin typeface="华文行楷" pitchFamily="2" charset="-122"/>
                <a:ea typeface="华文行楷" pitchFamily="2" charset="-122"/>
              </a:rPr>
              <a:t>章 无限长单位脉冲响应（</a:t>
            </a:r>
            <a:r>
              <a:rPr lang="en-US" altLang="zh-CN" sz="3600" b="1">
                <a:latin typeface="华文行楷" pitchFamily="2" charset="-122"/>
                <a:ea typeface="华文行楷" pitchFamily="2" charset="-122"/>
              </a:rPr>
              <a:t>IIR</a:t>
            </a:r>
            <a:r>
              <a:rPr lang="zh-CN" altLang="en-US" sz="3600" b="1">
                <a:latin typeface="华文行楷" pitchFamily="2" charset="-122"/>
                <a:ea typeface="华文行楷" pitchFamily="2" charset="-122"/>
              </a:rPr>
              <a:t>）</a:t>
            </a:r>
            <a:endParaRPr lang="zh-CN" altLang="en-US" sz="3600" b="1">
              <a:latin typeface="华文行楷" pitchFamily="2" charset="-122"/>
              <a:ea typeface="华文行楷" pitchFamily="2" charset="-122"/>
            </a:endParaRPr>
          </a:p>
          <a:p>
            <a:r>
              <a:rPr lang="zh-CN" altLang="en-US" sz="3600" b="1" dirty="0">
                <a:latin typeface="华文行楷" pitchFamily="2" charset="-122"/>
                <a:ea typeface="华文行楷" pitchFamily="2" charset="-122"/>
              </a:rPr>
              <a:t>          </a:t>
            </a:r>
            <a:r>
              <a:rPr lang="zh-CN" altLang="en-US" sz="3600" b="1" dirty="0">
                <a:latin typeface="华文行楷" pitchFamily="2" charset="-122"/>
                <a:ea typeface="华文行楷" pitchFamily="2" charset="-122"/>
              </a:rPr>
              <a:t>数字滤波器的设计方法 </a:t>
            </a:r>
            <a:endParaRPr lang="zh-CN" altLang="en-US" sz="3600" b="1">
              <a:latin typeface="华文行楷" pitchFamily="2" charset="-122"/>
              <a:ea typeface="华文行楷" pitchFamily="2" charset="-122"/>
            </a:endParaRPr>
          </a:p>
        </p:txBody>
      </p:sp>
      <p:sp>
        <p:nvSpPr>
          <p:cNvPr id="5122" name="文本框 2053"/>
          <p:cNvSpPr txBox="1"/>
          <p:nvPr/>
        </p:nvSpPr>
        <p:spPr>
          <a:xfrm>
            <a:off x="2057400" y="1866900"/>
            <a:ext cx="5842000" cy="4432300"/>
          </a:xfrm>
          <a:prstGeom prst="rect">
            <a:avLst/>
          </a:prstGeom>
          <a:noFill/>
          <a:ln w="9525">
            <a:noFill/>
          </a:ln>
        </p:spPr>
        <p:txBody>
          <a:bodyPr wrap="none" anchor="t">
            <a:spAutoFit/>
          </a:bodyPr>
          <a:p>
            <a:pPr>
              <a:lnSpc>
                <a:spcPct val="168000"/>
              </a:lnSpc>
            </a:pPr>
            <a:r>
              <a:rPr lang="en-US" altLang="zh-CN" b="1" dirty="0">
                <a:latin typeface="Times New Roman" panose="02020603050405020304" pitchFamily="18" charset="0"/>
                <a:ea typeface="宋体" panose="02010600030101010101" pitchFamily="2" charset="-122"/>
                <a:hlinkClick r:id="rId1" action="ppaction://hlinksldjump"/>
              </a:rPr>
              <a:t>5.1  </a:t>
            </a:r>
            <a:r>
              <a:rPr lang="zh-CN" altLang="en-US" b="1" dirty="0">
                <a:latin typeface="Times New Roman" panose="02020603050405020304" pitchFamily="18" charset="0"/>
                <a:ea typeface="宋体" panose="02010600030101010101" pitchFamily="2" charset="-122"/>
                <a:hlinkClick r:id="rId1" action="ppaction://hlinksldjump"/>
              </a:rPr>
              <a:t>基本概念 </a:t>
            </a:r>
            <a:endParaRPr lang="zh-CN" altLang="en-US" b="1">
              <a:latin typeface="Times New Roman" panose="02020603050405020304" pitchFamily="18" charset="0"/>
              <a:ea typeface="宋体" panose="02010600030101010101" pitchFamily="2" charset="-122"/>
            </a:endParaRPr>
          </a:p>
          <a:p>
            <a:pPr>
              <a:lnSpc>
                <a:spcPct val="168000"/>
              </a:lnSpc>
            </a:pPr>
            <a:r>
              <a:rPr lang="en-US" altLang="zh-CN" b="1" dirty="0">
                <a:latin typeface="Times New Roman" panose="02020603050405020304" pitchFamily="18" charset="0"/>
                <a:ea typeface="宋体" panose="02010600030101010101" pitchFamily="2" charset="-122"/>
                <a:hlinkClick r:id="rId2" action="ppaction://hlinksldjump"/>
              </a:rPr>
              <a:t>5.2  IIR</a:t>
            </a:r>
            <a:r>
              <a:rPr lang="zh-CN" altLang="en-US" b="1" dirty="0">
                <a:latin typeface="Times New Roman" panose="02020603050405020304" pitchFamily="18" charset="0"/>
                <a:ea typeface="宋体" panose="02010600030101010101" pitchFamily="2" charset="-122"/>
                <a:hlinkClick r:id="rId2" action="ppaction://hlinksldjump"/>
              </a:rPr>
              <a:t>滤波器设计的特点 </a:t>
            </a:r>
            <a:endParaRPr lang="zh-CN" altLang="en-US" b="1">
              <a:latin typeface="Times New Roman" panose="02020603050405020304" pitchFamily="18" charset="0"/>
              <a:ea typeface="宋体" panose="02010600030101010101" pitchFamily="2" charset="-122"/>
            </a:endParaRPr>
          </a:p>
          <a:p>
            <a:pPr>
              <a:lnSpc>
                <a:spcPct val="168000"/>
              </a:lnSpc>
            </a:pPr>
            <a:r>
              <a:rPr lang="en-US" altLang="zh-CN" b="1" dirty="0">
                <a:latin typeface="Times New Roman" panose="02020603050405020304" pitchFamily="18" charset="0"/>
                <a:ea typeface="宋体" panose="02010600030101010101" pitchFamily="2" charset="-122"/>
                <a:hlinkClick r:id="rId3" action="ppaction://hlinksldjump"/>
              </a:rPr>
              <a:t>5.3  </a:t>
            </a:r>
            <a:r>
              <a:rPr lang="zh-CN" altLang="en-US" b="1" dirty="0">
                <a:latin typeface="Times New Roman" panose="02020603050405020304" pitchFamily="18" charset="0"/>
                <a:ea typeface="宋体" panose="02010600030101010101" pitchFamily="2" charset="-122"/>
                <a:hlinkClick r:id="rId3" action="ppaction://hlinksldjump"/>
              </a:rPr>
              <a:t>常用模拟低通滤波器的设计方法 </a:t>
            </a:r>
            <a:endParaRPr lang="zh-CN" altLang="en-US" b="1">
              <a:latin typeface="Times New Roman" panose="02020603050405020304" pitchFamily="18" charset="0"/>
              <a:ea typeface="宋体" panose="02010600030101010101" pitchFamily="2" charset="-122"/>
            </a:endParaRPr>
          </a:p>
          <a:p>
            <a:pPr>
              <a:lnSpc>
                <a:spcPct val="168000"/>
              </a:lnSpc>
            </a:pPr>
            <a:r>
              <a:rPr lang="en-US" altLang="zh-CN" b="1" dirty="0">
                <a:latin typeface="Times New Roman" panose="02020603050405020304" pitchFamily="18" charset="0"/>
                <a:ea typeface="宋体" panose="02010600030101010101" pitchFamily="2" charset="-122"/>
                <a:hlinkClick r:id="rId4" action="ppaction://hlinksldjump"/>
              </a:rPr>
              <a:t>5.4  </a:t>
            </a:r>
            <a:r>
              <a:rPr lang="zh-CN" altLang="en-US" b="1" dirty="0">
                <a:latin typeface="Times New Roman" panose="02020603050405020304" pitchFamily="18" charset="0"/>
                <a:ea typeface="宋体" panose="02010600030101010101" pitchFamily="2" charset="-122"/>
                <a:hlinkClick r:id="rId4" action="ppaction://hlinksldjump"/>
              </a:rPr>
              <a:t>用脉冲响应不变法设计</a:t>
            </a:r>
            <a:r>
              <a:rPr lang="en-US" altLang="zh-CN" b="1" dirty="0">
                <a:latin typeface="Times New Roman" panose="02020603050405020304" pitchFamily="18" charset="0"/>
                <a:ea typeface="宋体" panose="02010600030101010101" pitchFamily="2" charset="-122"/>
                <a:hlinkClick r:id="rId4" action="ppaction://hlinksldjump"/>
              </a:rPr>
              <a:t>IIR</a:t>
            </a:r>
            <a:r>
              <a:rPr lang="zh-CN" altLang="en-US" b="1" dirty="0">
                <a:latin typeface="Times New Roman" panose="02020603050405020304" pitchFamily="18" charset="0"/>
                <a:ea typeface="宋体" panose="02010600030101010101" pitchFamily="2" charset="-122"/>
                <a:hlinkClick r:id="rId4" action="ppaction://hlinksldjump"/>
              </a:rPr>
              <a:t>数字滤波器 </a:t>
            </a:r>
            <a:endParaRPr lang="zh-CN" altLang="en-US" b="1">
              <a:latin typeface="Times New Roman" panose="02020603050405020304" pitchFamily="18" charset="0"/>
              <a:ea typeface="宋体" panose="02010600030101010101" pitchFamily="2" charset="-122"/>
            </a:endParaRPr>
          </a:p>
          <a:p>
            <a:pPr>
              <a:lnSpc>
                <a:spcPct val="168000"/>
              </a:lnSpc>
            </a:pPr>
            <a:r>
              <a:rPr lang="en-US" altLang="zh-CN" b="1" dirty="0">
                <a:latin typeface="Times New Roman" panose="02020603050405020304" pitchFamily="18" charset="0"/>
                <a:ea typeface="宋体" panose="02010600030101010101" pitchFamily="2" charset="-122"/>
                <a:hlinkClick r:id="rId5" action="ppaction://hlinksldjump"/>
              </a:rPr>
              <a:t>5.5  </a:t>
            </a:r>
            <a:r>
              <a:rPr lang="zh-CN" altLang="en-US" b="1" dirty="0">
                <a:latin typeface="Times New Roman" panose="02020603050405020304" pitchFamily="18" charset="0"/>
                <a:ea typeface="宋体" panose="02010600030101010101" pitchFamily="2" charset="-122"/>
                <a:hlinkClick r:id="rId5" action="ppaction://hlinksldjump"/>
              </a:rPr>
              <a:t>用双线性变换法设计</a:t>
            </a:r>
            <a:r>
              <a:rPr lang="en-US" altLang="zh-CN" b="1" dirty="0">
                <a:latin typeface="Times New Roman" panose="02020603050405020304" pitchFamily="18" charset="0"/>
                <a:ea typeface="宋体" panose="02010600030101010101" pitchFamily="2" charset="-122"/>
                <a:hlinkClick r:id="rId5" action="ppaction://hlinksldjump"/>
              </a:rPr>
              <a:t>IIR</a:t>
            </a:r>
            <a:r>
              <a:rPr lang="zh-CN" altLang="en-US" b="1" dirty="0">
                <a:latin typeface="Times New Roman" panose="02020603050405020304" pitchFamily="18" charset="0"/>
                <a:ea typeface="宋体" panose="02010600030101010101" pitchFamily="2" charset="-122"/>
                <a:hlinkClick r:id="rId5" action="ppaction://hlinksldjump"/>
              </a:rPr>
              <a:t>数字滤波器 </a:t>
            </a:r>
            <a:endParaRPr lang="zh-CN" altLang="en-US" b="1">
              <a:latin typeface="Times New Roman" panose="02020603050405020304" pitchFamily="18" charset="0"/>
              <a:ea typeface="宋体" panose="02010600030101010101" pitchFamily="2" charset="-122"/>
            </a:endParaRPr>
          </a:p>
          <a:p>
            <a:pPr>
              <a:lnSpc>
                <a:spcPct val="168000"/>
              </a:lnSpc>
            </a:pPr>
            <a:r>
              <a:rPr lang="en-US" altLang="zh-CN" b="1" dirty="0">
                <a:latin typeface="Times New Roman" panose="02020603050405020304" pitchFamily="18" charset="0"/>
                <a:ea typeface="宋体" panose="02010600030101010101" pitchFamily="2" charset="-122"/>
                <a:hlinkClick r:id="rId6" action="ppaction://hlinksldjump"/>
              </a:rPr>
              <a:t>5.6  </a:t>
            </a:r>
            <a:r>
              <a:rPr lang="zh-CN" altLang="en-US" b="1" dirty="0">
                <a:latin typeface="Times New Roman" panose="02020603050405020304" pitchFamily="18" charset="0"/>
                <a:ea typeface="宋体" panose="02010600030101010101" pitchFamily="2" charset="-122"/>
                <a:hlinkClick r:id="rId6" action="ppaction://hlinksldjump"/>
              </a:rPr>
              <a:t>设计</a:t>
            </a:r>
            <a:r>
              <a:rPr lang="en-US" altLang="zh-CN" b="1" dirty="0">
                <a:latin typeface="Times New Roman" panose="02020603050405020304" pitchFamily="18" charset="0"/>
                <a:ea typeface="宋体" panose="02010600030101010101" pitchFamily="2" charset="-122"/>
                <a:hlinkClick r:id="rId6" action="ppaction://hlinksldjump"/>
              </a:rPr>
              <a:t>IIR</a:t>
            </a:r>
            <a:r>
              <a:rPr lang="zh-CN" altLang="en-US" b="1" dirty="0">
                <a:latin typeface="Times New Roman" panose="02020603050405020304" pitchFamily="18" charset="0"/>
                <a:ea typeface="宋体" panose="02010600030101010101" pitchFamily="2" charset="-122"/>
                <a:hlinkClick r:id="rId6" action="ppaction://hlinksldjump"/>
              </a:rPr>
              <a:t>滤波器的频率变换法 </a:t>
            </a:r>
            <a:endParaRPr lang="zh-CN" altLang="en-US" b="1">
              <a:latin typeface="Times New Roman" panose="02020603050405020304" pitchFamily="18" charset="0"/>
              <a:ea typeface="宋体" panose="02010600030101010101" pitchFamily="2" charset="-122"/>
            </a:endParaRPr>
          </a:p>
          <a:p>
            <a:pPr>
              <a:lnSpc>
                <a:spcPct val="168000"/>
              </a:lnSpc>
            </a:pPr>
            <a:r>
              <a:rPr lang="en-US" altLang="zh-CN" b="1" dirty="0">
                <a:latin typeface="Times New Roman" panose="02020603050405020304" pitchFamily="18" charset="0"/>
                <a:ea typeface="宋体" panose="02010600030101010101" pitchFamily="2" charset="-122"/>
                <a:hlinkClick r:id="rId7" action="ppaction://hlinksldjump"/>
              </a:rPr>
              <a:t>5.7  Z</a:t>
            </a:r>
            <a:r>
              <a:rPr lang="zh-CN" altLang="en-US" b="1" dirty="0">
                <a:latin typeface="Times New Roman" panose="02020603050405020304" pitchFamily="18" charset="0"/>
                <a:ea typeface="宋体" panose="02010600030101010101" pitchFamily="2" charset="-122"/>
                <a:hlinkClick r:id="rId7" action="ppaction://hlinksldjump"/>
              </a:rPr>
              <a:t>平面变换法 </a:t>
            </a:r>
            <a:endParaRPr lang="zh-CN" altLang="en-US" b="1">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3075"/>
          <p:cNvSpPr txBox="1"/>
          <p:nvPr/>
        </p:nvSpPr>
        <p:spPr>
          <a:xfrm>
            <a:off x="3276600" y="838200"/>
            <a:ext cx="2533650" cy="579438"/>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5.1 </a:t>
            </a:r>
            <a:r>
              <a:rPr lang="zh-CN" altLang="en-US" sz="3200" b="1" dirty="0">
                <a:latin typeface="Times New Roman" panose="02020603050405020304" pitchFamily="18" charset="0"/>
                <a:ea typeface="宋体" panose="02010600030101010101" pitchFamily="2" charset="-122"/>
              </a:rPr>
              <a:t>基本概念 </a:t>
            </a:r>
            <a:endParaRPr lang="zh-CN" altLang="en-US" sz="3200" b="1">
              <a:latin typeface="Times New Roman" panose="02020603050405020304" pitchFamily="18" charset="0"/>
              <a:ea typeface="宋体" panose="02010600030101010101" pitchFamily="2" charset="-122"/>
            </a:endParaRPr>
          </a:p>
        </p:txBody>
      </p:sp>
      <p:sp>
        <p:nvSpPr>
          <p:cNvPr id="6146" name="文本框 3076"/>
          <p:cNvSpPr txBox="1"/>
          <p:nvPr/>
        </p:nvSpPr>
        <p:spPr>
          <a:xfrm>
            <a:off x="301625" y="1557338"/>
            <a:ext cx="8447088" cy="4337050"/>
          </a:xfrm>
          <a:prstGeom prst="rect">
            <a:avLst/>
          </a:prstGeom>
          <a:noFill/>
          <a:ln w="9525">
            <a:noFill/>
          </a:ln>
        </p:spPr>
        <p:txBody>
          <a:bodyPr anchor="t">
            <a:spAutoFit/>
          </a:bodyPr>
          <a:p>
            <a:pPr algn="just">
              <a:lnSpc>
                <a:spcPct val="150000"/>
              </a:lnSpc>
              <a:spcBef>
                <a:spcPct val="50000"/>
              </a:spcBef>
            </a:pPr>
            <a:r>
              <a:rPr lang="en-US" altLang="zh-CN" b="1" dirty="0">
                <a:latin typeface="Times New Roman" panose="02020603050405020304" pitchFamily="18" charset="0"/>
                <a:ea typeface="宋体" panose="02010600030101010101" pitchFamily="2" charset="-122"/>
              </a:rPr>
              <a:t>5.1.1 </a:t>
            </a:r>
            <a:r>
              <a:rPr lang="zh-CN" altLang="en-US" b="1" dirty="0">
                <a:latin typeface="Times New Roman" panose="02020603050405020304" pitchFamily="18" charset="0"/>
                <a:ea typeface="宋体" panose="02010600030101010101" pitchFamily="2" charset="-122"/>
              </a:rPr>
              <a:t>选频滤波器的分类</a:t>
            </a:r>
            <a:endParaRPr lang="zh-CN" altLang="en-US">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数字滤波器是数字信号处理的重要基础。在对信号的</a:t>
            </a:r>
            <a:r>
              <a:rPr lang="zh-CN" altLang="en-US" b="1" dirty="0">
                <a:solidFill>
                  <a:srgbClr val="FF0000"/>
                </a:solidFill>
                <a:latin typeface="Times New Roman" panose="02020603050405020304" pitchFamily="18" charset="0"/>
                <a:ea typeface="宋体" panose="02010600030101010101" pitchFamily="2" charset="-122"/>
              </a:rPr>
              <a:t>过滤</a:t>
            </a:r>
            <a:r>
              <a:rPr lang="zh-CN" altLang="en-US" dirty="0">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检测</a:t>
            </a:r>
            <a:r>
              <a:rPr lang="zh-CN" altLang="en-US" dirty="0">
                <a:latin typeface="Times New Roman" panose="02020603050405020304" pitchFamily="18" charset="0"/>
                <a:ea typeface="宋体" panose="02010600030101010101" pitchFamily="2" charset="-122"/>
              </a:rPr>
              <a:t>与</a:t>
            </a:r>
            <a:r>
              <a:rPr lang="zh-CN" altLang="en-US" b="1" dirty="0">
                <a:solidFill>
                  <a:srgbClr val="FF0000"/>
                </a:solidFill>
                <a:latin typeface="Times New Roman" panose="02020603050405020304" pitchFamily="18" charset="0"/>
                <a:ea typeface="宋体" panose="02010600030101010101" pitchFamily="2" charset="-122"/>
              </a:rPr>
              <a:t>参数的估计</a:t>
            </a:r>
            <a:r>
              <a:rPr lang="zh-CN" altLang="en-US" dirty="0">
                <a:latin typeface="Times New Roman" panose="02020603050405020304" pitchFamily="18" charset="0"/>
                <a:ea typeface="宋体" panose="02010600030101010101" pitchFamily="2" charset="-122"/>
              </a:rPr>
              <a:t>等处理中</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数字滤波器是使用最广泛的线性系统。 </a:t>
            </a:r>
            <a:endParaRPr lang="zh-CN" altLang="en-US"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数字滤波器是对数字信号实现滤波的线性时不变系统。它将输入的数字序列通过特定运算转变为输出的数字序列。因此， 数字滤波器本质上是一台完成特定运算的数字计</a:t>
            </a:r>
            <a:r>
              <a:rPr lang="zh-CN" altLang="en-US" dirty="0">
                <a:latin typeface="Times New Roman" panose="02020603050405020304" pitchFamily="18" charset="0"/>
                <a:ea typeface="宋体" panose="02010600030101010101" pitchFamily="2" charset="-122"/>
              </a:rPr>
              <a:t>算机。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文本框 4099"/>
          <p:cNvSpPr txBox="1"/>
          <p:nvPr/>
        </p:nvSpPr>
        <p:spPr>
          <a:xfrm>
            <a:off x="228600" y="533400"/>
            <a:ext cx="8763000" cy="1109663"/>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由第</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章</a:t>
            </a:r>
            <a:r>
              <a:rPr lang="en-US" altLang="zh-CN" dirty="0">
                <a:latin typeface="Times New Roman" panose="02020603050405020304" pitchFamily="18" charset="0"/>
                <a:ea typeface="宋体" panose="02010600030101010101" pitchFamily="2" charset="-122"/>
              </a:rPr>
              <a:t>1.3</a:t>
            </a:r>
            <a:r>
              <a:rPr lang="zh-CN" altLang="en-US" dirty="0">
                <a:latin typeface="Times New Roman" panose="02020603050405020304" pitchFamily="18" charset="0"/>
                <a:ea typeface="宋体" panose="02010600030101010101" pitchFamily="2" charset="-122"/>
              </a:rPr>
              <a:t>节已经知道，一个</a:t>
            </a:r>
            <a:r>
              <a:rPr lang="zh-CN" altLang="en-US" b="1" dirty="0">
                <a:solidFill>
                  <a:srgbClr val="FF0000"/>
                </a:solidFill>
                <a:latin typeface="Times New Roman" panose="02020603050405020304" pitchFamily="18" charset="0"/>
                <a:ea typeface="宋体" panose="02010600030101010101" pitchFamily="2" charset="-122"/>
              </a:rPr>
              <a:t>输入序列</a:t>
            </a:r>
            <a:r>
              <a:rPr lang="en-US" altLang="zh-CN" b="1" i="1">
                <a:solidFill>
                  <a:srgbClr val="FF0000"/>
                </a:solidFill>
                <a:latin typeface="Times New Roman" panose="02020603050405020304" pitchFamily="18" charset="0"/>
                <a:ea typeface="宋体" panose="02010600030101010101" pitchFamily="2" charset="-122"/>
              </a:rPr>
              <a:t>x</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，通过一个</a:t>
            </a:r>
            <a:r>
              <a:rPr lang="zh-CN" altLang="en-US" b="1" dirty="0">
                <a:solidFill>
                  <a:srgbClr val="FF0000"/>
                </a:solidFill>
                <a:latin typeface="Times New Roman" panose="02020603050405020304" pitchFamily="18" charset="0"/>
                <a:ea typeface="宋体" panose="02010600030101010101" pitchFamily="2" charset="-122"/>
              </a:rPr>
              <a:t>单位脉冲响应为</a:t>
            </a:r>
            <a:r>
              <a:rPr lang="en-US" altLang="zh-CN" b="1" i="1">
                <a:solidFill>
                  <a:srgbClr val="FF0000"/>
                </a:solidFill>
                <a:latin typeface="Times New Roman" panose="02020603050405020304" pitchFamily="18" charset="0"/>
                <a:ea typeface="宋体" panose="02010600030101010101" pitchFamily="2" charset="-122"/>
              </a:rPr>
              <a:t>h</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的线性时不变</a:t>
            </a:r>
            <a:r>
              <a:rPr lang="zh-CN" altLang="en-US" dirty="0">
                <a:latin typeface="Times New Roman" panose="02020603050405020304" pitchFamily="18" charset="0"/>
                <a:ea typeface="宋体" panose="02010600030101010101" pitchFamily="2" charset="-122"/>
              </a:rPr>
              <a:t>系统后，其</a:t>
            </a:r>
            <a:r>
              <a:rPr lang="zh-CN" altLang="en-US" b="1" dirty="0">
                <a:solidFill>
                  <a:srgbClr val="FF0000"/>
                </a:solidFill>
                <a:latin typeface="Times New Roman" panose="02020603050405020304" pitchFamily="18" charset="0"/>
                <a:ea typeface="宋体" panose="02010600030101010101" pitchFamily="2" charset="-122"/>
              </a:rPr>
              <a:t>输出响应</a:t>
            </a:r>
            <a:r>
              <a:rPr lang="en-US" altLang="zh-CN" b="1" i="1">
                <a:solidFill>
                  <a:srgbClr val="FF0000"/>
                </a:solidFill>
                <a:latin typeface="Times New Roman" panose="02020603050405020304" pitchFamily="18" charset="0"/>
                <a:ea typeface="宋体" panose="02010600030101010101" pitchFamily="2" charset="-122"/>
              </a:rPr>
              <a:t>y</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graphicFrame>
        <p:nvGraphicFramePr>
          <p:cNvPr id="7170" name="对象 4100"/>
          <p:cNvGraphicFramePr/>
          <p:nvPr/>
        </p:nvGraphicFramePr>
        <p:xfrm>
          <a:off x="1676400" y="1752600"/>
          <a:ext cx="5486400" cy="1014413"/>
        </p:xfrm>
        <a:graphic>
          <a:graphicData uri="http://schemas.openxmlformats.org/presentationml/2006/ole">
            <mc:AlternateContent xmlns:mc="http://schemas.openxmlformats.org/markup-compatibility/2006">
              <mc:Choice xmlns:v="urn:schemas-microsoft-com:vml" Requires="v">
                <p:oleObj spid="_x0000_s3076" name="" r:id="rId1" imgW="2335530" imgH="431800" progId="Equation.3">
                  <p:embed/>
                </p:oleObj>
              </mc:Choice>
              <mc:Fallback>
                <p:oleObj name="" r:id="rId1" imgW="2335530" imgH="431800" progId="Equation.3">
                  <p:embed/>
                  <p:pic>
                    <p:nvPicPr>
                      <p:cNvPr id="0" name="图片 3075"/>
                      <p:cNvPicPr/>
                      <p:nvPr/>
                    </p:nvPicPr>
                    <p:blipFill>
                      <a:blip r:embed="rId2"/>
                      <a:stretch>
                        <a:fillRect/>
                      </a:stretch>
                    </p:blipFill>
                    <p:spPr>
                      <a:xfrm>
                        <a:off x="1676400" y="1752600"/>
                        <a:ext cx="5486400" cy="1014413"/>
                      </a:xfrm>
                      <a:prstGeom prst="rect">
                        <a:avLst/>
                      </a:prstGeom>
                      <a:solidFill>
                        <a:schemeClr val="accent1"/>
                      </a:solidFill>
                      <a:ln w="38100">
                        <a:noFill/>
                        <a:miter/>
                      </a:ln>
                    </p:spPr>
                  </p:pic>
                </p:oleObj>
              </mc:Fallback>
            </mc:AlternateContent>
          </a:graphicData>
        </a:graphic>
      </p:graphicFrame>
      <p:sp>
        <p:nvSpPr>
          <p:cNvPr id="7171" name="文本框 4101"/>
          <p:cNvSpPr txBox="1"/>
          <p:nvPr/>
        </p:nvSpPr>
        <p:spPr>
          <a:xfrm>
            <a:off x="228600" y="2895600"/>
            <a:ext cx="4832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将上式两边经过傅里叶变换，可得 </a:t>
            </a:r>
            <a:endParaRPr lang="zh-CN" altLang="en-US">
              <a:latin typeface="Times New Roman" panose="02020603050405020304" pitchFamily="18" charset="0"/>
              <a:ea typeface="宋体" panose="02010600030101010101" pitchFamily="2" charset="-122"/>
            </a:endParaRPr>
          </a:p>
        </p:txBody>
      </p:sp>
      <p:graphicFrame>
        <p:nvGraphicFramePr>
          <p:cNvPr id="7172" name="对象 4102"/>
          <p:cNvGraphicFramePr/>
          <p:nvPr/>
        </p:nvGraphicFramePr>
        <p:xfrm>
          <a:off x="971550" y="3716655"/>
          <a:ext cx="3873500" cy="590550"/>
        </p:xfrm>
        <a:graphic>
          <a:graphicData uri="http://schemas.openxmlformats.org/presentationml/2006/ole">
            <mc:AlternateContent xmlns:mc="http://schemas.openxmlformats.org/markup-compatibility/2006">
              <mc:Choice xmlns:v="urn:schemas-microsoft-com:vml" Requires="v">
                <p:oleObj spid="_x0000_s3077" name="" r:id="rId3" imgW="1498600" imgH="228600" progId="Equation.3">
                  <p:embed/>
                </p:oleObj>
              </mc:Choice>
              <mc:Fallback>
                <p:oleObj name="" r:id="rId3" imgW="1498600" imgH="228600" progId="Equation.3">
                  <p:embed/>
                  <p:pic>
                    <p:nvPicPr>
                      <p:cNvPr id="0" name="图片 3076"/>
                      <p:cNvPicPr/>
                      <p:nvPr/>
                    </p:nvPicPr>
                    <p:blipFill>
                      <a:blip r:embed="rId4"/>
                      <a:stretch>
                        <a:fillRect/>
                      </a:stretch>
                    </p:blipFill>
                    <p:spPr>
                      <a:xfrm>
                        <a:off x="971550" y="3716655"/>
                        <a:ext cx="3873500" cy="590550"/>
                      </a:xfrm>
                      <a:prstGeom prst="rect">
                        <a:avLst/>
                      </a:prstGeom>
                      <a:solidFill>
                        <a:schemeClr val="accent1"/>
                      </a:solidFill>
                      <a:ln w="38100">
                        <a:noFill/>
                        <a:miter/>
                      </a:ln>
                    </p:spPr>
                  </p:pic>
                </p:oleObj>
              </mc:Fallback>
            </mc:AlternateContent>
          </a:graphicData>
        </a:graphic>
      </p:graphicFrame>
      <p:sp>
        <p:nvSpPr>
          <p:cNvPr id="7173" name="文本框 4103"/>
          <p:cNvSpPr txBox="1"/>
          <p:nvPr/>
        </p:nvSpPr>
        <p:spPr>
          <a:xfrm>
            <a:off x="304800" y="4622800"/>
            <a:ext cx="8610600" cy="1257300"/>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Y</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baseline="30000">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baseline="3000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分别为输出序列和输入序列</a:t>
            </a:r>
            <a:r>
              <a:rPr lang="zh-CN" altLang="en-US" dirty="0">
                <a:latin typeface="Times New Roman" panose="02020603050405020304" pitchFamily="18" charset="0"/>
                <a:ea typeface="宋体" panose="02010600030101010101" pitchFamily="2" charset="-122"/>
              </a:rPr>
              <a:t>的频谱函数， </a:t>
            </a:r>
            <a:r>
              <a:rPr lang="en-US" altLang="zh-CN" b="1" i="1">
                <a:solidFill>
                  <a:srgbClr val="FF0000"/>
                </a:solidFill>
                <a:latin typeface="Times New Roman" panose="02020603050405020304" pitchFamily="18" charset="0"/>
                <a:ea typeface="宋体" panose="02010600030101010101" pitchFamily="2" charset="-122"/>
              </a:rPr>
              <a:t>H</a:t>
            </a:r>
            <a:r>
              <a:rPr lang="en-US" altLang="zh-CN" b="1" err="1">
                <a:solidFill>
                  <a:srgbClr val="FF0000"/>
                </a:solidFill>
                <a:latin typeface="Times New Roman" panose="02020603050405020304" pitchFamily="18" charset="0"/>
                <a:ea typeface="宋体" panose="02010600030101010101" pitchFamily="2" charset="-122"/>
              </a:rPr>
              <a:t>(e</a:t>
            </a:r>
            <a:r>
              <a:rPr lang="en-US" altLang="zh-CN" b="1" baseline="30000" err="1">
                <a:solidFill>
                  <a:srgbClr val="FF0000"/>
                </a:solidFill>
                <a:latin typeface="Times New Roman" panose="02020603050405020304" pitchFamily="18" charset="0"/>
                <a:ea typeface="宋体" panose="02010600030101010101" pitchFamily="2" charset="-122"/>
              </a:rPr>
              <a:t>j</a:t>
            </a:r>
            <a:r>
              <a:rPr lang="en-US" altLang="zh-CN" b="1" i="1" baseline="30000">
                <a:solidFill>
                  <a:srgbClr val="FF0000"/>
                </a:solidFill>
                <a:latin typeface="Times New Roman" panose="02020603050405020304" pitchFamily="18" charset="0"/>
                <a:ea typeface="宋体" panose="02010600030101010101" pitchFamily="2" charset="-122"/>
              </a:rPr>
              <a:t>ω</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是系统的频率响应函数</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2" name="对象 4102"/>
          <p:cNvGraphicFramePr/>
          <p:nvPr/>
        </p:nvGraphicFramePr>
        <p:xfrm>
          <a:off x="5292090" y="3933190"/>
          <a:ext cx="3053080" cy="590550"/>
        </p:xfrm>
        <a:graphic>
          <a:graphicData uri="http://schemas.openxmlformats.org/presentationml/2006/ole">
            <mc:AlternateContent xmlns:mc="http://schemas.openxmlformats.org/markup-compatibility/2006">
              <mc:Choice xmlns:v="urn:schemas-microsoft-com:vml" Requires="v">
                <p:oleObj spid="_x0000_s3" name="" r:id="rId5" imgW="1181100" imgH="228600" progId="Equation.3">
                  <p:embed/>
                </p:oleObj>
              </mc:Choice>
              <mc:Fallback>
                <p:oleObj name="" r:id="rId5" imgW="1181100" imgH="228600" progId="Equation.3">
                  <p:embed/>
                  <p:pic>
                    <p:nvPicPr>
                      <p:cNvPr id="0" name="图片 3076"/>
                      <p:cNvPicPr/>
                      <p:nvPr/>
                    </p:nvPicPr>
                    <p:blipFill>
                      <a:blip r:embed="rId6"/>
                      <a:stretch>
                        <a:fillRect/>
                      </a:stretch>
                    </p:blipFill>
                    <p:spPr>
                      <a:xfrm>
                        <a:off x="5292090" y="3933190"/>
                        <a:ext cx="3053080" cy="590550"/>
                      </a:xfrm>
                      <a:prstGeom prst="rect">
                        <a:avLst/>
                      </a:prstGeom>
                      <a:solidFill>
                        <a:srgbClr val="FFFF00"/>
                      </a:solidFill>
                      <a:ln w="38100">
                        <a:noFill/>
                        <a:miter/>
                      </a:ln>
                    </p:spPr>
                  </p:pic>
                </p:oleObj>
              </mc:Fallback>
            </mc:AlternateContent>
          </a:graphicData>
        </a:graphic>
      </p:graphicFrame>
      <p:graphicFrame>
        <p:nvGraphicFramePr>
          <p:cNvPr id="4" name="对象 4102"/>
          <p:cNvGraphicFramePr/>
          <p:nvPr/>
        </p:nvGraphicFramePr>
        <p:xfrm>
          <a:off x="5292090" y="3212783"/>
          <a:ext cx="3545840" cy="558165"/>
        </p:xfrm>
        <a:graphic>
          <a:graphicData uri="http://schemas.openxmlformats.org/presentationml/2006/ole">
            <mc:AlternateContent xmlns:mc="http://schemas.openxmlformats.org/markup-compatibility/2006">
              <mc:Choice xmlns:v="urn:schemas-microsoft-com:vml" Requires="v">
                <p:oleObj spid="_x0000_s5" name="" r:id="rId7" imgW="1371600" imgH="215900" progId="Equation.3">
                  <p:embed/>
                </p:oleObj>
              </mc:Choice>
              <mc:Fallback>
                <p:oleObj name="" r:id="rId7" imgW="1371600" imgH="215900" progId="Equation.3">
                  <p:embed/>
                  <p:pic>
                    <p:nvPicPr>
                      <p:cNvPr id="0" name="图片 3076"/>
                      <p:cNvPicPr/>
                      <p:nvPr/>
                    </p:nvPicPr>
                    <p:blipFill>
                      <a:blip r:embed="rId8"/>
                      <a:stretch>
                        <a:fillRect/>
                      </a:stretch>
                    </p:blipFill>
                    <p:spPr>
                      <a:xfrm>
                        <a:off x="5292090" y="3212783"/>
                        <a:ext cx="3545840" cy="558165"/>
                      </a:xfrm>
                      <a:prstGeom prst="rect">
                        <a:avLst/>
                      </a:prstGeom>
                      <a:gradFill>
                        <a:gsLst>
                          <a:gs pos="0">
                            <a:srgbClr val="FBFB11"/>
                          </a:gs>
                          <a:gs pos="100000">
                            <a:srgbClr val="838309"/>
                          </a:gs>
                        </a:gsLst>
                        <a:lin ang="5400000" scaled="0"/>
                      </a:gra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876415" y="5300980"/>
            <a:ext cx="360363" cy="358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8194" name="文本框 5123"/>
          <p:cNvSpPr txBox="1"/>
          <p:nvPr/>
        </p:nvSpPr>
        <p:spPr>
          <a:xfrm>
            <a:off x="179705" y="692785"/>
            <a:ext cx="8839200" cy="5051425"/>
          </a:xfrm>
          <a:prstGeom prst="rect">
            <a:avLst/>
          </a:prstGeom>
          <a:noFill/>
          <a:ln w="9525">
            <a:noFill/>
          </a:ln>
        </p:spPr>
        <p:txBody>
          <a:bodyPr anchor="t">
            <a:spAutoFit/>
          </a:bodyPr>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可以看出，输入序列的频谱</a:t>
            </a:r>
            <a:r>
              <a:rPr lang="en-US" altLang="zh-CN" i="1">
                <a:latin typeface="Times New Roman" panose="02020603050405020304" pitchFamily="18" charset="0"/>
                <a:ea typeface="宋体" panose="02010600030101010101" pitchFamily="2" charset="-122"/>
              </a:rPr>
              <a:t>X</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经过滤波后，变为</a:t>
            </a:r>
            <a:r>
              <a:rPr lang="en-US" altLang="zh-CN" i="1">
                <a:latin typeface="Times New Roman" panose="02020603050405020304" pitchFamily="18" charset="0"/>
                <a:ea typeface="宋体" panose="02010600030101010101" pitchFamily="2" charset="-122"/>
              </a:rPr>
              <a:t>X</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baseline="30000">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。如果</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baseline="3000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的值在某些频率上是比较小的，则输入信号中的这些频率分量在输出信号中将被抑制掉。因此，只要按照输入信号频谱的特点和处理信号的目的，适当选择</a:t>
            </a:r>
            <a:r>
              <a:rPr lang="en-US" altLang="zh-CN" i="1">
                <a:latin typeface="Times New Roman" panose="02020603050405020304" pitchFamily="18" charset="0"/>
                <a:ea typeface="宋体" panose="02010600030101010101" pitchFamily="2" charset="-122"/>
              </a:rPr>
              <a:t>H</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，使得滤波后的</a:t>
            </a:r>
            <a:r>
              <a:rPr lang="en-US" altLang="zh-CN" i="1">
                <a:latin typeface="Times New Roman" panose="02020603050405020304" pitchFamily="18" charset="0"/>
                <a:ea typeface="宋体" panose="02010600030101010101" pitchFamily="2" charset="-122"/>
              </a:rPr>
              <a:t>X</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符合人们的要求，这就是数字滤波器的滤波原理。和模拟滤波器一样，</a:t>
            </a:r>
            <a:r>
              <a:rPr lang="zh-CN" altLang="en-US" b="1" dirty="0">
                <a:solidFill>
                  <a:srgbClr val="FF0000"/>
                </a:solidFill>
                <a:latin typeface="Times New Roman" panose="02020603050405020304" pitchFamily="18" charset="0"/>
                <a:ea typeface="宋体" panose="02010600030101010101" pitchFamily="2" charset="-122"/>
              </a:rPr>
              <a:t>线性数字滤波器按照频率响应的通带特性可划分为</a:t>
            </a:r>
            <a:r>
              <a:rPr lang="zh-CN" altLang="en-US" b="1" u="sng" dirty="0">
                <a:solidFill>
                  <a:srgbClr val="FF0000"/>
                </a:solidFill>
                <a:latin typeface="Times New Roman" panose="02020603050405020304" pitchFamily="18" charset="0"/>
                <a:ea typeface="宋体" panose="02010600030101010101" pitchFamily="2" charset="-122"/>
              </a:rPr>
              <a:t>低通</a:t>
            </a:r>
            <a:r>
              <a:rPr lang="zh-CN" altLang="en-US" b="1" dirty="0">
                <a:solidFill>
                  <a:srgbClr val="FF0000"/>
                </a:solidFill>
                <a:latin typeface="Times New Roman" panose="02020603050405020304" pitchFamily="18" charset="0"/>
                <a:ea typeface="宋体" panose="02010600030101010101" pitchFamily="2" charset="-122"/>
              </a:rPr>
              <a:t>、</a:t>
            </a:r>
            <a:r>
              <a:rPr lang="zh-CN" altLang="en-US" b="1" u="sng" dirty="0">
                <a:solidFill>
                  <a:srgbClr val="FF0000"/>
                </a:solidFill>
                <a:latin typeface="Times New Roman" panose="02020603050405020304" pitchFamily="18" charset="0"/>
                <a:ea typeface="宋体" panose="02010600030101010101" pitchFamily="2" charset="-122"/>
              </a:rPr>
              <a:t>高通</a:t>
            </a:r>
            <a:r>
              <a:rPr lang="zh-CN" altLang="en-US" b="1" dirty="0">
                <a:solidFill>
                  <a:srgbClr val="FF0000"/>
                </a:solidFill>
                <a:latin typeface="Times New Roman" panose="02020603050405020304" pitchFamily="18" charset="0"/>
                <a:ea typeface="宋体" panose="02010600030101010101" pitchFamily="2" charset="-122"/>
              </a:rPr>
              <a:t>、</a:t>
            </a:r>
            <a:r>
              <a:rPr lang="zh-CN" altLang="en-US" b="1" u="sng" dirty="0">
                <a:solidFill>
                  <a:srgbClr val="FF0000"/>
                </a:solidFill>
                <a:latin typeface="Times New Roman" panose="02020603050405020304" pitchFamily="18" charset="0"/>
                <a:ea typeface="宋体" panose="02010600030101010101" pitchFamily="2" charset="-122"/>
              </a:rPr>
              <a:t>带通</a:t>
            </a:r>
            <a:r>
              <a:rPr lang="zh-CN" altLang="en-US" b="1" dirty="0">
                <a:solidFill>
                  <a:srgbClr val="FF0000"/>
                </a:solidFill>
                <a:latin typeface="Times New Roman" panose="02020603050405020304" pitchFamily="18" charset="0"/>
                <a:ea typeface="宋体" panose="02010600030101010101" pitchFamily="2" charset="-122"/>
              </a:rPr>
              <a:t>和</a:t>
            </a:r>
            <a:r>
              <a:rPr lang="zh-CN" altLang="en-US" b="1" u="sng" dirty="0">
                <a:solidFill>
                  <a:srgbClr val="FF0000"/>
                </a:solidFill>
                <a:latin typeface="Times New Roman" panose="02020603050405020304" pitchFamily="18" charset="0"/>
                <a:ea typeface="宋体" panose="02010600030101010101" pitchFamily="2" charset="-122"/>
              </a:rPr>
              <a:t>带阻</a:t>
            </a:r>
            <a:r>
              <a:rPr lang="zh-CN" altLang="en-US" b="1" dirty="0">
                <a:solidFill>
                  <a:srgbClr val="FF0000"/>
                </a:solidFill>
                <a:latin typeface="Times New Roman" panose="02020603050405020304" pitchFamily="18" charset="0"/>
                <a:ea typeface="宋体" panose="02010600030101010101" pitchFamily="2" charset="-122"/>
              </a:rPr>
              <a:t>几种形式</a:t>
            </a:r>
            <a:r>
              <a:rPr lang="zh-CN" altLang="en-US" dirty="0">
                <a:latin typeface="Times New Roman" panose="02020603050405020304" pitchFamily="18" charset="0"/>
                <a:ea typeface="宋体" panose="02010600030101010101" pitchFamily="2" charset="-122"/>
              </a:rPr>
              <a:t>。它们的理想模式如图</a:t>
            </a:r>
            <a:r>
              <a:rPr lang="en-US" altLang="zh-CN" dirty="0">
                <a:latin typeface="Times New Roman" panose="02020603050405020304" pitchFamily="18" charset="0"/>
                <a:ea typeface="宋体" panose="02010600030101010101" pitchFamily="2" charset="-122"/>
              </a:rPr>
              <a:t>5-1</a:t>
            </a:r>
            <a:r>
              <a:rPr lang="zh-CN" altLang="en-US" dirty="0">
                <a:latin typeface="Times New Roman" panose="02020603050405020304" pitchFamily="18" charset="0"/>
                <a:ea typeface="宋体" panose="02010600030101010101" pitchFamily="2" charset="-122"/>
              </a:rPr>
              <a:t>所示。（系统的频率响应</a:t>
            </a:r>
            <a:r>
              <a:rPr lang="en-US" altLang="zh-CN" i="1">
                <a:latin typeface="Times New Roman" panose="02020603050405020304" pitchFamily="18" charset="0"/>
                <a:ea typeface="宋体" panose="02010600030101010101" pitchFamily="2" charset="-122"/>
              </a:rPr>
              <a:t>H</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baseline="3000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是以</a:t>
            </a:r>
            <a:r>
              <a:rPr lang="en-US" altLang="zh-CN" dirty="0">
                <a:latin typeface="Times New Roman" panose="02020603050405020304" pitchFamily="18" charset="0"/>
                <a:ea typeface="宋体" panose="02010600030101010101" pitchFamily="2" charset="-122"/>
              </a:rPr>
              <a:t>2π</a:t>
            </a:r>
            <a:r>
              <a:rPr lang="zh-CN" altLang="en-US" dirty="0">
                <a:latin typeface="Times New Roman" panose="02020603050405020304" pitchFamily="18" charset="0"/>
                <a:ea typeface="宋体" panose="02010600030101010101" pitchFamily="2" charset="-122"/>
              </a:rPr>
              <a:t>为周期的。</a:t>
            </a:r>
            <a:r>
              <a:rPr lang="en-US" altLang="zh-CN" dirty="0">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文本框 6147"/>
          <p:cNvSpPr txBox="1"/>
          <p:nvPr/>
        </p:nvSpPr>
        <p:spPr>
          <a:xfrm>
            <a:off x="2362200" y="5791200"/>
            <a:ext cx="4724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5-1 </a:t>
            </a:r>
            <a:r>
              <a:rPr lang="zh-CN" altLang="en-US" dirty="0">
                <a:latin typeface="Times New Roman" panose="02020603050405020304" pitchFamily="18" charset="0"/>
                <a:ea typeface="宋体" panose="02010600030101010101" pitchFamily="2" charset="-122"/>
              </a:rPr>
              <a:t>数字滤波器的理想幅频特性 </a:t>
            </a:r>
            <a:endParaRPr lang="zh-CN" altLang="en-US">
              <a:latin typeface="Times New Roman" panose="02020603050405020304" pitchFamily="18" charset="0"/>
              <a:ea typeface="宋体" panose="02010600030101010101" pitchFamily="2" charset="-122"/>
            </a:endParaRPr>
          </a:p>
        </p:txBody>
      </p:sp>
      <p:pic>
        <p:nvPicPr>
          <p:cNvPr id="9218" name="图片 6150" descr="5-1"/>
          <p:cNvPicPr>
            <a:picLocks noChangeAspect="1"/>
          </p:cNvPicPr>
          <p:nvPr/>
        </p:nvPicPr>
        <p:blipFill>
          <a:blip r:embed="rId1"/>
          <a:stretch>
            <a:fillRect/>
          </a:stretch>
        </p:blipFill>
        <p:spPr>
          <a:xfrm>
            <a:off x="2268538" y="717550"/>
            <a:ext cx="5027612" cy="4854575"/>
          </a:xfrm>
          <a:prstGeom prst="rect">
            <a:avLst/>
          </a:prstGeom>
          <a:noFill/>
          <a:ln w="9525">
            <a:noFill/>
          </a:ln>
        </p:spPr>
      </p:pic>
      <p:sp>
        <p:nvSpPr>
          <p:cNvPr id="2" name="矩形 1"/>
          <p:cNvSpPr/>
          <p:nvPr/>
        </p:nvSpPr>
        <p:spPr>
          <a:xfrm>
            <a:off x="4776788" y="717550"/>
            <a:ext cx="1065213" cy="5040313"/>
          </a:xfrm>
          <a:prstGeom prst="rect">
            <a:avLst/>
          </a:prstGeom>
          <a:noFill/>
          <a:ln w="412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文本框 7171"/>
          <p:cNvSpPr txBox="1"/>
          <p:nvPr/>
        </p:nvSpPr>
        <p:spPr>
          <a:xfrm>
            <a:off x="228600" y="903288"/>
            <a:ext cx="8763000" cy="3592512"/>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满足奈奎斯特采样定理时，信号的频率特性只能限带于</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|&lt;</a:t>
            </a:r>
            <a:r>
              <a:rPr lang="en-US" altLang="zh-CN" i="1">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的范围。由图</a:t>
            </a:r>
            <a:r>
              <a:rPr lang="en-US" altLang="zh-CN" dirty="0">
                <a:latin typeface="Times New Roman" panose="02020603050405020304" pitchFamily="18" charset="0"/>
                <a:ea typeface="宋体" panose="02010600030101010101" pitchFamily="2" charset="-122"/>
              </a:rPr>
              <a:t>5-1</a:t>
            </a:r>
            <a:r>
              <a:rPr lang="zh-CN" altLang="en-US" dirty="0">
                <a:latin typeface="Times New Roman" panose="02020603050405020304" pitchFamily="18" charset="0"/>
                <a:ea typeface="宋体" panose="02010600030101010101" pitchFamily="2" charset="-122"/>
              </a:rPr>
              <a:t>可知，理想低通滤波器选择出输入信号中的低频分量，而把输入信号频率在</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&lt;</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范围内所有分量全部滤掉。相反地，理想高通滤波器使输入信号中频率在</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范围内的所有分量不失真地通过，</a:t>
            </a:r>
            <a:r>
              <a:rPr lang="zh-CN" altLang="en-US" dirty="0">
                <a:latin typeface="Times New Roman" panose="02020603050405020304" pitchFamily="18" charset="0"/>
                <a:ea typeface="宋体" panose="02010600030101010101" pitchFamily="2" charset="-122"/>
              </a:rPr>
              <a:t>而滤掉低于</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的低频分量。带通滤波器只保留介于低频和高频之间的频率分量。 </a:t>
            </a:r>
            <a:r>
              <a:rPr lang="en-US" altLang="zh-CN" dirty="0">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文本框 9219"/>
          <p:cNvSpPr txBox="1"/>
          <p:nvPr/>
        </p:nvSpPr>
        <p:spPr>
          <a:xfrm>
            <a:off x="395288" y="476250"/>
            <a:ext cx="8523287" cy="5711825"/>
          </a:xfrm>
          <a:prstGeom prst="rect">
            <a:avLst/>
          </a:prstGeom>
          <a:noFill/>
          <a:ln w="9525">
            <a:noFill/>
          </a:ln>
        </p:spPr>
        <p:txBody>
          <a:bodyPr anchor="t">
            <a:spAutoFit/>
          </a:bodyPr>
          <a:p>
            <a:pPr algn="just">
              <a:lnSpc>
                <a:spcPct val="158000"/>
              </a:lnSpc>
              <a:spcBef>
                <a:spcPct val="50000"/>
              </a:spcBef>
            </a:pPr>
            <a:r>
              <a:rPr lang="en-US" altLang="zh-CN" b="1" dirty="0">
                <a:latin typeface="Times New Roman" panose="02020603050405020304" pitchFamily="18" charset="0"/>
                <a:ea typeface="宋体" panose="02010600030101010101" pitchFamily="2" charset="-122"/>
              </a:rPr>
              <a:t>5.1.2 </a:t>
            </a:r>
            <a:r>
              <a:rPr lang="zh-CN" altLang="en-US" b="1" dirty="0">
                <a:latin typeface="Times New Roman" panose="02020603050405020304" pitchFamily="18" charset="0"/>
                <a:ea typeface="宋体" panose="02010600030101010101" pitchFamily="2" charset="-122"/>
              </a:rPr>
              <a:t>滤波器的技术指标</a:t>
            </a:r>
            <a:endParaRPr lang="zh-CN" altLang="en-US" b="1">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理想滤波器</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如理想低通滤波器</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是非因果的</a:t>
            </a:r>
            <a:r>
              <a:rPr lang="zh-CN" altLang="en-US" dirty="0">
                <a:latin typeface="Times New Roman" panose="02020603050405020304" pitchFamily="18" charset="0"/>
                <a:ea typeface="宋体" panose="02010600030101010101" pitchFamily="2" charset="-122"/>
              </a:rPr>
              <a:t>， 其单位脉冲响应从</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延伸到</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因此，无论用递归还是非递归方法， 理想滤波器是不能实现的， 但在概念上极为重要。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一般来说，滤波器的性能要求往往以频率响应的幅度特性的允许误差来表征。以低通滤波器为例，如图</a:t>
            </a:r>
            <a:r>
              <a:rPr lang="en-US" altLang="zh-CN" dirty="0">
                <a:latin typeface="Times New Roman" panose="02020603050405020304" pitchFamily="18" charset="0"/>
                <a:ea typeface="宋体" panose="02010600030101010101" pitchFamily="2" charset="-122"/>
              </a:rPr>
              <a:t>5-2</a:t>
            </a:r>
            <a:r>
              <a:rPr lang="zh-CN" altLang="en-US" dirty="0">
                <a:latin typeface="Times New Roman" panose="02020603050405020304" pitchFamily="18" charset="0"/>
                <a:ea typeface="宋体" panose="02010600030101010101" pitchFamily="2" charset="-122"/>
              </a:rPr>
              <a:t>（称容限图）所示， 频率响应有通带、 过渡带及阻带三个范围（而不是理想的陡截止的通带、阻带两个范围）。图中</a:t>
            </a:r>
            <a:r>
              <a:rPr lang="en-US" altLang="zh-CN" i="1">
                <a:latin typeface="Times New Roman" panose="02020603050405020304" pitchFamily="18" charset="0"/>
                <a:ea typeface="宋体" panose="02010600030101010101" pitchFamily="2" charset="-122"/>
              </a:rPr>
              <a:t>δ</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为通带的容限，</a:t>
            </a:r>
            <a:r>
              <a:rPr lang="en-US" altLang="zh-CN" i="1">
                <a:latin typeface="Times New Roman" panose="02020603050405020304" pitchFamily="18" charset="0"/>
                <a:ea typeface="宋体" panose="02010600030101010101" pitchFamily="2" charset="-122"/>
              </a:rPr>
              <a:t>δ</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为</a:t>
            </a:r>
            <a:r>
              <a:rPr lang="zh-CN" altLang="en-US" dirty="0">
                <a:latin typeface="Times New Roman" panose="02020603050405020304" pitchFamily="18" charset="0"/>
                <a:ea typeface="宋体" panose="02010600030101010101" pitchFamily="2" charset="-122"/>
              </a:rPr>
              <a:t>阻带的容限。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文本框 11267"/>
          <p:cNvSpPr txBox="1"/>
          <p:nvPr/>
        </p:nvSpPr>
        <p:spPr>
          <a:xfrm>
            <a:off x="1676400" y="5410200"/>
            <a:ext cx="6305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5-2 </a:t>
            </a:r>
            <a:r>
              <a:rPr lang="zh-CN" altLang="en-US" dirty="0">
                <a:latin typeface="Times New Roman" panose="02020603050405020304" pitchFamily="18" charset="0"/>
                <a:ea typeface="宋体" panose="02010600030101010101" pitchFamily="2" charset="-122"/>
              </a:rPr>
              <a:t>低通滤波器频率响应幅度特性的容限图 </a:t>
            </a:r>
            <a:endParaRPr lang="zh-CN" altLang="en-US">
              <a:latin typeface="Times New Roman" panose="02020603050405020304" pitchFamily="18" charset="0"/>
              <a:ea typeface="宋体" panose="02010600030101010101" pitchFamily="2" charset="-122"/>
            </a:endParaRPr>
          </a:p>
        </p:txBody>
      </p:sp>
      <p:pic>
        <p:nvPicPr>
          <p:cNvPr id="12290" name="图片 11270" descr="5-2"/>
          <p:cNvPicPr>
            <a:picLocks noChangeAspect="1"/>
          </p:cNvPicPr>
          <p:nvPr>
            <p:custDataLst>
              <p:tags r:id="rId1"/>
            </p:custDataLst>
          </p:nvPr>
        </p:nvPicPr>
        <p:blipFill>
          <a:blip r:embed="rId2"/>
          <a:stretch>
            <a:fillRect/>
          </a:stretch>
        </p:blipFill>
        <p:spPr>
          <a:xfrm>
            <a:off x="683578" y="1412558"/>
            <a:ext cx="6457950" cy="3852862"/>
          </a:xfrm>
          <a:prstGeom prst="rect">
            <a:avLst/>
          </a:prstGeom>
          <a:noFill/>
          <a:ln w="9525">
            <a:noFill/>
          </a:ln>
        </p:spPr>
      </p:pic>
      <p:graphicFrame>
        <p:nvGraphicFramePr>
          <p:cNvPr id="13314" name="对象 12292"/>
          <p:cNvGraphicFramePr/>
          <p:nvPr/>
        </p:nvGraphicFramePr>
        <p:xfrm>
          <a:off x="2705418" y="620395"/>
          <a:ext cx="6438265" cy="1873250"/>
        </p:xfrm>
        <a:graphic>
          <a:graphicData uri="http://schemas.openxmlformats.org/presentationml/2006/ole">
            <mc:AlternateContent xmlns:mc="http://schemas.openxmlformats.org/markup-compatibility/2006">
              <mc:Choice xmlns:v="urn:schemas-microsoft-com:vml" Requires="v">
                <p:oleObj spid="_x0000_s3079" name="" r:id="rId3" imgW="3187700" imgH="914400" progId="Equation.3">
                  <p:embed/>
                </p:oleObj>
              </mc:Choice>
              <mc:Fallback>
                <p:oleObj name="" r:id="rId3" imgW="3187700" imgH="914400" progId="Equation.3">
                  <p:embed/>
                  <p:pic>
                    <p:nvPicPr>
                      <p:cNvPr id="0" name="图片 3078"/>
                      <p:cNvPicPr/>
                      <p:nvPr/>
                    </p:nvPicPr>
                    <p:blipFill>
                      <a:blip r:embed="rId4"/>
                      <a:stretch>
                        <a:fillRect/>
                      </a:stretch>
                    </p:blipFill>
                    <p:spPr>
                      <a:xfrm>
                        <a:off x="2705418" y="620395"/>
                        <a:ext cx="6438265" cy="1873250"/>
                      </a:xfrm>
                      <a:prstGeom prst="rect">
                        <a:avLst/>
                      </a:prstGeom>
                      <a:solidFill>
                        <a:schemeClr val="accent1"/>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anim calcmode="lin" valueType="num">
                                      <p:cBhvr additive="base">
                                        <p:cTn id="7" dur="500" fill="hold"/>
                                        <p:tgtEl>
                                          <p:spTgt spid="13314"/>
                                        </p:tgtEl>
                                        <p:attrNameLst>
                                          <p:attrName>ppt_x</p:attrName>
                                        </p:attrNameLst>
                                      </p:cBhvr>
                                      <p:tavLst>
                                        <p:tav tm="0">
                                          <p:val>
                                            <p:strVal val="#ppt_x"/>
                                          </p:val>
                                        </p:tav>
                                        <p:tav tm="100000">
                                          <p:val>
                                            <p:strVal val="#ppt_x"/>
                                          </p:val>
                                        </p:tav>
                                      </p:tavLst>
                                    </p:anim>
                                    <p:anim calcmode="lin" valueType="num">
                                      <p:cBhvr additive="base">
                                        <p:cTn id="8" dur="500" fill="hold"/>
                                        <p:tgtEl>
                                          <p:spTgt spid="133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文本框 10243"/>
          <p:cNvSpPr txBox="1"/>
          <p:nvPr/>
        </p:nvSpPr>
        <p:spPr>
          <a:xfrm>
            <a:off x="400050" y="685800"/>
            <a:ext cx="6915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在通带内，幅度响应以最大误差</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δ</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逼近于</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，即 </a:t>
            </a:r>
            <a:endParaRPr lang="zh-CN" altLang="en-US">
              <a:latin typeface="Times New Roman" panose="02020603050405020304" pitchFamily="18" charset="0"/>
              <a:ea typeface="宋体" panose="02010600030101010101" pitchFamily="2" charset="-122"/>
            </a:endParaRPr>
          </a:p>
        </p:txBody>
      </p:sp>
      <p:graphicFrame>
        <p:nvGraphicFramePr>
          <p:cNvPr id="13314" name="对象 10244"/>
          <p:cNvGraphicFramePr/>
          <p:nvPr/>
        </p:nvGraphicFramePr>
        <p:xfrm>
          <a:off x="2133600" y="1422400"/>
          <a:ext cx="3543300" cy="558800"/>
        </p:xfrm>
        <a:graphic>
          <a:graphicData uri="http://schemas.openxmlformats.org/presentationml/2006/ole">
            <mc:AlternateContent xmlns:mc="http://schemas.openxmlformats.org/markup-compatibility/2006">
              <mc:Choice xmlns:v="urn:schemas-microsoft-com:vml" Requires="v">
                <p:oleObj spid="_x0000_s3082" name="" r:id="rId1" imgW="1447800" imgH="228600" progId="Equation.3">
                  <p:embed/>
                </p:oleObj>
              </mc:Choice>
              <mc:Fallback>
                <p:oleObj name="" r:id="rId1" imgW="1447800" imgH="228600" progId="Equation.3">
                  <p:embed/>
                  <p:pic>
                    <p:nvPicPr>
                      <p:cNvPr id="0" name="图片 3081"/>
                      <p:cNvPicPr/>
                      <p:nvPr/>
                    </p:nvPicPr>
                    <p:blipFill>
                      <a:blip r:embed="rId2"/>
                      <a:stretch>
                        <a:fillRect/>
                      </a:stretch>
                    </p:blipFill>
                    <p:spPr>
                      <a:xfrm>
                        <a:off x="2133600" y="1422400"/>
                        <a:ext cx="3543300" cy="558800"/>
                      </a:xfrm>
                      <a:prstGeom prst="rect">
                        <a:avLst/>
                      </a:prstGeom>
                      <a:noFill/>
                      <a:ln w="38100">
                        <a:noFill/>
                        <a:miter/>
                      </a:ln>
                    </p:spPr>
                  </p:pic>
                </p:oleObj>
              </mc:Fallback>
            </mc:AlternateContent>
          </a:graphicData>
        </a:graphic>
      </p:graphicFrame>
      <p:sp>
        <p:nvSpPr>
          <p:cNvPr id="13315" name="文本框 10246"/>
          <p:cNvSpPr txBox="1"/>
          <p:nvPr/>
        </p:nvSpPr>
        <p:spPr>
          <a:xfrm>
            <a:off x="381000" y="2438400"/>
            <a:ext cx="7067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在阻带内，幅度响应以误差小于</a:t>
            </a:r>
            <a:r>
              <a:rPr lang="en-US" altLang="zh-CN" i="1">
                <a:latin typeface="Times New Roman" panose="02020603050405020304" pitchFamily="18" charset="0"/>
                <a:ea typeface="宋体" panose="02010600030101010101" pitchFamily="2" charset="-122"/>
              </a:rPr>
              <a:t>δ</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而逼近于零，即 </a:t>
            </a:r>
            <a:endParaRPr lang="zh-CN" altLang="en-US">
              <a:latin typeface="Times New Roman" panose="02020603050405020304" pitchFamily="18" charset="0"/>
              <a:ea typeface="宋体" panose="02010600030101010101" pitchFamily="2" charset="-122"/>
            </a:endParaRPr>
          </a:p>
        </p:txBody>
      </p:sp>
      <p:graphicFrame>
        <p:nvGraphicFramePr>
          <p:cNvPr id="13316" name="对象 10247"/>
          <p:cNvGraphicFramePr/>
          <p:nvPr/>
        </p:nvGraphicFramePr>
        <p:xfrm>
          <a:off x="2330450" y="3141663"/>
          <a:ext cx="2432050" cy="541337"/>
        </p:xfrm>
        <a:graphic>
          <a:graphicData uri="http://schemas.openxmlformats.org/presentationml/2006/ole">
            <mc:AlternateContent xmlns:mc="http://schemas.openxmlformats.org/markup-compatibility/2006">
              <mc:Choice xmlns:v="urn:schemas-microsoft-com:vml" Requires="v">
                <p:oleObj spid="_x0000_s3080" name="" r:id="rId3" imgW="1028700" imgH="228600" progId="Equation.3">
                  <p:embed/>
                </p:oleObj>
              </mc:Choice>
              <mc:Fallback>
                <p:oleObj name="" r:id="rId3" imgW="1028700" imgH="228600" progId="Equation.3">
                  <p:embed/>
                  <p:pic>
                    <p:nvPicPr>
                      <p:cNvPr id="0" name="图片 3079"/>
                      <p:cNvPicPr/>
                      <p:nvPr/>
                    </p:nvPicPr>
                    <p:blipFill>
                      <a:blip r:embed="rId4"/>
                      <a:stretch>
                        <a:fillRect/>
                      </a:stretch>
                    </p:blipFill>
                    <p:spPr>
                      <a:xfrm>
                        <a:off x="2330450" y="3141663"/>
                        <a:ext cx="2432050" cy="541337"/>
                      </a:xfrm>
                      <a:prstGeom prst="rect">
                        <a:avLst/>
                      </a:prstGeom>
                      <a:noFill/>
                      <a:ln w="38100">
                        <a:noFill/>
                        <a:miter/>
                      </a:ln>
                    </p:spPr>
                  </p:pic>
                </p:oleObj>
              </mc:Fallback>
            </mc:AlternateContent>
          </a:graphicData>
        </a:graphic>
      </p:graphicFrame>
      <p:sp>
        <p:nvSpPr>
          <p:cNvPr id="13317" name="文本框 10248"/>
          <p:cNvSpPr txBox="1"/>
          <p:nvPr/>
        </p:nvSpPr>
        <p:spPr>
          <a:xfrm>
            <a:off x="5508625" y="3213100"/>
            <a:ext cx="1908175" cy="457200"/>
          </a:xfrm>
          <a:prstGeom prst="rect">
            <a:avLst/>
          </a:prstGeom>
          <a:noFill/>
          <a:ln w="9525">
            <a:noFill/>
          </a:ln>
        </p:spPr>
        <p:txBody>
          <a:bodyPr wrap="none" anchor="t">
            <a:spAutoFit/>
          </a:bodyPr>
          <a:p>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|≤π</a:t>
            </a:r>
            <a:endParaRPr lang="en-US" altLang="zh-CN">
              <a:latin typeface="Times New Roman" panose="02020603050405020304" pitchFamily="18" charset="0"/>
              <a:ea typeface="宋体" panose="02010600030101010101" pitchFamily="2" charset="-122"/>
            </a:endParaRPr>
          </a:p>
        </p:txBody>
      </p:sp>
      <p:sp>
        <p:nvSpPr>
          <p:cNvPr id="13318" name="文本框 10249"/>
          <p:cNvSpPr txBox="1"/>
          <p:nvPr/>
        </p:nvSpPr>
        <p:spPr>
          <a:xfrm>
            <a:off x="6324600" y="1422400"/>
            <a:ext cx="1397000" cy="457200"/>
          </a:xfrm>
          <a:prstGeom prst="rect">
            <a:avLst/>
          </a:prstGeom>
          <a:noFill/>
          <a:ln w="9525">
            <a:noFill/>
          </a:ln>
        </p:spPr>
        <p:txBody>
          <a:bodyPr anchor="t">
            <a:spAutoFit/>
          </a:bodyPr>
          <a:p>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p</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
        <p:nvSpPr>
          <p:cNvPr id="13319" name="文本框 10250"/>
          <p:cNvSpPr txBox="1"/>
          <p:nvPr/>
        </p:nvSpPr>
        <p:spPr>
          <a:xfrm>
            <a:off x="395288" y="4076700"/>
            <a:ext cx="8534400" cy="1951355"/>
          </a:xfrm>
          <a:prstGeom prst="rect">
            <a:avLst/>
          </a:prstGeom>
          <a:noFill/>
          <a:ln w="9525">
            <a:noFill/>
          </a:ln>
        </p:spPr>
        <p:txBody>
          <a:bodyPr anchor="t">
            <a:spAutoFit/>
          </a:bodyPr>
          <a:p>
            <a:pPr algn="just">
              <a:lnSpc>
                <a:spcPct val="16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p</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分别为通带截止频率和阻带截止频率，它们都是数字域频率。幅度响应在过渡带（</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p</a:t>
            </a:r>
            <a:r>
              <a:rPr lang="zh-CN" altLang="en-US" baseline="-2500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中从通带平滑地下降到阻带，过渡带的频率响应不作规定。 </a:t>
            </a:r>
            <a:endParaRPr lang="zh-CN" altLang="en-US">
              <a:latin typeface="Times New Roman" panose="02020603050405020304" pitchFamily="18" charset="0"/>
              <a:ea typeface="宋体" panose="02010600030101010101" pitchFamily="2" charset="-122"/>
            </a:endParaRPr>
          </a:p>
        </p:txBody>
      </p:sp>
      <p:sp>
        <p:nvSpPr>
          <p:cNvPr id="13320" name="文本框 10251"/>
          <p:cNvSpPr txBox="1"/>
          <p:nvPr/>
        </p:nvSpPr>
        <p:spPr>
          <a:xfrm>
            <a:off x="7720013" y="1793875"/>
            <a:ext cx="7937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(5-1)</a:t>
            </a:r>
            <a:endParaRPr lang="en-US" altLang="zh-CN" dirty="0">
              <a:latin typeface="Times New Roman" panose="02020603050405020304" pitchFamily="18" charset="0"/>
              <a:ea typeface="宋体" panose="02010600030101010101" pitchFamily="2" charset="-122"/>
            </a:endParaRPr>
          </a:p>
        </p:txBody>
      </p:sp>
      <p:sp>
        <p:nvSpPr>
          <p:cNvPr id="13321" name="文本框 10252"/>
          <p:cNvSpPr txBox="1"/>
          <p:nvPr/>
        </p:nvSpPr>
        <p:spPr>
          <a:xfrm>
            <a:off x="7740650" y="3573463"/>
            <a:ext cx="7937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(5-2)</a:t>
            </a:r>
            <a:endParaRPr lang="en-US" altLang="zh-CN" dirty="0">
              <a:latin typeface="Times New Roman" panose="02020603050405020304" pitchFamily="18" charset="0"/>
              <a:ea typeface="宋体" panose="02010600030101010101" pitchFamily="2" charset="-122"/>
            </a:endParaRPr>
          </a:p>
        </p:txBody>
      </p:sp>
      <p:graphicFrame>
        <p:nvGraphicFramePr>
          <p:cNvPr id="3" name="对象 2">
            <a:hlinkClick r:id="" action="ppaction://ole?verb="/>
          </p:cNvPr>
          <p:cNvGraphicFramePr>
            <a:graphicFrameLocks noChangeAspect="1"/>
          </p:cNvGraphicFramePr>
          <p:nvPr/>
        </p:nvGraphicFramePr>
        <p:xfrm>
          <a:off x="4787900" y="4796790"/>
          <a:ext cx="1563370" cy="636270"/>
        </p:xfrm>
        <a:graphic>
          <a:graphicData uri="http://schemas.openxmlformats.org/presentationml/2006/ole">
            <mc:AlternateContent xmlns:mc="http://schemas.openxmlformats.org/markup-compatibility/2006">
              <mc:Choice xmlns:v="urn:schemas-microsoft-com:vml" Requires="v">
                <p:oleObj spid="_x0000_s3081" name="" r:id="rId5" imgW="533400" imgH="241300" progId="Equation.KSEE3">
                  <p:embed/>
                </p:oleObj>
              </mc:Choice>
              <mc:Fallback>
                <p:oleObj name="" r:id="rId5" imgW="533400" imgH="241300" progId="Equation.KSEE3">
                  <p:embed/>
                  <p:pic>
                    <p:nvPicPr>
                      <p:cNvPr id="0" name="图片 3080"/>
                      <p:cNvPicPr/>
                      <p:nvPr/>
                    </p:nvPicPr>
                    <p:blipFill>
                      <a:blip r:embed="rId6"/>
                      <a:stretch>
                        <a:fillRect/>
                      </a:stretch>
                    </p:blipFill>
                    <p:spPr>
                      <a:xfrm>
                        <a:off x="4787900" y="4796790"/>
                        <a:ext cx="1563370" cy="636270"/>
                      </a:xfrm>
                      <a:prstGeom prst="rect">
                        <a:avLst/>
                      </a:prstGeom>
                      <a:solidFill>
                        <a:schemeClr val="accent1"/>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3276600" y="5661025"/>
            <a:ext cx="3887788"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14338" name="文本框 12291"/>
          <p:cNvSpPr txBox="1"/>
          <p:nvPr/>
        </p:nvSpPr>
        <p:spPr>
          <a:xfrm>
            <a:off x="228600" y="609600"/>
            <a:ext cx="8686800" cy="16192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虽然给出了通带的容限</a:t>
            </a:r>
            <a:r>
              <a:rPr lang="en-US" altLang="zh-CN" i="1">
                <a:latin typeface="Times New Roman" panose="02020603050405020304" pitchFamily="18" charset="0"/>
                <a:ea typeface="宋体" panose="02010600030101010101" pitchFamily="2" charset="-122"/>
              </a:rPr>
              <a:t>δ</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及阻带的容限</a:t>
            </a:r>
            <a:r>
              <a:rPr lang="en-US" altLang="zh-CN" i="1">
                <a:latin typeface="Times New Roman" panose="02020603050405020304" pitchFamily="18" charset="0"/>
                <a:ea typeface="宋体" panose="02010600030101010101" pitchFamily="2" charset="-122"/>
              </a:rPr>
              <a:t>δ</a:t>
            </a:r>
            <a:r>
              <a:rPr lang="en-US" altLang="zh-CN" baseline="-25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，但是，在具体技术指标中往往使用通带允许的</a:t>
            </a:r>
            <a:r>
              <a:rPr lang="zh-CN" altLang="en-US" b="1" u="sng" dirty="0">
                <a:solidFill>
                  <a:srgbClr val="FF0000"/>
                </a:solidFill>
                <a:latin typeface="Times New Roman" panose="02020603050405020304" pitchFamily="18" charset="0"/>
                <a:ea typeface="宋体" panose="02010600030101010101" pitchFamily="2" charset="-122"/>
              </a:rPr>
              <a:t>最大衰减（波纹）</a:t>
            </a:r>
            <a:r>
              <a:rPr lang="en-US" altLang="zh-CN" b="1" i="1" u="sng" err="1">
                <a:solidFill>
                  <a:srgbClr val="FF0000"/>
                </a:solidFill>
                <a:latin typeface="Times New Roman" panose="02020603050405020304" pitchFamily="18" charset="0"/>
                <a:ea typeface="宋体" panose="02010600030101010101" pitchFamily="2" charset="-122"/>
              </a:rPr>
              <a:t>A</a:t>
            </a:r>
            <a:r>
              <a:rPr lang="en-US" altLang="zh-CN" b="1" u="sng" baseline="-25000" err="1">
                <a:solidFill>
                  <a:srgbClr val="FF0000"/>
                </a:solidFill>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和阻带应达到的</a:t>
            </a:r>
            <a:r>
              <a:rPr lang="zh-CN" altLang="en-US" b="1" u="sng" dirty="0">
                <a:solidFill>
                  <a:srgbClr val="FF0000"/>
                </a:solidFill>
                <a:latin typeface="Times New Roman" panose="02020603050405020304" pitchFamily="18" charset="0"/>
                <a:ea typeface="宋体" panose="02010600030101010101" pitchFamily="2" charset="-122"/>
              </a:rPr>
              <a:t>最小衰减</a:t>
            </a:r>
            <a:r>
              <a:rPr lang="en-US" altLang="zh-CN" b="1" i="1" u="sng">
                <a:solidFill>
                  <a:srgbClr val="FF0000"/>
                </a:solidFill>
                <a:latin typeface="Times New Roman" panose="02020603050405020304" pitchFamily="18" charset="0"/>
                <a:ea typeface="宋体" panose="02010600030101010101" pitchFamily="2" charset="-122"/>
              </a:rPr>
              <a:t>A</a:t>
            </a:r>
            <a:r>
              <a:rPr lang="en-US" altLang="zh-CN" b="1" u="sng" baseline="-25000">
                <a:solidFill>
                  <a:srgbClr val="FF0000"/>
                </a:solidFill>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描述，</a:t>
            </a:r>
            <a:r>
              <a:rPr lang="en-US" altLang="zh-CN" i="1" err="1">
                <a:latin typeface="Times New Roman" panose="02020603050405020304" pitchFamily="18" charset="0"/>
                <a:ea typeface="宋体" panose="02010600030101010101" pitchFamily="2" charset="-122"/>
              </a:rPr>
              <a:t>A</a:t>
            </a:r>
            <a:r>
              <a:rPr lang="en-US" altLang="zh-CN" baseline="-25000" err="1">
                <a:latin typeface="Times New Roman" panose="02020603050405020304" pitchFamily="18" charset="0"/>
                <a:ea typeface="宋体" panose="02010600030101010101" pitchFamily="2" charset="-122"/>
              </a:rPr>
              <a:t>p</a:t>
            </a:r>
            <a:r>
              <a:rPr lang="zh-CN" altLang="en-US">
                <a:latin typeface="Times New Roman" panose="02020603050405020304" pitchFamily="18" charset="0"/>
                <a:ea typeface="宋体" panose="02010600030101010101" pitchFamily="2" charset="-122"/>
              </a:rPr>
              <a:t>及</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的定义分别为： </a:t>
            </a:r>
            <a:endParaRPr lang="zh-CN" altLang="en-US">
              <a:latin typeface="Times New Roman" panose="02020603050405020304" pitchFamily="18" charset="0"/>
              <a:ea typeface="宋体" panose="02010600030101010101" pitchFamily="2" charset="-122"/>
            </a:endParaRPr>
          </a:p>
        </p:txBody>
      </p:sp>
      <p:graphicFrame>
        <p:nvGraphicFramePr>
          <p:cNvPr id="14339" name="对象 12292"/>
          <p:cNvGraphicFramePr/>
          <p:nvPr/>
        </p:nvGraphicFramePr>
        <p:xfrm>
          <a:off x="1141413" y="2362200"/>
          <a:ext cx="6861175" cy="1873250"/>
        </p:xfrm>
        <a:graphic>
          <a:graphicData uri="http://schemas.openxmlformats.org/presentationml/2006/ole">
            <mc:AlternateContent xmlns:mc="http://schemas.openxmlformats.org/markup-compatibility/2006">
              <mc:Choice xmlns:v="urn:schemas-microsoft-com:vml" Requires="v">
                <p:oleObj spid="_x0000_s3078" name="" r:id="rId1" imgW="3352800" imgH="914400" progId="Equation.3">
                  <p:embed/>
                </p:oleObj>
              </mc:Choice>
              <mc:Fallback>
                <p:oleObj name="" r:id="rId1" imgW="3352800" imgH="914400" progId="Equation.3">
                  <p:embed/>
                  <p:pic>
                    <p:nvPicPr>
                      <p:cNvPr id="0" name="图片 3077"/>
                      <p:cNvPicPr/>
                      <p:nvPr/>
                    </p:nvPicPr>
                    <p:blipFill>
                      <a:blip r:embed="rId2"/>
                      <a:stretch>
                        <a:fillRect/>
                      </a:stretch>
                    </p:blipFill>
                    <p:spPr>
                      <a:xfrm>
                        <a:off x="1141413" y="2362200"/>
                        <a:ext cx="6861175" cy="1873250"/>
                      </a:xfrm>
                      <a:prstGeom prst="rect">
                        <a:avLst/>
                      </a:prstGeom>
                      <a:solidFill>
                        <a:schemeClr val="accent1"/>
                      </a:solidFill>
                      <a:ln w="38100">
                        <a:noFill/>
                        <a:miter/>
                      </a:ln>
                    </p:spPr>
                  </p:pic>
                </p:oleObj>
              </mc:Fallback>
            </mc:AlternateContent>
          </a:graphicData>
        </a:graphic>
      </p:graphicFrame>
      <p:sp>
        <p:nvSpPr>
          <p:cNvPr id="14340" name="文本框 12293"/>
          <p:cNvSpPr txBox="1"/>
          <p:nvPr/>
        </p:nvSpPr>
        <p:spPr>
          <a:xfrm>
            <a:off x="7924800" y="2555875"/>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5-3</a:t>
            </a:r>
            <a:r>
              <a:rPr lang="en-US" altLang="zh-CN" i="1">
                <a:latin typeface="Times New Roman" panose="02020603050405020304" pitchFamily="18" charset="0"/>
                <a:ea typeface="宋体" panose="02010600030101010101" pitchFamily="2" charset="-122"/>
              </a:rPr>
              <a:t>a</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4341" name="文本框 12294"/>
          <p:cNvSpPr txBox="1"/>
          <p:nvPr/>
        </p:nvSpPr>
        <p:spPr>
          <a:xfrm>
            <a:off x="7924800" y="36576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5-3</a:t>
            </a:r>
            <a:r>
              <a:rPr lang="en-US" altLang="zh-CN" i="1">
                <a:latin typeface="Times New Roman" panose="02020603050405020304" pitchFamily="18" charset="0"/>
                <a:ea typeface="宋体" panose="02010600030101010101" pitchFamily="2" charset="-122"/>
              </a:rPr>
              <a:t>b</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4342" name="文本框 12295"/>
          <p:cNvSpPr txBox="1"/>
          <p:nvPr/>
        </p:nvSpPr>
        <p:spPr>
          <a:xfrm>
            <a:off x="0" y="4351338"/>
            <a:ext cx="8991600" cy="1820862"/>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式中，假定</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(e</a:t>
            </a:r>
            <a:r>
              <a:rPr lang="en-US" altLang="zh-CN" baseline="30000">
                <a:latin typeface="Times New Roman" panose="02020603050405020304" pitchFamily="18" charset="0"/>
                <a:ea typeface="宋体" panose="02010600030101010101" pitchFamily="2" charset="-122"/>
              </a:rPr>
              <a:t>j0</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已被归一化</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。例如</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在</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处满足</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baseline="30000">
                <a:latin typeface="Times New Roman" panose="02020603050405020304" pitchFamily="18" charset="0"/>
                <a:ea typeface="宋体" panose="02010600030101010101" pitchFamily="2" charset="-122"/>
              </a:rPr>
              <a:t>ω</a:t>
            </a:r>
            <a:r>
              <a:rPr lang="en-US" altLang="zh-CN" baseline="15000">
                <a:latin typeface="Times New Roman" panose="02020603050405020304" pitchFamily="18" charset="0"/>
                <a:ea typeface="宋体" panose="02010600030101010101" pitchFamily="2" charset="-122"/>
              </a:rPr>
              <a:t>p</a:t>
            </a:r>
            <a:r>
              <a:rPr lang="en-US" altLang="zh-CN">
                <a:latin typeface="Times New Roman" panose="02020603050405020304" pitchFamily="18" charset="0"/>
                <a:ea typeface="宋体" panose="02010600030101010101" pitchFamily="2" charset="-122"/>
              </a:rPr>
              <a:t>)|=0.707</a:t>
            </a:r>
            <a:r>
              <a:rPr lang="zh-CN" altLang="en-US">
                <a:latin typeface="Times New Roman" panose="02020603050405020304" pitchFamily="18" charset="0"/>
                <a:ea typeface="宋体" panose="02010600030101010101" pitchFamily="2" charset="-122"/>
              </a:rPr>
              <a:t>，则</a:t>
            </a:r>
            <a:r>
              <a:rPr lang="en-US" altLang="zh-CN" i="1" err="1">
                <a:latin typeface="Times New Roman" panose="02020603050405020304" pitchFamily="18" charset="0"/>
                <a:ea typeface="宋体" panose="02010600030101010101" pitchFamily="2" charset="-122"/>
              </a:rPr>
              <a:t>A</a:t>
            </a:r>
            <a:r>
              <a:rPr lang="en-US" altLang="zh-CN" baseline="-25000" err="1">
                <a:latin typeface="Times New Roman" panose="02020603050405020304" pitchFamily="18" charset="0"/>
                <a:ea typeface="宋体" panose="02010600030101010101" pitchFamily="2" charset="-122"/>
              </a:rPr>
              <a:t>p</a:t>
            </a:r>
            <a:r>
              <a:rPr lang="en-US" altLang="zh-CN">
                <a:latin typeface="Times New Roman" panose="02020603050405020304" pitchFamily="18" charset="0"/>
                <a:ea typeface="宋体" panose="02010600030101010101" pitchFamily="2" charset="-122"/>
              </a:rPr>
              <a:t>=3 dB</a:t>
            </a:r>
            <a:r>
              <a:rPr lang="zh-CN" altLang="en-US">
                <a:latin typeface="Times New Roman" panose="02020603050405020304" pitchFamily="18" charset="0"/>
                <a:ea typeface="宋体" panose="02010600030101010101" pitchFamily="2" charset="-122"/>
              </a:rPr>
              <a:t>；在</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处满足</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baseline="30000">
                <a:latin typeface="Times New Roman" panose="02020603050405020304" pitchFamily="18" charset="0"/>
                <a:ea typeface="宋体" panose="02010600030101010101" pitchFamily="2" charset="-122"/>
              </a:rPr>
              <a:t>ω</a:t>
            </a:r>
            <a:r>
              <a:rPr lang="en-US" altLang="zh-CN" baseline="20000">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)|=0.001</a:t>
            </a:r>
            <a:r>
              <a:rPr lang="zh-CN" altLang="en-US">
                <a:latin typeface="Times New Roman" panose="02020603050405020304" pitchFamily="18" charset="0"/>
                <a:ea typeface="宋体" panose="02010600030101010101" pitchFamily="2" charset="-122"/>
              </a:rPr>
              <a:t>，则</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=60 dB</a:t>
            </a:r>
            <a:r>
              <a:rPr lang="zh-CN" altLang="en-US" dirty="0">
                <a:latin typeface="Times New Roman" panose="02020603050405020304" pitchFamily="18" charset="0"/>
                <a:ea typeface="宋体" panose="02010600030101010101" pitchFamily="2" charset="-122"/>
              </a:rPr>
              <a:t>（参考图</a:t>
            </a:r>
            <a:r>
              <a:rPr lang="en-US" altLang="zh-CN" dirty="0">
                <a:latin typeface="Times New Roman" panose="02020603050405020304" pitchFamily="18" charset="0"/>
                <a:ea typeface="宋体" panose="02010600030101010101" pitchFamily="2" charset="-122"/>
              </a:rPr>
              <a:t>5-2</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注：</a:t>
            </a:r>
            <a:r>
              <a:rPr lang="en-US" altLang="zh-CN" err="1">
                <a:latin typeface="Times New Roman" panose="02020603050405020304" pitchFamily="18" charset="0"/>
                <a:ea typeface="宋体" panose="02010600030101010101" pitchFamily="2" charset="-122"/>
              </a:rPr>
              <a:t>lg</a:t>
            </a:r>
            <a:r>
              <a:rPr lang="zh-CN" altLang="en-US">
                <a:latin typeface="Times New Roman" panose="02020603050405020304" pitchFamily="18" charset="0"/>
                <a:ea typeface="宋体" panose="02010600030101010101" pitchFamily="2" charset="-122"/>
              </a:rPr>
              <a:t>是</a:t>
            </a:r>
            <a:r>
              <a:rPr lang="en-US" altLang="zh-CN">
                <a:latin typeface="Times New Roman" panose="02020603050405020304" pitchFamily="18" charset="0"/>
                <a:ea typeface="宋体" panose="02010600030101010101" pitchFamily="2" charset="-122"/>
              </a:rPr>
              <a:t>log</a:t>
            </a:r>
            <a:r>
              <a:rPr lang="en-US" altLang="zh-CN" baseline="-25000">
                <a:latin typeface="Times New Roman" panose="02020603050405020304" pitchFamily="18" charset="0"/>
                <a:ea typeface="宋体" panose="02010600030101010101" pitchFamily="2" charset="-122"/>
              </a:rPr>
              <a:t>10</a:t>
            </a:r>
            <a:r>
              <a:rPr lang="zh-CN" altLang="en-US" dirty="0">
                <a:latin typeface="Times New Roman" panose="02020603050405020304" pitchFamily="18" charset="0"/>
                <a:ea typeface="宋体" panose="02010600030101010101" pitchFamily="2" charset="-122"/>
              </a:rPr>
              <a:t>的规范符号表示</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blinds/>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文本框 13315"/>
          <p:cNvSpPr txBox="1"/>
          <p:nvPr/>
        </p:nvSpPr>
        <p:spPr>
          <a:xfrm>
            <a:off x="376238" y="685800"/>
            <a:ext cx="8443912" cy="3514090"/>
          </a:xfrm>
          <a:prstGeom prst="rect">
            <a:avLst/>
          </a:prstGeom>
          <a:noFill/>
          <a:ln w="9525">
            <a:noFill/>
          </a:ln>
        </p:spPr>
        <p:txBody>
          <a:bodyPr anchor="t">
            <a:spAutoFit/>
          </a:bodyPr>
          <a:p>
            <a:pPr algn="just">
              <a:lnSpc>
                <a:spcPct val="138000"/>
              </a:lnSpc>
              <a:spcBef>
                <a:spcPct val="50000"/>
              </a:spcBef>
            </a:pPr>
            <a:r>
              <a:rPr lang="en-US" altLang="zh-CN" b="1" dirty="0">
                <a:latin typeface="Times New Roman" panose="02020603050405020304" pitchFamily="18" charset="0"/>
                <a:ea typeface="宋体" panose="02010600030101010101" pitchFamily="2" charset="-122"/>
              </a:rPr>
              <a:t>5.1.3 FIR</a:t>
            </a:r>
            <a:r>
              <a:rPr lang="zh-CN" altLang="en-US" b="1" dirty="0">
                <a:latin typeface="Times New Roman" panose="02020603050405020304" pitchFamily="18" charset="0"/>
                <a:ea typeface="宋体" panose="02010600030101010101" pitchFamily="2" charset="-122"/>
              </a:rPr>
              <a:t>型滤波器和</a:t>
            </a:r>
            <a:r>
              <a:rPr lang="en-US" altLang="zh-CN" b="1" dirty="0">
                <a:latin typeface="Times New Roman" panose="02020603050405020304" pitchFamily="18" charset="0"/>
                <a:ea typeface="宋体" panose="02010600030101010101" pitchFamily="2" charset="-122"/>
              </a:rPr>
              <a:t>IIR</a:t>
            </a:r>
            <a:r>
              <a:rPr lang="zh-CN" altLang="en-US" b="1" dirty="0">
                <a:latin typeface="Times New Roman" panose="02020603050405020304" pitchFamily="18" charset="0"/>
                <a:ea typeface="宋体" panose="02010600030101010101" pitchFamily="2" charset="-122"/>
              </a:rPr>
              <a:t>型滤波器</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数字滤波器按单位脉冲响应</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的时域特性可分为无限长脉冲响应</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Infinite Impulse Response</a:t>
            </a:r>
            <a:r>
              <a:rPr lang="zh-CN" altLang="en-US" dirty="0">
                <a:latin typeface="Times New Roman" panose="02020603050405020304" pitchFamily="18" charset="0"/>
                <a:ea typeface="宋体" panose="02010600030101010101" pitchFamily="2" charset="-122"/>
              </a:rPr>
              <a:t>）滤波器和有限长脉冲响应</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Finite Impulse Response</a:t>
            </a:r>
            <a:r>
              <a:rPr lang="zh-CN" altLang="en-US" dirty="0">
                <a:latin typeface="Times New Roman" panose="02020603050405020304" pitchFamily="18" charset="0"/>
                <a:ea typeface="宋体" panose="02010600030101010101" pitchFamily="2" charset="-122"/>
              </a:rPr>
              <a:t>）滤波器。 </a:t>
            </a:r>
            <a:endParaRPr lang="zh-CN" altLang="en-US" dirty="0">
              <a:latin typeface="Times New Roman" panose="02020603050405020304" pitchFamily="18" charset="0"/>
              <a:ea typeface="宋体" panose="02010600030101010101" pitchFamily="2" charset="-122"/>
            </a:endParaRPr>
          </a:p>
          <a:p>
            <a:pPr>
              <a:lnSpc>
                <a:spcPct val="13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IIR</a:t>
            </a:r>
            <a:r>
              <a:rPr lang="zh-CN" altLang="en-US" dirty="0">
                <a:latin typeface="Times New Roman" panose="02020603050405020304" pitchFamily="18" charset="0"/>
                <a:ea typeface="宋体" panose="02010600030101010101" pitchFamily="2" charset="-122"/>
              </a:rPr>
              <a:t>滤波器一般采用</a:t>
            </a:r>
            <a:r>
              <a:rPr lang="zh-CN" altLang="en-US" b="1" dirty="0">
                <a:solidFill>
                  <a:srgbClr val="FF0000"/>
                </a:solidFill>
                <a:latin typeface="Times New Roman" panose="02020603050405020304" pitchFamily="18" charset="0"/>
                <a:ea typeface="宋体" panose="02010600030101010101" pitchFamily="2" charset="-122"/>
              </a:rPr>
              <a:t>递归型</a:t>
            </a:r>
            <a:r>
              <a:rPr lang="zh-CN" altLang="en-US" dirty="0">
                <a:latin typeface="Times New Roman" panose="02020603050405020304" pitchFamily="18" charset="0"/>
                <a:ea typeface="宋体" panose="02010600030101010101" pitchFamily="2" charset="-122"/>
              </a:rPr>
              <a:t>的实现结构。其</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阶递归型数字滤波器的差分方程为 </a:t>
            </a:r>
            <a:endParaRPr lang="zh-CN" altLang="en-US">
              <a:latin typeface="Times New Roman" panose="02020603050405020304" pitchFamily="18" charset="0"/>
              <a:ea typeface="宋体" panose="02010600030101010101" pitchFamily="2" charset="-122"/>
            </a:endParaRPr>
          </a:p>
        </p:txBody>
      </p:sp>
      <p:graphicFrame>
        <p:nvGraphicFramePr>
          <p:cNvPr id="15362" name="对象 13316"/>
          <p:cNvGraphicFramePr/>
          <p:nvPr/>
        </p:nvGraphicFramePr>
        <p:xfrm>
          <a:off x="2366963" y="4508500"/>
          <a:ext cx="4832350" cy="977900"/>
        </p:xfrm>
        <a:graphic>
          <a:graphicData uri="http://schemas.openxmlformats.org/presentationml/2006/ole">
            <mc:AlternateContent xmlns:mc="http://schemas.openxmlformats.org/markup-compatibility/2006">
              <mc:Choice xmlns:v="urn:schemas-microsoft-com:vml" Requires="v">
                <p:oleObj spid="_x0000_s3094" name="" r:id="rId1" imgW="2133600" imgH="431800" progId="Equation.3">
                  <p:embed/>
                </p:oleObj>
              </mc:Choice>
              <mc:Fallback>
                <p:oleObj name="" r:id="rId1" imgW="2133600" imgH="431800" progId="Equation.3">
                  <p:embed/>
                  <p:pic>
                    <p:nvPicPr>
                      <p:cNvPr id="0" name="图片 3093"/>
                      <p:cNvPicPr/>
                      <p:nvPr/>
                    </p:nvPicPr>
                    <p:blipFill>
                      <a:blip r:embed="rId2"/>
                      <a:stretch>
                        <a:fillRect/>
                      </a:stretch>
                    </p:blipFill>
                    <p:spPr>
                      <a:xfrm>
                        <a:off x="2366963" y="4508500"/>
                        <a:ext cx="4832350" cy="977900"/>
                      </a:xfrm>
                      <a:prstGeom prst="rect">
                        <a:avLst/>
                      </a:prstGeom>
                      <a:solidFill>
                        <a:schemeClr val="accent1"/>
                      </a:solidFill>
                      <a:ln w="38100">
                        <a:noFill/>
                        <a:miter/>
                      </a:ln>
                    </p:spPr>
                  </p:pic>
                </p:oleObj>
              </mc:Fallback>
            </mc:AlternateContent>
          </a:graphicData>
        </a:graphic>
      </p:graphicFrame>
      <p:sp>
        <p:nvSpPr>
          <p:cNvPr id="15363" name="文本框 13317"/>
          <p:cNvSpPr txBox="1"/>
          <p:nvPr/>
        </p:nvSpPr>
        <p:spPr>
          <a:xfrm>
            <a:off x="7543800" y="4724400"/>
            <a:ext cx="1276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5-4</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文本框 14339"/>
          <p:cNvSpPr txBox="1"/>
          <p:nvPr/>
        </p:nvSpPr>
        <p:spPr>
          <a:xfrm>
            <a:off x="228600" y="609600"/>
            <a:ext cx="8763000" cy="1601788"/>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式（</a:t>
            </a:r>
            <a:r>
              <a:rPr lang="en-US" altLang="zh-CN" dirty="0">
                <a:latin typeface="Times New Roman" panose="02020603050405020304" pitchFamily="18" charset="0"/>
                <a:ea typeface="宋体" panose="02010600030101010101" pitchFamily="2" charset="-122"/>
              </a:rPr>
              <a:t>5-4</a:t>
            </a:r>
            <a:r>
              <a:rPr lang="zh-CN" altLang="en-US" dirty="0">
                <a:latin typeface="Times New Roman" panose="02020603050405020304" pitchFamily="18" charset="0"/>
                <a:ea typeface="宋体" panose="02010600030101010101" pitchFamily="2" charset="-122"/>
              </a:rPr>
              <a:t>）中的系数</a:t>
            </a:r>
            <a:r>
              <a:rPr lang="en-US" altLang="zh-CN" i="1" err="1">
                <a:latin typeface="Times New Roman" panose="02020603050405020304" pitchFamily="18" charset="0"/>
                <a:ea typeface="宋体" panose="02010600030101010101" pitchFamily="2" charset="-122"/>
              </a:rPr>
              <a:t>a</a:t>
            </a:r>
            <a:r>
              <a:rPr lang="en-US" altLang="zh-CN" i="1" baseline="-2500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至少有一项不为零。 </a:t>
            </a:r>
            <a:r>
              <a:rPr lang="en-US" altLang="zh-CN" i="1" err="1">
                <a:latin typeface="Times New Roman" panose="02020603050405020304" pitchFamily="18" charset="0"/>
                <a:ea typeface="宋体" panose="02010600030101010101" pitchFamily="2" charset="-122"/>
              </a:rPr>
              <a:t>a</a:t>
            </a:r>
            <a:r>
              <a:rPr lang="en-US" altLang="zh-CN" i="1" baseline="-25000" err="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说明必须将延时的输出</a:t>
            </a:r>
            <a:r>
              <a:rPr lang="zh-CN" altLang="en-US" dirty="0">
                <a:latin typeface="Times New Roman" panose="02020603050405020304" pitchFamily="18" charset="0"/>
                <a:ea typeface="宋体" panose="02010600030101010101" pitchFamily="2" charset="-122"/>
              </a:rPr>
              <a:t>序列反馈回来，也即递归系统必须有反馈环路。相应的</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滤波器的系统函数为 </a:t>
            </a:r>
            <a:endParaRPr lang="zh-CN" altLang="en-US">
              <a:latin typeface="Times New Roman" panose="02020603050405020304" pitchFamily="18" charset="0"/>
              <a:ea typeface="宋体" panose="02010600030101010101" pitchFamily="2" charset="-122"/>
            </a:endParaRPr>
          </a:p>
        </p:txBody>
      </p:sp>
      <p:graphicFrame>
        <p:nvGraphicFramePr>
          <p:cNvPr id="16386" name="对象 14340"/>
          <p:cNvGraphicFramePr/>
          <p:nvPr/>
        </p:nvGraphicFramePr>
        <p:xfrm>
          <a:off x="2819400" y="2132013"/>
          <a:ext cx="2895600" cy="1973262"/>
        </p:xfrm>
        <a:graphic>
          <a:graphicData uri="http://schemas.openxmlformats.org/presentationml/2006/ole">
            <mc:AlternateContent xmlns:mc="http://schemas.openxmlformats.org/markup-compatibility/2006">
              <mc:Choice xmlns:v="urn:schemas-microsoft-com:vml" Requires="v">
                <p:oleObj spid="_x0000_s3095" name="" r:id="rId1" imgW="1231265" imgH="838200" progId="Equation.3">
                  <p:embed/>
                </p:oleObj>
              </mc:Choice>
              <mc:Fallback>
                <p:oleObj name="" r:id="rId1" imgW="1231265" imgH="838200" progId="Equation.3">
                  <p:embed/>
                  <p:pic>
                    <p:nvPicPr>
                      <p:cNvPr id="0" name="图片 3094"/>
                      <p:cNvPicPr/>
                      <p:nvPr/>
                    </p:nvPicPr>
                    <p:blipFill>
                      <a:blip r:embed="rId2"/>
                      <a:stretch>
                        <a:fillRect/>
                      </a:stretch>
                    </p:blipFill>
                    <p:spPr>
                      <a:xfrm>
                        <a:off x="2819400" y="2132013"/>
                        <a:ext cx="2895600" cy="1973262"/>
                      </a:xfrm>
                      <a:prstGeom prst="rect">
                        <a:avLst/>
                      </a:prstGeom>
                      <a:solidFill>
                        <a:schemeClr val="accent1"/>
                      </a:solidFill>
                      <a:ln w="38100">
                        <a:noFill/>
                        <a:miter/>
                      </a:ln>
                    </p:spPr>
                  </p:pic>
                </p:oleObj>
              </mc:Fallback>
            </mc:AlternateContent>
          </a:graphicData>
        </a:graphic>
      </p:graphicFrame>
      <p:sp>
        <p:nvSpPr>
          <p:cNvPr id="16387" name="文本框 14341"/>
          <p:cNvSpPr txBox="1"/>
          <p:nvPr/>
        </p:nvSpPr>
        <p:spPr>
          <a:xfrm>
            <a:off x="6781800" y="2895600"/>
            <a:ext cx="1276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5-5</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6388" name="文本框 14342"/>
          <p:cNvSpPr txBox="1"/>
          <p:nvPr/>
        </p:nvSpPr>
        <p:spPr>
          <a:xfrm>
            <a:off x="288925" y="4689475"/>
            <a:ext cx="8707438" cy="460375"/>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滤波器的系统函数</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在</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平面上</a:t>
            </a:r>
            <a:r>
              <a:rPr lang="zh-CN" altLang="en-US" b="1" dirty="0">
                <a:solidFill>
                  <a:srgbClr val="FF0000"/>
                </a:solidFill>
                <a:latin typeface="Times New Roman" panose="02020603050405020304" pitchFamily="18" charset="0"/>
                <a:ea typeface="宋体" panose="02010600030101010101" pitchFamily="2" charset="-122"/>
              </a:rPr>
              <a:t>不仅有零点，而且有极点。 </a:t>
            </a:r>
            <a:endParaRPr lang="zh-CN" altLang="en-US"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583363" y="5013325"/>
            <a:ext cx="655638" cy="504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17410" name="文本框 15363"/>
          <p:cNvSpPr txBox="1"/>
          <p:nvPr/>
        </p:nvSpPr>
        <p:spPr>
          <a:xfrm>
            <a:off x="444500" y="803275"/>
            <a:ext cx="8159750" cy="2425700"/>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FIR</a:t>
            </a:r>
            <a:r>
              <a:rPr lang="zh-CN" altLang="en-US" dirty="0">
                <a:latin typeface="Times New Roman" panose="02020603050405020304" pitchFamily="18" charset="0"/>
                <a:ea typeface="宋体" panose="02010600030101010101" pitchFamily="2" charset="-122"/>
              </a:rPr>
              <a:t>滤波器的</a:t>
            </a:r>
            <a:r>
              <a:rPr lang="zh-CN" altLang="en-US" b="1" dirty="0">
                <a:solidFill>
                  <a:srgbClr val="FF0000"/>
                </a:solidFill>
                <a:latin typeface="Times New Roman" panose="02020603050405020304" pitchFamily="18" charset="0"/>
                <a:ea typeface="宋体" panose="02010600030101010101" pitchFamily="2" charset="-122"/>
              </a:rPr>
              <a:t>单位脉冲响应</a:t>
            </a:r>
            <a:r>
              <a:rPr lang="en-US" altLang="zh-CN" b="1" i="1">
                <a:solidFill>
                  <a:srgbClr val="FF0000"/>
                </a:solidFill>
                <a:latin typeface="Times New Roman" panose="02020603050405020304" pitchFamily="18" charset="0"/>
                <a:ea typeface="宋体" panose="02010600030101010101" pitchFamily="2" charset="-122"/>
              </a:rPr>
              <a:t>h</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是有限长的</a:t>
            </a:r>
            <a:r>
              <a:rPr lang="zh-CN" altLang="en-US" dirty="0">
                <a:latin typeface="Times New Roman" panose="02020603050405020304" pitchFamily="18" charset="0"/>
                <a:ea typeface="宋体" panose="02010600030101010101" pitchFamily="2" charset="-122"/>
              </a:rPr>
              <a:t>，即</a:t>
            </a:r>
            <a:r>
              <a:rPr lang="en-US" altLang="zh-CN" dirty="0">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该系统一般采用</a:t>
            </a:r>
            <a:r>
              <a:rPr lang="zh-CN" altLang="en-US" b="1" dirty="0">
                <a:solidFill>
                  <a:srgbClr val="FF0000"/>
                </a:solidFill>
                <a:latin typeface="Times New Roman" panose="02020603050405020304" pitchFamily="18" charset="0"/>
                <a:ea typeface="宋体" panose="02010600030101010101" pitchFamily="2" charset="-122"/>
              </a:rPr>
              <a:t>非递归型</a:t>
            </a:r>
            <a:r>
              <a:rPr lang="zh-CN" altLang="en-US" dirty="0">
                <a:latin typeface="Times New Roman" panose="02020603050405020304" pitchFamily="18" charset="0"/>
                <a:ea typeface="宋体" panose="02010600030101010101" pitchFamily="2" charset="-122"/>
              </a:rPr>
              <a:t>的实现结构，但如果系统函数中出现零、 极点相消时</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也可以有递归型的结构</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如频率采样结构</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滤波器的系统函数为 </a:t>
            </a:r>
            <a:endParaRPr lang="zh-CN" altLang="en-US">
              <a:latin typeface="Times New Roman" panose="02020603050405020304" pitchFamily="18" charset="0"/>
              <a:ea typeface="宋体" panose="02010600030101010101" pitchFamily="2" charset="-122"/>
            </a:endParaRPr>
          </a:p>
        </p:txBody>
      </p:sp>
      <p:graphicFrame>
        <p:nvGraphicFramePr>
          <p:cNvPr id="17411" name="对象 15364"/>
          <p:cNvGraphicFramePr/>
          <p:nvPr/>
        </p:nvGraphicFramePr>
        <p:xfrm>
          <a:off x="2895600" y="3429000"/>
          <a:ext cx="3200400" cy="1182688"/>
        </p:xfrm>
        <a:graphic>
          <a:graphicData uri="http://schemas.openxmlformats.org/presentationml/2006/ole">
            <mc:AlternateContent xmlns:mc="http://schemas.openxmlformats.org/markup-compatibility/2006">
              <mc:Choice xmlns:v="urn:schemas-microsoft-com:vml" Requires="v">
                <p:oleObj spid="_x0000_s3092" name="" r:id="rId1" imgW="1167765" imgH="431800" progId="Equation.3">
                  <p:embed/>
                </p:oleObj>
              </mc:Choice>
              <mc:Fallback>
                <p:oleObj name="" r:id="rId1" imgW="1167765" imgH="431800" progId="Equation.3">
                  <p:embed/>
                  <p:pic>
                    <p:nvPicPr>
                      <p:cNvPr id="0" name="图片 3091"/>
                      <p:cNvPicPr/>
                      <p:nvPr/>
                    </p:nvPicPr>
                    <p:blipFill>
                      <a:blip r:embed="rId2"/>
                      <a:stretch>
                        <a:fillRect/>
                      </a:stretch>
                    </p:blipFill>
                    <p:spPr>
                      <a:xfrm>
                        <a:off x="2895600" y="3429000"/>
                        <a:ext cx="3200400" cy="1182688"/>
                      </a:xfrm>
                      <a:prstGeom prst="rect">
                        <a:avLst/>
                      </a:prstGeom>
                      <a:solidFill>
                        <a:schemeClr val="accent1"/>
                      </a:solidFill>
                      <a:ln w="38100">
                        <a:noFill/>
                        <a:miter/>
                      </a:ln>
                    </p:spPr>
                  </p:pic>
                </p:oleObj>
              </mc:Fallback>
            </mc:AlternateContent>
          </a:graphicData>
        </a:graphic>
      </p:graphicFrame>
      <p:sp>
        <p:nvSpPr>
          <p:cNvPr id="17412" name="文本框 15365"/>
          <p:cNvSpPr txBox="1"/>
          <p:nvPr/>
        </p:nvSpPr>
        <p:spPr>
          <a:xfrm>
            <a:off x="7239000" y="3886200"/>
            <a:ext cx="1276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5-6</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7413" name="文本框 15366"/>
          <p:cNvSpPr txBox="1"/>
          <p:nvPr/>
        </p:nvSpPr>
        <p:spPr>
          <a:xfrm>
            <a:off x="468313" y="5013325"/>
            <a:ext cx="7199312"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由式（</a:t>
            </a:r>
            <a:r>
              <a:rPr lang="en-US" altLang="zh-CN" dirty="0">
                <a:latin typeface="Times New Roman" panose="02020603050405020304" pitchFamily="18" charset="0"/>
                <a:ea typeface="宋体" panose="02010600030101010101" pitchFamily="2" charset="-122"/>
              </a:rPr>
              <a:t>5-6</a:t>
            </a:r>
            <a:r>
              <a:rPr lang="zh-CN" altLang="en-US" dirty="0">
                <a:latin typeface="Times New Roman" panose="02020603050405020304" pitchFamily="18" charset="0"/>
                <a:ea typeface="宋体" panose="02010600030101010101" pitchFamily="2" charset="-122"/>
              </a:rPr>
              <a:t>）可知，</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a:t>
            </a:r>
            <a:r>
              <a:rPr lang="zh-CN" altLang="en-US" b="1" u="sng" dirty="0">
                <a:solidFill>
                  <a:srgbClr val="FF0000"/>
                </a:solidFill>
                <a:latin typeface="Times New Roman" panose="02020603050405020304" pitchFamily="18" charset="0"/>
                <a:ea typeface="宋体" panose="02010600030101010101" pitchFamily="2" charset="-122"/>
              </a:rPr>
              <a:t>极点只能在</a:t>
            </a:r>
            <a:r>
              <a:rPr lang="en-US" altLang="zh-CN" b="1" i="1" u="sng">
                <a:solidFill>
                  <a:srgbClr val="FF0000"/>
                </a:solidFill>
                <a:latin typeface="Times New Roman" panose="02020603050405020304" pitchFamily="18" charset="0"/>
                <a:ea typeface="宋体" panose="02010600030101010101" pitchFamily="2" charset="-122"/>
              </a:rPr>
              <a:t>Z</a:t>
            </a:r>
            <a:r>
              <a:rPr lang="zh-CN" altLang="en-US" b="1" u="sng" dirty="0">
                <a:solidFill>
                  <a:srgbClr val="FF0000"/>
                </a:solidFill>
                <a:latin typeface="Times New Roman" panose="02020603050405020304" pitchFamily="18" charset="0"/>
                <a:ea typeface="宋体" panose="02010600030101010101" pitchFamily="2" charset="-122"/>
              </a:rPr>
              <a:t>平面的原点。</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文本框 17411"/>
          <p:cNvSpPr txBox="1"/>
          <p:nvPr/>
        </p:nvSpPr>
        <p:spPr>
          <a:xfrm>
            <a:off x="444500" y="533400"/>
            <a:ext cx="8375650" cy="5562600"/>
          </a:xfrm>
          <a:prstGeom prst="rect">
            <a:avLst/>
          </a:prstGeom>
          <a:noFill/>
          <a:ln w="9525">
            <a:noFill/>
          </a:ln>
        </p:spPr>
        <p:txBody>
          <a:bodyPr anchor="t">
            <a:spAutoFit/>
          </a:bodyPr>
          <a:p>
            <a:pPr algn="just">
              <a:lnSpc>
                <a:spcPct val="148000"/>
              </a:lnSpc>
              <a:spcBef>
                <a:spcPct val="50000"/>
              </a:spcBef>
            </a:pPr>
            <a:r>
              <a:rPr lang="en-US" altLang="zh-CN" b="1" dirty="0">
                <a:latin typeface="Times New Roman" panose="02020603050405020304" pitchFamily="18" charset="0"/>
                <a:ea typeface="宋体" panose="02010600030101010101" pitchFamily="2" charset="-122"/>
              </a:rPr>
              <a:t>5.1.4 </a:t>
            </a:r>
            <a:r>
              <a:rPr lang="zh-CN" altLang="en-US" b="1" dirty="0">
                <a:latin typeface="Times New Roman" panose="02020603050405020304" pitchFamily="18" charset="0"/>
                <a:ea typeface="宋体" panose="02010600030101010101" pitchFamily="2" charset="-122"/>
              </a:rPr>
              <a:t>滤波器的设计步骤</a:t>
            </a:r>
            <a:endParaRPr lang="zh-CN" altLang="en-US">
              <a:latin typeface="Times New Roman" panose="02020603050405020304" pitchFamily="18" charset="0"/>
              <a:ea typeface="宋体" panose="02010600030101010101" pitchFamily="2" charset="-122"/>
            </a:endParaRPr>
          </a:p>
          <a:p>
            <a:pPr algn="just">
              <a:lnSpc>
                <a:spcPct val="14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按照实际任务要求， 确定滤波器的性能指标。</a:t>
            </a:r>
            <a:endParaRPr lang="zh-CN" altLang="en-US" dirty="0">
              <a:latin typeface="Times New Roman" panose="02020603050405020304" pitchFamily="18" charset="0"/>
              <a:ea typeface="宋体" panose="02010600030101010101" pitchFamily="2" charset="-122"/>
            </a:endParaRPr>
          </a:p>
          <a:p>
            <a:pPr algn="just">
              <a:lnSpc>
                <a:spcPct val="14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用一个</a:t>
            </a:r>
            <a:r>
              <a:rPr lang="zh-CN" altLang="en-US" b="1" u="sng" dirty="0">
                <a:solidFill>
                  <a:srgbClr val="FF0000"/>
                </a:solidFill>
                <a:latin typeface="Times New Roman" panose="02020603050405020304" pitchFamily="18" charset="0"/>
                <a:ea typeface="宋体" panose="02010600030101010101" pitchFamily="2" charset="-122"/>
              </a:rPr>
              <a:t>因果稳定</a:t>
            </a:r>
            <a:r>
              <a:rPr lang="zh-CN" altLang="en-US" dirty="0">
                <a:latin typeface="Times New Roman" panose="02020603050405020304" pitchFamily="18" charset="0"/>
                <a:ea typeface="宋体" panose="02010600030101010101" pitchFamily="2" charset="-122"/>
              </a:rPr>
              <a:t>的离散线性时不变系统的系统函数去逼近这一性能要求。根据不同要求可以用</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系统函数，也可以用</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系统函数去逼近。 </a:t>
            </a:r>
            <a:endParaRPr lang="zh-CN" altLang="en-US" dirty="0">
              <a:latin typeface="Times New Roman" panose="02020603050405020304" pitchFamily="18" charset="0"/>
              <a:ea typeface="宋体" panose="02010600030101010101" pitchFamily="2" charset="-122"/>
            </a:endParaRPr>
          </a:p>
          <a:p>
            <a:pPr algn="just">
              <a:lnSpc>
                <a:spcPct val="14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利用有限精度算法来实现这个系统函数。这里包括选择运算结构（如第</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章中的各种基本结构），选择合适的字长（包括系数量化及输入变量、中间变量和输出变量的量化）以</a:t>
            </a:r>
            <a:r>
              <a:rPr lang="zh-CN" altLang="en-US" dirty="0">
                <a:latin typeface="Times New Roman" panose="02020603050405020304" pitchFamily="18" charset="0"/>
                <a:ea typeface="宋体" panose="02010600030101010101" pitchFamily="2" charset="-122"/>
              </a:rPr>
              <a:t>及有效数字的处理方法（舍入、截尾）等。 </a:t>
            </a:r>
            <a:endParaRPr lang="zh-CN" altLang="en-US">
              <a:latin typeface="Times New Roman" panose="02020603050405020304" pitchFamily="18" charset="0"/>
              <a:ea typeface="宋体" panose="02010600030101010101" pitchFamily="2" charset="-122"/>
            </a:endParaRPr>
          </a:p>
        </p:txBody>
      </p:sp>
      <p:sp>
        <p:nvSpPr>
          <p:cNvPr id="2" name="太阳形 1"/>
          <p:cNvSpPr/>
          <p:nvPr/>
        </p:nvSpPr>
        <p:spPr>
          <a:xfrm>
            <a:off x="234950" y="1900238"/>
            <a:ext cx="914400" cy="914400"/>
          </a:xfrm>
          <a:prstGeom prst="sun">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116013" y="5157788"/>
            <a:ext cx="7416800" cy="2873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19458" name="文本框 16387"/>
          <p:cNvSpPr txBox="1"/>
          <p:nvPr/>
        </p:nvSpPr>
        <p:spPr>
          <a:xfrm>
            <a:off x="2209800" y="838200"/>
            <a:ext cx="4860925" cy="579438"/>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5.2  IIR</a:t>
            </a:r>
            <a:r>
              <a:rPr lang="zh-CN" altLang="en-US" sz="3200" b="1" dirty="0">
                <a:latin typeface="Times New Roman" panose="02020603050405020304" pitchFamily="18" charset="0"/>
                <a:ea typeface="宋体" panose="02010600030101010101" pitchFamily="2" charset="-122"/>
              </a:rPr>
              <a:t>滤波器设计的特点 </a:t>
            </a:r>
            <a:endParaRPr lang="zh-CN" altLang="en-US" sz="3200" b="1">
              <a:latin typeface="Times New Roman" panose="02020603050405020304" pitchFamily="18" charset="0"/>
              <a:ea typeface="宋体" panose="02010600030101010101" pitchFamily="2" charset="-122"/>
            </a:endParaRPr>
          </a:p>
        </p:txBody>
      </p:sp>
      <p:sp>
        <p:nvSpPr>
          <p:cNvPr id="19459" name="文本框 16389"/>
          <p:cNvSpPr txBox="1"/>
          <p:nvPr/>
        </p:nvSpPr>
        <p:spPr>
          <a:xfrm>
            <a:off x="228600" y="1828800"/>
            <a:ext cx="7066280" cy="460375"/>
          </a:xfrm>
          <a:prstGeom prst="rect">
            <a:avLst/>
          </a:prstGeom>
          <a:noFill/>
          <a:ln w="9525">
            <a:noFill/>
          </a:ln>
        </p:spPr>
        <p:txBody>
          <a:bodyPr wrap="none" anchor="t">
            <a:spAutoFit/>
          </a:bodyPr>
          <a:p>
            <a:pPr algn="l"/>
            <a:r>
              <a:rPr lang="zh-CN" altLang="en-US" dirty="0">
                <a:latin typeface="Times New Roman" panose="02020603050405020304" pitchFamily="18" charset="0"/>
                <a:ea typeface="宋体" panose="02010600030101010101" pitchFamily="2" charset="-122"/>
              </a:rPr>
              <a:t>式（</a:t>
            </a:r>
            <a:r>
              <a:rPr lang="en-US" altLang="zh-CN" dirty="0">
                <a:latin typeface="Times New Roman" panose="02020603050405020304" pitchFamily="18" charset="0"/>
                <a:ea typeface="宋体" panose="02010600030101010101" pitchFamily="2" charset="-122"/>
              </a:rPr>
              <a:t>5-5</a:t>
            </a:r>
            <a:r>
              <a:rPr lang="zh-CN" altLang="en-US" dirty="0">
                <a:latin typeface="Times New Roman" panose="02020603050405020304" pitchFamily="18" charset="0"/>
                <a:ea typeface="宋体" panose="02010600030101010101" pitchFamily="2" charset="-122"/>
              </a:rPr>
              <a:t>）的系统函数又可以用零、</a:t>
            </a:r>
            <a:r>
              <a:rPr lang="zh-CN" altLang="en-US" dirty="0">
                <a:sym typeface="+mn-ea"/>
              </a:rPr>
              <a:t>极</a:t>
            </a:r>
            <a:r>
              <a:rPr lang="zh-CN" altLang="en-US" dirty="0">
                <a:latin typeface="Times New Roman" panose="02020603050405020304" pitchFamily="18" charset="0"/>
                <a:ea typeface="宋体" panose="02010600030101010101" pitchFamily="2" charset="-122"/>
              </a:rPr>
              <a:t>点表示如下： </a:t>
            </a:r>
            <a:endParaRPr lang="zh-CN" altLang="en-US">
              <a:latin typeface="Times New Roman" panose="02020603050405020304" pitchFamily="18" charset="0"/>
              <a:ea typeface="宋体" panose="02010600030101010101" pitchFamily="2" charset="-122"/>
            </a:endParaRPr>
          </a:p>
        </p:txBody>
      </p:sp>
      <p:graphicFrame>
        <p:nvGraphicFramePr>
          <p:cNvPr id="19460" name="对象 16390"/>
          <p:cNvGraphicFramePr/>
          <p:nvPr/>
        </p:nvGraphicFramePr>
        <p:xfrm>
          <a:off x="1600200" y="2286000"/>
          <a:ext cx="5715000" cy="2038350"/>
        </p:xfrm>
        <a:graphic>
          <a:graphicData uri="http://schemas.openxmlformats.org/presentationml/2006/ole">
            <mc:AlternateContent xmlns:mc="http://schemas.openxmlformats.org/markup-compatibility/2006">
              <mc:Choice xmlns:v="urn:schemas-microsoft-com:vml" Requires="v">
                <p:oleObj spid="_x0000_s3093" name="" r:id="rId1" imgW="2349500" imgH="838200" progId="Equation.3">
                  <p:embed/>
                </p:oleObj>
              </mc:Choice>
              <mc:Fallback>
                <p:oleObj name="" r:id="rId1" imgW="2349500" imgH="838200" progId="Equation.3">
                  <p:embed/>
                  <p:pic>
                    <p:nvPicPr>
                      <p:cNvPr id="0" name="图片 3092"/>
                      <p:cNvPicPr/>
                      <p:nvPr/>
                    </p:nvPicPr>
                    <p:blipFill>
                      <a:blip r:embed="rId2"/>
                      <a:stretch>
                        <a:fillRect/>
                      </a:stretch>
                    </p:blipFill>
                    <p:spPr>
                      <a:xfrm>
                        <a:off x="1600200" y="2286000"/>
                        <a:ext cx="5715000" cy="2038350"/>
                      </a:xfrm>
                      <a:prstGeom prst="rect">
                        <a:avLst/>
                      </a:prstGeom>
                      <a:noFill/>
                      <a:ln w="38100">
                        <a:noFill/>
                        <a:miter/>
                      </a:ln>
                    </p:spPr>
                  </p:pic>
                </p:oleObj>
              </mc:Fallback>
            </mc:AlternateContent>
          </a:graphicData>
        </a:graphic>
      </p:graphicFrame>
      <p:sp>
        <p:nvSpPr>
          <p:cNvPr id="2" name="文本框 16391"/>
          <p:cNvSpPr txBox="1"/>
          <p:nvPr/>
        </p:nvSpPr>
        <p:spPr>
          <a:xfrm>
            <a:off x="152400" y="4360863"/>
            <a:ext cx="8763000" cy="1752600"/>
          </a:xfrm>
          <a:prstGeom prst="rect">
            <a:avLst/>
          </a:prstGeom>
          <a:noFill/>
          <a:ln w="9525">
            <a:noFill/>
          </a:ln>
        </p:spPr>
        <p:txBody>
          <a:bodyPr anchor="t">
            <a:spAutoFit/>
          </a:bodyPr>
          <a:p>
            <a:pPr algn="just">
              <a:lnSpc>
                <a:spcPct val="150000"/>
              </a:lnSpc>
              <a:spcBef>
                <a:spcPct val="50000"/>
              </a:spcBef>
            </a:pPr>
            <a:r>
              <a:rPr lang="en-US" altLang="zh-CN" noProof="1" dirty="0">
                <a:latin typeface="Times New Roman" panose="02020603050405020304" pitchFamily="18" charset="0"/>
                <a:ea typeface="宋体" panose="02010600030101010101" pitchFamily="2" charset="-122"/>
                <a:cs typeface="+mn-cs"/>
              </a:rPr>
              <a:t>        </a:t>
            </a:r>
            <a:r>
              <a:rPr lang="zh-CN" altLang="en-US" noProof="1" dirty="0">
                <a:latin typeface="Times New Roman" panose="02020603050405020304" pitchFamily="18" charset="0"/>
                <a:ea typeface="宋体" panose="02010600030101010101" pitchFamily="2" charset="-122"/>
                <a:cs typeface="+mn-cs"/>
              </a:rPr>
              <a:t>一般满足</a:t>
            </a:r>
            <a:r>
              <a:rPr lang="en-US" altLang="zh-CN" b="1" i="1" noProof="1">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M</a:t>
            </a:r>
            <a:r>
              <a:rPr lang="en-US" altLang="zh-CN" b="1" noProof="1">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a:t>
            </a:r>
            <a:r>
              <a:rPr lang="en-US" altLang="zh-CN" b="1" i="1" noProof="1">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N</a:t>
            </a:r>
            <a:r>
              <a:rPr lang="zh-CN" altLang="en-US" noProof="1" dirty="0">
                <a:latin typeface="Times New Roman" panose="02020603050405020304" pitchFamily="18" charset="0"/>
                <a:ea typeface="宋体" panose="02010600030101010101" pitchFamily="2" charset="-122"/>
                <a:cs typeface="+mn-cs"/>
              </a:rPr>
              <a:t>，这类系统称为</a:t>
            </a:r>
            <a:r>
              <a:rPr lang="en-US" altLang="zh-CN" i="1" noProof="1">
                <a:latin typeface="Times New Roman" panose="02020603050405020304" pitchFamily="18" charset="0"/>
                <a:ea typeface="宋体" panose="02010600030101010101" pitchFamily="2" charset="-122"/>
                <a:cs typeface="+mn-cs"/>
              </a:rPr>
              <a:t>N</a:t>
            </a:r>
            <a:r>
              <a:rPr lang="zh-CN" altLang="en-US" noProof="1" dirty="0">
                <a:latin typeface="Times New Roman" panose="02020603050405020304" pitchFamily="18" charset="0"/>
                <a:ea typeface="宋体" panose="02010600030101010101" pitchFamily="2" charset="-122"/>
                <a:cs typeface="+mn-cs"/>
              </a:rPr>
              <a:t>阶系统，当</a:t>
            </a:r>
            <a:r>
              <a:rPr lang="en-US" altLang="zh-CN" i="1" noProof="1">
                <a:latin typeface="Times New Roman" panose="02020603050405020304" pitchFamily="18" charset="0"/>
                <a:ea typeface="宋体" panose="02010600030101010101" pitchFamily="2" charset="-122"/>
                <a:cs typeface="+mn-cs"/>
              </a:rPr>
              <a:t>M</a:t>
            </a:r>
            <a:r>
              <a:rPr lang="en-US" altLang="zh-CN" noProof="1">
                <a:latin typeface="Times New Roman" panose="02020603050405020304" pitchFamily="18" charset="0"/>
                <a:ea typeface="宋体" panose="02010600030101010101" pitchFamily="2" charset="-122"/>
                <a:cs typeface="+mn-cs"/>
              </a:rPr>
              <a:t>&gt;</a:t>
            </a:r>
            <a:r>
              <a:rPr lang="en-US" altLang="zh-CN" i="1" noProof="1">
                <a:latin typeface="Times New Roman" panose="02020603050405020304" pitchFamily="18" charset="0"/>
                <a:ea typeface="宋体" panose="02010600030101010101" pitchFamily="2" charset="-122"/>
                <a:cs typeface="+mn-cs"/>
              </a:rPr>
              <a:t>N</a:t>
            </a:r>
            <a:r>
              <a:rPr lang="zh-CN" altLang="en-US" noProof="1" dirty="0">
                <a:latin typeface="Times New Roman" panose="02020603050405020304" pitchFamily="18" charset="0"/>
                <a:ea typeface="宋体" panose="02010600030101010101" pitchFamily="2" charset="-122"/>
                <a:cs typeface="+mn-cs"/>
              </a:rPr>
              <a:t>时，</a:t>
            </a:r>
            <a:r>
              <a:rPr lang="en-US" altLang="zh-CN" i="1" noProof="1">
                <a:latin typeface="Times New Roman" panose="02020603050405020304" pitchFamily="18" charset="0"/>
                <a:ea typeface="宋体" panose="02010600030101010101" pitchFamily="2" charset="-122"/>
                <a:cs typeface="+mn-cs"/>
              </a:rPr>
              <a:t>H</a:t>
            </a:r>
            <a:r>
              <a:rPr lang="en-US" altLang="zh-CN" noProof="1">
                <a:latin typeface="Times New Roman" panose="02020603050405020304" pitchFamily="18" charset="0"/>
                <a:ea typeface="宋体" panose="02010600030101010101" pitchFamily="2" charset="-122"/>
                <a:cs typeface="+mn-cs"/>
              </a:rPr>
              <a:t>(</a:t>
            </a:r>
            <a:r>
              <a:rPr lang="en-US" altLang="zh-CN" i="1" noProof="1">
                <a:latin typeface="Times New Roman" panose="02020603050405020304" pitchFamily="18" charset="0"/>
                <a:ea typeface="宋体" panose="02010600030101010101" pitchFamily="2" charset="-122"/>
                <a:cs typeface="+mn-cs"/>
              </a:rPr>
              <a:t>z</a:t>
            </a:r>
            <a:r>
              <a:rPr lang="en-US" altLang="zh-CN" noProof="1" dirty="0">
                <a:latin typeface="Times New Roman" panose="02020603050405020304" pitchFamily="18" charset="0"/>
                <a:ea typeface="宋体" panose="02010600030101010101" pitchFamily="2" charset="-122"/>
                <a:cs typeface="+mn-cs"/>
              </a:rPr>
              <a:t>)</a:t>
            </a:r>
            <a:r>
              <a:rPr lang="zh-CN" altLang="en-US" noProof="1" dirty="0">
                <a:latin typeface="Times New Roman" panose="02020603050405020304" pitchFamily="18" charset="0"/>
                <a:ea typeface="宋体" panose="02010600030101010101" pitchFamily="2" charset="-122"/>
                <a:cs typeface="+mn-cs"/>
              </a:rPr>
              <a:t>可看成是一个</a:t>
            </a:r>
            <a:r>
              <a:rPr lang="en-US" altLang="zh-CN" i="1" noProof="1">
                <a:latin typeface="Times New Roman" panose="02020603050405020304" pitchFamily="18" charset="0"/>
                <a:ea typeface="宋体" panose="02010600030101010101" pitchFamily="2" charset="-122"/>
                <a:cs typeface="+mn-cs"/>
              </a:rPr>
              <a:t>N</a:t>
            </a:r>
            <a:r>
              <a:rPr lang="zh-CN" altLang="en-US" noProof="1" dirty="0">
                <a:latin typeface="Times New Roman" panose="02020603050405020304" pitchFamily="18" charset="0"/>
                <a:ea typeface="宋体" panose="02010600030101010101" pitchFamily="2" charset="-122"/>
                <a:cs typeface="+mn-cs"/>
              </a:rPr>
              <a:t>阶</a:t>
            </a:r>
            <a:r>
              <a:rPr lang="en-US" altLang="zh-CN" noProof="1" dirty="0">
                <a:latin typeface="Times New Roman" panose="02020603050405020304" pitchFamily="18" charset="0"/>
                <a:ea typeface="宋体" panose="02010600030101010101" pitchFamily="2" charset="-122"/>
                <a:cs typeface="+mn-cs"/>
              </a:rPr>
              <a:t>IIR</a:t>
            </a:r>
            <a:r>
              <a:rPr lang="zh-CN" altLang="en-US" noProof="1" dirty="0">
                <a:latin typeface="Times New Roman" panose="02020603050405020304" pitchFamily="18" charset="0"/>
                <a:ea typeface="宋体" panose="02010600030101010101" pitchFamily="2" charset="-122"/>
                <a:cs typeface="+mn-cs"/>
              </a:rPr>
              <a:t>子系统与一个</a:t>
            </a:r>
            <a:r>
              <a:rPr lang="en-US" altLang="zh-CN" noProof="1" dirty="0">
                <a:latin typeface="Times New Roman" panose="02020603050405020304" pitchFamily="18" charset="0"/>
                <a:ea typeface="宋体" panose="02010600030101010101" pitchFamily="2" charset="-122"/>
                <a:cs typeface="+mn-cs"/>
              </a:rPr>
              <a:t>(M-N)</a:t>
            </a:r>
            <a:r>
              <a:rPr lang="zh-CN" altLang="en-US" noProof="1" dirty="0">
                <a:latin typeface="Times New Roman" panose="02020603050405020304" pitchFamily="18" charset="0"/>
                <a:ea typeface="宋体" panose="02010600030101010101" pitchFamily="2" charset="-122"/>
                <a:cs typeface="+mn-cs"/>
              </a:rPr>
              <a:t>阶的</a:t>
            </a:r>
            <a:r>
              <a:rPr lang="en-US" altLang="zh-CN" noProof="1" dirty="0">
                <a:latin typeface="Times New Roman" panose="02020603050405020304" pitchFamily="18" charset="0"/>
                <a:ea typeface="宋体" panose="02010600030101010101" pitchFamily="2" charset="-122"/>
                <a:cs typeface="+mn-cs"/>
              </a:rPr>
              <a:t>FIR</a:t>
            </a:r>
            <a:r>
              <a:rPr lang="zh-CN" altLang="en-US" noProof="1" dirty="0">
                <a:latin typeface="Times New Roman" panose="02020603050405020304" pitchFamily="18" charset="0"/>
                <a:ea typeface="宋体" panose="02010600030101010101" pitchFamily="2" charset="-122"/>
                <a:cs typeface="+mn-cs"/>
              </a:rPr>
              <a:t>子系统的</a:t>
            </a:r>
            <a:r>
              <a:rPr lang="zh-CN" altLang="en-US" b="1" u="sng" noProof="1" dirty="0">
                <a:solidFill>
                  <a:srgbClr val="FF0000"/>
                </a:solidFill>
                <a:latin typeface="Times New Roman" panose="02020603050405020304" pitchFamily="18" charset="0"/>
                <a:ea typeface="宋体" panose="02010600030101010101" pitchFamily="2" charset="-122"/>
                <a:cs typeface="+mn-cs"/>
              </a:rPr>
              <a:t>级联</a:t>
            </a:r>
            <a:r>
              <a:rPr lang="zh-CN" altLang="en-US" noProof="1" dirty="0">
                <a:latin typeface="Times New Roman" panose="02020603050405020304" pitchFamily="18" charset="0"/>
                <a:ea typeface="宋体" panose="02010600030101010101" pitchFamily="2" charset="-122"/>
                <a:cs typeface="+mn-cs"/>
              </a:rPr>
              <a:t>。 以下讨论都假定</a:t>
            </a:r>
            <a:r>
              <a:rPr lang="en-US" altLang="zh-CN" i="1" noProof="1">
                <a:latin typeface="Times New Roman" panose="02020603050405020304" pitchFamily="18" charset="0"/>
                <a:ea typeface="宋体" panose="02010600030101010101" pitchFamily="2" charset="-122"/>
                <a:cs typeface="+mn-cs"/>
              </a:rPr>
              <a:t>M</a:t>
            </a:r>
            <a:r>
              <a:rPr lang="en-US" altLang="zh-CN" noProof="1">
                <a:latin typeface="Times New Roman" panose="02020603050405020304" pitchFamily="18" charset="0"/>
                <a:ea typeface="宋体" panose="02010600030101010101" pitchFamily="2" charset="-122"/>
                <a:cs typeface="+mn-cs"/>
              </a:rPr>
              <a:t>≤</a:t>
            </a:r>
            <a:r>
              <a:rPr lang="en-US" altLang="zh-CN" i="1" noProof="1">
                <a:latin typeface="Times New Roman" panose="02020603050405020304" pitchFamily="18" charset="0"/>
                <a:ea typeface="宋体" panose="02010600030101010101" pitchFamily="2" charset="-122"/>
                <a:cs typeface="+mn-cs"/>
              </a:rPr>
              <a:t>N</a:t>
            </a:r>
            <a:r>
              <a:rPr lang="zh-CN" altLang="en-US" noProof="1">
                <a:latin typeface="Times New Roman" panose="02020603050405020304" pitchFamily="18" charset="0"/>
                <a:ea typeface="宋体" panose="02010600030101010101" pitchFamily="2" charset="-122"/>
                <a:cs typeface="+mn-cs"/>
              </a:rPr>
              <a:t>。 </a:t>
            </a:r>
            <a:endParaRPr lang="zh-CN" altLang="en-US" noProof="1">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文本框 18435"/>
          <p:cNvSpPr txBox="1"/>
          <p:nvPr/>
        </p:nvSpPr>
        <p:spPr>
          <a:xfrm>
            <a:off x="444500" y="620713"/>
            <a:ext cx="8304213" cy="5127625"/>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IIR</a:t>
            </a:r>
            <a:r>
              <a:rPr lang="zh-CN" altLang="en-US" dirty="0">
                <a:latin typeface="Times New Roman" panose="02020603050405020304" pitchFamily="18" charset="0"/>
                <a:ea typeface="宋体" panose="02010600030101010101" pitchFamily="2" charset="-122"/>
              </a:rPr>
              <a:t>滤波器的系统函数的设计就是确定各系数</a:t>
            </a:r>
            <a:r>
              <a:rPr lang="en-US" altLang="zh-CN" i="1" dirty="0" err="1">
                <a:latin typeface="Times New Roman" panose="02020603050405020304" pitchFamily="18" charset="0"/>
                <a:ea typeface="宋体" panose="02010600030101010101" pitchFamily="2" charset="-122"/>
              </a:rPr>
              <a:t>a</a:t>
            </a:r>
            <a:r>
              <a:rPr lang="en-US" altLang="zh-CN" i="1" baseline="-25000" dirty="0" err="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 </a:t>
            </a:r>
            <a:r>
              <a:rPr lang="en-US" altLang="zh-CN" i="1" dirty="0" err="1">
                <a:latin typeface="Times New Roman" panose="02020603050405020304" pitchFamily="18" charset="0"/>
                <a:ea typeface="宋体" panose="02010600030101010101" pitchFamily="2" charset="-122"/>
              </a:rPr>
              <a:t>b</a:t>
            </a:r>
            <a:r>
              <a:rPr lang="en-US" altLang="zh-CN" i="1" baseline="-25000" dirty="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或零极点</a:t>
            </a:r>
            <a:r>
              <a:rPr lang="en-US" altLang="zh-CN" i="1">
                <a:latin typeface="Times New Roman" panose="02020603050405020304" pitchFamily="18" charset="0"/>
                <a:ea typeface="宋体" panose="02010600030101010101" pitchFamily="2" charset="-122"/>
              </a:rPr>
              <a:t>c</a:t>
            </a:r>
            <a:r>
              <a:rPr lang="en-US" altLang="zh-CN" i="1" baseline="-25000">
                <a:latin typeface="Times New Roman" panose="02020603050405020304" pitchFamily="18" charset="0"/>
                <a:ea typeface="宋体" panose="02010600030101010101" pitchFamily="2" charset="-122"/>
              </a:rPr>
              <a:t>k</a:t>
            </a:r>
            <a:r>
              <a:rPr lang="zh-CN" altLang="en-US">
                <a:latin typeface="Times New Roman" panose="02020603050405020304" pitchFamily="18" charset="0"/>
                <a:ea typeface="宋体" panose="02010600030101010101" pitchFamily="2" charset="-122"/>
              </a:rPr>
              <a:t>，</a:t>
            </a:r>
            <a:r>
              <a:rPr lang="en-US" altLang="zh-CN" i="1" dirty="0" err="1">
                <a:latin typeface="Times New Roman" panose="02020603050405020304" pitchFamily="18" charset="0"/>
                <a:ea typeface="宋体" panose="02010600030101010101" pitchFamily="2" charset="-122"/>
              </a:rPr>
              <a:t>d</a:t>
            </a:r>
            <a:r>
              <a:rPr lang="en-US" altLang="zh-CN" i="1" baseline="-25000" dirty="0" err="1">
                <a:latin typeface="Times New Roman" panose="02020603050405020304" pitchFamily="18" charset="0"/>
                <a:ea typeface="宋体" panose="02010600030101010101" pitchFamily="2" charset="-122"/>
              </a:rPr>
              <a:t>k</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，以使滤波器满足给定的性能要求。</a:t>
            </a:r>
            <a:r>
              <a:rPr lang="zh-CN" altLang="en-US" b="1" u="sng" dirty="0">
                <a:solidFill>
                  <a:srgbClr val="FF0000"/>
                </a:solidFill>
                <a:latin typeface="Times New Roman" panose="02020603050405020304" pitchFamily="18" charset="0"/>
                <a:ea typeface="宋体" panose="02010600030101010101" pitchFamily="2" charset="-122"/>
              </a:rPr>
              <a:t>通常有以下两种方法： </a:t>
            </a:r>
            <a:endParaRPr lang="zh-CN" altLang="en-US" b="1" u="sng" dirty="0">
              <a:solidFill>
                <a:srgbClr val="FF0000"/>
              </a:solidFill>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b="1" dirty="0">
                <a:solidFill>
                  <a:srgbClr val="FF0000"/>
                </a:solidFill>
                <a:latin typeface="Times New Roman" panose="02020603050405020304" pitchFamily="18" charset="0"/>
                <a:ea typeface="宋体" panose="02010600030101010101" pitchFamily="2" charset="-122"/>
              </a:rPr>
              <a:t>1</a:t>
            </a:r>
            <a:r>
              <a:rPr lang="zh-CN" altLang="en-US" b="1" dirty="0">
                <a:solidFill>
                  <a:srgbClr val="FF0000"/>
                </a:solidFill>
                <a:latin typeface="Times New Roman" panose="02020603050405020304" pitchFamily="18" charset="0"/>
                <a:ea typeface="宋体" panose="02010600030101010101" pitchFamily="2" charset="-122"/>
              </a:rPr>
              <a:t>）利用模拟滤波器的理论来设计数字滤波器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首先，设计一个合适的模拟滤波器；然后，变换成满足预定指标的数字滤波器。这种方法很方便，因为模拟滤波器已经具有很多简单而又现成的设计公式，并且设计参数已经表格化了，</a:t>
            </a:r>
            <a:r>
              <a:rPr lang="zh-CN" altLang="en-US" dirty="0">
                <a:latin typeface="Times New Roman" panose="02020603050405020304" pitchFamily="18" charset="0"/>
                <a:ea typeface="宋体" panose="02010600030101010101" pitchFamily="2" charset="-122"/>
              </a:rPr>
              <a:t>设计起来既方便又准确。 </a:t>
            </a:r>
            <a:endParaRPr lang="zh-CN" altLang="en-US">
              <a:latin typeface="Times New Roman" panose="02020603050405020304" pitchFamily="18" charset="0"/>
              <a:ea typeface="宋体" panose="02010600030101010101" pitchFamily="2" charset="-122"/>
            </a:endParaRPr>
          </a:p>
        </p:txBody>
      </p:sp>
      <p:sp>
        <p:nvSpPr>
          <p:cNvPr id="3" name="太阳形 2"/>
          <p:cNvSpPr/>
          <p:nvPr/>
        </p:nvSpPr>
        <p:spPr>
          <a:xfrm>
            <a:off x="279400" y="2576513"/>
            <a:ext cx="774700" cy="792163"/>
          </a:xfrm>
          <a:prstGeom prst="sun">
            <a:avLst/>
          </a:prstGeom>
          <a:gradFill>
            <a:gsLst>
              <a:gs pos="0">
                <a:srgbClr val="FECF40"/>
              </a:gs>
              <a:gs pos="100000">
                <a:srgbClr val="846C21"/>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2051050" y="2205038"/>
            <a:ext cx="2809875"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0481" name="文本框 20483"/>
          <p:cNvSpPr txBox="1"/>
          <p:nvPr/>
        </p:nvSpPr>
        <p:spPr>
          <a:xfrm>
            <a:off x="76835" y="476250"/>
            <a:ext cx="9041130" cy="3960495"/>
          </a:xfrm>
          <a:prstGeom prst="rect">
            <a:avLst/>
          </a:prstGeom>
          <a:noFill/>
          <a:ln w="9525">
            <a:noFill/>
          </a:ln>
        </p:spPr>
        <p:txBody>
          <a:bodyPr wrap="square" anchor="t">
            <a:spAutoFit/>
          </a:bodyPr>
          <a:p>
            <a:pPr algn="just">
              <a:lnSpc>
                <a:spcPct val="158000"/>
              </a:lnSpc>
              <a:spcBef>
                <a:spcPct val="50000"/>
              </a:spcBef>
            </a:pPr>
            <a:r>
              <a:rPr lang="en-US" altLang="zh-CN" noProof="1" dirty="0">
                <a:latin typeface="Times New Roman" panose="02020603050405020304" pitchFamily="18" charset="0"/>
                <a:ea typeface="宋体" panose="02010600030101010101" pitchFamily="2" charset="-122"/>
                <a:cs typeface="+mn-cs"/>
              </a:rPr>
              <a:t>        </a:t>
            </a:r>
            <a:r>
              <a:rPr lang="en-US" altLang="zh-CN" b="1" noProof="1" dirty="0">
                <a:solidFill>
                  <a:srgbClr val="FF0000"/>
                </a:solidFill>
                <a:latin typeface="Times New Roman" panose="02020603050405020304" pitchFamily="18" charset="0"/>
                <a:ea typeface="宋体" panose="02010600030101010101" pitchFamily="2" charset="-122"/>
                <a:cs typeface="+mn-cs"/>
              </a:rPr>
              <a:t>2</a:t>
            </a:r>
            <a:r>
              <a:rPr lang="zh-CN" altLang="en-US" b="1" noProof="1" dirty="0">
                <a:solidFill>
                  <a:srgbClr val="FF0000"/>
                </a:solidFill>
                <a:latin typeface="Times New Roman" panose="02020603050405020304" pitchFamily="18" charset="0"/>
                <a:ea typeface="宋体" panose="02010600030101010101" pitchFamily="2" charset="-122"/>
                <a:cs typeface="+mn-cs"/>
              </a:rPr>
              <a:t>） 最优化设计法</a:t>
            </a:r>
            <a:endParaRPr lang="zh-CN" altLang="en-US" noProof="1"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noProof="1" dirty="0">
                <a:latin typeface="Times New Roman" panose="02020603050405020304" pitchFamily="18" charset="0"/>
                <a:ea typeface="宋体" panose="02010600030101010101" pitchFamily="2" charset="-122"/>
                <a:cs typeface="+mn-cs"/>
              </a:rPr>
              <a:t>        最优化设计法一般分两步来进行</a:t>
            </a:r>
            <a:r>
              <a:rPr lang="en-US" altLang="zh-CN" noProof="1" dirty="0">
                <a:latin typeface="Times New Roman" panose="02020603050405020304" pitchFamily="18" charset="0"/>
                <a:ea typeface="宋体" panose="02010600030101010101" pitchFamily="2" charset="-122"/>
                <a:cs typeface="+mn-cs"/>
              </a:rPr>
              <a:t>: </a:t>
            </a:r>
            <a:r>
              <a:rPr lang="zh-CN" altLang="en-US" noProof="1" dirty="0">
                <a:latin typeface="Times New Roman" panose="02020603050405020304" pitchFamily="18" charset="0"/>
                <a:ea typeface="宋体" panose="02010600030101010101" pitchFamily="2" charset="-122"/>
                <a:cs typeface="+mn-cs"/>
              </a:rPr>
              <a:t> </a:t>
            </a:r>
            <a:endParaRPr lang="zh-CN" altLang="en-US" noProof="1"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noProof="1" dirty="0">
                <a:latin typeface="Times New Roman" panose="02020603050405020304" pitchFamily="18" charset="0"/>
                <a:ea typeface="宋体" panose="02010600030101010101" pitchFamily="2" charset="-122"/>
                <a:cs typeface="+mn-cs"/>
              </a:rPr>
              <a:t>      </a:t>
            </a:r>
            <a:r>
              <a:rPr lang="en-US" altLang="zh-CN" noProof="1" dirty="0">
                <a:latin typeface="Times New Roman" panose="02020603050405020304" pitchFamily="18" charset="0"/>
                <a:ea typeface="宋体" panose="02010600030101010101" pitchFamily="2" charset="-122"/>
                <a:cs typeface="+mn-cs"/>
              </a:rPr>
              <a:t> </a:t>
            </a:r>
            <a:r>
              <a:rPr lang="zh-CN" altLang="en-US" noProof="1" dirty="0">
                <a:latin typeface="Times New Roman" panose="02020603050405020304" pitchFamily="18" charset="0"/>
                <a:ea typeface="宋体" panose="02010600030101010101" pitchFamily="2" charset="-122"/>
                <a:cs typeface="+mn-cs"/>
              </a:rPr>
              <a:t>  第一步要选择一种最优准则。例如，选择</a:t>
            </a:r>
            <a:r>
              <a:rPr lang="zh-CN" altLang="en-US" b="1" u="sng" noProof="1" dirty="0">
                <a:solidFill>
                  <a:srgbClr val="FF0000"/>
                </a:solidFill>
                <a:latin typeface="Times New Roman" panose="02020603050405020304" pitchFamily="18" charset="0"/>
                <a:ea typeface="宋体" panose="02010600030101010101" pitchFamily="2" charset="-122"/>
                <a:cs typeface="+mn-cs"/>
              </a:rPr>
              <a:t>最小均方误差</a:t>
            </a:r>
            <a:r>
              <a:rPr lang="zh-CN" altLang="en-US" noProof="1" dirty="0">
                <a:latin typeface="Times New Roman" panose="02020603050405020304" pitchFamily="18" charset="0"/>
                <a:ea typeface="宋体" panose="02010600030101010101" pitchFamily="2" charset="-122"/>
                <a:cs typeface="+mn-cs"/>
              </a:rPr>
              <a:t>准则。它是指在一组离散的频率｛</a:t>
            </a:r>
            <a:r>
              <a:rPr lang="en-US" altLang="zh-CN" i="1" noProof="1">
                <a:latin typeface="Times New Roman" panose="02020603050405020304" pitchFamily="18" charset="0"/>
                <a:ea typeface="宋体" panose="02010600030101010101" pitchFamily="2" charset="-122"/>
                <a:cs typeface="+mn-cs"/>
              </a:rPr>
              <a:t>ω</a:t>
            </a:r>
            <a:r>
              <a:rPr lang="en-US" altLang="zh-CN" i="1" baseline="-25000" noProof="1">
                <a:latin typeface="Times New Roman" panose="02020603050405020304" pitchFamily="18" charset="0"/>
                <a:ea typeface="宋体" panose="02010600030101010101" pitchFamily="2" charset="-122"/>
                <a:cs typeface="+mn-cs"/>
              </a:rPr>
              <a:t>i</a:t>
            </a:r>
            <a:r>
              <a:rPr lang="zh-CN" altLang="en-US" noProof="1">
                <a:latin typeface="Times New Roman" panose="02020603050405020304" pitchFamily="18" charset="0"/>
                <a:ea typeface="宋体" panose="02010600030101010101" pitchFamily="2" charset="-122"/>
                <a:cs typeface="+mn-cs"/>
              </a:rPr>
              <a:t>｝</a:t>
            </a:r>
            <a:r>
              <a:rPr lang="en-US" altLang="zh-CN" noProof="1">
                <a:latin typeface="Times New Roman" panose="02020603050405020304" pitchFamily="18" charset="0"/>
                <a:ea typeface="宋体" panose="02010600030101010101" pitchFamily="2" charset="-122"/>
                <a:cs typeface="+mn-cs"/>
              </a:rPr>
              <a:t>(</a:t>
            </a:r>
            <a:r>
              <a:rPr lang="en-US" altLang="zh-CN" i="1" noProof="1">
                <a:latin typeface="Times New Roman" panose="02020603050405020304" pitchFamily="18" charset="0"/>
                <a:ea typeface="宋体" panose="02010600030101010101" pitchFamily="2" charset="-122"/>
                <a:cs typeface="+mn-cs"/>
              </a:rPr>
              <a:t>i</a:t>
            </a:r>
            <a:r>
              <a:rPr lang="en-US" altLang="zh-CN" noProof="1">
                <a:latin typeface="Times New Roman" panose="02020603050405020304" pitchFamily="18" charset="0"/>
                <a:ea typeface="宋体" panose="02010600030101010101" pitchFamily="2" charset="-122"/>
                <a:cs typeface="+mn-cs"/>
              </a:rPr>
              <a:t>=1, 2, </a:t>
            </a:r>
            <a:r>
              <a:rPr lang="en-US" altLang="zh-CN" noProof="1">
                <a:latin typeface="Courier New" panose="02070309020205020404" pitchFamily="49" charset="0"/>
                <a:ea typeface="宋体" panose="02010600030101010101" pitchFamily="2" charset="-122"/>
                <a:cs typeface="+mn-cs"/>
              </a:rPr>
              <a:t>…</a:t>
            </a:r>
            <a:r>
              <a:rPr lang="en-US" altLang="zh-CN" noProof="1">
                <a:latin typeface="Times New Roman" panose="02020603050405020304" pitchFamily="18" charset="0"/>
                <a:ea typeface="宋体" panose="02010600030101010101" pitchFamily="2" charset="-122"/>
                <a:cs typeface="+mn-cs"/>
              </a:rPr>
              <a:t>, </a:t>
            </a:r>
            <a:r>
              <a:rPr lang="en-US" altLang="zh-CN" i="1" noProof="1">
                <a:latin typeface="Times New Roman" panose="02020603050405020304" pitchFamily="18" charset="0"/>
                <a:ea typeface="宋体" panose="02010600030101010101" pitchFamily="2" charset="-122"/>
                <a:cs typeface="+mn-cs"/>
              </a:rPr>
              <a:t>M</a:t>
            </a:r>
            <a:r>
              <a:rPr lang="en-US" altLang="zh-CN" noProof="1" dirty="0">
                <a:latin typeface="Times New Roman" panose="02020603050405020304" pitchFamily="18" charset="0"/>
                <a:ea typeface="宋体" panose="02010600030101010101" pitchFamily="2" charset="-122"/>
                <a:cs typeface="+mn-cs"/>
              </a:rPr>
              <a:t>)</a:t>
            </a:r>
            <a:r>
              <a:rPr lang="zh-CN" altLang="en-US" noProof="1" dirty="0">
                <a:latin typeface="Times New Roman" panose="02020603050405020304" pitchFamily="18" charset="0"/>
                <a:ea typeface="宋体" panose="02010600030101010101" pitchFamily="2" charset="-122"/>
                <a:cs typeface="+mn-cs"/>
              </a:rPr>
              <a:t>上，所设计出的实际频率响应幅度</a:t>
            </a:r>
            <a:r>
              <a:rPr lang="en-US" altLang="zh-CN" noProof="1" dirty="0">
                <a:latin typeface="Times New Roman" panose="02020603050405020304" pitchFamily="18" charset="0"/>
                <a:ea typeface="宋体" panose="02010600030101010101" pitchFamily="2" charset="-122"/>
                <a:cs typeface="+mn-cs"/>
              </a:rPr>
              <a:t>|</a:t>
            </a:r>
            <a:r>
              <a:rPr lang="en-US" altLang="zh-CN" i="1" noProof="1">
                <a:latin typeface="Times New Roman" panose="02020603050405020304" pitchFamily="18" charset="0"/>
                <a:ea typeface="宋体" panose="02010600030101010101" pitchFamily="2" charset="-122"/>
                <a:cs typeface="+mn-cs"/>
              </a:rPr>
              <a:t>H</a:t>
            </a:r>
            <a:r>
              <a:rPr lang="en-US" altLang="zh-CN" noProof="1" dirty="0" err="1">
                <a:latin typeface="Times New Roman" panose="02020603050405020304" pitchFamily="18" charset="0"/>
                <a:ea typeface="宋体" panose="02010600030101010101" pitchFamily="2" charset="-122"/>
                <a:cs typeface="+mn-cs"/>
              </a:rPr>
              <a:t>(e</a:t>
            </a:r>
            <a:r>
              <a:rPr lang="en-US" altLang="zh-CN" baseline="30000" noProof="1" dirty="0" err="1">
                <a:latin typeface="Times New Roman" panose="02020603050405020304" pitchFamily="18" charset="0"/>
                <a:ea typeface="宋体" panose="02010600030101010101" pitchFamily="2" charset="-122"/>
                <a:cs typeface="+mn-cs"/>
              </a:rPr>
              <a:t>j</a:t>
            </a:r>
            <a:r>
              <a:rPr lang="en-US" altLang="zh-CN" baseline="30000" noProof="1">
                <a:latin typeface="Times New Roman" panose="02020603050405020304" pitchFamily="18" charset="0"/>
                <a:ea typeface="宋体" panose="02010600030101010101" pitchFamily="2" charset="-122"/>
                <a:cs typeface="+mn-cs"/>
              </a:rPr>
              <a:t>ω</a:t>
            </a:r>
            <a:r>
              <a:rPr lang="en-US" altLang="zh-CN" noProof="1" dirty="0">
                <a:latin typeface="Times New Roman" panose="02020603050405020304" pitchFamily="18" charset="0"/>
                <a:ea typeface="宋体" panose="02010600030101010101" pitchFamily="2" charset="-122"/>
                <a:cs typeface="+mn-cs"/>
              </a:rPr>
              <a:t>)|</a:t>
            </a:r>
            <a:r>
              <a:rPr lang="zh-CN" altLang="en-US" noProof="1" dirty="0">
                <a:latin typeface="Times New Roman" panose="02020603050405020304" pitchFamily="18" charset="0"/>
                <a:ea typeface="宋体" panose="02010600030101010101" pitchFamily="2" charset="-122"/>
                <a:cs typeface="+mn-cs"/>
              </a:rPr>
              <a:t>与所要求的理想频率响应幅度</a:t>
            </a:r>
            <a:r>
              <a:rPr lang="en-US" altLang="zh-CN" noProof="1" dirty="0">
                <a:latin typeface="Times New Roman" panose="02020603050405020304" pitchFamily="18" charset="0"/>
                <a:ea typeface="宋体" panose="02010600030101010101" pitchFamily="2" charset="-122"/>
                <a:cs typeface="+mn-cs"/>
              </a:rPr>
              <a:t>|</a:t>
            </a:r>
            <a:r>
              <a:rPr lang="en-US" altLang="zh-CN" i="1" noProof="1" dirty="0" err="1">
                <a:latin typeface="Times New Roman" panose="02020603050405020304" pitchFamily="18" charset="0"/>
                <a:ea typeface="宋体" panose="02010600030101010101" pitchFamily="2" charset="-122"/>
                <a:cs typeface="+mn-cs"/>
              </a:rPr>
              <a:t>H</a:t>
            </a:r>
            <a:r>
              <a:rPr lang="en-US" altLang="zh-CN" baseline="-25000" noProof="1" dirty="0" err="1">
                <a:latin typeface="Times New Roman" panose="02020603050405020304" pitchFamily="18" charset="0"/>
                <a:ea typeface="宋体" panose="02010600030101010101" pitchFamily="2" charset="-122"/>
                <a:cs typeface="+mn-cs"/>
              </a:rPr>
              <a:t>d</a:t>
            </a:r>
            <a:r>
              <a:rPr lang="zh-CN" altLang="en-US" noProof="1" dirty="0" err="1">
                <a:latin typeface="Times New Roman" panose="02020603050405020304" pitchFamily="18" charset="0"/>
                <a:ea typeface="宋体" panose="02010600030101010101" pitchFamily="2" charset="-122"/>
                <a:cs typeface="+mn-cs"/>
              </a:rPr>
              <a:t> </a:t>
            </a:r>
            <a:r>
              <a:rPr lang="en-US" altLang="zh-CN" noProof="1" dirty="0" err="1">
                <a:latin typeface="Times New Roman" panose="02020603050405020304" pitchFamily="18" charset="0"/>
                <a:ea typeface="宋体" panose="02010600030101010101" pitchFamily="2" charset="-122"/>
                <a:cs typeface="+mn-cs"/>
              </a:rPr>
              <a:t>(e</a:t>
            </a:r>
            <a:r>
              <a:rPr lang="en-US" altLang="zh-CN" baseline="30000" noProof="1" dirty="0" err="1">
                <a:latin typeface="Times New Roman" panose="02020603050405020304" pitchFamily="18" charset="0"/>
                <a:ea typeface="宋体" panose="02010600030101010101" pitchFamily="2" charset="-122"/>
                <a:cs typeface="+mn-cs"/>
              </a:rPr>
              <a:t>j</a:t>
            </a:r>
            <a:r>
              <a:rPr lang="en-US" altLang="zh-CN" baseline="30000" noProof="1">
                <a:latin typeface="Times New Roman" panose="02020603050405020304" pitchFamily="18" charset="0"/>
                <a:ea typeface="宋体" panose="02010600030101010101" pitchFamily="2" charset="-122"/>
                <a:cs typeface="+mn-cs"/>
              </a:rPr>
              <a:t>ω</a:t>
            </a:r>
            <a:r>
              <a:rPr lang="en-US" altLang="zh-CN" noProof="1" dirty="0">
                <a:latin typeface="Times New Roman" panose="02020603050405020304" pitchFamily="18" charset="0"/>
                <a:ea typeface="宋体" panose="02010600030101010101" pitchFamily="2" charset="-122"/>
                <a:cs typeface="+mn-cs"/>
              </a:rPr>
              <a:t>)|</a:t>
            </a:r>
            <a:r>
              <a:rPr lang="zh-CN" altLang="en-US" noProof="1" dirty="0">
                <a:latin typeface="Times New Roman" panose="02020603050405020304" pitchFamily="18" charset="0"/>
                <a:ea typeface="宋体" panose="02010600030101010101" pitchFamily="2" charset="-122"/>
                <a:cs typeface="+mn-cs"/>
              </a:rPr>
              <a:t>的</a:t>
            </a:r>
            <a:r>
              <a:rPr lang="zh-CN" altLang="en-US" u="sng" noProof="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均方误差</a:t>
            </a:r>
            <a:r>
              <a:rPr lang="en-US" altLang="zh-CN" i="1" u="sng" noProof="1">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ε</a:t>
            </a:r>
            <a:r>
              <a:rPr lang="zh-CN" altLang="en-US" u="sng" noProof="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rPr>
              <a:t>最小</a:t>
            </a:r>
            <a:r>
              <a:rPr lang="zh-CN" altLang="en-US" noProof="1" dirty="0">
                <a:latin typeface="Times New Roman" panose="02020603050405020304" pitchFamily="18" charset="0"/>
                <a:ea typeface="宋体" panose="02010600030101010101" pitchFamily="2" charset="-122"/>
                <a:cs typeface="+mn-cs"/>
              </a:rPr>
              <a:t>。 </a:t>
            </a:r>
            <a:endParaRPr lang="zh-CN" altLang="en-US" noProof="1">
              <a:latin typeface="Times New Roman" panose="02020603050405020304" pitchFamily="18" charset="0"/>
              <a:ea typeface="宋体" panose="02010600030101010101" pitchFamily="2" charset="-122"/>
            </a:endParaRPr>
          </a:p>
        </p:txBody>
      </p:sp>
      <p:graphicFrame>
        <p:nvGraphicFramePr>
          <p:cNvPr id="21507" name="对象 20484"/>
          <p:cNvGraphicFramePr/>
          <p:nvPr/>
        </p:nvGraphicFramePr>
        <p:xfrm>
          <a:off x="2411413" y="4364990"/>
          <a:ext cx="4800600" cy="1054100"/>
        </p:xfrm>
        <a:graphic>
          <a:graphicData uri="http://schemas.openxmlformats.org/presentationml/2006/ole">
            <mc:AlternateContent xmlns:mc="http://schemas.openxmlformats.org/markup-compatibility/2006">
              <mc:Choice xmlns:v="urn:schemas-microsoft-com:vml" Requires="v">
                <p:oleObj spid="_x0000_s3097" name="" r:id="rId1" imgW="1967865" imgH="431800" progId="Equation.3">
                  <p:embed/>
                </p:oleObj>
              </mc:Choice>
              <mc:Fallback>
                <p:oleObj name="" r:id="rId1" imgW="1967865" imgH="431800" progId="Equation.3">
                  <p:embed/>
                  <p:pic>
                    <p:nvPicPr>
                      <p:cNvPr id="0" name="图片 3096"/>
                      <p:cNvPicPr/>
                      <p:nvPr/>
                    </p:nvPicPr>
                    <p:blipFill>
                      <a:blip r:embed="rId2"/>
                      <a:stretch>
                        <a:fillRect/>
                      </a:stretch>
                    </p:blipFill>
                    <p:spPr>
                      <a:xfrm>
                        <a:off x="2411413" y="4364990"/>
                        <a:ext cx="4800600" cy="1054100"/>
                      </a:xfrm>
                      <a:prstGeom prst="rect">
                        <a:avLst/>
                      </a:prstGeom>
                      <a:solidFill>
                        <a:schemeClr val="accent1"/>
                      </a:solidFill>
                      <a:ln w="38100">
                        <a:noFill/>
                        <a:miter/>
                      </a:ln>
                    </p:spPr>
                  </p:pic>
                </p:oleObj>
              </mc:Fallback>
            </mc:AlternateContent>
          </a:graphicData>
        </a:graphic>
      </p:graphicFrame>
      <p:sp>
        <p:nvSpPr>
          <p:cNvPr id="21508" name="文本框 20485"/>
          <p:cNvSpPr txBox="1"/>
          <p:nvPr/>
        </p:nvSpPr>
        <p:spPr>
          <a:xfrm>
            <a:off x="76200" y="5638800"/>
            <a:ext cx="9404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此外还可以有其他许多种误差最小的准则，如最大误差最小准则等。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2628900" y="1196975"/>
            <a:ext cx="5903913"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2530" name="文本框 19459"/>
          <p:cNvSpPr txBox="1"/>
          <p:nvPr/>
        </p:nvSpPr>
        <p:spPr>
          <a:xfrm>
            <a:off x="304800" y="958850"/>
            <a:ext cx="8610600" cy="3155950"/>
          </a:xfrm>
          <a:prstGeom prst="rect">
            <a:avLst/>
          </a:prstGeom>
          <a:noFill/>
          <a:ln w="9525">
            <a:noFill/>
          </a:ln>
        </p:spPr>
        <p:txBody>
          <a:bodyPr anchor="t">
            <a:spAutoFit/>
          </a:bodyPr>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第二步，求在此最佳准则下滤波器系统函数的系数</a:t>
            </a:r>
            <a:r>
              <a:rPr lang="en-US" altLang="zh-CN" i="1" err="1">
                <a:latin typeface="Times New Roman" panose="02020603050405020304" pitchFamily="18" charset="0"/>
                <a:ea typeface="宋体" panose="02010600030101010101" pitchFamily="2" charset="-122"/>
              </a:rPr>
              <a:t>a</a:t>
            </a:r>
            <a:r>
              <a:rPr lang="en-US" altLang="zh-CN" i="1" baseline="-25000" err="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 </a:t>
            </a:r>
            <a:r>
              <a:rPr lang="en-US" altLang="zh-CN" i="1" err="1">
                <a:latin typeface="Times New Roman" panose="02020603050405020304" pitchFamily="18" charset="0"/>
                <a:ea typeface="宋体" panose="02010600030101010101" pitchFamily="2" charset="-122"/>
              </a:rPr>
              <a:t>b</a:t>
            </a:r>
            <a:r>
              <a:rPr lang="en-US" altLang="zh-CN" i="1" baseline="-2500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。一般是通过不断改变滤波器系数</a:t>
            </a:r>
            <a:r>
              <a:rPr lang="en-US" altLang="zh-CN" i="1" err="1">
                <a:latin typeface="Times New Roman" panose="02020603050405020304" pitchFamily="18" charset="0"/>
                <a:ea typeface="宋体" panose="02010600030101010101" pitchFamily="2" charset="-122"/>
              </a:rPr>
              <a:t>a</a:t>
            </a:r>
            <a:r>
              <a:rPr lang="en-US" altLang="zh-CN" i="1" baseline="-25000" err="1">
                <a:latin typeface="Times New Roman" panose="02020603050405020304" pitchFamily="18" charset="0"/>
                <a:ea typeface="宋体" panose="02010600030101010101" pitchFamily="2" charset="-122"/>
              </a:rPr>
              <a:t>k</a:t>
            </a:r>
            <a:r>
              <a:rPr lang="zh-CN" altLang="en-US">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b</a:t>
            </a:r>
            <a:r>
              <a:rPr lang="en-US" altLang="zh-CN" i="1" baseline="-2500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，分别计算</a:t>
            </a:r>
            <a:r>
              <a:rPr lang="en-US" altLang="zh-CN" i="1">
                <a:latin typeface="Times New Roman" panose="02020603050405020304" pitchFamily="18" charset="0"/>
                <a:ea typeface="宋体" panose="02010600030101010101" pitchFamily="2" charset="-122"/>
              </a:rPr>
              <a:t>ε</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最后，找到使</a:t>
            </a:r>
            <a:r>
              <a:rPr lang="en-US" altLang="zh-CN" i="1">
                <a:latin typeface="Times New Roman" panose="02020603050405020304" pitchFamily="18" charset="0"/>
                <a:ea typeface="宋体" panose="02010600030101010101" pitchFamily="2" charset="-122"/>
              </a:rPr>
              <a:t>ε</a:t>
            </a:r>
            <a:r>
              <a:rPr lang="zh-CN" altLang="en-US" dirty="0">
                <a:latin typeface="Times New Roman" panose="02020603050405020304" pitchFamily="18" charset="0"/>
                <a:ea typeface="宋体" panose="02010600030101010101" pitchFamily="2" charset="-122"/>
              </a:rPr>
              <a:t>为最小时的一组系数</a:t>
            </a:r>
            <a:r>
              <a:rPr lang="en-US" altLang="zh-CN" i="1" err="1">
                <a:latin typeface="Times New Roman" panose="02020603050405020304" pitchFamily="18" charset="0"/>
                <a:ea typeface="宋体" panose="02010600030101010101" pitchFamily="2" charset="-122"/>
              </a:rPr>
              <a:t>a</a:t>
            </a:r>
            <a:r>
              <a:rPr lang="en-US" altLang="zh-CN" i="1" baseline="-25000" err="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 </a:t>
            </a:r>
            <a:r>
              <a:rPr lang="en-US" altLang="zh-CN" i="1" err="1">
                <a:latin typeface="Times New Roman" panose="02020603050405020304" pitchFamily="18" charset="0"/>
                <a:ea typeface="宋体" panose="02010600030101010101" pitchFamily="2" charset="-122"/>
              </a:rPr>
              <a:t>b</a:t>
            </a:r>
            <a:r>
              <a:rPr lang="en-US" altLang="zh-CN" i="1" baseline="-2500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，从而完成设计。这种设计需要进行大量的迭代运算，故离不开计算机。所以最优化方法又称为计算机辅助设</a:t>
            </a:r>
            <a:r>
              <a:rPr lang="zh-CN" altLang="en-US" dirty="0">
                <a:latin typeface="Times New Roman" panose="02020603050405020304" pitchFamily="18" charset="0"/>
                <a:ea typeface="宋体" panose="02010600030101010101" pitchFamily="2" charset="-122"/>
              </a:rPr>
              <a:t>计法。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文本框 22531"/>
          <p:cNvSpPr txBox="1"/>
          <p:nvPr/>
        </p:nvSpPr>
        <p:spPr>
          <a:xfrm>
            <a:off x="228600" y="838200"/>
            <a:ext cx="8686800" cy="4616450"/>
          </a:xfrm>
          <a:prstGeom prst="rect">
            <a:avLst/>
          </a:prstGeom>
          <a:noFill/>
          <a:ln w="9525">
            <a:noFill/>
          </a:ln>
        </p:spPr>
        <p:txBody>
          <a:bodyPr anchor="t">
            <a:spAutoFit/>
          </a:bodyPr>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本章着重讨论第一种方法。利用模拟滤波器来设计数字滤波器，就是从已知的模拟滤波器传递函数</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设计数字滤波器的系统函数</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。因此，它归根结底是一个</a:t>
            </a:r>
            <a:r>
              <a:rPr lang="zh-CN" altLang="en-US" b="1" u="sng" dirty="0">
                <a:solidFill>
                  <a:srgbClr val="FF0000"/>
                </a:solidFill>
                <a:latin typeface="Times New Roman" panose="02020603050405020304" pitchFamily="18" charset="0"/>
                <a:ea typeface="宋体" panose="02010600030101010101" pitchFamily="2" charset="-122"/>
              </a:rPr>
              <a:t>由</a:t>
            </a:r>
            <a:r>
              <a:rPr lang="en-US" altLang="zh-CN" b="1" i="1" u="sng">
                <a:solidFill>
                  <a:srgbClr val="FF0000"/>
                </a:solidFill>
                <a:latin typeface="Times New Roman" panose="02020603050405020304" pitchFamily="18" charset="0"/>
                <a:ea typeface="宋体" panose="02010600030101010101" pitchFamily="2" charset="-122"/>
              </a:rPr>
              <a:t>S</a:t>
            </a:r>
            <a:r>
              <a:rPr lang="zh-CN" altLang="en-US" b="1" u="sng" dirty="0">
                <a:solidFill>
                  <a:srgbClr val="FF0000"/>
                </a:solidFill>
                <a:latin typeface="Times New Roman" panose="02020603050405020304" pitchFamily="18" charset="0"/>
                <a:ea typeface="宋体" panose="02010600030101010101" pitchFamily="2" charset="-122"/>
              </a:rPr>
              <a:t>平面映射到</a:t>
            </a:r>
            <a:r>
              <a:rPr lang="en-US" altLang="zh-CN" b="1" i="1" u="sng">
                <a:solidFill>
                  <a:srgbClr val="FF0000"/>
                </a:solidFill>
                <a:latin typeface="Times New Roman" panose="02020603050405020304" pitchFamily="18" charset="0"/>
                <a:ea typeface="宋体" panose="02010600030101010101" pitchFamily="2" charset="-122"/>
              </a:rPr>
              <a:t>Z</a:t>
            </a:r>
            <a:r>
              <a:rPr lang="zh-CN" altLang="en-US" b="1" u="sng" dirty="0">
                <a:solidFill>
                  <a:srgbClr val="FF0000"/>
                </a:solidFill>
                <a:latin typeface="Times New Roman" panose="02020603050405020304" pitchFamily="18" charset="0"/>
                <a:ea typeface="宋体" panose="02010600030101010101" pitchFamily="2" charset="-122"/>
              </a:rPr>
              <a:t>平面的变换</a:t>
            </a:r>
            <a:r>
              <a:rPr lang="zh-CN" altLang="en-US" dirty="0">
                <a:latin typeface="Times New Roman" panose="02020603050405020304" pitchFamily="18" charset="0"/>
                <a:ea typeface="宋体" panose="02010600030101010101" pitchFamily="2" charset="-122"/>
              </a:rPr>
              <a:t>，这个变换通常是复变函数的映射变换，这个映射变换必须满足以下</a:t>
            </a:r>
            <a:r>
              <a:rPr lang="zh-CN" altLang="en-US" b="1" dirty="0">
                <a:solidFill>
                  <a:srgbClr val="FF0000"/>
                </a:solidFill>
                <a:latin typeface="Times New Roman" panose="02020603050405020304" pitchFamily="18" charset="0"/>
                <a:ea typeface="宋体" panose="02010600030101010101" pitchFamily="2" charset="-122"/>
              </a:rPr>
              <a:t>两条基本要求</a:t>
            </a: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lgn="just">
              <a:lnSpc>
                <a:spcPct val="168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a:t>
            </a:r>
            <a:r>
              <a:rPr lang="en-US" altLang="zh-CN" b="1" dirty="0">
                <a:solidFill>
                  <a:srgbClr val="FF0000"/>
                </a:solidFill>
                <a:latin typeface="Times New Roman" panose="02020603050405020304" pitchFamily="18" charset="0"/>
                <a:ea typeface="宋体" panose="02010600030101010101" pitchFamily="2" charset="-122"/>
              </a:rPr>
              <a:t>1</a:t>
            </a:r>
            <a:r>
              <a:rPr lang="zh-CN" altLang="en-US" b="1" dirty="0">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H</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z</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的频率响应要能模仿</a:t>
            </a:r>
            <a:r>
              <a:rPr lang="en-US" altLang="zh-CN" b="1" i="1" err="1">
                <a:solidFill>
                  <a:srgbClr val="FF0000"/>
                </a:solidFill>
                <a:latin typeface="Times New Roman" panose="02020603050405020304" pitchFamily="18" charset="0"/>
                <a:ea typeface="宋体" panose="02010600030101010101" pitchFamily="2" charset="-122"/>
              </a:rPr>
              <a:t>H</a:t>
            </a:r>
            <a:r>
              <a:rPr lang="en-US" altLang="zh-CN" b="1" baseline="-25000" err="1">
                <a:solidFill>
                  <a:srgbClr val="FF0000"/>
                </a:solidFill>
                <a:latin typeface="Times New Roman" panose="02020603050405020304" pitchFamily="18" charset="0"/>
                <a:ea typeface="宋体" panose="02010600030101010101" pitchFamily="2" charset="-122"/>
              </a:rPr>
              <a:t>a</a:t>
            </a:r>
            <a:r>
              <a:rPr lang="en-US" altLang="zh-CN" b="1" err="1">
                <a:solidFill>
                  <a:srgbClr val="FF0000"/>
                </a:solidFill>
                <a:latin typeface="Times New Roman" panose="02020603050405020304" pitchFamily="18" charset="0"/>
                <a:ea typeface="宋体" panose="02010600030101010101" pitchFamily="2" charset="-122"/>
              </a:rPr>
              <a:t>(</a:t>
            </a:r>
            <a:r>
              <a:rPr lang="en-US" altLang="zh-CN" b="1" i="1" err="1">
                <a:solidFill>
                  <a:srgbClr val="FF0000"/>
                </a:solidFill>
                <a:latin typeface="Times New Roman" panose="02020603050405020304" pitchFamily="18" charset="0"/>
                <a:ea typeface="宋体" panose="02010600030101010101" pitchFamily="2" charset="-122"/>
              </a:rPr>
              <a:t>s</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的频率响应</a:t>
            </a:r>
            <a:r>
              <a:rPr lang="zh-CN" altLang="en-US" dirty="0">
                <a:latin typeface="Times New Roman" panose="02020603050405020304" pitchFamily="18" charset="0"/>
                <a:ea typeface="宋体" panose="02010600030101010101" pitchFamily="2" charset="-122"/>
              </a:rPr>
              <a:t>，也即</a:t>
            </a:r>
            <a:r>
              <a:rPr lang="en-US" altLang="zh-CN" i="1">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平面虚轴</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必须映射到</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平面的单位圆</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i="1" baseline="30000" err="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上。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文本框 21507"/>
          <p:cNvSpPr txBox="1"/>
          <p:nvPr/>
        </p:nvSpPr>
        <p:spPr>
          <a:xfrm>
            <a:off x="444500" y="869950"/>
            <a:ext cx="8231188" cy="4113213"/>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a:t>
            </a:r>
            <a:r>
              <a:rPr lang="en-US" altLang="zh-CN" b="1" dirty="0">
                <a:solidFill>
                  <a:srgbClr val="FF0000"/>
                </a:solidFill>
                <a:latin typeface="Times New Roman" panose="02020603050405020304" pitchFamily="18" charset="0"/>
                <a:ea typeface="宋体" panose="02010600030101010101" pitchFamily="2" charset="-122"/>
              </a:rPr>
              <a:t>2</a:t>
            </a:r>
            <a:r>
              <a:rPr lang="zh-CN" altLang="en-US" b="1" dirty="0">
                <a:solidFill>
                  <a:srgbClr val="FF0000"/>
                </a:solidFill>
                <a:latin typeface="Times New Roman" panose="02020603050405020304" pitchFamily="18" charset="0"/>
                <a:ea typeface="宋体" panose="02010600030101010101" pitchFamily="2" charset="-122"/>
              </a:rPr>
              <a:t>） 因果稳定的</a:t>
            </a:r>
            <a:r>
              <a:rPr lang="en-US" altLang="zh-CN" b="1" i="1">
                <a:solidFill>
                  <a:srgbClr val="FF0000"/>
                </a:solidFill>
                <a:latin typeface="Times New Roman" panose="02020603050405020304" pitchFamily="18" charset="0"/>
                <a:ea typeface="宋体" panose="02010600030101010101" pitchFamily="2" charset="-122"/>
              </a:rPr>
              <a:t>H</a:t>
            </a:r>
            <a:r>
              <a:rPr lang="en-US" altLang="zh-CN" b="1" baseline="-25000">
                <a:solidFill>
                  <a:srgbClr val="FF0000"/>
                </a:solidFill>
                <a:latin typeface="Times New Roman" panose="02020603050405020304" pitchFamily="18" charset="0"/>
                <a:ea typeface="宋体" panose="02010600030101010101" pitchFamily="2" charset="-122"/>
              </a:rPr>
              <a:t>a</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s</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应能映射成因果稳定的</a:t>
            </a:r>
            <a:r>
              <a:rPr lang="en-US" altLang="zh-CN" b="1" i="1">
                <a:solidFill>
                  <a:srgbClr val="FF0000"/>
                </a:solidFill>
                <a:latin typeface="Times New Roman" panose="02020603050405020304" pitchFamily="18" charset="0"/>
                <a:ea typeface="宋体" panose="02010600030101010101" pitchFamily="2" charset="-122"/>
              </a:rPr>
              <a:t>H</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z</a:t>
            </a:r>
            <a:r>
              <a:rPr lang="en-US" altLang="zh-CN" b="1" dirty="0">
                <a:solidFill>
                  <a:srgbClr val="FF0000"/>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，也即</a:t>
            </a:r>
            <a:r>
              <a:rPr lang="en-US" altLang="zh-CN" i="1">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平面的左半平面</a:t>
            </a:r>
            <a:r>
              <a:rPr lang="en-US" altLang="zh-CN">
                <a:latin typeface="Times New Roman" panose="02020603050405020304" pitchFamily="18" charset="0"/>
                <a:ea typeface="宋体" panose="02010600030101010101" pitchFamily="2" charset="-122"/>
              </a:rPr>
              <a:t>Re</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&lt;0</a:t>
            </a:r>
            <a:r>
              <a:rPr lang="zh-CN" altLang="en-US" dirty="0">
                <a:latin typeface="Times New Roman" panose="02020603050405020304" pitchFamily="18" charset="0"/>
                <a:ea typeface="宋体" panose="02010600030101010101" pitchFamily="2" charset="-122"/>
              </a:rPr>
              <a:t>必须映射到</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平面单位圆的内部</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|&lt;1</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下面首先介绍一下常用模拟低通滤波器的特性，然后分别讨论由模拟滤波器设计</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数字滤波器的两种常用的变换方法：</a:t>
            </a:r>
            <a:r>
              <a:rPr lang="zh-CN" altLang="en-US" b="1" u="sng" dirty="0">
                <a:solidFill>
                  <a:srgbClr val="FF0000"/>
                </a:solidFill>
                <a:latin typeface="Times New Roman" panose="02020603050405020304" pitchFamily="18" charset="0"/>
                <a:ea typeface="宋体" panose="02010600030101010101" pitchFamily="2" charset="-122"/>
              </a:rPr>
              <a:t>脉冲响应不变法</a:t>
            </a:r>
            <a:r>
              <a:rPr lang="zh-CN" altLang="en-US" dirty="0">
                <a:latin typeface="Times New Roman" panose="02020603050405020304" pitchFamily="18" charset="0"/>
                <a:ea typeface="宋体" panose="02010600030101010101" pitchFamily="2" charset="-122"/>
              </a:rPr>
              <a:t>和</a:t>
            </a:r>
            <a:r>
              <a:rPr lang="zh-CN" altLang="en-US" b="1" u="sng" dirty="0">
                <a:solidFill>
                  <a:srgbClr val="FF0000"/>
                </a:solidFill>
                <a:latin typeface="Times New Roman" panose="02020603050405020304" pitchFamily="18" charset="0"/>
                <a:ea typeface="宋体" panose="02010600030101010101" pitchFamily="2" charset="-122"/>
              </a:rPr>
              <a:t>双线性变换法</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FIR</a:t>
            </a:r>
            <a:r>
              <a:rPr lang="zh-CN" altLang="en-US" dirty="0">
                <a:latin typeface="Times New Roman" panose="02020603050405020304" pitchFamily="18" charset="0"/>
                <a:ea typeface="宋体" panose="02010600030101010101" pitchFamily="2" charset="-122"/>
              </a:rPr>
              <a:t>数字滤波器的设</a:t>
            </a:r>
            <a:r>
              <a:rPr lang="zh-CN" altLang="en-US" dirty="0">
                <a:latin typeface="Times New Roman" panose="02020603050405020304" pitchFamily="18" charset="0"/>
                <a:ea typeface="宋体" panose="02010600030101010101" pitchFamily="2" charset="-122"/>
              </a:rPr>
              <a:t>计方法与 </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数字滤波器设计方法明显不同，这将在下一章中介绍。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2195513" y="4581525"/>
            <a:ext cx="3168650" cy="3603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4" name="矩形 3"/>
          <p:cNvSpPr/>
          <p:nvPr/>
        </p:nvSpPr>
        <p:spPr>
          <a:xfrm>
            <a:off x="250825" y="4076700"/>
            <a:ext cx="4752975"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 name="矩形 1"/>
          <p:cNvSpPr/>
          <p:nvPr/>
        </p:nvSpPr>
        <p:spPr>
          <a:xfrm>
            <a:off x="250825" y="3573463"/>
            <a:ext cx="5689600" cy="3603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5604" name="文本框 24579"/>
          <p:cNvSpPr txBox="1"/>
          <p:nvPr/>
        </p:nvSpPr>
        <p:spPr>
          <a:xfrm>
            <a:off x="1524000" y="692150"/>
            <a:ext cx="6584950" cy="579438"/>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5.3 </a:t>
            </a:r>
            <a:r>
              <a:rPr lang="zh-CN" altLang="en-US" sz="3200" b="1" dirty="0">
                <a:latin typeface="Times New Roman" panose="02020603050405020304" pitchFamily="18" charset="0"/>
                <a:ea typeface="宋体" panose="02010600030101010101" pitchFamily="2" charset="-122"/>
              </a:rPr>
              <a:t>常用模拟低通滤波器的设计方法 </a:t>
            </a:r>
            <a:endParaRPr lang="zh-CN" altLang="en-US" sz="3200" b="1">
              <a:latin typeface="Times New Roman" panose="02020603050405020304" pitchFamily="18" charset="0"/>
              <a:ea typeface="宋体" panose="02010600030101010101" pitchFamily="2" charset="-122"/>
            </a:endParaRPr>
          </a:p>
        </p:txBody>
      </p:sp>
      <p:sp>
        <p:nvSpPr>
          <p:cNvPr id="25605" name="文本框 24580"/>
          <p:cNvSpPr txBox="1"/>
          <p:nvPr/>
        </p:nvSpPr>
        <p:spPr>
          <a:xfrm>
            <a:off x="220663" y="1400175"/>
            <a:ext cx="8672512" cy="467360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常用的模拟原型滤波器有</a:t>
            </a:r>
            <a:r>
              <a:rPr lang="zh-CN" altLang="en-US" b="1" u="sng" dirty="0">
                <a:solidFill>
                  <a:srgbClr val="FF0000"/>
                </a:solidFill>
                <a:latin typeface="Times New Roman" panose="02020603050405020304" pitchFamily="18" charset="0"/>
                <a:ea typeface="宋体" panose="02010600030101010101" pitchFamily="2" charset="-122"/>
              </a:rPr>
              <a:t>巴特沃思</a:t>
            </a:r>
            <a:r>
              <a:rPr lang="zh-CN" altLang="en-US" b="1" u="sng" dirty="0">
                <a:solidFill>
                  <a:srgbClr val="FF0000"/>
                </a:solidFill>
                <a:latin typeface="Times New Roman" panose="02020603050405020304" pitchFamily="18" charset="0"/>
                <a:ea typeface="宋体" panose="02010600030101010101" pitchFamily="2" charset="-122"/>
              </a:rPr>
              <a:t>（</a:t>
            </a:r>
            <a:r>
              <a:rPr lang="en-US" altLang="zh-CN" b="1" u="sng" dirty="0" err="1">
                <a:solidFill>
                  <a:srgbClr val="FF0000"/>
                </a:solidFill>
                <a:latin typeface="Times New Roman" panose="02020603050405020304" pitchFamily="18" charset="0"/>
                <a:ea typeface="宋体" panose="02010600030101010101" pitchFamily="2" charset="-122"/>
              </a:rPr>
              <a:t>Butterworth</a:t>
            </a:r>
            <a:r>
              <a:rPr lang="zh-CN" altLang="en-US" b="1" u="sng" dirty="0">
                <a:solidFill>
                  <a:srgbClr val="FF0000"/>
                </a:solidFill>
                <a:latin typeface="Times New Roman" panose="02020603050405020304" pitchFamily="18" charset="0"/>
                <a:ea typeface="宋体" panose="02010600030101010101" pitchFamily="2" charset="-122"/>
              </a:rPr>
              <a:t>）</a:t>
            </a:r>
            <a:r>
              <a:rPr lang="zh-CN" altLang="en-US" b="1" u="sng" dirty="0">
                <a:solidFill>
                  <a:srgbClr val="FF0000"/>
                </a:solidFill>
                <a:latin typeface="Times New Roman" panose="02020603050405020304" pitchFamily="18" charset="0"/>
                <a:ea typeface="宋体" panose="02010600030101010101" pitchFamily="2" charset="-122"/>
              </a:rPr>
              <a:t>滤波器</a:t>
            </a:r>
            <a:r>
              <a:rPr lang="zh-CN" altLang="en-US" dirty="0">
                <a:latin typeface="Times New Roman" panose="02020603050405020304" pitchFamily="18" charset="0"/>
                <a:ea typeface="宋体" panose="02010600030101010101" pitchFamily="2" charset="-122"/>
              </a:rPr>
              <a:t>、切比雪夫（</a:t>
            </a:r>
            <a:r>
              <a:rPr lang="en-US" altLang="zh-CN" dirty="0" err="1">
                <a:latin typeface="Times New Roman" panose="02020603050405020304" pitchFamily="18" charset="0"/>
                <a:ea typeface="宋体" panose="02010600030101010101" pitchFamily="2" charset="-122"/>
              </a:rPr>
              <a:t>Chebyshev</a:t>
            </a:r>
            <a:r>
              <a:rPr lang="zh-CN" altLang="en-US" dirty="0">
                <a:latin typeface="Times New Roman" panose="02020603050405020304" pitchFamily="18" charset="0"/>
                <a:ea typeface="宋体" panose="02010600030101010101" pitchFamily="2" charset="-122"/>
              </a:rPr>
              <a:t>）滤波器、椭圆（</a:t>
            </a:r>
            <a:r>
              <a:rPr lang="en-US" altLang="zh-CN" dirty="0">
                <a:latin typeface="Times New Roman" panose="02020603050405020304" pitchFamily="18" charset="0"/>
                <a:ea typeface="宋体" panose="02010600030101010101" pitchFamily="2" charset="-122"/>
              </a:rPr>
              <a:t>Ellipse</a:t>
            </a:r>
            <a:r>
              <a:rPr lang="zh-CN" altLang="en-US" dirty="0">
                <a:latin typeface="Times New Roman" panose="02020603050405020304" pitchFamily="18" charset="0"/>
                <a:ea typeface="宋体" panose="02010600030101010101" pitchFamily="2" charset="-122"/>
              </a:rPr>
              <a:t>）滤波器、贝塞尔（</a:t>
            </a:r>
            <a:r>
              <a:rPr lang="en-US" altLang="zh-CN" dirty="0">
                <a:latin typeface="Times New Roman" panose="02020603050405020304" pitchFamily="18" charset="0"/>
                <a:ea typeface="宋体" panose="02010600030101010101" pitchFamily="2" charset="-122"/>
              </a:rPr>
              <a:t>Bessel</a:t>
            </a:r>
            <a:r>
              <a:rPr lang="zh-CN" altLang="en-US" dirty="0">
                <a:latin typeface="Times New Roman" panose="02020603050405020304" pitchFamily="18" charset="0"/>
                <a:ea typeface="宋体" panose="02010600030101010101" pitchFamily="2" charset="-122"/>
              </a:rPr>
              <a:t>）滤波器等。这些滤波器都有严格的设计公式，现成的曲线和图表供设计人员使用。这些典型的滤波器各有特点：巴特沃思滤波器具有单调下降的幅频特性；切比雪夫滤波器的幅频特性在通带或者在阻带有波动，可以提高选择性；贝塞尔滤波器通带内有较好的线性相位特性；椭圆滤波器的选择性相对前三种是最好的</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但在通带和阻带内均为等波纹幅频特性。这样根据具体要求可以选用不同类型的滤</a:t>
            </a:r>
            <a:r>
              <a:rPr lang="zh-CN" altLang="en-US" dirty="0">
                <a:latin typeface="Times New Roman" panose="02020603050405020304" pitchFamily="18" charset="0"/>
                <a:ea typeface="宋体" panose="02010600030101010101" pitchFamily="2" charset="-122"/>
              </a:rPr>
              <a:t>波器。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文本框 23555"/>
          <p:cNvSpPr txBox="1"/>
          <p:nvPr/>
        </p:nvSpPr>
        <p:spPr>
          <a:xfrm>
            <a:off x="1828800" y="4953000"/>
            <a:ext cx="5392420"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5-3 </a:t>
            </a:r>
            <a:r>
              <a:rPr lang="zh-CN" altLang="en-US" dirty="0">
                <a:latin typeface="Times New Roman" panose="02020603050405020304" pitchFamily="18" charset="0"/>
                <a:ea typeface="宋体" panose="02010600030101010101" pitchFamily="2" charset="-122"/>
              </a:rPr>
              <a:t>各种理想</a:t>
            </a:r>
            <a:r>
              <a:rPr lang="zh-CN" altLang="en-US" b="1" u="sng" dirty="0">
                <a:solidFill>
                  <a:srgbClr val="FF0000"/>
                </a:solidFill>
                <a:latin typeface="Times New Roman" panose="02020603050405020304" pitchFamily="18" charset="0"/>
                <a:ea typeface="宋体" panose="02010600030101010101" pitchFamily="2" charset="-122"/>
              </a:rPr>
              <a:t>模拟</a:t>
            </a:r>
            <a:r>
              <a:rPr lang="zh-CN" altLang="en-US" dirty="0">
                <a:latin typeface="Times New Roman" panose="02020603050405020304" pitchFamily="18" charset="0"/>
                <a:ea typeface="宋体" panose="02010600030101010101" pitchFamily="2" charset="-122"/>
              </a:rPr>
              <a:t>滤波器的幅频特性 </a:t>
            </a:r>
            <a:endParaRPr lang="zh-CN" altLang="en-US">
              <a:latin typeface="Times New Roman" panose="02020603050405020304" pitchFamily="18" charset="0"/>
              <a:ea typeface="宋体" panose="02010600030101010101" pitchFamily="2" charset="-122"/>
            </a:endParaRPr>
          </a:p>
        </p:txBody>
      </p:sp>
      <p:pic>
        <p:nvPicPr>
          <p:cNvPr id="26626" name="图片 23559" descr="5-3"/>
          <p:cNvPicPr>
            <a:picLocks noChangeAspect="1"/>
          </p:cNvPicPr>
          <p:nvPr/>
        </p:nvPicPr>
        <p:blipFill>
          <a:blip r:embed="rId1"/>
          <a:stretch>
            <a:fillRect/>
          </a:stretch>
        </p:blipFill>
        <p:spPr>
          <a:xfrm>
            <a:off x="403225" y="2308225"/>
            <a:ext cx="8480425" cy="1762125"/>
          </a:xfrm>
          <a:prstGeom prst="rect">
            <a:avLst/>
          </a:prstGeom>
          <a:noFill/>
          <a:ln w="9525">
            <a:noFill/>
          </a:ln>
        </p:spPr>
      </p:pic>
    </p:spTree>
  </p:cSld>
  <p:clrMapOvr>
    <a:masterClrMapping/>
  </p:clrMapOvr>
  <p:transition>
    <p:blinds/>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1331913" y="692150"/>
            <a:ext cx="1871663" cy="433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7650" name="文本框 26627"/>
          <p:cNvSpPr txBox="1"/>
          <p:nvPr/>
        </p:nvSpPr>
        <p:spPr>
          <a:xfrm>
            <a:off x="288925" y="533400"/>
            <a:ext cx="8777288" cy="1187450"/>
          </a:xfrm>
          <a:prstGeom prst="rect">
            <a:avLst/>
          </a:prstGeom>
          <a:noFill/>
          <a:ln w="9525">
            <a:noFill/>
          </a:ln>
        </p:spPr>
        <p:txBody>
          <a:bodyPr wrap="none" anchor="t">
            <a:spAutoFit/>
          </a:bodyPr>
          <a:p>
            <a:pPr>
              <a:lnSpc>
                <a:spcPct val="150000"/>
              </a:lnSpc>
            </a:pPr>
            <a:r>
              <a:rPr lang="en-US" altLang="zh-CN" b="1" dirty="0">
                <a:latin typeface="Times New Roman" panose="02020603050405020304" pitchFamily="18" charset="0"/>
                <a:ea typeface="宋体" panose="02010600030101010101" pitchFamily="2" charset="-122"/>
              </a:rPr>
              <a:t>5.3.1</a:t>
            </a:r>
            <a:r>
              <a:rPr lang="en-US" altLang="zh-CN" b="1" dirty="0">
                <a:solidFill>
                  <a:srgbClr val="FF0000"/>
                </a:solidFill>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由</a:t>
            </a:r>
            <a:r>
              <a:rPr lang="zh-CN" altLang="en-US" b="1" dirty="0">
                <a:latin typeface="Times New Roman" panose="02020603050405020304" pitchFamily="18" charset="0"/>
                <a:ea typeface="宋体" panose="02010600030101010101" pitchFamily="2" charset="-122"/>
              </a:rPr>
              <a:t>幅度平方函数</a:t>
            </a:r>
            <a:r>
              <a:rPr lang="zh-CN" altLang="en-US" b="1" dirty="0">
                <a:solidFill>
                  <a:srgbClr val="FF0000"/>
                </a:solidFill>
                <a:latin typeface="Times New Roman" panose="02020603050405020304" pitchFamily="18" charset="0"/>
                <a:ea typeface="宋体" panose="02010600030101010101" pitchFamily="2" charset="-122"/>
              </a:rPr>
              <a:t>来确定系统函数</a:t>
            </a:r>
            <a:endParaRPr lang="zh-CN" altLang="en-US" b="1">
              <a:latin typeface="Times New Roman" panose="02020603050405020304" pitchFamily="18" charset="0"/>
              <a:ea typeface="宋体" panose="02010600030101010101" pitchFamily="2" charset="-122"/>
            </a:endParaRPr>
          </a:p>
          <a:p>
            <a:pPr>
              <a:lnSpc>
                <a:spcPct val="150000"/>
              </a:lnSpc>
            </a:pPr>
            <a:r>
              <a:rPr lang="zh-CN" altLang="en-US" dirty="0">
                <a:latin typeface="Times New Roman" panose="02020603050405020304" pitchFamily="18" charset="0"/>
                <a:ea typeface="宋体" panose="02010600030101010101" pitchFamily="2" charset="-122"/>
              </a:rPr>
              <a:t>         模拟滤波器幅度响应常用幅度平方函数</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baseline="30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来表示，即 </a:t>
            </a:r>
            <a:endParaRPr lang="zh-CN" altLang="en-US">
              <a:latin typeface="Times New Roman" panose="02020603050405020304" pitchFamily="18" charset="0"/>
              <a:ea typeface="宋体" panose="02010600030101010101" pitchFamily="2" charset="-122"/>
            </a:endParaRPr>
          </a:p>
        </p:txBody>
      </p:sp>
      <p:graphicFrame>
        <p:nvGraphicFramePr>
          <p:cNvPr id="27651" name="对象 26628"/>
          <p:cNvGraphicFramePr/>
          <p:nvPr/>
        </p:nvGraphicFramePr>
        <p:xfrm>
          <a:off x="755650" y="1823720"/>
          <a:ext cx="4724400" cy="631825"/>
        </p:xfrm>
        <a:graphic>
          <a:graphicData uri="http://schemas.openxmlformats.org/presentationml/2006/ole">
            <mc:AlternateContent xmlns:mc="http://schemas.openxmlformats.org/markup-compatibility/2006">
              <mc:Choice xmlns:v="urn:schemas-microsoft-com:vml" Requires="v">
                <p:oleObj spid="_x0000_s3096" name="" r:id="rId1" imgW="1802765" imgH="241300" progId="Equation.3">
                  <p:embed/>
                </p:oleObj>
              </mc:Choice>
              <mc:Fallback>
                <p:oleObj name="" r:id="rId1" imgW="1802765" imgH="241300" progId="Equation.3">
                  <p:embed/>
                  <p:pic>
                    <p:nvPicPr>
                      <p:cNvPr id="0" name="图片 3095"/>
                      <p:cNvPicPr/>
                      <p:nvPr/>
                    </p:nvPicPr>
                    <p:blipFill>
                      <a:blip r:embed="rId2"/>
                      <a:stretch>
                        <a:fillRect/>
                      </a:stretch>
                    </p:blipFill>
                    <p:spPr>
                      <a:xfrm>
                        <a:off x="755650" y="1823720"/>
                        <a:ext cx="4724400" cy="631825"/>
                      </a:xfrm>
                      <a:prstGeom prst="rect">
                        <a:avLst/>
                      </a:prstGeom>
                      <a:solidFill>
                        <a:schemeClr val="accent1"/>
                      </a:solidFill>
                      <a:ln w="38100">
                        <a:noFill/>
                        <a:miter/>
                      </a:ln>
                    </p:spPr>
                  </p:pic>
                </p:oleObj>
              </mc:Fallback>
            </mc:AlternateContent>
          </a:graphicData>
        </a:graphic>
      </p:graphicFrame>
      <p:sp>
        <p:nvSpPr>
          <p:cNvPr id="27652" name="文本框 26629"/>
          <p:cNvSpPr txBox="1"/>
          <p:nvPr/>
        </p:nvSpPr>
        <p:spPr>
          <a:xfrm>
            <a:off x="136525" y="2557463"/>
            <a:ext cx="7180263" cy="566737"/>
          </a:xfrm>
          <a:prstGeom prst="rect">
            <a:avLst/>
          </a:prstGeom>
          <a:noFill/>
          <a:ln w="9525">
            <a:noFill/>
          </a:ln>
        </p:spPr>
        <p:txBody>
          <a:bodyPr wrap="none" anchor="t">
            <a:spAutoFit/>
          </a:bodyPr>
          <a:p>
            <a:pPr>
              <a:lnSpc>
                <a:spcPct val="130000"/>
              </a:lnSpc>
            </a:pPr>
            <a:r>
              <a:rPr lang="zh-CN" altLang="en-US" dirty="0">
                <a:latin typeface="Times New Roman" panose="02020603050405020304" pitchFamily="18" charset="0"/>
                <a:ea typeface="宋体" panose="02010600030101010101" pitchFamily="2" charset="-122"/>
              </a:rPr>
              <a:t>由于滤波器冲激响应</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是实函数，因而</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满足 </a:t>
            </a:r>
            <a:endParaRPr lang="zh-CN" altLang="en-US">
              <a:latin typeface="Times New Roman" panose="02020603050405020304" pitchFamily="18" charset="0"/>
              <a:ea typeface="宋体" panose="02010600030101010101" pitchFamily="2" charset="-122"/>
            </a:endParaRPr>
          </a:p>
        </p:txBody>
      </p:sp>
      <p:graphicFrame>
        <p:nvGraphicFramePr>
          <p:cNvPr id="26629" name="对象 26630"/>
          <p:cNvGraphicFramePr/>
          <p:nvPr/>
        </p:nvGraphicFramePr>
        <p:xfrm>
          <a:off x="2195830" y="3356610"/>
          <a:ext cx="2971800" cy="565150"/>
        </p:xfrm>
        <a:graphic>
          <a:graphicData uri="http://schemas.openxmlformats.org/presentationml/2006/ole">
            <mc:AlternateContent xmlns:mc="http://schemas.openxmlformats.org/markup-compatibility/2006">
              <mc:Choice xmlns:v="urn:schemas-microsoft-com:vml" Requires="v">
                <p:oleObj spid="_x0000_s3098" name="" r:id="rId3" imgW="1269365" imgH="241300" progId="Equation.3">
                  <p:embed/>
                </p:oleObj>
              </mc:Choice>
              <mc:Fallback>
                <p:oleObj name="" r:id="rId3" imgW="1269365" imgH="241300" progId="Equation.3">
                  <p:embed/>
                  <p:pic>
                    <p:nvPicPr>
                      <p:cNvPr id="0" name="图片 3097"/>
                      <p:cNvPicPr/>
                      <p:nvPr/>
                    </p:nvPicPr>
                    <p:blipFill>
                      <a:blip r:embed="rId4"/>
                      <a:stretch>
                        <a:fillRect/>
                      </a:stretch>
                    </p:blipFill>
                    <p:spPr>
                      <a:xfrm>
                        <a:off x="2195830" y="3356610"/>
                        <a:ext cx="2971800" cy="565150"/>
                      </a:xfrm>
                      <a:prstGeom prst="rect">
                        <a:avLst/>
                      </a:prstGeom>
                      <a:solidFill>
                        <a:schemeClr val="accent1"/>
                      </a:solidFill>
                      <a:ln w="38100">
                        <a:noFill/>
                        <a:miter/>
                      </a:ln>
                    </p:spPr>
                  </p:pic>
                </p:oleObj>
              </mc:Fallback>
            </mc:AlternateContent>
          </a:graphicData>
        </a:graphic>
      </p:graphicFrame>
      <p:sp>
        <p:nvSpPr>
          <p:cNvPr id="27654" name="文本框 26631"/>
          <p:cNvSpPr txBox="1"/>
          <p:nvPr/>
        </p:nvSpPr>
        <p:spPr>
          <a:xfrm>
            <a:off x="152400" y="3962400"/>
            <a:ext cx="869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所以 </a:t>
            </a:r>
            <a:endParaRPr lang="zh-CN" altLang="en-US">
              <a:latin typeface="Times New Roman" panose="02020603050405020304" pitchFamily="18" charset="0"/>
              <a:ea typeface="宋体" panose="02010600030101010101" pitchFamily="2" charset="-122"/>
            </a:endParaRPr>
          </a:p>
        </p:txBody>
      </p:sp>
      <p:graphicFrame>
        <p:nvGraphicFramePr>
          <p:cNvPr id="26631" name="对象 26632"/>
          <p:cNvGraphicFramePr/>
          <p:nvPr/>
        </p:nvGraphicFramePr>
        <p:xfrm>
          <a:off x="1219200" y="4475163"/>
          <a:ext cx="6858000" cy="554037"/>
        </p:xfrm>
        <a:graphic>
          <a:graphicData uri="http://schemas.openxmlformats.org/presentationml/2006/ole">
            <mc:AlternateContent xmlns:mc="http://schemas.openxmlformats.org/markup-compatibility/2006">
              <mc:Choice xmlns:v="urn:schemas-microsoft-com:vml" Requires="v">
                <p:oleObj spid="_x0000_s3100" name="" r:id="rId5" imgW="3134360" imgH="254000" progId="Equation.3">
                  <p:embed/>
                </p:oleObj>
              </mc:Choice>
              <mc:Fallback>
                <p:oleObj name="" r:id="rId5" imgW="3134360" imgH="254000" progId="Equation.3">
                  <p:embed/>
                  <p:pic>
                    <p:nvPicPr>
                      <p:cNvPr id="0" name="图片 3099"/>
                      <p:cNvPicPr/>
                      <p:nvPr/>
                    </p:nvPicPr>
                    <p:blipFill>
                      <a:blip r:embed="rId6"/>
                      <a:stretch>
                        <a:fillRect/>
                      </a:stretch>
                    </p:blipFill>
                    <p:spPr>
                      <a:xfrm>
                        <a:off x="1219200" y="4475163"/>
                        <a:ext cx="6858000" cy="554037"/>
                      </a:xfrm>
                      <a:prstGeom prst="rect">
                        <a:avLst/>
                      </a:prstGeom>
                      <a:solidFill>
                        <a:schemeClr val="accent1"/>
                      </a:solidFill>
                      <a:ln w="38100">
                        <a:noFill/>
                        <a:miter/>
                      </a:ln>
                    </p:spPr>
                  </p:pic>
                </p:oleObj>
              </mc:Fallback>
            </mc:AlternateContent>
          </a:graphicData>
        </a:graphic>
      </p:graphicFrame>
      <p:sp>
        <p:nvSpPr>
          <p:cNvPr id="27656" name="文本框 26633"/>
          <p:cNvSpPr txBox="1"/>
          <p:nvPr/>
        </p:nvSpPr>
        <p:spPr>
          <a:xfrm>
            <a:off x="8096250" y="4495800"/>
            <a:ext cx="1200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5-7</a:t>
            </a:r>
            <a:r>
              <a:rPr lang="zh-CN" altLang="en-US" dirty="0">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p:txBody>
      </p:sp>
      <p:sp>
        <p:nvSpPr>
          <p:cNvPr id="27657" name="文本框 26634"/>
          <p:cNvSpPr txBox="1"/>
          <p:nvPr/>
        </p:nvSpPr>
        <p:spPr>
          <a:xfrm>
            <a:off x="152400" y="5073650"/>
            <a:ext cx="8839200" cy="109855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是模拟滤波器的系统函数，它是</a:t>
            </a:r>
            <a:r>
              <a:rPr lang="en-US" altLang="zh-CN" i="1">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的有理函数</a:t>
            </a:r>
            <a:r>
              <a:rPr lang="en-US" altLang="zh-CN" dirty="0">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是滤波器的频率响应特性； </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是滤波器的幅度特性。 </a:t>
            </a:r>
            <a:endParaRPr lang="zh-CN" altLang="en-US">
              <a:latin typeface="Times New Roman" panose="02020603050405020304" pitchFamily="18" charset="0"/>
              <a:ea typeface="宋体" panose="02010600030101010101" pitchFamily="2" charset="-122"/>
            </a:endParaRPr>
          </a:p>
        </p:txBody>
      </p:sp>
      <p:graphicFrame>
        <p:nvGraphicFramePr>
          <p:cNvPr id="3" name="对象 2">
            <a:hlinkClick r:id="" action="ppaction://ole?verb="/>
          </p:cNvPr>
          <p:cNvGraphicFramePr>
            <a:graphicFrameLocks noChangeAspect="1"/>
          </p:cNvGraphicFramePr>
          <p:nvPr/>
        </p:nvGraphicFramePr>
        <p:xfrm>
          <a:off x="5598478" y="764223"/>
          <a:ext cx="3545205" cy="1892300"/>
        </p:xfrm>
        <a:graphic>
          <a:graphicData uri="http://schemas.openxmlformats.org/presentationml/2006/ole">
            <mc:AlternateContent xmlns:mc="http://schemas.openxmlformats.org/markup-compatibility/2006">
              <mc:Choice xmlns:v="urn:schemas-microsoft-com:vml" Requires="v">
                <p:oleObj spid="_x0000_s3083" name="" r:id="rId7" imgW="1854200" imgH="977900" progId="Equation.KSEE3">
                  <p:embed/>
                </p:oleObj>
              </mc:Choice>
              <mc:Fallback>
                <p:oleObj name="" r:id="rId7" imgW="1854200" imgH="977900" progId="Equation.KSEE3">
                  <p:embed/>
                  <p:pic>
                    <p:nvPicPr>
                      <p:cNvPr id="0" name="图片 3082"/>
                      <p:cNvPicPr/>
                      <p:nvPr/>
                    </p:nvPicPr>
                    <p:blipFill>
                      <a:blip r:embed="rId8"/>
                      <a:stretch>
                        <a:fillRect/>
                      </a:stretch>
                    </p:blipFill>
                    <p:spPr>
                      <a:xfrm>
                        <a:off x="5598478" y="764223"/>
                        <a:ext cx="3545205" cy="1892300"/>
                      </a:xfrm>
                      <a:prstGeom prst="rect">
                        <a:avLst/>
                      </a:prstGeom>
                      <a:solidFill>
                        <a:srgbClr val="C00000"/>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9"/>
                                        </p:tgtEl>
                                        <p:attrNameLst>
                                          <p:attrName>style.visibility</p:attrName>
                                        </p:attrNameLst>
                                      </p:cBhvr>
                                      <p:to>
                                        <p:strVal val="visible"/>
                                      </p:to>
                                    </p:set>
                                    <p:anim calcmode="lin" valueType="num">
                                      <p:cBhvr additive="base">
                                        <p:cTn id="7" dur="500" fill="hold"/>
                                        <p:tgtEl>
                                          <p:spTgt spid="26629"/>
                                        </p:tgtEl>
                                        <p:attrNameLst>
                                          <p:attrName>ppt_x</p:attrName>
                                        </p:attrNameLst>
                                      </p:cBhvr>
                                      <p:tavLst>
                                        <p:tav tm="0">
                                          <p:val>
                                            <p:strVal val="#ppt_x"/>
                                          </p:val>
                                        </p:tav>
                                        <p:tav tm="100000">
                                          <p:val>
                                            <p:strVal val="#ppt_x"/>
                                          </p:val>
                                        </p:tav>
                                      </p:tavLst>
                                    </p:anim>
                                    <p:anim calcmode="lin" valueType="num">
                                      <p:cBhvr additive="base">
                                        <p:cTn id="8" dur="500" fill="hold"/>
                                        <p:tgtEl>
                                          <p:spTgt spid="266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631"/>
                                        </p:tgtEl>
                                        <p:attrNameLst>
                                          <p:attrName>style.visibility</p:attrName>
                                        </p:attrNameLst>
                                      </p:cBhvr>
                                      <p:to>
                                        <p:strVal val="visible"/>
                                      </p:to>
                                    </p:set>
                                    <p:anim calcmode="lin" valueType="num">
                                      <p:cBhvr additive="base">
                                        <p:cTn id="13" dur="500" fill="hold"/>
                                        <p:tgtEl>
                                          <p:spTgt spid="26631"/>
                                        </p:tgtEl>
                                        <p:attrNameLst>
                                          <p:attrName>ppt_x</p:attrName>
                                        </p:attrNameLst>
                                      </p:cBhvr>
                                      <p:tavLst>
                                        <p:tav tm="0">
                                          <p:val>
                                            <p:strVal val="#ppt_x"/>
                                          </p:val>
                                        </p:tav>
                                        <p:tav tm="100000">
                                          <p:val>
                                            <p:strVal val="#ppt_x"/>
                                          </p:val>
                                        </p:tav>
                                      </p:tavLst>
                                    </p:anim>
                                    <p:anim calcmode="lin" valueType="num">
                                      <p:cBhvr additive="base">
                                        <p:cTn id="14" dur="500" fill="hold"/>
                                        <p:tgtEl>
                                          <p:spTgt spid="2663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文本框 25603"/>
          <p:cNvSpPr txBox="1"/>
          <p:nvPr/>
        </p:nvSpPr>
        <p:spPr>
          <a:xfrm>
            <a:off x="228600" y="609600"/>
            <a:ext cx="8686800" cy="5278438"/>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现在的问题是要由已知的</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(jΩ)|</a:t>
            </a:r>
            <a:r>
              <a:rPr lang="en-US" altLang="zh-CN" baseline="30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求得</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。回到式（</a:t>
            </a:r>
            <a:r>
              <a:rPr lang="en-US" altLang="zh-CN" dirty="0">
                <a:latin typeface="Times New Roman" panose="02020603050405020304" pitchFamily="18" charset="0"/>
                <a:ea typeface="宋体" panose="02010600030101010101" pitchFamily="2" charset="-122"/>
              </a:rPr>
              <a:t>5-</a:t>
            </a:r>
            <a:r>
              <a:rPr lang="en-US" altLang="zh-CN">
                <a:latin typeface="Times New Roman" panose="02020603050405020304" pitchFamily="18" charset="0"/>
                <a:ea typeface="宋体" panose="02010600030101010101" pitchFamily="2" charset="-122"/>
              </a:rPr>
              <a:t>7</a:t>
            </a:r>
            <a:r>
              <a:rPr lang="zh-CN" altLang="en-US">
                <a:latin typeface="Times New Roman" panose="02020603050405020304" pitchFamily="18" charset="0"/>
                <a:ea typeface="宋体" panose="02010600030101010101" pitchFamily="2" charset="-122"/>
              </a:rPr>
              <a:t>），设</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有一个极点（或零点）位于</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处，由于冲激响应</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为实函数，则极点（或零点）必以共轭对形式出现，因而</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 </a:t>
            </a:r>
            <a:r>
              <a:rPr lang="en-US" altLang="zh-CN" baseline="-2500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处也一定有一极点（或零点），所以与之对应</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在</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0</a:t>
            </a:r>
            <a:r>
              <a:rPr lang="en-US" altLang="zh-CN" baseline="3000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处必有极点（或零点），</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在虚轴上的零点（或极点）（对临界稳定情况，才会出现虚轴的极点）一定是二阶的， 这是因为冲激响应</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是实的，因而</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的极点（或零点）必成共轭对出现。</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的极点、零点分布是成象限</a:t>
            </a:r>
            <a:r>
              <a:rPr lang="zh-CN" altLang="en-US" dirty="0">
                <a:latin typeface="Times New Roman" panose="02020603050405020304" pitchFamily="18" charset="0"/>
                <a:ea typeface="宋体" panose="02010600030101010101" pitchFamily="2" charset="-122"/>
              </a:rPr>
              <a:t>对称的，如图</a:t>
            </a:r>
            <a:r>
              <a:rPr lang="en-US" altLang="zh-CN" dirty="0">
                <a:latin typeface="Times New Roman" panose="02020603050405020304" pitchFamily="18" charset="0"/>
                <a:ea typeface="宋体" panose="02010600030101010101" pitchFamily="2" charset="-122"/>
              </a:rPr>
              <a:t>5-4</a:t>
            </a:r>
            <a:r>
              <a:rPr lang="zh-CN" altLang="en-US" dirty="0">
                <a:latin typeface="Times New Roman" panose="02020603050405020304" pitchFamily="18" charset="0"/>
                <a:ea typeface="宋体" panose="02010600030101010101" pitchFamily="2" charset="-122"/>
              </a:rPr>
              <a:t>所示。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文本框 381954"/>
          <p:cNvSpPr txBox="1"/>
          <p:nvPr/>
        </p:nvSpPr>
        <p:spPr>
          <a:xfrm>
            <a:off x="2195513" y="5635625"/>
            <a:ext cx="4702175"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a:latin typeface="Times New Roman" panose="02020603050405020304" pitchFamily="18" charset="0"/>
                <a:ea typeface="宋体" panose="02010600030101010101" pitchFamily="2" charset="-122"/>
              </a:rPr>
              <a:t>5-4  </a:t>
            </a:r>
            <a:r>
              <a:rPr lang="en-US" altLang="zh-CN" i="1" err="1">
                <a:latin typeface="Times New Roman" panose="02020603050405020304" pitchFamily="18" charset="0"/>
                <a:ea typeface="宋体" panose="02010600030101010101" pitchFamily="2" charset="-122"/>
              </a:rPr>
              <a:t>H</a:t>
            </a:r>
            <a:r>
              <a:rPr lang="en-US" altLang="zh-CN" baseline="-25000" err="1">
                <a:latin typeface="Times New Roman" panose="02020603050405020304" pitchFamily="18" charset="0"/>
                <a:ea typeface="宋体" panose="02010600030101010101" pitchFamily="2" charset="-122"/>
              </a:rPr>
              <a:t>a</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s</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H</a:t>
            </a:r>
            <a:r>
              <a:rPr lang="en-US" altLang="zh-CN" baseline="-25000" err="1">
                <a:latin typeface="Times New Roman" panose="02020603050405020304" pitchFamily="18" charset="0"/>
                <a:ea typeface="宋体" panose="02010600030101010101" pitchFamily="2" charset="-122"/>
              </a:rPr>
              <a:t>a</a:t>
            </a:r>
            <a:r>
              <a:rPr lang="en-US" altLang="zh-CN" err="1">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的极、零点分布 </a:t>
            </a:r>
            <a:endParaRPr lang="zh-CN" altLang="en-US" dirty="0">
              <a:latin typeface="Times New Roman" panose="02020603050405020304" pitchFamily="18" charset="0"/>
              <a:ea typeface="宋体" panose="02010600030101010101" pitchFamily="2" charset="-122"/>
            </a:endParaRPr>
          </a:p>
        </p:txBody>
      </p:sp>
      <p:pic>
        <p:nvPicPr>
          <p:cNvPr id="29698" name="图片 381956" descr="5-4"/>
          <p:cNvPicPr>
            <a:picLocks noChangeAspect="1"/>
          </p:cNvPicPr>
          <p:nvPr/>
        </p:nvPicPr>
        <p:blipFill>
          <a:blip r:embed="rId1"/>
          <a:stretch>
            <a:fillRect/>
          </a:stretch>
        </p:blipFill>
        <p:spPr>
          <a:xfrm>
            <a:off x="1774825" y="1169988"/>
            <a:ext cx="4357688" cy="4146550"/>
          </a:xfrm>
          <a:prstGeom prst="rect">
            <a:avLst/>
          </a:prstGeom>
          <a:noFill/>
          <a:ln w="9525">
            <a:noFill/>
          </a:ln>
        </p:spPr>
      </p:pic>
      <p:sp>
        <p:nvSpPr>
          <p:cNvPr id="2" name="文本框 381954"/>
          <p:cNvSpPr txBox="1"/>
          <p:nvPr/>
        </p:nvSpPr>
        <p:spPr>
          <a:xfrm>
            <a:off x="4286250" y="715963"/>
            <a:ext cx="4803775" cy="830262"/>
          </a:xfrm>
          <a:prstGeom prst="rect">
            <a:avLst/>
          </a:prstGeom>
          <a:noFill/>
          <a:ln w="9525">
            <a:noFill/>
          </a:ln>
        </p:spPr>
        <p:txBody>
          <a:bodyPr wrap="square" anchor="t">
            <a:spAutoFit/>
          </a:bodyPr>
          <a:p>
            <a:r>
              <a:rPr lang="zh-CN" altLang="en-US" b="1" dirty="0">
                <a:solidFill>
                  <a:srgbClr val="FF0000"/>
                </a:solidFill>
                <a:latin typeface="Times New Roman" panose="02020603050405020304" pitchFamily="18" charset="0"/>
                <a:ea typeface="宋体" panose="02010600030101010101" pitchFamily="2" charset="-122"/>
              </a:rPr>
              <a:t>故一般情况下，有一个零极点存在，</a:t>
            </a:r>
            <a:endParaRPr lang="zh-CN" altLang="en-US" b="1" dirty="0">
              <a:solidFill>
                <a:srgbClr val="FF0000"/>
              </a:solidFill>
              <a:latin typeface="Times New Roman" panose="02020603050405020304" pitchFamily="18" charset="0"/>
              <a:ea typeface="宋体" panose="02010600030101010101" pitchFamily="2" charset="-122"/>
            </a:endParaRPr>
          </a:p>
          <a:p>
            <a:r>
              <a:rPr lang="zh-CN" altLang="en-US" b="1" dirty="0">
                <a:solidFill>
                  <a:srgbClr val="FF0000"/>
                </a:solidFill>
                <a:latin typeface="Times New Roman" panose="02020603050405020304" pitchFamily="18" charset="0"/>
                <a:ea typeface="宋体" panose="02010600030101010101" pitchFamily="2" charset="-122"/>
              </a:rPr>
              <a:t>同时就有四个零极点存在 </a:t>
            </a:r>
            <a:endParaRPr lang="zh-CN" altLang="en-US" b="1" dirty="0">
              <a:solidFill>
                <a:srgbClr val="FF0000"/>
              </a:solidFill>
              <a:latin typeface="Times New Roman" panose="02020603050405020304" pitchFamily="18" charset="0"/>
              <a:ea typeface="宋体" panose="02010600030101010101" pitchFamily="2" charset="-122"/>
            </a:endParaRPr>
          </a:p>
        </p:txBody>
      </p:sp>
      <p:sp>
        <p:nvSpPr>
          <p:cNvPr id="3" name="矩形 2"/>
          <p:cNvSpPr/>
          <p:nvPr/>
        </p:nvSpPr>
        <p:spPr>
          <a:xfrm>
            <a:off x="1681163" y="1381125"/>
            <a:ext cx="1619250" cy="4095750"/>
          </a:xfrm>
          <a:prstGeom prst="rect">
            <a:avLst/>
          </a:prstGeom>
          <a:noFill/>
          <a:ln w="63500"/>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cxnSp>
        <p:nvCxnSpPr>
          <p:cNvPr id="5" name="直接箭头连接符 4"/>
          <p:cNvCxnSpPr/>
          <p:nvPr/>
        </p:nvCxnSpPr>
        <p:spPr>
          <a:xfrm flipH="1">
            <a:off x="3060700" y="3141663"/>
            <a:ext cx="850900" cy="1211263"/>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a:off x="4051300" y="3141663"/>
            <a:ext cx="15875" cy="1150938"/>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V="1">
            <a:off x="2892425" y="3213100"/>
            <a:ext cx="23813" cy="1069975"/>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椭圆 7"/>
          <p:cNvSpPr/>
          <p:nvPr/>
        </p:nvSpPr>
        <p:spPr>
          <a:xfrm>
            <a:off x="3724275" y="2709863"/>
            <a:ext cx="458788" cy="431800"/>
          </a:xfrm>
          <a:prstGeom prst="ellipse">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4" name="文本框 3"/>
          <p:cNvSpPr txBox="1"/>
          <p:nvPr/>
        </p:nvSpPr>
        <p:spPr>
          <a:xfrm>
            <a:off x="6234113" y="2419350"/>
            <a:ext cx="2054225" cy="460375"/>
          </a:xfrm>
          <a:prstGeom prst="rect">
            <a:avLst/>
          </a:prstGeom>
          <a:solidFill>
            <a:schemeClr val="accent1"/>
          </a:solidFill>
          <a:ln w="9525">
            <a:noFill/>
          </a:ln>
        </p:spPr>
        <p:txBody>
          <a:bodyPr wrap="square" anchor="t">
            <a:spAutoFit/>
          </a:bodyPr>
          <a:p>
            <a:r>
              <a:rPr lang="zh-CN" altLang="en-US">
                <a:latin typeface="Times New Roman" panose="02020603050405020304" pitchFamily="18" charset="0"/>
                <a:ea typeface="宋体" panose="02010600030101010101" pitchFamily="2" charset="-122"/>
              </a:rPr>
              <a:t>一对四的关系</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1"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ppt_x"/>
                                          </p:val>
                                        </p:tav>
                                        <p:tav tm="100000">
                                          <p:val>
                                            <p:strVal val="#ppt_x"/>
                                          </p:val>
                                        </p:tav>
                                      </p:tavLst>
                                    </p:anim>
                                    <p:anim calcmode="lin" valueType="num">
                                      <p:cBhvr additive="base">
                                        <p:cTn id="3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500" fill="hold">
                                          <p:stCondLst>
                                            <p:cond delay="0"/>
                                          </p:stCondLst>
                                        </p:cTn>
                                        <p:tgtEl>
                                          <p:spTgt spid="3"/>
                                        </p:tgtEl>
                                        <p:attrNameLst>
                                          <p:attrName>style.visibility</p:attrName>
                                        </p:attrNameLst>
                                      </p:cBhvr>
                                      <p:to>
                                        <p:strVal val="visible"/>
                                      </p:to>
                                    </p:set>
                                    <p:anim calcmode="lin" valueType="num">
                                      <p:cBhvr additive="base">
                                        <p:cTn id="41" dur="500" fill="hold"/>
                                        <p:tgtEl>
                                          <p:spTgt spid="3"/>
                                        </p:tgtEl>
                                        <p:attrNameLst>
                                          <p:attrName>ppt_x</p:attrName>
                                        </p:attrNameLst>
                                      </p:cBhvr>
                                      <p:tavLst>
                                        <p:tav tm="0">
                                          <p:val>
                                            <p:strVal val="#ppt_x"/>
                                          </p:val>
                                        </p:tav>
                                        <p:tav tm="100000">
                                          <p:val>
                                            <p:strVal val="#ppt_x"/>
                                          </p:val>
                                        </p:tav>
                                      </p:tavLst>
                                    </p:anim>
                                    <p:anim calcmode="lin" valueType="num">
                                      <p:cBhvr additive="base">
                                        <p:cTn id="4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
                                        </p:tgtEl>
                                        <p:attrNameLst>
                                          <p:attrName>style.visibility</p:attrName>
                                        </p:attrNameLst>
                                      </p:cBhvr>
                                      <p:to>
                                        <p:strVal val="visible"/>
                                      </p:to>
                                    </p:set>
                                    <p:anim calcmode="lin" valueType="num">
                                      <p:cBhvr additive="base">
                                        <p:cTn id="47" dur="500" fill="hold"/>
                                        <p:tgtEl>
                                          <p:spTgt spid="4"/>
                                        </p:tgtEl>
                                        <p:attrNameLst>
                                          <p:attrName>ppt_x</p:attrName>
                                        </p:attrNameLst>
                                      </p:cBhvr>
                                      <p:tavLst>
                                        <p:tav tm="0">
                                          <p:val>
                                            <p:strVal val="#ppt_x"/>
                                          </p:val>
                                        </p:tav>
                                        <p:tav tm="100000">
                                          <p:val>
                                            <p:strVal val="#ppt_x"/>
                                          </p:val>
                                        </p:tav>
                                      </p:tavLst>
                                    </p:anim>
                                    <p:anim calcmode="lin" valueType="num">
                                      <p:cBhvr additive="base">
                                        <p:cTn id="4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p:bldP spid="2" grpId="1"/>
      <p:bldP spid="3" grpId="0" bldLvl="0" animBg="1"/>
      <p:bldP spid="4" grpId="0" animBg="1"/>
      <p:bldP spid="4"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4211638" y="2997200"/>
            <a:ext cx="3168650" cy="504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 name="矩形 1"/>
          <p:cNvSpPr/>
          <p:nvPr/>
        </p:nvSpPr>
        <p:spPr>
          <a:xfrm>
            <a:off x="152400" y="1233488"/>
            <a:ext cx="5976938" cy="433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0723" name="文本框 28675"/>
          <p:cNvSpPr txBox="1"/>
          <p:nvPr/>
        </p:nvSpPr>
        <p:spPr>
          <a:xfrm>
            <a:off x="152400" y="533400"/>
            <a:ext cx="8763000" cy="5924550"/>
          </a:xfrm>
          <a:prstGeom prst="rect">
            <a:avLst/>
          </a:prstGeom>
          <a:noFill/>
          <a:ln w="9525">
            <a:noFill/>
          </a:ln>
        </p:spPr>
        <p:txBody>
          <a:bodyPr anchor="t">
            <a:spAutoFit/>
          </a:bodyPr>
          <a:p>
            <a:pPr algn="just">
              <a:lnSpc>
                <a:spcPct val="14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我们知道，</a:t>
            </a:r>
            <a:r>
              <a:rPr lang="zh-CN" altLang="en-US" b="1" dirty="0">
                <a:solidFill>
                  <a:srgbClr val="FF0000"/>
                </a:solidFill>
                <a:latin typeface="Times New Roman" panose="02020603050405020304" pitchFamily="18" charset="0"/>
                <a:ea typeface="宋体" panose="02010600030101010101" pitchFamily="2" charset="-122"/>
              </a:rPr>
              <a:t>任何实际可实现的滤波器都是稳定的</a:t>
            </a:r>
            <a:r>
              <a:rPr lang="zh-CN" altLang="en-US" dirty="0">
                <a:latin typeface="Times New Roman" panose="02020603050405020304" pitchFamily="18" charset="0"/>
                <a:ea typeface="宋体" panose="02010600030101010101" pitchFamily="2" charset="-122"/>
              </a:rPr>
              <a:t>，因此</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其</a:t>
            </a:r>
            <a:r>
              <a:rPr lang="zh-CN" altLang="en-US" b="1" dirty="0">
                <a:latin typeface="Times New Roman" panose="02020603050405020304" pitchFamily="18" charset="0"/>
                <a:ea typeface="宋体" panose="02010600030101010101" pitchFamily="2" charset="-122"/>
              </a:rPr>
              <a:t>系统函数</a:t>
            </a:r>
            <a:r>
              <a:rPr lang="en-US" altLang="zh-CN" b="1" i="1">
                <a:latin typeface="Times New Roman" panose="02020603050405020304" pitchFamily="18" charset="0"/>
                <a:ea typeface="宋体" panose="02010600030101010101" pitchFamily="2" charset="-122"/>
              </a:rPr>
              <a:t>H</a:t>
            </a:r>
            <a:r>
              <a:rPr lang="en-US" altLang="zh-CN" b="1" baseline="-25000">
                <a:latin typeface="Times New Roman" panose="02020603050405020304" pitchFamily="18" charset="0"/>
                <a:ea typeface="宋体" panose="02010600030101010101" pitchFamily="2" charset="-122"/>
              </a:rPr>
              <a:t>a</a:t>
            </a:r>
            <a:r>
              <a:rPr lang="en-US" altLang="zh-CN" b="1">
                <a:latin typeface="Times New Roman" panose="02020603050405020304" pitchFamily="18" charset="0"/>
                <a:ea typeface="宋体" panose="02010600030101010101" pitchFamily="2" charset="-122"/>
              </a:rPr>
              <a:t>(</a:t>
            </a:r>
            <a:r>
              <a:rPr lang="en-US" altLang="zh-CN" b="1" i="1">
                <a:latin typeface="Times New Roman" panose="02020603050405020304" pitchFamily="18" charset="0"/>
                <a:ea typeface="宋体" panose="02010600030101010101" pitchFamily="2" charset="-122"/>
              </a:rPr>
              <a:t>s</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的极点一定落在</a:t>
            </a:r>
            <a:r>
              <a:rPr lang="en-US" altLang="zh-CN" b="1" i="1">
                <a:latin typeface="Times New Roman" panose="02020603050405020304" pitchFamily="18" charset="0"/>
                <a:ea typeface="宋体" panose="02010600030101010101" pitchFamily="2" charset="-122"/>
              </a:rPr>
              <a:t>s</a:t>
            </a:r>
            <a:r>
              <a:rPr lang="zh-CN" altLang="en-US" b="1" dirty="0">
                <a:latin typeface="Times New Roman" panose="02020603050405020304" pitchFamily="18" charset="0"/>
                <a:ea typeface="宋体" panose="02010600030101010101" pitchFamily="2" charset="-122"/>
              </a:rPr>
              <a:t>的左半平面</a:t>
            </a:r>
            <a:r>
              <a:rPr lang="zh-CN" altLang="en-US" dirty="0">
                <a:latin typeface="Times New Roman" panose="02020603050405020304" pitchFamily="18" charset="0"/>
                <a:ea typeface="宋体" panose="02010600030101010101" pitchFamily="2" charset="-122"/>
              </a:rPr>
              <a:t>，所以左半平面的极点一定属于</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，则右半平面的极点必属于</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a:p>
            <a:pPr algn="just">
              <a:lnSpc>
                <a:spcPct val="148000"/>
              </a:lnSpc>
              <a:spcBef>
                <a:spcPct val="50000"/>
              </a:spcBef>
            </a:pPr>
            <a:r>
              <a:rPr lang="zh-CN" altLang="en-US" dirty="0">
                <a:latin typeface="Times New Roman" panose="02020603050405020304" pitchFamily="18" charset="0"/>
                <a:ea typeface="宋体" panose="02010600030101010101" pitchFamily="2" charset="-122"/>
              </a:rPr>
              <a:t>       零点的分布则无此限制，只和滤波器的相位特征有关。如果</a:t>
            </a:r>
            <a:r>
              <a:rPr lang="zh-CN" altLang="en-US" b="1" dirty="0">
                <a:solidFill>
                  <a:srgbClr val="FF0000"/>
                </a:solidFill>
                <a:latin typeface="Times New Roman" panose="02020603050405020304" pitchFamily="18" charset="0"/>
                <a:ea typeface="宋体" panose="02010600030101010101" pitchFamily="2" charset="-122"/>
              </a:rPr>
              <a:t>要求最小的相位延时特性，</a:t>
            </a:r>
            <a:r>
              <a:rPr lang="zh-CN" altLang="en-US" dirty="0">
                <a:latin typeface="Times New Roman" panose="02020603050405020304" pitchFamily="18" charset="0"/>
                <a:ea typeface="宋体" panose="02010600030101010101" pitchFamily="2" charset="-122"/>
              </a:rPr>
              <a:t>则</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应取左半平面零点。如果有特殊要求，则按这种要求来考虑零点的分配；如无特殊要求，则可将对称零点的任一半（应为共轭对）取为</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的零点。  </a:t>
            </a:r>
            <a:endParaRPr lang="zh-CN" altLang="en-US" dirty="0">
              <a:latin typeface="Times New Roman" panose="02020603050405020304" pitchFamily="18" charset="0"/>
              <a:ea typeface="宋体" panose="02010600030101010101" pitchFamily="2" charset="-122"/>
            </a:endParaRPr>
          </a:p>
          <a:p>
            <a:pPr algn="just">
              <a:lnSpc>
                <a:spcPct val="148000"/>
              </a:lnSpc>
              <a:spcBef>
                <a:spcPct val="50000"/>
              </a:spcBef>
            </a:pPr>
            <a:r>
              <a:rPr lang="zh-CN" altLang="en-US" dirty="0">
                <a:latin typeface="Times New Roman" panose="02020603050405020304" pitchFamily="18" charset="0"/>
                <a:ea typeface="宋体" panose="02010600030101010101" pitchFamily="2" charset="-122"/>
              </a:rPr>
              <a:t>        最后</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按照</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与</a:t>
            </a:r>
            <a:r>
              <a:rPr lang="zh-CN" altLang="en-US" i="1" dirty="0">
                <a:latin typeface="Times New Roman" panose="02020603050405020304" pitchFamily="18" charset="0"/>
                <a:ea typeface="宋体" panose="02010600030101010101" pitchFamily="2" charset="-122"/>
              </a:rPr>
              <a:t>Ｈ</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的低频特性或高频特性的对比确定出增益常数。由求出的</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的零点、极点及增益常数，则可完全</a:t>
            </a:r>
            <a:r>
              <a:rPr lang="zh-CN" altLang="en-US" b="1" dirty="0">
                <a:solidFill>
                  <a:srgbClr val="FF0000"/>
                </a:solidFill>
                <a:latin typeface="Times New Roman" panose="02020603050405020304" pitchFamily="18" charset="0"/>
                <a:ea typeface="宋体" panose="02010600030101010101" pitchFamily="2" charset="-122"/>
              </a:rPr>
              <a:t>确定系统函数</a:t>
            </a:r>
            <a:r>
              <a:rPr lang="en-US" altLang="zh-CN" b="1" i="1">
                <a:solidFill>
                  <a:srgbClr val="FF0000"/>
                </a:solidFill>
                <a:latin typeface="Times New Roman" panose="02020603050405020304" pitchFamily="18" charset="0"/>
                <a:ea typeface="宋体" panose="02010600030101010101" pitchFamily="2" charset="-122"/>
              </a:rPr>
              <a:t>H</a:t>
            </a:r>
            <a:r>
              <a:rPr lang="en-US" altLang="zh-CN" b="1" baseline="-25000">
                <a:solidFill>
                  <a:srgbClr val="FF0000"/>
                </a:solidFill>
                <a:latin typeface="Times New Roman" panose="02020603050405020304" pitchFamily="18" charset="0"/>
                <a:ea typeface="宋体" panose="02010600030101010101" pitchFamily="2" charset="-122"/>
              </a:rPr>
              <a:t>a</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s</a:t>
            </a:r>
            <a:r>
              <a:rPr lang="en-US" altLang="zh-CN" b="1">
                <a:solidFill>
                  <a:srgbClr val="FF0000"/>
                </a:solidFill>
                <a:latin typeface="Times New Roman" panose="02020603050405020304" pitchFamily="18" charset="0"/>
                <a:ea typeface="宋体" panose="02010600030101010101" pitchFamily="2" charset="-122"/>
              </a:rPr>
              <a:t>)</a:t>
            </a:r>
            <a:r>
              <a:rPr lang="zh-CN" altLang="en-US" b="1">
                <a:solidFill>
                  <a:srgbClr val="FF0000"/>
                </a:solidFill>
                <a:latin typeface="Times New Roman" panose="02020603050405020304" pitchFamily="18" charset="0"/>
                <a:ea typeface="宋体" panose="02010600030101010101" pitchFamily="2" charset="-122"/>
              </a:rPr>
              <a:t>。 </a:t>
            </a:r>
            <a:endParaRPr lang="zh-CN" altLang="en-US" b="1">
              <a:solidFill>
                <a:srgbClr val="FF0000"/>
              </a:solidFill>
              <a:latin typeface="Times New Roman" panose="02020603050405020304" pitchFamily="18" charset="0"/>
              <a:ea typeface="宋体" panose="02010600030101010101" pitchFamily="2" charset="-122"/>
            </a:endParaRPr>
          </a:p>
        </p:txBody>
      </p:sp>
      <p:sp>
        <p:nvSpPr>
          <p:cNvPr id="5" name="文本框 4"/>
          <p:cNvSpPr txBox="1"/>
          <p:nvPr/>
        </p:nvSpPr>
        <p:spPr>
          <a:xfrm>
            <a:off x="107315" y="1206500"/>
            <a:ext cx="487363" cy="460375"/>
          </a:xfrm>
          <a:prstGeom prst="rect">
            <a:avLst/>
          </a:prstGeom>
          <a:gradFill rotWithShape="1">
            <a:gsLst>
              <a:gs pos="0">
                <a:srgbClr val="E30000"/>
              </a:gs>
              <a:gs pos="100000">
                <a:srgbClr val="760303"/>
              </a:gs>
            </a:gsLst>
            <a:lin ang="5400000"/>
            <a:tileRect/>
          </a:gradFill>
          <a:ln w="9525">
            <a:noFill/>
          </a:ln>
        </p:spPr>
        <p:txBody>
          <a:bodyPr wrap="square" anchor="t">
            <a:spAutoFit/>
          </a:bodyPr>
          <a:p>
            <a:r>
              <a:rPr lang="zh-CN" altLang="en-US">
                <a:latin typeface="Calibri" panose="020F0502020204030204" charset="0"/>
                <a:ea typeface="宋体" panose="02010600030101010101" pitchFamily="2" charset="-122"/>
              </a:rPr>
              <a:t>①</a:t>
            </a:r>
            <a:endParaRPr lang="zh-CN" altLang="en-US">
              <a:latin typeface="Calibri" panose="020F0502020204030204" charset="0"/>
              <a:ea typeface="宋体" panose="02010600030101010101" pitchFamily="2" charset="-122"/>
            </a:endParaRPr>
          </a:p>
        </p:txBody>
      </p:sp>
      <p:sp>
        <p:nvSpPr>
          <p:cNvPr id="6" name="文本框 5"/>
          <p:cNvSpPr txBox="1"/>
          <p:nvPr/>
        </p:nvSpPr>
        <p:spPr>
          <a:xfrm>
            <a:off x="3724275" y="3019425"/>
            <a:ext cx="487363" cy="460375"/>
          </a:xfrm>
          <a:prstGeom prst="rect">
            <a:avLst/>
          </a:prstGeom>
          <a:solidFill>
            <a:srgbClr val="C00000"/>
          </a:solidFill>
          <a:ln w="9525">
            <a:noFill/>
          </a:ln>
        </p:spPr>
        <p:txBody>
          <a:bodyPr wrap="none" anchor="t">
            <a:spAutoFit/>
          </a:bodyPr>
          <a:p>
            <a:r>
              <a:rPr lang="zh-CN" altLang="en-US">
                <a:latin typeface="Calibri" panose="020F0502020204030204" charset="0"/>
                <a:ea typeface="宋体" panose="02010600030101010101" pitchFamily="2" charset="-122"/>
              </a:rPr>
              <a:t>②</a:t>
            </a:r>
            <a:endParaRPr lang="zh-CN" altLang="en-US">
              <a:latin typeface="Calibri" panose="020F0502020204030204" charset="0"/>
              <a:ea typeface="宋体" panose="02010600030101010101" pitchFamily="2"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6" grpId="0" bldLvl="0" animBg="1"/>
      <p:bldP spid="6"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五角星 2"/>
          <p:cNvSpPr/>
          <p:nvPr/>
        </p:nvSpPr>
        <p:spPr>
          <a:xfrm>
            <a:off x="149225" y="409575"/>
            <a:ext cx="790575" cy="720725"/>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1746" name="文本框 27651"/>
          <p:cNvSpPr txBox="1"/>
          <p:nvPr/>
        </p:nvSpPr>
        <p:spPr>
          <a:xfrm>
            <a:off x="228600" y="533400"/>
            <a:ext cx="8763000" cy="1784350"/>
          </a:xfrm>
          <a:prstGeom prst="rect">
            <a:avLst/>
          </a:prstGeom>
          <a:noFill/>
          <a:ln w="9525">
            <a:noFill/>
          </a:ln>
        </p:spPr>
        <p:txBody>
          <a:bodyPr anchor="t">
            <a:spAutoFit/>
          </a:bodyPr>
          <a:p>
            <a:pPr algn="just">
              <a:lnSpc>
                <a:spcPct val="138000"/>
              </a:lnSpc>
              <a:spcBef>
                <a:spcPct val="50000"/>
              </a:spcBef>
            </a:pPr>
            <a:r>
              <a:rPr lang="en-US" altLang="zh-CN" b="1" dirty="0">
                <a:latin typeface="Times New Roman" panose="02020603050405020304" pitchFamily="18" charset="0"/>
                <a:ea typeface="宋体" panose="02010600030101010101" pitchFamily="2" charset="-122"/>
              </a:rPr>
              <a:t>5.3.2 </a:t>
            </a:r>
            <a:r>
              <a:rPr lang="zh-CN" altLang="en-US" b="1" dirty="0">
                <a:latin typeface="Times New Roman" panose="02020603050405020304" pitchFamily="18" charset="0"/>
                <a:ea typeface="宋体" panose="02010600030101010101" pitchFamily="2" charset="-122"/>
              </a:rPr>
              <a:t>巴特沃思</a:t>
            </a:r>
            <a:r>
              <a:rPr lang="zh-CN" altLang="en-US" b="1" dirty="0">
                <a:solidFill>
                  <a:srgbClr val="FF0000"/>
                </a:solidFill>
                <a:latin typeface="Times New Roman" panose="02020603050405020304" pitchFamily="18" charset="0"/>
                <a:ea typeface="宋体" panose="02010600030101010101" pitchFamily="2" charset="-122"/>
              </a:rPr>
              <a:t>低通逼近</a:t>
            </a:r>
            <a:endParaRPr lang="zh-CN" altLang="en-US">
              <a:solidFill>
                <a:srgbClr val="FF0000"/>
              </a:solidFill>
              <a:latin typeface="Times New Roman" panose="02020603050405020304" pitchFamily="18" charset="0"/>
              <a:ea typeface="宋体" panose="02010600030101010101" pitchFamily="2" charset="-122"/>
            </a:endParaRPr>
          </a:p>
          <a:p>
            <a:pPr>
              <a:lnSpc>
                <a:spcPct val="138000"/>
              </a:lnSpc>
              <a:spcBef>
                <a:spcPct val="50000"/>
              </a:spcBef>
            </a:pPr>
            <a:r>
              <a:rPr lang="zh-CN" altLang="en-US" dirty="0">
                <a:latin typeface="Times New Roman" panose="02020603050405020304" pitchFamily="18" charset="0"/>
                <a:ea typeface="宋体" panose="02010600030101010101" pitchFamily="2" charset="-122"/>
              </a:rPr>
              <a:t>        巴特沃思逼近又称最平幅度逼近。巴特沃思低通滤波器幅度平方函数定义为 </a:t>
            </a:r>
            <a:endParaRPr lang="zh-CN" altLang="en-US">
              <a:latin typeface="Times New Roman" panose="02020603050405020304" pitchFamily="18" charset="0"/>
              <a:ea typeface="宋体" panose="02010600030101010101" pitchFamily="2" charset="-122"/>
            </a:endParaRPr>
          </a:p>
        </p:txBody>
      </p:sp>
      <p:graphicFrame>
        <p:nvGraphicFramePr>
          <p:cNvPr id="2" name="对象 27652"/>
          <p:cNvGraphicFramePr/>
          <p:nvPr/>
        </p:nvGraphicFramePr>
        <p:xfrm>
          <a:off x="2819400" y="2286000"/>
          <a:ext cx="3352800" cy="863600"/>
        </p:xfrm>
        <a:graphic>
          <a:graphicData uri="http://schemas.openxmlformats.org/presentationml/2006/ole">
            <mc:AlternateContent xmlns:mc="http://schemas.openxmlformats.org/markup-compatibility/2006">
              <mc:Choice xmlns:v="urn:schemas-microsoft-com:vml" Requires="v">
                <p:oleObj spid="_x0000_s3099" name="" r:id="rId1" imgW="1675765" imgH="431800" progId="Equation.3">
                  <p:embed/>
                </p:oleObj>
              </mc:Choice>
              <mc:Fallback>
                <p:oleObj name="" r:id="rId1" imgW="1675765" imgH="431800" progId="Equation.3">
                  <p:embed/>
                  <p:pic>
                    <p:nvPicPr>
                      <p:cNvPr id="0" name="图片 3098"/>
                      <p:cNvPicPr/>
                      <p:nvPr/>
                    </p:nvPicPr>
                    <p:blipFill>
                      <a:blip r:embed="rId2"/>
                      <a:stretch>
                        <a:fillRect/>
                      </a:stretch>
                    </p:blipFill>
                    <p:spPr>
                      <a:xfrm>
                        <a:off x="2819400" y="2286000"/>
                        <a:ext cx="3352800" cy="863600"/>
                      </a:xfrm>
                      <a:prstGeom prst="rect">
                        <a:avLst/>
                      </a:prstGeom>
                      <a:solidFill>
                        <a:schemeClr val="accent1"/>
                      </a:solidFill>
                      <a:ln w="38100">
                        <a:noFill/>
                        <a:miter/>
                      </a:ln>
                    </p:spPr>
                  </p:pic>
                </p:oleObj>
              </mc:Fallback>
            </mc:AlternateContent>
          </a:graphicData>
        </a:graphic>
      </p:graphicFrame>
      <p:sp>
        <p:nvSpPr>
          <p:cNvPr id="31748" name="文本框 27653"/>
          <p:cNvSpPr txBox="1"/>
          <p:nvPr/>
        </p:nvSpPr>
        <p:spPr>
          <a:xfrm>
            <a:off x="7010400" y="2514600"/>
            <a:ext cx="1276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5-8</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pSp>
        <p:nvGrpSpPr>
          <p:cNvPr id="31749" name="组合 27656"/>
          <p:cNvGrpSpPr/>
          <p:nvPr/>
        </p:nvGrpSpPr>
        <p:grpSpPr>
          <a:xfrm>
            <a:off x="228600" y="3178175"/>
            <a:ext cx="8686800" cy="2720975"/>
            <a:chOff x="144" y="2002"/>
            <a:chExt cx="5472" cy="1714"/>
          </a:xfrm>
        </p:grpSpPr>
        <p:sp>
          <p:nvSpPr>
            <p:cNvPr id="31750" name="文本框 27654"/>
            <p:cNvSpPr txBox="1"/>
            <p:nvPr/>
          </p:nvSpPr>
          <p:spPr>
            <a:xfrm>
              <a:off x="144" y="2002"/>
              <a:ext cx="5472" cy="1714"/>
            </a:xfrm>
            <a:prstGeom prst="rect">
              <a:avLst/>
            </a:prstGeom>
            <a:noFill/>
            <a:ln w="9525">
              <a:noFill/>
            </a:ln>
          </p:spPr>
          <p:txBody>
            <a:bodyPr anchor="t">
              <a:spAutoFit/>
            </a:bodyPr>
            <a:p>
              <a:pPr algn="just">
                <a:lnSpc>
                  <a:spcPct val="17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为正整数，代表滤波器的阶数。当</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时，</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(j0)|=1</a:t>
              </a:r>
              <a:r>
                <a:rPr lang="zh-CN" altLang="en-US">
                  <a:latin typeface="Times New Roman" panose="02020603050405020304" pitchFamily="18" charset="0"/>
                  <a:ea typeface="宋体" panose="02010600030101010101" pitchFamily="2" charset="-122"/>
                </a:rPr>
                <a:t>； 当</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时，</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)|=1/        =0.707</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20lg|</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(j0)/</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)|=3 dB</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为</a:t>
              </a:r>
              <a:r>
                <a:rPr lang="en-US" altLang="zh-CN" dirty="0">
                  <a:latin typeface="Times New Roman" panose="02020603050405020304" pitchFamily="18" charset="0"/>
                  <a:ea typeface="宋体" panose="02010600030101010101" pitchFamily="2" charset="-122"/>
                </a:rPr>
                <a:t>3 dB</a:t>
              </a:r>
              <a:r>
                <a:rPr lang="zh-CN" altLang="en-US" dirty="0">
                  <a:latin typeface="Times New Roman" panose="02020603050405020304" pitchFamily="18" charset="0"/>
                  <a:ea typeface="宋体" panose="02010600030101010101" pitchFamily="2" charset="-122"/>
                </a:rPr>
                <a:t>截止频率。当</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时，不管</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为多少，所有的特性曲线都通过</a:t>
              </a:r>
              <a:r>
                <a:rPr lang="zh-CN" altLang="en-US" b="1" u="sng" dirty="0">
                  <a:solidFill>
                    <a:srgbClr val="FF0000"/>
                  </a:solidFill>
                  <a:latin typeface="Times New Roman" panose="02020603050405020304" pitchFamily="18" charset="0"/>
                  <a:ea typeface="宋体" panose="02010600030101010101" pitchFamily="2" charset="-122"/>
                </a:rPr>
                <a:t>－</a:t>
              </a:r>
              <a:r>
                <a:rPr lang="en-US" altLang="zh-CN" b="1" u="sng" dirty="0">
                  <a:solidFill>
                    <a:srgbClr val="FF0000"/>
                  </a:solidFill>
                  <a:latin typeface="Times New Roman" panose="02020603050405020304" pitchFamily="18" charset="0"/>
                  <a:ea typeface="宋体" panose="02010600030101010101" pitchFamily="2" charset="-122"/>
                </a:rPr>
                <a:t>3 </a:t>
              </a:r>
              <a:r>
                <a:rPr lang="en-US" altLang="zh-CN" b="1" u="sng">
                  <a:solidFill>
                    <a:srgbClr val="FF0000"/>
                  </a:solidFill>
                  <a:latin typeface="Times New Roman" panose="02020603050405020304" pitchFamily="18" charset="0"/>
                  <a:ea typeface="宋体" panose="02010600030101010101" pitchFamily="2" charset="-122"/>
                </a:rPr>
                <a:t>d</a:t>
              </a:r>
              <a:r>
                <a:rPr lang="en-US" altLang="zh-CN" b="1" u="sng" dirty="0">
                  <a:solidFill>
                    <a:srgbClr val="FF0000"/>
                  </a:solidFill>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点，或者说</a:t>
              </a:r>
              <a:r>
                <a:rPr lang="zh-CN" altLang="en-US" b="1" dirty="0">
                  <a:solidFill>
                    <a:srgbClr val="FF0000"/>
                  </a:solidFill>
                  <a:latin typeface="Times New Roman" panose="02020603050405020304" pitchFamily="18" charset="0"/>
                  <a:ea typeface="宋体" panose="02010600030101010101" pitchFamily="2" charset="-122"/>
                </a:rPr>
                <a:t>衰减为 </a:t>
              </a:r>
              <a:r>
                <a:rPr lang="en-US" altLang="zh-CN" b="1" dirty="0">
                  <a:solidFill>
                    <a:srgbClr val="FF0000"/>
                  </a:solidFill>
                  <a:latin typeface="Times New Roman" panose="02020603050405020304" pitchFamily="18" charset="0"/>
                  <a:ea typeface="宋体" panose="02010600030101010101" pitchFamily="2" charset="-122"/>
                </a:rPr>
                <a:t>3 </a:t>
              </a:r>
              <a:r>
                <a:rPr lang="en-US" altLang="zh-CN" b="1">
                  <a:solidFill>
                    <a:srgbClr val="FF0000"/>
                  </a:solidFill>
                  <a:latin typeface="Times New Roman" panose="02020603050405020304" pitchFamily="18" charset="0"/>
                  <a:ea typeface="宋体" panose="02010600030101010101" pitchFamily="2" charset="-122"/>
                </a:rPr>
                <a:t>dB</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31751" name="对象 27655"/>
            <p:cNvGraphicFramePr/>
            <p:nvPr/>
          </p:nvGraphicFramePr>
          <p:xfrm>
            <a:off x="2168" y="2544"/>
            <a:ext cx="316" cy="283"/>
          </p:xfrm>
          <a:graphic>
            <a:graphicData uri="http://schemas.openxmlformats.org/presentationml/2006/ole">
              <mc:AlternateContent xmlns:mc="http://schemas.openxmlformats.org/markup-compatibility/2006">
                <mc:Choice xmlns:v="urn:schemas-microsoft-com:vml" Requires="v">
                  <p:oleObj spid="_x0000_s3101" name="" r:id="rId3" imgW="241300" imgH="215900" progId="Equation.3">
                    <p:embed/>
                  </p:oleObj>
                </mc:Choice>
                <mc:Fallback>
                  <p:oleObj name="" r:id="rId3" imgW="241300" imgH="215900" progId="Equation.3">
                    <p:embed/>
                    <p:pic>
                      <p:nvPicPr>
                        <p:cNvPr id="0" name="图片 3100"/>
                        <p:cNvPicPr/>
                        <p:nvPr/>
                      </p:nvPicPr>
                      <p:blipFill>
                        <a:blip r:embed="rId4"/>
                        <a:stretch>
                          <a:fillRect/>
                        </a:stretch>
                      </p:blipFill>
                      <p:spPr>
                        <a:xfrm>
                          <a:off x="2168" y="2544"/>
                          <a:ext cx="316" cy="283"/>
                        </a:xfrm>
                        <a:prstGeom prst="rect">
                          <a:avLst/>
                        </a:prstGeom>
                        <a:noFill/>
                        <a:ln w="38100">
                          <a:noFill/>
                          <a:miter/>
                        </a:ln>
                      </p:spPr>
                    </p:pic>
                  </p:oleObj>
                </mc:Fallback>
              </mc:AlternateContent>
            </a:graphicData>
          </a:graphic>
        </p:graphicFrame>
      </p:grpSp>
      <p:sp>
        <p:nvSpPr>
          <p:cNvPr id="4" name="五角星 1"/>
          <p:cNvSpPr/>
          <p:nvPr/>
        </p:nvSpPr>
        <p:spPr>
          <a:xfrm>
            <a:off x="1692275" y="2420938"/>
            <a:ext cx="790575" cy="720725"/>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文本框 30723"/>
          <p:cNvSpPr txBox="1"/>
          <p:nvPr/>
        </p:nvSpPr>
        <p:spPr>
          <a:xfrm>
            <a:off x="539750" y="692150"/>
            <a:ext cx="8312150" cy="4943475"/>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巴特沃思低通滤波器在通带内有最大平坦的幅度特性，即</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阶巴特沃思低通滤波器在</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处幅度平方函数</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baseline="30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的前</a:t>
            </a:r>
            <a:r>
              <a:rPr lang="en-US" altLang="zh-CN" dirty="0">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阶导数为零，因而巴特沃思滤波器又称为最平幅度特性滤波器。随着</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由</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增大，</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(jΩ)|</a:t>
            </a:r>
            <a:r>
              <a:rPr lang="en-US" altLang="zh-CN" baseline="30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单调减小，</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越大，通带内特性越平坦， 过渡带越窄。当</a:t>
            </a:r>
            <a:r>
              <a:rPr lang="en-US" altLang="zh-CN" i="1">
                <a:latin typeface="Times New Roman" panose="02020603050405020304" pitchFamily="18" charset="0"/>
                <a:ea typeface="宋体" panose="02010600030101010101" pitchFamily="2" charset="-122"/>
              </a:rPr>
              <a:t>Ω</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dirty="0" err="1">
                <a:latin typeface="Times New Roman" panose="02020603050405020304" pitchFamily="18" charset="0"/>
                <a:ea typeface="宋体" panose="02010600030101010101" pitchFamily="2" charset="-122"/>
              </a:rPr>
              <a:t>st</a:t>
            </a:r>
            <a:r>
              <a:rPr lang="zh-CN" altLang="en-US" dirty="0">
                <a:latin typeface="Times New Roman" panose="02020603050405020304" pitchFamily="18" charset="0"/>
                <a:ea typeface="宋体" panose="02010600030101010101" pitchFamily="2" charset="-122"/>
              </a:rPr>
              <a:t>，即频率为阻带截止频率时，衰减为</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=-20lg|</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为阻带最小衰减。对确定的</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越大，</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s</a:t>
            </a:r>
            <a:r>
              <a:rPr lang="zh-CN" altLang="en-US">
                <a:latin typeface="Times New Roman" panose="02020603050405020304" pitchFamily="18" charset="0"/>
                <a:ea typeface="宋体" panose="02010600030101010101" pitchFamily="2" charset="-122"/>
              </a:rPr>
              <a:t>距</a:t>
            </a:r>
            <a:r>
              <a:rPr lang="en-US" altLang="zh-CN" i="1" dirty="0">
                <a:latin typeface="Times New Roman" panose="02020603050405020304" pitchFamily="18" charset="0"/>
                <a:ea typeface="宋体" panose="02010600030101010101" pitchFamily="2" charset="-122"/>
              </a:rPr>
              <a:t>Ω</a:t>
            </a:r>
            <a:r>
              <a:rPr lang="en-US" altLang="zh-CN" baseline="-25000" dirty="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越近，即过渡带越窄。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巴特沃思低通滤波器的幅度特性如图</a:t>
            </a:r>
            <a:r>
              <a:rPr lang="en-US" altLang="zh-CN" dirty="0">
                <a:latin typeface="Times New Roman" panose="02020603050405020304" pitchFamily="18" charset="0"/>
                <a:ea typeface="宋体" panose="02010600030101010101" pitchFamily="2" charset="-122"/>
              </a:rPr>
              <a:t>5-5</a:t>
            </a:r>
            <a:r>
              <a:rPr lang="zh-CN" altLang="en-US" dirty="0">
                <a:latin typeface="Times New Roman" panose="02020603050405020304" pitchFamily="18" charset="0"/>
                <a:ea typeface="宋体" panose="02010600030101010101" pitchFamily="2" charset="-122"/>
              </a:rPr>
              <a:t>所示。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文本框 382978"/>
          <p:cNvSpPr txBox="1"/>
          <p:nvPr/>
        </p:nvSpPr>
        <p:spPr>
          <a:xfrm>
            <a:off x="1293813" y="5564188"/>
            <a:ext cx="6356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5-5   </a:t>
            </a:r>
            <a:r>
              <a:rPr lang="zh-CN" altLang="en-US" dirty="0">
                <a:latin typeface="Times New Roman" panose="02020603050405020304" pitchFamily="18" charset="0"/>
                <a:ea typeface="宋体" panose="02010600030101010101" pitchFamily="2" charset="-122"/>
              </a:rPr>
              <a:t>巴特沃思滤波器的幅度特性与</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的关系 </a:t>
            </a:r>
            <a:endParaRPr lang="zh-CN" altLang="en-US" dirty="0">
              <a:latin typeface="Times New Roman" panose="02020603050405020304" pitchFamily="18" charset="0"/>
              <a:ea typeface="宋体" panose="02010600030101010101" pitchFamily="2" charset="-122"/>
            </a:endParaRPr>
          </a:p>
        </p:txBody>
      </p:sp>
      <p:pic>
        <p:nvPicPr>
          <p:cNvPr id="33794" name="图片 382980" descr="5-5"/>
          <p:cNvPicPr>
            <a:picLocks noChangeAspect="1"/>
          </p:cNvPicPr>
          <p:nvPr/>
        </p:nvPicPr>
        <p:blipFill>
          <a:blip r:embed="rId1"/>
          <a:stretch>
            <a:fillRect/>
          </a:stretch>
        </p:blipFill>
        <p:spPr>
          <a:xfrm>
            <a:off x="2019300" y="1052513"/>
            <a:ext cx="5105400" cy="4286250"/>
          </a:xfrm>
          <a:prstGeom prst="rect">
            <a:avLst/>
          </a:prstGeom>
          <a:noFill/>
          <a:ln w="9525">
            <a:noFill/>
          </a:ln>
        </p:spPr>
      </p:pic>
      <p:sp>
        <p:nvSpPr>
          <p:cNvPr id="4" name="任意多边形 3"/>
          <p:cNvSpPr/>
          <p:nvPr/>
        </p:nvSpPr>
        <p:spPr>
          <a:xfrm>
            <a:off x="3394075" y="2257425"/>
            <a:ext cx="1820863" cy="2635250"/>
          </a:xfrm>
          <a:custGeom>
            <a:avLst/>
            <a:gdLst>
              <a:gd name="connisteX0" fmla="*/ 0 w 1819910"/>
              <a:gd name="connsiteY0" fmla="*/ 5092 h 2635262"/>
              <a:gd name="connisteX1" fmla="*/ 510540 w 1819910"/>
              <a:gd name="connsiteY1" fmla="*/ 5092 h 2635262"/>
              <a:gd name="connisteX2" fmla="*/ 688340 w 1819910"/>
              <a:gd name="connsiteY2" fmla="*/ 60337 h 2635262"/>
              <a:gd name="connisteX3" fmla="*/ 799465 w 1819910"/>
              <a:gd name="connsiteY3" fmla="*/ 138442 h 2635262"/>
              <a:gd name="connisteX4" fmla="*/ 865505 w 1819910"/>
              <a:gd name="connsiteY4" fmla="*/ 227342 h 2635262"/>
              <a:gd name="connisteX5" fmla="*/ 865505 w 1819910"/>
              <a:gd name="connsiteY5" fmla="*/ 327037 h 2635262"/>
              <a:gd name="connisteX6" fmla="*/ 832485 w 1819910"/>
              <a:gd name="connsiteY6" fmla="*/ 882027 h 2635262"/>
              <a:gd name="connisteX7" fmla="*/ 876935 w 1819910"/>
              <a:gd name="connsiteY7" fmla="*/ 1103642 h 2635262"/>
              <a:gd name="connisteX8" fmla="*/ 887730 w 1819910"/>
              <a:gd name="connsiteY8" fmla="*/ 1281442 h 2635262"/>
              <a:gd name="connisteX9" fmla="*/ 965835 w 1819910"/>
              <a:gd name="connsiteY9" fmla="*/ 1669427 h 2635262"/>
              <a:gd name="connisteX10" fmla="*/ 1010285 w 1819910"/>
              <a:gd name="connsiteY10" fmla="*/ 1913902 h 2635262"/>
              <a:gd name="connisteX11" fmla="*/ 1154430 w 1819910"/>
              <a:gd name="connsiteY11" fmla="*/ 2235847 h 2635262"/>
              <a:gd name="connisteX12" fmla="*/ 1276350 w 1819910"/>
              <a:gd name="connsiteY12" fmla="*/ 2424442 h 2635262"/>
              <a:gd name="connisteX13" fmla="*/ 1431925 w 1819910"/>
              <a:gd name="connsiteY13" fmla="*/ 2491117 h 2635262"/>
              <a:gd name="connisteX14" fmla="*/ 1642745 w 1819910"/>
              <a:gd name="connsiteY14" fmla="*/ 2568587 h 2635262"/>
              <a:gd name="connisteX15" fmla="*/ 1731645 w 1819910"/>
              <a:gd name="connsiteY15" fmla="*/ 2623832 h 2635262"/>
              <a:gd name="connisteX16" fmla="*/ 1819910 w 1819910"/>
              <a:gd name="connsiteY16" fmla="*/ 2635262 h 2635262"/>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Lst>
            <a:rect l="l" t="t" r="r" b="b"/>
            <a:pathLst>
              <a:path w="1819910" h="2635263">
                <a:moveTo>
                  <a:pt x="0" y="5093"/>
                </a:moveTo>
                <a:cubicBezTo>
                  <a:pt x="98425" y="3823"/>
                  <a:pt x="372745" y="-5702"/>
                  <a:pt x="510540" y="5093"/>
                </a:cubicBezTo>
                <a:cubicBezTo>
                  <a:pt x="648335" y="15888"/>
                  <a:pt x="630555" y="33668"/>
                  <a:pt x="688340" y="60338"/>
                </a:cubicBezTo>
                <a:cubicBezTo>
                  <a:pt x="746125" y="87008"/>
                  <a:pt x="763905" y="104788"/>
                  <a:pt x="799465" y="138443"/>
                </a:cubicBezTo>
                <a:cubicBezTo>
                  <a:pt x="835025" y="172098"/>
                  <a:pt x="852170" y="189878"/>
                  <a:pt x="865505" y="227343"/>
                </a:cubicBezTo>
                <a:cubicBezTo>
                  <a:pt x="878840" y="264808"/>
                  <a:pt x="871855" y="196228"/>
                  <a:pt x="865505" y="327038"/>
                </a:cubicBezTo>
                <a:cubicBezTo>
                  <a:pt x="859155" y="457848"/>
                  <a:pt x="829945" y="726453"/>
                  <a:pt x="832485" y="882028"/>
                </a:cubicBezTo>
                <a:cubicBezTo>
                  <a:pt x="835025" y="1037603"/>
                  <a:pt x="866140" y="1023633"/>
                  <a:pt x="876935" y="1103643"/>
                </a:cubicBezTo>
                <a:cubicBezTo>
                  <a:pt x="887730" y="1183653"/>
                  <a:pt x="869950" y="1168413"/>
                  <a:pt x="887730" y="1281443"/>
                </a:cubicBezTo>
                <a:cubicBezTo>
                  <a:pt x="905510" y="1394473"/>
                  <a:pt x="941070" y="1543063"/>
                  <a:pt x="965835" y="1669428"/>
                </a:cubicBezTo>
                <a:cubicBezTo>
                  <a:pt x="990600" y="1795793"/>
                  <a:pt x="972820" y="1800873"/>
                  <a:pt x="1010285" y="1913903"/>
                </a:cubicBezTo>
                <a:cubicBezTo>
                  <a:pt x="1047750" y="2026933"/>
                  <a:pt x="1101090" y="2133613"/>
                  <a:pt x="1154430" y="2235848"/>
                </a:cubicBezTo>
                <a:cubicBezTo>
                  <a:pt x="1207770" y="2338083"/>
                  <a:pt x="1221105" y="2373643"/>
                  <a:pt x="1276350" y="2424443"/>
                </a:cubicBezTo>
                <a:cubicBezTo>
                  <a:pt x="1331595" y="2475243"/>
                  <a:pt x="1358900" y="2462543"/>
                  <a:pt x="1431925" y="2491118"/>
                </a:cubicBezTo>
                <a:cubicBezTo>
                  <a:pt x="1504950" y="2519693"/>
                  <a:pt x="1583055" y="2541918"/>
                  <a:pt x="1642745" y="2568588"/>
                </a:cubicBezTo>
                <a:cubicBezTo>
                  <a:pt x="1702435" y="2595258"/>
                  <a:pt x="1696085" y="2610498"/>
                  <a:pt x="1731645" y="2623833"/>
                </a:cubicBezTo>
                <a:cubicBezTo>
                  <a:pt x="1767205" y="2637168"/>
                  <a:pt x="1804035" y="2633993"/>
                  <a:pt x="1819910" y="2635263"/>
                </a:cubicBezTo>
              </a:path>
            </a:pathLst>
          </a:cu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graphicFrame>
        <p:nvGraphicFramePr>
          <p:cNvPr id="3" name="对象 2">
            <a:hlinkClick r:id="" action="ppaction://ole?verb="/>
          </p:cNvPr>
          <p:cNvGraphicFramePr>
            <a:graphicFrameLocks noChangeAspect="1"/>
          </p:cNvGraphicFramePr>
          <p:nvPr/>
        </p:nvGraphicFramePr>
        <p:xfrm>
          <a:off x="5291773" y="692468"/>
          <a:ext cx="3545205" cy="1892300"/>
        </p:xfrm>
        <a:graphic>
          <a:graphicData uri="http://schemas.openxmlformats.org/presentationml/2006/ole">
            <mc:AlternateContent xmlns:mc="http://schemas.openxmlformats.org/markup-compatibility/2006">
              <mc:Choice xmlns:v="urn:schemas-microsoft-com:vml" Requires="v">
                <p:oleObj spid="_x0000_s3083" name="" r:id="rId2" imgW="1854200" imgH="977900" progId="Equation.KSEE3">
                  <p:embed/>
                </p:oleObj>
              </mc:Choice>
              <mc:Fallback>
                <p:oleObj name="" r:id="rId2" imgW="1854200" imgH="977900" progId="Equation.KSEE3">
                  <p:embed/>
                  <p:pic>
                    <p:nvPicPr>
                      <p:cNvPr id="0" name="图片 3082"/>
                      <p:cNvPicPr/>
                      <p:nvPr/>
                    </p:nvPicPr>
                    <p:blipFill>
                      <a:blip r:embed="rId3"/>
                      <a:stretch>
                        <a:fillRect/>
                      </a:stretch>
                    </p:blipFill>
                    <p:spPr>
                      <a:xfrm>
                        <a:off x="5291773" y="692468"/>
                        <a:ext cx="3545205" cy="1892300"/>
                      </a:xfrm>
                      <a:prstGeom prst="rect">
                        <a:avLst/>
                      </a:prstGeom>
                      <a:solidFill>
                        <a:srgbClr val="C00000"/>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5724525" y="5157788"/>
            <a:ext cx="1368425" cy="503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4818" name="文本框 29699"/>
          <p:cNvSpPr txBox="1"/>
          <p:nvPr/>
        </p:nvSpPr>
        <p:spPr>
          <a:xfrm>
            <a:off x="517525" y="762000"/>
            <a:ext cx="645953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在幅度平方函数式（</a:t>
            </a:r>
            <a:r>
              <a:rPr lang="en-US" altLang="zh-CN" dirty="0">
                <a:latin typeface="Times New Roman" panose="02020603050405020304" pitchFamily="18" charset="0"/>
                <a:ea typeface="宋体" panose="02010600030101010101" pitchFamily="2" charset="-122"/>
              </a:rPr>
              <a:t>5-8</a:t>
            </a:r>
            <a:r>
              <a:rPr lang="zh-CN" altLang="en-US" dirty="0">
                <a:latin typeface="Times New Roman" panose="02020603050405020304" pitchFamily="18" charset="0"/>
                <a:ea typeface="宋体" panose="02010600030101010101" pitchFamily="2" charset="-122"/>
              </a:rPr>
              <a:t>）中，代入</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=s/j, </a:t>
            </a:r>
            <a:r>
              <a:rPr lang="zh-CN" altLang="en-US" dirty="0">
                <a:latin typeface="Times New Roman" panose="02020603050405020304" pitchFamily="18" charset="0"/>
                <a:ea typeface="宋体" panose="02010600030101010101" pitchFamily="2" charset="-122"/>
              </a:rPr>
              <a:t>可得 </a:t>
            </a:r>
            <a:endParaRPr lang="zh-CN" altLang="en-US">
              <a:latin typeface="Times New Roman" panose="02020603050405020304" pitchFamily="18" charset="0"/>
              <a:ea typeface="宋体" panose="02010600030101010101" pitchFamily="2" charset="-122"/>
            </a:endParaRPr>
          </a:p>
        </p:txBody>
      </p:sp>
      <p:graphicFrame>
        <p:nvGraphicFramePr>
          <p:cNvPr id="34819" name="对象 29700"/>
          <p:cNvGraphicFramePr/>
          <p:nvPr/>
        </p:nvGraphicFramePr>
        <p:xfrm>
          <a:off x="152400" y="1339850"/>
          <a:ext cx="3632200" cy="1406525"/>
        </p:xfrm>
        <a:graphic>
          <a:graphicData uri="http://schemas.openxmlformats.org/presentationml/2006/ole">
            <mc:AlternateContent xmlns:mc="http://schemas.openxmlformats.org/markup-compatibility/2006">
              <mc:Choice xmlns:v="urn:schemas-microsoft-com:vml" Requires="v">
                <p:oleObj spid="_x0000_s3102" name="" r:id="rId1" imgW="1803400" imgH="698500" progId="Equation.3">
                  <p:embed/>
                </p:oleObj>
              </mc:Choice>
              <mc:Fallback>
                <p:oleObj name="" r:id="rId1" imgW="1803400" imgH="698500" progId="Equation.3">
                  <p:embed/>
                  <p:pic>
                    <p:nvPicPr>
                      <p:cNvPr id="0" name="图片 3101"/>
                      <p:cNvPicPr/>
                      <p:nvPr/>
                    </p:nvPicPr>
                    <p:blipFill>
                      <a:blip r:embed="rId2"/>
                      <a:stretch>
                        <a:fillRect/>
                      </a:stretch>
                    </p:blipFill>
                    <p:spPr>
                      <a:xfrm>
                        <a:off x="152400" y="1339850"/>
                        <a:ext cx="3632200" cy="1406525"/>
                      </a:xfrm>
                      <a:prstGeom prst="rect">
                        <a:avLst/>
                      </a:prstGeom>
                      <a:solidFill>
                        <a:schemeClr val="accent1"/>
                      </a:solidFill>
                      <a:ln w="38100">
                        <a:noFill/>
                        <a:miter/>
                      </a:ln>
                    </p:spPr>
                  </p:pic>
                </p:oleObj>
              </mc:Fallback>
            </mc:AlternateContent>
          </a:graphicData>
        </a:graphic>
      </p:graphicFrame>
      <p:sp>
        <p:nvSpPr>
          <p:cNvPr id="34820" name="文本框 29701"/>
          <p:cNvSpPr txBox="1"/>
          <p:nvPr/>
        </p:nvSpPr>
        <p:spPr>
          <a:xfrm>
            <a:off x="76200" y="2590800"/>
            <a:ext cx="8915400" cy="109855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所以，巴特沃思滤波器的零点全部在</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处，在有限</a:t>
            </a:r>
            <a:r>
              <a:rPr lang="en-US" altLang="zh-CN" i="1">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平面内只有极点，因而属于所</a:t>
            </a:r>
            <a:r>
              <a:rPr lang="zh-CN" altLang="en-US" dirty="0">
                <a:latin typeface="Times New Roman" panose="02020603050405020304" pitchFamily="18" charset="0"/>
                <a:ea typeface="宋体" panose="02010600030101010101" pitchFamily="2" charset="-122"/>
              </a:rPr>
              <a:t>谓“全极点型”滤波器。</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的极点为 </a:t>
            </a:r>
            <a:endParaRPr lang="zh-CN" altLang="en-US">
              <a:latin typeface="Times New Roman" panose="02020603050405020304" pitchFamily="18" charset="0"/>
              <a:ea typeface="宋体" panose="02010600030101010101" pitchFamily="2" charset="-122"/>
            </a:endParaRPr>
          </a:p>
        </p:txBody>
      </p:sp>
      <p:graphicFrame>
        <p:nvGraphicFramePr>
          <p:cNvPr id="33797" name="对象 29702"/>
          <p:cNvGraphicFramePr/>
          <p:nvPr/>
        </p:nvGraphicFramePr>
        <p:xfrm>
          <a:off x="82550" y="3689350"/>
          <a:ext cx="6954838" cy="882650"/>
        </p:xfrm>
        <a:graphic>
          <a:graphicData uri="http://schemas.openxmlformats.org/presentationml/2006/ole">
            <mc:AlternateContent xmlns:mc="http://schemas.openxmlformats.org/markup-compatibility/2006">
              <mc:Choice xmlns:v="urn:schemas-microsoft-com:vml" Requires="v">
                <p:oleObj spid="_x0000_s3104" name="" r:id="rId3" imgW="3213100" imgH="368300" progId="Equation.3">
                  <p:embed/>
                </p:oleObj>
              </mc:Choice>
              <mc:Fallback>
                <p:oleObj name="" r:id="rId3" imgW="3213100" imgH="368300" progId="Equation.3">
                  <p:embed/>
                  <p:pic>
                    <p:nvPicPr>
                      <p:cNvPr id="0" name="图片 3103"/>
                      <p:cNvPicPr/>
                      <p:nvPr/>
                    </p:nvPicPr>
                    <p:blipFill>
                      <a:blip r:embed="rId4"/>
                      <a:stretch>
                        <a:fillRect/>
                      </a:stretch>
                    </p:blipFill>
                    <p:spPr>
                      <a:xfrm>
                        <a:off x="82550" y="3689350"/>
                        <a:ext cx="6954838" cy="882650"/>
                      </a:xfrm>
                      <a:prstGeom prst="rect">
                        <a:avLst/>
                      </a:prstGeom>
                      <a:solidFill>
                        <a:schemeClr val="accent1"/>
                      </a:solidFill>
                      <a:ln w="38100">
                        <a:noFill/>
                        <a:miter/>
                      </a:ln>
                    </p:spPr>
                  </p:pic>
                </p:oleObj>
              </mc:Fallback>
            </mc:AlternateContent>
          </a:graphicData>
        </a:graphic>
      </p:graphicFrame>
      <p:sp>
        <p:nvSpPr>
          <p:cNvPr id="34822" name="文本框 29703"/>
          <p:cNvSpPr txBox="1"/>
          <p:nvPr/>
        </p:nvSpPr>
        <p:spPr>
          <a:xfrm>
            <a:off x="7167563" y="4114800"/>
            <a:ext cx="1989137" cy="457200"/>
          </a:xfrm>
          <a:prstGeom prst="rect">
            <a:avLst/>
          </a:prstGeom>
          <a:noFill/>
          <a:ln w="9525">
            <a:noFill/>
          </a:ln>
        </p:spPr>
        <p:txBody>
          <a:bodyPr wrap="none" anchor="t">
            <a:spAutoFit/>
          </a:bodyPr>
          <a:p>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=1, 2, …, 2</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
        <p:nvSpPr>
          <p:cNvPr id="34823" name="文本框 29704"/>
          <p:cNvSpPr txBox="1"/>
          <p:nvPr/>
        </p:nvSpPr>
        <p:spPr>
          <a:xfrm>
            <a:off x="152400" y="4572000"/>
            <a:ext cx="8839200" cy="1585913"/>
          </a:xfrm>
          <a:prstGeom prst="rect">
            <a:avLst/>
          </a:prstGeom>
          <a:noFill/>
          <a:ln w="9525">
            <a:noFill/>
          </a:ln>
        </p:spPr>
        <p:txBody>
          <a:bodyPr anchor="t">
            <a:spAutoFit/>
          </a:bodyPr>
          <a:p>
            <a:pPr algn="just">
              <a:lnSpc>
                <a:spcPct val="135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由此看出，</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a:t>
            </a:r>
            <a:r>
              <a:rPr lang="en-US" altLang="zh-CN" b="1" dirty="0">
                <a:solidFill>
                  <a:srgbClr val="FF0000"/>
                </a:solidFill>
                <a:latin typeface="Times New Roman" panose="02020603050405020304" pitchFamily="18" charset="0"/>
                <a:ea typeface="宋体" panose="02010600030101010101" pitchFamily="2" charset="-122"/>
              </a:rPr>
              <a:t>2</a:t>
            </a:r>
            <a:r>
              <a:rPr lang="en-US" altLang="zh-CN" b="1" i="1">
                <a:solidFill>
                  <a:srgbClr val="FF0000"/>
                </a:solidFill>
                <a:latin typeface="Times New Roman" panose="02020603050405020304" pitchFamily="18" charset="0"/>
                <a:ea typeface="宋体" panose="02010600030101010101" pitchFamily="2" charset="-122"/>
              </a:rPr>
              <a:t>N</a:t>
            </a:r>
            <a:r>
              <a:rPr lang="zh-CN" altLang="en-US" b="1" dirty="0">
                <a:solidFill>
                  <a:srgbClr val="FF0000"/>
                </a:solidFill>
                <a:latin typeface="Times New Roman" panose="02020603050405020304" pitchFamily="18" charset="0"/>
                <a:ea typeface="宋体" panose="02010600030101010101" pitchFamily="2" charset="-122"/>
              </a:rPr>
              <a:t>个极点等间隔分布在半径为</a:t>
            </a:r>
            <a:r>
              <a:rPr lang="en-US" altLang="zh-CN" b="1" i="1">
                <a:solidFill>
                  <a:srgbClr val="FF0000"/>
                </a:solidFill>
                <a:latin typeface="Times New Roman" panose="02020603050405020304" pitchFamily="18" charset="0"/>
                <a:ea typeface="宋体" panose="02010600030101010101" pitchFamily="2" charset="-122"/>
              </a:rPr>
              <a:t>Ω</a:t>
            </a:r>
            <a:r>
              <a:rPr lang="en-US" altLang="zh-CN" b="1" baseline="-25000">
                <a:solidFill>
                  <a:srgbClr val="FF0000"/>
                </a:solidFill>
                <a:latin typeface="Times New Roman" panose="02020603050405020304" pitchFamily="18" charset="0"/>
                <a:ea typeface="宋体" panose="02010600030101010101" pitchFamily="2" charset="-122"/>
              </a:rPr>
              <a:t>c</a:t>
            </a:r>
            <a:r>
              <a:rPr lang="zh-CN" altLang="en-US" b="1" dirty="0">
                <a:solidFill>
                  <a:srgbClr val="FF0000"/>
                </a:solidFill>
                <a:latin typeface="Times New Roman" panose="02020603050405020304" pitchFamily="18" charset="0"/>
                <a:ea typeface="宋体" panose="02010600030101010101" pitchFamily="2" charset="-122"/>
              </a:rPr>
              <a:t>的圆（称巴特沃思圆）上，</a:t>
            </a:r>
            <a:r>
              <a:rPr lang="zh-CN" altLang="en-US" dirty="0">
                <a:latin typeface="Times New Roman" panose="02020603050405020304" pitchFamily="18" charset="0"/>
                <a:ea typeface="宋体" panose="02010600030101010101" pitchFamily="2" charset="-122"/>
              </a:rPr>
              <a:t>极点间的角度间隔为</a:t>
            </a:r>
            <a:r>
              <a:rPr lang="en-US" altLang="zh-CN">
                <a:latin typeface="Times New Roman" panose="02020603050405020304" pitchFamily="18" charset="0"/>
                <a:ea typeface="宋体" panose="02010600030101010101" pitchFamily="2" charset="-122"/>
              </a:rPr>
              <a:t>π/</a:t>
            </a:r>
            <a:r>
              <a:rPr lang="en-US" altLang="zh-CN" i="1">
                <a:latin typeface="Times New Roman" panose="02020603050405020304" pitchFamily="18" charset="0"/>
                <a:ea typeface="宋体" panose="02010600030101010101" pitchFamily="2" charset="-122"/>
              </a:rPr>
              <a:t>N</a:t>
            </a:r>
            <a:r>
              <a:rPr lang="en-US" altLang="zh-CN" dirty="0" err="1">
                <a:latin typeface="Times New Roman" panose="02020603050405020304" pitchFamily="18" charset="0"/>
                <a:ea typeface="宋体" panose="02010600030101010101" pitchFamily="2" charset="-122"/>
              </a:rPr>
              <a:t> rad</a:t>
            </a:r>
            <a:r>
              <a:rPr lang="zh-CN" altLang="en-US" dirty="0">
                <a:latin typeface="Times New Roman" panose="02020603050405020304" pitchFamily="18" charset="0"/>
                <a:ea typeface="宋体" panose="02010600030101010101" pitchFamily="2" charset="-122"/>
              </a:rPr>
              <a:t>。例如，</a:t>
            </a:r>
            <a:r>
              <a:rPr lang="en-US" altLang="zh-CN" i="1">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及</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时，</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的极点</a:t>
            </a:r>
            <a:r>
              <a:rPr lang="zh-CN" altLang="en-US" dirty="0">
                <a:latin typeface="Times New Roman" panose="02020603050405020304" pitchFamily="18" charset="0"/>
                <a:ea typeface="宋体" panose="02010600030101010101" pitchFamily="2" charset="-122"/>
              </a:rPr>
              <a:t>分布分别如图</a:t>
            </a:r>
            <a:r>
              <a:rPr lang="en-US" altLang="zh-CN" dirty="0">
                <a:latin typeface="Times New Roman" panose="02020603050405020304" pitchFamily="18" charset="0"/>
                <a:ea typeface="宋体" panose="02010600030101010101" pitchFamily="2" charset="-122"/>
              </a:rPr>
              <a:t>5-6</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b</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所示。 </a:t>
            </a:r>
            <a:endParaRPr lang="zh-CN" altLang="en-US">
              <a:latin typeface="Times New Roman" panose="02020603050405020304" pitchFamily="18" charset="0"/>
              <a:ea typeface="宋体" panose="02010600030101010101" pitchFamily="2" charset="-122"/>
            </a:endParaRPr>
          </a:p>
        </p:txBody>
      </p:sp>
      <p:graphicFrame>
        <p:nvGraphicFramePr>
          <p:cNvPr id="3" name="对象 2"/>
          <p:cNvGraphicFramePr/>
          <p:nvPr/>
        </p:nvGraphicFramePr>
        <p:xfrm>
          <a:off x="4268470" y="1339533"/>
          <a:ext cx="4875530" cy="1130300"/>
        </p:xfrm>
        <a:graphic>
          <a:graphicData uri="http://schemas.openxmlformats.org/presentationml/2006/ole">
            <mc:AlternateContent xmlns:mc="http://schemas.openxmlformats.org/markup-compatibility/2006">
              <mc:Choice xmlns:v="urn:schemas-microsoft-com:vml" Requires="v">
                <p:oleObj spid="_x0000_s3103" name="" r:id="rId5" imgW="3187700" imgH="508000" progId="Equation.KSEE3">
                  <p:embed/>
                </p:oleObj>
              </mc:Choice>
              <mc:Fallback>
                <p:oleObj name="" r:id="rId5" imgW="3187700" imgH="508000" progId="Equation.KSEE3">
                  <p:embed/>
                  <p:pic>
                    <p:nvPicPr>
                      <p:cNvPr id="0" name="图片 3102"/>
                      <p:cNvPicPr/>
                      <p:nvPr/>
                    </p:nvPicPr>
                    <p:blipFill>
                      <a:blip r:embed="rId6"/>
                      <a:stretch>
                        <a:fillRect/>
                      </a:stretch>
                    </p:blipFill>
                    <p:spPr>
                      <a:xfrm>
                        <a:off x="4268470" y="1339533"/>
                        <a:ext cx="4875530" cy="1130300"/>
                      </a:xfrm>
                      <a:prstGeom prst="rect">
                        <a:avLst/>
                      </a:prstGeom>
                      <a:solidFill>
                        <a:srgbClr val="FFFF00"/>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3797"/>
                                        </p:tgtEl>
                                        <p:attrNameLst>
                                          <p:attrName>style.visibility</p:attrName>
                                        </p:attrNameLst>
                                      </p:cBhvr>
                                      <p:to>
                                        <p:strVal val="visible"/>
                                      </p:to>
                                    </p:set>
                                    <p:anim calcmode="lin" valueType="num">
                                      <p:cBhvr additive="base">
                                        <p:cTn id="13" dur="500" fill="hold"/>
                                        <p:tgtEl>
                                          <p:spTgt spid="33797"/>
                                        </p:tgtEl>
                                        <p:attrNameLst>
                                          <p:attrName>ppt_x</p:attrName>
                                        </p:attrNameLst>
                                      </p:cBhvr>
                                      <p:tavLst>
                                        <p:tav tm="0">
                                          <p:val>
                                            <p:strVal val="#ppt_x"/>
                                          </p:val>
                                        </p:tav>
                                        <p:tav tm="100000">
                                          <p:val>
                                            <p:strVal val="#ppt_x"/>
                                          </p:val>
                                        </p:tav>
                                      </p:tavLst>
                                    </p:anim>
                                    <p:anim calcmode="lin" valueType="num">
                                      <p:cBhvr additive="base">
                                        <p:cTn id="14" dur="500" fill="hold"/>
                                        <p:tgtEl>
                                          <p:spTgt spid="337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文本框 32771"/>
          <p:cNvSpPr txBox="1"/>
          <p:nvPr/>
        </p:nvSpPr>
        <p:spPr>
          <a:xfrm>
            <a:off x="2411730" y="5589270"/>
            <a:ext cx="4349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a:latin typeface="Times New Roman" panose="02020603050405020304" pitchFamily="18" charset="0"/>
                <a:ea typeface="宋体" panose="02010600030101010101" pitchFamily="2" charset="-122"/>
              </a:rPr>
              <a:t>5-6  </a:t>
            </a:r>
            <a:r>
              <a:rPr lang="en-US" altLang="zh-CN" i="1">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时极点分布 </a:t>
            </a:r>
            <a:endParaRPr lang="zh-CN" altLang="en-US">
              <a:latin typeface="Times New Roman" panose="02020603050405020304" pitchFamily="18" charset="0"/>
              <a:ea typeface="宋体" panose="02010600030101010101" pitchFamily="2" charset="-122"/>
            </a:endParaRPr>
          </a:p>
        </p:txBody>
      </p:sp>
      <p:pic>
        <p:nvPicPr>
          <p:cNvPr id="35842" name="图片 32774" descr="5-6"/>
          <p:cNvPicPr>
            <a:picLocks noChangeAspect="1"/>
          </p:cNvPicPr>
          <p:nvPr/>
        </p:nvPicPr>
        <p:blipFill>
          <a:blip r:embed="rId1"/>
          <a:stretch>
            <a:fillRect/>
          </a:stretch>
        </p:blipFill>
        <p:spPr>
          <a:xfrm>
            <a:off x="1464945" y="1630680"/>
            <a:ext cx="6209030" cy="2951480"/>
          </a:xfrm>
          <a:prstGeom prst="rect">
            <a:avLst/>
          </a:prstGeom>
          <a:noFill/>
          <a:ln w="9525">
            <a:noFill/>
          </a:ln>
        </p:spPr>
      </p:pic>
      <p:sp>
        <p:nvSpPr>
          <p:cNvPr id="2" name="文本框 1"/>
          <p:cNvSpPr txBox="1"/>
          <p:nvPr/>
        </p:nvSpPr>
        <p:spPr>
          <a:xfrm>
            <a:off x="1835468" y="4941253"/>
            <a:ext cx="5154612" cy="460375"/>
          </a:xfrm>
          <a:prstGeom prst="rect">
            <a:avLst/>
          </a:prstGeom>
          <a:noFill/>
          <a:ln w="9525">
            <a:noFill/>
          </a:ln>
        </p:spPr>
        <p:txBody>
          <a:bodyPr wrap="none" anchor="t">
            <a:spAutoFit/>
          </a:bodyPr>
          <a:p>
            <a:r>
              <a:rPr lang="en-US" altLang="zh-CN" b="1" dirty="0">
                <a:solidFill>
                  <a:srgbClr val="FF0000"/>
                </a:solidFill>
                <a:latin typeface="Times New Roman" panose="02020603050405020304" pitchFamily="18" charset="0"/>
                <a:ea typeface="宋体" panose="02010600030101010101" pitchFamily="2" charset="-122"/>
              </a:rPr>
              <a:t>2</a:t>
            </a:r>
            <a:r>
              <a:rPr lang="en-US" altLang="zh-CN" b="1" i="1">
                <a:solidFill>
                  <a:srgbClr val="FF0000"/>
                </a:solidFill>
                <a:latin typeface="Times New Roman" panose="02020603050405020304" pitchFamily="18" charset="0"/>
                <a:ea typeface="宋体" panose="02010600030101010101" pitchFamily="2" charset="-122"/>
              </a:rPr>
              <a:t>N</a:t>
            </a:r>
            <a:r>
              <a:rPr lang="zh-CN" altLang="en-US" b="1" dirty="0">
                <a:solidFill>
                  <a:srgbClr val="FF0000"/>
                </a:solidFill>
                <a:latin typeface="Times New Roman" panose="02020603050405020304" pitchFamily="18" charset="0"/>
                <a:ea typeface="宋体" panose="02010600030101010101" pitchFamily="2" charset="-122"/>
              </a:rPr>
              <a:t>个极点等间隔分布在半径为</a:t>
            </a:r>
            <a:r>
              <a:rPr lang="en-US" altLang="zh-CN" b="1" i="1">
                <a:solidFill>
                  <a:srgbClr val="FF0000"/>
                </a:solidFill>
                <a:latin typeface="Times New Roman" panose="02020603050405020304" pitchFamily="18" charset="0"/>
                <a:ea typeface="宋体" panose="02010600030101010101" pitchFamily="2" charset="-122"/>
              </a:rPr>
              <a:t>Ω</a:t>
            </a:r>
            <a:r>
              <a:rPr lang="en-US" altLang="zh-CN" b="1" baseline="-25000">
                <a:solidFill>
                  <a:srgbClr val="FF0000"/>
                </a:solidFill>
                <a:latin typeface="Times New Roman" panose="02020603050405020304" pitchFamily="18" charset="0"/>
                <a:ea typeface="宋体" panose="02010600030101010101" pitchFamily="2" charset="-122"/>
              </a:rPr>
              <a:t>c</a:t>
            </a:r>
            <a:r>
              <a:rPr lang="zh-CN" altLang="en-US" b="1" dirty="0">
                <a:solidFill>
                  <a:srgbClr val="FF0000"/>
                </a:solidFill>
                <a:latin typeface="Times New Roman" panose="02020603050405020304" pitchFamily="18" charset="0"/>
                <a:ea typeface="宋体" panose="02010600030101010101" pitchFamily="2" charset="-122"/>
              </a:rPr>
              <a:t>的圆</a:t>
            </a:r>
            <a:endParaRPr lang="zh-CN" altLang="en-US">
              <a:latin typeface="Times New Roman" panose="02020603050405020304" pitchFamily="18" charset="0"/>
              <a:ea typeface="宋体" panose="02010600030101010101" pitchFamily="2" charset="-122"/>
            </a:endParaRPr>
          </a:p>
        </p:txBody>
      </p:sp>
      <p:graphicFrame>
        <p:nvGraphicFramePr>
          <p:cNvPr id="33797" name="对象 29702"/>
          <p:cNvGraphicFramePr/>
          <p:nvPr/>
        </p:nvGraphicFramePr>
        <p:xfrm>
          <a:off x="-36353" y="2046288"/>
          <a:ext cx="1293495" cy="4811395"/>
        </p:xfrm>
        <a:graphic>
          <a:graphicData uri="http://schemas.openxmlformats.org/presentationml/2006/ole">
            <mc:AlternateContent xmlns:mc="http://schemas.openxmlformats.org/markup-compatibility/2006">
              <mc:Choice xmlns:v="urn:schemas-microsoft-com:vml" Requires="v">
                <p:oleObj spid="_x0000_s3104" name="" r:id="rId2" imgW="596900" imgH="2005965" progId="Equation.3">
                  <p:embed/>
                </p:oleObj>
              </mc:Choice>
              <mc:Fallback>
                <p:oleObj name="" r:id="rId2" imgW="596900" imgH="2005965" progId="Equation.3">
                  <p:embed/>
                  <p:pic>
                    <p:nvPicPr>
                      <p:cNvPr id="0" name="图片 3103"/>
                      <p:cNvPicPr/>
                      <p:nvPr/>
                    </p:nvPicPr>
                    <p:blipFill>
                      <a:blip r:embed="rId3"/>
                      <a:stretch>
                        <a:fillRect/>
                      </a:stretch>
                    </p:blipFill>
                    <p:spPr>
                      <a:xfrm>
                        <a:off x="-36353" y="2046288"/>
                        <a:ext cx="1293495" cy="4811395"/>
                      </a:xfrm>
                      <a:prstGeom prst="rect">
                        <a:avLst/>
                      </a:prstGeom>
                      <a:solidFill>
                        <a:schemeClr val="accent1"/>
                      </a:solidFill>
                      <a:ln w="38100">
                        <a:noFill/>
                        <a:miter/>
                      </a:ln>
                    </p:spPr>
                  </p:pic>
                </p:oleObj>
              </mc:Fallback>
            </mc:AlternateContent>
          </a:graphicData>
        </a:graphic>
      </p:graphicFrame>
      <p:graphicFrame>
        <p:nvGraphicFramePr>
          <p:cNvPr id="3" name="对象 29702"/>
          <p:cNvGraphicFramePr/>
          <p:nvPr/>
        </p:nvGraphicFramePr>
        <p:xfrm>
          <a:off x="179547" y="549275"/>
          <a:ext cx="3326765" cy="882650"/>
        </p:xfrm>
        <a:graphic>
          <a:graphicData uri="http://schemas.openxmlformats.org/presentationml/2006/ole">
            <mc:AlternateContent xmlns:mc="http://schemas.openxmlformats.org/markup-compatibility/2006">
              <mc:Choice xmlns:v="urn:schemas-microsoft-com:vml" Requires="v">
                <p:oleObj spid="_x0000_s4" name="" r:id="rId4" imgW="1536700" imgH="368300" progId="Equation.3">
                  <p:embed/>
                </p:oleObj>
              </mc:Choice>
              <mc:Fallback>
                <p:oleObj name="" r:id="rId4" imgW="1536700" imgH="368300" progId="Equation.3">
                  <p:embed/>
                  <p:pic>
                    <p:nvPicPr>
                      <p:cNvPr id="0" name="图片 3103"/>
                      <p:cNvPicPr/>
                      <p:nvPr/>
                    </p:nvPicPr>
                    <p:blipFill>
                      <a:blip r:embed="rId5"/>
                      <a:stretch>
                        <a:fillRect/>
                      </a:stretch>
                    </p:blipFill>
                    <p:spPr>
                      <a:xfrm>
                        <a:off x="179547" y="549275"/>
                        <a:ext cx="3326765" cy="882650"/>
                      </a:xfrm>
                      <a:prstGeom prst="rect">
                        <a:avLst/>
                      </a:prstGeom>
                      <a:solidFill>
                        <a:schemeClr val="accent1"/>
                      </a:solidFill>
                      <a:ln w="38100">
                        <a:noFill/>
                        <a:miter/>
                      </a:ln>
                    </p:spPr>
                  </p:pic>
                </p:oleObj>
              </mc:Fallback>
            </mc:AlternateContent>
          </a:graphicData>
        </a:graphic>
      </p:graphicFrame>
      <p:graphicFrame>
        <p:nvGraphicFramePr>
          <p:cNvPr id="5" name="对象 29702"/>
          <p:cNvGraphicFramePr/>
          <p:nvPr/>
        </p:nvGraphicFramePr>
        <p:xfrm>
          <a:off x="7902575" y="-20955"/>
          <a:ext cx="1241425" cy="6900545"/>
        </p:xfrm>
        <a:graphic>
          <a:graphicData uri="http://schemas.openxmlformats.org/presentationml/2006/ole">
            <mc:AlternateContent xmlns:mc="http://schemas.openxmlformats.org/markup-compatibility/2006">
              <mc:Choice xmlns:v="urn:schemas-microsoft-com:vml" Requires="v">
                <p:oleObj spid="_x0000_s6" name="" r:id="rId6" imgW="622300" imgH="3022600" progId="Equation.3">
                  <p:embed/>
                </p:oleObj>
              </mc:Choice>
              <mc:Fallback>
                <p:oleObj name="" r:id="rId6" imgW="622300" imgH="3022600" progId="Equation.3">
                  <p:embed/>
                  <p:pic>
                    <p:nvPicPr>
                      <p:cNvPr id="0" name="图片 3103"/>
                      <p:cNvPicPr/>
                      <p:nvPr/>
                    </p:nvPicPr>
                    <p:blipFill>
                      <a:blip r:embed="rId7"/>
                      <a:stretch>
                        <a:fillRect/>
                      </a:stretch>
                    </p:blipFill>
                    <p:spPr>
                      <a:xfrm>
                        <a:off x="7902575" y="-20955"/>
                        <a:ext cx="1241425" cy="6900545"/>
                      </a:xfrm>
                      <a:prstGeom prst="rect">
                        <a:avLst/>
                      </a:prstGeom>
                      <a:solidFill>
                        <a:schemeClr val="accent1"/>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1692275" y="1268413"/>
            <a:ext cx="3095625" cy="433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6866" name="文本框 31747"/>
          <p:cNvSpPr txBox="1"/>
          <p:nvPr/>
        </p:nvSpPr>
        <p:spPr>
          <a:xfrm>
            <a:off x="152400" y="534988"/>
            <a:ext cx="8763000" cy="3776662"/>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可见，</a:t>
            </a:r>
            <a:r>
              <a:rPr lang="en-US" altLang="zh-CN" b="1" i="1">
                <a:solidFill>
                  <a:srgbClr val="FF0000"/>
                </a:solidFill>
                <a:latin typeface="Times New Roman" panose="02020603050405020304" pitchFamily="18" charset="0"/>
                <a:ea typeface="宋体" panose="02010600030101010101" pitchFamily="2" charset="-122"/>
              </a:rPr>
              <a:t>N</a:t>
            </a:r>
            <a:r>
              <a:rPr lang="zh-CN" altLang="en-US" b="1" dirty="0">
                <a:solidFill>
                  <a:srgbClr val="FF0000"/>
                </a:solidFill>
                <a:latin typeface="Times New Roman" panose="02020603050405020304" pitchFamily="18" charset="0"/>
                <a:ea typeface="宋体" panose="02010600030101010101" pitchFamily="2" charset="-122"/>
              </a:rPr>
              <a:t>为奇数时，实轴上有极点；</a:t>
            </a:r>
            <a:r>
              <a:rPr lang="en-US" altLang="zh-CN" b="1" i="1">
                <a:solidFill>
                  <a:srgbClr val="FF0000"/>
                </a:solidFill>
                <a:latin typeface="Times New Roman" panose="02020603050405020304" pitchFamily="18" charset="0"/>
                <a:ea typeface="宋体" panose="02010600030101010101" pitchFamily="2" charset="-122"/>
              </a:rPr>
              <a:t>N</a:t>
            </a:r>
            <a:r>
              <a:rPr lang="zh-CN" altLang="en-US" b="1" dirty="0">
                <a:solidFill>
                  <a:srgbClr val="FF0000"/>
                </a:solidFill>
                <a:latin typeface="Times New Roman" panose="02020603050405020304" pitchFamily="18" charset="0"/>
                <a:ea typeface="宋体" panose="02010600030101010101" pitchFamily="2" charset="-122"/>
              </a:rPr>
              <a:t>为偶数时，实轴上没有极点。</a:t>
            </a:r>
            <a:r>
              <a:rPr lang="zh-CN" altLang="en-US" dirty="0">
                <a:latin typeface="Times New Roman" panose="02020603050405020304" pitchFamily="18" charset="0"/>
                <a:ea typeface="宋体" panose="02010600030101010101" pitchFamily="2" charset="-122"/>
              </a:rPr>
              <a:t>但极点决不会落在虚轴上，这样滤波器才有可能是稳定的。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为形成稳定的滤波器，</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a:t>
            </a:r>
            <a:r>
              <a:rPr lang="en-US" altLang="zh-CN" dirty="0">
                <a:latin typeface="Times New Roman" panose="02020603050405020304" pitchFamily="18" charset="0"/>
                <a:ea typeface="宋体" panose="02010600030101010101" pitchFamily="2" charset="-122"/>
              </a:rPr>
              <a:t>2N</a:t>
            </a:r>
            <a:r>
              <a:rPr lang="zh-CN" altLang="en-US" dirty="0">
                <a:latin typeface="Times New Roman" panose="02020603050405020304" pitchFamily="18" charset="0"/>
                <a:ea typeface="宋体" panose="02010600030101010101" pitchFamily="2" charset="-122"/>
              </a:rPr>
              <a:t>个极点中只取</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左半平面的</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个极点为</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的极点，而右半平面的</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个极点构成</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的极点。</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的表示式为 </a:t>
            </a:r>
            <a:endParaRPr lang="zh-CN" altLang="en-US">
              <a:latin typeface="Times New Roman" panose="02020603050405020304" pitchFamily="18" charset="0"/>
              <a:ea typeface="宋体" panose="02010600030101010101" pitchFamily="2" charset="-122"/>
            </a:endParaRPr>
          </a:p>
        </p:txBody>
      </p:sp>
      <p:graphicFrame>
        <p:nvGraphicFramePr>
          <p:cNvPr id="36867" name="对象 31748"/>
          <p:cNvGraphicFramePr/>
          <p:nvPr/>
        </p:nvGraphicFramePr>
        <p:xfrm>
          <a:off x="514350" y="4313238"/>
          <a:ext cx="5260975" cy="1536700"/>
        </p:xfrm>
        <a:graphic>
          <a:graphicData uri="http://schemas.openxmlformats.org/presentationml/2006/ole">
            <mc:AlternateContent xmlns:mc="http://schemas.openxmlformats.org/markup-compatibility/2006">
              <mc:Choice xmlns:v="urn:schemas-microsoft-com:vml" Requires="v">
                <p:oleObj spid="_x0000_s3105" name="" r:id="rId1" imgW="2260600" imgH="660400" progId="Equation.3">
                  <p:embed/>
                </p:oleObj>
              </mc:Choice>
              <mc:Fallback>
                <p:oleObj name="" r:id="rId1" imgW="2260600" imgH="660400" progId="Equation.3">
                  <p:embed/>
                  <p:pic>
                    <p:nvPicPr>
                      <p:cNvPr id="0" name="图片 3104"/>
                      <p:cNvPicPr/>
                      <p:nvPr/>
                    </p:nvPicPr>
                    <p:blipFill>
                      <a:blip r:embed="rId2"/>
                      <a:stretch>
                        <a:fillRect/>
                      </a:stretch>
                    </p:blipFill>
                    <p:spPr>
                      <a:xfrm>
                        <a:off x="514350" y="4313238"/>
                        <a:ext cx="5260975" cy="1536700"/>
                      </a:xfrm>
                      <a:prstGeom prst="rect">
                        <a:avLst/>
                      </a:prstGeom>
                      <a:solidFill>
                        <a:schemeClr val="accent1"/>
                      </a:solidFill>
                      <a:ln w="38100">
                        <a:noFill/>
                        <a:miter/>
                      </a:ln>
                    </p:spPr>
                  </p:pic>
                </p:oleObj>
              </mc:Fallback>
            </mc:AlternateContent>
          </a:graphicData>
        </a:graphic>
      </p:graphicFrame>
      <p:sp>
        <p:nvSpPr>
          <p:cNvPr id="36868" name="文本框 31749"/>
          <p:cNvSpPr txBox="1"/>
          <p:nvPr/>
        </p:nvSpPr>
        <p:spPr>
          <a:xfrm>
            <a:off x="7010400" y="47244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5-11</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40962" name="对象 38916"/>
          <p:cNvGraphicFramePr/>
          <p:nvPr/>
        </p:nvGraphicFramePr>
        <p:xfrm>
          <a:off x="6359525" y="4313238"/>
          <a:ext cx="2443163" cy="1628775"/>
        </p:xfrm>
        <a:graphic>
          <a:graphicData uri="http://schemas.openxmlformats.org/presentationml/2006/ole">
            <mc:AlternateContent xmlns:mc="http://schemas.openxmlformats.org/markup-compatibility/2006">
              <mc:Choice xmlns:v="urn:schemas-microsoft-com:vml" Requires="v">
                <p:oleObj spid="_x0000_s3107" name="" r:id="rId3" imgW="1028700" imgH="685800" progId="Equation.3">
                  <p:embed/>
                </p:oleObj>
              </mc:Choice>
              <mc:Fallback>
                <p:oleObj name="" r:id="rId3" imgW="1028700" imgH="685800" progId="Equation.3">
                  <p:embed/>
                  <p:pic>
                    <p:nvPicPr>
                      <p:cNvPr id="0" name="图片 3106"/>
                      <p:cNvPicPr/>
                      <p:nvPr/>
                    </p:nvPicPr>
                    <p:blipFill>
                      <a:blip r:embed="rId4"/>
                      <a:stretch>
                        <a:fillRect/>
                      </a:stretch>
                    </p:blipFill>
                    <p:spPr>
                      <a:xfrm>
                        <a:off x="6359525" y="4313238"/>
                        <a:ext cx="2443163" cy="1628775"/>
                      </a:xfrm>
                      <a:prstGeom prst="rect">
                        <a:avLst/>
                      </a:prstGeom>
                      <a:solidFill>
                        <a:schemeClr val="accent1"/>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500" fill="hold">
                                          <p:stCondLst>
                                            <p:cond delay="0"/>
                                          </p:stCondLst>
                                        </p:cTn>
                                        <p:tgtEl>
                                          <p:spTgt spid="40962"/>
                                        </p:tgtEl>
                                        <p:attrNameLst>
                                          <p:attrName>style.visibility</p:attrName>
                                        </p:attrNameLst>
                                      </p:cBhvr>
                                      <p:to>
                                        <p:strVal val="visible"/>
                                      </p:to>
                                    </p:set>
                                    <p:anim calcmode="lin" valueType="num">
                                      <p:cBhvr additive="base">
                                        <p:cTn id="7" dur="500" fill="hold"/>
                                        <p:tgtEl>
                                          <p:spTgt spid="40962"/>
                                        </p:tgtEl>
                                        <p:attrNameLst>
                                          <p:attrName>ppt_x</p:attrName>
                                        </p:attrNameLst>
                                      </p:cBhvr>
                                      <p:tavLst>
                                        <p:tav tm="0">
                                          <p:val>
                                            <p:strVal val="#ppt_x"/>
                                          </p:val>
                                        </p:tav>
                                        <p:tav tm="100000">
                                          <p:val>
                                            <p:strVal val="#ppt_x"/>
                                          </p:val>
                                        </p:tav>
                                      </p:tavLst>
                                    </p:anim>
                                    <p:anim calcmode="lin" valueType="num">
                                      <p:cBhvr additive="base">
                                        <p:cTn id="8" dur="500" fill="hold"/>
                                        <p:tgtEl>
                                          <p:spTgt spid="409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2627313" y="4292600"/>
            <a:ext cx="2376488" cy="504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7890" name="文本框 34819"/>
          <p:cNvSpPr txBox="1"/>
          <p:nvPr/>
        </p:nvSpPr>
        <p:spPr>
          <a:xfrm>
            <a:off x="12065" y="533400"/>
            <a:ext cx="9108440" cy="1109345"/>
          </a:xfrm>
          <a:prstGeom prst="rect">
            <a:avLst/>
          </a:prstGeom>
          <a:noFill/>
          <a:ln w="9525">
            <a:noFill/>
          </a:ln>
        </p:spPr>
        <p:txBody>
          <a:bodyPr wrap="square"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这里分子系数为</a:t>
            </a:r>
            <a:r>
              <a:rPr lang="en-US" altLang="zh-CN" i="1">
                <a:latin typeface="Times New Roman" panose="02020603050405020304" pitchFamily="18" charset="0"/>
                <a:ea typeface="宋体" panose="02010600030101010101" pitchFamily="2" charset="-122"/>
              </a:rPr>
              <a:t>Ω</a:t>
            </a:r>
            <a:r>
              <a:rPr lang="en-US" altLang="zh-CN" baseline="-25000" err="1">
                <a:latin typeface="Times New Roman" panose="02020603050405020304" pitchFamily="18" charset="0"/>
                <a:ea typeface="宋体" panose="02010600030101010101" pitchFamily="2" charset="-122"/>
              </a:rPr>
              <a:t>c</a:t>
            </a:r>
            <a:r>
              <a:rPr lang="en-US" altLang="zh-CN" i="1" baseline="30000" err="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，可由</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的低频特性决定，（代入</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dirty="0">
                <a:latin typeface="Times New Roman" panose="02020603050405020304" pitchFamily="18" charset="0"/>
                <a:ea typeface="宋体" panose="02010600030101010101" pitchFamily="2" charset="-122"/>
              </a:rPr>
              <a:t>(0)=1</a:t>
            </a:r>
            <a:r>
              <a:rPr lang="zh-CN" altLang="en-US" dirty="0">
                <a:latin typeface="Times New Roman" panose="02020603050405020304" pitchFamily="18" charset="0"/>
                <a:ea typeface="宋体" panose="02010600030101010101" pitchFamily="2" charset="-122"/>
              </a:rPr>
              <a:t>，可求得分子系数为</a:t>
            </a:r>
            <a:r>
              <a:rPr lang="en-US" altLang="zh-CN" i="1">
                <a:latin typeface="Times New Roman" panose="02020603050405020304" pitchFamily="18" charset="0"/>
                <a:ea typeface="宋体" panose="02010600030101010101" pitchFamily="2" charset="-122"/>
              </a:rPr>
              <a:t>Ω</a:t>
            </a:r>
            <a:r>
              <a:rPr lang="en-US" altLang="zh-CN" i="1" baseline="-25000" err="1">
                <a:latin typeface="Times New Roman" panose="02020603050405020304" pitchFamily="18" charset="0"/>
                <a:ea typeface="宋体" panose="02010600030101010101" pitchFamily="2" charset="-122"/>
              </a:rPr>
              <a:t>c</a:t>
            </a:r>
            <a:r>
              <a:rPr lang="en-US" altLang="zh-CN" i="1" baseline="30000" err="1">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），而</a:t>
            </a:r>
            <a:r>
              <a:rPr lang="en-US" altLang="zh-CN" i="1" err="1">
                <a:latin typeface="Times New Roman" panose="02020603050405020304" pitchFamily="18" charset="0"/>
                <a:ea typeface="宋体" panose="02010600030101010101" pitchFamily="2" charset="-122"/>
              </a:rPr>
              <a:t>s</a:t>
            </a:r>
            <a:r>
              <a:rPr lang="en-US" altLang="zh-CN" i="1" baseline="-2500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graphicFrame>
        <p:nvGraphicFramePr>
          <p:cNvPr id="37891" name="对象 34820"/>
          <p:cNvGraphicFramePr/>
          <p:nvPr/>
        </p:nvGraphicFramePr>
        <p:xfrm>
          <a:off x="2362200" y="1600200"/>
          <a:ext cx="2971800" cy="1014413"/>
        </p:xfrm>
        <a:graphic>
          <a:graphicData uri="http://schemas.openxmlformats.org/presentationml/2006/ole">
            <mc:AlternateContent xmlns:mc="http://schemas.openxmlformats.org/markup-compatibility/2006">
              <mc:Choice xmlns:v="urn:schemas-microsoft-com:vml" Requires="v">
                <p:oleObj spid="_x0000_s3110" name="" r:id="rId1" imgW="1079500" imgH="368300" progId="Equation.3">
                  <p:embed/>
                </p:oleObj>
              </mc:Choice>
              <mc:Fallback>
                <p:oleObj name="" r:id="rId1" imgW="1079500" imgH="368300" progId="Equation.3">
                  <p:embed/>
                  <p:pic>
                    <p:nvPicPr>
                      <p:cNvPr id="0" name="图片 3109"/>
                      <p:cNvPicPr/>
                      <p:nvPr/>
                    </p:nvPicPr>
                    <p:blipFill>
                      <a:blip r:embed="rId2"/>
                      <a:stretch>
                        <a:fillRect/>
                      </a:stretch>
                    </p:blipFill>
                    <p:spPr>
                      <a:xfrm>
                        <a:off x="2362200" y="1600200"/>
                        <a:ext cx="2971800" cy="1014413"/>
                      </a:xfrm>
                      <a:prstGeom prst="rect">
                        <a:avLst/>
                      </a:prstGeom>
                      <a:solidFill>
                        <a:schemeClr val="accent1"/>
                      </a:solidFill>
                      <a:ln w="38100">
                        <a:noFill/>
                        <a:miter/>
                      </a:ln>
                    </p:spPr>
                  </p:pic>
                </p:oleObj>
              </mc:Fallback>
            </mc:AlternateContent>
          </a:graphicData>
        </a:graphic>
      </p:graphicFrame>
      <p:sp>
        <p:nvSpPr>
          <p:cNvPr id="37892" name="文本框 34821"/>
          <p:cNvSpPr txBox="1"/>
          <p:nvPr/>
        </p:nvSpPr>
        <p:spPr>
          <a:xfrm>
            <a:off x="5867400" y="2133600"/>
            <a:ext cx="1836738" cy="457200"/>
          </a:xfrm>
          <a:prstGeom prst="rect">
            <a:avLst/>
          </a:prstGeom>
          <a:solidFill>
            <a:schemeClr val="accent1"/>
          </a:solidFill>
          <a:ln w="9525">
            <a:noFill/>
          </a:ln>
        </p:spPr>
        <p:txBody>
          <a:bodyPr wrap="none" anchor="t">
            <a:spAutoFit/>
          </a:bodyPr>
          <a:p>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=1, 2, …, </a:t>
            </a:r>
            <a:r>
              <a:rPr lang="en-US" altLang="zh-CN" i="1">
                <a:latin typeface="Times New Roman" panose="02020603050405020304" pitchFamily="18" charset="0"/>
                <a:ea typeface="宋体" panose="02010600030101010101" pitchFamily="2" charset="-122"/>
              </a:rPr>
              <a:t>N </a:t>
            </a:r>
            <a:endParaRPr lang="en-US" altLang="zh-CN" i="1">
              <a:latin typeface="Times New Roman" panose="02020603050405020304" pitchFamily="18" charset="0"/>
              <a:ea typeface="宋体" panose="02010600030101010101" pitchFamily="2" charset="-122"/>
            </a:endParaRPr>
          </a:p>
        </p:txBody>
      </p:sp>
      <p:sp>
        <p:nvSpPr>
          <p:cNvPr id="37893" name="文本框 34822"/>
          <p:cNvSpPr txBox="1"/>
          <p:nvPr/>
        </p:nvSpPr>
        <p:spPr>
          <a:xfrm>
            <a:off x="7924800" y="21336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5-12</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37894" name="文本框 34823"/>
          <p:cNvSpPr txBox="1"/>
          <p:nvPr/>
        </p:nvSpPr>
        <p:spPr>
          <a:xfrm>
            <a:off x="152400" y="2590800"/>
            <a:ext cx="8839200" cy="2194560"/>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一般模拟低通滤波器的设计指标由参数</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p</a:t>
            </a:r>
            <a:r>
              <a:rPr lang="en-US" altLang="zh-CN">
                <a:latin typeface="Times New Roman" panose="02020603050405020304" pitchFamily="18" charset="0"/>
                <a:ea typeface="宋体" panose="02010600030101010101" pitchFamily="2" charset="-122"/>
              </a:rPr>
              <a:t>, </a:t>
            </a:r>
            <a:r>
              <a:rPr lang="en-US" altLang="zh-CN" i="1" err="1">
                <a:latin typeface="Times New Roman" panose="02020603050405020304" pitchFamily="18" charset="0"/>
                <a:ea typeface="宋体" panose="02010600030101010101" pitchFamily="2" charset="-122"/>
              </a:rPr>
              <a:t>A</a:t>
            </a:r>
            <a:r>
              <a:rPr lang="en-US" altLang="zh-CN" baseline="-25000" err="1">
                <a:latin typeface="Times New Roman" panose="02020603050405020304" pitchFamily="18" charset="0"/>
                <a:ea typeface="宋体" panose="02010600030101010101" pitchFamily="2" charset="-122"/>
              </a:rPr>
              <a:t>p</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s</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给出， 因此对于巴特沃思滤波器情况下</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设计的实质就是为了求得由这些参数所决定的滤波器阶次</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和截止频率</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 我们要求：  </a:t>
            </a:r>
            <a:endParaRPr lang="zh-CN" altLang="en-US" dirty="0">
              <a:latin typeface="Times New Roman" panose="02020603050405020304" pitchFamily="18" charset="0"/>
              <a:ea typeface="宋体" panose="02010600030101010101" pitchFamily="2" charset="-122"/>
            </a:endParaRPr>
          </a:p>
          <a:p>
            <a:pPr>
              <a:lnSpc>
                <a:spcPct val="130000"/>
              </a:lnSpc>
              <a:spcBef>
                <a:spcPct val="50000"/>
              </a:spcBef>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在 </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p</a:t>
            </a:r>
            <a:r>
              <a:rPr lang="en-US" altLang="zh-CN">
                <a:latin typeface="Times New Roman" panose="02020603050405020304" pitchFamily="18" charset="0"/>
                <a:ea typeface="宋体" panose="02010600030101010101" pitchFamily="2" charset="-122"/>
              </a:rPr>
              <a:t>,      -10 lg|</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A</a:t>
            </a:r>
            <a:r>
              <a:rPr lang="en-US" altLang="zh-CN" baseline="-25000" err="1">
                <a:latin typeface="Times New Roman" panose="02020603050405020304" pitchFamily="18" charset="0"/>
                <a:ea typeface="宋体" panose="02010600030101010101" pitchFamily="2" charset="-122"/>
              </a:rPr>
              <a:t>p</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
        <p:nvSpPr>
          <p:cNvPr id="37895" name="文本框 34824"/>
          <p:cNvSpPr txBox="1"/>
          <p:nvPr/>
        </p:nvSpPr>
        <p:spPr>
          <a:xfrm>
            <a:off x="152400" y="5181600"/>
            <a:ext cx="565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或 </a:t>
            </a:r>
            <a:endParaRPr lang="zh-CN" altLang="en-US">
              <a:latin typeface="Times New Roman" panose="02020603050405020304" pitchFamily="18" charset="0"/>
              <a:ea typeface="宋体" panose="02010600030101010101" pitchFamily="2" charset="-122"/>
            </a:endParaRPr>
          </a:p>
        </p:txBody>
      </p:sp>
      <p:graphicFrame>
        <p:nvGraphicFramePr>
          <p:cNvPr id="37896" name="对象 34825"/>
          <p:cNvGraphicFramePr/>
          <p:nvPr/>
        </p:nvGraphicFramePr>
        <p:xfrm>
          <a:off x="2555875" y="5085080"/>
          <a:ext cx="4375150" cy="1231900"/>
        </p:xfrm>
        <a:graphic>
          <a:graphicData uri="http://schemas.openxmlformats.org/presentationml/2006/ole">
            <mc:AlternateContent xmlns:mc="http://schemas.openxmlformats.org/markup-compatibility/2006">
              <mc:Choice xmlns:v="urn:schemas-microsoft-com:vml" Requires="v">
                <p:oleObj spid="_x0000_s3112" name="" r:id="rId3" imgW="1803400" imgH="508000" progId="Equation.3">
                  <p:embed/>
                </p:oleObj>
              </mc:Choice>
              <mc:Fallback>
                <p:oleObj name="" r:id="rId3" imgW="1803400" imgH="508000" progId="Equation.3">
                  <p:embed/>
                  <p:pic>
                    <p:nvPicPr>
                      <p:cNvPr id="0" name="图片 3111"/>
                      <p:cNvPicPr/>
                      <p:nvPr/>
                    </p:nvPicPr>
                    <p:blipFill>
                      <a:blip r:embed="rId4"/>
                      <a:stretch>
                        <a:fillRect/>
                      </a:stretch>
                    </p:blipFill>
                    <p:spPr>
                      <a:xfrm>
                        <a:off x="2555875" y="5085080"/>
                        <a:ext cx="4375150" cy="1231900"/>
                      </a:xfrm>
                      <a:prstGeom prst="rect">
                        <a:avLst/>
                      </a:prstGeom>
                      <a:solidFill>
                        <a:schemeClr val="accent1"/>
                      </a:solidFill>
                      <a:ln w="38100">
                        <a:noFill/>
                        <a:miter/>
                      </a:ln>
                    </p:spPr>
                  </p:pic>
                </p:oleObj>
              </mc:Fallback>
            </mc:AlternateContent>
          </a:graphicData>
        </a:graphic>
      </p:graphicFrame>
      <p:sp>
        <p:nvSpPr>
          <p:cNvPr id="37897" name="文本框 34826"/>
          <p:cNvSpPr txBox="1"/>
          <p:nvPr/>
        </p:nvSpPr>
        <p:spPr>
          <a:xfrm>
            <a:off x="7715250" y="53340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5-13</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3132138" y="620713"/>
            <a:ext cx="2447925" cy="7207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8914" name="文本框 33795"/>
          <p:cNvSpPr txBox="1"/>
          <p:nvPr/>
        </p:nvSpPr>
        <p:spPr>
          <a:xfrm>
            <a:off x="593725" y="609600"/>
            <a:ext cx="5197475" cy="1109345"/>
          </a:xfrm>
          <a:prstGeom prst="rect">
            <a:avLst/>
          </a:prstGeom>
          <a:noFill/>
          <a:ln w="9525">
            <a:noFill/>
          </a:ln>
        </p:spPr>
        <p:txBody>
          <a:bodyPr wrap="square" anchor="t">
            <a:spAutoFit/>
          </a:bodyPr>
          <a:p>
            <a:pPr>
              <a:lnSpc>
                <a:spcPct val="138000"/>
              </a:lnSpc>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在</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        -10  lg|</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a:p>
            <a:pPr>
              <a:lnSpc>
                <a:spcPct val="138000"/>
              </a:lnSpc>
            </a:pPr>
            <a:r>
              <a:rPr lang="zh-CN" altLang="en-US" dirty="0">
                <a:latin typeface="Times New Roman" panose="02020603050405020304" pitchFamily="18" charset="0"/>
                <a:ea typeface="宋体" panose="02010600030101010101" pitchFamily="2" charset="-122"/>
              </a:rPr>
              <a:t>或 </a:t>
            </a:r>
            <a:endParaRPr lang="zh-CN" altLang="en-US">
              <a:latin typeface="Times New Roman" panose="02020603050405020304" pitchFamily="18" charset="0"/>
              <a:ea typeface="宋体" panose="02010600030101010101" pitchFamily="2" charset="-122"/>
            </a:endParaRPr>
          </a:p>
        </p:txBody>
      </p:sp>
      <p:graphicFrame>
        <p:nvGraphicFramePr>
          <p:cNvPr id="38915" name="对象 33796"/>
          <p:cNvGraphicFramePr/>
          <p:nvPr/>
        </p:nvGraphicFramePr>
        <p:xfrm>
          <a:off x="2215833" y="1341755"/>
          <a:ext cx="4281487" cy="1169988"/>
        </p:xfrm>
        <a:graphic>
          <a:graphicData uri="http://schemas.openxmlformats.org/presentationml/2006/ole">
            <mc:AlternateContent xmlns:mc="http://schemas.openxmlformats.org/markup-compatibility/2006">
              <mc:Choice xmlns:v="urn:schemas-microsoft-com:vml" Requires="v">
                <p:oleObj spid="_x0000_s3108" name="" r:id="rId1" imgW="1764665" imgH="482600" progId="Equation.3">
                  <p:embed/>
                </p:oleObj>
              </mc:Choice>
              <mc:Fallback>
                <p:oleObj name="" r:id="rId1" imgW="1764665" imgH="482600" progId="Equation.3">
                  <p:embed/>
                  <p:pic>
                    <p:nvPicPr>
                      <p:cNvPr id="0" name="图片 3107"/>
                      <p:cNvPicPr/>
                      <p:nvPr/>
                    </p:nvPicPr>
                    <p:blipFill>
                      <a:blip r:embed="rId2"/>
                      <a:stretch>
                        <a:fillRect/>
                      </a:stretch>
                    </p:blipFill>
                    <p:spPr>
                      <a:xfrm>
                        <a:off x="2215833" y="1341755"/>
                        <a:ext cx="4281487" cy="1169988"/>
                      </a:xfrm>
                      <a:prstGeom prst="rect">
                        <a:avLst/>
                      </a:prstGeom>
                      <a:noFill/>
                      <a:ln w="38100">
                        <a:noFill/>
                        <a:miter/>
                      </a:ln>
                    </p:spPr>
                  </p:pic>
                </p:oleObj>
              </mc:Fallback>
            </mc:AlternateContent>
          </a:graphicData>
        </a:graphic>
      </p:graphicFrame>
      <p:sp>
        <p:nvSpPr>
          <p:cNvPr id="38916" name="文本框 33797"/>
          <p:cNvSpPr txBox="1"/>
          <p:nvPr/>
        </p:nvSpPr>
        <p:spPr>
          <a:xfrm>
            <a:off x="7543800" y="16002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(5-14) </a:t>
            </a:r>
            <a:endParaRPr lang="en-US" altLang="zh-CN">
              <a:latin typeface="Times New Roman" panose="02020603050405020304" pitchFamily="18" charset="0"/>
              <a:ea typeface="宋体" panose="02010600030101010101" pitchFamily="2" charset="-122"/>
            </a:endParaRPr>
          </a:p>
        </p:txBody>
      </p:sp>
      <p:sp>
        <p:nvSpPr>
          <p:cNvPr id="38917" name="文本框 33798"/>
          <p:cNvSpPr txBox="1"/>
          <p:nvPr/>
        </p:nvSpPr>
        <p:spPr>
          <a:xfrm>
            <a:off x="539433" y="2525713"/>
            <a:ext cx="5938837"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由式（</a:t>
            </a:r>
            <a:r>
              <a:rPr lang="en-US" altLang="zh-CN" dirty="0">
                <a:latin typeface="Times New Roman" panose="02020603050405020304" pitchFamily="18" charset="0"/>
                <a:ea typeface="宋体" panose="02010600030101010101" pitchFamily="2" charset="-122"/>
              </a:rPr>
              <a:t>5-13</a:t>
            </a:r>
            <a:r>
              <a:rPr lang="zh-CN" altLang="en-US" dirty="0">
                <a:latin typeface="Times New Roman" panose="02020603050405020304" pitchFamily="18" charset="0"/>
                <a:ea typeface="宋体" panose="02010600030101010101" pitchFamily="2" charset="-122"/>
              </a:rPr>
              <a:t>）和式（</a:t>
            </a:r>
            <a:r>
              <a:rPr lang="en-US" altLang="zh-CN" dirty="0">
                <a:latin typeface="Times New Roman" panose="02020603050405020304" pitchFamily="18" charset="0"/>
                <a:ea typeface="宋体" panose="02010600030101010101" pitchFamily="2" charset="-122"/>
              </a:rPr>
              <a:t>5-14</a:t>
            </a:r>
            <a:r>
              <a:rPr lang="zh-CN" altLang="en-US" dirty="0">
                <a:latin typeface="Times New Roman" panose="02020603050405020304" pitchFamily="18" charset="0"/>
                <a:ea typeface="宋体" panose="02010600030101010101" pitchFamily="2" charset="-122"/>
              </a:rPr>
              <a:t>）解出</a:t>
            </a:r>
            <a:r>
              <a:rPr lang="en-US" altLang="zh-CN" i="1">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，有 </a:t>
            </a:r>
            <a:endParaRPr lang="zh-CN" altLang="en-US">
              <a:latin typeface="Times New Roman" panose="02020603050405020304" pitchFamily="18" charset="0"/>
              <a:ea typeface="宋体" panose="02010600030101010101" pitchFamily="2" charset="-122"/>
            </a:endParaRPr>
          </a:p>
        </p:txBody>
      </p:sp>
      <p:graphicFrame>
        <p:nvGraphicFramePr>
          <p:cNvPr id="38918" name="对象 33799"/>
          <p:cNvGraphicFramePr/>
          <p:nvPr/>
        </p:nvGraphicFramePr>
        <p:xfrm>
          <a:off x="2195830" y="2996883"/>
          <a:ext cx="4724400" cy="1136650"/>
        </p:xfrm>
        <a:graphic>
          <a:graphicData uri="http://schemas.openxmlformats.org/presentationml/2006/ole">
            <mc:AlternateContent xmlns:mc="http://schemas.openxmlformats.org/markup-compatibility/2006">
              <mc:Choice xmlns:v="urn:schemas-microsoft-com:vml" Requires="v">
                <p:oleObj spid="_x0000_s3109" name="" r:id="rId3" imgW="2005965" imgH="482600" progId="Equation.3">
                  <p:embed/>
                </p:oleObj>
              </mc:Choice>
              <mc:Fallback>
                <p:oleObj name="" r:id="rId3" imgW="2005965" imgH="482600" progId="Equation.3">
                  <p:embed/>
                  <p:pic>
                    <p:nvPicPr>
                      <p:cNvPr id="0" name="图片 3108"/>
                      <p:cNvPicPr/>
                      <p:nvPr/>
                    </p:nvPicPr>
                    <p:blipFill>
                      <a:blip r:embed="rId4"/>
                      <a:stretch>
                        <a:fillRect/>
                      </a:stretch>
                    </p:blipFill>
                    <p:spPr>
                      <a:xfrm>
                        <a:off x="2195830" y="2996883"/>
                        <a:ext cx="4724400" cy="1136650"/>
                      </a:xfrm>
                      <a:prstGeom prst="rect">
                        <a:avLst/>
                      </a:prstGeom>
                      <a:noFill/>
                      <a:ln w="38100">
                        <a:noFill/>
                        <a:miter/>
                      </a:ln>
                    </p:spPr>
                  </p:pic>
                </p:oleObj>
              </mc:Fallback>
            </mc:AlternateContent>
          </a:graphicData>
        </a:graphic>
      </p:graphicFrame>
      <p:sp>
        <p:nvSpPr>
          <p:cNvPr id="38919" name="文本框 33800"/>
          <p:cNvSpPr txBox="1"/>
          <p:nvPr/>
        </p:nvSpPr>
        <p:spPr>
          <a:xfrm>
            <a:off x="7596188" y="3573463"/>
            <a:ext cx="1157287"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(5-15</a:t>
            </a:r>
            <a:r>
              <a:rPr lang="en-US" altLang="zh-CN">
                <a:latin typeface="Times New Roman" panose="02020603050405020304" pitchFamily="18" charset="0"/>
                <a:ea typeface="宋体" panose="02010600030101010101" pitchFamily="2" charset="-122"/>
              </a:rPr>
              <a:t>a) </a:t>
            </a:r>
            <a:endParaRPr lang="en-US" altLang="zh-CN">
              <a:latin typeface="Times New Roman" panose="02020603050405020304" pitchFamily="18" charset="0"/>
              <a:ea typeface="宋体" panose="02010600030101010101" pitchFamily="2" charset="-122"/>
            </a:endParaRPr>
          </a:p>
        </p:txBody>
      </p:sp>
      <p:sp>
        <p:nvSpPr>
          <p:cNvPr id="38920" name="文本框 33801"/>
          <p:cNvSpPr txBox="1"/>
          <p:nvPr/>
        </p:nvSpPr>
        <p:spPr>
          <a:xfrm>
            <a:off x="228600" y="4030663"/>
            <a:ext cx="8686800" cy="1079500"/>
          </a:xfrm>
          <a:prstGeom prst="rect">
            <a:avLst/>
          </a:prstGeom>
          <a:noFill/>
          <a:ln w="9525">
            <a:noFill/>
          </a:ln>
        </p:spPr>
        <p:txBody>
          <a:bodyPr anchor="t">
            <a:spAutoFit/>
          </a:bodyPr>
          <a:p>
            <a:pPr algn="just">
              <a:lnSpc>
                <a:spcPct val="135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一般来说，上面求出的</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不会是一个整数，要求</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是一个整数且满足指标要求，就</a:t>
            </a:r>
            <a:r>
              <a:rPr lang="zh-CN" altLang="en-US" dirty="0">
                <a:latin typeface="Times New Roman" panose="02020603050405020304" pitchFamily="18" charset="0"/>
                <a:ea typeface="宋体" panose="02010600030101010101" pitchFamily="2" charset="-122"/>
              </a:rPr>
              <a:t>必须选 </a:t>
            </a:r>
            <a:endParaRPr lang="zh-CN" altLang="en-US">
              <a:latin typeface="Times New Roman" panose="02020603050405020304" pitchFamily="18" charset="0"/>
              <a:ea typeface="宋体" panose="02010600030101010101" pitchFamily="2" charset="-122"/>
            </a:endParaRPr>
          </a:p>
        </p:txBody>
      </p:sp>
      <p:graphicFrame>
        <p:nvGraphicFramePr>
          <p:cNvPr id="38921" name="对象 33802"/>
          <p:cNvGraphicFramePr/>
          <p:nvPr/>
        </p:nvGraphicFramePr>
        <p:xfrm>
          <a:off x="2728913" y="5110163"/>
          <a:ext cx="4667250" cy="1146175"/>
        </p:xfrm>
        <a:graphic>
          <a:graphicData uri="http://schemas.openxmlformats.org/presentationml/2006/ole">
            <mc:AlternateContent xmlns:mc="http://schemas.openxmlformats.org/markup-compatibility/2006">
              <mc:Choice xmlns:v="urn:schemas-microsoft-com:vml" Requires="v">
                <p:oleObj spid="_x0000_s3106" name="" r:id="rId5" imgW="2070100" imgH="508000" progId="Equation.3">
                  <p:embed/>
                </p:oleObj>
              </mc:Choice>
              <mc:Fallback>
                <p:oleObj name="" r:id="rId5" imgW="2070100" imgH="508000" progId="Equation.3">
                  <p:embed/>
                  <p:pic>
                    <p:nvPicPr>
                      <p:cNvPr id="0" name="图片 3105"/>
                      <p:cNvPicPr/>
                      <p:nvPr/>
                    </p:nvPicPr>
                    <p:blipFill>
                      <a:blip r:embed="rId6"/>
                      <a:stretch>
                        <a:fillRect/>
                      </a:stretch>
                    </p:blipFill>
                    <p:spPr>
                      <a:xfrm>
                        <a:off x="2728913" y="5110163"/>
                        <a:ext cx="4667250" cy="1146175"/>
                      </a:xfrm>
                      <a:prstGeom prst="rect">
                        <a:avLst/>
                      </a:prstGeom>
                      <a:solidFill>
                        <a:schemeClr val="accent1"/>
                      </a:solidFill>
                      <a:ln w="38100">
                        <a:noFill/>
                        <a:miter/>
                      </a:ln>
                    </p:spPr>
                  </p:pic>
                </p:oleObj>
              </mc:Fallback>
            </mc:AlternateContent>
          </a:graphicData>
        </a:graphic>
      </p:graphicFrame>
      <p:sp>
        <p:nvSpPr>
          <p:cNvPr id="38922" name="文本框 33803"/>
          <p:cNvSpPr txBox="1"/>
          <p:nvPr/>
        </p:nvSpPr>
        <p:spPr>
          <a:xfrm>
            <a:off x="7664450" y="5562600"/>
            <a:ext cx="11747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(5-15</a:t>
            </a:r>
            <a:r>
              <a:rPr lang="en-US" altLang="zh-CN">
                <a:latin typeface="Times New Roman" panose="02020603050405020304" pitchFamily="18" charset="0"/>
                <a:ea typeface="宋体" panose="02010600030101010101" pitchFamily="2" charset="-122"/>
              </a:rPr>
              <a:t>b)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文本框 36867"/>
          <p:cNvSpPr txBox="1"/>
          <p:nvPr/>
        </p:nvSpPr>
        <p:spPr>
          <a:xfrm>
            <a:off x="228600" y="561975"/>
            <a:ext cx="8763000" cy="2105025"/>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这里运算符［</a:t>
            </a:r>
            <a:r>
              <a:rPr lang="en-US" altLang="zh-CN" i="1">
                <a:latin typeface="Times New Roman" panose="02020603050405020304" pitchFamily="18" charset="0"/>
                <a:ea typeface="宋体" panose="02010600030101010101" pitchFamily="2" charset="-122"/>
              </a:rPr>
              <a:t>x</a:t>
            </a:r>
            <a:r>
              <a:rPr lang="zh-CN" altLang="en-US" dirty="0">
                <a:latin typeface="Times New Roman" panose="02020603050405020304" pitchFamily="18" charset="0"/>
                <a:ea typeface="宋体" panose="02010600030101010101" pitchFamily="2" charset="-122"/>
              </a:rPr>
              <a:t>］的意思是“选大于等于</a:t>
            </a:r>
            <a:r>
              <a:rPr lang="en-US" altLang="zh-CN" i="1">
                <a:latin typeface="Times New Roman" panose="02020603050405020304" pitchFamily="18" charset="0"/>
                <a:ea typeface="宋体" panose="02010600030101010101" pitchFamily="2" charset="-122"/>
              </a:rPr>
              <a:t>x</a:t>
            </a:r>
            <a:r>
              <a:rPr lang="zh-CN" altLang="en-US" dirty="0">
                <a:latin typeface="Times New Roman" panose="02020603050405020304" pitchFamily="18" charset="0"/>
                <a:ea typeface="宋体" panose="02010600030101010101" pitchFamily="2" charset="-122"/>
              </a:rPr>
              <a:t>的最小整数”，例如［</a:t>
            </a:r>
            <a:r>
              <a:rPr lang="en-US" altLang="zh-CN" dirty="0">
                <a:latin typeface="Times New Roman" panose="02020603050405020304" pitchFamily="18" charset="0"/>
                <a:ea typeface="宋体" panose="02010600030101010101" pitchFamily="2" charset="-122"/>
              </a:rPr>
              <a:t>4.5</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。因为，实际上</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选的都比要求的大，因此技术指标上在</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或在</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上都能满足或超过一些。为了在</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精</a:t>
            </a:r>
            <a:r>
              <a:rPr lang="zh-CN" altLang="en-US" dirty="0">
                <a:latin typeface="Times New Roman" panose="02020603050405020304" pitchFamily="18" charset="0"/>
                <a:ea typeface="宋体" panose="02010600030101010101" pitchFamily="2" charset="-122"/>
              </a:rPr>
              <a:t>确地满足指标要求， 则由式（</a:t>
            </a:r>
            <a:r>
              <a:rPr lang="en-US" altLang="zh-CN" dirty="0">
                <a:latin typeface="Times New Roman" panose="02020603050405020304" pitchFamily="18" charset="0"/>
                <a:ea typeface="宋体" panose="02010600030101010101" pitchFamily="2" charset="-122"/>
              </a:rPr>
              <a:t>5-13</a:t>
            </a:r>
            <a:r>
              <a:rPr lang="zh-CN" altLang="en-US" dirty="0">
                <a:latin typeface="Times New Roman" panose="02020603050405020304" pitchFamily="18" charset="0"/>
                <a:ea typeface="宋体" panose="02010600030101010101" pitchFamily="2" charset="-122"/>
              </a:rPr>
              <a:t>）可得 </a:t>
            </a:r>
            <a:endParaRPr lang="zh-CN" altLang="en-US">
              <a:latin typeface="Times New Roman" panose="02020603050405020304" pitchFamily="18" charset="0"/>
              <a:ea typeface="宋体" panose="02010600030101010101" pitchFamily="2" charset="-122"/>
            </a:endParaRPr>
          </a:p>
        </p:txBody>
      </p:sp>
      <p:graphicFrame>
        <p:nvGraphicFramePr>
          <p:cNvPr id="39938" name="对象 36868"/>
          <p:cNvGraphicFramePr/>
          <p:nvPr/>
        </p:nvGraphicFramePr>
        <p:xfrm>
          <a:off x="2459990" y="2705100"/>
          <a:ext cx="3048000" cy="1206500"/>
        </p:xfrm>
        <a:graphic>
          <a:graphicData uri="http://schemas.openxmlformats.org/presentationml/2006/ole">
            <mc:AlternateContent xmlns:mc="http://schemas.openxmlformats.org/markup-compatibility/2006">
              <mc:Choice xmlns:v="urn:schemas-microsoft-com:vml" Requires="v">
                <p:oleObj spid="_x0000_s3111" name="" r:id="rId1" imgW="1155700" imgH="457200" progId="Equation.3">
                  <p:embed/>
                </p:oleObj>
              </mc:Choice>
              <mc:Fallback>
                <p:oleObj name="" r:id="rId1" imgW="1155700" imgH="457200" progId="Equation.3">
                  <p:embed/>
                  <p:pic>
                    <p:nvPicPr>
                      <p:cNvPr id="0" name="图片 3110"/>
                      <p:cNvPicPr/>
                      <p:nvPr/>
                    </p:nvPicPr>
                    <p:blipFill>
                      <a:blip r:embed="rId2"/>
                      <a:stretch>
                        <a:fillRect/>
                      </a:stretch>
                    </p:blipFill>
                    <p:spPr>
                      <a:xfrm>
                        <a:off x="2459990" y="2705100"/>
                        <a:ext cx="3048000" cy="1206500"/>
                      </a:xfrm>
                      <a:prstGeom prst="rect">
                        <a:avLst/>
                      </a:prstGeom>
                      <a:solidFill>
                        <a:schemeClr val="accent1"/>
                      </a:solidFill>
                      <a:ln w="38100">
                        <a:noFill/>
                        <a:miter/>
                      </a:ln>
                    </p:spPr>
                  </p:pic>
                </p:oleObj>
              </mc:Fallback>
            </mc:AlternateContent>
          </a:graphicData>
        </a:graphic>
      </p:graphicFrame>
      <p:sp>
        <p:nvSpPr>
          <p:cNvPr id="39939" name="文本框 36869"/>
          <p:cNvSpPr txBox="1"/>
          <p:nvPr/>
        </p:nvSpPr>
        <p:spPr>
          <a:xfrm>
            <a:off x="7162800" y="30480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(5-16)</a:t>
            </a:r>
            <a:endParaRPr lang="en-US" altLang="zh-CN">
              <a:latin typeface="Times New Roman" panose="02020603050405020304" pitchFamily="18" charset="0"/>
              <a:ea typeface="宋体" panose="02010600030101010101" pitchFamily="2" charset="-122"/>
            </a:endParaRPr>
          </a:p>
        </p:txBody>
      </p:sp>
      <p:sp>
        <p:nvSpPr>
          <p:cNvPr id="39940" name="文本框 36870"/>
          <p:cNvSpPr txBox="1"/>
          <p:nvPr/>
        </p:nvSpPr>
        <p:spPr>
          <a:xfrm>
            <a:off x="212725" y="4038600"/>
            <a:ext cx="7223125"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或者在</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精确地满足指标要求，则由式（</a:t>
            </a:r>
            <a:r>
              <a:rPr lang="en-US" altLang="zh-CN" dirty="0">
                <a:latin typeface="Times New Roman" panose="02020603050405020304" pitchFamily="18" charset="0"/>
                <a:ea typeface="宋体" panose="02010600030101010101" pitchFamily="2" charset="-122"/>
              </a:rPr>
              <a:t>5-14</a:t>
            </a:r>
            <a:r>
              <a:rPr lang="zh-CN" altLang="en-US" dirty="0">
                <a:latin typeface="Times New Roman" panose="02020603050405020304" pitchFamily="18" charset="0"/>
                <a:ea typeface="宋体" panose="02010600030101010101" pitchFamily="2" charset="-122"/>
              </a:rPr>
              <a:t>）可得</a:t>
            </a:r>
            <a:endParaRPr lang="zh-CN" altLang="en-US">
              <a:latin typeface="Times New Roman" panose="02020603050405020304" pitchFamily="18" charset="0"/>
              <a:ea typeface="宋体" panose="02010600030101010101" pitchFamily="2" charset="-122"/>
            </a:endParaRPr>
          </a:p>
        </p:txBody>
      </p:sp>
      <p:graphicFrame>
        <p:nvGraphicFramePr>
          <p:cNvPr id="39941" name="对象 36871"/>
          <p:cNvGraphicFramePr/>
          <p:nvPr/>
        </p:nvGraphicFramePr>
        <p:xfrm>
          <a:off x="2317115" y="5028883"/>
          <a:ext cx="3014663" cy="1139825"/>
        </p:xfrm>
        <a:graphic>
          <a:graphicData uri="http://schemas.openxmlformats.org/presentationml/2006/ole">
            <mc:AlternateContent xmlns:mc="http://schemas.openxmlformats.org/markup-compatibility/2006">
              <mc:Choice xmlns:v="urn:schemas-microsoft-com:vml" Requires="v">
                <p:oleObj spid="_x0000_s3113" name="" r:id="rId3" imgW="1142365" imgH="431800" progId="Equation.3">
                  <p:embed/>
                </p:oleObj>
              </mc:Choice>
              <mc:Fallback>
                <p:oleObj name="" r:id="rId3" imgW="1142365" imgH="431800" progId="Equation.3">
                  <p:embed/>
                  <p:pic>
                    <p:nvPicPr>
                      <p:cNvPr id="0" name="图片 3112"/>
                      <p:cNvPicPr/>
                      <p:nvPr/>
                    </p:nvPicPr>
                    <p:blipFill>
                      <a:blip r:embed="rId4"/>
                      <a:stretch>
                        <a:fillRect/>
                      </a:stretch>
                    </p:blipFill>
                    <p:spPr>
                      <a:xfrm>
                        <a:off x="2317115" y="5028883"/>
                        <a:ext cx="3014663" cy="1139825"/>
                      </a:xfrm>
                      <a:prstGeom prst="rect">
                        <a:avLst/>
                      </a:prstGeom>
                      <a:solidFill>
                        <a:schemeClr val="accent1"/>
                      </a:solidFill>
                      <a:ln w="38100">
                        <a:noFill/>
                        <a:miter/>
                      </a:ln>
                    </p:spPr>
                  </p:pic>
                </p:oleObj>
              </mc:Fallback>
            </mc:AlternateContent>
          </a:graphicData>
        </a:graphic>
      </p:graphicFrame>
      <p:sp>
        <p:nvSpPr>
          <p:cNvPr id="39942" name="文本框 36872"/>
          <p:cNvSpPr txBox="1"/>
          <p:nvPr/>
        </p:nvSpPr>
        <p:spPr>
          <a:xfrm>
            <a:off x="7239000" y="50292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(5-17)</a:t>
            </a:r>
            <a:endParaRPr lang="en-US" altLang="zh-CN">
              <a:latin typeface="Times New Roman" panose="02020603050405020304" pitchFamily="18" charset="0"/>
              <a:ea typeface="宋体" panose="02010600030101010101" pitchFamily="2" charset="-122"/>
            </a:endParaRPr>
          </a:p>
        </p:txBody>
      </p:sp>
      <p:graphicFrame>
        <p:nvGraphicFramePr>
          <p:cNvPr id="3" name="对象 2">
            <a:hlinkClick r:id="" action="ppaction://ole?verb="/>
          </p:cNvPr>
          <p:cNvGraphicFramePr>
            <a:graphicFrameLocks noChangeAspect="1"/>
          </p:cNvGraphicFramePr>
          <p:nvPr/>
        </p:nvGraphicFramePr>
        <p:xfrm>
          <a:off x="5598478" y="4940618"/>
          <a:ext cx="3545205" cy="1892300"/>
        </p:xfrm>
        <a:graphic>
          <a:graphicData uri="http://schemas.openxmlformats.org/presentationml/2006/ole">
            <mc:AlternateContent xmlns:mc="http://schemas.openxmlformats.org/markup-compatibility/2006">
              <mc:Choice xmlns:v="urn:schemas-microsoft-com:vml" Requires="v">
                <p:oleObj spid="_x0000_s3083" name="" r:id="rId5" imgW="1854200" imgH="977900" progId="Equation.KSEE3">
                  <p:embed/>
                </p:oleObj>
              </mc:Choice>
              <mc:Fallback>
                <p:oleObj name="" r:id="rId5" imgW="1854200" imgH="977900" progId="Equation.KSEE3">
                  <p:embed/>
                  <p:pic>
                    <p:nvPicPr>
                      <p:cNvPr id="0" name="图片 3082"/>
                      <p:cNvPicPr/>
                      <p:nvPr/>
                    </p:nvPicPr>
                    <p:blipFill>
                      <a:blip r:embed="rId6"/>
                      <a:stretch>
                        <a:fillRect/>
                      </a:stretch>
                    </p:blipFill>
                    <p:spPr>
                      <a:xfrm>
                        <a:off x="5598478" y="4940618"/>
                        <a:ext cx="3545205" cy="1892300"/>
                      </a:xfrm>
                      <a:prstGeom prst="rect">
                        <a:avLst/>
                      </a:prstGeom>
                      <a:solidFill>
                        <a:srgbClr val="C00000"/>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0961" name="图片 35844" descr="C:\WINDOWS\Desktop\wp\Img00008.JPG"/>
          <p:cNvPicPr>
            <a:picLocks noChangeAspect="1"/>
          </p:cNvPicPr>
          <p:nvPr/>
        </p:nvPicPr>
        <p:blipFill>
          <a:blip r:embed="rId1"/>
          <a:stretch>
            <a:fillRect/>
          </a:stretch>
        </p:blipFill>
        <p:spPr>
          <a:xfrm>
            <a:off x="0" y="1046163"/>
            <a:ext cx="9144000" cy="4745037"/>
          </a:xfrm>
          <a:prstGeom prst="rect">
            <a:avLst/>
          </a:prstGeom>
          <a:noFill/>
          <a:ln w="9525">
            <a:noFill/>
          </a:ln>
        </p:spPr>
      </p:pic>
      <p:sp>
        <p:nvSpPr>
          <p:cNvPr id="2" name="矩形 1"/>
          <p:cNvSpPr/>
          <p:nvPr/>
        </p:nvSpPr>
        <p:spPr>
          <a:xfrm>
            <a:off x="107950" y="2133600"/>
            <a:ext cx="2232025" cy="1079500"/>
          </a:xfrm>
          <a:prstGeom prst="rect">
            <a:avLst/>
          </a:prstGeom>
          <a:noFill/>
          <a:ln w="412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cxnSp>
        <p:nvCxnSpPr>
          <p:cNvPr id="3" name="直接连接符 2"/>
          <p:cNvCxnSpPr/>
          <p:nvPr/>
        </p:nvCxnSpPr>
        <p:spPr>
          <a:xfrm flipV="1">
            <a:off x="2227263" y="1708150"/>
            <a:ext cx="4689475" cy="20638"/>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graphicFrame>
        <p:nvGraphicFramePr>
          <p:cNvPr id="40962" name="对象 38916"/>
          <p:cNvGraphicFramePr/>
          <p:nvPr/>
        </p:nvGraphicFramePr>
        <p:xfrm>
          <a:off x="2174875" y="-46037"/>
          <a:ext cx="6969125" cy="1025525"/>
        </p:xfrm>
        <a:graphic>
          <a:graphicData uri="http://schemas.openxmlformats.org/presentationml/2006/ole">
            <mc:AlternateContent xmlns:mc="http://schemas.openxmlformats.org/markup-compatibility/2006">
              <mc:Choice xmlns:v="urn:schemas-microsoft-com:vml" Requires="v">
                <p:oleObj spid="_x0000_s3083" name="" r:id="rId2" imgW="2933700" imgH="431800" progId="Equation.3">
                  <p:embed/>
                </p:oleObj>
              </mc:Choice>
              <mc:Fallback>
                <p:oleObj name="" r:id="rId2" imgW="2933700" imgH="431800" progId="Equation.3">
                  <p:embed/>
                  <p:pic>
                    <p:nvPicPr>
                      <p:cNvPr id="0" name="图片 3082"/>
                      <p:cNvPicPr/>
                      <p:nvPr/>
                    </p:nvPicPr>
                    <p:blipFill>
                      <a:blip r:embed="rId3"/>
                      <a:stretch>
                        <a:fillRect/>
                      </a:stretch>
                    </p:blipFill>
                    <p:spPr>
                      <a:xfrm>
                        <a:off x="2174875" y="-46037"/>
                        <a:ext cx="6969125" cy="1025525"/>
                      </a:xfrm>
                      <a:prstGeom prst="rect">
                        <a:avLst/>
                      </a:prstGeom>
                      <a:solidFill>
                        <a:schemeClr val="accent1"/>
                      </a:solidFill>
                      <a:ln w="38100">
                        <a:noFill/>
                        <a:miter/>
                      </a:ln>
                    </p:spPr>
                  </p:pic>
                </p:oleObj>
              </mc:Fallback>
            </mc:AlternateContent>
          </a:graphicData>
        </a:graphic>
      </p:graphicFrame>
      <p:graphicFrame>
        <p:nvGraphicFramePr>
          <p:cNvPr id="4" name="对象 38916"/>
          <p:cNvGraphicFramePr/>
          <p:nvPr/>
        </p:nvGraphicFramePr>
        <p:xfrm>
          <a:off x="1111250" y="1608138"/>
          <a:ext cx="2082800" cy="935037"/>
        </p:xfrm>
        <a:graphic>
          <a:graphicData uri="http://schemas.openxmlformats.org/presentationml/2006/ole">
            <mc:AlternateContent xmlns:mc="http://schemas.openxmlformats.org/markup-compatibility/2006">
              <mc:Choice xmlns:v="urn:schemas-microsoft-com:vml" Requires="v">
                <p:oleObj spid="_x0000_s3077" name="" r:id="rId4" imgW="876300" imgH="393700" progId="Equation.3">
                  <p:embed/>
                </p:oleObj>
              </mc:Choice>
              <mc:Fallback>
                <p:oleObj name="" r:id="rId4" imgW="876300" imgH="393700" progId="Equation.3">
                  <p:embed/>
                  <p:pic>
                    <p:nvPicPr>
                      <p:cNvPr id="0" name="图片 3076"/>
                      <p:cNvPicPr/>
                      <p:nvPr/>
                    </p:nvPicPr>
                    <p:blipFill>
                      <a:blip r:embed="rId5"/>
                      <a:stretch>
                        <a:fillRect/>
                      </a:stretch>
                    </p:blipFill>
                    <p:spPr>
                      <a:xfrm>
                        <a:off x="1111250" y="1608138"/>
                        <a:ext cx="2082800" cy="935037"/>
                      </a:xfrm>
                      <a:prstGeom prst="rect">
                        <a:avLst/>
                      </a:prstGeom>
                      <a:solidFill>
                        <a:schemeClr val="accent1"/>
                      </a:solidFill>
                      <a:ln w="38100">
                        <a:noFill/>
                        <a:miter/>
                      </a:ln>
                    </p:spPr>
                  </p:pic>
                </p:oleObj>
              </mc:Fallback>
            </mc:AlternateContent>
          </a:graphicData>
        </a:graphic>
      </p:graphicFrame>
      <p:graphicFrame>
        <p:nvGraphicFramePr>
          <p:cNvPr id="6" name="对象 38916"/>
          <p:cNvGraphicFramePr/>
          <p:nvPr/>
        </p:nvGraphicFramePr>
        <p:xfrm>
          <a:off x="2806700" y="1893888"/>
          <a:ext cx="3167063" cy="995362"/>
        </p:xfrm>
        <a:graphic>
          <a:graphicData uri="http://schemas.openxmlformats.org/presentationml/2006/ole">
            <mc:AlternateContent xmlns:mc="http://schemas.openxmlformats.org/markup-compatibility/2006">
              <mc:Choice xmlns:v="urn:schemas-microsoft-com:vml" Requires="v">
                <p:oleObj spid="_x0000_s3078" name="" r:id="rId6" imgW="1333500" imgH="419100" progId="Equation.3">
                  <p:embed/>
                </p:oleObj>
              </mc:Choice>
              <mc:Fallback>
                <p:oleObj name="" r:id="rId6" imgW="1333500" imgH="419100" progId="Equation.3">
                  <p:embed/>
                  <p:pic>
                    <p:nvPicPr>
                      <p:cNvPr id="0" name="图片 3077"/>
                      <p:cNvPicPr/>
                      <p:nvPr/>
                    </p:nvPicPr>
                    <p:blipFill>
                      <a:blip r:embed="rId7"/>
                      <a:stretch>
                        <a:fillRect/>
                      </a:stretch>
                    </p:blipFill>
                    <p:spPr>
                      <a:xfrm>
                        <a:off x="2806700" y="1893888"/>
                        <a:ext cx="3167063" cy="995362"/>
                      </a:xfrm>
                      <a:prstGeom prst="rect">
                        <a:avLst/>
                      </a:prstGeom>
                      <a:solidFill>
                        <a:schemeClr val="accent1"/>
                      </a:solidFill>
                      <a:ln w="38100">
                        <a:noFill/>
                        <a:miter/>
                      </a:ln>
                    </p:spPr>
                  </p:pic>
                </p:oleObj>
              </mc:Fallback>
            </mc:AlternateContent>
          </a:graphicData>
        </a:graphic>
      </p:graphicFrame>
      <p:graphicFrame>
        <p:nvGraphicFramePr>
          <p:cNvPr id="8" name="对象 38916"/>
          <p:cNvGraphicFramePr/>
          <p:nvPr/>
        </p:nvGraphicFramePr>
        <p:xfrm>
          <a:off x="5402263" y="2278063"/>
          <a:ext cx="3741737" cy="935037"/>
        </p:xfrm>
        <a:graphic>
          <a:graphicData uri="http://schemas.openxmlformats.org/presentationml/2006/ole">
            <mc:AlternateContent xmlns:mc="http://schemas.openxmlformats.org/markup-compatibility/2006">
              <mc:Choice xmlns:v="urn:schemas-microsoft-com:vml" Requires="v">
                <p:oleObj spid="_x0000_s3084" name="" r:id="rId8" imgW="1574800" imgH="393700" progId="Equation.3">
                  <p:embed/>
                </p:oleObj>
              </mc:Choice>
              <mc:Fallback>
                <p:oleObj name="" r:id="rId8" imgW="1574800" imgH="393700" progId="Equation.3">
                  <p:embed/>
                  <p:pic>
                    <p:nvPicPr>
                      <p:cNvPr id="0" name="图片 3083"/>
                      <p:cNvPicPr/>
                      <p:nvPr/>
                    </p:nvPicPr>
                    <p:blipFill>
                      <a:blip r:embed="rId9"/>
                      <a:stretch>
                        <a:fillRect/>
                      </a:stretch>
                    </p:blipFill>
                    <p:spPr>
                      <a:xfrm>
                        <a:off x="5402263" y="2278063"/>
                        <a:ext cx="3741737" cy="935037"/>
                      </a:xfrm>
                      <a:prstGeom prst="rect">
                        <a:avLst/>
                      </a:prstGeom>
                      <a:solidFill>
                        <a:schemeClr val="accent1"/>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62"/>
                                        </p:tgtEl>
                                        <p:attrNameLst>
                                          <p:attrName>style.visibility</p:attrName>
                                        </p:attrNameLst>
                                      </p:cBhvr>
                                      <p:to>
                                        <p:strVal val="visible"/>
                                      </p:to>
                                    </p:set>
                                    <p:anim calcmode="lin" valueType="num">
                                      <p:cBhvr additive="base">
                                        <p:cTn id="7" dur="500" fill="hold"/>
                                        <p:tgtEl>
                                          <p:spTgt spid="40962"/>
                                        </p:tgtEl>
                                        <p:attrNameLst>
                                          <p:attrName>ppt_x</p:attrName>
                                        </p:attrNameLst>
                                      </p:cBhvr>
                                      <p:tavLst>
                                        <p:tav tm="0">
                                          <p:val>
                                            <p:strVal val="#ppt_x"/>
                                          </p:val>
                                        </p:tav>
                                        <p:tav tm="100000">
                                          <p:val>
                                            <p:strVal val="#ppt_x"/>
                                          </p:val>
                                        </p:tav>
                                      </p:tavLst>
                                    </p:anim>
                                    <p:anim calcmode="lin" valueType="num">
                                      <p:cBhvr additive="base">
                                        <p:cTn id="8" dur="500" fill="hold"/>
                                        <p:tgtEl>
                                          <p:spTgt spid="409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3060065" y="3745230"/>
            <a:ext cx="2900680" cy="1202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矩形 1"/>
          <p:cNvSpPr/>
          <p:nvPr/>
        </p:nvSpPr>
        <p:spPr>
          <a:xfrm>
            <a:off x="2987675" y="2637155"/>
            <a:ext cx="1656080" cy="9359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1985" name="文本框 38915"/>
          <p:cNvSpPr txBox="1"/>
          <p:nvPr/>
        </p:nvSpPr>
        <p:spPr>
          <a:xfrm>
            <a:off x="228600" y="696913"/>
            <a:ext cx="8763000" cy="1820862"/>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令</a:t>
            </a:r>
            <a:r>
              <a:rPr lang="en-US" altLang="zh-CN" i="1" err="1">
                <a:latin typeface="Times New Roman" panose="02020603050405020304" pitchFamily="18" charset="0"/>
                <a:ea typeface="宋体" panose="02010600030101010101" pitchFamily="2" charset="-122"/>
              </a:rPr>
              <a:t>H</a:t>
            </a:r>
            <a:r>
              <a:rPr lang="en-US" altLang="zh-CN" baseline="-25000" err="1">
                <a:latin typeface="Times New Roman" panose="02020603050405020304" pitchFamily="18" charset="0"/>
                <a:ea typeface="宋体" panose="02010600030101010101" pitchFamily="2" charset="-122"/>
              </a:rPr>
              <a:t>a</a:t>
            </a:r>
            <a:r>
              <a:rPr lang="en-US" altLang="zh-CN" i="1" baseline="-50000" err="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代表归一化系统的系统函数，</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代表截止频率为</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的低通系统的传递函数，那么归一化系统函数中的变量</a:t>
            </a:r>
            <a:r>
              <a:rPr lang="en-US" altLang="zh-CN">
                <a:latin typeface="Times New Roman" panose="02020603050405020304" pitchFamily="18" charset="0"/>
                <a:ea typeface="宋体" panose="02010600030101010101" pitchFamily="2" charset="-122"/>
              </a:rPr>
              <a:t>s</a:t>
            </a:r>
            <a:r>
              <a:rPr lang="zh-CN" altLang="en-US">
                <a:latin typeface="Times New Roman" panose="02020603050405020304" pitchFamily="18" charset="0"/>
                <a:ea typeface="宋体" panose="02010600030101010101" pitchFamily="2" charset="-122"/>
              </a:rPr>
              <a:t>用</a:t>
            </a:r>
            <a:r>
              <a:rPr lang="en-US" altLang="zh-CN">
                <a:latin typeface="Times New Roman" panose="02020603050405020304" pitchFamily="18" charset="0"/>
                <a:ea typeface="宋体" panose="02010600030101010101" pitchFamily="2" charset="-122"/>
              </a:rPr>
              <a:t>s/</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代替后，就得到所需滤波器的系统函数</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即</a:t>
            </a:r>
            <a:r>
              <a:rPr lang="en-US" altLang="zh-CN" dirty="0">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41986" name="对象 38916"/>
          <p:cNvGraphicFramePr/>
          <p:nvPr/>
        </p:nvGraphicFramePr>
        <p:xfrm>
          <a:off x="3124200" y="2601913"/>
          <a:ext cx="2743200" cy="2351087"/>
        </p:xfrm>
        <a:graphic>
          <a:graphicData uri="http://schemas.openxmlformats.org/presentationml/2006/ole">
            <mc:AlternateContent xmlns:mc="http://schemas.openxmlformats.org/markup-compatibility/2006">
              <mc:Choice xmlns:v="urn:schemas-microsoft-com:vml" Requires="v">
                <p:oleObj spid="_x0000_s3079" name="" r:id="rId1" imgW="1155065" imgH="989965" progId="Equation.3">
                  <p:embed/>
                </p:oleObj>
              </mc:Choice>
              <mc:Fallback>
                <p:oleObj name="" r:id="rId1" imgW="1155065" imgH="989965" progId="Equation.3">
                  <p:embed/>
                  <p:pic>
                    <p:nvPicPr>
                      <p:cNvPr id="0" name="图片 3078"/>
                      <p:cNvPicPr/>
                      <p:nvPr/>
                    </p:nvPicPr>
                    <p:blipFill>
                      <a:blip r:embed="rId2"/>
                      <a:stretch>
                        <a:fillRect/>
                      </a:stretch>
                    </p:blipFill>
                    <p:spPr>
                      <a:xfrm>
                        <a:off x="3124200" y="2601913"/>
                        <a:ext cx="2743200" cy="2351087"/>
                      </a:xfrm>
                      <a:prstGeom prst="rect">
                        <a:avLst/>
                      </a:prstGeom>
                      <a:noFill/>
                      <a:ln w="38100">
                        <a:noFill/>
                        <a:miter/>
                      </a:ln>
                    </p:spPr>
                  </p:pic>
                </p:oleObj>
              </mc:Fallback>
            </mc:AlternateContent>
          </a:graphicData>
        </a:graphic>
      </p:graphicFrame>
      <p:sp>
        <p:nvSpPr>
          <p:cNvPr id="41987" name="文本框 38917"/>
          <p:cNvSpPr txBox="1"/>
          <p:nvPr/>
        </p:nvSpPr>
        <p:spPr>
          <a:xfrm>
            <a:off x="6689725" y="2871788"/>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5-18</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41988" name="文本框 38918"/>
          <p:cNvSpPr txBox="1"/>
          <p:nvPr/>
        </p:nvSpPr>
        <p:spPr>
          <a:xfrm>
            <a:off x="6705600" y="4202113"/>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5-19</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文本框 37891"/>
          <p:cNvSpPr txBox="1"/>
          <p:nvPr/>
        </p:nvSpPr>
        <p:spPr>
          <a:xfrm>
            <a:off x="533400" y="685800"/>
            <a:ext cx="8153400" cy="1568450"/>
          </a:xfrm>
          <a:prstGeom prst="rect">
            <a:avLst/>
          </a:prstGeom>
          <a:noFill/>
          <a:ln w="9525">
            <a:noFill/>
          </a:ln>
        </p:spPr>
        <p:txBody>
          <a:bodyPr anchor="t">
            <a:spAutoFit/>
          </a:bodyPr>
          <a:p>
            <a:pPr algn="just">
              <a:spcBef>
                <a:spcPct val="50000"/>
              </a:spcBef>
            </a:pP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 </a:t>
            </a:r>
            <a:r>
              <a:rPr lang="en-US" altLang="zh-CN" b="1" dirty="0">
                <a:latin typeface="Times New Roman" panose="02020603050405020304" pitchFamily="18" charset="0"/>
                <a:ea typeface="宋体" panose="02010600030101010101" pitchFamily="2" charset="-122"/>
              </a:rPr>
              <a:t>5-1</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导出三阶巴特沃思模拟低通滤波器的系统函数，</a:t>
            </a:r>
            <a:endParaRPr lang="zh-CN" altLang="en-US" dirty="0">
              <a:latin typeface="Times New Roman" panose="02020603050405020304" pitchFamily="18" charset="0"/>
              <a:ea typeface="宋体" panose="02010600030101010101" pitchFamily="2" charset="-122"/>
            </a:endParaRPr>
          </a:p>
          <a:p>
            <a:pPr algn="just">
              <a:spcBef>
                <a:spcPct val="50000"/>
              </a:spcBef>
            </a:pPr>
            <a:r>
              <a:rPr lang="zh-CN" altLang="en-US" dirty="0">
                <a:latin typeface="Times New Roman" panose="02020603050405020304" pitchFamily="18" charset="0"/>
                <a:ea typeface="宋体" panose="02010600030101010101" pitchFamily="2" charset="-122"/>
              </a:rPr>
              <a:t> 设</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err="1">
                <a:latin typeface="Times New Roman" panose="02020603050405020304" pitchFamily="18" charset="0"/>
                <a:ea typeface="宋体" panose="02010600030101010101" pitchFamily="2" charset="-122"/>
              </a:rPr>
              <a:t>＝</a:t>
            </a:r>
            <a:r>
              <a:rPr lang="en-US" altLang="zh-CN" err="1">
                <a:latin typeface="Times New Roman" panose="02020603050405020304" pitchFamily="18" charset="0"/>
                <a:ea typeface="宋体" panose="02010600030101010101" pitchFamily="2" charset="-122"/>
              </a:rPr>
              <a:t>2 rad</a:t>
            </a:r>
            <a:r>
              <a:rPr lang="en-US" altLang="zh-CN">
                <a:latin typeface="Times New Roman" panose="02020603050405020304" pitchFamily="18" charset="0"/>
                <a:ea typeface="宋体" panose="02010600030101010101" pitchFamily="2" charset="-122"/>
              </a:rPr>
              <a:t>/s</a:t>
            </a: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a:t>
            </a:r>
            <a:r>
              <a:rPr lang="zh-CN" altLang="en-US">
                <a:solidFill>
                  <a:srgbClr val="FF0000"/>
                </a:solidFill>
                <a:latin typeface="Times New Roman" panose="02020603050405020304" pitchFamily="18" charset="0"/>
                <a:ea typeface="宋体" panose="02010600030101010101" pitchFamily="2" charset="-122"/>
              </a:rPr>
              <a:t>两种方法：</a:t>
            </a:r>
            <a:r>
              <a:rPr lang="zh-CN" altLang="en-US">
                <a:solidFill>
                  <a:srgbClr val="FF0000"/>
                </a:solidFill>
                <a:latin typeface="Calibri" panose="020F0502020204030204" charset="0"/>
                <a:ea typeface="宋体" panose="02010600030101010101" pitchFamily="2" charset="-122"/>
              </a:rPr>
              <a:t>①定义，②归一化函数法</a:t>
            </a:r>
            <a:r>
              <a:rPr lang="en-US" altLang="zh-CN">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a:p>
            <a:pPr>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   幅度平方函数是 </a:t>
            </a:r>
            <a:endParaRPr lang="zh-CN" altLang="en-US">
              <a:latin typeface="Times New Roman" panose="02020603050405020304" pitchFamily="18" charset="0"/>
              <a:ea typeface="宋体" panose="02010600030101010101" pitchFamily="2" charset="-122"/>
            </a:endParaRPr>
          </a:p>
        </p:txBody>
      </p:sp>
      <p:graphicFrame>
        <p:nvGraphicFramePr>
          <p:cNvPr id="43010" name="对象 37892"/>
          <p:cNvGraphicFramePr/>
          <p:nvPr/>
        </p:nvGraphicFramePr>
        <p:xfrm>
          <a:off x="2819400" y="2209800"/>
          <a:ext cx="3079750" cy="900113"/>
        </p:xfrm>
        <a:graphic>
          <a:graphicData uri="http://schemas.openxmlformats.org/presentationml/2006/ole">
            <mc:AlternateContent xmlns:mc="http://schemas.openxmlformats.org/markup-compatibility/2006">
              <mc:Choice xmlns:v="urn:schemas-microsoft-com:vml" Requires="v">
                <p:oleObj spid="_x0000_s3082" name="" r:id="rId1" imgW="1435100" imgH="419100" progId="Equation.3">
                  <p:embed/>
                </p:oleObj>
              </mc:Choice>
              <mc:Fallback>
                <p:oleObj name="" r:id="rId1" imgW="1435100" imgH="419100" progId="Equation.3">
                  <p:embed/>
                  <p:pic>
                    <p:nvPicPr>
                      <p:cNvPr id="0" name="图片 3081"/>
                      <p:cNvPicPr/>
                      <p:nvPr/>
                    </p:nvPicPr>
                    <p:blipFill>
                      <a:blip r:embed="rId2"/>
                      <a:stretch>
                        <a:fillRect/>
                      </a:stretch>
                    </p:blipFill>
                    <p:spPr>
                      <a:xfrm>
                        <a:off x="2819400" y="2209800"/>
                        <a:ext cx="3079750" cy="900113"/>
                      </a:xfrm>
                      <a:prstGeom prst="rect">
                        <a:avLst/>
                      </a:prstGeom>
                      <a:solidFill>
                        <a:schemeClr val="accent1"/>
                      </a:solidFill>
                      <a:ln w="38100">
                        <a:noFill/>
                        <a:miter/>
                      </a:ln>
                    </p:spPr>
                  </p:pic>
                </p:oleObj>
              </mc:Fallback>
            </mc:AlternateContent>
          </a:graphicData>
        </a:graphic>
      </p:graphicFrame>
      <p:sp>
        <p:nvSpPr>
          <p:cNvPr id="43011" name="文本框 37893"/>
          <p:cNvSpPr txBox="1"/>
          <p:nvPr/>
        </p:nvSpPr>
        <p:spPr>
          <a:xfrm>
            <a:off x="573088" y="3200400"/>
            <a:ext cx="3363912" cy="457200"/>
          </a:xfrm>
          <a:prstGeom prst="rect">
            <a:avLst/>
          </a:prstGeom>
          <a:noFill/>
          <a:ln w="9525">
            <a:noFill/>
          </a:ln>
        </p:spPr>
        <p:txBody>
          <a:bodyPr wrap="none" anchor="t">
            <a:spAutoFit/>
          </a:bodyPr>
          <a:p>
            <a:r>
              <a:rPr lang="zh-CN" altLang="en-US">
                <a:latin typeface="Times New Roman" panose="02020603050405020304" pitchFamily="18" charset="0"/>
                <a:ea typeface="宋体" panose="02010600030101010101" pitchFamily="2" charset="-122"/>
              </a:rPr>
              <a:t>令</a:t>
            </a:r>
            <a:r>
              <a:rPr lang="en-US" altLang="zh-CN" i="1">
                <a:latin typeface="Times New Roman" panose="02020603050405020304" pitchFamily="18" charset="0"/>
                <a:ea typeface="宋体" panose="02010600030101010101" pitchFamily="2" charset="-122"/>
              </a:rPr>
              <a:t>Ω</a:t>
            </a:r>
            <a:r>
              <a:rPr lang="en-US" altLang="zh-CN" baseline="30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baseline="30000">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即</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=jΩ</a:t>
            </a:r>
            <a:r>
              <a:rPr lang="zh-CN" altLang="en-US" dirty="0">
                <a:latin typeface="Times New Roman" panose="02020603050405020304" pitchFamily="18" charset="0"/>
                <a:ea typeface="宋体" panose="02010600030101010101" pitchFamily="2" charset="-122"/>
              </a:rPr>
              <a:t>，则有 </a:t>
            </a:r>
            <a:endParaRPr lang="zh-CN" altLang="en-US">
              <a:latin typeface="Times New Roman" panose="02020603050405020304" pitchFamily="18" charset="0"/>
              <a:ea typeface="宋体" panose="02010600030101010101" pitchFamily="2" charset="-122"/>
            </a:endParaRPr>
          </a:p>
        </p:txBody>
      </p:sp>
      <p:graphicFrame>
        <p:nvGraphicFramePr>
          <p:cNvPr id="43012" name="对象 37894"/>
          <p:cNvGraphicFramePr/>
          <p:nvPr/>
        </p:nvGraphicFramePr>
        <p:xfrm>
          <a:off x="2555875" y="3695700"/>
          <a:ext cx="3652838" cy="900113"/>
        </p:xfrm>
        <a:graphic>
          <a:graphicData uri="http://schemas.openxmlformats.org/presentationml/2006/ole">
            <mc:AlternateContent xmlns:mc="http://schemas.openxmlformats.org/markup-compatibility/2006">
              <mc:Choice xmlns:v="urn:schemas-microsoft-com:vml" Requires="v">
                <p:oleObj spid="_x0000_s3081" name="" r:id="rId3" imgW="1701800" imgH="419100" progId="Equation.3">
                  <p:embed/>
                </p:oleObj>
              </mc:Choice>
              <mc:Fallback>
                <p:oleObj name="" r:id="rId3" imgW="1701800" imgH="419100" progId="Equation.3">
                  <p:embed/>
                  <p:pic>
                    <p:nvPicPr>
                      <p:cNvPr id="0" name="图片 3080"/>
                      <p:cNvPicPr/>
                      <p:nvPr/>
                    </p:nvPicPr>
                    <p:blipFill>
                      <a:blip r:embed="rId4"/>
                      <a:stretch>
                        <a:fillRect/>
                      </a:stretch>
                    </p:blipFill>
                    <p:spPr>
                      <a:xfrm>
                        <a:off x="2555875" y="3695700"/>
                        <a:ext cx="3652838" cy="900113"/>
                      </a:xfrm>
                      <a:prstGeom prst="rect">
                        <a:avLst/>
                      </a:prstGeom>
                      <a:solidFill>
                        <a:schemeClr val="accent1"/>
                      </a:solidFill>
                      <a:ln w="38100">
                        <a:noFill/>
                        <a:miter/>
                      </a:ln>
                    </p:spPr>
                  </p:pic>
                </p:oleObj>
              </mc:Fallback>
            </mc:AlternateContent>
          </a:graphicData>
        </a:graphic>
      </p:graphicFrame>
      <p:sp>
        <p:nvSpPr>
          <p:cNvPr id="43013" name="文本框 37895"/>
          <p:cNvSpPr txBox="1"/>
          <p:nvPr/>
        </p:nvSpPr>
        <p:spPr>
          <a:xfrm>
            <a:off x="573405" y="4660265"/>
            <a:ext cx="3257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各极点满足式（</a:t>
            </a:r>
            <a:r>
              <a:rPr lang="en-US" altLang="zh-CN" dirty="0">
                <a:latin typeface="Times New Roman" panose="02020603050405020304" pitchFamily="18" charset="0"/>
                <a:ea typeface="宋体" panose="02010600030101010101" pitchFamily="2" charset="-122"/>
              </a:rPr>
              <a:t>5-10</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41990" name="对象 37896"/>
          <p:cNvGraphicFramePr/>
          <p:nvPr/>
        </p:nvGraphicFramePr>
        <p:xfrm>
          <a:off x="2700020" y="5267325"/>
          <a:ext cx="2819400" cy="1047750"/>
        </p:xfrm>
        <a:graphic>
          <a:graphicData uri="http://schemas.openxmlformats.org/presentationml/2006/ole">
            <mc:AlternateContent xmlns:mc="http://schemas.openxmlformats.org/markup-compatibility/2006">
              <mc:Choice xmlns:v="urn:schemas-microsoft-com:vml" Requires="v">
                <p:oleObj spid="_x0000_s3080" name="" r:id="rId5" imgW="989965" imgH="368300" progId="Equation.3">
                  <p:embed/>
                </p:oleObj>
              </mc:Choice>
              <mc:Fallback>
                <p:oleObj name="" r:id="rId5" imgW="989965" imgH="368300" progId="Equation.3">
                  <p:embed/>
                  <p:pic>
                    <p:nvPicPr>
                      <p:cNvPr id="0" name="图片 3079"/>
                      <p:cNvPicPr/>
                      <p:nvPr/>
                    </p:nvPicPr>
                    <p:blipFill>
                      <a:blip r:embed="rId6"/>
                      <a:stretch>
                        <a:fillRect/>
                      </a:stretch>
                    </p:blipFill>
                    <p:spPr>
                      <a:xfrm>
                        <a:off x="2700020" y="5267325"/>
                        <a:ext cx="2819400" cy="1047750"/>
                      </a:xfrm>
                      <a:prstGeom prst="rect">
                        <a:avLst/>
                      </a:prstGeom>
                      <a:solidFill>
                        <a:schemeClr val="accent1"/>
                      </a:solidFill>
                      <a:ln w="38100">
                        <a:noFill/>
                        <a:miter/>
                      </a:ln>
                    </p:spPr>
                  </p:pic>
                </p:oleObj>
              </mc:Fallback>
            </mc:AlternateContent>
          </a:graphicData>
        </a:graphic>
      </p:graphicFrame>
      <p:sp>
        <p:nvSpPr>
          <p:cNvPr id="43015" name="文本框 37897"/>
          <p:cNvSpPr txBox="1"/>
          <p:nvPr/>
        </p:nvSpPr>
        <p:spPr>
          <a:xfrm>
            <a:off x="6660515" y="5661025"/>
            <a:ext cx="1785938" cy="457200"/>
          </a:xfrm>
          <a:prstGeom prst="rect">
            <a:avLst/>
          </a:prstGeom>
          <a:solidFill>
            <a:schemeClr val="accent1"/>
          </a:solidFill>
          <a:ln w="9525">
            <a:noFill/>
          </a:ln>
        </p:spPr>
        <p:txBody>
          <a:bodyPr wrap="none" anchor="t">
            <a:spAutoFit/>
          </a:bodyPr>
          <a:p>
            <a:r>
              <a:rPr lang="en-US" altLang="zh-CN" i="1">
                <a:latin typeface="Times New Roman" panose="02020603050405020304" pitchFamily="18" charset="0"/>
                <a:ea typeface="宋体" panose="02010600030101010101" pitchFamily="2" charset="-122"/>
              </a:rPr>
              <a:t>k</a:t>
            </a:r>
            <a:r>
              <a:rPr lang="en-US" altLang="zh-CN">
                <a:latin typeface="Times New Roman" panose="02020603050405020304" pitchFamily="18" charset="0"/>
                <a:ea typeface="宋体" panose="02010600030101010101" pitchFamily="2" charset="-122"/>
              </a:rPr>
              <a:t>=1, 2, …, 6 </a:t>
            </a:r>
            <a:endParaRPr lang="en-US" altLang="zh-CN">
              <a:latin typeface="Times New Roman" panose="02020603050405020304" pitchFamily="18" charset="0"/>
              <a:ea typeface="宋体" panose="02010600030101010101" pitchFamily="2" charset="-122"/>
            </a:endParaRPr>
          </a:p>
        </p:txBody>
      </p:sp>
      <p:sp>
        <p:nvSpPr>
          <p:cNvPr id="2" name="十字星 1"/>
          <p:cNvSpPr/>
          <p:nvPr/>
        </p:nvSpPr>
        <p:spPr>
          <a:xfrm>
            <a:off x="201613" y="584200"/>
            <a:ext cx="576263" cy="647700"/>
          </a:xfrm>
          <a:prstGeom prst="star4">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990"/>
                                        </p:tgtEl>
                                        <p:attrNameLst>
                                          <p:attrName>style.visibility</p:attrName>
                                        </p:attrNameLst>
                                      </p:cBhvr>
                                      <p:to>
                                        <p:strVal val="visible"/>
                                      </p:to>
                                    </p:set>
                                    <p:anim calcmode="lin" valueType="num">
                                      <p:cBhvr additive="base">
                                        <p:cTn id="7" dur="500" fill="hold"/>
                                        <p:tgtEl>
                                          <p:spTgt spid="41990"/>
                                        </p:tgtEl>
                                        <p:attrNameLst>
                                          <p:attrName>ppt_x</p:attrName>
                                        </p:attrNameLst>
                                      </p:cBhvr>
                                      <p:tavLst>
                                        <p:tav tm="0">
                                          <p:val>
                                            <p:strVal val="#ppt_x"/>
                                          </p:val>
                                        </p:tav>
                                        <p:tav tm="100000">
                                          <p:val>
                                            <p:strVal val="#ppt_x"/>
                                          </p:val>
                                        </p:tav>
                                      </p:tavLst>
                                    </p:anim>
                                    <p:anim calcmode="lin" valueType="num">
                                      <p:cBhvr additive="base">
                                        <p:cTn id="8" dur="500" fill="hold"/>
                                        <p:tgtEl>
                                          <p:spTgt spid="419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文本框 40963"/>
          <p:cNvSpPr txBox="1"/>
          <p:nvPr/>
        </p:nvSpPr>
        <p:spPr>
          <a:xfrm>
            <a:off x="179388" y="333375"/>
            <a:ext cx="8763000" cy="10985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而按式（</a:t>
            </a:r>
            <a:r>
              <a:rPr lang="en-US" altLang="zh-CN" dirty="0">
                <a:latin typeface="Times New Roman" panose="02020603050405020304" pitchFamily="18" charset="0"/>
                <a:ea typeface="宋体" panose="02010600030101010101" pitchFamily="2" charset="-122"/>
              </a:rPr>
              <a:t>5-12</a:t>
            </a:r>
            <a:r>
              <a:rPr lang="zh-CN" altLang="en-US" dirty="0">
                <a:latin typeface="Times New Roman" panose="02020603050405020304" pitchFamily="18" charset="0"/>
                <a:ea typeface="宋体" panose="02010600030101010101" pitchFamily="2" charset="-122"/>
              </a:rPr>
              <a:t>），前面三个</a:t>
            </a:r>
            <a:r>
              <a:rPr lang="en-US" altLang="zh-CN" i="1" dirty="0" err="1">
                <a:latin typeface="Times New Roman" panose="02020603050405020304" pitchFamily="18" charset="0"/>
                <a:ea typeface="宋体" panose="02010600030101010101" pitchFamily="2" charset="-122"/>
              </a:rPr>
              <a:t>s</a:t>
            </a:r>
            <a:r>
              <a:rPr lang="en-US" altLang="zh-CN" i="1" baseline="-25000" dirty="0" err="1">
                <a:latin typeface="Times New Roman" panose="02020603050405020304" pitchFamily="18" charset="0"/>
                <a:ea typeface="宋体" panose="02010600030101010101" pitchFamily="2" charset="-122"/>
              </a:rPr>
              <a:t>k</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k</a:t>
            </a:r>
            <a:r>
              <a:rPr lang="en-US" altLang="zh-CN" dirty="0">
                <a:latin typeface="Times New Roman" panose="02020603050405020304" pitchFamily="18" charset="0"/>
                <a:ea typeface="宋体" panose="02010600030101010101" pitchFamily="2" charset="-122"/>
              </a:rPr>
              <a:t>=1, 2, 3</a:t>
            </a:r>
            <a:r>
              <a:rPr lang="zh-CN" altLang="en-US" dirty="0">
                <a:latin typeface="Times New Roman" panose="02020603050405020304" pitchFamily="18" charset="0"/>
                <a:ea typeface="宋体" panose="02010600030101010101" pitchFamily="2" charset="-122"/>
              </a:rPr>
              <a:t>）就是</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的极点。 所</a:t>
            </a:r>
            <a:r>
              <a:rPr lang="zh-CN" altLang="en-US" dirty="0">
                <a:latin typeface="Times New Roman" panose="02020603050405020304" pitchFamily="18" charset="0"/>
                <a:ea typeface="宋体" panose="02010600030101010101" pitchFamily="2" charset="-122"/>
              </a:rPr>
              <a:t>给出的六个</a:t>
            </a:r>
            <a:r>
              <a:rPr lang="en-US" altLang="zh-CN" i="1" dirty="0" err="1">
                <a:latin typeface="Times New Roman" panose="02020603050405020304" pitchFamily="18" charset="0"/>
                <a:ea typeface="宋体" panose="02010600030101010101" pitchFamily="2" charset="-122"/>
              </a:rPr>
              <a:t>s</a:t>
            </a:r>
            <a:r>
              <a:rPr lang="en-US" altLang="zh-CN" i="1" baseline="-25000" dirty="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为</a:t>
            </a:r>
            <a:r>
              <a:rPr lang="en-US" altLang="zh-CN" dirty="0">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44034" name="对象 40964"/>
          <p:cNvGraphicFramePr/>
          <p:nvPr/>
        </p:nvGraphicFramePr>
        <p:xfrm>
          <a:off x="684213" y="1268413"/>
          <a:ext cx="2989262" cy="5029200"/>
        </p:xfrm>
        <a:graphic>
          <a:graphicData uri="http://schemas.openxmlformats.org/presentationml/2006/ole">
            <mc:AlternateContent xmlns:mc="http://schemas.openxmlformats.org/markup-compatibility/2006">
              <mc:Choice xmlns:v="urn:schemas-microsoft-com:vml" Requires="v">
                <p:oleObj spid="_x0000_s3076" name="" r:id="rId1" imgW="1358900" imgH="2286000" progId="Equation.3">
                  <p:embed/>
                </p:oleObj>
              </mc:Choice>
              <mc:Fallback>
                <p:oleObj name="" r:id="rId1" imgW="1358900" imgH="2286000" progId="Equation.3">
                  <p:embed/>
                  <p:pic>
                    <p:nvPicPr>
                      <p:cNvPr id="0" name="图片 3075"/>
                      <p:cNvPicPr/>
                      <p:nvPr/>
                    </p:nvPicPr>
                    <p:blipFill>
                      <a:blip r:embed="rId2"/>
                      <a:stretch>
                        <a:fillRect/>
                      </a:stretch>
                    </p:blipFill>
                    <p:spPr>
                      <a:xfrm>
                        <a:off x="684213" y="1268413"/>
                        <a:ext cx="2989262" cy="5029200"/>
                      </a:xfrm>
                      <a:prstGeom prst="rect">
                        <a:avLst/>
                      </a:prstGeom>
                      <a:noFill/>
                      <a:ln w="38100">
                        <a:noFill/>
                        <a:miter/>
                      </a:ln>
                    </p:spPr>
                  </p:pic>
                </p:oleObj>
              </mc:Fallback>
            </mc:AlternateContent>
          </a:graphicData>
        </a:graphic>
      </p:graphicFrame>
      <p:sp>
        <p:nvSpPr>
          <p:cNvPr id="44035" name="文本框 40965"/>
          <p:cNvSpPr txBox="1"/>
          <p:nvPr/>
        </p:nvSpPr>
        <p:spPr>
          <a:xfrm>
            <a:off x="4572000" y="2205038"/>
            <a:ext cx="3140075" cy="1098550"/>
          </a:xfrm>
          <a:prstGeom prst="rect">
            <a:avLst/>
          </a:prstGeom>
          <a:noFill/>
          <a:ln w="9525">
            <a:noFill/>
          </a:ln>
        </p:spPr>
        <p:txBody>
          <a:bodyPr anchor="t">
            <a:spAutoFit/>
          </a:bodyPr>
          <a:p>
            <a:pPr>
              <a:lnSpc>
                <a:spcPct val="138000"/>
              </a:lnSpc>
            </a:pPr>
            <a:r>
              <a:rPr lang="zh-CN" altLang="en-US">
                <a:latin typeface="Times New Roman" panose="02020603050405020304" pitchFamily="18" charset="0"/>
                <a:ea typeface="宋体" panose="02010600030101010101" pitchFamily="2" charset="-122"/>
              </a:rPr>
              <a:t>由</a:t>
            </a: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三个极点构成的系统函数为 </a:t>
            </a:r>
            <a:endParaRPr lang="zh-CN" altLang="en-US">
              <a:latin typeface="Times New Roman" panose="02020603050405020304" pitchFamily="18" charset="0"/>
              <a:ea typeface="宋体" panose="02010600030101010101" pitchFamily="2" charset="-122"/>
            </a:endParaRPr>
          </a:p>
        </p:txBody>
      </p:sp>
      <p:graphicFrame>
        <p:nvGraphicFramePr>
          <p:cNvPr id="44036" name="对象 40966"/>
          <p:cNvGraphicFramePr/>
          <p:nvPr/>
        </p:nvGraphicFramePr>
        <p:xfrm>
          <a:off x="4454525" y="3727450"/>
          <a:ext cx="3978275" cy="1849438"/>
        </p:xfrm>
        <a:graphic>
          <a:graphicData uri="http://schemas.openxmlformats.org/presentationml/2006/ole">
            <mc:AlternateContent xmlns:mc="http://schemas.openxmlformats.org/markup-compatibility/2006">
              <mc:Choice xmlns:v="urn:schemas-microsoft-com:vml" Requires="v">
                <p:oleObj spid="_x0000_s3088" name="" r:id="rId3" imgW="1854200" imgH="862965" progId="Equation.3">
                  <p:embed/>
                </p:oleObj>
              </mc:Choice>
              <mc:Fallback>
                <p:oleObj name="" r:id="rId3" imgW="1854200" imgH="862965" progId="Equation.3">
                  <p:embed/>
                  <p:pic>
                    <p:nvPicPr>
                      <p:cNvPr id="0" name="图片 3087"/>
                      <p:cNvPicPr/>
                      <p:nvPr/>
                    </p:nvPicPr>
                    <p:blipFill>
                      <a:blip r:embed="rId4"/>
                      <a:stretch>
                        <a:fillRect/>
                      </a:stretch>
                    </p:blipFill>
                    <p:spPr>
                      <a:xfrm>
                        <a:off x="4454525" y="3727450"/>
                        <a:ext cx="3978275" cy="1849438"/>
                      </a:xfrm>
                      <a:prstGeom prst="rect">
                        <a:avLst/>
                      </a:prstGeom>
                      <a:noFill/>
                      <a:ln w="38100">
                        <a:noFill/>
                        <a:miter/>
                      </a:ln>
                    </p:spPr>
                  </p:pic>
                </p:oleObj>
              </mc:Fallback>
            </mc:AlternateContent>
          </a:graphicData>
        </a:graphic>
      </p:graphicFrame>
      <p:sp>
        <p:nvSpPr>
          <p:cNvPr id="2" name="心形 1"/>
          <p:cNvSpPr/>
          <p:nvPr/>
        </p:nvSpPr>
        <p:spPr>
          <a:xfrm>
            <a:off x="3808413" y="1581150"/>
            <a:ext cx="217488" cy="360363"/>
          </a:xfrm>
          <a:prstGeom prst="hear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 name="心形 2"/>
          <p:cNvSpPr/>
          <p:nvPr/>
        </p:nvSpPr>
        <p:spPr>
          <a:xfrm>
            <a:off x="2965450" y="2316163"/>
            <a:ext cx="217488" cy="360363"/>
          </a:xfrm>
          <a:prstGeom prst="hear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4" name="心形 3"/>
          <p:cNvSpPr/>
          <p:nvPr/>
        </p:nvSpPr>
        <p:spPr>
          <a:xfrm>
            <a:off x="3889375" y="3248025"/>
            <a:ext cx="215900" cy="360363"/>
          </a:xfrm>
          <a:prstGeom prst="hear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graphicFrame>
        <p:nvGraphicFramePr>
          <p:cNvPr id="8" name="对象 38916"/>
          <p:cNvGraphicFramePr/>
          <p:nvPr/>
        </p:nvGraphicFramePr>
        <p:xfrm>
          <a:off x="5391150" y="868363"/>
          <a:ext cx="3741738" cy="935037"/>
        </p:xfrm>
        <a:graphic>
          <a:graphicData uri="http://schemas.openxmlformats.org/presentationml/2006/ole">
            <mc:AlternateContent xmlns:mc="http://schemas.openxmlformats.org/markup-compatibility/2006">
              <mc:Choice xmlns:v="urn:schemas-microsoft-com:vml" Requires="v">
                <p:oleObj spid="_x0000_s3087" name="" r:id="rId5" imgW="1574800" imgH="393700" progId="Equation.3">
                  <p:embed/>
                </p:oleObj>
              </mc:Choice>
              <mc:Fallback>
                <p:oleObj name="" r:id="rId5" imgW="1574800" imgH="393700" progId="Equation.3">
                  <p:embed/>
                  <p:pic>
                    <p:nvPicPr>
                      <p:cNvPr id="0" name="图片 3086"/>
                      <p:cNvPicPr/>
                      <p:nvPr/>
                    </p:nvPicPr>
                    <p:blipFill>
                      <a:blip r:embed="rId6"/>
                      <a:stretch>
                        <a:fillRect/>
                      </a:stretch>
                    </p:blipFill>
                    <p:spPr>
                      <a:xfrm>
                        <a:off x="5391150" y="868363"/>
                        <a:ext cx="3741738" cy="935037"/>
                      </a:xfrm>
                      <a:prstGeom prst="rect">
                        <a:avLst/>
                      </a:prstGeom>
                      <a:solidFill>
                        <a:schemeClr val="accent1"/>
                      </a:solidFill>
                      <a:ln w="38100">
                        <a:noFill/>
                        <a:miter/>
                      </a:ln>
                    </p:spPr>
                  </p:pic>
                </p:oleObj>
              </mc:Fallback>
            </mc:AlternateContent>
          </a:graphicData>
        </a:graphic>
      </p:graphicFrame>
      <p:graphicFrame>
        <p:nvGraphicFramePr>
          <p:cNvPr id="40962" name="对象 38916"/>
          <p:cNvGraphicFramePr/>
          <p:nvPr/>
        </p:nvGraphicFramePr>
        <p:xfrm>
          <a:off x="7323138" y="1941513"/>
          <a:ext cx="1809750" cy="1025525"/>
        </p:xfrm>
        <a:graphic>
          <a:graphicData uri="http://schemas.openxmlformats.org/presentationml/2006/ole">
            <mc:AlternateContent xmlns:mc="http://schemas.openxmlformats.org/markup-compatibility/2006">
              <mc:Choice xmlns:v="urn:schemas-microsoft-com:vml" Requires="v">
                <p:oleObj spid="_x0000_s3090" name="" r:id="rId7" imgW="762000" imgH="431800" progId="Equation.3">
                  <p:embed/>
                </p:oleObj>
              </mc:Choice>
              <mc:Fallback>
                <p:oleObj name="" r:id="rId7" imgW="762000" imgH="431800" progId="Equation.3">
                  <p:embed/>
                  <p:pic>
                    <p:nvPicPr>
                      <p:cNvPr id="0" name="图片 3089"/>
                      <p:cNvPicPr/>
                      <p:nvPr/>
                    </p:nvPicPr>
                    <p:blipFill>
                      <a:blip r:embed="rId8"/>
                      <a:stretch>
                        <a:fillRect/>
                      </a:stretch>
                    </p:blipFill>
                    <p:spPr>
                      <a:xfrm>
                        <a:off x="7323138" y="1941513"/>
                        <a:ext cx="1809750" cy="1025525"/>
                      </a:xfrm>
                      <a:prstGeom prst="rect">
                        <a:avLst/>
                      </a:prstGeom>
                      <a:solidFill>
                        <a:schemeClr val="accent1"/>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0962"/>
                                        </p:tgtEl>
                                        <p:attrNameLst>
                                          <p:attrName>style.visibility</p:attrName>
                                        </p:attrNameLst>
                                      </p:cBhvr>
                                      <p:to>
                                        <p:strVal val="visible"/>
                                      </p:to>
                                    </p:set>
                                    <p:anim calcmode="lin" valueType="num">
                                      <p:cBhvr additive="base">
                                        <p:cTn id="29" dur="500" fill="hold"/>
                                        <p:tgtEl>
                                          <p:spTgt spid="40962"/>
                                        </p:tgtEl>
                                        <p:attrNameLst>
                                          <p:attrName>ppt_x</p:attrName>
                                        </p:attrNameLst>
                                      </p:cBhvr>
                                      <p:tavLst>
                                        <p:tav tm="0">
                                          <p:val>
                                            <p:strVal val="#ppt_x"/>
                                          </p:val>
                                        </p:tav>
                                        <p:tav tm="100000">
                                          <p:val>
                                            <p:strVal val="#ppt_x"/>
                                          </p:val>
                                        </p:tav>
                                      </p:tavLst>
                                    </p:anim>
                                    <p:anim calcmode="lin" valueType="num">
                                      <p:cBhvr additive="base">
                                        <p:cTn id="30" dur="500" fill="hold"/>
                                        <p:tgtEl>
                                          <p:spTgt spid="409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文本框 39939"/>
          <p:cNvSpPr txBox="1"/>
          <p:nvPr/>
        </p:nvSpPr>
        <p:spPr>
          <a:xfrm>
            <a:off x="304800" y="738188"/>
            <a:ext cx="8763000" cy="2538412"/>
          </a:xfrm>
          <a:prstGeom prst="rect">
            <a:avLst/>
          </a:prstGeom>
          <a:noFill/>
          <a:ln w="9525">
            <a:noFill/>
          </a:ln>
        </p:spPr>
        <p:txBody>
          <a:bodyPr anchor="t">
            <a:spAutoFit/>
          </a:bodyPr>
          <a:p>
            <a:pPr algn="just">
              <a:lnSpc>
                <a:spcPct val="13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 </a:t>
            </a:r>
            <a:r>
              <a:rPr lang="en-US" altLang="zh-CN" b="1" dirty="0">
                <a:latin typeface="Times New Roman" panose="02020603050405020304" pitchFamily="18" charset="0"/>
                <a:ea typeface="宋体" panose="02010600030101010101" pitchFamily="2" charset="-122"/>
              </a:rPr>
              <a:t>5-2</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设计一个满足下面要求的模拟低通巴特沃思滤波器： </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通带截止频率：</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p</a:t>
            </a:r>
            <a:r>
              <a:rPr lang="en-US" altLang="zh-CN" dirty="0">
                <a:latin typeface="Times New Roman" panose="02020603050405020304" pitchFamily="18" charset="0"/>
                <a:ea typeface="宋体" panose="02010600030101010101" pitchFamily="2" charset="-122"/>
              </a:rPr>
              <a:t>=0.2π</a:t>
            </a:r>
            <a:r>
              <a:rPr lang="zh-CN" altLang="en-US" dirty="0">
                <a:latin typeface="Times New Roman" panose="02020603050405020304" pitchFamily="18" charset="0"/>
                <a:ea typeface="宋体" panose="02010600030101010101" pitchFamily="2" charset="-122"/>
              </a:rPr>
              <a:t>；通带最大衰减：</a:t>
            </a:r>
            <a:r>
              <a:rPr lang="en-US" altLang="zh-CN" i="1" dirty="0" err="1">
                <a:latin typeface="Times New Roman" panose="02020603050405020304" pitchFamily="18" charset="0"/>
                <a:ea typeface="宋体" panose="02010600030101010101" pitchFamily="2" charset="-122"/>
              </a:rPr>
              <a:t>A</a:t>
            </a:r>
            <a:r>
              <a:rPr lang="en-US" altLang="zh-CN" baseline="-25000" dirty="0" err="1">
                <a:latin typeface="Times New Roman" panose="02020603050405020304" pitchFamily="18" charset="0"/>
                <a:ea typeface="宋体" panose="02010600030101010101" pitchFamily="2" charset="-122"/>
              </a:rPr>
              <a:t>p</a:t>
            </a:r>
            <a:r>
              <a:rPr lang="en-US" altLang="zh-CN">
                <a:latin typeface="Times New Roman" panose="02020603050405020304" pitchFamily="18" charset="0"/>
                <a:ea typeface="宋体" panose="02010600030101010101" pitchFamily="2" charset="-122"/>
              </a:rPr>
              <a:t>=7 dB</a:t>
            </a:r>
            <a:r>
              <a:rPr lang="zh-CN" altLang="en-US">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 </a:t>
            </a:r>
            <a:r>
              <a:rPr lang="zh-CN" altLang="en-US" dirty="0">
                <a:latin typeface="Times New Roman" panose="02020603050405020304" pitchFamily="18" charset="0"/>
                <a:ea typeface="宋体" panose="02010600030101010101" pitchFamily="2" charset="-122"/>
              </a:rPr>
              <a:t>阻带截止频率：</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=0.3π</a:t>
            </a:r>
            <a:r>
              <a:rPr lang="zh-CN" altLang="en-US" dirty="0">
                <a:latin typeface="Times New Roman" panose="02020603050405020304" pitchFamily="18" charset="0"/>
                <a:ea typeface="宋体" panose="02010600030101010101" pitchFamily="2" charset="-122"/>
              </a:rPr>
              <a:t>；阻带最小衰减：</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=16dB</a:t>
            </a:r>
            <a:r>
              <a:rPr lang="zh-CN" altLang="en-US">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 由式（</a:t>
            </a:r>
            <a:r>
              <a:rPr lang="en-US" altLang="zh-CN" dirty="0">
                <a:latin typeface="Times New Roman" panose="02020603050405020304" pitchFamily="18" charset="0"/>
                <a:ea typeface="宋体" panose="02010600030101010101" pitchFamily="2" charset="-122"/>
              </a:rPr>
              <a:t>5-15</a:t>
            </a:r>
            <a:r>
              <a:rPr lang="en-US" altLang="zh-CN" i="1">
                <a:latin typeface="Times New Roman" panose="02020603050405020304" pitchFamily="18" charset="0"/>
                <a:ea typeface="宋体" panose="02010600030101010101" pitchFamily="2" charset="-122"/>
              </a:rPr>
              <a:t>b</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44034" name="对象 39940"/>
          <p:cNvGraphicFramePr/>
          <p:nvPr/>
        </p:nvGraphicFramePr>
        <p:xfrm>
          <a:off x="41275" y="3429000"/>
          <a:ext cx="9026525" cy="1143000"/>
        </p:xfrm>
        <a:graphic>
          <a:graphicData uri="http://schemas.openxmlformats.org/presentationml/2006/ole">
            <mc:AlternateContent xmlns:mc="http://schemas.openxmlformats.org/markup-compatibility/2006">
              <mc:Choice xmlns:v="urn:schemas-microsoft-com:vml" Requires="v">
                <p:oleObj spid="_x0000_s3091" name="" r:id="rId1" imgW="4495800" imgH="508000" progId="Equation.3">
                  <p:embed/>
                </p:oleObj>
              </mc:Choice>
              <mc:Fallback>
                <p:oleObj name="" r:id="rId1" imgW="4495800" imgH="508000" progId="Equation.3">
                  <p:embed/>
                  <p:pic>
                    <p:nvPicPr>
                      <p:cNvPr id="0" name="图片 3090"/>
                      <p:cNvPicPr/>
                      <p:nvPr/>
                    </p:nvPicPr>
                    <p:blipFill>
                      <a:blip r:embed="rId2"/>
                      <a:stretch>
                        <a:fillRect/>
                      </a:stretch>
                    </p:blipFill>
                    <p:spPr>
                      <a:xfrm>
                        <a:off x="41275" y="3429000"/>
                        <a:ext cx="9026525" cy="1143000"/>
                      </a:xfrm>
                      <a:prstGeom prst="rect">
                        <a:avLst/>
                      </a:prstGeom>
                      <a:solidFill>
                        <a:schemeClr val="accent1"/>
                      </a:solidFill>
                      <a:ln w="38100">
                        <a:noFill/>
                        <a:miter/>
                      </a:ln>
                    </p:spPr>
                  </p:pic>
                </p:oleObj>
              </mc:Fallback>
            </mc:AlternateContent>
          </a:graphicData>
        </a:graphic>
      </p:graphicFrame>
      <p:sp>
        <p:nvSpPr>
          <p:cNvPr id="45059" name="文本框 39941"/>
          <p:cNvSpPr txBox="1"/>
          <p:nvPr/>
        </p:nvSpPr>
        <p:spPr>
          <a:xfrm>
            <a:off x="212725" y="4572000"/>
            <a:ext cx="6407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为了准确在</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满足指标要求，由式（</a:t>
            </a:r>
            <a:r>
              <a:rPr lang="en-US" altLang="zh-CN" dirty="0">
                <a:latin typeface="Times New Roman" panose="02020603050405020304" pitchFamily="18" charset="0"/>
                <a:ea typeface="宋体" panose="02010600030101010101" pitchFamily="2" charset="-122"/>
              </a:rPr>
              <a:t>5-16</a:t>
            </a:r>
            <a:r>
              <a:rPr lang="zh-CN" altLang="en-US" dirty="0">
                <a:latin typeface="Times New Roman" panose="02020603050405020304" pitchFamily="18" charset="0"/>
                <a:ea typeface="宋体" panose="02010600030101010101" pitchFamily="2" charset="-122"/>
              </a:rPr>
              <a:t>）得 </a:t>
            </a:r>
            <a:endParaRPr lang="zh-CN" altLang="en-US">
              <a:latin typeface="Times New Roman" panose="02020603050405020304" pitchFamily="18" charset="0"/>
              <a:ea typeface="宋体" panose="02010600030101010101" pitchFamily="2" charset="-122"/>
            </a:endParaRPr>
          </a:p>
        </p:txBody>
      </p:sp>
      <p:graphicFrame>
        <p:nvGraphicFramePr>
          <p:cNvPr id="44036" name="对象 39942"/>
          <p:cNvGraphicFramePr/>
          <p:nvPr/>
        </p:nvGraphicFramePr>
        <p:xfrm>
          <a:off x="1738313" y="5084763"/>
          <a:ext cx="5667375" cy="1182687"/>
        </p:xfrm>
        <a:graphic>
          <a:graphicData uri="http://schemas.openxmlformats.org/presentationml/2006/ole">
            <mc:AlternateContent xmlns:mc="http://schemas.openxmlformats.org/markup-compatibility/2006">
              <mc:Choice xmlns:v="urn:schemas-microsoft-com:vml" Requires="v">
                <p:oleObj spid="_x0000_s3086" name="" r:id="rId3" imgW="2311400" imgH="482600" progId="Equation.3">
                  <p:embed/>
                </p:oleObj>
              </mc:Choice>
              <mc:Fallback>
                <p:oleObj name="" r:id="rId3" imgW="2311400" imgH="482600" progId="Equation.3">
                  <p:embed/>
                  <p:pic>
                    <p:nvPicPr>
                      <p:cNvPr id="0" name="图片 3085"/>
                      <p:cNvPicPr/>
                      <p:nvPr/>
                    </p:nvPicPr>
                    <p:blipFill>
                      <a:blip r:embed="rId4"/>
                      <a:stretch>
                        <a:fillRect/>
                      </a:stretch>
                    </p:blipFill>
                    <p:spPr>
                      <a:xfrm>
                        <a:off x="1738313" y="5084763"/>
                        <a:ext cx="5667375" cy="1182687"/>
                      </a:xfrm>
                      <a:prstGeom prst="rect">
                        <a:avLst/>
                      </a:prstGeom>
                      <a:solidFill>
                        <a:schemeClr val="accent1"/>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034"/>
                                        </p:tgtEl>
                                        <p:attrNameLst>
                                          <p:attrName>style.visibility</p:attrName>
                                        </p:attrNameLst>
                                      </p:cBhvr>
                                      <p:to>
                                        <p:strVal val="visible"/>
                                      </p:to>
                                    </p:set>
                                    <p:anim calcmode="lin" valueType="num">
                                      <p:cBhvr additive="base">
                                        <p:cTn id="7" dur="500" fill="hold"/>
                                        <p:tgtEl>
                                          <p:spTgt spid="44034"/>
                                        </p:tgtEl>
                                        <p:attrNameLst>
                                          <p:attrName>ppt_x</p:attrName>
                                        </p:attrNameLst>
                                      </p:cBhvr>
                                      <p:tavLst>
                                        <p:tav tm="0">
                                          <p:val>
                                            <p:strVal val="#ppt_x"/>
                                          </p:val>
                                        </p:tav>
                                        <p:tav tm="100000">
                                          <p:val>
                                            <p:strVal val="#ppt_x"/>
                                          </p:val>
                                        </p:tav>
                                      </p:tavLst>
                                    </p:anim>
                                    <p:anim calcmode="lin" valueType="num">
                                      <p:cBhvr additive="base">
                                        <p:cTn id="8" dur="500" fill="hold"/>
                                        <p:tgtEl>
                                          <p:spTgt spid="440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4036"/>
                                        </p:tgtEl>
                                        <p:attrNameLst>
                                          <p:attrName>style.visibility</p:attrName>
                                        </p:attrNameLst>
                                      </p:cBhvr>
                                      <p:to>
                                        <p:strVal val="visible"/>
                                      </p:to>
                                    </p:set>
                                    <p:anim calcmode="lin" valueType="num">
                                      <p:cBhvr additive="base">
                                        <p:cTn id="13" dur="500" fill="hold"/>
                                        <p:tgtEl>
                                          <p:spTgt spid="44036"/>
                                        </p:tgtEl>
                                        <p:attrNameLst>
                                          <p:attrName>ppt_x</p:attrName>
                                        </p:attrNameLst>
                                      </p:cBhvr>
                                      <p:tavLst>
                                        <p:tav tm="0">
                                          <p:val>
                                            <p:strVal val="#ppt_x"/>
                                          </p:val>
                                        </p:tav>
                                        <p:tav tm="100000">
                                          <p:val>
                                            <p:strVal val="#ppt_x"/>
                                          </p:val>
                                        </p:tav>
                                      </p:tavLst>
                                    </p:anim>
                                    <p:anim calcmode="lin" valueType="num">
                                      <p:cBhvr additive="base">
                                        <p:cTn id="14" dur="500" fill="hold"/>
                                        <p:tgtEl>
                                          <p:spTgt spid="440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372225" y="2925763"/>
            <a:ext cx="936625" cy="647700"/>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46082" name="文本框 43011"/>
          <p:cNvSpPr txBox="1"/>
          <p:nvPr/>
        </p:nvSpPr>
        <p:spPr>
          <a:xfrm>
            <a:off x="381000" y="762000"/>
            <a:ext cx="6330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为了准确在</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满足指标要求，由式（</a:t>
            </a:r>
            <a:r>
              <a:rPr lang="en-US" altLang="zh-CN" dirty="0">
                <a:latin typeface="Times New Roman" panose="02020603050405020304" pitchFamily="18" charset="0"/>
                <a:ea typeface="宋体" panose="02010600030101010101" pitchFamily="2" charset="-122"/>
              </a:rPr>
              <a:t>5-16</a:t>
            </a:r>
            <a:r>
              <a:rPr lang="zh-CN" altLang="en-US" dirty="0">
                <a:latin typeface="Times New Roman" panose="02020603050405020304" pitchFamily="18" charset="0"/>
                <a:ea typeface="宋体" panose="02010600030101010101" pitchFamily="2" charset="-122"/>
              </a:rPr>
              <a:t>）得</a:t>
            </a:r>
            <a:endParaRPr lang="zh-CN" altLang="en-US">
              <a:latin typeface="Times New Roman" panose="02020603050405020304" pitchFamily="18" charset="0"/>
              <a:ea typeface="宋体" panose="02010600030101010101" pitchFamily="2" charset="-122"/>
            </a:endParaRPr>
          </a:p>
        </p:txBody>
      </p:sp>
      <p:graphicFrame>
        <p:nvGraphicFramePr>
          <p:cNvPr id="46083" name="对象 43012"/>
          <p:cNvGraphicFramePr/>
          <p:nvPr/>
        </p:nvGraphicFramePr>
        <p:xfrm>
          <a:off x="1963738" y="1508125"/>
          <a:ext cx="5292725" cy="1089025"/>
        </p:xfrm>
        <a:graphic>
          <a:graphicData uri="http://schemas.openxmlformats.org/presentationml/2006/ole">
            <mc:AlternateContent xmlns:mc="http://schemas.openxmlformats.org/markup-compatibility/2006">
              <mc:Choice xmlns:v="urn:schemas-microsoft-com:vml" Requires="v">
                <p:oleObj spid="_x0000_s3085" name="" r:id="rId1" imgW="2159000" imgH="444500" progId="Equation.3">
                  <p:embed/>
                </p:oleObj>
              </mc:Choice>
              <mc:Fallback>
                <p:oleObj name="" r:id="rId1" imgW="2159000" imgH="444500" progId="Equation.3">
                  <p:embed/>
                  <p:pic>
                    <p:nvPicPr>
                      <p:cNvPr id="0" name="图片 3084"/>
                      <p:cNvPicPr/>
                      <p:nvPr/>
                    </p:nvPicPr>
                    <p:blipFill>
                      <a:blip r:embed="rId2"/>
                      <a:stretch>
                        <a:fillRect/>
                      </a:stretch>
                    </p:blipFill>
                    <p:spPr>
                      <a:xfrm>
                        <a:off x="1963738" y="1508125"/>
                        <a:ext cx="5292725" cy="1089025"/>
                      </a:xfrm>
                      <a:prstGeom prst="rect">
                        <a:avLst/>
                      </a:prstGeom>
                      <a:solidFill>
                        <a:schemeClr val="accent1"/>
                      </a:solidFill>
                      <a:ln w="38100">
                        <a:noFill/>
                        <a:miter/>
                      </a:ln>
                    </p:spPr>
                  </p:pic>
                </p:oleObj>
              </mc:Fallback>
            </mc:AlternateContent>
          </a:graphicData>
        </a:graphic>
      </p:graphicFrame>
      <p:sp>
        <p:nvSpPr>
          <p:cNvPr id="46084" name="文本框 43013"/>
          <p:cNvSpPr txBox="1"/>
          <p:nvPr/>
        </p:nvSpPr>
        <p:spPr>
          <a:xfrm>
            <a:off x="228600" y="2894013"/>
            <a:ext cx="8686800" cy="1601787"/>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现在在上面两个数之间可任选</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值。现选</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=0.5</a:t>
            </a:r>
            <a:r>
              <a:rPr lang="zh-CN" altLang="en-US" dirty="0">
                <a:latin typeface="Times New Roman" panose="02020603050405020304" pitchFamily="18" charset="0"/>
                <a:ea typeface="宋体" panose="02010600030101010101" pitchFamily="2" charset="-122"/>
              </a:rPr>
              <a:t>，这样就必须设计一个</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=0.5 </a:t>
            </a:r>
            <a:r>
              <a:rPr lang="zh-CN" altLang="en-US" dirty="0">
                <a:latin typeface="Times New Roman" panose="02020603050405020304" pitchFamily="18" charset="0"/>
                <a:ea typeface="宋体" panose="02010600030101010101" pitchFamily="2" charset="-122"/>
              </a:rPr>
              <a:t>的巴特沃思滤波器，模拟滤波器</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的设计</a:t>
            </a:r>
            <a:r>
              <a:rPr lang="zh-CN" altLang="en-US" dirty="0">
                <a:latin typeface="Times New Roman" panose="02020603050405020304" pitchFamily="18" charset="0"/>
                <a:ea typeface="宋体" panose="02010600030101010101" pitchFamily="2" charset="-122"/>
              </a:rPr>
              <a:t>类似于例</a:t>
            </a:r>
            <a:r>
              <a:rPr lang="en-US" altLang="zh-CN" dirty="0">
                <a:latin typeface="Times New Roman" panose="02020603050405020304" pitchFamily="18" charset="0"/>
                <a:ea typeface="宋体" panose="02010600030101010101" pitchFamily="2" charset="-122"/>
              </a:rPr>
              <a:t>5-2</a:t>
            </a:r>
            <a:r>
              <a:rPr lang="zh-CN" altLang="en-US" dirty="0">
                <a:latin typeface="Times New Roman" panose="02020603050405020304" pitchFamily="18" charset="0"/>
                <a:ea typeface="宋体" panose="02010600030101010101" pitchFamily="2" charset="-122"/>
              </a:rPr>
              <a:t>。最后可得 </a:t>
            </a:r>
            <a:endParaRPr lang="zh-CN" altLang="en-US">
              <a:latin typeface="Times New Roman" panose="02020603050405020304" pitchFamily="18" charset="0"/>
              <a:ea typeface="宋体" panose="02010600030101010101" pitchFamily="2" charset="-122"/>
            </a:endParaRPr>
          </a:p>
        </p:txBody>
      </p:sp>
      <p:graphicFrame>
        <p:nvGraphicFramePr>
          <p:cNvPr id="46085" name="对象 43014"/>
          <p:cNvGraphicFramePr/>
          <p:nvPr/>
        </p:nvGraphicFramePr>
        <p:xfrm>
          <a:off x="228283" y="4869180"/>
          <a:ext cx="5075237" cy="1003300"/>
        </p:xfrm>
        <a:graphic>
          <a:graphicData uri="http://schemas.openxmlformats.org/presentationml/2006/ole">
            <mc:AlternateContent xmlns:mc="http://schemas.openxmlformats.org/markup-compatibility/2006">
              <mc:Choice xmlns:v="urn:schemas-microsoft-com:vml" Requires="v">
                <p:oleObj spid="_x0000_s3089" name="" r:id="rId3" imgW="2120900" imgH="419100" progId="Equation.3">
                  <p:embed/>
                </p:oleObj>
              </mc:Choice>
              <mc:Fallback>
                <p:oleObj name="" r:id="rId3" imgW="2120900" imgH="419100" progId="Equation.3">
                  <p:embed/>
                  <p:pic>
                    <p:nvPicPr>
                      <p:cNvPr id="0" name="图片 3088"/>
                      <p:cNvPicPr/>
                      <p:nvPr/>
                    </p:nvPicPr>
                    <p:blipFill>
                      <a:blip r:embed="rId4"/>
                      <a:stretch>
                        <a:fillRect/>
                      </a:stretch>
                    </p:blipFill>
                    <p:spPr>
                      <a:xfrm>
                        <a:off x="228283" y="4869180"/>
                        <a:ext cx="5075237" cy="1003300"/>
                      </a:xfrm>
                      <a:prstGeom prst="rect">
                        <a:avLst/>
                      </a:prstGeom>
                      <a:solidFill>
                        <a:schemeClr val="accent1"/>
                      </a:solidFill>
                      <a:ln w="38100">
                        <a:noFill/>
                        <a:miter/>
                      </a:ln>
                    </p:spPr>
                  </p:pic>
                </p:oleObj>
              </mc:Fallback>
            </mc:AlternateContent>
          </a:graphicData>
        </a:graphic>
      </p:graphicFrame>
      <p:graphicFrame>
        <p:nvGraphicFramePr>
          <p:cNvPr id="8" name="对象 38916"/>
          <p:cNvGraphicFramePr/>
          <p:nvPr/>
        </p:nvGraphicFramePr>
        <p:xfrm>
          <a:off x="5401945" y="4004628"/>
          <a:ext cx="3741738" cy="935037"/>
        </p:xfrm>
        <a:graphic>
          <a:graphicData uri="http://schemas.openxmlformats.org/presentationml/2006/ole">
            <mc:AlternateContent xmlns:mc="http://schemas.openxmlformats.org/markup-compatibility/2006">
              <mc:Choice xmlns:v="urn:schemas-microsoft-com:vml" Requires="v">
                <p:oleObj spid="_x0000_s3087" name="" r:id="rId5" imgW="1574800" imgH="393700" progId="Equation.3">
                  <p:embed/>
                </p:oleObj>
              </mc:Choice>
              <mc:Fallback>
                <p:oleObj name="" r:id="rId5" imgW="1574800" imgH="393700" progId="Equation.3">
                  <p:embed/>
                  <p:pic>
                    <p:nvPicPr>
                      <p:cNvPr id="0" name="图片 3086"/>
                      <p:cNvPicPr/>
                      <p:nvPr/>
                    </p:nvPicPr>
                    <p:blipFill>
                      <a:blip r:embed="rId6"/>
                      <a:stretch>
                        <a:fillRect/>
                      </a:stretch>
                    </p:blipFill>
                    <p:spPr>
                      <a:xfrm>
                        <a:off x="5401945" y="4004628"/>
                        <a:ext cx="3741738" cy="935037"/>
                      </a:xfrm>
                      <a:prstGeom prst="rect">
                        <a:avLst/>
                      </a:prstGeom>
                      <a:gradFill>
                        <a:gsLst>
                          <a:gs pos="0">
                            <a:srgbClr val="FE4444"/>
                          </a:gs>
                          <a:gs pos="100000">
                            <a:srgbClr val="832B2B"/>
                          </a:gs>
                        </a:gsLst>
                        <a:lin ang="5400000" scaled="0"/>
                      </a:gradFill>
                      <a:ln w="38100">
                        <a:noFill/>
                        <a:miter/>
                      </a:ln>
                    </p:spPr>
                  </p:pic>
                </p:oleObj>
              </mc:Fallback>
            </mc:AlternateContent>
          </a:graphicData>
        </a:graphic>
      </p:graphicFrame>
      <p:graphicFrame>
        <p:nvGraphicFramePr>
          <p:cNvPr id="40962" name="对象 38916"/>
          <p:cNvGraphicFramePr/>
          <p:nvPr/>
        </p:nvGraphicFramePr>
        <p:xfrm>
          <a:off x="6228081" y="5157153"/>
          <a:ext cx="2775585" cy="1025525"/>
        </p:xfrm>
        <a:graphic>
          <a:graphicData uri="http://schemas.openxmlformats.org/presentationml/2006/ole">
            <mc:AlternateContent xmlns:mc="http://schemas.openxmlformats.org/markup-compatibility/2006">
              <mc:Choice xmlns:v="urn:schemas-microsoft-com:vml" Requires="v">
                <p:oleObj spid="_x0000_s3090" name="" r:id="rId7" imgW="1168400" imgH="431800" progId="Equation.3">
                  <p:embed/>
                </p:oleObj>
              </mc:Choice>
              <mc:Fallback>
                <p:oleObj name="" r:id="rId7" imgW="1168400" imgH="431800" progId="Equation.3">
                  <p:embed/>
                  <p:pic>
                    <p:nvPicPr>
                      <p:cNvPr id="0" name="图片 3089"/>
                      <p:cNvPicPr/>
                      <p:nvPr/>
                    </p:nvPicPr>
                    <p:blipFill>
                      <a:blip r:embed="rId8"/>
                      <a:stretch>
                        <a:fillRect/>
                      </a:stretch>
                    </p:blipFill>
                    <p:spPr>
                      <a:xfrm>
                        <a:off x="6228081" y="5157153"/>
                        <a:ext cx="2775585" cy="1025525"/>
                      </a:xfrm>
                      <a:prstGeom prst="rect">
                        <a:avLst/>
                      </a:prstGeom>
                      <a:gradFill>
                        <a:gsLst>
                          <a:gs pos="0">
                            <a:srgbClr val="FE4444"/>
                          </a:gs>
                          <a:gs pos="100000">
                            <a:srgbClr val="832B2B"/>
                          </a:gs>
                        </a:gsLst>
                        <a:lin ang="5400000" scaled="0"/>
                      </a:gra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0962"/>
                                        </p:tgtEl>
                                        <p:attrNameLst>
                                          <p:attrName>style.visibility</p:attrName>
                                        </p:attrNameLst>
                                      </p:cBhvr>
                                      <p:to>
                                        <p:strVal val="visible"/>
                                      </p:to>
                                    </p:set>
                                    <p:anim calcmode="lin" valueType="num">
                                      <p:cBhvr additive="base">
                                        <p:cTn id="11" dur="500" fill="hold"/>
                                        <p:tgtEl>
                                          <p:spTgt spid="40962"/>
                                        </p:tgtEl>
                                        <p:attrNameLst>
                                          <p:attrName>ppt_x</p:attrName>
                                        </p:attrNameLst>
                                      </p:cBhvr>
                                      <p:tavLst>
                                        <p:tav tm="0">
                                          <p:val>
                                            <p:strVal val="#ppt_x"/>
                                          </p:val>
                                        </p:tav>
                                        <p:tav tm="100000">
                                          <p:val>
                                            <p:strVal val="#ppt_x"/>
                                          </p:val>
                                        </p:tav>
                                      </p:tavLst>
                                    </p:anim>
                                    <p:anim calcmode="lin" valueType="num">
                                      <p:cBhvr additive="base">
                                        <p:cTn id="12" dur="500" fill="hold"/>
                                        <p:tgtEl>
                                          <p:spTgt spid="409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文本框 41987"/>
          <p:cNvSpPr txBox="1"/>
          <p:nvPr/>
        </p:nvSpPr>
        <p:spPr>
          <a:xfrm>
            <a:off x="539750" y="620713"/>
            <a:ext cx="8307388" cy="4546600"/>
          </a:xfrm>
          <a:prstGeom prst="rect">
            <a:avLst/>
          </a:prstGeom>
          <a:noFill/>
          <a:ln w="9525">
            <a:noFill/>
          </a:ln>
        </p:spPr>
        <p:txBody>
          <a:bodyPr anchor="t">
            <a:spAutoFit/>
          </a:bodyPr>
          <a:p>
            <a:pPr algn="just">
              <a:lnSpc>
                <a:spcPct val="130000"/>
              </a:lnSpc>
              <a:spcBef>
                <a:spcPct val="50000"/>
              </a:spcBef>
            </a:pPr>
            <a:r>
              <a:rPr lang="en-US" altLang="zh-CN" b="1" dirty="0">
                <a:latin typeface="Times New Roman" panose="02020603050405020304" pitchFamily="18" charset="0"/>
                <a:ea typeface="宋体" panose="02010600030101010101" pitchFamily="2" charset="-122"/>
              </a:rPr>
              <a:t>5.3.3 </a:t>
            </a:r>
            <a:r>
              <a:rPr lang="zh-CN" altLang="en-US" b="1" dirty="0">
                <a:latin typeface="Times New Roman" panose="02020603050405020304" pitchFamily="18" charset="0"/>
                <a:ea typeface="宋体" panose="02010600030101010101" pitchFamily="2" charset="-122"/>
              </a:rPr>
              <a:t>切比雪夫低通逼近</a:t>
            </a:r>
            <a:endParaRPr lang="zh-CN" altLang="en-US">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巴特沃思滤波器的频率特性无论在通带与阻带都随频率变换而单调变化，因而如果在通带边缘满足指标，则在通带内肯定会有富裕量，也就会超过指标的要求，因而并不经济。所以，更有效的办法是将指标的精度要求均匀地分布在通带内， 或均匀地分布在阻带内，或同时均匀地分布在通带与阻带内。这样，在同样通带、阻带性能要求下，就可设计出阶数较低的滤波器。这种精度均匀分布的办法可通过选择具有等波纹特性的逼近函数来</a:t>
            </a:r>
            <a:r>
              <a:rPr lang="zh-CN" altLang="en-US" dirty="0">
                <a:latin typeface="Times New Roman" panose="02020603050405020304" pitchFamily="18" charset="0"/>
                <a:ea typeface="宋体" panose="02010600030101010101" pitchFamily="2" charset="-122"/>
              </a:rPr>
              <a:t>实现。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文本框 44035"/>
          <p:cNvSpPr txBox="1"/>
          <p:nvPr/>
        </p:nvSpPr>
        <p:spPr>
          <a:xfrm>
            <a:off x="228600" y="876300"/>
            <a:ext cx="8686800" cy="4432300"/>
          </a:xfrm>
          <a:prstGeom prst="rect">
            <a:avLst/>
          </a:prstGeom>
          <a:noFill/>
          <a:ln w="9525">
            <a:noFill/>
          </a:ln>
        </p:spPr>
        <p:txBody>
          <a:bodyPr anchor="t">
            <a:spAutoFit/>
          </a:bodyPr>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切比雪夫滤波器的幅度特性就是在一个频带中（通带或阻带）具有这种等波纹特性。幅度特性在</a:t>
            </a:r>
            <a:r>
              <a:rPr lang="zh-CN" altLang="en-US" b="1" dirty="0">
                <a:solidFill>
                  <a:srgbClr val="FF0000"/>
                </a:solidFill>
                <a:latin typeface="Times New Roman" panose="02020603050405020304" pitchFamily="18" charset="0"/>
                <a:ea typeface="宋体" panose="02010600030101010101" pitchFamily="2" charset="-122"/>
              </a:rPr>
              <a:t>通带中是等波纹的，在阻带中是单调的，称为切比雪夫</a:t>
            </a:r>
            <a:r>
              <a:rPr lang="en-US" altLang="zh-CN" b="1" dirty="0">
                <a:solidFill>
                  <a:srgbClr val="FF0000"/>
                </a:solidFill>
                <a:latin typeface="Times New Roman" panose="02020603050405020304" pitchFamily="18" charset="0"/>
                <a:ea typeface="宋体" panose="02010600030101010101" pitchFamily="2" charset="-122"/>
              </a:rPr>
              <a:t>Ⅰ</a:t>
            </a:r>
            <a:r>
              <a:rPr lang="zh-CN" altLang="en-US" b="1" dirty="0">
                <a:solidFill>
                  <a:srgbClr val="FF0000"/>
                </a:solidFill>
                <a:latin typeface="Times New Roman" panose="02020603050405020304" pitchFamily="18" charset="0"/>
                <a:ea typeface="宋体" panose="02010600030101010101" pitchFamily="2" charset="-122"/>
              </a:rPr>
              <a:t>型</a:t>
            </a:r>
            <a:r>
              <a:rPr lang="zh-CN" altLang="en-US" dirty="0">
                <a:latin typeface="Times New Roman" panose="02020603050405020304" pitchFamily="18" charset="0"/>
                <a:ea typeface="宋体" panose="02010600030101010101" pitchFamily="2" charset="-122"/>
              </a:rPr>
              <a:t>。幅度特性在通带内是单调下降的，</a:t>
            </a:r>
            <a:r>
              <a:rPr lang="zh-CN" altLang="en-US" b="1" dirty="0">
                <a:solidFill>
                  <a:srgbClr val="FF0000"/>
                </a:solidFill>
                <a:latin typeface="Times New Roman" panose="02020603050405020304" pitchFamily="18" charset="0"/>
                <a:ea typeface="宋体" panose="02010600030101010101" pitchFamily="2" charset="-122"/>
              </a:rPr>
              <a:t>在阻带内是等波纹的，称为切比雪夫</a:t>
            </a:r>
            <a:r>
              <a:rPr lang="en-US" altLang="zh-CN" b="1" dirty="0">
                <a:solidFill>
                  <a:srgbClr val="FF0000"/>
                </a:solidFill>
                <a:latin typeface="Times New Roman" panose="02020603050405020304" pitchFamily="18" charset="0"/>
                <a:ea typeface="宋体" panose="02010600030101010101" pitchFamily="2" charset="-122"/>
              </a:rPr>
              <a:t>Ⅱ</a:t>
            </a:r>
            <a:r>
              <a:rPr lang="zh-CN" altLang="en-US" b="1" dirty="0">
                <a:solidFill>
                  <a:srgbClr val="FF0000"/>
                </a:solidFill>
                <a:latin typeface="Times New Roman" panose="02020603050405020304" pitchFamily="18" charset="0"/>
                <a:ea typeface="宋体" panose="02010600030101010101" pitchFamily="2" charset="-122"/>
              </a:rPr>
              <a:t>型</a:t>
            </a:r>
            <a:r>
              <a:rPr lang="zh-CN" altLang="en-US" dirty="0">
                <a:latin typeface="Times New Roman" panose="02020603050405020304" pitchFamily="18" charset="0"/>
                <a:ea typeface="宋体" panose="02010600030101010101" pitchFamily="2" charset="-122"/>
              </a:rPr>
              <a:t>。由应用的要求来确定采用哪种形式的切比雪夫滤波器。图</a:t>
            </a:r>
            <a:r>
              <a:rPr lang="en-US" altLang="zh-CN" dirty="0">
                <a:latin typeface="Times New Roman" panose="02020603050405020304" pitchFamily="18" charset="0"/>
                <a:ea typeface="宋体" panose="02010600030101010101" pitchFamily="2" charset="-122"/>
              </a:rPr>
              <a:t>5-7</a:t>
            </a:r>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5-8</a:t>
            </a:r>
            <a:r>
              <a:rPr lang="zh-CN" altLang="en-US" dirty="0">
                <a:latin typeface="Times New Roman" panose="02020603050405020304" pitchFamily="18" charset="0"/>
                <a:ea typeface="宋体" panose="02010600030101010101" pitchFamily="2" charset="-122"/>
              </a:rPr>
              <a:t>分别画出了</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为奇数与</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为偶数的切比雪夫</a:t>
            </a:r>
            <a:r>
              <a:rPr lang="en-US" altLang="zh-CN" dirty="0">
                <a:latin typeface="Times New Roman" panose="02020603050405020304" pitchFamily="18" charset="0"/>
                <a:ea typeface="宋体" panose="02010600030101010101" pitchFamily="2" charset="-122"/>
              </a:rPr>
              <a:t>Ⅰ</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Ⅱ</a:t>
            </a:r>
            <a:r>
              <a:rPr lang="zh-CN" altLang="en-US" dirty="0">
                <a:latin typeface="Times New Roman" panose="02020603050405020304" pitchFamily="18" charset="0"/>
                <a:ea typeface="宋体" panose="02010600030101010101" pitchFamily="2" charset="-122"/>
              </a:rPr>
              <a:t>型低通滤波器的幅度特性。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文本框 47107"/>
          <p:cNvSpPr txBox="1"/>
          <p:nvPr/>
        </p:nvSpPr>
        <p:spPr>
          <a:xfrm>
            <a:off x="2057400" y="5486400"/>
            <a:ext cx="6000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5-7 </a:t>
            </a:r>
            <a:r>
              <a:rPr lang="zh-CN" altLang="en-US" dirty="0">
                <a:latin typeface="Times New Roman" panose="02020603050405020304" pitchFamily="18" charset="0"/>
                <a:ea typeface="宋体" panose="02010600030101010101" pitchFamily="2" charset="-122"/>
              </a:rPr>
              <a:t>切比雪夫</a:t>
            </a:r>
            <a:r>
              <a:rPr lang="en-US" altLang="zh-CN" dirty="0">
                <a:latin typeface="Times New Roman" panose="02020603050405020304" pitchFamily="18" charset="0"/>
                <a:ea typeface="宋体" panose="02010600030101010101" pitchFamily="2" charset="-122"/>
              </a:rPr>
              <a:t>Ⅰ</a:t>
            </a:r>
            <a:r>
              <a:rPr lang="zh-CN" altLang="en-US" dirty="0">
                <a:latin typeface="Times New Roman" panose="02020603050405020304" pitchFamily="18" charset="0"/>
                <a:ea typeface="宋体" panose="02010600030101010101" pitchFamily="2" charset="-122"/>
              </a:rPr>
              <a:t>型低通滤波器的幅度特性 </a:t>
            </a:r>
            <a:endParaRPr lang="zh-CN" altLang="en-US">
              <a:latin typeface="Times New Roman" panose="02020603050405020304" pitchFamily="18" charset="0"/>
              <a:ea typeface="宋体" panose="02010600030101010101" pitchFamily="2" charset="-122"/>
            </a:endParaRPr>
          </a:p>
        </p:txBody>
      </p:sp>
      <p:pic>
        <p:nvPicPr>
          <p:cNvPr id="49154" name="图片 47110" descr="5-7"/>
          <p:cNvPicPr>
            <a:picLocks noChangeAspect="1"/>
          </p:cNvPicPr>
          <p:nvPr/>
        </p:nvPicPr>
        <p:blipFill>
          <a:blip r:embed="rId1"/>
          <a:stretch>
            <a:fillRect/>
          </a:stretch>
        </p:blipFill>
        <p:spPr>
          <a:xfrm>
            <a:off x="1714500" y="2147888"/>
            <a:ext cx="5715000" cy="2562225"/>
          </a:xfrm>
          <a:prstGeom prst="rect">
            <a:avLst/>
          </a:prstGeom>
          <a:noFill/>
          <a:ln w="9525">
            <a:noFill/>
          </a:ln>
        </p:spPr>
      </p:pic>
      <p:cxnSp>
        <p:nvCxnSpPr>
          <p:cNvPr id="2" name="直接连接符 1"/>
          <p:cNvCxnSpPr/>
          <p:nvPr/>
        </p:nvCxnSpPr>
        <p:spPr>
          <a:xfrm>
            <a:off x="1263650" y="2706688"/>
            <a:ext cx="6692900" cy="158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1263650" y="2989263"/>
            <a:ext cx="6692900" cy="1588"/>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Ovr>
    <a:masterClrMapping/>
  </p:clrMapOvr>
  <p:transition>
    <p:blinds/>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文本框 46083"/>
          <p:cNvSpPr txBox="1"/>
          <p:nvPr/>
        </p:nvSpPr>
        <p:spPr>
          <a:xfrm>
            <a:off x="1905000" y="5486400"/>
            <a:ext cx="6000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5-8 </a:t>
            </a:r>
            <a:r>
              <a:rPr lang="zh-CN" altLang="en-US" dirty="0">
                <a:latin typeface="Times New Roman" panose="02020603050405020304" pitchFamily="18" charset="0"/>
                <a:ea typeface="宋体" panose="02010600030101010101" pitchFamily="2" charset="-122"/>
              </a:rPr>
              <a:t>切比雪夫</a:t>
            </a:r>
            <a:r>
              <a:rPr lang="en-US" altLang="zh-CN" dirty="0">
                <a:latin typeface="Times New Roman" panose="02020603050405020304" pitchFamily="18" charset="0"/>
                <a:ea typeface="宋体" panose="02010600030101010101" pitchFamily="2" charset="-122"/>
              </a:rPr>
              <a:t>Ⅱ</a:t>
            </a:r>
            <a:r>
              <a:rPr lang="zh-CN" altLang="en-US" dirty="0">
                <a:latin typeface="Times New Roman" panose="02020603050405020304" pitchFamily="18" charset="0"/>
                <a:ea typeface="宋体" panose="02010600030101010101" pitchFamily="2" charset="-122"/>
              </a:rPr>
              <a:t>型低通滤波器的幅度特性 </a:t>
            </a:r>
            <a:endParaRPr lang="zh-CN" altLang="en-US">
              <a:latin typeface="Times New Roman" panose="02020603050405020304" pitchFamily="18" charset="0"/>
              <a:ea typeface="宋体" panose="02010600030101010101" pitchFamily="2" charset="-122"/>
            </a:endParaRPr>
          </a:p>
        </p:txBody>
      </p:sp>
      <p:pic>
        <p:nvPicPr>
          <p:cNvPr id="50178" name="图片 46086" descr="5-8"/>
          <p:cNvPicPr>
            <a:picLocks noChangeAspect="1"/>
          </p:cNvPicPr>
          <p:nvPr/>
        </p:nvPicPr>
        <p:blipFill>
          <a:blip r:embed="rId1"/>
          <a:stretch>
            <a:fillRect/>
          </a:stretch>
        </p:blipFill>
        <p:spPr>
          <a:xfrm>
            <a:off x="900113" y="1341438"/>
            <a:ext cx="7416800" cy="3460750"/>
          </a:xfrm>
          <a:prstGeom prst="rect">
            <a:avLst/>
          </a:prstGeom>
          <a:noFill/>
          <a:ln w="9525">
            <a:noFill/>
          </a:ln>
        </p:spPr>
      </p:pic>
      <p:cxnSp>
        <p:nvCxnSpPr>
          <p:cNvPr id="2" name="直接连接符 1"/>
          <p:cNvCxnSpPr/>
          <p:nvPr/>
        </p:nvCxnSpPr>
        <p:spPr>
          <a:xfrm>
            <a:off x="1346200" y="4225925"/>
            <a:ext cx="6692900" cy="317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1346200" y="3800475"/>
            <a:ext cx="6692900" cy="1588"/>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Ovr>
    <a:masterClrMapping/>
  </p:clrMapOvr>
  <p:transition>
    <p:blinds/>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2771775" y="692150"/>
            <a:ext cx="4824413" cy="504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51202" name="文本框 49155"/>
          <p:cNvSpPr txBox="1"/>
          <p:nvPr/>
        </p:nvSpPr>
        <p:spPr>
          <a:xfrm>
            <a:off x="228600" y="609600"/>
            <a:ext cx="8686800" cy="198628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椭圆滤波器在通带和阻带都具有等波纹幅频特性。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我们以切比雪夫</a:t>
            </a:r>
            <a:r>
              <a:rPr lang="en-US" altLang="zh-CN" dirty="0">
                <a:latin typeface="Times New Roman" panose="02020603050405020304" pitchFamily="18" charset="0"/>
                <a:ea typeface="宋体" panose="02010600030101010101" pitchFamily="2" charset="-122"/>
              </a:rPr>
              <a:t>Ⅰ</a:t>
            </a:r>
            <a:r>
              <a:rPr lang="zh-CN" altLang="en-US" dirty="0">
                <a:latin typeface="Times New Roman" panose="02020603050405020304" pitchFamily="18" charset="0"/>
                <a:ea typeface="宋体" panose="02010600030101010101" pitchFamily="2" charset="-122"/>
              </a:rPr>
              <a:t>型低通滤波器为例来讨论这种逼近。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切比雪夫</a:t>
            </a:r>
            <a:r>
              <a:rPr lang="en-US" altLang="zh-CN" dirty="0">
                <a:latin typeface="Times New Roman" panose="02020603050405020304" pitchFamily="18" charset="0"/>
                <a:ea typeface="宋体" panose="02010600030101010101" pitchFamily="2" charset="-122"/>
              </a:rPr>
              <a:t>Ⅰ</a:t>
            </a:r>
            <a:r>
              <a:rPr lang="zh-CN" altLang="en-US" dirty="0">
                <a:latin typeface="Times New Roman" panose="02020603050405020304" pitchFamily="18" charset="0"/>
                <a:ea typeface="宋体" panose="02010600030101010101" pitchFamily="2" charset="-122"/>
              </a:rPr>
              <a:t>型低通滤波器的幅</a:t>
            </a:r>
            <a:r>
              <a:rPr lang="zh-CN" altLang="en-US" dirty="0">
                <a:latin typeface="Times New Roman" panose="02020603050405020304" pitchFamily="18" charset="0"/>
                <a:ea typeface="宋体" panose="02010600030101010101" pitchFamily="2" charset="-122"/>
              </a:rPr>
              <a:t>度平方函数为 </a:t>
            </a:r>
            <a:endParaRPr lang="zh-CN" altLang="en-US">
              <a:latin typeface="Times New Roman" panose="02020603050405020304" pitchFamily="18" charset="0"/>
              <a:ea typeface="宋体" panose="02010600030101010101" pitchFamily="2" charset="-122"/>
            </a:endParaRPr>
          </a:p>
        </p:txBody>
      </p:sp>
      <p:graphicFrame>
        <p:nvGraphicFramePr>
          <p:cNvPr id="51203" name="对象 49156"/>
          <p:cNvGraphicFramePr/>
          <p:nvPr/>
        </p:nvGraphicFramePr>
        <p:xfrm>
          <a:off x="2209800" y="2438400"/>
          <a:ext cx="4572000" cy="1063625"/>
        </p:xfrm>
        <a:graphic>
          <a:graphicData uri="http://schemas.openxmlformats.org/presentationml/2006/ole">
            <mc:AlternateContent xmlns:mc="http://schemas.openxmlformats.org/markup-compatibility/2006">
              <mc:Choice xmlns:v="urn:schemas-microsoft-com:vml" Requires="v">
                <p:oleObj spid="_x0000_s3118" name="" r:id="rId1" imgW="1853565" imgH="431800" progId="Equation.3">
                  <p:embed/>
                </p:oleObj>
              </mc:Choice>
              <mc:Fallback>
                <p:oleObj name="" r:id="rId1" imgW="1853565" imgH="431800" progId="Equation.3">
                  <p:embed/>
                  <p:pic>
                    <p:nvPicPr>
                      <p:cNvPr id="0" name="图片 3117"/>
                      <p:cNvPicPr/>
                      <p:nvPr/>
                    </p:nvPicPr>
                    <p:blipFill>
                      <a:blip r:embed="rId2"/>
                      <a:stretch>
                        <a:fillRect/>
                      </a:stretch>
                    </p:blipFill>
                    <p:spPr>
                      <a:xfrm>
                        <a:off x="2209800" y="2438400"/>
                        <a:ext cx="4572000" cy="1063625"/>
                      </a:xfrm>
                      <a:prstGeom prst="rect">
                        <a:avLst/>
                      </a:prstGeom>
                      <a:noFill/>
                      <a:ln w="38100">
                        <a:noFill/>
                        <a:miter/>
                      </a:ln>
                    </p:spPr>
                  </p:pic>
                </p:oleObj>
              </mc:Fallback>
            </mc:AlternateContent>
          </a:graphicData>
        </a:graphic>
      </p:graphicFrame>
      <p:sp>
        <p:nvSpPr>
          <p:cNvPr id="51204" name="文本框 49157"/>
          <p:cNvSpPr txBox="1"/>
          <p:nvPr/>
        </p:nvSpPr>
        <p:spPr>
          <a:xfrm>
            <a:off x="7391400" y="28194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5-20</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51205" name="文本框 49158"/>
          <p:cNvSpPr txBox="1"/>
          <p:nvPr/>
        </p:nvSpPr>
        <p:spPr>
          <a:xfrm>
            <a:off x="228600" y="3581400"/>
            <a:ext cx="8686800" cy="2693035"/>
          </a:xfrm>
          <a:prstGeom prst="rect">
            <a:avLst/>
          </a:prstGeom>
          <a:noFill/>
          <a:ln w="9525">
            <a:noFill/>
          </a:ln>
        </p:spPr>
        <p:txBody>
          <a:bodyPr anchor="t">
            <a:no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ε</a:t>
            </a:r>
            <a:r>
              <a:rPr lang="zh-CN" altLang="en-US" dirty="0">
                <a:latin typeface="Times New Roman" panose="02020603050405020304" pitchFamily="18" charset="0"/>
                <a:ea typeface="宋体" panose="02010600030101010101" pitchFamily="2" charset="-122"/>
              </a:rPr>
              <a:t>为小于</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的正数，它是表示通带波纹大小的一个参数， </a:t>
            </a:r>
            <a:r>
              <a:rPr lang="en-US" altLang="zh-CN" i="1">
                <a:latin typeface="Times New Roman" panose="02020603050405020304" pitchFamily="18" charset="0"/>
                <a:ea typeface="宋体" panose="02010600030101010101" pitchFamily="2" charset="-122"/>
              </a:rPr>
              <a:t>ε</a:t>
            </a:r>
            <a:r>
              <a:rPr lang="zh-CN" altLang="en-US" dirty="0">
                <a:latin typeface="Times New Roman" panose="02020603050405020304" pitchFamily="18" charset="0"/>
                <a:ea typeface="宋体" panose="02010600030101010101" pitchFamily="2" charset="-122"/>
              </a:rPr>
              <a:t>越大，波纹也越大。</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为通带截止频率，也是滤波器的某一衰减分贝处的通带宽度（这一分贝数不一定是</a:t>
            </a:r>
            <a:r>
              <a:rPr lang="en-US" altLang="zh-CN" dirty="0">
                <a:latin typeface="Times New Roman" panose="02020603050405020304" pitchFamily="18" charset="0"/>
                <a:ea typeface="宋体" panose="02010600030101010101" pitchFamily="2" charset="-122"/>
              </a:rPr>
              <a:t>3dB</a:t>
            </a:r>
            <a:r>
              <a:rPr lang="zh-CN" altLang="en-US" dirty="0">
                <a:latin typeface="Times New Roman" panose="02020603050405020304" pitchFamily="18" charset="0"/>
                <a:ea typeface="宋体" panose="02010600030101010101" pitchFamily="2" charset="-122"/>
              </a:rPr>
              <a:t>。也就是说， 在切比雪夫滤波器中，</a:t>
            </a:r>
            <a:r>
              <a:rPr lang="en-US" altLang="zh-CN" i="1">
                <a:latin typeface="Times New Roman" panose="02020603050405020304" pitchFamily="18" charset="0"/>
                <a:ea typeface="宋体" panose="02010600030101010101" pitchFamily="2" charset="-122"/>
              </a:rPr>
              <a:t>Ω</a:t>
            </a:r>
            <a:r>
              <a:rPr lang="en-US" altLang="zh-CN" i="1"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不一定是 </a:t>
            </a:r>
            <a:r>
              <a:rPr lang="en-US" altLang="zh-CN" dirty="0">
                <a:latin typeface="Times New Roman" panose="02020603050405020304" pitchFamily="18" charset="0"/>
                <a:ea typeface="宋体" panose="02010600030101010101" pitchFamily="2" charset="-122"/>
              </a:rPr>
              <a:t>3 dB</a:t>
            </a:r>
            <a:r>
              <a:rPr lang="zh-CN" altLang="en-US" dirty="0">
                <a:latin typeface="Times New Roman" panose="02020603050405020304" pitchFamily="18" charset="0"/>
                <a:ea typeface="宋体" panose="02010600030101010101" pitchFamily="2" charset="-122"/>
              </a:rPr>
              <a:t>的带宽）。</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en-US" altLang="zh-CN" i="1">
                <a:highlight>
                  <a:srgbClr val="FFFF00"/>
                </a:highlight>
                <a:latin typeface="Times New Roman" panose="02020603050405020304" pitchFamily="18" charset="0"/>
                <a:ea typeface="宋体" panose="02010600030101010101" pitchFamily="2" charset="-122"/>
              </a:rPr>
              <a:t>C</a:t>
            </a:r>
            <a:r>
              <a:rPr lang="en-US" altLang="zh-CN" i="1" baseline="-25000">
                <a:highlight>
                  <a:srgbClr val="FFFF00"/>
                </a:highlight>
                <a:latin typeface="Times New Roman" panose="02020603050405020304" pitchFamily="18" charset="0"/>
                <a:ea typeface="宋体" panose="02010600030101010101" pitchFamily="2" charset="-122"/>
              </a:rPr>
              <a:t>N</a:t>
            </a:r>
            <a:r>
              <a:rPr lang="en-US" altLang="zh-CN">
                <a:highlight>
                  <a:srgbClr val="FFFF00"/>
                </a:highlight>
                <a:latin typeface="Times New Roman" panose="02020603050405020304" pitchFamily="18" charset="0"/>
                <a:ea typeface="宋体" panose="02010600030101010101" pitchFamily="2" charset="-122"/>
              </a:rPr>
              <a:t>(</a:t>
            </a:r>
            <a:r>
              <a:rPr lang="en-US" altLang="zh-CN" i="1">
                <a:highlight>
                  <a:srgbClr val="FFFF00"/>
                </a:highlight>
                <a:latin typeface="Times New Roman" panose="02020603050405020304" pitchFamily="18" charset="0"/>
                <a:ea typeface="宋体" panose="02010600030101010101" pitchFamily="2" charset="-122"/>
              </a:rPr>
              <a:t>x</a:t>
            </a:r>
            <a:r>
              <a:rPr lang="en-US" altLang="zh-CN">
                <a:highlight>
                  <a:srgbClr val="FFFF00"/>
                </a:highlight>
                <a:latin typeface="Times New Roman" panose="02020603050405020304" pitchFamily="18" charset="0"/>
                <a:ea typeface="宋体" panose="02010600030101010101" pitchFamily="2" charset="-122"/>
              </a:rPr>
              <a:t>)</a:t>
            </a:r>
            <a:r>
              <a:rPr lang="zh-CN" altLang="en-US">
                <a:highlight>
                  <a:srgbClr val="FFFF00"/>
                </a:highlight>
                <a:latin typeface="Times New Roman" panose="02020603050405020304" pitchFamily="18" charset="0"/>
                <a:ea typeface="宋体" panose="02010600030101010101" pitchFamily="2" charset="-122"/>
              </a:rPr>
              <a:t>是</a:t>
            </a:r>
            <a:r>
              <a:rPr lang="en-US" altLang="zh-CN" i="1">
                <a:highlight>
                  <a:srgbClr val="FFFF00"/>
                </a:highlight>
                <a:latin typeface="Times New Roman" panose="02020603050405020304" pitchFamily="18" charset="0"/>
                <a:ea typeface="宋体" panose="02010600030101010101" pitchFamily="2" charset="-122"/>
              </a:rPr>
              <a:t>N</a:t>
            </a:r>
            <a:r>
              <a:rPr lang="zh-CN" altLang="en-US" dirty="0">
                <a:highlight>
                  <a:srgbClr val="FFFF00"/>
                </a:highlight>
                <a:latin typeface="Times New Roman" panose="02020603050405020304" pitchFamily="18" charset="0"/>
                <a:ea typeface="宋体" panose="02010600030101010101" pitchFamily="2" charset="-122"/>
              </a:rPr>
              <a:t>阶切比雪夫多项式</a:t>
            </a:r>
            <a:r>
              <a:rPr lang="zh-CN" altLang="en-US" dirty="0">
                <a:latin typeface="Times New Roman" panose="02020603050405020304" pitchFamily="18" charset="0"/>
                <a:ea typeface="宋体" panose="02010600030101010101" pitchFamily="2" charset="-122"/>
              </a:rPr>
              <a:t>，定义为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2225" name="对象 48131"/>
          <p:cNvGraphicFramePr/>
          <p:nvPr/>
        </p:nvGraphicFramePr>
        <p:xfrm>
          <a:off x="1447800" y="838200"/>
          <a:ext cx="4402138" cy="1428750"/>
        </p:xfrm>
        <a:graphic>
          <a:graphicData uri="http://schemas.openxmlformats.org/presentationml/2006/ole">
            <mc:AlternateContent xmlns:mc="http://schemas.openxmlformats.org/markup-compatibility/2006">
              <mc:Choice xmlns:v="urn:schemas-microsoft-com:vml" Requires="v">
                <p:oleObj spid="_x0000_s3117" name="" r:id="rId1" imgW="1802765" imgH="584200" progId="Equation.3">
                  <p:embed/>
                </p:oleObj>
              </mc:Choice>
              <mc:Fallback>
                <p:oleObj name="" r:id="rId1" imgW="1802765" imgH="584200" progId="Equation.3">
                  <p:embed/>
                  <p:pic>
                    <p:nvPicPr>
                      <p:cNvPr id="0" name="图片 3116"/>
                      <p:cNvPicPr/>
                      <p:nvPr/>
                    </p:nvPicPr>
                    <p:blipFill>
                      <a:blip r:embed="rId2"/>
                      <a:stretch>
                        <a:fillRect/>
                      </a:stretch>
                    </p:blipFill>
                    <p:spPr>
                      <a:xfrm>
                        <a:off x="1447800" y="838200"/>
                        <a:ext cx="4402138" cy="1428750"/>
                      </a:xfrm>
                      <a:prstGeom prst="rect">
                        <a:avLst/>
                      </a:prstGeom>
                      <a:noFill/>
                      <a:ln w="38100">
                        <a:noFill/>
                        <a:miter/>
                      </a:ln>
                    </p:spPr>
                  </p:pic>
                </p:oleObj>
              </mc:Fallback>
            </mc:AlternateContent>
          </a:graphicData>
        </a:graphic>
      </p:graphicFrame>
      <p:sp>
        <p:nvSpPr>
          <p:cNvPr id="52226" name="文本框 48132"/>
          <p:cNvSpPr txBox="1"/>
          <p:nvPr/>
        </p:nvSpPr>
        <p:spPr>
          <a:xfrm>
            <a:off x="6400800" y="914400"/>
            <a:ext cx="1785938"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通带</a:t>
            </a:r>
            <a:r>
              <a:rPr lang="en-US" altLang="zh-CN" dirty="0">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
        <p:nvSpPr>
          <p:cNvPr id="52227" name="文本框 48133"/>
          <p:cNvSpPr txBox="1"/>
          <p:nvPr/>
        </p:nvSpPr>
        <p:spPr>
          <a:xfrm>
            <a:off x="6400800" y="1752600"/>
            <a:ext cx="1652588"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|&gt;1(</a:t>
            </a:r>
            <a:r>
              <a:rPr lang="zh-CN" altLang="en-US" dirty="0">
                <a:latin typeface="Times New Roman" panose="02020603050405020304" pitchFamily="18" charset="0"/>
                <a:ea typeface="宋体" panose="02010600030101010101" pitchFamily="2" charset="-122"/>
              </a:rPr>
              <a:t>阻带</a:t>
            </a:r>
            <a:r>
              <a:rPr lang="en-US" altLang="zh-CN" dirty="0">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
        <p:nvSpPr>
          <p:cNvPr id="52228" name="文本框 48134"/>
          <p:cNvSpPr txBox="1"/>
          <p:nvPr/>
        </p:nvSpPr>
        <p:spPr>
          <a:xfrm>
            <a:off x="304800" y="2514600"/>
            <a:ext cx="5873750" cy="457200"/>
          </a:xfrm>
          <a:prstGeom prst="rect">
            <a:avLst/>
          </a:prstGeom>
          <a:noFill/>
          <a:ln w="9525">
            <a:noFill/>
          </a:ln>
        </p:spPr>
        <p:txBody>
          <a:bodyPr wrap="none" anchor="t">
            <a:spAutoFit/>
          </a:bodyPr>
          <a:p>
            <a:r>
              <a:rPr lang="zh-CN" altLang="en-US">
                <a:latin typeface="Times New Roman" panose="02020603050405020304" pitchFamily="18" charset="0"/>
                <a:ea typeface="宋体" panose="02010600030101010101" pitchFamily="2" charset="-122"/>
              </a:rPr>
              <a:t>当</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时，切比雪夫多项式的递推公式为 </a:t>
            </a:r>
            <a:endParaRPr lang="zh-CN" altLang="en-US">
              <a:latin typeface="Times New Roman" panose="02020603050405020304" pitchFamily="18" charset="0"/>
              <a:ea typeface="宋体" panose="02010600030101010101" pitchFamily="2" charset="-122"/>
            </a:endParaRPr>
          </a:p>
        </p:txBody>
      </p:sp>
      <p:sp>
        <p:nvSpPr>
          <p:cNvPr id="52229" name="文本框 48135"/>
          <p:cNvSpPr txBox="1"/>
          <p:nvPr/>
        </p:nvSpPr>
        <p:spPr>
          <a:xfrm>
            <a:off x="2971800" y="3276600"/>
            <a:ext cx="3235325" cy="457200"/>
          </a:xfrm>
          <a:prstGeom prst="rect">
            <a:avLst/>
          </a:prstGeom>
          <a:noFill/>
          <a:ln w="9525">
            <a:noFill/>
          </a:ln>
        </p:spPr>
        <p:txBody>
          <a:bodyPr wrap="none" anchor="t">
            <a:spAutoFit/>
          </a:bodyPr>
          <a:p>
            <a:r>
              <a:rPr lang="en-US" altLang="zh-CN" i="1">
                <a:latin typeface="Times New Roman" panose="02020603050405020304" pitchFamily="18" charset="0"/>
                <a:ea typeface="宋体" panose="02010600030101010101" pitchFamily="2" charset="-122"/>
              </a:rPr>
              <a:t>C</a:t>
            </a:r>
            <a:r>
              <a:rPr lang="en-US" altLang="zh-CN" i="1" baseline="-25000">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xC</a:t>
            </a:r>
            <a:r>
              <a:rPr lang="en-US" altLang="zh-CN" i="1"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C</a:t>
            </a:r>
            <a:r>
              <a:rPr lang="en-US" altLang="zh-CN" i="1" baseline="-25000">
                <a:latin typeface="Times New Roman" panose="02020603050405020304" pitchFamily="18" charset="0"/>
                <a:ea typeface="宋体" panose="02010600030101010101" pitchFamily="2" charset="-122"/>
              </a:rPr>
              <a:t>N</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
        <p:nvSpPr>
          <p:cNvPr id="52230" name="文本框 48136"/>
          <p:cNvSpPr txBox="1"/>
          <p:nvPr/>
        </p:nvSpPr>
        <p:spPr>
          <a:xfrm>
            <a:off x="8121650" y="14478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(5-21) </a:t>
            </a:r>
            <a:endParaRPr lang="en-US" altLang="zh-CN">
              <a:latin typeface="Times New Roman" panose="02020603050405020304" pitchFamily="18" charset="0"/>
              <a:ea typeface="宋体" panose="02010600030101010101" pitchFamily="2" charset="-122"/>
            </a:endParaRPr>
          </a:p>
        </p:txBody>
      </p:sp>
      <p:sp>
        <p:nvSpPr>
          <p:cNvPr id="52231" name="文本框 48137"/>
          <p:cNvSpPr txBox="1"/>
          <p:nvPr/>
        </p:nvSpPr>
        <p:spPr>
          <a:xfrm>
            <a:off x="8121650" y="32766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(5-22) </a:t>
            </a:r>
            <a:endParaRPr lang="en-US" altLang="zh-CN">
              <a:latin typeface="Times New Roman" panose="02020603050405020304" pitchFamily="18" charset="0"/>
              <a:ea typeface="宋体" panose="02010600030101010101" pitchFamily="2" charset="-122"/>
            </a:endParaRPr>
          </a:p>
        </p:txBody>
      </p:sp>
      <p:sp>
        <p:nvSpPr>
          <p:cNvPr id="52232" name="文本框 48138"/>
          <p:cNvSpPr txBox="1"/>
          <p:nvPr/>
        </p:nvSpPr>
        <p:spPr>
          <a:xfrm>
            <a:off x="152400" y="4070350"/>
            <a:ext cx="8839200" cy="1187450"/>
          </a:xfrm>
          <a:prstGeom prst="rect">
            <a:avLst/>
          </a:prstGeom>
          <a:noFill/>
          <a:ln w="9525">
            <a:noFill/>
          </a:ln>
        </p:spPr>
        <p:txBody>
          <a:bodyPr anchor="t">
            <a:spAutoFit/>
          </a:bodyPr>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切比雪夫多项式的零值点（或根）在</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间隔内。当</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时， </a:t>
            </a:r>
            <a:r>
              <a:rPr lang="en-US" altLang="zh-CN" i="1">
                <a:latin typeface="Times New Roman" panose="02020603050405020304" pitchFamily="18" charset="0"/>
                <a:ea typeface="宋体" panose="02010600030101010101" pitchFamily="2" charset="-122"/>
              </a:rPr>
              <a:t>C</a:t>
            </a:r>
            <a:r>
              <a:rPr lang="en-US" altLang="zh-CN" i="1"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是余弦函</a:t>
            </a:r>
            <a:r>
              <a:rPr lang="zh-CN" altLang="en-US" dirty="0">
                <a:latin typeface="Times New Roman" panose="02020603050405020304" pitchFamily="18" charset="0"/>
                <a:ea typeface="宋体" panose="02010600030101010101" pitchFamily="2" charset="-122"/>
              </a:rPr>
              <a:t>数，故 </a:t>
            </a:r>
            <a:endParaRPr lang="zh-CN" altLang="en-US">
              <a:latin typeface="Times New Roman" panose="02020603050405020304" pitchFamily="18" charset="0"/>
              <a:ea typeface="宋体" panose="02010600030101010101" pitchFamily="2" charset="-122"/>
            </a:endParaRPr>
          </a:p>
        </p:txBody>
      </p:sp>
      <p:sp>
        <p:nvSpPr>
          <p:cNvPr id="52233" name="文本框 48139"/>
          <p:cNvSpPr txBox="1"/>
          <p:nvPr/>
        </p:nvSpPr>
        <p:spPr>
          <a:xfrm>
            <a:off x="3810000" y="5486400"/>
            <a:ext cx="1741488" cy="519113"/>
          </a:xfrm>
          <a:prstGeom prst="rect">
            <a:avLst/>
          </a:prstGeom>
          <a:noFill/>
          <a:ln w="9525">
            <a:noFill/>
          </a:ln>
        </p:spPr>
        <p:txBody>
          <a:bodyPr wrap="none" anchor="t">
            <a:spAutoFit/>
          </a:bodyPr>
          <a:p>
            <a:r>
              <a:rPr lang="en-US" altLang="zh-CN"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C</a:t>
            </a:r>
            <a:r>
              <a:rPr lang="en-US" altLang="zh-CN" sz="2800" i="1" baseline="-25000">
                <a:latin typeface="Times New Roman" panose="02020603050405020304" pitchFamily="18" charset="0"/>
                <a:ea typeface="宋体" panose="02010600030101010101" pitchFamily="2" charset="-122"/>
              </a:rPr>
              <a:t>N</a:t>
            </a:r>
            <a:r>
              <a:rPr lang="en-US" altLang="zh-CN"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x</a:t>
            </a:r>
            <a:r>
              <a:rPr lang="en-US" altLang="zh-CN" sz="2800">
                <a:latin typeface="Times New Roman" panose="02020603050405020304" pitchFamily="18" charset="0"/>
                <a:ea typeface="宋体" panose="02010600030101010101" pitchFamily="2" charset="-122"/>
              </a:rPr>
              <a:t>)|≤1 </a:t>
            </a:r>
            <a:endParaRPr lang="en-US" altLang="zh-CN" sz="2800">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49" name="组合 51212"/>
          <p:cNvGrpSpPr/>
          <p:nvPr/>
        </p:nvGrpSpPr>
        <p:grpSpPr>
          <a:xfrm>
            <a:off x="0" y="685800"/>
            <a:ext cx="9144000" cy="3048000"/>
            <a:chOff x="0" y="412"/>
            <a:chExt cx="5760" cy="1920"/>
          </a:xfrm>
        </p:grpSpPr>
        <p:sp>
          <p:nvSpPr>
            <p:cNvPr id="53250" name="文本框 51203"/>
            <p:cNvSpPr txBox="1"/>
            <p:nvPr/>
          </p:nvSpPr>
          <p:spPr>
            <a:xfrm>
              <a:off x="144" y="412"/>
              <a:ext cx="5520" cy="1570"/>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且多项式</a:t>
              </a:r>
              <a:r>
                <a:rPr lang="en-US" altLang="zh-CN" i="1">
                  <a:latin typeface="Times New Roman" panose="02020603050405020304" pitchFamily="18" charset="0"/>
                  <a:ea typeface="宋体" panose="02010600030101010101" pitchFamily="2" charset="-122"/>
                </a:rPr>
                <a:t>C</a:t>
              </a:r>
              <a:r>
                <a:rPr lang="en-US" altLang="zh-CN" i="1"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内具有等波纹幅度特性；对所有的</a:t>
              </a:r>
              <a:r>
                <a:rPr lang="en-US" altLang="zh-CN" i="1">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C</a:t>
              </a:r>
              <a:r>
                <a:rPr lang="en-US" altLang="zh-CN" i="1"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(1)=1</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为偶数时</a:t>
              </a:r>
              <a:r>
                <a:rPr lang="en-US" altLang="zh-CN" i="1">
                  <a:latin typeface="Times New Roman" panose="02020603050405020304" pitchFamily="18" charset="0"/>
                  <a:ea typeface="宋体" panose="02010600030101010101" pitchFamily="2" charset="-122"/>
                </a:rPr>
                <a:t>C</a:t>
              </a:r>
              <a:r>
                <a:rPr lang="en-US" altLang="zh-CN" i="1"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(0)=±</a:t>
              </a:r>
              <a:r>
                <a:rPr lang="zh-CN" altLang="en-US">
                  <a:latin typeface="Times New Roman" panose="02020603050405020304" pitchFamily="18" charset="0"/>
                  <a:ea typeface="宋体" panose="02010600030101010101" pitchFamily="2" charset="-122"/>
                </a:rPr>
                <a:t>１</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为奇数时</a:t>
              </a:r>
              <a:r>
                <a:rPr lang="en-US" altLang="zh-CN" i="1">
                  <a:latin typeface="Times New Roman" panose="02020603050405020304" pitchFamily="18" charset="0"/>
                  <a:ea typeface="宋体" panose="02010600030101010101" pitchFamily="2" charset="-122"/>
                </a:rPr>
                <a:t>C</a:t>
              </a:r>
              <a:r>
                <a:rPr lang="en-US" altLang="zh-CN" i="1" baseline="-25000">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(0)=0</a:t>
              </a:r>
              <a:r>
                <a:rPr lang="zh-CN" altLang="en-US" dirty="0">
                  <a:latin typeface="Times New Roman" panose="02020603050405020304" pitchFamily="18" charset="0"/>
                  <a:ea typeface="宋体" panose="02010600030101010101" pitchFamily="2" charset="-122"/>
                </a:rPr>
                <a:t>。当</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|&gt;1</a:t>
              </a:r>
              <a:r>
                <a:rPr lang="zh-CN" altLang="en-US" dirty="0">
                  <a:latin typeface="Times New Roman" panose="02020603050405020304" pitchFamily="18" charset="0"/>
                  <a:ea typeface="宋体" panose="02010600030101010101" pitchFamily="2" charset="-122"/>
                </a:rPr>
                <a:t>时， </a:t>
              </a:r>
              <a:r>
                <a:rPr lang="en-US" altLang="zh-CN" i="1">
                  <a:latin typeface="Times New Roman" panose="02020603050405020304" pitchFamily="18" charset="0"/>
                  <a:ea typeface="宋体" panose="02010600030101010101" pitchFamily="2" charset="-122"/>
                </a:rPr>
                <a:t>C</a:t>
              </a:r>
              <a:r>
                <a:rPr lang="en-US" altLang="zh-CN" i="1" baseline="-25000">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是双曲余弦函数，它随</a:t>
              </a:r>
              <a:r>
                <a:rPr lang="en-US" altLang="zh-CN" i="1">
                  <a:latin typeface="Times New Roman" panose="02020603050405020304" pitchFamily="18" charset="0"/>
                  <a:ea typeface="宋体" panose="02010600030101010101" pitchFamily="2" charset="-122"/>
                </a:rPr>
                <a:t>x</a:t>
              </a:r>
              <a:r>
                <a:rPr lang="zh-CN" altLang="en-US" dirty="0">
                  <a:latin typeface="Times New Roman" panose="02020603050405020304" pitchFamily="18" charset="0"/>
                  <a:ea typeface="宋体" panose="02010600030101010101" pitchFamily="2" charset="-122"/>
                </a:rPr>
                <a:t>增大而单调增加。  </a:t>
              </a:r>
              <a:endParaRPr lang="zh-CN" altLang="en-US" dirty="0">
                <a:latin typeface="Times New Roman" panose="02020603050405020304" pitchFamily="18" charset="0"/>
                <a:ea typeface="宋体" panose="02010600030101010101" pitchFamily="2" charset="-122"/>
              </a:endParaRPr>
            </a:p>
            <a:p>
              <a:pPr>
                <a:lnSpc>
                  <a:spcPct val="150000"/>
                </a:lnSpc>
                <a:spcBef>
                  <a:spcPct val="50000"/>
                </a:spcBef>
              </a:pPr>
              <a:r>
                <a:rPr lang="zh-CN" altLang="en-US" dirty="0">
                  <a:latin typeface="Times New Roman" panose="02020603050405020304" pitchFamily="18" charset="0"/>
                  <a:ea typeface="宋体" panose="02010600030101010101" pitchFamily="2" charset="-122"/>
                </a:rPr>
                <a:t>      显然，切比雪夫滤波器的幅度函数为 </a:t>
              </a:r>
              <a:endParaRPr lang="zh-CN" altLang="en-US">
                <a:latin typeface="Times New Roman" panose="02020603050405020304" pitchFamily="18" charset="0"/>
                <a:ea typeface="宋体" panose="02010600030101010101" pitchFamily="2" charset="-122"/>
              </a:endParaRPr>
            </a:p>
          </p:txBody>
        </p:sp>
        <p:graphicFrame>
          <p:nvGraphicFramePr>
            <p:cNvPr id="53251" name="对象 51204"/>
            <p:cNvGraphicFramePr/>
            <p:nvPr/>
          </p:nvGraphicFramePr>
          <p:xfrm>
            <a:off x="3552" y="1594"/>
            <a:ext cx="2208" cy="546"/>
          </p:xfrm>
          <a:graphic>
            <a:graphicData uri="http://schemas.openxmlformats.org/presentationml/2006/ole">
              <mc:AlternateContent xmlns:mc="http://schemas.openxmlformats.org/markup-compatibility/2006">
                <mc:Choice xmlns:v="urn:schemas-microsoft-com:vml" Requires="v">
                  <p:oleObj spid="_x0000_s3114" name="" r:id="rId1" imgW="1905000" imgH="469900" progId="Equation.3">
                    <p:embed/>
                  </p:oleObj>
                </mc:Choice>
                <mc:Fallback>
                  <p:oleObj name="" r:id="rId1" imgW="1905000" imgH="469900" progId="Equation.3">
                    <p:embed/>
                    <p:pic>
                      <p:nvPicPr>
                        <p:cNvPr id="0" name="图片 3113"/>
                        <p:cNvPicPr/>
                        <p:nvPr/>
                      </p:nvPicPr>
                      <p:blipFill>
                        <a:blip r:embed="rId2"/>
                        <a:stretch>
                          <a:fillRect/>
                        </a:stretch>
                      </p:blipFill>
                      <p:spPr>
                        <a:xfrm>
                          <a:off x="3552" y="1594"/>
                          <a:ext cx="2208" cy="546"/>
                        </a:xfrm>
                        <a:prstGeom prst="rect">
                          <a:avLst/>
                        </a:prstGeom>
                        <a:noFill/>
                        <a:ln w="38100">
                          <a:noFill/>
                          <a:miter/>
                        </a:ln>
                      </p:spPr>
                    </p:pic>
                  </p:oleObj>
                </mc:Fallback>
              </mc:AlternateContent>
            </a:graphicData>
          </a:graphic>
        </p:graphicFrame>
        <p:sp>
          <p:nvSpPr>
            <p:cNvPr id="53252" name="文本框 51205"/>
            <p:cNvSpPr txBox="1"/>
            <p:nvPr/>
          </p:nvSpPr>
          <p:spPr>
            <a:xfrm>
              <a:off x="0" y="2044"/>
              <a:ext cx="1316" cy="288"/>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的特点如下： </a:t>
              </a:r>
              <a:endParaRPr lang="zh-CN" altLang="en-US">
                <a:latin typeface="Times New Roman" panose="02020603050405020304" pitchFamily="18" charset="0"/>
                <a:ea typeface="宋体" panose="02010600030101010101" pitchFamily="2" charset="-122"/>
              </a:endParaRPr>
            </a:p>
          </p:txBody>
        </p:sp>
      </p:grpSp>
      <p:grpSp>
        <p:nvGrpSpPr>
          <p:cNvPr id="53253" name="组合 51211"/>
          <p:cNvGrpSpPr/>
          <p:nvPr/>
        </p:nvGrpSpPr>
        <p:grpSpPr>
          <a:xfrm>
            <a:off x="71438" y="3875088"/>
            <a:ext cx="8686800" cy="1293812"/>
            <a:chOff x="52" y="2595"/>
            <a:chExt cx="5472" cy="815"/>
          </a:xfrm>
        </p:grpSpPr>
        <p:sp>
          <p:nvSpPr>
            <p:cNvPr id="53254" name="文本框 51206"/>
            <p:cNvSpPr txBox="1"/>
            <p:nvPr/>
          </p:nvSpPr>
          <p:spPr>
            <a:xfrm>
              <a:off x="52" y="2595"/>
              <a:ext cx="5472" cy="815"/>
            </a:xfrm>
            <a:prstGeom prst="rect">
              <a:avLst/>
            </a:prstGeom>
            <a:noFill/>
            <a:ln w="9525">
              <a:noFill/>
            </a:ln>
          </p:spPr>
          <p:txBody>
            <a:bodyPr anchor="t">
              <a:spAutoFit/>
            </a:bodyPr>
            <a:p>
              <a:pPr algn="just" eaLnBrk="0" hangingPunct="0">
                <a:lnSpc>
                  <a:spcPct val="138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）当</a:t>
              </a:r>
              <a:r>
                <a:rPr lang="en-US" altLang="zh-CN" i="1">
                  <a:latin typeface="Times New Roman" panose="02020603050405020304" pitchFamily="18" charset="0"/>
                  <a:ea typeface="宋体" panose="02010600030101010101" pitchFamily="2" charset="-122"/>
                </a:rPr>
                <a:t>Ω</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0</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为偶数时，                           </a:t>
              </a:r>
              <a:r>
                <a:rPr lang="zh-CN" altLang="en-US">
                  <a:latin typeface="Times New Roman" panose="02020603050405020304" pitchFamily="18" charset="0"/>
                  <a:ea typeface="宋体" panose="02010600030101010101" pitchFamily="2" charset="-122"/>
                </a:rPr>
                <a:t>；当</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为奇数时，</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 (j0)=1</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53255" name="对象 51207"/>
            <p:cNvGraphicFramePr/>
            <p:nvPr/>
          </p:nvGraphicFramePr>
          <p:xfrm>
            <a:off x="2625" y="2595"/>
            <a:ext cx="1316" cy="503"/>
          </p:xfrm>
          <a:graphic>
            <a:graphicData uri="http://schemas.openxmlformats.org/presentationml/2006/ole">
              <mc:AlternateContent xmlns:mc="http://schemas.openxmlformats.org/markup-compatibility/2006">
                <mc:Choice xmlns:v="urn:schemas-microsoft-com:vml" Requires="v">
                  <p:oleObj spid="_x0000_s3115" name="" r:id="rId3" imgW="1129665" imgH="431800" progId="Equation.3">
                    <p:embed/>
                  </p:oleObj>
                </mc:Choice>
                <mc:Fallback>
                  <p:oleObj name="" r:id="rId3" imgW="1129665" imgH="431800" progId="Equation.3">
                    <p:embed/>
                    <p:pic>
                      <p:nvPicPr>
                        <p:cNvPr id="0" name="图片 3114"/>
                        <p:cNvPicPr/>
                        <p:nvPr/>
                      </p:nvPicPr>
                      <p:blipFill>
                        <a:blip r:embed="rId4"/>
                        <a:stretch>
                          <a:fillRect/>
                        </a:stretch>
                      </p:blipFill>
                      <p:spPr>
                        <a:xfrm>
                          <a:off x="2625" y="2595"/>
                          <a:ext cx="1316" cy="503"/>
                        </a:xfrm>
                        <a:prstGeom prst="rect">
                          <a:avLst/>
                        </a:prstGeom>
                        <a:noFill/>
                        <a:ln w="38100">
                          <a:noFill/>
                          <a:miter/>
                        </a:ln>
                      </p:spPr>
                    </p:pic>
                  </p:oleObj>
                </mc:Fallback>
              </mc:AlternateContent>
            </a:graphicData>
          </a:graphic>
        </p:graphicFrame>
      </p:grpSp>
    </p:spTree>
  </p:cSld>
  <p:clrMapOvr>
    <a:masterClrMapping/>
  </p:clrMapOvr>
  <p:transition>
    <p:blinds/>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文本框 50179"/>
          <p:cNvSpPr txBox="1"/>
          <p:nvPr/>
        </p:nvSpPr>
        <p:spPr>
          <a:xfrm>
            <a:off x="822325" y="692150"/>
            <a:ext cx="2274888" cy="595313"/>
          </a:xfrm>
          <a:prstGeom prst="rect">
            <a:avLst/>
          </a:prstGeom>
          <a:noFill/>
          <a:ln w="9525">
            <a:noFill/>
          </a:ln>
        </p:spPr>
        <p:txBody>
          <a:bodyPr wrap="none" anchor="t">
            <a:spAutoFit/>
          </a:bodyPr>
          <a:p>
            <a:pPr>
              <a:lnSpc>
                <a:spcPct val="138000"/>
              </a:lnSpc>
              <a:spcBef>
                <a:spcPct val="50000"/>
              </a:spcBef>
            </a:pP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时 </a:t>
            </a:r>
            <a:endParaRPr lang="zh-CN" altLang="en-US">
              <a:latin typeface="Times New Roman" panose="02020603050405020304" pitchFamily="18" charset="0"/>
              <a:ea typeface="宋体" panose="02010600030101010101" pitchFamily="2" charset="-122"/>
            </a:endParaRPr>
          </a:p>
        </p:txBody>
      </p:sp>
      <p:graphicFrame>
        <p:nvGraphicFramePr>
          <p:cNvPr id="54274" name="对象 50180"/>
          <p:cNvGraphicFramePr/>
          <p:nvPr/>
        </p:nvGraphicFramePr>
        <p:xfrm>
          <a:off x="3200400" y="1371600"/>
          <a:ext cx="2813050" cy="1006475"/>
        </p:xfrm>
        <a:graphic>
          <a:graphicData uri="http://schemas.openxmlformats.org/presentationml/2006/ole">
            <mc:AlternateContent xmlns:mc="http://schemas.openxmlformats.org/markup-compatibility/2006">
              <mc:Choice xmlns:v="urn:schemas-microsoft-com:vml" Requires="v">
                <p:oleObj spid="_x0000_s3116" name="" r:id="rId1" imgW="1205865" imgH="431800" progId="Equation.3">
                  <p:embed/>
                </p:oleObj>
              </mc:Choice>
              <mc:Fallback>
                <p:oleObj name="" r:id="rId1" imgW="1205865" imgH="431800" progId="Equation.3">
                  <p:embed/>
                  <p:pic>
                    <p:nvPicPr>
                      <p:cNvPr id="0" name="图片 3115"/>
                      <p:cNvPicPr/>
                      <p:nvPr/>
                    </p:nvPicPr>
                    <p:blipFill>
                      <a:blip r:embed="rId2"/>
                      <a:stretch>
                        <a:fillRect/>
                      </a:stretch>
                    </p:blipFill>
                    <p:spPr>
                      <a:xfrm>
                        <a:off x="3200400" y="1371600"/>
                        <a:ext cx="2813050" cy="1006475"/>
                      </a:xfrm>
                      <a:prstGeom prst="rect">
                        <a:avLst/>
                      </a:prstGeom>
                      <a:noFill/>
                      <a:ln w="38100">
                        <a:noFill/>
                        <a:miter/>
                      </a:ln>
                    </p:spPr>
                  </p:pic>
                </p:oleObj>
              </mc:Fallback>
            </mc:AlternateContent>
          </a:graphicData>
        </a:graphic>
      </p:graphicFrame>
      <p:grpSp>
        <p:nvGrpSpPr>
          <p:cNvPr id="54275" name="组合 50183"/>
          <p:cNvGrpSpPr/>
          <p:nvPr/>
        </p:nvGrpSpPr>
        <p:grpSpPr>
          <a:xfrm>
            <a:off x="228600" y="2860675"/>
            <a:ext cx="8686800" cy="2397125"/>
            <a:chOff x="144" y="1802"/>
            <a:chExt cx="5472" cy="1510"/>
          </a:xfrm>
        </p:grpSpPr>
        <p:sp>
          <p:nvSpPr>
            <p:cNvPr id="54276" name="文本框 50181"/>
            <p:cNvSpPr txBox="1"/>
            <p:nvPr/>
          </p:nvSpPr>
          <p:spPr>
            <a:xfrm>
              <a:off x="144" y="1802"/>
              <a:ext cx="5472" cy="1510"/>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即所有幅度函数曲线都通过                     点，所以把</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定义为切比雪夫滤波器的通带截止频率。在这个截止频率下，幅度函数不一定下降 </a:t>
              </a:r>
              <a:r>
                <a:rPr lang="en-US" altLang="zh-CN" dirty="0">
                  <a:latin typeface="Times New Roman" panose="02020603050405020304" pitchFamily="18" charset="0"/>
                  <a:ea typeface="宋体" panose="02010600030101010101" pitchFamily="2" charset="-122"/>
                </a:rPr>
                <a:t>3 dB</a:t>
              </a:r>
              <a:r>
                <a:rPr lang="zh-CN" altLang="en-US" dirty="0">
                  <a:latin typeface="Times New Roman" panose="02020603050405020304" pitchFamily="18" charset="0"/>
                  <a:ea typeface="宋体" panose="02010600030101010101" pitchFamily="2" charset="-122"/>
                </a:rPr>
                <a:t>，可以是下降其他分贝值， 例如 </a:t>
              </a:r>
              <a:r>
                <a:rPr lang="en-US" altLang="zh-CN" dirty="0">
                  <a:latin typeface="Times New Roman" panose="02020603050405020304" pitchFamily="18" charset="0"/>
                  <a:ea typeface="宋体" panose="02010600030101010101" pitchFamily="2" charset="-122"/>
                </a:rPr>
                <a:t>1 dB</a:t>
              </a:r>
              <a:r>
                <a:rPr lang="zh-CN" altLang="en-US" dirty="0">
                  <a:latin typeface="Times New Roman" panose="02020603050405020304" pitchFamily="18" charset="0"/>
                  <a:ea typeface="宋体" panose="02010600030101010101" pitchFamily="2" charset="-122"/>
                </a:rPr>
                <a:t>等，这是</a:t>
              </a:r>
              <a:r>
                <a:rPr lang="zh-CN" altLang="en-US" dirty="0">
                  <a:latin typeface="Times New Roman" panose="02020603050405020304" pitchFamily="18" charset="0"/>
                  <a:ea typeface="宋体" panose="02010600030101010101" pitchFamily="2" charset="-122"/>
                </a:rPr>
                <a:t>与巴特沃思滤波器不同之处。 </a:t>
              </a:r>
              <a:endParaRPr lang="zh-CN" altLang="en-US">
                <a:latin typeface="Times New Roman" panose="02020603050405020304" pitchFamily="18" charset="0"/>
                <a:ea typeface="宋体" panose="02010600030101010101" pitchFamily="2" charset="-122"/>
              </a:endParaRPr>
            </a:p>
          </p:txBody>
        </p:sp>
        <p:graphicFrame>
          <p:nvGraphicFramePr>
            <p:cNvPr id="54277" name="对象 50182"/>
            <p:cNvGraphicFramePr/>
            <p:nvPr/>
          </p:nvGraphicFramePr>
          <p:xfrm>
            <a:off x="2592" y="1872"/>
            <a:ext cx="912" cy="364"/>
          </p:xfrm>
          <a:graphic>
            <a:graphicData uri="http://schemas.openxmlformats.org/presentationml/2006/ole">
              <mc:AlternateContent xmlns:mc="http://schemas.openxmlformats.org/markup-compatibility/2006">
                <mc:Choice xmlns:v="urn:schemas-microsoft-com:vml" Requires="v">
                  <p:oleObj spid="_x0000_s3119" name="" r:id="rId3" imgW="634365" imgH="254000" progId="Equation.3">
                    <p:embed/>
                  </p:oleObj>
                </mc:Choice>
                <mc:Fallback>
                  <p:oleObj name="" r:id="rId3" imgW="634365" imgH="254000" progId="Equation.3">
                    <p:embed/>
                    <p:pic>
                      <p:nvPicPr>
                        <p:cNvPr id="0" name="图片 3118"/>
                        <p:cNvPicPr/>
                        <p:nvPr/>
                      </p:nvPicPr>
                      <p:blipFill>
                        <a:blip r:embed="rId4"/>
                        <a:stretch>
                          <a:fillRect/>
                        </a:stretch>
                      </p:blipFill>
                      <p:spPr>
                        <a:xfrm>
                          <a:off x="2592" y="1872"/>
                          <a:ext cx="912" cy="364"/>
                        </a:xfrm>
                        <a:prstGeom prst="rect">
                          <a:avLst/>
                        </a:prstGeom>
                        <a:noFill/>
                        <a:ln w="38100">
                          <a:noFill/>
                          <a:miter/>
                        </a:ln>
                      </p:spPr>
                    </p:pic>
                  </p:oleObj>
                </mc:Fallback>
              </mc:AlternateContent>
            </a:graphicData>
          </a:graphic>
        </p:graphicFrame>
      </p:grpSp>
    </p:spTree>
  </p:cSld>
  <p:clrMapOvr>
    <a:masterClrMapping/>
  </p:clrMapOvr>
  <p:transition>
    <p:blinds/>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文本框 54275"/>
          <p:cNvSpPr txBox="1"/>
          <p:nvPr/>
        </p:nvSpPr>
        <p:spPr>
          <a:xfrm>
            <a:off x="152400" y="609600"/>
            <a:ext cx="8763000" cy="3744913"/>
          </a:xfrm>
          <a:prstGeom prst="rect">
            <a:avLst/>
          </a:prstGeom>
          <a:noFill/>
          <a:ln w="9525">
            <a:noFill/>
          </a:ln>
        </p:spPr>
        <p:txBody>
          <a:bodyPr anchor="t">
            <a:spAutoFit/>
          </a:bodyPr>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）在通带内，即当</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|&lt;</a:t>
            </a:r>
            <a:r>
              <a:rPr lang="en-US" altLang="zh-CN" i="1">
                <a:latin typeface="Times New Roman" panose="02020603050405020304" pitchFamily="18" charset="0"/>
                <a:ea typeface="宋体" panose="02010600030101010101" pitchFamily="2" charset="-122"/>
              </a:rPr>
              <a:t>Ω</a:t>
            </a:r>
            <a:r>
              <a:rPr lang="en-US" altLang="zh-CN" i="1"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时，则</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&lt;1</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在                                 		之间等波纹地起伏。 </a:t>
            </a:r>
            <a:endParaRPr lang="zh-CN" altLang="en-US" dirty="0">
              <a:latin typeface="Times New Roman" panose="02020603050405020304" pitchFamily="18" charset="0"/>
              <a:ea typeface="宋体" panose="02010600030101010101" pitchFamily="2" charset="-122"/>
            </a:endParaRPr>
          </a:p>
          <a:p>
            <a:pPr algn="just">
              <a:lnSpc>
                <a:spcPct val="16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）在通带之外，即当</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|&gt;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时，随着</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的增大</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迅速满足</a:t>
            </a:r>
            <a:endParaRPr lang="zh-CN" altLang="en-US" dirty="0">
              <a:latin typeface="Times New Roman" panose="02020603050405020304" pitchFamily="18" charset="0"/>
              <a:ea typeface="宋体" panose="02010600030101010101" pitchFamily="2" charset="-122"/>
            </a:endParaRPr>
          </a:p>
          <a:p>
            <a:pPr algn="ctr">
              <a:lnSpc>
                <a:spcPct val="168000"/>
              </a:lnSpc>
              <a:spcBef>
                <a:spcPct val="50000"/>
              </a:spcBef>
            </a:pPr>
            <a:r>
              <a:rPr lang="en-US" altLang="zh-CN" i="1">
                <a:latin typeface="Times New Roman" panose="02020603050405020304" pitchFamily="18" charset="0"/>
                <a:ea typeface="宋体" panose="02010600030101010101" pitchFamily="2" charset="-122"/>
              </a:rPr>
              <a:t>ε</a:t>
            </a:r>
            <a:r>
              <a:rPr lang="en-US" altLang="zh-CN" baseline="30000">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C</a:t>
            </a:r>
            <a:r>
              <a:rPr lang="en-US" altLang="zh-CN" i="1" baseline="-25000">
                <a:latin typeface="Times New Roman" panose="02020603050405020304" pitchFamily="18" charset="0"/>
                <a:ea typeface="宋体" panose="02010600030101010101" pitchFamily="2" charset="-122"/>
              </a:rPr>
              <a:t>N</a:t>
            </a:r>
            <a:r>
              <a:rPr lang="en-US" altLang="zh-CN" baseline="30000">
                <a:latin typeface="Times New Roman" panose="02020603050405020304" pitchFamily="18" charset="0"/>
                <a:ea typeface="宋体" panose="02010600030101010101" pitchFamily="2" charset="-122"/>
              </a:rPr>
              <a:t>2</a:t>
            </a:r>
            <a:r>
              <a:rPr lang="en-US" altLang="zh-CN" i="1" baseline="-25000">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)&gt;&gt;1</a:t>
            </a:r>
            <a:endParaRPr lang="en-US" altLang="zh-CN">
              <a:latin typeface="Times New Roman" panose="02020603050405020304" pitchFamily="18" charset="0"/>
              <a:ea typeface="宋体" panose="02010600030101010101" pitchFamily="2" charset="-122"/>
            </a:endParaRPr>
          </a:p>
          <a:p>
            <a:pPr algn="just">
              <a:lnSpc>
                <a:spcPct val="168000"/>
              </a:lnSpc>
              <a:spcBef>
                <a:spcPct val="50000"/>
              </a:spcBef>
            </a:pPr>
            <a:r>
              <a:rPr lang="zh-CN" altLang="en-US" dirty="0">
                <a:latin typeface="Times New Roman" panose="02020603050405020304" pitchFamily="18" charset="0"/>
                <a:ea typeface="宋体" panose="02010600030101010101" pitchFamily="2" charset="-122"/>
              </a:rPr>
              <a:t>使</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迅速单调地趋近于零。 </a:t>
            </a:r>
            <a:endParaRPr lang="zh-CN" altLang="en-US">
              <a:latin typeface="Times New Roman" panose="02020603050405020304" pitchFamily="18" charset="0"/>
              <a:ea typeface="宋体" panose="02010600030101010101" pitchFamily="2" charset="-122"/>
            </a:endParaRPr>
          </a:p>
        </p:txBody>
      </p:sp>
      <p:graphicFrame>
        <p:nvGraphicFramePr>
          <p:cNvPr id="55298" name="对象 54276"/>
          <p:cNvGraphicFramePr/>
          <p:nvPr/>
        </p:nvGraphicFramePr>
        <p:xfrm>
          <a:off x="304800" y="1371600"/>
          <a:ext cx="1828800" cy="546100"/>
        </p:xfrm>
        <a:graphic>
          <a:graphicData uri="http://schemas.openxmlformats.org/presentationml/2006/ole">
            <mc:AlternateContent xmlns:mc="http://schemas.openxmlformats.org/markup-compatibility/2006">
              <mc:Choice xmlns:v="urn:schemas-microsoft-com:vml" Requires="v">
                <p:oleObj spid="_x0000_s3125" name="" r:id="rId1" imgW="850265" imgH="254000" progId="Equation.3">
                  <p:embed/>
                </p:oleObj>
              </mc:Choice>
              <mc:Fallback>
                <p:oleObj name="" r:id="rId1" imgW="850265" imgH="254000" progId="Equation.3">
                  <p:embed/>
                  <p:pic>
                    <p:nvPicPr>
                      <p:cNvPr id="0" name="图片 3124"/>
                      <p:cNvPicPr/>
                      <p:nvPr/>
                    </p:nvPicPr>
                    <p:blipFill>
                      <a:blip r:embed="rId2"/>
                      <a:stretch>
                        <a:fillRect/>
                      </a:stretch>
                    </p:blipFill>
                    <p:spPr>
                      <a:xfrm>
                        <a:off x="304800" y="1371600"/>
                        <a:ext cx="1828800" cy="546100"/>
                      </a:xfrm>
                      <a:prstGeom prst="rect">
                        <a:avLst/>
                      </a:prstGeom>
                      <a:noFill/>
                      <a:ln w="38100">
                        <a:noFill/>
                        <a:miter/>
                      </a:ln>
                    </p:spPr>
                  </p:pic>
                </p:oleObj>
              </mc:Fallback>
            </mc:AlternateContent>
          </a:graphicData>
        </a:graphic>
      </p:graphicFrame>
    </p:spTree>
  </p:cSld>
  <p:clrMapOvr>
    <a:masterClrMapping/>
  </p:clrMapOvr>
  <p:transition>
    <p:blinds/>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文本框 53251"/>
          <p:cNvSpPr txBox="1"/>
          <p:nvPr/>
        </p:nvSpPr>
        <p:spPr>
          <a:xfrm>
            <a:off x="152400" y="609600"/>
            <a:ext cx="8763000" cy="1601788"/>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由幅度平方函数式（</a:t>
            </a:r>
            <a:r>
              <a:rPr lang="en-US" altLang="zh-CN" dirty="0">
                <a:latin typeface="Times New Roman" panose="02020603050405020304" pitchFamily="18" charset="0"/>
                <a:ea typeface="宋体" panose="02010600030101010101" pitchFamily="2" charset="-122"/>
              </a:rPr>
              <a:t>5-20</a:t>
            </a:r>
            <a:r>
              <a:rPr lang="zh-CN" altLang="en-US" dirty="0">
                <a:latin typeface="Times New Roman" panose="02020603050405020304" pitchFamily="18" charset="0"/>
                <a:ea typeface="宋体" panose="02010600030101010101" pitchFamily="2" charset="-122"/>
              </a:rPr>
              <a:t>）看出，切比雪夫滤波器有三个参数：</a:t>
            </a:r>
            <a:r>
              <a:rPr lang="en-US" altLang="zh-CN" i="1">
                <a:latin typeface="Times New Roman" panose="02020603050405020304" pitchFamily="18" charset="0"/>
                <a:ea typeface="宋体" panose="02010600030101010101" pitchFamily="2" charset="-122"/>
              </a:rPr>
              <a:t>ε</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是通带宽度，一般是预先给定的</a:t>
            </a:r>
            <a:r>
              <a:rPr lang="en-US" altLang="zh-CN" dirty="0">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ε</a:t>
            </a:r>
            <a:r>
              <a:rPr lang="zh-CN" altLang="en-US" dirty="0">
                <a:latin typeface="Times New Roman" panose="02020603050405020304" pitchFamily="18" charset="0"/>
                <a:ea typeface="宋体" panose="02010600030101010101" pitchFamily="2" charset="-122"/>
              </a:rPr>
              <a:t>是与通带波纹有关的一个</a:t>
            </a:r>
            <a:r>
              <a:rPr lang="zh-CN" altLang="en-US" dirty="0">
                <a:latin typeface="Times New Roman" panose="02020603050405020304" pitchFamily="18" charset="0"/>
                <a:ea typeface="宋体" panose="02010600030101010101" pitchFamily="2" charset="-122"/>
              </a:rPr>
              <a:t>参数。通带波纹</a:t>
            </a:r>
            <a:r>
              <a:rPr lang="en-US" altLang="zh-CN" i="1" err="1">
                <a:latin typeface="Times New Roman" panose="02020603050405020304" pitchFamily="18" charset="0"/>
                <a:ea typeface="宋体" panose="02010600030101010101" pitchFamily="2" charset="-122"/>
              </a:rPr>
              <a:t>A</a:t>
            </a:r>
            <a:r>
              <a:rPr lang="en-US" altLang="zh-CN" baseline="-25000" err="1">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表示成 </a:t>
            </a:r>
            <a:endParaRPr lang="zh-CN" altLang="en-US">
              <a:latin typeface="Times New Roman" panose="02020603050405020304" pitchFamily="18" charset="0"/>
              <a:ea typeface="宋体" panose="02010600030101010101" pitchFamily="2" charset="-122"/>
            </a:endParaRPr>
          </a:p>
        </p:txBody>
      </p:sp>
      <p:graphicFrame>
        <p:nvGraphicFramePr>
          <p:cNvPr id="56322" name="对象 53252"/>
          <p:cNvGraphicFramePr/>
          <p:nvPr/>
        </p:nvGraphicFramePr>
        <p:xfrm>
          <a:off x="609600" y="2362200"/>
          <a:ext cx="7315200" cy="920750"/>
        </p:xfrm>
        <a:graphic>
          <a:graphicData uri="http://schemas.openxmlformats.org/presentationml/2006/ole">
            <mc:AlternateContent xmlns:mc="http://schemas.openxmlformats.org/markup-compatibility/2006">
              <mc:Choice xmlns:v="urn:schemas-microsoft-com:vml" Requires="v">
                <p:oleObj spid="_x0000_s3129" name="" r:id="rId1" imgW="3632200" imgH="457200" progId="Equation.3">
                  <p:embed/>
                </p:oleObj>
              </mc:Choice>
              <mc:Fallback>
                <p:oleObj name="" r:id="rId1" imgW="3632200" imgH="457200" progId="Equation.3">
                  <p:embed/>
                  <p:pic>
                    <p:nvPicPr>
                      <p:cNvPr id="0" name="图片 3128"/>
                      <p:cNvPicPr/>
                      <p:nvPr/>
                    </p:nvPicPr>
                    <p:blipFill>
                      <a:blip r:embed="rId2"/>
                      <a:stretch>
                        <a:fillRect/>
                      </a:stretch>
                    </p:blipFill>
                    <p:spPr>
                      <a:xfrm>
                        <a:off x="609600" y="2362200"/>
                        <a:ext cx="7315200" cy="920750"/>
                      </a:xfrm>
                      <a:prstGeom prst="rect">
                        <a:avLst/>
                      </a:prstGeom>
                      <a:noFill/>
                      <a:ln w="38100">
                        <a:noFill/>
                        <a:miter/>
                      </a:ln>
                    </p:spPr>
                  </p:pic>
                </p:oleObj>
              </mc:Fallback>
            </mc:AlternateContent>
          </a:graphicData>
        </a:graphic>
      </p:graphicFrame>
      <p:sp>
        <p:nvSpPr>
          <p:cNvPr id="56323" name="文本框 53253"/>
          <p:cNvSpPr txBox="1"/>
          <p:nvPr/>
        </p:nvSpPr>
        <p:spPr>
          <a:xfrm>
            <a:off x="8121650" y="25908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(5-23) </a:t>
            </a:r>
            <a:endParaRPr lang="en-US" altLang="zh-CN">
              <a:latin typeface="Times New Roman" panose="02020603050405020304" pitchFamily="18" charset="0"/>
              <a:ea typeface="宋体" panose="02010600030101010101" pitchFamily="2" charset="-122"/>
            </a:endParaRPr>
          </a:p>
        </p:txBody>
      </p:sp>
      <p:grpSp>
        <p:nvGrpSpPr>
          <p:cNvPr id="56324" name="组合 53256"/>
          <p:cNvGrpSpPr/>
          <p:nvPr/>
        </p:nvGrpSpPr>
        <p:grpSpPr>
          <a:xfrm>
            <a:off x="152400" y="3429000"/>
            <a:ext cx="8915400" cy="1243013"/>
            <a:chOff x="96" y="2160"/>
            <a:chExt cx="5616" cy="783"/>
          </a:xfrm>
        </p:grpSpPr>
        <p:sp>
          <p:nvSpPr>
            <p:cNvPr id="56325" name="文本框 53254"/>
            <p:cNvSpPr txBox="1"/>
            <p:nvPr/>
          </p:nvSpPr>
          <p:spPr>
            <a:xfrm>
              <a:off x="96" y="2160"/>
              <a:ext cx="5616" cy="692"/>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这里，</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baseline="-25000">
                  <a:latin typeface="Times New Roman" panose="02020603050405020304" pitchFamily="18" charset="0"/>
                  <a:ea typeface="宋体" panose="02010600030101010101" pitchFamily="2" charset="-122"/>
                </a:rPr>
                <a:t>max</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表示通带幅度响应的最大值。 		     			 ， 表示通带幅度响应的最</a:t>
              </a:r>
              <a:r>
                <a:rPr lang="zh-CN" altLang="en-US" dirty="0">
                  <a:latin typeface="Times New Roman" panose="02020603050405020304" pitchFamily="18" charset="0"/>
                  <a:ea typeface="宋体" panose="02010600030101010101" pitchFamily="2" charset="-122"/>
                </a:rPr>
                <a:t>小值，故 </a:t>
              </a:r>
              <a:endParaRPr lang="zh-CN" altLang="en-US">
                <a:latin typeface="Times New Roman" panose="02020603050405020304" pitchFamily="18" charset="0"/>
                <a:ea typeface="宋体" panose="02010600030101010101" pitchFamily="2" charset="-122"/>
              </a:endParaRPr>
            </a:p>
          </p:txBody>
        </p:sp>
        <p:graphicFrame>
          <p:nvGraphicFramePr>
            <p:cNvPr id="56326" name="对象 53255"/>
            <p:cNvGraphicFramePr/>
            <p:nvPr/>
          </p:nvGraphicFramePr>
          <p:xfrm>
            <a:off x="240" y="2544"/>
            <a:ext cx="2156" cy="399"/>
          </p:xfrm>
          <a:graphic>
            <a:graphicData uri="http://schemas.openxmlformats.org/presentationml/2006/ole">
              <mc:AlternateContent xmlns:mc="http://schemas.openxmlformats.org/markup-compatibility/2006">
                <mc:Choice xmlns:v="urn:schemas-microsoft-com:vml" Requires="v">
                  <p:oleObj spid="_x0000_s3124" name="" r:id="rId3" imgW="1511300" imgH="279400" progId="Equation.3">
                    <p:embed/>
                  </p:oleObj>
                </mc:Choice>
                <mc:Fallback>
                  <p:oleObj name="" r:id="rId3" imgW="1511300" imgH="279400" progId="Equation.3">
                    <p:embed/>
                    <p:pic>
                      <p:nvPicPr>
                        <p:cNvPr id="0" name="图片 3123"/>
                        <p:cNvPicPr/>
                        <p:nvPr/>
                      </p:nvPicPr>
                      <p:blipFill>
                        <a:blip r:embed="rId4"/>
                        <a:stretch>
                          <a:fillRect/>
                        </a:stretch>
                      </p:blipFill>
                      <p:spPr>
                        <a:xfrm>
                          <a:off x="240" y="2544"/>
                          <a:ext cx="2156" cy="399"/>
                        </a:xfrm>
                        <a:prstGeom prst="rect">
                          <a:avLst/>
                        </a:prstGeom>
                        <a:noFill/>
                        <a:ln w="38100">
                          <a:noFill/>
                          <a:miter/>
                        </a:ln>
                      </p:spPr>
                    </p:pic>
                  </p:oleObj>
                </mc:Fallback>
              </mc:AlternateContent>
            </a:graphicData>
          </a:graphic>
        </p:graphicFrame>
      </p:grpSp>
      <p:graphicFrame>
        <p:nvGraphicFramePr>
          <p:cNvPr id="56327" name="对象 53257"/>
          <p:cNvGraphicFramePr/>
          <p:nvPr/>
        </p:nvGraphicFramePr>
        <p:xfrm>
          <a:off x="3352800" y="4648200"/>
          <a:ext cx="2667000" cy="627063"/>
        </p:xfrm>
        <a:graphic>
          <a:graphicData uri="http://schemas.openxmlformats.org/presentationml/2006/ole">
            <mc:AlternateContent xmlns:mc="http://schemas.openxmlformats.org/markup-compatibility/2006">
              <mc:Choice xmlns:v="urn:schemas-microsoft-com:vml" Requires="v">
                <p:oleObj spid="_x0000_s3126" name="" r:id="rId5" imgW="1078865" imgH="254000" progId="Equation.3">
                  <p:embed/>
                </p:oleObj>
              </mc:Choice>
              <mc:Fallback>
                <p:oleObj name="" r:id="rId5" imgW="1078865" imgH="254000" progId="Equation.3">
                  <p:embed/>
                  <p:pic>
                    <p:nvPicPr>
                      <p:cNvPr id="0" name="图片 3125"/>
                      <p:cNvPicPr/>
                      <p:nvPr/>
                    </p:nvPicPr>
                    <p:blipFill>
                      <a:blip r:embed="rId6"/>
                      <a:stretch>
                        <a:fillRect/>
                      </a:stretch>
                    </p:blipFill>
                    <p:spPr>
                      <a:xfrm>
                        <a:off x="3352800" y="4648200"/>
                        <a:ext cx="2667000" cy="627063"/>
                      </a:xfrm>
                      <a:prstGeom prst="rect">
                        <a:avLst/>
                      </a:prstGeom>
                      <a:noFill/>
                      <a:ln w="38100">
                        <a:noFill/>
                        <a:miter/>
                      </a:ln>
                    </p:spPr>
                  </p:pic>
                </p:oleObj>
              </mc:Fallback>
            </mc:AlternateContent>
          </a:graphicData>
        </a:graphic>
      </p:graphicFrame>
      <p:sp>
        <p:nvSpPr>
          <p:cNvPr id="56328" name="文本框 53258"/>
          <p:cNvSpPr txBox="1"/>
          <p:nvPr/>
        </p:nvSpPr>
        <p:spPr>
          <a:xfrm>
            <a:off x="304800" y="5222875"/>
            <a:ext cx="869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因而 </a:t>
            </a:r>
            <a:endParaRPr lang="zh-CN" altLang="en-US">
              <a:latin typeface="Times New Roman" panose="02020603050405020304" pitchFamily="18" charset="0"/>
              <a:ea typeface="宋体" panose="02010600030101010101" pitchFamily="2" charset="-122"/>
            </a:endParaRPr>
          </a:p>
        </p:txBody>
      </p:sp>
      <p:graphicFrame>
        <p:nvGraphicFramePr>
          <p:cNvPr id="56329" name="对象 53259"/>
          <p:cNvGraphicFramePr/>
          <p:nvPr/>
        </p:nvGraphicFramePr>
        <p:xfrm>
          <a:off x="3505200" y="5562600"/>
          <a:ext cx="2438400" cy="568325"/>
        </p:xfrm>
        <a:graphic>
          <a:graphicData uri="http://schemas.openxmlformats.org/presentationml/2006/ole">
            <mc:AlternateContent xmlns:mc="http://schemas.openxmlformats.org/markup-compatibility/2006">
              <mc:Choice xmlns:v="urn:schemas-microsoft-com:vml" Requires="v">
                <p:oleObj spid="_x0000_s3128" name="" r:id="rId7" imgW="925830" imgH="215900" progId="Equation.3">
                  <p:embed/>
                </p:oleObj>
              </mc:Choice>
              <mc:Fallback>
                <p:oleObj name="" r:id="rId7" imgW="925830" imgH="215900" progId="Equation.3">
                  <p:embed/>
                  <p:pic>
                    <p:nvPicPr>
                      <p:cNvPr id="0" name="图片 3127"/>
                      <p:cNvPicPr/>
                      <p:nvPr/>
                    </p:nvPicPr>
                    <p:blipFill>
                      <a:blip r:embed="rId8"/>
                      <a:stretch>
                        <a:fillRect/>
                      </a:stretch>
                    </p:blipFill>
                    <p:spPr>
                      <a:xfrm>
                        <a:off x="3505200" y="5562600"/>
                        <a:ext cx="2438400" cy="568325"/>
                      </a:xfrm>
                      <a:prstGeom prst="rect">
                        <a:avLst/>
                      </a:prstGeom>
                      <a:noFill/>
                      <a:ln w="38100">
                        <a:noFill/>
                        <a:miter/>
                      </a:ln>
                    </p:spPr>
                  </p:pic>
                </p:oleObj>
              </mc:Fallback>
            </mc:AlternateContent>
          </a:graphicData>
        </a:graphic>
      </p:graphicFrame>
      <p:sp>
        <p:nvSpPr>
          <p:cNvPr id="56330" name="文本框 53260"/>
          <p:cNvSpPr txBox="1"/>
          <p:nvPr/>
        </p:nvSpPr>
        <p:spPr>
          <a:xfrm>
            <a:off x="8121650" y="46482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(5-24) </a:t>
            </a:r>
            <a:endParaRPr lang="en-US" altLang="zh-CN">
              <a:latin typeface="Times New Roman" panose="02020603050405020304" pitchFamily="18" charset="0"/>
              <a:ea typeface="宋体" panose="02010600030101010101" pitchFamily="2" charset="-122"/>
            </a:endParaRPr>
          </a:p>
        </p:txBody>
      </p:sp>
      <p:sp>
        <p:nvSpPr>
          <p:cNvPr id="56331" name="文本框 53261"/>
          <p:cNvSpPr txBox="1"/>
          <p:nvPr/>
        </p:nvSpPr>
        <p:spPr>
          <a:xfrm>
            <a:off x="8121650" y="56388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(5-25)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7345" name="组合 52231"/>
          <p:cNvGrpSpPr/>
          <p:nvPr/>
        </p:nvGrpSpPr>
        <p:grpSpPr>
          <a:xfrm>
            <a:off x="179388" y="549275"/>
            <a:ext cx="8686800" cy="4292600"/>
            <a:chOff x="113" y="346"/>
            <a:chExt cx="5472" cy="2704"/>
          </a:xfrm>
        </p:grpSpPr>
        <p:sp>
          <p:nvSpPr>
            <p:cNvPr id="57346" name="文本框 52227"/>
            <p:cNvSpPr txBox="1"/>
            <p:nvPr/>
          </p:nvSpPr>
          <p:spPr>
            <a:xfrm>
              <a:off x="113" y="346"/>
              <a:ext cx="5472" cy="2704"/>
            </a:xfrm>
            <a:prstGeom prst="rect">
              <a:avLst/>
            </a:prstGeom>
            <a:noFill/>
            <a:ln w="9525">
              <a:noFill/>
            </a:ln>
          </p:spPr>
          <p:txBody>
            <a:bodyPr anchor="t">
              <a:spAutoFit/>
            </a:bodyPr>
            <a:p>
              <a:pPr algn="just">
                <a:lnSpc>
                  <a:spcPct val="136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可以看出，给定通带波纹值</a:t>
              </a:r>
              <a:r>
                <a:rPr lang="en-US" altLang="zh-CN" i="1" dirty="0" err="1">
                  <a:latin typeface="Times New Roman" panose="02020603050405020304" pitchFamily="18" charset="0"/>
                  <a:ea typeface="宋体" panose="02010600030101010101" pitchFamily="2" charset="-122"/>
                </a:rPr>
                <a:t>A</a:t>
              </a:r>
              <a:r>
                <a:rPr lang="en-US" altLang="zh-CN" baseline="-25000" dirty="0" err="1">
                  <a:latin typeface="Times New Roman" panose="02020603050405020304" pitchFamily="18" charset="0"/>
                  <a:ea typeface="宋体" panose="02010600030101010101" pitchFamily="2" charset="-122"/>
                </a:rPr>
                <a:t>p</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dB</a:t>
              </a:r>
              <a:r>
                <a:rPr lang="zh-CN" altLang="en-US" dirty="0">
                  <a:latin typeface="Times New Roman" panose="02020603050405020304" pitchFamily="18" charset="0"/>
                  <a:ea typeface="宋体" panose="02010600030101010101" pitchFamily="2" charset="-122"/>
                </a:rPr>
                <a:t>）后，就能求得</a:t>
              </a:r>
              <a:r>
                <a:rPr lang="en-US" altLang="zh-CN" i="1">
                  <a:latin typeface="Times New Roman" panose="02020603050405020304" pitchFamily="18" charset="0"/>
                  <a:ea typeface="宋体" panose="02010600030101010101" pitchFamily="2" charset="-122"/>
                </a:rPr>
                <a:t>ε</a:t>
              </a:r>
              <a:r>
                <a:rPr lang="en-US" altLang="zh-CN" baseline="30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，这里应注意通带波纹值不一定是</a:t>
              </a:r>
              <a:r>
                <a:rPr lang="en-US" altLang="zh-CN" dirty="0">
                  <a:latin typeface="Times New Roman" panose="02020603050405020304" pitchFamily="18" charset="0"/>
                  <a:ea typeface="宋体" panose="02010600030101010101" pitchFamily="2" charset="-122"/>
                </a:rPr>
                <a:t>3 dB</a:t>
              </a:r>
              <a:r>
                <a:rPr lang="zh-CN" altLang="en-US" dirty="0">
                  <a:latin typeface="Times New Roman" panose="02020603050405020304" pitchFamily="18" charset="0"/>
                  <a:ea typeface="宋体" panose="02010600030101010101" pitchFamily="2" charset="-122"/>
                </a:rPr>
                <a:t>，也可以是其他值，例如</a:t>
              </a:r>
              <a:r>
                <a:rPr lang="en-US" altLang="zh-CN" dirty="0">
                  <a:latin typeface="Times New Roman" panose="02020603050405020304" pitchFamily="18" charset="0"/>
                  <a:ea typeface="宋体" panose="02010600030101010101" pitchFamily="2" charset="-122"/>
                </a:rPr>
                <a:t>0.1 dB</a:t>
              </a:r>
              <a:r>
                <a:rPr lang="zh-CN" altLang="en-US" dirty="0">
                  <a:latin typeface="Times New Roman" panose="02020603050405020304" pitchFamily="18" charset="0"/>
                  <a:ea typeface="宋体" panose="02010600030101010101" pitchFamily="2" charset="-122"/>
                </a:rPr>
                <a:t>等。  </a:t>
              </a:r>
              <a:endParaRPr lang="zh-CN" altLang="en-US" dirty="0">
                <a:latin typeface="Times New Roman" panose="02020603050405020304" pitchFamily="18" charset="0"/>
                <a:ea typeface="宋体" panose="02010600030101010101" pitchFamily="2" charset="-122"/>
              </a:endParaRPr>
            </a:p>
            <a:p>
              <a:pPr algn="just">
                <a:lnSpc>
                  <a:spcPct val="136000"/>
                </a:lnSpc>
                <a:spcBef>
                  <a:spcPct val="50000"/>
                </a:spcBef>
              </a:pPr>
              <a:r>
                <a:rPr lang="zh-CN" altLang="en-US" dirty="0">
                  <a:latin typeface="Times New Roman" panose="02020603050405020304" pitchFamily="18" charset="0"/>
                  <a:ea typeface="宋体" panose="02010600030101010101" pitchFamily="2" charset="-122"/>
                </a:rPr>
                <a:t>        滤波器阶数</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等于通带内最大值和最小值的总数。前面已经说过，</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为奇数时，在</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处， </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为最大值</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为偶数时， 在</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处</a:t>
              </a:r>
              <a:r>
                <a:rPr lang="en-US" altLang="zh-CN" dirty="0">
                  <a:latin typeface="Times New Roman" panose="02020603050405020304" pitchFamily="18" charset="0"/>
                  <a:ea typeface="宋体" panose="02010600030101010101" pitchFamily="2" charset="-122"/>
                </a:rPr>
                <a:t>, |</a:t>
              </a:r>
              <a:r>
                <a:rPr lang="zh-CN" altLang="en-US" i="1" dirty="0">
                  <a:latin typeface="Times New Roman" panose="02020603050405020304" pitchFamily="18" charset="0"/>
                  <a:ea typeface="宋体" panose="02010600030101010101" pitchFamily="2" charset="-122"/>
                </a:rPr>
                <a:t>Ｈ</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为最小值	       。</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的数值可由阻带衰减来确定。设阻带起始点频率为</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，此时阻带幅度平方函数值满足 </a:t>
              </a:r>
              <a:endParaRPr lang="zh-CN" altLang="en-US">
                <a:latin typeface="Times New Roman" panose="02020603050405020304" pitchFamily="18" charset="0"/>
                <a:ea typeface="宋体" panose="02010600030101010101" pitchFamily="2" charset="-122"/>
              </a:endParaRPr>
            </a:p>
          </p:txBody>
        </p:sp>
        <p:graphicFrame>
          <p:nvGraphicFramePr>
            <p:cNvPr id="57347" name="对象 52228"/>
            <p:cNvGraphicFramePr/>
            <p:nvPr/>
          </p:nvGraphicFramePr>
          <p:xfrm>
            <a:off x="2579" y="2062"/>
            <a:ext cx="824" cy="330"/>
          </p:xfrm>
          <a:graphic>
            <a:graphicData uri="http://schemas.openxmlformats.org/presentationml/2006/ole">
              <mc:AlternateContent xmlns:mc="http://schemas.openxmlformats.org/markup-compatibility/2006">
                <mc:Choice xmlns:v="urn:schemas-microsoft-com:vml" Requires="v">
                  <p:oleObj spid="_x0000_s3121" name="" r:id="rId1" imgW="634365" imgH="254000" progId="Equation.3">
                    <p:embed/>
                  </p:oleObj>
                </mc:Choice>
                <mc:Fallback>
                  <p:oleObj name="" r:id="rId1" imgW="634365" imgH="254000" progId="Equation.3">
                    <p:embed/>
                    <p:pic>
                      <p:nvPicPr>
                        <p:cNvPr id="0" name="图片 3120"/>
                        <p:cNvPicPr/>
                        <p:nvPr/>
                      </p:nvPicPr>
                      <p:blipFill>
                        <a:blip r:embed="rId2"/>
                        <a:stretch>
                          <a:fillRect/>
                        </a:stretch>
                      </p:blipFill>
                      <p:spPr>
                        <a:xfrm>
                          <a:off x="2579" y="2062"/>
                          <a:ext cx="824" cy="330"/>
                        </a:xfrm>
                        <a:prstGeom prst="rect">
                          <a:avLst/>
                        </a:prstGeom>
                        <a:noFill/>
                        <a:ln w="38100">
                          <a:noFill/>
                          <a:miter/>
                        </a:ln>
                      </p:spPr>
                    </p:pic>
                  </p:oleObj>
                </mc:Fallback>
              </mc:AlternateContent>
            </a:graphicData>
          </a:graphic>
        </p:graphicFrame>
      </p:grpSp>
      <p:graphicFrame>
        <p:nvGraphicFramePr>
          <p:cNvPr id="57348" name="对象 52230"/>
          <p:cNvGraphicFramePr/>
          <p:nvPr/>
        </p:nvGraphicFramePr>
        <p:xfrm>
          <a:off x="3124200" y="4800600"/>
          <a:ext cx="2895600" cy="1136650"/>
        </p:xfrm>
        <a:graphic>
          <a:graphicData uri="http://schemas.openxmlformats.org/presentationml/2006/ole">
            <mc:AlternateContent xmlns:mc="http://schemas.openxmlformats.org/markup-compatibility/2006">
              <mc:Choice xmlns:v="urn:schemas-microsoft-com:vml" Requires="v">
                <p:oleObj spid="_x0000_s3120" name="" r:id="rId3" imgW="1002665" imgH="393700" progId="Equation.3">
                  <p:embed/>
                </p:oleObj>
              </mc:Choice>
              <mc:Fallback>
                <p:oleObj name="" r:id="rId3" imgW="1002665" imgH="393700" progId="Equation.3">
                  <p:embed/>
                  <p:pic>
                    <p:nvPicPr>
                      <p:cNvPr id="0" name="图片 3119"/>
                      <p:cNvPicPr/>
                      <p:nvPr/>
                    </p:nvPicPr>
                    <p:blipFill>
                      <a:blip r:embed="rId4"/>
                      <a:stretch>
                        <a:fillRect/>
                      </a:stretch>
                    </p:blipFill>
                    <p:spPr>
                      <a:xfrm>
                        <a:off x="3124200" y="4800600"/>
                        <a:ext cx="2895600" cy="1136650"/>
                      </a:xfrm>
                      <a:prstGeom prst="rect">
                        <a:avLst/>
                      </a:prstGeom>
                      <a:noFill/>
                      <a:ln w="38100">
                        <a:noFill/>
                        <a:miter/>
                      </a:ln>
                    </p:spPr>
                  </p:pic>
                </p:oleObj>
              </mc:Fallback>
            </mc:AlternateContent>
          </a:graphicData>
        </a:graphic>
      </p:graphicFrame>
    </p:spTree>
  </p:cSld>
  <p:clrMapOvr>
    <a:masterClrMapping/>
  </p:clrMapOvr>
  <p:transition>
    <p:blinds/>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文本框 56323"/>
          <p:cNvSpPr txBox="1"/>
          <p:nvPr/>
        </p:nvSpPr>
        <p:spPr>
          <a:xfrm>
            <a:off x="365125" y="762000"/>
            <a:ext cx="71120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是常数。如果用误差的分贝数</a:t>
            </a:r>
            <a:r>
              <a:rPr lang="en-US" altLang="zh-CN" i="1">
                <a:latin typeface="Times New Roman" panose="02020603050405020304" pitchFamily="18" charset="0"/>
                <a:ea typeface="宋体" panose="02010600030101010101" pitchFamily="2" charset="-122"/>
              </a:rPr>
              <a:t>A</a:t>
            </a:r>
            <a:r>
              <a:rPr lang="en-US" altLang="zh-CN" baseline="-2500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表示，则有 </a:t>
            </a:r>
            <a:endParaRPr lang="zh-CN" altLang="en-US">
              <a:latin typeface="Times New Roman" panose="02020603050405020304" pitchFamily="18" charset="0"/>
              <a:ea typeface="宋体" panose="02010600030101010101" pitchFamily="2" charset="-122"/>
            </a:endParaRPr>
          </a:p>
        </p:txBody>
      </p:sp>
      <p:graphicFrame>
        <p:nvGraphicFramePr>
          <p:cNvPr id="58370" name="对象 56324"/>
          <p:cNvGraphicFramePr/>
          <p:nvPr/>
        </p:nvGraphicFramePr>
        <p:xfrm>
          <a:off x="2971800" y="1371600"/>
          <a:ext cx="3581400" cy="949325"/>
        </p:xfrm>
        <a:graphic>
          <a:graphicData uri="http://schemas.openxmlformats.org/presentationml/2006/ole">
            <mc:AlternateContent xmlns:mc="http://schemas.openxmlformats.org/markup-compatibility/2006">
              <mc:Choice xmlns:v="urn:schemas-microsoft-com:vml" Requires="v">
                <p:oleObj spid="_x0000_s3127" name="" r:id="rId1" imgW="1485265" imgH="393700" progId="Equation.3">
                  <p:embed/>
                </p:oleObj>
              </mc:Choice>
              <mc:Fallback>
                <p:oleObj name="" r:id="rId1" imgW="1485265" imgH="393700" progId="Equation.3">
                  <p:embed/>
                  <p:pic>
                    <p:nvPicPr>
                      <p:cNvPr id="0" name="图片 3126"/>
                      <p:cNvPicPr/>
                      <p:nvPr/>
                    </p:nvPicPr>
                    <p:blipFill>
                      <a:blip r:embed="rId2"/>
                      <a:stretch>
                        <a:fillRect/>
                      </a:stretch>
                    </p:blipFill>
                    <p:spPr>
                      <a:xfrm>
                        <a:off x="2971800" y="1371600"/>
                        <a:ext cx="3581400" cy="949325"/>
                      </a:xfrm>
                      <a:prstGeom prst="rect">
                        <a:avLst/>
                      </a:prstGeom>
                      <a:noFill/>
                      <a:ln w="38100">
                        <a:noFill/>
                        <a:miter/>
                      </a:ln>
                    </p:spPr>
                  </p:pic>
                </p:oleObj>
              </mc:Fallback>
            </mc:AlternateContent>
          </a:graphicData>
        </a:graphic>
      </p:graphicFrame>
      <p:sp>
        <p:nvSpPr>
          <p:cNvPr id="58371" name="文本框 56325"/>
          <p:cNvSpPr txBox="1"/>
          <p:nvPr/>
        </p:nvSpPr>
        <p:spPr>
          <a:xfrm>
            <a:off x="381000" y="2209800"/>
            <a:ext cx="869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所以 </a:t>
            </a:r>
            <a:endParaRPr lang="zh-CN" altLang="en-US">
              <a:latin typeface="Times New Roman" panose="02020603050405020304" pitchFamily="18" charset="0"/>
              <a:ea typeface="宋体" panose="02010600030101010101" pitchFamily="2" charset="-122"/>
            </a:endParaRPr>
          </a:p>
        </p:txBody>
      </p:sp>
      <p:graphicFrame>
        <p:nvGraphicFramePr>
          <p:cNvPr id="58372" name="对象 56326"/>
          <p:cNvGraphicFramePr/>
          <p:nvPr/>
        </p:nvGraphicFramePr>
        <p:xfrm>
          <a:off x="3276600" y="2819400"/>
          <a:ext cx="3048000" cy="503238"/>
        </p:xfrm>
        <a:graphic>
          <a:graphicData uri="http://schemas.openxmlformats.org/presentationml/2006/ole">
            <mc:AlternateContent xmlns:mc="http://schemas.openxmlformats.org/markup-compatibility/2006">
              <mc:Choice xmlns:v="urn:schemas-microsoft-com:vml" Requires="v">
                <p:oleObj spid="_x0000_s3122" name="" r:id="rId3" imgW="1230630" imgH="203200" progId="Equation.3">
                  <p:embed/>
                </p:oleObj>
              </mc:Choice>
              <mc:Fallback>
                <p:oleObj name="" r:id="rId3" imgW="1230630" imgH="203200" progId="Equation.3">
                  <p:embed/>
                  <p:pic>
                    <p:nvPicPr>
                      <p:cNvPr id="0" name="图片 3121"/>
                      <p:cNvPicPr/>
                      <p:nvPr/>
                    </p:nvPicPr>
                    <p:blipFill>
                      <a:blip r:embed="rId4"/>
                      <a:stretch>
                        <a:fillRect/>
                      </a:stretch>
                    </p:blipFill>
                    <p:spPr>
                      <a:xfrm>
                        <a:off x="3276600" y="2819400"/>
                        <a:ext cx="3048000" cy="503238"/>
                      </a:xfrm>
                      <a:prstGeom prst="rect">
                        <a:avLst/>
                      </a:prstGeom>
                      <a:noFill/>
                      <a:ln w="38100">
                        <a:noFill/>
                        <a:miter/>
                      </a:ln>
                    </p:spPr>
                  </p:pic>
                </p:oleObj>
              </mc:Fallback>
            </mc:AlternateContent>
          </a:graphicData>
        </a:graphic>
      </p:graphicFrame>
      <p:sp>
        <p:nvSpPr>
          <p:cNvPr id="58373" name="文本框 56327"/>
          <p:cNvSpPr txBox="1"/>
          <p:nvPr/>
        </p:nvSpPr>
        <p:spPr>
          <a:xfrm>
            <a:off x="7848600" y="28194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(5-26) </a:t>
            </a:r>
            <a:endParaRPr lang="en-US" altLang="zh-CN">
              <a:latin typeface="Times New Roman" panose="02020603050405020304" pitchFamily="18" charset="0"/>
              <a:ea typeface="宋体" panose="02010600030101010101" pitchFamily="2" charset="-122"/>
            </a:endParaRPr>
          </a:p>
        </p:txBody>
      </p:sp>
      <p:sp>
        <p:nvSpPr>
          <p:cNvPr id="58374" name="文本框 56328"/>
          <p:cNvSpPr txBox="1"/>
          <p:nvPr/>
        </p:nvSpPr>
        <p:spPr>
          <a:xfrm>
            <a:off x="228600" y="3429000"/>
            <a:ext cx="8686800" cy="10985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设</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为阻带截止频率，即当</a:t>
            </a:r>
            <a:r>
              <a:rPr lang="en-US" altLang="zh-CN" i="1">
                <a:latin typeface="Times New Roman" panose="02020603050405020304" pitchFamily="18" charset="0"/>
                <a:ea typeface="宋体" panose="02010600030101010101" pitchFamily="2" charset="-122"/>
              </a:rPr>
              <a:t>Ω</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时，将上面的</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baseline="3000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的表达式代入式（</a:t>
            </a:r>
            <a:r>
              <a:rPr lang="en-US" altLang="zh-CN" dirty="0">
                <a:latin typeface="Times New Roman" panose="02020603050405020304" pitchFamily="18" charset="0"/>
                <a:ea typeface="宋体" panose="02010600030101010101" pitchFamily="2" charset="-122"/>
              </a:rPr>
              <a:t>5-20</a:t>
            </a:r>
            <a:r>
              <a:rPr lang="zh-CN" altLang="en-US"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可得 </a:t>
            </a:r>
            <a:endParaRPr lang="zh-CN" altLang="en-US">
              <a:latin typeface="Times New Roman" panose="02020603050405020304" pitchFamily="18" charset="0"/>
              <a:ea typeface="宋体" panose="02010600030101010101" pitchFamily="2" charset="-122"/>
            </a:endParaRPr>
          </a:p>
        </p:txBody>
      </p:sp>
      <p:graphicFrame>
        <p:nvGraphicFramePr>
          <p:cNvPr id="58375" name="对象 56329"/>
          <p:cNvGraphicFramePr/>
          <p:nvPr/>
        </p:nvGraphicFramePr>
        <p:xfrm>
          <a:off x="2133600" y="4800600"/>
          <a:ext cx="5562600" cy="1068388"/>
        </p:xfrm>
        <a:graphic>
          <a:graphicData uri="http://schemas.openxmlformats.org/presentationml/2006/ole">
            <mc:AlternateContent xmlns:mc="http://schemas.openxmlformats.org/markup-compatibility/2006">
              <mc:Choice xmlns:v="urn:schemas-microsoft-com:vml" Requires="v">
                <p:oleObj spid="_x0000_s3123" name="" r:id="rId5" imgW="2246630" imgH="431800" progId="Equation.3">
                  <p:embed/>
                </p:oleObj>
              </mc:Choice>
              <mc:Fallback>
                <p:oleObj name="" r:id="rId5" imgW="2246630" imgH="431800" progId="Equation.3">
                  <p:embed/>
                  <p:pic>
                    <p:nvPicPr>
                      <p:cNvPr id="0" name="图片 3122"/>
                      <p:cNvPicPr/>
                      <p:nvPr/>
                    </p:nvPicPr>
                    <p:blipFill>
                      <a:blip r:embed="rId6"/>
                      <a:stretch>
                        <a:fillRect/>
                      </a:stretch>
                    </p:blipFill>
                    <p:spPr>
                      <a:xfrm>
                        <a:off x="2133600" y="4800600"/>
                        <a:ext cx="5562600" cy="1068388"/>
                      </a:xfrm>
                      <a:prstGeom prst="rect">
                        <a:avLst/>
                      </a:prstGeom>
                      <a:noFill/>
                      <a:ln w="38100">
                        <a:noFill/>
                        <a:miter/>
                      </a:ln>
                    </p:spPr>
                  </p:pic>
                </p:oleObj>
              </mc:Fallback>
            </mc:AlternateContent>
          </a:graphicData>
        </a:graphic>
      </p:graphicFrame>
    </p:spTree>
  </p:cSld>
  <p:clrMapOvr>
    <a:masterClrMapping/>
  </p:clrMapOvr>
  <p:transition>
    <p:blinds/>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文本框 55299"/>
          <p:cNvSpPr txBox="1"/>
          <p:nvPr/>
        </p:nvSpPr>
        <p:spPr>
          <a:xfrm>
            <a:off x="441325" y="727075"/>
            <a:ext cx="1479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由此得出 </a:t>
            </a:r>
            <a:endParaRPr lang="zh-CN" altLang="en-US">
              <a:latin typeface="Times New Roman" panose="02020603050405020304" pitchFamily="18" charset="0"/>
              <a:ea typeface="宋体" panose="02010600030101010101" pitchFamily="2" charset="-122"/>
            </a:endParaRPr>
          </a:p>
        </p:txBody>
      </p:sp>
      <p:graphicFrame>
        <p:nvGraphicFramePr>
          <p:cNvPr id="59394" name="对象 55300"/>
          <p:cNvGraphicFramePr/>
          <p:nvPr/>
        </p:nvGraphicFramePr>
        <p:xfrm>
          <a:off x="2971800" y="838200"/>
          <a:ext cx="3352800" cy="1212850"/>
        </p:xfrm>
        <a:graphic>
          <a:graphicData uri="http://schemas.openxmlformats.org/presentationml/2006/ole">
            <mc:AlternateContent xmlns:mc="http://schemas.openxmlformats.org/markup-compatibility/2006">
              <mc:Choice xmlns:v="urn:schemas-microsoft-com:vml" Requires="v">
                <p:oleObj spid="_x0000_s3132" name="" r:id="rId1" imgW="1332865" imgH="482600" progId="Equation.3">
                  <p:embed/>
                </p:oleObj>
              </mc:Choice>
              <mc:Fallback>
                <p:oleObj name="" r:id="rId1" imgW="1332865" imgH="482600" progId="Equation.3">
                  <p:embed/>
                  <p:pic>
                    <p:nvPicPr>
                      <p:cNvPr id="0" name="图片 3131"/>
                      <p:cNvPicPr/>
                      <p:nvPr/>
                    </p:nvPicPr>
                    <p:blipFill>
                      <a:blip r:embed="rId2"/>
                      <a:stretch>
                        <a:fillRect/>
                      </a:stretch>
                    </p:blipFill>
                    <p:spPr>
                      <a:xfrm>
                        <a:off x="2971800" y="838200"/>
                        <a:ext cx="3352800" cy="1212850"/>
                      </a:xfrm>
                      <a:prstGeom prst="rect">
                        <a:avLst/>
                      </a:prstGeom>
                      <a:noFill/>
                      <a:ln w="38100">
                        <a:noFill/>
                        <a:miter/>
                      </a:ln>
                    </p:spPr>
                  </p:pic>
                </p:oleObj>
              </mc:Fallback>
            </mc:AlternateContent>
          </a:graphicData>
        </a:graphic>
      </p:graphicFrame>
      <p:sp>
        <p:nvSpPr>
          <p:cNvPr id="59395" name="文本框 55301"/>
          <p:cNvSpPr txBox="1"/>
          <p:nvPr/>
        </p:nvSpPr>
        <p:spPr>
          <a:xfrm>
            <a:off x="431800" y="2209800"/>
            <a:ext cx="65786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由于</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&gt;1</a:t>
            </a:r>
            <a:r>
              <a:rPr lang="zh-CN" altLang="en-US" dirty="0">
                <a:latin typeface="Times New Roman" panose="02020603050405020304" pitchFamily="18" charset="0"/>
                <a:ea typeface="宋体" panose="02010600030101010101" pitchFamily="2" charset="-122"/>
              </a:rPr>
              <a:t>，所以，由式（</a:t>
            </a:r>
            <a:r>
              <a:rPr lang="en-US" altLang="zh-CN" dirty="0">
                <a:latin typeface="Times New Roman" panose="02020603050405020304" pitchFamily="18" charset="0"/>
                <a:ea typeface="宋体" panose="02010600030101010101" pitchFamily="2" charset="-122"/>
              </a:rPr>
              <a:t>5-21</a:t>
            </a:r>
            <a:r>
              <a:rPr lang="zh-CN" altLang="en-US" dirty="0">
                <a:latin typeface="Times New Roman" panose="02020603050405020304" pitchFamily="18" charset="0"/>
                <a:ea typeface="宋体" panose="02010600030101010101" pitchFamily="2" charset="-122"/>
              </a:rPr>
              <a:t>）的第二式有 </a:t>
            </a:r>
            <a:endParaRPr lang="zh-CN" altLang="en-US">
              <a:latin typeface="Times New Roman" panose="02020603050405020304" pitchFamily="18" charset="0"/>
              <a:ea typeface="宋体" panose="02010600030101010101" pitchFamily="2" charset="-122"/>
            </a:endParaRPr>
          </a:p>
        </p:txBody>
      </p:sp>
      <p:graphicFrame>
        <p:nvGraphicFramePr>
          <p:cNvPr id="59396" name="对象 55302"/>
          <p:cNvGraphicFramePr/>
          <p:nvPr/>
        </p:nvGraphicFramePr>
        <p:xfrm>
          <a:off x="1295400" y="2971800"/>
          <a:ext cx="6735763" cy="1165225"/>
        </p:xfrm>
        <a:graphic>
          <a:graphicData uri="http://schemas.openxmlformats.org/presentationml/2006/ole">
            <mc:AlternateContent xmlns:mc="http://schemas.openxmlformats.org/markup-compatibility/2006">
              <mc:Choice xmlns:v="urn:schemas-microsoft-com:vml" Requires="v">
                <p:oleObj spid="_x0000_s3133" name="" r:id="rId3" imgW="2933700" imgH="508000" progId="Equation.3">
                  <p:embed/>
                </p:oleObj>
              </mc:Choice>
              <mc:Fallback>
                <p:oleObj name="" r:id="rId3" imgW="2933700" imgH="508000" progId="Equation.3">
                  <p:embed/>
                  <p:pic>
                    <p:nvPicPr>
                      <p:cNvPr id="0" name="图片 3132"/>
                      <p:cNvPicPr/>
                      <p:nvPr/>
                    </p:nvPicPr>
                    <p:blipFill>
                      <a:blip r:embed="rId4"/>
                      <a:stretch>
                        <a:fillRect/>
                      </a:stretch>
                    </p:blipFill>
                    <p:spPr>
                      <a:xfrm>
                        <a:off x="1295400" y="2971800"/>
                        <a:ext cx="6735763" cy="1165225"/>
                      </a:xfrm>
                      <a:prstGeom prst="rect">
                        <a:avLst/>
                      </a:prstGeom>
                      <a:noFill/>
                      <a:ln w="38100">
                        <a:noFill/>
                        <a:miter/>
                      </a:ln>
                    </p:spPr>
                  </p:pic>
                </p:oleObj>
              </mc:Fallback>
            </mc:AlternateContent>
          </a:graphicData>
        </a:graphic>
      </p:graphicFrame>
      <p:sp>
        <p:nvSpPr>
          <p:cNvPr id="59397" name="文本框 55303"/>
          <p:cNvSpPr txBox="1"/>
          <p:nvPr/>
        </p:nvSpPr>
        <p:spPr>
          <a:xfrm>
            <a:off x="457200" y="4384675"/>
            <a:ext cx="4476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由此，并考虑式（</a:t>
            </a:r>
            <a:r>
              <a:rPr lang="en-US" altLang="zh-CN" dirty="0">
                <a:latin typeface="Times New Roman" panose="02020603050405020304" pitchFamily="18" charset="0"/>
                <a:ea typeface="宋体" panose="02010600030101010101" pitchFamily="2" charset="-122"/>
              </a:rPr>
              <a:t>5-26</a:t>
            </a:r>
            <a:r>
              <a:rPr lang="zh-CN" altLang="en-US" dirty="0">
                <a:latin typeface="Times New Roman" panose="02020603050405020304" pitchFamily="18" charset="0"/>
                <a:ea typeface="宋体" panose="02010600030101010101" pitchFamily="2" charset="-122"/>
              </a:rPr>
              <a:t>），可得 </a:t>
            </a:r>
            <a:endParaRPr lang="zh-CN" altLang="en-US">
              <a:latin typeface="Times New Roman" panose="02020603050405020304" pitchFamily="18" charset="0"/>
              <a:ea typeface="宋体" panose="02010600030101010101" pitchFamily="2" charset="-122"/>
            </a:endParaRPr>
          </a:p>
        </p:txBody>
      </p:sp>
      <p:graphicFrame>
        <p:nvGraphicFramePr>
          <p:cNvPr id="59398" name="对象 55304"/>
          <p:cNvGraphicFramePr/>
          <p:nvPr/>
        </p:nvGraphicFramePr>
        <p:xfrm>
          <a:off x="1066800" y="5105400"/>
          <a:ext cx="6858000" cy="1073150"/>
        </p:xfrm>
        <a:graphic>
          <a:graphicData uri="http://schemas.openxmlformats.org/presentationml/2006/ole">
            <mc:AlternateContent xmlns:mc="http://schemas.openxmlformats.org/markup-compatibility/2006">
              <mc:Choice xmlns:v="urn:schemas-microsoft-com:vml" Requires="v">
                <p:oleObj spid="_x0000_s3134" name="" r:id="rId5" imgW="3084830" imgH="482600" progId="Equation.3">
                  <p:embed/>
                </p:oleObj>
              </mc:Choice>
              <mc:Fallback>
                <p:oleObj name="" r:id="rId5" imgW="3084830" imgH="482600" progId="Equation.3">
                  <p:embed/>
                  <p:pic>
                    <p:nvPicPr>
                      <p:cNvPr id="0" name="图片 3133"/>
                      <p:cNvPicPr/>
                      <p:nvPr/>
                    </p:nvPicPr>
                    <p:blipFill>
                      <a:blip r:embed="rId6"/>
                      <a:stretch>
                        <a:fillRect/>
                      </a:stretch>
                    </p:blipFill>
                    <p:spPr>
                      <a:xfrm>
                        <a:off x="1066800" y="5105400"/>
                        <a:ext cx="6858000" cy="1073150"/>
                      </a:xfrm>
                      <a:prstGeom prst="rect">
                        <a:avLst/>
                      </a:prstGeom>
                      <a:noFill/>
                      <a:ln w="38100">
                        <a:noFill/>
                        <a:miter/>
                      </a:ln>
                    </p:spPr>
                  </p:pic>
                </p:oleObj>
              </mc:Fallback>
            </mc:AlternateContent>
          </a:graphicData>
        </a:graphic>
      </p:graphicFrame>
      <p:sp>
        <p:nvSpPr>
          <p:cNvPr id="59399" name="文本框 55305"/>
          <p:cNvSpPr txBox="1"/>
          <p:nvPr/>
        </p:nvSpPr>
        <p:spPr>
          <a:xfrm>
            <a:off x="8121650" y="54102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(5-28) </a:t>
            </a:r>
            <a:endParaRPr lang="en-US" altLang="zh-CN">
              <a:latin typeface="Times New Roman" panose="02020603050405020304" pitchFamily="18" charset="0"/>
              <a:ea typeface="宋体" panose="02010600030101010101" pitchFamily="2" charset="-122"/>
            </a:endParaRPr>
          </a:p>
        </p:txBody>
      </p:sp>
      <p:sp>
        <p:nvSpPr>
          <p:cNvPr id="59400" name="文本框 55306"/>
          <p:cNvSpPr txBox="1"/>
          <p:nvPr/>
        </p:nvSpPr>
        <p:spPr>
          <a:xfrm>
            <a:off x="7653338" y="1243013"/>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(5-27)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文本框 58371"/>
          <p:cNvSpPr txBox="1"/>
          <p:nvPr/>
        </p:nvSpPr>
        <p:spPr>
          <a:xfrm>
            <a:off x="152400" y="457200"/>
            <a:ext cx="8839200" cy="180340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如果要求阻带边界频率上衰减越大（即</a:t>
            </a:r>
            <a:r>
              <a:rPr lang="en-US" altLang="zh-CN" i="1">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越大），也就是过渡带内幅度特性越陡，则所需的阶数</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越高。  </a:t>
            </a:r>
            <a:endParaRPr lang="zh-CN" altLang="en-US" dirty="0">
              <a:latin typeface="Times New Roman" panose="02020603050405020304" pitchFamily="18" charset="0"/>
              <a:ea typeface="宋体" panose="02010600030101010101" pitchFamily="2" charset="-122"/>
            </a:endParaRPr>
          </a:p>
          <a:p>
            <a:pPr>
              <a:lnSpc>
                <a:spcPct val="138000"/>
              </a:lnSpc>
              <a:spcBef>
                <a:spcPct val="50000"/>
              </a:spcBef>
            </a:pPr>
            <a:r>
              <a:rPr lang="zh-CN" altLang="en-US" dirty="0">
                <a:latin typeface="Times New Roman" panose="02020603050405020304" pitchFamily="18" charset="0"/>
                <a:ea typeface="宋体" panose="02010600030101010101" pitchFamily="2" charset="-122"/>
              </a:rPr>
              <a:t>        或者对</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求解，可得 </a:t>
            </a:r>
            <a:endParaRPr lang="zh-CN" altLang="en-US">
              <a:latin typeface="Times New Roman" panose="02020603050405020304" pitchFamily="18" charset="0"/>
              <a:ea typeface="宋体" panose="02010600030101010101" pitchFamily="2" charset="-122"/>
            </a:endParaRPr>
          </a:p>
        </p:txBody>
      </p:sp>
      <p:graphicFrame>
        <p:nvGraphicFramePr>
          <p:cNvPr id="60418" name="对象 58372"/>
          <p:cNvGraphicFramePr/>
          <p:nvPr/>
        </p:nvGraphicFramePr>
        <p:xfrm>
          <a:off x="1752600" y="2208213"/>
          <a:ext cx="5638800" cy="2211387"/>
        </p:xfrm>
        <a:graphic>
          <a:graphicData uri="http://schemas.openxmlformats.org/presentationml/2006/ole">
            <mc:AlternateContent xmlns:mc="http://schemas.openxmlformats.org/markup-compatibility/2006">
              <mc:Choice xmlns:v="urn:schemas-microsoft-com:vml" Requires="v">
                <p:oleObj spid="_x0000_s3135" name="" r:id="rId1" imgW="2590800" imgH="1016000" progId="Equation.3">
                  <p:embed/>
                </p:oleObj>
              </mc:Choice>
              <mc:Fallback>
                <p:oleObj name="" r:id="rId1" imgW="2590800" imgH="1016000" progId="Equation.3">
                  <p:embed/>
                  <p:pic>
                    <p:nvPicPr>
                      <p:cNvPr id="0" name="图片 3134"/>
                      <p:cNvPicPr/>
                      <p:nvPr/>
                    </p:nvPicPr>
                    <p:blipFill>
                      <a:blip r:embed="rId2"/>
                      <a:stretch>
                        <a:fillRect/>
                      </a:stretch>
                    </p:blipFill>
                    <p:spPr>
                      <a:xfrm>
                        <a:off x="1752600" y="2208213"/>
                        <a:ext cx="5638800" cy="2211387"/>
                      </a:xfrm>
                      <a:prstGeom prst="rect">
                        <a:avLst/>
                      </a:prstGeom>
                      <a:noFill/>
                      <a:ln w="38100">
                        <a:noFill/>
                        <a:miter/>
                      </a:ln>
                    </p:spPr>
                  </p:pic>
                </p:oleObj>
              </mc:Fallback>
            </mc:AlternateContent>
          </a:graphicData>
        </a:graphic>
      </p:graphicFrame>
      <p:sp>
        <p:nvSpPr>
          <p:cNvPr id="60419" name="文本框 58373"/>
          <p:cNvSpPr txBox="1"/>
          <p:nvPr/>
        </p:nvSpPr>
        <p:spPr>
          <a:xfrm>
            <a:off x="7772400" y="3048000"/>
            <a:ext cx="10985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(5-29) </a:t>
            </a:r>
            <a:endParaRPr lang="en-US" altLang="zh-CN">
              <a:latin typeface="Times New Roman" panose="02020603050405020304" pitchFamily="18" charset="0"/>
              <a:ea typeface="宋体" panose="02010600030101010101" pitchFamily="2" charset="-122"/>
            </a:endParaRPr>
          </a:p>
        </p:txBody>
      </p:sp>
      <p:sp>
        <p:nvSpPr>
          <p:cNvPr id="60420" name="文本框 58374"/>
          <p:cNvSpPr txBox="1"/>
          <p:nvPr/>
        </p:nvSpPr>
        <p:spPr>
          <a:xfrm>
            <a:off x="228600" y="4343400"/>
            <a:ext cx="8686800" cy="109855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这里，</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是切比雪夫滤波器的通带宽度，但不是</a:t>
            </a:r>
            <a:r>
              <a:rPr lang="en-US" altLang="zh-CN" dirty="0">
                <a:latin typeface="Times New Roman" panose="02020603050405020304" pitchFamily="18" charset="0"/>
                <a:ea typeface="宋体" panose="02010600030101010101" pitchFamily="2" charset="-122"/>
              </a:rPr>
              <a:t>3 dB</a:t>
            </a:r>
            <a:r>
              <a:rPr lang="zh-CN" altLang="en-US" dirty="0">
                <a:latin typeface="Times New Roman" panose="02020603050405020304" pitchFamily="18" charset="0"/>
                <a:ea typeface="宋体" panose="02010600030101010101" pitchFamily="2" charset="-122"/>
              </a:rPr>
              <a:t>带宽，可以求出</a:t>
            </a:r>
            <a:r>
              <a:rPr lang="en-US" altLang="zh-CN" dirty="0">
                <a:latin typeface="Times New Roman" panose="02020603050405020304" pitchFamily="18" charset="0"/>
                <a:ea typeface="宋体" panose="02010600030101010101" pitchFamily="2" charset="-122"/>
              </a:rPr>
              <a:t>3 </a:t>
            </a:r>
            <a:r>
              <a:rPr lang="en-US" altLang="zh-CN" dirty="0">
                <a:latin typeface="Times New Roman" panose="02020603050405020304" pitchFamily="18" charset="0"/>
                <a:ea typeface="宋体" panose="02010600030101010101" pitchFamily="2" charset="-122"/>
              </a:rPr>
              <a:t>dB</a:t>
            </a:r>
            <a:r>
              <a:rPr lang="zh-CN" altLang="en-US" dirty="0">
                <a:latin typeface="Times New Roman" panose="02020603050405020304" pitchFamily="18" charset="0"/>
                <a:ea typeface="宋体" panose="02010600030101010101" pitchFamily="2" charset="-122"/>
              </a:rPr>
              <a:t>带宽为 </a:t>
            </a:r>
            <a:endParaRPr lang="zh-CN" altLang="en-US">
              <a:latin typeface="Times New Roman" panose="02020603050405020304" pitchFamily="18" charset="0"/>
              <a:ea typeface="宋体" panose="02010600030101010101" pitchFamily="2" charset="-122"/>
            </a:endParaRPr>
          </a:p>
        </p:txBody>
      </p:sp>
      <p:graphicFrame>
        <p:nvGraphicFramePr>
          <p:cNvPr id="60421" name="对象 58375"/>
          <p:cNvGraphicFramePr/>
          <p:nvPr/>
        </p:nvGraphicFramePr>
        <p:xfrm>
          <a:off x="2819400" y="4953000"/>
          <a:ext cx="1143000" cy="452438"/>
        </p:xfrm>
        <a:graphic>
          <a:graphicData uri="http://schemas.openxmlformats.org/presentationml/2006/ole">
            <mc:AlternateContent xmlns:mc="http://schemas.openxmlformats.org/markup-compatibility/2006">
              <mc:Choice xmlns:v="urn:schemas-microsoft-com:vml" Requires="v">
                <p:oleObj spid="_x0000_s3130" name="" r:id="rId3" imgW="609600" imgH="241300" progId="Equation.3">
                  <p:embed/>
                </p:oleObj>
              </mc:Choice>
              <mc:Fallback>
                <p:oleObj name="" r:id="rId3" imgW="609600" imgH="241300" progId="Equation.3">
                  <p:embed/>
                  <p:pic>
                    <p:nvPicPr>
                      <p:cNvPr id="0" name="图片 3129"/>
                      <p:cNvPicPr/>
                      <p:nvPr/>
                    </p:nvPicPr>
                    <p:blipFill>
                      <a:blip r:embed="rId4"/>
                      <a:stretch>
                        <a:fillRect/>
                      </a:stretch>
                    </p:blipFill>
                    <p:spPr>
                      <a:xfrm>
                        <a:off x="2819400" y="4953000"/>
                        <a:ext cx="1143000" cy="452438"/>
                      </a:xfrm>
                      <a:prstGeom prst="rect">
                        <a:avLst/>
                      </a:prstGeom>
                      <a:noFill/>
                      <a:ln w="38100">
                        <a:noFill/>
                        <a:miter/>
                      </a:ln>
                    </p:spPr>
                  </p:pic>
                </p:oleObj>
              </mc:Fallback>
            </mc:AlternateContent>
          </a:graphicData>
        </a:graphic>
      </p:graphicFrame>
      <p:graphicFrame>
        <p:nvGraphicFramePr>
          <p:cNvPr id="60422" name="对象 58376"/>
          <p:cNvGraphicFramePr/>
          <p:nvPr/>
        </p:nvGraphicFramePr>
        <p:xfrm>
          <a:off x="2667000" y="5257800"/>
          <a:ext cx="4495800" cy="1030288"/>
        </p:xfrm>
        <a:graphic>
          <a:graphicData uri="http://schemas.openxmlformats.org/presentationml/2006/ole">
            <mc:AlternateContent xmlns:mc="http://schemas.openxmlformats.org/markup-compatibility/2006">
              <mc:Choice xmlns:v="urn:schemas-microsoft-com:vml" Requires="v">
                <p:oleObj spid="_x0000_s3131" name="" r:id="rId5" imgW="1993900" imgH="457200" progId="Equation.3">
                  <p:embed/>
                </p:oleObj>
              </mc:Choice>
              <mc:Fallback>
                <p:oleObj name="" r:id="rId5" imgW="1993900" imgH="457200" progId="Equation.3">
                  <p:embed/>
                  <p:pic>
                    <p:nvPicPr>
                      <p:cNvPr id="0" name="图片 3130"/>
                      <p:cNvPicPr/>
                      <p:nvPr/>
                    </p:nvPicPr>
                    <p:blipFill>
                      <a:blip r:embed="rId6"/>
                      <a:stretch>
                        <a:fillRect/>
                      </a:stretch>
                    </p:blipFill>
                    <p:spPr>
                      <a:xfrm>
                        <a:off x="2667000" y="5257800"/>
                        <a:ext cx="4495800" cy="1030288"/>
                      </a:xfrm>
                      <a:prstGeom prst="rect">
                        <a:avLst/>
                      </a:prstGeom>
                      <a:noFill/>
                      <a:ln w="38100">
                        <a:noFill/>
                        <a:miter/>
                      </a:ln>
                    </p:spPr>
                  </p:pic>
                </p:oleObj>
              </mc:Fallback>
            </mc:AlternateContent>
          </a:graphicData>
        </a:graphic>
      </p:graphicFrame>
      <p:sp>
        <p:nvSpPr>
          <p:cNvPr id="60423" name="文本框 58377"/>
          <p:cNvSpPr txBox="1"/>
          <p:nvPr/>
        </p:nvSpPr>
        <p:spPr>
          <a:xfrm>
            <a:off x="8045450" y="5562600"/>
            <a:ext cx="10985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(5-30)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文本框 57347"/>
          <p:cNvSpPr txBox="1"/>
          <p:nvPr/>
        </p:nvSpPr>
        <p:spPr>
          <a:xfrm>
            <a:off x="304800" y="838200"/>
            <a:ext cx="8686800" cy="2905125"/>
          </a:xfrm>
          <a:prstGeom prst="rect">
            <a:avLst/>
          </a:prstGeom>
          <a:noFill/>
          <a:ln w="9525">
            <a:noFill/>
          </a:ln>
        </p:spPr>
        <p:txBody>
          <a:bodyPr anchor="t">
            <a:spAutoFit/>
          </a:bodyPr>
          <a:p>
            <a:pPr algn="just">
              <a:lnSpc>
                <a:spcPct val="17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注意，只有当</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&lt;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3 dB</a:t>
            </a:r>
            <a:r>
              <a:rPr lang="zh-CN" altLang="en-US" dirty="0">
                <a:latin typeface="Times New Roman" panose="02020603050405020304" pitchFamily="18" charset="0"/>
                <a:ea typeface="宋体" panose="02010600030101010101" pitchFamily="2" charset="-122"/>
              </a:rPr>
              <a:t>时才采用式（</a:t>
            </a:r>
            <a:r>
              <a:rPr lang="en-US" altLang="zh-CN" dirty="0">
                <a:latin typeface="Times New Roman" panose="02020603050405020304" pitchFamily="18" charset="0"/>
                <a:ea typeface="宋体" panose="02010600030101010101" pitchFamily="2" charset="-122"/>
              </a:rPr>
              <a:t>5-30</a:t>
            </a:r>
            <a:r>
              <a:rPr lang="zh-CN" altLang="en-US" dirty="0">
                <a:latin typeface="Times New Roman" panose="02020603050405020304" pitchFamily="18" charset="0"/>
                <a:ea typeface="宋体" panose="02010600030101010101" pitchFamily="2" charset="-122"/>
              </a:rPr>
              <a:t>）来求解</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3 dB</a:t>
            </a:r>
            <a:r>
              <a:rPr lang="zh-CN" altLang="en-US" dirty="0">
                <a:latin typeface="Times New Roman" panose="02020603050405020304" pitchFamily="18" charset="0"/>
                <a:ea typeface="宋体" panose="02010600030101010101" pitchFamily="2" charset="-122"/>
              </a:rPr>
              <a:t> 。 （因为满足</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3 dB</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&gt;1) </a:t>
            </a:r>
            <a:endParaRPr lang="en-US" altLang="zh-CN">
              <a:latin typeface="Times New Roman" panose="02020603050405020304" pitchFamily="18" charset="0"/>
              <a:ea typeface="宋体" panose="02010600030101010101" pitchFamily="2" charset="-122"/>
            </a:endParaRPr>
          </a:p>
          <a:p>
            <a:pPr algn="just">
              <a:lnSpc>
                <a:spcPct val="178000"/>
              </a:lnSpc>
              <a:spcBef>
                <a:spcPct val="50000"/>
              </a:spcBef>
            </a:pP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ε</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给定后，就可以求得滤波器的传递函数</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，这可查阅有</a:t>
            </a:r>
            <a:r>
              <a:rPr lang="zh-CN" altLang="en-US" dirty="0">
                <a:latin typeface="Times New Roman" panose="02020603050405020304" pitchFamily="18" charset="0"/>
                <a:ea typeface="宋体" panose="02010600030101010101" pitchFamily="2" charset="-122"/>
              </a:rPr>
              <a:t>关模拟滤波器手册。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文本框 60419"/>
          <p:cNvSpPr txBox="1"/>
          <p:nvPr/>
        </p:nvSpPr>
        <p:spPr>
          <a:xfrm>
            <a:off x="1600200" y="863600"/>
            <a:ext cx="6701155" cy="521970"/>
          </a:xfrm>
          <a:prstGeom prst="rect">
            <a:avLst/>
          </a:prstGeom>
          <a:noFill/>
          <a:ln w="9525">
            <a:noFill/>
          </a:ln>
        </p:spPr>
        <p:txBody>
          <a:bodyPr wrap="none" anchor="t">
            <a:spAutoFit/>
          </a:bodyPr>
          <a:p>
            <a:r>
              <a:rPr lang="en-US" altLang="zh-CN" sz="2800" b="1" dirty="0">
                <a:latin typeface="Times New Roman" panose="02020603050405020304" pitchFamily="18" charset="0"/>
                <a:ea typeface="宋体" panose="02010600030101010101" pitchFamily="2" charset="-122"/>
              </a:rPr>
              <a:t>5.4  </a:t>
            </a:r>
            <a:r>
              <a:rPr lang="zh-CN" altLang="en-US" sz="2800" b="1" dirty="0">
                <a:latin typeface="Times New Roman" panose="02020603050405020304" pitchFamily="18" charset="0"/>
                <a:ea typeface="宋体" panose="02010600030101010101" pitchFamily="2" charset="-122"/>
              </a:rPr>
              <a:t>用</a:t>
            </a:r>
            <a:r>
              <a:rPr lang="zh-CN" altLang="en-US" sz="2800" b="1" u="sng" dirty="0">
                <a:solidFill>
                  <a:srgbClr val="FF0000"/>
                </a:solidFill>
                <a:latin typeface="Times New Roman" panose="02020603050405020304" pitchFamily="18" charset="0"/>
                <a:ea typeface="宋体" panose="02010600030101010101" pitchFamily="2" charset="-122"/>
              </a:rPr>
              <a:t>脉冲响应不变法</a:t>
            </a:r>
            <a:r>
              <a:rPr lang="zh-CN" altLang="en-US" sz="2800" b="1" dirty="0">
                <a:latin typeface="Times New Roman" panose="02020603050405020304" pitchFamily="18" charset="0"/>
                <a:ea typeface="宋体" panose="02010600030101010101" pitchFamily="2" charset="-122"/>
              </a:rPr>
              <a:t>设计</a:t>
            </a:r>
            <a:r>
              <a:rPr lang="en-US" altLang="zh-CN" sz="2800" b="1" dirty="0">
                <a:latin typeface="Times New Roman" panose="02020603050405020304" pitchFamily="18" charset="0"/>
                <a:ea typeface="宋体" panose="02010600030101010101" pitchFamily="2" charset="-122"/>
              </a:rPr>
              <a:t>IIR</a:t>
            </a:r>
            <a:r>
              <a:rPr lang="zh-CN" altLang="en-US" sz="2800" b="1" dirty="0">
                <a:latin typeface="Times New Roman" panose="02020603050405020304" pitchFamily="18" charset="0"/>
                <a:ea typeface="宋体" panose="02010600030101010101" pitchFamily="2" charset="-122"/>
              </a:rPr>
              <a:t>数字滤波器</a:t>
            </a:r>
            <a:endParaRPr lang="zh-CN" altLang="en-US" sz="2800" b="1">
              <a:latin typeface="Times New Roman" panose="02020603050405020304" pitchFamily="18" charset="0"/>
              <a:ea typeface="宋体" panose="02010600030101010101" pitchFamily="2" charset="-122"/>
            </a:endParaRPr>
          </a:p>
        </p:txBody>
      </p:sp>
      <p:sp>
        <p:nvSpPr>
          <p:cNvPr id="62466" name="文本框 60420"/>
          <p:cNvSpPr txBox="1"/>
          <p:nvPr/>
        </p:nvSpPr>
        <p:spPr>
          <a:xfrm>
            <a:off x="228600" y="1524000"/>
            <a:ext cx="8686800" cy="3776663"/>
          </a:xfrm>
          <a:prstGeom prst="rect">
            <a:avLst/>
          </a:prstGeom>
          <a:noFill/>
          <a:ln w="9525">
            <a:noFill/>
          </a:ln>
        </p:spPr>
        <p:txBody>
          <a:bodyPr anchor="t">
            <a:spAutoFit/>
          </a:bodyPr>
          <a:p>
            <a:pPr algn="just">
              <a:lnSpc>
                <a:spcPct val="158000"/>
              </a:lnSpc>
              <a:spcBef>
                <a:spcPct val="50000"/>
              </a:spcBef>
            </a:pPr>
            <a:r>
              <a:rPr lang="en-US" altLang="zh-CN" b="1" dirty="0">
                <a:latin typeface="Times New Roman" panose="02020603050405020304" pitchFamily="18" charset="0"/>
                <a:ea typeface="宋体" panose="02010600030101010101" pitchFamily="2" charset="-122"/>
              </a:rPr>
              <a:t>5.4.1 </a:t>
            </a:r>
            <a:r>
              <a:rPr lang="zh-CN" altLang="en-US" b="1" dirty="0">
                <a:latin typeface="Times New Roman" panose="02020603050405020304" pitchFamily="18" charset="0"/>
                <a:ea typeface="宋体" panose="02010600030101010101" pitchFamily="2" charset="-122"/>
              </a:rPr>
              <a:t>变换原理</a:t>
            </a:r>
            <a:endParaRPr lang="zh-CN" altLang="en-US" b="1">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利用模拟滤波器来设计数字滤波器，也就是使数字滤波器能模仿模拟滤波器的特性，这种模仿可以从不同的角度出发。 脉冲响应不变法是从滤波器的脉冲响应出发，使</a:t>
            </a:r>
            <a:r>
              <a:rPr lang="zh-CN" altLang="en-US" b="1" dirty="0">
                <a:solidFill>
                  <a:srgbClr val="FF0000"/>
                </a:solidFill>
                <a:latin typeface="Times New Roman" panose="02020603050405020304" pitchFamily="18" charset="0"/>
                <a:ea typeface="宋体" panose="02010600030101010101" pitchFamily="2" charset="-122"/>
              </a:rPr>
              <a:t>数字滤波器的单位脉冲响应序列</a:t>
            </a:r>
            <a:r>
              <a:rPr lang="en-US" altLang="zh-CN" b="1" i="1">
                <a:solidFill>
                  <a:srgbClr val="FF0000"/>
                </a:solidFill>
                <a:latin typeface="Times New Roman" panose="02020603050405020304" pitchFamily="18" charset="0"/>
                <a:ea typeface="宋体" panose="02010600030101010101" pitchFamily="2" charset="-122"/>
              </a:rPr>
              <a:t>h</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n</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模仿模拟滤波器的冲激响应</a:t>
            </a:r>
            <a:r>
              <a:rPr lang="en-US" altLang="zh-CN" b="1" i="1">
                <a:solidFill>
                  <a:srgbClr val="FF0000"/>
                </a:solidFill>
                <a:latin typeface="Times New Roman" panose="02020603050405020304" pitchFamily="18" charset="0"/>
                <a:ea typeface="宋体" panose="02010600030101010101" pitchFamily="2" charset="-122"/>
              </a:rPr>
              <a:t>h</a:t>
            </a:r>
            <a:r>
              <a:rPr lang="en-US" altLang="zh-CN" b="1" baseline="-25000">
                <a:solidFill>
                  <a:srgbClr val="FF0000"/>
                </a:solidFill>
                <a:latin typeface="Times New Roman" panose="02020603050405020304" pitchFamily="18" charset="0"/>
                <a:ea typeface="宋体" panose="02010600030101010101" pitchFamily="2" charset="-122"/>
              </a:rPr>
              <a:t>a</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t</a:t>
            </a:r>
            <a:r>
              <a:rPr lang="en-US" altLang="zh-CN" b="1" dirty="0">
                <a:solidFill>
                  <a:srgbClr val="FF0000"/>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，即将</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进行</a:t>
            </a:r>
            <a:r>
              <a:rPr lang="zh-CN" altLang="en-US" dirty="0">
                <a:latin typeface="Times New Roman" panose="02020603050405020304" pitchFamily="18" charset="0"/>
                <a:ea typeface="宋体" panose="02010600030101010101" pitchFamily="2" charset="-122"/>
              </a:rPr>
              <a:t>等间隔采样，使</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正好等于</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的采样值，满足 </a:t>
            </a:r>
            <a:endParaRPr lang="zh-CN" altLang="en-US">
              <a:latin typeface="Times New Roman" panose="02020603050405020304" pitchFamily="18" charset="0"/>
              <a:ea typeface="宋体" panose="02010600030101010101" pitchFamily="2" charset="-122"/>
            </a:endParaRPr>
          </a:p>
        </p:txBody>
      </p:sp>
      <p:sp>
        <p:nvSpPr>
          <p:cNvPr id="62467" name="文本框 60421"/>
          <p:cNvSpPr txBox="1"/>
          <p:nvPr/>
        </p:nvSpPr>
        <p:spPr>
          <a:xfrm>
            <a:off x="3505200" y="5334000"/>
            <a:ext cx="1965325" cy="519113"/>
          </a:xfrm>
          <a:prstGeom prst="rect">
            <a:avLst/>
          </a:prstGeom>
          <a:noFill/>
          <a:ln w="9525">
            <a:noFill/>
          </a:ln>
        </p:spPr>
        <p:txBody>
          <a:bodyPr wrap="none" anchor="t">
            <a:spAutoFit/>
          </a:bodyPr>
          <a:p>
            <a:r>
              <a:rPr lang="en-US" altLang="zh-CN" sz="2800" i="1">
                <a:latin typeface="Times New Roman" panose="02020603050405020304" pitchFamily="18" charset="0"/>
                <a:ea typeface="宋体" panose="02010600030101010101" pitchFamily="2" charset="-122"/>
              </a:rPr>
              <a:t>h</a:t>
            </a:r>
            <a:r>
              <a:rPr lang="en-US" altLang="zh-CN"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n</a:t>
            </a:r>
            <a:r>
              <a:rPr lang="en-US" altLang="zh-CN"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h</a:t>
            </a:r>
            <a:r>
              <a:rPr lang="en-US" altLang="zh-CN" sz="2800" baseline="-25000">
                <a:latin typeface="Times New Roman" panose="02020603050405020304" pitchFamily="18" charset="0"/>
                <a:ea typeface="宋体" panose="02010600030101010101" pitchFamily="2" charset="-122"/>
              </a:rPr>
              <a:t>a</a:t>
            </a:r>
            <a:r>
              <a:rPr lang="en-US" altLang="zh-CN" sz="2800">
                <a:latin typeface="Times New Roman" panose="02020603050405020304" pitchFamily="18" charset="0"/>
                <a:ea typeface="宋体" panose="02010600030101010101" pitchFamily="2" charset="-122"/>
              </a:rPr>
              <a:t>(</a:t>
            </a:r>
            <a:r>
              <a:rPr lang="en-US" altLang="zh-CN" sz="2800" i="1" err="1">
                <a:latin typeface="Times New Roman" panose="02020603050405020304" pitchFamily="18" charset="0"/>
                <a:ea typeface="宋体" panose="02010600030101010101" pitchFamily="2" charset="-122"/>
              </a:rPr>
              <a:t>nT</a:t>
            </a:r>
            <a:r>
              <a:rPr lang="en-US" altLang="zh-CN" sz="2800">
                <a:latin typeface="Times New Roman" panose="02020603050405020304" pitchFamily="18" charset="0"/>
                <a:ea typeface="宋体" panose="02010600030101010101" pitchFamily="2" charset="-122"/>
              </a:rPr>
              <a:t>) </a:t>
            </a:r>
            <a:endParaRPr lang="en-US" altLang="zh-CN" sz="2800">
              <a:latin typeface="Times New Roman" panose="02020603050405020304" pitchFamily="18" charset="0"/>
              <a:ea typeface="宋体" panose="02010600030101010101" pitchFamily="2" charset="-122"/>
            </a:endParaRPr>
          </a:p>
        </p:txBody>
      </p:sp>
      <p:sp>
        <p:nvSpPr>
          <p:cNvPr id="62468" name="文本框 60422"/>
          <p:cNvSpPr txBox="1"/>
          <p:nvPr/>
        </p:nvSpPr>
        <p:spPr>
          <a:xfrm>
            <a:off x="7315200" y="5410200"/>
            <a:ext cx="1352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5-31</a:t>
            </a:r>
            <a:r>
              <a:rPr lang="zh-CN" altLang="en-US" dirty="0">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p:txBody>
      </p:sp>
      <p:sp>
        <p:nvSpPr>
          <p:cNvPr id="62469" name="文本框 60423"/>
          <p:cNvSpPr txBox="1"/>
          <p:nvPr/>
        </p:nvSpPr>
        <p:spPr>
          <a:xfrm>
            <a:off x="228600" y="5715000"/>
            <a:ext cx="3021013"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dirty="0">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是采样周期。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文本框 59395"/>
          <p:cNvSpPr txBox="1"/>
          <p:nvPr/>
        </p:nvSpPr>
        <p:spPr>
          <a:xfrm>
            <a:off x="152400" y="762000"/>
            <a:ext cx="8763000" cy="1735138"/>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如果令</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是</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的拉普拉斯变换，</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为</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的</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变换，利用第</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章</a:t>
            </a:r>
            <a:r>
              <a:rPr lang="en-US" altLang="zh-CN" dirty="0">
                <a:latin typeface="Times New Roman" panose="02020603050405020304" pitchFamily="18" charset="0"/>
                <a:ea typeface="宋体" panose="02010600030101010101" pitchFamily="2" charset="-122"/>
              </a:rPr>
              <a:t>1.5</a:t>
            </a:r>
            <a:r>
              <a:rPr lang="zh-CN" altLang="en-US" dirty="0">
                <a:latin typeface="Times New Roman" panose="02020603050405020304" pitchFamily="18" charset="0"/>
                <a:ea typeface="宋体" panose="02010600030101010101" pitchFamily="2" charset="-122"/>
              </a:rPr>
              <a:t>节采样序列的</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变换与模拟信号的拉普拉斯变换的关系，即利用式（</a:t>
            </a:r>
            <a:r>
              <a:rPr lang="en-US" altLang="zh-CN"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101</a:t>
            </a:r>
            <a:r>
              <a:rPr lang="zh-CN" altLang="en-US" dirty="0">
                <a:latin typeface="Times New Roman" panose="02020603050405020304" pitchFamily="18" charset="0"/>
                <a:ea typeface="宋体" panose="02010600030101010101" pitchFamily="2" charset="-122"/>
              </a:rPr>
              <a:t>），得 </a:t>
            </a:r>
            <a:endParaRPr lang="zh-CN" altLang="en-US">
              <a:latin typeface="Times New Roman" panose="02020603050405020304" pitchFamily="18" charset="0"/>
              <a:ea typeface="宋体" panose="02010600030101010101" pitchFamily="2" charset="-122"/>
            </a:endParaRPr>
          </a:p>
        </p:txBody>
      </p:sp>
      <p:graphicFrame>
        <p:nvGraphicFramePr>
          <p:cNvPr id="63490" name="对象 59396"/>
          <p:cNvGraphicFramePr/>
          <p:nvPr/>
        </p:nvGraphicFramePr>
        <p:xfrm>
          <a:off x="495300" y="2782888"/>
          <a:ext cx="8077200" cy="1027112"/>
        </p:xfrm>
        <a:graphic>
          <a:graphicData uri="http://schemas.openxmlformats.org/presentationml/2006/ole">
            <mc:AlternateContent xmlns:mc="http://schemas.openxmlformats.org/markup-compatibility/2006">
              <mc:Choice xmlns:v="urn:schemas-microsoft-com:vml" Requires="v">
                <p:oleObj spid="_x0000_s3141" name="" r:id="rId1" imgW="3389630" imgH="431800" progId="Equation.3">
                  <p:embed/>
                </p:oleObj>
              </mc:Choice>
              <mc:Fallback>
                <p:oleObj name="" r:id="rId1" imgW="3389630" imgH="431800" progId="Equation.3">
                  <p:embed/>
                  <p:pic>
                    <p:nvPicPr>
                      <p:cNvPr id="0" name="图片 3140"/>
                      <p:cNvPicPr/>
                      <p:nvPr/>
                    </p:nvPicPr>
                    <p:blipFill>
                      <a:blip r:embed="rId2"/>
                      <a:stretch>
                        <a:fillRect/>
                      </a:stretch>
                    </p:blipFill>
                    <p:spPr>
                      <a:xfrm>
                        <a:off x="495300" y="2782888"/>
                        <a:ext cx="8077200" cy="1027112"/>
                      </a:xfrm>
                      <a:prstGeom prst="rect">
                        <a:avLst/>
                      </a:prstGeom>
                      <a:solidFill>
                        <a:schemeClr val="accent1"/>
                      </a:solidFill>
                      <a:ln w="38100">
                        <a:noFill/>
                        <a:miter/>
                      </a:ln>
                    </p:spPr>
                  </p:pic>
                </p:oleObj>
              </mc:Fallback>
            </mc:AlternateContent>
          </a:graphicData>
        </a:graphic>
      </p:graphicFrame>
      <p:sp>
        <p:nvSpPr>
          <p:cNvPr id="63491" name="文本框 59397"/>
          <p:cNvSpPr txBox="1"/>
          <p:nvPr/>
        </p:nvSpPr>
        <p:spPr>
          <a:xfrm>
            <a:off x="8121650" y="38100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(5-32) </a:t>
            </a:r>
            <a:endParaRPr lang="en-US" altLang="zh-CN">
              <a:latin typeface="Times New Roman" panose="02020603050405020304" pitchFamily="18" charset="0"/>
              <a:ea typeface="宋体" panose="02010600030101010101" pitchFamily="2" charset="-122"/>
            </a:endParaRPr>
          </a:p>
        </p:txBody>
      </p:sp>
      <p:sp>
        <p:nvSpPr>
          <p:cNvPr id="63492" name="文本框 59398"/>
          <p:cNvSpPr txBox="1"/>
          <p:nvPr/>
        </p:nvSpPr>
        <p:spPr>
          <a:xfrm>
            <a:off x="152400" y="4267200"/>
            <a:ext cx="8839200" cy="1735138"/>
          </a:xfrm>
          <a:prstGeom prst="rect">
            <a:avLst/>
          </a:prstGeom>
          <a:noFill/>
          <a:ln w="9525">
            <a:noFill/>
          </a:ln>
        </p:spPr>
        <p:txBody>
          <a:bodyPr anchor="t">
            <a:spAutoFit/>
          </a:bodyPr>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则可看出，脉冲响应不变法将模拟滤波器的</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平面变换成数字滤波器的</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平面，这个从</a:t>
            </a:r>
            <a:r>
              <a:rPr lang="en-US" altLang="zh-CN" i="1">
                <a:latin typeface="Times New Roman" panose="02020603050405020304" pitchFamily="18" charset="0"/>
                <a:ea typeface="宋体" panose="02010600030101010101" pitchFamily="2" charset="-122"/>
              </a:rPr>
              <a:t>s</a:t>
            </a:r>
            <a:r>
              <a:rPr lang="zh-CN" altLang="en-US">
                <a:latin typeface="Times New Roman" panose="02020603050405020304" pitchFamily="18" charset="0"/>
                <a:ea typeface="宋体" panose="02010600030101010101" pitchFamily="2" charset="-122"/>
              </a:rPr>
              <a:t>到</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的变换</a:t>
            </a:r>
            <a:r>
              <a:rPr lang="en-US" altLang="zh-CN" i="1">
                <a:latin typeface="Times New Roman" panose="02020603050405020304" pitchFamily="18" charset="0"/>
                <a:ea typeface="宋体" panose="02010600030101010101" pitchFamily="2" charset="-122"/>
              </a:rPr>
              <a:t>z</a:t>
            </a:r>
            <a:r>
              <a:rPr lang="en-US" altLang="zh-CN" err="1">
                <a:latin typeface="Times New Roman" panose="02020603050405020304" pitchFamily="18" charset="0"/>
                <a:ea typeface="宋体" panose="02010600030101010101" pitchFamily="2" charset="-122"/>
              </a:rPr>
              <a:t>=e</a:t>
            </a:r>
            <a:r>
              <a:rPr lang="en-US" altLang="zh-CN" i="1" baseline="30000" err="1">
                <a:latin typeface="Times New Roman" panose="02020603050405020304" pitchFamily="18" charset="0"/>
                <a:ea typeface="宋体" panose="02010600030101010101" pitchFamily="2" charset="-122"/>
              </a:rPr>
              <a:t>sT</a:t>
            </a:r>
            <a:r>
              <a:rPr lang="zh-CN" altLang="en-US" dirty="0">
                <a:latin typeface="Times New Roman" panose="02020603050405020304" pitchFamily="18" charset="0"/>
                <a:ea typeface="宋体" panose="02010600030101010101" pitchFamily="2" charset="-122"/>
              </a:rPr>
              <a:t>正是第</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章</a:t>
            </a:r>
            <a:r>
              <a:rPr lang="en-US" altLang="zh-CN" dirty="0">
                <a:latin typeface="Times New Roman" panose="02020603050405020304" pitchFamily="18" charset="0"/>
                <a:ea typeface="宋体" panose="02010600030101010101" pitchFamily="2" charset="-122"/>
              </a:rPr>
              <a:t>1.5</a:t>
            </a:r>
            <a:r>
              <a:rPr lang="zh-CN" altLang="en-US" dirty="0">
                <a:latin typeface="Times New Roman" panose="02020603050405020304" pitchFamily="18" charset="0"/>
                <a:ea typeface="宋体" panose="02010600030101010101" pitchFamily="2" charset="-122"/>
              </a:rPr>
              <a:t>节中从</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平面变换到</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平面的标准</a:t>
            </a:r>
            <a:r>
              <a:rPr lang="zh-CN" altLang="en-US" dirty="0">
                <a:latin typeface="Times New Roman" panose="02020603050405020304" pitchFamily="18" charset="0"/>
                <a:ea typeface="宋体" panose="02010600030101010101" pitchFamily="2" charset="-122"/>
              </a:rPr>
              <a:t>变换关系式（</a:t>
            </a:r>
            <a:r>
              <a:rPr lang="en-US" altLang="zh-CN" dirty="0">
                <a:latin typeface="Times New Roman" panose="02020603050405020304" pitchFamily="18" charset="0"/>
                <a:ea typeface="宋体" panose="02010600030101010101" pitchFamily="2" charset="-122"/>
              </a:rPr>
              <a:t>1-99</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cxnSp>
        <p:nvCxnSpPr>
          <p:cNvPr id="2" name="直接连接符 1"/>
          <p:cNvCxnSpPr/>
          <p:nvPr/>
        </p:nvCxnSpPr>
        <p:spPr>
          <a:xfrm>
            <a:off x="2628265" y="3789045"/>
            <a:ext cx="2447925" cy="0"/>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6156960" y="3789045"/>
            <a:ext cx="2404110" cy="20955"/>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标题 158721"/>
          <p:cNvSpPr>
            <a:spLocks noGrp="1"/>
          </p:cNvSpPr>
          <p:nvPr/>
        </p:nvSpPr>
        <p:spPr>
          <a:xfrm>
            <a:off x="467995" y="44450"/>
            <a:ext cx="8229600" cy="848995"/>
          </a:xfrm>
          <a:prstGeom prst="rect">
            <a:avLst/>
          </a:prstGeom>
          <a:solidFill>
            <a:schemeClr val="accent1"/>
          </a:solidFill>
          <a:ln w="9525">
            <a:noFill/>
          </a:ln>
        </p:spPr>
        <p:txBody>
          <a:bodyPr anchor="ctr" anchorCtr="0"/>
          <a:lstStyle>
            <a:lvl1pPr marL="0" lvl="0" indent="0" algn="ctr" defTabSz="914400" eaLnBrk="1" fontAlgn="base" latinLnBrk="0" hangingPunct="1">
              <a:lnSpc>
                <a:spcPct val="100000"/>
              </a:lnSpc>
              <a:spcBef>
                <a:spcPct val="0"/>
              </a:spcBef>
              <a:spcAft>
                <a:spcPct val="0"/>
              </a:spcAft>
              <a:buClr>
                <a:srgbClr val="000000"/>
              </a:buClr>
              <a:buNone/>
              <a:defRPr sz="4400" b="0" i="0" u="none" kern="1200" baseline="0">
                <a:solidFill>
                  <a:schemeClr val="tx2"/>
                </a:solidFill>
                <a:latin typeface="+mj-lt"/>
                <a:ea typeface="+mj-ea"/>
                <a:cs typeface="+mj-cs"/>
              </a:defRPr>
            </a:lvl1pPr>
          </a:lstStyle>
          <a:p>
            <a:r>
              <a:rPr lang="en-US" altLang="zh-CN" b="1"/>
              <a:t>S-Z</a:t>
            </a:r>
            <a:r>
              <a:rPr lang="zh-CN" altLang="en-US" b="1" dirty="0"/>
              <a:t>平面的映射关系</a:t>
            </a:r>
            <a:endParaRPr lang="zh-CN" altLang="en-US" b="1" dirty="0"/>
          </a:p>
        </p:txBody>
      </p:sp>
    </p:spTree>
    <p:controls>
      <mc:AlternateContent xmlns:mc="http://schemas.openxmlformats.org/markup-compatibility/2006">
        <mc:Choice xmlns:v="urn:schemas-microsoft-com:vml" Requires="v">
          <p:control spid="1027" name="ShockwaveFlash1" r:id="rId1" imgW="9132570" imgH="5851525"/>
        </mc:Choice>
        <mc:Fallback>
          <p:control name="ShockwaveFlash1" r:id="rId1" imgW="9132570" imgH="5851525">
            <p:pic>
              <p:nvPicPr>
                <p:cNvPr id="0" name="ShockwaveFlash1"/>
                <p:cNvPicPr/>
                <p:nvPr/>
              </p:nvPicPr>
              <p:blipFill>
                <a:blip r:embed="rId2"/>
                <a:stretch>
                  <a:fillRect/>
                </a:stretch>
              </p:blipFill>
              <p:spPr>
                <a:xfrm>
                  <a:off x="635" y="990600"/>
                  <a:ext cx="9132570" cy="5851525"/>
                </a:xfrm>
                <a:prstGeom prst="rect">
                  <a:avLst/>
                </a:prstGeom>
                <a:noFill/>
                <a:ln w="9525">
                  <a:noFill/>
                </a:ln>
              </p:spPr>
            </p:pic>
          </p:control>
        </mc:Fallback>
      </mc:AlternateContent>
    </p:controls>
  </p:cSld>
  <p:clrMapOvr>
    <a:masterClrMapping/>
  </p:clrMapOvr>
  <p:transition>
    <p:blinds/>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ontrols>
      <mc:AlternateContent xmlns:mc="http://schemas.openxmlformats.org/markup-compatibility/2006">
        <mc:Choice xmlns:v="urn:schemas-microsoft-com:vml" Requires="v">
          <p:control spid="2051" name="ShockwaveFlash1" r:id="rId1" imgW="9152890" imgH="6332220"/>
        </mc:Choice>
        <mc:Fallback>
          <p:control name="ShockwaveFlash1" r:id="rId1" imgW="9152890" imgH="6332220">
            <p:pic>
              <p:nvPicPr>
                <p:cNvPr id="0" name="ShockwaveFlash1"/>
                <p:cNvPicPr/>
                <p:nvPr/>
              </p:nvPicPr>
              <p:blipFill>
                <a:blip r:embed="rId2"/>
                <a:stretch>
                  <a:fillRect/>
                </a:stretch>
              </p:blipFill>
              <p:spPr>
                <a:xfrm>
                  <a:off x="635" y="503555"/>
                  <a:ext cx="9152890" cy="6332220"/>
                </a:xfrm>
                <a:prstGeom prst="rect">
                  <a:avLst/>
                </a:prstGeom>
                <a:noFill/>
                <a:ln w="9525">
                  <a:noFill/>
                </a:ln>
              </p:spPr>
            </p:pic>
          </p:control>
        </mc:Fallback>
      </mc:AlternateContent>
    </p:controls>
  </p:cSld>
  <p:clrMapOvr>
    <a:masterClrMapping/>
  </p:clrMapOvr>
  <p:transition>
    <p:blinds/>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文本框 62467"/>
          <p:cNvSpPr txBox="1"/>
          <p:nvPr/>
        </p:nvSpPr>
        <p:spPr>
          <a:xfrm>
            <a:off x="2438400" y="5486400"/>
            <a:ext cx="4781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5-9 </a:t>
            </a:r>
            <a:r>
              <a:rPr lang="zh-CN" altLang="en-US" dirty="0">
                <a:latin typeface="Times New Roman" panose="02020603050405020304" pitchFamily="18" charset="0"/>
                <a:ea typeface="宋体" panose="02010600030101010101" pitchFamily="2" charset="-122"/>
              </a:rPr>
              <a:t>脉冲响应不变法的映射关系 </a:t>
            </a:r>
            <a:endParaRPr lang="zh-CN" altLang="en-US">
              <a:latin typeface="Times New Roman" panose="02020603050405020304" pitchFamily="18" charset="0"/>
              <a:ea typeface="宋体" panose="02010600030101010101" pitchFamily="2" charset="-122"/>
            </a:endParaRPr>
          </a:p>
        </p:txBody>
      </p:sp>
      <p:pic>
        <p:nvPicPr>
          <p:cNvPr id="64514" name="图片 62470" descr="5-9"/>
          <p:cNvPicPr>
            <a:picLocks noChangeAspect="1"/>
          </p:cNvPicPr>
          <p:nvPr/>
        </p:nvPicPr>
        <p:blipFill>
          <a:blip r:embed="rId1"/>
          <a:stretch>
            <a:fillRect/>
          </a:stretch>
        </p:blipFill>
        <p:spPr>
          <a:xfrm>
            <a:off x="1548130" y="1628775"/>
            <a:ext cx="5715000" cy="3181350"/>
          </a:xfrm>
          <a:prstGeom prst="rect">
            <a:avLst/>
          </a:prstGeom>
          <a:noFill/>
          <a:ln w="9525">
            <a:noFill/>
          </a:ln>
        </p:spPr>
      </p:pic>
      <p:graphicFrame>
        <p:nvGraphicFramePr>
          <p:cNvPr id="64515" name="对象 1">
            <a:hlinkClick r:id="" action="ppaction://ole?verb="/>
          </p:cNvPr>
          <p:cNvGraphicFramePr>
            <a:graphicFrameLocks noChangeAspect="1"/>
          </p:cNvGraphicFramePr>
          <p:nvPr/>
        </p:nvGraphicFramePr>
        <p:xfrm>
          <a:off x="311150" y="863600"/>
          <a:ext cx="8766175" cy="631825"/>
        </p:xfrm>
        <a:graphic>
          <a:graphicData uri="http://schemas.openxmlformats.org/presentationml/2006/ole">
            <mc:AlternateContent xmlns:mc="http://schemas.openxmlformats.org/markup-compatibility/2006">
              <mc:Choice xmlns:v="urn:schemas-microsoft-com:vml" Requires="v">
                <p:oleObj spid="_x0000_s3140" name="" r:id="rId2" imgW="2819400" imgH="203200" progId="Equation.KSEE3">
                  <p:embed/>
                </p:oleObj>
              </mc:Choice>
              <mc:Fallback>
                <p:oleObj name="" r:id="rId2" imgW="2819400" imgH="203200" progId="Equation.KSEE3">
                  <p:embed/>
                  <p:pic>
                    <p:nvPicPr>
                      <p:cNvPr id="0" name="图片 3139"/>
                      <p:cNvPicPr/>
                      <p:nvPr/>
                    </p:nvPicPr>
                    <p:blipFill>
                      <a:blip r:embed="rId3"/>
                      <a:stretch>
                        <a:fillRect/>
                      </a:stretch>
                    </p:blipFill>
                    <p:spPr>
                      <a:xfrm>
                        <a:off x="311150" y="863600"/>
                        <a:ext cx="8766175" cy="631825"/>
                      </a:xfrm>
                      <a:prstGeom prst="rect">
                        <a:avLst/>
                      </a:prstGeom>
                      <a:solidFill>
                        <a:schemeClr val="accent1"/>
                      </a:solidFill>
                      <a:ln w="38100">
                        <a:noFill/>
                        <a:miter/>
                      </a:ln>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7429500" y="1628775"/>
          <a:ext cx="1414463" cy="349250"/>
        </p:xfrm>
        <a:graphic>
          <a:graphicData uri="http://schemas.openxmlformats.org/presentationml/2006/ole">
            <mc:AlternateContent xmlns:mc="http://schemas.openxmlformats.org/markup-compatibility/2006">
              <mc:Choice xmlns:v="urn:schemas-microsoft-com:vml" Requires="v">
                <p:oleObj spid="_x0000_s3136" name="" r:id="rId4" imgW="876300" imgH="215900" progId="Equation.KSEE3">
                  <p:embed/>
                </p:oleObj>
              </mc:Choice>
              <mc:Fallback>
                <p:oleObj name="" r:id="rId4" imgW="876300" imgH="215900" progId="Equation.KSEE3">
                  <p:embed/>
                  <p:pic>
                    <p:nvPicPr>
                      <p:cNvPr id="0" name="图片 3135"/>
                      <p:cNvPicPr/>
                      <p:nvPr/>
                    </p:nvPicPr>
                    <p:blipFill>
                      <a:blip r:embed="rId5"/>
                      <a:stretch>
                        <a:fillRect/>
                      </a:stretch>
                    </p:blipFill>
                    <p:spPr>
                      <a:xfrm>
                        <a:off x="7429500" y="1628775"/>
                        <a:ext cx="1414463" cy="349250"/>
                      </a:xfrm>
                      <a:prstGeom prst="rect">
                        <a:avLst/>
                      </a:prstGeom>
                      <a:solidFill>
                        <a:schemeClr val="accent1"/>
                      </a:solidFill>
                      <a:ln w="38100">
                        <a:noFill/>
                        <a:miter/>
                      </a:ln>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7429183" y="2132965"/>
          <a:ext cx="1639887" cy="347663"/>
        </p:xfrm>
        <a:graphic>
          <a:graphicData uri="http://schemas.openxmlformats.org/presentationml/2006/ole">
            <mc:AlternateContent xmlns:mc="http://schemas.openxmlformats.org/markup-compatibility/2006">
              <mc:Choice xmlns:v="urn:schemas-microsoft-com:vml" Requires="v">
                <p:oleObj spid="_x0000_s3145" name="" r:id="rId6" imgW="1016000" imgH="215900" progId="Equation.KSEE3">
                  <p:embed/>
                </p:oleObj>
              </mc:Choice>
              <mc:Fallback>
                <p:oleObj name="" r:id="rId6" imgW="1016000" imgH="215900" progId="Equation.KSEE3">
                  <p:embed/>
                  <p:pic>
                    <p:nvPicPr>
                      <p:cNvPr id="0" name="图片 3144"/>
                      <p:cNvPicPr/>
                      <p:nvPr/>
                    </p:nvPicPr>
                    <p:blipFill>
                      <a:blip r:embed="rId7"/>
                      <a:stretch>
                        <a:fillRect/>
                      </a:stretch>
                    </p:blipFill>
                    <p:spPr>
                      <a:xfrm>
                        <a:off x="7429183" y="2132965"/>
                        <a:ext cx="1639887" cy="347663"/>
                      </a:xfrm>
                      <a:prstGeom prst="rect">
                        <a:avLst/>
                      </a:prstGeom>
                      <a:solidFill>
                        <a:schemeClr val="accent1"/>
                      </a:solidFill>
                      <a:ln w="38100">
                        <a:noFill/>
                        <a:miter/>
                      </a:ln>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7383145" y="2780348"/>
          <a:ext cx="1662113" cy="349250"/>
        </p:xfrm>
        <a:graphic>
          <a:graphicData uri="http://schemas.openxmlformats.org/presentationml/2006/ole">
            <mc:AlternateContent xmlns:mc="http://schemas.openxmlformats.org/markup-compatibility/2006">
              <mc:Choice xmlns:v="urn:schemas-microsoft-com:vml" Requires="v">
                <p:oleObj spid="_x0000_s3138" name="" r:id="rId8" imgW="1028700" imgH="215900" progId="Equation.KSEE3">
                  <p:embed/>
                </p:oleObj>
              </mc:Choice>
              <mc:Fallback>
                <p:oleObj name="" r:id="rId8" imgW="1028700" imgH="215900" progId="Equation.KSEE3">
                  <p:embed/>
                  <p:pic>
                    <p:nvPicPr>
                      <p:cNvPr id="0" name="图片 3137"/>
                      <p:cNvPicPr/>
                      <p:nvPr/>
                    </p:nvPicPr>
                    <p:blipFill>
                      <a:blip r:embed="rId9"/>
                      <a:stretch>
                        <a:fillRect/>
                      </a:stretch>
                    </p:blipFill>
                    <p:spPr>
                      <a:xfrm>
                        <a:off x="7383145" y="2780348"/>
                        <a:ext cx="1662113" cy="349250"/>
                      </a:xfrm>
                      <a:prstGeom prst="rect">
                        <a:avLst/>
                      </a:prstGeom>
                      <a:solidFill>
                        <a:schemeClr val="accent1"/>
                      </a:solidFill>
                      <a:ln w="38100">
                        <a:noFill/>
                        <a:miter/>
                      </a:ln>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7046913" y="4024313"/>
          <a:ext cx="2030412" cy="328612"/>
        </p:xfrm>
        <a:graphic>
          <a:graphicData uri="http://schemas.openxmlformats.org/presentationml/2006/ole">
            <mc:AlternateContent xmlns:mc="http://schemas.openxmlformats.org/markup-compatibility/2006">
              <mc:Choice xmlns:v="urn:schemas-microsoft-com:vml" Requires="v">
                <p:oleObj spid="_x0000_s3146" name="" r:id="rId10" imgW="1257300" imgH="203200" progId="Equation.KSEE3">
                  <p:embed/>
                </p:oleObj>
              </mc:Choice>
              <mc:Fallback>
                <p:oleObj name="" r:id="rId10" imgW="1257300" imgH="203200" progId="Equation.KSEE3">
                  <p:embed/>
                  <p:pic>
                    <p:nvPicPr>
                      <p:cNvPr id="0" name="图片 3145"/>
                      <p:cNvPicPr/>
                      <p:nvPr/>
                    </p:nvPicPr>
                    <p:blipFill>
                      <a:blip r:embed="rId11"/>
                      <a:stretch>
                        <a:fillRect/>
                      </a:stretch>
                    </p:blipFill>
                    <p:spPr>
                      <a:xfrm>
                        <a:off x="7046913" y="4024313"/>
                        <a:ext cx="2030412" cy="328612"/>
                      </a:xfrm>
                      <a:prstGeom prst="rect">
                        <a:avLst/>
                      </a:prstGeom>
                      <a:solidFill>
                        <a:srgbClr val="FFFF00"/>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文本框 61443"/>
          <p:cNvSpPr txBox="1"/>
          <p:nvPr/>
        </p:nvSpPr>
        <p:spPr>
          <a:xfrm>
            <a:off x="228600" y="533400"/>
            <a:ext cx="8686800" cy="1784350"/>
          </a:xfrm>
          <a:prstGeom prst="rect">
            <a:avLst/>
          </a:prstGeom>
          <a:noFill/>
          <a:ln w="9525">
            <a:noFill/>
          </a:ln>
        </p:spPr>
        <p:txBody>
          <a:bodyPr anchor="t">
            <a:spAutoFit/>
          </a:bodyPr>
          <a:p>
            <a:pPr algn="just">
              <a:lnSpc>
                <a:spcPct val="138000"/>
              </a:lnSpc>
              <a:spcBef>
                <a:spcPct val="50000"/>
              </a:spcBef>
            </a:pPr>
            <a:r>
              <a:rPr lang="en-US" altLang="zh-CN" b="1" dirty="0">
                <a:latin typeface="Times New Roman" panose="02020603050405020304" pitchFamily="18" charset="0"/>
                <a:ea typeface="宋体" panose="02010600030101010101" pitchFamily="2" charset="-122"/>
              </a:rPr>
              <a:t>5.4.2 </a:t>
            </a:r>
            <a:r>
              <a:rPr lang="zh-CN" altLang="en-US" b="1" dirty="0">
                <a:latin typeface="Times New Roman" panose="02020603050405020304" pitchFamily="18" charset="0"/>
                <a:ea typeface="宋体" panose="02010600030101010101" pitchFamily="2" charset="-122"/>
              </a:rPr>
              <a:t>混叠失真</a:t>
            </a:r>
            <a:endParaRPr lang="zh-CN" altLang="en-US" b="1">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由式（</a:t>
            </a:r>
            <a:r>
              <a:rPr lang="en-US" altLang="zh-CN" dirty="0">
                <a:latin typeface="Times New Roman" panose="02020603050405020304" pitchFamily="18" charset="0"/>
                <a:ea typeface="宋体" panose="02010600030101010101" pitchFamily="2" charset="-122"/>
              </a:rPr>
              <a:t>5-32</a:t>
            </a:r>
            <a:r>
              <a:rPr lang="zh-CN" altLang="en-US" dirty="0">
                <a:latin typeface="Times New Roman" panose="02020603050405020304" pitchFamily="18" charset="0"/>
                <a:ea typeface="宋体" panose="02010600030101010101" pitchFamily="2" charset="-122"/>
              </a:rPr>
              <a:t>）知，数字滤波器的频率响应和模拟滤波器的频率响应间的关系</a:t>
            </a:r>
            <a:r>
              <a:rPr lang="zh-CN" altLang="en-US" dirty="0">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graphicFrame>
        <p:nvGraphicFramePr>
          <p:cNvPr id="65538" name="对象 61444"/>
          <p:cNvGraphicFramePr/>
          <p:nvPr/>
        </p:nvGraphicFramePr>
        <p:xfrm>
          <a:off x="2286000" y="2209800"/>
          <a:ext cx="4648200" cy="1031875"/>
        </p:xfrm>
        <a:graphic>
          <a:graphicData uri="http://schemas.openxmlformats.org/presentationml/2006/ole">
            <mc:AlternateContent xmlns:mc="http://schemas.openxmlformats.org/markup-compatibility/2006">
              <mc:Choice xmlns:v="urn:schemas-microsoft-com:vml" Requires="v">
                <p:oleObj spid="_x0000_s3139" name="" r:id="rId1" imgW="1942465" imgH="431800" progId="Equation.3">
                  <p:embed/>
                </p:oleObj>
              </mc:Choice>
              <mc:Fallback>
                <p:oleObj name="" r:id="rId1" imgW="1942465" imgH="431800" progId="Equation.3">
                  <p:embed/>
                  <p:pic>
                    <p:nvPicPr>
                      <p:cNvPr id="0" name="图片 3138"/>
                      <p:cNvPicPr/>
                      <p:nvPr/>
                    </p:nvPicPr>
                    <p:blipFill>
                      <a:blip r:embed="rId2"/>
                      <a:stretch>
                        <a:fillRect/>
                      </a:stretch>
                    </p:blipFill>
                    <p:spPr>
                      <a:xfrm>
                        <a:off x="2286000" y="2209800"/>
                        <a:ext cx="4648200" cy="1031875"/>
                      </a:xfrm>
                      <a:prstGeom prst="rect">
                        <a:avLst/>
                      </a:prstGeom>
                      <a:solidFill>
                        <a:schemeClr val="accent1"/>
                      </a:solidFill>
                      <a:ln w="38100">
                        <a:noFill/>
                        <a:miter/>
                      </a:ln>
                    </p:spPr>
                  </p:pic>
                </p:oleObj>
              </mc:Fallback>
            </mc:AlternateContent>
          </a:graphicData>
        </a:graphic>
      </p:graphicFrame>
      <p:sp>
        <p:nvSpPr>
          <p:cNvPr id="65539" name="文本框 61445"/>
          <p:cNvSpPr txBox="1"/>
          <p:nvPr/>
        </p:nvSpPr>
        <p:spPr>
          <a:xfrm>
            <a:off x="7848600" y="25146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(5-33) </a:t>
            </a:r>
            <a:endParaRPr lang="en-US" altLang="zh-CN">
              <a:latin typeface="Times New Roman" panose="02020603050405020304" pitchFamily="18" charset="0"/>
              <a:ea typeface="宋体" panose="02010600030101010101" pitchFamily="2" charset="-122"/>
            </a:endParaRPr>
          </a:p>
        </p:txBody>
      </p:sp>
      <p:sp>
        <p:nvSpPr>
          <p:cNvPr id="65540" name="文本框 61446"/>
          <p:cNvSpPr txBox="1"/>
          <p:nvPr/>
        </p:nvSpPr>
        <p:spPr>
          <a:xfrm>
            <a:off x="228600" y="3200400"/>
            <a:ext cx="8763000" cy="161925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这就是说，数字滤波器的频率响应是模拟滤波器频率响应的周期延拓。正如第</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章</a:t>
            </a:r>
            <a:r>
              <a:rPr lang="en-US" altLang="zh-CN" dirty="0">
                <a:latin typeface="Times New Roman" panose="02020603050405020304" pitchFamily="18" charset="0"/>
                <a:ea typeface="宋体" panose="02010600030101010101" pitchFamily="2" charset="-122"/>
              </a:rPr>
              <a:t>1.2</a:t>
            </a:r>
            <a:r>
              <a:rPr lang="zh-CN" altLang="en-US" dirty="0">
                <a:latin typeface="Times New Roman" panose="02020603050405020304" pitchFamily="18" charset="0"/>
                <a:ea typeface="宋体" panose="02010600030101010101" pitchFamily="2" charset="-122"/>
              </a:rPr>
              <a:t>节采样定理所讨论的，只有当模拟滤波器的频率响应是限带的，且带限于折叠频率以内</a:t>
            </a:r>
            <a:r>
              <a:rPr lang="zh-CN" altLang="en-US" dirty="0">
                <a:latin typeface="Times New Roman" panose="02020603050405020304" pitchFamily="18" charset="0"/>
                <a:ea typeface="宋体" panose="02010600030101010101" pitchFamily="2" charset="-122"/>
              </a:rPr>
              <a:t>时，即 </a:t>
            </a:r>
            <a:endParaRPr lang="zh-CN" altLang="en-US">
              <a:latin typeface="Times New Roman" panose="02020603050405020304" pitchFamily="18" charset="0"/>
              <a:ea typeface="宋体" panose="02010600030101010101" pitchFamily="2" charset="-122"/>
            </a:endParaRPr>
          </a:p>
        </p:txBody>
      </p:sp>
      <p:graphicFrame>
        <p:nvGraphicFramePr>
          <p:cNvPr id="65541" name="对象 61447"/>
          <p:cNvGraphicFramePr/>
          <p:nvPr/>
        </p:nvGraphicFramePr>
        <p:xfrm>
          <a:off x="2514600" y="5181600"/>
          <a:ext cx="1981200" cy="593725"/>
        </p:xfrm>
        <a:graphic>
          <a:graphicData uri="http://schemas.openxmlformats.org/presentationml/2006/ole">
            <mc:AlternateContent xmlns:mc="http://schemas.openxmlformats.org/markup-compatibility/2006">
              <mc:Choice xmlns:v="urn:schemas-microsoft-com:vml" Requires="v">
                <p:oleObj spid="_x0000_s3142" name="" r:id="rId3" imgW="761365" imgH="228600" progId="Equation.3">
                  <p:embed/>
                </p:oleObj>
              </mc:Choice>
              <mc:Fallback>
                <p:oleObj name="" r:id="rId3" imgW="761365" imgH="228600" progId="Equation.3">
                  <p:embed/>
                  <p:pic>
                    <p:nvPicPr>
                      <p:cNvPr id="0" name="图片 3141"/>
                      <p:cNvPicPr/>
                      <p:nvPr/>
                    </p:nvPicPr>
                    <p:blipFill>
                      <a:blip r:embed="rId4"/>
                      <a:stretch>
                        <a:fillRect/>
                      </a:stretch>
                    </p:blipFill>
                    <p:spPr>
                      <a:xfrm>
                        <a:off x="2514600" y="5181600"/>
                        <a:ext cx="1981200" cy="593725"/>
                      </a:xfrm>
                      <a:prstGeom prst="rect">
                        <a:avLst/>
                      </a:prstGeom>
                      <a:noFill/>
                      <a:ln w="38100">
                        <a:noFill/>
                        <a:miter/>
                      </a:ln>
                    </p:spPr>
                  </p:pic>
                </p:oleObj>
              </mc:Fallback>
            </mc:AlternateContent>
          </a:graphicData>
        </a:graphic>
      </p:graphicFrame>
      <p:graphicFrame>
        <p:nvGraphicFramePr>
          <p:cNvPr id="65542" name="对象 61448"/>
          <p:cNvGraphicFramePr/>
          <p:nvPr/>
        </p:nvGraphicFramePr>
        <p:xfrm>
          <a:off x="4876800" y="4953000"/>
          <a:ext cx="2286000" cy="1041400"/>
        </p:xfrm>
        <a:graphic>
          <a:graphicData uri="http://schemas.openxmlformats.org/presentationml/2006/ole">
            <mc:AlternateContent xmlns:mc="http://schemas.openxmlformats.org/markup-compatibility/2006">
              <mc:Choice xmlns:v="urn:schemas-microsoft-com:vml" Requires="v">
                <p:oleObj spid="_x0000_s3143" name="" r:id="rId5" imgW="862965" imgH="393700" progId="Equation.3">
                  <p:embed/>
                </p:oleObj>
              </mc:Choice>
              <mc:Fallback>
                <p:oleObj name="" r:id="rId5" imgW="862965" imgH="393700" progId="Equation.3">
                  <p:embed/>
                  <p:pic>
                    <p:nvPicPr>
                      <p:cNvPr id="0" name="图片 3142"/>
                      <p:cNvPicPr/>
                      <p:nvPr/>
                    </p:nvPicPr>
                    <p:blipFill>
                      <a:blip r:embed="rId6"/>
                      <a:stretch>
                        <a:fillRect/>
                      </a:stretch>
                    </p:blipFill>
                    <p:spPr>
                      <a:xfrm>
                        <a:off x="4876800" y="4953000"/>
                        <a:ext cx="2286000" cy="1041400"/>
                      </a:xfrm>
                      <a:prstGeom prst="rect">
                        <a:avLst/>
                      </a:prstGeom>
                      <a:noFill/>
                      <a:ln w="38100">
                        <a:noFill/>
                        <a:miter/>
                      </a:ln>
                    </p:spPr>
                  </p:pic>
                </p:oleObj>
              </mc:Fallback>
            </mc:AlternateContent>
          </a:graphicData>
        </a:graphic>
      </p:graphicFrame>
      <p:sp>
        <p:nvSpPr>
          <p:cNvPr id="65543" name="文本框 61449"/>
          <p:cNvSpPr txBox="1"/>
          <p:nvPr/>
        </p:nvSpPr>
        <p:spPr>
          <a:xfrm>
            <a:off x="7924800" y="52578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(5-34) </a:t>
            </a:r>
            <a:endParaRPr lang="en-US" altLang="zh-CN">
              <a:latin typeface="Times New Roman" panose="02020603050405020304" pitchFamily="18" charset="0"/>
              <a:ea typeface="宋体" panose="02010600030101010101" pitchFamily="2" charset="-122"/>
            </a:endParaRPr>
          </a:p>
        </p:txBody>
      </p:sp>
      <p:graphicFrame>
        <p:nvGraphicFramePr>
          <p:cNvPr id="62466" name="对象 59396"/>
          <p:cNvGraphicFramePr/>
          <p:nvPr/>
        </p:nvGraphicFramePr>
        <p:xfrm>
          <a:off x="2514600" y="912813"/>
          <a:ext cx="4932363" cy="1025525"/>
        </p:xfrm>
        <a:graphic>
          <a:graphicData uri="http://schemas.openxmlformats.org/presentationml/2006/ole">
            <mc:AlternateContent xmlns:mc="http://schemas.openxmlformats.org/markup-compatibility/2006">
              <mc:Choice xmlns:v="urn:schemas-microsoft-com:vml" Requires="v">
                <p:oleObj spid="_x0000_s3137" name="" r:id="rId7" imgW="2070100" imgH="431800" progId="Equation.3">
                  <p:embed/>
                </p:oleObj>
              </mc:Choice>
              <mc:Fallback>
                <p:oleObj name="" r:id="rId7" imgW="2070100" imgH="431800" progId="Equation.3">
                  <p:embed/>
                  <p:pic>
                    <p:nvPicPr>
                      <p:cNvPr id="0" name="图片 3136"/>
                      <p:cNvPicPr/>
                      <p:nvPr/>
                    </p:nvPicPr>
                    <p:blipFill>
                      <a:blip r:embed="rId8"/>
                      <a:stretch>
                        <a:fillRect/>
                      </a:stretch>
                    </p:blipFill>
                    <p:spPr>
                      <a:xfrm>
                        <a:off x="2514600" y="912813"/>
                        <a:ext cx="4932363" cy="1025525"/>
                      </a:xfrm>
                      <a:prstGeom prst="rect">
                        <a:avLst/>
                      </a:prstGeom>
                      <a:solidFill>
                        <a:srgbClr val="FFC000"/>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466"/>
                                        </p:tgtEl>
                                        <p:attrNameLst>
                                          <p:attrName>style.visibility</p:attrName>
                                        </p:attrNameLst>
                                      </p:cBhvr>
                                      <p:to>
                                        <p:strVal val="visible"/>
                                      </p:to>
                                    </p:set>
                                    <p:anim calcmode="lin" valueType="num">
                                      <p:cBhvr additive="base">
                                        <p:cTn id="7" dur="500" fill="hold"/>
                                        <p:tgtEl>
                                          <p:spTgt spid="62466"/>
                                        </p:tgtEl>
                                        <p:attrNameLst>
                                          <p:attrName>ppt_x</p:attrName>
                                        </p:attrNameLst>
                                      </p:cBhvr>
                                      <p:tavLst>
                                        <p:tav tm="0">
                                          <p:val>
                                            <p:strVal val="#ppt_x"/>
                                          </p:val>
                                        </p:tav>
                                        <p:tav tm="100000">
                                          <p:val>
                                            <p:strVal val="#ppt_x"/>
                                          </p:val>
                                        </p:tav>
                                      </p:tavLst>
                                    </p:anim>
                                    <p:anim calcmode="lin" valueType="num">
                                      <p:cBhvr additive="base">
                                        <p:cTn id="8" dur="500" fill="hold"/>
                                        <p:tgtEl>
                                          <p:spTgt spid="624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文本框 64515"/>
          <p:cNvSpPr txBox="1"/>
          <p:nvPr/>
        </p:nvSpPr>
        <p:spPr>
          <a:xfrm>
            <a:off x="228600" y="654050"/>
            <a:ext cx="8686800" cy="1109663"/>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才能使数字滤波器的频率响应在折叠频率以内重现模拟滤波器的频率响应，而</a:t>
            </a:r>
            <a:r>
              <a:rPr lang="zh-CN" altLang="en-US" b="1" u="sng" dirty="0">
                <a:solidFill>
                  <a:srgbClr val="FF0000"/>
                </a:solidFill>
                <a:latin typeface="Times New Roman" panose="02020603050405020304" pitchFamily="18" charset="0"/>
                <a:ea typeface="宋体" panose="02010600030101010101" pitchFamily="2" charset="-122"/>
              </a:rPr>
              <a:t>不产生混叠</a:t>
            </a:r>
            <a:r>
              <a:rPr lang="zh-CN" altLang="en-US" b="1" u="sng" dirty="0">
                <a:solidFill>
                  <a:srgbClr val="FF0000"/>
                </a:solidFill>
                <a:latin typeface="Times New Roman" panose="02020603050405020304" pitchFamily="18" charset="0"/>
                <a:ea typeface="宋体" panose="02010600030101010101" pitchFamily="2" charset="-122"/>
              </a:rPr>
              <a:t>失真</a:t>
            </a:r>
            <a:r>
              <a:rPr lang="zh-CN" altLang="en-US" dirty="0">
                <a:latin typeface="Times New Roman" panose="02020603050405020304" pitchFamily="18" charset="0"/>
                <a:ea typeface="宋体" panose="02010600030101010101" pitchFamily="2" charset="-122"/>
              </a:rPr>
              <a:t>，即 </a:t>
            </a:r>
            <a:endParaRPr lang="zh-CN" altLang="en-US">
              <a:latin typeface="Times New Roman" panose="02020603050405020304" pitchFamily="18" charset="0"/>
              <a:ea typeface="宋体" panose="02010600030101010101" pitchFamily="2" charset="-122"/>
            </a:endParaRPr>
          </a:p>
        </p:txBody>
      </p:sp>
      <p:graphicFrame>
        <p:nvGraphicFramePr>
          <p:cNvPr id="66562" name="对象 64516"/>
          <p:cNvGraphicFramePr/>
          <p:nvPr/>
        </p:nvGraphicFramePr>
        <p:xfrm>
          <a:off x="2419350" y="1828800"/>
          <a:ext cx="2895600" cy="920750"/>
        </p:xfrm>
        <a:graphic>
          <a:graphicData uri="http://schemas.openxmlformats.org/presentationml/2006/ole">
            <mc:AlternateContent xmlns:mc="http://schemas.openxmlformats.org/markup-compatibility/2006">
              <mc:Choice xmlns:v="urn:schemas-microsoft-com:vml" Requires="v">
                <p:oleObj spid="_x0000_s3144" name="" r:id="rId1" imgW="1358265" imgH="431800" progId="Equation.3">
                  <p:embed/>
                </p:oleObj>
              </mc:Choice>
              <mc:Fallback>
                <p:oleObj name="" r:id="rId1" imgW="1358265" imgH="431800" progId="Equation.3">
                  <p:embed/>
                  <p:pic>
                    <p:nvPicPr>
                      <p:cNvPr id="0" name="图片 3143"/>
                      <p:cNvPicPr/>
                      <p:nvPr/>
                    </p:nvPicPr>
                    <p:blipFill>
                      <a:blip r:embed="rId2"/>
                      <a:stretch>
                        <a:fillRect/>
                      </a:stretch>
                    </p:blipFill>
                    <p:spPr>
                      <a:xfrm>
                        <a:off x="2419350" y="1828800"/>
                        <a:ext cx="2895600" cy="920750"/>
                      </a:xfrm>
                      <a:prstGeom prst="rect">
                        <a:avLst/>
                      </a:prstGeom>
                      <a:solidFill>
                        <a:schemeClr val="accent1"/>
                      </a:solidFill>
                      <a:ln w="38100">
                        <a:noFill/>
                        <a:miter/>
                      </a:ln>
                    </p:spPr>
                  </p:pic>
                </p:oleObj>
              </mc:Fallback>
            </mc:AlternateContent>
          </a:graphicData>
        </a:graphic>
      </p:graphicFrame>
      <p:sp>
        <p:nvSpPr>
          <p:cNvPr id="66563" name="文本框 64517"/>
          <p:cNvSpPr txBox="1"/>
          <p:nvPr/>
        </p:nvSpPr>
        <p:spPr>
          <a:xfrm>
            <a:off x="5867400" y="2057400"/>
            <a:ext cx="10858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|&lt;π</a:t>
            </a:r>
            <a:endParaRPr lang="en-US" altLang="zh-CN">
              <a:latin typeface="Times New Roman" panose="02020603050405020304" pitchFamily="18" charset="0"/>
              <a:ea typeface="宋体" panose="02010600030101010101" pitchFamily="2" charset="-122"/>
            </a:endParaRPr>
          </a:p>
        </p:txBody>
      </p:sp>
      <p:sp>
        <p:nvSpPr>
          <p:cNvPr id="66564" name="文本框 64518"/>
          <p:cNvSpPr txBox="1"/>
          <p:nvPr/>
        </p:nvSpPr>
        <p:spPr>
          <a:xfrm>
            <a:off x="8121650" y="20574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(5-35) </a:t>
            </a:r>
            <a:endParaRPr lang="en-US" altLang="zh-CN">
              <a:latin typeface="Times New Roman" panose="02020603050405020304" pitchFamily="18" charset="0"/>
              <a:ea typeface="宋体" panose="02010600030101010101" pitchFamily="2" charset="-122"/>
            </a:endParaRPr>
          </a:p>
        </p:txBody>
      </p:sp>
      <p:sp>
        <p:nvSpPr>
          <p:cNvPr id="66565" name="文本框 64520"/>
          <p:cNvSpPr txBox="1"/>
          <p:nvPr/>
        </p:nvSpPr>
        <p:spPr>
          <a:xfrm>
            <a:off x="228600" y="2667000"/>
            <a:ext cx="8686800" cy="3614738"/>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但是，任何一个实际的模拟滤波器频率响应都不是严格限带的， 变换后就会产生周期延拓分量的频谱交叠，即产生频率响应的混叠失真，如图</a:t>
            </a:r>
            <a:r>
              <a:rPr lang="en-US" altLang="zh-CN" dirty="0">
                <a:latin typeface="Times New Roman" panose="02020603050405020304" pitchFamily="18" charset="0"/>
                <a:ea typeface="宋体" panose="02010600030101010101" pitchFamily="2" charset="-122"/>
              </a:rPr>
              <a:t>5-10</a:t>
            </a:r>
            <a:r>
              <a:rPr lang="zh-CN" altLang="en-US" dirty="0">
                <a:latin typeface="Times New Roman" panose="02020603050405020304" pitchFamily="18" charset="0"/>
                <a:ea typeface="宋体" panose="02010600030101010101" pitchFamily="2" charset="-122"/>
              </a:rPr>
              <a:t>所示。这时数字滤波器的频响就不同于原模拟滤波器的频响，而带有一定的失真。当模拟滤波器的频率响应在折叠频率以上处衰减越大、越快时，变换后频率响应混叠失真就越小。这时，采用脉冲响应不变法设计的数字滤</a:t>
            </a:r>
            <a:r>
              <a:rPr lang="zh-CN" altLang="en-US" dirty="0">
                <a:latin typeface="Times New Roman" panose="02020603050405020304" pitchFamily="18" charset="0"/>
                <a:ea typeface="宋体" panose="02010600030101010101" pitchFamily="2" charset="-122"/>
              </a:rPr>
              <a:t>波器才能得到良好的效果。 </a:t>
            </a:r>
            <a:endParaRPr lang="zh-CN" altLang="en-US">
              <a:latin typeface="Times New Roman" panose="02020603050405020304" pitchFamily="18" charset="0"/>
              <a:ea typeface="宋体" panose="02010600030101010101" pitchFamily="2" charset="-122"/>
            </a:endParaRPr>
          </a:p>
        </p:txBody>
      </p:sp>
      <p:sp>
        <p:nvSpPr>
          <p:cNvPr id="2" name="五角星 1"/>
          <p:cNvSpPr/>
          <p:nvPr/>
        </p:nvSpPr>
        <p:spPr>
          <a:xfrm>
            <a:off x="968375" y="1828800"/>
            <a:ext cx="790575" cy="720725"/>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文本框 63491"/>
          <p:cNvSpPr txBox="1"/>
          <p:nvPr/>
        </p:nvSpPr>
        <p:spPr>
          <a:xfrm>
            <a:off x="2057400" y="5715000"/>
            <a:ext cx="58166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5-10 </a:t>
            </a:r>
            <a:r>
              <a:rPr lang="zh-CN" altLang="en-US" dirty="0">
                <a:latin typeface="Times New Roman" panose="02020603050405020304" pitchFamily="18" charset="0"/>
                <a:ea typeface="宋体" panose="02010600030101010101" pitchFamily="2" charset="-122"/>
              </a:rPr>
              <a:t>脉冲响应不变法中的频响混叠现象 </a:t>
            </a:r>
            <a:endParaRPr lang="zh-CN" altLang="en-US">
              <a:latin typeface="Times New Roman" panose="02020603050405020304" pitchFamily="18" charset="0"/>
              <a:ea typeface="宋体" panose="02010600030101010101" pitchFamily="2" charset="-122"/>
            </a:endParaRPr>
          </a:p>
        </p:txBody>
      </p:sp>
      <p:pic>
        <p:nvPicPr>
          <p:cNvPr id="67586" name="图片 63494" descr="5-10"/>
          <p:cNvPicPr>
            <a:picLocks noChangeAspect="1"/>
          </p:cNvPicPr>
          <p:nvPr/>
        </p:nvPicPr>
        <p:blipFill>
          <a:blip r:embed="rId1"/>
          <a:stretch>
            <a:fillRect/>
          </a:stretch>
        </p:blipFill>
        <p:spPr>
          <a:xfrm>
            <a:off x="1714500" y="1052513"/>
            <a:ext cx="5715000" cy="4229100"/>
          </a:xfrm>
          <a:prstGeom prst="rect">
            <a:avLst/>
          </a:prstGeom>
          <a:noFill/>
          <a:ln w="9525">
            <a:noFill/>
          </a:ln>
        </p:spPr>
      </p:pic>
      <p:graphicFrame>
        <p:nvGraphicFramePr>
          <p:cNvPr id="62466" name="对象 59396"/>
          <p:cNvGraphicFramePr/>
          <p:nvPr/>
        </p:nvGraphicFramePr>
        <p:xfrm>
          <a:off x="6657975" y="3187700"/>
          <a:ext cx="1544638" cy="482600"/>
        </p:xfrm>
        <a:graphic>
          <a:graphicData uri="http://schemas.openxmlformats.org/presentationml/2006/ole">
            <mc:AlternateContent xmlns:mc="http://schemas.openxmlformats.org/markup-compatibility/2006">
              <mc:Choice xmlns:v="urn:schemas-microsoft-com:vml" Requires="v">
                <p:oleObj spid="_x0000_s3152" name="" r:id="rId2" imgW="647700" imgH="203200" progId="Equation.3">
                  <p:embed/>
                </p:oleObj>
              </mc:Choice>
              <mc:Fallback>
                <p:oleObj name="" r:id="rId2" imgW="647700" imgH="203200" progId="Equation.3">
                  <p:embed/>
                  <p:pic>
                    <p:nvPicPr>
                      <p:cNvPr id="0" name="图片 3151"/>
                      <p:cNvPicPr/>
                      <p:nvPr/>
                    </p:nvPicPr>
                    <p:blipFill>
                      <a:blip r:embed="rId3"/>
                      <a:stretch>
                        <a:fillRect/>
                      </a:stretch>
                    </p:blipFill>
                    <p:spPr>
                      <a:xfrm>
                        <a:off x="6657975" y="3187700"/>
                        <a:ext cx="1544638" cy="482600"/>
                      </a:xfrm>
                      <a:prstGeom prst="rect">
                        <a:avLst/>
                      </a:prstGeom>
                      <a:solidFill>
                        <a:schemeClr val="accent1"/>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466"/>
                                        </p:tgtEl>
                                        <p:attrNameLst>
                                          <p:attrName>style.visibility</p:attrName>
                                        </p:attrNameLst>
                                      </p:cBhvr>
                                      <p:to>
                                        <p:strVal val="visible"/>
                                      </p:to>
                                    </p:set>
                                    <p:anim calcmode="lin" valueType="num">
                                      <p:cBhvr additive="base">
                                        <p:cTn id="7" dur="500" fill="hold"/>
                                        <p:tgtEl>
                                          <p:spTgt spid="62466"/>
                                        </p:tgtEl>
                                        <p:attrNameLst>
                                          <p:attrName>ppt_x</p:attrName>
                                        </p:attrNameLst>
                                      </p:cBhvr>
                                      <p:tavLst>
                                        <p:tav tm="0">
                                          <p:val>
                                            <p:strVal val="#ppt_x"/>
                                          </p:val>
                                        </p:tav>
                                        <p:tav tm="100000">
                                          <p:val>
                                            <p:strVal val="#ppt_x"/>
                                          </p:val>
                                        </p:tav>
                                      </p:tavLst>
                                    </p:anim>
                                    <p:anim calcmode="lin" valueType="num">
                                      <p:cBhvr additive="base">
                                        <p:cTn id="8" dur="500" fill="hold"/>
                                        <p:tgtEl>
                                          <p:spTgt spid="624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ontrols>
      <mc:AlternateContent xmlns:mc="http://schemas.openxmlformats.org/markup-compatibility/2006">
        <mc:Choice xmlns:v="urn:schemas-microsoft-com:vml" Requires="v">
          <p:control spid="4099" name="ShockwaveFlash1" r:id="rId1" imgW="9165590" imgH="6381750"/>
        </mc:Choice>
        <mc:Fallback>
          <p:control name="ShockwaveFlash1" r:id="rId1" imgW="9165590" imgH="6381750">
            <p:pic>
              <p:nvPicPr>
                <p:cNvPr id="0" name="ShockwaveFlash1"/>
                <p:cNvPicPr/>
                <p:nvPr/>
              </p:nvPicPr>
              <p:blipFill>
                <a:blip r:embed="rId2"/>
                <a:stretch>
                  <a:fillRect/>
                </a:stretch>
              </p:blipFill>
              <p:spPr>
                <a:xfrm>
                  <a:off x="-36195" y="476885"/>
                  <a:ext cx="9165590" cy="6381750"/>
                </a:xfrm>
                <a:prstGeom prst="rect">
                  <a:avLst/>
                </a:prstGeom>
                <a:noFill/>
                <a:ln w="9525">
                  <a:noFill/>
                </a:ln>
              </p:spPr>
            </p:pic>
          </p:control>
        </mc:Fallback>
      </mc:AlternateContent>
    </p:controls>
  </p:cSld>
  <p:clrMapOvr>
    <a:masterClrMapping/>
  </p:clrMapOvr>
  <p:transition>
    <p:blinds/>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ontrols>
      <mc:AlternateContent xmlns:mc="http://schemas.openxmlformats.org/markup-compatibility/2006">
        <mc:Choice xmlns:v="urn:schemas-microsoft-com:vml" Requires="v">
          <p:control spid="3075" name="ShockwaveFlash1" r:id="rId1" imgW="9144635" imgH="6281420"/>
        </mc:Choice>
        <mc:Fallback>
          <p:control name="ShockwaveFlash1" r:id="rId1" imgW="9144635" imgH="6281420">
            <p:pic>
              <p:nvPicPr>
                <p:cNvPr id="0" name="ShockwaveFlash1"/>
                <p:cNvPicPr/>
                <p:nvPr/>
              </p:nvPicPr>
              <p:blipFill>
                <a:blip r:embed="rId2"/>
                <a:stretch>
                  <a:fillRect/>
                </a:stretch>
              </p:blipFill>
              <p:spPr>
                <a:xfrm>
                  <a:off x="0" y="576580"/>
                  <a:ext cx="9144635" cy="6281420"/>
                </a:xfrm>
                <a:prstGeom prst="rect">
                  <a:avLst/>
                </a:prstGeom>
                <a:noFill/>
                <a:ln w="9525">
                  <a:noFill/>
                </a:ln>
              </p:spPr>
            </p:pic>
          </p:control>
        </mc:Fallback>
      </mc:AlternateContent>
    </p:controls>
  </p:cSld>
  <p:clrMapOvr>
    <a:masterClrMapping/>
  </p:clrMapOvr>
  <p:transition>
    <p:blinds/>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2466" name="对象 59396"/>
          <p:cNvGraphicFramePr/>
          <p:nvPr/>
        </p:nvGraphicFramePr>
        <p:xfrm>
          <a:off x="3886200" y="4067175"/>
          <a:ext cx="1543050" cy="544513"/>
        </p:xfrm>
        <a:graphic>
          <a:graphicData uri="http://schemas.openxmlformats.org/presentationml/2006/ole">
            <mc:AlternateContent xmlns:mc="http://schemas.openxmlformats.org/markup-compatibility/2006">
              <mc:Choice xmlns:v="urn:schemas-microsoft-com:vml" Requires="v">
                <p:oleObj spid="_x0000_s3148" name="" r:id="rId1" imgW="647700" imgH="228600" progId="Equation.3">
                  <p:embed/>
                </p:oleObj>
              </mc:Choice>
              <mc:Fallback>
                <p:oleObj name="" r:id="rId1" imgW="647700" imgH="228600" progId="Equation.3">
                  <p:embed/>
                  <p:pic>
                    <p:nvPicPr>
                      <p:cNvPr id="0" name="图片 3147"/>
                      <p:cNvPicPr/>
                      <p:nvPr/>
                    </p:nvPicPr>
                    <p:blipFill>
                      <a:blip r:embed="rId2"/>
                      <a:stretch>
                        <a:fillRect/>
                      </a:stretch>
                    </p:blipFill>
                    <p:spPr>
                      <a:xfrm>
                        <a:off x="3886200" y="4067175"/>
                        <a:ext cx="1543050" cy="544513"/>
                      </a:xfrm>
                      <a:prstGeom prst="rect">
                        <a:avLst/>
                      </a:prstGeom>
                      <a:solidFill>
                        <a:schemeClr val="accent1"/>
                      </a:solidFill>
                      <a:ln w="38100">
                        <a:noFill/>
                        <a:miter/>
                      </a:ln>
                    </p:spPr>
                  </p:pic>
                </p:oleObj>
              </mc:Fallback>
            </mc:AlternateContent>
          </a:graphicData>
        </a:graphic>
      </p:graphicFrame>
      <p:sp>
        <p:nvSpPr>
          <p:cNvPr id="68610" name="文本框 66563"/>
          <p:cNvSpPr txBox="1"/>
          <p:nvPr/>
        </p:nvSpPr>
        <p:spPr>
          <a:xfrm>
            <a:off x="684213" y="981075"/>
            <a:ext cx="8012112" cy="2543175"/>
          </a:xfrm>
          <a:prstGeom prst="rect">
            <a:avLst/>
          </a:prstGeom>
          <a:noFill/>
          <a:ln w="9525">
            <a:noFill/>
          </a:ln>
        </p:spPr>
        <p:txBody>
          <a:bodyPr anchor="t">
            <a:spAutoFit/>
          </a:bodyPr>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对某一模拟滤波器的单位冲激响应</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进行采样，采样频率为</a:t>
            </a:r>
            <a:r>
              <a:rPr lang="en-US" altLang="zh-CN" i="1" dirty="0" err="1">
                <a:latin typeface="Times New Roman" panose="02020603050405020304" pitchFamily="18" charset="0"/>
                <a:ea typeface="宋体" panose="02010600030101010101" pitchFamily="2" charset="-122"/>
              </a:rPr>
              <a:t>f</a:t>
            </a:r>
            <a:r>
              <a:rPr lang="en-US" altLang="zh-CN" baseline="-25000" dirty="0" err="1">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，若使</a:t>
            </a:r>
            <a:r>
              <a:rPr lang="en-US" altLang="zh-CN" i="1" dirty="0" err="1">
                <a:latin typeface="Times New Roman" panose="02020603050405020304" pitchFamily="18" charset="0"/>
                <a:ea typeface="宋体" panose="02010600030101010101" pitchFamily="2" charset="-122"/>
              </a:rPr>
              <a:t>f</a:t>
            </a:r>
            <a:r>
              <a:rPr lang="en-US" altLang="zh-CN" baseline="-25000" dirty="0" err="1">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增加，即令采样时间间隔（</a:t>
            </a: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=1/</a:t>
            </a:r>
            <a:r>
              <a:rPr lang="en-US" altLang="zh-CN" i="1" dirty="0" err="1">
                <a:latin typeface="Times New Roman" panose="02020603050405020304" pitchFamily="18" charset="0"/>
                <a:ea typeface="宋体" panose="02010600030101010101" pitchFamily="2" charset="-122"/>
              </a:rPr>
              <a:t>f</a:t>
            </a:r>
            <a:r>
              <a:rPr lang="en-US" altLang="zh-CN" baseline="-25000" dirty="0" err="1">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）减小，则系统频率响应各周期延拓分量之间相距更远，因而可</a:t>
            </a:r>
            <a:r>
              <a:rPr lang="zh-CN" altLang="en-US" dirty="0">
                <a:latin typeface="Times New Roman" panose="02020603050405020304" pitchFamily="18" charset="0"/>
                <a:ea typeface="宋体" panose="02010600030101010101" pitchFamily="2" charset="-122"/>
              </a:rPr>
              <a:t>减小频率响应的混叠效应。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466"/>
                                        </p:tgtEl>
                                        <p:attrNameLst>
                                          <p:attrName>style.visibility</p:attrName>
                                        </p:attrNameLst>
                                      </p:cBhvr>
                                      <p:to>
                                        <p:strVal val="visible"/>
                                      </p:to>
                                    </p:set>
                                    <p:anim calcmode="lin" valueType="num">
                                      <p:cBhvr additive="base">
                                        <p:cTn id="7" dur="500" fill="hold"/>
                                        <p:tgtEl>
                                          <p:spTgt spid="62466"/>
                                        </p:tgtEl>
                                        <p:attrNameLst>
                                          <p:attrName>ppt_x</p:attrName>
                                        </p:attrNameLst>
                                      </p:cBhvr>
                                      <p:tavLst>
                                        <p:tav tm="0">
                                          <p:val>
                                            <p:strVal val="#ppt_x"/>
                                          </p:val>
                                        </p:tav>
                                        <p:tav tm="100000">
                                          <p:val>
                                            <p:strVal val="#ppt_x"/>
                                          </p:val>
                                        </p:tav>
                                      </p:tavLst>
                                    </p:anim>
                                    <p:anim calcmode="lin" valueType="num">
                                      <p:cBhvr additive="base">
                                        <p:cTn id="8" dur="500" fill="hold"/>
                                        <p:tgtEl>
                                          <p:spTgt spid="624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539750" y="4221163"/>
            <a:ext cx="3743325"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4" name="矩形 3"/>
          <p:cNvSpPr/>
          <p:nvPr/>
        </p:nvSpPr>
        <p:spPr>
          <a:xfrm>
            <a:off x="3708400" y="3644900"/>
            <a:ext cx="3600450" cy="504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 name="矩形 2"/>
          <p:cNvSpPr/>
          <p:nvPr/>
        </p:nvSpPr>
        <p:spPr>
          <a:xfrm>
            <a:off x="1042988" y="3644900"/>
            <a:ext cx="792163" cy="504825"/>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 name="矩形 1"/>
          <p:cNvSpPr/>
          <p:nvPr/>
        </p:nvSpPr>
        <p:spPr>
          <a:xfrm>
            <a:off x="539750" y="2133600"/>
            <a:ext cx="1584325"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69637" name="文本框 65539"/>
          <p:cNvSpPr txBox="1"/>
          <p:nvPr/>
        </p:nvSpPr>
        <p:spPr>
          <a:xfrm>
            <a:off x="444500" y="404813"/>
            <a:ext cx="8231188" cy="4857750"/>
          </a:xfrm>
          <a:prstGeom prst="rect">
            <a:avLst/>
          </a:prstGeom>
          <a:noFill/>
          <a:ln w="9525">
            <a:noFill/>
          </a:ln>
        </p:spPr>
        <p:txBody>
          <a:bodyPr anchor="t">
            <a:spAutoFit/>
          </a:bodyPr>
          <a:p>
            <a:pPr algn="just">
              <a:lnSpc>
                <a:spcPct val="130000"/>
              </a:lnSpc>
              <a:spcBef>
                <a:spcPct val="50000"/>
              </a:spcBef>
            </a:pPr>
            <a:r>
              <a:rPr lang="en-US" altLang="zh-CN" b="1" dirty="0">
                <a:latin typeface="Times New Roman" panose="02020603050405020304" pitchFamily="18" charset="0"/>
                <a:ea typeface="宋体" panose="02010600030101010101" pitchFamily="2" charset="-122"/>
              </a:rPr>
              <a:t>5.4.3 </a:t>
            </a:r>
            <a:r>
              <a:rPr lang="zh-CN" altLang="en-US" b="1" dirty="0">
                <a:latin typeface="Times New Roman" panose="02020603050405020304" pitchFamily="18" charset="0"/>
                <a:ea typeface="宋体" panose="02010600030101010101" pitchFamily="2" charset="-122"/>
              </a:rPr>
              <a:t>模拟滤波器的数字化方法</a:t>
            </a:r>
            <a:endParaRPr lang="zh-CN" altLang="en-US">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由于脉冲响应不变法要</a:t>
            </a:r>
            <a:r>
              <a:rPr lang="zh-CN" altLang="en-US" b="1" dirty="0">
                <a:solidFill>
                  <a:srgbClr val="FF0000"/>
                </a:solidFill>
                <a:latin typeface="Times New Roman" panose="02020603050405020304" pitchFamily="18" charset="0"/>
                <a:ea typeface="宋体" panose="02010600030101010101" pitchFamily="2" charset="-122"/>
              </a:rPr>
              <a:t>由模拟系统函数</a:t>
            </a:r>
            <a:r>
              <a:rPr lang="en-US" altLang="zh-CN" b="1" i="1">
                <a:solidFill>
                  <a:srgbClr val="FF0000"/>
                </a:solidFill>
                <a:latin typeface="Times New Roman" panose="02020603050405020304" pitchFamily="18" charset="0"/>
                <a:ea typeface="宋体" panose="02010600030101010101" pitchFamily="2" charset="-122"/>
              </a:rPr>
              <a:t>H</a:t>
            </a:r>
            <a:r>
              <a:rPr lang="en-US" altLang="zh-CN" b="1" baseline="-25000">
                <a:solidFill>
                  <a:srgbClr val="FF0000"/>
                </a:solidFill>
                <a:latin typeface="Times New Roman" panose="02020603050405020304" pitchFamily="18" charset="0"/>
                <a:ea typeface="宋体" panose="02010600030101010101" pitchFamily="2" charset="-122"/>
              </a:rPr>
              <a:t>a</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s</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求拉普拉斯反变换得到模拟的冲激响应</a:t>
            </a:r>
            <a:r>
              <a:rPr lang="en-US" altLang="zh-CN" b="1" i="1">
                <a:solidFill>
                  <a:srgbClr val="FF0000"/>
                </a:solidFill>
                <a:latin typeface="Times New Roman" panose="02020603050405020304" pitchFamily="18" charset="0"/>
                <a:ea typeface="宋体" panose="02010600030101010101" pitchFamily="2" charset="-122"/>
              </a:rPr>
              <a:t>h</a:t>
            </a:r>
            <a:r>
              <a:rPr lang="en-US" altLang="zh-CN" b="1" baseline="-25000">
                <a:solidFill>
                  <a:srgbClr val="FF0000"/>
                </a:solidFill>
                <a:latin typeface="Times New Roman" panose="02020603050405020304" pitchFamily="18" charset="0"/>
                <a:ea typeface="宋体" panose="02010600030101010101" pitchFamily="2" charset="-122"/>
              </a:rPr>
              <a:t>a</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t</a:t>
            </a:r>
            <a:r>
              <a:rPr lang="en-US" altLang="zh-CN" b="1" dirty="0">
                <a:solidFill>
                  <a:srgbClr val="FF0000"/>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，然后采样后得到</a:t>
            </a:r>
            <a:r>
              <a:rPr lang="en-US" altLang="zh-CN" b="1" i="1">
                <a:solidFill>
                  <a:schemeClr val="tx2"/>
                </a:solidFill>
                <a:latin typeface="Times New Roman" panose="02020603050405020304" pitchFamily="18" charset="0"/>
                <a:ea typeface="宋体" panose="02010600030101010101" pitchFamily="2" charset="-122"/>
              </a:rPr>
              <a:t>h</a:t>
            </a:r>
            <a:r>
              <a:rPr lang="en-US" altLang="zh-CN" b="1">
                <a:solidFill>
                  <a:schemeClr val="tx2"/>
                </a:solidFill>
                <a:latin typeface="Times New Roman" panose="02020603050405020304" pitchFamily="18" charset="0"/>
                <a:ea typeface="宋体" panose="02010600030101010101" pitchFamily="2" charset="-122"/>
              </a:rPr>
              <a:t>(</a:t>
            </a:r>
            <a:r>
              <a:rPr lang="en-US" altLang="zh-CN" b="1" i="1">
                <a:solidFill>
                  <a:schemeClr val="tx2"/>
                </a:solidFill>
                <a:latin typeface="Times New Roman" panose="02020603050405020304" pitchFamily="18" charset="0"/>
                <a:ea typeface="宋体" panose="02010600030101010101" pitchFamily="2" charset="-122"/>
              </a:rPr>
              <a:t>n</a:t>
            </a:r>
            <a:r>
              <a:rPr lang="en-US" altLang="zh-CN" b="1">
                <a:solidFill>
                  <a:schemeClr val="tx2"/>
                </a:solidFill>
                <a:latin typeface="Times New Roman" panose="02020603050405020304" pitchFamily="18" charset="0"/>
                <a:ea typeface="宋体" panose="02010600030101010101" pitchFamily="2" charset="-122"/>
              </a:rPr>
              <a:t>)=</a:t>
            </a:r>
            <a:r>
              <a:rPr lang="en-US" altLang="zh-CN" b="1" i="1">
                <a:solidFill>
                  <a:schemeClr val="tx2"/>
                </a:solidFill>
                <a:latin typeface="Times New Roman" panose="02020603050405020304" pitchFamily="18" charset="0"/>
                <a:ea typeface="宋体" panose="02010600030101010101" pitchFamily="2" charset="-122"/>
              </a:rPr>
              <a:t>h</a:t>
            </a:r>
            <a:r>
              <a:rPr lang="en-US" altLang="zh-CN" b="1" baseline="-25000">
                <a:solidFill>
                  <a:schemeClr val="tx2"/>
                </a:solidFill>
                <a:latin typeface="Times New Roman" panose="02020603050405020304" pitchFamily="18" charset="0"/>
                <a:ea typeface="宋体" panose="02010600030101010101" pitchFamily="2" charset="-122"/>
              </a:rPr>
              <a:t>a</a:t>
            </a:r>
            <a:r>
              <a:rPr lang="en-US" altLang="zh-CN" b="1">
                <a:solidFill>
                  <a:schemeClr val="tx2"/>
                </a:solidFill>
                <a:latin typeface="Times New Roman" panose="02020603050405020304" pitchFamily="18" charset="0"/>
                <a:ea typeface="宋体" panose="02010600030101010101" pitchFamily="2" charset="-122"/>
              </a:rPr>
              <a:t>(</a:t>
            </a:r>
            <a:r>
              <a:rPr lang="en-US" altLang="zh-CN" b="1" i="1" dirty="0" err="1">
                <a:solidFill>
                  <a:schemeClr val="tx2"/>
                </a:solidFill>
                <a:latin typeface="Times New Roman" panose="02020603050405020304" pitchFamily="18" charset="0"/>
                <a:ea typeface="宋体" panose="02010600030101010101" pitchFamily="2" charset="-122"/>
              </a:rPr>
              <a:t>nT</a:t>
            </a:r>
            <a:r>
              <a:rPr lang="en-US" altLang="zh-CN" b="1" dirty="0">
                <a:solidFill>
                  <a:schemeClr val="tx2"/>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，再取</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变换得</a:t>
            </a:r>
            <a:r>
              <a:rPr lang="en-US" altLang="zh-CN" b="1" i="1">
                <a:solidFill>
                  <a:srgbClr val="FF0000"/>
                </a:solidFill>
                <a:latin typeface="Times New Roman" panose="02020603050405020304" pitchFamily="18" charset="0"/>
                <a:ea typeface="宋体" panose="02010600030101010101" pitchFamily="2" charset="-122"/>
              </a:rPr>
              <a:t>H</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z</a:t>
            </a:r>
            <a:r>
              <a:rPr lang="en-US" altLang="zh-CN" b="1" dirty="0">
                <a:solidFill>
                  <a:srgbClr val="FF0000"/>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，过程较复杂。下面我们讨论如何由脉冲响应不变法的变换原理将</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sz="2800" b="1" u="sng" dirty="0">
                <a:solidFill>
                  <a:srgbClr val="FF0000"/>
                </a:solidFill>
                <a:latin typeface="Times New Roman" panose="02020603050405020304" pitchFamily="18" charset="0"/>
                <a:ea typeface="宋体" panose="02010600030101010101" pitchFamily="2" charset="-122"/>
              </a:rPr>
              <a:t>直接转换</a:t>
            </a:r>
            <a:r>
              <a:rPr lang="zh-CN" altLang="en-US" dirty="0">
                <a:latin typeface="Times New Roman" panose="02020603050405020304" pitchFamily="18" charset="0"/>
                <a:ea typeface="宋体" panose="02010600030101010101" pitchFamily="2" charset="-122"/>
              </a:rPr>
              <a:t>为数字滤波器</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假设 </a:t>
            </a:r>
            <a:r>
              <a:rPr lang="zh-CN" altLang="en-US" dirty="0">
                <a:latin typeface="Times New Roman" panose="02020603050405020304" pitchFamily="18" charset="0"/>
                <a:ea typeface="宋体" panose="02010600030101010101" pitchFamily="2" charset="-122"/>
              </a:rPr>
              <a:t>模拟滤波器的系统函数</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只有单阶极点，且假定分母的阶次大于分子的阶次（一般都满足</a:t>
            </a:r>
            <a:r>
              <a:rPr lang="zh-CN" altLang="en-US" dirty="0">
                <a:latin typeface="Times New Roman" panose="02020603050405020304" pitchFamily="18" charset="0"/>
                <a:ea typeface="宋体" panose="02010600030101010101" pitchFamily="2" charset="-122"/>
              </a:rPr>
              <a:t>这一要求，因为只有这样才相当于一个因果稳定的模拟系统），因此可将 </a:t>
            </a:r>
            <a:endParaRPr lang="zh-CN" altLang="en-US">
              <a:latin typeface="Times New Roman" panose="02020603050405020304" pitchFamily="18" charset="0"/>
              <a:ea typeface="宋体" panose="02010600030101010101" pitchFamily="2" charset="-122"/>
            </a:endParaRPr>
          </a:p>
        </p:txBody>
      </p:sp>
      <p:graphicFrame>
        <p:nvGraphicFramePr>
          <p:cNvPr id="69638" name="对象 65540"/>
          <p:cNvGraphicFramePr/>
          <p:nvPr/>
        </p:nvGraphicFramePr>
        <p:xfrm>
          <a:off x="3111818" y="5157470"/>
          <a:ext cx="2895600" cy="1165225"/>
        </p:xfrm>
        <a:graphic>
          <a:graphicData uri="http://schemas.openxmlformats.org/presentationml/2006/ole">
            <mc:AlternateContent xmlns:mc="http://schemas.openxmlformats.org/markup-compatibility/2006">
              <mc:Choice xmlns:v="urn:schemas-microsoft-com:vml" Requires="v">
                <p:oleObj spid="_x0000_s3151" name="" r:id="rId1" imgW="1104265" imgH="444500" progId="Equation.3">
                  <p:embed/>
                </p:oleObj>
              </mc:Choice>
              <mc:Fallback>
                <p:oleObj name="" r:id="rId1" imgW="1104265" imgH="444500" progId="Equation.3">
                  <p:embed/>
                  <p:pic>
                    <p:nvPicPr>
                      <p:cNvPr id="0" name="图片 3150"/>
                      <p:cNvPicPr/>
                      <p:nvPr/>
                    </p:nvPicPr>
                    <p:blipFill>
                      <a:blip r:embed="rId2"/>
                      <a:stretch>
                        <a:fillRect/>
                      </a:stretch>
                    </p:blipFill>
                    <p:spPr>
                      <a:xfrm>
                        <a:off x="3111818" y="5157470"/>
                        <a:ext cx="2895600" cy="1165225"/>
                      </a:xfrm>
                      <a:prstGeom prst="rect">
                        <a:avLst/>
                      </a:prstGeom>
                      <a:solidFill>
                        <a:schemeClr val="accent1"/>
                      </a:solidFill>
                      <a:ln w="38100">
                        <a:noFill/>
                        <a:miter/>
                      </a:ln>
                    </p:spPr>
                  </p:pic>
                </p:oleObj>
              </mc:Fallback>
            </mc:AlternateContent>
          </a:graphicData>
        </a:graphic>
      </p:graphicFrame>
      <p:sp>
        <p:nvSpPr>
          <p:cNvPr id="69639" name="文本框 65541"/>
          <p:cNvSpPr txBox="1"/>
          <p:nvPr/>
        </p:nvSpPr>
        <p:spPr>
          <a:xfrm>
            <a:off x="6588125" y="5588953"/>
            <a:ext cx="10985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(5-36)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文本框 68611"/>
          <p:cNvSpPr txBox="1"/>
          <p:nvPr/>
        </p:nvSpPr>
        <p:spPr>
          <a:xfrm>
            <a:off x="381000" y="762000"/>
            <a:ext cx="721518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其相应的冲激响应</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是</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的拉普拉斯反变换，即 </a:t>
            </a:r>
            <a:endParaRPr lang="zh-CN" altLang="en-US">
              <a:latin typeface="Times New Roman" panose="02020603050405020304" pitchFamily="18" charset="0"/>
              <a:ea typeface="宋体" panose="02010600030101010101" pitchFamily="2" charset="-122"/>
            </a:endParaRPr>
          </a:p>
        </p:txBody>
      </p:sp>
      <p:graphicFrame>
        <p:nvGraphicFramePr>
          <p:cNvPr id="70658" name="对象 68612"/>
          <p:cNvGraphicFramePr/>
          <p:nvPr/>
        </p:nvGraphicFramePr>
        <p:xfrm>
          <a:off x="2209800" y="1371600"/>
          <a:ext cx="4495800" cy="942975"/>
        </p:xfrm>
        <a:graphic>
          <a:graphicData uri="http://schemas.openxmlformats.org/presentationml/2006/ole">
            <mc:AlternateContent xmlns:mc="http://schemas.openxmlformats.org/markup-compatibility/2006">
              <mc:Choice xmlns:v="urn:schemas-microsoft-com:vml" Requires="v">
                <p:oleObj spid="_x0000_s3149" name="" r:id="rId1" imgW="2056765" imgH="431800" progId="Equation.3">
                  <p:embed/>
                </p:oleObj>
              </mc:Choice>
              <mc:Fallback>
                <p:oleObj name="" r:id="rId1" imgW="2056765" imgH="431800" progId="Equation.3">
                  <p:embed/>
                  <p:pic>
                    <p:nvPicPr>
                      <p:cNvPr id="0" name="图片 3148"/>
                      <p:cNvPicPr/>
                      <p:nvPr/>
                    </p:nvPicPr>
                    <p:blipFill>
                      <a:blip r:embed="rId2"/>
                      <a:stretch>
                        <a:fillRect/>
                      </a:stretch>
                    </p:blipFill>
                    <p:spPr>
                      <a:xfrm>
                        <a:off x="2209800" y="1371600"/>
                        <a:ext cx="4495800" cy="942975"/>
                      </a:xfrm>
                      <a:prstGeom prst="rect">
                        <a:avLst/>
                      </a:prstGeom>
                      <a:solidFill>
                        <a:schemeClr val="accent1"/>
                      </a:solidFill>
                      <a:ln w="38100">
                        <a:noFill/>
                        <a:miter/>
                      </a:ln>
                    </p:spPr>
                  </p:pic>
                </p:oleObj>
              </mc:Fallback>
            </mc:AlternateContent>
          </a:graphicData>
        </a:graphic>
      </p:graphicFrame>
      <p:sp>
        <p:nvSpPr>
          <p:cNvPr id="70659" name="文本框 68613"/>
          <p:cNvSpPr txBox="1"/>
          <p:nvPr/>
        </p:nvSpPr>
        <p:spPr>
          <a:xfrm>
            <a:off x="228600" y="2254250"/>
            <a:ext cx="8763000" cy="180340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dirty="0">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u</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是单位阶跃函数。  </a:t>
            </a:r>
            <a:endParaRPr lang="zh-CN" altLang="en-US" dirty="0">
              <a:latin typeface="Times New Roman" panose="02020603050405020304" pitchFamily="18" charset="0"/>
              <a:ea typeface="宋体" panose="02010600030101010101" pitchFamily="2" charset="-122"/>
            </a:endParaRPr>
          </a:p>
          <a:p>
            <a:pPr>
              <a:lnSpc>
                <a:spcPct val="138000"/>
              </a:lnSpc>
              <a:spcBef>
                <a:spcPct val="50000"/>
              </a:spcBef>
            </a:pPr>
            <a:r>
              <a:rPr lang="zh-CN" altLang="en-US" dirty="0">
                <a:latin typeface="Times New Roman" panose="02020603050405020304" pitchFamily="18" charset="0"/>
                <a:ea typeface="宋体" panose="02010600030101010101" pitchFamily="2" charset="-122"/>
              </a:rPr>
              <a:t>        在脉冲响应不变法中，要求数字滤波器的单位脉冲响应等于对</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的采样，即 </a:t>
            </a:r>
            <a:endParaRPr lang="zh-CN" altLang="en-US">
              <a:latin typeface="Times New Roman" panose="02020603050405020304" pitchFamily="18" charset="0"/>
              <a:ea typeface="宋体" panose="02010600030101010101" pitchFamily="2" charset="-122"/>
            </a:endParaRPr>
          </a:p>
        </p:txBody>
      </p:sp>
      <p:graphicFrame>
        <p:nvGraphicFramePr>
          <p:cNvPr id="70660" name="对象 68614"/>
          <p:cNvGraphicFramePr/>
          <p:nvPr/>
        </p:nvGraphicFramePr>
        <p:xfrm>
          <a:off x="1066800" y="4267200"/>
          <a:ext cx="7065963" cy="1009650"/>
        </p:xfrm>
        <a:graphic>
          <a:graphicData uri="http://schemas.openxmlformats.org/presentationml/2006/ole">
            <mc:AlternateContent xmlns:mc="http://schemas.openxmlformats.org/markup-compatibility/2006">
              <mc:Choice xmlns:v="urn:schemas-microsoft-com:vml" Requires="v">
                <p:oleObj spid="_x0000_s3150" name="" r:id="rId3" imgW="3021330" imgH="431800" progId="Equation.3">
                  <p:embed/>
                </p:oleObj>
              </mc:Choice>
              <mc:Fallback>
                <p:oleObj name="" r:id="rId3" imgW="3021330" imgH="431800" progId="Equation.3">
                  <p:embed/>
                  <p:pic>
                    <p:nvPicPr>
                      <p:cNvPr id="0" name="图片 3149"/>
                      <p:cNvPicPr/>
                      <p:nvPr/>
                    </p:nvPicPr>
                    <p:blipFill>
                      <a:blip r:embed="rId4"/>
                      <a:stretch>
                        <a:fillRect/>
                      </a:stretch>
                    </p:blipFill>
                    <p:spPr>
                      <a:xfrm>
                        <a:off x="1066800" y="4267200"/>
                        <a:ext cx="7065963" cy="1009650"/>
                      </a:xfrm>
                      <a:prstGeom prst="rect">
                        <a:avLst/>
                      </a:prstGeom>
                      <a:solidFill>
                        <a:schemeClr val="accent1"/>
                      </a:solidFill>
                      <a:ln w="38100">
                        <a:noFill/>
                        <a:miter/>
                      </a:ln>
                    </p:spPr>
                  </p:pic>
                </p:oleObj>
              </mc:Fallback>
            </mc:AlternateContent>
          </a:graphicData>
        </a:graphic>
      </p:graphicFrame>
      <p:sp>
        <p:nvSpPr>
          <p:cNvPr id="70661" name="文本框 68615"/>
          <p:cNvSpPr txBox="1"/>
          <p:nvPr/>
        </p:nvSpPr>
        <p:spPr>
          <a:xfrm>
            <a:off x="7604125" y="5451475"/>
            <a:ext cx="1098550" cy="457200"/>
          </a:xfrm>
          <a:prstGeom prst="rect">
            <a:avLst/>
          </a:prstGeom>
          <a:noFill/>
          <a:ln w="9525">
            <a:noFill/>
          </a:ln>
        </p:spPr>
        <p:txBody>
          <a:bodyPr anchor="t">
            <a:spAutoFit/>
          </a:bodyPr>
          <a:p>
            <a:r>
              <a:rPr lang="en-US" altLang="zh-CN" dirty="0">
                <a:latin typeface="Times New Roman" panose="02020603050405020304" pitchFamily="18" charset="0"/>
                <a:ea typeface="宋体" panose="02010600030101010101" pitchFamily="2" charset="-122"/>
              </a:rPr>
              <a:t> (5-37)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1681" name="对象 67587"/>
          <p:cNvGraphicFramePr/>
          <p:nvPr/>
        </p:nvGraphicFramePr>
        <p:xfrm>
          <a:off x="903288" y="1217613"/>
          <a:ext cx="7442200" cy="1747837"/>
        </p:xfrm>
        <a:graphic>
          <a:graphicData uri="http://schemas.openxmlformats.org/presentationml/2006/ole">
            <mc:AlternateContent xmlns:mc="http://schemas.openxmlformats.org/markup-compatibility/2006">
              <mc:Choice xmlns:v="urn:schemas-microsoft-com:vml" Requires="v">
                <p:oleObj spid="_x0000_s3153" name="" r:id="rId1" imgW="3784600" imgH="889000" progId="Equation.3">
                  <p:embed/>
                </p:oleObj>
              </mc:Choice>
              <mc:Fallback>
                <p:oleObj name="" r:id="rId1" imgW="3784600" imgH="889000" progId="Equation.3">
                  <p:embed/>
                  <p:pic>
                    <p:nvPicPr>
                      <p:cNvPr id="0" name="图片 3152"/>
                      <p:cNvPicPr/>
                      <p:nvPr/>
                    </p:nvPicPr>
                    <p:blipFill>
                      <a:blip r:embed="rId2"/>
                      <a:stretch>
                        <a:fillRect/>
                      </a:stretch>
                    </p:blipFill>
                    <p:spPr>
                      <a:xfrm>
                        <a:off x="903288" y="1217613"/>
                        <a:ext cx="7442200" cy="1747837"/>
                      </a:xfrm>
                      <a:prstGeom prst="rect">
                        <a:avLst/>
                      </a:prstGeom>
                      <a:noFill/>
                      <a:ln w="38100">
                        <a:noFill/>
                        <a:miter/>
                      </a:ln>
                    </p:spPr>
                  </p:pic>
                </p:oleObj>
              </mc:Fallback>
            </mc:AlternateContent>
          </a:graphicData>
        </a:graphic>
      </p:graphicFrame>
      <p:sp>
        <p:nvSpPr>
          <p:cNvPr id="71682" name="文本框 67588"/>
          <p:cNvSpPr txBox="1"/>
          <p:nvPr/>
        </p:nvSpPr>
        <p:spPr>
          <a:xfrm>
            <a:off x="228600" y="609600"/>
            <a:ext cx="6119813" cy="457200"/>
          </a:xfrm>
          <a:prstGeom prst="rect">
            <a:avLst/>
          </a:prstGeom>
          <a:noFill/>
          <a:ln w="9525">
            <a:noFill/>
          </a:ln>
        </p:spPr>
        <p:txBody>
          <a:bodyPr wrap="none" anchor="t">
            <a:spAutoFit/>
          </a:bodyPr>
          <a:p>
            <a:r>
              <a:rPr lang="zh-CN" altLang="en-US">
                <a:latin typeface="Times New Roman" panose="02020603050405020304" pitchFamily="18" charset="0"/>
                <a:ea typeface="宋体" panose="02010600030101010101" pitchFamily="2" charset="-122"/>
              </a:rPr>
              <a:t>对</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求</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变换，即得数字滤波器的系统函数 </a:t>
            </a:r>
            <a:endParaRPr lang="zh-CN" altLang="en-US">
              <a:latin typeface="Times New Roman" panose="02020603050405020304" pitchFamily="18" charset="0"/>
              <a:ea typeface="宋体" panose="02010600030101010101" pitchFamily="2" charset="-122"/>
            </a:endParaRPr>
          </a:p>
        </p:txBody>
      </p:sp>
      <p:sp>
        <p:nvSpPr>
          <p:cNvPr id="71683" name="文本框 67589"/>
          <p:cNvSpPr txBox="1"/>
          <p:nvPr/>
        </p:nvSpPr>
        <p:spPr>
          <a:xfrm>
            <a:off x="7772400" y="23622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(5-38) </a:t>
            </a:r>
            <a:endParaRPr lang="en-US" altLang="zh-CN">
              <a:latin typeface="Times New Roman" panose="02020603050405020304" pitchFamily="18" charset="0"/>
              <a:ea typeface="宋体" panose="02010600030101010101" pitchFamily="2" charset="-122"/>
            </a:endParaRPr>
          </a:p>
        </p:txBody>
      </p:sp>
      <p:sp>
        <p:nvSpPr>
          <p:cNvPr id="71684" name="文本框 67590"/>
          <p:cNvSpPr txBox="1"/>
          <p:nvPr/>
        </p:nvSpPr>
        <p:spPr>
          <a:xfrm>
            <a:off x="204788" y="2965450"/>
            <a:ext cx="8839200" cy="1812925"/>
          </a:xfrm>
          <a:prstGeom prst="rect">
            <a:avLst/>
          </a:prstGeom>
          <a:noFill/>
          <a:ln w="9525">
            <a:noFill/>
          </a:ln>
        </p:spPr>
        <p:txBody>
          <a:bodyPr wrap="square"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将式（</a:t>
            </a:r>
            <a:r>
              <a:rPr lang="en-US" altLang="zh-CN" dirty="0">
                <a:latin typeface="Times New Roman" panose="02020603050405020304" pitchFamily="18" charset="0"/>
                <a:ea typeface="宋体" panose="02010600030101010101" pitchFamily="2" charset="-122"/>
              </a:rPr>
              <a:t>5-36</a:t>
            </a:r>
            <a:r>
              <a:rPr lang="zh-CN" altLang="en-US" dirty="0">
                <a:latin typeface="Times New Roman" panose="02020603050405020304" pitchFamily="18" charset="0"/>
                <a:ea typeface="宋体" panose="02010600030101010101" pitchFamily="2" charset="-122"/>
              </a:rPr>
              <a:t>）的</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和式（</a:t>
            </a:r>
            <a:r>
              <a:rPr lang="en-US" altLang="zh-CN" dirty="0">
                <a:latin typeface="Times New Roman" panose="02020603050405020304" pitchFamily="18" charset="0"/>
                <a:ea typeface="宋体" panose="02010600030101010101" pitchFamily="2" charset="-122"/>
              </a:rPr>
              <a:t>5-38</a:t>
            </a:r>
            <a:r>
              <a:rPr lang="zh-CN" altLang="en-US" dirty="0">
                <a:latin typeface="Times New Roman" panose="02020603050405020304" pitchFamily="18" charset="0"/>
                <a:ea typeface="宋体" panose="02010600030101010101" pitchFamily="2" charset="-122"/>
              </a:rPr>
              <a:t>）的</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加以比较，可以看出：</a:t>
            </a:r>
            <a:endParaRPr lang="zh-CN" altLang="en-US" dirty="0">
              <a:latin typeface="Times New Roman" panose="02020603050405020304" pitchFamily="18" charset="0"/>
              <a:ea typeface="宋体" panose="02010600030101010101" pitchFamily="2" charset="-122"/>
            </a:endParaRPr>
          </a:p>
          <a:p>
            <a:pPr algn="just"/>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平面的每一个单极点</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s</a:t>
            </a:r>
            <a:r>
              <a:rPr lang="en-US" altLang="zh-CN" i="1" baseline="-2500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变换到</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平面上</a:t>
            </a:r>
            <a:r>
              <a:rPr lang="en-US" altLang="zh-CN" i="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=e</a:t>
            </a:r>
            <a:r>
              <a:rPr lang="en-US" altLang="zh-CN" i="1" baseline="30000">
                <a:latin typeface="Times New Roman" panose="02020603050405020304" pitchFamily="18" charset="0"/>
                <a:ea typeface="宋体" panose="02010600030101010101" pitchFamily="2" charset="-122"/>
              </a:rPr>
              <a:t>s</a:t>
            </a:r>
            <a:r>
              <a:rPr lang="en-US" altLang="zh-CN" i="1" baseline="-5000">
                <a:latin typeface="Times New Roman" panose="02020603050405020304" pitchFamily="18" charset="0"/>
                <a:ea typeface="宋体" panose="02010600030101010101" pitchFamily="2" charset="-122"/>
              </a:rPr>
              <a:t>k</a:t>
            </a:r>
            <a:r>
              <a:rPr lang="en-US" altLang="zh-CN" i="1" baseline="30000">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处的单极点。</a:t>
            </a:r>
            <a:endParaRPr lang="zh-CN" altLang="en-US" dirty="0">
              <a:latin typeface="Times New Roman" panose="02020603050405020304" pitchFamily="18" charset="0"/>
              <a:ea typeface="宋体" panose="02010600030101010101" pitchFamily="2" charset="-122"/>
            </a:endParaRPr>
          </a:p>
          <a:p>
            <a:pPr>
              <a:lnSpc>
                <a:spcPct val="15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与</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的部分分式的系数是相同的，都是</a:t>
            </a:r>
            <a:r>
              <a:rPr lang="en-US" altLang="zh-CN" i="1" err="1">
                <a:latin typeface="Times New Roman" panose="02020603050405020304" pitchFamily="18" charset="0"/>
                <a:ea typeface="宋体" panose="02010600030101010101" pitchFamily="2" charset="-122"/>
              </a:rPr>
              <a:t>A</a:t>
            </a:r>
            <a:r>
              <a:rPr lang="en-US" altLang="zh-CN" i="1" baseline="-25000" err="1">
                <a:latin typeface="Times New Roman" panose="02020603050405020304" pitchFamily="18" charset="0"/>
                <a:ea typeface="宋体" panose="02010600030101010101" pitchFamily="2" charset="-122"/>
              </a:rPr>
              <a:t>k</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71685" name="对象 65540"/>
          <p:cNvGraphicFramePr/>
          <p:nvPr/>
        </p:nvGraphicFramePr>
        <p:xfrm>
          <a:off x="4756150" y="2008188"/>
          <a:ext cx="2895600" cy="1165225"/>
        </p:xfrm>
        <a:graphic>
          <a:graphicData uri="http://schemas.openxmlformats.org/presentationml/2006/ole">
            <mc:AlternateContent xmlns:mc="http://schemas.openxmlformats.org/markup-compatibility/2006">
              <mc:Choice xmlns:v="urn:schemas-microsoft-com:vml" Requires="v">
                <p:oleObj spid="_x0000_s3147" name="" r:id="rId3" imgW="1104265" imgH="444500" progId="Equation.3">
                  <p:embed/>
                </p:oleObj>
              </mc:Choice>
              <mc:Fallback>
                <p:oleObj name="" r:id="rId3" imgW="1104265" imgH="444500" progId="Equation.3">
                  <p:embed/>
                  <p:pic>
                    <p:nvPicPr>
                      <p:cNvPr id="0" name="图片 3146"/>
                      <p:cNvPicPr/>
                      <p:nvPr/>
                    </p:nvPicPr>
                    <p:blipFill>
                      <a:blip r:embed="rId4"/>
                      <a:stretch>
                        <a:fillRect/>
                      </a:stretch>
                    </p:blipFill>
                    <p:spPr>
                      <a:xfrm>
                        <a:off x="4756150" y="2008188"/>
                        <a:ext cx="2895600" cy="1165225"/>
                      </a:xfrm>
                      <a:prstGeom prst="rect">
                        <a:avLst/>
                      </a:prstGeom>
                      <a:solidFill>
                        <a:schemeClr val="accent1"/>
                      </a:solidFill>
                      <a:ln w="38100">
                        <a:noFill/>
                        <a:miter/>
                      </a:ln>
                    </p:spPr>
                  </p:pic>
                </p:oleObj>
              </mc:Fallback>
            </mc:AlternateContent>
          </a:graphicData>
        </a:graphic>
      </p:graphicFrame>
      <p:sp>
        <p:nvSpPr>
          <p:cNvPr id="71686" name="文本框 1"/>
          <p:cNvSpPr txBox="1"/>
          <p:nvPr/>
        </p:nvSpPr>
        <p:spPr>
          <a:xfrm>
            <a:off x="361950" y="4860925"/>
            <a:ext cx="8528050" cy="460375"/>
          </a:xfrm>
          <a:prstGeom prst="rect">
            <a:avLst/>
          </a:prstGeom>
          <a:noFill/>
          <a:ln w="9525">
            <a:noFill/>
          </a:ln>
        </p:spPr>
        <p:txBody>
          <a:bodyPr wrap="squar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）如果模拟滤波器是因果稳定的，数字滤波器也稳定</a:t>
            </a:r>
            <a:endParaRPr lang="en-US" altLang="zh-CN" dirty="0">
              <a:latin typeface="Times New Roman" panose="02020603050405020304" pitchFamily="18" charset="0"/>
              <a:ea typeface="宋体" panose="02010600030101010101" pitchFamily="2" charset="-122"/>
            </a:endParaRPr>
          </a:p>
        </p:txBody>
      </p:sp>
      <p:sp>
        <p:nvSpPr>
          <p:cNvPr id="71687" name="文本框 2"/>
          <p:cNvSpPr txBox="1"/>
          <p:nvPr/>
        </p:nvSpPr>
        <p:spPr>
          <a:xfrm>
            <a:off x="361950" y="5321300"/>
            <a:ext cx="8621713" cy="830263"/>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）虽然脉冲响应不变法能保证</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平面极点与</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a:t>
            </a:r>
            <a:r>
              <a:rPr lang="zh-CN" altLang="en-US" b="1" dirty="0">
                <a:solidFill>
                  <a:srgbClr val="FF0000"/>
                </a:solidFill>
                <a:latin typeface="Times New Roman" panose="02020603050405020304" pitchFamily="18" charset="0"/>
                <a:ea typeface="宋体" panose="02010600030101010101" pitchFamily="2" charset="-122"/>
              </a:rPr>
              <a:t>极点有这种</a:t>
            </a:r>
            <a:endParaRPr lang="zh-CN" altLang="en-US" b="1" dirty="0">
              <a:solidFill>
                <a:srgbClr val="FF0000"/>
              </a:solidFill>
              <a:latin typeface="Times New Roman" panose="02020603050405020304" pitchFamily="18" charset="0"/>
              <a:ea typeface="宋体" panose="02010600030101010101" pitchFamily="2" charset="-122"/>
            </a:endParaRPr>
          </a:p>
          <a:p>
            <a:r>
              <a:rPr lang="zh-CN" altLang="en-US" b="1" dirty="0">
                <a:solidFill>
                  <a:srgbClr val="FF0000"/>
                </a:solidFill>
                <a:latin typeface="Times New Roman" panose="02020603050405020304" pitchFamily="18" charset="0"/>
                <a:ea typeface="宋体" panose="02010600030101010101" pitchFamily="2" charset="-122"/>
              </a:rPr>
              <a:t>代数对应关系，</a:t>
            </a:r>
            <a:r>
              <a:rPr lang="zh-CN" altLang="en-US" dirty="0">
                <a:latin typeface="Times New Roman" panose="02020603050405020304" pitchFamily="18" charset="0"/>
                <a:ea typeface="宋体" panose="02010600030101010101" pitchFamily="2" charset="-122"/>
              </a:rPr>
              <a:t>零点无对应关系</a:t>
            </a:r>
            <a:endParaRPr lang="zh-CN" altLang="en-US" dirty="0">
              <a:latin typeface="Times New Roman" panose="02020603050405020304" pitchFamily="18" charset="0"/>
              <a:ea typeface="宋体" panose="02010600030101010101" pitchFamily="2" charset="-122"/>
            </a:endParaRPr>
          </a:p>
        </p:txBody>
      </p:sp>
      <p:sp>
        <p:nvSpPr>
          <p:cNvPr id="5" name="五角星 4"/>
          <p:cNvSpPr/>
          <p:nvPr/>
        </p:nvSpPr>
        <p:spPr>
          <a:xfrm>
            <a:off x="523875" y="1739900"/>
            <a:ext cx="768350" cy="1079500"/>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 name="任意多边形 2"/>
          <p:cNvSpPr/>
          <p:nvPr/>
        </p:nvSpPr>
        <p:spPr>
          <a:xfrm>
            <a:off x="2824163" y="1782763"/>
            <a:ext cx="4173538" cy="447675"/>
          </a:xfrm>
          <a:custGeom>
            <a:avLst/>
            <a:gdLst>
              <a:gd name="connisteX0" fmla="*/ 0 w 4172585"/>
              <a:gd name="connsiteY0" fmla="*/ 447768 h 447768"/>
              <a:gd name="connisteX1" fmla="*/ 454660 w 4172585"/>
              <a:gd name="connsiteY1" fmla="*/ 114393 h 447768"/>
              <a:gd name="connisteX2" fmla="*/ 1253490 w 4172585"/>
              <a:gd name="connsiteY2" fmla="*/ 14698 h 447768"/>
              <a:gd name="connisteX3" fmla="*/ 2041525 w 4172585"/>
              <a:gd name="connsiteY3" fmla="*/ 3903 h 447768"/>
              <a:gd name="connisteX4" fmla="*/ 2752090 w 4172585"/>
              <a:gd name="connsiteY4" fmla="*/ 26128 h 447768"/>
              <a:gd name="connisteX5" fmla="*/ 3340100 w 4172585"/>
              <a:gd name="connsiteY5" fmla="*/ 3903 h 447768"/>
              <a:gd name="connisteX6" fmla="*/ 3761740 w 4172585"/>
              <a:gd name="connsiteY6" fmla="*/ 26128 h 447768"/>
              <a:gd name="connisteX7" fmla="*/ 3972560 w 4172585"/>
              <a:gd name="connsiteY7" fmla="*/ 125823 h 447768"/>
              <a:gd name="connisteX8" fmla="*/ 4172585 w 4172585"/>
              <a:gd name="connsiteY8" fmla="*/ 381093 h 44776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l" t="t" r="r" b="b"/>
            <a:pathLst>
              <a:path w="4172585" h="447768">
                <a:moveTo>
                  <a:pt x="0" y="447768"/>
                </a:moveTo>
                <a:cubicBezTo>
                  <a:pt x="74930" y="382998"/>
                  <a:pt x="203835" y="200753"/>
                  <a:pt x="454660" y="114393"/>
                </a:cubicBezTo>
                <a:cubicBezTo>
                  <a:pt x="705485" y="28033"/>
                  <a:pt x="935990" y="36923"/>
                  <a:pt x="1253490" y="14698"/>
                </a:cubicBezTo>
                <a:cubicBezTo>
                  <a:pt x="1570990" y="-7527"/>
                  <a:pt x="1741805" y="1363"/>
                  <a:pt x="2041525" y="3903"/>
                </a:cubicBezTo>
                <a:cubicBezTo>
                  <a:pt x="2341245" y="6443"/>
                  <a:pt x="2492375" y="26128"/>
                  <a:pt x="2752090" y="26128"/>
                </a:cubicBezTo>
                <a:cubicBezTo>
                  <a:pt x="3011805" y="26128"/>
                  <a:pt x="3138170" y="3903"/>
                  <a:pt x="3340100" y="3903"/>
                </a:cubicBezTo>
                <a:cubicBezTo>
                  <a:pt x="3542030" y="3903"/>
                  <a:pt x="3635375" y="1998"/>
                  <a:pt x="3761740" y="26128"/>
                </a:cubicBezTo>
                <a:cubicBezTo>
                  <a:pt x="3888105" y="50258"/>
                  <a:pt x="3890645" y="54703"/>
                  <a:pt x="3972560" y="125823"/>
                </a:cubicBezTo>
                <a:cubicBezTo>
                  <a:pt x="4054475" y="196943"/>
                  <a:pt x="4137025" y="332198"/>
                  <a:pt x="4172585" y="381093"/>
                </a:cubicBezTo>
              </a:path>
            </a:pathLst>
          </a:cu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4" name="任意多边形 3"/>
          <p:cNvSpPr/>
          <p:nvPr/>
        </p:nvSpPr>
        <p:spPr>
          <a:xfrm flipV="1">
            <a:off x="2730500" y="2965450"/>
            <a:ext cx="4616450" cy="608013"/>
          </a:xfrm>
          <a:custGeom>
            <a:avLst/>
            <a:gdLst>
              <a:gd name="connisteX0" fmla="*/ 0 w 4172585"/>
              <a:gd name="connsiteY0" fmla="*/ 447768 h 447768"/>
              <a:gd name="connisteX1" fmla="*/ 454660 w 4172585"/>
              <a:gd name="connsiteY1" fmla="*/ 114393 h 447768"/>
              <a:gd name="connisteX2" fmla="*/ 1253490 w 4172585"/>
              <a:gd name="connsiteY2" fmla="*/ 14698 h 447768"/>
              <a:gd name="connisteX3" fmla="*/ 2041525 w 4172585"/>
              <a:gd name="connsiteY3" fmla="*/ 3903 h 447768"/>
              <a:gd name="connisteX4" fmla="*/ 2752090 w 4172585"/>
              <a:gd name="connsiteY4" fmla="*/ 26128 h 447768"/>
              <a:gd name="connisteX5" fmla="*/ 3340100 w 4172585"/>
              <a:gd name="connsiteY5" fmla="*/ 3903 h 447768"/>
              <a:gd name="connisteX6" fmla="*/ 3761740 w 4172585"/>
              <a:gd name="connsiteY6" fmla="*/ 26128 h 447768"/>
              <a:gd name="connisteX7" fmla="*/ 3972560 w 4172585"/>
              <a:gd name="connsiteY7" fmla="*/ 125823 h 447768"/>
              <a:gd name="connisteX8" fmla="*/ 4172585 w 4172585"/>
              <a:gd name="connsiteY8" fmla="*/ 381093 h 447768"/>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Lst>
            <a:rect l="l" t="t" r="r" b="b"/>
            <a:pathLst>
              <a:path w="4172585" h="447768">
                <a:moveTo>
                  <a:pt x="0" y="447768"/>
                </a:moveTo>
                <a:cubicBezTo>
                  <a:pt x="74930" y="382998"/>
                  <a:pt x="203835" y="200753"/>
                  <a:pt x="454660" y="114393"/>
                </a:cubicBezTo>
                <a:cubicBezTo>
                  <a:pt x="705485" y="28033"/>
                  <a:pt x="935990" y="36923"/>
                  <a:pt x="1253490" y="14698"/>
                </a:cubicBezTo>
                <a:cubicBezTo>
                  <a:pt x="1570990" y="-7527"/>
                  <a:pt x="1741805" y="1363"/>
                  <a:pt x="2041525" y="3903"/>
                </a:cubicBezTo>
                <a:cubicBezTo>
                  <a:pt x="2341245" y="6443"/>
                  <a:pt x="2492375" y="26128"/>
                  <a:pt x="2752090" y="26128"/>
                </a:cubicBezTo>
                <a:cubicBezTo>
                  <a:pt x="3011805" y="26128"/>
                  <a:pt x="3138170" y="3903"/>
                  <a:pt x="3340100" y="3903"/>
                </a:cubicBezTo>
                <a:cubicBezTo>
                  <a:pt x="3542030" y="3903"/>
                  <a:pt x="3635375" y="1998"/>
                  <a:pt x="3761740" y="26128"/>
                </a:cubicBezTo>
                <a:cubicBezTo>
                  <a:pt x="3888105" y="50258"/>
                  <a:pt x="3890645" y="54703"/>
                  <a:pt x="3972560" y="125823"/>
                </a:cubicBezTo>
                <a:cubicBezTo>
                  <a:pt x="4054475" y="196943"/>
                  <a:pt x="4137025" y="332198"/>
                  <a:pt x="4172585" y="381093"/>
                </a:cubicBezTo>
              </a:path>
            </a:pathLst>
          </a:cu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文本框 70659"/>
          <p:cNvSpPr txBox="1"/>
          <p:nvPr/>
        </p:nvSpPr>
        <p:spPr>
          <a:xfrm>
            <a:off x="228600" y="735013"/>
            <a:ext cx="8763000" cy="5192712"/>
          </a:xfrm>
          <a:prstGeom prst="rect">
            <a:avLst/>
          </a:prstGeom>
          <a:noFill/>
          <a:ln w="9525">
            <a:noFill/>
          </a:ln>
        </p:spPr>
        <p:txBody>
          <a:bodyPr anchor="t">
            <a:spAutoFit/>
          </a:bodyPr>
          <a:p>
            <a:pPr algn="just">
              <a:lnSpc>
                <a:spcPct val="14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）如果模拟滤波器是因果稳定的，则所有极点</a:t>
            </a:r>
            <a:r>
              <a:rPr lang="en-US" altLang="zh-CN" i="1" err="1">
                <a:latin typeface="Times New Roman" panose="02020603050405020304" pitchFamily="18" charset="0"/>
                <a:ea typeface="宋体" panose="02010600030101010101" pitchFamily="2" charset="-122"/>
              </a:rPr>
              <a:t>s</a:t>
            </a:r>
            <a:r>
              <a:rPr lang="en-US" altLang="zh-CN" i="1" baseline="-2500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位于</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平面的左半平面，即</a:t>
            </a:r>
            <a:r>
              <a:rPr lang="en-US" altLang="zh-CN">
                <a:latin typeface="Times New Roman" panose="02020603050405020304" pitchFamily="18" charset="0"/>
                <a:ea typeface="宋体" panose="02010600030101010101" pitchFamily="2" charset="-122"/>
              </a:rPr>
              <a:t>Re</a:t>
            </a:r>
            <a:r>
              <a:rPr lang="zh-CN" altLang="en-US">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s</a:t>
            </a:r>
            <a:r>
              <a:rPr lang="en-US" altLang="zh-CN" i="1" baseline="-2500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&lt;0</a:t>
            </a:r>
            <a:r>
              <a:rPr lang="zh-CN" altLang="en-US" dirty="0">
                <a:latin typeface="Times New Roman" panose="02020603050405020304" pitchFamily="18" charset="0"/>
                <a:ea typeface="宋体" panose="02010600030101010101" pitchFamily="2" charset="-122"/>
              </a:rPr>
              <a:t>， 则变换后的数字滤波器的全部极点在单位圆内，即</a:t>
            </a:r>
            <a:r>
              <a:rPr lang="en-US" altLang="zh-CN" dirty="0">
                <a:latin typeface="Times New Roman" panose="02020603050405020304" pitchFamily="18" charset="0"/>
                <a:ea typeface="宋体" panose="02010600030101010101" pitchFamily="2" charset="-122"/>
              </a:rPr>
              <a:t>|</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s</a:t>
            </a:r>
            <a:r>
              <a:rPr lang="en-US" altLang="zh-CN" i="1" baseline="-4000" err="1">
                <a:latin typeface="Times New Roman" panose="02020603050405020304" pitchFamily="18" charset="0"/>
                <a:ea typeface="宋体" panose="02010600030101010101" pitchFamily="2" charset="-122"/>
              </a:rPr>
              <a:t>k</a:t>
            </a:r>
            <a:r>
              <a:rPr lang="en-US" altLang="zh-CN" i="1" baseline="30000" err="1">
                <a:latin typeface="Times New Roman" panose="02020603050405020304" pitchFamily="18" charset="0"/>
                <a:ea typeface="宋体" panose="02010600030101010101" pitchFamily="2" charset="-122"/>
              </a:rPr>
              <a:t>T</a:t>
            </a:r>
            <a:r>
              <a:rPr lang="en-US" altLang="zh-CN" err="1">
                <a:latin typeface="Times New Roman" panose="02020603050405020304" pitchFamily="18" charset="0"/>
                <a:ea typeface="宋体" panose="02010600030101010101" pitchFamily="2" charset="-122"/>
              </a:rPr>
              <a:t>|=e</a:t>
            </a:r>
            <a:r>
              <a:rPr lang="en-US" altLang="zh-CN" i="1" baseline="30000" err="1">
                <a:latin typeface="Times New Roman" panose="02020603050405020304" pitchFamily="18" charset="0"/>
                <a:ea typeface="宋体" panose="02010600030101010101" pitchFamily="2" charset="-122"/>
              </a:rPr>
              <a:t>Re</a:t>
            </a:r>
            <a:r>
              <a:rPr lang="zh-CN" altLang="en-US" baseline="30000">
                <a:latin typeface="Times New Roman" panose="02020603050405020304" pitchFamily="18" charset="0"/>
                <a:ea typeface="宋体" panose="02010600030101010101" pitchFamily="2" charset="-122"/>
              </a:rPr>
              <a:t>［</a:t>
            </a:r>
            <a:r>
              <a:rPr lang="en-US" altLang="zh-CN" i="1" baseline="30000" err="1">
                <a:latin typeface="Times New Roman" panose="02020603050405020304" pitchFamily="18" charset="0"/>
                <a:ea typeface="宋体" panose="02010600030101010101" pitchFamily="2" charset="-122"/>
              </a:rPr>
              <a:t>s</a:t>
            </a:r>
            <a:r>
              <a:rPr lang="en-US" altLang="zh-CN" i="1" baseline="-1000" err="1">
                <a:latin typeface="Times New Roman" panose="02020603050405020304" pitchFamily="18" charset="0"/>
                <a:ea typeface="宋体" panose="02010600030101010101" pitchFamily="2" charset="-122"/>
              </a:rPr>
              <a:t>k</a:t>
            </a:r>
            <a:r>
              <a:rPr lang="zh-CN" altLang="en-US" baseline="30000">
                <a:latin typeface="Times New Roman" panose="02020603050405020304" pitchFamily="18" charset="0"/>
                <a:ea typeface="宋体" panose="02010600030101010101" pitchFamily="2" charset="-122"/>
              </a:rPr>
              <a:t>］</a:t>
            </a:r>
            <a:r>
              <a:rPr lang="en-US" altLang="zh-CN" i="1" baseline="30000">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&lt;1</a:t>
            </a:r>
            <a:r>
              <a:rPr lang="zh-CN" altLang="en-US" dirty="0">
                <a:latin typeface="Times New Roman" panose="02020603050405020304" pitchFamily="18" charset="0"/>
                <a:ea typeface="宋体" panose="02010600030101010101" pitchFamily="2" charset="-122"/>
              </a:rPr>
              <a:t>， 因此数字滤波器也是因果稳定的。 </a:t>
            </a:r>
            <a:endParaRPr lang="zh-CN" altLang="en-US" dirty="0">
              <a:latin typeface="Times New Roman" panose="02020603050405020304" pitchFamily="18" charset="0"/>
              <a:ea typeface="宋体" panose="02010600030101010101" pitchFamily="2" charset="-122"/>
            </a:endParaRPr>
          </a:p>
          <a:p>
            <a:pPr algn="just">
              <a:lnSpc>
                <a:spcPct val="148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）虽然脉冲响应不变法能保证</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平面极点与</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平面极点有这种代数对应关系，但是并不等于整个</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平面与</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平面有这种代数对应关系，特别是数字滤波器的零点位置就与模拟滤波器零点位置没有这种代数对应关系，而是随</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的极点</a:t>
            </a:r>
            <a:r>
              <a:rPr lang="en-US" altLang="zh-CN" i="1" err="1">
                <a:latin typeface="Times New Roman" panose="02020603050405020304" pitchFamily="18" charset="0"/>
                <a:ea typeface="宋体" panose="02010600030101010101" pitchFamily="2" charset="-122"/>
              </a:rPr>
              <a:t>s</a:t>
            </a:r>
            <a:r>
              <a:rPr lang="en-US" altLang="zh-CN" i="1" baseline="-2500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以及系数</a:t>
            </a:r>
            <a:r>
              <a:rPr lang="en-US" altLang="zh-CN" i="1" err="1">
                <a:latin typeface="Times New Roman" panose="02020603050405020304" pitchFamily="18" charset="0"/>
                <a:ea typeface="宋体" panose="02010600030101010101" pitchFamily="2" charset="-122"/>
              </a:rPr>
              <a:t>A</a:t>
            </a:r>
            <a:r>
              <a:rPr lang="en-US" altLang="zh-CN" i="1" baseline="-25000" err="1">
                <a:latin typeface="Times New Roman" panose="02020603050405020304" pitchFamily="18" charset="0"/>
                <a:ea typeface="宋体" panose="02010600030101010101" pitchFamily="2" charset="-122"/>
              </a:rPr>
              <a:t>k</a:t>
            </a:r>
            <a:r>
              <a:rPr lang="zh-CN" altLang="en-US" dirty="0">
                <a:latin typeface="Times New Roman" panose="02020603050405020304" pitchFamily="18" charset="0"/>
                <a:ea typeface="宋体" panose="02010600030101010101" pitchFamily="2" charset="-122"/>
              </a:rPr>
              <a:t>两者而变化。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文本框 69635"/>
          <p:cNvSpPr txBox="1"/>
          <p:nvPr/>
        </p:nvSpPr>
        <p:spPr>
          <a:xfrm>
            <a:off x="365125" y="457200"/>
            <a:ext cx="8778875" cy="1187450"/>
          </a:xfrm>
          <a:prstGeom prst="rect">
            <a:avLst/>
          </a:prstGeom>
          <a:noFill/>
          <a:ln w="9525">
            <a:noFill/>
          </a:ln>
        </p:spPr>
        <p:txBody>
          <a:bodyPr anchor="t">
            <a:spAutoFit/>
          </a:bodyPr>
          <a:p>
            <a:pPr>
              <a:lnSpc>
                <a:spcPct val="150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从式（</a:t>
            </a:r>
            <a:r>
              <a:rPr lang="en-US" altLang="zh-CN" dirty="0">
                <a:latin typeface="Times New Roman" panose="02020603050405020304" pitchFamily="18" charset="0"/>
                <a:ea typeface="宋体" panose="02010600030101010101" pitchFamily="2" charset="-122"/>
              </a:rPr>
              <a:t>5-35</a:t>
            </a:r>
            <a:r>
              <a:rPr lang="zh-CN" altLang="en-US" dirty="0">
                <a:latin typeface="Times New Roman" panose="02020603050405020304" pitchFamily="18" charset="0"/>
                <a:ea typeface="宋体" panose="02010600030101010101" pitchFamily="2" charset="-122"/>
              </a:rPr>
              <a:t>）看出，数字滤波器频率响应幅度还与采样间隔</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成反比： </a:t>
            </a:r>
            <a:endParaRPr lang="zh-CN" altLang="en-US">
              <a:latin typeface="Times New Roman" panose="02020603050405020304" pitchFamily="18" charset="0"/>
              <a:ea typeface="宋体" panose="02010600030101010101" pitchFamily="2" charset="-122"/>
            </a:endParaRPr>
          </a:p>
        </p:txBody>
      </p:sp>
      <p:graphicFrame>
        <p:nvGraphicFramePr>
          <p:cNvPr id="73730" name="对象 69636"/>
          <p:cNvGraphicFramePr/>
          <p:nvPr/>
        </p:nvGraphicFramePr>
        <p:xfrm>
          <a:off x="2362200" y="1371600"/>
          <a:ext cx="2584450" cy="820738"/>
        </p:xfrm>
        <a:graphic>
          <a:graphicData uri="http://schemas.openxmlformats.org/presentationml/2006/ole">
            <mc:AlternateContent xmlns:mc="http://schemas.openxmlformats.org/markup-compatibility/2006">
              <mc:Choice xmlns:v="urn:schemas-microsoft-com:vml" Requires="v">
                <p:oleObj spid="_x0000_s3158" name="" r:id="rId1" imgW="1358265" imgH="431800" progId="Equation.3">
                  <p:embed/>
                </p:oleObj>
              </mc:Choice>
              <mc:Fallback>
                <p:oleObj name="" r:id="rId1" imgW="1358265" imgH="431800" progId="Equation.3">
                  <p:embed/>
                  <p:pic>
                    <p:nvPicPr>
                      <p:cNvPr id="0" name="图片 3157"/>
                      <p:cNvPicPr/>
                      <p:nvPr/>
                    </p:nvPicPr>
                    <p:blipFill>
                      <a:blip r:embed="rId2"/>
                      <a:stretch>
                        <a:fillRect/>
                      </a:stretch>
                    </p:blipFill>
                    <p:spPr>
                      <a:xfrm>
                        <a:off x="2362200" y="1371600"/>
                        <a:ext cx="2584450" cy="820738"/>
                      </a:xfrm>
                      <a:prstGeom prst="rect">
                        <a:avLst/>
                      </a:prstGeom>
                      <a:solidFill>
                        <a:schemeClr val="accent1"/>
                      </a:solidFill>
                      <a:ln w="38100">
                        <a:noFill/>
                        <a:miter/>
                      </a:ln>
                    </p:spPr>
                  </p:pic>
                </p:oleObj>
              </mc:Fallback>
            </mc:AlternateContent>
          </a:graphicData>
        </a:graphic>
      </p:graphicFrame>
      <p:sp>
        <p:nvSpPr>
          <p:cNvPr id="73731" name="文本框 69637"/>
          <p:cNvSpPr txBox="1"/>
          <p:nvPr/>
        </p:nvSpPr>
        <p:spPr>
          <a:xfrm>
            <a:off x="5867400" y="1524000"/>
            <a:ext cx="1162050" cy="457200"/>
          </a:xfrm>
          <a:prstGeom prst="rect">
            <a:avLst/>
          </a:prstGeom>
          <a:noFill/>
          <a:ln w="9525">
            <a:noFill/>
          </a:ln>
        </p:spPr>
        <p:txBody>
          <a:bodyPr wrap="none" anchor="t">
            <a:spAutoFit/>
          </a:bodyPr>
          <a:p>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|&lt;π </a:t>
            </a:r>
            <a:endParaRPr lang="en-US" altLang="zh-CN">
              <a:latin typeface="Times New Roman" panose="02020603050405020304" pitchFamily="18" charset="0"/>
              <a:ea typeface="宋体" panose="02010600030101010101" pitchFamily="2" charset="-122"/>
            </a:endParaRPr>
          </a:p>
        </p:txBody>
      </p:sp>
      <p:sp>
        <p:nvSpPr>
          <p:cNvPr id="73732" name="文本框 69638"/>
          <p:cNvSpPr txBox="1"/>
          <p:nvPr/>
        </p:nvSpPr>
        <p:spPr>
          <a:xfrm>
            <a:off x="228600" y="2151063"/>
            <a:ext cx="8763000" cy="1752600"/>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如果</a:t>
            </a:r>
            <a:r>
              <a:rPr lang="zh-CN" altLang="en-US" b="1" dirty="0">
                <a:solidFill>
                  <a:srgbClr val="FF0000"/>
                </a:solidFill>
                <a:latin typeface="Times New Roman" panose="02020603050405020304" pitchFamily="18" charset="0"/>
                <a:ea typeface="宋体" panose="02010600030101010101" pitchFamily="2" charset="-122"/>
              </a:rPr>
              <a:t>采样频率很高</a:t>
            </a:r>
            <a:r>
              <a:rPr lang="zh-CN" altLang="en-US" dirty="0">
                <a:latin typeface="Times New Roman" panose="02020603050405020304" pitchFamily="18" charset="0"/>
                <a:ea typeface="宋体" panose="02010600030101010101" pitchFamily="2" charset="-122"/>
              </a:rPr>
              <a:t>，即</a:t>
            </a:r>
            <a:r>
              <a:rPr lang="en-US" altLang="zh-CN" b="1" i="1">
                <a:solidFill>
                  <a:srgbClr val="FF0000"/>
                </a:solidFill>
                <a:latin typeface="Times New Roman" panose="02020603050405020304" pitchFamily="18" charset="0"/>
                <a:ea typeface="宋体" panose="02010600030101010101" pitchFamily="2" charset="-122"/>
              </a:rPr>
              <a:t>T</a:t>
            </a:r>
            <a:r>
              <a:rPr lang="zh-CN" altLang="en-US" b="1" dirty="0">
                <a:solidFill>
                  <a:srgbClr val="FF0000"/>
                </a:solidFill>
                <a:latin typeface="Times New Roman" panose="02020603050405020304" pitchFamily="18" charset="0"/>
                <a:ea typeface="宋体" panose="02010600030101010101" pitchFamily="2" charset="-122"/>
              </a:rPr>
              <a:t>很小</a:t>
            </a:r>
            <a:r>
              <a:rPr lang="zh-CN" altLang="en-US" dirty="0">
                <a:latin typeface="Times New Roman" panose="02020603050405020304" pitchFamily="18" charset="0"/>
                <a:ea typeface="宋体" panose="02010600030101010101" pitchFamily="2" charset="-122"/>
              </a:rPr>
              <a:t>，数字滤波器可能具有</a:t>
            </a:r>
            <a:r>
              <a:rPr lang="zh-CN" altLang="en-US" b="1" dirty="0">
                <a:solidFill>
                  <a:srgbClr val="FF0000"/>
                </a:solidFill>
                <a:latin typeface="Times New Roman" panose="02020603050405020304" pitchFamily="18" charset="0"/>
                <a:ea typeface="宋体" panose="02010600030101010101" pitchFamily="2" charset="-122"/>
              </a:rPr>
              <a:t>太高的增益</a:t>
            </a:r>
            <a:r>
              <a:rPr lang="zh-CN" altLang="en-US" dirty="0">
                <a:latin typeface="Times New Roman" panose="02020603050405020304" pitchFamily="18" charset="0"/>
                <a:ea typeface="宋体" panose="02010600030101010101" pitchFamily="2" charset="-122"/>
              </a:rPr>
              <a:t>，这是不希望的。</a:t>
            </a:r>
            <a:r>
              <a:rPr lang="zh-CN" altLang="en-US" dirty="0">
                <a:latin typeface="Times New Roman" panose="02020603050405020304" pitchFamily="18" charset="0"/>
                <a:ea typeface="宋体" panose="02010600030101010101" pitchFamily="2" charset="-122"/>
              </a:rPr>
              <a:t>为了使数字滤波器增益不随采样频率而变化，可以作以下简单的</a:t>
            </a:r>
            <a:r>
              <a:rPr lang="zh-CN" altLang="en-US" b="1" dirty="0">
                <a:solidFill>
                  <a:srgbClr val="FF0000"/>
                </a:solidFill>
                <a:latin typeface="Times New Roman" panose="02020603050405020304" pitchFamily="18" charset="0"/>
                <a:ea typeface="宋体" panose="02010600030101010101" pitchFamily="2" charset="-122"/>
              </a:rPr>
              <a:t>修正</a:t>
            </a:r>
            <a:r>
              <a:rPr lang="zh-CN" altLang="en-US" dirty="0">
                <a:latin typeface="Times New Roman" panose="02020603050405020304" pitchFamily="18" charset="0"/>
                <a:ea typeface="宋体" panose="02010600030101010101" pitchFamily="2" charset="-122"/>
              </a:rPr>
              <a:t>，令 </a:t>
            </a:r>
            <a:endParaRPr lang="zh-CN" altLang="en-US">
              <a:latin typeface="Times New Roman" panose="02020603050405020304" pitchFamily="18" charset="0"/>
              <a:ea typeface="宋体" panose="02010600030101010101" pitchFamily="2" charset="-122"/>
            </a:endParaRPr>
          </a:p>
        </p:txBody>
      </p:sp>
      <p:sp>
        <p:nvSpPr>
          <p:cNvPr id="73733" name="文本框 69640"/>
          <p:cNvSpPr txBox="1"/>
          <p:nvPr/>
        </p:nvSpPr>
        <p:spPr>
          <a:xfrm>
            <a:off x="3282950" y="4073525"/>
            <a:ext cx="2251075" cy="460375"/>
          </a:xfrm>
          <a:prstGeom prst="rect">
            <a:avLst/>
          </a:prstGeom>
          <a:solidFill>
            <a:schemeClr val="accent1"/>
          </a:solidFill>
          <a:ln w="9525">
            <a:noFill/>
          </a:ln>
        </p:spPr>
        <p:txBody>
          <a:bodyPr wrap="square" anchor="t">
            <a:spAutoFit/>
          </a:bodyPr>
          <a:p>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Th</a:t>
            </a:r>
            <a:r>
              <a:rPr lang="en-US" altLang="zh-CN" baseline="-25000" err="1">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nT</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
        <p:nvSpPr>
          <p:cNvPr id="73734" name="文本框 69641"/>
          <p:cNvSpPr txBox="1"/>
          <p:nvPr/>
        </p:nvSpPr>
        <p:spPr>
          <a:xfrm>
            <a:off x="6934200" y="3962400"/>
            <a:ext cx="10985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(5-39) </a:t>
            </a:r>
            <a:endParaRPr lang="en-US" altLang="zh-CN">
              <a:latin typeface="Times New Roman" panose="02020603050405020304" pitchFamily="18" charset="0"/>
              <a:ea typeface="宋体" panose="02010600030101010101" pitchFamily="2" charset="-122"/>
            </a:endParaRPr>
          </a:p>
        </p:txBody>
      </p:sp>
      <p:sp>
        <p:nvSpPr>
          <p:cNvPr id="73735" name="文本框 69642"/>
          <p:cNvSpPr txBox="1"/>
          <p:nvPr/>
        </p:nvSpPr>
        <p:spPr>
          <a:xfrm>
            <a:off x="104775" y="4073525"/>
            <a:ext cx="95408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则有</a:t>
            </a:r>
            <a:r>
              <a:rPr lang="en-US" altLang="zh-CN" dirty="0">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72712" name="对象 69643"/>
          <p:cNvGraphicFramePr/>
          <p:nvPr/>
        </p:nvGraphicFramePr>
        <p:xfrm>
          <a:off x="-26987" y="4837113"/>
          <a:ext cx="3200400" cy="954087"/>
        </p:xfrm>
        <a:graphic>
          <a:graphicData uri="http://schemas.openxmlformats.org/presentationml/2006/ole">
            <mc:AlternateContent xmlns:mc="http://schemas.openxmlformats.org/markup-compatibility/2006">
              <mc:Choice xmlns:v="urn:schemas-microsoft-com:vml" Requires="v">
                <p:oleObj spid="_x0000_s3157" name="" r:id="rId3" imgW="1294765" imgH="431800" progId="Equation.3">
                  <p:embed/>
                </p:oleObj>
              </mc:Choice>
              <mc:Fallback>
                <p:oleObj name="" r:id="rId3" imgW="1294765" imgH="431800" progId="Equation.3">
                  <p:embed/>
                  <p:pic>
                    <p:nvPicPr>
                      <p:cNvPr id="0" name="图片 3156"/>
                      <p:cNvPicPr/>
                      <p:nvPr/>
                    </p:nvPicPr>
                    <p:blipFill>
                      <a:blip r:embed="rId4"/>
                      <a:stretch>
                        <a:fillRect/>
                      </a:stretch>
                    </p:blipFill>
                    <p:spPr>
                      <a:xfrm>
                        <a:off x="-26987" y="4837113"/>
                        <a:ext cx="3200400" cy="954087"/>
                      </a:xfrm>
                      <a:prstGeom prst="rect">
                        <a:avLst/>
                      </a:prstGeom>
                      <a:solidFill>
                        <a:schemeClr val="accent1"/>
                      </a:solidFill>
                      <a:ln w="38100">
                        <a:noFill/>
                        <a:miter/>
                      </a:ln>
                    </p:spPr>
                  </p:pic>
                </p:oleObj>
              </mc:Fallback>
            </mc:AlternateContent>
          </a:graphicData>
        </a:graphic>
      </p:graphicFrame>
      <p:graphicFrame>
        <p:nvGraphicFramePr>
          <p:cNvPr id="72713" name="对象 69644"/>
          <p:cNvGraphicFramePr/>
          <p:nvPr/>
        </p:nvGraphicFramePr>
        <p:xfrm>
          <a:off x="4271963" y="4837113"/>
          <a:ext cx="4872037" cy="954087"/>
        </p:xfrm>
        <a:graphic>
          <a:graphicData uri="http://schemas.openxmlformats.org/presentationml/2006/ole">
            <mc:AlternateContent xmlns:mc="http://schemas.openxmlformats.org/markup-compatibility/2006">
              <mc:Choice xmlns:v="urn:schemas-microsoft-com:vml" Requires="v">
                <p:oleObj spid="_x0000_s3155" name="" r:id="rId5" imgW="2678430" imgH="431800" progId="Equation.3">
                  <p:embed/>
                </p:oleObj>
              </mc:Choice>
              <mc:Fallback>
                <p:oleObj name="" r:id="rId5" imgW="2678430" imgH="431800" progId="Equation.3">
                  <p:embed/>
                  <p:pic>
                    <p:nvPicPr>
                      <p:cNvPr id="0" name="图片 3154"/>
                      <p:cNvPicPr/>
                      <p:nvPr/>
                    </p:nvPicPr>
                    <p:blipFill>
                      <a:blip r:embed="rId6"/>
                      <a:stretch>
                        <a:fillRect/>
                      </a:stretch>
                    </p:blipFill>
                    <p:spPr>
                      <a:xfrm>
                        <a:off x="4271963" y="4837113"/>
                        <a:ext cx="4872037" cy="954087"/>
                      </a:xfrm>
                      <a:prstGeom prst="rect">
                        <a:avLst/>
                      </a:prstGeom>
                      <a:solidFill>
                        <a:schemeClr val="accent1"/>
                      </a:solidFill>
                      <a:ln w="38100">
                        <a:noFill/>
                        <a:miter/>
                      </a:ln>
                    </p:spPr>
                  </p:pic>
                </p:oleObj>
              </mc:Fallback>
            </mc:AlternateContent>
          </a:graphicData>
        </a:graphic>
      </p:graphicFrame>
      <p:sp>
        <p:nvSpPr>
          <p:cNvPr id="73738" name="文本框 69645"/>
          <p:cNvSpPr txBox="1"/>
          <p:nvPr/>
        </p:nvSpPr>
        <p:spPr>
          <a:xfrm>
            <a:off x="1141413" y="57912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(5-40) </a:t>
            </a:r>
            <a:endParaRPr lang="en-US" altLang="zh-CN">
              <a:latin typeface="Times New Roman" panose="02020603050405020304" pitchFamily="18" charset="0"/>
              <a:ea typeface="宋体" panose="02010600030101010101" pitchFamily="2" charset="-122"/>
            </a:endParaRPr>
          </a:p>
        </p:txBody>
      </p:sp>
      <p:sp>
        <p:nvSpPr>
          <p:cNvPr id="73739" name="文本框 69646"/>
          <p:cNvSpPr txBox="1"/>
          <p:nvPr/>
        </p:nvSpPr>
        <p:spPr>
          <a:xfrm>
            <a:off x="6508750" y="5791200"/>
            <a:ext cx="10985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(5-41)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2712"/>
                                        </p:tgtEl>
                                        <p:attrNameLst>
                                          <p:attrName>style.visibility</p:attrName>
                                        </p:attrNameLst>
                                      </p:cBhvr>
                                      <p:to>
                                        <p:strVal val="visible"/>
                                      </p:to>
                                    </p:set>
                                    <p:anim calcmode="lin" valueType="num">
                                      <p:cBhvr additive="base">
                                        <p:cTn id="7" dur="500" fill="hold"/>
                                        <p:tgtEl>
                                          <p:spTgt spid="72712"/>
                                        </p:tgtEl>
                                        <p:attrNameLst>
                                          <p:attrName>ppt_x</p:attrName>
                                        </p:attrNameLst>
                                      </p:cBhvr>
                                      <p:tavLst>
                                        <p:tav tm="0">
                                          <p:val>
                                            <p:strVal val="#ppt_x"/>
                                          </p:val>
                                        </p:tav>
                                        <p:tav tm="100000">
                                          <p:val>
                                            <p:strVal val="#ppt_x"/>
                                          </p:val>
                                        </p:tav>
                                      </p:tavLst>
                                    </p:anim>
                                    <p:anim calcmode="lin" valueType="num">
                                      <p:cBhvr additive="base">
                                        <p:cTn id="8" dur="500" fill="hold"/>
                                        <p:tgtEl>
                                          <p:spTgt spid="727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2713"/>
                                        </p:tgtEl>
                                        <p:attrNameLst>
                                          <p:attrName>style.visibility</p:attrName>
                                        </p:attrNameLst>
                                      </p:cBhvr>
                                      <p:to>
                                        <p:strVal val="visible"/>
                                      </p:to>
                                    </p:set>
                                    <p:anim calcmode="lin" valueType="num">
                                      <p:cBhvr additive="base">
                                        <p:cTn id="13" dur="500" fill="hold"/>
                                        <p:tgtEl>
                                          <p:spTgt spid="72713"/>
                                        </p:tgtEl>
                                        <p:attrNameLst>
                                          <p:attrName>ppt_x</p:attrName>
                                        </p:attrNameLst>
                                      </p:cBhvr>
                                      <p:tavLst>
                                        <p:tav tm="0">
                                          <p:val>
                                            <p:strVal val="#ppt_x"/>
                                          </p:val>
                                        </p:tav>
                                        <p:tav tm="100000">
                                          <p:val>
                                            <p:strVal val="#ppt_x"/>
                                          </p:val>
                                        </p:tav>
                                      </p:tavLst>
                                    </p:anim>
                                    <p:anim calcmode="lin" valueType="num">
                                      <p:cBhvr additive="base">
                                        <p:cTn id="14" dur="500" fill="hold"/>
                                        <p:tgtEl>
                                          <p:spTgt spid="727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文本框 72707"/>
          <p:cNvSpPr txBox="1"/>
          <p:nvPr/>
        </p:nvSpPr>
        <p:spPr>
          <a:xfrm>
            <a:off x="365125" y="650875"/>
            <a:ext cx="4854575"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例 </a:t>
            </a:r>
            <a:r>
              <a:rPr lang="en-US" altLang="zh-CN" b="1" dirty="0">
                <a:latin typeface="Times New Roman" panose="02020603050405020304" pitchFamily="18" charset="0"/>
                <a:ea typeface="宋体" panose="02010600030101010101" pitchFamily="2" charset="-122"/>
              </a:rPr>
              <a:t>5-3</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设模拟滤波器的系统函数为 </a:t>
            </a:r>
            <a:endParaRPr lang="zh-CN" altLang="en-US">
              <a:latin typeface="Times New Roman" panose="02020603050405020304" pitchFamily="18" charset="0"/>
              <a:ea typeface="宋体" panose="02010600030101010101" pitchFamily="2" charset="-122"/>
            </a:endParaRPr>
          </a:p>
        </p:txBody>
      </p:sp>
      <p:graphicFrame>
        <p:nvGraphicFramePr>
          <p:cNvPr id="74754" name="对象 72708"/>
          <p:cNvGraphicFramePr/>
          <p:nvPr/>
        </p:nvGraphicFramePr>
        <p:xfrm>
          <a:off x="3046413" y="1125538"/>
          <a:ext cx="2895600" cy="944562"/>
        </p:xfrm>
        <a:graphic>
          <a:graphicData uri="http://schemas.openxmlformats.org/presentationml/2006/ole">
            <mc:AlternateContent xmlns:mc="http://schemas.openxmlformats.org/markup-compatibility/2006">
              <mc:Choice xmlns:v="urn:schemas-microsoft-com:vml" Requires="v">
                <p:oleObj spid="_x0000_s3156" name="" r:id="rId1" imgW="1206500" imgH="393700" progId="Equation.3">
                  <p:embed/>
                </p:oleObj>
              </mc:Choice>
              <mc:Fallback>
                <p:oleObj name="" r:id="rId1" imgW="1206500" imgH="393700" progId="Equation.3">
                  <p:embed/>
                  <p:pic>
                    <p:nvPicPr>
                      <p:cNvPr id="0" name="图片 3155"/>
                      <p:cNvPicPr/>
                      <p:nvPr/>
                    </p:nvPicPr>
                    <p:blipFill>
                      <a:blip r:embed="rId2"/>
                      <a:stretch>
                        <a:fillRect/>
                      </a:stretch>
                    </p:blipFill>
                    <p:spPr>
                      <a:xfrm>
                        <a:off x="3046413" y="1125538"/>
                        <a:ext cx="2895600" cy="944562"/>
                      </a:xfrm>
                      <a:prstGeom prst="rect">
                        <a:avLst/>
                      </a:prstGeom>
                      <a:noFill/>
                      <a:ln w="38100">
                        <a:noFill/>
                        <a:miter/>
                      </a:ln>
                    </p:spPr>
                  </p:pic>
                </p:oleObj>
              </mc:Fallback>
            </mc:AlternateContent>
          </a:graphicData>
        </a:graphic>
      </p:graphicFrame>
      <p:sp>
        <p:nvSpPr>
          <p:cNvPr id="74755" name="文本框 72709"/>
          <p:cNvSpPr txBox="1"/>
          <p:nvPr/>
        </p:nvSpPr>
        <p:spPr>
          <a:xfrm>
            <a:off x="28575" y="2162175"/>
            <a:ext cx="9412288"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试利用</a:t>
            </a:r>
            <a:r>
              <a:rPr lang="zh-CN" altLang="en-US" b="1" dirty="0">
                <a:solidFill>
                  <a:srgbClr val="FF0000"/>
                </a:solidFill>
                <a:latin typeface="Times New Roman" panose="02020603050405020304" pitchFamily="18" charset="0"/>
                <a:ea typeface="宋体" panose="02010600030101010101" pitchFamily="2" charset="-122"/>
              </a:rPr>
              <a:t>脉冲响应不变法</a:t>
            </a:r>
            <a:r>
              <a:rPr lang="zh-CN" altLang="en-US" dirty="0">
                <a:latin typeface="Times New Roman" panose="02020603050405020304" pitchFamily="18" charset="0"/>
                <a:ea typeface="宋体" panose="02010600030101010101" pitchFamily="2" charset="-122"/>
              </a:rPr>
              <a:t>将</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转换成</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数字滤波器的</a:t>
            </a:r>
            <a:r>
              <a:rPr lang="zh-CN" altLang="en-US" b="1" u="sng" dirty="0">
                <a:solidFill>
                  <a:srgbClr val="FF0000"/>
                </a:solidFill>
                <a:latin typeface="Times New Roman" panose="02020603050405020304" pitchFamily="18" charset="0"/>
                <a:ea typeface="宋体" panose="02010600030101010101" pitchFamily="2" charset="-122"/>
              </a:rPr>
              <a:t>系统函数</a:t>
            </a:r>
            <a:r>
              <a:rPr lang="en-US" altLang="zh-CN" b="1" i="1" u="sng">
                <a:solidFill>
                  <a:srgbClr val="FF0000"/>
                </a:solidFill>
                <a:latin typeface="Times New Roman" panose="02020603050405020304" pitchFamily="18" charset="0"/>
                <a:ea typeface="宋体" panose="02010600030101010101" pitchFamily="2" charset="-122"/>
              </a:rPr>
              <a:t>H</a:t>
            </a:r>
            <a:r>
              <a:rPr lang="en-US" altLang="zh-CN" b="1" u="sng">
                <a:solidFill>
                  <a:srgbClr val="FF0000"/>
                </a:solidFill>
                <a:latin typeface="Times New Roman" panose="02020603050405020304" pitchFamily="18" charset="0"/>
                <a:ea typeface="宋体" panose="02010600030101010101" pitchFamily="2" charset="-122"/>
              </a:rPr>
              <a:t>(</a:t>
            </a:r>
            <a:r>
              <a:rPr lang="en-US" altLang="zh-CN" b="1" i="1" u="sng">
                <a:solidFill>
                  <a:srgbClr val="FF0000"/>
                </a:solidFill>
                <a:latin typeface="Times New Roman" panose="02020603050405020304" pitchFamily="18" charset="0"/>
                <a:ea typeface="宋体" panose="02010600030101010101" pitchFamily="2" charset="-122"/>
              </a:rPr>
              <a:t>z</a:t>
            </a:r>
            <a:r>
              <a:rPr lang="en-US" altLang="zh-CN" b="1" u="sng">
                <a:solidFill>
                  <a:srgbClr val="FF0000"/>
                </a:solidFill>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74756" name="文本框 72710"/>
          <p:cNvSpPr txBox="1"/>
          <p:nvPr/>
        </p:nvSpPr>
        <p:spPr>
          <a:xfrm>
            <a:off x="625475" y="2895600"/>
            <a:ext cx="7680325"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  直接利用式（</a:t>
            </a:r>
            <a:r>
              <a:rPr lang="en-US" altLang="zh-CN" dirty="0">
                <a:latin typeface="Times New Roman" panose="02020603050405020304" pitchFamily="18" charset="0"/>
                <a:ea typeface="宋体" panose="02010600030101010101" pitchFamily="2" charset="-122"/>
              </a:rPr>
              <a:t>5-40</a:t>
            </a:r>
            <a:r>
              <a:rPr lang="zh-CN" altLang="en-US" dirty="0">
                <a:latin typeface="Times New Roman" panose="02020603050405020304" pitchFamily="18" charset="0"/>
                <a:ea typeface="宋体" panose="02010600030101010101" pitchFamily="2" charset="-122"/>
              </a:rPr>
              <a:t>）可得到数字滤波器的系统函数为 </a:t>
            </a:r>
            <a:endParaRPr lang="zh-CN" altLang="en-US">
              <a:latin typeface="Times New Roman" panose="02020603050405020304" pitchFamily="18" charset="0"/>
              <a:ea typeface="宋体" panose="02010600030101010101" pitchFamily="2" charset="-122"/>
            </a:endParaRPr>
          </a:p>
        </p:txBody>
      </p:sp>
      <p:graphicFrame>
        <p:nvGraphicFramePr>
          <p:cNvPr id="74757" name="对象 72711"/>
          <p:cNvGraphicFramePr/>
          <p:nvPr/>
        </p:nvGraphicFramePr>
        <p:xfrm>
          <a:off x="407988" y="3581400"/>
          <a:ext cx="8480425" cy="1033463"/>
        </p:xfrm>
        <a:graphic>
          <a:graphicData uri="http://schemas.openxmlformats.org/presentationml/2006/ole">
            <mc:AlternateContent xmlns:mc="http://schemas.openxmlformats.org/markup-compatibility/2006">
              <mc:Choice xmlns:v="urn:schemas-microsoft-com:vml" Requires="v">
                <p:oleObj spid="_x0000_s3159" name="" r:id="rId3" imgW="3644900" imgH="444500" progId="Equation.3">
                  <p:embed/>
                </p:oleObj>
              </mc:Choice>
              <mc:Fallback>
                <p:oleObj name="" r:id="rId3" imgW="3644900" imgH="444500" progId="Equation.3">
                  <p:embed/>
                  <p:pic>
                    <p:nvPicPr>
                      <p:cNvPr id="0" name="图片 3158"/>
                      <p:cNvPicPr/>
                      <p:nvPr/>
                    </p:nvPicPr>
                    <p:blipFill>
                      <a:blip r:embed="rId4"/>
                      <a:stretch>
                        <a:fillRect/>
                      </a:stretch>
                    </p:blipFill>
                    <p:spPr>
                      <a:xfrm>
                        <a:off x="407988" y="3581400"/>
                        <a:ext cx="8480425" cy="1033463"/>
                      </a:xfrm>
                      <a:prstGeom prst="rect">
                        <a:avLst/>
                      </a:prstGeom>
                      <a:noFill/>
                      <a:ln w="38100">
                        <a:noFill/>
                        <a:miter/>
                      </a:ln>
                    </p:spPr>
                  </p:pic>
                </p:oleObj>
              </mc:Fallback>
            </mc:AlternateContent>
          </a:graphicData>
        </a:graphic>
      </p:graphicFrame>
      <p:sp>
        <p:nvSpPr>
          <p:cNvPr id="74758" name="文本框 72712"/>
          <p:cNvSpPr txBox="1"/>
          <p:nvPr/>
        </p:nvSpPr>
        <p:spPr>
          <a:xfrm>
            <a:off x="288925" y="4800600"/>
            <a:ext cx="1973263" cy="457200"/>
          </a:xfrm>
          <a:prstGeom prst="rect">
            <a:avLst/>
          </a:prstGeom>
          <a:noFill/>
          <a:ln w="9525">
            <a:noFill/>
          </a:ln>
        </p:spPr>
        <p:txBody>
          <a:bodyPr wrap="none" anchor="t">
            <a:spAutoFit/>
          </a:bodyPr>
          <a:p>
            <a:r>
              <a:rPr lang="zh-CN" altLang="en-US">
                <a:latin typeface="Times New Roman" panose="02020603050405020304" pitchFamily="18" charset="0"/>
                <a:ea typeface="宋体" panose="02010600030101010101" pitchFamily="2" charset="-122"/>
              </a:rPr>
              <a:t>设</a:t>
            </a:r>
            <a:r>
              <a:rPr lang="en-US" altLang="zh-CN" i="1">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，则有 </a:t>
            </a:r>
            <a:endParaRPr lang="zh-CN" altLang="en-US">
              <a:latin typeface="Times New Roman" panose="02020603050405020304" pitchFamily="18" charset="0"/>
              <a:ea typeface="宋体" panose="02010600030101010101" pitchFamily="2" charset="-122"/>
            </a:endParaRPr>
          </a:p>
        </p:txBody>
      </p:sp>
      <p:graphicFrame>
        <p:nvGraphicFramePr>
          <p:cNvPr id="74759" name="对象 72713"/>
          <p:cNvGraphicFramePr/>
          <p:nvPr/>
        </p:nvGraphicFramePr>
        <p:xfrm>
          <a:off x="2133600" y="5027613"/>
          <a:ext cx="5257800" cy="1027112"/>
        </p:xfrm>
        <a:graphic>
          <a:graphicData uri="http://schemas.openxmlformats.org/presentationml/2006/ole">
            <mc:AlternateContent xmlns:mc="http://schemas.openxmlformats.org/markup-compatibility/2006">
              <mc:Choice xmlns:v="urn:schemas-microsoft-com:vml" Requires="v">
                <p:oleObj spid="_x0000_s3160" name="" r:id="rId5" imgW="2146300" imgH="419100" progId="Equation.3">
                  <p:embed/>
                </p:oleObj>
              </mc:Choice>
              <mc:Fallback>
                <p:oleObj name="" r:id="rId5" imgW="2146300" imgH="419100" progId="Equation.3">
                  <p:embed/>
                  <p:pic>
                    <p:nvPicPr>
                      <p:cNvPr id="0" name="图片 3159"/>
                      <p:cNvPicPr/>
                      <p:nvPr/>
                    </p:nvPicPr>
                    <p:blipFill>
                      <a:blip r:embed="rId6"/>
                      <a:stretch>
                        <a:fillRect/>
                      </a:stretch>
                    </p:blipFill>
                    <p:spPr>
                      <a:xfrm>
                        <a:off x="2133600" y="5027613"/>
                        <a:ext cx="5257800" cy="1027112"/>
                      </a:xfrm>
                      <a:prstGeom prst="rect">
                        <a:avLst/>
                      </a:prstGeom>
                      <a:noFill/>
                      <a:ln w="38100">
                        <a:noFill/>
                        <a:miter/>
                      </a:ln>
                    </p:spPr>
                  </p:pic>
                </p:oleObj>
              </mc:Fallback>
            </mc:AlternateContent>
          </a:graphicData>
        </a:graphic>
      </p:graphicFrame>
      <p:sp>
        <p:nvSpPr>
          <p:cNvPr id="2" name="十字星 1"/>
          <p:cNvSpPr/>
          <p:nvPr/>
        </p:nvSpPr>
        <p:spPr>
          <a:xfrm>
            <a:off x="0" y="555625"/>
            <a:ext cx="576263" cy="647700"/>
          </a:xfrm>
          <a:prstGeom prst="star4">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graphicFrame>
        <p:nvGraphicFramePr>
          <p:cNvPr id="3" name="对象 2"/>
          <p:cNvGraphicFramePr/>
          <p:nvPr/>
        </p:nvGraphicFramePr>
        <p:xfrm>
          <a:off x="5551488" y="684213"/>
          <a:ext cx="2578100" cy="1905000"/>
        </p:xfrm>
        <a:graphic>
          <a:graphicData uri="http://schemas.openxmlformats.org/presentationml/2006/ole">
            <mc:AlternateContent xmlns:mc="http://schemas.openxmlformats.org/markup-compatibility/2006">
              <mc:Choice xmlns:v="urn:schemas-microsoft-com:vml" Requires="v">
                <p:oleObj spid="_x0000_s3154" name="" r:id="rId7" imgW="1491615" imgH="866140" progId="Equation.KSEE3">
                  <p:embed/>
                </p:oleObj>
              </mc:Choice>
              <mc:Fallback>
                <p:oleObj name="" r:id="rId7" imgW="1491615" imgH="866140" progId="Equation.KSEE3">
                  <p:embed/>
                  <p:pic>
                    <p:nvPicPr>
                      <p:cNvPr id="0" name="图片 3153"/>
                      <p:cNvPicPr/>
                      <p:nvPr/>
                    </p:nvPicPr>
                    <p:blipFill>
                      <a:blip r:embed="rId8"/>
                      <a:stretch>
                        <a:fillRect/>
                      </a:stretch>
                    </p:blipFill>
                    <p:spPr>
                      <a:xfrm>
                        <a:off x="5551488" y="684213"/>
                        <a:ext cx="2578100" cy="1905000"/>
                      </a:xfrm>
                      <a:prstGeom prst="rect">
                        <a:avLst/>
                      </a:prstGeom>
                      <a:solidFill>
                        <a:schemeClr val="accent1"/>
                      </a:solidFill>
                      <a:ln w="38100">
                        <a:noFill/>
                        <a:miter/>
                      </a:ln>
                    </p:spPr>
                  </p:pic>
                </p:oleObj>
              </mc:Fallback>
            </mc:AlternateContent>
          </a:graphicData>
        </a:graphic>
      </p:graphicFrame>
      <p:sp>
        <p:nvSpPr>
          <p:cNvPr id="5" name="椭圆 4"/>
          <p:cNvSpPr/>
          <p:nvPr/>
        </p:nvSpPr>
        <p:spPr>
          <a:xfrm>
            <a:off x="1908175" y="3573463"/>
            <a:ext cx="503238" cy="576263"/>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6" name="椭圆 5"/>
          <p:cNvSpPr/>
          <p:nvPr/>
        </p:nvSpPr>
        <p:spPr>
          <a:xfrm>
            <a:off x="3644900" y="3573463"/>
            <a:ext cx="503238" cy="576263"/>
          </a:xfrm>
          <a:prstGeom prst="ellipse">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文本框 71683"/>
          <p:cNvSpPr txBox="1"/>
          <p:nvPr/>
        </p:nvSpPr>
        <p:spPr>
          <a:xfrm>
            <a:off x="228600" y="533400"/>
            <a:ext cx="8763000" cy="1109663"/>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模拟</a:t>
            </a:r>
            <a:r>
              <a:rPr lang="zh-CN" altLang="en-US" dirty="0">
                <a:latin typeface="Times New Roman" panose="02020603050405020304" pitchFamily="18" charset="0"/>
                <a:ea typeface="宋体" panose="02010600030101010101" pitchFamily="2" charset="-122"/>
              </a:rPr>
              <a:t>滤波器的频率响应</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以及</a:t>
            </a:r>
            <a:r>
              <a:rPr lang="zh-CN" altLang="en-US" b="1" dirty="0">
                <a:solidFill>
                  <a:srgbClr val="FF0000"/>
                </a:solidFill>
                <a:latin typeface="Times New Roman" panose="02020603050405020304" pitchFamily="18" charset="0"/>
                <a:ea typeface="宋体" panose="02010600030101010101" pitchFamily="2" charset="-122"/>
              </a:rPr>
              <a:t>数字</a:t>
            </a:r>
            <a:r>
              <a:rPr lang="zh-CN" altLang="en-US" dirty="0">
                <a:latin typeface="Times New Roman" panose="02020603050405020304" pitchFamily="18" charset="0"/>
                <a:ea typeface="宋体" panose="02010600030101010101" pitchFamily="2" charset="-122"/>
              </a:rPr>
              <a:t>滤波器的</a:t>
            </a:r>
            <a:r>
              <a:rPr lang="zh-CN" altLang="en-US" b="1" u="sng" dirty="0">
                <a:solidFill>
                  <a:srgbClr val="FF0000"/>
                </a:solidFill>
                <a:latin typeface="Times New Roman" panose="02020603050405020304" pitchFamily="18" charset="0"/>
                <a:ea typeface="宋体" panose="02010600030101010101" pitchFamily="2" charset="-122"/>
              </a:rPr>
              <a:t>频率响应</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baseline="3000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分别为</a:t>
            </a:r>
            <a:r>
              <a:rPr lang="en-US" altLang="zh-CN" dirty="0">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75778" name="对象 71684"/>
          <p:cNvGraphicFramePr/>
          <p:nvPr/>
        </p:nvGraphicFramePr>
        <p:xfrm>
          <a:off x="1331595" y="1772920"/>
          <a:ext cx="6506210" cy="1851660"/>
        </p:xfrm>
        <a:graphic>
          <a:graphicData uri="http://schemas.openxmlformats.org/presentationml/2006/ole">
            <mc:AlternateContent xmlns:mc="http://schemas.openxmlformats.org/markup-compatibility/2006">
              <mc:Choice xmlns:v="urn:schemas-microsoft-com:vml" Requires="v">
                <p:oleObj spid="_x0000_s3161" name="" r:id="rId1" imgW="3200400" imgH="862965" progId="Equation.3">
                  <p:embed/>
                </p:oleObj>
              </mc:Choice>
              <mc:Fallback>
                <p:oleObj name="" r:id="rId1" imgW="3200400" imgH="862965" progId="Equation.3">
                  <p:embed/>
                  <p:pic>
                    <p:nvPicPr>
                      <p:cNvPr id="0" name="图片 3160"/>
                      <p:cNvPicPr/>
                      <p:nvPr/>
                    </p:nvPicPr>
                    <p:blipFill>
                      <a:blip r:embed="rId2"/>
                      <a:stretch>
                        <a:fillRect/>
                      </a:stretch>
                    </p:blipFill>
                    <p:spPr>
                      <a:xfrm>
                        <a:off x="1331595" y="1772920"/>
                        <a:ext cx="6506210" cy="1851660"/>
                      </a:xfrm>
                      <a:prstGeom prst="rect">
                        <a:avLst/>
                      </a:prstGeom>
                      <a:solidFill>
                        <a:schemeClr val="accent1"/>
                      </a:solidFill>
                      <a:ln w="38100">
                        <a:noFill/>
                        <a:miter/>
                      </a:ln>
                    </p:spPr>
                  </p:pic>
                </p:oleObj>
              </mc:Fallback>
            </mc:AlternateContent>
          </a:graphicData>
        </a:graphic>
      </p:graphicFrame>
      <p:sp>
        <p:nvSpPr>
          <p:cNvPr id="75779" name="文本框 71685"/>
          <p:cNvSpPr txBox="1"/>
          <p:nvPr/>
        </p:nvSpPr>
        <p:spPr>
          <a:xfrm>
            <a:off x="152400" y="3860800"/>
            <a:ext cx="8839200" cy="1317625"/>
          </a:xfrm>
          <a:prstGeom prst="rect">
            <a:avLst/>
          </a:prstGeom>
          <a:noFill/>
          <a:ln w="9525">
            <a:noFill/>
          </a:ln>
        </p:spPr>
        <p:txBody>
          <a:bodyPr anchor="t">
            <a:spAutoFit/>
          </a:bodyPr>
          <a:p>
            <a:pPr algn="just">
              <a:lnSpc>
                <a:spcPct val="168000"/>
              </a:lnSpc>
              <a:spcBef>
                <a:spcPct val="50000"/>
              </a:spcBef>
            </a:pPr>
            <a:r>
              <a:rPr lang="zh-CN" altLang="en-US" dirty="0">
                <a:latin typeface="Times New Roman" panose="02020603050405020304" pitchFamily="18" charset="0"/>
                <a:ea typeface="宋体" panose="02010600030101010101" pitchFamily="2" charset="-122"/>
              </a:rPr>
              <a:t>把</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画在图</a:t>
            </a:r>
            <a:r>
              <a:rPr lang="en-US" altLang="zh-CN" dirty="0">
                <a:latin typeface="Times New Roman" panose="02020603050405020304" pitchFamily="18" charset="0"/>
                <a:ea typeface="宋体" panose="02010600030101010101" pitchFamily="2" charset="-122"/>
              </a:rPr>
              <a:t>5-11</a:t>
            </a:r>
            <a:r>
              <a:rPr lang="zh-CN" altLang="en-US" dirty="0">
                <a:latin typeface="Times New Roman" panose="02020603050405020304" pitchFamily="18" charset="0"/>
                <a:ea typeface="宋体" panose="02010600030101010101" pitchFamily="2" charset="-122"/>
              </a:rPr>
              <a:t>上。由该图可看出，由于</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不是充分</a:t>
            </a:r>
            <a:r>
              <a:rPr lang="zh-CN" altLang="en-US" dirty="0">
                <a:latin typeface="Times New Roman" panose="02020603050405020304" pitchFamily="18" charset="0"/>
                <a:ea typeface="宋体" panose="02010600030101010101" pitchFamily="2" charset="-122"/>
              </a:rPr>
              <a:t>限带的，所以</a:t>
            </a:r>
            <a:r>
              <a:rPr lang="en-US" altLang="zh-CN" i="1">
                <a:latin typeface="Times New Roman" panose="02020603050405020304" pitchFamily="18" charset="0"/>
                <a:ea typeface="宋体" panose="02010600030101010101" pitchFamily="2" charset="-122"/>
              </a:rPr>
              <a:t>H</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产生了严重的频谱混叠失真。 </a:t>
            </a:r>
            <a:endParaRPr lang="zh-CN" altLang="en-US">
              <a:latin typeface="Times New Roman" panose="02020603050405020304" pitchFamily="18" charset="0"/>
              <a:ea typeface="宋体" panose="02010600030101010101" pitchFamily="2" charset="-122"/>
            </a:endParaRPr>
          </a:p>
        </p:txBody>
      </p:sp>
      <p:sp>
        <p:nvSpPr>
          <p:cNvPr id="2" name="文本框 1"/>
          <p:cNvSpPr txBox="1"/>
          <p:nvPr/>
        </p:nvSpPr>
        <p:spPr>
          <a:xfrm>
            <a:off x="6588125" y="1917065"/>
            <a:ext cx="1713230" cy="460375"/>
          </a:xfrm>
          <a:prstGeom prst="rect">
            <a:avLst/>
          </a:prstGeom>
          <a:noFill/>
        </p:spPr>
        <p:txBody>
          <a:bodyPr wrap="none" rtlCol="0" anchor="t">
            <a:spAutoFit/>
          </a:bodyPr>
          <a:p>
            <a:r>
              <a:rPr lang="zh-CN" altLang="en-US" b="1" dirty="0">
                <a:solidFill>
                  <a:srgbClr val="FF0000"/>
                </a:solidFill>
                <a:sym typeface="+mn-ea"/>
              </a:rPr>
              <a:t>低通滤波器</a:t>
            </a:r>
            <a:endParaRPr lang="zh-CN" altLang="en-US" b="1" dirty="0">
              <a:solidFill>
                <a:srgbClr val="FF0000"/>
              </a:solidFill>
              <a:sym typeface="+mn-ea"/>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文本框 74755"/>
          <p:cNvSpPr txBox="1"/>
          <p:nvPr/>
        </p:nvSpPr>
        <p:spPr>
          <a:xfrm>
            <a:off x="2924175" y="5568950"/>
            <a:ext cx="34925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5-11 </a:t>
            </a: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5-3</a:t>
            </a:r>
            <a:r>
              <a:rPr lang="zh-CN" altLang="en-US" dirty="0">
                <a:latin typeface="Times New Roman" panose="02020603050405020304" pitchFamily="18" charset="0"/>
                <a:ea typeface="宋体" panose="02010600030101010101" pitchFamily="2" charset="-122"/>
              </a:rPr>
              <a:t>的幅频特性 </a:t>
            </a:r>
            <a:endParaRPr lang="zh-CN" altLang="en-US">
              <a:latin typeface="Times New Roman" panose="02020603050405020304" pitchFamily="18" charset="0"/>
              <a:ea typeface="宋体" panose="02010600030101010101" pitchFamily="2" charset="-122"/>
            </a:endParaRPr>
          </a:p>
        </p:txBody>
      </p:sp>
      <p:pic>
        <p:nvPicPr>
          <p:cNvPr id="76802" name="图片 74758" descr="5-11"/>
          <p:cNvPicPr>
            <a:picLocks noChangeAspect="1"/>
          </p:cNvPicPr>
          <p:nvPr/>
        </p:nvPicPr>
        <p:blipFill>
          <a:blip r:embed="rId1"/>
          <a:stretch>
            <a:fillRect/>
          </a:stretch>
        </p:blipFill>
        <p:spPr>
          <a:xfrm>
            <a:off x="2062163" y="1039813"/>
            <a:ext cx="3057525" cy="4286250"/>
          </a:xfrm>
          <a:prstGeom prst="rect">
            <a:avLst/>
          </a:prstGeom>
          <a:noFill/>
          <a:ln w="9525">
            <a:noFill/>
          </a:ln>
        </p:spPr>
      </p:pic>
      <p:sp>
        <p:nvSpPr>
          <p:cNvPr id="2" name="文本框 74755"/>
          <p:cNvSpPr txBox="1"/>
          <p:nvPr/>
        </p:nvSpPr>
        <p:spPr>
          <a:xfrm>
            <a:off x="3473450" y="1768475"/>
            <a:ext cx="5516563" cy="460375"/>
          </a:xfrm>
          <a:prstGeom prst="rect">
            <a:avLst/>
          </a:prstGeom>
          <a:noFill/>
          <a:ln w="9525">
            <a:noFill/>
          </a:ln>
        </p:spPr>
        <p:txBody>
          <a:bodyPr wrap="square" anchor="t">
            <a:spAutoFit/>
          </a:bodyPr>
          <a:p>
            <a:r>
              <a:rPr lang="zh-CN" altLang="en-US" dirty="0">
                <a:latin typeface="Times New Roman" panose="02020603050405020304" pitchFamily="18" charset="0"/>
                <a:ea typeface="宋体" panose="02010600030101010101" pitchFamily="2" charset="-122"/>
              </a:rPr>
              <a:t>采样定理中要求必须是</a:t>
            </a:r>
            <a:r>
              <a:rPr lang="zh-CN" altLang="en-US" b="1" u="sng" dirty="0">
                <a:solidFill>
                  <a:srgbClr val="FF0000"/>
                </a:solidFill>
                <a:latin typeface="Times New Roman" panose="02020603050405020304" pitchFamily="18" charset="0"/>
                <a:ea typeface="宋体" panose="02010600030101010101" pitchFamily="2" charset="-122"/>
              </a:rPr>
              <a:t>频谱限带</a:t>
            </a:r>
            <a:r>
              <a:rPr lang="zh-CN" altLang="en-US" dirty="0">
                <a:latin typeface="Times New Roman" panose="02020603050405020304" pitchFamily="18" charset="0"/>
                <a:ea typeface="宋体" panose="02010600030101010101" pitchFamily="2" charset="-122"/>
              </a:rPr>
              <a:t>的信号。 </a:t>
            </a:r>
            <a:endParaRPr lang="zh-CN" altLang="en-US">
              <a:latin typeface="Times New Roman" panose="02020603050405020304" pitchFamily="18" charset="0"/>
              <a:ea typeface="宋体" panose="02010600030101010101" pitchFamily="2" charset="-122"/>
            </a:endParaRPr>
          </a:p>
        </p:txBody>
      </p:sp>
      <p:sp>
        <p:nvSpPr>
          <p:cNvPr id="3" name="文本框 74755"/>
          <p:cNvSpPr txBox="1"/>
          <p:nvPr/>
        </p:nvSpPr>
        <p:spPr>
          <a:xfrm>
            <a:off x="3556000" y="3425825"/>
            <a:ext cx="5434013" cy="460375"/>
          </a:xfrm>
          <a:prstGeom prst="rect">
            <a:avLst/>
          </a:prstGeom>
          <a:noFill/>
          <a:ln w="9525">
            <a:noFill/>
          </a:ln>
        </p:spPr>
        <p:txBody>
          <a:bodyPr wrap="square" anchor="t">
            <a:spAutoFit/>
          </a:bodyPr>
          <a:p>
            <a:r>
              <a:rPr lang="zh-CN" altLang="en-US" dirty="0">
                <a:latin typeface="Times New Roman" panose="02020603050405020304" pitchFamily="18" charset="0"/>
                <a:ea typeface="宋体" panose="02010600030101010101" pitchFamily="2" charset="-122"/>
              </a:rPr>
              <a:t>适用于</a:t>
            </a:r>
            <a:r>
              <a:rPr lang="zh-CN" altLang="en-US" b="1" u="sng" dirty="0">
                <a:solidFill>
                  <a:srgbClr val="FF0000"/>
                </a:solidFill>
                <a:latin typeface="Times New Roman" panose="02020603050405020304" pitchFamily="18" charset="0"/>
                <a:ea typeface="宋体" panose="02010600030101010101" pitchFamily="2" charset="-122"/>
              </a:rPr>
              <a:t>低通滤波器</a:t>
            </a:r>
            <a:r>
              <a:rPr lang="zh-CN" altLang="en-US" dirty="0">
                <a:latin typeface="Times New Roman" panose="02020603050405020304" pitchFamily="18" charset="0"/>
                <a:ea typeface="宋体" panose="02010600030101010101" pitchFamily="2" charset="-122"/>
              </a:rPr>
              <a:t>和</a:t>
            </a:r>
            <a:r>
              <a:rPr lang="zh-CN" altLang="en-US" b="1" u="sng" dirty="0">
                <a:solidFill>
                  <a:srgbClr val="FF0000"/>
                </a:solidFill>
                <a:latin typeface="Times New Roman" panose="02020603050405020304" pitchFamily="18" charset="0"/>
                <a:ea typeface="宋体" panose="02010600030101010101" pitchFamily="2" charset="-122"/>
              </a:rPr>
              <a:t>带通滤波器</a:t>
            </a:r>
            <a:r>
              <a:rPr lang="zh-CN" altLang="en-US" dirty="0">
                <a:latin typeface="Times New Roman" panose="02020603050405020304" pitchFamily="18" charset="0"/>
                <a:ea typeface="宋体" panose="02010600030101010101" pitchFamily="2" charset="-122"/>
              </a:rPr>
              <a:t>的设计。 </a:t>
            </a:r>
            <a:endParaRPr lang="zh-CN" altLang="en-US">
              <a:latin typeface="Times New Roman" panose="02020603050405020304" pitchFamily="18" charset="0"/>
              <a:ea typeface="宋体" panose="02010600030101010101" pitchFamily="2" charset="-122"/>
            </a:endParaRPr>
          </a:p>
        </p:txBody>
      </p:sp>
      <p:sp>
        <p:nvSpPr>
          <p:cNvPr id="4" name="矩形 3"/>
          <p:cNvSpPr/>
          <p:nvPr/>
        </p:nvSpPr>
        <p:spPr>
          <a:xfrm>
            <a:off x="2051050" y="836613"/>
            <a:ext cx="873125" cy="4608513"/>
          </a:xfrm>
          <a:prstGeom prst="rect">
            <a:avLst/>
          </a:prstGeom>
          <a:noFill/>
          <a:ln w="2222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500"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4" grpId="1"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900113" y="3573463"/>
            <a:ext cx="863600" cy="3603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77826" name="文本框 73731"/>
          <p:cNvSpPr txBox="1"/>
          <p:nvPr/>
        </p:nvSpPr>
        <p:spPr>
          <a:xfrm>
            <a:off x="539750" y="692150"/>
            <a:ext cx="8304213" cy="4616450"/>
          </a:xfrm>
          <a:prstGeom prst="rect">
            <a:avLst/>
          </a:prstGeom>
          <a:noFill/>
          <a:ln w="9525">
            <a:noFill/>
          </a:ln>
        </p:spPr>
        <p:txBody>
          <a:bodyPr anchor="t">
            <a:spAutoFit/>
          </a:bodyPr>
          <a:p>
            <a:pPr algn="just">
              <a:lnSpc>
                <a:spcPct val="168000"/>
              </a:lnSpc>
              <a:spcBef>
                <a:spcPct val="50000"/>
              </a:spcBef>
            </a:pPr>
            <a:r>
              <a:rPr lang="en-US" altLang="zh-CN" b="1" dirty="0">
                <a:latin typeface="Times New Roman" panose="02020603050405020304" pitchFamily="18" charset="0"/>
                <a:ea typeface="宋体" panose="02010600030101010101" pitchFamily="2" charset="-122"/>
              </a:rPr>
              <a:t>5.4.4 </a:t>
            </a:r>
            <a:r>
              <a:rPr lang="zh-CN" altLang="en-US" b="1" dirty="0">
                <a:latin typeface="Times New Roman" panose="02020603050405020304" pitchFamily="18" charset="0"/>
                <a:ea typeface="宋体" panose="02010600030101010101" pitchFamily="2" charset="-122"/>
              </a:rPr>
              <a:t>优缺点</a:t>
            </a:r>
            <a:endParaRPr lang="zh-CN" altLang="en-US" b="1">
              <a:latin typeface="Times New Roman" panose="02020603050405020304" pitchFamily="18" charset="0"/>
              <a:ea typeface="宋体" panose="02010600030101010101" pitchFamily="2" charset="-122"/>
            </a:endParaRPr>
          </a:p>
          <a:p>
            <a:pPr algn="just">
              <a:lnSpc>
                <a:spcPct val="168000"/>
              </a:lnSpc>
              <a:spcBef>
                <a:spcPct val="50000"/>
              </a:spcBef>
            </a:pPr>
            <a:r>
              <a:rPr lang="zh-CN" altLang="en-US" dirty="0">
                <a:latin typeface="Times New Roman" panose="02020603050405020304" pitchFamily="18" charset="0"/>
                <a:ea typeface="宋体" panose="02010600030101010101" pitchFamily="2" charset="-122"/>
              </a:rPr>
              <a:t>        从以上讨论可以看出，脉冲响应不变法使得数字滤波器的单位脉冲响应完全模仿模拟滤波器的单位冲激响应，也就是时域逼近良好，而且模拟频率</a:t>
            </a:r>
            <a:r>
              <a:rPr lang="en-US" altLang="zh-CN" dirty="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和数字频率</a:t>
            </a:r>
            <a:r>
              <a:rPr lang="en-US" altLang="zh-CN" dirty="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之间呈线性关系</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ΩT</a:t>
            </a:r>
            <a:r>
              <a:rPr lang="zh-CN" altLang="en-US" dirty="0">
                <a:latin typeface="Times New Roman" panose="02020603050405020304" pitchFamily="18" charset="0"/>
                <a:ea typeface="宋体" panose="02010600030101010101" pitchFamily="2" charset="-122"/>
              </a:rPr>
              <a:t>。 因而，一个线性相位的模拟滤波器（例如贝塞尔滤波器）通过脉冲响应不变法得到的仍然是一个</a:t>
            </a:r>
            <a:r>
              <a:rPr lang="zh-CN" altLang="en-US" b="1" u="sng" dirty="0">
                <a:solidFill>
                  <a:srgbClr val="FF0000"/>
                </a:solidFill>
                <a:latin typeface="Times New Roman" panose="02020603050405020304" pitchFamily="18" charset="0"/>
                <a:ea typeface="宋体" panose="02010600030101010101" pitchFamily="2" charset="-122"/>
              </a:rPr>
              <a:t>线性相位</a:t>
            </a:r>
            <a:r>
              <a:rPr lang="zh-CN" altLang="en-US" u="sng" dirty="0">
                <a:latin typeface="Times New Roman" panose="02020603050405020304" pitchFamily="18" charset="0"/>
                <a:ea typeface="宋体" panose="02010600030101010101" pitchFamily="2" charset="-122"/>
              </a:rPr>
              <a:t>的数</a:t>
            </a:r>
            <a:r>
              <a:rPr lang="zh-CN" altLang="en-US" u="sng" dirty="0">
                <a:latin typeface="Times New Roman" panose="02020603050405020304" pitchFamily="18" charset="0"/>
                <a:ea typeface="宋体" panose="02010600030101010101" pitchFamily="2" charset="-122"/>
              </a:rPr>
              <a:t>字滤波器。 </a:t>
            </a:r>
            <a:endParaRPr lang="zh-CN" altLang="en-US" u="sng">
              <a:latin typeface="Times New Roman" panose="02020603050405020304" pitchFamily="18" charset="0"/>
              <a:ea typeface="宋体" panose="02010600030101010101" pitchFamily="2" charset="-122"/>
            </a:endParaRPr>
          </a:p>
        </p:txBody>
      </p:sp>
      <p:graphicFrame>
        <p:nvGraphicFramePr>
          <p:cNvPr id="3" name="对象 2">
            <a:hlinkClick r:id="" action="ppaction://ole?verb="/>
          </p:cNvPr>
          <p:cNvGraphicFramePr>
            <a:graphicFrameLocks noChangeAspect="1"/>
          </p:cNvGraphicFramePr>
          <p:nvPr/>
        </p:nvGraphicFramePr>
        <p:xfrm>
          <a:off x="2320925" y="896938"/>
          <a:ext cx="5981700" cy="669925"/>
        </p:xfrm>
        <a:graphic>
          <a:graphicData uri="http://schemas.openxmlformats.org/presentationml/2006/ole">
            <mc:AlternateContent xmlns:mc="http://schemas.openxmlformats.org/markup-compatibility/2006">
              <mc:Choice xmlns:v="urn:schemas-microsoft-com:vml" Requires="v">
                <p:oleObj spid="_x0000_s3164" name="" r:id="rId1" imgW="1816100" imgH="203200" progId="Equation.KSEE3">
                  <p:embed/>
                </p:oleObj>
              </mc:Choice>
              <mc:Fallback>
                <p:oleObj name="" r:id="rId1" imgW="1816100" imgH="203200" progId="Equation.KSEE3">
                  <p:embed/>
                  <p:pic>
                    <p:nvPicPr>
                      <p:cNvPr id="0" name="图片 3163"/>
                      <p:cNvPicPr/>
                      <p:nvPr/>
                    </p:nvPicPr>
                    <p:blipFill>
                      <a:blip r:embed="rId2"/>
                      <a:stretch>
                        <a:fillRect/>
                      </a:stretch>
                    </p:blipFill>
                    <p:spPr>
                      <a:xfrm>
                        <a:off x="2320925" y="896938"/>
                        <a:ext cx="5981700" cy="669925"/>
                      </a:xfrm>
                      <a:prstGeom prst="rect">
                        <a:avLst/>
                      </a:prstGeom>
                      <a:solidFill>
                        <a:schemeClr val="accent1"/>
                      </a:solidFill>
                      <a:ln w="38100">
                        <a:noFill/>
                        <a:miter/>
                      </a:ln>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3203893" y="4941570"/>
          <a:ext cx="1714500" cy="584200"/>
        </p:xfrm>
        <a:graphic>
          <a:graphicData uri="http://schemas.openxmlformats.org/presentationml/2006/ole">
            <mc:AlternateContent xmlns:mc="http://schemas.openxmlformats.org/markup-compatibility/2006">
              <mc:Choice xmlns:v="urn:schemas-microsoft-com:vml" Requires="v">
                <p:oleObj spid="_x0000_s3163" name="" r:id="rId3" imgW="520700" imgH="177165" progId="Equation.KSEE3">
                  <p:embed/>
                </p:oleObj>
              </mc:Choice>
              <mc:Fallback>
                <p:oleObj name="" r:id="rId3" imgW="520700" imgH="177165" progId="Equation.KSEE3">
                  <p:embed/>
                  <p:pic>
                    <p:nvPicPr>
                      <p:cNvPr id="0" name="图片 3162"/>
                      <p:cNvPicPr/>
                      <p:nvPr/>
                    </p:nvPicPr>
                    <p:blipFill>
                      <a:blip r:embed="rId4"/>
                      <a:stretch>
                        <a:fillRect/>
                      </a:stretch>
                    </p:blipFill>
                    <p:spPr>
                      <a:xfrm>
                        <a:off x="3203893" y="4941570"/>
                        <a:ext cx="1714500" cy="584200"/>
                      </a:xfrm>
                      <a:prstGeom prst="rect">
                        <a:avLst/>
                      </a:prstGeom>
                      <a:solidFill>
                        <a:srgbClr val="FF0000"/>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文本框 76803"/>
          <p:cNvSpPr txBox="1"/>
          <p:nvPr/>
        </p:nvSpPr>
        <p:spPr>
          <a:xfrm>
            <a:off x="368300" y="692150"/>
            <a:ext cx="8451850" cy="5407025"/>
          </a:xfrm>
          <a:prstGeom prst="rect">
            <a:avLst/>
          </a:prstGeom>
          <a:noFill/>
          <a:ln w="9525">
            <a:noFill/>
          </a:ln>
        </p:spPr>
        <p:txBody>
          <a:bodyPr anchor="t">
            <a:spAutoFit/>
          </a:bodyPr>
          <a:p>
            <a:pPr algn="just">
              <a:lnSpc>
                <a:spcPct val="16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脉冲响应不变法的</a:t>
            </a:r>
            <a:r>
              <a:rPr lang="zh-CN" altLang="en-US" b="1" dirty="0">
                <a:solidFill>
                  <a:srgbClr val="FF0000"/>
                </a:solidFill>
                <a:latin typeface="Times New Roman" panose="02020603050405020304" pitchFamily="18" charset="0"/>
                <a:ea typeface="宋体" panose="02010600030101010101" pitchFamily="2" charset="-122"/>
              </a:rPr>
              <a:t>最大缺点</a:t>
            </a:r>
            <a:r>
              <a:rPr lang="zh-CN" altLang="en-US" dirty="0">
                <a:latin typeface="Times New Roman" panose="02020603050405020304" pitchFamily="18" charset="0"/>
                <a:ea typeface="宋体" panose="02010600030101010101" pitchFamily="2" charset="-122"/>
              </a:rPr>
              <a:t>是</a:t>
            </a:r>
            <a:r>
              <a:rPr lang="zh-CN" altLang="en-US" b="1" u="sng" dirty="0">
                <a:solidFill>
                  <a:srgbClr val="FF0000"/>
                </a:solidFill>
                <a:latin typeface="Times New Roman" panose="02020603050405020304" pitchFamily="18" charset="0"/>
                <a:ea typeface="宋体" panose="02010600030101010101" pitchFamily="2" charset="-122"/>
              </a:rPr>
              <a:t>有频率响应的混叠效应</a:t>
            </a:r>
            <a:r>
              <a:rPr lang="zh-CN" altLang="en-US" dirty="0">
                <a:latin typeface="Times New Roman" panose="02020603050405020304" pitchFamily="18" charset="0"/>
                <a:ea typeface="宋体" panose="02010600030101010101" pitchFamily="2" charset="-122"/>
              </a:rPr>
              <a:t>。所以， 脉冲响应不变法</a:t>
            </a:r>
            <a:r>
              <a:rPr lang="zh-CN" altLang="en-US" b="1" dirty="0">
                <a:solidFill>
                  <a:srgbClr val="FF0000"/>
                </a:solidFill>
                <a:latin typeface="Times New Roman" panose="02020603050405020304" pitchFamily="18" charset="0"/>
                <a:ea typeface="宋体" panose="02010600030101010101" pitchFamily="2" charset="-122"/>
              </a:rPr>
              <a:t>只适用于</a:t>
            </a:r>
            <a:r>
              <a:rPr lang="zh-CN" altLang="en-US" dirty="0">
                <a:latin typeface="Times New Roman" panose="02020603050405020304" pitchFamily="18" charset="0"/>
                <a:ea typeface="宋体" panose="02010600030101010101" pitchFamily="2" charset="-122"/>
              </a:rPr>
              <a:t>限带的模拟滤波器</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例如，衰减特性很好的</a:t>
            </a:r>
            <a:r>
              <a:rPr lang="zh-CN" altLang="en-US" b="1" u="sng" dirty="0">
                <a:solidFill>
                  <a:srgbClr val="FF0000"/>
                </a:solidFill>
                <a:latin typeface="Times New Roman" panose="02020603050405020304" pitchFamily="18" charset="0"/>
                <a:ea typeface="宋体" panose="02010600030101010101" pitchFamily="2" charset="-122"/>
              </a:rPr>
              <a:t>低通或带通滤波器</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而且高频衰减越快，混叠效应越小。至于高通和带阻滤波器，由于它们在高频部分不衰减，因此将完全混淆在低频响应中。如果要对高通和带阻滤波器采用脉冲响应不变法，就必须先对高通和带阻滤波器加一保护滤波器，滤掉高于折叠频率以上的频率，然后再使用脉冲响应不变法转换为数字滤波器。 </a:t>
            </a:r>
            <a:r>
              <a:rPr lang="zh-CN" altLang="en-US" dirty="0">
                <a:latin typeface="Times New Roman" panose="02020603050405020304" pitchFamily="18" charset="0"/>
                <a:ea typeface="宋体" panose="02010600030101010101" pitchFamily="2" charset="-122"/>
              </a:rPr>
              <a:t>当然这样会进一步增加设计复杂性和滤波器的阶数。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539750" y="4941888"/>
            <a:ext cx="792163" cy="503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 name="矩形 1"/>
          <p:cNvSpPr/>
          <p:nvPr/>
        </p:nvSpPr>
        <p:spPr>
          <a:xfrm>
            <a:off x="2051050" y="3573463"/>
            <a:ext cx="1368425"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79875" name="文本框 75779"/>
          <p:cNvSpPr txBox="1"/>
          <p:nvPr/>
        </p:nvSpPr>
        <p:spPr>
          <a:xfrm>
            <a:off x="1524000" y="762000"/>
            <a:ext cx="6432550" cy="522288"/>
          </a:xfrm>
          <a:prstGeom prst="rect">
            <a:avLst/>
          </a:prstGeom>
          <a:noFill/>
          <a:ln w="9525">
            <a:noFill/>
          </a:ln>
        </p:spPr>
        <p:txBody>
          <a:bodyPr wrap="none" anchor="t">
            <a:spAutoFit/>
          </a:bodyPr>
          <a:p>
            <a:r>
              <a:rPr lang="en-US" altLang="zh-CN" sz="2800" b="1" dirty="0">
                <a:latin typeface="Times New Roman" panose="02020603050405020304" pitchFamily="18" charset="0"/>
                <a:ea typeface="宋体" panose="02010600030101010101" pitchFamily="2" charset="-122"/>
              </a:rPr>
              <a:t>5.5  </a:t>
            </a:r>
            <a:r>
              <a:rPr lang="zh-CN" altLang="en-US" sz="2800" b="1" dirty="0">
                <a:latin typeface="Times New Roman" panose="02020603050405020304" pitchFamily="18" charset="0"/>
                <a:ea typeface="宋体" panose="02010600030101010101" pitchFamily="2" charset="-122"/>
              </a:rPr>
              <a:t>用</a:t>
            </a:r>
            <a:r>
              <a:rPr lang="zh-CN" altLang="en-US" sz="2800" b="1" u="sng" dirty="0">
                <a:solidFill>
                  <a:srgbClr val="FF0000"/>
                </a:solidFill>
                <a:latin typeface="Times New Roman" panose="02020603050405020304" pitchFamily="18" charset="0"/>
                <a:ea typeface="宋体" panose="02010600030101010101" pitchFamily="2" charset="-122"/>
              </a:rPr>
              <a:t>双线性变换法</a:t>
            </a:r>
            <a:r>
              <a:rPr lang="zh-CN" altLang="en-US" sz="2800" b="1" dirty="0">
                <a:latin typeface="Times New Roman" panose="02020603050405020304" pitchFamily="18" charset="0"/>
                <a:ea typeface="宋体" panose="02010600030101010101" pitchFamily="2" charset="-122"/>
              </a:rPr>
              <a:t>设计</a:t>
            </a:r>
            <a:r>
              <a:rPr lang="en-US" altLang="zh-CN" sz="2800" b="1" dirty="0">
                <a:latin typeface="Times New Roman" panose="02020603050405020304" pitchFamily="18" charset="0"/>
                <a:ea typeface="宋体" panose="02010600030101010101" pitchFamily="2" charset="-122"/>
              </a:rPr>
              <a:t>IIR</a:t>
            </a:r>
            <a:r>
              <a:rPr lang="zh-CN" altLang="en-US" sz="2800" b="1" dirty="0">
                <a:latin typeface="Times New Roman" panose="02020603050405020304" pitchFamily="18" charset="0"/>
                <a:ea typeface="宋体" panose="02010600030101010101" pitchFamily="2" charset="-122"/>
              </a:rPr>
              <a:t>数字滤波器 </a:t>
            </a:r>
            <a:endParaRPr lang="zh-CN" altLang="en-US" sz="2800" b="1">
              <a:latin typeface="Times New Roman" panose="02020603050405020304" pitchFamily="18" charset="0"/>
              <a:ea typeface="宋体" panose="02010600030101010101" pitchFamily="2" charset="-122"/>
            </a:endParaRPr>
          </a:p>
        </p:txBody>
      </p:sp>
      <p:sp>
        <p:nvSpPr>
          <p:cNvPr id="79876" name="文本框 75780"/>
          <p:cNvSpPr txBox="1"/>
          <p:nvPr/>
        </p:nvSpPr>
        <p:spPr>
          <a:xfrm>
            <a:off x="152400" y="1371600"/>
            <a:ext cx="8839200" cy="5072063"/>
          </a:xfrm>
          <a:prstGeom prst="rect">
            <a:avLst/>
          </a:prstGeom>
          <a:noFill/>
          <a:ln w="9525">
            <a:noFill/>
          </a:ln>
        </p:spPr>
        <p:txBody>
          <a:bodyPr anchor="t">
            <a:spAutoFit/>
          </a:bodyPr>
          <a:p>
            <a:pPr algn="just">
              <a:lnSpc>
                <a:spcPct val="130000"/>
              </a:lnSpc>
              <a:spcBef>
                <a:spcPct val="50000"/>
              </a:spcBef>
            </a:pPr>
            <a:r>
              <a:rPr lang="en-US" altLang="zh-CN" b="1" dirty="0">
                <a:latin typeface="Times New Roman" panose="02020603050405020304" pitchFamily="18" charset="0"/>
                <a:ea typeface="宋体" panose="02010600030101010101" pitchFamily="2" charset="-122"/>
              </a:rPr>
              <a:t>5.5.1 </a:t>
            </a:r>
            <a:r>
              <a:rPr lang="zh-CN" altLang="en-US" b="1" dirty="0">
                <a:latin typeface="Times New Roman" panose="02020603050405020304" pitchFamily="18" charset="0"/>
                <a:ea typeface="宋体" panose="02010600030101010101" pitchFamily="2" charset="-122"/>
              </a:rPr>
              <a:t>变换原理</a:t>
            </a:r>
            <a:endParaRPr lang="zh-CN" altLang="en-US" b="1">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脉冲响应不变法的主要缺点是产生频率响应的混叠失真。这是因为从</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平面到Ｚ平面是</a:t>
            </a:r>
            <a:r>
              <a:rPr lang="zh-CN" altLang="en-US" b="1" dirty="0">
                <a:solidFill>
                  <a:srgbClr val="FF0000"/>
                </a:solidFill>
                <a:latin typeface="Times New Roman" panose="02020603050405020304" pitchFamily="18" charset="0"/>
                <a:ea typeface="宋体" panose="02010600030101010101" pitchFamily="2" charset="-122"/>
              </a:rPr>
              <a:t>多值的映射</a:t>
            </a:r>
            <a:r>
              <a:rPr lang="zh-CN" altLang="en-US" dirty="0">
                <a:latin typeface="Times New Roman" panose="02020603050405020304" pitchFamily="18" charset="0"/>
                <a:ea typeface="宋体" panose="02010600030101010101" pitchFamily="2" charset="-122"/>
              </a:rPr>
              <a:t>关系所造成的。为了克服这一缺点，可以采用非线性频率压缩方法，将整个频率轴上的频率范围压缩到</a:t>
            </a:r>
            <a:r>
              <a:rPr lang="en-US" altLang="zh-CN"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π/</a:t>
            </a:r>
            <a:r>
              <a:rPr lang="en-US" altLang="zh-CN" i="1">
                <a:latin typeface="Times New Roman" panose="02020603050405020304" pitchFamily="18" charset="0"/>
                <a:ea typeface="宋体" panose="02010600030101010101" pitchFamily="2" charset="-122"/>
              </a:rPr>
              <a:t>T</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π/</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之间，再用</a:t>
            </a:r>
            <a:r>
              <a:rPr lang="en-US" altLang="zh-CN" i="1">
                <a:latin typeface="Times New Roman" panose="02020603050405020304" pitchFamily="18" charset="0"/>
                <a:ea typeface="宋体" panose="02010600030101010101" pitchFamily="2" charset="-122"/>
              </a:rPr>
              <a:t>z</a:t>
            </a:r>
            <a:r>
              <a:rPr lang="en-US" altLang="zh-CN" err="1">
                <a:latin typeface="Times New Roman" panose="02020603050405020304" pitchFamily="18" charset="0"/>
                <a:ea typeface="宋体" panose="02010600030101010101" pitchFamily="2" charset="-122"/>
              </a:rPr>
              <a:t>=e</a:t>
            </a:r>
            <a:r>
              <a:rPr lang="en-US" altLang="zh-CN" i="1" baseline="30000" err="1">
                <a:latin typeface="Times New Roman" panose="02020603050405020304" pitchFamily="18" charset="0"/>
                <a:ea typeface="宋体" panose="02010600030101010101" pitchFamily="2" charset="-122"/>
              </a:rPr>
              <a:t>sT</a:t>
            </a:r>
            <a:r>
              <a:rPr lang="zh-CN" altLang="en-US" dirty="0">
                <a:latin typeface="Times New Roman" panose="02020603050405020304" pitchFamily="18" charset="0"/>
                <a:ea typeface="宋体" panose="02010600030101010101" pitchFamily="2" charset="-122"/>
              </a:rPr>
              <a:t>转换到</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平面上。也就是说，第一步先将整个</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平面压缩映射到</a:t>
            </a:r>
            <a:r>
              <a:rPr lang="en-US" altLang="zh-CN">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平面的</a:t>
            </a:r>
            <a:r>
              <a:rPr lang="en-US" altLang="zh-CN"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π/</a:t>
            </a:r>
            <a:r>
              <a:rPr lang="en-US" altLang="zh-CN" i="1">
                <a:latin typeface="Times New Roman" panose="02020603050405020304" pitchFamily="18" charset="0"/>
                <a:ea typeface="宋体" panose="02010600030101010101" pitchFamily="2" charset="-122"/>
              </a:rPr>
              <a:t>T</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π/</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一条横带里；第二步再通过标准变换关系</a:t>
            </a:r>
            <a:r>
              <a:rPr lang="en-US" altLang="zh-CN" i="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=e</a:t>
            </a:r>
            <a:r>
              <a:rPr lang="en-US" altLang="zh-CN" i="1" baseline="30000">
                <a:latin typeface="Times New Roman" panose="02020603050405020304" pitchFamily="18" charset="0"/>
                <a:ea typeface="宋体" panose="02010600030101010101" pitchFamily="2" charset="-122"/>
              </a:rPr>
              <a:t>sT</a:t>
            </a:r>
            <a:r>
              <a:rPr lang="zh-CN" altLang="en-US" dirty="0">
                <a:latin typeface="Times New Roman" panose="02020603050405020304" pitchFamily="18" charset="0"/>
                <a:ea typeface="宋体" panose="02010600030101010101" pitchFamily="2" charset="-122"/>
              </a:rPr>
              <a:t>将此横带变换到整个</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a:t>
            </a:r>
            <a:r>
              <a:rPr lang="en-US" altLang="zh-CN"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π</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上去。这样就使</a:t>
            </a:r>
            <a:r>
              <a:rPr lang="en-US" altLang="zh-CN" b="1" dirty="0">
                <a:solidFill>
                  <a:srgbClr val="FF0000"/>
                </a:solidFill>
                <a:latin typeface="Times New Roman" panose="02020603050405020304" pitchFamily="18" charset="0"/>
                <a:ea typeface="宋体" panose="02010600030101010101" pitchFamily="2" charset="-122"/>
              </a:rPr>
              <a:t>S</a:t>
            </a:r>
            <a:r>
              <a:rPr lang="zh-CN" altLang="en-US" b="1" dirty="0">
                <a:solidFill>
                  <a:srgbClr val="FF0000"/>
                </a:solidFill>
                <a:latin typeface="Times New Roman" panose="02020603050405020304" pitchFamily="18" charset="0"/>
                <a:ea typeface="宋体" panose="02010600030101010101" pitchFamily="2" charset="-122"/>
              </a:rPr>
              <a:t>平面与</a:t>
            </a:r>
            <a:r>
              <a:rPr lang="en-US" altLang="zh-CN" b="1" i="1">
                <a:solidFill>
                  <a:srgbClr val="FF0000"/>
                </a:solidFill>
                <a:latin typeface="Times New Roman" panose="02020603050405020304" pitchFamily="18" charset="0"/>
                <a:ea typeface="宋体" panose="02010600030101010101" pitchFamily="2" charset="-122"/>
              </a:rPr>
              <a:t>Z</a:t>
            </a:r>
            <a:r>
              <a:rPr lang="zh-CN" altLang="en-US" b="1" dirty="0">
                <a:solidFill>
                  <a:srgbClr val="FF0000"/>
                </a:solidFill>
                <a:latin typeface="Times New Roman" panose="02020603050405020304" pitchFamily="18" charset="0"/>
                <a:ea typeface="宋体" panose="02010600030101010101" pitchFamily="2" charset="-122"/>
              </a:rPr>
              <a:t>平面建立了一一对应的单值关系</a:t>
            </a:r>
            <a:r>
              <a:rPr lang="zh-CN" altLang="en-US" dirty="0">
                <a:latin typeface="Times New Roman" panose="02020603050405020304" pitchFamily="18" charset="0"/>
                <a:ea typeface="宋体" panose="02010600030101010101" pitchFamily="2" charset="-122"/>
              </a:rPr>
              <a:t>， 消除了多值变换性，也就消除了频谱混叠现象，映射关</a:t>
            </a:r>
            <a:r>
              <a:rPr lang="zh-CN" altLang="en-US" dirty="0">
                <a:latin typeface="Times New Roman" panose="02020603050405020304" pitchFamily="18" charset="0"/>
                <a:ea typeface="宋体" panose="02010600030101010101" pitchFamily="2" charset="-122"/>
              </a:rPr>
              <a:t>系如图</a:t>
            </a:r>
            <a:r>
              <a:rPr lang="en-US" altLang="zh-CN" dirty="0">
                <a:latin typeface="Times New Roman" panose="02020603050405020304" pitchFamily="18" charset="0"/>
                <a:ea typeface="宋体" panose="02010600030101010101" pitchFamily="2" charset="-122"/>
              </a:rPr>
              <a:t>5-12</a:t>
            </a:r>
            <a:r>
              <a:rPr lang="zh-CN" altLang="en-US" dirty="0">
                <a:latin typeface="Times New Roman" panose="02020603050405020304" pitchFamily="18" charset="0"/>
                <a:ea typeface="宋体" panose="02010600030101010101" pitchFamily="2" charset="-122"/>
              </a:rPr>
              <a:t>所示。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文本框 78851"/>
          <p:cNvSpPr txBox="1"/>
          <p:nvPr/>
        </p:nvSpPr>
        <p:spPr>
          <a:xfrm>
            <a:off x="2514600" y="5410200"/>
            <a:ext cx="4324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5-12 </a:t>
            </a:r>
            <a:r>
              <a:rPr lang="zh-CN" altLang="en-US" dirty="0">
                <a:latin typeface="Times New Roman" panose="02020603050405020304" pitchFamily="18" charset="0"/>
                <a:ea typeface="宋体" panose="02010600030101010101" pitchFamily="2" charset="-122"/>
              </a:rPr>
              <a:t>双线性变换的映射关系 </a:t>
            </a:r>
            <a:endParaRPr lang="zh-CN" altLang="en-US">
              <a:latin typeface="Times New Roman" panose="02020603050405020304" pitchFamily="18" charset="0"/>
              <a:ea typeface="宋体" panose="02010600030101010101" pitchFamily="2" charset="-122"/>
            </a:endParaRPr>
          </a:p>
        </p:txBody>
      </p:sp>
      <p:pic>
        <p:nvPicPr>
          <p:cNvPr id="80898" name="图片 78854" descr="5-12"/>
          <p:cNvPicPr>
            <a:picLocks noChangeAspect="1"/>
          </p:cNvPicPr>
          <p:nvPr/>
        </p:nvPicPr>
        <p:blipFill>
          <a:blip r:embed="rId1"/>
          <a:stretch>
            <a:fillRect/>
          </a:stretch>
        </p:blipFill>
        <p:spPr>
          <a:xfrm>
            <a:off x="539750" y="1844675"/>
            <a:ext cx="7993063" cy="2717800"/>
          </a:xfrm>
          <a:prstGeom prst="rect">
            <a:avLst/>
          </a:prstGeom>
          <a:noFill/>
          <a:ln w="9525">
            <a:noFill/>
          </a:ln>
        </p:spPr>
      </p:pic>
      <p:graphicFrame>
        <p:nvGraphicFramePr>
          <p:cNvPr id="80899" name="对象 1">
            <a:hlinkClick r:id="" action="ppaction://ole?verb="/>
          </p:cNvPr>
          <p:cNvGraphicFramePr>
            <a:graphicFrameLocks noChangeAspect="1"/>
          </p:cNvGraphicFramePr>
          <p:nvPr/>
        </p:nvGraphicFramePr>
        <p:xfrm>
          <a:off x="1704975" y="4052888"/>
          <a:ext cx="547688" cy="304800"/>
        </p:xfrm>
        <a:graphic>
          <a:graphicData uri="http://schemas.openxmlformats.org/presentationml/2006/ole">
            <mc:AlternateContent xmlns:mc="http://schemas.openxmlformats.org/markup-compatibility/2006">
              <mc:Choice xmlns:v="urn:schemas-microsoft-com:vml" Requires="v">
                <p:oleObj spid="_x0000_s3174" name="" r:id="rId2" imgW="228600" imgH="127000" progId="Equation.KSEE3">
                  <p:embed/>
                </p:oleObj>
              </mc:Choice>
              <mc:Fallback>
                <p:oleObj name="" r:id="rId2" imgW="228600" imgH="127000" progId="Equation.KSEE3">
                  <p:embed/>
                  <p:pic>
                    <p:nvPicPr>
                      <p:cNvPr id="0" name="图片 3173"/>
                      <p:cNvPicPr/>
                      <p:nvPr/>
                    </p:nvPicPr>
                    <p:blipFill>
                      <a:blip r:embed="rId3"/>
                      <a:stretch>
                        <a:fillRect/>
                      </a:stretch>
                    </p:blipFill>
                    <p:spPr>
                      <a:xfrm>
                        <a:off x="1704975" y="4052888"/>
                        <a:ext cx="547688" cy="304800"/>
                      </a:xfrm>
                      <a:prstGeom prst="rect">
                        <a:avLst/>
                      </a:prstGeom>
                      <a:solidFill>
                        <a:schemeClr val="accent1"/>
                      </a:solidFill>
                      <a:ln w="38100">
                        <a:noFill/>
                        <a:miter/>
                      </a:ln>
                    </p:spPr>
                  </p:pic>
                </p:oleObj>
              </mc:Fallback>
            </mc:AlternateContent>
          </a:graphicData>
        </a:graphic>
      </p:graphicFrame>
      <p:graphicFrame>
        <p:nvGraphicFramePr>
          <p:cNvPr id="80900" name="对象 2">
            <a:hlinkClick r:id="" action="ppaction://ole?verb="/>
          </p:cNvPr>
          <p:cNvGraphicFramePr>
            <a:graphicFrameLocks noChangeAspect="1"/>
          </p:cNvGraphicFramePr>
          <p:nvPr/>
        </p:nvGraphicFramePr>
        <p:xfrm>
          <a:off x="1658938" y="2200275"/>
          <a:ext cx="617537" cy="323850"/>
        </p:xfrm>
        <a:graphic>
          <a:graphicData uri="http://schemas.openxmlformats.org/presentationml/2006/ole">
            <mc:AlternateContent xmlns:mc="http://schemas.openxmlformats.org/markup-compatibility/2006">
              <mc:Choice xmlns:v="urn:schemas-microsoft-com:vml" Requires="v">
                <p:oleObj spid="_x0000_s3173" name="" r:id="rId4" imgW="266700" imgH="139700" progId="Equation.KSEE3">
                  <p:embed/>
                </p:oleObj>
              </mc:Choice>
              <mc:Fallback>
                <p:oleObj name="" r:id="rId4" imgW="266700" imgH="139700" progId="Equation.KSEE3">
                  <p:embed/>
                  <p:pic>
                    <p:nvPicPr>
                      <p:cNvPr id="0" name="图片 3172"/>
                      <p:cNvPicPr/>
                      <p:nvPr/>
                    </p:nvPicPr>
                    <p:blipFill>
                      <a:blip r:embed="rId5"/>
                      <a:stretch>
                        <a:fillRect/>
                      </a:stretch>
                    </p:blipFill>
                    <p:spPr>
                      <a:xfrm>
                        <a:off x="1658938" y="2200275"/>
                        <a:ext cx="617537" cy="323850"/>
                      </a:xfrm>
                      <a:prstGeom prst="rect">
                        <a:avLst/>
                      </a:prstGeom>
                      <a:solidFill>
                        <a:schemeClr val="accent1"/>
                      </a:solidFill>
                      <a:ln w="38100">
                        <a:noFill/>
                        <a:miter/>
                      </a:ln>
                    </p:spPr>
                  </p:pic>
                </p:oleObj>
              </mc:Fallback>
            </mc:AlternateContent>
          </a:graphicData>
        </a:graphic>
      </p:graphicFrame>
      <p:graphicFrame>
        <p:nvGraphicFramePr>
          <p:cNvPr id="2" name="对象 1"/>
          <p:cNvGraphicFramePr/>
          <p:nvPr/>
        </p:nvGraphicFramePr>
        <p:xfrm>
          <a:off x="4470400" y="733425"/>
          <a:ext cx="1188085" cy="975995"/>
        </p:xfrm>
        <a:graphic>
          <a:graphicData uri="http://schemas.openxmlformats.org/presentationml/2006/ole">
            <mc:AlternateContent xmlns:mc="http://schemas.openxmlformats.org/markup-compatibility/2006">
              <mc:Choice xmlns:v="urn:schemas-microsoft-com:vml" Requires="v">
                <p:oleObj spid="_x0000_s3172" name="" r:id="rId6" imgW="791845" imgH="731520" progId="Equation.KSEE3">
                  <p:embed/>
                </p:oleObj>
              </mc:Choice>
              <mc:Fallback>
                <p:oleObj name="" r:id="rId6" imgW="791845" imgH="731520" progId="Equation.KSEE3">
                  <p:embed/>
                  <p:pic>
                    <p:nvPicPr>
                      <p:cNvPr id="0" name="图片 3171"/>
                      <p:cNvPicPr/>
                      <p:nvPr/>
                    </p:nvPicPr>
                    <p:blipFill>
                      <a:blip r:embed="rId7"/>
                      <a:stretch>
                        <a:fillRect/>
                      </a:stretch>
                    </p:blipFill>
                    <p:spPr>
                      <a:xfrm>
                        <a:off x="4470400" y="733425"/>
                        <a:ext cx="1188085" cy="975995"/>
                      </a:xfrm>
                      <a:prstGeom prst="rect">
                        <a:avLst/>
                      </a:prstGeom>
                      <a:solidFill>
                        <a:schemeClr val="accent1"/>
                      </a:solidFill>
                      <a:ln w="38100">
                        <a:noFill/>
                        <a:miter/>
                      </a:ln>
                    </p:spPr>
                  </p:pic>
                </p:oleObj>
              </mc:Fallback>
            </mc:AlternateContent>
          </a:graphicData>
        </a:graphic>
      </p:graphicFrame>
      <p:graphicFrame>
        <p:nvGraphicFramePr>
          <p:cNvPr id="4" name="对象 3"/>
          <p:cNvGraphicFramePr/>
          <p:nvPr/>
        </p:nvGraphicFramePr>
        <p:xfrm>
          <a:off x="1473200" y="723900"/>
          <a:ext cx="685800" cy="811530"/>
        </p:xfrm>
        <a:graphic>
          <a:graphicData uri="http://schemas.openxmlformats.org/presentationml/2006/ole">
            <mc:AlternateContent xmlns:mc="http://schemas.openxmlformats.org/markup-compatibility/2006">
              <mc:Choice xmlns:v="urn:schemas-microsoft-com:vml" Requires="v">
                <p:oleObj spid="_x0000_s3171" name="" r:id="rId8" imgW="421005" imgH="419100" progId="Equation.KSEE3">
                  <p:embed/>
                </p:oleObj>
              </mc:Choice>
              <mc:Fallback>
                <p:oleObj name="" r:id="rId8" imgW="421005" imgH="419100" progId="Equation.KSEE3">
                  <p:embed/>
                  <p:pic>
                    <p:nvPicPr>
                      <p:cNvPr id="0" name="图片 3170"/>
                      <p:cNvPicPr/>
                      <p:nvPr/>
                    </p:nvPicPr>
                    <p:blipFill>
                      <a:blip r:embed="rId9"/>
                      <a:stretch>
                        <a:fillRect/>
                      </a:stretch>
                    </p:blipFill>
                    <p:spPr>
                      <a:xfrm>
                        <a:off x="1473200" y="723900"/>
                        <a:ext cx="685800" cy="811530"/>
                      </a:xfrm>
                      <a:prstGeom prst="rect">
                        <a:avLst/>
                      </a:prstGeom>
                      <a:solidFill>
                        <a:schemeClr val="accent1"/>
                      </a:solidFill>
                      <a:ln w="38100">
                        <a:noFill/>
                        <a:miter/>
                      </a:ln>
                    </p:spPr>
                  </p:pic>
                </p:oleObj>
              </mc:Fallback>
            </mc:AlternateContent>
          </a:graphicData>
        </a:graphic>
      </p:graphicFrame>
      <p:graphicFrame>
        <p:nvGraphicFramePr>
          <p:cNvPr id="6" name="对象 5"/>
          <p:cNvGraphicFramePr/>
          <p:nvPr/>
        </p:nvGraphicFramePr>
        <p:xfrm>
          <a:off x="6917055" y="733425"/>
          <a:ext cx="1326515" cy="965200"/>
        </p:xfrm>
        <a:graphic>
          <a:graphicData uri="http://schemas.openxmlformats.org/presentationml/2006/ole">
            <mc:AlternateContent xmlns:mc="http://schemas.openxmlformats.org/markup-compatibility/2006">
              <mc:Choice xmlns:v="urn:schemas-microsoft-com:vml" Requires="v">
                <p:oleObj spid="_x0000_s3168" name="" r:id="rId10" imgW="1303655" imgH="1051560" progId="Equation.KSEE3">
                  <p:embed/>
                </p:oleObj>
              </mc:Choice>
              <mc:Fallback>
                <p:oleObj name="" r:id="rId10" imgW="1303655" imgH="1051560" progId="Equation.KSEE3">
                  <p:embed/>
                  <p:pic>
                    <p:nvPicPr>
                      <p:cNvPr id="0" name="图片 3167"/>
                      <p:cNvPicPr/>
                      <p:nvPr/>
                    </p:nvPicPr>
                    <p:blipFill>
                      <a:blip r:embed="rId11"/>
                      <a:stretch>
                        <a:fillRect/>
                      </a:stretch>
                    </p:blipFill>
                    <p:spPr>
                      <a:xfrm>
                        <a:off x="6917055" y="733425"/>
                        <a:ext cx="1326515" cy="965200"/>
                      </a:xfrm>
                      <a:prstGeom prst="rect">
                        <a:avLst/>
                      </a:prstGeom>
                      <a:solidFill>
                        <a:schemeClr val="accent1"/>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文本框 77827"/>
          <p:cNvSpPr txBox="1"/>
          <p:nvPr/>
        </p:nvSpPr>
        <p:spPr>
          <a:xfrm>
            <a:off x="228600" y="609600"/>
            <a:ext cx="8686800" cy="1187450"/>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为了将</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平面的整个虚轴</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压缩到</a:t>
            </a:r>
            <a:r>
              <a:rPr lang="en-US" altLang="zh-CN">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平面</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轴上的</a:t>
            </a:r>
            <a:r>
              <a:rPr lang="en-US" altLang="zh-CN"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π/</a:t>
            </a:r>
            <a:r>
              <a:rPr lang="en-US" altLang="zh-CN" i="1">
                <a:latin typeface="Times New Roman" panose="02020603050405020304" pitchFamily="18" charset="0"/>
                <a:ea typeface="宋体" panose="02010600030101010101" pitchFamily="2" charset="-122"/>
              </a:rPr>
              <a:t>T</a:t>
            </a:r>
            <a:r>
              <a:rPr lang="zh-CN" altLang="en-US">
                <a:latin typeface="Times New Roman" panose="02020603050405020304" pitchFamily="18" charset="0"/>
                <a:ea typeface="宋体" panose="02010600030101010101" pitchFamily="2" charset="-122"/>
              </a:rPr>
              <a:t>到</a:t>
            </a:r>
            <a:r>
              <a:rPr lang="en-US" altLang="zh-CN">
                <a:latin typeface="Times New Roman" panose="02020603050405020304" pitchFamily="18" charset="0"/>
                <a:ea typeface="宋体" panose="02010600030101010101" pitchFamily="2" charset="-122"/>
              </a:rPr>
              <a:t>π/</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段上，可以通过以下的正切变换实现 </a:t>
            </a:r>
            <a:endParaRPr lang="zh-CN" altLang="en-US">
              <a:latin typeface="Times New Roman" panose="02020603050405020304" pitchFamily="18" charset="0"/>
              <a:ea typeface="宋体" panose="02010600030101010101" pitchFamily="2" charset="-122"/>
            </a:endParaRPr>
          </a:p>
        </p:txBody>
      </p:sp>
      <p:graphicFrame>
        <p:nvGraphicFramePr>
          <p:cNvPr id="81922" name="对象 77828"/>
          <p:cNvGraphicFramePr/>
          <p:nvPr/>
        </p:nvGraphicFramePr>
        <p:xfrm>
          <a:off x="3198813" y="1827213"/>
          <a:ext cx="2365375" cy="949325"/>
        </p:xfrm>
        <a:graphic>
          <a:graphicData uri="http://schemas.openxmlformats.org/presentationml/2006/ole">
            <mc:AlternateContent xmlns:mc="http://schemas.openxmlformats.org/markup-compatibility/2006">
              <mc:Choice xmlns:v="urn:schemas-microsoft-com:vml" Requires="v">
                <p:oleObj spid="_x0000_s3170" name="" r:id="rId1" imgW="1079500" imgH="431800" progId="Equation.3">
                  <p:embed/>
                </p:oleObj>
              </mc:Choice>
              <mc:Fallback>
                <p:oleObj name="" r:id="rId1" imgW="1079500" imgH="431800" progId="Equation.3">
                  <p:embed/>
                  <p:pic>
                    <p:nvPicPr>
                      <p:cNvPr id="0" name="图片 3169"/>
                      <p:cNvPicPr/>
                      <p:nvPr/>
                    </p:nvPicPr>
                    <p:blipFill>
                      <a:blip r:embed="rId2"/>
                      <a:stretch>
                        <a:fillRect/>
                      </a:stretch>
                    </p:blipFill>
                    <p:spPr>
                      <a:xfrm>
                        <a:off x="3198813" y="1827213"/>
                        <a:ext cx="2365375" cy="949325"/>
                      </a:xfrm>
                      <a:prstGeom prst="rect">
                        <a:avLst/>
                      </a:prstGeom>
                      <a:solidFill>
                        <a:schemeClr val="accent1"/>
                      </a:solidFill>
                      <a:ln w="38100">
                        <a:noFill/>
                        <a:miter/>
                      </a:ln>
                    </p:spPr>
                  </p:pic>
                </p:oleObj>
              </mc:Fallback>
            </mc:AlternateContent>
          </a:graphicData>
        </a:graphic>
      </p:graphicFrame>
      <p:sp>
        <p:nvSpPr>
          <p:cNvPr id="81923" name="文本框 77829"/>
          <p:cNvSpPr txBox="1"/>
          <p:nvPr/>
        </p:nvSpPr>
        <p:spPr>
          <a:xfrm>
            <a:off x="6934200" y="20574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5-42</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81924" name="文本框 77830"/>
          <p:cNvSpPr txBox="1"/>
          <p:nvPr/>
        </p:nvSpPr>
        <p:spPr>
          <a:xfrm>
            <a:off x="304800" y="2819400"/>
            <a:ext cx="8686800" cy="180340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dirty="0">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仍是采样间隔。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当</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由</a:t>
            </a:r>
            <a:r>
              <a:rPr lang="en-US" altLang="zh-CN" dirty="0">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π/</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经过</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变化到</a:t>
            </a:r>
            <a:r>
              <a:rPr lang="en-US" altLang="zh-CN" i="1">
                <a:latin typeface="Times New Roman" panose="02020603050405020304" pitchFamily="18" charset="0"/>
                <a:ea typeface="宋体" panose="02010600030101010101" pitchFamily="2" charset="-122"/>
              </a:rPr>
              <a:t>π</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时，</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由</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经过</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变化到</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也即映射了</a:t>
            </a:r>
            <a:r>
              <a:rPr lang="zh-CN" altLang="en-US" dirty="0">
                <a:latin typeface="Times New Roman" panose="02020603050405020304" pitchFamily="18" charset="0"/>
                <a:ea typeface="宋体" panose="02010600030101010101" pitchFamily="2" charset="-122"/>
              </a:rPr>
              <a:t>整个</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轴。将式（</a:t>
            </a:r>
            <a:r>
              <a:rPr lang="en-US" altLang="zh-CN" dirty="0">
                <a:latin typeface="Times New Roman" panose="02020603050405020304" pitchFamily="18" charset="0"/>
                <a:ea typeface="宋体" panose="02010600030101010101" pitchFamily="2" charset="-122"/>
              </a:rPr>
              <a:t>5-42</a:t>
            </a:r>
            <a:r>
              <a:rPr lang="zh-CN" altLang="en-US" dirty="0">
                <a:latin typeface="Times New Roman" panose="02020603050405020304" pitchFamily="18" charset="0"/>
                <a:ea typeface="宋体" panose="02010600030101010101" pitchFamily="2" charset="-122"/>
              </a:rPr>
              <a:t>）写成 </a:t>
            </a:r>
            <a:endParaRPr lang="zh-CN" altLang="en-US">
              <a:latin typeface="Times New Roman" panose="02020603050405020304" pitchFamily="18" charset="0"/>
              <a:ea typeface="宋体" panose="02010600030101010101" pitchFamily="2" charset="-122"/>
            </a:endParaRPr>
          </a:p>
        </p:txBody>
      </p:sp>
      <p:graphicFrame>
        <p:nvGraphicFramePr>
          <p:cNvPr id="80901" name="对象 77831"/>
          <p:cNvGraphicFramePr/>
          <p:nvPr/>
        </p:nvGraphicFramePr>
        <p:xfrm>
          <a:off x="2474913" y="4730750"/>
          <a:ext cx="4346575" cy="1176338"/>
        </p:xfrm>
        <a:graphic>
          <a:graphicData uri="http://schemas.openxmlformats.org/presentationml/2006/ole">
            <mc:AlternateContent xmlns:mc="http://schemas.openxmlformats.org/markup-compatibility/2006">
              <mc:Choice xmlns:v="urn:schemas-microsoft-com:vml" Requires="v">
                <p:oleObj spid="_x0000_s3166" name="" r:id="rId3" imgW="1548765" imgH="419100" progId="Equation.3">
                  <p:embed/>
                </p:oleObj>
              </mc:Choice>
              <mc:Fallback>
                <p:oleObj name="" r:id="rId3" imgW="1548765" imgH="419100" progId="Equation.3">
                  <p:embed/>
                  <p:pic>
                    <p:nvPicPr>
                      <p:cNvPr id="0" name="图片 3165"/>
                      <p:cNvPicPr/>
                      <p:nvPr/>
                    </p:nvPicPr>
                    <p:blipFill>
                      <a:blip r:embed="rId4"/>
                      <a:stretch>
                        <a:fillRect/>
                      </a:stretch>
                    </p:blipFill>
                    <p:spPr>
                      <a:xfrm>
                        <a:off x="2474913" y="4730750"/>
                        <a:ext cx="4346575" cy="1176338"/>
                      </a:xfrm>
                      <a:prstGeom prst="rect">
                        <a:avLst/>
                      </a:prstGeom>
                      <a:solidFill>
                        <a:schemeClr val="accent1"/>
                      </a:solidFill>
                      <a:ln w="38100">
                        <a:noFill/>
                        <a:miter/>
                      </a:ln>
                    </p:spPr>
                  </p:pic>
                </p:oleObj>
              </mc:Fallback>
            </mc:AlternateContent>
          </a:graphicData>
        </a:graphic>
      </p:graphicFrame>
      <p:sp>
        <p:nvSpPr>
          <p:cNvPr id="2" name="五角星 1"/>
          <p:cNvSpPr/>
          <p:nvPr/>
        </p:nvSpPr>
        <p:spPr>
          <a:xfrm>
            <a:off x="1593850" y="1730375"/>
            <a:ext cx="1162050" cy="1089025"/>
          </a:xfrm>
          <a:prstGeom prst="star5">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graphicFrame>
        <p:nvGraphicFramePr>
          <p:cNvPr id="3" name="对象 2">
            <a:hlinkClick r:id="" action="ppaction://ole?verb="/>
          </p:cNvPr>
          <p:cNvGraphicFramePr>
            <a:graphicFrameLocks noChangeAspect="1"/>
          </p:cNvGraphicFramePr>
          <p:nvPr/>
        </p:nvGraphicFramePr>
        <p:xfrm>
          <a:off x="5873750" y="1362075"/>
          <a:ext cx="2187575" cy="1825625"/>
        </p:xfrm>
        <a:graphic>
          <a:graphicData uri="http://schemas.openxmlformats.org/presentationml/2006/ole">
            <mc:AlternateContent xmlns:mc="http://schemas.openxmlformats.org/markup-compatibility/2006">
              <mc:Choice xmlns:v="urn:schemas-microsoft-com:vml" Requires="v">
                <p:oleObj spid="_x0000_s3169" name="" r:id="rId5" imgW="914400" imgH="762000" progId="Equation.KSEE3">
                  <p:embed/>
                </p:oleObj>
              </mc:Choice>
              <mc:Fallback>
                <p:oleObj name="" r:id="rId5" imgW="914400" imgH="762000" progId="Equation.KSEE3">
                  <p:embed/>
                  <p:pic>
                    <p:nvPicPr>
                      <p:cNvPr id="0" name="图片 3168"/>
                      <p:cNvPicPr/>
                      <p:nvPr/>
                    </p:nvPicPr>
                    <p:blipFill>
                      <a:blip r:embed="rId6"/>
                      <a:stretch>
                        <a:fillRect/>
                      </a:stretch>
                    </p:blipFill>
                    <p:spPr>
                      <a:xfrm>
                        <a:off x="5873750" y="1362075"/>
                        <a:ext cx="2187575" cy="1825625"/>
                      </a:xfrm>
                      <a:prstGeom prst="rect">
                        <a:avLst/>
                      </a:prstGeom>
                      <a:solidFill>
                        <a:srgbClr val="FFC000"/>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0901"/>
                                        </p:tgtEl>
                                        <p:attrNameLst>
                                          <p:attrName>style.visibility</p:attrName>
                                        </p:attrNameLst>
                                      </p:cBhvr>
                                      <p:to>
                                        <p:strVal val="visible"/>
                                      </p:to>
                                    </p:set>
                                    <p:anim calcmode="lin" valueType="num">
                                      <p:cBhvr additive="base">
                                        <p:cTn id="13" dur="500" fill="hold"/>
                                        <p:tgtEl>
                                          <p:spTgt spid="80901"/>
                                        </p:tgtEl>
                                        <p:attrNameLst>
                                          <p:attrName>ppt_x</p:attrName>
                                        </p:attrNameLst>
                                      </p:cBhvr>
                                      <p:tavLst>
                                        <p:tav tm="0">
                                          <p:val>
                                            <p:strVal val="#ppt_x"/>
                                          </p:val>
                                        </p:tav>
                                        <p:tav tm="100000">
                                          <p:val>
                                            <p:strVal val="#ppt_x"/>
                                          </p:val>
                                        </p:tav>
                                      </p:tavLst>
                                    </p:anim>
                                    <p:anim calcmode="lin" valueType="num">
                                      <p:cBhvr additive="base">
                                        <p:cTn id="14" dur="500" fill="hold"/>
                                        <p:tgtEl>
                                          <p:spTgt spid="809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文本框 80899"/>
          <p:cNvSpPr txBox="1"/>
          <p:nvPr/>
        </p:nvSpPr>
        <p:spPr>
          <a:xfrm>
            <a:off x="228600" y="533400"/>
            <a:ext cx="8686800" cy="10985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将此关系解析延拓到整个</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平面和</a:t>
            </a:r>
            <a:r>
              <a:rPr lang="en-US" altLang="zh-CN">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平面，令</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zh-CN" altLang="en-US">
                <a:latin typeface="Times New Roman" panose="02020603050405020304" pitchFamily="18"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则得</a:t>
            </a:r>
            <a:endParaRPr lang="zh-CN" altLang="en-US">
              <a:latin typeface="Times New Roman" panose="02020603050405020304" pitchFamily="18" charset="0"/>
              <a:ea typeface="宋体" panose="02010600030101010101" pitchFamily="2" charset="-122"/>
            </a:endParaRPr>
          </a:p>
        </p:txBody>
      </p:sp>
      <p:graphicFrame>
        <p:nvGraphicFramePr>
          <p:cNvPr id="82946" name="对象 80900"/>
          <p:cNvGraphicFramePr/>
          <p:nvPr/>
        </p:nvGraphicFramePr>
        <p:xfrm>
          <a:off x="2381568" y="1401604"/>
          <a:ext cx="4990465" cy="998855"/>
        </p:xfrm>
        <a:graphic>
          <a:graphicData uri="http://schemas.openxmlformats.org/presentationml/2006/ole">
            <mc:AlternateContent xmlns:mc="http://schemas.openxmlformats.org/markup-compatibility/2006">
              <mc:Choice xmlns:v="urn:schemas-microsoft-com:vml" Requires="v">
                <p:oleObj spid="_x0000_s3167" name="" r:id="rId1" imgW="2095500" imgH="419100" progId="Equation.3">
                  <p:embed/>
                </p:oleObj>
              </mc:Choice>
              <mc:Fallback>
                <p:oleObj name="" r:id="rId1" imgW="2095500" imgH="419100" progId="Equation.3">
                  <p:embed/>
                  <p:pic>
                    <p:nvPicPr>
                      <p:cNvPr id="0" name="图片 3166"/>
                      <p:cNvPicPr/>
                      <p:nvPr/>
                    </p:nvPicPr>
                    <p:blipFill>
                      <a:blip r:embed="rId2"/>
                      <a:stretch>
                        <a:fillRect/>
                      </a:stretch>
                    </p:blipFill>
                    <p:spPr>
                      <a:xfrm>
                        <a:off x="2381568" y="1401604"/>
                        <a:ext cx="4990465" cy="998855"/>
                      </a:xfrm>
                      <a:prstGeom prst="rect">
                        <a:avLst/>
                      </a:prstGeom>
                      <a:solidFill>
                        <a:schemeClr val="accent1"/>
                      </a:solidFill>
                      <a:ln w="38100">
                        <a:noFill/>
                        <a:miter/>
                      </a:ln>
                    </p:spPr>
                  </p:pic>
                </p:oleObj>
              </mc:Fallback>
            </mc:AlternateContent>
          </a:graphicData>
        </a:graphic>
      </p:graphicFrame>
      <p:sp>
        <p:nvSpPr>
          <p:cNvPr id="82947" name="文本框 80901"/>
          <p:cNvSpPr txBox="1"/>
          <p:nvPr/>
        </p:nvSpPr>
        <p:spPr>
          <a:xfrm>
            <a:off x="228600" y="2420938"/>
            <a:ext cx="6813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再将</a:t>
            </a:r>
            <a:r>
              <a:rPr lang="en-US" altLang="zh-CN">
                <a:latin typeface="Times New Roman" panose="02020603050405020304" pitchFamily="18" charset="0"/>
                <a:ea typeface="宋体" panose="02010600030101010101" pitchFamily="2" charset="-122"/>
              </a:rPr>
              <a:t>S</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平面通过以下标准变换关系映射到</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 </a:t>
            </a:r>
            <a:endParaRPr lang="zh-CN" altLang="en-US">
              <a:latin typeface="Times New Roman" panose="02020603050405020304" pitchFamily="18" charset="0"/>
              <a:ea typeface="宋体" panose="02010600030101010101" pitchFamily="2" charset="-122"/>
            </a:endParaRPr>
          </a:p>
        </p:txBody>
      </p:sp>
      <p:sp>
        <p:nvSpPr>
          <p:cNvPr id="82948" name="文本框 80902"/>
          <p:cNvSpPr txBox="1"/>
          <p:nvPr/>
        </p:nvSpPr>
        <p:spPr>
          <a:xfrm>
            <a:off x="4114800" y="2898775"/>
            <a:ext cx="1117600" cy="519113"/>
          </a:xfrm>
          <a:prstGeom prst="rect">
            <a:avLst/>
          </a:prstGeom>
          <a:solidFill>
            <a:schemeClr val="accent1"/>
          </a:solidFill>
          <a:ln w="9525">
            <a:noFill/>
          </a:ln>
        </p:spPr>
        <p:txBody>
          <a:bodyPr wrap="none" anchor="t">
            <a:spAutoFit/>
          </a:bodyPr>
          <a:p>
            <a:r>
              <a:rPr lang="en-US" altLang="zh-CN" sz="2800" i="1">
                <a:latin typeface="Times New Roman" panose="02020603050405020304" pitchFamily="18" charset="0"/>
                <a:ea typeface="宋体" panose="02010600030101010101" pitchFamily="2" charset="-122"/>
              </a:rPr>
              <a:t>z</a:t>
            </a:r>
            <a:r>
              <a:rPr lang="en-US" altLang="zh-CN" sz="2800">
                <a:latin typeface="Times New Roman" panose="02020603050405020304" pitchFamily="18" charset="0"/>
                <a:ea typeface="宋体" panose="02010600030101010101" pitchFamily="2" charset="-122"/>
              </a:rPr>
              <a:t>=e</a:t>
            </a:r>
            <a:r>
              <a:rPr lang="en-US" altLang="zh-CN" sz="2800" baseline="30000">
                <a:latin typeface="Times New Roman" panose="02020603050405020304" pitchFamily="18" charset="0"/>
                <a:ea typeface="宋体" panose="02010600030101010101" pitchFamily="2" charset="-122"/>
              </a:rPr>
              <a:t>s</a:t>
            </a:r>
            <a:r>
              <a:rPr lang="en-US" altLang="zh-CN" sz="2800" baseline="10000">
                <a:latin typeface="Times New Roman" panose="02020603050405020304" pitchFamily="18" charset="0"/>
                <a:ea typeface="宋体" panose="02010600030101010101" pitchFamily="2" charset="-122"/>
              </a:rPr>
              <a:t>1</a:t>
            </a:r>
            <a:r>
              <a:rPr lang="en-US" altLang="zh-CN" sz="2800" i="1" baseline="30000">
                <a:latin typeface="Times New Roman" panose="02020603050405020304" pitchFamily="18" charset="0"/>
                <a:ea typeface="宋体" panose="02010600030101010101" pitchFamily="2" charset="-122"/>
              </a:rPr>
              <a:t>T</a:t>
            </a:r>
            <a:r>
              <a:rPr lang="en-US" altLang="zh-CN" sz="2800">
                <a:latin typeface="Times New Roman" panose="02020603050405020304" pitchFamily="18" charset="0"/>
                <a:ea typeface="宋体" panose="02010600030101010101" pitchFamily="2" charset="-122"/>
              </a:rPr>
              <a:t> </a:t>
            </a:r>
            <a:endParaRPr lang="en-US" altLang="zh-CN" sz="2800">
              <a:latin typeface="Times New Roman" panose="02020603050405020304" pitchFamily="18" charset="0"/>
              <a:ea typeface="宋体" panose="02010600030101010101" pitchFamily="2" charset="-122"/>
            </a:endParaRPr>
          </a:p>
        </p:txBody>
      </p:sp>
      <p:sp>
        <p:nvSpPr>
          <p:cNvPr id="82949" name="文本框 80903"/>
          <p:cNvSpPr txBox="1"/>
          <p:nvPr/>
        </p:nvSpPr>
        <p:spPr>
          <a:xfrm>
            <a:off x="222250" y="3411538"/>
            <a:ext cx="6134100"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从而得到</a:t>
            </a:r>
            <a:r>
              <a:rPr lang="en-US" altLang="zh-CN" b="1" dirty="0">
                <a:solidFill>
                  <a:srgbClr val="FF0000"/>
                </a:solidFill>
                <a:latin typeface="Times New Roman" panose="02020603050405020304" pitchFamily="18" charset="0"/>
                <a:ea typeface="宋体" panose="02010600030101010101" pitchFamily="2" charset="-122"/>
              </a:rPr>
              <a:t>S</a:t>
            </a:r>
            <a:r>
              <a:rPr lang="zh-CN" altLang="en-US" b="1" dirty="0">
                <a:solidFill>
                  <a:srgbClr val="FF0000"/>
                </a:solidFill>
                <a:latin typeface="Times New Roman" panose="02020603050405020304" pitchFamily="18" charset="0"/>
                <a:ea typeface="宋体" panose="02010600030101010101" pitchFamily="2" charset="-122"/>
              </a:rPr>
              <a:t>平面和</a:t>
            </a:r>
            <a:r>
              <a:rPr lang="en-US" altLang="zh-CN" b="1" dirty="0">
                <a:solidFill>
                  <a:srgbClr val="FF0000"/>
                </a:solidFill>
                <a:latin typeface="Times New Roman" panose="02020603050405020304" pitchFamily="18" charset="0"/>
                <a:ea typeface="宋体" panose="02010600030101010101" pitchFamily="2" charset="-122"/>
              </a:rPr>
              <a:t>Z</a:t>
            </a:r>
            <a:r>
              <a:rPr lang="zh-CN" altLang="en-US" b="1" dirty="0">
                <a:solidFill>
                  <a:srgbClr val="FF0000"/>
                </a:solidFill>
                <a:latin typeface="Times New Roman" panose="02020603050405020304" pitchFamily="18" charset="0"/>
                <a:ea typeface="宋体" panose="02010600030101010101" pitchFamily="2" charset="-122"/>
              </a:rPr>
              <a:t>平面的单值映射关系</a:t>
            </a:r>
            <a:r>
              <a:rPr lang="zh-CN" altLang="en-US" dirty="0">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graphicFrame>
        <p:nvGraphicFramePr>
          <p:cNvPr id="82950" name="对象 80904"/>
          <p:cNvGraphicFramePr/>
          <p:nvPr/>
        </p:nvGraphicFramePr>
        <p:xfrm>
          <a:off x="960438" y="4176713"/>
          <a:ext cx="2057400" cy="1060450"/>
        </p:xfrm>
        <a:graphic>
          <a:graphicData uri="http://schemas.openxmlformats.org/presentationml/2006/ole">
            <mc:AlternateContent xmlns:mc="http://schemas.openxmlformats.org/markup-compatibility/2006">
              <mc:Choice xmlns:v="urn:schemas-microsoft-com:vml" Requires="v">
                <p:oleObj spid="_x0000_s3175" name="" r:id="rId3" imgW="812165" imgH="419100" progId="Equation.3">
                  <p:embed/>
                </p:oleObj>
              </mc:Choice>
              <mc:Fallback>
                <p:oleObj name="" r:id="rId3" imgW="812165" imgH="419100" progId="Equation.3">
                  <p:embed/>
                  <p:pic>
                    <p:nvPicPr>
                      <p:cNvPr id="0" name="图片 3174"/>
                      <p:cNvPicPr/>
                      <p:nvPr/>
                    </p:nvPicPr>
                    <p:blipFill>
                      <a:blip r:embed="rId4"/>
                      <a:stretch>
                        <a:fillRect/>
                      </a:stretch>
                    </p:blipFill>
                    <p:spPr>
                      <a:xfrm>
                        <a:off x="960438" y="4176713"/>
                        <a:ext cx="2057400" cy="1060450"/>
                      </a:xfrm>
                      <a:prstGeom prst="rect">
                        <a:avLst/>
                      </a:prstGeom>
                      <a:solidFill>
                        <a:schemeClr val="accent1"/>
                      </a:solidFill>
                      <a:ln w="38100">
                        <a:noFill/>
                        <a:miter/>
                      </a:ln>
                    </p:spPr>
                  </p:pic>
                </p:oleObj>
              </mc:Fallback>
            </mc:AlternateContent>
          </a:graphicData>
        </a:graphic>
      </p:graphicFrame>
      <p:graphicFrame>
        <p:nvGraphicFramePr>
          <p:cNvPr id="82951" name="对象 80905"/>
          <p:cNvGraphicFramePr/>
          <p:nvPr/>
        </p:nvGraphicFramePr>
        <p:xfrm>
          <a:off x="4759325" y="3862388"/>
          <a:ext cx="2800350" cy="1690687"/>
        </p:xfrm>
        <a:graphic>
          <a:graphicData uri="http://schemas.openxmlformats.org/presentationml/2006/ole">
            <mc:AlternateContent xmlns:mc="http://schemas.openxmlformats.org/markup-compatibility/2006">
              <mc:Choice xmlns:v="urn:schemas-microsoft-com:vml" Requires="v">
                <p:oleObj spid="_x0000_s3165" name="" r:id="rId5" imgW="1219200" imgH="736600" progId="Equation.3">
                  <p:embed/>
                </p:oleObj>
              </mc:Choice>
              <mc:Fallback>
                <p:oleObj name="" r:id="rId5" imgW="1219200" imgH="736600" progId="Equation.3">
                  <p:embed/>
                  <p:pic>
                    <p:nvPicPr>
                      <p:cNvPr id="0" name="图片 3164"/>
                      <p:cNvPicPr/>
                      <p:nvPr/>
                    </p:nvPicPr>
                    <p:blipFill>
                      <a:blip r:embed="rId6"/>
                      <a:stretch>
                        <a:fillRect/>
                      </a:stretch>
                    </p:blipFill>
                    <p:spPr>
                      <a:xfrm>
                        <a:off x="4759325" y="3862388"/>
                        <a:ext cx="2800350" cy="1690687"/>
                      </a:xfrm>
                      <a:prstGeom prst="rect">
                        <a:avLst/>
                      </a:prstGeom>
                      <a:solidFill>
                        <a:schemeClr val="accent1"/>
                      </a:solidFill>
                      <a:ln w="38100">
                        <a:noFill/>
                        <a:miter/>
                      </a:ln>
                    </p:spPr>
                  </p:pic>
                </p:oleObj>
              </mc:Fallback>
            </mc:AlternateContent>
          </a:graphicData>
        </a:graphic>
      </p:graphicFrame>
      <p:sp>
        <p:nvSpPr>
          <p:cNvPr id="82952" name="文本框 80906"/>
          <p:cNvSpPr txBox="1"/>
          <p:nvPr/>
        </p:nvSpPr>
        <p:spPr>
          <a:xfrm>
            <a:off x="2819400" y="4478338"/>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5-43</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82953" name="文本框 80907"/>
          <p:cNvSpPr txBox="1"/>
          <p:nvPr/>
        </p:nvSpPr>
        <p:spPr>
          <a:xfrm>
            <a:off x="7994650" y="4478338"/>
            <a:ext cx="1149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(5-44</a:t>
            </a:r>
            <a:r>
              <a:rPr lang="zh-CN" altLang="en-US" dirty="0">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p:txBody>
      </p:sp>
      <p:sp>
        <p:nvSpPr>
          <p:cNvPr id="82954" name="文本框 80908"/>
          <p:cNvSpPr txBox="1"/>
          <p:nvPr/>
        </p:nvSpPr>
        <p:spPr>
          <a:xfrm>
            <a:off x="381000" y="5843588"/>
            <a:ext cx="8763000" cy="1014412"/>
          </a:xfrm>
          <a:prstGeom prst="rect">
            <a:avLst/>
          </a:prstGeom>
          <a:solidFill>
            <a:schemeClr val="accent1"/>
          </a:solidFill>
          <a:ln w="9525">
            <a:noFill/>
          </a:ln>
        </p:spPr>
        <p:txBody>
          <a:bodyPr anchor="t">
            <a:spAutoFit/>
          </a:bodyPr>
          <a:p>
            <a:pPr algn="just">
              <a:spcBef>
                <a:spcPct val="50000"/>
              </a:spcBef>
            </a:pPr>
            <a:r>
              <a:rPr lang="zh-CN" altLang="en-US" dirty="0">
                <a:latin typeface="Times New Roman" panose="02020603050405020304" pitchFamily="18" charset="0"/>
                <a:ea typeface="宋体" panose="02010600030101010101" pitchFamily="2" charset="-122"/>
              </a:rPr>
              <a:t>式（</a:t>
            </a:r>
            <a:r>
              <a:rPr lang="en-US" altLang="zh-CN" dirty="0">
                <a:latin typeface="Times New Roman" panose="02020603050405020304" pitchFamily="18" charset="0"/>
                <a:ea typeface="宋体" panose="02010600030101010101" pitchFamily="2" charset="-122"/>
              </a:rPr>
              <a:t>5-43</a:t>
            </a:r>
            <a:r>
              <a:rPr lang="zh-CN" altLang="en-US" dirty="0">
                <a:latin typeface="Times New Roman" panose="02020603050405020304" pitchFamily="18" charset="0"/>
                <a:ea typeface="宋体" panose="02010600030101010101" pitchFamily="2" charset="-122"/>
              </a:rPr>
              <a:t>）与式（</a:t>
            </a:r>
            <a:r>
              <a:rPr lang="en-US" altLang="zh-CN" dirty="0">
                <a:latin typeface="Times New Roman" panose="02020603050405020304" pitchFamily="18" charset="0"/>
                <a:ea typeface="宋体" panose="02010600030101010101" pitchFamily="2" charset="-122"/>
              </a:rPr>
              <a:t>5-44</a:t>
            </a:r>
            <a:r>
              <a:rPr lang="zh-CN" altLang="en-US" dirty="0">
                <a:latin typeface="Times New Roman" panose="02020603050405020304" pitchFamily="18" charset="0"/>
                <a:ea typeface="宋体" panose="02010600030101010101" pitchFamily="2" charset="-122"/>
              </a:rPr>
              <a:t>）是</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平面与</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平面之间的单值映射关系，这种</a:t>
            </a:r>
            <a:r>
              <a:rPr lang="zh-CN" altLang="en-US" dirty="0">
                <a:latin typeface="Times New Roman" panose="02020603050405020304" pitchFamily="18" charset="0"/>
                <a:ea typeface="宋体" panose="02010600030101010101" pitchFamily="2" charset="-122"/>
              </a:rPr>
              <a:t>变换都是两个线性函数之比，因此称为</a:t>
            </a:r>
            <a:r>
              <a:rPr lang="zh-CN" altLang="en-US" sz="3600" b="1" u="sng" dirty="0">
                <a:solidFill>
                  <a:srgbClr val="FF0000"/>
                </a:solidFill>
                <a:latin typeface="Times New Roman" panose="02020603050405020304" pitchFamily="18" charset="0"/>
                <a:ea typeface="宋体" panose="02010600030101010101" pitchFamily="2" charset="-122"/>
              </a:rPr>
              <a:t>双线性</a:t>
            </a:r>
            <a:r>
              <a:rPr lang="zh-CN" altLang="en-US" dirty="0">
                <a:latin typeface="Times New Roman" panose="02020603050405020304" pitchFamily="18" charset="0"/>
                <a:ea typeface="宋体" panose="02010600030101010101" pitchFamily="2" charset="-122"/>
              </a:rPr>
              <a:t>变换。 </a:t>
            </a:r>
            <a:endParaRPr lang="zh-CN" altLang="en-US">
              <a:latin typeface="Times New Roman" panose="02020603050405020304" pitchFamily="18" charset="0"/>
              <a:ea typeface="宋体" panose="02010600030101010101" pitchFamily="2" charset="-122"/>
            </a:endParaRPr>
          </a:p>
        </p:txBody>
      </p:sp>
      <p:sp>
        <p:nvSpPr>
          <p:cNvPr id="2" name="五角星 1"/>
          <p:cNvSpPr/>
          <p:nvPr/>
        </p:nvSpPr>
        <p:spPr>
          <a:xfrm>
            <a:off x="-22225" y="3676650"/>
            <a:ext cx="1163638" cy="1087438"/>
          </a:xfrm>
          <a:prstGeom prst="star5">
            <a:avLst/>
          </a:prstGeom>
          <a:gradFill>
            <a:gsLst>
              <a:gs pos="71000">
                <a:srgbClr val="BFBF0D">
                  <a:alpha val="100000"/>
                </a:srgbClr>
              </a:gs>
              <a:gs pos="0">
                <a:srgbClr val="FBFB11"/>
              </a:gs>
              <a:gs pos="100000">
                <a:srgbClr val="838309"/>
              </a:gs>
            </a:gsLst>
            <a:lin ang="60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2482850" y="2708275"/>
            <a:ext cx="720725" cy="4333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83970" name="文本框 79875"/>
          <p:cNvSpPr txBox="1"/>
          <p:nvPr/>
        </p:nvSpPr>
        <p:spPr>
          <a:xfrm>
            <a:off x="228600" y="552450"/>
            <a:ext cx="8686800" cy="2676525"/>
          </a:xfrm>
          <a:prstGeom prst="rect">
            <a:avLst/>
          </a:prstGeom>
          <a:noFill/>
          <a:ln w="9525">
            <a:noFill/>
          </a:ln>
        </p:spPr>
        <p:txBody>
          <a:bodyPr anchor="t">
            <a:spAutoFit/>
          </a:bodyPr>
          <a:p>
            <a:pPr algn="just">
              <a:lnSpc>
                <a:spcPct val="150000"/>
              </a:lnSpc>
              <a:spcBef>
                <a:spcPct val="50000"/>
              </a:spcBef>
            </a:pPr>
            <a:r>
              <a:rPr lang="en-US" altLang="zh-CN" b="1" dirty="0">
                <a:latin typeface="Times New Roman" panose="02020603050405020304" pitchFamily="18" charset="0"/>
                <a:ea typeface="宋体" panose="02010600030101010101" pitchFamily="2" charset="-122"/>
              </a:rPr>
              <a:t>5.5.2 </a:t>
            </a:r>
            <a:r>
              <a:rPr lang="zh-CN" altLang="en-US" b="1" dirty="0">
                <a:latin typeface="Times New Roman" panose="02020603050405020304" pitchFamily="18" charset="0"/>
                <a:ea typeface="宋体" panose="02010600030101010101" pitchFamily="2" charset="-122"/>
              </a:rPr>
              <a:t>逼近的情况</a:t>
            </a:r>
            <a:endParaRPr lang="zh-CN" altLang="en-US" b="1">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式（</a:t>
            </a:r>
            <a:r>
              <a:rPr lang="en-US" altLang="zh-CN" dirty="0">
                <a:latin typeface="Times New Roman" panose="02020603050405020304" pitchFamily="18" charset="0"/>
                <a:ea typeface="宋体" panose="02010600030101010101" pitchFamily="2" charset="-122"/>
              </a:rPr>
              <a:t>5-43</a:t>
            </a:r>
            <a:r>
              <a:rPr lang="zh-CN" altLang="en-US" dirty="0">
                <a:latin typeface="Times New Roman" panose="02020603050405020304" pitchFamily="18" charset="0"/>
                <a:ea typeface="宋体" panose="02010600030101010101" pitchFamily="2" charset="-122"/>
              </a:rPr>
              <a:t>）与式（</a:t>
            </a:r>
            <a:r>
              <a:rPr lang="en-US" altLang="zh-CN" dirty="0">
                <a:latin typeface="Times New Roman" panose="02020603050405020304" pitchFamily="18" charset="0"/>
                <a:ea typeface="宋体" panose="02010600030101010101" pitchFamily="2" charset="-122"/>
              </a:rPr>
              <a:t>5-44</a:t>
            </a:r>
            <a:r>
              <a:rPr lang="zh-CN" altLang="en-US" dirty="0">
                <a:latin typeface="Times New Roman" panose="02020603050405020304" pitchFamily="18" charset="0"/>
                <a:ea typeface="宋体" panose="02010600030101010101" pitchFamily="2" charset="-122"/>
              </a:rPr>
              <a:t>）的双线性变换符合</a:t>
            </a:r>
            <a:r>
              <a:rPr lang="en-US" altLang="zh-CN" dirty="0">
                <a:latin typeface="Times New Roman" panose="02020603050405020304" pitchFamily="18" charset="0"/>
                <a:ea typeface="宋体" panose="02010600030101010101" pitchFamily="2" charset="-122"/>
              </a:rPr>
              <a:t>5.2</a:t>
            </a:r>
            <a:r>
              <a:rPr lang="zh-CN" altLang="en-US" dirty="0">
                <a:latin typeface="Times New Roman" panose="02020603050405020304" pitchFamily="18" charset="0"/>
                <a:ea typeface="宋体" panose="02010600030101010101" pitchFamily="2" charset="-122"/>
              </a:rPr>
              <a:t>节中提出的映射变换应满足的两点要求。  </a:t>
            </a:r>
            <a:endParaRPr lang="zh-CN" altLang="en-US" dirty="0">
              <a:latin typeface="Times New Roman" panose="02020603050405020304" pitchFamily="18" charset="0"/>
              <a:ea typeface="宋体" panose="02010600030101010101" pitchFamily="2" charset="-122"/>
            </a:endParaRPr>
          </a:p>
          <a:p>
            <a:pPr>
              <a:lnSpc>
                <a:spcPct val="15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）首先</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把</a:t>
            </a:r>
            <a:r>
              <a:rPr lang="en-US" altLang="zh-CN" i="1">
                <a:latin typeface="Times New Roman" panose="02020603050405020304" pitchFamily="18" charset="0"/>
                <a:ea typeface="宋体" panose="02010600030101010101" pitchFamily="2" charset="-122"/>
              </a:rPr>
              <a:t>z</a:t>
            </a:r>
            <a:r>
              <a:rPr lang="en-US" altLang="zh-CN" err="1">
                <a:latin typeface="Times New Roman" panose="02020603050405020304" pitchFamily="18" charset="0"/>
                <a:ea typeface="宋体" panose="02010600030101010101" pitchFamily="2" charset="-122"/>
              </a:rPr>
              <a:t>=e</a:t>
            </a:r>
            <a:r>
              <a:rPr lang="en-US" altLang="zh-CN" i="1" baseline="30000" err="1">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代入式（</a:t>
            </a:r>
            <a:r>
              <a:rPr lang="en-US" altLang="zh-CN" dirty="0">
                <a:latin typeface="Times New Roman" panose="02020603050405020304" pitchFamily="18" charset="0"/>
                <a:ea typeface="宋体" panose="02010600030101010101" pitchFamily="2" charset="-122"/>
              </a:rPr>
              <a:t>5-43</a:t>
            </a:r>
            <a:r>
              <a:rPr lang="zh-CN" altLang="en-US" dirty="0">
                <a:latin typeface="Times New Roman" panose="02020603050405020304" pitchFamily="18" charset="0"/>
                <a:ea typeface="宋体" panose="02010600030101010101" pitchFamily="2" charset="-122"/>
              </a:rPr>
              <a:t>），可得 </a:t>
            </a:r>
            <a:endParaRPr lang="zh-CN" altLang="en-US">
              <a:latin typeface="Times New Roman" panose="02020603050405020304" pitchFamily="18" charset="0"/>
              <a:ea typeface="宋体" panose="02010600030101010101" pitchFamily="2" charset="-122"/>
            </a:endParaRPr>
          </a:p>
        </p:txBody>
      </p:sp>
      <p:graphicFrame>
        <p:nvGraphicFramePr>
          <p:cNvPr id="83971" name="对象 79876"/>
          <p:cNvGraphicFramePr/>
          <p:nvPr/>
        </p:nvGraphicFramePr>
        <p:xfrm>
          <a:off x="2133600" y="3651250"/>
          <a:ext cx="4724400" cy="996950"/>
        </p:xfrm>
        <a:graphic>
          <a:graphicData uri="http://schemas.openxmlformats.org/presentationml/2006/ole">
            <mc:AlternateContent xmlns:mc="http://schemas.openxmlformats.org/markup-compatibility/2006">
              <mc:Choice xmlns:v="urn:schemas-microsoft-com:vml" Requires="v">
                <p:oleObj spid="_x0000_s3179" name="" r:id="rId1" imgW="2107565" imgH="444500" progId="Equation.3">
                  <p:embed/>
                </p:oleObj>
              </mc:Choice>
              <mc:Fallback>
                <p:oleObj name="" r:id="rId1" imgW="2107565" imgH="444500" progId="Equation.3">
                  <p:embed/>
                  <p:pic>
                    <p:nvPicPr>
                      <p:cNvPr id="0" name="图片 3178"/>
                      <p:cNvPicPr/>
                      <p:nvPr/>
                    </p:nvPicPr>
                    <p:blipFill>
                      <a:blip r:embed="rId2"/>
                      <a:stretch>
                        <a:fillRect/>
                      </a:stretch>
                    </p:blipFill>
                    <p:spPr>
                      <a:xfrm>
                        <a:off x="2133600" y="3651250"/>
                        <a:ext cx="4724400" cy="996950"/>
                      </a:xfrm>
                      <a:prstGeom prst="rect">
                        <a:avLst/>
                      </a:prstGeom>
                      <a:solidFill>
                        <a:schemeClr val="accent1"/>
                      </a:solidFill>
                      <a:ln w="38100">
                        <a:noFill/>
                        <a:miter/>
                      </a:ln>
                    </p:spPr>
                  </p:pic>
                </p:oleObj>
              </mc:Fallback>
            </mc:AlternateContent>
          </a:graphicData>
        </a:graphic>
      </p:graphicFrame>
      <p:sp>
        <p:nvSpPr>
          <p:cNvPr id="83972" name="文本框 79877"/>
          <p:cNvSpPr txBox="1"/>
          <p:nvPr/>
        </p:nvSpPr>
        <p:spPr>
          <a:xfrm>
            <a:off x="7715250" y="38862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5-45</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83973" name="文本框 79879"/>
          <p:cNvSpPr txBox="1"/>
          <p:nvPr/>
        </p:nvSpPr>
        <p:spPr>
          <a:xfrm>
            <a:off x="304800" y="5105400"/>
            <a:ext cx="5526088"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即</a:t>
            </a:r>
            <a:r>
              <a:rPr lang="en-US" altLang="zh-CN" b="1" dirty="0">
                <a:solidFill>
                  <a:srgbClr val="FF0000"/>
                </a:solidFill>
                <a:latin typeface="Times New Roman" panose="02020603050405020304" pitchFamily="18" charset="0"/>
                <a:ea typeface="宋体" panose="02010600030101010101" pitchFamily="2" charset="-122"/>
              </a:rPr>
              <a:t>S</a:t>
            </a:r>
            <a:r>
              <a:rPr lang="zh-CN" altLang="en-US" b="1" dirty="0">
                <a:solidFill>
                  <a:srgbClr val="FF0000"/>
                </a:solidFill>
                <a:latin typeface="Times New Roman" panose="02020603050405020304" pitchFamily="18" charset="0"/>
                <a:ea typeface="宋体" panose="02010600030101010101" pitchFamily="2" charset="-122"/>
              </a:rPr>
              <a:t>平面的虚轴映射到</a:t>
            </a:r>
            <a:r>
              <a:rPr lang="en-US" altLang="zh-CN" b="1" dirty="0">
                <a:solidFill>
                  <a:srgbClr val="FF0000"/>
                </a:solidFill>
                <a:latin typeface="Times New Roman" panose="02020603050405020304" pitchFamily="18" charset="0"/>
                <a:ea typeface="宋体" panose="02010600030101010101" pitchFamily="2" charset="-122"/>
              </a:rPr>
              <a:t>Z</a:t>
            </a:r>
            <a:r>
              <a:rPr lang="zh-CN" altLang="en-US" b="1" dirty="0">
                <a:solidFill>
                  <a:srgbClr val="FF0000"/>
                </a:solidFill>
                <a:latin typeface="Times New Roman" panose="02020603050405020304" pitchFamily="18" charset="0"/>
                <a:ea typeface="宋体" panose="02010600030101010101" pitchFamily="2" charset="-122"/>
              </a:rPr>
              <a:t>平面的单位圆</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3" name="对象 79876"/>
          <p:cNvGraphicFramePr/>
          <p:nvPr/>
        </p:nvGraphicFramePr>
        <p:xfrm>
          <a:off x="5830888" y="5105400"/>
          <a:ext cx="2078037" cy="968375"/>
        </p:xfrm>
        <a:graphic>
          <a:graphicData uri="http://schemas.openxmlformats.org/presentationml/2006/ole">
            <mc:AlternateContent xmlns:mc="http://schemas.openxmlformats.org/markup-compatibility/2006">
              <mc:Choice xmlns:v="urn:schemas-microsoft-com:vml" Requires="v">
                <p:oleObj spid="_x0000_s3178" name="" r:id="rId3" imgW="927100" imgH="431800" progId="Equation.3">
                  <p:embed/>
                </p:oleObj>
              </mc:Choice>
              <mc:Fallback>
                <p:oleObj name="" r:id="rId3" imgW="927100" imgH="431800" progId="Equation.3">
                  <p:embed/>
                  <p:pic>
                    <p:nvPicPr>
                      <p:cNvPr id="0" name="图片 3177"/>
                      <p:cNvPicPr/>
                      <p:nvPr/>
                    </p:nvPicPr>
                    <p:blipFill>
                      <a:blip r:embed="rId4"/>
                      <a:stretch>
                        <a:fillRect/>
                      </a:stretch>
                    </p:blipFill>
                    <p:spPr>
                      <a:xfrm>
                        <a:off x="5830888" y="5105400"/>
                        <a:ext cx="2078037" cy="968375"/>
                      </a:xfrm>
                      <a:prstGeom prst="rect">
                        <a:avLst/>
                      </a:prstGeom>
                      <a:solidFill>
                        <a:schemeClr val="accent1"/>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6156325" y="4221163"/>
            <a:ext cx="2520950" cy="936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 name="矩形 1"/>
          <p:cNvSpPr/>
          <p:nvPr/>
        </p:nvSpPr>
        <p:spPr>
          <a:xfrm>
            <a:off x="2843213" y="908050"/>
            <a:ext cx="936625" cy="3603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84995" name="文本框 82947"/>
          <p:cNvSpPr txBox="1"/>
          <p:nvPr/>
        </p:nvSpPr>
        <p:spPr>
          <a:xfrm>
            <a:off x="685800" y="838200"/>
            <a:ext cx="61658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其次，将</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σ</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代入式（</a:t>
            </a:r>
            <a:r>
              <a:rPr lang="en-US" altLang="zh-CN" dirty="0">
                <a:latin typeface="Times New Roman" panose="02020603050405020304" pitchFamily="18" charset="0"/>
                <a:ea typeface="宋体" panose="02010600030101010101" pitchFamily="2" charset="-122"/>
              </a:rPr>
              <a:t>5-44</a:t>
            </a:r>
            <a:r>
              <a:rPr lang="zh-CN" altLang="en-US" dirty="0">
                <a:latin typeface="Times New Roman" panose="02020603050405020304" pitchFamily="18" charset="0"/>
                <a:ea typeface="宋体" panose="02010600030101010101" pitchFamily="2" charset="-122"/>
              </a:rPr>
              <a:t>），得 </a:t>
            </a:r>
            <a:endParaRPr lang="zh-CN" altLang="en-US">
              <a:latin typeface="Times New Roman" panose="02020603050405020304" pitchFamily="18" charset="0"/>
              <a:ea typeface="宋体" panose="02010600030101010101" pitchFamily="2" charset="-122"/>
            </a:endParaRPr>
          </a:p>
        </p:txBody>
      </p:sp>
      <p:graphicFrame>
        <p:nvGraphicFramePr>
          <p:cNvPr id="84996" name="对象 82948"/>
          <p:cNvGraphicFramePr/>
          <p:nvPr/>
        </p:nvGraphicFramePr>
        <p:xfrm>
          <a:off x="5796280" y="1442085"/>
          <a:ext cx="2286000" cy="1677988"/>
        </p:xfrm>
        <a:graphic>
          <a:graphicData uri="http://schemas.openxmlformats.org/presentationml/2006/ole">
            <mc:AlternateContent xmlns:mc="http://schemas.openxmlformats.org/markup-compatibility/2006">
              <mc:Choice xmlns:v="urn:schemas-microsoft-com:vml" Requires="v">
                <p:oleObj spid="_x0000_s3176" name="" r:id="rId1" imgW="1002665" imgH="735965" progId="Equation.3">
                  <p:embed/>
                </p:oleObj>
              </mc:Choice>
              <mc:Fallback>
                <p:oleObj name="" r:id="rId1" imgW="1002665" imgH="735965" progId="Equation.3">
                  <p:embed/>
                  <p:pic>
                    <p:nvPicPr>
                      <p:cNvPr id="0" name="图片 3175"/>
                      <p:cNvPicPr/>
                      <p:nvPr/>
                    </p:nvPicPr>
                    <p:blipFill>
                      <a:blip r:embed="rId2"/>
                      <a:stretch>
                        <a:fillRect/>
                      </a:stretch>
                    </p:blipFill>
                    <p:spPr>
                      <a:xfrm>
                        <a:off x="5796280" y="1442085"/>
                        <a:ext cx="2286000" cy="1677988"/>
                      </a:xfrm>
                      <a:prstGeom prst="rect">
                        <a:avLst/>
                      </a:prstGeom>
                      <a:solidFill>
                        <a:schemeClr val="accent1"/>
                      </a:solidFill>
                      <a:ln w="38100">
                        <a:noFill/>
                        <a:miter/>
                      </a:ln>
                    </p:spPr>
                  </p:pic>
                </p:oleObj>
              </mc:Fallback>
            </mc:AlternateContent>
          </a:graphicData>
        </a:graphic>
      </p:graphicFrame>
      <p:sp>
        <p:nvSpPr>
          <p:cNvPr id="84997" name="文本框 82949"/>
          <p:cNvSpPr txBox="1"/>
          <p:nvPr/>
        </p:nvSpPr>
        <p:spPr>
          <a:xfrm>
            <a:off x="838200" y="3276600"/>
            <a:ext cx="869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因此 </a:t>
            </a:r>
            <a:endParaRPr lang="zh-CN" altLang="en-US">
              <a:latin typeface="Times New Roman" panose="02020603050405020304" pitchFamily="18" charset="0"/>
              <a:ea typeface="宋体" panose="02010600030101010101" pitchFamily="2" charset="-122"/>
            </a:endParaRPr>
          </a:p>
        </p:txBody>
      </p:sp>
      <p:graphicFrame>
        <p:nvGraphicFramePr>
          <p:cNvPr id="84998" name="对象 82950"/>
          <p:cNvGraphicFramePr/>
          <p:nvPr/>
        </p:nvGraphicFramePr>
        <p:xfrm>
          <a:off x="2092325" y="3644583"/>
          <a:ext cx="3352800" cy="2398712"/>
        </p:xfrm>
        <a:graphic>
          <a:graphicData uri="http://schemas.openxmlformats.org/presentationml/2006/ole">
            <mc:AlternateContent xmlns:mc="http://schemas.openxmlformats.org/markup-compatibility/2006">
              <mc:Choice xmlns:v="urn:schemas-microsoft-com:vml" Requires="v">
                <p:oleObj spid="_x0000_s3177" name="" r:id="rId3" imgW="1383665" imgH="989965" progId="Equation.3">
                  <p:embed/>
                </p:oleObj>
              </mc:Choice>
              <mc:Fallback>
                <p:oleObj name="" r:id="rId3" imgW="1383665" imgH="989965" progId="Equation.3">
                  <p:embed/>
                  <p:pic>
                    <p:nvPicPr>
                      <p:cNvPr id="0" name="图片 3176"/>
                      <p:cNvPicPr/>
                      <p:nvPr/>
                    </p:nvPicPr>
                    <p:blipFill>
                      <a:blip r:embed="rId4"/>
                      <a:stretch>
                        <a:fillRect/>
                      </a:stretch>
                    </p:blipFill>
                    <p:spPr>
                      <a:xfrm>
                        <a:off x="2092325" y="3644583"/>
                        <a:ext cx="3352800" cy="2398712"/>
                      </a:xfrm>
                      <a:prstGeom prst="rect">
                        <a:avLst/>
                      </a:prstGeom>
                      <a:solidFill>
                        <a:schemeClr val="accent1"/>
                      </a:solidFill>
                      <a:ln w="38100">
                        <a:noFill/>
                        <a:miter/>
                      </a:ln>
                    </p:spPr>
                  </p:pic>
                </p:oleObj>
              </mc:Fallback>
            </mc:AlternateContent>
          </a:graphicData>
        </a:graphic>
      </p:graphicFrame>
      <p:sp>
        <p:nvSpPr>
          <p:cNvPr id="3" name="文本框 2"/>
          <p:cNvSpPr txBox="1"/>
          <p:nvPr/>
        </p:nvSpPr>
        <p:spPr>
          <a:xfrm>
            <a:off x="6156008" y="4327843"/>
            <a:ext cx="2519362" cy="830262"/>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当</a:t>
            </a:r>
            <a:r>
              <a:rPr lang="en-US" altLang="zh-CN" i="1">
                <a:latin typeface="Times New Roman" panose="02020603050405020304" pitchFamily="18" charset="0"/>
                <a:ea typeface="宋体" panose="02010600030101010101" pitchFamily="2" charset="-122"/>
              </a:rPr>
              <a:t>σ</a:t>
            </a:r>
            <a:r>
              <a:rPr lang="en-US" altLang="zh-CN" dirty="0">
                <a:latin typeface="Times New Roman" panose="02020603050405020304" pitchFamily="18" charset="0"/>
                <a:ea typeface="宋体" panose="02010600030101010101" pitchFamily="2" charset="-122"/>
              </a:rPr>
              <a:t>&lt;0</a:t>
            </a:r>
            <a:r>
              <a:rPr lang="zh-CN" altLang="en-US" dirty="0">
                <a:latin typeface="Times New Roman" panose="02020603050405020304" pitchFamily="18" charset="0"/>
                <a:ea typeface="宋体" panose="02010600030101010101" pitchFamily="2" charset="-122"/>
              </a:rPr>
              <a:t>时， </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|&lt;1</a:t>
            </a:r>
            <a:r>
              <a:rPr lang="zh-CN" altLang="en-US">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a:p>
            <a:r>
              <a:rPr lang="zh-CN" altLang="en-US">
                <a:latin typeface="Times New Roman" panose="02020603050405020304" pitchFamily="18" charset="0"/>
                <a:ea typeface="宋体" panose="02010600030101010101" pitchFamily="2" charset="-122"/>
              </a:rPr>
              <a:t>当</a:t>
            </a:r>
            <a:r>
              <a:rPr lang="en-US" altLang="zh-CN" i="1">
                <a:latin typeface="Times New Roman" panose="02020603050405020304" pitchFamily="18" charset="0"/>
                <a:ea typeface="宋体" panose="02010600030101010101" pitchFamily="2" charset="-122"/>
              </a:rPr>
              <a:t>σ</a:t>
            </a:r>
            <a:r>
              <a:rPr lang="en-US" altLang="zh-CN" dirty="0">
                <a:latin typeface="Times New Roman" panose="02020603050405020304" pitchFamily="18" charset="0"/>
                <a:ea typeface="宋体" panose="02010600030101010101" pitchFamily="2" charset="-122"/>
              </a:rPr>
              <a:t>&gt;0</a:t>
            </a:r>
            <a:r>
              <a:rPr lang="zh-CN" altLang="en-US" dirty="0">
                <a:latin typeface="Times New Roman" panose="02020603050405020304" pitchFamily="18" charset="0"/>
                <a:ea typeface="宋体" panose="02010600030101010101" pitchFamily="2" charset="-122"/>
              </a:rPr>
              <a:t>时， </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|&gt;1</a:t>
            </a:r>
            <a:r>
              <a:rPr lang="zh-CN" altLang="en-US" dirty="0">
                <a:latin typeface="Times New Roman" panose="02020603050405020304" pitchFamily="18" charset="0"/>
                <a:ea typeface="宋体" panose="02010600030101010101" pitchFamily="2" charset="-122"/>
              </a:rPr>
              <a:t>。</a:t>
            </a:r>
            <a:endParaRPr lang="zh-CN" altLang="en-US">
              <a:latin typeface="Times New Roman" panose="02020603050405020304" pitchFamily="18" charset="0"/>
              <a:ea typeface="宋体" panose="02010600030101010101" pitchFamily="2" charset="-122"/>
            </a:endParaRPr>
          </a:p>
        </p:txBody>
      </p:sp>
      <p:graphicFrame>
        <p:nvGraphicFramePr>
          <p:cNvPr id="82951" name="对象 80905"/>
          <p:cNvGraphicFramePr/>
          <p:nvPr>
            <p:custDataLst>
              <p:tags r:id="rId5"/>
            </p:custDataLst>
          </p:nvPr>
        </p:nvGraphicFramePr>
        <p:xfrm>
          <a:off x="1403985" y="1371441"/>
          <a:ext cx="1430020" cy="1748790"/>
        </p:xfrm>
        <a:graphic>
          <a:graphicData uri="http://schemas.openxmlformats.org/presentationml/2006/ole">
            <mc:AlternateContent xmlns:mc="http://schemas.openxmlformats.org/markup-compatibility/2006">
              <mc:Choice xmlns:v="urn:schemas-microsoft-com:vml" Requires="v">
                <p:oleObj spid="_x0000_s3165" name="" r:id="rId6" imgW="622300" imgH="762000" progId="Equation.3">
                  <p:embed/>
                </p:oleObj>
              </mc:Choice>
              <mc:Fallback>
                <p:oleObj name="" r:id="rId6" imgW="622300" imgH="762000" progId="Equation.3">
                  <p:embed/>
                  <p:pic>
                    <p:nvPicPr>
                      <p:cNvPr id="0" name="图片 3164"/>
                      <p:cNvPicPr/>
                      <p:nvPr/>
                    </p:nvPicPr>
                    <p:blipFill>
                      <a:blip r:embed="rId7"/>
                      <a:stretch>
                        <a:fillRect/>
                      </a:stretch>
                    </p:blipFill>
                    <p:spPr>
                      <a:xfrm>
                        <a:off x="1403985" y="1371441"/>
                        <a:ext cx="1430020" cy="1748790"/>
                      </a:xfrm>
                      <a:prstGeom prst="rect">
                        <a:avLst/>
                      </a:prstGeom>
                      <a:solidFill>
                        <a:schemeClr val="accent1"/>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文本框 81923"/>
          <p:cNvSpPr txBox="1"/>
          <p:nvPr/>
        </p:nvSpPr>
        <p:spPr>
          <a:xfrm>
            <a:off x="447675" y="838200"/>
            <a:ext cx="8228013" cy="3743325"/>
          </a:xfrm>
          <a:prstGeom prst="rect">
            <a:avLst/>
          </a:prstGeom>
          <a:noFill/>
          <a:ln w="9525">
            <a:noFill/>
          </a:ln>
        </p:spPr>
        <p:txBody>
          <a:bodyPr anchor="t">
            <a:spAutoFit/>
          </a:bodyPr>
          <a:p>
            <a:pPr algn="just">
              <a:lnSpc>
                <a:spcPct val="200000"/>
              </a:lnSpc>
              <a:spcBef>
                <a:spcPct val="50000"/>
              </a:spcBef>
            </a:pPr>
            <a:r>
              <a:rPr lang="zh-CN" altLang="en-US" dirty="0">
                <a:latin typeface="Times New Roman" panose="02020603050405020304" pitchFamily="18" charset="0"/>
                <a:ea typeface="宋体" panose="02010600030101010101" pitchFamily="2" charset="-122"/>
              </a:rPr>
              <a:t>由此看出，当</a:t>
            </a:r>
            <a:r>
              <a:rPr lang="en-US" altLang="zh-CN" i="1">
                <a:latin typeface="Times New Roman" panose="02020603050405020304" pitchFamily="18" charset="0"/>
                <a:ea typeface="宋体" panose="02010600030101010101" pitchFamily="2" charset="-122"/>
              </a:rPr>
              <a:t>σ</a:t>
            </a:r>
            <a:r>
              <a:rPr lang="en-US" altLang="zh-CN" dirty="0">
                <a:latin typeface="Times New Roman" panose="02020603050405020304" pitchFamily="18" charset="0"/>
                <a:ea typeface="宋体" panose="02010600030101010101" pitchFamily="2" charset="-122"/>
              </a:rPr>
              <a:t>&lt;0</a:t>
            </a:r>
            <a:r>
              <a:rPr lang="zh-CN" altLang="en-US" dirty="0">
                <a:latin typeface="Times New Roman" panose="02020603050405020304" pitchFamily="18" charset="0"/>
                <a:ea typeface="宋体" panose="02010600030101010101" pitchFamily="2" charset="-122"/>
              </a:rPr>
              <a:t>时， </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|&lt;1</a:t>
            </a:r>
            <a:r>
              <a:rPr lang="zh-CN" altLang="en-US">
                <a:latin typeface="Times New Roman" panose="02020603050405020304" pitchFamily="18" charset="0"/>
                <a:ea typeface="宋体" panose="02010600030101010101" pitchFamily="2" charset="-122"/>
              </a:rPr>
              <a:t>；当</a:t>
            </a:r>
            <a:r>
              <a:rPr lang="en-US" altLang="zh-CN" i="1">
                <a:latin typeface="Times New Roman" panose="02020603050405020304" pitchFamily="18" charset="0"/>
                <a:ea typeface="宋体" panose="02010600030101010101" pitchFamily="2" charset="-122"/>
              </a:rPr>
              <a:t>σ</a:t>
            </a:r>
            <a:r>
              <a:rPr lang="en-US" altLang="zh-CN" dirty="0">
                <a:latin typeface="Times New Roman" panose="02020603050405020304" pitchFamily="18" charset="0"/>
                <a:ea typeface="宋体" panose="02010600030101010101" pitchFamily="2" charset="-122"/>
              </a:rPr>
              <a:t>&gt;0</a:t>
            </a:r>
            <a:r>
              <a:rPr lang="zh-CN" altLang="en-US" dirty="0">
                <a:latin typeface="Times New Roman" panose="02020603050405020304" pitchFamily="18" charset="0"/>
                <a:ea typeface="宋体" panose="02010600030101010101" pitchFamily="2" charset="-122"/>
              </a:rPr>
              <a:t>时，</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|&gt;1</a:t>
            </a:r>
            <a:r>
              <a:rPr lang="zh-CN" altLang="en-US" dirty="0">
                <a:latin typeface="Times New Roman" panose="02020603050405020304" pitchFamily="18" charset="0"/>
                <a:ea typeface="宋体" panose="02010600030101010101" pitchFamily="2" charset="-122"/>
              </a:rPr>
              <a:t>。也就是说，</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平面的左半平面映射到</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平面的单位圆内，</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平面的右半平面映射到</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平面的单位圆外，</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平面的虚轴映射到</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平面的单位圆上。因此，稳定的模拟滤波器经双线性变换后所得的数字滤波器也一定是稳</a:t>
            </a:r>
            <a:r>
              <a:rPr lang="zh-CN" altLang="en-US" dirty="0">
                <a:latin typeface="Times New Roman" panose="02020603050405020304" pitchFamily="18" charset="0"/>
                <a:ea typeface="宋体" panose="02010600030101010101" pitchFamily="2" charset="-122"/>
              </a:rPr>
              <a:t>定的。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文本框 84995"/>
          <p:cNvSpPr txBox="1"/>
          <p:nvPr/>
        </p:nvSpPr>
        <p:spPr>
          <a:xfrm>
            <a:off x="417513" y="549275"/>
            <a:ext cx="8231187" cy="3330575"/>
          </a:xfrm>
          <a:prstGeom prst="rect">
            <a:avLst/>
          </a:prstGeom>
          <a:noFill/>
          <a:ln w="9525">
            <a:noFill/>
          </a:ln>
        </p:spPr>
        <p:txBody>
          <a:bodyPr anchor="t">
            <a:spAutoFit/>
          </a:bodyPr>
          <a:p>
            <a:pPr algn="just">
              <a:lnSpc>
                <a:spcPct val="138000"/>
              </a:lnSpc>
              <a:spcBef>
                <a:spcPct val="50000"/>
              </a:spcBef>
            </a:pPr>
            <a:r>
              <a:rPr lang="en-US" altLang="zh-CN" b="1" dirty="0">
                <a:solidFill>
                  <a:srgbClr val="FF0000"/>
                </a:solidFill>
                <a:latin typeface="Times New Roman" panose="02020603050405020304" pitchFamily="18" charset="0"/>
                <a:ea typeface="宋体" panose="02010600030101010101" pitchFamily="2" charset="-122"/>
              </a:rPr>
              <a:t>5.5.3 </a:t>
            </a:r>
            <a:r>
              <a:rPr lang="zh-CN" altLang="en-US" b="1" dirty="0">
                <a:solidFill>
                  <a:srgbClr val="FF0000"/>
                </a:solidFill>
                <a:latin typeface="Times New Roman" panose="02020603050405020304" pitchFamily="18" charset="0"/>
                <a:ea typeface="宋体" panose="02010600030101010101" pitchFamily="2" charset="-122"/>
              </a:rPr>
              <a:t>优缺点</a:t>
            </a:r>
            <a:endParaRPr lang="zh-CN" altLang="en-US" b="1">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双线性变换法与脉冲响应不变法相比，其主要的</a:t>
            </a:r>
            <a:r>
              <a:rPr lang="zh-CN" altLang="en-US" b="1" dirty="0">
                <a:solidFill>
                  <a:srgbClr val="FF0000"/>
                </a:solidFill>
                <a:latin typeface="Times New Roman" panose="02020603050405020304" pitchFamily="18" charset="0"/>
                <a:ea typeface="宋体" panose="02010600030101010101" pitchFamily="2" charset="-122"/>
              </a:rPr>
              <a:t>优点是避免了频率响应的混叠现象</a:t>
            </a:r>
            <a:r>
              <a:rPr lang="zh-CN" altLang="en-US" dirty="0">
                <a:latin typeface="Times New Roman" panose="02020603050405020304" pitchFamily="18" charset="0"/>
                <a:ea typeface="宋体" panose="02010600030101010101" pitchFamily="2" charset="-122"/>
              </a:rPr>
              <a:t>。这是因为</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平面与</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平面是单值的一一对应关系。</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平面整个</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轴单值地对应于</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平面单位圆一周， 即频</a:t>
            </a:r>
            <a:r>
              <a:rPr lang="zh-CN" altLang="en-US" dirty="0">
                <a:latin typeface="Times New Roman" panose="02020603050405020304" pitchFamily="18" charset="0"/>
                <a:ea typeface="宋体" panose="02010600030101010101" pitchFamily="2" charset="-122"/>
              </a:rPr>
              <a:t>率轴是单值变换关系。这个关系如式（</a:t>
            </a:r>
            <a:r>
              <a:rPr lang="en-US" altLang="zh-CN" dirty="0">
                <a:latin typeface="Times New Roman" panose="02020603050405020304" pitchFamily="18" charset="0"/>
                <a:ea typeface="宋体" panose="02010600030101010101" pitchFamily="2" charset="-122"/>
              </a:rPr>
              <a:t>5-45</a:t>
            </a:r>
            <a:r>
              <a:rPr lang="zh-CN" altLang="en-US" dirty="0">
                <a:latin typeface="Times New Roman" panose="02020603050405020304" pitchFamily="18" charset="0"/>
                <a:ea typeface="宋体" panose="02010600030101010101" pitchFamily="2" charset="-122"/>
              </a:rPr>
              <a:t>）所示，重写如下： </a:t>
            </a:r>
            <a:endParaRPr lang="zh-CN" altLang="en-US">
              <a:latin typeface="Times New Roman" panose="02020603050405020304" pitchFamily="18" charset="0"/>
              <a:ea typeface="宋体" panose="02010600030101010101" pitchFamily="2" charset="-122"/>
            </a:endParaRPr>
          </a:p>
        </p:txBody>
      </p:sp>
      <p:graphicFrame>
        <p:nvGraphicFramePr>
          <p:cNvPr id="87042" name="对象 84996"/>
          <p:cNvGraphicFramePr/>
          <p:nvPr/>
        </p:nvGraphicFramePr>
        <p:xfrm>
          <a:off x="3635375" y="3644900"/>
          <a:ext cx="2133600" cy="981075"/>
        </p:xfrm>
        <a:graphic>
          <a:graphicData uri="http://schemas.openxmlformats.org/presentationml/2006/ole">
            <mc:AlternateContent xmlns:mc="http://schemas.openxmlformats.org/markup-compatibility/2006">
              <mc:Choice xmlns:v="urn:schemas-microsoft-com:vml" Requires="v">
                <p:oleObj spid="_x0000_s3180" name="" r:id="rId1" imgW="939165" imgH="431800" progId="Equation.3">
                  <p:embed/>
                </p:oleObj>
              </mc:Choice>
              <mc:Fallback>
                <p:oleObj name="" r:id="rId1" imgW="939165" imgH="431800" progId="Equation.3">
                  <p:embed/>
                  <p:pic>
                    <p:nvPicPr>
                      <p:cNvPr id="0" name="图片 3179"/>
                      <p:cNvPicPr/>
                      <p:nvPr/>
                    </p:nvPicPr>
                    <p:blipFill>
                      <a:blip r:embed="rId2"/>
                      <a:stretch>
                        <a:fillRect/>
                      </a:stretch>
                    </p:blipFill>
                    <p:spPr>
                      <a:xfrm>
                        <a:off x="3635375" y="3644900"/>
                        <a:ext cx="2133600" cy="981075"/>
                      </a:xfrm>
                      <a:prstGeom prst="rect">
                        <a:avLst/>
                      </a:prstGeom>
                      <a:solidFill>
                        <a:schemeClr val="accent1"/>
                      </a:solidFill>
                      <a:ln w="38100">
                        <a:noFill/>
                        <a:miter/>
                      </a:ln>
                    </p:spPr>
                  </p:pic>
                </p:oleObj>
              </mc:Fallback>
            </mc:AlternateContent>
          </a:graphicData>
        </a:graphic>
      </p:graphicFrame>
      <p:sp>
        <p:nvSpPr>
          <p:cNvPr id="87043" name="文本框 84997"/>
          <p:cNvSpPr txBox="1"/>
          <p:nvPr/>
        </p:nvSpPr>
        <p:spPr>
          <a:xfrm>
            <a:off x="395288" y="4652963"/>
            <a:ext cx="8253412" cy="1187450"/>
          </a:xfrm>
          <a:prstGeom prst="rect">
            <a:avLst/>
          </a:prstGeom>
          <a:noFill/>
          <a:ln w="9525">
            <a:noFill/>
          </a:ln>
        </p:spPr>
        <p:txBody>
          <a:bodyPr anchor="t">
            <a:spAutoFit/>
          </a:bodyPr>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上式表明，</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平面上</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与</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平面的</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成非线性的正切关系，如图</a:t>
            </a:r>
            <a:r>
              <a:rPr lang="en-US" altLang="zh-CN" dirty="0">
                <a:latin typeface="Times New Roman" panose="02020603050405020304" pitchFamily="18" charset="0"/>
                <a:ea typeface="宋体" panose="02010600030101010101" pitchFamily="2" charset="-122"/>
              </a:rPr>
              <a:t>5-13</a:t>
            </a:r>
            <a:r>
              <a:rPr lang="zh-CN" altLang="en-US" dirty="0">
                <a:latin typeface="Times New Roman" panose="02020603050405020304" pitchFamily="18" charset="0"/>
                <a:ea typeface="宋体" panose="02010600030101010101" pitchFamily="2" charset="-122"/>
              </a:rPr>
              <a:t>所示</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87044" name="文本框 84998"/>
          <p:cNvSpPr txBox="1"/>
          <p:nvPr/>
        </p:nvSpPr>
        <p:spPr>
          <a:xfrm>
            <a:off x="7432675" y="3952875"/>
            <a:ext cx="9461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(5-46)</a:t>
            </a:r>
            <a:endParaRPr lang="en-US" altLang="zh-CN" dirty="0">
              <a:latin typeface="Times New Roman" panose="02020603050405020304" pitchFamily="18" charset="0"/>
              <a:ea typeface="宋体" panose="02010600030101010101" pitchFamily="2" charset="-122"/>
            </a:endParaRPr>
          </a:p>
        </p:txBody>
      </p:sp>
      <p:sp>
        <p:nvSpPr>
          <p:cNvPr id="2" name="五角星 1"/>
          <p:cNvSpPr/>
          <p:nvPr/>
        </p:nvSpPr>
        <p:spPr>
          <a:xfrm>
            <a:off x="2916238" y="3789363"/>
            <a:ext cx="503238" cy="719138"/>
          </a:xfrm>
          <a:prstGeom prst="star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文本框 87043"/>
          <p:cNvSpPr txBox="1"/>
          <p:nvPr/>
        </p:nvSpPr>
        <p:spPr>
          <a:xfrm>
            <a:off x="2362200" y="5715000"/>
            <a:ext cx="5178425" cy="460375"/>
          </a:xfrm>
          <a:prstGeom prst="rect">
            <a:avLst/>
          </a:prstGeom>
          <a:noFill/>
          <a:ln w="9525">
            <a:noFill/>
          </a:ln>
        </p:spPr>
        <p:txBody>
          <a:bodyPr wrap="none" anchor="t">
            <a:spAutoFit/>
          </a:bodyPr>
          <a:p>
            <a:r>
              <a:rPr lang="zh-CN" altLang="en-US" b="1" dirty="0">
                <a:solidFill>
                  <a:srgbClr val="FF0000"/>
                </a:solidFill>
                <a:latin typeface="Times New Roman" panose="02020603050405020304" pitchFamily="18" charset="0"/>
                <a:ea typeface="宋体" panose="02010600030101010101" pitchFamily="2" charset="-122"/>
              </a:rPr>
              <a:t>图</a:t>
            </a:r>
            <a:r>
              <a:rPr lang="en-US" altLang="zh-CN" b="1" dirty="0">
                <a:solidFill>
                  <a:srgbClr val="FF0000"/>
                </a:solidFill>
                <a:latin typeface="Times New Roman" panose="02020603050405020304" pitchFamily="18" charset="0"/>
                <a:ea typeface="宋体" panose="02010600030101010101" pitchFamily="2" charset="-122"/>
              </a:rPr>
              <a:t>5-13 </a:t>
            </a:r>
            <a:r>
              <a:rPr lang="zh-CN" altLang="en-US" b="1" dirty="0">
                <a:solidFill>
                  <a:srgbClr val="FF0000"/>
                </a:solidFill>
                <a:latin typeface="Times New Roman" panose="02020603050405020304" pitchFamily="18" charset="0"/>
                <a:ea typeface="宋体" panose="02010600030101010101" pitchFamily="2" charset="-122"/>
              </a:rPr>
              <a:t>双线性变换法的频率变换关系</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pic>
        <p:nvPicPr>
          <p:cNvPr id="88066" name="图片 87046" descr="5-13"/>
          <p:cNvPicPr>
            <a:picLocks noChangeAspect="1"/>
          </p:cNvPicPr>
          <p:nvPr/>
        </p:nvPicPr>
        <p:blipFill>
          <a:blip r:embed="rId1"/>
          <a:stretch>
            <a:fillRect/>
          </a:stretch>
        </p:blipFill>
        <p:spPr>
          <a:xfrm>
            <a:off x="2686050" y="1125538"/>
            <a:ext cx="3771900" cy="4286250"/>
          </a:xfrm>
          <a:prstGeom prst="rect">
            <a:avLst/>
          </a:prstGeom>
          <a:noFill/>
          <a:ln w="9525">
            <a:noFill/>
          </a:ln>
        </p:spPr>
      </p:pic>
      <p:sp>
        <p:nvSpPr>
          <p:cNvPr id="2" name="圆角矩形 1"/>
          <p:cNvSpPr/>
          <p:nvPr/>
        </p:nvSpPr>
        <p:spPr>
          <a:xfrm>
            <a:off x="4383088" y="909638"/>
            <a:ext cx="1871663" cy="792163"/>
          </a:xfrm>
          <a:prstGeom prst="roundRect">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文本框 83971"/>
          <p:cNvSpPr txBox="1"/>
          <p:nvPr/>
        </p:nvSpPr>
        <p:spPr>
          <a:xfrm>
            <a:off x="539750" y="908050"/>
            <a:ext cx="8159750" cy="3768725"/>
          </a:xfrm>
          <a:prstGeom prst="rect">
            <a:avLst/>
          </a:prstGeom>
          <a:noFill/>
          <a:ln w="9525">
            <a:noFill/>
          </a:ln>
        </p:spPr>
        <p:txBody>
          <a:bodyPr anchor="t">
            <a:spAutoFit/>
          </a:bodyPr>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由图</a:t>
            </a:r>
            <a:r>
              <a:rPr lang="en-US" altLang="zh-CN" dirty="0">
                <a:latin typeface="Times New Roman" panose="02020603050405020304" pitchFamily="18" charset="0"/>
                <a:ea typeface="宋体" panose="02010600030101010101" pitchFamily="2" charset="-122"/>
              </a:rPr>
              <a:t>5-13</a:t>
            </a:r>
            <a:r>
              <a:rPr lang="zh-CN" altLang="en-US" dirty="0">
                <a:latin typeface="Times New Roman" panose="02020603050405020304" pitchFamily="18" charset="0"/>
                <a:ea typeface="宋体" panose="02010600030101010101" pitchFamily="2" charset="-122"/>
              </a:rPr>
              <a:t>看出，在零频率附近，模拟角频率</a:t>
            </a:r>
            <a:r>
              <a:rPr lang="en-US" altLang="zh-CN" dirty="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与数字频率</a:t>
            </a:r>
            <a:r>
              <a:rPr lang="en-US" altLang="zh-CN" dirty="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之间的变换关系接近于线性关系；但当</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进一步增加时，</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增长得越来越慢，最后当</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时，</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终止在折叠频率</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处，因而双线性变换就不会出现由于高频部分超过折叠频率而混淆到低频部分去的现象， 从而消除了频率混叠现象。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文本框 86019"/>
          <p:cNvSpPr txBox="1"/>
          <p:nvPr/>
        </p:nvSpPr>
        <p:spPr>
          <a:xfrm>
            <a:off x="395288" y="620713"/>
            <a:ext cx="8375650" cy="5630862"/>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但是双线性变换的这个特点是靠频率的严重</a:t>
            </a:r>
            <a:r>
              <a:rPr lang="zh-CN" altLang="en-US" b="1" dirty="0">
                <a:solidFill>
                  <a:srgbClr val="FF0000"/>
                </a:solidFill>
                <a:latin typeface="Times New Roman" panose="02020603050405020304" pitchFamily="18" charset="0"/>
                <a:ea typeface="宋体" panose="02010600030101010101" pitchFamily="2" charset="-122"/>
              </a:rPr>
              <a:t>非线性关系</a:t>
            </a:r>
            <a:r>
              <a:rPr lang="zh-CN" altLang="en-US" dirty="0">
                <a:latin typeface="Times New Roman" panose="02020603050405020304" pitchFamily="18" charset="0"/>
                <a:ea typeface="宋体" panose="02010600030101010101" pitchFamily="2" charset="-122"/>
              </a:rPr>
              <a:t>而得到的，如式（</a:t>
            </a:r>
            <a:r>
              <a:rPr lang="en-US" altLang="zh-CN" dirty="0">
                <a:latin typeface="Times New Roman" panose="02020603050405020304" pitchFamily="18" charset="0"/>
                <a:ea typeface="宋体" panose="02010600030101010101" pitchFamily="2" charset="-122"/>
              </a:rPr>
              <a:t>5-46</a:t>
            </a:r>
            <a:r>
              <a:rPr lang="zh-CN" altLang="en-US" dirty="0">
                <a:latin typeface="Times New Roman" panose="02020603050405020304" pitchFamily="18" charset="0"/>
                <a:ea typeface="宋体" panose="02010600030101010101" pitchFamily="2" charset="-122"/>
              </a:rPr>
              <a:t>）及图</a:t>
            </a:r>
            <a:r>
              <a:rPr lang="en-US" altLang="zh-CN" dirty="0">
                <a:latin typeface="Times New Roman" panose="02020603050405020304" pitchFamily="18" charset="0"/>
                <a:ea typeface="宋体" panose="02010600030101010101" pitchFamily="2" charset="-122"/>
              </a:rPr>
              <a:t>5-13</a:t>
            </a:r>
            <a:r>
              <a:rPr lang="zh-CN" altLang="en-US" dirty="0">
                <a:latin typeface="Times New Roman" panose="02020603050405020304" pitchFamily="18" charset="0"/>
                <a:ea typeface="宋体" panose="02010600030101010101" pitchFamily="2" charset="-122"/>
              </a:rPr>
              <a:t>所示。由于这种频率之间的非线性变换关系，就产生了新的问题。首先，一个线性相位的模拟滤波器</a:t>
            </a:r>
            <a:r>
              <a:rPr lang="zh-CN" altLang="en-US" b="1" u="sng" dirty="0">
                <a:solidFill>
                  <a:srgbClr val="FF0000"/>
                </a:solidFill>
                <a:latin typeface="Times New Roman" panose="02020603050405020304" pitchFamily="18" charset="0"/>
                <a:ea typeface="宋体" panose="02010600030101010101" pitchFamily="2" charset="-122"/>
              </a:rPr>
              <a:t>经双线性变换后得到非线性相位的数字滤波器</a:t>
            </a:r>
            <a:r>
              <a:rPr lang="zh-CN" altLang="en-US" dirty="0">
                <a:latin typeface="Times New Roman" panose="02020603050405020304" pitchFamily="18" charset="0"/>
                <a:ea typeface="宋体" panose="02010600030101010101" pitchFamily="2" charset="-122"/>
              </a:rPr>
              <a:t>，不再保持原有的线性相位了；其次，这种非线性关系要求</a:t>
            </a:r>
            <a:r>
              <a:rPr lang="zh-CN" altLang="en-US" b="1" u="sng" dirty="0">
                <a:solidFill>
                  <a:srgbClr val="FF0000"/>
                </a:solidFill>
                <a:latin typeface="Times New Roman" panose="02020603050405020304" pitchFamily="18" charset="0"/>
                <a:ea typeface="宋体" panose="02010600030101010101" pitchFamily="2" charset="-122"/>
              </a:rPr>
              <a:t>模拟滤波器的幅频响应必须是分段常数型的</a:t>
            </a:r>
            <a:r>
              <a:rPr lang="zh-CN" altLang="en-US" dirty="0">
                <a:latin typeface="Times New Roman" panose="02020603050405020304" pitchFamily="18" charset="0"/>
                <a:ea typeface="宋体" panose="02010600030101010101" pitchFamily="2" charset="-122"/>
              </a:rPr>
              <a:t>，即某一频率段的幅频响应近似等于某一常数（这正是一般典型的低通、高通、带通、带阻型滤波器的响应特性），不然变换所产生的数字滤波器幅频响应相对于原模拟滤波器的幅频响应会有畸变，如图 </a:t>
            </a:r>
            <a:r>
              <a:rPr lang="en-US" altLang="zh-CN" dirty="0">
                <a:latin typeface="Times New Roman" panose="02020603050405020304" pitchFamily="18" charset="0"/>
                <a:ea typeface="宋体" panose="02010600030101010101" pitchFamily="2" charset="-122"/>
              </a:rPr>
              <a:t>5-14 </a:t>
            </a:r>
            <a:r>
              <a:rPr lang="zh-CN" altLang="en-US" dirty="0">
                <a:latin typeface="Times New Roman" panose="02020603050405020304" pitchFamily="18" charset="0"/>
                <a:ea typeface="宋体" panose="02010600030101010101" pitchFamily="2" charset="-122"/>
              </a:rPr>
              <a:t>所示。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ontrols>
      <mc:AlternateContent xmlns:mc="http://schemas.openxmlformats.org/markup-compatibility/2006">
        <mc:Choice xmlns:v="urn:schemas-microsoft-com:vml" Requires="v">
          <p:control spid="5123" name="ShockwaveFlash1" r:id="rId1" imgW="9138920" imgH="6398895"/>
        </mc:Choice>
        <mc:Fallback>
          <p:control name="ShockwaveFlash1" r:id="rId1" imgW="9138920" imgH="6398895">
            <p:pic>
              <p:nvPicPr>
                <p:cNvPr id="0" name="ShockwaveFlash1"/>
                <p:cNvPicPr/>
                <p:nvPr/>
              </p:nvPicPr>
              <p:blipFill>
                <a:blip r:embed="rId2"/>
                <a:stretch>
                  <a:fillRect/>
                </a:stretch>
              </p:blipFill>
              <p:spPr>
                <a:xfrm>
                  <a:off x="0" y="476885"/>
                  <a:ext cx="9138920" cy="6398895"/>
                </a:xfrm>
                <a:prstGeom prst="rect">
                  <a:avLst/>
                </a:prstGeom>
                <a:noFill/>
                <a:ln w="9525">
                  <a:noFill/>
                </a:ln>
              </p:spPr>
            </p:pic>
          </p:control>
        </mc:Fallback>
      </mc:AlternateContent>
    </p:controls>
  </p:cSld>
  <p:clrMapOvr>
    <a:masterClrMapping/>
  </p:clrMapOvr>
  <p:transition>
    <p:blinds/>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文本框 88067"/>
          <p:cNvSpPr txBox="1"/>
          <p:nvPr/>
        </p:nvSpPr>
        <p:spPr>
          <a:xfrm>
            <a:off x="395288" y="981075"/>
            <a:ext cx="8231187" cy="3155950"/>
          </a:xfrm>
          <a:prstGeom prst="rect">
            <a:avLst/>
          </a:prstGeom>
          <a:noFill/>
          <a:ln w="9525">
            <a:noFill/>
          </a:ln>
        </p:spPr>
        <p:txBody>
          <a:bodyPr anchor="t">
            <a:spAutoFit/>
          </a:bodyPr>
          <a:p>
            <a:pPr algn="just">
              <a:lnSpc>
                <a:spcPct val="16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对于分段常数的滤波器，双线性变换后，仍得到幅频特性为分段常数的滤波器，但是各个分段边缘的临界频率点产生了畸变， 这种频率的畸变，可以通过频率的预畸来加以校正。也就是将临界模拟频率事先加以畸变， 然后经变换后正好映射到所需要的数字频</a:t>
            </a:r>
            <a:r>
              <a:rPr lang="zh-CN" altLang="en-US" dirty="0">
                <a:latin typeface="Times New Roman" panose="02020603050405020304" pitchFamily="18" charset="0"/>
                <a:ea typeface="宋体" panose="02010600030101010101" pitchFamily="2" charset="-122"/>
              </a:rPr>
              <a:t>率上。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文本框 91139"/>
          <p:cNvSpPr txBox="1"/>
          <p:nvPr/>
        </p:nvSpPr>
        <p:spPr>
          <a:xfrm>
            <a:off x="228600" y="533400"/>
            <a:ext cx="8686800" cy="2790825"/>
          </a:xfrm>
          <a:prstGeom prst="rect">
            <a:avLst/>
          </a:prstGeom>
          <a:noFill/>
          <a:ln w="9525">
            <a:noFill/>
          </a:ln>
        </p:spPr>
        <p:txBody>
          <a:bodyPr anchor="t">
            <a:spAutoFit/>
          </a:bodyPr>
          <a:p>
            <a:pPr algn="just">
              <a:lnSpc>
                <a:spcPct val="138000"/>
              </a:lnSpc>
              <a:spcBef>
                <a:spcPct val="50000"/>
              </a:spcBef>
            </a:pPr>
            <a:r>
              <a:rPr lang="en-US" altLang="zh-CN" b="1" dirty="0">
                <a:latin typeface="Times New Roman" panose="02020603050405020304" pitchFamily="18" charset="0"/>
                <a:ea typeface="宋体" panose="02010600030101010101" pitchFamily="2" charset="-122"/>
              </a:rPr>
              <a:t>5.5.4 </a:t>
            </a:r>
            <a:r>
              <a:rPr lang="zh-CN" altLang="en-US" b="1" dirty="0">
                <a:latin typeface="Times New Roman" panose="02020603050405020304" pitchFamily="18" charset="0"/>
                <a:ea typeface="宋体" panose="02010600030101010101" pitchFamily="2" charset="-122"/>
              </a:rPr>
              <a:t>模拟滤波器的数字化方法</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双线性变换法比起脉冲响应不变法来，在设计和运算上也比较直接和简单。由于双线性变换法中，</a:t>
            </a:r>
            <a:r>
              <a:rPr lang="en-US" altLang="zh-CN" i="1">
                <a:latin typeface="Times New Roman" panose="02020603050405020304" pitchFamily="18" charset="0"/>
                <a:ea typeface="宋体" panose="02010600030101010101" pitchFamily="2" charset="-122"/>
              </a:rPr>
              <a:t>s</a:t>
            </a:r>
            <a:r>
              <a:rPr lang="zh-CN" altLang="en-US">
                <a:latin typeface="Times New Roman" panose="02020603050405020304" pitchFamily="18" charset="0"/>
                <a:ea typeface="宋体" panose="02010600030101010101" pitchFamily="2" charset="-122"/>
              </a:rPr>
              <a:t>到</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之间的变换是简单的代数关系，所以可以直接将式（</a:t>
            </a:r>
            <a:r>
              <a:rPr lang="en-US" altLang="zh-CN" dirty="0">
                <a:latin typeface="Times New Roman" panose="02020603050405020304" pitchFamily="18" charset="0"/>
                <a:ea typeface="宋体" panose="02010600030101010101" pitchFamily="2" charset="-122"/>
              </a:rPr>
              <a:t>5-43</a:t>
            </a:r>
            <a:r>
              <a:rPr lang="zh-CN" altLang="en-US" dirty="0">
                <a:latin typeface="Times New Roman" panose="02020603050405020304" pitchFamily="18" charset="0"/>
                <a:ea typeface="宋体" panose="02010600030101010101" pitchFamily="2" charset="-122"/>
              </a:rPr>
              <a:t>）代入到模</a:t>
            </a:r>
            <a:r>
              <a:rPr lang="zh-CN" altLang="en-US" dirty="0">
                <a:latin typeface="Times New Roman" panose="02020603050405020304" pitchFamily="18" charset="0"/>
                <a:ea typeface="宋体" panose="02010600030101010101" pitchFamily="2" charset="-122"/>
              </a:rPr>
              <a:t>拟系统传递函数， 得到数字滤波器的系统函数， 即 </a:t>
            </a:r>
            <a:endParaRPr lang="zh-CN" altLang="en-US">
              <a:latin typeface="Times New Roman" panose="02020603050405020304" pitchFamily="18" charset="0"/>
              <a:ea typeface="宋体" panose="02010600030101010101" pitchFamily="2" charset="-122"/>
            </a:endParaRPr>
          </a:p>
        </p:txBody>
      </p:sp>
      <p:graphicFrame>
        <p:nvGraphicFramePr>
          <p:cNvPr id="93186" name="对象 91140"/>
          <p:cNvGraphicFramePr/>
          <p:nvPr/>
        </p:nvGraphicFramePr>
        <p:xfrm>
          <a:off x="1981200" y="3352800"/>
          <a:ext cx="5029200" cy="1039813"/>
        </p:xfrm>
        <a:graphic>
          <a:graphicData uri="http://schemas.openxmlformats.org/presentationml/2006/ole">
            <mc:AlternateContent xmlns:mc="http://schemas.openxmlformats.org/markup-compatibility/2006">
              <mc:Choice xmlns:v="urn:schemas-microsoft-com:vml" Requires="v">
                <p:oleObj spid="_x0000_s3183" name="" r:id="rId1" imgW="2335530" imgH="482600" progId="Equation.3">
                  <p:embed/>
                </p:oleObj>
              </mc:Choice>
              <mc:Fallback>
                <p:oleObj name="" r:id="rId1" imgW="2335530" imgH="482600" progId="Equation.3">
                  <p:embed/>
                  <p:pic>
                    <p:nvPicPr>
                      <p:cNvPr id="0" name="图片 3182"/>
                      <p:cNvPicPr/>
                      <p:nvPr/>
                    </p:nvPicPr>
                    <p:blipFill>
                      <a:blip r:embed="rId2"/>
                      <a:stretch>
                        <a:fillRect/>
                      </a:stretch>
                    </p:blipFill>
                    <p:spPr>
                      <a:xfrm>
                        <a:off x="1981200" y="3352800"/>
                        <a:ext cx="5029200" cy="1039813"/>
                      </a:xfrm>
                      <a:prstGeom prst="rect">
                        <a:avLst/>
                      </a:prstGeom>
                      <a:solidFill>
                        <a:schemeClr val="accent1"/>
                      </a:solidFill>
                      <a:ln w="38100">
                        <a:noFill/>
                        <a:miter/>
                      </a:ln>
                    </p:spPr>
                  </p:pic>
                </p:oleObj>
              </mc:Fallback>
            </mc:AlternateContent>
          </a:graphicData>
        </a:graphic>
      </p:graphicFrame>
      <p:sp>
        <p:nvSpPr>
          <p:cNvPr id="93187" name="文本框 91141"/>
          <p:cNvSpPr txBox="1"/>
          <p:nvPr/>
        </p:nvSpPr>
        <p:spPr>
          <a:xfrm>
            <a:off x="228600" y="4419600"/>
            <a:ext cx="5137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频率响应也可用直接代换的方法得到 </a:t>
            </a:r>
            <a:endParaRPr lang="zh-CN" altLang="en-US">
              <a:latin typeface="Times New Roman" panose="02020603050405020304" pitchFamily="18" charset="0"/>
              <a:ea typeface="宋体" panose="02010600030101010101" pitchFamily="2" charset="-122"/>
            </a:endParaRPr>
          </a:p>
        </p:txBody>
      </p:sp>
      <p:sp>
        <p:nvSpPr>
          <p:cNvPr id="93188" name="文本框 91143"/>
          <p:cNvSpPr txBox="1"/>
          <p:nvPr/>
        </p:nvSpPr>
        <p:spPr>
          <a:xfrm>
            <a:off x="7715250" y="36576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5-47</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93189" name="文本框 91144"/>
          <p:cNvSpPr txBox="1"/>
          <p:nvPr/>
        </p:nvSpPr>
        <p:spPr>
          <a:xfrm>
            <a:off x="7715250" y="51816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5-48</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93190" name="对象 91145"/>
          <p:cNvGraphicFramePr/>
          <p:nvPr/>
        </p:nvGraphicFramePr>
        <p:xfrm>
          <a:off x="1979613" y="5013325"/>
          <a:ext cx="5256212" cy="955675"/>
        </p:xfrm>
        <a:graphic>
          <a:graphicData uri="http://schemas.openxmlformats.org/presentationml/2006/ole">
            <mc:AlternateContent xmlns:mc="http://schemas.openxmlformats.org/markup-compatibility/2006">
              <mc:Choice xmlns:v="urn:schemas-microsoft-com:vml" Requires="v">
                <p:oleObj spid="_x0000_s3181" name="" r:id="rId3" imgW="1953895" imgH="355600" progId="Equation.3">
                  <p:embed/>
                </p:oleObj>
              </mc:Choice>
              <mc:Fallback>
                <p:oleObj name="" r:id="rId3" imgW="1953895" imgH="355600" progId="Equation.3">
                  <p:embed/>
                  <p:pic>
                    <p:nvPicPr>
                      <p:cNvPr id="0" name="图片 3180"/>
                      <p:cNvPicPr/>
                      <p:nvPr/>
                    </p:nvPicPr>
                    <p:blipFill>
                      <a:blip r:embed="rId4"/>
                      <a:stretch>
                        <a:fillRect/>
                      </a:stretch>
                    </p:blipFill>
                    <p:spPr>
                      <a:xfrm>
                        <a:off x="1979613" y="5013325"/>
                        <a:ext cx="5256212" cy="955675"/>
                      </a:xfrm>
                      <a:prstGeom prst="rect">
                        <a:avLst/>
                      </a:prstGeom>
                      <a:solidFill>
                        <a:schemeClr val="accent1"/>
                      </a:solidFill>
                      <a:ln w="38100">
                        <a:noFill/>
                        <a:miter/>
                      </a:ln>
                    </p:spPr>
                  </p:pic>
                </p:oleObj>
              </mc:Fallback>
            </mc:AlternateContent>
          </a:graphicData>
        </a:graphic>
      </p:graphicFrame>
      <p:sp>
        <p:nvSpPr>
          <p:cNvPr id="2" name="矩形 1"/>
          <p:cNvSpPr/>
          <p:nvPr/>
        </p:nvSpPr>
        <p:spPr>
          <a:xfrm>
            <a:off x="3851275" y="3717925"/>
            <a:ext cx="936625" cy="647700"/>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 name="矩形 2"/>
          <p:cNvSpPr/>
          <p:nvPr/>
        </p:nvSpPr>
        <p:spPr>
          <a:xfrm>
            <a:off x="4027488" y="5319713"/>
            <a:ext cx="936625" cy="649288"/>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1"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ldLvl="0" animBg="1"/>
      <p:bldP spid="2" grpId="1"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文本框 90115"/>
          <p:cNvSpPr txBox="1"/>
          <p:nvPr/>
        </p:nvSpPr>
        <p:spPr>
          <a:xfrm>
            <a:off x="444500" y="560388"/>
            <a:ext cx="8304213" cy="5532437"/>
          </a:xfrm>
          <a:prstGeom prst="rect">
            <a:avLst/>
          </a:prstGeom>
          <a:noFill/>
          <a:ln w="9525">
            <a:noFill/>
          </a:ln>
        </p:spPr>
        <p:txBody>
          <a:bodyPr anchor="t">
            <a:spAutoFit/>
          </a:bodyPr>
          <a:p>
            <a:pPr algn="just">
              <a:lnSpc>
                <a:spcPct val="12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应用式（</a:t>
            </a:r>
            <a:r>
              <a:rPr lang="en-US" altLang="zh-CN" dirty="0">
                <a:latin typeface="Times New Roman" panose="02020603050405020304" pitchFamily="18" charset="0"/>
                <a:ea typeface="宋体" panose="02010600030101010101" pitchFamily="2" charset="-122"/>
              </a:rPr>
              <a:t>5-47</a:t>
            </a:r>
            <a:r>
              <a:rPr lang="zh-CN" altLang="en-US" dirty="0">
                <a:latin typeface="Times New Roman" panose="02020603050405020304" pitchFamily="18" charset="0"/>
                <a:ea typeface="宋体" panose="02010600030101010101" pitchFamily="2" charset="-122"/>
              </a:rPr>
              <a:t>）求</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时，若阶数较高，这时将</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整理成需要的形式，就不是一件简单的工作。</a:t>
            </a:r>
            <a:endParaRPr lang="zh-CN" altLang="en-US" dirty="0">
              <a:latin typeface="Times New Roman" panose="02020603050405020304" pitchFamily="18" charset="0"/>
              <a:ea typeface="宋体" panose="02010600030101010101" pitchFamily="2" charset="-122"/>
            </a:endParaRPr>
          </a:p>
          <a:p>
            <a:pPr algn="just">
              <a:lnSpc>
                <a:spcPct val="120000"/>
              </a:lnSpc>
              <a:spcBef>
                <a:spcPct val="50000"/>
              </a:spcBef>
            </a:pPr>
            <a:r>
              <a:rPr lang="zh-CN" altLang="en-US" dirty="0">
                <a:latin typeface="Times New Roman" panose="02020603050405020304" pitchFamily="18" charset="0"/>
                <a:ea typeface="宋体" panose="02010600030101010101" pitchFamily="2" charset="-122"/>
              </a:rPr>
              <a:t>        为简化设计，一方面，可以先将模拟系统函数分解成并联的子系统函数（子系统函数相加）或级联的子系统函数（子系统函数相乘），使每个子系统函数都变成低阶的（例如一、二阶的），然后再对每个子系统函数分别采用双线性变换。也就是说，分解为低阶的方法是在模拟系统函数上进行的，而模拟系统函数的分解已有大量的图表可以利用，分解起来比较方便。另一方面，可用表格的方法来完成双线性变换设计，即预先求出双线性变换法中离散系统函</a:t>
            </a:r>
            <a:r>
              <a:rPr lang="zh-CN" altLang="en-US" dirty="0">
                <a:latin typeface="Times New Roman" panose="02020603050405020304" pitchFamily="18" charset="0"/>
                <a:ea typeface="宋体" panose="02010600030101010101" pitchFamily="2" charset="-122"/>
              </a:rPr>
              <a:t>数的系数与模拟系统函数的系数之间的关系式，并列成表格，便可利用表格进行设计了。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文本框 93187"/>
          <p:cNvSpPr txBox="1"/>
          <p:nvPr/>
        </p:nvSpPr>
        <p:spPr>
          <a:xfrm>
            <a:off x="457200" y="609600"/>
            <a:ext cx="3929063" cy="460375"/>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设</a:t>
            </a:r>
            <a:r>
              <a:rPr lang="zh-CN" altLang="en-US" b="1" dirty="0">
                <a:solidFill>
                  <a:srgbClr val="FF0000"/>
                </a:solidFill>
                <a:latin typeface="Times New Roman" panose="02020603050405020304" pitchFamily="18" charset="0"/>
                <a:ea typeface="宋体" panose="02010600030101010101" pitchFamily="2" charset="-122"/>
              </a:rPr>
              <a:t>模拟系统函数的表达式</a:t>
            </a:r>
            <a:r>
              <a:rPr lang="zh-CN" altLang="en-US" dirty="0">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graphicFrame>
        <p:nvGraphicFramePr>
          <p:cNvPr id="95234" name="对象 93188"/>
          <p:cNvGraphicFramePr/>
          <p:nvPr/>
        </p:nvGraphicFramePr>
        <p:xfrm>
          <a:off x="1548130" y="1094105"/>
          <a:ext cx="6248400" cy="1703070"/>
        </p:xfrm>
        <a:graphic>
          <a:graphicData uri="http://schemas.openxmlformats.org/presentationml/2006/ole">
            <mc:AlternateContent xmlns:mc="http://schemas.openxmlformats.org/markup-compatibility/2006">
              <mc:Choice xmlns:v="urn:schemas-microsoft-com:vml" Requires="v">
                <p:oleObj spid="_x0000_s3182" name="" r:id="rId1" imgW="2882900" imgH="838200" progId="Equation.3">
                  <p:embed/>
                </p:oleObj>
              </mc:Choice>
              <mc:Fallback>
                <p:oleObj name="" r:id="rId1" imgW="2882900" imgH="838200" progId="Equation.3">
                  <p:embed/>
                  <p:pic>
                    <p:nvPicPr>
                      <p:cNvPr id="0" name="图片 3181"/>
                      <p:cNvPicPr/>
                      <p:nvPr/>
                    </p:nvPicPr>
                    <p:blipFill>
                      <a:blip r:embed="rId2"/>
                      <a:stretch>
                        <a:fillRect/>
                      </a:stretch>
                    </p:blipFill>
                    <p:spPr>
                      <a:xfrm>
                        <a:off x="1548130" y="1094105"/>
                        <a:ext cx="6248400" cy="1703070"/>
                      </a:xfrm>
                      <a:prstGeom prst="rect">
                        <a:avLst/>
                      </a:prstGeom>
                      <a:solidFill>
                        <a:schemeClr val="accent1"/>
                      </a:solidFill>
                      <a:ln w="38100">
                        <a:noFill/>
                        <a:miter/>
                      </a:ln>
                    </p:spPr>
                  </p:pic>
                </p:oleObj>
              </mc:Fallback>
            </mc:AlternateContent>
          </a:graphicData>
        </a:graphic>
      </p:graphicFrame>
      <p:sp>
        <p:nvSpPr>
          <p:cNvPr id="95235" name="文本框 93189"/>
          <p:cNvSpPr txBox="1"/>
          <p:nvPr/>
        </p:nvSpPr>
        <p:spPr>
          <a:xfrm>
            <a:off x="8028940" y="1628458"/>
            <a:ext cx="1173480" cy="460375"/>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(5-49)</a:t>
            </a:r>
            <a:endParaRPr lang="en-US" altLang="zh-CN" dirty="0">
              <a:latin typeface="Times New Roman" panose="02020603050405020304" pitchFamily="18" charset="0"/>
              <a:ea typeface="宋体" panose="02010600030101010101" pitchFamily="2" charset="-122"/>
            </a:endParaRPr>
          </a:p>
        </p:txBody>
      </p:sp>
      <p:sp>
        <p:nvSpPr>
          <p:cNvPr id="95236" name="文本框 93190"/>
          <p:cNvSpPr txBox="1"/>
          <p:nvPr/>
        </p:nvSpPr>
        <p:spPr>
          <a:xfrm>
            <a:off x="457200" y="2971800"/>
            <a:ext cx="2647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应用式（</a:t>
            </a:r>
            <a:r>
              <a:rPr lang="en-US" altLang="zh-CN" dirty="0">
                <a:latin typeface="Times New Roman" panose="02020603050405020304" pitchFamily="18" charset="0"/>
                <a:ea typeface="宋体" panose="02010600030101010101" pitchFamily="2" charset="-122"/>
              </a:rPr>
              <a:t>5-47</a:t>
            </a:r>
            <a:r>
              <a:rPr lang="zh-CN" altLang="en-US" dirty="0">
                <a:latin typeface="Times New Roman" panose="02020603050405020304" pitchFamily="18" charset="0"/>
                <a:ea typeface="宋体" panose="02010600030101010101" pitchFamily="2" charset="-122"/>
              </a:rPr>
              <a:t>）式 </a:t>
            </a:r>
            <a:endParaRPr lang="zh-CN" altLang="en-US">
              <a:latin typeface="Times New Roman" panose="02020603050405020304" pitchFamily="18" charset="0"/>
              <a:ea typeface="宋体" panose="02010600030101010101" pitchFamily="2" charset="-122"/>
            </a:endParaRPr>
          </a:p>
        </p:txBody>
      </p:sp>
      <p:graphicFrame>
        <p:nvGraphicFramePr>
          <p:cNvPr id="95237" name="对象 93191"/>
          <p:cNvGraphicFramePr/>
          <p:nvPr/>
        </p:nvGraphicFramePr>
        <p:xfrm>
          <a:off x="1981200" y="3563938"/>
          <a:ext cx="3276600" cy="931862"/>
        </p:xfrm>
        <a:graphic>
          <a:graphicData uri="http://schemas.openxmlformats.org/presentationml/2006/ole">
            <mc:AlternateContent xmlns:mc="http://schemas.openxmlformats.org/markup-compatibility/2006">
              <mc:Choice xmlns:v="urn:schemas-microsoft-com:vml" Requires="v">
                <p:oleObj spid="_x0000_s3184" name="" r:id="rId3" imgW="1295400" imgH="368300" progId="Equation.3">
                  <p:embed/>
                </p:oleObj>
              </mc:Choice>
              <mc:Fallback>
                <p:oleObj name="" r:id="rId3" imgW="1295400" imgH="368300" progId="Equation.3">
                  <p:embed/>
                  <p:pic>
                    <p:nvPicPr>
                      <p:cNvPr id="0" name="图片 3183"/>
                      <p:cNvPicPr/>
                      <p:nvPr/>
                    </p:nvPicPr>
                    <p:blipFill>
                      <a:blip r:embed="rId4"/>
                      <a:stretch>
                        <a:fillRect/>
                      </a:stretch>
                    </p:blipFill>
                    <p:spPr>
                      <a:xfrm>
                        <a:off x="1981200" y="3563938"/>
                        <a:ext cx="3276600" cy="931862"/>
                      </a:xfrm>
                      <a:prstGeom prst="rect">
                        <a:avLst/>
                      </a:prstGeom>
                      <a:solidFill>
                        <a:schemeClr val="accent1"/>
                      </a:solidFill>
                      <a:ln w="38100">
                        <a:noFill/>
                        <a:miter/>
                      </a:ln>
                    </p:spPr>
                  </p:pic>
                </p:oleObj>
              </mc:Fallback>
            </mc:AlternateContent>
          </a:graphicData>
        </a:graphic>
      </p:graphicFrame>
      <p:graphicFrame>
        <p:nvGraphicFramePr>
          <p:cNvPr id="95238" name="对象 93192"/>
          <p:cNvGraphicFramePr/>
          <p:nvPr/>
        </p:nvGraphicFramePr>
        <p:xfrm>
          <a:off x="6324600" y="3487738"/>
          <a:ext cx="977900" cy="892175"/>
        </p:xfrm>
        <a:graphic>
          <a:graphicData uri="http://schemas.openxmlformats.org/presentationml/2006/ole">
            <mc:AlternateContent xmlns:mc="http://schemas.openxmlformats.org/markup-compatibility/2006">
              <mc:Choice xmlns:v="urn:schemas-microsoft-com:vml" Requires="v">
                <p:oleObj spid="_x0000_s3185" name="" r:id="rId5" imgW="431800" imgH="393700" progId="Equation.3">
                  <p:embed/>
                </p:oleObj>
              </mc:Choice>
              <mc:Fallback>
                <p:oleObj name="" r:id="rId5" imgW="431800" imgH="393700" progId="Equation.3">
                  <p:embed/>
                  <p:pic>
                    <p:nvPicPr>
                      <p:cNvPr id="0" name="图片 3184"/>
                      <p:cNvPicPr/>
                      <p:nvPr/>
                    </p:nvPicPr>
                    <p:blipFill>
                      <a:blip r:embed="rId6"/>
                      <a:stretch>
                        <a:fillRect/>
                      </a:stretch>
                    </p:blipFill>
                    <p:spPr>
                      <a:xfrm>
                        <a:off x="6324600" y="3487738"/>
                        <a:ext cx="977900" cy="892175"/>
                      </a:xfrm>
                      <a:prstGeom prst="rect">
                        <a:avLst/>
                      </a:prstGeom>
                      <a:solidFill>
                        <a:schemeClr val="accent1"/>
                      </a:solidFill>
                      <a:ln w="38100">
                        <a:noFill/>
                        <a:miter/>
                      </a:ln>
                    </p:spPr>
                  </p:pic>
                </p:oleObj>
              </mc:Fallback>
            </mc:AlternateContent>
          </a:graphicData>
        </a:graphic>
      </p:graphicFrame>
      <p:sp>
        <p:nvSpPr>
          <p:cNvPr id="95239" name="文本框 93193"/>
          <p:cNvSpPr txBox="1"/>
          <p:nvPr/>
        </p:nvSpPr>
        <p:spPr>
          <a:xfrm>
            <a:off x="517525" y="4460875"/>
            <a:ext cx="565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得 </a:t>
            </a:r>
            <a:endParaRPr lang="zh-CN" altLang="en-US">
              <a:latin typeface="Times New Roman" panose="02020603050405020304" pitchFamily="18" charset="0"/>
              <a:ea typeface="宋体" panose="02010600030101010101" pitchFamily="2" charset="-122"/>
            </a:endParaRPr>
          </a:p>
        </p:txBody>
      </p:sp>
      <p:graphicFrame>
        <p:nvGraphicFramePr>
          <p:cNvPr id="95240" name="对象 93195"/>
          <p:cNvGraphicFramePr/>
          <p:nvPr/>
        </p:nvGraphicFramePr>
        <p:xfrm>
          <a:off x="1548130" y="4918075"/>
          <a:ext cx="6578600" cy="1816100"/>
        </p:xfrm>
        <a:graphic>
          <a:graphicData uri="http://schemas.openxmlformats.org/presentationml/2006/ole">
            <mc:AlternateContent xmlns:mc="http://schemas.openxmlformats.org/markup-compatibility/2006">
              <mc:Choice xmlns:v="urn:schemas-microsoft-com:vml" Requires="v">
                <p:oleObj spid="_x0000_s3189" name="" r:id="rId7" imgW="3035300" imgH="838200" progId="Equation.3">
                  <p:embed/>
                </p:oleObj>
              </mc:Choice>
              <mc:Fallback>
                <p:oleObj name="" r:id="rId7" imgW="3035300" imgH="838200" progId="Equation.3">
                  <p:embed/>
                  <p:pic>
                    <p:nvPicPr>
                      <p:cNvPr id="0" name="图片 3188"/>
                      <p:cNvPicPr/>
                      <p:nvPr/>
                    </p:nvPicPr>
                    <p:blipFill>
                      <a:blip r:embed="rId8"/>
                      <a:stretch>
                        <a:fillRect/>
                      </a:stretch>
                    </p:blipFill>
                    <p:spPr>
                      <a:xfrm>
                        <a:off x="1548130" y="4918075"/>
                        <a:ext cx="6578600" cy="1816100"/>
                      </a:xfrm>
                      <a:prstGeom prst="rect">
                        <a:avLst/>
                      </a:prstGeom>
                      <a:solidFill>
                        <a:schemeClr val="accent1"/>
                      </a:solidFill>
                      <a:ln w="38100">
                        <a:noFill/>
                        <a:miter/>
                      </a:ln>
                    </p:spPr>
                  </p:pic>
                </p:oleObj>
              </mc:Fallback>
            </mc:AlternateContent>
          </a:graphicData>
        </a:graphic>
      </p:graphicFrame>
      <p:sp>
        <p:nvSpPr>
          <p:cNvPr id="95241" name="文本框 93196"/>
          <p:cNvSpPr txBox="1"/>
          <p:nvPr/>
        </p:nvSpPr>
        <p:spPr>
          <a:xfrm>
            <a:off x="7715250" y="5867400"/>
            <a:ext cx="1554480" cy="460375"/>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(5-50)</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 name="矩形 1"/>
          <p:cNvSpPr/>
          <p:nvPr/>
        </p:nvSpPr>
        <p:spPr>
          <a:xfrm>
            <a:off x="4203700" y="3848100"/>
            <a:ext cx="1054100" cy="647700"/>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文本框 92163"/>
          <p:cNvSpPr txBox="1"/>
          <p:nvPr/>
        </p:nvSpPr>
        <p:spPr>
          <a:xfrm>
            <a:off x="457200" y="76200"/>
            <a:ext cx="8262938" cy="457200"/>
          </a:xfrm>
          <a:prstGeom prst="rect">
            <a:avLst/>
          </a:prstGeom>
          <a:solidFill>
            <a:schemeClr val="bg1"/>
          </a:solid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表 </a:t>
            </a:r>
            <a:r>
              <a:rPr lang="en-US" altLang="zh-CN" b="1" dirty="0">
                <a:latin typeface="Times New Roman" panose="02020603050405020304" pitchFamily="18" charset="0"/>
                <a:ea typeface="宋体" panose="02010600030101010101" pitchFamily="2" charset="-122"/>
              </a:rPr>
              <a:t>5-2 </a:t>
            </a:r>
            <a:r>
              <a:rPr lang="zh-CN" altLang="en-US" b="1" dirty="0">
                <a:latin typeface="Times New Roman" panose="02020603050405020304" pitchFamily="18" charset="0"/>
                <a:ea typeface="宋体" panose="02010600030101010101" pitchFamily="2" charset="-122"/>
              </a:rPr>
              <a:t>双线性变换法中</a:t>
            </a:r>
            <a:r>
              <a:rPr lang="zh-CN" altLang="en-US" b="1" i="1" dirty="0">
                <a:latin typeface="Times New Roman" panose="02020603050405020304" pitchFamily="18" charset="0"/>
                <a:ea typeface="宋体" panose="02010600030101010101" pitchFamily="2" charset="-122"/>
              </a:rPr>
              <a:t>Ｈ</a:t>
            </a:r>
            <a:r>
              <a:rPr lang="en-US" altLang="zh-CN" b="1" baseline="-25000">
                <a:latin typeface="Times New Roman" panose="02020603050405020304" pitchFamily="18" charset="0"/>
                <a:ea typeface="宋体" panose="02010600030101010101" pitchFamily="2" charset="-122"/>
              </a:rPr>
              <a:t>a</a:t>
            </a:r>
            <a:r>
              <a:rPr lang="en-US" altLang="zh-CN" b="1">
                <a:latin typeface="Times New Roman" panose="02020603050405020304" pitchFamily="18" charset="0"/>
                <a:ea typeface="宋体" panose="02010600030101010101" pitchFamily="2" charset="-122"/>
              </a:rPr>
              <a:t>(</a:t>
            </a:r>
            <a:r>
              <a:rPr lang="en-US" altLang="zh-CN" b="1" i="1">
                <a:latin typeface="Times New Roman" panose="02020603050405020304" pitchFamily="18" charset="0"/>
                <a:ea typeface="宋体" panose="02010600030101010101" pitchFamily="2" charset="-122"/>
              </a:rPr>
              <a:t>s</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的系数与</a:t>
            </a:r>
            <a:r>
              <a:rPr lang="en-US" altLang="zh-CN" b="1" i="1">
                <a:latin typeface="Times New Roman" panose="02020603050405020304" pitchFamily="18" charset="0"/>
                <a:ea typeface="宋体" panose="02010600030101010101" pitchFamily="2" charset="-122"/>
              </a:rPr>
              <a:t>H</a:t>
            </a:r>
            <a:r>
              <a:rPr lang="en-US" altLang="zh-CN" b="1">
                <a:latin typeface="Times New Roman" panose="02020603050405020304" pitchFamily="18" charset="0"/>
                <a:ea typeface="宋体" panose="02010600030101010101" pitchFamily="2" charset="-122"/>
              </a:rPr>
              <a:t>(</a:t>
            </a:r>
            <a:r>
              <a:rPr lang="en-US" altLang="zh-CN" b="1" i="1">
                <a:latin typeface="Times New Roman" panose="02020603050405020304" pitchFamily="18" charset="0"/>
                <a:ea typeface="宋体" panose="02010600030101010101" pitchFamily="2" charset="-122"/>
              </a:rPr>
              <a:t>z</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的</a:t>
            </a:r>
            <a:r>
              <a:rPr lang="zh-CN" altLang="en-US" b="1" dirty="0">
                <a:latin typeface="Times New Roman" panose="02020603050405020304" pitchFamily="18" charset="0"/>
                <a:ea typeface="宋体" panose="02010600030101010101" pitchFamily="2" charset="-122"/>
              </a:rPr>
              <a:t>系数之间的关系 </a:t>
            </a:r>
            <a:endParaRPr lang="zh-CN" altLang="en-US" b="1">
              <a:latin typeface="Times New Roman" panose="02020603050405020304" pitchFamily="18" charset="0"/>
              <a:ea typeface="宋体" panose="02010600030101010101" pitchFamily="2" charset="-122"/>
            </a:endParaRPr>
          </a:p>
        </p:txBody>
      </p:sp>
      <p:pic>
        <p:nvPicPr>
          <p:cNvPr id="96258" name="图片 92165" descr="Img00009"/>
          <p:cNvPicPr>
            <a:picLocks noChangeAspect="1"/>
          </p:cNvPicPr>
          <p:nvPr/>
        </p:nvPicPr>
        <p:blipFill>
          <a:blip r:embed="rId1"/>
          <a:stretch>
            <a:fillRect/>
          </a:stretch>
        </p:blipFill>
        <p:spPr>
          <a:xfrm>
            <a:off x="1547495" y="476250"/>
            <a:ext cx="6170613" cy="6381750"/>
          </a:xfrm>
          <a:prstGeom prst="rect">
            <a:avLst/>
          </a:prstGeom>
          <a:noFill/>
          <a:ln w="9525">
            <a:noFill/>
          </a:ln>
        </p:spPr>
      </p:pic>
    </p:spTree>
  </p:cSld>
  <p:clrMapOvr>
    <a:masterClrMapping/>
  </p:clrMapOvr>
  <p:transition>
    <p:blinds/>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文本框 95236"/>
          <p:cNvSpPr txBox="1"/>
          <p:nvPr/>
        </p:nvSpPr>
        <p:spPr>
          <a:xfrm>
            <a:off x="2411413" y="5708650"/>
            <a:ext cx="4933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5-15 </a:t>
            </a:r>
            <a:r>
              <a:rPr lang="zh-CN" altLang="en-US" dirty="0">
                <a:latin typeface="Times New Roman" panose="02020603050405020304" pitchFamily="18" charset="0"/>
                <a:ea typeface="宋体" panose="02010600030101010101" pitchFamily="2" charset="-122"/>
              </a:rPr>
              <a:t>双线性变换时频率的预畸变 </a:t>
            </a:r>
            <a:endParaRPr lang="zh-CN" altLang="en-US">
              <a:latin typeface="Times New Roman" panose="02020603050405020304" pitchFamily="18" charset="0"/>
              <a:ea typeface="宋体" panose="02010600030101010101" pitchFamily="2" charset="-122"/>
            </a:endParaRPr>
          </a:p>
        </p:txBody>
      </p:sp>
      <p:pic>
        <p:nvPicPr>
          <p:cNvPr id="97282" name="图片 95240" descr="5-15"/>
          <p:cNvPicPr>
            <a:picLocks noChangeAspect="1"/>
          </p:cNvPicPr>
          <p:nvPr/>
        </p:nvPicPr>
        <p:blipFill>
          <a:blip r:embed="rId1"/>
          <a:stretch>
            <a:fillRect/>
          </a:stretch>
        </p:blipFill>
        <p:spPr>
          <a:xfrm>
            <a:off x="2238375" y="981075"/>
            <a:ext cx="4667250" cy="4286250"/>
          </a:xfrm>
          <a:prstGeom prst="rect">
            <a:avLst/>
          </a:prstGeom>
          <a:noFill/>
          <a:ln w="9525">
            <a:noFill/>
          </a:ln>
        </p:spPr>
      </p:pic>
      <p:graphicFrame>
        <p:nvGraphicFramePr>
          <p:cNvPr id="87042" name="对象 84996"/>
          <p:cNvGraphicFramePr/>
          <p:nvPr/>
        </p:nvGraphicFramePr>
        <p:xfrm>
          <a:off x="6742113" y="2190750"/>
          <a:ext cx="2133600" cy="981075"/>
        </p:xfrm>
        <a:graphic>
          <a:graphicData uri="http://schemas.openxmlformats.org/presentationml/2006/ole">
            <mc:AlternateContent xmlns:mc="http://schemas.openxmlformats.org/markup-compatibility/2006">
              <mc:Choice xmlns:v="urn:schemas-microsoft-com:vml" Requires="v">
                <p:oleObj spid="_x0000_s3187" name="" r:id="rId2" imgW="939165" imgH="431800" progId="Equation.3">
                  <p:embed/>
                </p:oleObj>
              </mc:Choice>
              <mc:Fallback>
                <p:oleObj name="" r:id="rId2" imgW="939165" imgH="431800" progId="Equation.3">
                  <p:embed/>
                  <p:pic>
                    <p:nvPicPr>
                      <p:cNvPr id="0" name="图片 3186"/>
                      <p:cNvPicPr/>
                      <p:nvPr/>
                    </p:nvPicPr>
                    <p:blipFill>
                      <a:blip r:embed="rId3"/>
                      <a:stretch>
                        <a:fillRect/>
                      </a:stretch>
                    </p:blipFill>
                    <p:spPr>
                      <a:xfrm>
                        <a:off x="6742113" y="2190750"/>
                        <a:ext cx="2133600" cy="981075"/>
                      </a:xfrm>
                      <a:prstGeom prst="rect">
                        <a:avLst/>
                      </a:prstGeom>
                      <a:solidFill>
                        <a:schemeClr val="accent1"/>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7042"/>
                                        </p:tgtEl>
                                        <p:attrNameLst>
                                          <p:attrName>style.visibility</p:attrName>
                                        </p:attrNameLst>
                                      </p:cBhvr>
                                      <p:to>
                                        <p:strVal val="visible"/>
                                      </p:to>
                                    </p:set>
                                    <p:anim calcmode="lin" valueType="num">
                                      <p:cBhvr additive="base">
                                        <p:cTn id="7" dur="500" fill="hold"/>
                                        <p:tgtEl>
                                          <p:spTgt spid="87042"/>
                                        </p:tgtEl>
                                        <p:attrNameLst>
                                          <p:attrName>ppt_x</p:attrName>
                                        </p:attrNameLst>
                                      </p:cBhvr>
                                      <p:tavLst>
                                        <p:tav tm="0">
                                          <p:val>
                                            <p:strVal val="#ppt_x"/>
                                          </p:val>
                                        </p:tav>
                                        <p:tav tm="100000">
                                          <p:val>
                                            <p:strVal val="#ppt_x"/>
                                          </p:val>
                                        </p:tav>
                                      </p:tavLst>
                                    </p:anim>
                                    <p:anim calcmode="lin" valueType="num">
                                      <p:cBhvr additive="base">
                                        <p:cTn id="8" dur="500" fill="hold"/>
                                        <p:tgtEl>
                                          <p:spTgt spid="870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文本框 94211"/>
          <p:cNvSpPr txBox="1"/>
          <p:nvPr/>
        </p:nvSpPr>
        <p:spPr>
          <a:xfrm>
            <a:off x="228600" y="684213"/>
            <a:ext cx="8686800" cy="16192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如果给出的是待设计的带通滤波器的数字域转折频率（通、 阻带截止频率）</a:t>
            </a:r>
            <a:r>
              <a:rPr lang="en-US" altLang="zh-CN" b="1" i="1">
                <a:solidFill>
                  <a:srgbClr val="FF0000"/>
                </a:solidFill>
                <a:latin typeface="Times New Roman" panose="02020603050405020304" pitchFamily="18" charset="0"/>
                <a:ea typeface="宋体" panose="02010600030101010101" pitchFamily="2" charset="-122"/>
              </a:rPr>
              <a:t>ω</a:t>
            </a:r>
            <a:r>
              <a:rPr lang="en-US" altLang="zh-CN" b="1" baseline="-25000">
                <a:solidFill>
                  <a:srgbClr val="FF0000"/>
                </a:solidFill>
                <a:latin typeface="Times New Roman" panose="02020603050405020304" pitchFamily="18" charset="0"/>
                <a:ea typeface="宋体" panose="02010600030101010101" pitchFamily="2" charset="-122"/>
              </a:rPr>
              <a:t>1</a:t>
            </a:r>
            <a:r>
              <a:rPr lang="zh-CN" altLang="en-US"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ω</a:t>
            </a:r>
            <a:r>
              <a:rPr lang="en-US" altLang="zh-CN" b="1" baseline="-25000">
                <a:solidFill>
                  <a:srgbClr val="FF0000"/>
                </a:solidFill>
                <a:latin typeface="Times New Roman" panose="02020603050405020304" pitchFamily="18" charset="0"/>
                <a:ea typeface="宋体" panose="02010600030101010101" pitchFamily="2" charset="-122"/>
              </a:rPr>
              <a:t>2</a:t>
            </a:r>
            <a:r>
              <a:rPr lang="zh-CN" altLang="en-US"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ω</a:t>
            </a:r>
            <a:r>
              <a:rPr lang="en-US" altLang="zh-CN" b="1" baseline="-25000">
                <a:solidFill>
                  <a:srgbClr val="FF0000"/>
                </a:solidFill>
                <a:latin typeface="Times New Roman" panose="02020603050405020304" pitchFamily="18" charset="0"/>
                <a:ea typeface="宋体" panose="02010600030101010101" pitchFamily="2" charset="-122"/>
              </a:rPr>
              <a:t>3</a:t>
            </a:r>
            <a:r>
              <a:rPr lang="zh-CN" altLang="en-US"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ω</a:t>
            </a:r>
            <a:r>
              <a:rPr lang="en-US" altLang="zh-CN" b="1" baseline="-25000">
                <a:solidFill>
                  <a:srgbClr val="FF0000"/>
                </a:solidFill>
                <a:latin typeface="Times New Roman" panose="02020603050405020304" pitchFamily="18" charset="0"/>
                <a:ea typeface="宋体" panose="02010600030101010101" pitchFamily="2" charset="-122"/>
              </a:rPr>
              <a:t>4</a:t>
            </a:r>
            <a:r>
              <a:rPr lang="zh-CN" altLang="en-US" b="1" dirty="0">
                <a:solidFill>
                  <a:srgbClr val="FF0000"/>
                </a:solidFill>
                <a:latin typeface="Times New Roman" panose="02020603050405020304" pitchFamily="18" charset="0"/>
                <a:ea typeface="宋体" panose="02010600030101010101" pitchFamily="2" charset="-122"/>
              </a:rPr>
              <a:t>及采样频率</a:t>
            </a:r>
            <a:r>
              <a:rPr lang="en-US" altLang="zh-CN" b="1" dirty="0">
                <a:solidFill>
                  <a:srgbClr val="FF0000"/>
                </a:solidFill>
                <a:latin typeface="Times New Roman" panose="02020603050405020304" pitchFamily="18" charset="0"/>
                <a:ea typeface="宋体" panose="02010600030101010101" pitchFamily="2" charset="-122"/>
              </a:rPr>
              <a:t>(1/</a:t>
            </a:r>
            <a:r>
              <a:rPr lang="en-US" altLang="zh-CN" b="1" i="1">
                <a:solidFill>
                  <a:srgbClr val="FF0000"/>
                </a:solidFill>
                <a:latin typeface="Times New Roman" panose="02020603050405020304" pitchFamily="18" charset="0"/>
                <a:ea typeface="宋体" panose="02010600030101010101" pitchFamily="2" charset="-122"/>
              </a:rPr>
              <a:t>T</a:t>
            </a:r>
            <a:r>
              <a:rPr lang="en-US" altLang="zh-CN" b="1" dirty="0">
                <a:solidFill>
                  <a:srgbClr val="FF0000"/>
                </a:solidFill>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，则直接利用式（</a:t>
            </a:r>
            <a:r>
              <a:rPr lang="en-US" altLang="zh-CN" dirty="0">
                <a:latin typeface="Times New Roman" panose="02020603050405020304" pitchFamily="18" charset="0"/>
                <a:ea typeface="宋体" panose="02010600030101010101" pitchFamily="2" charset="-122"/>
              </a:rPr>
              <a:t>5-46</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98306" name="对象 94212"/>
          <p:cNvGraphicFramePr/>
          <p:nvPr/>
        </p:nvGraphicFramePr>
        <p:xfrm>
          <a:off x="3429000" y="2362200"/>
          <a:ext cx="2146300" cy="985838"/>
        </p:xfrm>
        <a:graphic>
          <a:graphicData uri="http://schemas.openxmlformats.org/presentationml/2006/ole">
            <mc:AlternateContent xmlns:mc="http://schemas.openxmlformats.org/markup-compatibility/2006">
              <mc:Choice xmlns:v="urn:schemas-microsoft-com:vml" Requires="v">
                <p:oleObj spid="_x0000_s3188" name="" r:id="rId1" imgW="939165" imgH="431800" progId="Equation.3">
                  <p:embed/>
                </p:oleObj>
              </mc:Choice>
              <mc:Fallback>
                <p:oleObj name="" r:id="rId1" imgW="939165" imgH="431800" progId="Equation.3">
                  <p:embed/>
                  <p:pic>
                    <p:nvPicPr>
                      <p:cNvPr id="0" name="图片 3187"/>
                      <p:cNvPicPr/>
                      <p:nvPr/>
                    </p:nvPicPr>
                    <p:blipFill>
                      <a:blip r:embed="rId2"/>
                      <a:stretch>
                        <a:fillRect/>
                      </a:stretch>
                    </p:blipFill>
                    <p:spPr>
                      <a:xfrm>
                        <a:off x="3429000" y="2362200"/>
                        <a:ext cx="2146300" cy="985838"/>
                      </a:xfrm>
                      <a:prstGeom prst="rect">
                        <a:avLst/>
                      </a:prstGeom>
                      <a:solidFill>
                        <a:schemeClr val="accent1"/>
                      </a:solidFill>
                      <a:ln w="38100">
                        <a:noFill/>
                        <a:miter/>
                      </a:ln>
                    </p:spPr>
                  </p:pic>
                </p:oleObj>
              </mc:Fallback>
            </mc:AlternateContent>
          </a:graphicData>
        </a:graphic>
      </p:graphicFrame>
      <p:sp>
        <p:nvSpPr>
          <p:cNvPr id="98307" name="文本框 94213"/>
          <p:cNvSpPr txBox="1"/>
          <p:nvPr/>
        </p:nvSpPr>
        <p:spPr>
          <a:xfrm>
            <a:off x="395288" y="3429000"/>
            <a:ext cx="8231187" cy="2397125"/>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计算出相应的模拟滤波器的转折频率</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。这样得到的模拟滤波器</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的转折频率</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，经双线性变换后就映射到数字滤波器</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的原转折频率</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4</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 name="五角星 1"/>
          <p:cNvSpPr/>
          <p:nvPr/>
        </p:nvSpPr>
        <p:spPr>
          <a:xfrm>
            <a:off x="395288" y="684213"/>
            <a:ext cx="360363" cy="576263"/>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2339975" y="1196975"/>
            <a:ext cx="4032250" cy="647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 name="矩形 1"/>
          <p:cNvSpPr/>
          <p:nvPr/>
        </p:nvSpPr>
        <p:spPr>
          <a:xfrm>
            <a:off x="3352800" y="3797300"/>
            <a:ext cx="1960563" cy="7191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99331" name="文本框 97283"/>
          <p:cNvSpPr txBox="1"/>
          <p:nvPr/>
        </p:nvSpPr>
        <p:spPr>
          <a:xfrm>
            <a:off x="228600" y="533400"/>
            <a:ext cx="8686800" cy="3046413"/>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en-US" altLang="zh-CN" b="1" dirty="0">
                <a:solidFill>
                  <a:srgbClr val="FF0000"/>
                </a:solidFill>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如果给出的是待设计的带通滤波器的模拟域转折频率（通、 阻带截止频率）</a:t>
            </a:r>
            <a:r>
              <a:rPr lang="en-US" altLang="zh-CN" b="1" i="1">
                <a:solidFill>
                  <a:srgbClr val="FF0000"/>
                </a:solidFill>
                <a:latin typeface="Times New Roman" panose="02020603050405020304" pitchFamily="18" charset="0"/>
                <a:ea typeface="宋体" panose="02010600030101010101" pitchFamily="2" charset="-122"/>
              </a:rPr>
              <a:t>f</a:t>
            </a:r>
            <a:r>
              <a:rPr lang="en-US" altLang="zh-CN" b="1" baseline="-25000">
                <a:solidFill>
                  <a:srgbClr val="FF0000"/>
                </a:solidFill>
                <a:latin typeface="Times New Roman" panose="02020603050405020304" pitchFamily="18" charset="0"/>
                <a:ea typeface="宋体" panose="02010600030101010101" pitchFamily="2" charset="-122"/>
              </a:rPr>
              <a:t>1</a:t>
            </a:r>
            <a:r>
              <a:rPr lang="zh-CN" altLang="en-US"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f</a:t>
            </a:r>
            <a:r>
              <a:rPr lang="en-US" altLang="zh-CN" b="1" baseline="-25000">
                <a:solidFill>
                  <a:srgbClr val="FF0000"/>
                </a:solidFill>
                <a:latin typeface="Times New Roman" panose="02020603050405020304" pitchFamily="18" charset="0"/>
                <a:ea typeface="宋体" panose="02010600030101010101" pitchFamily="2" charset="-122"/>
              </a:rPr>
              <a:t>2</a:t>
            </a:r>
            <a:r>
              <a:rPr lang="zh-CN" altLang="en-US"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f</a:t>
            </a:r>
            <a:r>
              <a:rPr lang="en-US" altLang="zh-CN" b="1" baseline="-25000">
                <a:solidFill>
                  <a:srgbClr val="FF0000"/>
                </a:solidFill>
                <a:latin typeface="Times New Roman" panose="02020603050405020304" pitchFamily="18" charset="0"/>
                <a:ea typeface="宋体" panose="02010600030101010101" pitchFamily="2" charset="-122"/>
              </a:rPr>
              <a:t>3</a:t>
            </a:r>
            <a:r>
              <a:rPr lang="zh-CN" altLang="en-US"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f</a:t>
            </a:r>
            <a:r>
              <a:rPr lang="en-US" altLang="zh-CN" b="1" baseline="-25000">
                <a:solidFill>
                  <a:srgbClr val="FF0000"/>
                </a:solidFill>
                <a:latin typeface="Times New Roman" panose="02020603050405020304" pitchFamily="18" charset="0"/>
                <a:ea typeface="宋体" panose="02010600030101010101" pitchFamily="2" charset="-122"/>
              </a:rPr>
              <a:t>4</a:t>
            </a:r>
            <a:r>
              <a:rPr lang="zh-CN" altLang="en-US" b="1" dirty="0">
                <a:solidFill>
                  <a:srgbClr val="FF0000"/>
                </a:solidFill>
                <a:latin typeface="Times New Roman" panose="02020603050405020304" pitchFamily="18" charset="0"/>
                <a:ea typeface="宋体" panose="02010600030101010101" pitchFamily="2" charset="-122"/>
              </a:rPr>
              <a:t>和采样频率</a:t>
            </a:r>
            <a:r>
              <a:rPr lang="en-US" altLang="zh-CN" b="1" dirty="0">
                <a:solidFill>
                  <a:srgbClr val="FF0000"/>
                </a:solidFill>
                <a:latin typeface="Times New Roman" panose="02020603050405020304" pitchFamily="18" charset="0"/>
                <a:ea typeface="宋体" panose="02010600030101010101" pitchFamily="2" charset="-122"/>
              </a:rPr>
              <a:t>(1/</a:t>
            </a:r>
            <a:r>
              <a:rPr lang="en-US" altLang="zh-CN" b="1" i="1">
                <a:solidFill>
                  <a:srgbClr val="FF0000"/>
                </a:solidFill>
                <a:latin typeface="Times New Roman" panose="02020603050405020304" pitchFamily="18" charset="0"/>
                <a:ea typeface="宋体" panose="02010600030101010101" pitchFamily="2" charset="-122"/>
              </a:rPr>
              <a:t>T</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，则需要进行频率预畸变。  </a:t>
            </a:r>
            <a:endParaRPr lang="zh-CN" altLang="en-US" b="1" dirty="0">
              <a:solidFill>
                <a:srgbClr val="FF0000"/>
              </a:solidFill>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u="sng" dirty="0">
                <a:solidFill>
                  <a:srgbClr val="FF0000"/>
                </a:solidFill>
                <a:latin typeface="Times New Roman" panose="02020603050405020304" pitchFamily="18" charset="0"/>
                <a:ea typeface="宋体" panose="02010600030101010101" pitchFamily="2" charset="-122"/>
              </a:rPr>
              <a:t>首先</a:t>
            </a:r>
            <a:r>
              <a:rPr lang="zh-CN" altLang="en-US" dirty="0">
                <a:latin typeface="Times New Roman" panose="02020603050405020304" pitchFamily="18" charset="0"/>
                <a:ea typeface="宋体" panose="02010600030101010101" pitchFamily="2" charset="-122"/>
              </a:rPr>
              <a:t>，利用下式计算</a:t>
            </a:r>
            <a:r>
              <a:rPr lang="zh-CN" altLang="en-US" b="1" dirty="0">
                <a:solidFill>
                  <a:srgbClr val="FF0000"/>
                </a:solidFill>
                <a:latin typeface="Times New Roman" panose="02020603050405020304" pitchFamily="18" charset="0"/>
                <a:ea typeface="宋体" panose="02010600030101010101" pitchFamily="2" charset="-122"/>
              </a:rPr>
              <a:t>数字滤波器的转折频率</a:t>
            </a:r>
            <a:r>
              <a:rPr lang="zh-CN" altLang="en-US" dirty="0">
                <a:latin typeface="Times New Roman" panose="02020603050405020304" pitchFamily="18" charset="0"/>
                <a:ea typeface="宋体" panose="02010600030101010101" pitchFamily="2" charset="-122"/>
              </a:rPr>
              <a:t>（通、阻带截止频率）</a:t>
            </a:r>
            <a:r>
              <a:rPr lang="en-US" altLang="zh-CN" i="1">
                <a:latin typeface="Times New Roman" panose="02020603050405020304" pitchFamily="18" charset="0"/>
                <a:ea typeface="宋体" panose="02010600030101010101" pitchFamily="2" charset="-122"/>
              </a:rPr>
              <a:t>ω</a:t>
            </a:r>
            <a:r>
              <a:rPr lang="zh-CN" altLang="en-US" baseline="-25000">
                <a:latin typeface="Times New Roman" panose="02020603050405020304" pitchFamily="18" charset="0"/>
                <a:ea typeface="宋体" panose="02010600030101010101" pitchFamily="2" charset="-122"/>
              </a:rPr>
              <a:t>１</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3</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4</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99332" name="文本框 97284"/>
          <p:cNvSpPr txBox="1"/>
          <p:nvPr/>
        </p:nvSpPr>
        <p:spPr>
          <a:xfrm>
            <a:off x="3581400" y="3835400"/>
            <a:ext cx="1708150" cy="519113"/>
          </a:xfrm>
          <a:prstGeom prst="rect">
            <a:avLst/>
          </a:prstGeom>
          <a:noFill/>
          <a:ln w="9525">
            <a:noFill/>
          </a:ln>
        </p:spPr>
        <p:txBody>
          <a:bodyPr wrap="none" anchor="t">
            <a:spAutoFit/>
          </a:bodyPr>
          <a:p>
            <a:r>
              <a:rPr lang="en-US" altLang="zh-CN" sz="2800" b="1" i="1">
                <a:latin typeface="Times New Roman" panose="02020603050405020304" pitchFamily="18" charset="0"/>
                <a:ea typeface="宋体" panose="02010600030101010101" pitchFamily="2" charset="-122"/>
              </a:rPr>
              <a:t>ω</a:t>
            </a:r>
            <a:r>
              <a:rPr lang="en-US" altLang="zh-CN" sz="2800" b="1">
                <a:latin typeface="Times New Roman" panose="02020603050405020304" pitchFamily="18" charset="0"/>
                <a:ea typeface="宋体" panose="02010600030101010101" pitchFamily="2" charset="-122"/>
              </a:rPr>
              <a:t>=2π</a:t>
            </a:r>
            <a:r>
              <a:rPr lang="en-US" altLang="zh-CN" sz="2800" b="1" i="1" err="1">
                <a:latin typeface="Times New Roman" panose="02020603050405020304" pitchFamily="18" charset="0"/>
                <a:ea typeface="宋体" panose="02010600030101010101" pitchFamily="2" charset="-122"/>
              </a:rPr>
              <a:t>fT </a:t>
            </a:r>
            <a:endParaRPr lang="en-US" altLang="zh-CN" sz="2800" b="1" i="1" err="1">
              <a:latin typeface="Times New Roman" panose="02020603050405020304" pitchFamily="18" charset="0"/>
              <a:ea typeface="宋体" panose="02010600030101010101" pitchFamily="2" charset="-122"/>
            </a:endParaRPr>
          </a:p>
        </p:txBody>
      </p:sp>
      <p:sp>
        <p:nvSpPr>
          <p:cNvPr id="99333" name="文本框 97285"/>
          <p:cNvSpPr txBox="1"/>
          <p:nvPr/>
        </p:nvSpPr>
        <p:spPr>
          <a:xfrm>
            <a:off x="6918325" y="3927475"/>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5-51</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99334" name="文本框 97286"/>
          <p:cNvSpPr txBox="1"/>
          <p:nvPr/>
        </p:nvSpPr>
        <p:spPr>
          <a:xfrm>
            <a:off x="228600" y="4572000"/>
            <a:ext cx="2647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再利用式（</a:t>
            </a:r>
            <a:r>
              <a:rPr lang="en-US" altLang="zh-CN" dirty="0">
                <a:latin typeface="Times New Roman" panose="02020603050405020304" pitchFamily="18" charset="0"/>
                <a:ea typeface="宋体" panose="02010600030101010101" pitchFamily="2" charset="-122"/>
              </a:rPr>
              <a:t>5-46</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99335" name="对象 97287"/>
          <p:cNvGraphicFramePr/>
          <p:nvPr/>
        </p:nvGraphicFramePr>
        <p:xfrm>
          <a:off x="3352800" y="4876800"/>
          <a:ext cx="2286000" cy="1050925"/>
        </p:xfrm>
        <a:graphic>
          <a:graphicData uri="http://schemas.openxmlformats.org/presentationml/2006/ole">
            <mc:AlternateContent xmlns:mc="http://schemas.openxmlformats.org/markup-compatibility/2006">
              <mc:Choice xmlns:v="urn:schemas-microsoft-com:vml" Requires="v">
                <p:oleObj spid="_x0000_s3186" name="" r:id="rId1" imgW="939165" imgH="431800" progId="Equation.3">
                  <p:embed/>
                </p:oleObj>
              </mc:Choice>
              <mc:Fallback>
                <p:oleObj name="" r:id="rId1" imgW="939165" imgH="431800" progId="Equation.3">
                  <p:embed/>
                  <p:pic>
                    <p:nvPicPr>
                      <p:cNvPr id="0" name="图片 3185"/>
                      <p:cNvPicPr/>
                      <p:nvPr/>
                    </p:nvPicPr>
                    <p:blipFill>
                      <a:blip r:embed="rId2"/>
                      <a:stretch>
                        <a:fillRect/>
                      </a:stretch>
                    </p:blipFill>
                    <p:spPr>
                      <a:xfrm>
                        <a:off x="3352800" y="4876800"/>
                        <a:ext cx="2286000" cy="1050925"/>
                      </a:xfrm>
                      <a:prstGeom prst="rect">
                        <a:avLst/>
                      </a:prstGeom>
                      <a:solidFill>
                        <a:schemeClr val="accent1"/>
                      </a:solidFill>
                      <a:ln w="38100">
                        <a:noFill/>
                        <a:miter/>
                      </a:ln>
                    </p:spPr>
                  </p:pic>
                </p:oleObj>
              </mc:Fallback>
            </mc:AlternateContent>
          </a:graphicData>
        </a:graphic>
      </p:graphicFrame>
      <p:sp>
        <p:nvSpPr>
          <p:cNvPr id="3" name="十字星 2"/>
          <p:cNvSpPr/>
          <p:nvPr/>
        </p:nvSpPr>
        <p:spPr>
          <a:xfrm>
            <a:off x="2876550" y="3797300"/>
            <a:ext cx="438150" cy="647700"/>
          </a:xfrm>
          <a:prstGeom prst="star4">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文本框 96259"/>
          <p:cNvSpPr txBox="1"/>
          <p:nvPr/>
        </p:nvSpPr>
        <p:spPr>
          <a:xfrm>
            <a:off x="441325" y="688975"/>
            <a:ext cx="8451850" cy="4154488"/>
          </a:xfrm>
          <a:prstGeom prst="rect">
            <a:avLst/>
          </a:prstGeom>
          <a:noFill/>
          <a:ln w="9525">
            <a:noFill/>
          </a:ln>
        </p:spPr>
        <p:txBody>
          <a:bodyPr anchor="t">
            <a:spAutoFit/>
          </a:bodyPr>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对频率预畸变，得到预畸变后的模拟滤波器的转折频率</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zh-CN" altLang="en-US" sz="2000" baseline="-25000">
                <a:latin typeface="Times New Roman" panose="02020603050405020304" pitchFamily="18" charset="0"/>
                <a:ea typeface="宋体" panose="02010600030101010101" pitchFamily="2" charset="-122"/>
              </a:rPr>
              <a:t>２</a:t>
            </a:r>
            <a:r>
              <a:rPr lang="zh-CN" altLang="en-US">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。这样得到的模拟滤波器</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的转折频率</a:t>
            </a:r>
            <a:r>
              <a:rPr lang="en-US" altLang="zh-CN" i="1">
                <a:latin typeface="Times New Roman" panose="02020603050405020304" pitchFamily="18" charset="0"/>
                <a:ea typeface="宋体" panose="02010600030101010101" pitchFamily="2" charset="-122"/>
              </a:rPr>
              <a:t>Ω</a:t>
            </a:r>
            <a:r>
              <a:rPr lang="zh-CN" altLang="en-US" sz="2000" baseline="-25000">
                <a:latin typeface="Times New Roman" panose="02020603050405020304" pitchFamily="18" charset="0"/>
                <a:ea typeface="宋体" panose="02010600030101010101" pitchFamily="2" charset="-122"/>
              </a:rPr>
              <a:t>１</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4</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经双线性变换后映射到数字滤波器</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的转折频率</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，并且能保证数字域频率</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与给定的模拟域转折频率</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r>
              <a:rPr lang="zh-CN" altLang="en-US" sz="2000" baseline="-25000">
                <a:latin typeface="Times New Roman" panose="02020603050405020304" pitchFamily="18" charset="0"/>
                <a:ea typeface="宋体" panose="02010600030101010101" pitchFamily="2" charset="-122"/>
              </a:rPr>
              <a:t>２</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r>
              <a:rPr lang="zh-CN" altLang="en-US" sz="1800" baseline="-25000">
                <a:latin typeface="Times New Roman" panose="02020603050405020304" pitchFamily="18" charset="0"/>
                <a:ea typeface="宋体" panose="02010600030101010101" pitchFamily="2" charset="-122"/>
              </a:rPr>
              <a:t>３</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成线性关系。</a:t>
            </a:r>
            <a:endParaRPr lang="zh-CN" altLang="en-US" dirty="0">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 按</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等指标</a:t>
            </a:r>
            <a:r>
              <a:rPr lang="zh-CN" altLang="en-US" b="1" dirty="0">
                <a:solidFill>
                  <a:srgbClr val="FF0000"/>
                </a:solidFill>
                <a:latin typeface="Times New Roman" panose="02020603050405020304" pitchFamily="18" charset="0"/>
                <a:ea typeface="宋体" panose="02010600030101010101" pitchFamily="2" charset="-122"/>
              </a:rPr>
              <a:t>设计模拟滤波器的系统函数</a:t>
            </a:r>
            <a:r>
              <a:rPr lang="en-US" altLang="zh-CN" b="1" i="1">
                <a:solidFill>
                  <a:srgbClr val="FF0000"/>
                </a:solidFill>
                <a:latin typeface="Times New Roman" panose="02020603050405020304" pitchFamily="18" charset="0"/>
                <a:ea typeface="宋体" panose="02010600030101010101" pitchFamily="2" charset="-122"/>
              </a:rPr>
              <a:t>H</a:t>
            </a:r>
            <a:r>
              <a:rPr lang="en-US" altLang="zh-CN" b="1" baseline="-25000">
                <a:solidFill>
                  <a:srgbClr val="FF0000"/>
                </a:solidFill>
                <a:latin typeface="Times New Roman" panose="02020603050405020304" pitchFamily="18" charset="0"/>
                <a:ea typeface="宋体" panose="02010600030101010101" pitchFamily="2" charset="-122"/>
              </a:rPr>
              <a:t>a</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s</a:t>
            </a:r>
            <a:r>
              <a:rPr lang="en-US" altLang="zh-CN" b="1">
                <a:solidFill>
                  <a:srgbClr val="FF0000"/>
                </a:solidFill>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2" name="五角星 1"/>
          <p:cNvSpPr/>
          <p:nvPr/>
        </p:nvSpPr>
        <p:spPr>
          <a:xfrm>
            <a:off x="746125" y="3651250"/>
            <a:ext cx="360363" cy="576263"/>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1377" name="组合 99334"/>
          <p:cNvGrpSpPr/>
          <p:nvPr/>
        </p:nvGrpSpPr>
        <p:grpSpPr>
          <a:xfrm>
            <a:off x="228600" y="660400"/>
            <a:ext cx="7315200" cy="863600"/>
            <a:chOff x="144" y="416"/>
            <a:chExt cx="4608" cy="544"/>
          </a:xfrm>
        </p:grpSpPr>
        <p:sp>
          <p:nvSpPr>
            <p:cNvPr id="101378" name="文本框 99331"/>
            <p:cNvSpPr txBox="1"/>
            <p:nvPr/>
          </p:nvSpPr>
          <p:spPr>
            <a:xfrm>
              <a:off x="144" y="560"/>
              <a:ext cx="4608" cy="288"/>
            </a:xfrm>
            <a:prstGeom prst="rect">
              <a:avLst/>
            </a:prstGeom>
            <a:noFill/>
            <a:ln w="9525">
              <a:noFill/>
            </a:ln>
          </p:spPr>
          <p:txBody>
            <a:bodyPr anchor="t">
              <a:spAutoFit/>
            </a:bodyPr>
            <a:p>
              <a:pPr algn="just">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）将                         </a:t>
              </a:r>
              <a:r>
                <a:rPr lang="zh-CN" altLang="en-US" dirty="0">
                  <a:latin typeface="Times New Roman" panose="02020603050405020304" pitchFamily="18" charset="0"/>
                  <a:ea typeface="宋体" panose="02010600030101010101" pitchFamily="2" charset="-122"/>
                </a:rPr>
                <a:t>代入</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，得</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graphicFrame>
          <p:nvGraphicFramePr>
            <p:cNvPr id="101379" name="对象 99332"/>
            <p:cNvGraphicFramePr/>
            <p:nvPr/>
          </p:nvGraphicFramePr>
          <p:xfrm>
            <a:off x="1296" y="416"/>
            <a:ext cx="1056" cy="544"/>
          </p:xfrm>
          <a:graphic>
            <a:graphicData uri="http://schemas.openxmlformats.org/presentationml/2006/ole">
              <mc:AlternateContent xmlns:mc="http://schemas.openxmlformats.org/markup-compatibility/2006">
                <mc:Choice xmlns:v="urn:schemas-microsoft-com:vml" Requires="v">
                  <p:oleObj spid="_x0000_s3194" name="" r:id="rId1" imgW="812165" imgH="419100" progId="Equation.3">
                    <p:embed/>
                  </p:oleObj>
                </mc:Choice>
                <mc:Fallback>
                  <p:oleObj name="" r:id="rId1" imgW="812165" imgH="419100" progId="Equation.3">
                    <p:embed/>
                    <p:pic>
                      <p:nvPicPr>
                        <p:cNvPr id="0" name="图片 3193"/>
                        <p:cNvPicPr/>
                        <p:nvPr/>
                      </p:nvPicPr>
                      <p:blipFill>
                        <a:blip r:embed="rId2"/>
                        <a:stretch>
                          <a:fillRect/>
                        </a:stretch>
                      </p:blipFill>
                      <p:spPr>
                        <a:xfrm>
                          <a:off x="1296" y="416"/>
                          <a:ext cx="1056" cy="544"/>
                        </a:xfrm>
                        <a:prstGeom prst="rect">
                          <a:avLst/>
                        </a:prstGeom>
                        <a:solidFill>
                          <a:schemeClr val="accent1"/>
                        </a:solidFill>
                        <a:ln w="38100">
                          <a:noFill/>
                          <a:miter/>
                        </a:ln>
                      </p:spPr>
                    </p:pic>
                  </p:oleObj>
                </mc:Fallback>
              </mc:AlternateContent>
            </a:graphicData>
          </a:graphic>
        </p:graphicFrame>
      </p:grpSp>
      <p:graphicFrame>
        <p:nvGraphicFramePr>
          <p:cNvPr id="101380" name="对象 99333"/>
          <p:cNvGraphicFramePr/>
          <p:nvPr/>
        </p:nvGraphicFramePr>
        <p:xfrm>
          <a:off x="2057400" y="1600200"/>
          <a:ext cx="5638800" cy="1195388"/>
        </p:xfrm>
        <a:graphic>
          <a:graphicData uri="http://schemas.openxmlformats.org/presentationml/2006/ole">
            <mc:AlternateContent xmlns:mc="http://schemas.openxmlformats.org/markup-compatibility/2006">
              <mc:Choice xmlns:v="urn:schemas-microsoft-com:vml" Requires="v">
                <p:oleObj spid="_x0000_s3193" name="" r:id="rId3" imgW="2335530" imgH="495300" progId="Equation.3">
                  <p:embed/>
                </p:oleObj>
              </mc:Choice>
              <mc:Fallback>
                <p:oleObj name="" r:id="rId3" imgW="2335530" imgH="495300" progId="Equation.3">
                  <p:embed/>
                  <p:pic>
                    <p:nvPicPr>
                      <p:cNvPr id="0" name="图片 3192"/>
                      <p:cNvPicPr/>
                      <p:nvPr/>
                    </p:nvPicPr>
                    <p:blipFill>
                      <a:blip r:embed="rId4"/>
                      <a:stretch>
                        <a:fillRect/>
                      </a:stretch>
                    </p:blipFill>
                    <p:spPr>
                      <a:xfrm>
                        <a:off x="2057400" y="1600200"/>
                        <a:ext cx="5638800" cy="1195388"/>
                      </a:xfrm>
                      <a:prstGeom prst="rect">
                        <a:avLst/>
                      </a:prstGeom>
                      <a:noFill/>
                      <a:ln w="38100">
                        <a:noFill/>
                        <a:miter/>
                      </a:ln>
                    </p:spPr>
                  </p:pic>
                </p:oleObj>
              </mc:Fallback>
            </mc:AlternateContent>
          </a:graphicData>
        </a:graphic>
      </p:graphicFrame>
      <p:sp>
        <p:nvSpPr>
          <p:cNvPr id="101381" name="文本框 99335"/>
          <p:cNvSpPr txBox="1"/>
          <p:nvPr/>
        </p:nvSpPr>
        <p:spPr>
          <a:xfrm>
            <a:off x="365125" y="3089275"/>
            <a:ext cx="2089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其频率响应为 </a:t>
            </a:r>
            <a:endParaRPr lang="zh-CN" altLang="en-US">
              <a:latin typeface="Times New Roman" panose="02020603050405020304" pitchFamily="18" charset="0"/>
              <a:ea typeface="宋体" panose="02010600030101010101" pitchFamily="2" charset="-122"/>
            </a:endParaRPr>
          </a:p>
        </p:txBody>
      </p:sp>
      <p:graphicFrame>
        <p:nvGraphicFramePr>
          <p:cNvPr id="101382" name="对象 99336"/>
          <p:cNvGraphicFramePr/>
          <p:nvPr/>
        </p:nvGraphicFramePr>
        <p:xfrm>
          <a:off x="1459707" y="3809842"/>
          <a:ext cx="6899275" cy="1163955"/>
        </p:xfrm>
        <a:graphic>
          <a:graphicData uri="http://schemas.openxmlformats.org/presentationml/2006/ole">
            <mc:AlternateContent xmlns:mc="http://schemas.openxmlformats.org/markup-compatibility/2006">
              <mc:Choice xmlns:v="urn:schemas-microsoft-com:vml" Requires="v">
                <p:oleObj spid="_x0000_s3192" name="" r:id="rId5" imgW="2857500" imgH="482600" progId="Equation.3">
                  <p:embed/>
                </p:oleObj>
              </mc:Choice>
              <mc:Fallback>
                <p:oleObj name="" r:id="rId5" imgW="2857500" imgH="482600" progId="Equation.3">
                  <p:embed/>
                  <p:pic>
                    <p:nvPicPr>
                      <p:cNvPr id="0" name="图片 3191"/>
                      <p:cNvPicPr/>
                      <p:nvPr/>
                    </p:nvPicPr>
                    <p:blipFill>
                      <a:blip r:embed="rId6"/>
                      <a:stretch>
                        <a:fillRect/>
                      </a:stretch>
                    </p:blipFill>
                    <p:spPr>
                      <a:xfrm>
                        <a:off x="1459707" y="3809842"/>
                        <a:ext cx="6899275" cy="1163955"/>
                      </a:xfrm>
                      <a:prstGeom prst="rect">
                        <a:avLst/>
                      </a:prstGeom>
                      <a:noFill/>
                      <a:ln w="38100">
                        <a:noFill/>
                        <a:miter/>
                      </a:ln>
                    </p:spPr>
                  </p:pic>
                </p:oleObj>
              </mc:Fallback>
            </mc:AlternateContent>
          </a:graphicData>
        </a:graphic>
      </p:graphicFrame>
      <p:sp>
        <p:nvSpPr>
          <p:cNvPr id="101383" name="文本框 99337"/>
          <p:cNvSpPr txBox="1"/>
          <p:nvPr/>
        </p:nvSpPr>
        <p:spPr>
          <a:xfrm>
            <a:off x="457200" y="5334000"/>
            <a:ext cx="8185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上述这些步骤比用脉冲响应不变法设计滤波器要简便得多。 </a:t>
            </a:r>
            <a:endParaRPr lang="zh-CN" altLang="en-US">
              <a:latin typeface="Times New Roman" panose="02020603050405020304" pitchFamily="18" charset="0"/>
              <a:ea typeface="宋体" panose="02010600030101010101" pitchFamily="2" charset="-122"/>
            </a:endParaRPr>
          </a:p>
        </p:txBody>
      </p:sp>
      <p:sp>
        <p:nvSpPr>
          <p:cNvPr id="2" name="矩形 1"/>
          <p:cNvSpPr/>
          <p:nvPr/>
        </p:nvSpPr>
        <p:spPr>
          <a:xfrm>
            <a:off x="4197350" y="2219325"/>
            <a:ext cx="1028700" cy="717550"/>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 name="矩形 2"/>
          <p:cNvSpPr/>
          <p:nvPr/>
        </p:nvSpPr>
        <p:spPr>
          <a:xfrm>
            <a:off x="4470400" y="4256088"/>
            <a:ext cx="1238250" cy="717550"/>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4" name="五角星 3"/>
          <p:cNvSpPr/>
          <p:nvPr/>
        </p:nvSpPr>
        <p:spPr>
          <a:xfrm>
            <a:off x="687388" y="769938"/>
            <a:ext cx="360363" cy="576263"/>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2401" name="组合 98311"/>
          <p:cNvGrpSpPr/>
          <p:nvPr/>
        </p:nvGrpSpPr>
        <p:grpSpPr>
          <a:xfrm>
            <a:off x="228600" y="609600"/>
            <a:ext cx="8686800" cy="4410075"/>
            <a:chOff x="144" y="384"/>
            <a:chExt cx="5472" cy="2778"/>
          </a:xfrm>
        </p:grpSpPr>
        <p:sp>
          <p:nvSpPr>
            <p:cNvPr id="102402" name="文本框 98308"/>
            <p:cNvSpPr txBox="1"/>
            <p:nvPr/>
          </p:nvSpPr>
          <p:spPr>
            <a:xfrm>
              <a:off x="144" y="384"/>
              <a:ext cx="5472" cy="2778"/>
            </a:xfrm>
            <a:prstGeom prst="rect">
              <a:avLst/>
            </a:prstGeom>
            <a:noFill/>
            <a:ln w="9525">
              <a:noFill/>
            </a:ln>
          </p:spPr>
          <p:txBody>
            <a:bodyPr anchor="t">
              <a:spAutoFit/>
            </a:bodyPr>
            <a:p>
              <a:pPr algn="just">
                <a:lnSpc>
                  <a:spcPct val="16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需要特别强调的是，若模拟滤波器</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a:t>
              </a:r>
              <a:r>
                <a:rPr lang="zh-CN" altLang="en-US" b="1" u="sng" dirty="0">
                  <a:solidFill>
                    <a:srgbClr val="FF0000"/>
                  </a:solidFill>
                  <a:latin typeface="Times New Roman" panose="02020603050405020304" pitchFamily="18" charset="0"/>
                  <a:ea typeface="宋体" panose="02010600030101010101" pitchFamily="2" charset="-122"/>
                </a:rPr>
                <a:t>低通滤波器</a:t>
              </a:r>
              <a:r>
                <a:rPr lang="zh-CN" altLang="en-US" dirty="0">
                  <a:latin typeface="Times New Roman" panose="02020603050405020304" pitchFamily="18" charset="0"/>
                  <a:ea typeface="宋体" panose="02010600030101010101" pitchFamily="2" charset="-122"/>
                </a:rPr>
                <a:t>，应用		变换得到的数字滤波器</a:t>
              </a:r>
              <a:r>
                <a:rPr lang="en-US" altLang="zh-CN" b="1" i="1" u="sng">
                  <a:solidFill>
                    <a:srgbClr val="FF0000"/>
                  </a:solidFill>
                  <a:latin typeface="Times New Roman" panose="02020603050405020304" pitchFamily="18" charset="0"/>
                  <a:ea typeface="宋体" panose="02010600030101010101" pitchFamily="2" charset="-122"/>
                </a:rPr>
                <a:t>H</a:t>
              </a:r>
              <a:r>
                <a:rPr lang="en-US" altLang="zh-CN" b="1" u="sng">
                  <a:solidFill>
                    <a:srgbClr val="FF0000"/>
                  </a:solidFill>
                  <a:latin typeface="Times New Roman" panose="02020603050405020304" pitchFamily="18" charset="0"/>
                  <a:ea typeface="宋体" panose="02010600030101010101" pitchFamily="2" charset="-122"/>
                </a:rPr>
                <a:t>(</a:t>
              </a:r>
              <a:r>
                <a:rPr lang="en-US" altLang="zh-CN" b="1" i="1" u="sng">
                  <a:solidFill>
                    <a:srgbClr val="FF0000"/>
                  </a:solidFill>
                  <a:latin typeface="Times New Roman" panose="02020603050405020304" pitchFamily="18" charset="0"/>
                  <a:ea typeface="宋体" panose="02010600030101010101" pitchFamily="2" charset="-122"/>
                </a:rPr>
                <a:t>z</a:t>
              </a:r>
              <a:r>
                <a:rPr lang="en-US" altLang="zh-CN" b="1" u="sng" dirty="0">
                  <a:solidFill>
                    <a:srgbClr val="FF0000"/>
                  </a:solidFill>
                  <a:latin typeface="Times New Roman" panose="02020603050405020304" pitchFamily="18" charset="0"/>
                  <a:ea typeface="宋体" panose="02010600030101010101" pitchFamily="2" charset="-122"/>
                </a:rPr>
                <a:t>)</a:t>
              </a:r>
              <a:r>
                <a:rPr lang="zh-CN" altLang="en-US" b="1" u="sng" dirty="0">
                  <a:solidFill>
                    <a:srgbClr val="FF0000"/>
                  </a:solidFill>
                  <a:latin typeface="Times New Roman" panose="02020603050405020304" pitchFamily="18" charset="0"/>
                  <a:ea typeface="宋体" panose="02010600030101010101" pitchFamily="2" charset="-122"/>
                </a:rPr>
                <a:t>也是低通滤波器</a:t>
              </a:r>
              <a:r>
                <a:rPr lang="zh-CN" altLang="en-US" dirty="0">
                  <a:latin typeface="Times New Roman" panose="02020603050405020304" pitchFamily="18" charset="0"/>
                  <a:ea typeface="宋体" panose="02010600030101010101" pitchFamily="2" charset="-122"/>
                </a:rPr>
                <a:t>； 若</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a:t>
              </a:r>
              <a:r>
                <a:rPr lang="zh-CN" altLang="en-US" b="1" u="sng" dirty="0">
                  <a:solidFill>
                    <a:srgbClr val="FF0000"/>
                  </a:solidFill>
                  <a:latin typeface="Times New Roman" panose="02020603050405020304" pitchFamily="18" charset="0"/>
                  <a:ea typeface="宋体" panose="02010600030101010101" pitchFamily="2" charset="-122"/>
                </a:rPr>
                <a:t>高通滤波器</a:t>
              </a:r>
              <a:r>
                <a:rPr lang="zh-CN" altLang="en-US" dirty="0">
                  <a:latin typeface="Times New Roman" panose="02020603050405020304" pitchFamily="18" charset="0"/>
                  <a:ea typeface="宋体" panose="02010600030101010101" pitchFamily="2" charset="-122"/>
                </a:rPr>
                <a:t>，应用                     </a:t>
              </a:r>
              <a:r>
                <a:rPr lang="zh-CN" altLang="en-US" dirty="0">
                  <a:latin typeface="Times New Roman" panose="02020603050405020304" pitchFamily="18" charset="0"/>
                  <a:ea typeface="宋体" panose="02010600030101010101" pitchFamily="2" charset="-122"/>
                </a:rPr>
                <a:t>变换得到的数字滤波器</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也是</a:t>
              </a:r>
              <a:r>
                <a:rPr lang="zh-CN" altLang="en-US" b="1" u="sng" dirty="0">
                  <a:solidFill>
                    <a:srgbClr val="FF0000"/>
                  </a:solidFill>
                  <a:latin typeface="Times New Roman" panose="02020603050405020304" pitchFamily="18" charset="0"/>
                  <a:ea typeface="宋体" panose="02010600030101010101" pitchFamily="2" charset="-122"/>
                </a:rPr>
                <a:t>高通滤波器</a:t>
              </a:r>
              <a:r>
                <a:rPr lang="en-US" altLang="zh-CN" b="1" u="sng" dirty="0">
                  <a:solidFill>
                    <a:srgbClr val="FF0000"/>
                  </a:solidFill>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若为带通、带阻滤波器也是如此。 </a:t>
              </a:r>
              <a:endParaRPr lang="zh-CN" altLang="en-US" dirty="0">
                <a:latin typeface="Times New Roman" panose="02020603050405020304" pitchFamily="18" charset="0"/>
                <a:ea typeface="宋体" panose="02010600030101010101" pitchFamily="2" charset="-122"/>
              </a:endParaRPr>
            </a:p>
            <a:p>
              <a:pPr algn="just">
                <a:lnSpc>
                  <a:spcPct val="160000"/>
                </a:lnSpc>
                <a:spcBef>
                  <a:spcPct val="50000"/>
                </a:spcBef>
              </a:pPr>
              <a:r>
                <a:rPr lang="zh-CN" altLang="en-US" dirty="0">
                  <a:latin typeface="Times New Roman" panose="02020603050405020304" pitchFamily="18" charset="0"/>
                  <a:ea typeface="宋体" panose="02010600030101010101" pitchFamily="2" charset="-122"/>
                </a:rPr>
                <a:t>         在</a:t>
              </a:r>
              <a:r>
                <a:rPr lang="en-US" altLang="zh-CN" dirty="0">
                  <a:latin typeface="Times New Roman" panose="02020603050405020304" pitchFamily="18" charset="0"/>
                  <a:ea typeface="宋体" panose="02010600030101010101" pitchFamily="2" charset="-122"/>
                </a:rPr>
                <a:t>IIR</a:t>
              </a:r>
              <a:r>
                <a:rPr lang="zh-CN" altLang="en-US" dirty="0">
                  <a:latin typeface="Times New Roman" panose="02020603050405020304" pitchFamily="18" charset="0"/>
                  <a:ea typeface="宋体" panose="02010600030101010101" pitchFamily="2" charset="-122"/>
                </a:rPr>
                <a:t>数字滤波器的设计中，当强调模拟滤波器的瞬态响应时，采用脉冲响应不变法</a:t>
              </a:r>
              <a:r>
                <a:rPr lang="zh-CN" altLang="en-US" dirty="0">
                  <a:latin typeface="Times New Roman" panose="02020603050405020304" pitchFamily="18" charset="0"/>
                  <a:ea typeface="宋体" panose="02010600030101010101" pitchFamily="2" charset="-122"/>
                </a:rPr>
                <a:t>较好</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而在其余情况下，大多采用双线性变换法。 </a:t>
              </a:r>
              <a:endParaRPr lang="zh-CN" altLang="en-US">
                <a:latin typeface="Times New Roman" panose="02020603050405020304" pitchFamily="18" charset="0"/>
                <a:ea typeface="宋体" panose="02010600030101010101" pitchFamily="2" charset="-122"/>
              </a:endParaRPr>
            </a:p>
          </p:txBody>
        </p:sp>
        <p:graphicFrame>
          <p:nvGraphicFramePr>
            <p:cNvPr id="102403" name="对象 98309"/>
            <p:cNvGraphicFramePr/>
            <p:nvPr/>
          </p:nvGraphicFramePr>
          <p:xfrm>
            <a:off x="384" y="720"/>
            <a:ext cx="976" cy="503"/>
          </p:xfrm>
          <a:graphic>
            <a:graphicData uri="http://schemas.openxmlformats.org/presentationml/2006/ole">
              <mc:AlternateContent xmlns:mc="http://schemas.openxmlformats.org/markup-compatibility/2006">
                <mc:Choice xmlns:v="urn:schemas-microsoft-com:vml" Requires="v">
                  <p:oleObj spid="_x0000_s3196" name="" r:id="rId1" imgW="812165" imgH="419100" progId="Equation.3">
                    <p:embed/>
                  </p:oleObj>
                </mc:Choice>
                <mc:Fallback>
                  <p:oleObj name="" r:id="rId1" imgW="812165" imgH="419100" progId="Equation.3">
                    <p:embed/>
                    <p:pic>
                      <p:nvPicPr>
                        <p:cNvPr id="0" name="图片 3195"/>
                        <p:cNvPicPr/>
                        <p:nvPr/>
                      </p:nvPicPr>
                      <p:blipFill>
                        <a:blip r:embed="rId2"/>
                        <a:stretch>
                          <a:fillRect/>
                        </a:stretch>
                      </p:blipFill>
                      <p:spPr>
                        <a:xfrm>
                          <a:off x="384" y="720"/>
                          <a:ext cx="976" cy="503"/>
                        </a:xfrm>
                        <a:prstGeom prst="rect">
                          <a:avLst/>
                        </a:prstGeom>
                        <a:solidFill>
                          <a:schemeClr val="accent1"/>
                        </a:solidFill>
                        <a:ln w="38100">
                          <a:noFill/>
                          <a:miter/>
                        </a:ln>
                      </p:spPr>
                    </p:pic>
                  </p:oleObj>
                </mc:Fallback>
              </mc:AlternateContent>
            </a:graphicData>
          </a:graphic>
        </p:graphicFrame>
        <p:graphicFrame>
          <p:nvGraphicFramePr>
            <p:cNvPr id="102404" name="对象 98310"/>
            <p:cNvGraphicFramePr/>
            <p:nvPr/>
          </p:nvGraphicFramePr>
          <p:xfrm>
            <a:off x="2352" y="1104"/>
            <a:ext cx="976" cy="503"/>
          </p:xfrm>
          <a:graphic>
            <a:graphicData uri="http://schemas.openxmlformats.org/presentationml/2006/ole">
              <mc:AlternateContent xmlns:mc="http://schemas.openxmlformats.org/markup-compatibility/2006">
                <mc:Choice xmlns:v="urn:schemas-microsoft-com:vml" Requires="v">
                  <p:oleObj spid="_x0000_s3195" name="" r:id="rId3" imgW="812165" imgH="419100" progId="Equation.3">
                    <p:embed/>
                  </p:oleObj>
                </mc:Choice>
                <mc:Fallback>
                  <p:oleObj name="" r:id="rId3" imgW="812165" imgH="419100" progId="Equation.3">
                    <p:embed/>
                    <p:pic>
                      <p:nvPicPr>
                        <p:cNvPr id="0" name="图片 3194"/>
                        <p:cNvPicPr/>
                        <p:nvPr/>
                      </p:nvPicPr>
                      <p:blipFill>
                        <a:blip r:embed="rId4"/>
                        <a:stretch>
                          <a:fillRect/>
                        </a:stretch>
                      </p:blipFill>
                      <p:spPr>
                        <a:xfrm>
                          <a:off x="2352" y="1104"/>
                          <a:ext cx="976" cy="503"/>
                        </a:xfrm>
                        <a:prstGeom prst="rect">
                          <a:avLst/>
                        </a:prstGeom>
                        <a:noFill/>
                        <a:ln w="38100">
                          <a:noFill/>
                          <a:miter/>
                        </a:ln>
                      </p:spPr>
                    </p:pic>
                  </p:oleObj>
                </mc:Fallback>
              </mc:AlternateContent>
            </a:graphicData>
          </a:graphic>
        </p:graphicFrame>
      </p:grpSp>
    </p:spTree>
  </p:cSld>
  <p:clrMapOvr>
    <a:masterClrMapping/>
  </p:clrMapOvr>
  <p:transition>
    <p:blinds/>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979613" y="3644900"/>
            <a:ext cx="2087563" cy="936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103426" name="文本框 101379"/>
          <p:cNvSpPr txBox="1"/>
          <p:nvPr/>
        </p:nvSpPr>
        <p:spPr>
          <a:xfrm>
            <a:off x="228600" y="609600"/>
            <a:ext cx="8763000" cy="1109663"/>
          </a:xfrm>
          <a:prstGeom prst="rect">
            <a:avLst/>
          </a:prstGeom>
          <a:noFill/>
          <a:ln w="9525">
            <a:noFill/>
          </a:ln>
        </p:spPr>
        <p:txBody>
          <a:bodyPr anchor="t">
            <a:spAutoFit/>
          </a:bodyPr>
          <a:p>
            <a:pPr algn="just">
              <a:lnSpc>
                <a:spcPct val="138000"/>
              </a:lnSpc>
              <a:spcBef>
                <a:spcPct val="50000"/>
              </a:spcBef>
            </a:pP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 </a:t>
            </a:r>
            <a:r>
              <a:rPr lang="en-US" altLang="zh-CN" b="1" dirty="0">
                <a:latin typeface="Times New Roman" panose="02020603050405020304" pitchFamily="18" charset="0"/>
                <a:ea typeface="宋体" panose="02010600030101010101" pitchFamily="2" charset="-122"/>
              </a:rPr>
              <a:t>5-4</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设计一个一阶数字低通滤波器，</a:t>
            </a:r>
            <a:r>
              <a:rPr lang="en-US" altLang="zh-CN" dirty="0">
                <a:latin typeface="Times New Roman" panose="02020603050405020304" pitchFamily="18" charset="0"/>
                <a:ea typeface="宋体" panose="02010600030101010101" pitchFamily="2" charset="-122"/>
              </a:rPr>
              <a:t>3 dB</a:t>
            </a:r>
            <a:r>
              <a:rPr lang="zh-CN" altLang="en-US" dirty="0">
                <a:latin typeface="Times New Roman" panose="02020603050405020304" pitchFamily="18" charset="0"/>
                <a:ea typeface="宋体" panose="02010600030101010101" pitchFamily="2" charset="-122"/>
              </a:rPr>
              <a:t>截止</a:t>
            </a:r>
            <a:r>
              <a:rPr lang="zh-CN" altLang="en-US" dirty="0">
                <a:latin typeface="Times New Roman" panose="02020603050405020304" pitchFamily="18" charset="0"/>
                <a:ea typeface="宋体" panose="02010600030101010101" pitchFamily="2" charset="-122"/>
              </a:rPr>
              <a:t>频率为</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=0.25π</a:t>
            </a:r>
            <a:r>
              <a:rPr lang="zh-CN" altLang="en-US" dirty="0">
                <a:latin typeface="Times New Roman" panose="02020603050405020304" pitchFamily="18" charset="0"/>
                <a:ea typeface="宋体" panose="02010600030101010101" pitchFamily="2" charset="-122"/>
              </a:rPr>
              <a:t>，将双线性变换应用于模拟巴特沃思滤波器。 </a:t>
            </a:r>
            <a:endParaRPr lang="zh-CN" altLang="en-US">
              <a:latin typeface="Times New Roman" panose="02020603050405020304" pitchFamily="18" charset="0"/>
              <a:ea typeface="宋体" panose="02010600030101010101" pitchFamily="2" charset="-122"/>
            </a:endParaRPr>
          </a:p>
        </p:txBody>
      </p:sp>
      <p:graphicFrame>
        <p:nvGraphicFramePr>
          <p:cNvPr id="103427" name="对象 101380"/>
          <p:cNvGraphicFramePr/>
          <p:nvPr/>
        </p:nvGraphicFramePr>
        <p:xfrm>
          <a:off x="3048000" y="1676400"/>
          <a:ext cx="2667000" cy="935038"/>
        </p:xfrm>
        <a:graphic>
          <a:graphicData uri="http://schemas.openxmlformats.org/presentationml/2006/ole">
            <mc:AlternateContent xmlns:mc="http://schemas.openxmlformats.org/markup-compatibility/2006">
              <mc:Choice xmlns:v="urn:schemas-microsoft-com:vml" Requires="v">
                <p:oleObj spid="_x0000_s3190" name="" r:id="rId1" imgW="1231265" imgH="431800" progId="Equation.3">
                  <p:embed/>
                </p:oleObj>
              </mc:Choice>
              <mc:Fallback>
                <p:oleObj name="" r:id="rId1" imgW="1231265" imgH="431800" progId="Equation.3">
                  <p:embed/>
                  <p:pic>
                    <p:nvPicPr>
                      <p:cNvPr id="0" name="图片 3189"/>
                      <p:cNvPicPr/>
                      <p:nvPr/>
                    </p:nvPicPr>
                    <p:blipFill>
                      <a:blip r:embed="rId2"/>
                      <a:stretch>
                        <a:fillRect/>
                      </a:stretch>
                    </p:blipFill>
                    <p:spPr>
                      <a:xfrm>
                        <a:off x="3048000" y="1676400"/>
                        <a:ext cx="2667000" cy="935038"/>
                      </a:xfrm>
                      <a:prstGeom prst="rect">
                        <a:avLst/>
                      </a:prstGeom>
                      <a:noFill/>
                      <a:ln w="38100">
                        <a:noFill/>
                        <a:miter/>
                      </a:ln>
                    </p:spPr>
                  </p:pic>
                </p:oleObj>
              </mc:Fallback>
            </mc:AlternateContent>
          </a:graphicData>
        </a:graphic>
      </p:graphicFrame>
      <p:sp>
        <p:nvSpPr>
          <p:cNvPr id="103428" name="文本框 101381"/>
          <p:cNvSpPr txBox="1"/>
          <p:nvPr/>
        </p:nvSpPr>
        <p:spPr>
          <a:xfrm>
            <a:off x="0" y="2482850"/>
            <a:ext cx="8763000" cy="10985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 数字低通滤波器的截止频率为</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=0.25π</a:t>
            </a:r>
            <a:r>
              <a:rPr lang="zh-CN" altLang="en-US" dirty="0">
                <a:latin typeface="Times New Roman" panose="02020603050405020304" pitchFamily="18" charset="0"/>
                <a:ea typeface="宋体" panose="02010600030101010101" pitchFamily="2" charset="-122"/>
              </a:rPr>
              <a:t>，相应的巴特</a:t>
            </a:r>
            <a:r>
              <a:rPr lang="zh-CN" altLang="en-US" dirty="0">
                <a:latin typeface="Times New Roman" panose="02020603050405020304" pitchFamily="18" charset="0"/>
                <a:ea typeface="宋体" panose="02010600030101010101" pitchFamily="2" charset="-122"/>
              </a:rPr>
              <a:t>沃思模拟滤波器的 </a:t>
            </a:r>
            <a:r>
              <a:rPr lang="en-US" altLang="zh-CN" dirty="0">
                <a:latin typeface="Times New Roman" panose="02020603050405020304" pitchFamily="18" charset="0"/>
                <a:ea typeface="宋体" panose="02010600030101010101" pitchFamily="2" charset="-122"/>
              </a:rPr>
              <a:t>3 dB</a:t>
            </a:r>
            <a:r>
              <a:rPr lang="zh-CN" altLang="en-US" dirty="0">
                <a:latin typeface="Times New Roman" panose="02020603050405020304" pitchFamily="18" charset="0"/>
                <a:ea typeface="宋体" panose="02010600030101010101" pitchFamily="2" charset="-122"/>
              </a:rPr>
              <a:t>截止频率是</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，就有 </a:t>
            </a:r>
            <a:endParaRPr lang="zh-CN" altLang="en-US">
              <a:latin typeface="Times New Roman" panose="02020603050405020304" pitchFamily="18" charset="0"/>
              <a:ea typeface="宋体" panose="02010600030101010101" pitchFamily="2" charset="-122"/>
            </a:endParaRPr>
          </a:p>
        </p:txBody>
      </p:sp>
      <p:graphicFrame>
        <p:nvGraphicFramePr>
          <p:cNvPr id="103429" name="对象 101382"/>
          <p:cNvGraphicFramePr/>
          <p:nvPr/>
        </p:nvGraphicFramePr>
        <p:xfrm>
          <a:off x="2133600" y="3733800"/>
          <a:ext cx="4724400" cy="787400"/>
        </p:xfrm>
        <a:graphic>
          <a:graphicData uri="http://schemas.openxmlformats.org/presentationml/2006/ole">
            <mc:AlternateContent xmlns:mc="http://schemas.openxmlformats.org/markup-compatibility/2006">
              <mc:Choice xmlns:v="urn:schemas-microsoft-com:vml" Requires="v">
                <p:oleObj spid="_x0000_s3197" name="" r:id="rId3" imgW="2589530" imgH="431800" progId="Equation.3">
                  <p:embed/>
                </p:oleObj>
              </mc:Choice>
              <mc:Fallback>
                <p:oleObj name="" r:id="rId3" imgW="2589530" imgH="431800" progId="Equation.3">
                  <p:embed/>
                  <p:pic>
                    <p:nvPicPr>
                      <p:cNvPr id="0" name="图片 3196"/>
                      <p:cNvPicPr/>
                      <p:nvPr/>
                    </p:nvPicPr>
                    <p:blipFill>
                      <a:blip r:embed="rId4"/>
                      <a:stretch>
                        <a:fillRect/>
                      </a:stretch>
                    </p:blipFill>
                    <p:spPr>
                      <a:xfrm>
                        <a:off x="2133600" y="3733800"/>
                        <a:ext cx="4724400" cy="787400"/>
                      </a:xfrm>
                      <a:prstGeom prst="rect">
                        <a:avLst/>
                      </a:prstGeom>
                      <a:noFill/>
                      <a:ln w="38100">
                        <a:noFill/>
                        <a:miter/>
                      </a:ln>
                    </p:spPr>
                  </p:pic>
                </p:oleObj>
              </mc:Fallback>
            </mc:AlternateContent>
          </a:graphicData>
        </a:graphic>
      </p:graphicFrame>
      <p:sp>
        <p:nvSpPr>
          <p:cNvPr id="103430" name="文本框 101383"/>
          <p:cNvSpPr txBox="1"/>
          <p:nvPr/>
        </p:nvSpPr>
        <p:spPr>
          <a:xfrm>
            <a:off x="609600" y="4648200"/>
            <a:ext cx="3613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模拟滤波器的系统函数为 </a:t>
            </a:r>
            <a:endParaRPr lang="zh-CN" altLang="en-US">
              <a:latin typeface="Times New Roman" panose="02020603050405020304" pitchFamily="18" charset="0"/>
              <a:ea typeface="宋体" panose="02010600030101010101" pitchFamily="2" charset="-122"/>
            </a:endParaRPr>
          </a:p>
        </p:txBody>
      </p:sp>
      <p:graphicFrame>
        <p:nvGraphicFramePr>
          <p:cNvPr id="103431" name="对象 101384"/>
          <p:cNvGraphicFramePr/>
          <p:nvPr/>
        </p:nvGraphicFramePr>
        <p:xfrm>
          <a:off x="1981200" y="5105400"/>
          <a:ext cx="5181600" cy="973138"/>
        </p:xfrm>
        <a:graphic>
          <a:graphicData uri="http://schemas.openxmlformats.org/presentationml/2006/ole">
            <mc:AlternateContent xmlns:mc="http://schemas.openxmlformats.org/markup-compatibility/2006">
              <mc:Choice xmlns:v="urn:schemas-microsoft-com:vml" Requires="v">
                <p:oleObj spid="_x0000_s3198" name="" r:id="rId5" imgW="2297430" imgH="431800" progId="Equation.3">
                  <p:embed/>
                </p:oleObj>
              </mc:Choice>
              <mc:Fallback>
                <p:oleObj name="" r:id="rId5" imgW="2297430" imgH="431800" progId="Equation.3">
                  <p:embed/>
                  <p:pic>
                    <p:nvPicPr>
                      <p:cNvPr id="0" name="图片 3197"/>
                      <p:cNvPicPr/>
                      <p:nvPr/>
                    </p:nvPicPr>
                    <p:blipFill>
                      <a:blip r:embed="rId6"/>
                      <a:stretch>
                        <a:fillRect/>
                      </a:stretch>
                    </p:blipFill>
                    <p:spPr>
                      <a:xfrm>
                        <a:off x="1981200" y="5105400"/>
                        <a:ext cx="5181600" cy="973138"/>
                      </a:xfrm>
                      <a:prstGeom prst="rect">
                        <a:avLst/>
                      </a:prstGeom>
                      <a:noFill/>
                      <a:ln w="38100">
                        <a:noFill/>
                        <a:miter/>
                      </a:ln>
                    </p:spPr>
                  </p:pic>
                </p:oleObj>
              </mc:Fallback>
            </mc:AlternateContent>
          </a:graphicData>
        </a:graphic>
      </p:graphicFrame>
      <p:sp>
        <p:nvSpPr>
          <p:cNvPr id="2" name="矩形 1"/>
          <p:cNvSpPr/>
          <p:nvPr/>
        </p:nvSpPr>
        <p:spPr>
          <a:xfrm>
            <a:off x="3194050" y="609600"/>
            <a:ext cx="749300" cy="601663"/>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4" name="矩形 3"/>
          <p:cNvSpPr/>
          <p:nvPr/>
        </p:nvSpPr>
        <p:spPr>
          <a:xfrm>
            <a:off x="228600" y="1211263"/>
            <a:ext cx="1414463" cy="601663"/>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1"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ppt_x</p:attrName>
                                        </p:attrNameLst>
                                      </p:cBhvr>
                                      <p:tavLst>
                                        <p:tav tm="0">
                                          <p:val>
                                            <p:strVal val="#ppt_x"/>
                                          </p:val>
                                        </p:tav>
                                        <p:tav tm="100000">
                                          <p:val>
                                            <p:strVal val="#ppt_x"/>
                                          </p:val>
                                        </p:tav>
                                      </p:tavLst>
                                    </p:anim>
                                    <p:anim calcmode="lin" valueType="num">
                                      <p:cBhvr>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1"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500" fill="hold"/>
                                        <p:tgtEl>
                                          <p:spTgt spid="4"/>
                                        </p:tgtEl>
                                        <p:attrNameLst>
                                          <p:attrName>ppt_x</p:attrName>
                                        </p:attrNameLst>
                                      </p:cBhvr>
                                      <p:tavLst>
                                        <p:tav tm="0">
                                          <p:val>
                                            <p:strVal val="#ppt_x"/>
                                          </p:val>
                                        </p:tav>
                                        <p:tav tm="100000">
                                          <p:val>
                                            <p:strVal val="#ppt_x"/>
                                          </p:val>
                                        </p:tav>
                                      </p:tavLst>
                                    </p:anim>
                                    <p:anim calcmode="lin" valueType="num">
                                      <p:cBhvr>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3427"/>
                                        </p:tgtEl>
                                        <p:attrNameLst>
                                          <p:attrName>style.visibility</p:attrName>
                                        </p:attrNameLst>
                                      </p:cBhvr>
                                      <p:to>
                                        <p:strVal val="visible"/>
                                      </p:to>
                                    </p:set>
                                    <p:anim calcmode="lin" valueType="num">
                                      <p:cBhvr additive="base">
                                        <p:cTn id="31" dur="500" fill="hold"/>
                                        <p:tgtEl>
                                          <p:spTgt spid="103427"/>
                                        </p:tgtEl>
                                        <p:attrNameLst>
                                          <p:attrName>ppt_x</p:attrName>
                                        </p:attrNameLst>
                                      </p:cBhvr>
                                      <p:tavLst>
                                        <p:tav tm="0">
                                          <p:val>
                                            <p:strVal val="#ppt_x"/>
                                          </p:val>
                                        </p:tav>
                                        <p:tav tm="100000">
                                          <p:val>
                                            <p:strVal val="#ppt_x"/>
                                          </p:val>
                                        </p:tav>
                                      </p:tavLst>
                                    </p:anim>
                                    <p:anim calcmode="lin" valueType="num">
                                      <p:cBhvr additive="base">
                                        <p:cTn id="32" dur="500" fill="hold"/>
                                        <p:tgtEl>
                                          <p:spTgt spid="10342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3429"/>
                                        </p:tgtEl>
                                        <p:attrNameLst>
                                          <p:attrName>style.visibility</p:attrName>
                                        </p:attrNameLst>
                                      </p:cBhvr>
                                      <p:to>
                                        <p:strVal val="visible"/>
                                      </p:to>
                                    </p:set>
                                    <p:anim calcmode="lin" valueType="num">
                                      <p:cBhvr additive="base">
                                        <p:cTn id="37" dur="500" fill="hold"/>
                                        <p:tgtEl>
                                          <p:spTgt spid="103429"/>
                                        </p:tgtEl>
                                        <p:attrNameLst>
                                          <p:attrName>ppt_x</p:attrName>
                                        </p:attrNameLst>
                                      </p:cBhvr>
                                      <p:tavLst>
                                        <p:tav tm="0">
                                          <p:val>
                                            <p:strVal val="#ppt_x"/>
                                          </p:val>
                                        </p:tav>
                                        <p:tav tm="100000">
                                          <p:val>
                                            <p:strVal val="#ppt_x"/>
                                          </p:val>
                                        </p:tav>
                                      </p:tavLst>
                                    </p:anim>
                                    <p:anim calcmode="lin" valueType="num">
                                      <p:cBhvr additive="base">
                                        <p:cTn id="38" dur="500" fill="hold"/>
                                        <p:tgtEl>
                                          <p:spTgt spid="10342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03431"/>
                                        </p:tgtEl>
                                        <p:attrNameLst>
                                          <p:attrName>style.visibility</p:attrName>
                                        </p:attrNameLst>
                                      </p:cBhvr>
                                      <p:to>
                                        <p:strVal val="visible"/>
                                      </p:to>
                                    </p:set>
                                    <p:anim calcmode="lin" valueType="num">
                                      <p:cBhvr additive="base">
                                        <p:cTn id="43" dur="500" fill="hold"/>
                                        <p:tgtEl>
                                          <p:spTgt spid="103431"/>
                                        </p:tgtEl>
                                        <p:attrNameLst>
                                          <p:attrName>ppt_x</p:attrName>
                                        </p:attrNameLst>
                                      </p:cBhvr>
                                      <p:tavLst>
                                        <p:tav tm="0">
                                          <p:val>
                                            <p:strVal val="#ppt_x"/>
                                          </p:val>
                                        </p:tav>
                                        <p:tav tm="100000">
                                          <p:val>
                                            <p:strVal val="#ppt_x"/>
                                          </p:val>
                                        </p:tav>
                                      </p:tavLst>
                                    </p:anim>
                                    <p:anim calcmode="lin" valueType="num">
                                      <p:cBhvr additive="base">
                                        <p:cTn id="44" dur="500" fill="hold"/>
                                        <p:tgtEl>
                                          <p:spTgt spid="1034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P spid="4" grpId="0" bldLvl="0" animBg="1"/>
      <p:bldP spid="4" grpId="1" bldLvl="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1116013" y="1341438"/>
            <a:ext cx="2808288" cy="1150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104450" name="文本框 100355"/>
          <p:cNvSpPr txBox="1"/>
          <p:nvPr/>
        </p:nvSpPr>
        <p:spPr>
          <a:xfrm>
            <a:off x="533400" y="762000"/>
            <a:ext cx="5137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将双线性变换应用于模拟滤波器，有 </a:t>
            </a:r>
            <a:endParaRPr lang="zh-CN" altLang="en-US">
              <a:latin typeface="Times New Roman" panose="02020603050405020304" pitchFamily="18" charset="0"/>
              <a:ea typeface="宋体" panose="02010600030101010101" pitchFamily="2" charset="-122"/>
            </a:endParaRPr>
          </a:p>
        </p:txBody>
      </p:sp>
      <p:graphicFrame>
        <p:nvGraphicFramePr>
          <p:cNvPr id="104451" name="对象 100356"/>
          <p:cNvGraphicFramePr/>
          <p:nvPr/>
        </p:nvGraphicFramePr>
        <p:xfrm>
          <a:off x="1143000" y="1447800"/>
          <a:ext cx="7086600" cy="1957388"/>
        </p:xfrm>
        <a:graphic>
          <a:graphicData uri="http://schemas.openxmlformats.org/presentationml/2006/ole">
            <mc:AlternateContent xmlns:mc="http://schemas.openxmlformats.org/markup-compatibility/2006">
              <mc:Choice xmlns:v="urn:schemas-microsoft-com:vml" Requires="v">
                <p:oleObj spid="_x0000_s3191" name="" r:id="rId1" imgW="3403600" imgH="939800" progId="Equation.3">
                  <p:embed/>
                </p:oleObj>
              </mc:Choice>
              <mc:Fallback>
                <p:oleObj name="" r:id="rId1" imgW="3403600" imgH="939800" progId="Equation.3">
                  <p:embed/>
                  <p:pic>
                    <p:nvPicPr>
                      <p:cNvPr id="0" name="图片 3190"/>
                      <p:cNvPicPr/>
                      <p:nvPr/>
                    </p:nvPicPr>
                    <p:blipFill>
                      <a:blip r:embed="rId2"/>
                      <a:stretch>
                        <a:fillRect/>
                      </a:stretch>
                    </p:blipFill>
                    <p:spPr>
                      <a:xfrm>
                        <a:off x="1143000" y="1447800"/>
                        <a:ext cx="7086600" cy="1957388"/>
                      </a:xfrm>
                      <a:prstGeom prst="rect">
                        <a:avLst/>
                      </a:prstGeom>
                      <a:noFill/>
                      <a:ln w="38100">
                        <a:noFill/>
                        <a:miter/>
                      </a:ln>
                    </p:spPr>
                  </p:pic>
                </p:oleObj>
              </mc:Fallback>
            </mc:AlternateContent>
          </a:graphicData>
        </a:graphic>
      </p:graphicFrame>
      <p:grpSp>
        <p:nvGrpSpPr>
          <p:cNvPr id="104452" name="组合 100361"/>
          <p:cNvGrpSpPr/>
          <p:nvPr/>
        </p:nvGrpSpPr>
        <p:grpSpPr>
          <a:xfrm>
            <a:off x="228600" y="3657600"/>
            <a:ext cx="8686800" cy="2282825"/>
            <a:chOff x="144" y="2304"/>
            <a:chExt cx="5472" cy="1438"/>
          </a:xfrm>
        </p:grpSpPr>
        <p:sp>
          <p:nvSpPr>
            <p:cNvPr id="104453" name="文本框 100357"/>
            <p:cNvSpPr txBox="1"/>
            <p:nvPr/>
          </p:nvSpPr>
          <p:spPr>
            <a:xfrm>
              <a:off x="144" y="2304"/>
              <a:ext cx="5472" cy="1438"/>
            </a:xfrm>
            <a:prstGeom prst="rect">
              <a:avLst/>
            </a:prstGeom>
            <a:noFill/>
            <a:ln w="9525">
              <a:noFill/>
            </a:ln>
          </p:spPr>
          <p:txBody>
            <a:bodyPr anchor="t">
              <a:spAutoFit/>
            </a:bodyPr>
            <a:p>
              <a:pPr algn="just">
                <a:lnSpc>
                  <a:spcPct val="200000"/>
                </a:lnSpc>
                <a:spcBef>
                  <a:spcPct val="50000"/>
                </a:spcBef>
              </a:pPr>
              <a:r>
                <a:rPr lang="zh-CN" altLang="en-US" dirty="0">
                  <a:latin typeface="Times New Roman" panose="02020603050405020304" pitchFamily="18" charset="0"/>
                  <a:ea typeface="宋体" panose="02010600030101010101" pitchFamily="2" charset="-122"/>
                </a:rPr>
                <a:t>由上题可知，</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不参与设计，即双线性变换法中用	           			设计与用 				  </a:t>
              </a:r>
              <a:r>
                <a:rPr lang="zh-CN" altLang="en-US" dirty="0">
                  <a:latin typeface="Times New Roman" panose="02020603050405020304" pitchFamily="18" charset="0"/>
                  <a:ea typeface="宋体" panose="02010600030101010101" pitchFamily="2" charset="-122"/>
                </a:rPr>
                <a:t>设计得到的结果一致。 </a:t>
              </a:r>
              <a:endParaRPr lang="zh-CN" altLang="en-US">
                <a:latin typeface="Times New Roman" panose="02020603050405020304" pitchFamily="18" charset="0"/>
                <a:ea typeface="宋体" panose="02010600030101010101" pitchFamily="2" charset="-122"/>
              </a:endParaRPr>
            </a:p>
          </p:txBody>
        </p:sp>
        <p:graphicFrame>
          <p:nvGraphicFramePr>
            <p:cNvPr id="104454" name="对象 100358"/>
            <p:cNvGraphicFramePr/>
            <p:nvPr/>
          </p:nvGraphicFramePr>
          <p:xfrm>
            <a:off x="4487" y="2362"/>
            <a:ext cx="988" cy="518"/>
          </p:xfrm>
          <a:graphic>
            <a:graphicData uri="http://schemas.openxmlformats.org/presentationml/2006/ole">
              <mc:AlternateContent xmlns:mc="http://schemas.openxmlformats.org/markup-compatibility/2006">
                <mc:Choice xmlns:v="urn:schemas-microsoft-com:vml" Requires="v">
                  <p:oleObj spid="_x0000_s3199" name="" r:id="rId3" imgW="800100" imgH="419100" progId="Equation.3">
                    <p:embed/>
                  </p:oleObj>
                </mc:Choice>
                <mc:Fallback>
                  <p:oleObj name="" r:id="rId3" imgW="800100" imgH="419100" progId="Equation.3">
                    <p:embed/>
                    <p:pic>
                      <p:nvPicPr>
                        <p:cNvPr id="0" name="图片 3198"/>
                        <p:cNvPicPr/>
                        <p:nvPr/>
                      </p:nvPicPr>
                      <p:blipFill>
                        <a:blip r:embed="rId4"/>
                        <a:stretch>
                          <a:fillRect/>
                        </a:stretch>
                      </p:blipFill>
                      <p:spPr>
                        <a:xfrm>
                          <a:off x="4487" y="2362"/>
                          <a:ext cx="988" cy="518"/>
                        </a:xfrm>
                        <a:prstGeom prst="rect">
                          <a:avLst/>
                        </a:prstGeom>
                        <a:noFill/>
                        <a:ln w="38100">
                          <a:noFill/>
                          <a:miter/>
                        </a:ln>
                      </p:spPr>
                    </p:pic>
                  </p:oleObj>
                </mc:Fallback>
              </mc:AlternateContent>
            </a:graphicData>
          </a:graphic>
        </p:graphicFrame>
        <p:graphicFrame>
          <p:nvGraphicFramePr>
            <p:cNvPr id="104455" name="对象 100359"/>
            <p:cNvGraphicFramePr/>
            <p:nvPr/>
          </p:nvGraphicFramePr>
          <p:xfrm>
            <a:off x="145" y="2880"/>
            <a:ext cx="1053" cy="518"/>
          </p:xfrm>
          <a:graphic>
            <a:graphicData uri="http://schemas.openxmlformats.org/presentationml/2006/ole">
              <mc:AlternateContent xmlns:mc="http://schemas.openxmlformats.org/markup-compatibility/2006">
                <mc:Choice xmlns:v="urn:schemas-microsoft-com:vml" Requires="v">
                  <p:oleObj spid="_x0000_s3203" name="" r:id="rId5" imgW="876300" imgH="431800" progId="Equation.3">
                    <p:embed/>
                  </p:oleObj>
                </mc:Choice>
                <mc:Fallback>
                  <p:oleObj name="" r:id="rId5" imgW="876300" imgH="431800" progId="Equation.3">
                    <p:embed/>
                    <p:pic>
                      <p:nvPicPr>
                        <p:cNvPr id="0" name="图片 3202"/>
                        <p:cNvPicPr/>
                        <p:nvPr/>
                      </p:nvPicPr>
                      <p:blipFill>
                        <a:blip r:embed="rId6"/>
                        <a:stretch>
                          <a:fillRect/>
                        </a:stretch>
                      </p:blipFill>
                      <p:spPr>
                        <a:xfrm>
                          <a:off x="145" y="2880"/>
                          <a:ext cx="1053" cy="518"/>
                        </a:xfrm>
                        <a:prstGeom prst="rect">
                          <a:avLst/>
                        </a:prstGeom>
                        <a:noFill/>
                        <a:ln w="38100">
                          <a:noFill/>
                          <a:miter/>
                        </a:ln>
                      </p:spPr>
                    </p:pic>
                  </p:oleObj>
                </mc:Fallback>
              </mc:AlternateContent>
            </a:graphicData>
          </a:graphic>
        </p:graphicFrame>
        <p:graphicFrame>
          <p:nvGraphicFramePr>
            <p:cNvPr id="104456" name="对象 100360"/>
            <p:cNvGraphicFramePr/>
            <p:nvPr/>
          </p:nvGraphicFramePr>
          <p:xfrm>
            <a:off x="2112" y="2808"/>
            <a:ext cx="2256" cy="568"/>
          </p:xfrm>
          <a:graphic>
            <a:graphicData uri="http://schemas.openxmlformats.org/presentationml/2006/ole">
              <mc:AlternateContent xmlns:mc="http://schemas.openxmlformats.org/markup-compatibility/2006">
                <mc:Choice xmlns:v="urn:schemas-microsoft-com:vml" Requires="v">
                  <p:oleObj spid="_x0000_s3200" name="" r:id="rId7" imgW="1764665" imgH="444500" progId="Equation.3">
                    <p:embed/>
                  </p:oleObj>
                </mc:Choice>
                <mc:Fallback>
                  <p:oleObj name="" r:id="rId7" imgW="1764665" imgH="444500" progId="Equation.3">
                    <p:embed/>
                    <p:pic>
                      <p:nvPicPr>
                        <p:cNvPr id="0" name="图片 3199"/>
                        <p:cNvPicPr/>
                        <p:nvPr/>
                      </p:nvPicPr>
                      <p:blipFill>
                        <a:blip r:embed="rId8"/>
                        <a:stretch>
                          <a:fillRect/>
                        </a:stretch>
                      </p:blipFill>
                      <p:spPr>
                        <a:xfrm>
                          <a:off x="2112" y="2808"/>
                          <a:ext cx="2256" cy="568"/>
                        </a:xfrm>
                        <a:prstGeom prst="rect">
                          <a:avLst/>
                        </a:prstGeom>
                        <a:noFill/>
                        <a:ln w="38100">
                          <a:noFill/>
                          <a:miter/>
                        </a:ln>
                      </p:spPr>
                    </p:pic>
                  </p:oleObj>
                </mc:Fallback>
              </mc:AlternateContent>
            </a:graphicData>
          </a:graphic>
        </p:graphicFrame>
      </p:grpSp>
    </p:spTree>
  </p:cSld>
  <p:clrMapOvr>
    <a:masterClrMapping/>
  </p:clrMapOvr>
  <p:transition>
    <p:blinds/>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文本框 104451"/>
          <p:cNvSpPr txBox="1"/>
          <p:nvPr/>
        </p:nvSpPr>
        <p:spPr>
          <a:xfrm>
            <a:off x="228600" y="609600"/>
            <a:ext cx="8686800" cy="16192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a:t>
            </a:r>
            <a:r>
              <a:rPr lang="en-US" altLang="zh-CN" b="1" dirty="0">
                <a:latin typeface="Times New Roman" panose="02020603050405020304" pitchFamily="18" charset="0"/>
                <a:ea typeface="宋体" panose="02010600030101010101" pitchFamily="2" charset="-122"/>
              </a:rPr>
              <a:t>5-5</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用双线性变换法设计一个三阶巴特沃思数字低通滤波器，采样频率为</a:t>
            </a:r>
            <a:r>
              <a:rPr lang="en-US" altLang="zh-CN" b="1" i="1" dirty="0" err="1">
                <a:solidFill>
                  <a:srgbClr val="FF0000"/>
                </a:solidFill>
                <a:latin typeface="Times New Roman" panose="02020603050405020304" pitchFamily="18" charset="0"/>
                <a:ea typeface="宋体" panose="02010600030101010101" pitchFamily="2" charset="-122"/>
              </a:rPr>
              <a:t>f</a:t>
            </a:r>
            <a:r>
              <a:rPr lang="en-US" altLang="zh-CN" b="1" baseline="-25000" dirty="0" err="1">
                <a:solidFill>
                  <a:srgbClr val="FF0000"/>
                </a:solidFill>
                <a:latin typeface="Times New Roman" panose="02020603050405020304" pitchFamily="18" charset="0"/>
                <a:ea typeface="宋体" panose="02010600030101010101" pitchFamily="2" charset="-122"/>
              </a:rPr>
              <a:t>s</a:t>
            </a:r>
            <a:r>
              <a:rPr lang="en-US" altLang="zh-CN" b="1" dirty="0">
                <a:solidFill>
                  <a:srgbClr val="FF0000"/>
                </a:solidFill>
                <a:latin typeface="Times New Roman" panose="02020603050405020304" pitchFamily="18" charset="0"/>
                <a:ea typeface="宋体" panose="02010600030101010101" pitchFamily="2" charset="-122"/>
              </a:rPr>
              <a:t>=4 kHz</a:t>
            </a:r>
            <a:r>
              <a:rPr lang="zh-CN" altLang="en-US" dirty="0">
                <a:latin typeface="Times New Roman" panose="02020603050405020304" pitchFamily="18" charset="0"/>
                <a:ea typeface="宋体" panose="02010600030101010101" pitchFamily="2" charset="-122"/>
              </a:rPr>
              <a:t>（即采样周期为</a:t>
            </a:r>
            <a:r>
              <a:rPr lang="en-US" altLang="zh-CN" i="1">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=250 μs</a:t>
            </a:r>
            <a:r>
              <a:rPr lang="zh-CN" altLang="en-US" dirty="0">
                <a:latin typeface="Times New Roman" panose="02020603050405020304" pitchFamily="18" charset="0"/>
                <a:ea typeface="宋体" panose="02010600030101010101" pitchFamily="2" charset="-122"/>
              </a:rPr>
              <a:t>），其</a:t>
            </a:r>
            <a:r>
              <a:rPr lang="en-US" altLang="zh-CN" dirty="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dB</a:t>
            </a:r>
            <a:r>
              <a:rPr lang="zh-CN" altLang="en-US" dirty="0">
                <a:latin typeface="Times New Roman" panose="02020603050405020304" pitchFamily="18" charset="0"/>
                <a:ea typeface="宋体" panose="02010600030101010101" pitchFamily="2" charset="-122"/>
              </a:rPr>
              <a:t> 截止频率为</a:t>
            </a:r>
            <a:r>
              <a:rPr lang="en-US" altLang="zh-CN" b="1" i="1" dirty="0" err="1">
                <a:solidFill>
                  <a:srgbClr val="FF0000"/>
                </a:solidFill>
                <a:latin typeface="Times New Roman" panose="02020603050405020304" pitchFamily="18" charset="0"/>
                <a:ea typeface="宋体" panose="02010600030101010101" pitchFamily="2" charset="-122"/>
              </a:rPr>
              <a:t>f</a:t>
            </a:r>
            <a:r>
              <a:rPr lang="en-US" altLang="zh-CN" b="1" baseline="-25000" dirty="0" err="1">
                <a:solidFill>
                  <a:srgbClr val="FF0000"/>
                </a:solidFill>
                <a:latin typeface="Times New Roman" panose="02020603050405020304" pitchFamily="18" charset="0"/>
                <a:ea typeface="宋体" panose="02010600030101010101" pitchFamily="2" charset="-122"/>
              </a:rPr>
              <a:t>c</a:t>
            </a:r>
            <a:r>
              <a:rPr lang="en-US" altLang="zh-CN" b="1" dirty="0">
                <a:solidFill>
                  <a:srgbClr val="FF0000"/>
                </a:solidFill>
                <a:latin typeface="Times New Roman" panose="02020603050405020304" pitchFamily="18" charset="0"/>
                <a:ea typeface="宋体" panose="02010600030101010101" pitchFamily="2" charset="-122"/>
              </a:rPr>
              <a:t>=1 kHz</a:t>
            </a:r>
            <a:r>
              <a:rPr lang="zh-CN" altLang="en-US" dirty="0">
                <a:latin typeface="Times New Roman" panose="02020603050405020304" pitchFamily="18" charset="0"/>
                <a:ea typeface="宋体" panose="02010600030101010101" pitchFamily="2" charset="-122"/>
              </a:rPr>
              <a:t>。 三阶模拟巴特沃思滤波器为 </a:t>
            </a:r>
            <a:endParaRPr lang="zh-CN" altLang="en-US">
              <a:latin typeface="Times New Roman" panose="02020603050405020304" pitchFamily="18" charset="0"/>
              <a:ea typeface="宋体" panose="02010600030101010101" pitchFamily="2" charset="-122"/>
            </a:endParaRPr>
          </a:p>
        </p:txBody>
      </p:sp>
      <p:graphicFrame>
        <p:nvGraphicFramePr>
          <p:cNvPr id="105474" name="对象 104452"/>
          <p:cNvGraphicFramePr/>
          <p:nvPr/>
        </p:nvGraphicFramePr>
        <p:xfrm>
          <a:off x="1524000" y="2286000"/>
          <a:ext cx="6553200" cy="1060450"/>
        </p:xfrm>
        <a:graphic>
          <a:graphicData uri="http://schemas.openxmlformats.org/presentationml/2006/ole">
            <mc:AlternateContent xmlns:mc="http://schemas.openxmlformats.org/markup-compatibility/2006">
              <mc:Choice xmlns:v="urn:schemas-microsoft-com:vml" Requires="v">
                <p:oleObj spid="_x0000_s3204" name="" r:id="rId1" imgW="2665730" imgH="431800" progId="Equation.3">
                  <p:embed/>
                </p:oleObj>
              </mc:Choice>
              <mc:Fallback>
                <p:oleObj name="" r:id="rId1" imgW="2665730" imgH="431800" progId="Equation.3">
                  <p:embed/>
                  <p:pic>
                    <p:nvPicPr>
                      <p:cNvPr id="0" name="图片 3203"/>
                      <p:cNvPicPr/>
                      <p:nvPr/>
                    </p:nvPicPr>
                    <p:blipFill>
                      <a:blip r:embed="rId2"/>
                      <a:stretch>
                        <a:fillRect/>
                      </a:stretch>
                    </p:blipFill>
                    <p:spPr>
                      <a:xfrm>
                        <a:off x="1524000" y="2286000"/>
                        <a:ext cx="6553200" cy="1060450"/>
                      </a:xfrm>
                      <a:prstGeom prst="rect">
                        <a:avLst/>
                      </a:prstGeom>
                      <a:noFill/>
                      <a:ln w="38100">
                        <a:noFill/>
                        <a:miter/>
                      </a:ln>
                    </p:spPr>
                  </p:pic>
                </p:oleObj>
              </mc:Fallback>
            </mc:AlternateContent>
          </a:graphicData>
        </a:graphic>
      </p:graphicFrame>
      <p:sp>
        <p:nvSpPr>
          <p:cNvPr id="105475" name="文本框 104453"/>
          <p:cNvSpPr txBox="1"/>
          <p:nvPr/>
        </p:nvSpPr>
        <p:spPr>
          <a:xfrm>
            <a:off x="304800" y="3352800"/>
            <a:ext cx="8686800" cy="1802765"/>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 首先，确定数字域</a:t>
            </a:r>
            <a:r>
              <a:rPr lang="zh-CN" altLang="en-US" b="1" u="sng" dirty="0">
                <a:latin typeface="Times New Roman" panose="02020603050405020304" pitchFamily="18" charset="0"/>
                <a:ea typeface="宋体" panose="02010600030101010101" pitchFamily="2" charset="-122"/>
              </a:rPr>
              <a:t>截止频率</a:t>
            </a:r>
            <a:r>
              <a:rPr lang="en-US" altLang="zh-CN" b="1" dirty="0">
                <a:latin typeface="Times New Roman" panose="02020603050405020304" pitchFamily="18" charset="0"/>
                <a:ea typeface="宋体" panose="02010600030101010101" pitchFamily="2" charset="-122"/>
              </a:rPr>
              <a:t>     </a:t>
            </a:r>
            <a:r>
              <a:rPr lang="en-US" altLang="zh-CN" b="1" i="1">
                <a:solidFill>
                  <a:srgbClr val="FF0000"/>
                </a:solidFill>
                <a:latin typeface="Times New Roman" panose="02020603050405020304" pitchFamily="18" charset="0"/>
                <a:ea typeface="宋体" panose="02010600030101010101" pitchFamily="2" charset="-122"/>
              </a:rPr>
              <a:t>ω</a:t>
            </a:r>
            <a:r>
              <a:rPr lang="en-US" altLang="zh-CN" b="1" baseline="-25000">
                <a:solidFill>
                  <a:srgbClr val="FF0000"/>
                </a:solidFill>
                <a:latin typeface="Times New Roman" panose="02020603050405020304" pitchFamily="18" charset="0"/>
                <a:ea typeface="宋体" panose="02010600030101010101" pitchFamily="2" charset="-122"/>
              </a:rPr>
              <a:t>c</a:t>
            </a:r>
            <a:r>
              <a:rPr lang="en-US" altLang="zh-CN" b="1">
                <a:solidFill>
                  <a:srgbClr val="FF0000"/>
                </a:solidFill>
                <a:latin typeface="Times New Roman" panose="02020603050405020304" pitchFamily="18" charset="0"/>
                <a:ea typeface="宋体" panose="02010600030101010101" pitchFamily="2" charset="-122"/>
              </a:rPr>
              <a:t>=2π</a:t>
            </a:r>
            <a:r>
              <a:rPr lang="en-US" altLang="zh-CN" b="1" i="1" dirty="0" err="1">
                <a:solidFill>
                  <a:srgbClr val="FF0000"/>
                </a:solidFill>
                <a:latin typeface="Times New Roman" panose="02020603050405020304" pitchFamily="18" charset="0"/>
                <a:ea typeface="宋体" panose="02010600030101010101" pitchFamily="2" charset="-122"/>
              </a:rPr>
              <a:t>f</a:t>
            </a:r>
            <a:r>
              <a:rPr lang="en-US" altLang="zh-CN" b="1" baseline="-25000" dirty="0" err="1">
                <a:solidFill>
                  <a:srgbClr val="FF0000"/>
                </a:solidFill>
                <a:latin typeface="Times New Roman" panose="02020603050405020304" pitchFamily="18" charset="0"/>
                <a:ea typeface="宋体" panose="02010600030101010101" pitchFamily="2" charset="-122"/>
              </a:rPr>
              <a:t>c</a:t>
            </a:r>
            <a:r>
              <a:rPr lang="en-US" altLang="zh-CN" b="1" i="1" dirty="0" err="1">
                <a:solidFill>
                  <a:srgbClr val="FF0000"/>
                </a:solidFill>
                <a:latin typeface="Times New Roman" panose="02020603050405020304" pitchFamily="18" charset="0"/>
                <a:ea typeface="宋体" panose="02010600030101010101" pitchFamily="2" charset="-122"/>
              </a:rPr>
              <a:t>Ts</a:t>
            </a:r>
            <a:r>
              <a:rPr lang="en-US" altLang="zh-CN" b="1">
                <a:solidFill>
                  <a:srgbClr val="FF0000"/>
                </a:solidFill>
                <a:latin typeface="Times New Roman" panose="02020603050405020304" pitchFamily="18" charset="0"/>
                <a:ea typeface="宋体" panose="02010600030101010101" pitchFamily="2" charset="-122"/>
              </a:rPr>
              <a:t>=0.5π</a:t>
            </a:r>
            <a:r>
              <a:rPr lang="zh-CN" altLang="en-US" b="1">
                <a:solidFill>
                  <a:srgbClr val="FF0000"/>
                </a:solidFill>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第二步，根据频率的非线性关系式（</a:t>
            </a:r>
            <a:r>
              <a:rPr lang="en-US" altLang="zh-CN" dirty="0">
                <a:latin typeface="Times New Roman" panose="02020603050405020304" pitchFamily="18" charset="0"/>
                <a:ea typeface="宋体" panose="02010600030101010101" pitchFamily="2" charset="-122"/>
              </a:rPr>
              <a:t>5-46</a:t>
            </a:r>
            <a:r>
              <a:rPr lang="zh-CN" altLang="en-US" dirty="0">
                <a:latin typeface="Times New Roman" panose="02020603050405020304" pitchFamily="18" charset="0"/>
                <a:ea typeface="宋体" panose="02010600030101010101" pitchFamily="2" charset="-122"/>
              </a:rPr>
              <a:t>），确定预畸变的模拟滤波器的截止频</a:t>
            </a:r>
            <a:r>
              <a:rPr lang="zh-CN" altLang="en-US" dirty="0">
                <a:latin typeface="Times New Roman" panose="02020603050405020304" pitchFamily="18" charset="0"/>
                <a:ea typeface="宋体" panose="02010600030101010101" pitchFamily="2" charset="-122"/>
              </a:rPr>
              <a:t>率 </a:t>
            </a:r>
            <a:endParaRPr lang="zh-CN" altLang="en-US">
              <a:latin typeface="Times New Roman" panose="02020603050405020304" pitchFamily="18" charset="0"/>
              <a:ea typeface="宋体" panose="02010600030101010101" pitchFamily="2" charset="-122"/>
            </a:endParaRPr>
          </a:p>
        </p:txBody>
      </p:sp>
      <p:graphicFrame>
        <p:nvGraphicFramePr>
          <p:cNvPr id="105476" name="对象 104454"/>
          <p:cNvGraphicFramePr/>
          <p:nvPr/>
        </p:nvGraphicFramePr>
        <p:xfrm>
          <a:off x="2282825" y="5157788"/>
          <a:ext cx="4953000" cy="941387"/>
        </p:xfrm>
        <a:graphic>
          <a:graphicData uri="http://schemas.openxmlformats.org/presentationml/2006/ole">
            <mc:AlternateContent xmlns:mc="http://schemas.openxmlformats.org/markup-compatibility/2006">
              <mc:Choice xmlns:v="urn:schemas-microsoft-com:vml" Requires="v">
                <p:oleObj spid="_x0000_s3201" name="" r:id="rId3" imgW="2272030" imgH="431800" progId="Equation.3">
                  <p:embed/>
                </p:oleObj>
              </mc:Choice>
              <mc:Fallback>
                <p:oleObj name="" r:id="rId3" imgW="2272030" imgH="431800" progId="Equation.3">
                  <p:embed/>
                  <p:pic>
                    <p:nvPicPr>
                      <p:cNvPr id="0" name="图片 3200"/>
                      <p:cNvPicPr/>
                      <p:nvPr/>
                    </p:nvPicPr>
                    <p:blipFill>
                      <a:blip r:embed="rId4"/>
                      <a:stretch>
                        <a:fillRect/>
                      </a:stretch>
                    </p:blipFill>
                    <p:spPr>
                      <a:xfrm>
                        <a:off x="2282825" y="5157788"/>
                        <a:ext cx="4953000" cy="941387"/>
                      </a:xfrm>
                      <a:prstGeom prst="rect">
                        <a:avLst/>
                      </a:prstGeom>
                      <a:noFill/>
                      <a:ln w="38100">
                        <a:noFill/>
                        <a:miter/>
                      </a:ln>
                    </p:spPr>
                  </p:pic>
                </p:oleObj>
              </mc:Fallback>
            </mc:AlternateContent>
          </a:graphicData>
        </a:graphic>
      </p:graphicFrame>
      <p:sp>
        <p:nvSpPr>
          <p:cNvPr id="2" name="矩形 1"/>
          <p:cNvSpPr/>
          <p:nvPr/>
        </p:nvSpPr>
        <p:spPr>
          <a:xfrm>
            <a:off x="2025650" y="609600"/>
            <a:ext cx="1835150" cy="601663"/>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 name="矩形 2"/>
          <p:cNvSpPr/>
          <p:nvPr/>
        </p:nvSpPr>
        <p:spPr>
          <a:xfrm>
            <a:off x="5016500" y="609600"/>
            <a:ext cx="749300" cy="601663"/>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4" name="等腰三角形 3"/>
          <p:cNvSpPr/>
          <p:nvPr/>
        </p:nvSpPr>
        <p:spPr>
          <a:xfrm>
            <a:off x="3851275" y="3860800"/>
            <a:ext cx="288925" cy="215900"/>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5" name="等腰三角形 4"/>
          <p:cNvSpPr/>
          <p:nvPr/>
        </p:nvSpPr>
        <p:spPr>
          <a:xfrm>
            <a:off x="427038" y="5016500"/>
            <a:ext cx="287338" cy="215900"/>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6" name="矩形 5"/>
          <p:cNvSpPr/>
          <p:nvPr/>
        </p:nvSpPr>
        <p:spPr>
          <a:xfrm>
            <a:off x="5292090" y="3369310"/>
            <a:ext cx="2304415" cy="647700"/>
          </a:xfrm>
          <a:prstGeom prst="rect">
            <a:avLst/>
          </a:prstGeom>
          <a:noFill/>
          <a:ln w="44450"/>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1"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ppt_x</p:attrName>
                                        </p:attrNameLst>
                                      </p:cBhvr>
                                      <p:tavLst>
                                        <p:tav tm="0">
                                          <p:val>
                                            <p:strVal val="#ppt_x"/>
                                          </p:val>
                                        </p:tav>
                                        <p:tav tm="100000">
                                          <p:val>
                                            <p:strVal val="#ppt_x"/>
                                          </p:val>
                                        </p:tav>
                                      </p:tavLst>
                                    </p:anim>
                                    <p:anim calcmode="lin" valueType="num">
                                      <p:cBhvr>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ppt_x</p:attrName>
                                        </p:attrNameLst>
                                      </p:cBhvr>
                                      <p:tavLst>
                                        <p:tav tm="0">
                                          <p:val>
                                            <p:strVal val="#ppt_x"/>
                                          </p:val>
                                        </p:tav>
                                        <p:tav tm="100000">
                                          <p:val>
                                            <p:strVal val="#ppt_x"/>
                                          </p:val>
                                        </p:tav>
                                      </p:tavLst>
                                    </p:anim>
                                    <p:anim calcmode="lin" valueType="num">
                                      <p:cBhvr>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1"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ppt_x</p:attrName>
                                        </p:attrNameLst>
                                      </p:cBhvr>
                                      <p:tavLst>
                                        <p:tav tm="0">
                                          <p:val>
                                            <p:strVal val="#ppt_x"/>
                                          </p:val>
                                        </p:tav>
                                        <p:tav tm="100000">
                                          <p:val>
                                            <p:strVal val="#ppt_x"/>
                                          </p:val>
                                        </p:tav>
                                      </p:tavLst>
                                    </p:anim>
                                    <p:anim calcmode="lin" valueType="num">
                                      <p:cBhvr>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5474"/>
                                        </p:tgtEl>
                                        <p:attrNameLst>
                                          <p:attrName>style.visibility</p:attrName>
                                        </p:attrNameLst>
                                      </p:cBhvr>
                                      <p:to>
                                        <p:strVal val="visible"/>
                                      </p:to>
                                    </p:set>
                                    <p:anim calcmode="lin" valueType="num">
                                      <p:cBhvr additive="base">
                                        <p:cTn id="31" dur="500" fill="hold"/>
                                        <p:tgtEl>
                                          <p:spTgt spid="105474"/>
                                        </p:tgtEl>
                                        <p:attrNameLst>
                                          <p:attrName>ppt_x</p:attrName>
                                        </p:attrNameLst>
                                      </p:cBhvr>
                                      <p:tavLst>
                                        <p:tav tm="0">
                                          <p:val>
                                            <p:strVal val="#ppt_x"/>
                                          </p:val>
                                        </p:tav>
                                        <p:tav tm="100000">
                                          <p:val>
                                            <p:strVal val="#ppt_x"/>
                                          </p:val>
                                        </p:tav>
                                      </p:tavLst>
                                    </p:anim>
                                    <p:anim calcmode="lin" valueType="num">
                                      <p:cBhvr additive="base">
                                        <p:cTn id="32" dur="500" fill="hold"/>
                                        <p:tgtEl>
                                          <p:spTgt spid="10547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5475">
                                            <p:txEl>
                                              <p:charRg st="0" end="39"/>
                                            </p:txEl>
                                          </p:spTgt>
                                        </p:tgtEl>
                                        <p:attrNameLst>
                                          <p:attrName>style.visibility</p:attrName>
                                        </p:attrNameLst>
                                      </p:cBhvr>
                                      <p:to>
                                        <p:strVal val="visible"/>
                                      </p:to>
                                    </p:set>
                                    <p:anim calcmode="lin" valueType="num">
                                      <p:cBhvr additive="base">
                                        <p:cTn id="37" dur="500" fill="hold"/>
                                        <p:tgtEl>
                                          <p:spTgt spid="105475">
                                            <p:txEl>
                                              <p:charRg st="0" end="3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5475">
                                            <p:txEl>
                                              <p:charRg st="0" end="39"/>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05476"/>
                                        </p:tgtEl>
                                        <p:attrNameLst>
                                          <p:attrName>style.visibility</p:attrName>
                                        </p:attrNameLst>
                                      </p:cBhvr>
                                      <p:to>
                                        <p:strVal val="visible"/>
                                      </p:to>
                                    </p:set>
                                    <p:anim calcmode="lin" valueType="num">
                                      <p:cBhvr additive="base">
                                        <p:cTn id="43" dur="500" fill="hold"/>
                                        <p:tgtEl>
                                          <p:spTgt spid="105476"/>
                                        </p:tgtEl>
                                        <p:attrNameLst>
                                          <p:attrName>ppt_x</p:attrName>
                                        </p:attrNameLst>
                                      </p:cBhvr>
                                      <p:tavLst>
                                        <p:tav tm="0">
                                          <p:val>
                                            <p:strVal val="#ppt_x"/>
                                          </p:val>
                                        </p:tav>
                                        <p:tav tm="100000">
                                          <p:val>
                                            <p:strVal val="#ppt_x"/>
                                          </p:val>
                                        </p:tav>
                                      </p:tavLst>
                                    </p:anim>
                                    <p:anim calcmode="lin" valueType="num">
                                      <p:cBhvr additive="base">
                                        <p:cTn id="44" dur="500" fill="hold"/>
                                        <p:tgtEl>
                                          <p:spTgt spid="10547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bldLvl="0" animBg="1"/>
      <p:bldP spid="3" grpId="0" bldLvl="0" animBg="1"/>
      <p:bldP spid="3" grpId="1" bldLvl="0" animBg="1"/>
      <p:bldP spid="6" grpId="0" bldLvl="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文本框 103427"/>
          <p:cNvSpPr txBox="1"/>
          <p:nvPr/>
        </p:nvSpPr>
        <p:spPr>
          <a:xfrm>
            <a:off x="457200" y="762000"/>
            <a:ext cx="73850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第三步，将</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代入三阶模拟巴特沃思滤波器</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，得 </a:t>
            </a:r>
            <a:endParaRPr lang="zh-CN" altLang="en-US">
              <a:latin typeface="Times New Roman" panose="02020603050405020304" pitchFamily="18" charset="0"/>
              <a:ea typeface="宋体" panose="02010600030101010101" pitchFamily="2" charset="-122"/>
            </a:endParaRPr>
          </a:p>
        </p:txBody>
      </p:sp>
      <p:graphicFrame>
        <p:nvGraphicFramePr>
          <p:cNvPr id="106498" name="对象 103428"/>
          <p:cNvGraphicFramePr/>
          <p:nvPr/>
        </p:nvGraphicFramePr>
        <p:xfrm>
          <a:off x="1676400" y="1371600"/>
          <a:ext cx="5791200" cy="909638"/>
        </p:xfrm>
        <a:graphic>
          <a:graphicData uri="http://schemas.openxmlformats.org/presentationml/2006/ole">
            <mc:AlternateContent xmlns:mc="http://schemas.openxmlformats.org/markup-compatibility/2006">
              <mc:Choice xmlns:v="urn:schemas-microsoft-com:vml" Requires="v">
                <p:oleObj spid="_x0000_s3205" name="" r:id="rId1" imgW="2667000" imgH="419100" progId="Equation.3">
                  <p:embed/>
                </p:oleObj>
              </mc:Choice>
              <mc:Fallback>
                <p:oleObj name="" r:id="rId1" imgW="2667000" imgH="419100" progId="Equation.3">
                  <p:embed/>
                  <p:pic>
                    <p:nvPicPr>
                      <p:cNvPr id="0" name="图片 3204"/>
                      <p:cNvPicPr/>
                      <p:nvPr/>
                    </p:nvPicPr>
                    <p:blipFill>
                      <a:blip r:embed="rId2"/>
                      <a:stretch>
                        <a:fillRect/>
                      </a:stretch>
                    </p:blipFill>
                    <p:spPr>
                      <a:xfrm>
                        <a:off x="1676400" y="1371600"/>
                        <a:ext cx="5791200" cy="909638"/>
                      </a:xfrm>
                      <a:prstGeom prst="rect">
                        <a:avLst/>
                      </a:prstGeom>
                      <a:noFill/>
                      <a:ln w="38100">
                        <a:noFill/>
                        <a:miter/>
                      </a:ln>
                    </p:spPr>
                  </p:pic>
                </p:oleObj>
              </mc:Fallback>
            </mc:AlternateContent>
          </a:graphicData>
        </a:graphic>
      </p:graphicFrame>
      <p:sp>
        <p:nvSpPr>
          <p:cNvPr id="106499" name="文本框 103429"/>
          <p:cNvSpPr txBox="1"/>
          <p:nvPr/>
        </p:nvSpPr>
        <p:spPr>
          <a:xfrm>
            <a:off x="152400" y="2514600"/>
            <a:ext cx="8185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最后，将双线性变换关系代入就得到数字滤波器的系统函数 </a:t>
            </a:r>
            <a:endParaRPr lang="zh-CN" altLang="en-US">
              <a:latin typeface="Times New Roman" panose="02020603050405020304" pitchFamily="18" charset="0"/>
              <a:ea typeface="宋体" panose="02010600030101010101" pitchFamily="2" charset="-122"/>
            </a:endParaRPr>
          </a:p>
        </p:txBody>
      </p:sp>
      <p:graphicFrame>
        <p:nvGraphicFramePr>
          <p:cNvPr id="106500" name="对象 103430"/>
          <p:cNvGraphicFramePr/>
          <p:nvPr/>
        </p:nvGraphicFramePr>
        <p:xfrm>
          <a:off x="457200" y="3048000"/>
          <a:ext cx="8189913" cy="2757488"/>
        </p:xfrm>
        <a:graphic>
          <a:graphicData uri="http://schemas.openxmlformats.org/presentationml/2006/ole">
            <mc:AlternateContent xmlns:mc="http://schemas.openxmlformats.org/markup-compatibility/2006">
              <mc:Choice xmlns:v="urn:schemas-microsoft-com:vml" Requires="v">
                <p:oleObj spid="_x0000_s3202" name="" r:id="rId3" imgW="3769995" imgH="1269365" progId="Equation.3">
                  <p:embed/>
                </p:oleObj>
              </mc:Choice>
              <mc:Fallback>
                <p:oleObj name="" r:id="rId3" imgW="3769995" imgH="1269365" progId="Equation.3">
                  <p:embed/>
                  <p:pic>
                    <p:nvPicPr>
                      <p:cNvPr id="0" name="图片 3201"/>
                      <p:cNvPicPr/>
                      <p:nvPr/>
                    </p:nvPicPr>
                    <p:blipFill>
                      <a:blip r:embed="rId4"/>
                      <a:stretch>
                        <a:fillRect/>
                      </a:stretch>
                    </p:blipFill>
                    <p:spPr>
                      <a:xfrm>
                        <a:off x="457200" y="3048000"/>
                        <a:ext cx="8189913" cy="2757488"/>
                      </a:xfrm>
                      <a:prstGeom prst="rect">
                        <a:avLst/>
                      </a:prstGeom>
                      <a:noFill/>
                      <a:ln w="38100">
                        <a:noFill/>
                        <a:miter/>
                      </a:ln>
                    </p:spPr>
                  </p:pic>
                </p:oleObj>
              </mc:Fallback>
            </mc:AlternateContent>
          </a:graphicData>
        </a:graphic>
      </p:graphicFrame>
      <p:sp>
        <p:nvSpPr>
          <p:cNvPr id="2" name="矩形 1"/>
          <p:cNvSpPr/>
          <p:nvPr/>
        </p:nvSpPr>
        <p:spPr>
          <a:xfrm>
            <a:off x="2365375" y="3495675"/>
            <a:ext cx="1006475" cy="869950"/>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4" name="等腰三角形 3"/>
          <p:cNvSpPr/>
          <p:nvPr/>
        </p:nvSpPr>
        <p:spPr>
          <a:xfrm>
            <a:off x="1211263" y="1155700"/>
            <a:ext cx="287338" cy="215900"/>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 name="等腰三角形 2"/>
          <p:cNvSpPr/>
          <p:nvPr/>
        </p:nvSpPr>
        <p:spPr>
          <a:xfrm>
            <a:off x="779463" y="2832100"/>
            <a:ext cx="287338" cy="215900"/>
          </a:xfrm>
          <a:prstGeom prst="triangl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500"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100000">
                                          <p:val>
                                            <p:strVal val="#ppt_x"/>
                                          </p:val>
                                        </p:tav>
                                      </p:tavLst>
                                    </p:anim>
                                    <p:anim calcmode="lin" valueType="num">
                                      <p:cBhvr>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1" nodeType="clickEffect">
                                  <p:stCondLst>
                                    <p:cond delay="0"/>
                                  </p:stCondLst>
                                  <p:childTnLst>
                                    <p:set>
                                      <p:cBhvr>
                                        <p:cTn id="12" dur="500"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ppt_x</p:attrName>
                                        </p:attrNameLst>
                                      </p:cBhvr>
                                      <p:tavLst>
                                        <p:tav tm="0">
                                          <p:val>
                                            <p:strVal val="#ppt_x"/>
                                          </p:val>
                                        </p:tav>
                                        <p:tav tm="100000">
                                          <p:val>
                                            <p:strVal val="#ppt_x"/>
                                          </p:val>
                                        </p:tav>
                                      </p:tavLst>
                                    </p:anim>
                                    <p:anim calcmode="lin" valueType="num">
                                      <p:cBhvr>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6498"/>
                                        </p:tgtEl>
                                        <p:attrNameLst>
                                          <p:attrName>style.visibility</p:attrName>
                                        </p:attrNameLst>
                                      </p:cBhvr>
                                      <p:to>
                                        <p:strVal val="visible"/>
                                      </p:to>
                                    </p:set>
                                    <p:anim calcmode="lin" valueType="num">
                                      <p:cBhvr additive="base">
                                        <p:cTn id="19" dur="500" fill="hold"/>
                                        <p:tgtEl>
                                          <p:spTgt spid="106498"/>
                                        </p:tgtEl>
                                        <p:attrNameLst>
                                          <p:attrName>ppt_x</p:attrName>
                                        </p:attrNameLst>
                                      </p:cBhvr>
                                      <p:tavLst>
                                        <p:tav tm="0">
                                          <p:val>
                                            <p:strVal val="#ppt_x"/>
                                          </p:val>
                                        </p:tav>
                                        <p:tav tm="100000">
                                          <p:val>
                                            <p:strVal val="#ppt_x"/>
                                          </p:val>
                                        </p:tav>
                                      </p:tavLst>
                                    </p:anim>
                                    <p:anim calcmode="lin" valueType="num">
                                      <p:cBhvr additive="base">
                                        <p:cTn id="20" dur="500" fill="hold"/>
                                        <p:tgtEl>
                                          <p:spTgt spid="10649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6500"/>
                                        </p:tgtEl>
                                        <p:attrNameLst>
                                          <p:attrName>style.visibility</p:attrName>
                                        </p:attrNameLst>
                                      </p:cBhvr>
                                      <p:to>
                                        <p:strVal val="visible"/>
                                      </p:to>
                                    </p:set>
                                    <p:anim calcmode="lin" valueType="num">
                                      <p:cBhvr additive="base">
                                        <p:cTn id="25" dur="500" fill="hold"/>
                                        <p:tgtEl>
                                          <p:spTgt spid="106500"/>
                                        </p:tgtEl>
                                        <p:attrNameLst>
                                          <p:attrName>ppt_x</p:attrName>
                                        </p:attrNameLst>
                                      </p:cBhvr>
                                      <p:tavLst>
                                        <p:tav tm="0">
                                          <p:val>
                                            <p:strVal val="#ppt_x"/>
                                          </p:val>
                                        </p:tav>
                                        <p:tav tm="100000">
                                          <p:val>
                                            <p:strVal val="#ppt_x"/>
                                          </p:val>
                                        </p:tav>
                                      </p:tavLst>
                                    </p:anim>
                                    <p:anim calcmode="lin" valueType="num">
                                      <p:cBhvr additive="base">
                                        <p:cTn id="26" dur="500" fill="hold"/>
                                        <p:tgtEl>
                                          <p:spTgt spid="1065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bldLvl="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文本框 102403"/>
          <p:cNvSpPr txBox="1"/>
          <p:nvPr/>
        </p:nvSpPr>
        <p:spPr>
          <a:xfrm>
            <a:off x="373063" y="549275"/>
            <a:ext cx="8447087" cy="5527675"/>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应该注意，这里所采用的模拟滤波器</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并不是数字滤波器所要模仿的截止频率</a:t>
            </a:r>
            <a:r>
              <a:rPr lang="en-US" altLang="zh-CN" i="1" dirty="0" err="1">
                <a:latin typeface="Times New Roman" panose="02020603050405020304" pitchFamily="18" charset="0"/>
                <a:ea typeface="宋体" panose="02010600030101010101" pitchFamily="2" charset="-122"/>
              </a:rPr>
              <a:t>f</a:t>
            </a:r>
            <a:r>
              <a:rPr lang="en-US" altLang="zh-CN" baseline="-25000" dirty="0" err="1">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=1 kHz</a:t>
            </a:r>
            <a:r>
              <a:rPr lang="zh-CN" altLang="en-US" dirty="0">
                <a:latin typeface="Times New Roman" panose="02020603050405020304" pitchFamily="18" charset="0"/>
                <a:ea typeface="宋体" panose="02010600030101010101" pitchFamily="2" charset="-122"/>
              </a:rPr>
              <a:t>的实际滤波器，它只是一个“样本”函数，是由低通模拟滤波器到数字滤波器的变换中的一个中间变换阶段。  </a:t>
            </a:r>
            <a:endParaRPr lang="zh-CN" altLang="en-US" dirty="0">
              <a:latin typeface="Times New Roman" panose="02020603050405020304" pitchFamily="18" charset="0"/>
              <a:ea typeface="宋体" panose="02010600030101010101" pitchFamily="2" charset="-122"/>
            </a:endParaRPr>
          </a:p>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        图</a:t>
            </a:r>
            <a:r>
              <a:rPr lang="en-US" altLang="zh-CN" dirty="0">
                <a:latin typeface="Times New Roman" panose="02020603050405020304" pitchFamily="18" charset="0"/>
                <a:ea typeface="宋体" panose="02010600030101010101" pitchFamily="2" charset="-122"/>
              </a:rPr>
              <a:t>5-16</a:t>
            </a:r>
            <a:r>
              <a:rPr lang="zh-CN" altLang="en-US" dirty="0">
                <a:latin typeface="Times New Roman" panose="02020603050405020304" pitchFamily="18" charset="0"/>
                <a:ea typeface="宋体" panose="02010600030101010101" pitchFamily="2" charset="-122"/>
              </a:rPr>
              <a:t>给出了采用双线性变换法得到的三阶巴特沃思数字低通滤波器的幅频特性。由图可看出，由于频率的非线性变换， 使</a:t>
            </a:r>
            <a:r>
              <a:rPr lang="zh-CN" altLang="en-US" b="1" u="sng" dirty="0">
                <a:solidFill>
                  <a:srgbClr val="FF0000"/>
                </a:solidFill>
                <a:latin typeface="Times New Roman" panose="02020603050405020304" pitchFamily="18" charset="0"/>
                <a:ea typeface="宋体" panose="02010600030101010101" pitchFamily="2" charset="-122"/>
              </a:rPr>
              <a:t>截止区的衰减越来越快</a:t>
            </a:r>
            <a:r>
              <a:rPr lang="zh-CN" altLang="en-US" dirty="0">
                <a:latin typeface="Times New Roman" panose="02020603050405020304" pitchFamily="18" charset="0"/>
                <a:ea typeface="宋体" panose="02010600030101010101" pitchFamily="2" charset="-122"/>
              </a:rPr>
              <a:t>。最后在折叠频率处形成一个三阶传输零点。这个三阶零点正是模拟滤波器在</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处的三阶传输零点通过映射形</a:t>
            </a:r>
            <a:r>
              <a:rPr lang="zh-CN" altLang="en-US" dirty="0">
                <a:latin typeface="Times New Roman" panose="02020603050405020304" pitchFamily="18" charset="0"/>
                <a:ea typeface="宋体" panose="02010600030101010101" pitchFamily="2" charset="-122"/>
              </a:rPr>
              <a:t>成的。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文本框 107523"/>
          <p:cNvSpPr txBox="1"/>
          <p:nvPr/>
        </p:nvSpPr>
        <p:spPr>
          <a:xfrm>
            <a:off x="533400" y="5334000"/>
            <a:ext cx="8315325" cy="396875"/>
          </a:xfrm>
          <a:prstGeom prst="rect">
            <a:avLst/>
          </a:prstGeom>
          <a:noFill/>
          <a:ln w="9525">
            <a:noFill/>
          </a:ln>
        </p:spPr>
        <p:txBody>
          <a:bodyPr wrap="none" anchor="t">
            <a:spAutoFit/>
          </a:bodyPr>
          <a:p>
            <a:r>
              <a:rPr lang="zh-CN" altLang="en-US" sz="2000" b="1" dirty="0">
                <a:latin typeface="Times New Roman" panose="02020603050405020304" pitchFamily="18" charset="0"/>
                <a:ea typeface="宋体" panose="02010600030101010101" pitchFamily="2" charset="-122"/>
              </a:rPr>
              <a:t>图 </a:t>
            </a:r>
            <a:r>
              <a:rPr lang="en-US" altLang="zh-CN" sz="2000" b="1" dirty="0">
                <a:latin typeface="Times New Roman" panose="02020603050405020304" pitchFamily="18" charset="0"/>
                <a:ea typeface="宋体" panose="02010600030101010101" pitchFamily="2" charset="-122"/>
              </a:rPr>
              <a:t>5-16  </a:t>
            </a:r>
            <a:r>
              <a:rPr lang="zh-CN" altLang="en-US" sz="2000" b="1" dirty="0">
                <a:latin typeface="Times New Roman" panose="02020603050405020304" pitchFamily="18" charset="0"/>
                <a:ea typeface="宋体" panose="02010600030101010101" pitchFamily="2" charset="-122"/>
              </a:rPr>
              <a:t>用双线性变换法设计得到的三阶巴特沃思数字低通滤波器的频响 </a:t>
            </a:r>
            <a:endParaRPr lang="zh-CN" altLang="en-US" sz="2000" b="1">
              <a:latin typeface="Times New Roman" panose="02020603050405020304" pitchFamily="18" charset="0"/>
              <a:ea typeface="宋体" panose="02010600030101010101" pitchFamily="2" charset="-122"/>
            </a:endParaRPr>
          </a:p>
        </p:txBody>
      </p:sp>
      <p:pic>
        <p:nvPicPr>
          <p:cNvPr id="108546" name="图片 107527" descr="5-16"/>
          <p:cNvPicPr>
            <a:picLocks noChangeAspect="1"/>
          </p:cNvPicPr>
          <p:nvPr/>
        </p:nvPicPr>
        <p:blipFill>
          <a:blip r:embed="rId1"/>
          <a:stretch>
            <a:fillRect/>
          </a:stretch>
        </p:blipFill>
        <p:spPr>
          <a:xfrm>
            <a:off x="1714500" y="1412875"/>
            <a:ext cx="5715000" cy="3609975"/>
          </a:xfrm>
          <a:prstGeom prst="rect">
            <a:avLst/>
          </a:prstGeom>
          <a:noFill/>
          <a:ln w="9525">
            <a:noFill/>
          </a:ln>
        </p:spPr>
      </p:pic>
    </p:spTree>
  </p:cSld>
  <p:clrMapOvr>
    <a:masterClrMapping/>
  </p:clrMapOvr>
  <p:transition>
    <p:blinds/>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文本框 106499"/>
          <p:cNvSpPr txBox="1"/>
          <p:nvPr/>
        </p:nvSpPr>
        <p:spPr>
          <a:xfrm>
            <a:off x="1981200" y="838200"/>
            <a:ext cx="6096000" cy="584200"/>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5.6  </a:t>
            </a:r>
            <a:r>
              <a:rPr lang="zh-CN" altLang="en-US" sz="3200" b="1" dirty="0">
                <a:latin typeface="Times New Roman" panose="02020603050405020304" pitchFamily="18" charset="0"/>
                <a:ea typeface="宋体" panose="02010600030101010101" pitchFamily="2" charset="-122"/>
              </a:rPr>
              <a:t>设计</a:t>
            </a:r>
            <a:r>
              <a:rPr lang="en-US" altLang="zh-CN" sz="3200" b="1" dirty="0">
                <a:latin typeface="Times New Roman" panose="02020603050405020304" pitchFamily="18" charset="0"/>
                <a:ea typeface="宋体" panose="02010600030101010101" pitchFamily="2" charset="-122"/>
              </a:rPr>
              <a:t>IIR</a:t>
            </a:r>
            <a:r>
              <a:rPr lang="zh-CN" altLang="en-US" sz="3200" b="1" dirty="0">
                <a:latin typeface="Times New Roman" panose="02020603050405020304" pitchFamily="18" charset="0"/>
                <a:ea typeface="宋体" panose="02010600030101010101" pitchFamily="2" charset="-122"/>
              </a:rPr>
              <a:t>滤波器的</a:t>
            </a:r>
            <a:r>
              <a:rPr lang="zh-CN" altLang="en-US" sz="3200" b="1" u="sng" dirty="0">
                <a:solidFill>
                  <a:srgbClr val="FF0000"/>
                </a:solidFill>
                <a:latin typeface="Times New Roman" panose="02020603050405020304" pitchFamily="18" charset="0"/>
                <a:ea typeface="宋体" panose="02010600030101010101" pitchFamily="2" charset="-122"/>
              </a:rPr>
              <a:t>频率变换法 </a:t>
            </a:r>
            <a:endParaRPr lang="zh-CN" altLang="en-US" sz="3200" b="1" u="sng" dirty="0">
              <a:solidFill>
                <a:srgbClr val="FF0000"/>
              </a:solidFill>
              <a:latin typeface="Times New Roman" panose="02020603050405020304" pitchFamily="18" charset="0"/>
              <a:ea typeface="宋体" panose="02010600030101010101" pitchFamily="2" charset="-122"/>
            </a:endParaRPr>
          </a:p>
        </p:txBody>
      </p:sp>
      <p:sp>
        <p:nvSpPr>
          <p:cNvPr id="109570" name="文本框 106500"/>
          <p:cNvSpPr txBox="1"/>
          <p:nvPr/>
        </p:nvSpPr>
        <p:spPr>
          <a:xfrm>
            <a:off x="1714500" y="4856163"/>
            <a:ext cx="6029325" cy="1014412"/>
          </a:xfrm>
          <a:prstGeom prst="rect">
            <a:avLst/>
          </a:prstGeom>
          <a:noFill/>
          <a:ln w="9525">
            <a:noFill/>
          </a:ln>
        </p:spPr>
        <p:txBody>
          <a:bodyPr anchor="t">
            <a:spAutoFit/>
          </a:bodyPr>
          <a:p>
            <a:pPr algn="ctr"/>
            <a:r>
              <a:rPr lang="zh-CN" altLang="en-US" sz="2000" dirty="0">
                <a:latin typeface="Times New Roman" panose="02020603050405020304" pitchFamily="18" charset="0"/>
                <a:ea typeface="宋体" panose="02010600030101010101" pitchFamily="2" charset="-122"/>
              </a:rPr>
              <a:t>图 </a:t>
            </a:r>
            <a:r>
              <a:rPr lang="en-US" altLang="zh-CN" sz="2000" dirty="0">
                <a:latin typeface="Times New Roman" panose="02020603050405020304" pitchFamily="18" charset="0"/>
                <a:ea typeface="宋体" panose="02010600030101010101" pitchFamily="2" charset="-122"/>
              </a:rPr>
              <a:t>5-17 </a:t>
            </a:r>
            <a:r>
              <a:rPr lang="zh-CN" altLang="en-US" sz="2000" dirty="0">
                <a:latin typeface="Times New Roman" panose="02020603050405020304" pitchFamily="18" charset="0"/>
                <a:ea typeface="宋体" panose="02010600030101010101" pitchFamily="2" charset="-122"/>
              </a:rPr>
              <a:t>两种等效的设计方法 </a:t>
            </a:r>
            <a:endParaRPr lang="zh-CN" altLang="en-US" sz="2000" dirty="0">
              <a:latin typeface="Times New Roman" panose="02020603050405020304" pitchFamily="18" charset="0"/>
              <a:ea typeface="宋体" panose="02010600030101010101" pitchFamily="2" charset="-122"/>
            </a:endParaRPr>
          </a:p>
          <a:p>
            <a:pPr algn="ctr"/>
            <a:r>
              <a:rPr lang="en-US" altLang="zh-CN" sz="2000" dirty="0">
                <a:latin typeface="Times New Roman" panose="02020603050405020304" pitchFamily="18" charset="0"/>
                <a:ea typeface="宋体" panose="02010600030101010101" pitchFamily="2" charset="-122"/>
              </a:rPr>
              <a:t>    (a) </a:t>
            </a:r>
            <a:r>
              <a:rPr lang="zh-CN" altLang="en-US" sz="2000" dirty="0">
                <a:latin typeface="Times New Roman" panose="02020603050405020304" pitchFamily="18" charset="0"/>
                <a:ea typeface="宋体" panose="02010600030101010101" pitchFamily="2" charset="-122"/>
              </a:rPr>
              <a:t>先模拟频率变换， 再数字化</a:t>
            </a:r>
            <a:r>
              <a:rPr lang="en-US" altLang="zh-CN" sz="2000">
                <a:latin typeface="Times New Roman" panose="02020603050405020304" pitchFamily="18" charset="0"/>
                <a:ea typeface="宋体" panose="02010600030101010101" pitchFamily="2" charset="-122"/>
              </a:rPr>
              <a:t>; </a:t>
            </a:r>
            <a:endParaRPr lang="en-US" altLang="zh-CN" sz="2000">
              <a:latin typeface="Times New Roman" panose="02020603050405020304" pitchFamily="18" charset="0"/>
              <a:ea typeface="宋体" panose="02010600030101010101" pitchFamily="2" charset="-122"/>
            </a:endParaRPr>
          </a:p>
          <a:p>
            <a:pPr algn="ctr"/>
            <a:r>
              <a:rPr lang="en-US" altLang="zh-CN" sz="2000" dirty="0">
                <a:latin typeface="Times New Roman" panose="02020603050405020304" pitchFamily="18" charset="0"/>
                <a:ea typeface="宋体" panose="02010600030101010101" pitchFamily="2" charset="-122"/>
              </a:rPr>
              <a:t>(b)  </a:t>
            </a:r>
            <a:r>
              <a:rPr lang="zh-CN" altLang="en-US" sz="2000" dirty="0">
                <a:latin typeface="Times New Roman" panose="02020603050405020304" pitchFamily="18" charset="0"/>
                <a:ea typeface="宋体" panose="02010600030101010101" pitchFamily="2" charset="-122"/>
              </a:rPr>
              <a:t>将</a:t>
            </a:r>
            <a:r>
              <a:rPr lang="en-US" altLang="zh-CN" sz="2000" dirty="0">
                <a:latin typeface="Times New Roman" panose="02020603050405020304" pitchFamily="18" charset="0"/>
                <a:ea typeface="宋体" panose="02010600030101010101" pitchFamily="2" charset="-122"/>
              </a:rPr>
              <a:t>(a)</a:t>
            </a:r>
            <a:r>
              <a:rPr lang="zh-CN" altLang="en-US" sz="2000" dirty="0">
                <a:latin typeface="Times New Roman" panose="02020603050405020304" pitchFamily="18" charset="0"/>
                <a:ea typeface="宋体" panose="02010600030101010101" pitchFamily="2" charset="-122"/>
              </a:rPr>
              <a:t>的两步合成一步设计 </a:t>
            </a:r>
            <a:endParaRPr lang="zh-CN" altLang="en-US" sz="2000">
              <a:latin typeface="Times New Roman" panose="02020603050405020304" pitchFamily="18" charset="0"/>
              <a:ea typeface="宋体" panose="02010600030101010101" pitchFamily="2" charset="-122"/>
            </a:endParaRPr>
          </a:p>
        </p:txBody>
      </p:sp>
      <p:pic>
        <p:nvPicPr>
          <p:cNvPr id="109571" name="图片 106503" descr="5-17"/>
          <p:cNvPicPr>
            <a:picLocks noChangeAspect="1"/>
          </p:cNvPicPr>
          <p:nvPr/>
        </p:nvPicPr>
        <p:blipFill>
          <a:blip r:embed="rId1"/>
          <a:stretch>
            <a:fillRect/>
          </a:stretch>
        </p:blipFill>
        <p:spPr>
          <a:xfrm>
            <a:off x="1714500" y="2371725"/>
            <a:ext cx="5715000" cy="2114550"/>
          </a:xfrm>
          <a:prstGeom prst="rect">
            <a:avLst/>
          </a:prstGeom>
          <a:noFill/>
          <a:ln w="9525">
            <a:noFill/>
          </a:ln>
        </p:spPr>
      </p:pic>
    </p:spTree>
  </p:cSld>
  <p:clrMapOvr>
    <a:masterClrMapping/>
  </p:clrMapOvr>
  <p:transition>
    <p:blinds/>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文本框 385027"/>
          <p:cNvSpPr txBox="1"/>
          <p:nvPr/>
        </p:nvSpPr>
        <p:spPr>
          <a:xfrm>
            <a:off x="468313" y="908050"/>
            <a:ext cx="8164512" cy="2647950"/>
          </a:xfrm>
          <a:prstGeom prst="rect">
            <a:avLst/>
          </a:prstGeom>
          <a:noFill/>
          <a:ln w="9525">
            <a:noFill/>
          </a:ln>
        </p:spPr>
        <p:txBody>
          <a:bodyPr anchor="t">
            <a:spAutoFit/>
          </a:bodyPr>
          <a:p>
            <a:pPr algn="just">
              <a:lnSpc>
                <a:spcPct val="14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对于第一种方案，重点是模拟域频率变换，即如何由模拟低通原型滤波器转换为截止频率不同的模拟低通、高通、带通、带阻滤波器，这里我们不作详细推导，仅在表</a:t>
            </a:r>
            <a:r>
              <a:rPr lang="en-US" altLang="zh-CN" dirty="0">
                <a:latin typeface="Times New Roman" panose="02020603050405020304" pitchFamily="18" charset="0"/>
                <a:ea typeface="宋体" panose="02010600030101010101" pitchFamily="2" charset="-122"/>
              </a:rPr>
              <a:t>5-3</a:t>
            </a:r>
            <a:r>
              <a:rPr lang="zh-CN" altLang="en-US" dirty="0">
                <a:latin typeface="Times New Roman" panose="02020603050405020304" pitchFamily="18" charset="0"/>
                <a:ea typeface="宋体" panose="02010600030101010101" pitchFamily="2" charset="-122"/>
              </a:rPr>
              <a:t>列出一些模拟到模拟的频率转换关系。一般直接用归一化原型转换，取</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可使设计过程简化。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2484120" y="6397625"/>
            <a:ext cx="1130300" cy="460375"/>
          </a:xfrm>
          <a:prstGeom prst="rect">
            <a:avLst/>
          </a:prstGeom>
          <a:noFill/>
          <a:ln w="9525">
            <a:noFill/>
          </a:ln>
        </p:spPr>
        <p:txBody>
          <a:bodyPr wrap="none" anchor="t">
            <a:spAutoFit/>
          </a:bodyPr>
          <a:p>
            <a:r>
              <a:rPr lang="zh-CN" altLang="en-US" b="1" dirty="0">
                <a:solidFill>
                  <a:srgbClr val="FF0000"/>
                </a:solidFill>
                <a:latin typeface="Times New Roman" panose="02020603050405020304" pitchFamily="18" charset="0"/>
                <a:ea typeface="宋体" panose="02010600030101010101" pitchFamily="2" charset="-122"/>
              </a:rPr>
              <a:t>取</a:t>
            </a:r>
            <a:r>
              <a:rPr lang="en-US" altLang="zh-CN" b="1" i="1">
                <a:solidFill>
                  <a:srgbClr val="FF0000"/>
                </a:solidFill>
                <a:latin typeface="Times New Roman" panose="02020603050405020304" pitchFamily="18" charset="0"/>
                <a:ea typeface="宋体" panose="02010600030101010101" pitchFamily="2" charset="-122"/>
              </a:rPr>
              <a:t>Ω</a:t>
            </a:r>
            <a:r>
              <a:rPr lang="en-US" altLang="zh-CN" b="1" baseline="-25000">
                <a:solidFill>
                  <a:srgbClr val="FF0000"/>
                </a:solidFill>
                <a:latin typeface="Times New Roman" panose="02020603050405020304" pitchFamily="18" charset="0"/>
                <a:ea typeface="宋体" panose="02010600030101010101" pitchFamily="2" charset="-122"/>
              </a:rPr>
              <a:t>c</a:t>
            </a:r>
            <a:r>
              <a:rPr lang="en-US" altLang="zh-CN" b="1" dirty="0">
                <a:solidFill>
                  <a:srgbClr val="FF0000"/>
                </a:solidFill>
                <a:latin typeface="Times New Roman" panose="02020603050405020304" pitchFamily="18" charset="0"/>
                <a:ea typeface="宋体" panose="02010600030101010101" pitchFamily="2" charset="-122"/>
              </a:rPr>
              <a:t>=1</a:t>
            </a:r>
            <a:endParaRPr lang="en-US" altLang="zh-CN" b="1" dirty="0">
              <a:solidFill>
                <a:srgbClr val="FF0000"/>
              </a:solidFill>
              <a:latin typeface="Times New Roman" panose="02020603050405020304" pitchFamily="18" charset="0"/>
              <a:ea typeface="宋体" panose="02010600030101010101" pitchFamily="2" charset="-122"/>
            </a:endParaRPr>
          </a:p>
        </p:txBody>
      </p:sp>
      <p:graphicFrame>
        <p:nvGraphicFramePr>
          <p:cNvPr id="4" name="表格 3"/>
          <p:cNvGraphicFramePr/>
          <p:nvPr>
            <p:custDataLst>
              <p:tags r:id="rId1"/>
            </p:custDataLst>
          </p:nvPr>
        </p:nvGraphicFramePr>
        <p:xfrm>
          <a:off x="442595" y="1031875"/>
          <a:ext cx="8394700" cy="4523422"/>
        </p:xfrm>
        <a:graphic>
          <a:graphicData uri="http://schemas.openxmlformats.org/drawingml/2006/table">
            <a:tbl>
              <a:tblPr/>
              <a:tblGrid>
                <a:gridCol w="2513013"/>
                <a:gridCol w="2311400"/>
                <a:gridCol w="3570287"/>
              </a:tblGrid>
              <a:tr h="457200">
                <a:tc>
                  <a:txBody>
                    <a:bodyPr/>
                    <a:p>
                      <a:pPr marL="0" lvl="0" indent="0" algn="ctr">
                        <a:spcBef>
                          <a:spcPct val="0"/>
                        </a:spcBef>
                        <a:buNone/>
                      </a:pPr>
                      <a:r>
                        <a:rPr lang="zh-CN" altLang="en-US" sz="1800" b="1">
                          <a:solidFill>
                            <a:srgbClr val="FFFFFF"/>
                          </a:solidFill>
                          <a:latin typeface="Times New Roman" panose="02020603050405020304" pitchFamily="18" charset="0"/>
                        </a:rPr>
                        <a:t>变换类型</a:t>
                      </a:r>
                      <a:endParaRPr lang="zh-CN" altLang="en-US" sz="1800" b="1">
                        <a:solidFill>
                          <a:srgbClr val="FFFFFF"/>
                        </a:solidFill>
                        <a:latin typeface="Times New Roman" panose="02020603050405020304" pitchFamily="18" charset="0"/>
                      </a:endParaRPr>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38100" cap="flat" cmpd="sng">
                      <a:solidFill>
                        <a:srgbClr val="FFFFFF"/>
                      </a:solidFill>
                      <a:prstDash val="solid"/>
                      <a:headEnd type="none" w="med" len="med"/>
                      <a:tailEnd type="none" w="med" len="med"/>
                    </a:lnB>
                    <a:lnTlToBr>
                      <a:noFill/>
                    </a:lnTlToBr>
                    <a:lnBlToTr>
                      <a:noFill/>
                    </a:lnBlToTr>
                    <a:blipFill rotWithShape="0">
                      <a:blip r:embed="rId2"/>
                    </a:blipFill>
                  </a:tcPr>
                </a:tc>
                <a:tc>
                  <a:txBody>
                    <a:bodyPr/>
                    <a:p>
                      <a:pPr marL="0" lvl="0" indent="0" algn="ctr">
                        <a:spcBef>
                          <a:spcPct val="0"/>
                        </a:spcBef>
                        <a:buNone/>
                      </a:pPr>
                      <a:r>
                        <a:rPr lang="zh-CN" altLang="en-US" sz="1800" b="1">
                          <a:solidFill>
                            <a:srgbClr val="FFFFFF"/>
                          </a:solidFill>
                          <a:latin typeface="Times New Roman" panose="02020603050405020304" pitchFamily="18" charset="0"/>
                        </a:rPr>
                        <a:t>变换公式</a:t>
                      </a:r>
                      <a:endParaRPr lang="zh-CN" altLang="en-US" sz="1800" b="1">
                        <a:solidFill>
                          <a:srgbClr val="FFFFFF"/>
                        </a:solidFill>
                        <a:latin typeface="Times New Roman" panose="02020603050405020304" pitchFamily="18" charset="0"/>
                      </a:endParaRPr>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38100" cap="flat" cmpd="sng">
                      <a:solidFill>
                        <a:srgbClr val="FFFFFF"/>
                      </a:solidFill>
                      <a:prstDash val="solid"/>
                      <a:headEnd type="none" w="med" len="med"/>
                      <a:tailEnd type="none" w="med" len="med"/>
                    </a:lnB>
                    <a:lnTlToBr>
                      <a:noFill/>
                    </a:lnTlToBr>
                    <a:lnBlToTr>
                      <a:noFill/>
                    </a:lnBlToTr>
                    <a:blipFill rotWithShape="0">
                      <a:blip r:embed="rId2"/>
                    </a:blipFill>
                  </a:tcPr>
                </a:tc>
                <a:tc>
                  <a:txBody>
                    <a:bodyPr/>
                    <a:p>
                      <a:pPr marL="0" lvl="0" indent="0" algn="ctr">
                        <a:spcBef>
                          <a:spcPct val="0"/>
                        </a:spcBef>
                        <a:buNone/>
                      </a:pPr>
                      <a:r>
                        <a:rPr lang="zh-CN" altLang="en-US" sz="1800" b="1">
                          <a:solidFill>
                            <a:srgbClr val="FFFFFF"/>
                          </a:solidFill>
                          <a:latin typeface="Times New Roman" panose="02020603050405020304" pitchFamily="18" charset="0"/>
                        </a:rPr>
                        <a:t>新的截止频率</a:t>
                      </a:r>
                      <a:endParaRPr lang="zh-CN" altLang="en-US" sz="1800" b="1">
                        <a:solidFill>
                          <a:srgbClr val="FFFFFF"/>
                        </a:solidFill>
                        <a:latin typeface="Times New Roman" panose="02020603050405020304" pitchFamily="18" charset="0"/>
                      </a:endParaRPr>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38100" cap="flat" cmpd="sng">
                      <a:solidFill>
                        <a:srgbClr val="FFFFFF"/>
                      </a:solidFill>
                      <a:prstDash val="solid"/>
                      <a:headEnd type="none" w="med" len="med"/>
                      <a:tailEnd type="none" w="med" len="med"/>
                    </a:lnB>
                    <a:lnTlToBr>
                      <a:noFill/>
                    </a:lnTlToBr>
                    <a:lnBlToTr>
                      <a:noFill/>
                    </a:lnBlToTr>
                    <a:blipFill rotWithShape="0">
                      <a:blip r:embed="rId2"/>
                    </a:blipFill>
                  </a:tcPr>
                </a:tc>
              </a:tr>
              <a:tr h="942975">
                <a:tc>
                  <a:txBody>
                    <a:bodyPr/>
                    <a:p>
                      <a:pPr marL="0" lvl="0" indent="0" algn="ctr">
                        <a:spcBef>
                          <a:spcPct val="0"/>
                        </a:spcBef>
                        <a:buNone/>
                      </a:pPr>
                      <a:r>
                        <a:rPr lang="zh-CN" altLang="en-US" sz="2400" dirty="0">
                          <a:solidFill>
                            <a:srgbClr val="000000"/>
                          </a:solidFill>
                          <a:latin typeface="Times New Roman" panose="02020603050405020304" pitchFamily="18" charset="0"/>
                        </a:rPr>
                        <a:t>低通原型→低通</a:t>
                      </a:r>
                      <a:endParaRPr lang="zh-CN" altLang="en-US" sz="2400" dirty="0">
                        <a:solidFill>
                          <a:srgbClr val="000000"/>
                        </a:solidFill>
                        <a:latin typeface="Times New Roman" panose="02020603050405020304" pitchFamily="18" charset="0"/>
                      </a:endParaRPr>
                    </a:p>
                    <a:p>
                      <a:pPr marL="0" lvl="0" indent="0" algn="ctr">
                        <a:spcBef>
                          <a:spcPct val="0"/>
                        </a:spcBef>
                        <a:buNone/>
                      </a:pPr>
                      <a:r>
                        <a:rPr lang="en-US" altLang="zh-CN" sz="2400" err="1">
                          <a:solidFill>
                            <a:srgbClr val="000000"/>
                          </a:solidFill>
                          <a:latin typeface="Times New Roman" panose="02020603050405020304" pitchFamily="18" charset="0"/>
                        </a:rPr>
                        <a:t>s→s</a:t>
                      </a:r>
                      <a:r>
                        <a:rPr lang="en-US" altLang="zh-CN" sz="2400">
                          <a:solidFill>
                            <a:srgbClr val="000000"/>
                          </a:solidFill>
                          <a:latin typeface="Times New Roman" panose="02020603050405020304" pitchFamily="18" charset="0"/>
                        </a:rPr>
                        <a:t>'</a:t>
                      </a:r>
                      <a:endParaRPr lang="en-US" altLang="zh-CN" sz="2400">
                        <a:solidFill>
                          <a:srgbClr val="000000"/>
                        </a:solidFill>
                        <a:latin typeface="Times New Roman" panose="02020603050405020304" pitchFamily="18" charset="0"/>
                      </a:endParaRPr>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381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72BFC5"/>
                    </a:solidFill>
                  </a:tcPr>
                </a:tc>
                <a:tc>
                  <a:txBody>
                    <a:bodyPr/>
                    <a:p>
                      <a:pPr marL="0" lvl="0" indent="0" algn="ctr">
                        <a:spcBef>
                          <a:spcPct val="0"/>
                        </a:spcBef>
                        <a:buNone/>
                      </a:pPr>
                      <a:endParaRPr lang="en-US" altLang="x-none" sz="2400">
                        <a:solidFill>
                          <a:srgbClr val="000000"/>
                        </a:solidFill>
                      </a:endParaRPr>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381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72BFC5"/>
                    </a:solidFill>
                  </a:tcPr>
                </a:tc>
                <a:tc>
                  <a:txBody>
                    <a:bodyPr/>
                    <a:p>
                      <a:pPr marL="0" lvl="0" indent="0">
                        <a:spcBef>
                          <a:spcPct val="0"/>
                        </a:spcBef>
                        <a:buNone/>
                      </a:pPr>
                      <a:r>
                        <a:rPr lang="en-US" altLang="zh-CN" sz="2400">
                          <a:solidFill>
                            <a:srgbClr val="000000"/>
                          </a:solidFill>
                        </a:rPr>
                        <a:t>      </a:t>
                      </a:r>
                      <a:r>
                        <a:rPr lang="zh-CN" altLang="en-US" sz="2400" dirty="0">
                          <a:solidFill>
                            <a:srgbClr val="000000"/>
                          </a:solidFill>
                          <a:latin typeface="Times New Roman" panose="02020603050405020304" pitchFamily="18" charset="0"/>
                        </a:rPr>
                        <a:t>低通滤波器的截止频   率，一般指通带宽度</a:t>
                      </a:r>
                      <a:endParaRPr lang="zh-CN" altLang="en-US" sz="2400" dirty="0">
                        <a:solidFill>
                          <a:srgbClr val="000000"/>
                        </a:solidFill>
                        <a:latin typeface="Times New Roman" panose="02020603050405020304" pitchFamily="18" charset="0"/>
                      </a:endParaRPr>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381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72BFC5"/>
                    </a:solidFill>
                  </a:tcPr>
                </a:tc>
              </a:tr>
              <a:tr h="922655">
                <a:tc>
                  <a:txBody>
                    <a:bodyPr/>
                    <a:p>
                      <a:pPr marL="0" lvl="0" indent="0" algn="ctr">
                        <a:spcBef>
                          <a:spcPct val="0"/>
                        </a:spcBef>
                        <a:buNone/>
                      </a:pPr>
                      <a:r>
                        <a:rPr lang="zh-CN" altLang="en-US" sz="2400" dirty="0">
                          <a:solidFill>
                            <a:srgbClr val="000000"/>
                          </a:solidFill>
                          <a:latin typeface="Times New Roman" panose="02020603050405020304" pitchFamily="18" charset="0"/>
                        </a:rPr>
                        <a:t>低通原型→高通</a:t>
                      </a:r>
                      <a:endParaRPr lang="zh-CN" altLang="en-US" sz="2400" dirty="0">
                        <a:solidFill>
                          <a:srgbClr val="000000"/>
                        </a:solidFill>
                        <a:latin typeface="Times New Roman" panose="02020603050405020304" pitchFamily="18" charset="0"/>
                      </a:endParaRPr>
                    </a:p>
                    <a:p>
                      <a:pPr marL="0" lvl="0" indent="0" algn="ctr">
                        <a:spcBef>
                          <a:spcPct val="0"/>
                        </a:spcBef>
                        <a:buNone/>
                      </a:pPr>
                      <a:r>
                        <a:rPr lang="en-US" altLang="zh-CN" sz="2400" err="1">
                          <a:solidFill>
                            <a:srgbClr val="000000"/>
                          </a:solidFill>
                          <a:latin typeface="Times New Roman" panose="02020603050405020304" pitchFamily="18" charset="0"/>
                        </a:rPr>
                        <a:t>s→s</a:t>
                      </a:r>
                      <a:r>
                        <a:rPr lang="en-US" altLang="zh-CN" sz="2400">
                          <a:solidFill>
                            <a:srgbClr val="000000"/>
                          </a:solidFill>
                          <a:latin typeface="Times New Roman" panose="02020603050405020304" pitchFamily="18" charset="0"/>
                        </a:rPr>
                        <a:t>'</a:t>
                      </a:r>
                      <a:endParaRPr lang="zh-CN" altLang="en-US" sz="2400" dirty="0">
                        <a:solidFill>
                          <a:srgbClr val="000000"/>
                        </a:solidFill>
                        <a:latin typeface="Times New Roman" panose="02020603050405020304" pitchFamily="18" charset="0"/>
                      </a:endParaRPr>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72BFC5"/>
                    </a:solidFill>
                  </a:tcPr>
                </a:tc>
                <a:tc>
                  <a:txBody>
                    <a:bodyPr/>
                    <a:p>
                      <a:pPr marL="0" lvl="0" indent="0" algn="ctr">
                        <a:spcBef>
                          <a:spcPct val="0"/>
                        </a:spcBef>
                        <a:buNone/>
                      </a:pPr>
                      <a:endParaRPr lang="zh-CN" altLang="en-US" sz="2400" dirty="0">
                        <a:solidFill>
                          <a:srgbClr val="000000"/>
                        </a:solidFill>
                        <a:latin typeface="Times New Roman" panose="02020603050405020304" pitchFamily="18" charset="0"/>
                      </a:endParaRPr>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72BFC5"/>
                    </a:solidFill>
                  </a:tcPr>
                </a:tc>
                <a:tc>
                  <a:txBody>
                    <a:bodyPr/>
                    <a:p>
                      <a:pPr marL="0" lvl="0" indent="0">
                        <a:spcBef>
                          <a:spcPct val="0"/>
                        </a:spcBef>
                        <a:buNone/>
                      </a:pPr>
                      <a:r>
                        <a:rPr lang="en-US" altLang="zh-CN" sz="2400">
                          <a:solidFill>
                            <a:srgbClr val="000000"/>
                          </a:solidFill>
                        </a:rPr>
                        <a:t>      </a:t>
                      </a:r>
                      <a:r>
                        <a:rPr lang="zh-CN" altLang="en-US" sz="2400" dirty="0">
                          <a:solidFill>
                            <a:srgbClr val="000000"/>
                          </a:solidFill>
                          <a:latin typeface="Times New Roman" panose="02020603050405020304" pitchFamily="18" charset="0"/>
                        </a:rPr>
                        <a:t>高通滤波器的截止频   率，一般指阻带宽度</a:t>
                      </a:r>
                      <a:endParaRPr lang="zh-CN" altLang="en-US" sz="2400" dirty="0">
                        <a:solidFill>
                          <a:srgbClr val="000000"/>
                        </a:solidFill>
                        <a:latin typeface="Times New Roman" panose="02020603050405020304" pitchFamily="18" charset="0"/>
                      </a:endParaRPr>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72BFC5"/>
                    </a:solidFill>
                  </a:tcPr>
                </a:tc>
              </a:tr>
              <a:tr h="1011237">
                <a:tc>
                  <a:txBody>
                    <a:bodyPr/>
                    <a:p>
                      <a:pPr marL="0" lvl="0" indent="0" algn="ctr">
                        <a:spcBef>
                          <a:spcPct val="0"/>
                        </a:spcBef>
                        <a:buNone/>
                      </a:pPr>
                      <a:r>
                        <a:rPr lang="zh-CN" altLang="en-US" sz="2400" dirty="0">
                          <a:solidFill>
                            <a:srgbClr val="000000"/>
                          </a:solidFill>
                          <a:latin typeface="Times New Roman" panose="02020603050405020304" pitchFamily="18" charset="0"/>
                        </a:rPr>
                        <a:t>低通原型→带通</a:t>
                      </a:r>
                      <a:r>
                        <a:rPr lang="en-US" altLang="zh-CN" sz="2400" err="1">
                          <a:solidFill>
                            <a:srgbClr val="000000"/>
                          </a:solidFill>
                          <a:latin typeface="Times New Roman" panose="02020603050405020304" pitchFamily="18" charset="0"/>
                        </a:rPr>
                        <a:t>s→s</a:t>
                      </a:r>
                      <a:r>
                        <a:rPr lang="en-US" altLang="zh-CN" sz="2400">
                          <a:solidFill>
                            <a:srgbClr val="000000"/>
                          </a:solidFill>
                          <a:latin typeface="Times New Roman" panose="02020603050405020304" pitchFamily="18" charset="0"/>
                        </a:rPr>
                        <a:t>'</a:t>
                      </a:r>
                      <a:endParaRPr lang="zh-CN" altLang="en-US" sz="2400" dirty="0">
                        <a:solidFill>
                          <a:srgbClr val="000000"/>
                        </a:solidFill>
                        <a:latin typeface="Times New Roman" panose="02020603050405020304" pitchFamily="18" charset="0"/>
                      </a:endParaRPr>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72BFC5"/>
                    </a:solidFill>
                  </a:tcPr>
                </a:tc>
                <a:tc>
                  <a:txBody>
                    <a:bodyPr/>
                    <a:p>
                      <a:pPr marL="0" lvl="0" indent="0" algn="ctr">
                        <a:spcBef>
                          <a:spcPct val="0"/>
                        </a:spcBef>
                        <a:buNone/>
                      </a:pPr>
                      <a:endParaRPr lang="zh-CN" altLang="en-US" sz="2400" dirty="0">
                        <a:solidFill>
                          <a:srgbClr val="000000"/>
                        </a:solidFill>
                        <a:latin typeface="Times New Roman" panose="02020603050405020304" pitchFamily="18" charset="0"/>
                      </a:endParaRPr>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72BFC5"/>
                    </a:solidFill>
                  </a:tcPr>
                </a:tc>
                <a:tc>
                  <a:txBody>
                    <a:bodyPr/>
                    <a:p>
                      <a:pPr marL="0" lvl="0" indent="0">
                        <a:spcBef>
                          <a:spcPct val="0"/>
                        </a:spcBef>
                        <a:buNone/>
                      </a:pPr>
                      <a:r>
                        <a:rPr lang="en-US" altLang="zh-CN" sz="2400">
                          <a:solidFill>
                            <a:srgbClr val="000000"/>
                          </a:solidFill>
                        </a:rPr>
                        <a:t>             </a:t>
                      </a:r>
                      <a:r>
                        <a:rPr lang="zh-CN" altLang="en-US" sz="2400" dirty="0">
                          <a:solidFill>
                            <a:srgbClr val="000000"/>
                          </a:solidFill>
                          <a:latin typeface="Times New Roman" panose="02020603050405020304" pitchFamily="18" charset="0"/>
                        </a:rPr>
                        <a:t>带通的通带上、下限截止频率</a:t>
                      </a:r>
                      <a:endParaRPr lang="zh-CN" altLang="en-US" sz="2400" dirty="0">
                        <a:solidFill>
                          <a:srgbClr val="000000"/>
                        </a:solidFill>
                        <a:latin typeface="Times New Roman" panose="02020603050405020304" pitchFamily="18" charset="0"/>
                      </a:endParaRPr>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72BFC5"/>
                    </a:solidFill>
                  </a:tcPr>
                </a:tc>
              </a:tr>
              <a:tr h="1189355">
                <a:tc>
                  <a:txBody>
                    <a:bodyPr/>
                    <a:p>
                      <a:pPr marL="0" lvl="0" indent="0" algn="ctr">
                        <a:spcBef>
                          <a:spcPct val="0"/>
                        </a:spcBef>
                        <a:buNone/>
                      </a:pPr>
                      <a:r>
                        <a:rPr lang="zh-CN" altLang="en-US" sz="2400" dirty="0">
                          <a:solidFill>
                            <a:srgbClr val="000000"/>
                          </a:solidFill>
                          <a:latin typeface="Times New Roman" panose="02020603050405020304" pitchFamily="18" charset="0"/>
                        </a:rPr>
                        <a:t>低通原型→带阻</a:t>
                      </a:r>
                      <a:r>
                        <a:rPr lang="en-US" altLang="zh-CN" sz="2400" err="1">
                          <a:solidFill>
                            <a:srgbClr val="000000"/>
                          </a:solidFill>
                          <a:latin typeface="Times New Roman" panose="02020603050405020304" pitchFamily="18" charset="0"/>
                        </a:rPr>
                        <a:t>s→s</a:t>
                      </a:r>
                      <a:r>
                        <a:rPr lang="en-US" altLang="zh-CN" sz="2400">
                          <a:solidFill>
                            <a:srgbClr val="000000"/>
                          </a:solidFill>
                          <a:latin typeface="Times New Roman" panose="02020603050405020304" pitchFamily="18" charset="0"/>
                        </a:rPr>
                        <a:t>'</a:t>
                      </a:r>
                      <a:endParaRPr lang="zh-CN" altLang="en-US" sz="2400" dirty="0">
                        <a:solidFill>
                          <a:srgbClr val="000000"/>
                        </a:solidFill>
                        <a:latin typeface="Times New Roman" panose="02020603050405020304" pitchFamily="18" charset="0"/>
                      </a:endParaRPr>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72BFC5"/>
                    </a:solidFill>
                  </a:tcPr>
                </a:tc>
                <a:tc>
                  <a:txBody>
                    <a:bodyPr/>
                    <a:p>
                      <a:pPr marL="0" lvl="0" indent="0" algn="ctr">
                        <a:spcBef>
                          <a:spcPct val="0"/>
                        </a:spcBef>
                        <a:buNone/>
                      </a:pPr>
                      <a:endParaRPr lang="zh-CN" altLang="en-US" sz="2400" dirty="0">
                        <a:solidFill>
                          <a:srgbClr val="000000"/>
                        </a:solidFill>
                        <a:latin typeface="Times New Roman" panose="02020603050405020304" pitchFamily="18" charset="0"/>
                      </a:endParaRPr>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72BFC5"/>
                    </a:solidFill>
                  </a:tcPr>
                </a:tc>
                <a:tc>
                  <a:txBody>
                    <a:bodyPr/>
                    <a:p>
                      <a:pPr marL="0" lvl="0" indent="0">
                        <a:spcBef>
                          <a:spcPct val="0"/>
                        </a:spcBef>
                        <a:buNone/>
                      </a:pPr>
                      <a:r>
                        <a:rPr lang="en-US" altLang="zh-CN" sz="2400">
                          <a:solidFill>
                            <a:srgbClr val="000000"/>
                          </a:solidFill>
                        </a:rPr>
                        <a:t>             </a:t>
                      </a:r>
                      <a:r>
                        <a:rPr lang="zh-CN" altLang="en-US" sz="2400" dirty="0">
                          <a:solidFill>
                            <a:srgbClr val="000000"/>
                          </a:solidFill>
                          <a:latin typeface="Times New Roman" panose="02020603050405020304" pitchFamily="18" charset="0"/>
                        </a:rPr>
                        <a:t>带阻的阻带上、下限截止频率</a:t>
                      </a:r>
                      <a:endParaRPr lang="en-US" altLang="zh-CN" sz="2400">
                        <a:solidFill>
                          <a:srgbClr val="000000"/>
                        </a:solidFill>
                      </a:endParaRPr>
                    </a:p>
                  </a:txBody>
                  <a:tcPr>
                    <a:lnL w="12700" cap="flat" cmpd="sng">
                      <a:solidFill>
                        <a:srgbClr val="FFFFFF"/>
                      </a:solidFill>
                      <a:prstDash val="solid"/>
                      <a:headEnd type="none" w="med" len="med"/>
                      <a:tailEnd type="none" w="med" len="med"/>
                    </a:lnL>
                    <a:lnR w="12700" cap="flat" cmpd="sng">
                      <a:solidFill>
                        <a:srgbClr val="FFFFFF"/>
                      </a:solidFill>
                      <a:prstDash val="solid"/>
                      <a:headEnd type="none" w="med" len="med"/>
                      <a:tailEnd type="none" w="med" len="med"/>
                    </a:lnR>
                    <a:lnT w="12700" cap="flat" cmpd="sng">
                      <a:solidFill>
                        <a:srgbClr val="FFFFFF"/>
                      </a:solidFill>
                      <a:prstDash val="solid"/>
                      <a:headEnd type="none" w="med" len="med"/>
                      <a:tailEnd type="none" w="med" len="med"/>
                    </a:lnT>
                    <a:lnB w="12700" cap="flat" cmpd="sng">
                      <a:solidFill>
                        <a:srgbClr val="FFFFFF"/>
                      </a:solidFill>
                      <a:prstDash val="solid"/>
                      <a:headEnd type="none" w="med" len="med"/>
                      <a:tailEnd type="none" w="med" len="med"/>
                    </a:lnB>
                    <a:lnTlToBr>
                      <a:noFill/>
                    </a:lnTlToBr>
                    <a:lnBlToTr>
                      <a:noFill/>
                    </a:lnBlToTr>
                    <a:solidFill>
                      <a:srgbClr val="72BFC5"/>
                    </a:solidFill>
                  </a:tcPr>
                </a:tc>
              </a:tr>
            </a:tbl>
          </a:graphicData>
        </a:graphic>
      </p:graphicFrame>
      <p:graphicFrame>
        <p:nvGraphicFramePr>
          <p:cNvPr id="62492" name="对象 63515">
            <a:hlinkClick r:id="" action="ppaction://ole?verb="/>
          </p:cNvPr>
          <p:cNvGraphicFramePr>
            <a:graphicFrameLocks noChangeAspect="1"/>
          </p:cNvGraphicFramePr>
          <p:nvPr/>
        </p:nvGraphicFramePr>
        <p:xfrm>
          <a:off x="3308350" y="1652588"/>
          <a:ext cx="1098550" cy="812800"/>
        </p:xfrm>
        <a:graphic>
          <a:graphicData uri="http://schemas.openxmlformats.org/presentationml/2006/ole">
            <mc:AlternateContent xmlns:mc="http://schemas.openxmlformats.org/markup-compatibility/2006">
              <mc:Choice xmlns:v="urn:schemas-microsoft-com:vml" Requires="v">
                <p:oleObj spid="_x0000_s3269" name="" r:id="rId3" imgW="584200" imgH="431800" progId="Equation.3">
                  <p:embed/>
                </p:oleObj>
              </mc:Choice>
              <mc:Fallback>
                <p:oleObj name="" r:id="rId3" imgW="584200" imgH="431800" progId="Equation.3">
                  <p:embed/>
                  <p:pic>
                    <p:nvPicPr>
                      <p:cNvPr id="0" name="图片 3268"/>
                      <p:cNvPicPr/>
                      <p:nvPr/>
                    </p:nvPicPr>
                    <p:blipFill>
                      <a:blip r:embed="rId4"/>
                      <a:stretch>
                        <a:fillRect/>
                      </a:stretch>
                    </p:blipFill>
                    <p:spPr>
                      <a:xfrm>
                        <a:off x="3308350" y="1652588"/>
                        <a:ext cx="1098550" cy="812800"/>
                      </a:xfrm>
                      <a:prstGeom prst="rect">
                        <a:avLst/>
                      </a:prstGeom>
                      <a:noFill/>
                      <a:ln w="38100">
                        <a:noFill/>
                        <a:miter/>
                      </a:ln>
                    </p:spPr>
                  </p:pic>
                </p:oleObj>
              </mc:Fallback>
            </mc:AlternateContent>
          </a:graphicData>
        </a:graphic>
      </p:graphicFrame>
      <p:graphicFrame>
        <p:nvGraphicFramePr>
          <p:cNvPr id="62493" name="对象 63516">
            <a:hlinkClick r:id="" action="ppaction://ole?verb="/>
          </p:cNvPr>
          <p:cNvGraphicFramePr>
            <a:graphicFrameLocks noChangeAspect="1"/>
          </p:cNvGraphicFramePr>
          <p:nvPr/>
        </p:nvGraphicFramePr>
        <p:xfrm>
          <a:off x="3249613" y="2587625"/>
          <a:ext cx="1217612" cy="788988"/>
        </p:xfrm>
        <a:graphic>
          <a:graphicData uri="http://schemas.openxmlformats.org/presentationml/2006/ole">
            <mc:AlternateContent xmlns:mc="http://schemas.openxmlformats.org/markup-compatibility/2006">
              <mc:Choice xmlns:v="urn:schemas-microsoft-com:vml" Requires="v">
                <p:oleObj spid="_x0000_s3274" name="" r:id="rId5" imgW="647700" imgH="419100" progId="Equation.3">
                  <p:embed/>
                </p:oleObj>
              </mc:Choice>
              <mc:Fallback>
                <p:oleObj name="" r:id="rId5" imgW="647700" imgH="419100" progId="Equation.3">
                  <p:embed/>
                  <p:pic>
                    <p:nvPicPr>
                      <p:cNvPr id="0" name="图片 3273"/>
                      <p:cNvPicPr/>
                      <p:nvPr/>
                    </p:nvPicPr>
                    <p:blipFill>
                      <a:blip r:embed="rId6"/>
                      <a:stretch>
                        <a:fillRect/>
                      </a:stretch>
                    </p:blipFill>
                    <p:spPr>
                      <a:xfrm>
                        <a:off x="3249613" y="2587625"/>
                        <a:ext cx="1217612" cy="788988"/>
                      </a:xfrm>
                      <a:prstGeom prst="rect">
                        <a:avLst/>
                      </a:prstGeom>
                      <a:noFill/>
                      <a:ln w="38100">
                        <a:noFill/>
                        <a:miter/>
                      </a:ln>
                    </p:spPr>
                  </p:pic>
                </p:oleObj>
              </mc:Fallback>
            </mc:AlternateContent>
          </a:graphicData>
        </a:graphic>
      </p:graphicFrame>
      <p:graphicFrame>
        <p:nvGraphicFramePr>
          <p:cNvPr id="62494" name="对象 63517">
            <a:hlinkClick r:id="" action="ppaction://ole?verb="/>
          </p:cNvPr>
          <p:cNvGraphicFramePr>
            <a:graphicFrameLocks noChangeAspect="1"/>
          </p:cNvGraphicFramePr>
          <p:nvPr/>
        </p:nvGraphicFramePr>
        <p:xfrm>
          <a:off x="2914650" y="3503613"/>
          <a:ext cx="2222500" cy="860425"/>
        </p:xfrm>
        <a:graphic>
          <a:graphicData uri="http://schemas.openxmlformats.org/presentationml/2006/ole">
            <mc:AlternateContent xmlns:mc="http://schemas.openxmlformats.org/markup-compatibility/2006">
              <mc:Choice xmlns:v="urn:schemas-microsoft-com:vml" Requires="v">
                <p:oleObj spid="_x0000_s3275" name="" r:id="rId7" imgW="1181100" imgH="457200" progId="Equation.3">
                  <p:embed/>
                </p:oleObj>
              </mc:Choice>
              <mc:Fallback>
                <p:oleObj name="" r:id="rId7" imgW="1181100" imgH="457200" progId="Equation.3">
                  <p:embed/>
                  <p:pic>
                    <p:nvPicPr>
                      <p:cNvPr id="0" name="图片 3274"/>
                      <p:cNvPicPr/>
                      <p:nvPr/>
                    </p:nvPicPr>
                    <p:blipFill>
                      <a:blip r:embed="rId8"/>
                      <a:stretch>
                        <a:fillRect/>
                      </a:stretch>
                    </p:blipFill>
                    <p:spPr>
                      <a:xfrm>
                        <a:off x="2914650" y="3503613"/>
                        <a:ext cx="2222500" cy="860425"/>
                      </a:xfrm>
                      <a:prstGeom prst="rect">
                        <a:avLst/>
                      </a:prstGeom>
                      <a:noFill/>
                      <a:ln w="38100">
                        <a:noFill/>
                        <a:miter/>
                      </a:ln>
                    </p:spPr>
                  </p:pic>
                </p:oleObj>
              </mc:Fallback>
            </mc:AlternateContent>
          </a:graphicData>
        </a:graphic>
      </p:graphicFrame>
      <p:graphicFrame>
        <p:nvGraphicFramePr>
          <p:cNvPr id="62495" name="对象 63518">
            <a:hlinkClick r:id="" action="ppaction://ole?verb="/>
          </p:cNvPr>
          <p:cNvGraphicFramePr>
            <a:graphicFrameLocks noChangeAspect="1"/>
          </p:cNvGraphicFramePr>
          <p:nvPr/>
        </p:nvGraphicFramePr>
        <p:xfrm>
          <a:off x="2914650" y="4651375"/>
          <a:ext cx="2222500" cy="812800"/>
        </p:xfrm>
        <a:graphic>
          <a:graphicData uri="http://schemas.openxmlformats.org/presentationml/2006/ole">
            <mc:AlternateContent xmlns:mc="http://schemas.openxmlformats.org/markup-compatibility/2006">
              <mc:Choice xmlns:v="urn:schemas-microsoft-com:vml" Requires="v">
                <p:oleObj spid="_x0000_s3280" name="" r:id="rId9" imgW="1181100" imgH="431800" progId="Equation.3">
                  <p:embed/>
                </p:oleObj>
              </mc:Choice>
              <mc:Fallback>
                <p:oleObj name="" r:id="rId9" imgW="1181100" imgH="431800" progId="Equation.3">
                  <p:embed/>
                  <p:pic>
                    <p:nvPicPr>
                      <p:cNvPr id="0" name="图片 3279"/>
                      <p:cNvPicPr/>
                      <p:nvPr/>
                    </p:nvPicPr>
                    <p:blipFill>
                      <a:blip r:embed="rId10"/>
                      <a:stretch>
                        <a:fillRect/>
                      </a:stretch>
                    </p:blipFill>
                    <p:spPr>
                      <a:xfrm>
                        <a:off x="2914650" y="4651375"/>
                        <a:ext cx="2222500" cy="812800"/>
                      </a:xfrm>
                      <a:prstGeom prst="rect">
                        <a:avLst/>
                      </a:prstGeom>
                      <a:noFill/>
                      <a:ln w="38100">
                        <a:noFill/>
                        <a:miter/>
                      </a:ln>
                    </p:spPr>
                  </p:pic>
                </p:oleObj>
              </mc:Fallback>
            </mc:AlternateContent>
          </a:graphicData>
        </a:graphic>
      </p:graphicFrame>
      <p:graphicFrame>
        <p:nvGraphicFramePr>
          <p:cNvPr id="62496" name="对象 63519">
            <a:hlinkClick r:id="" action="ppaction://ole?verb="/>
          </p:cNvPr>
          <p:cNvGraphicFramePr>
            <a:graphicFrameLocks noChangeAspect="1"/>
          </p:cNvGraphicFramePr>
          <p:nvPr/>
        </p:nvGraphicFramePr>
        <p:xfrm>
          <a:off x="5276850" y="1566863"/>
          <a:ext cx="525463" cy="454025"/>
        </p:xfrm>
        <a:graphic>
          <a:graphicData uri="http://schemas.openxmlformats.org/presentationml/2006/ole">
            <mc:AlternateContent xmlns:mc="http://schemas.openxmlformats.org/markup-compatibility/2006">
              <mc:Choice xmlns:v="urn:schemas-microsoft-com:vml" Requires="v">
                <p:oleObj spid="_x0000_s3270" name="" r:id="rId11" imgW="279400" imgH="241300" progId="Equation.3">
                  <p:embed/>
                </p:oleObj>
              </mc:Choice>
              <mc:Fallback>
                <p:oleObj name="" r:id="rId11" imgW="279400" imgH="241300" progId="Equation.3">
                  <p:embed/>
                  <p:pic>
                    <p:nvPicPr>
                      <p:cNvPr id="0" name="图片 3269"/>
                      <p:cNvPicPr/>
                      <p:nvPr/>
                    </p:nvPicPr>
                    <p:blipFill>
                      <a:blip r:embed="rId12"/>
                      <a:stretch>
                        <a:fillRect/>
                      </a:stretch>
                    </p:blipFill>
                    <p:spPr>
                      <a:xfrm>
                        <a:off x="5276850" y="1566863"/>
                        <a:ext cx="525463" cy="454025"/>
                      </a:xfrm>
                      <a:prstGeom prst="rect">
                        <a:avLst/>
                      </a:prstGeom>
                      <a:noFill/>
                      <a:ln w="38100">
                        <a:noFill/>
                        <a:miter/>
                      </a:ln>
                    </p:spPr>
                  </p:pic>
                </p:oleObj>
              </mc:Fallback>
            </mc:AlternateContent>
          </a:graphicData>
        </a:graphic>
      </p:graphicFrame>
      <p:graphicFrame>
        <p:nvGraphicFramePr>
          <p:cNvPr id="62497" name="对象 63520">
            <a:hlinkClick r:id="" action="ppaction://ole?verb="/>
          </p:cNvPr>
          <p:cNvGraphicFramePr>
            <a:graphicFrameLocks noChangeAspect="1"/>
          </p:cNvGraphicFramePr>
          <p:nvPr/>
        </p:nvGraphicFramePr>
        <p:xfrm>
          <a:off x="5295900" y="2533650"/>
          <a:ext cx="525463" cy="454025"/>
        </p:xfrm>
        <a:graphic>
          <a:graphicData uri="http://schemas.openxmlformats.org/presentationml/2006/ole">
            <mc:AlternateContent xmlns:mc="http://schemas.openxmlformats.org/markup-compatibility/2006">
              <mc:Choice xmlns:v="urn:schemas-microsoft-com:vml" Requires="v">
                <p:oleObj spid="_x0000_s3279" name="" r:id="rId13" imgW="279400" imgH="241300" progId="Equation.3">
                  <p:embed/>
                </p:oleObj>
              </mc:Choice>
              <mc:Fallback>
                <p:oleObj name="" r:id="rId13" imgW="279400" imgH="241300" progId="Equation.3">
                  <p:embed/>
                  <p:pic>
                    <p:nvPicPr>
                      <p:cNvPr id="0" name="图片 3278"/>
                      <p:cNvPicPr/>
                      <p:nvPr/>
                    </p:nvPicPr>
                    <p:blipFill>
                      <a:blip r:embed="rId12"/>
                      <a:stretch>
                        <a:fillRect/>
                      </a:stretch>
                    </p:blipFill>
                    <p:spPr>
                      <a:xfrm>
                        <a:off x="5295900" y="2533650"/>
                        <a:ext cx="525463" cy="454025"/>
                      </a:xfrm>
                      <a:prstGeom prst="rect">
                        <a:avLst/>
                      </a:prstGeom>
                      <a:noFill/>
                      <a:ln w="38100">
                        <a:noFill/>
                        <a:miter/>
                      </a:ln>
                    </p:spPr>
                  </p:pic>
                </p:oleObj>
              </mc:Fallback>
            </mc:AlternateContent>
          </a:graphicData>
        </a:graphic>
      </p:graphicFrame>
      <p:graphicFrame>
        <p:nvGraphicFramePr>
          <p:cNvPr id="62498" name="对象 63521">
            <a:hlinkClick r:id="" action="ppaction://ole?verb="/>
          </p:cNvPr>
          <p:cNvGraphicFramePr>
            <a:graphicFrameLocks noChangeAspect="1"/>
          </p:cNvGraphicFramePr>
          <p:nvPr/>
        </p:nvGraphicFramePr>
        <p:xfrm>
          <a:off x="5276850" y="3495675"/>
          <a:ext cx="1101725" cy="430213"/>
        </p:xfrm>
        <a:graphic>
          <a:graphicData uri="http://schemas.openxmlformats.org/presentationml/2006/ole">
            <mc:AlternateContent xmlns:mc="http://schemas.openxmlformats.org/markup-compatibility/2006">
              <mc:Choice xmlns:v="urn:schemas-microsoft-com:vml" Requires="v">
                <p:oleObj spid="_x0000_s3272" name="" r:id="rId14" imgW="584200" imgH="228600" progId="Equation.3">
                  <p:embed/>
                </p:oleObj>
              </mc:Choice>
              <mc:Fallback>
                <p:oleObj name="" r:id="rId14" imgW="584200" imgH="228600" progId="Equation.3">
                  <p:embed/>
                  <p:pic>
                    <p:nvPicPr>
                      <p:cNvPr id="0" name="图片 3271"/>
                      <p:cNvPicPr/>
                      <p:nvPr/>
                    </p:nvPicPr>
                    <p:blipFill>
                      <a:blip r:embed="rId15"/>
                      <a:stretch>
                        <a:fillRect/>
                      </a:stretch>
                    </p:blipFill>
                    <p:spPr>
                      <a:xfrm>
                        <a:off x="5276850" y="3495675"/>
                        <a:ext cx="1101725" cy="430213"/>
                      </a:xfrm>
                      <a:prstGeom prst="rect">
                        <a:avLst/>
                      </a:prstGeom>
                      <a:noFill/>
                      <a:ln w="38100">
                        <a:noFill/>
                        <a:miter/>
                      </a:ln>
                    </p:spPr>
                  </p:pic>
                </p:oleObj>
              </mc:Fallback>
            </mc:AlternateContent>
          </a:graphicData>
        </a:graphic>
      </p:graphicFrame>
      <p:graphicFrame>
        <p:nvGraphicFramePr>
          <p:cNvPr id="62499" name="对象 63522">
            <a:hlinkClick r:id="" action="ppaction://ole?verb="/>
          </p:cNvPr>
          <p:cNvGraphicFramePr>
            <a:graphicFrameLocks noChangeAspect="1"/>
          </p:cNvGraphicFramePr>
          <p:nvPr/>
        </p:nvGraphicFramePr>
        <p:xfrm>
          <a:off x="5276850" y="4494213"/>
          <a:ext cx="1101725" cy="431800"/>
        </p:xfrm>
        <a:graphic>
          <a:graphicData uri="http://schemas.openxmlformats.org/presentationml/2006/ole">
            <mc:AlternateContent xmlns:mc="http://schemas.openxmlformats.org/markup-compatibility/2006">
              <mc:Choice xmlns:v="urn:schemas-microsoft-com:vml" Requires="v">
                <p:oleObj spid="_x0000_s3267" name="" r:id="rId16" imgW="584200" imgH="228600" progId="Equation.3">
                  <p:embed/>
                </p:oleObj>
              </mc:Choice>
              <mc:Fallback>
                <p:oleObj name="" r:id="rId16" imgW="584200" imgH="228600" progId="Equation.3">
                  <p:embed/>
                  <p:pic>
                    <p:nvPicPr>
                      <p:cNvPr id="0" name="图片 3266"/>
                      <p:cNvPicPr/>
                      <p:nvPr/>
                    </p:nvPicPr>
                    <p:blipFill>
                      <a:blip r:embed="rId15"/>
                      <a:stretch>
                        <a:fillRect/>
                      </a:stretch>
                    </p:blipFill>
                    <p:spPr>
                      <a:xfrm>
                        <a:off x="5276850" y="4494213"/>
                        <a:ext cx="1101725" cy="431800"/>
                      </a:xfrm>
                      <a:prstGeom prst="rect">
                        <a:avLst/>
                      </a:prstGeom>
                      <a:noFill/>
                      <a:ln w="38100">
                        <a:noFill/>
                        <a:miter/>
                      </a:ln>
                    </p:spPr>
                  </p:pic>
                </p:oleObj>
              </mc:Fallback>
            </mc:AlternateContent>
          </a:graphicData>
        </a:graphic>
      </p:graphicFrame>
      <p:sp>
        <p:nvSpPr>
          <p:cNvPr id="62500" name="文本框 113666"/>
          <p:cNvSpPr txBox="1"/>
          <p:nvPr/>
        </p:nvSpPr>
        <p:spPr>
          <a:xfrm>
            <a:off x="395605" y="476885"/>
            <a:ext cx="7543800" cy="460375"/>
          </a:xfrm>
          <a:prstGeom prst="rect">
            <a:avLst/>
          </a:prstGeom>
          <a:noFill/>
          <a:ln w="9525">
            <a:noFill/>
          </a:ln>
        </p:spPr>
        <p:txBody>
          <a:bodyPr>
            <a:spAutoFit/>
          </a:bodyPr>
          <a:p>
            <a:pPr algn="just">
              <a:spcBef>
                <a:spcPct val="50000"/>
              </a:spcBef>
            </a:pPr>
            <a:r>
              <a:rPr lang="en-US" altLang="zh-CN">
                <a:latin typeface="Times New Roman" panose="02020603050405020304" pitchFamily="18" charset="0"/>
              </a:rPr>
              <a:t>                           </a:t>
            </a:r>
            <a:r>
              <a:rPr lang="zh-CN" altLang="en-US" sz="2400" dirty="0">
                <a:latin typeface="Times New Roman" panose="02020603050405020304" pitchFamily="18" charset="0"/>
              </a:rPr>
              <a:t>     </a:t>
            </a:r>
            <a:r>
              <a:rPr lang="zh-CN" altLang="en-US" sz="2400" b="1" dirty="0">
                <a:solidFill>
                  <a:srgbClr val="FF0000"/>
                </a:solidFill>
                <a:latin typeface="Times New Roman" panose="02020603050405020304" pitchFamily="18" charset="0"/>
              </a:rPr>
              <a:t>模拟频率之间转换公式表</a:t>
            </a:r>
            <a:endParaRPr lang="zh-CN" altLang="en-US" sz="2400" b="1" dirty="0">
              <a:solidFill>
                <a:srgbClr val="FF0000"/>
              </a:solidFill>
              <a:latin typeface="Times New Roman" panose="02020603050405020304" pitchFamily="18" charset="0"/>
            </a:endParaRPr>
          </a:p>
        </p:txBody>
      </p:sp>
      <p:sp>
        <p:nvSpPr>
          <p:cNvPr id="62501" name="文本框 113666"/>
          <p:cNvSpPr txBox="1"/>
          <p:nvPr/>
        </p:nvSpPr>
        <p:spPr>
          <a:xfrm>
            <a:off x="650875" y="5778500"/>
            <a:ext cx="7978775" cy="395288"/>
          </a:xfrm>
          <a:prstGeom prst="rect">
            <a:avLst/>
          </a:prstGeom>
          <a:noFill/>
          <a:ln w="9525">
            <a:noFill/>
          </a:ln>
        </p:spPr>
        <p:txBody>
          <a:bodyPr>
            <a:spAutoFit/>
          </a:bodyPr>
          <a:p>
            <a:pPr>
              <a:spcBef>
                <a:spcPct val="50000"/>
              </a:spcBef>
            </a:pPr>
            <a:r>
              <a:rPr lang="zh-CN" altLang="en-US" sz="2000" b="1" dirty="0">
                <a:solidFill>
                  <a:schemeClr val="tx2"/>
                </a:solidFill>
                <a:latin typeface="Times New Roman" panose="02020603050405020304" pitchFamily="18" charset="0"/>
              </a:rPr>
              <a:t>由于频率混叠，所以脉冲响应不变法不适合设计高通和带阻滤波器</a:t>
            </a:r>
            <a:endParaRPr lang="zh-CN" altLang="en-US" sz="2000" b="1" dirty="0">
              <a:solidFill>
                <a:schemeClr val="tx2"/>
              </a:solidFill>
              <a:latin typeface="Times New Roman" panose="02020603050405020304" pitchFamily="18" charset="0"/>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文本框 109571"/>
          <p:cNvSpPr txBox="1"/>
          <p:nvPr/>
        </p:nvSpPr>
        <p:spPr>
          <a:xfrm>
            <a:off x="373063" y="549275"/>
            <a:ext cx="8375650" cy="5861685"/>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第二种方法实际上是把第一种方法中的两步合成一步来实现，即把模拟低通原型变换到模拟低通、高通、带通、带阻等滤波器的公式与用</a:t>
            </a:r>
            <a:r>
              <a:rPr lang="zh-CN" altLang="en-US" sz="3200" b="1" u="sng" dirty="0">
                <a:solidFill>
                  <a:srgbClr val="FF0000"/>
                </a:solidFill>
                <a:latin typeface="Times New Roman" panose="02020603050405020304" pitchFamily="18" charset="0"/>
                <a:ea typeface="宋体" panose="02010600030101010101" pitchFamily="2" charset="-122"/>
              </a:rPr>
              <a:t>双线性变换</a:t>
            </a:r>
            <a:r>
              <a:rPr lang="zh-CN" altLang="en-US" dirty="0">
                <a:latin typeface="Times New Roman" panose="02020603050405020304" pitchFamily="18" charset="0"/>
                <a:ea typeface="宋体" panose="02010600030101010101" pitchFamily="2" charset="-122"/>
              </a:rPr>
              <a:t>得到相应数字滤波器的公式合并，就可直接从模拟低通原型通过一定的频率变换关系，一步完成各种类型数字滤波器的设计，因而简捷便利，得到普遍采用。此外，对于高通、带阻滤波器，由于脉冲响应不变法不能直接采用，或者只能在加了保护滤波器以后使用，因此，脉冲响应不变法使用直接频率变换要有许多特殊考虑，故对于脉冲响应不变法来说，采用第一种方案有时更方便一些。我们在下面</a:t>
            </a:r>
            <a:r>
              <a:rPr lang="zh-CN" altLang="en-US" b="1" u="sng" dirty="0">
                <a:solidFill>
                  <a:srgbClr val="FF0000"/>
                </a:solidFill>
                <a:latin typeface="Times New Roman" panose="02020603050405020304" pitchFamily="18" charset="0"/>
                <a:ea typeface="宋体" panose="02010600030101010101" pitchFamily="2" charset="-122"/>
              </a:rPr>
              <a:t>只考虑</a:t>
            </a:r>
            <a:r>
              <a:rPr lang="zh-CN" altLang="en-US" b="1" u="sng" dirty="0">
                <a:solidFill>
                  <a:srgbClr val="FF0000"/>
                </a:solidFill>
                <a:latin typeface="Times New Roman" panose="02020603050405020304" pitchFamily="18" charset="0"/>
                <a:ea typeface="宋体" panose="02010600030101010101" pitchFamily="2" charset="-122"/>
              </a:rPr>
              <a:t>双线性变换</a:t>
            </a:r>
            <a:r>
              <a:rPr lang="zh-CN" altLang="en-US" dirty="0">
                <a:latin typeface="Times New Roman" panose="02020603050405020304" pitchFamily="18" charset="0"/>
                <a:ea typeface="宋体" panose="02010600030101010101" pitchFamily="2" charset="-122"/>
              </a:rPr>
              <a:t>，实际使用中多数情况也正是这样。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文本框 108547"/>
          <p:cNvSpPr txBox="1"/>
          <p:nvPr/>
        </p:nvSpPr>
        <p:spPr>
          <a:xfrm>
            <a:off x="468313" y="620713"/>
            <a:ext cx="8304212" cy="4948237"/>
          </a:xfrm>
          <a:prstGeom prst="rect">
            <a:avLst/>
          </a:prstGeom>
          <a:noFill/>
          <a:ln w="9525">
            <a:noFill/>
          </a:ln>
        </p:spPr>
        <p:txBody>
          <a:bodyPr anchor="t">
            <a:spAutoFit/>
          </a:bodyPr>
          <a:p>
            <a:pPr algn="just">
              <a:lnSpc>
                <a:spcPct val="160000"/>
              </a:lnSpc>
              <a:spcBef>
                <a:spcPct val="50000"/>
              </a:spcBef>
            </a:pPr>
            <a:r>
              <a:rPr lang="en-US" altLang="zh-CN" b="1" dirty="0">
                <a:solidFill>
                  <a:srgbClr val="FF0000"/>
                </a:solidFill>
                <a:latin typeface="Times New Roman" panose="02020603050405020304" pitchFamily="18" charset="0"/>
                <a:ea typeface="宋体" panose="02010600030101010101" pitchFamily="2" charset="-122"/>
              </a:rPr>
              <a:t>5.6.1 </a:t>
            </a:r>
            <a:r>
              <a:rPr lang="zh-CN" altLang="en-US" b="1" dirty="0">
                <a:solidFill>
                  <a:srgbClr val="FF0000"/>
                </a:solidFill>
                <a:latin typeface="Times New Roman" panose="02020603050405020304" pitchFamily="18" charset="0"/>
                <a:ea typeface="宋体" panose="02010600030101010101" pitchFamily="2" charset="-122"/>
              </a:rPr>
              <a:t>模拟低通滤波器变换成数字低通滤波器</a:t>
            </a:r>
            <a:endParaRPr lang="zh-CN" altLang="en-US">
              <a:latin typeface="Times New Roman" panose="02020603050405020304" pitchFamily="18" charset="0"/>
              <a:ea typeface="宋体" panose="02010600030101010101" pitchFamily="2" charset="-122"/>
            </a:endParaRPr>
          </a:p>
          <a:p>
            <a:pPr algn="just">
              <a:lnSpc>
                <a:spcPct val="160000"/>
              </a:lnSpc>
              <a:spcBef>
                <a:spcPct val="50000"/>
              </a:spcBef>
            </a:pPr>
            <a:r>
              <a:rPr lang="zh-CN" altLang="en-US" dirty="0">
                <a:latin typeface="Times New Roman" panose="02020603050405020304" pitchFamily="18" charset="0"/>
                <a:ea typeface="宋体" panose="02010600030101010101" pitchFamily="2" charset="-122"/>
              </a:rPr>
              <a:t>         首先，把数字滤波器的性能要求转换为与之相应的作为“样本”的模拟滤波器的性能要求，根据此性能要求设计模拟滤波器，这可以用查表的办法，也可以用解析的方法。然后，通过脉冲响应不变法或双线性变换法，将此“样本”模拟低通滤波器数字化为所需的数字滤波器</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。例</a:t>
            </a:r>
            <a:r>
              <a:rPr lang="en-US" altLang="zh-CN" dirty="0">
                <a:latin typeface="Times New Roman" panose="02020603050405020304" pitchFamily="18" charset="0"/>
                <a:ea typeface="宋体" panose="02010600030101010101" pitchFamily="2" charset="-122"/>
              </a:rPr>
              <a:t>5-5</a:t>
            </a:r>
            <a:r>
              <a:rPr lang="zh-CN" altLang="en-US" dirty="0">
                <a:latin typeface="Times New Roman" panose="02020603050405020304" pitchFamily="18" charset="0"/>
                <a:ea typeface="宋体" panose="02010600030101010101" pitchFamily="2" charset="-122"/>
              </a:rPr>
              <a:t>已经说明了用双线性变换法设计低通滤波器的过程，这里再用脉冲响应不</a:t>
            </a:r>
            <a:r>
              <a:rPr lang="zh-CN" altLang="en-US" dirty="0">
                <a:latin typeface="Times New Roman" panose="02020603050405020304" pitchFamily="18" charset="0"/>
                <a:ea typeface="宋体" panose="02010600030101010101" pitchFamily="2" charset="-122"/>
              </a:rPr>
              <a:t>变法来讨论一下例</a:t>
            </a:r>
            <a:r>
              <a:rPr lang="en-US" altLang="zh-CN" dirty="0">
                <a:latin typeface="Times New Roman" panose="02020603050405020304" pitchFamily="18" charset="0"/>
                <a:ea typeface="宋体" panose="02010600030101010101" pitchFamily="2" charset="-122"/>
              </a:rPr>
              <a:t>5-5</a:t>
            </a:r>
            <a:r>
              <a:rPr lang="zh-CN" altLang="en-US" dirty="0">
                <a:latin typeface="Times New Roman" panose="02020603050405020304" pitchFamily="18" charset="0"/>
                <a:ea typeface="宋体" panose="02010600030101010101" pitchFamily="2" charset="-122"/>
              </a:rPr>
              <a:t>的低通滤波器设计问题。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文本框 111619"/>
          <p:cNvSpPr txBox="1"/>
          <p:nvPr/>
        </p:nvSpPr>
        <p:spPr>
          <a:xfrm>
            <a:off x="444500" y="476250"/>
            <a:ext cx="8304213" cy="2820988"/>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 </a:t>
            </a:r>
            <a:r>
              <a:rPr lang="en-US" altLang="zh-CN" b="1" dirty="0">
                <a:latin typeface="Times New Roman" panose="02020603050405020304" pitchFamily="18" charset="0"/>
                <a:ea typeface="宋体" panose="02010600030101010101" pitchFamily="2" charset="-122"/>
              </a:rPr>
              <a:t>5-6</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用</a:t>
            </a:r>
            <a:r>
              <a:rPr lang="zh-CN" altLang="en-US" b="1" dirty="0">
                <a:solidFill>
                  <a:srgbClr val="FF0000"/>
                </a:solidFill>
                <a:latin typeface="Times New Roman" panose="02020603050405020304" pitchFamily="18" charset="0"/>
                <a:ea typeface="宋体" panose="02010600030101010101" pitchFamily="2" charset="-122"/>
              </a:rPr>
              <a:t>脉冲响应不变法</a:t>
            </a:r>
            <a:r>
              <a:rPr lang="zh-CN" altLang="en-US" dirty="0">
                <a:latin typeface="Times New Roman" panose="02020603050405020304" pitchFamily="18" charset="0"/>
                <a:ea typeface="宋体" panose="02010600030101010101" pitchFamily="2" charset="-122"/>
              </a:rPr>
              <a:t>设计一个三阶巴特沃思数字低通滤波器，采样频率为</a:t>
            </a:r>
            <a:r>
              <a:rPr lang="en-US" altLang="zh-CN" i="1" dirty="0" err="1">
                <a:latin typeface="Times New Roman" panose="02020603050405020304" pitchFamily="18" charset="0"/>
                <a:ea typeface="宋体" panose="02010600030101010101" pitchFamily="2" charset="-122"/>
              </a:rPr>
              <a:t>f</a:t>
            </a:r>
            <a:r>
              <a:rPr lang="en-US" altLang="zh-CN" baseline="-25000" dirty="0" err="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=4 kHz</a:t>
            </a:r>
            <a:r>
              <a:rPr lang="zh-CN" altLang="en-US" dirty="0">
                <a:latin typeface="Times New Roman" panose="02020603050405020304" pitchFamily="18" charset="0"/>
                <a:ea typeface="宋体" panose="02010600030101010101" pitchFamily="2" charset="-122"/>
              </a:rPr>
              <a:t>（即采样周期为</a:t>
            </a:r>
            <a:r>
              <a:rPr lang="en-US" altLang="zh-CN" i="1">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=250μs</a:t>
            </a:r>
            <a:r>
              <a:rPr lang="zh-CN" altLang="en-US" dirty="0">
                <a:latin typeface="Times New Roman" panose="02020603050405020304" pitchFamily="18" charset="0"/>
                <a:ea typeface="宋体" panose="02010600030101010101" pitchFamily="2" charset="-122"/>
              </a:rPr>
              <a:t>），其</a:t>
            </a:r>
            <a:r>
              <a:rPr lang="en-US" altLang="zh-CN" dirty="0">
                <a:latin typeface="Times New Roman" panose="02020603050405020304" pitchFamily="18" charset="0"/>
                <a:ea typeface="宋体" panose="02010600030101010101" pitchFamily="2" charset="-122"/>
              </a:rPr>
              <a:t>3 dB</a:t>
            </a:r>
            <a:r>
              <a:rPr lang="zh-CN" altLang="en-US" dirty="0">
                <a:latin typeface="Times New Roman" panose="02020603050405020304" pitchFamily="18" charset="0"/>
                <a:ea typeface="宋体" panose="02010600030101010101" pitchFamily="2" charset="-122"/>
              </a:rPr>
              <a:t>截止频率为</a:t>
            </a:r>
            <a:r>
              <a:rPr lang="en-US" altLang="zh-CN" i="1" dirty="0" err="1">
                <a:latin typeface="Times New Roman" panose="02020603050405020304" pitchFamily="18" charset="0"/>
                <a:ea typeface="宋体" panose="02010600030101010101" pitchFamily="2" charset="-122"/>
              </a:rPr>
              <a:t>f</a:t>
            </a:r>
            <a:r>
              <a:rPr lang="en-US" altLang="zh-CN" baseline="-25000" dirty="0" err="1">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=1 kHz</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a:p>
            <a:pPr>
              <a:lnSpc>
                <a:spcPct val="138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 解</a:t>
            </a:r>
            <a:r>
              <a:rPr lang="zh-CN" altLang="en-US" dirty="0">
                <a:latin typeface="Times New Roman" panose="02020603050405020304" pitchFamily="18" charset="0"/>
                <a:ea typeface="宋体" panose="02010600030101010101" pitchFamily="2" charset="-122"/>
              </a:rPr>
              <a:t> 查表可得归一化三阶模拟巴特沃思低通滤波器的传递函数 </a:t>
            </a:r>
            <a:endParaRPr lang="zh-CN" altLang="en-US">
              <a:latin typeface="Times New Roman" panose="02020603050405020304" pitchFamily="18" charset="0"/>
              <a:ea typeface="宋体" panose="02010600030101010101" pitchFamily="2" charset="-122"/>
            </a:endParaRPr>
          </a:p>
        </p:txBody>
      </p:sp>
      <p:graphicFrame>
        <p:nvGraphicFramePr>
          <p:cNvPr id="114690" name="对象 111620"/>
          <p:cNvGraphicFramePr/>
          <p:nvPr/>
        </p:nvGraphicFramePr>
        <p:xfrm>
          <a:off x="2667000" y="2852738"/>
          <a:ext cx="4114800" cy="1004887"/>
        </p:xfrm>
        <a:graphic>
          <a:graphicData uri="http://schemas.openxmlformats.org/presentationml/2006/ole">
            <mc:AlternateContent xmlns:mc="http://schemas.openxmlformats.org/markup-compatibility/2006">
              <mc:Choice xmlns:v="urn:schemas-microsoft-com:vml" Requires="v">
                <p:oleObj spid="_x0000_s3209" name="" r:id="rId1" imgW="1612265" imgH="393700" progId="Equation.3">
                  <p:embed/>
                </p:oleObj>
              </mc:Choice>
              <mc:Fallback>
                <p:oleObj name="" r:id="rId1" imgW="1612265" imgH="393700" progId="Equation.3">
                  <p:embed/>
                  <p:pic>
                    <p:nvPicPr>
                      <p:cNvPr id="0" name="图片 3208"/>
                      <p:cNvPicPr/>
                      <p:nvPr/>
                    </p:nvPicPr>
                    <p:blipFill>
                      <a:blip r:embed="rId2"/>
                      <a:stretch>
                        <a:fillRect/>
                      </a:stretch>
                    </p:blipFill>
                    <p:spPr>
                      <a:xfrm>
                        <a:off x="2667000" y="2852738"/>
                        <a:ext cx="4114800" cy="1004887"/>
                      </a:xfrm>
                      <a:prstGeom prst="rect">
                        <a:avLst/>
                      </a:prstGeom>
                      <a:noFill/>
                      <a:ln w="38100">
                        <a:noFill/>
                        <a:miter/>
                      </a:ln>
                    </p:spPr>
                  </p:pic>
                </p:oleObj>
              </mc:Fallback>
            </mc:AlternateContent>
          </a:graphicData>
        </a:graphic>
      </p:graphicFrame>
      <p:sp>
        <p:nvSpPr>
          <p:cNvPr id="114691" name="文本框 111621"/>
          <p:cNvSpPr txBox="1"/>
          <p:nvPr/>
        </p:nvSpPr>
        <p:spPr>
          <a:xfrm>
            <a:off x="395288" y="3860800"/>
            <a:ext cx="8375650" cy="109855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然后</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以</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代替其归一化频率，则可得三阶模拟巴特沃思低通滤波器的</a:t>
            </a:r>
            <a:r>
              <a:rPr lang="zh-CN" altLang="en-US" dirty="0">
                <a:latin typeface="Times New Roman" panose="02020603050405020304" pitchFamily="18" charset="0"/>
                <a:ea typeface="宋体" panose="02010600030101010101" pitchFamily="2" charset="-122"/>
              </a:rPr>
              <a:t>传递函数为 </a:t>
            </a:r>
            <a:endParaRPr lang="zh-CN" altLang="en-US">
              <a:latin typeface="Times New Roman" panose="02020603050405020304" pitchFamily="18" charset="0"/>
              <a:ea typeface="宋体" panose="02010600030101010101" pitchFamily="2" charset="-122"/>
            </a:endParaRPr>
          </a:p>
        </p:txBody>
      </p:sp>
      <p:graphicFrame>
        <p:nvGraphicFramePr>
          <p:cNvPr id="114692" name="对象 111622"/>
          <p:cNvGraphicFramePr/>
          <p:nvPr/>
        </p:nvGraphicFramePr>
        <p:xfrm>
          <a:off x="1143000" y="4941888"/>
          <a:ext cx="6965950" cy="1101725"/>
        </p:xfrm>
        <a:graphic>
          <a:graphicData uri="http://schemas.openxmlformats.org/presentationml/2006/ole">
            <mc:AlternateContent xmlns:mc="http://schemas.openxmlformats.org/markup-compatibility/2006">
              <mc:Choice xmlns:v="urn:schemas-microsoft-com:vml" Requires="v">
                <p:oleObj spid="_x0000_s3206" name="" r:id="rId3" imgW="2729230" imgH="431800" progId="Equation.3">
                  <p:embed/>
                </p:oleObj>
              </mc:Choice>
              <mc:Fallback>
                <p:oleObj name="" r:id="rId3" imgW="2729230" imgH="431800" progId="Equation.3">
                  <p:embed/>
                  <p:pic>
                    <p:nvPicPr>
                      <p:cNvPr id="0" name="图片 3205"/>
                      <p:cNvPicPr/>
                      <p:nvPr/>
                    </p:nvPicPr>
                    <p:blipFill>
                      <a:blip r:embed="rId4"/>
                      <a:stretch>
                        <a:fillRect/>
                      </a:stretch>
                    </p:blipFill>
                    <p:spPr>
                      <a:xfrm>
                        <a:off x="1143000" y="4941888"/>
                        <a:ext cx="6965950" cy="1101725"/>
                      </a:xfrm>
                      <a:prstGeom prst="rect">
                        <a:avLst/>
                      </a:prstGeom>
                      <a:noFill/>
                      <a:ln w="38100">
                        <a:noFill/>
                        <a:miter/>
                      </a:ln>
                    </p:spPr>
                  </p:pic>
                </p:oleObj>
              </mc:Fallback>
            </mc:AlternateContent>
          </a:graphicData>
        </a:graphic>
      </p:graphicFrame>
      <p:sp>
        <p:nvSpPr>
          <p:cNvPr id="2" name="十字星 1"/>
          <p:cNvSpPr/>
          <p:nvPr/>
        </p:nvSpPr>
        <p:spPr>
          <a:xfrm>
            <a:off x="395288" y="476250"/>
            <a:ext cx="576263" cy="647700"/>
          </a:xfrm>
          <a:prstGeom prst="star4">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 name="下箭头 2"/>
          <p:cNvSpPr/>
          <p:nvPr/>
        </p:nvSpPr>
        <p:spPr>
          <a:xfrm>
            <a:off x="6642100" y="3573463"/>
            <a:ext cx="288925" cy="13684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graphicFrame>
        <p:nvGraphicFramePr>
          <p:cNvPr id="118786" name="对象 114692"/>
          <p:cNvGraphicFramePr/>
          <p:nvPr/>
        </p:nvGraphicFramePr>
        <p:xfrm>
          <a:off x="7164388" y="3573463"/>
          <a:ext cx="1666875" cy="1206500"/>
        </p:xfrm>
        <a:graphic>
          <a:graphicData uri="http://schemas.openxmlformats.org/presentationml/2006/ole">
            <mc:AlternateContent xmlns:mc="http://schemas.openxmlformats.org/markup-compatibility/2006">
              <mc:Choice xmlns:v="urn:schemas-microsoft-com:vml" Requires="v">
                <p:oleObj spid="_x0000_s3207" name="" r:id="rId5" imgW="596900" imgH="431800" progId="Equation.3">
                  <p:embed/>
                </p:oleObj>
              </mc:Choice>
              <mc:Fallback>
                <p:oleObj name="" r:id="rId5" imgW="596900" imgH="431800" progId="Equation.3">
                  <p:embed/>
                  <p:pic>
                    <p:nvPicPr>
                      <p:cNvPr id="0" name="图片 3206"/>
                      <p:cNvPicPr/>
                      <p:nvPr/>
                    </p:nvPicPr>
                    <p:blipFill>
                      <a:blip r:embed="rId6"/>
                      <a:stretch>
                        <a:fillRect/>
                      </a:stretch>
                    </p:blipFill>
                    <p:spPr>
                      <a:xfrm>
                        <a:off x="7164388" y="3573463"/>
                        <a:ext cx="1666875" cy="1206500"/>
                      </a:xfrm>
                      <a:prstGeom prst="rect">
                        <a:avLst/>
                      </a:prstGeom>
                      <a:solidFill>
                        <a:schemeClr val="accent1"/>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8786"/>
                                        </p:tgtEl>
                                        <p:attrNameLst>
                                          <p:attrName>style.visibility</p:attrName>
                                        </p:attrNameLst>
                                      </p:cBhvr>
                                      <p:to>
                                        <p:strVal val="visible"/>
                                      </p:to>
                                    </p:set>
                                    <p:anim calcmode="lin" valueType="num">
                                      <p:cBhvr additive="base">
                                        <p:cTn id="13" dur="500" fill="hold"/>
                                        <p:tgtEl>
                                          <p:spTgt spid="118786"/>
                                        </p:tgtEl>
                                        <p:attrNameLst>
                                          <p:attrName>ppt_x</p:attrName>
                                        </p:attrNameLst>
                                      </p:cBhvr>
                                      <p:tavLst>
                                        <p:tav tm="0">
                                          <p:val>
                                            <p:strVal val="#ppt_x"/>
                                          </p:val>
                                        </p:tav>
                                        <p:tav tm="100000">
                                          <p:val>
                                            <p:strVal val="#ppt_x"/>
                                          </p:val>
                                        </p:tav>
                                      </p:tavLst>
                                    </p:anim>
                                    <p:anim calcmode="lin" valueType="num">
                                      <p:cBhvr additive="base">
                                        <p:cTn id="14" dur="500" fill="hold"/>
                                        <p:tgtEl>
                                          <p:spTgt spid="1187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1258888" y="620713"/>
            <a:ext cx="1223963" cy="504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115714" name="文本框 110595"/>
          <p:cNvSpPr txBox="1"/>
          <p:nvPr/>
        </p:nvSpPr>
        <p:spPr>
          <a:xfrm>
            <a:off x="373063" y="533400"/>
            <a:ext cx="8447087" cy="231140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=2π</a:t>
            </a:r>
            <a:r>
              <a:rPr lang="en-US" altLang="zh-CN" i="1" dirty="0" err="1">
                <a:latin typeface="Times New Roman" panose="02020603050405020304" pitchFamily="18" charset="0"/>
                <a:ea typeface="宋体" panose="02010600030101010101" pitchFamily="2" charset="-122"/>
              </a:rPr>
              <a:t>f</a:t>
            </a:r>
            <a:r>
              <a:rPr lang="en-US" altLang="zh-CN" baseline="-25000" dirty="0" err="1">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。上式也可由巴特沃思滤波器的幅度平方函数求得。</a:t>
            </a:r>
            <a:r>
              <a:rPr lang="zh-CN" altLang="en-US" b="1" dirty="0">
                <a:solidFill>
                  <a:srgbClr val="FF0000"/>
                </a:solidFill>
                <a:latin typeface="Times New Roman" panose="02020603050405020304" pitchFamily="18" charset="0"/>
                <a:ea typeface="宋体" panose="02010600030101010101" pitchFamily="2" charset="-122"/>
              </a:rPr>
              <a:t>  </a:t>
            </a:r>
            <a:endParaRPr lang="zh-CN" altLang="en-US" b="1" dirty="0">
              <a:solidFill>
                <a:srgbClr val="FF0000"/>
              </a:solidFill>
              <a:latin typeface="Times New Roman" panose="02020603050405020304" pitchFamily="18" charset="0"/>
              <a:ea typeface="宋体" panose="02010600030101010101" pitchFamily="2" charset="-122"/>
            </a:endParaRPr>
          </a:p>
          <a:p>
            <a:pPr>
              <a:lnSpc>
                <a:spcPct val="138000"/>
              </a:lnSpc>
              <a:spcBef>
                <a:spcPct val="50000"/>
              </a:spcBef>
            </a:pPr>
            <a:r>
              <a:rPr lang="zh-CN" altLang="en-US" dirty="0">
                <a:latin typeface="Times New Roman" panose="02020603050405020304" pitchFamily="18" charset="0"/>
                <a:ea typeface="宋体" panose="02010600030101010101" pitchFamily="2" charset="-122"/>
              </a:rPr>
              <a:t>        为了进行脉冲响应不变法变换，将上式进行因式分解并表示成如下的部分分式形式： </a:t>
            </a:r>
            <a:endParaRPr lang="zh-CN" altLang="en-US">
              <a:latin typeface="Times New Roman" panose="02020603050405020304" pitchFamily="18" charset="0"/>
              <a:ea typeface="宋体" panose="02010600030101010101" pitchFamily="2" charset="-122"/>
            </a:endParaRPr>
          </a:p>
        </p:txBody>
      </p:sp>
      <p:graphicFrame>
        <p:nvGraphicFramePr>
          <p:cNvPr id="115715" name="对象 110596"/>
          <p:cNvGraphicFramePr/>
          <p:nvPr/>
        </p:nvGraphicFramePr>
        <p:xfrm>
          <a:off x="838200" y="2852738"/>
          <a:ext cx="7467600" cy="990600"/>
        </p:xfrm>
        <a:graphic>
          <a:graphicData uri="http://schemas.openxmlformats.org/presentationml/2006/ole">
            <mc:AlternateContent xmlns:mc="http://schemas.openxmlformats.org/markup-compatibility/2006">
              <mc:Choice xmlns:v="urn:schemas-microsoft-com:vml" Requires="v">
                <p:oleObj spid="_x0000_s3208" name="" r:id="rId1" imgW="3543300" imgH="469900" progId="Equation.3">
                  <p:embed/>
                </p:oleObj>
              </mc:Choice>
              <mc:Fallback>
                <p:oleObj name="" r:id="rId1" imgW="3543300" imgH="469900" progId="Equation.3">
                  <p:embed/>
                  <p:pic>
                    <p:nvPicPr>
                      <p:cNvPr id="0" name="图片 3207"/>
                      <p:cNvPicPr/>
                      <p:nvPr/>
                    </p:nvPicPr>
                    <p:blipFill>
                      <a:blip r:embed="rId2"/>
                      <a:stretch>
                        <a:fillRect/>
                      </a:stretch>
                    </p:blipFill>
                    <p:spPr>
                      <a:xfrm>
                        <a:off x="838200" y="2852738"/>
                        <a:ext cx="7467600" cy="990600"/>
                      </a:xfrm>
                      <a:prstGeom prst="rect">
                        <a:avLst/>
                      </a:prstGeom>
                      <a:noFill/>
                      <a:ln w="38100">
                        <a:noFill/>
                        <a:miter/>
                      </a:ln>
                    </p:spPr>
                  </p:pic>
                </p:oleObj>
              </mc:Fallback>
            </mc:AlternateContent>
          </a:graphicData>
        </a:graphic>
      </p:graphicFrame>
      <p:sp>
        <p:nvSpPr>
          <p:cNvPr id="115716" name="文本框 110597"/>
          <p:cNvSpPr txBox="1"/>
          <p:nvPr/>
        </p:nvSpPr>
        <p:spPr>
          <a:xfrm>
            <a:off x="898525" y="4191000"/>
            <a:ext cx="5289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将此部分分式系数代入</a:t>
            </a:r>
            <a:r>
              <a:rPr lang="en-US" altLang="zh-CN" dirty="0">
                <a:latin typeface="Times New Roman" panose="02020603050405020304" pitchFamily="18" charset="0"/>
                <a:ea typeface="宋体" panose="02010600030101010101" pitchFamily="2" charset="-122"/>
              </a:rPr>
              <a:t>(5-40)</a:t>
            </a:r>
            <a:r>
              <a:rPr lang="zh-CN" altLang="en-US" dirty="0">
                <a:latin typeface="Times New Roman" panose="02020603050405020304" pitchFamily="18" charset="0"/>
                <a:ea typeface="宋体" panose="02010600030101010101" pitchFamily="2" charset="-122"/>
              </a:rPr>
              <a:t>式就得到 </a:t>
            </a:r>
            <a:endParaRPr lang="zh-CN" altLang="en-US">
              <a:latin typeface="Times New Roman" panose="02020603050405020304" pitchFamily="18" charset="0"/>
              <a:ea typeface="宋体" panose="02010600030101010101" pitchFamily="2" charset="-122"/>
            </a:endParaRPr>
          </a:p>
        </p:txBody>
      </p:sp>
      <p:graphicFrame>
        <p:nvGraphicFramePr>
          <p:cNvPr id="115717" name="对象 110598"/>
          <p:cNvGraphicFramePr/>
          <p:nvPr/>
        </p:nvGraphicFramePr>
        <p:xfrm>
          <a:off x="395288" y="4800600"/>
          <a:ext cx="8305800" cy="1052513"/>
        </p:xfrm>
        <a:graphic>
          <a:graphicData uri="http://schemas.openxmlformats.org/presentationml/2006/ole">
            <mc:AlternateContent xmlns:mc="http://schemas.openxmlformats.org/markup-compatibility/2006">
              <mc:Choice xmlns:v="urn:schemas-microsoft-com:vml" Requires="v">
                <p:oleObj spid="_x0000_s3214" name="" r:id="rId3" imgW="3503930" imgH="444500" progId="Equation.3">
                  <p:embed/>
                </p:oleObj>
              </mc:Choice>
              <mc:Fallback>
                <p:oleObj name="" r:id="rId3" imgW="3503930" imgH="444500" progId="Equation.3">
                  <p:embed/>
                  <p:pic>
                    <p:nvPicPr>
                      <p:cNvPr id="0" name="图片 3213"/>
                      <p:cNvPicPr/>
                      <p:nvPr/>
                    </p:nvPicPr>
                    <p:blipFill>
                      <a:blip r:embed="rId4"/>
                      <a:stretch>
                        <a:fillRect/>
                      </a:stretch>
                    </p:blipFill>
                    <p:spPr>
                      <a:xfrm>
                        <a:off x="395288" y="4800600"/>
                        <a:ext cx="8305800" cy="1052513"/>
                      </a:xfrm>
                      <a:prstGeom prst="rect">
                        <a:avLst/>
                      </a:prstGeom>
                      <a:noFill/>
                      <a:ln w="38100">
                        <a:noFill/>
                        <a:miter/>
                      </a:ln>
                    </p:spPr>
                  </p:pic>
                </p:oleObj>
              </mc:Fallback>
            </mc:AlternateContent>
          </a:graphicData>
        </a:graphic>
      </p:graphicFrame>
      <p:sp>
        <p:nvSpPr>
          <p:cNvPr id="115718" name="文本框 2"/>
          <p:cNvSpPr txBox="1"/>
          <p:nvPr/>
        </p:nvSpPr>
        <p:spPr>
          <a:xfrm>
            <a:off x="2225675" y="3843338"/>
            <a:ext cx="461963" cy="460375"/>
          </a:xfrm>
          <a:prstGeom prst="rect">
            <a:avLst/>
          </a:prstGeom>
          <a:noFill/>
          <a:ln w="9525">
            <a:noFill/>
          </a:ln>
        </p:spPr>
        <p:txBody>
          <a:bodyPr wrap="none" anchor="t">
            <a:spAutoFit/>
          </a:bodyPr>
          <a:p>
            <a:r>
              <a:rPr lang="zh-CN" altLang="en-US" b="1" dirty="0">
                <a:solidFill>
                  <a:srgbClr val="FF0000"/>
                </a:solidFill>
                <a:latin typeface="Times New Roman" panose="02020603050405020304" pitchFamily="18" charset="0"/>
                <a:ea typeface="宋体" panose="02010600030101010101" pitchFamily="2" charset="-122"/>
              </a:rPr>
              <a:t> </a:t>
            </a:r>
            <a:r>
              <a:rPr lang="en-US" altLang="zh-CN" b="1" dirty="0">
                <a:solidFill>
                  <a:srgbClr val="FF0000"/>
                </a:solidFill>
                <a:latin typeface="Times New Roman" panose="02020603050405020304" pitchFamily="18" charset="0"/>
                <a:ea typeface="宋体" panose="02010600030101010101" pitchFamily="2" charset="-122"/>
              </a:rPr>
              <a:t>T</a:t>
            </a:r>
            <a:endParaRPr lang="zh-CN" altLang="en-US">
              <a:latin typeface="Times New Roman" panose="02020603050405020304" pitchFamily="18" charset="0"/>
              <a:ea typeface="宋体" panose="02010600030101010101" pitchFamily="2" charset="-122"/>
            </a:endParaRPr>
          </a:p>
        </p:txBody>
      </p:sp>
      <p:sp>
        <p:nvSpPr>
          <p:cNvPr id="115719" name="文本框 3"/>
          <p:cNvSpPr txBox="1"/>
          <p:nvPr/>
        </p:nvSpPr>
        <p:spPr>
          <a:xfrm>
            <a:off x="3897313" y="3843338"/>
            <a:ext cx="461962" cy="460375"/>
          </a:xfrm>
          <a:prstGeom prst="rect">
            <a:avLst/>
          </a:prstGeom>
          <a:noFill/>
          <a:ln w="9525">
            <a:noFill/>
          </a:ln>
        </p:spPr>
        <p:txBody>
          <a:bodyPr wrap="none" anchor="t">
            <a:spAutoFit/>
          </a:bodyPr>
          <a:p>
            <a:r>
              <a:rPr lang="zh-CN" altLang="en-US" b="1" dirty="0">
                <a:solidFill>
                  <a:srgbClr val="FF0000"/>
                </a:solidFill>
                <a:latin typeface="Times New Roman" panose="02020603050405020304" pitchFamily="18" charset="0"/>
                <a:ea typeface="宋体" panose="02010600030101010101" pitchFamily="2" charset="-122"/>
              </a:rPr>
              <a:t> </a:t>
            </a:r>
            <a:r>
              <a:rPr lang="en-US" altLang="zh-CN" b="1" dirty="0">
                <a:solidFill>
                  <a:srgbClr val="FF0000"/>
                </a:solidFill>
                <a:latin typeface="Times New Roman" panose="02020603050405020304" pitchFamily="18" charset="0"/>
                <a:ea typeface="宋体" panose="02010600030101010101" pitchFamily="2" charset="-122"/>
              </a:rPr>
              <a:t>T</a:t>
            </a:r>
            <a:endParaRPr lang="zh-CN" altLang="en-US">
              <a:latin typeface="Times New Roman" panose="02020603050405020304" pitchFamily="18" charset="0"/>
              <a:ea typeface="宋体" panose="02010600030101010101" pitchFamily="2" charset="-122"/>
            </a:endParaRPr>
          </a:p>
        </p:txBody>
      </p:sp>
      <p:sp>
        <p:nvSpPr>
          <p:cNvPr id="115720" name="文本框 4"/>
          <p:cNvSpPr txBox="1"/>
          <p:nvPr/>
        </p:nvSpPr>
        <p:spPr>
          <a:xfrm>
            <a:off x="6711950" y="3843338"/>
            <a:ext cx="463550" cy="460375"/>
          </a:xfrm>
          <a:prstGeom prst="rect">
            <a:avLst/>
          </a:prstGeom>
          <a:noFill/>
          <a:ln w="9525">
            <a:noFill/>
          </a:ln>
        </p:spPr>
        <p:txBody>
          <a:bodyPr wrap="square" anchor="t">
            <a:spAutoFit/>
          </a:bodyPr>
          <a:p>
            <a:r>
              <a:rPr lang="zh-CN" altLang="en-US" b="1" dirty="0">
                <a:solidFill>
                  <a:srgbClr val="FF0000"/>
                </a:solidFill>
                <a:latin typeface="Times New Roman" panose="02020603050405020304" pitchFamily="18" charset="0"/>
                <a:ea typeface="宋体" panose="02010600030101010101" pitchFamily="2" charset="-122"/>
              </a:rPr>
              <a:t> </a:t>
            </a:r>
            <a:r>
              <a:rPr lang="en-US" altLang="zh-CN" b="1" dirty="0">
                <a:solidFill>
                  <a:srgbClr val="FF0000"/>
                </a:solidFill>
                <a:latin typeface="Times New Roman" panose="02020603050405020304" pitchFamily="18" charset="0"/>
                <a:ea typeface="宋体" panose="02010600030101010101" pitchFamily="2" charset="-122"/>
              </a:rPr>
              <a:t>T</a:t>
            </a:r>
            <a:endParaRPr lang="zh-CN" altLang="en-US">
              <a:latin typeface="Times New Roman" panose="02020603050405020304" pitchFamily="18" charset="0"/>
              <a:ea typeface="宋体" panose="02010600030101010101" pitchFamily="2" charset="-122"/>
            </a:endParaRPr>
          </a:p>
        </p:txBody>
      </p:sp>
      <p:graphicFrame>
        <p:nvGraphicFramePr>
          <p:cNvPr id="6" name="对象 5">
            <a:hlinkClick r:id="" action="ppaction://ole?verb="/>
          </p:cNvPr>
          <p:cNvGraphicFramePr>
            <a:graphicFrameLocks noChangeAspect="1"/>
          </p:cNvGraphicFramePr>
          <p:nvPr/>
        </p:nvGraphicFramePr>
        <p:xfrm>
          <a:off x="7348538" y="4116388"/>
          <a:ext cx="1471612" cy="531812"/>
        </p:xfrm>
        <a:graphic>
          <a:graphicData uri="http://schemas.openxmlformats.org/presentationml/2006/ole">
            <mc:AlternateContent xmlns:mc="http://schemas.openxmlformats.org/markup-compatibility/2006">
              <mc:Choice xmlns:v="urn:schemas-microsoft-com:vml" Requires="v">
                <p:oleObj spid="_x0000_s3215" name="" r:id="rId5" imgW="634365" imgH="228600" progId="Equation.KSEE3">
                  <p:embed/>
                </p:oleObj>
              </mc:Choice>
              <mc:Fallback>
                <p:oleObj name="" r:id="rId5" imgW="634365" imgH="228600" progId="Equation.KSEE3">
                  <p:embed/>
                  <p:pic>
                    <p:nvPicPr>
                      <p:cNvPr id="0" name="图片 3214"/>
                      <p:cNvPicPr/>
                      <p:nvPr/>
                    </p:nvPicPr>
                    <p:blipFill>
                      <a:blip r:embed="rId6"/>
                      <a:stretch>
                        <a:fillRect/>
                      </a:stretch>
                    </p:blipFill>
                    <p:spPr>
                      <a:xfrm>
                        <a:off x="7348538" y="4116388"/>
                        <a:ext cx="1471612" cy="531812"/>
                      </a:xfrm>
                      <a:prstGeom prst="rect">
                        <a:avLst/>
                      </a:prstGeom>
                      <a:no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1116013" y="549275"/>
            <a:ext cx="2808288" cy="503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116738" name="文本框 113667"/>
          <p:cNvSpPr txBox="1"/>
          <p:nvPr/>
        </p:nvSpPr>
        <p:spPr>
          <a:xfrm>
            <a:off x="228600" y="381000"/>
            <a:ext cx="8686800" cy="1198880"/>
          </a:xfrm>
          <a:prstGeom prst="rect">
            <a:avLst/>
          </a:prstGeom>
          <a:noFill/>
          <a:ln w="9525">
            <a:noFill/>
          </a:ln>
        </p:spPr>
        <p:txBody>
          <a:bodyPr anchor="t">
            <a:spAutoFit/>
          </a:bodyPr>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err="1">
                <a:latin typeface="Times New Roman" panose="02020603050405020304" pitchFamily="18" charset="0"/>
                <a:ea typeface="宋体" panose="02010600030101010101" pitchFamily="2" charset="-122"/>
              </a:rPr>
              <a:t>c</a:t>
            </a:r>
            <a:r>
              <a:rPr lang="en-US" altLang="zh-CN" i="1" err="1">
                <a:latin typeface="Times New Roman" panose="02020603050405020304" pitchFamily="18" charset="0"/>
                <a:ea typeface="宋体" panose="02010600030101010101" pitchFamily="2" charset="-122"/>
              </a:rPr>
              <a:t>Ts</a:t>
            </a:r>
            <a:r>
              <a:rPr lang="en-US" altLang="zh-CN">
                <a:latin typeface="Times New Roman" panose="02020603050405020304" pitchFamily="18" charset="0"/>
                <a:ea typeface="宋体" panose="02010600030101010101" pitchFamily="2" charset="-122"/>
              </a:rPr>
              <a:t>=2π</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c</a:t>
            </a:r>
            <a:r>
              <a:rPr lang="en-US" altLang="zh-CN" i="1" err="1">
                <a:latin typeface="Times New Roman" panose="02020603050405020304" pitchFamily="18" charset="0"/>
                <a:ea typeface="宋体" panose="02010600030101010101" pitchFamily="2" charset="-122"/>
              </a:rPr>
              <a:t>Ts</a:t>
            </a:r>
            <a:r>
              <a:rPr lang="en-US" altLang="zh-CN" dirty="0">
                <a:latin typeface="Times New Roman" panose="02020603050405020304" pitchFamily="18" charset="0"/>
                <a:ea typeface="宋体" panose="02010600030101010101" pitchFamily="2" charset="-122"/>
              </a:rPr>
              <a:t>=0.5π</a:t>
            </a:r>
            <a:r>
              <a:rPr lang="zh-CN" altLang="en-US" dirty="0">
                <a:latin typeface="Times New Roman" panose="02020603050405020304" pitchFamily="18" charset="0"/>
                <a:ea typeface="宋体" panose="02010600030101010101" pitchFamily="2" charset="-122"/>
              </a:rPr>
              <a:t>是数字滤波器数字频域</a:t>
            </a:r>
            <a:r>
              <a:rPr lang="zh-CN" altLang="en-US" dirty="0">
                <a:latin typeface="Times New Roman" panose="02020603050405020304" pitchFamily="18" charset="0"/>
                <a:ea typeface="宋体" panose="02010600030101010101" pitchFamily="2" charset="-122"/>
              </a:rPr>
              <a:t>的截止频率。 将上式两项共轭复根合并，得 </a:t>
            </a:r>
            <a:endParaRPr lang="zh-CN" altLang="en-US">
              <a:latin typeface="Times New Roman" panose="02020603050405020304" pitchFamily="18" charset="0"/>
              <a:ea typeface="宋体" panose="02010600030101010101" pitchFamily="2" charset="-122"/>
            </a:endParaRPr>
          </a:p>
        </p:txBody>
      </p:sp>
      <p:graphicFrame>
        <p:nvGraphicFramePr>
          <p:cNvPr id="116739" name="对象 113668"/>
          <p:cNvGraphicFramePr/>
          <p:nvPr/>
        </p:nvGraphicFramePr>
        <p:xfrm>
          <a:off x="228600" y="1524000"/>
          <a:ext cx="8687435" cy="2181225"/>
        </p:xfrm>
        <a:graphic>
          <a:graphicData uri="http://schemas.openxmlformats.org/presentationml/2006/ole">
            <mc:AlternateContent xmlns:mc="http://schemas.openxmlformats.org/markup-compatibility/2006">
              <mc:Choice xmlns:v="urn:schemas-microsoft-com:vml" Requires="v">
                <p:oleObj spid="_x0000_s3211" name="" r:id="rId1" imgW="3795395" imgH="989965" progId="Equation.3">
                  <p:embed/>
                </p:oleObj>
              </mc:Choice>
              <mc:Fallback>
                <p:oleObj name="" r:id="rId1" imgW="3795395" imgH="989965" progId="Equation.3">
                  <p:embed/>
                  <p:pic>
                    <p:nvPicPr>
                      <p:cNvPr id="0" name="图片 3210"/>
                      <p:cNvPicPr/>
                      <p:nvPr/>
                    </p:nvPicPr>
                    <p:blipFill>
                      <a:blip r:embed="rId2"/>
                      <a:stretch>
                        <a:fillRect/>
                      </a:stretch>
                    </p:blipFill>
                    <p:spPr>
                      <a:xfrm>
                        <a:off x="228600" y="1524000"/>
                        <a:ext cx="8687435" cy="2181225"/>
                      </a:xfrm>
                      <a:prstGeom prst="rect">
                        <a:avLst/>
                      </a:prstGeom>
                      <a:noFill/>
                      <a:ln w="38100">
                        <a:noFill/>
                        <a:miter/>
                      </a:ln>
                    </p:spPr>
                  </p:pic>
                </p:oleObj>
              </mc:Fallback>
            </mc:AlternateContent>
          </a:graphicData>
        </a:graphic>
      </p:graphicFrame>
      <p:sp>
        <p:nvSpPr>
          <p:cNvPr id="116740" name="文本框 113669"/>
          <p:cNvSpPr txBox="1"/>
          <p:nvPr/>
        </p:nvSpPr>
        <p:spPr>
          <a:xfrm>
            <a:off x="76200" y="3622675"/>
            <a:ext cx="8991600" cy="2425065"/>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从这个结果我们看到，</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只与数字频域参数</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有关，也就是只与临界频率</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与采样频率</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的相对值有关，而与它们的绝对大小无关。 例如</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=4kHz</a:t>
            </a:r>
            <a:r>
              <a:rPr lang="zh-CN" altLang="en-US">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=1 kHz</a:t>
            </a:r>
            <a:r>
              <a:rPr lang="zh-CN" altLang="en-US">
                <a:latin typeface="Times New Roman" panose="02020603050405020304" pitchFamily="18" charset="0"/>
                <a:ea typeface="宋体" panose="02010600030101010101" pitchFamily="2" charset="-122"/>
              </a:rPr>
              <a:t>与</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=40 kHz</a:t>
            </a:r>
            <a:r>
              <a:rPr lang="zh-CN" altLang="en-US">
                <a:latin typeface="Times New Roman" panose="02020603050405020304" pitchFamily="18" charset="0"/>
                <a:ea typeface="宋体" panose="02010600030101010101" pitchFamily="2" charset="-122"/>
              </a:rPr>
              <a:t>，</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=10kHz</a:t>
            </a:r>
            <a:r>
              <a:rPr lang="zh-CN" altLang="en-US" dirty="0">
                <a:latin typeface="Times New Roman" panose="02020603050405020304" pitchFamily="18" charset="0"/>
                <a:ea typeface="宋体" panose="02010600030101010101" pitchFamily="2" charset="-122"/>
              </a:rPr>
              <a:t>的数字滤波器将具有同一个系统函</a:t>
            </a:r>
            <a:r>
              <a:rPr lang="zh-CN" altLang="en-US" dirty="0">
                <a:latin typeface="Times New Roman" panose="02020603050405020304" pitchFamily="18" charset="0"/>
                <a:ea typeface="宋体" panose="02010600030101010101" pitchFamily="2" charset="-122"/>
              </a:rPr>
              <a:t>数。这个结论适合于所有的数字滤波器设计。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文本框 112643"/>
          <p:cNvSpPr txBox="1"/>
          <p:nvPr/>
        </p:nvSpPr>
        <p:spPr>
          <a:xfrm>
            <a:off x="533400" y="762000"/>
            <a:ext cx="5356225" cy="457200"/>
          </a:xfrm>
          <a:prstGeom prst="rect">
            <a:avLst/>
          </a:prstGeom>
          <a:noFill/>
          <a:ln w="9525">
            <a:noFill/>
          </a:ln>
        </p:spPr>
        <p:txBody>
          <a:bodyPr anchor="t">
            <a:spAutoFit/>
          </a:bodyPr>
          <a:p>
            <a:r>
              <a:rPr lang="zh-CN" altLang="en-US">
                <a:latin typeface="Times New Roman" panose="02020603050405020304" pitchFamily="18" charset="0"/>
                <a:ea typeface="宋体" panose="02010600030101010101" pitchFamily="2" charset="-122"/>
              </a:rPr>
              <a:t>将</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dirty="0" err="1">
                <a:latin typeface="Times New Roman" panose="02020603050405020304" pitchFamily="18" charset="0"/>
                <a:ea typeface="宋体" panose="02010600030101010101" pitchFamily="2" charset="-122"/>
              </a:rPr>
              <a:t>c</a:t>
            </a:r>
            <a:r>
              <a:rPr lang="en-US" altLang="zh-CN" i="1" dirty="0" err="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=2π</a:t>
            </a:r>
            <a:r>
              <a:rPr lang="en-US" altLang="zh-CN" i="1" dirty="0" err="1">
                <a:latin typeface="Times New Roman" panose="02020603050405020304" pitchFamily="18" charset="0"/>
                <a:ea typeface="宋体" panose="02010600030101010101" pitchFamily="2" charset="-122"/>
              </a:rPr>
              <a:t>f</a:t>
            </a:r>
            <a:r>
              <a:rPr lang="en-US" altLang="zh-CN" baseline="-25000" dirty="0" err="1">
                <a:latin typeface="Times New Roman" panose="02020603050405020304" pitchFamily="18" charset="0"/>
                <a:ea typeface="宋体" panose="02010600030101010101" pitchFamily="2" charset="-122"/>
              </a:rPr>
              <a:t>c</a:t>
            </a:r>
            <a:r>
              <a:rPr lang="en-US" altLang="zh-CN" i="1" dirty="0" err="1">
                <a:latin typeface="Times New Roman" panose="02020603050405020304" pitchFamily="18" charset="0"/>
                <a:ea typeface="宋体" panose="02010600030101010101" pitchFamily="2" charset="-122"/>
              </a:rPr>
              <a:t>T</a:t>
            </a:r>
            <a:r>
              <a:rPr lang="en-US" altLang="zh-CN" dirty="0">
                <a:latin typeface="Times New Roman" panose="02020603050405020304" pitchFamily="18" charset="0"/>
                <a:ea typeface="宋体" panose="02010600030101010101" pitchFamily="2" charset="-122"/>
              </a:rPr>
              <a:t>=0.5π</a:t>
            </a:r>
            <a:r>
              <a:rPr lang="zh-CN" altLang="en-US" dirty="0">
                <a:latin typeface="Times New Roman" panose="02020603050405020304" pitchFamily="18" charset="0"/>
                <a:ea typeface="宋体" panose="02010600030101010101" pitchFamily="2" charset="-122"/>
              </a:rPr>
              <a:t>代入上式，得 </a:t>
            </a:r>
            <a:endParaRPr lang="zh-CN" altLang="en-US">
              <a:latin typeface="Times New Roman" panose="02020603050405020304" pitchFamily="18" charset="0"/>
              <a:ea typeface="宋体" panose="02010600030101010101" pitchFamily="2" charset="-122"/>
            </a:endParaRPr>
          </a:p>
        </p:txBody>
      </p:sp>
      <p:graphicFrame>
        <p:nvGraphicFramePr>
          <p:cNvPr id="117762" name="对象 112644"/>
          <p:cNvGraphicFramePr/>
          <p:nvPr/>
        </p:nvGraphicFramePr>
        <p:xfrm>
          <a:off x="838200" y="1295400"/>
          <a:ext cx="7391400" cy="1020763"/>
        </p:xfrm>
        <a:graphic>
          <a:graphicData uri="http://schemas.openxmlformats.org/presentationml/2006/ole">
            <mc:AlternateContent xmlns:mc="http://schemas.openxmlformats.org/markup-compatibility/2006">
              <mc:Choice xmlns:v="urn:schemas-microsoft-com:vml" Requires="v">
                <p:oleObj spid="_x0000_s3213" name="" r:id="rId1" imgW="3035300" imgH="419100" progId="Equation.3">
                  <p:embed/>
                </p:oleObj>
              </mc:Choice>
              <mc:Fallback>
                <p:oleObj name="" r:id="rId1" imgW="3035300" imgH="419100" progId="Equation.3">
                  <p:embed/>
                  <p:pic>
                    <p:nvPicPr>
                      <p:cNvPr id="0" name="图片 3212"/>
                      <p:cNvPicPr/>
                      <p:nvPr/>
                    </p:nvPicPr>
                    <p:blipFill>
                      <a:blip r:embed="rId2"/>
                      <a:stretch>
                        <a:fillRect/>
                      </a:stretch>
                    </p:blipFill>
                    <p:spPr>
                      <a:xfrm>
                        <a:off x="838200" y="1295400"/>
                        <a:ext cx="7391400" cy="1020763"/>
                      </a:xfrm>
                      <a:prstGeom prst="rect">
                        <a:avLst/>
                      </a:prstGeom>
                      <a:noFill/>
                      <a:ln w="38100">
                        <a:noFill/>
                        <a:miter/>
                      </a:ln>
                    </p:spPr>
                  </p:pic>
                </p:oleObj>
              </mc:Fallback>
            </mc:AlternateContent>
          </a:graphicData>
        </a:graphic>
      </p:graphicFrame>
      <p:sp>
        <p:nvSpPr>
          <p:cNvPr id="117763" name="文本框 112645"/>
          <p:cNvSpPr txBox="1"/>
          <p:nvPr/>
        </p:nvSpPr>
        <p:spPr>
          <a:xfrm>
            <a:off x="444500" y="2420938"/>
            <a:ext cx="8304213" cy="400939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这个形式正好适合用一个一阶节及一个二阶节并联起来实现。 脉冲响应不变法由于需要通过部分分式来实现变换，因而对采用</a:t>
            </a:r>
            <a:r>
              <a:rPr lang="zh-CN" altLang="en-US" sz="3200" b="1" u="sng" dirty="0">
                <a:solidFill>
                  <a:srgbClr val="FF0000"/>
                </a:solidFill>
                <a:latin typeface="Times New Roman" panose="02020603050405020304" pitchFamily="18" charset="0"/>
                <a:ea typeface="宋体" panose="02010600030101010101" pitchFamily="2" charset="-122"/>
              </a:rPr>
              <a:t>并联型</a:t>
            </a:r>
            <a:r>
              <a:rPr lang="zh-CN" altLang="en-US" dirty="0">
                <a:latin typeface="Times New Roman" panose="02020603050405020304" pitchFamily="18" charset="0"/>
                <a:ea typeface="宋体" panose="02010600030101010101" pitchFamily="2" charset="-122"/>
              </a:rPr>
              <a:t>的运算结构来说是比较方便的。 </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图</a:t>
            </a:r>
            <a:r>
              <a:rPr lang="en-US" altLang="zh-CN" dirty="0">
                <a:latin typeface="Times New Roman" panose="02020603050405020304" pitchFamily="18" charset="0"/>
                <a:ea typeface="宋体" panose="02010600030101010101" pitchFamily="2" charset="-122"/>
              </a:rPr>
              <a:t>5-18</a:t>
            </a:r>
            <a:r>
              <a:rPr lang="zh-CN" altLang="en-US" dirty="0">
                <a:latin typeface="Times New Roman" panose="02020603050405020304" pitchFamily="18" charset="0"/>
                <a:ea typeface="宋体" panose="02010600030101010101" pitchFamily="2" charset="-122"/>
              </a:rPr>
              <a:t>给出了脉冲响应不变法得到的三阶巴特沃思数字低通滤波器的频响幅度特性，同时给出例</a:t>
            </a:r>
            <a:r>
              <a:rPr lang="en-US" altLang="zh-CN" dirty="0">
                <a:latin typeface="Times New Roman" panose="02020603050405020304" pitchFamily="18" charset="0"/>
                <a:ea typeface="宋体" panose="02010600030101010101" pitchFamily="2" charset="-122"/>
              </a:rPr>
              <a:t>5-5</a:t>
            </a:r>
            <a:r>
              <a:rPr lang="zh-CN" altLang="en-US" dirty="0">
                <a:latin typeface="Times New Roman" panose="02020603050405020304" pitchFamily="18" charset="0"/>
                <a:ea typeface="宋体" panose="02010600030101010101" pitchFamily="2" charset="-122"/>
              </a:rPr>
              <a:t>双线性变换法设计的结果。由图可看出，脉冲响应不变法存在微小的混淆</a:t>
            </a:r>
            <a:r>
              <a:rPr lang="zh-CN" altLang="en-US" dirty="0">
                <a:latin typeface="Times New Roman" panose="02020603050405020304" pitchFamily="18" charset="0"/>
                <a:ea typeface="宋体" panose="02010600030101010101" pitchFamily="2" charset="-122"/>
              </a:rPr>
              <a:t>现象，因而选择性将受到一定损失，并且没有传输零点。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文本框 115715"/>
          <p:cNvSpPr txBox="1"/>
          <p:nvPr/>
        </p:nvSpPr>
        <p:spPr>
          <a:xfrm>
            <a:off x="1833245" y="5720715"/>
            <a:ext cx="6153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5-18 </a:t>
            </a:r>
            <a:r>
              <a:rPr lang="zh-CN" altLang="en-US" dirty="0">
                <a:latin typeface="Times New Roman" panose="02020603050405020304" pitchFamily="18" charset="0"/>
                <a:ea typeface="宋体" panose="02010600030101010101" pitchFamily="2" charset="-122"/>
              </a:rPr>
              <a:t>三阶巴特沃思数字低通滤波器的频响 </a:t>
            </a:r>
            <a:endParaRPr lang="zh-CN" altLang="en-US">
              <a:latin typeface="Times New Roman" panose="02020603050405020304" pitchFamily="18" charset="0"/>
              <a:ea typeface="宋体" panose="02010600030101010101" pitchFamily="2" charset="-122"/>
            </a:endParaRPr>
          </a:p>
        </p:txBody>
      </p:sp>
      <p:pic>
        <p:nvPicPr>
          <p:cNvPr id="118786" name="图片 115718" descr="5-18"/>
          <p:cNvPicPr>
            <a:picLocks noChangeAspect="1"/>
          </p:cNvPicPr>
          <p:nvPr/>
        </p:nvPicPr>
        <p:blipFill>
          <a:blip r:embed="rId1"/>
          <a:stretch>
            <a:fillRect/>
          </a:stretch>
        </p:blipFill>
        <p:spPr>
          <a:xfrm>
            <a:off x="1224280" y="853440"/>
            <a:ext cx="6762115" cy="4441190"/>
          </a:xfrm>
          <a:prstGeom prst="rect">
            <a:avLst/>
          </a:prstGeom>
          <a:noFill/>
          <a:ln w="9525">
            <a:noFill/>
          </a:ln>
        </p:spPr>
      </p:pic>
    </p:spTree>
  </p:cSld>
  <p:clrMapOvr>
    <a:masterClrMapping/>
  </p:clrMapOvr>
  <p:transition>
    <p:blinds/>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09" name="文本框 114691"/>
          <p:cNvSpPr txBox="1"/>
          <p:nvPr/>
        </p:nvSpPr>
        <p:spPr>
          <a:xfrm>
            <a:off x="228600" y="533400"/>
            <a:ext cx="8763000" cy="1223963"/>
          </a:xfrm>
          <a:prstGeom prst="rect">
            <a:avLst/>
          </a:prstGeom>
          <a:noFill/>
          <a:ln w="9525">
            <a:noFill/>
          </a:ln>
        </p:spPr>
        <p:txBody>
          <a:bodyPr anchor="t">
            <a:spAutoFit/>
          </a:bodyPr>
          <a:p>
            <a:pPr algn="just">
              <a:lnSpc>
                <a:spcPct val="130000"/>
              </a:lnSpc>
              <a:spcBef>
                <a:spcPct val="50000"/>
              </a:spcBef>
            </a:pPr>
            <a:r>
              <a:rPr lang="en-US" altLang="zh-CN" b="1" dirty="0">
                <a:solidFill>
                  <a:srgbClr val="FF0000"/>
                </a:solidFill>
                <a:latin typeface="Times New Roman" panose="02020603050405020304" pitchFamily="18" charset="0"/>
                <a:ea typeface="宋体" panose="02010600030101010101" pitchFamily="2" charset="-122"/>
              </a:rPr>
              <a:t>5.6.2 </a:t>
            </a:r>
            <a:r>
              <a:rPr lang="zh-CN" altLang="en-US" b="1" dirty="0">
                <a:solidFill>
                  <a:srgbClr val="FF0000"/>
                </a:solidFill>
                <a:latin typeface="Times New Roman" panose="02020603050405020304" pitchFamily="18" charset="0"/>
                <a:ea typeface="宋体" panose="02010600030101010101" pitchFamily="2" charset="-122"/>
              </a:rPr>
              <a:t>模拟低通滤波器变换成数字高通滤波器</a:t>
            </a:r>
            <a:endParaRPr lang="zh-CN" altLang="en-US">
              <a:latin typeface="Times New Roman" panose="02020603050405020304" pitchFamily="18" charset="0"/>
              <a:ea typeface="宋体" panose="02010600030101010101" pitchFamily="2" charset="-122"/>
            </a:endParaRPr>
          </a:p>
          <a:p>
            <a:pPr>
              <a:lnSpc>
                <a:spcPct val="130000"/>
              </a:lnSpc>
              <a:spcBef>
                <a:spcPct val="50000"/>
              </a:spcBef>
            </a:pPr>
            <a:r>
              <a:rPr lang="zh-CN" altLang="en-US" dirty="0">
                <a:latin typeface="Times New Roman" panose="02020603050405020304" pitchFamily="18" charset="0"/>
                <a:ea typeface="宋体" panose="02010600030101010101" pitchFamily="2" charset="-122"/>
              </a:rPr>
              <a:t>         由表</a:t>
            </a:r>
            <a:r>
              <a:rPr lang="en-US" altLang="zh-CN" dirty="0">
                <a:latin typeface="Times New Roman" panose="02020603050405020304" pitchFamily="18" charset="0"/>
                <a:ea typeface="宋体" panose="02010600030101010101" pitchFamily="2" charset="-122"/>
              </a:rPr>
              <a:t>5-3</a:t>
            </a:r>
            <a:r>
              <a:rPr lang="zh-CN" altLang="en-US" dirty="0">
                <a:latin typeface="Times New Roman" panose="02020603050405020304" pitchFamily="18" charset="0"/>
                <a:ea typeface="宋体" panose="02010600030101010101" pitchFamily="2" charset="-122"/>
              </a:rPr>
              <a:t>可知，由低通模拟原型到模拟高通的变换关系为 </a:t>
            </a:r>
            <a:endParaRPr lang="zh-CN" altLang="en-US">
              <a:latin typeface="Times New Roman" panose="02020603050405020304" pitchFamily="18" charset="0"/>
              <a:ea typeface="宋体" panose="02010600030101010101" pitchFamily="2" charset="-122"/>
            </a:endParaRPr>
          </a:p>
        </p:txBody>
      </p:sp>
      <p:graphicFrame>
        <p:nvGraphicFramePr>
          <p:cNvPr id="119810" name="对象 114692"/>
          <p:cNvGraphicFramePr/>
          <p:nvPr/>
        </p:nvGraphicFramePr>
        <p:xfrm>
          <a:off x="3581400" y="1828800"/>
          <a:ext cx="1949450" cy="1169988"/>
        </p:xfrm>
        <a:graphic>
          <a:graphicData uri="http://schemas.openxmlformats.org/presentationml/2006/ole">
            <mc:AlternateContent xmlns:mc="http://schemas.openxmlformats.org/markup-compatibility/2006">
              <mc:Choice xmlns:v="urn:schemas-microsoft-com:vml" Requires="v">
                <p:oleObj spid="_x0000_s3210" name="" r:id="rId1" imgW="698500" imgH="419100" progId="Equation.3">
                  <p:embed/>
                </p:oleObj>
              </mc:Choice>
              <mc:Fallback>
                <p:oleObj name="" r:id="rId1" imgW="698500" imgH="419100" progId="Equation.3">
                  <p:embed/>
                  <p:pic>
                    <p:nvPicPr>
                      <p:cNvPr id="0" name="图片 3209"/>
                      <p:cNvPicPr/>
                      <p:nvPr/>
                    </p:nvPicPr>
                    <p:blipFill>
                      <a:blip r:embed="rId2"/>
                      <a:stretch>
                        <a:fillRect/>
                      </a:stretch>
                    </p:blipFill>
                    <p:spPr>
                      <a:xfrm>
                        <a:off x="3581400" y="1828800"/>
                        <a:ext cx="1949450" cy="1169988"/>
                      </a:xfrm>
                      <a:prstGeom prst="rect">
                        <a:avLst/>
                      </a:prstGeom>
                      <a:solidFill>
                        <a:schemeClr val="accent1"/>
                      </a:solidFill>
                      <a:ln w="38100">
                        <a:noFill/>
                        <a:miter/>
                      </a:ln>
                    </p:spPr>
                  </p:pic>
                </p:oleObj>
              </mc:Fallback>
            </mc:AlternateContent>
          </a:graphicData>
        </a:graphic>
      </p:graphicFrame>
      <p:sp>
        <p:nvSpPr>
          <p:cNvPr id="119811" name="文本框 114693"/>
          <p:cNvSpPr txBox="1"/>
          <p:nvPr/>
        </p:nvSpPr>
        <p:spPr>
          <a:xfrm>
            <a:off x="6629400" y="22098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5-52</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19812" name="文本框 114694"/>
          <p:cNvSpPr txBox="1"/>
          <p:nvPr/>
        </p:nvSpPr>
        <p:spPr>
          <a:xfrm>
            <a:off x="228600" y="2895600"/>
            <a:ext cx="8686800" cy="231140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为模拟低通滤波器的截止频率，</a:t>
            </a:r>
            <a:r>
              <a:rPr lang="en-US" altLang="zh-CN" i="1">
                <a:latin typeface="Times New Roman" panose="02020603050405020304" pitchFamily="18" charset="0"/>
                <a:ea typeface="宋体" panose="02010600030101010101" pitchFamily="2" charset="-122"/>
              </a:rPr>
              <a:t>Ω</a:t>
            </a:r>
            <a:r>
              <a:rPr lang="en-US" altLang="zh-CN" i="1" baseline="-2500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为实际高通滤波器的截止频率。 </a:t>
            </a:r>
            <a:endParaRPr lang="zh-CN" altLang="en-US" dirty="0">
              <a:latin typeface="Times New Roman" panose="02020603050405020304" pitchFamily="18" charset="0"/>
              <a:ea typeface="宋体" panose="02010600030101010101" pitchFamily="2" charset="-122"/>
            </a:endParaRPr>
          </a:p>
          <a:p>
            <a:pPr>
              <a:lnSpc>
                <a:spcPct val="138000"/>
              </a:lnSpc>
              <a:spcBef>
                <a:spcPct val="50000"/>
              </a:spcBef>
            </a:pPr>
            <a:r>
              <a:rPr lang="zh-CN" altLang="en-US" dirty="0">
                <a:latin typeface="Times New Roman" panose="02020603050405020304" pitchFamily="18" charset="0"/>
                <a:ea typeface="宋体" panose="02010600030101010101" pitchFamily="2" charset="-122"/>
              </a:rPr>
              <a:t>       根据双线性变换原理，模拟高通与数字高通之间的</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平面与</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平面的关系仍为 </a:t>
            </a:r>
            <a:endParaRPr lang="zh-CN" altLang="en-US">
              <a:latin typeface="Times New Roman" panose="02020603050405020304" pitchFamily="18" charset="0"/>
              <a:ea typeface="宋体" panose="02010600030101010101" pitchFamily="2" charset="-122"/>
            </a:endParaRPr>
          </a:p>
        </p:txBody>
      </p:sp>
      <p:graphicFrame>
        <p:nvGraphicFramePr>
          <p:cNvPr id="119813" name="对象 114695"/>
          <p:cNvGraphicFramePr/>
          <p:nvPr/>
        </p:nvGraphicFramePr>
        <p:xfrm>
          <a:off x="3733800" y="4953000"/>
          <a:ext cx="1981200" cy="1022350"/>
        </p:xfrm>
        <a:graphic>
          <a:graphicData uri="http://schemas.openxmlformats.org/presentationml/2006/ole">
            <mc:AlternateContent xmlns:mc="http://schemas.openxmlformats.org/markup-compatibility/2006">
              <mc:Choice xmlns:v="urn:schemas-microsoft-com:vml" Requires="v">
                <p:oleObj spid="_x0000_s3212" name="" r:id="rId3" imgW="812165" imgH="419100" progId="Equation.3">
                  <p:embed/>
                </p:oleObj>
              </mc:Choice>
              <mc:Fallback>
                <p:oleObj name="" r:id="rId3" imgW="812165" imgH="419100" progId="Equation.3">
                  <p:embed/>
                  <p:pic>
                    <p:nvPicPr>
                      <p:cNvPr id="0" name="图片 3211"/>
                      <p:cNvPicPr/>
                      <p:nvPr/>
                    </p:nvPicPr>
                    <p:blipFill>
                      <a:blip r:embed="rId4"/>
                      <a:stretch>
                        <a:fillRect/>
                      </a:stretch>
                    </p:blipFill>
                    <p:spPr>
                      <a:xfrm>
                        <a:off x="3733800" y="4953000"/>
                        <a:ext cx="1981200" cy="1022350"/>
                      </a:xfrm>
                      <a:prstGeom prst="rect">
                        <a:avLst/>
                      </a:prstGeom>
                      <a:solidFill>
                        <a:schemeClr val="accent1"/>
                      </a:solidFill>
                      <a:ln w="38100">
                        <a:noFill/>
                        <a:miter/>
                      </a:ln>
                    </p:spPr>
                  </p:pic>
                </p:oleObj>
              </mc:Fallback>
            </mc:AlternateContent>
          </a:graphicData>
        </a:graphic>
      </p:graphicFrame>
      <p:sp>
        <p:nvSpPr>
          <p:cNvPr id="119814" name="文本框 114696"/>
          <p:cNvSpPr txBox="1"/>
          <p:nvPr/>
        </p:nvSpPr>
        <p:spPr>
          <a:xfrm>
            <a:off x="6732588" y="5300663"/>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5-53</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3" name="文本框 117763"/>
          <p:cNvSpPr txBox="1"/>
          <p:nvPr/>
        </p:nvSpPr>
        <p:spPr>
          <a:xfrm>
            <a:off x="228600" y="533400"/>
            <a:ext cx="8686800" cy="1601788"/>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把变换式（</a:t>
            </a:r>
            <a:r>
              <a:rPr lang="en-US" altLang="zh-CN" dirty="0">
                <a:latin typeface="Times New Roman" panose="02020603050405020304" pitchFamily="18" charset="0"/>
                <a:ea typeface="宋体" panose="02010600030101010101" pitchFamily="2" charset="-122"/>
              </a:rPr>
              <a:t>5-52</a:t>
            </a:r>
            <a:r>
              <a:rPr lang="zh-CN" altLang="en-US" dirty="0">
                <a:latin typeface="Times New Roman" panose="02020603050405020304" pitchFamily="18" charset="0"/>
                <a:ea typeface="宋体" panose="02010600030101010101" pitchFamily="2" charset="-122"/>
              </a:rPr>
              <a:t>）和变换式（</a:t>
            </a:r>
            <a:r>
              <a:rPr lang="en-US" altLang="zh-CN" dirty="0">
                <a:latin typeface="Times New Roman" panose="02020603050405020304" pitchFamily="18" charset="0"/>
                <a:ea typeface="宋体" panose="02010600030101010101" pitchFamily="2" charset="-122"/>
              </a:rPr>
              <a:t>5-53</a:t>
            </a:r>
            <a:r>
              <a:rPr lang="zh-CN" altLang="en-US" dirty="0">
                <a:latin typeface="Times New Roman" panose="02020603050405020304" pitchFamily="18" charset="0"/>
                <a:ea typeface="宋体" panose="02010600030101010101" pitchFamily="2" charset="-122"/>
              </a:rPr>
              <a:t>）结合起来，可得到直接从模拟低通原</a:t>
            </a:r>
            <a:r>
              <a:rPr lang="zh-CN" altLang="en-US" dirty="0">
                <a:latin typeface="Times New Roman" panose="02020603050405020304" pitchFamily="18" charset="0"/>
                <a:ea typeface="宋体" panose="02010600030101010101" pitchFamily="2" charset="-122"/>
              </a:rPr>
              <a:t>型变换成数字高通滤波器的表达式，也就是直接联系</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与</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之间的变换公式 </a:t>
            </a:r>
            <a:endParaRPr lang="zh-CN" altLang="en-US">
              <a:latin typeface="Times New Roman" panose="02020603050405020304" pitchFamily="18" charset="0"/>
              <a:ea typeface="宋体" panose="02010600030101010101" pitchFamily="2" charset="-122"/>
            </a:endParaRPr>
          </a:p>
        </p:txBody>
      </p:sp>
      <p:graphicFrame>
        <p:nvGraphicFramePr>
          <p:cNvPr id="120834" name="对象 117764"/>
          <p:cNvGraphicFramePr/>
          <p:nvPr/>
        </p:nvGraphicFramePr>
        <p:xfrm>
          <a:off x="1676400" y="2209800"/>
          <a:ext cx="5715000" cy="1408113"/>
        </p:xfrm>
        <a:graphic>
          <a:graphicData uri="http://schemas.openxmlformats.org/presentationml/2006/ole">
            <mc:AlternateContent xmlns:mc="http://schemas.openxmlformats.org/markup-compatibility/2006">
              <mc:Choice xmlns:v="urn:schemas-microsoft-com:vml" Requires="v">
                <p:oleObj spid="_x0000_s3218" name="" r:id="rId1" imgW="2526030" imgH="622300" progId="Equation.3">
                  <p:embed/>
                </p:oleObj>
              </mc:Choice>
              <mc:Fallback>
                <p:oleObj name="" r:id="rId1" imgW="2526030" imgH="622300" progId="Equation.3">
                  <p:embed/>
                  <p:pic>
                    <p:nvPicPr>
                      <p:cNvPr id="0" name="图片 3217"/>
                      <p:cNvPicPr/>
                      <p:nvPr/>
                    </p:nvPicPr>
                    <p:blipFill>
                      <a:blip r:embed="rId2"/>
                      <a:stretch>
                        <a:fillRect/>
                      </a:stretch>
                    </p:blipFill>
                    <p:spPr>
                      <a:xfrm>
                        <a:off x="1676400" y="2209800"/>
                        <a:ext cx="5715000" cy="1408113"/>
                      </a:xfrm>
                      <a:prstGeom prst="rect">
                        <a:avLst/>
                      </a:prstGeom>
                      <a:noFill/>
                      <a:ln w="38100">
                        <a:noFill/>
                        <a:miter/>
                      </a:ln>
                    </p:spPr>
                  </p:pic>
                </p:oleObj>
              </mc:Fallback>
            </mc:AlternateContent>
          </a:graphicData>
        </a:graphic>
      </p:graphicFrame>
      <p:sp>
        <p:nvSpPr>
          <p:cNvPr id="120835" name="文本框 117765"/>
          <p:cNvSpPr txBox="1"/>
          <p:nvPr/>
        </p:nvSpPr>
        <p:spPr>
          <a:xfrm>
            <a:off x="7715250" y="25146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5-54</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20836" name="文本框 117766"/>
          <p:cNvSpPr txBox="1"/>
          <p:nvPr/>
        </p:nvSpPr>
        <p:spPr>
          <a:xfrm>
            <a:off x="228600" y="3886200"/>
            <a:ext cx="7620000" cy="457200"/>
          </a:xfrm>
          <a:prstGeom prst="rect">
            <a:avLst/>
          </a:prstGeom>
          <a:noFill/>
          <a:ln w="9525">
            <a:noFill/>
          </a:ln>
        </p:spPr>
        <p:txBody>
          <a:bodyPr anchor="t">
            <a:spAutoFit/>
          </a:bodyPr>
          <a:p>
            <a:pPr algn="just">
              <a:spcBef>
                <a:spcPct val="50000"/>
              </a:spcBef>
            </a:pPr>
            <a:r>
              <a:rPr lang="zh-CN" altLang="en-US" dirty="0">
                <a:latin typeface="Times New Roman" panose="02020603050405020304" pitchFamily="18" charset="0"/>
                <a:ea typeface="宋体" panose="02010600030101010101" pitchFamily="2" charset="-122"/>
              </a:rPr>
              <a:t>式中， 		</a:t>
            </a:r>
            <a:r>
              <a:rPr lang="zh-CN" altLang="en-US">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由此得到数字高通系统函数为 </a:t>
            </a:r>
            <a:endParaRPr lang="zh-CN" altLang="en-US">
              <a:latin typeface="Times New Roman" panose="02020603050405020304" pitchFamily="18" charset="0"/>
              <a:ea typeface="宋体" panose="02010600030101010101" pitchFamily="2" charset="-122"/>
            </a:endParaRPr>
          </a:p>
        </p:txBody>
      </p:sp>
      <p:graphicFrame>
        <p:nvGraphicFramePr>
          <p:cNvPr id="120837" name="对象 117767"/>
          <p:cNvGraphicFramePr/>
          <p:nvPr/>
        </p:nvGraphicFramePr>
        <p:xfrm>
          <a:off x="990600" y="3873500"/>
          <a:ext cx="2133600" cy="571500"/>
        </p:xfrm>
        <a:graphic>
          <a:graphicData uri="http://schemas.openxmlformats.org/presentationml/2006/ole">
            <mc:AlternateContent xmlns:mc="http://schemas.openxmlformats.org/markup-compatibility/2006">
              <mc:Choice xmlns:v="urn:schemas-microsoft-com:vml" Requires="v">
                <p:oleObj spid="_x0000_s3224" name="" r:id="rId3" imgW="901065" imgH="241300" progId="Equation.3">
                  <p:embed/>
                </p:oleObj>
              </mc:Choice>
              <mc:Fallback>
                <p:oleObj name="" r:id="rId3" imgW="901065" imgH="241300" progId="Equation.3">
                  <p:embed/>
                  <p:pic>
                    <p:nvPicPr>
                      <p:cNvPr id="0" name="图片 3223"/>
                      <p:cNvPicPr/>
                      <p:nvPr/>
                    </p:nvPicPr>
                    <p:blipFill>
                      <a:blip r:embed="rId4"/>
                      <a:stretch>
                        <a:fillRect/>
                      </a:stretch>
                    </p:blipFill>
                    <p:spPr>
                      <a:xfrm>
                        <a:off x="990600" y="3873500"/>
                        <a:ext cx="2133600" cy="571500"/>
                      </a:xfrm>
                      <a:prstGeom prst="rect">
                        <a:avLst/>
                      </a:prstGeom>
                      <a:noFill/>
                      <a:ln w="38100">
                        <a:noFill/>
                        <a:miter/>
                      </a:ln>
                    </p:spPr>
                  </p:pic>
                </p:oleObj>
              </mc:Fallback>
            </mc:AlternateContent>
          </a:graphicData>
        </a:graphic>
      </p:graphicFrame>
      <p:graphicFrame>
        <p:nvGraphicFramePr>
          <p:cNvPr id="120838" name="对象 117768"/>
          <p:cNvGraphicFramePr/>
          <p:nvPr/>
        </p:nvGraphicFramePr>
        <p:xfrm>
          <a:off x="2916238" y="4581525"/>
          <a:ext cx="3328987" cy="928688"/>
        </p:xfrm>
        <a:graphic>
          <a:graphicData uri="http://schemas.openxmlformats.org/presentationml/2006/ole">
            <mc:AlternateContent xmlns:mc="http://schemas.openxmlformats.org/markup-compatibility/2006">
              <mc:Choice xmlns:v="urn:schemas-microsoft-com:vml" Requires="v">
                <p:oleObj spid="_x0000_s3219" name="" r:id="rId5" imgW="1320165" imgH="368300" progId="Equation.3">
                  <p:embed/>
                </p:oleObj>
              </mc:Choice>
              <mc:Fallback>
                <p:oleObj name="" r:id="rId5" imgW="1320165" imgH="368300" progId="Equation.3">
                  <p:embed/>
                  <p:pic>
                    <p:nvPicPr>
                      <p:cNvPr id="0" name="图片 3218"/>
                      <p:cNvPicPr/>
                      <p:nvPr/>
                    </p:nvPicPr>
                    <p:blipFill>
                      <a:blip r:embed="rId6"/>
                      <a:stretch>
                        <a:fillRect/>
                      </a:stretch>
                    </p:blipFill>
                    <p:spPr>
                      <a:xfrm>
                        <a:off x="2916238" y="4581525"/>
                        <a:ext cx="3328987" cy="928688"/>
                      </a:xfrm>
                      <a:prstGeom prst="rect">
                        <a:avLst/>
                      </a:prstGeom>
                      <a:solidFill>
                        <a:schemeClr val="accent1"/>
                      </a:solidFill>
                      <a:ln w="38100">
                        <a:noFill/>
                        <a:miter/>
                      </a:ln>
                    </p:spPr>
                  </p:pic>
                </p:oleObj>
              </mc:Fallback>
            </mc:AlternateContent>
          </a:graphicData>
        </a:graphic>
      </p:graphicFrame>
      <p:sp>
        <p:nvSpPr>
          <p:cNvPr id="120839" name="文本框 117769"/>
          <p:cNvSpPr txBox="1"/>
          <p:nvPr/>
        </p:nvSpPr>
        <p:spPr>
          <a:xfrm>
            <a:off x="179388" y="5589588"/>
            <a:ext cx="5770562"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为模拟低通滤波器传递函数。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7" name="文本框 116739"/>
          <p:cNvSpPr txBox="1"/>
          <p:nvPr/>
        </p:nvSpPr>
        <p:spPr>
          <a:xfrm>
            <a:off x="228600" y="533400"/>
            <a:ext cx="8686800" cy="231140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可以看出，数字高通滤波器和模拟低通滤波器的极点数目（或阶次）是相同的。  </a:t>
            </a:r>
            <a:endParaRPr lang="zh-CN" altLang="en-US" dirty="0">
              <a:latin typeface="Times New Roman" panose="02020603050405020304" pitchFamily="18" charset="0"/>
              <a:ea typeface="宋体" panose="02010600030101010101" pitchFamily="2" charset="-122"/>
            </a:endParaRPr>
          </a:p>
          <a:p>
            <a:pPr>
              <a:lnSpc>
                <a:spcPct val="138000"/>
              </a:lnSpc>
              <a:spcBef>
                <a:spcPct val="50000"/>
              </a:spcBef>
            </a:pPr>
            <a:r>
              <a:rPr lang="zh-CN" altLang="en-US" dirty="0">
                <a:latin typeface="Times New Roman" panose="02020603050405020304" pitchFamily="18" charset="0"/>
                <a:ea typeface="宋体" panose="02010600030101010101" pitchFamily="2" charset="-122"/>
              </a:rPr>
              <a:t>         根据双线性变换，</a:t>
            </a:r>
            <a:r>
              <a:rPr lang="zh-CN" altLang="en-US" b="1" dirty="0">
                <a:solidFill>
                  <a:srgbClr val="FF0000"/>
                </a:solidFill>
                <a:latin typeface="Times New Roman" panose="02020603050405020304" pitchFamily="18" charset="0"/>
                <a:ea typeface="宋体" panose="02010600030101010101" pitchFamily="2" charset="-122"/>
              </a:rPr>
              <a:t>模拟高通频率</a:t>
            </a:r>
            <a:r>
              <a:rPr lang="zh-CN" altLang="en-US" dirty="0">
                <a:latin typeface="Times New Roman" panose="02020603050405020304" pitchFamily="18" charset="0"/>
                <a:ea typeface="宋体" panose="02010600030101010101" pitchFamily="2" charset="-122"/>
              </a:rPr>
              <a:t>与</a:t>
            </a:r>
            <a:r>
              <a:rPr lang="zh-CN" altLang="en-US" b="1" dirty="0">
                <a:solidFill>
                  <a:srgbClr val="FF0000"/>
                </a:solidFill>
                <a:latin typeface="Times New Roman" panose="02020603050405020304" pitchFamily="18" charset="0"/>
                <a:ea typeface="宋体" panose="02010600030101010101" pitchFamily="2" charset="-122"/>
              </a:rPr>
              <a:t>数字高通</a:t>
            </a:r>
            <a:r>
              <a:rPr lang="zh-CN" altLang="en-US" dirty="0">
                <a:latin typeface="Times New Roman" panose="02020603050405020304" pitchFamily="18" charset="0"/>
                <a:ea typeface="宋体" panose="02010600030101010101" pitchFamily="2" charset="-122"/>
              </a:rPr>
              <a:t>频率之间的关系仍为 </a:t>
            </a:r>
            <a:endParaRPr lang="zh-CN" altLang="en-US">
              <a:latin typeface="Times New Roman" panose="02020603050405020304" pitchFamily="18" charset="0"/>
              <a:ea typeface="宋体" panose="02010600030101010101" pitchFamily="2" charset="-122"/>
            </a:endParaRPr>
          </a:p>
        </p:txBody>
      </p:sp>
      <p:graphicFrame>
        <p:nvGraphicFramePr>
          <p:cNvPr id="121858" name="对象 116740"/>
          <p:cNvGraphicFramePr/>
          <p:nvPr/>
        </p:nvGraphicFramePr>
        <p:xfrm>
          <a:off x="3581400" y="2514600"/>
          <a:ext cx="1981200" cy="911225"/>
        </p:xfrm>
        <a:graphic>
          <a:graphicData uri="http://schemas.openxmlformats.org/presentationml/2006/ole">
            <mc:AlternateContent xmlns:mc="http://schemas.openxmlformats.org/markup-compatibility/2006">
              <mc:Choice xmlns:v="urn:schemas-microsoft-com:vml" Requires="v">
                <p:oleObj spid="_x0000_s3222" name="" r:id="rId1" imgW="939165" imgH="431800" progId="Equation.3">
                  <p:embed/>
                </p:oleObj>
              </mc:Choice>
              <mc:Fallback>
                <p:oleObj name="" r:id="rId1" imgW="939165" imgH="431800" progId="Equation.3">
                  <p:embed/>
                  <p:pic>
                    <p:nvPicPr>
                      <p:cNvPr id="0" name="图片 3221"/>
                      <p:cNvPicPr/>
                      <p:nvPr/>
                    </p:nvPicPr>
                    <p:blipFill>
                      <a:blip r:embed="rId2"/>
                      <a:stretch>
                        <a:fillRect/>
                      </a:stretch>
                    </p:blipFill>
                    <p:spPr>
                      <a:xfrm>
                        <a:off x="3581400" y="2514600"/>
                        <a:ext cx="1981200" cy="911225"/>
                      </a:xfrm>
                      <a:prstGeom prst="rect">
                        <a:avLst/>
                      </a:prstGeom>
                      <a:solidFill>
                        <a:schemeClr val="accent1"/>
                      </a:solidFill>
                      <a:ln w="38100">
                        <a:noFill/>
                        <a:miter/>
                      </a:ln>
                    </p:spPr>
                  </p:pic>
                </p:oleObj>
              </mc:Fallback>
            </mc:AlternateContent>
          </a:graphicData>
        </a:graphic>
      </p:graphicFrame>
      <p:graphicFrame>
        <p:nvGraphicFramePr>
          <p:cNvPr id="121859" name="对象 116741"/>
          <p:cNvGraphicFramePr/>
          <p:nvPr/>
        </p:nvGraphicFramePr>
        <p:xfrm>
          <a:off x="3505200" y="3810000"/>
          <a:ext cx="2195513" cy="911225"/>
        </p:xfrm>
        <a:graphic>
          <a:graphicData uri="http://schemas.openxmlformats.org/presentationml/2006/ole">
            <mc:AlternateContent xmlns:mc="http://schemas.openxmlformats.org/markup-compatibility/2006">
              <mc:Choice xmlns:v="urn:schemas-microsoft-com:vml" Requires="v">
                <p:oleObj spid="_x0000_s3220" name="" r:id="rId3" imgW="1040765" imgH="431800" progId="Equation.3">
                  <p:embed/>
                </p:oleObj>
              </mc:Choice>
              <mc:Fallback>
                <p:oleObj name="" r:id="rId3" imgW="1040765" imgH="431800" progId="Equation.3">
                  <p:embed/>
                  <p:pic>
                    <p:nvPicPr>
                      <p:cNvPr id="0" name="图片 3219"/>
                      <p:cNvPicPr/>
                      <p:nvPr/>
                    </p:nvPicPr>
                    <p:blipFill>
                      <a:blip r:embed="rId4"/>
                      <a:stretch>
                        <a:fillRect/>
                      </a:stretch>
                    </p:blipFill>
                    <p:spPr>
                      <a:xfrm>
                        <a:off x="3505200" y="3810000"/>
                        <a:ext cx="2195513" cy="911225"/>
                      </a:xfrm>
                      <a:prstGeom prst="rect">
                        <a:avLst/>
                      </a:prstGeom>
                      <a:noFill/>
                      <a:ln w="38100">
                        <a:noFill/>
                        <a:miter/>
                      </a:ln>
                    </p:spPr>
                  </p:pic>
                </p:oleObj>
              </mc:Fallback>
            </mc:AlternateContent>
          </a:graphicData>
        </a:graphic>
      </p:graphicFrame>
      <p:sp>
        <p:nvSpPr>
          <p:cNvPr id="121860" name="文本框 116742"/>
          <p:cNvSpPr txBox="1"/>
          <p:nvPr/>
        </p:nvSpPr>
        <p:spPr>
          <a:xfrm>
            <a:off x="304800" y="3962400"/>
            <a:ext cx="565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则 </a:t>
            </a:r>
            <a:endParaRPr lang="zh-CN" altLang="en-US">
              <a:latin typeface="Times New Roman" panose="02020603050405020304" pitchFamily="18" charset="0"/>
              <a:ea typeface="宋体" panose="02010600030101010101" pitchFamily="2" charset="-122"/>
            </a:endParaRPr>
          </a:p>
        </p:txBody>
      </p:sp>
      <p:grpSp>
        <p:nvGrpSpPr>
          <p:cNvPr id="121861" name="组合 116746"/>
          <p:cNvGrpSpPr/>
          <p:nvPr/>
        </p:nvGrpSpPr>
        <p:grpSpPr>
          <a:xfrm>
            <a:off x="228600" y="4800600"/>
            <a:ext cx="3140075" cy="838200"/>
            <a:chOff x="144" y="3024"/>
            <a:chExt cx="1978" cy="528"/>
          </a:xfrm>
        </p:grpSpPr>
        <p:sp>
          <p:nvSpPr>
            <p:cNvPr id="121862" name="文本框 116743"/>
            <p:cNvSpPr txBox="1"/>
            <p:nvPr/>
          </p:nvSpPr>
          <p:spPr>
            <a:xfrm>
              <a:off x="144" y="3120"/>
              <a:ext cx="548" cy="288"/>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又因 </a:t>
              </a:r>
              <a:endParaRPr lang="zh-CN" altLang="en-US">
                <a:latin typeface="Times New Roman" panose="02020603050405020304" pitchFamily="18" charset="0"/>
                <a:ea typeface="宋体" panose="02010600030101010101" pitchFamily="2" charset="-122"/>
              </a:endParaRPr>
            </a:p>
          </p:txBody>
        </p:sp>
        <p:graphicFrame>
          <p:nvGraphicFramePr>
            <p:cNvPr id="121863" name="对象 116744"/>
            <p:cNvGraphicFramePr/>
            <p:nvPr/>
          </p:nvGraphicFramePr>
          <p:xfrm>
            <a:off x="599" y="3024"/>
            <a:ext cx="1107" cy="528"/>
          </p:xfrm>
          <a:graphic>
            <a:graphicData uri="http://schemas.openxmlformats.org/presentationml/2006/ole">
              <mc:AlternateContent xmlns:mc="http://schemas.openxmlformats.org/markup-compatibility/2006">
                <mc:Choice xmlns:v="urn:schemas-microsoft-com:vml" Requires="v">
                  <p:oleObj spid="_x0000_s3217" name="" r:id="rId5" imgW="824865" imgH="393700" progId="Equation.3">
                    <p:embed/>
                  </p:oleObj>
                </mc:Choice>
                <mc:Fallback>
                  <p:oleObj name="" r:id="rId5" imgW="824865" imgH="393700" progId="Equation.3">
                    <p:embed/>
                    <p:pic>
                      <p:nvPicPr>
                        <p:cNvPr id="0" name="图片 3216"/>
                        <p:cNvPicPr/>
                        <p:nvPr/>
                      </p:nvPicPr>
                      <p:blipFill>
                        <a:blip r:embed="rId6"/>
                        <a:stretch>
                          <a:fillRect/>
                        </a:stretch>
                      </p:blipFill>
                      <p:spPr>
                        <a:xfrm>
                          <a:off x="599" y="3024"/>
                          <a:ext cx="1107" cy="528"/>
                        </a:xfrm>
                        <a:prstGeom prst="rect">
                          <a:avLst/>
                        </a:prstGeom>
                        <a:noFill/>
                        <a:ln w="38100">
                          <a:noFill/>
                          <a:miter/>
                        </a:ln>
                      </p:spPr>
                    </p:pic>
                  </p:oleObj>
                </mc:Fallback>
              </mc:AlternateContent>
            </a:graphicData>
          </a:graphic>
        </p:graphicFrame>
        <p:sp>
          <p:nvSpPr>
            <p:cNvPr id="121864" name="文本框 116745"/>
            <p:cNvSpPr txBox="1"/>
            <p:nvPr/>
          </p:nvSpPr>
          <p:spPr>
            <a:xfrm>
              <a:off x="1766" y="3120"/>
              <a:ext cx="356" cy="288"/>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故 </a:t>
              </a:r>
              <a:endParaRPr lang="zh-CN" altLang="en-US">
                <a:latin typeface="Times New Roman" panose="02020603050405020304" pitchFamily="18" charset="0"/>
                <a:ea typeface="宋体" panose="02010600030101010101" pitchFamily="2" charset="-122"/>
              </a:endParaRPr>
            </a:p>
          </p:txBody>
        </p:sp>
      </p:grpSp>
      <p:graphicFrame>
        <p:nvGraphicFramePr>
          <p:cNvPr id="121865" name="对象 116747"/>
          <p:cNvGraphicFramePr/>
          <p:nvPr/>
        </p:nvGraphicFramePr>
        <p:xfrm>
          <a:off x="3429000" y="5105400"/>
          <a:ext cx="2286000" cy="996950"/>
        </p:xfrm>
        <a:graphic>
          <a:graphicData uri="http://schemas.openxmlformats.org/presentationml/2006/ole">
            <mc:AlternateContent xmlns:mc="http://schemas.openxmlformats.org/markup-compatibility/2006">
              <mc:Choice xmlns:v="urn:schemas-microsoft-com:vml" Requires="v">
                <p:oleObj spid="_x0000_s3216" name="" r:id="rId7" imgW="989965" imgH="431800" progId="Equation.3">
                  <p:embed/>
                </p:oleObj>
              </mc:Choice>
              <mc:Fallback>
                <p:oleObj name="" r:id="rId7" imgW="989965" imgH="431800" progId="Equation.3">
                  <p:embed/>
                  <p:pic>
                    <p:nvPicPr>
                      <p:cNvPr id="0" name="图片 3215"/>
                      <p:cNvPicPr/>
                      <p:nvPr/>
                    </p:nvPicPr>
                    <p:blipFill>
                      <a:blip r:embed="rId8"/>
                      <a:stretch>
                        <a:fillRect/>
                      </a:stretch>
                    </p:blipFill>
                    <p:spPr>
                      <a:xfrm>
                        <a:off x="3429000" y="5105400"/>
                        <a:ext cx="2286000" cy="996950"/>
                      </a:xfrm>
                      <a:prstGeom prst="rect">
                        <a:avLst/>
                      </a:prstGeom>
                      <a:noFill/>
                      <a:ln w="38100">
                        <a:noFill/>
                        <a:miter/>
                      </a:ln>
                    </p:spPr>
                  </p:pic>
                </p:oleObj>
              </mc:Fallback>
            </mc:AlternateContent>
          </a:graphicData>
        </a:graphic>
      </p:graphicFrame>
      <p:sp>
        <p:nvSpPr>
          <p:cNvPr id="121866" name="文本框 116748"/>
          <p:cNvSpPr txBox="1"/>
          <p:nvPr/>
        </p:nvSpPr>
        <p:spPr>
          <a:xfrm>
            <a:off x="7223125" y="5375275"/>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5-55</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1" name="文本框 119811"/>
          <p:cNvSpPr txBox="1"/>
          <p:nvPr/>
        </p:nvSpPr>
        <p:spPr>
          <a:xfrm>
            <a:off x="228600" y="533400"/>
            <a:ext cx="8686800" cy="10985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下面讨论模拟低通滤波器与数字高通滤波器频率之间的关系。令</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 代入式（</a:t>
            </a:r>
            <a:r>
              <a:rPr lang="en-US" altLang="zh-CN" dirty="0">
                <a:latin typeface="Times New Roman" panose="02020603050405020304" pitchFamily="18" charset="0"/>
                <a:ea typeface="宋体" panose="02010600030101010101" pitchFamily="2" charset="-122"/>
              </a:rPr>
              <a:t>5-54</a:t>
            </a:r>
            <a:r>
              <a:rPr lang="zh-CN" altLang="en-US" dirty="0">
                <a:latin typeface="Times New Roman" panose="02020603050405020304" pitchFamily="18" charset="0"/>
                <a:ea typeface="宋体" panose="02010600030101010101" pitchFamily="2" charset="-122"/>
              </a:rPr>
              <a:t>），可得 </a:t>
            </a:r>
            <a:endParaRPr lang="zh-CN" altLang="en-US">
              <a:latin typeface="Times New Roman" panose="02020603050405020304" pitchFamily="18" charset="0"/>
              <a:ea typeface="宋体" panose="02010600030101010101" pitchFamily="2" charset="-122"/>
            </a:endParaRPr>
          </a:p>
        </p:txBody>
      </p:sp>
      <p:graphicFrame>
        <p:nvGraphicFramePr>
          <p:cNvPr id="122882" name="对象 119812"/>
          <p:cNvGraphicFramePr/>
          <p:nvPr/>
        </p:nvGraphicFramePr>
        <p:xfrm>
          <a:off x="3505200" y="1752600"/>
          <a:ext cx="2101850" cy="904875"/>
        </p:xfrm>
        <a:graphic>
          <a:graphicData uri="http://schemas.openxmlformats.org/presentationml/2006/ole">
            <mc:AlternateContent xmlns:mc="http://schemas.openxmlformats.org/markup-compatibility/2006">
              <mc:Choice xmlns:v="urn:schemas-microsoft-com:vml" Requires="v">
                <p:oleObj spid="_x0000_s3223" name="" r:id="rId1" imgW="1002665" imgH="431800" progId="Equation.3">
                  <p:embed/>
                </p:oleObj>
              </mc:Choice>
              <mc:Fallback>
                <p:oleObj name="" r:id="rId1" imgW="1002665" imgH="431800" progId="Equation.3">
                  <p:embed/>
                  <p:pic>
                    <p:nvPicPr>
                      <p:cNvPr id="0" name="图片 3222"/>
                      <p:cNvPicPr/>
                      <p:nvPr/>
                    </p:nvPicPr>
                    <p:blipFill>
                      <a:blip r:embed="rId2"/>
                      <a:stretch>
                        <a:fillRect/>
                      </a:stretch>
                    </p:blipFill>
                    <p:spPr>
                      <a:xfrm>
                        <a:off x="3505200" y="1752600"/>
                        <a:ext cx="2101850" cy="904875"/>
                      </a:xfrm>
                      <a:prstGeom prst="rect">
                        <a:avLst/>
                      </a:prstGeom>
                      <a:noFill/>
                      <a:ln w="38100">
                        <a:noFill/>
                        <a:miter/>
                      </a:ln>
                    </p:spPr>
                  </p:pic>
                </p:oleObj>
              </mc:Fallback>
            </mc:AlternateContent>
          </a:graphicData>
        </a:graphic>
      </p:graphicFrame>
      <p:sp>
        <p:nvSpPr>
          <p:cNvPr id="122883" name="文本框 119813"/>
          <p:cNvSpPr txBox="1"/>
          <p:nvPr/>
        </p:nvSpPr>
        <p:spPr>
          <a:xfrm>
            <a:off x="228600" y="2438400"/>
            <a:ext cx="565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或 </a:t>
            </a:r>
            <a:endParaRPr lang="zh-CN" altLang="en-US">
              <a:latin typeface="Times New Roman" panose="02020603050405020304" pitchFamily="18" charset="0"/>
              <a:ea typeface="宋体" panose="02010600030101010101" pitchFamily="2" charset="-122"/>
            </a:endParaRPr>
          </a:p>
        </p:txBody>
      </p:sp>
      <p:graphicFrame>
        <p:nvGraphicFramePr>
          <p:cNvPr id="122884" name="对象 119814"/>
          <p:cNvGraphicFramePr/>
          <p:nvPr/>
        </p:nvGraphicFramePr>
        <p:xfrm>
          <a:off x="3429000" y="3124200"/>
          <a:ext cx="2349500" cy="974725"/>
        </p:xfrm>
        <a:graphic>
          <a:graphicData uri="http://schemas.openxmlformats.org/presentationml/2006/ole">
            <mc:AlternateContent xmlns:mc="http://schemas.openxmlformats.org/markup-compatibility/2006">
              <mc:Choice xmlns:v="urn:schemas-microsoft-com:vml" Requires="v">
                <p:oleObj spid="_x0000_s3221" name="" r:id="rId3" imgW="1040765" imgH="431800" progId="Equation.3">
                  <p:embed/>
                </p:oleObj>
              </mc:Choice>
              <mc:Fallback>
                <p:oleObj name="" r:id="rId3" imgW="1040765" imgH="431800" progId="Equation.3">
                  <p:embed/>
                  <p:pic>
                    <p:nvPicPr>
                      <p:cNvPr id="0" name="图片 3220"/>
                      <p:cNvPicPr/>
                      <p:nvPr/>
                    </p:nvPicPr>
                    <p:blipFill>
                      <a:blip r:embed="rId4"/>
                      <a:stretch>
                        <a:fillRect/>
                      </a:stretch>
                    </p:blipFill>
                    <p:spPr>
                      <a:xfrm>
                        <a:off x="3429000" y="3124200"/>
                        <a:ext cx="2349500" cy="974725"/>
                      </a:xfrm>
                      <a:prstGeom prst="rect">
                        <a:avLst/>
                      </a:prstGeom>
                      <a:noFill/>
                      <a:ln w="38100">
                        <a:noFill/>
                        <a:miter/>
                      </a:ln>
                    </p:spPr>
                  </p:pic>
                </p:oleObj>
              </mc:Fallback>
            </mc:AlternateContent>
          </a:graphicData>
        </a:graphic>
      </p:graphicFrame>
      <p:sp>
        <p:nvSpPr>
          <p:cNvPr id="122885" name="文本框 119815"/>
          <p:cNvSpPr txBox="1"/>
          <p:nvPr/>
        </p:nvSpPr>
        <p:spPr>
          <a:xfrm>
            <a:off x="7467600" y="33528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5-56</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22886" name="文本框 119816"/>
          <p:cNvSpPr txBox="1"/>
          <p:nvPr/>
        </p:nvSpPr>
        <p:spPr>
          <a:xfrm>
            <a:off x="228600" y="4191000"/>
            <a:ext cx="8763000" cy="1841500"/>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其变换关系曲线如图</a:t>
            </a:r>
            <a:r>
              <a:rPr lang="en-US" altLang="zh-CN" dirty="0">
                <a:latin typeface="Times New Roman" panose="02020603050405020304" pitchFamily="18" charset="0"/>
                <a:ea typeface="宋体" panose="02010600030101010101" pitchFamily="2" charset="-122"/>
              </a:rPr>
              <a:t>5-19</a:t>
            </a:r>
            <a:r>
              <a:rPr lang="zh-CN" altLang="en-US" dirty="0">
                <a:latin typeface="Times New Roman" panose="02020603050405020304" pitchFamily="18" charset="0"/>
                <a:ea typeface="宋体" panose="02010600030101010101" pitchFamily="2" charset="-122"/>
              </a:rPr>
              <a:t>所示。由图可看出，</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映射到</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=π, </a:t>
            </a:r>
            <a:r>
              <a:rPr lang="zh-CN" altLang="en-US">
                <a:latin typeface="Times New Roman" panose="02020603050405020304" pitchFamily="18" charset="0"/>
                <a:ea typeface="宋体" panose="02010600030101010101" pitchFamily="2" charset="-122"/>
              </a:rPr>
              <a:t>即</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上</a:t>
            </a:r>
            <a:r>
              <a:rPr lang="en-US" altLang="zh-CN" dirty="0">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映射到</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=0, </a:t>
            </a:r>
            <a:r>
              <a:rPr lang="zh-CN" altLang="en-US">
                <a:latin typeface="Times New Roman" panose="02020603050405020304" pitchFamily="18" charset="0"/>
                <a:ea typeface="宋体" panose="02010600030101010101" pitchFamily="2" charset="-122"/>
              </a:rPr>
              <a:t>即</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上。通过这样的频率变</a:t>
            </a:r>
            <a:r>
              <a:rPr lang="zh-CN" altLang="en-US" dirty="0">
                <a:latin typeface="Times New Roman" panose="02020603050405020304" pitchFamily="18" charset="0"/>
                <a:ea typeface="宋体" panose="02010600030101010101" pitchFamily="2" charset="-122"/>
              </a:rPr>
              <a:t>换后就可以直接将模拟低通变换为数字高通，如图</a:t>
            </a:r>
            <a:r>
              <a:rPr lang="en-US" altLang="zh-CN" dirty="0">
                <a:latin typeface="Times New Roman" panose="02020603050405020304" pitchFamily="18" charset="0"/>
                <a:ea typeface="宋体" panose="02010600030101010101" pitchFamily="2" charset="-122"/>
              </a:rPr>
              <a:t>5-20</a:t>
            </a:r>
            <a:r>
              <a:rPr lang="zh-CN" altLang="en-US" dirty="0">
                <a:latin typeface="Times New Roman" panose="02020603050405020304" pitchFamily="18" charset="0"/>
                <a:ea typeface="宋体" panose="02010600030101010101" pitchFamily="2" charset="-122"/>
              </a:rPr>
              <a:t>所示。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5" name="文本框 118788"/>
          <p:cNvSpPr txBox="1"/>
          <p:nvPr/>
        </p:nvSpPr>
        <p:spPr>
          <a:xfrm>
            <a:off x="511175" y="747713"/>
            <a:ext cx="8164513" cy="2465387"/>
          </a:xfrm>
          <a:prstGeom prst="rect">
            <a:avLst/>
          </a:prstGeom>
          <a:noFill/>
          <a:ln w="9525">
            <a:noFill/>
          </a:ln>
        </p:spPr>
        <p:txBody>
          <a:bodyPr anchor="t">
            <a:spAutoFit/>
          </a:bodyPr>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还应当明确一点，所谓高通数字滤波器，并不是</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高到</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都通过， 由于数字域存在折叠频率</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，对于实数响应的数字滤波器， </a:t>
            </a:r>
            <a:r>
              <a:rPr lang="en-US" altLang="zh-CN" dirty="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由</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到</a:t>
            </a:r>
            <a:r>
              <a:rPr lang="en-US" altLang="zh-CN" dirty="0">
                <a:latin typeface="Times New Roman" panose="02020603050405020304" pitchFamily="18" charset="0"/>
                <a:ea typeface="宋体" panose="02010600030101010101" pitchFamily="2" charset="-122"/>
              </a:rPr>
              <a:t>2π</a:t>
            </a:r>
            <a:r>
              <a:rPr lang="zh-CN" altLang="en-US" dirty="0">
                <a:latin typeface="Times New Roman" panose="02020603050405020304" pitchFamily="18" charset="0"/>
                <a:ea typeface="宋体" panose="02010600030101010101" pitchFamily="2" charset="-122"/>
              </a:rPr>
              <a:t>的部分只是</a:t>
            </a:r>
            <a:r>
              <a:rPr lang="en-US" altLang="zh-CN" dirty="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由</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到</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的镜像部分。因此，有效数字域仅只是从</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=0 </a:t>
            </a:r>
            <a:r>
              <a:rPr lang="zh-CN" altLang="en-US">
                <a:latin typeface="Times New Roman" panose="02020603050405020304" pitchFamily="18" charset="0"/>
                <a:ea typeface="宋体" panose="02010600030101010101" pitchFamily="2" charset="-122"/>
              </a:rPr>
              <a:t>到</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，高通也仅指这一端的高端，即到</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为止的部分。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文本框 386051"/>
          <p:cNvSpPr txBox="1"/>
          <p:nvPr/>
        </p:nvSpPr>
        <p:spPr>
          <a:xfrm>
            <a:off x="1042988" y="5300663"/>
            <a:ext cx="7600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5-19 </a:t>
            </a:r>
            <a:r>
              <a:rPr lang="zh-CN" altLang="en-US" dirty="0">
                <a:latin typeface="Times New Roman" panose="02020603050405020304" pitchFamily="18" charset="0"/>
                <a:ea typeface="宋体" panose="02010600030101010101" pitchFamily="2" charset="-122"/>
              </a:rPr>
              <a:t>从模拟低通变换到数字高通时频率间关系的曲线 </a:t>
            </a:r>
            <a:endParaRPr lang="zh-CN" altLang="en-US">
              <a:latin typeface="Times New Roman" panose="02020603050405020304" pitchFamily="18" charset="0"/>
              <a:ea typeface="宋体" panose="02010600030101010101" pitchFamily="2" charset="-122"/>
            </a:endParaRPr>
          </a:p>
        </p:txBody>
      </p:sp>
      <p:pic>
        <p:nvPicPr>
          <p:cNvPr id="124930" name="图片 386054" descr="5-19"/>
          <p:cNvPicPr>
            <a:picLocks noChangeAspect="1"/>
          </p:cNvPicPr>
          <p:nvPr/>
        </p:nvPicPr>
        <p:blipFill>
          <a:blip r:embed="rId1"/>
          <a:stretch>
            <a:fillRect/>
          </a:stretch>
        </p:blipFill>
        <p:spPr>
          <a:xfrm>
            <a:off x="2219325" y="765175"/>
            <a:ext cx="4705350" cy="4286250"/>
          </a:xfrm>
          <a:prstGeom prst="rect">
            <a:avLst/>
          </a:prstGeom>
          <a:noFill/>
          <a:ln w="9525">
            <a:noFill/>
          </a:ln>
        </p:spPr>
      </p:pic>
    </p:spTree>
  </p:cSld>
  <p:clrMapOvr>
    <a:masterClrMapping/>
  </p:clrMapOvr>
  <p:transition>
    <p:blinds/>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文本框 121859"/>
          <p:cNvSpPr txBox="1"/>
          <p:nvPr/>
        </p:nvSpPr>
        <p:spPr>
          <a:xfrm>
            <a:off x="2336800" y="5734050"/>
            <a:ext cx="4629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5-20 </a:t>
            </a:r>
            <a:r>
              <a:rPr lang="zh-CN" altLang="en-US" dirty="0">
                <a:latin typeface="Times New Roman" panose="02020603050405020304" pitchFamily="18" charset="0"/>
                <a:ea typeface="宋体" panose="02010600030101010101" pitchFamily="2" charset="-122"/>
              </a:rPr>
              <a:t>模拟低通变换到数字高通 </a:t>
            </a:r>
            <a:endParaRPr lang="zh-CN" altLang="en-US">
              <a:latin typeface="Times New Roman" panose="02020603050405020304" pitchFamily="18" charset="0"/>
              <a:ea typeface="宋体" panose="02010600030101010101" pitchFamily="2" charset="-122"/>
            </a:endParaRPr>
          </a:p>
        </p:txBody>
      </p:sp>
      <p:pic>
        <p:nvPicPr>
          <p:cNvPr id="125954" name="图片 121862" descr="5-20"/>
          <p:cNvPicPr>
            <a:picLocks noChangeAspect="1"/>
          </p:cNvPicPr>
          <p:nvPr/>
        </p:nvPicPr>
        <p:blipFill>
          <a:blip r:embed="rId1"/>
          <a:stretch>
            <a:fillRect/>
          </a:stretch>
        </p:blipFill>
        <p:spPr>
          <a:xfrm>
            <a:off x="2476500" y="1285875"/>
            <a:ext cx="4191000" cy="4286250"/>
          </a:xfrm>
          <a:prstGeom prst="rect">
            <a:avLst/>
          </a:prstGeom>
          <a:noFill/>
          <a:ln w="9525">
            <a:noFill/>
          </a:ln>
        </p:spPr>
      </p:pic>
    </p:spTree>
  </p:cSld>
  <p:clrMapOvr>
    <a:masterClrMapping/>
  </p:clrMapOvr>
  <p:transition>
    <p:blinds/>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403350" y="4618990"/>
            <a:ext cx="3061970" cy="10420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矩形 1"/>
          <p:cNvSpPr/>
          <p:nvPr/>
        </p:nvSpPr>
        <p:spPr>
          <a:xfrm>
            <a:off x="1403350" y="3230880"/>
            <a:ext cx="2952115" cy="10452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6977" name="文本框 120835"/>
          <p:cNvSpPr txBox="1"/>
          <p:nvPr/>
        </p:nvSpPr>
        <p:spPr>
          <a:xfrm>
            <a:off x="228600" y="608013"/>
            <a:ext cx="8763000" cy="231140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en-US" altLang="zh-CN" b="1" dirty="0">
                <a:solidFill>
                  <a:srgbClr val="FF0000"/>
                </a:solidFill>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例 </a:t>
            </a:r>
            <a:r>
              <a:rPr lang="en-US" altLang="zh-CN" b="1" dirty="0">
                <a:solidFill>
                  <a:srgbClr val="FF0000"/>
                </a:solidFill>
                <a:latin typeface="Times New Roman" panose="02020603050405020304" pitchFamily="18" charset="0"/>
                <a:ea typeface="宋体" panose="02010600030101010101" pitchFamily="2" charset="-122"/>
              </a:rPr>
              <a:t>5-7 </a:t>
            </a:r>
            <a:r>
              <a:rPr lang="zh-CN" altLang="en-US" dirty="0">
                <a:latin typeface="Times New Roman" panose="02020603050405020304" pitchFamily="18" charset="0"/>
                <a:ea typeface="宋体" panose="02010600030101010101" pitchFamily="2" charset="-122"/>
              </a:rPr>
              <a:t>设计一个巴特沃思高通数字滤波器，其通带截止频率（</a:t>
            </a:r>
            <a:r>
              <a:rPr lang="en-US" altLang="zh-CN" dirty="0">
                <a:latin typeface="Times New Roman" panose="02020603050405020304" pitchFamily="18" charset="0"/>
                <a:ea typeface="宋体" panose="02010600030101010101" pitchFamily="2" charset="-122"/>
              </a:rPr>
              <a:t>-3dB</a:t>
            </a:r>
            <a:r>
              <a:rPr lang="zh-CN" altLang="en-US" dirty="0">
                <a:latin typeface="Times New Roman" panose="02020603050405020304" pitchFamily="18" charset="0"/>
                <a:ea typeface="宋体" panose="02010600030101010101" pitchFamily="2" charset="-122"/>
              </a:rPr>
              <a:t>点处）为</a:t>
            </a:r>
            <a:r>
              <a:rPr lang="en-US" altLang="zh-CN" i="1" dirty="0" err="1">
                <a:solidFill>
                  <a:srgbClr val="FF0000"/>
                </a:solidFill>
                <a:latin typeface="Times New Roman" panose="02020603050405020304" pitchFamily="18" charset="0"/>
                <a:ea typeface="宋体" panose="02010600030101010101" pitchFamily="2" charset="-122"/>
              </a:rPr>
              <a:t>f</a:t>
            </a:r>
            <a:r>
              <a:rPr lang="en-US" altLang="zh-CN" baseline="-25000" dirty="0" err="1">
                <a:solidFill>
                  <a:srgbClr val="FF0000"/>
                </a:solidFill>
                <a:latin typeface="Times New Roman" panose="02020603050405020304" pitchFamily="18" charset="0"/>
                <a:ea typeface="宋体" panose="02010600030101010101" pitchFamily="2" charset="-122"/>
              </a:rPr>
              <a:t>c</a:t>
            </a:r>
            <a:r>
              <a:rPr lang="en-US" altLang="zh-CN" dirty="0">
                <a:solidFill>
                  <a:srgbClr val="FF0000"/>
                </a:solidFill>
                <a:latin typeface="Times New Roman" panose="02020603050405020304" pitchFamily="18" charset="0"/>
                <a:ea typeface="宋体" panose="02010600030101010101" pitchFamily="2" charset="-122"/>
              </a:rPr>
              <a:t>=3kHz</a:t>
            </a:r>
            <a:r>
              <a:rPr lang="zh-CN" altLang="en-US" dirty="0">
                <a:latin typeface="Times New Roman" panose="02020603050405020304" pitchFamily="18" charset="0"/>
                <a:ea typeface="宋体" panose="02010600030101010101" pitchFamily="2" charset="-122"/>
              </a:rPr>
              <a:t>，阻带上限截止频率</a:t>
            </a:r>
            <a:r>
              <a:rPr lang="en-US" altLang="zh-CN" i="1" dirty="0" err="1">
                <a:latin typeface="Times New Roman" panose="02020603050405020304" pitchFamily="18" charset="0"/>
                <a:ea typeface="宋体" panose="02010600030101010101" pitchFamily="2" charset="-122"/>
              </a:rPr>
              <a:t>f</a:t>
            </a:r>
            <a:r>
              <a:rPr lang="en-US" altLang="zh-CN" baseline="-25000" dirty="0" err="1">
                <a:latin typeface="Times New Roman" panose="02020603050405020304" pitchFamily="18" charset="0"/>
                <a:ea typeface="宋体" panose="02010600030101010101" pitchFamily="2" charset="-122"/>
              </a:rPr>
              <a:t>st</a:t>
            </a:r>
            <a:r>
              <a:rPr lang="en-US" altLang="zh-CN" dirty="0">
                <a:latin typeface="Times New Roman" panose="02020603050405020304" pitchFamily="18" charset="0"/>
                <a:ea typeface="宋体" panose="02010600030101010101" pitchFamily="2" charset="-122"/>
              </a:rPr>
              <a:t>=2kHz</a:t>
            </a:r>
            <a:r>
              <a:rPr lang="zh-CN" altLang="en-US" dirty="0">
                <a:latin typeface="Times New Roman" panose="02020603050405020304" pitchFamily="18" charset="0"/>
                <a:ea typeface="宋体" panose="02010600030101010101" pitchFamily="2" charset="-122"/>
              </a:rPr>
              <a:t>，通带衰减不大于</a:t>
            </a:r>
            <a:r>
              <a:rPr lang="en-US" altLang="zh-CN" dirty="0">
                <a:latin typeface="Times New Roman" panose="02020603050405020304" pitchFamily="18" charset="0"/>
                <a:ea typeface="宋体" panose="02010600030101010101" pitchFamily="2" charset="-122"/>
              </a:rPr>
              <a:t>3 dB</a:t>
            </a:r>
            <a:r>
              <a:rPr lang="zh-CN" altLang="en-US" dirty="0">
                <a:latin typeface="Times New Roman" panose="02020603050405020304" pitchFamily="18" charset="0"/>
                <a:ea typeface="宋体" panose="02010600030101010101" pitchFamily="2" charset="-122"/>
              </a:rPr>
              <a:t>， 阻带衰减不小于 </a:t>
            </a:r>
            <a:r>
              <a:rPr lang="en-US" altLang="zh-CN" dirty="0">
                <a:latin typeface="Times New Roman" panose="02020603050405020304" pitchFamily="18" charset="0"/>
                <a:ea typeface="宋体" panose="02010600030101010101" pitchFamily="2" charset="-122"/>
              </a:rPr>
              <a:t>14dB</a:t>
            </a:r>
            <a:r>
              <a:rPr lang="zh-CN" altLang="en-US" dirty="0">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宋体" panose="02010600030101010101" pitchFamily="2" charset="-122"/>
              </a:rPr>
              <a:t>采样频率</a:t>
            </a:r>
            <a:r>
              <a:rPr lang="en-US" altLang="zh-CN" i="1" dirty="0" err="1">
                <a:solidFill>
                  <a:srgbClr val="FF0000"/>
                </a:solidFill>
                <a:latin typeface="Times New Roman" panose="02020603050405020304" pitchFamily="18" charset="0"/>
                <a:ea typeface="宋体" panose="02010600030101010101" pitchFamily="2" charset="-122"/>
              </a:rPr>
              <a:t>f</a:t>
            </a:r>
            <a:r>
              <a:rPr lang="en-US" altLang="zh-CN" baseline="-25000" dirty="0" err="1">
                <a:solidFill>
                  <a:srgbClr val="FF0000"/>
                </a:solidFill>
                <a:latin typeface="Times New Roman" panose="02020603050405020304" pitchFamily="18" charset="0"/>
                <a:ea typeface="宋体" panose="02010600030101010101" pitchFamily="2" charset="-122"/>
              </a:rPr>
              <a:t>s</a:t>
            </a:r>
            <a:r>
              <a:rPr lang="en-US" altLang="zh-CN">
                <a:solidFill>
                  <a:srgbClr val="FF0000"/>
                </a:solidFill>
                <a:latin typeface="Times New Roman" panose="02020603050405020304" pitchFamily="18" charset="0"/>
                <a:ea typeface="宋体" panose="02010600030101010101" pitchFamily="2" charset="-122"/>
              </a:rPr>
              <a:t>=10kHz</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求对应的各数字域频率</a:t>
            </a:r>
            <a:r>
              <a:rPr lang="en-US" altLang="zh-CN" dirty="0">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graphicFrame>
        <p:nvGraphicFramePr>
          <p:cNvPr id="126978" name="对象 120836"/>
          <p:cNvGraphicFramePr/>
          <p:nvPr/>
        </p:nvGraphicFramePr>
        <p:xfrm>
          <a:off x="1476375" y="3163888"/>
          <a:ext cx="6400800" cy="2497137"/>
        </p:xfrm>
        <a:graphic>
          <a:graphicData uri="http://schemas.openxmlformats.org/presentationml/2006/ole">
            <mc:AlternateContent xmlns:mc="http://schemas.openxmlformats.org/markup-compatibility/2006">
              <mc:Choice xmlns:v="urn:schemas-microsoft-com:vml" Requires="v">
                <p:oleObj spid="_x0000_s3229" name="" r:id="rId1" imgW="2538730" imgH="989965" progId="Equation.3">
                  <p:embed/>
                </p:oleObj>
              </mc:Choice>
              <mc:Fallback>
                <p:oleObj name="" r:id="rId1" imgW="2538730" imgH="989965" progId="Equation.3">
                  <p:embed/>
                  <p:pic>
                    <p:nvPicPr>
                      <p:cNvPr id="0" name="图片 3228"/>
                      <p:cNvPicPr/>
                      <p:nvPr/>
                    </p:nvPicPr>
                    <p:blipFill>
                      <a:blip r:embed="rId2"/>
                      <a:stretch>
                        <a:fillRect/>
                      </a:stretch>
                    </p:blipFill>
                    <p:spPr>
                      <a:xfrm>
                        <a:off x="1476375" y="3163888"/>
                        <a:ext cx="6400800" cy="2497137"/>
                      </a:xfrm>
                      <a:prstGeom prst="rect">
                        <a:avLst/>
                      </a:prstGeom>
                      <a:noFill/>
                      <a:ln w="38100">
                        <a:noFill/>
                        <a:miter/>
                      </a:ln>
                    </p:spPr>
                  </p:pic>
                </p:oleObj>
              </mc:Fallback>
            </mc:AlternateContent>
          </a:graphicData>
        </a:graphic>
      </p:graphicFrame>
    </p:spTree>
  </p:cSld>
  <p:clrMapOvr>
    <a:masterClrMapping/>
  </p:clrMapOvr>
  <p:transition>
    <p:blinds/>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1" name="文本框 123907"/>
          <p:cNvSpPr txBox="1"/>
          <p:nvPr/>
        </p:nvSpPr>
        <p:spPr>
          <a:xfrm>
            <a:off x="228600" y="609600"/>
            <a:ext cx="8763000" cy="1187450"/>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）求常数</a:t>
            </a:r>
            <a:r>
              <a:rPr lang="en-US" altLang="zh-CN" i="1">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。采用归一化（</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）原型低通滤波器作为变换的低通原型</a:t>
            </a:r>
            <a:r>
              <a:rPr lang="zh-CN" altLang="en-US" dirty="0">
                <a:latin typeface="Times New Roman" panose="02020603050405020304" pitchFamily="18" charset="0"/>
                <a:ea typeface="宋体" panose="02010600030101010101" pitchFamily="2" charset="-122"/>
              </a:rPr>
              <a:t>，则低通到高通的变换中所需的</a:t>
            </a:r>
            <a:r>
              <a:rPr lang="en-US" altLang="zh-CN" i="1">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为（见表</a:t>
            </a:r>
            <a:r>
              <a:rPr lang="en-US" altLang="zh-CN" dirty="0">
                <a:latin typeface="Times New Roman" panose="02020603050405020304" pitchFamily="18" charset="0"/>
                <a:ea typeface="宋体" panose="02010600030101010101" pitchFamily="2" charset="-122"/>
              </a:rPr>
              <a:t>5-4</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128002" name="对象 123908"/>
          <p:cNvGraphicFramePr/>
          <p:nvPr/>
        </p:nvGraphicFramePr>
        <p:xfrm>
          <a:off x="1447800" y="1905000"/>
          <a:ext cx="6553200" cy="998538"/>
        </p:xfrm>
        <a:graphic>
          <a:graphicData uri="http://schemas.openxmlformats.org/presentationml/2006/ole">
            <mc:AlternateContent xmlns:mc="http://schemas.openxmlformats.org/markup-compatibility/2006">
              <mc:Choice xmlns:v="urn:schemas-microsoft-com:vml" Requires="v">
                <p:oleObj spid="_x0000_s3226" name="" r:id="rId1" imgW="2830830" imgH="431800" progId="Equation.3">
                  <p:embed/>
                </p:oleObj>
              </mc:Choice>
              <mc:Fallback>
                <p:oleObj name="" r:id="rId1" imgW="2830830" imgH="431800" progId="Equation.3">
                  <p:embed/>
                  <p:pic>
                    <p:nvPicPr>
                      <p:cNvPr id="0" name="图片 3225"/>
                      <p:cNvPicPr/>
                      <p:nvPr/>
                    </p:nvPicPr>
                    <p:blipFill>
                      <a:blip r:embed="rId2"/>
                      <a:stretch>
                        <a:fillRect/>
                      </a:stretch>
                    </p:blipFill>
                    <p:spPr>
                      <a:xfrm>
                        <a:off x="1447800" y="1905000"/>
                        <a:ext cx="6553200" cy="998538"/>
                      </a:xfrm>
                      <a:prstGeom prst="rect">
                        <a:avLst/>
                      </a:prstGeom>
                      <a:noFill/>
                      <a:ln w="38100">
                        <a:noFill/>
                        <a:miter/>
                      </a:ln>
                    </p:spPr>
                  </p:pic>
                </p:oleObj>
              </mc:Fallback>
            </mc:AlternateContent>
          </a:graphicData>
        </a:graphic>
      </p:graphicFrame>
      <p:sp>
        <p:nvSpPr>
          <p:cNvPr id="128003" name="文本框 123909"/>
          <p:cNvSpPr txBox="1"/>
          <p:nvPr/>
        </p:nvSpPr>
        <p:spPr>
          <a:xfrm>
            <a:off x="228600" y="3065463"/>
            <a:ext cx="8686800" cy="1735137"/>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）求低通原型</a:t>
            </a:r>
            <a:r>
              <a:rPr lang="en-US" altLang="zh-CN" i="1">
                <a:latin typeface="Times New Roman" panose="02020603050405020304" pitchFamily="18" charset="0"/>
                <a:ea typeface="宋体" panose="02010600030101010101" pitchFamily="2" charset="-122"/>
              </a:rPr>
              <a:t>Ω</a:t>
            </a:r>
            <a:r>
              <a:rPr lang="en-US" altLang="zh-CN" baseline="-25000" dirty="0" err="1">
                <a:latin typeface="Times New Roman" panose="02020603050405020304" pitchFamily="18" charset="0"/>
                <a:ea typeface="宋体" panose="02010600030101010101" pitchFamily="2" charset="-122"/>
              </a:rPr>
              <a:t>st</a:t>
            </a:r>
            <a:r>
              <a:rPr lang="zh-CN" altLang="en-US">
                <a:latin typeface="Times New Roman" panose="02020603050405020304" pitchFamily="18" charset="0"/>
                <a:ea typeface="宋体" panose="02010600030101010101" pitchFamily="2" charset="-122"/>
              </a:rPr>
              <a:t>。设</a:t>
            </a:r>
            <a:r>
              <a:rPr lang="en-US" altLang="zh-CN" i="1">
                <a:latin typeface="Times New Roman" panose="02020603050405020304" pitchFamily="18" charset="0"/>
                <a:ea typeface="宋体" panose="02010600030101010101" pitchFamily="2" charset="-122"/>
              </a:rPr>
              <a:t>Ω</a:t>
            </a:r>
            <a:r>
              <a:rPr lang="en-US" altLang="zh-CN" baseline="-25000" dirty="0" err="1">
                <a:latin typeface="Times New Roman" panose="02020603050405020304" pitchFamily="18" charset="0"/>
                <a:ea typeface="宋体" panose="02010600030101010101" pitchFamily="2" charset="-122"/>
              </a:rPr>
              <a:t>st</a:t>
            </a:r>
            <a:r>
              <a:rPr lang="zh-CN" altLang="en-US" dirty="0">
                <a:latin typeface="Times New Roman" panose="02020603050405020304" pitchFamily="18" charset="0"/>
                <a:ea typeface="宋体" panose="02010600030101010101" pitchFamily="2" charset="-122"/>
              </a:rPr>
              <a:t>为满足数字高通滤波器的归一化原型模拟低通滤波器的阻带上限截止频率，可按</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C</a:t>
            </a:r>
            <a:r>
              <a:rPr lang="en-US" altLang="zh-CN">
                <a:latin typeface="Courier New" panose="02070309020205020404" pitchFamily="49" charset="0"/>
                <a:ea typeface="宋体" panose="02010600030101010101" pitchFamily="2" charset="-122"/>
              </a:rPr>
              <a:t>·</a:t>
            </a:r>
            <a:r>
              <a:rPr lang="en-US" altLang="zh-CN">
                <a:latin typeface="Times New Roman" panose="02020603050405020304" pitchFamily="18" charset="0"/>
                <a:ea typeface="宋体" panose="02010600030101010101" pitchFamily="2" charset="-122"/>
              </a:rPr>
              <a:t>cot(</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的预畸变换关</a:t>
            </a:r>
            <a:r>
              <a:rPr lang="zh-CN" altLang="en-US" dirty="0">
                <a:latin typeface="Times New Roman" panose="02020603050405020304" pitchFamily="18" charset="0"/>
                <a:ea typeface="宋体" panose="02010600030101010101" pitchFamily="2" charset="-122"/>
              </a:rPr>
              <a:t>系来求，得  </a:t>
            </a:r>
            <a:endParaRPr lang="zh-CN" altLang="en-US">
              <a:latin typeface="Times New Roman" panose="02020603050405020304" pitchFamily="18" charset="0"/>
              <a:ea typeface="宋体" panose="02010600030101010101" pitchFamily="2" charset="-122"/>
            </a:endParaRPr>
          </a:p>
        </p:txBody>
      </p:sp>
      <p:graphicFrame>
        <p:nvGraphicFramePr>
          <p:cNvPr id="128004" name="对象 123910"/>
          <p:cNvGraphicFramePr/>
          <p:nvPr/>
        </p:nvGraphicFramePr>
        <p:xfrm>
          <a:off x="304800" y="5013325"/>
          <a:ext cx="8493125" cy="911225"/>
        </p:xfrm>
        <a:graphic>
          <a:graphicData uri="http://schemas.openxmlformats.org/presentationml/2006/ole">
            <mc:AlternateContent xmlns:mc="http://schemas.openxmlformats.org/markup-compatibility/2006">
              <mc:Choice xmlns:v="urn:schemas-microsoft-com:vml" Requires="v">
                <p:oleObj spid="_x0000_s3228" name="" r:id="rId3" imgW="3668395" imgH="393700" progId="Equation.3">
                  <p:embed/>
                </p:oleObj>
              </mc:Choice>
              <mc:Fallback>
                <p:oleObj name="" r:id="rId3" imgW="3668395" imgH="393700" progId="Equation.3">
                  <p:embed/>
                  <p:pic>
                    <p:nvPicPr>
                      <p:cNvPr id="0" name="图片 3227"/>
                      <p:cNvPicPr/>
                      <p:nvPr/>
                    </p:nvPicPr>
                    <p:blipFill>
                      <a:blip r:embed="rId4"/>
                      <a:stretch>
                        <a:fillRect/>
                      </a:stretch>
                    </p:blipFill>
                    <p:spPr>
                      <a:xfrm>
                        <a:off x="304800" y="5013325"/>
                        <a:ext cx="8493125" cy="911225"/>
                      </a:xfrm>
                      <a:prstGeom prst="rect">
                        <a:avLst/>
                      </a:prstGeom>
                      <a:noFill/>
                      <a:ln w="38100">
                        <a:noFill/>
                        <a:miter/>
                      </a:ln>
                    </p:spPr>
                  </p:pic>
                </p:oleObj>
              </mc:Fallback>
            </mc:AlternateContent>
          </a:graphicData>
        </a:graphic>
      </p:graphicFrame>
    </p:spTree>
  </p:cSld>
  <p:clrMapOvr>
    <a:masterClrMapping/>
  </p:clrMapOvr>
  <p:transition>
    <p:blinds/>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5" name="文本框 122883"/>
          <p:cNvSpPr txBox="1"/>
          <p:nvPr/>
        </p:nvSpPr>
        <p:spPr>
          <a:xfrm>
            <a:off x="228600" y="609600"/>
            <a:ext cx="8763000" cy="1601788"/>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）求阶次</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。按阻带衰减求原型归一化模拟低通滤波器的阶次</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，由巴特沃思低通</a:t>
            </a:r>
            <a:r>
              <a:rPr lang="zh-CN" altLang="en-US" dirty="0">
                <a:latin typeface="Times New Roman" panose="02020603050405020304" pitchFamily="18" charset="0"/>
                <a:ea typeface="宋体" panose="02010600030101010101" pitchFamily="2" charset="-122"/>
              </a:rPr>
              <a:t>滤波器频率响应的公式</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en-US" altLang="zh-CN" baseline="-25000" err="1">
                <a:latin typeface="Times New Roman" panose="02020603050405020304" pitchFamily="18" charset="0"/>
                <a:ea typeface="宋体" panose="02010600030101010101" pitchFamily="2" charset="-122"/>
              </a:rPr>
              <a:t>st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取对数， 即 </a:t>
            </a:r>
            <a:endParaRPr lang="zh-CN" altLang="en-US">
              <a:latin typeface="Times New Roman" panose="02020603050405020304" pitchFamily="18" charset="0"/>
              <a:ea typeface="宋体" panose="02010600030101010101" pitchFamily="2" charset="-122"/>
            </a:endParaRPr>
          </a:p>
        </p:txBody>
      </p:sp>
      <p:graphicFrame>
        <p:nvGraphicFramePr>
          <p:cNvPr id="129026" name="对象 122884"/>
          <p:cNvGraphicFramePr/>
          <p:nvPr/>
        </p:nvGraphicFramePr>
        <p:xfrm>
          <a:off x="1524000" y="1981200"/>
          <a:ext cx="6324600" cy="1306513"/>
        </p:xfrm>
        <a:graphic>
          <a:graphicData uri="http://schemas.openxmlformats.org/presentationml/2006/ole">
            <mc:AlternateContent xmlns:mc="http://schemas.openxmlformats.org/markup-compatibility/2006">
              <mc:Choice xmlns:v="urn:schemas-microsoft-com:vml" Requires="v">
                <p:oleObj spid="_x0000_s3227" name="" r:id="rId1" imgW="2705100" imgH="558800" progId="Equation.3">
                  <p:embed/>
                </p:oleObj>
              </mc:Choice>
              <mc:Fallback>
                <p:oleObj name="" r:id="rId1" imgW="2705100" imgH="558800" progId="Equation.3">
                  <p:embed/>
                  <p:pic>
                    <p:nvPicPr>
                      <p:cNvPr id="0" name="图片 3226"/>
                      <p:cNvPicPr/>
                      <p:nvPr/>
                    </p:nvPicPr>
                    <p:blipFill>
                      <a:blip r:embed="rId2"/>
                      <a:stretch>
                        <a:fillRect/>
                      </a:stretch>
                    </p:blipFill>
                    <p:spPr>
                      <a:xfrm>
                        <a:off x="1524000" y="1981200"/>
                        <a:ext cx="6324600" cy="1306513"/>
                      </a:xfrm>
                      <a:prstGeom prst="rect">
                        <a:avLst/>
                      </a:prstGeom>
                      <a:noFill/>
                      <a:ln w="38100">
                        <a:noFill/>
                        <a:miter/>
                      </a:ln>
                    </p:spPr>
                  </p:pic>
                </p:oleObj>
              </mc:Fallback>
            </mc:AlternateContent>
          </a:graphicData>
        </a:graphic>
      </p:graphicFrame>
      <p:sp>
        <p:nvSpPr>
          <p:cNvPr id="129027" name="文本框 122885"/>
          <p:cNvSpPr txBox="1"/>
          <p:nvPr/>
        </p:nvSpPr>
        <p:spPr>
          <a:xfrm>
            <a:off x="152400" y="3581400"/>
            <a:ext cx="250348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。解得 </a:t>
            </a:r>
            <a:endParaRPr lang="zh-CN" altLang="en-US">
              <a:latin typeface="Times New Roman" panose="02020603050405020304" pitchFamily="18" charset="0"/>
              <a:ea typeface="宋体" panose="02010600030101010101" pitchFamily="2" charset="-122"/>
            </a:endParaRPr>
          </a:p>
        </p:txBody>
      </p:sp>
      <p:graphicFrame>
        <p:nvGraphicFramePr>
          <p:cNvPr id="129028" name="对象 122886"/>
          <p:cNvGraphicFramePr/>
          <p:nvPr/>
        </p:nvGraphicFramePr>
        <p:xfrm>
          <a:off x="1295400" y="4419600"/>
          <a:ext cx="7239000" cy="1092200"/>
        </p:xfrm>
        <a:graphic>
          <a:graphicData uri="http://schemas.openxmlformats.org/presentationml/2006/ole">
            <mc:AlternateContent xmlns:mc="http://schemas.openxmlformats.org/markup-compatibility/2006">
              <mc:Choice xmlns:v="urn:schemas-microsoft-com:vml" Requires="v">
                <p:oleObj spid="_x0000_s3230" name="" r:id="rId3" imgW="3199130" imgH="482600" progId="Equation.3">
                  <p:embed/>
                </p:oleObj>
              </mc:Choice>
              <mc:Fallback>
                <p:oleObj name="" r:id="rId3" imgW="3199130" imgH="482600" progId="Equation.3">
                  <p:embed/>
                  <p:pic>
                    <p:nvPicPr>
                      <p:cNvPr id="0" name="图片 3229"/>
                      <p:cNvPicPr/>
                      <p:nvPr/>
                    </p:nvPicPr>
                    <p:blipFill>
                      <a:blip r:embed="rId4"/>
                      <a:stretch>
                        <a:fillRect/>
                      </a:stretch>
                    </p:blipFill>
                    <p:spPr>
                      <a:xfrm>
                        <a:off x="1295400" y="4419600"/>
                        <a:ext cx="7239000" cy="1092200"/>
                      </a:xfrm>
                      <a:prstGeom prst="rect">
                        <a:avLst/>
                      </a:prstGeom>
                      <a:noFill/>
                      <a:ln w="38100">
                        <a:noFill/>
                        <a:miter/>
                      </a:ln>
                    </p:spPr>
                  </p:pic>
                </p:oleObj>
              </mc:Fallback>
            </mc:AlternateContent>
          </a:graphicData>
        </a:graphic>
      </p:graphicFrame>
      <p:sp>
        <p:nvSpPr>
          <p:cNvPr id="129029" name="文本框 122887"/>
          <p:cNvSpPr txBox="1"/>
          <p:nvPr/>
        </p:nvSpPr>
        <p:spPr>
          <a:xfrm>
            <a:off x="152400" y="5603875"/>
            <a:ext cx="1397000" cy="457200"/>
          </a:xfrm>
          <a:prstGeom prst="rect">
            <a:avLst/>
          </a:prstGeom>
          <a:noFill/>
          <a:ln w="9525">
            <a:noFill/>
          </a:ln>
        </p:spPr>
        <p:txBody>
          <a:bodyPr wrap="none" anchor="t">
            <a:spAutoFit/>
          </a:bodyPr>
          <a:p>
            <a:r>
              <a:rPr lang="zh-CN" altLang="en-US">
                <a:latin typeface="Times New Roman" panose="02020603050405020304" pitchFamily="18" charset="0"/>
                <a:ea typeface="宋体" panose="02010600030101010101" pitchFamily="2" charset="-122"/>
              </a:rPr>
              <a:t>取</a:t>
            </a:r>
            <a:r>
              <a:rPr lang="en-US" altLang="zh-CN" i="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=3</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49" name="文本框 126979"/>
          <p:cNvSpPr txBox="1"/>
          <p:nvPr/>
        </p:nvSpPr>
        <p:spPr>
          <a:xfrm>
            <a:off x="381000" y="838200"/>
            <a:ext cx="8610600" cy="1087755"/>
          </a:xfrm>
          <a:prstGeom prst="rect">
            <a:avLst/>
          </a:prstGeom>
          <a:noFill/>
          <a:ln w="9525">
            <a:noFill/>
          </a:ln>
        </p:spPr>
        <p:txBody>
          <a:bodyPr anchor="t">
            <a:spAutoFit/>
          </a:bodyPr>
          <a:p>
            <a:pPr algn="just">
              <a:lnSpc>
                <a:spcPct val="135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 求</a:t>
            </a:r>
            <a:r>
              <a:rPr lang="zh-CN" altLang="en-US" b="1" u="sng" dirty="0">
                <a:solidFill>
                  <a:srgbClr val="FF0000"/>
                </a:solidFill>
                <a:latin typeface="Times New Roman" panose="02020603050405020304" pitchFamily="18" charset="0"/>
                <a:ea typeface="宋体" panose="02010600030101010101" pitchFamily="2" charset="-122"/>
              </a:rPr>
              <a:t>归一化</a:t>
            </a:r>
            <a:r>
              <a:rPr lang="zh-CN" altLang="en-US" dirty="0">
                <a:latin typeface="Times New Roman" panose="02020603050405020304" pitchFamily="18" charset="0"/>
                <a:ea typeface="宋体" panose="02010600030101010101" pitchFamily="2" charset="-122"/>
              </a:rPr>
              <a:t>巴特沃思低通原型的</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。取</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，查表</a:t>
            </a:r>
            <a:r>
              <a:rPr lang="en-US" altLang="zh-CN" dirty="0">
                <a:latin typeface="Times New Roman" panose="02020603050405020304" pitchFamily="18" charset="0"/>
                <a:ea typeface="宋体" panose="02010600030101010101" pitchFamily="2" charset="-122"/>
              </a:rPr>
              <a:t>5-2</a:t>
            </a:r>
            <a:r>
              <a:rPr lang="zh-CN" altLang="en-US" dirty="0">
                <a:latin typeface="Times New Roman" panose="02020603050405020304" pitchFamily="18" charset="0"/>
                <a:ea typeface="宋体" panose="02010600030101010101" pitchFamily="2" charset="-122"/>
              </a:rPr>
              <a:t>可得</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graphicFrame>
        <p:nvGraphicFramePr>
          <p:cNvPr id="130050" name="对象 126980"/>
          <p:cNvGraphicFramePr/>
          <p:nvPr/>
        </p:nvGraphicFramePr>
        <p:xfrm>
          <a:off x="2700338" y="2667000"/>
          <a:ext cx="4419600" cy="1123950"/>
        </p:xfrm>
        <a:graphic>
          <a:graphicData uri="http://schemas.openxmlformats.org/presentationml/2006/ole">
            <mc:AlternateContent xmlns:mc="http://schemas.openxmlformats.org/markup-compatibility/2006">
              <mc:Choice xmlns:v="urn:schemas-microsoft-com:vml" Requires="v">
                <p:oleObj spid="_x0000_s3225" name="" r:id="rId1" imgW="1548765" imgH="393700" progId="Equation.3">
                  <p:embed/>
                </p:oleObj>
              </mc:Choice>
              <mc:Fallback>
                <p:oleObj name="" r:id="rId1" imgW="1548765" imgH="393700" progId="Equation.3">
                  <p:embed/>
                  <p:pic>
                    <p:nvPicPr>
                      <p:cNvPr id="0" name="图片 3224"/>
                      <p:cNvPicPr/>
                      <p:nvPr/>
                    </p:nvPicPr>
                    <p:blipFill>
                      <a:blip r:embed="rId2"/>
                      <a:stretch>
                        <a:fillRect/>
                      </a:stretch>
                    </p:blipFill>
                    <p:spPr>
                      <a:xfrm>
                        <a:off x="2700338" y="2667000"/>
                        <a:ext cx="4419600" cy="1123950"/>
                      </a:xfrm>
                      <a:prstGeom prst="rect">
                        <a:avLst/>
                      </a:prstGeom>
                      <a:noFill/>
                      <a:ln w="38100">
                        <a:noFill/>
                        <a:miter/>
                      </a:ln>
                    </p:spPr>
                  </p:pic>
                </p:oleObj>
              </mc:Fallback>
            </mc:AlternateContent>
          </a:graphicData>
        </a:graphic>
      </p:graphicFrame>
    </p:spTree>
  </p:cSld>
  <p:clrMapOvr>
    <a:masterClrMapping/>
  </p:clrMapOvr>
  <p:transition>
    <p:blinds/>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31073" name="对象 125955"/>
          <p:cNvGraphicFramePr/>
          <p:nvPr/>
        </p:nvGraphicFramePr>
        <p:xfrm>
          <a:off x="-406082" y="1097757"/>
          <a:ext cx="9623425" cy="3680460"/>
        </p:xfrm>
        <a:graphic>
          <a:graphicData uri="http://schemas.openxmlformats.org/presentationml/2006/ole">
            <mc:AlternateContent xmlns:mc="http://schemas.openxmlformats.org/markup-compatibility/2006">
              <mc:Choice xmlns:v="urn:schemas-microsoft-com:vml" Requires="v">
                <p:oleObj spid="_x0000_s3231" name="" r:id="rId1" imgW="5346065" imgH="2044700" progId="Equation.3">
                  <p:embed/>
                </p:oleObj>
              </mc:Choice>
              <mc:Fallback>
                <p:oleObj name="" r:id="rId1" imgW="5346065" imgH="2044700" progId="Equation.3">
                  <p:embed/>
                  <p:pic>
                    <p:nvPicPr>
                      <p:cNvPr id="0" name="图片 3230"/>
                      <p:cNvPicPr/>
                      <p:nvPr/>
                    </p:nvPicPr>
                    <p:blipFill>
                      <a:blip r:embed="rId2"/>
                      <a:stretch>
                        <a:fillRect/>
                      </a:stretch>
                    </p:blipFill>
                    <p:spPr>
                      <a:xfrm>
                        <a:off x="-406082" y="1097757"/>
                        <a:ext cx="9623425" cy="3680460"/>
                      </a:xfrm>
                      <a:prstGeom prst="rect">
                        <a:avLst/>
                      </a:prstGeom>
                      <a:noFill/>
                      <a:ln w="38100">
                        <a:noFill/>
                        <a:miter/>
                      </a:ln>
                    </p:spPr>
                  </p:pic>
                </p:oleObj>
              </mc:Fallback>
            </mc:AlternateContent>
          </a:graphicData>
        </a:graphic>
      </p:graphicFrame>
      <p:sp>
        <p:nvSpPr>
          <p:cNvPr id="131074" name="文本框 125956"/>
          <p:cNvSpPr txBox="1"/>
          <p:nvPr/>
        </p:nvSpPr>
        <p:spPr>
          <a:xfrm>
            <a:off x="546100" y="501650"/>
            <a:ext cx="6289675"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6</a:t>
            </a:r>
            <a:r>
              <a:rPr lang="zh-CN" altLang="en-US" dirty="0">
                <a:latin typeface="Times New Roman" panose="02020603050405020304" pitchFamily="18" charset="0"/>
                <a:ea typeface="宋体" panose="02010600030101010101" pitchFamily="2" charset="-122"/>
              </a:rPr>
              <a:t>） 求数字高通滤波器的系统函数</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 有 </a:t>
            </a:r>
            <a:endParaRPr lang="zh-CN" altLang="en-US">
              <a:latin typeface="Times New Roman" panose="02020603050405020304" pitchFamily="18" charset="0"/>
              <a:ea typeface="宋体" panose="02010600030101010101" pitchFamily="2" charset="-122"/>
            </a:endParaRPr>
          </a:p>
        </p:txBody>
      </p:sp>
      <p:sp>
        <p:nvSpPr>
          <p:cNvPr id="131075" name="文本框 125957"/>
          <p:cNvSpPr txBox="1"/>
          <p:nvPr/>
        </p:nvSpPr>
        <p:spPr>
          <a:xfrm>
            <a:off x="136525" y="4916488"/>
            <a:ext cx="2673350" cy="457200"/>
          </a:xfrm>
          <a:prstGeom prst="rect">
            <a:avLst/>
          </a:prstGeom>
          <a:noFill/>
          <a:ln w="9525">
            <a:noFill/>
          </a:ln>
        </p:spPr>
        <p:txBody>
          <a:bodyPr wrap="none" anchor="t">
            <a:spAutoFit/>
          </a:bodyPr>
          <a:p>
            <a:r>
              <a:rPr lang="zh-CN" altLang="en-US">
                <a:latin typeface="Times New Roman" panose="02020603050405020304" pitchFamily="18" charset="0"/>
                <a:ea typeface="宋体" panose="02010600030101010101" pitchFamily="2" charset="-122"/>
              </a:rPr>
              <a:t>将</a:t>
            </a:r>
            <a:r>
              <a:rPr lang="en-US" altLang="zh-CN" i="1">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代入， 可求得 </a:t>
            </a:r>
            <a:endParaRPr lang="zh-CN" altLang="en-US">
              <a:latin typeface="Times New Roman" panose="02020603050405020304" pitchFamily="18" charset="0"/>
              <a:ea typeface="宋体" panose="02010600030101010101" pitchFamily="2" charset="-122"/>
            </a:endParaRPr>
          </a:p>
        </p:txBody>
      </p:sp>
      <p:graphicFrame>
        <p:nvGraphicFramePr>
          <p:cNvPr id="131076" name="对象 125958"/>
          <p:cNvGraphicFramePr/>
          <p:nvPr/>
        </p:nvGraphicFramePr>
        <p:xfrm>
          <a:off x="457200" y="5181600"/>
          <a:ext cx="8686800" cy="1096963"/>
        </p:xfrm>
        <a:graphic>
          <a:graphicData uri="http://schemas.openxmlformats.org/presentationml/2006/ole">
            <mc:AlternateContent xmlns:mc="http://schemas.openxmlformats.org/markup-compatibility/2006">
              <mc:Choice xmlns:v="urn:schemas-microsoft-com:vml" Requires="v">
                <p:oleObj spid="_x0000_s3232" name="" r:id="rId3" imgW="3820795" imgH="482600" progId="Equation.3">
                  <p:embed/>
                </p:oleObj>
              </mc:Choice>
              <mc:Fallback>
                <p:oleObj name="" r:id="rId3" imgW="3820795" imgH="482600" progId="Equation.3">
                  <p:embed/>
                  <p:pic>
                    <p:nvPicPr>
                      <p:cNvPr id="0" name="图片 3231"/>
                      <p:cNvPicPr/>
                      <p:nvPr/>
                    </p:nvPicPr>
                    <p:blipFill>
                      <a:blip r:embed="rId4"/>
                      <a:stretch>
                        <a:fillRect/>
                      </a:stretch>
                    </p:blipFill>
                    <p:spPr>
                      <a:xfrm>
                        <a:off x="457200" y="5181600"/>
                        <a:ext cx="8686800" cy="1096963"/>
                      </a:xfrm>
                      <a:prstGeom prst="rect">
                        <a:avLst/>
                      </a:prstGeom>
                      <a:noFill/>
                      <a:ln w="38100">
                        <a:noFill/>
                        <a:miter/>
                      </a:ln>
                    </p:spPr>
                  </p:pic>
                </p:oleObj>
              </mc:Fallback>
            </mc:AlternateContent>
          </a:graphicData>
        </a:graphic>
      </p:graphicFrame>
    </p:spTree>
  </p:cSld>
  <p:clrMapOvr>
    <a:masterClrMapping/>
  </p:clrMapOvr>
  <p:transition>
    <p:blinds/>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文本框 124931"/>
          <p:cNvSpPr txBox="1"/>
          <p:nvPr/>
        </p:nvSpPr>
        <p:spPr>
          <a:xfrm>
            <a:off x="228600" y="671513"/>
            <a:ext cx="8686800" cy="1004887"/>
          </a:xfrm>
          <a:prstGeom prst="rect">
            <a:avLst/>
          </a:prstGeom>
          <a:noFill/>
          <a:ln w="9525">
            <a:noFill/>
          </a:ln>
        </p:spPr>
        <p:txBody>
          <a:bodyPr anchor="t">
            <a:spAutoFit/>
          </a:bodyPr>
          <a:p>
            <a:pPr algn="just">
              <a:spcBef>
                <a:spcPct val="50000"/>
              </a:spcBef>
            </a:pPr>
            <a:r>
              <a:rPr lang="en-US" altLang="zh-CN" b="1" dirty="0">
                <a:solidFill>
                  <a:srgbClr val="FF0000"/>
                </a:solidFill>
                <a:latin typeface="Times New Roman" panose="02020603050405020304" pitchFamily="18" charset="0"/>
                <a:ea typeface="宋体" panose="02010600030101010101" pitchFamily="2" charset="-122"/>
              </a:rPr>
              <a:t>5.6.3 </a:t>
            </a:r>
            <a:r>
              <a:rPr lang="zh-CN" altLang="en-US" b="1" dirty="0">
                <a:solidFill>
                  <a:srgbClr val="FF0000"/>
                </a:solidFill>
                <a:latin typeface="Times New Roman" panose="02020603050405020304" pitchFamily="18" charset="0"/>
                <a:ea typeface="宋体" panose="02010600030101010101" pitchFamily="2" charset="-122"/>
              </a:rPr>
              <a:t>模拟低通滤波器变换成数字带通滤波器</a:t>
            </a:r>
            <a:endParaRPr lang="zh-CN" altLang="en-US">
              <a:latin typeface="Times New Roman" panose="02020603050405020304" pitchFamily="18" charset="0"/>
              <a:ea typeface="宋体" panose="02010600030101010101" pitchFamily="2" charset="-122"/>
            </a:endParaRPr>
          </a:p>
          <a:p>
            <a:pPr>
              <a:spcBef>
                <a:spcPct val="50000"/>
              </a:spcBef>
            </a:pPr>
            <a:r>
              <a:rPr lang="zh-CN" altLang="en-US" dirty="0">
                <a:latin typeface="Times New Roman" panose="02020603050405020304" pitchFamily="18" charset="0"/>
                <a:ea typeface="宋体" panose="02010600030101010101" pitchFamily="2" charset="-122"/>
              </a:rPr>
              <a:t>      由表</a:t>
            </a:r>
            <a:r>
              <a:rPr lang="en-US" altLang="zh-CN" dirty="0">
                <a:latin typeface="Times New Roman" panose="02020603050405020304" pitchFamily="18" charset="0"/>
                <a:ea typeface="宋体" panose="02010600030101010101" pitchFamily="2" charset="-122"/>
              </a:rPr>
              <a:t>5-3</a:t>
            </a:r>
            <a:r>
              <a:rPr lang="zh-CN" altLang="en-US" dirty="0">
                <a:latin typeface="Times New Roman" panose="02020603050405020304" pitchFamily="18" charset="0"/>
                <a:ea typeface="宋体" panose="02010600030101010101" pitchFamily="2" charset="-122"/>
              </a:rPr>
              <a:t>可知， 由低通模拟原型到模拟高通的变换关系为 </a:t>
            </a:r>
            <a:endParaRPr lang="zh-CN" altLang="en-US">
              <a:latin typeface="Times New Roman" panose="02020603050405020304" pitchFamily="18" charset="0"/>
              <a:ea typeface="宋体" panose="02010600030101010101" pitchFamily="2" charset="-122"/>
            </a:endParaRPr>
          </a:p>
        </p:txBody>
      </p:sp>
      <p:graphicFrame>
        <p:nvGraphicFramePr>
          <p:cNvPr id="132098" name="对象 124932"/>
          <p:cNvGraphicFramePr/>
          <p:nvPr/>
        </p:nvGraphicFramePr>
        <p:xfrm>
          <a:off x="2819400" y="1676400"/>
          <a:ext cx="2895600" cy="1085850"/>
        </p:xfrm>
        <a:graphic>
          <a:graphicData uri="http://schemas.openxmlformats.org/presentationml/2006/ole">
            <mc:AlternateContent xmlns:mc="http://schemas.openxmlformats.org/markup-compatibility/2006">
              <mc:Choice xmlns:v="urn:schemas-microsoft-com:vml" Requires="v">
                <p:oleObj spid="_x0000_s3241" name="" r:id="rId1" imgW="1219200" imgH="457200" progId="Equation.3">
                  <p:embed/>
                </p:oleObj>
              </mc:Choice>
              <mc:Fallback>
                <p:oleObj name="" r:id="rId1" imgW="1219200" imgH="457200" progId="Equation.3">
                  <p:embed/>
                  <p:pic>
                    <p:nvPicPr>
                      <p:cNvPr id="0" name="图片 3240"/>
                      <p:cNvPicPr/>
                      <p:nvPr/>
                    </p:nvPicPr>
                    <p:blipFill>
                      <a:blip r:embed="rId2"/>
                      <a:stretch>
                        <a:fillRect/>
                      </a:stretch>
                    </p:blipFill>
                    <p:spPr>
                      <a:xfrm>
                        <a:off x="2819400" y="1676400"/>
                        <a:ext cx="2895600" cy="1085850"/>
                      </a:xfrm>
                      <a:prstGeom prst="rect">
                        <a:avLst/>
                      </a:prstGeom>
                      <a:solidFill>
                        <a:schemeClr val="accent1"/>
                      </a:solidFill>
                      <a:ln w="38100">
                        <a:noFill/>
                        <a:miter/>
                      </a:ln>
                    </p:spPr>
                  </p:pic>
                </p:oleObj>
              </mc:Fallback>
            </mc:AlternateContent>
          </a:graphicData>
        </a:graphic>
      </p:graphicFrame>
      <p:sp>
        <p:nvSpPr>
          <p:cNvPr id="132099" name="文本框 124933"/>
          <p:cNvSpPr txBox="1"/>
          <p:nvPr/>
        </p:nvSpPr>
        <p:spPr>
          <a:xfrm>
            <a:off x="7176770" y="2143125"/>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5-57</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32100" name="文本框 124934"/>
          <p:cNvSpPr txBox="1"/>
          <p:nvPr/>
        </p:nvSpPr>
        <p:spPr>
          <a:xfrm>
            <a:off x="323850" y="2743200"/>
            <a:ext cx="8520113" cy="2312035"/>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为模拟低通滤波器的截止频率，</a:t>
            </a:r>
            <a:r>
              <a:rPr lang="en-US" altLang="zh-CN" i="1">
                <a:sym typeface="+mn-ea"/>
              </a:rPr>
              <a:t>Ω</a:t>
            </a:r>
            <a:r>
              <a:rPr lang="en-US" altLang="zh-CN" baseline="-25000">
                <a:sym typeface="+mn-ea"/>
              </a:rPr>
              <a:t>h</a:t>
            </a:r>
            <a:r>
              <a:rPr lang="zh-CN" altLang="en-US" baseline="-25000">
                <a:sym typeface="+mn-ea"/>
              </a:rPr>
              <a:t>、</a:t>
            </a:r>
            <a:r>
              <a:rPr lang="en-US" altLang="zh-CN" i="1">
                <a:sym typeface="+mn-ea"/>
              </a:rPr>
              <a:t>Ω</a:t>
            </a:r>
            <a:r>
              <a:rPr lang="en-US" altLang="zh-CN" baseline="-25000">
                <a:sym typeface="+mn-ea"/>
              </a:rPr>
              <a:t>l</a:t>
            </a:r>
            <a:r>
              <a:rPr lang="zh-CN" altLang="en-US" dirty="0">
                <a:latin typeface="Times New Roman" panose="02020603050405020304" pitchFamily="18" charset="0"/>
                <a:ea typeface="宋体" panose="02010600030101010101" pitchFamily="2" charset="-122"/>
              </a:rPr>
              <a:t>分别为实际带通滤波器的通带上、下截止频率。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根据双线性变换，模拟带通与数字带通之间的</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平面与</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平面的关系仍为</a:t>
            </a:r>
            <a:endParaRPr lang="zh-CN" altLang="en-US">
              <a:latin typeface="Times New Roman" panose="02020603050405020304" pitchFamily="18" charset="0"/>
              <a:ea typeface="宋体" panose="02010600030101010101" pitchFamily="2" charset="-122"/>
            </a:endParaRPr>
          </a:p>
        </p:txBody>
      </p:sp>
      <p:graphicFrame>
        <p:nvGraphicFramePr>
          <p:cNvPr id="132101" name="对象 124935"/>
          <p:cNvGraphicFramePr/>
          <p:nvPr/>
        </p:nvGraphicFramePr>
        <p:xfrm>
          <a:off x="3419475" y="4797425"/>
          <a:ext cx="2286000" cy="1179513"/>
        </p:xfrm>
        <a:graphic>
          <a:graphicData uri="http://schemas.openxmlformats.org/presentationml/2006/ole">
            <mc:AlternateContent xmlns:mc="http://schemas.openxmlformats.org/markup-compatibility/2006">
              <mc:Choice xmlns:v="urn:schemas-microsoft-com:vml" Requires="v">
                <p:oleObj spid="_x0000_s3239" name="" r:id="rId3" imgW="812165" imgH="419100" progId="Equation.3">
                  <p:embed/>
                </p:oleObj>
              </mc:Choice>
              <mc:Fallback>
                <p:oleObj name="" r:id="rId3" imgW="812165" imgH="419100" progId="Equation.3">
                  <p:embed/>
                  <p:pic>
                    <p:nvPicPr>
                      <p:cNvPr id="0" name="图片 3238"/>
                      <p:cNvPicPr/>
                      <p:nvPr/>
                    </p:nvPicPr>
                    <p:blipFill>
                      <a:blip r:embed="rId4"/>
                      <a:stretch>
                        <a:fillRect/>
                      </a:stretch>
                    </p:blipFill>
                    <p:spPr>
                      <a:xfrm>
                        <a:off x="3419475" y="4797425"/>
                        <a:ext cx="2286000" cy="1179513"/>
                      </a:xfrm>
                      <a:prstGeom prst="rect">
                        <a:avLst/>
                      </a:prstGeom>
                      <a:solidFill>
                        <a:schemeClr val="accent1"/>
                      </a:solidFill>
                      <a:ln w="38100">
                        <a:noFill/>
                        <a:miter/>
                      </a:ln>
                    </p:spPr>
                  </p:pic>
                </p:oleObj>
              </mc:Fallback>
            </mc:AlternateContent>
          </a:graphicData>
        </a:graphic>
      </p:graphicFrame>
      <p:sp>
        <p:nvSpPr>
          <p:cNvPr id="132102" name="文本框 124936"/>
          <p:cNvSpPr txBox="1"/>
          <p:nvPr/>
        </p:nvSpPr>
        <p:spPr>
          <a:xfrm>
            <a:off x="7415530" y="5311775"/>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5-58</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1" name="文本框 129027"/>
          <p:cNvSpPr txBox="1"/>
          <p:nvPr/>
        </p:nvSpPr>
        <p:spPr>
          <a:xfrm>
            <a:off x="228600" y="533400"/>
            <a:ext cx="8763000" cy="1601788"/>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把变换式（</a:t>
            </a:r>
            <a:r>
              <a:rPr lang="en-US" altLang="zh-CN" dirty="0">
                <a:latin typeface="Times New Roman" panose="02020603050405020304" pitchFamily="18" charset="0"/>
                <a:ea typeface="宋体" panose="02010600030101010101" pitchFamily="2" charset="-122"/>
              </a:rPr>
              <a:t>5-57</a:t>
            </a:r>
            <a:r>
              <a:rPr lang="zh-CN" altLang="en-US" dirty="0">
                <a:latin typeface="Times New Roman" panose="02020603050405020304" pitchFamily="18" charset="0"/>
                <a:ea typeface="宋体" panose="02010600030101010101" pitchFamily="2" charset="-122"/>
              </a:rPr>
              <a:t>）和变换式（</a:t>
            </a:r>
            <a:r>
              <a:rPr lang="en-US" altLang="zh-CN" dirty="0">
                <a:latin typeface="Times New Roman" panose="02020603050405020304" pitchFamily="18" charset="0"/>
                <a:ea typeface="宋体" panose="02010600030101010101" pitchFamily="2" charset="-122"/>
              </a:rPr>
              <a:t>5-58</a:t>
            </a:r>
            <a:r>
              <a:rPr lang="zh-CN" altLang="en-US" dirty="0">
                <a:latin typeface="Times New Roman" panose="02020603050405020304" pitchFamily="18" charset="0"/>
                <a:ea typeface="宋体" panose="02010600030101010101" pitchFamily="2" charset="-122"/>
              </a:rPr>
              <a:t>）结合起来，可得到直接从模拟低通原</a:t>
            </a:r>
            <a:r>
              <a:rPr lang="zh-CN" altLang="en-US" dirty="0">
                <a:latin typeface="Times New Roman" panose="02020603050405020304" pitchFamily="18" charset="0"/>
                <a:ea typeface="宋体" panose="02010600030101010101" pitchFamily="2" charset="-122"/>
              </a:rPr>
              <a:t>型变换成数字带通滤波器的表达式，也就是直接联系</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与</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之间的变换公式 </a:t>
            </a:r>
            <a:endParaRPr lang="zh-CN" altLang="en-US">
              <a:latin typeface="Times New Roman" panose="02020603050405020304" pitchFamily="18" charset="0"/>
              <a:ea typeface="宋体" panose="02010600030101010101" pitchFamily="2" charset="-122"/>
            </a:endParaRPr>
          </a:p>
        </p:txBody>
      </p:sp>
      <p:graphicFrame>
        <p:nvGraphicFramePr>
          <p:cNvPr id="133122" name="对象 129028"/>
          <p:cNvGraphicFramePr/>
          <p:nvPr/>
        </p:nvGraphicFramePr>
        <p:xfrm>
          <a:off x="2667000" y="2090738"/>
          <a:ext cx="3886200" cy="1985962"/>
        </p:xfrm>
        <a:graphic>
          <a:graphicData uri="http://schemas.openxmlformats.org/presentationml/2006/ole">
            <mc:AlternateContent xmlns:mc="http://schemas.openxmlformats.org/markup-compatibility/2006">
              <mc:Choice xmlns:v="urn:schemas-microsoft-com:vml" Requires="v">
                <p:oleObj spid="_x0000_s3237" name="" r:id="rId1" imgW="1714500" imgH="876300" progId="Equation.3">
                  <p:embed/>
                </p:oleObj>
              </mc:Choice>
              <mc:Fallback>
                <p:oleObj name="" r:id="rId1" imgW="1714500" imgH="876300" progId="Equation.3">
                  <p:embed/>
                  <p:pic>
                    <p:nvPicPr>
                      <p:cNvPr id="0" name="图片 3236"/>
                      <p:cNvPicPr/>
                      <p:nvPr/>
                    </p:nvPicPr>
                    <p:blipFill>
                      <a:blip r:embed="rId2"/>
                      <a:stretch>
                        <a:fillRect/>
                      </a:stretch>
                    </p:blipFill>
                    <p:spPr>
                      <a:xfrm>
                        <a:off x="2667000" y="2090738"/>
                        <a:ext cx="3886200" cy="1985962"/>
                      </a:xfrm>
                      <a:prstGeom prst="rect">
                        <a:avLst/>
                      </a:prstGeom>
                      <a:noFill/>
                      <a:ln w="38100">
                        <a:noFill/>
                        <a:miter/>
                      </a:ln>
                    </p:spPr>
                  </p:pic>
                </p:oleObj>
              </mc:Fallback>
            </mc:AlternateContent>
          </a:graphicData>
        </a:graphic>
      </p:graphicFrame>
      <p:sp>
        <p:nvSpPr>
          <p:cNvPr id="133123" name="文本框 129029"/>
          <p:cNvSpPr txBox="1"/>
          <p:nvPr/>
        </p:nvSpPr>
        <p:spPr>
          <a:xfrm>
            <a:off x="304800" y="4267200"/>
            <a:ext cx="1784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经推导后得 </a:t>
            </a:r>
            <a:endParaRPr lang="zh-CN" altLang="en-US">
              <a:latin typeface="Times New Roman" panose="02020603050405020304" pitchFamily="18" charset="0"/>
              <a:ea typeface="宋体" panose="02010600030101010101" pitchFamily="2" charset="-122"/>
            </a:endParaRPr>
          </a:p>
        </p:txBody>
      </p:sp>
      <p:graphicFrame>
        <p:nvGraphicFramePr>
          <p:cNvPr id="133124" name="对象 129030"/>
          <p:cNvGraphicFramePr/>
          <p:nvPr/>
        </p:nvGraphicFramePr>
        <p:xfrm>
          <a:off x="2798763" y="4724400"/>
          <a:ext cx="3429000" cy="1241425"/>
        </p:xfrm>
        <a:graphic>
          <a:graphicData uri="http://schemas.openxmlformats.org/presentationml/2006/ole">
            <mc:AlternateContent xmlns:mc="http://schemas.openxmlformats.org/markup-compatibility/2006">
              <mc:Choice xmlns:v="urn:schemas-microsoft-com:vml" Requires="v">
                <p:oleObj spid="_x0000_s3233" name="" r:id="rId3" imgW="1332865" imgH="482600" progId="Equation.3">
                  <p:embed/>
                </p:oleObj>
              </mc:Choice>
              <mc:Fallback>
                <p:oleObj name="" r:id="rId3" imgW="1332865" imgH="482600" progId="Equation.3">
                  <p:embed/>
                  <p:pic>
                    <p:nvPicPr>
                      <p:cNvPr id="0" name="图片 3232"/>
                      <p:cNvPicPr/>
                      <p:nvPr/>
                    </p:nvPicPr>
                    <p:blipFill>
                      <a:blip r:embed="rId4"/>
                      <a:stretch>
                        <a:fillRect/>
                      </a:stretch>
                    </p:blipFill>
                    <p:spPr>
                      <a:xfrm>
                        <a:off x="2798763" y="4724400"/>
                        <a:ext cx="3429000" cy="1241425"/>
                      </a:xfrm>
                      <a:prstGeom prst="rect">
                        <a:avLst/>
                      </a:prstGeom>
                      <a:noFill/>
                      <a:ln w="38100">
                        <a:noFill/>
                        <a:miter/>
                      </a:ln>
                    </p:spPr>
                  </p:pic>
                </p:oleObj>
              </mc:Fallback>
            </mc:AlternateContent>
          </a:graphicData>
        </a:graphic>
      </p:graphicFrame>
      <p:sp>
        <p:nvSpPr>
          <p:cNvPr id="133125" name="文本框 129031"/>
          <p:cNvSpPr txBox="1"/>
          <p:nvPr/>
        </p:nvSpPr>
        <p:spPr>
          <a:xfrm>
            <a:off x="7019925" y="5203825"/>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5-59</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5" name="文本框 128003"/>
          <p:cNvSpPr txBox="1"/>
          <p:nvPr/>
        </p:nvSpPr>
        <p:spPr>
          <a:xfrm>
            <a:off x="457200" y="762000"/>
            <a:ext cx="869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 </a:t>
            </a:r>
            <a:endParaRPr lang="zh-CN" altLang="en-US">
              <a:latin typeface="Times New Roman" panose="02020603050405020304" pitchFamily="18" charset="0"/>
              <a:ea typeface="宋体" panose="02010600030101010101" pitchFamily="2" charset="-122"/>
            </a:endParaRPr>
          </a:p>
        </p:txBody>
      </p:sp>
      <p:graphicFrame>
        <p:nvGraphicFramePr>
          <p:cNvPr id="134146" name="对象 128004"/>
          <p:cNvGraphicFramePr/>
          <p:nvPr/>
        </p:nvGraphicFramePr>
        <p:xfrm>
          <a:off x="2909888" y="666750"/>
          <a:ext cx="3171825" cy="1457325"/>
        </p:xfrm>
        <a:graphic>
          <a:graphicData uri="http://schemas.openxmlformats.org/presentationml/2006/ole">
            <mc:AlternateContent xmlns:mc="http://schemas.openxmlformats.org/markup-compatibility/2006">
              <mc:Choice xmlns:v="urn:schemas-microsoft-com:vml" Requires="v">
                <p:oleObj spid="_x0000_s3234" name="" r:id="rId1" imgW="1409700" imgH="647700" progId="Equation.3">
                  <p:embed/>
                </p:oleObj>
              </mc:Choice>
              <mc:Fallback>
                <p:oleObj name="" r:id="rId1" imgW="1409700" imgH="647700" progId="Equation.3">
                  <p:embed/>
                  <p:pic>
                    <p:nvPicPr>
                      <p:cNvPr id="0" name="图片 3233"/>
                      <p:cNvPicPr/>
                      <p:nvPr/>
                    </p:nvPicPr>
                    <p:blipFill>
                      <a:blip r:embed="rId2"/>
                      <a:stretch>
                        <a:fillRect/>
                      </a:stretch>
                    </p:blipFill>
                    <p:spPr>
                      <a:xfrm>
                        <a:off x="2909888" y="666750"/>
                        <a:ext cx="3171825" cy="1457325"/>
                      </a:xfrm>
                      <a:prstGeom prst="rect">
                        <a:avLst/>
                      </a:prstGeom>
                      <a:noFill/>
                      <a:ln w="38100">
                        <a:noFill/>
                        <a:miter/>
                      </a:ln>
                    </p:spPr>
                  </p:pic>
                </p:oleObj>
              </mc:Fallback>
            </mc:AlternateContent>
          </a:graphicData>
        </a:graphic>
      </p:graphicFrame>
      <p:sp>
        <p:nvSpPr>
          <p:cNvPr id="134147" name="文本框 128005"/>
          <p:cNvSpPr txBox="1"/>
          <p:nvPr/>
        </p:nvSpPr>
        <p:spPr>
          <a:xfrm>
            <a:off x="7086600" y="135255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5-60</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graphicFrame>
        <p:nvGraphicFramePr>
          <p:cNvPr id="134148" name="对象 128006"/>
          <p:cNvGraphicFramePr/>
          <p:nvPr/>
        </p:nvGraphicFramePr>
        <p:xfrm>
          <a:off x="3276600" y="2466975"/>
          <a:ext cx="2743200" cy="2057400"/>
        </p:xfrm>
        <a:graphic>
          <a:graphicData uri="http://schemas.openxmlformats.org/presentationml/2006/ole">
            <mc:AlternateContent xmlns:mc="http://schemas.openxmlformats.org/markup-compatibility/2006">
              <mc:Choice xmlns:v="urn:schemas-microsoft-com:vml" Requires="v">
                <p:oleObj spid="_x0000_s3236" name="" r:id="rId3" imgW="1219200" imgH="914400" progId="Equation.3">
                  <p:embed/>
                </p:oleObj>
              </mc:Choice>
              <mc:Fallback>
                <p:oleObj name="" r:id="rId3" imgW="1219200" imgH="914400" progId="Equation.3">
                  <p:embed/>
                  <p:pic>
                    <p:nvPicPr>
                      <p:cNvPr id="0" name="图片 3235"/>
                      <p:cNvPicPr/>
                      <p:nvPr/>
                    </p:nvPicPr>
                    <p:blipFill>
                      <a:blip r:embed="rId4"/>
                      <a:stretch>
                        <a:fillRect/>
                      </a:stretch>
                    </p:blipFill>
                    <p:spPr>
                      <a:xfrm>
                        <a:off x="3276600" y="2466975"/>
                        <a:ext cx="2743200" cy="2057400"/>
                      </a:xfrm>
                      <a:prstGeom prst="rect">
                        <a:avLst/>
                      </a:prstGeom>
                      <a:noFill/>
                      <a:ln w="38100">
                        <a:noFill/>
                        <a:miter/>
                      </a:ln>
                    </p:spPr>
                  </p:pic>
                </p:oleObj>
              </mc:Fallback>
            </mc:AlternateContent>
          </a:graphicData>
        </a:graphic>
      </p:graphicFrame>
      <p:sp>
        <p:nvSpPr>
          <p:cNvPr id="134149" name="文本框 128007"/>
          <p:cNvSpPr txBox="1"/>
          <p:nvPr/>
        </p:nvSpPr>
        <p:spPr>
          <a:xfrm>
            <a:off x="7239000" y="325755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5-61</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34150" name="文本框 128008"/>
          <p:cNvSpPr txBox="1"/>
          <p:nvPr/>
        </p:nvSpPr>
        <p:spPr>
          <a:xfrm>
            <a:off x="228600" y="4537075"/>
            <a:ext cx="8794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根据双线性变换，模拟带通频率与数字带通频率之间的关系仍为 </a:t>
            </a:r>
            <a:endParaRPr lang="zh-CN" altLang="en-US">
              <a:latin typeface="Times New Roman" panose="02020603050405020304" pitchFamily="18" charset="0"/>
              <a:ea typeface="宋体" panose="02010600030101010101" pitchFamily="2" charset="-122"/>
            </a:endParaRPr>
          </a:p>
        </p:txBody>
      </p:sp>
      <p:graphicFrame>
        <p:nvGraphicFramePr>
          <p:cNvPr id="134151" name="对象 128009"/>
          <p:cNvGraphicFramePr/>
          <p:nvPr/>
        </p:nvGraphicFramePr>
        <p:xfrm>
          <a:off x="3276600" y="5105400"/>
          <a:ext cx="2514600" cy="1155700"/>
        </p:xfrm>
        <a:graphic>
          <a:graphicData uri="http://schemas.openxmlformats.org/presentationml/2006/ole">
            <mc:AlternateContent xmlns:mc="http://schemas.openxmlformats.org/markup-compatibility/2006">
              <mc:Choice xmlns:v="urn:schemas-microsoft-com:vml" Requires="v">
                <p:oleObj spid="_x0000_s3238" name="" r:id="rId5" imgW="939165" imgH="431800" progId="Equation.3">
                  <p:embed/>
                </p:oleObj>
              </mc:Choice>
              <mc:Fallback>
                <p:oleObj name="" r:id="rId5" imgW="939165" imgH="431800" progId="Equation.3">
                  <p:embed/>
                  <p:pic>
                    <p:nvPicPr>
                      <p:cNvPr id="0" name="图片 3237"/>
                      <p:cNvPicPr/>
                      <p:nvPr/>
                    </p:nvPicPr>
                    <p:blipFill>
                      <a:blip r:embed="rId6"/>
                      <a:stretch>
                        <a:fillRect/>
                      </a:stretch>
                    </p:blipFill>
                    <p:spPr>
                      <a:xfrm>
                        <a:off x="3276600" y="5105400"/>
                        <a:ext cx="2514600" cy="1155700"/>
                      </a:xfrm>
                      <a:prstGeom prst="rect">
                        <a:avLst/>
                      </a:prstGeom>
                      <a:noFill/>
                      <a:ln w="38100">
                        <a:noFill/>
                        <a:miter/>
                      </a:ln>
                    </p:spPr>
                  </p:pic>
                </p:oleObj>
              </mc:Fallback>
            </mc:AlternateContent>
          </a:graphicData>
        </a:graphic>
      </p:graphicFrame>
      <p:sp>
        <p:nvSpPr>
          <p:cNvPr id="134152" name="文本框 128010"/>
          <p:cNvSpPr txBox="1"/>
          <p:nvPr/>
        </p:nvSpPr>
        <p:spPr>
          <a:xfrm>
            <a:off x="7239000" y="54864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5-62</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69" name="文本框 131075"/>
          <p:cNvSpPr txBox="1"/>
          <p:nvPr/>
        </p:nvSpPr>
        <p:spPr>
          <a:xfrm>
            <a:off x="288925" y="727075"/>
            <a:ext cx="95408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定义</a:t>
            </a:r>
            <a:r>
              <a:rPr lang="en-US" altLang="zh-CN" dirty="0">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135170" name="对象 131076"/>
          <p:cNvGraphicFramePr/>
          <p:nvPr/>
        </p:nvGraphicFramePr>
        <p:xfrm>
          <a:off x="3581400" y="814388"/>
          <a:ext cx="1714500" cy="1038225"/>
        </p:xfrm>
        <a:graphic>
          <a:graphicData uri="http://schemas.openxmlformats.org/presentationml/2006/ole">
            <mc:AlternateContent xmlns:mc="http://schemas.openxmlformats.org/markup-compatibility/2006">
              <mc:Choice xmlns:v="urn:schemas-microsoft-com:vml" Requires="v">
                <p:oleObj spid="_x0000_s3240" name="" r:id="rId1" imgW="838200" imgH="508000" progId="Equation.3">
                  <p:embed/>
                </p:oleObj>
              </mc:Choice>
              <mc:Fallback>
                <p:oleObj name="" r:id="rId1" imgW="838200" imgH="508000" progId="Equation.3">
                  <p:embed/>
                  <p:pic>
                    <p:nvPicPr>
                      <p:cNvPr id="0" name="图片 3239"/>
                      <p:cNvPicPr/>
                      <p:nvPr/>
                    </p:nvPicPr>
                    <p:blipFill>
                      <a:blip r:embed="rId2"/>
                      <a:stretch>
                        <a:fillRect/>
                      </a:stretch>
                    </p:blipFill>
                    <p:spPr>
                      <a:xfrm>
                        <a:off x="3581400" y="814388"/>
                        <a:ext cx="1714500" cy="1038225"/>
                      </a:xfrm>
                      <a:prstGeom prst="rect">
                        <a:avLst/>
                      </a:prstGeom>
                      <a:noFill/>
                      <a:ln w="38100">
                        <a:noFill/>
                        <a:miter/>
                      </a:ln>
                    </p:spPr>
                  </p:pic>
                </p:oleObj>
              </mc:Fallback>
            </mc:AlternateContent>
          </a:graphicData>
        </a:graphic>
      </p:graphicFrame>
      <p:sp>
        <p:nvSpPr>
          <p:cNvPr id="135171" name="文本框 131077"/>
          <p:cNvSpPr txBox="1"/>
          <p:nvPr/>
        </p:nvSpPr>
        <p:spPr>
          <a:xfrm>
            <a:off x="228600" y="1752600"/>
            <a:ext cx="8763000" cy="2820988"/>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为带通滤波器通带的中心频率，</a:t>
            </a:r>
            <a:r>
              <a:rPr lang="en-US" altLang="zh-CN" i="1">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为带通滤波器的通带宽度。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设数字带通的中心频率为</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，数字带通滤波器的上、下边带的截止频率分别为</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，则将式（</a:t>
            </a:r>
            <a:r>
              <a:rPr lang="en-US" altLang="zh-CN" dirty="0">
                <a:latin typeface="Times New Roman" panose="02020603050405020304" pitchFamily="18" charset="0"/>
                <a:ea typeface="宋体" panose="02010600030101010101" pitchFamily="2" charset="-122"/>
              </a:rPr>
              <a:t>5-62</a:t>
            </a:r>
            <a:r>
              <a:rPr lang="zh-CN" altLang="en-US" dirty="0">
                <a:latin typeface="Times New Roman" panose="02020603050405020304" pitchFamily="18" charset="0"/>
                <a:ea typeface="宋体" panose="02010600030101010101" pitchFamily="2" charset="-122"/>
              </a:rPr>
              <a:t>）代入式（</a:t>
            </a:r>
            <a:r>
              <a:rPr lang="en-US" altLang="zh-CN" dirty="0">
                <a:latin typeface="Times New Roman" panose="02020603050405020304" pitchFamily="18" charset="0"/>
                <a:ea typeface="宋体" panose="02010600030101010101" pitchFamily="2" charset="-122"/>
              </a:rPr>
              <a:t>5-63</a:t>
            </a:r>
            <a:r>
              <a:rPr lang="zh-CN" altLang="en-US" dirty="0">
                <a:latin typeface="Times New Roman" panose="02020603050405020304" pitchFamily="18" charset="0"/>
                <a:ea typeface="宋体" panose="02010600030101010101" pitchFamily="2" charset="-122"/>
              </a:rPr>
              <a:t>）、 式（</a:t>
            </a:r>
            <a:r>
              <a:rPr lang="en-US" altLang="zh-CN" dirty="0">
                <a:latin typeface="Times New Roman" panose="02020603050405020304" pitchFamily="18" charset="0"/>
                <a:ea typeface="宋体" panose="02010600030101010101" pitchFamily="2" charset="-122"/>
              </a:rPr>
              <a:t>5-64</a:t>
            </a:r>
            <a:r>
              <a:rPr lang="zh-CN" altLang="en-US"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，可得</a:t>
            </a:r>
            <a:r>
              <a:rPr lang="en-US" altLang="zh-CN" dirty="0">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135172" name="对象 131078"/>
          <p:cNvGraphicFramePr/>
          <p:nvPr/>
        </p:nvGraphicFramePr>
        <p:xfrm>
          <a:off x="3124200" y="4191000"/>
          <a:ext cx="3962400" cy="2006600"/>
        </p:xfrm>
        <a:graphic>
          <a:graphicData uri="http://schemas.openxmlformats.org/presentationml/2006/ole">
            <mc:AlternateContent xmlns:mc="http://schemas.openxmlformats.org/markup-compatibility/2006">
              <mc:Choice xmlns:v="urn:schemas-microsoft-com:vml" Requires="v">
                <p:oleObj spid="_x0000_s3235" name="" r:id="rId3" imgW="1905000" imgH="965200" progId="Equation.3">
                  <p:embed/>
                </p:oleObj>
              </mc:Choice>
              <mc:Fallback>
                <p:oleObj name="" r:id="rId3" imgW="1905000" imgH="965200" progId="Equation.3">
                  <p:embed/>
                  <p:pic>
                    <p:nvPicPr>
                      <p:cNvPr id="0" name="图片 3234"/>
                      <p:cNvPicPr/>
                      <p:nvPr/>
                    </p:nvPicPr>
                    <p:blipFill>
                      <a:blip r:embed="rId4"/>
                      <a:stretch>
                        <a:fillRect/>
                      </a:stretch>
                    </p:blipFill>
                    <p:spPr>
                      <a:xfrm>
                        <a:off x="3124200" y="4191000"/>
                        <a:ext cx="3962400" cy="2006600"/>
                      </a:xfrm>
                      <a:prstGeom prst="rect">
                        <a:avLst/>
                      </a:prstGeom>
                      <a:noFill/>
                      <a:ln w="38100">
                        <a:noFill/>
                        <a:miter/>
                      </a:ln>
                    </p:spPr>
                  </p:pic>
                </p:oleObj>
              </mc:Fallback>
            </mc:AlternateContent>
          </a:graphicData>
        </a:graphic>
      </p:graphicFrame>
      <p:sp>
        <p:nvSpPr>
          <p:cNvPr id="135173" name="文本框 131079"/>
          <p:cNvSpPr txBox="1"/>
          <p:nvPr/>
        </p:nvSpPr>
        <p:spPr>
          <a:xfrm>
            <a:off x="7715250" y="44196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5-65</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35174" name="文本框 131080"/>
          <p:cNvSpPr txBox="1"/>
          <p:nvPr/>
        </p:nvSpPr>
        <p:spPr>
          <a:xfrm>
            <a:off x="7715250" y="54864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5-66</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35175" name="文本框 131081"/>
          <p:cNvSpPr txBox="1"/>
          <p:nvPr/>
        </p:nvSpPr>
        <p:spPr>
          <a:xfrm>
            <a:off x="7308850" y="739775"/>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5-63</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35176" name="文本框 131082"/>
          <p:cNvSpPr txBox="1"/>
          <p:nvPr/>
        </p:nvSpPr>
        <p:spPr>
          <a:xfrm>
            <a:off x="7319963" y="1387475"/>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5-64</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3" name="文本框 130051"/>
          <p:cNvSpPr txBox="1"/>
          <p:nvPr/>
        </p:nvSpPr>
        <p:spPr>
          <a:xfrm>
            <a:off x="365125" y="727075"/>
            <a:ext cx="8474075" cy="1098550"/>
          </a:xfrm>
          <a:prstGeom prst="rect">
            <a:avLst/>
          </a:prstGeom>
          <a:noFill/>
          <a:ln w="9525">
            <a:noFill/>
          </a:ln>
        </p:spPr>
        <p:txBody>
          <a:bodyPr anchor="t">
            <a:spAutoFit/>
          </a:bodyPr>
          <a:p>
            <a:pPr>
              <a:lnSpc>
                <a:spcPct val="138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考虑到模拟带通到数字带通是通带中心频率相对应的映射关系，则有 </a:t>
            </a:r>
            <a:endParaRPr lang="zh-CN" altLang="en-US">
              <a:latin typeface="Times New Roman" panose="02020603050405020304" pitchFamily="18" charset="0"/>
              <a:ea typeface="宋体" panose="02010600030101010101" pitchFamily="2" charset="-122"/>
            </a:endParaRPr>
          </a:p>
        </p:txBody>
      </p:sp>
      <p:graphicFrame>
        <p:nvGraphicFramePr>
          <p:cNvPr id="136194" name="对象 130052"/>
          <p:cNvGraphicFramePr/>
          <p:nvPr/>
        </p:nvGraphicFramePr>
        <p:xfrm>
          <a:off x="3200400" y="1524000"/>
          <a:ext cx="2197100" cy="911225"/>
        </p:xfrm>
        <a:graphic>
          <a:graphicData uri="http://schemas.openxmlformats.org/presentationml/2006/ole">
            <mc:AlternateContent xmlns:mc="http://schemas.openxmlformats.org/markup-compatibility/2006">
              <mc:Choice xmlns:v="urn:schemas-microsoft-com:vml" Requires="v">
                <p:oleObj spid="_x0000_s3244" name="" r:id="rId1" imgW="1040765" imgH="431800" progId="Equation.3">
                  <p:embed/>
                </p:oleObj>
              </mc:Choice>
              <mc:Fallback>
                <p:oleObj name="" r:id="rId1" imgW="1040765" imgH="431800" progId="Equation.3">
                  <p:embed/>
                  <p:pic>
                    <p:nvPicPr>
                      <p:cNvPr id="0" name="图片 3243"/>
                      <p:cNvPicPr/>
                      <p:nvPr/>
                    </p:nvPicPr>
                    <p:blipFill>
                      <a:blip r:embed="rId2"/>
                      <a:stretch>
                        <a:fillRect/>
                      </a:stretch>
                    </p:blipFill>
                    <p:spPr>
                      <a:xfrm>
                        <a:off x="3200400" y="1524000"/>
                        <a:ext cx="2197100" cy="911225"/>
                      </a:xfrm>
                      <a:prstGeom prst="rect">
                        <a:avLst/>
                      </a:prstGeom>
                      <a:noFill/>
                      <a:ln w="38100">
                        <a:noFill/>
                        <a:miter/>
                      </a:ln>
                    </p:spPr>
                  </p:pic>
                </p:oleObj>
              </mc:Fallback>
            </mc:AlternateContent>
          </a:graphicData>
        </a:graphic>
      </p:graphicFrame>
      <p:sp>
        <p:nvSpPr>
          <p:cNvPr id="136195" name="文本框 130053"/>
          <p:cNvSpPr txBox="1"/>
          <p:nvPr/>
        </p:nvSpPr>
        <p:spPr>
          <a:xfrm>
            <a:off x="7010400" y="17526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5-67</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36196" name="文本框 130054"/>
          <p:cNvSpPr txBox="1"/>
          <p:nvPr/>
        </p:nvSpPr>
        <p:spPr>
          <a:xfrm>
            <a:off x="395288" y="2514600"/>
            <a:ext cx="8294687" cy="109855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将式（</a:t>
            </a:r>
            <a:r>
              <a:rPr lang="en-US" altLang="zh-CN" dirty="0">
                <a:latin typeface="Times New Roman" panose="02020603050405020304" pitchFamily="18" charset="0"/>
                <a:ea typeface="宋体" panose="02010600030101010101" pitchFamily="2" charset="-122"/>
              </a:rPr>
              <a:t>5-65</a:t>
            </a:r>
            <a:r>
              <a:rPr lang="zh-CN" altLang="en-US" dirty="0">
                <a:latin typeface="Times New Roman" panose="02020603050405020304" pitchFamily="18" charset="0"/>
                <a:ea typeface="宋体" panose="02010600030101010101" pitchFamily="2" charset="-122"/>
              </a:rPr>
              <a:t>）、式（</a:t>
            </a:r>
            <a:r>
              <a:rPr lang="en-US" altLang="zh-CN" dirty="0">
                <a:latin typeface="Times New Roman" panose="02020603050405020304" pitchFamily="18" charset="0"/>
                <a:ea typeface="宋体" panose="02010600030101010101" pitchFamily="2" charset="-122"/>
              </a:rPr>
              <a:t>5-66</a:t>
            </a:r>
            <a:r>
              <a:rPr lang="zh-CN" altLang="en-US" dirty="0">
                <a:latin typeface="Times New Roman" panose="02020603050405020304" pitchFamily="18" charset="0"/>
                <a:ea typeface="宋体" panose="02010600030101010101" pitchFamily="2" charset="-122"/>
              </a:rPr>
              <a:t>）和式</a:t>
            </a:r>
            <a:r>
              <a:rPr lang="en-US" altLang="zh-CN" dirty="0">
                <a:latin typeface="Times New Roman" panose="02020603050405020304" pitchFamily="18" charset="0"/>
                <a:ea typeface="宋体" panose="02010600030101010101" pitchFamily="2" charset="-122"/>
              </a:rPr>
              <a:t>5-67</a:t>
            </a:r>
            <a:r>
              <a:rPr lang="zh-CN" altLang="en-US" dirty="0">
                <a:latin typeface="Times New Roman" panose="02020603050405020304" pitchFamily="18" charset="0"/>
                <a:ea typeface="宋体" panose="02010600030101010101" pitchFamily="2" charset="-122"/>
              </a:rPr>
              <a:t>）代入式（</a:t>
            </a:r>
            <a:r>
              <a:rPr lang="en-US" altLang="zh-CN" dirty="0">
                <a:latin typeface="Times New Roman" panose="02020603050405020304" pitchFamily="18" charset="0"/>
                <a:ea typeface="宋体" panose="02010600030101010101" pitchFamily="2" charset="-122"/>
              </a:rPr>
              <a:t>5-60</a:t>
            </a:r>
            <a:r>
              <a:rPr lang="zh-CN" altLang="en-US"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及式（</a:t>
            </a:r>
            <a:r>
              <a:rPr lang="en-US" altLang="zh-CN" dirty="0">
                <a:latin typeface="Times New Roman" panose="02020603050405020304" pitchFamily="18" charset="0"/>
                <a:ea typeface="宋体" panose="02010600030101010101" pitchFamily="2" charset="-122"/>
              </a:rPr>
              <a:t>5-61</a:t>
            </a:r>
            <a:r>
              <a:rPr lang="zh-CN" altLang="en-US" dirty="0">
                <a:latin typeface="Times New Roman" panose="02020603050405020304" pitchFamily="18" charset="0"/>
                <a:ea typeface="宋体" panose="02010600030101010101" pitchFamily="2" charset="-122"/>
              </a:rPr>
              <a:t>），并应用一些标准三角恒等式可得</a:t>
            </a:r>
            <a:r>
              <a:rPr lang="en-US" altLang="zh-CN" dirty="0">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136197" name="对象 130055"/>
          <p:cNvGraphicFramePr/>
          <p:nvPr/>
        </p:nvGraphicFramePr>
        <p:xfrm>
          <a:off x="1371600" y="3868738"/>
          <a:ext cx="6096000" cy="1922462"/>
        </p:xfrm>
        <a:graphic>
          <a:graphicData uri="http://schemas.openxmlformats.org/presentationml/2006/ole">
            <mc:AlternateContent xmlns:mc="http://schemas.openxmlformats.org/markup-compatibility/2006">
              <mc:Choice xmlns:v="urn:schemas-microsoft-com:vml" Requires="v">
                <p:oleObj spid="_x0000_s3242" name="" r:id="rId3" imgW="3060700" imgH="965200" progId="Equation.3">
                  <p:embed/>
                </p:oleObj>
              </mc:Choice>
              <mc:Fallback>
                <p:oleObj name="" r:id="rId3" imgW="3060700" imgH="965200" progId="Equation.3">
                  <p:embed/>
                  <p:pic>
                    <p:nvPicPr>
                      <p:cNvPr id="0" name="图片 3241"/>
                      <p:cNvPicPr/>
                      <p:nvPr/>
                    </p:nvPicPr>
                    <p:blipFill>
                      <a:blip r:embed="rId4"/>
                      <a:stretch>
                        <a:fillRect/>
                      </a:stretch>
                    </p:blipFill>
                    <p:spPr>
                      <a:xfrm>
                        <a:off x="1371600" y="3868738"/>
                        <a:ext cx="6096000" cy="1922462"/>
                      </a:xfrm>
                      <a:prstGeom prst="rect">
                        <a:avLst/>
                      </a:prstGeom>
                      <a:noFill/>
                      <a:ln w="38100">
                        <a:noFill/>
                        <a:miter/>
                      </a:ln>
                    </p:spPr>
                  </p:pic>
                </p:oleObj>
              </mc:Fallback>
            </mc:AlternateContent>
          </a:graphicData>
        </a:graphic>
      </p:graphicFrame>
      <p:sp>
        <p:nvSpPr>
          <p:cNvPr id="136198" name="文本框 130056"/>
          <p:cNvSpPr txBox="1"/>
          <p:nvPr/>
        </p:nvSpPr>
        <p:spPr>
          <a:xfrm>
            <a:off x="7715250" y="3944938"/>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5-68</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36199" name="文本框 130057"/>
          <p:cNvSpPr txBox="1"/>
          <p:nvPr/>
        </p:nvSpPr>
        <p:spPr>
          <a:xfrm>
            <a:off x="7715250" y="5164138"/>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5-69</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7" name="文本框 133123"/>
          <p:cNvSpPr txBox="1"/>
          <p:nvPr/>
        </p:nvSpPr>
        <p:spPr>
          <a:xfrm>
            <a:off x="152400" y="533400"/>
            <a:ext cx="8839200" cy="2105025"/>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所以，在设计时，要给定中心频率和带宽或者是中心频率和边带频率，利用式（</a:t>
            </a:r>
            <a:r>
              <a:rPr lang="en-US" altLang="zh-CN" dirty="0">
                <a:latin typeface="Times New Roman" panose="02020603050405020304" pitchFamily="18" charset="0"/>
                <a:ea typeface="宋体" panose="02010600030101010101" pitchFamily="2" charset="-122"/>
              </a:rPr>
              <a:t>5-68</a:t>
            </a:r>
            <a:r>
              <a:rPr lang="zh-CN" altLang="en-US" dirty="0">
                <a:latin typeface="Times New Roman" panose="02020603050405020304" pitchFamily="18" charset="0"/>
                <a:ea typeface="宋体" panose="02010600030101010101" pitchFamily="2" charset="-122"/>
              </a:rPr>
              <a:t>）和式（</a:t>
            </a:r>
            <a:r>
              <a:rPr lang="en-US" altLang="zh-CN" dirty="0">
                <a:latin typeface="Times New Roman" panose="02020603050405020304" pitchFamily="18" charset="0"/>
                <a:ea typeface="宋体" panose="02010600030101010101" pitchFamily="2" charset="-122"/>
              </a:rPr>
              <a:t>5-69</a:t>
            </a:r>
            <a:r>
              <a:rPr lang="zh-CN" altLang="en-US" dirty="0">
                <a:latin typeface="Times New Roman" panose="02020603050405020304" pitchFamily="18" charset="0"/>
                <a:ea typeface="宋体" panose="02010600030101010101" pitchFamily="2" charset="-122"/>
              </a:rPr>
              <a:t>）来确定</a:t>
            </a:r>
            <a:r>
              <a:rPr lang="en-US" altLang="zh-CN" dirty="0">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E</a:t>
            </a:r>
            <a:r>
              <a:rPr lang="zh-CN" altLang="en-US" dirty="0">
                <a:latin typeface="Times New Roman" panose="02020603050405020304" pitchFamily="18" charset="0"/>
                <a:ea typeface="宋体" panose="02010600030101010101" pitchFamily="2" charset="-122"/>
              </a:rPr>
              <a:t>两常数； 然后， 利用式</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5-59</a:t>
            </a:r>
            <a:r>
              <a:rPr lang="zh-CN" altLang="en-US" dirty="0">
                <a:latin typeface="Times New Roman" panose="02020603050405020304" pitchFamily="18" charset="0"/>
                <a:ea typeface="宋体" panose="02010600030101010101" pitchFamily="2" charset="-122"/>
              </a:rPr>
              <a:t>）的变换，把模拟低通系统函数一步变成数字带通系统函数 </a:t>
            </a:r>
            <a:endParaRPr lang="zh-CN" altLang="en-US">
              <a:latin typeface="Times New Roman" panose="02020603050405020304" pitchFamily="18" charset="0"/>
              <a:ea typeface="宋体" panose="02010600030101010101" pitchFamily="2" charset="-122"/>
            </a:endParaRPr>
          </a:p>
        </p:txBody>
      </p:sp>
      <p:graphicFrame>
        <p:nvGraphicFramePr>
          <p:cNvPr id="137218" name="对象 133124"/>
          <p:cNvGraphicFramePr/>
          <p:nvPr/>
        </p:nvGraphicFramePr>
        <p:xfrm>
          <a:off x="2590800" y="2743200"/>
          <a:ext cx="4114800" cy="969963"/>
        </p:xfrm>
        <a:graphic>
          <a:graphicData uri="http://schemas.openxmlformats.org/presentationml/2006/ole">
            <mc:AlternateContent xmlns:mc="http://schemas.openxmlformats.org/markup-compatibility/2006">
              <mc:Choice xmlns:v="urn:schemas-microsoft-com:vml" Requires="v">
                <p:oleObj spid="_x0000_s3245" name="" r:id="rId1" imgW="1562100" imgH="368300" progId="Equation.3">
                  <p:embed/>
                </p:oleObj>
              </mc:Choice>
              <mc:Fallback>
                <p:oleObj name="" r:id="rId1" imgW="1562100" imgH="368300" progId="Equation.3">
                  <p:embed/>
                  <p:pic>
                    <p:nvPicPr>
                      <p:cNvPr id="0" name="图片 3244"/>
                      <p:cNvPicPr/>
                      <p:nvPr/>
                    </p:nvPicPr>
                    <p:blipFill>
                      <a:blip r:embed="rId2"/>
                      <a:stretch>
                        <a:fillRect/>
                      </a:stretch>
                    </p:blipFill>
                    <p:spPr>
                      <a:xfrm>
                        <a:off x="2590800" y="2743200"/>
                        <a:ext cx="4114800" cy="969963"/>
                      </a:xfrm>
                      <a:prstGeom prst="rect">
                        <a:avLst/>
                      </a:prstGeom>
                      <a:noFill/>
                      <a:ln w="38100">
                        <a:noFill/>
                        <a:miter/>
                      </a:ln>
                    </p:spPr>
                  </p:pic>
                </p:oleObj>
              </mc:Fallback>
            </mc:AlternateContent>
          </a:graphicData>
        </a:graphic>
      </p:graphicFrame>
      <p:sp>
        <p:nvSpPr>
          <p:cNvPr id="137219" name="文本框 133125"/>
          <p:cNvSpPr txBox="1"/>
          <p:nvPr/>
        </p:nvSpPr>
        <p:spPr>
          <a:xfrm>
            <a:off x="7315200" y="29718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5-70</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37220" name="文本框 133126"/>
          <p:cNvSpPr txBox="1"/>
          <p:nvPr/>
        </p:nvSpPr>
        <p:spPr>
          <a:xfrm>
            <a:off x="204788" y="3733800"/>
            <a:ext cx="5465762"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为模拟低通原型传递函数。 </a:t>
            </a:r>
            <a:endParaRPr lang="zh-CN" altLang="en-US">
              <a:latin typeface="Times New Roman" panose="02020603050405020304" pitchFamily="18" charset="0"/>
              <a:ea typeface="宋体" panose="02010600030101010101" pitchFamily="2" charset="-122"/>
            </a:endParaRPr>
          </a:p>
        </p:txBody>
      </p:sp>
      <p:sp>
        <p:nvSpPr>
          <p:cNvPr id="137221" name="文本框 133127"/>
          <p:cNvSpPr txBox="1"/>
          <p:nvPr/>
        </p:nvSpPr>
        <p:spPr>
          <a:xfrm>
            <a:off x="228600" y="4572000"/>
            <a:ext cx="8686800" cy="1317625"/>
          </a:xfrm>
          <a:prstGeom prst="rect">
            <a:avLst/>
          </a:prstGeom>
          <a:noFill/>
          <a:ln w="9525">
            <a:noFill/>
          </a:ln>
        </p:spPr>
        <p:txBody>
          <a:bodyPr anchor="t">
            <a:spAutoFit/>
          </a:bodyPr>
          <a:p>
            <a:pPr>
              <a:lnSpc>
                <a:spcPct val="16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可以看出，数字带通滤波器的极点数（或阶数）将是模拟低通滤波器极点数的两倍。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1" name="文本框 132099"/>
          <p:cNvSpPr txBox="1"/>
          <p:nvPr/>
        </p:nvSpPr>
        <p:spPr>
          <a:xfrm>
            <a:off x="228600" y="533400"/>
            <a:ext cx="8686800" cy="10985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下面来讨论模拟低通滤波器与数字带通滤波器频率之间的关系。令</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baseline="3000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代入式（</a:t>
            </a:r>
            <a:r>
              <a:rPr lang="en-US" altLang="zh-CN" dirty="0">
                <a:latin typeface="Times New Roman" panose="02020603050405020304" pitchFamily="18" charset="0"/>
                <a:ea typeface="宋体" panose="02010600030101010101" pitchFamily="2" charset="-122"/>
              </a:rPr>
              <a:t>5-59</a:t>
            </a:r>
            <a:r>
              <a:rPr lang="zh-CN" altLang="en-US" dirty="0">
                <a:latin typeface="Times New Roman" panose="02020603050405020304" pitchFamily="18" charset="0"/>
                <a:ea typeface="宋体" panose="02010600030101010101" pitchFamily="2" charset="-122"/>
              </a:rPr>
              <a:t>），经推导后可得 </a:t>
            </a:r>
            <a:endParaRPr lang="zh-CN" altLang="en-US">
              <a:latin typeface="Times New Roman" panose="02020603050405020304" pitchFamily="18" charset="0"/>
              <a:ea typeface="宋体" panose="02010600030101010101" pitchFamily="2" charset="-122"/>
            </a:endParaRPr>
          </a:p>
        </p:txBody>
      </p:sp>
      <p:graphicFrame>
        <p:nvGraphicFramePr>
          <p:cNvPr id="138242" name="对象 132100"/>
          <p:cNvGraphicFramePr/>
          <p:nvPr/>
        </p:nvGraphicFramePr>
        <p:xfrm>
          <a:off x="2438400" y="1752600"/>
          <a:ext cx="3124200" cy="931863"/>
        </p:xfrm>
        <a:graphic>
          <a:graphicData uri="http://schemas.openxmlformats.org/presentationml/2006/ole">
            <mc:AlternateContent xmlns:mc="http://schemas.openxmlformats.org/markup-compatibility/2006">
              <mc:Choice xmlns:v="urn:schemas-microsoft-com:vml" Requires="v">
                <p:oleObj spid="_x0000_s3243" name="" r:id="rId1" imgW="1320165" imgH="393700" progId="Equation.3">
                  <p:embed/>
                </p:oleObj>
              </mc:Choice>
              <mc:Fallback>
                <p:oleObj name="" r:id="rId1" imgW="1320165" imgH="393700" progId="Equation.3">
                  <p:embed/>
                  <p:pic>
                    <p:nvPicPr>
                      <p:cNvPr id="0" name="图片 3242"/>
                      <p:cNvPicPr/>
                      <p:nvPr/>
                    </p:nvPicPr>
                    <p:blipFill>
                      <a:blip r:embed="rId2"/>
                      <a:stretch>
                        <a:fillRect/>
                      </a:stretch>
                    </p:blipFill>
                    <p:spPr>
                      <a:xfrm>
                        <a:off x="2438400" y="1752600"/>
                        <a:ext cx="3124200" cy="931863"/>
                      </a:xfrm>
                      <a:prstGeom prst="rect">
                        <a:avLst/>
                      </a:prstGeom>
                      <a:noFill/>
                      <a:ln w="38100">
                        <a:noFill/>
                        <a:miter/>
                      </a:ln>
                    </p:spPr>
                  </p:pic>
                </p:oleObj>
              </mc:Fallback>
            </mc:AlternateContent>
          </a:graphicData>
        </a:graphic>
      </p:graphicFrame>
      <p:sp>
        <p:nvSpPr>
          <p:cNvPr id="138243" name="文本框 132101"/>
          <p:cNvSpPr txBox="1"/>
          <p:nvPr/>
        </p:nvSpPr>
        <p:spPr>
          <a:xfrm>
            <a:off x="6994525" y="2022475"/>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5-71</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38244" name="文本框 132102"/>
          <p:cNvSpPr txBox="1"/>
          <p:nvPr/>
        </p:nvSpPr>
        <p:spPr>
          <a:xfrm>
            <a:off x="288925" y="2819400"/>
            <a:ext cx="6610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其变换关系曲线如图</a:t>
            </a:r>
            <a:r>
              <a:rPr lang="en-US" altLang="zh-CN" dirty="0">
                <a:latin typeface="Times New Roman" panose="02020603050405020304" pitchFamily="18" charset="0"/>
                <a:ea typeface="宋体" panose="02010600030101010101" pitchFamily="2" charset="-122"/>
              </a:rPr>
              <a:t>5-21</a:t>
            </a:r>
            <a:r>
              <a:rPr lang="zh-CN" altLang="en-US" dirty="0">
                <a:latin typeface="Times New Roman" panose="02020603050405020304" pitchFamily="18" charset="0"/>
                <a:ea typeface="宋体" panose="02010600030101010101" pitchFamily="2" charset="-122"/>
              </a:rPr>
              <a:t>所示。其映射关系为： </a:t>
            </a:r>
            <a:endParaRPr lang="zh-CN" altLang="en-US">
              <a:latin typeface="Times New Roman" panose="02020603050405020304" pitchFamily="18" charset="0"/>
              <a:ea typeface="宋体" panose="02010600030101010101" pitchFamily="2" charset="-122"/>
            </a:endParaRPr>
          </a:p>
        </p:txBody>
      </p:sp>
      <p:sp>
        <p:nvSpPr>
          <p:cNvPr id="138245" name="文本框 132104"/>
          <p:cNvSpPr txBox="1"/>
          <p:nvPr/>
        </p:nvSpPr>
        <p:spPr>
          <a:xfrm>
            <a:off x="3276600" y="3241675"/>
            <a:ext cx="2392363" cy="2016125"/>
          </a:xfrm>
          <a:prstGeom prst="rect">
            <a:avLst/>
          </a:prstGeom>
          <a:noFill/>
          <a:ln w="9525">
            <a:noFill/>
          </a:ln>
        </p:spPr>
        <p:txBody>
          <a:bodyPr wrap="none" anchor="t">
            <a:spAutoFit/>
          </a:bodyPr>
          <a:p>
            <a:pPr>
              <a:lnSpc>
                <a:spcPct val="150000"/>
              </a:lnSpc>
            </a:pPr>
            <a:r>
              <a:rPr lang="en-US" altLang="zh-CN" sz="2800" i="1">
                <a:latin typeface="Times New Roman" panose="02020603050405020304" pitchFamily="18" charset="0"/>
                <a:ea typeface="宋体" panose="02010600030101010101" pitchFamily="2" charset="-122"/>
              </a:rPr>
              <a:t>Ω</a:t>
            </a:r>
            <a:r>
              <a:rPr lang="en-US" altLang="zh-CN" sz="2800">
                <a:latin typeface="Times New Roman" panose="02020603050405020304" pitchFamily="18" charset="0"/>
                <a:ea typeface="宋体" panose="02010600030101010101" pitchFamily="2" charset="-122"/>
              </a:rPr>
              <a:t>=0→</a:t>
            </a:r>
            <a:r>
              <a:rPr lang="en-US" altLang="zh-CN" sz="2800" i="1">
                <a:latin typeface="Times New Roman" panose="02020603050405020304" pitchFamily="18" charset="0"/>
                <a:ea typeface="宋体" panose="02010600030101010101" pitchFamily="2" charset="-122"/>
              </a:rPr>
              <a:t>ω</a:t>
            </a:r>
            <a:r>
              <a:rPr lang="en-US" altLang="zh-CN"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ω</a:t>
            </a:r>
            <a:r>
              <a:rPr lang="en-US" altLang="zh-CN" sz="2800" baseline="-25000">
                <a:latin typeface="Times New Roman" panose="02020603050405020304" pitchFamily="18" charset="0"/>
                <a:ea typeface="宋体" panose="02010600030101010101" pitchFamily="2" charset="-122"/>
              </a:rPr>
              <a:t>0</a:t>
            </a:r>
            <a:endParaRPr lang="en-US" altLang="zh-CN" sz="2800" baseline="-25000">
              <a:latin typeface="Times New Roman" panose="02020603050405020304" pitchFamily="18" charset="0"/>
              <a:ea typeface="宋体" panose="02010600030101010101" pitchFamily="2" charset="-122"/>
            </a:endParaRPr>
          </a:p>
          <a:p>
            <a:pPr>
              <a:lnSpc>
                <a:spcPct val="150000"/>
              </a:lnSpc>
            </a:pPr>
            <a:r>
              <a:rPr lang="en-US" altLang="zh-CN" sz="2800" i="1">
                <a:latin typeface="Times New Roman" panose="02020603050405020304" pitchFamily="18" charset="0"/>
                <a:ea typeface="宋体" panose="02010600030101010101" pitchFamily="2" charset="-122"/>
              </a:rPr>
              <a:t>Ω</a:t>
            </a:r>
            <a:r>
              <a:rPr lang="en-US" altLang="zh-CN"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ω</a:t>
            </a:r>
            <a:r>
              <a:rPr lang="en-US" altLang="zh-CN" sz="2800">
                <a:latin typeface="Times New Roman" panose="02020603050405020304" pitchFamily="18" charset="0"/>
                <a:ea typeface="宋体" panose="02010600030101010101" pitchFamily="2" charset="-122"/>
              </a:rPr>
              <a:t>=π</a:t>
            </a:r>
            <a:endParaRPr lang="en-US" altLang="zh-CN" sz="2800">
              <a:latin typeface="Times New Roman" panose="02020603050405020304" pitchFamily="18" charset="0"/>
              <a:ea typeface="宋体" panose="02010600030101010101" pitchFamily="2" charset="-122"/>
            </a:endParaRPr>
          </a:p>
          <a:p>
            <a:pPr>
              <a:lnSpc>
                <a:spcPct val="150000"/>
              </a:lnSpc>
            </a:pPr>
            <a:r>
              <a:rPr lang="en-US" altLang="zh-CN" sz="2800" i="1">
                <a:latin typeface="Times New Roman" panose="02020603050405020304" pitchFamily="18" charset="0"/>
                <a:ea typeface="宋体" panose="02010600030101010101" pitchFamily="2" charset="-122"/>
              </a:rPr>
              <a:t>Ω</a:t>
            </a:r>
            <a:r>
              <a:rPr lang="en-US" altLang="zh-CN"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ω</a:t>
            </a:r>
            <a:r>
              <a:rPr lang="en-US" altLang="zh-CN" sz="2800">
                <a:latin typeface="Times New Roman" panose="02020603050405020304" pitchFamily="18" charset="0"/>
                <a:ea typeface="宋体" panose="02010600030101010101" pitchFamily="2" charset="-122"/>
              </a:rPr>
              <a:t>=0 </a:t>
            </a:r>
            <a:endParaRPr lang="en-US" altLang="zh-CN" sz="2800">
              <a:latin typeface="Times New Roman" panose="02020603050405020304" pitchFamily="18" charset="0"/>
              <a:ea typeface="宋体" panose="02010600030101010101" pitchFamily="2" charset="-122"/>
            </a:endParaRPr>
          </a:p>
        </p:txBody>
      </p:sp>
      <p:sp>
        <p:nvSpPr>
          <p:cNvPr id="138246" name="文本框 132105"/>
          <p:cNvSpPr txBox="1"/>
          <p:nvPr/>
        </p:nvSpPr>
        <p:spPr>
          <a:xfrm>
            <a:off x="152400" y="5181600"/>
            <a:ext cx="8839200" cy="1187450"/>
          </a:xfrm>
          <a:prstGeom prst="rect">
            <a:avLst/>
          </a:prstGeom>
          <a:noFill/>
          <a:ln w="9525">
            <a:noFill/>
          </a:ln>
        </p:spPr>
        <p:txBody>
          <a:bodyPr anchor="t">
            <a:spAutoFit/>
          </a:bodyPr>
          <a:p>
            <a:pPr algn="just">
              <a:spcBef>
                <a:spcPct val="50000"/>
              </a:spcBef>
            </a:pPr>
            <a:r>
              <a:rPr lang="zh-CN" altLang="en-US" dirty="0">
                <a:latin typeface="Times New Roman" panose="02020603050405020304" pitchFamily="18" charset="0"/>
                <a:ea typeface="宋体" panose="02010600030101010101" pitchFamily="2" charset="-122"/>
              </a:rPr>
              <a:t>也就是说，低通滤波器的通带（</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附近）映射到带通滤波器的通带（</a:t>
            </a:r>
            <a:r>
              <a:rPr lang="en-US" altLang="zh-CN" i="1">
                <a:latin typeface="Times New Roman" panose="02020603050405020304" pitchFamily="18" charset="0"/>
                <a:ea typeface="宋体" panose="02010600030101010101" pitchFamily="2" charset="-122"/>
              </a:rPr>
              <a:t>ω=ω</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附近）</a:t>
            </a:r>
            <a:r>
              <a:rPr lang="zh-CN" altLang="en-US" dirty="0">
                <a:latin typeface="Times New Roman" panose="02020603050405020304" pitchFamily="18" charset="0"/>
                <a:ea typeface="宋体" panose="02010600030101010101" pitchFamily="2" charset="-122"/>
              </a:rPr>
              <a:t>，低通的阻带（</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）映射到带通的阻带（</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=0, π</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5" name="文本框 380929"/>
          <p:cNvSpPr txBox="1"/>
          <p:nvPr/>
        </p:nvSpPr>
        <p:spPr>
          <a:xfrm>
            <a:off x="1187450" y="5661025"/>
            <a:ext cx="7296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a:t>
            </a:r>
            <a:r>
              <a:rPr lang="en-US" altLang="zh-CN" dirty="0">
                <a:latin typeface="Times New Roman" panose="02020603050405020304" pitchFamily="18" charset="0"/>
                <a:ea typeface="宋体" panose="02010600030101010101" pitchFamily="2" charset="-122"/>
              </a:rPr>
              <a:t>5-21  </a:t>
            </a:r>
            <a:r>
              <a:rPr lang="zh-CN" altLang="en-US" dirty="0">
                <a:latin typeface="Times New Roman" panose="02020603050405020304" pitchFamily="18" charset="0"/>
                <a:ea typeface="宋体" panose="02010600030101010101" pitchFamily="2" charset="-122"/>
              </a:rPr>
              <a:t>从模拟低通变换到数字带通时频率间关系曲线</a:t>
            </a:r>
            <a:endParaRPr lang="zh-CN" altLang="en-US">
              <a:latin typeface="Times New Roman" panose="02020603050405020304" pitchFamily="18" charset="0"/>
              <a:ea typeface="宋体" panose="02010600030101010101" pitchFamily="2" charset="-122"/>
            </a:endParaRPr>
          </a:p>
        </p:txBody>
      </p:sp>
      <p:pic>
        <p:nvPicPr>
          <p:cNvPr id="139266" name="图片 380932" descr="5-21"/>
          <p:cNvPicPr>
            <a:picLocks noChangeAspect="1"/>
          </p:cNvPicPr>
          <p:nvPr/>
        </p:nvPicPr>
        <p:blipFill>
          <a:blip r:embed="rId1"/>
          <a:stretch>
            <a:fillRect/>
          </a:stretch>
        </p:blipFill>
        <p:spPr>
          <a:xfrm>
            <a:off x="2357438" y="981075"/>
            <a:ext cx="4429125" cy="4286250"/>
          </a:xfrm>
          <a:prstGeom prst="rect">
            <a:avLst/>
          </a:prstGeom>
          <a:noFill/>
          <a:ln w="9525">
            <a:noFill/>
          </a:ln>
        </p:spPr>
      </p:pic>
    </p:spTree>
  </p:cSld>
  <p:clrMapOvr>
    <a:masterClrMapping/>
  </p:clrMapOvr>
  <p:transition>
    <p:blinds/>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89" name="文本框 135171"/>
          <p:cNvSpPr txBox="1"/>
          <p:nvPr/>
        </p:nvSpPr>
        <p:spPr>
          <a:xfrm>
            <a:off x="2555875" y="5661025"/>
            <a:ext cx="4629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5-22 </a:t>
            </a:r>
            <a:r>
              <a:rPr lang="zh-CN" altLang="en-US" dirty="0">
                <a:latin typeface="Times New Roman" panose="02020603050405020304" pitchFamily="18" charset="0"/>
                <a:ea typeface="宋体" panose="02010600030101010101" pitchFamily="2" charset="-122"/>
              </a:rPr>
              <a:t>模拟低通变换到数字带通 </a:t>
            </a:r>
            <a:endParaRPr lang="zh-CN" altLang="en-US">
              <a:latin typeface="Times New Roman" panose="02020603050405020304" pitchFamily="18" charset="0"/>
              <a:ea typeface="宋体" panose="02010600030101010101" pitchFamily="2" charset="-122"/>
            </a:endParaRPr>
          </a:p>
        </p:txBody>
      </p:sp>
      <p:pic>
        <p:nvPicPr>
          <p:cNvPr id="140290" name="图片 135174" descr="5-22"/>
          <p:cNvPicPr>
            <a:picLocks noChangeAspect="1"/>
          </p:cNvPicPr>
          <p:nvPr/>
        </p:nvPicPr>
        <p:blipFill>
          <a:blip r:embed="rId1"/>
          <a:stretch>
            <a:fillRect/>
          </a:stretch>
        </p:blipFill>
        <p:spPr>
          <a:xfrm>
            <a:off x="1924050" y="981075"/>
            <a:ext cx="5295900" cy="4286250"/>
          </a:xfrm>
          <a:prstGeom prst="rect">
            <a:avLst/>
          </a:prstGeom>
          <a:noFill/>
          <a:ln w="9525">
            <a:noFill/>
          </a:ln>
        </p:spPr>
      </p:pic>
    </p:spTree>
  </p:cSld>
  <p:clrMapOvr>
    <a:masterClrMapping/>
  </p:clrMapOvr>
  <p:transition>
    <p:blinds/>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1392238" y="4040188"/>
            <a:ext cx="1368425" cy="576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3" name="矩形 2"/>
          <p:cNvSpPr/>
          <p:nvPr/>
        </p:nvSpPr>
        <p:spPr>
          <a:xfrm>
            <a:off x="1392238" y="3354388"/>
            <a:ext cx="1368425" cy="576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141315" name="文本框 134147"/>
          <p:cNvSpPr txBox="1"/>
          <p:nvPr/>
        </p:nvSpPr>
        <p:spPr>
          <a:xfrm>
            <a:off x="152400" y="533400"/>
            <a:ext cx="8763000" cy="2820988"/>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例 </a:t>
            </a:r>
            <a:r>
              <a:rPr lang="en-US" altLang="zh-CN" b="1" dirty="0">
                <a:latin typeface="Times New Roman" panose="02020603050405020304" pitchFamily="18" charset="0"/>
                <a:ea typeface="宋体" panose="02010600030101010101" pitchFamily="2" charset="-122"/>
              </a:rPr>
              <a:t>5-8</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采样频率为</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=100kHz, </a:t>
            </a: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=10 </a:t>
            </a:r>
            <a:r>
              <a:rPr lang="en-US" altLang="zh-CN" i="1">
                <a:latin typeface="Times New Roman" panose="02020603050405020304" pitchFamily="18" charset="0"/>
                <a:ea typeface="宋体" panose="02010600030101010101" pitchFamily="2" charset="-122"/>
              </a:rPr>
              <a:t>μs</a:t>
            </a:r>
            <a:r>
              <a:rPr lang="zh-CN" altLang="en-US" dirty="0">
                <a:latin typeface="Times New Roman" panose="02020603050405020304" pitchFamily="18" charset="0"/>
                <a:ea typeface="宋体" panose="02010600030101010101" pitchFamily="2" charset="-122"/>
              </a:rPr>
              <a:t>，要求设计一个三阶巴特沃思数字带通滤波器，其上、下边带的 </a:t>
            </a:r>
            <a:r>
              <a:rPr lang="en-US" altLang="zh-CN" dirty="0">
                <a:latin typeface="Times New Roman" panose="02020603050405020304" pitchFamily="18" charset="0"/>
                <a:ea typeface="宋体" panose="02010600030101010101" pitchFamily="2" charset="-122"/>
              </a:rPr>
              <a:t>3dB</a:t>
            </a:r>
            <a:r>
              <a:rPr lang="zh-CN" altLang="en-US" dirty="0">
                <a:latin typeface="Times New Roman" panose="02020603050405020304" pitchFamily="18" charset="0"/>
                <a:ea typeface="宋体" panose="02010600030101010101" pitchFamily="2" charset="-122"/>
              </a:rPr>
              <a:t>截止频率分别为</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=37.5 kHz</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=12.5 kHz</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 首先求出所需数字滤波器在数字域的各个临界频率。通带的上、下边界</a:t>
            </a:r>
            <a:r>
              <a:rPr lang="zh-CN" altLang="en-US" dirty="0">
                <a:latin typeface="Times New Roman" panose="02020603050405020304" pitchFamily="18" charset="0"/>
                <a:ea typeface="宋体" panose="02010600030101010101" pitchFamily="2" charset="-122"/>
              </a:rPr>
              <a:t>截止频率为</a:t>
            </a:r>
            <a:r>
              <a:rPr lang="en-US" altLang="zh-CN" dirty="0">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
        <p:nvSpPr>
          <p:cNvPr id="141316" name="文本框 134148"/>
          <p:cNvSpPr txBox="1"/>
          <p:nvPr/>
        </p:nvSpPr>
        <p:spPr>
          <a:xfrm>
            <a:off x="1468438" y="3124200"/>
            <a:ext cx="5673725" cy="1568450"/>
          </a:xfrm>
          <a:prstGeom prst="rect">
            <a:avLst/>
          </a:prstGeom>
          <a:noFill/>
          <a:ln w="9525">
            <a:noFill/>
          </a:ln>
        </p:spPr>
        <p:txBody>
          <a:bodyPr wrap="none" anchor="t">
            <a:spAutoFit/>
          </a:bodyPr>
          <a:p>
            <a:pPr>
              <a:lnSpc>
                <a:spcPct val="200000"/>
              </a:lnSpc>
            </a:pP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1</a:t>
            </a:r>
            <a:r>
              <a:rPr lang="en-US" altLang="zh-CN">
                <a:latin typeface="Times New Roman" panose="02020603050405020304" pitchFamily="18" charset="0"/>
                <a:ea typeface="宋体" panose="02010600030101010101" pitchFamily="2" charset="-122"/>
              </a:rPr>
              <a:t>=2π</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1</a:t>
            </a: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=2π×12.5×10</a:t>
            </a:r>
            <a:r>
              <a:rPr lang="en-US" altLang="zh-CN" baseline="30000">
                <a:latin typeface="Times New Roman" panose="02020603050405020304" pitchFamily="18" charset="0"/>
                <a:ea typeface="宋体" panose="02010600030101010101" pitchFamily="2" charset="-122"/>
              </a:rPr>
              <a:t>3</a:t>
            </a:r>
            <a:r>
              <a:rPr lang="en-US" altLang="zh-CN">
                <a:latin typeface="Times New Roman" panose="02020603050405020304" pitchFamily="18" charset="0"/>
                <a:ea typeface="宋体" panose="02010600030101010101" pitchFamily="2" charset="-122"/>
              </a:rPr>
              <a:t>×10×10</a:t>
            </a:r>
            <a:r>
              <a:rPr lang="en-US" altLang="zh-CN" baseline="30000">
                <a:latin typeface="Times New Roman" panose="02020603050405020304" pitchFamily="18" charset="0"/>
                <a:ea typeface="宋体" panose="02010600030101010101" pitchFamily="2" charset="-122"/>
              </a:rPr>
              <a:t>-6</a:t>
            </a:r>
            <a:r>
              <a:rPr lang="en-US" altLang="zh-CN">
                <a:latin typeface="Times New Roman" panose="02020603050405020304" pitchFamily="18" charset="0"/>
                <a:ea typeface="宋体" panose="02010600030101010101" pitchFamily="2" charset="-122"/>
              </a:rPr>
              <a:t>=0.25π</a:t>
            </a:r>
            <a:endParaRPr lang="zh-CN" altLang="en-US">
              <a:latin typeface="Times New Roman" panose="02020603050405020304" pitchFamily="18" charset="0"/>
              <a:ea typeface="宋体" panose="02010600030101010101" pitchFamily="2" charset="-122"/>
            </a:endParaRPr>
          </a:p>
          <a:p>
            <a:pPr>
              <a:lnSpc>
                <a:spcPct val="200000"/>
              </a:lnSpc>
            </a:pP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2</a:t>
            </a:r>
            <a:r>
              <a:rPr lang="en-US" altLang="zh-CN">
                <a:latin typeface="Times New Roman" panose="02020603050405020304" pitchFamily="18" charset="0"/>
                <a:ea typeface="宋体" panose="02010600030101010101" pitchFamily="2" charset="-122"/>
              </a:rPr>
              <a:t>=2π</a:t>
            </a:r>
            <a:r>
              <a:rPr lang="en-US" altLang="zh-CN" i="1">
                <a:latin typeface="Times New Roman" panose="02020603050405020304" pitchFamily="18" charset="0"/>
                <a:ea typeface="宋体" panose="02010600030101010101" pitchFamily="2" charset="-122"/>
              </a:rPr>
              <a:t>f</a:t>
            </a:r>
            <a:r>
              <a:rPr lang="en-US" altLang="zh-CN" baseline="-25000">
                <a:latin typeface="Times New Roman" panose="02020603050405020304" pitchFamily="18" charset="0"/>
                <a:ea typeface="宋体" panose="02010600030101010101" pitchFamily="2" charset="-122"/>
              </a:rPr>
              <a:t>2</a:t>
            </a:r>
            <a:r>
              <a:rPr lang="en-US" altLang="zh-CN" i="1">
                <a:latin typeface="Times New Roman" panose="02020603050405020304" pitchFamily="18" charset="0"/>
                <a:ea typeface="宋体" panose="02010600030101010101" pitchFamily="2" charset="-122"/>
              </a:rPr>
              <a:t>T</a:t>
            </a:r>
            <a:r>
              <a:rPr lang="en-US" altLang="zh-CN">
                <a:latin typeface="Times New Roman" panose="02020603050405020304" pitchFamily="18" charset="0"/>
                <a:ea typeface="宋体" panose="02010600030101010101" pitchFamily="2" charset="-122"/>
              </a:rPr>
              <a:t>=2π×37.5×10</a:t>
            </a:r>
            <a:r>
              <a:rPr lang="en-US" altLang="zh-CN" baseline="30000">
                <a:latin typeface="Times New Roman" panose="02020603050405020304" pitchFamily="18" charset="0"/>
                <a:ea typeface="宋体" panose="02010600030101010101" pitchFamily="2" charset="-122"/>
              </a:rPr>
              <a:t>3</a:t>
            </a:r>
            <a:r>
              <a:rPr lang="en-US" altLang="zh-CN">
                <a:latin typeface="Times New Roman" panose="02020603050405020304" pitchFamily="18" charset="0"/>
                <a:ea typeface="宋体" panose="02010600030101010101" pitchFamily="2" charset="-122"/>
              </a:rPr>
              <a:t>×10×10</a:t>
            </a:r>
            <a:r>
              <a:rPr lang="en-US" altLang="zh-CN" baseline="30000">
                <a:latin typeface="Times New Roman" panose="02020603050405020304" pitchFamily="18" charset="0"/>
                <a:ea typeface="宋体" panose="02010600030101010101" pitchFamily="2" charset="-122"/>
              </a:rPr>
              <a:t>-6</a:t>
            </a:r>
            <a:r>
              <a:rPr lang="en-US" altLang="zh-CN">
                <a:latin typeface="Times New Roman" panose="02020603050405020304" pitchFamily="18" charset="0"/>
                <a:ea typeface="宋体" panose="02010600030101010101" pitchFamily="2" charset="-122"/>
              </a:rPr>
              <a:t>=0.75π </a:t>
            </a:r>
            <a:endParaRPr lang="en-US" altLang="zh-CN">
              <a:latin typeface="Times New Roman" panose="02020603050405020304" pitchFamily="18" charset="0"/>
              <a:ea typeface="宋体" panose="02010600030101010101" pitchFamily="2" charset="-122"/>
            </a:endParaRPr>
          </a:p>
        </p:txBody>
      </p:sp>
      <p:sp>
        <p:nvSpPr>
          <p:cNvPr id="141317" name="文本框 134149"/>
          <p:cNvSpPr txBox="1"/>
          <p:nvPr/>
        </p:nvSpPr>
        <p:spPr>
          <a:xfrm>
            <a:off x="95250" y="4724400"/>
            <a:ext cx="5391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代入式（</a:t>
            </a:r>
            <a:r>
              <a:rPr lang="en-US" altLang="zh-CN" dirty="0">
                <a:latin typeface="Times New Roman" panose="02020603050405020304" pitchFamily="18" charset="0"/>
                <a:ea typeface="宋体" panose="02010600030101010101" pitchFamily="2" charset="-122"/>
              </a:rPr>
              <a:t>5-66</a:t>
            </a:r>
            <a:r>
              <a:rPr lang="zh-CN" altLang="en-US" dirty="0">
                <a:latin typeface="Times New Roman" panose="02020603050405020304" pitchFamily="18" charset="0"/>
                <a:ea typeface="宋体" panose="02010600030101010101" pitchFamily="2" charset="-122"/>
              </a:rPr>
              <a:t>）求模拟低通的截止频率 </a:t>
            </a:r>
            <a:endParaRPr lang="zh-CN" altLang="en-US">
              <a:latin typeface="Times New Roman" panose="02020603050405020304" pitchFamily="18" charset="0"/>
              <a:ea typeface="宋体" panose="02010600030101010101" pitchFamily="2" charset="-122"/>
            </a:endParaRPr>
          </a:p>
        </p:txBody>
      </p:sp>
      <p:graphicFrame>
        <p:nvGraphicFramePr>
          <p:cNvPr id="141318" name="对象 134150"/>
          <p:cNvGraphicFramePr/>
          <p:nvPr/>
        </p:nvGraphicFramePr>
        <p:xfrm>
          <a:off x="457200" y="5257800"/>
          <a:ext cx="8153400" cy="958850"/>
        </p:xfrm>
        <a:graphic>
          <a:graphicData uri="http://schemas.openxmlformats.org/presentationml/2006/ole">
            <mc:AlternateContent xmlns:mc="http://schemas.openxmlformats.org/markup-compatibility/2006">
              <mc:Choice xmlns:v="urn:schemas-microsoft-com:vml" Requires="v">
                <p:oleObj spid="_x0000_s3249" name="" r:id="rId1" imgW="3886200" imgH="457200" progId="Equation.3">
                  <p:embed/>
                </p:oleObj>
              </mc:Choice>
              <mc:Fallback>
                <p:oleObj name="" r:id="rId1" imgW="3886200" imgH="457200" progId="Equation.3">
                  <p:embed/>
                  <p:pic>
                    <p:nvPicPr>
                      <p:cNvPr id="0" name="图片 3248"/>
                      <p:cNvPicPr/>
                      <p:nvPr/>
                    </p:nvPicPr>
                    <p:blipFill>
                      <a:blip r:embed="rId2"/>
                      <a:stretch>
                        <a:fillRect/>
                      </a:stretch>
                    </p:blipFill>
                    <p:spPr>
                      <a:xfrm>
                        <a:off x="457200" y="5257800"/>
                        <a:ext cx="8153400" cy="958850"/>
                      </a:xfrm>
                      <a:prstGeom prst="rect">
                        <a:avLst/>
                      </a:prstGeom>
                      <a:noFill/>
                      <a:ln w="38100">
                        <a:noFill/>
                        <a:miter/>
                      </a:ln>
                    </p:spPr>
                  </p:pic>
                </p:oleObj>
              </mc:Fallback>
            </mc:AlternateContent>
          </a:graphicData>
        </a:graphic>
      </p:graphicFrame>
      <p:sp>
        <p:nvSpPr>
          <p:cNvPr id="2" name="十字星 1"/>
          <p:cNvSpPr/>
          <p:nvPr/>
        </p:nvSpPr>
        <p:spPr>
          <a:xfrm>
            <a:off x="255588" y="533400"/>
            <a:ext cx="576263" cy="647700"/>
          </a:xfrm>
          <a:prstGeom prst="star4">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Tree>
  </p:cSld>
  <p:clrMapOvr>
    <a:masterClrMapping/>
  </p:clrMapOvr>
  <p:transition>
    <p:blinds/>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7" name="文本框 137219"/>
          <p:cNvSpPr txBox="1"/>
          <p:nvPr/>
        </p:nvSpPr>
        <p:spPr>
          <a:xfrm>
            <a:off x="288925" y="609600"/>
            <a:ext cx="3173413"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由式（</a:t>
            </a:r>
            <a:r>
              <a:rPr lang="en-US" altLang="zh-CN" dirty="0">
                <a:latin typeface="Times New Roman" panose="02020603050405020304" pitchFamily="18" charset="0"/>
                <a:ea typeface="宋体" panose="02010600030101010101" pitchFamily="2" charset="-122"/>
              </a:rPr>
              <a:t>5-68</a:t>
            </a:r>
            <a:r>
              <a:rPr lang="zh-CN" altLang="en-US" dirty="0">
                <a:latin typeface="Times New Roman" panose="02020603050405020304" pitchFamily="18" charset="0"/>
                <a:ea typeface="宋体" panose="02010600030101010101" pitchFamily="2" charset="-122"/>
              </a:rPr>
              <a:t>）求得</a:t>
            </a:r>
            <a:r>
              <a:rPr lang="en-US" altLang="zh-CN" i="1">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graphicFrame>
        <p:nvGraphicFramePr>
          <p:cNvPr id="142338" name="对象 137220"/>
          <p:cNvGraphicFramePr/>
          <p:nvPr/>
        </p:nvGraphicFramePr>
        <p:xfrm>
          <a:off x="838200" y="1177925"/>
          <a:ext cx="7696200" cy="854075"/>
        </p:xfrm>
        <a:graphic>
          <a:graphicData uri="http://schemas.openxmlformats.org/presentationml/2006/ole">
            <mc:AlternateContent xmlns:mc="http://schemas.openxmlformats.org/markup-compatibility/2006">
              <mc:Choice xmlns:v="urn:schemas-microsoft-com:vml" Requires="v">
                <p:oleObj spid="_x0000_s3246" name="" r:id="rId1" imgW="3884295" imgH="431800" progId="Equation.3">
                  <p:embed/>
                </p:oleObj>
              </mc:Choice>
              <mc:Fallback>
                <p:oleObj name="" r:id="rId1" imgW="3884295" imgH="431800" progId="Equation.3">
                  <p:embed/>
                  <p:pic>
                    <p:nvPicPr>
                      <p:cNvPr id="0" name="图片 3245"/>
                      <p:cNvPicPr/>
                      <p:nvPr/>
                    </p:nvPicPr>
                    <p:blipFill>
                      <a:blip r:embed="rId2"/>
                      <a:stretch>
                        <a:fillRect/>
                      </a:stretch>
                    </p:blipFill>
                    <p:spPr>
                      <a:xfrm>
                        <a:off x="838200" y="1177925"/>
                        <a:ext cx="7696200" cy="854075"/>
                      </a:xfrm>
                      <a:prstGeom prst="rect">
                        <a:avLst/>
                      </a:prstGeom>
                      <a:noFill/>
                      <a:ln w="38100">
                        <a:noFill/>
                        <a:miter/>
                      </a:ln>
                    </p:spPr>
                  </p:pic>
                </p:oleObj>
              </mc:Fallback>
            </mc:AlternateContent>
          </a:graphicData>
        </a:graphic>
      </p:graphicFrame>
      <p:sp>
        <p:nvSpPr>
          <p:cNvPr id="142339" name="文本框 137221"/>
          <p:cNvSpPr txBox="1"/>
          <p:nvPr/>
        </p:nvSpPr>
        <p:spPr>
          <a:xfrm>
            <a:off x="228600" y="2092325"/>
            <a:ext cx="344328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由式（</a:t>
            </a:r>
            <a:r>
              <a:rPr lang="en-US" altLang="zh-CN" dirty="0">
                <a:latin typeface="Times New Roman" panose="02020603050405020304" pitchFamily="18" charset="0"/>
                <a:ea typeface="宋体" panose="02010600030101010101" pitchFamily="2" charset="-122"/>
              </a:rPr>
              <a:t>5-69</a:t>
            </a:r>
            <a:r>
              <a:rPr lang="zh-CN" altLang="en-US" dirty="0">
                <a:latin typeface="Times New Roman" panose="02020603050405020304" pitchFamily="18" charset="0"/>
                <a:ea typeface="宋体" panose="02010600030101010101" pitchFamily="2" charset="-122"/>
              </a:rPr>
              <a:t>）可求得</a:t>
            </a:r>
            <a:r>
              <a:rPr lang="en-US" altLang="zh-CN" i="1">
                <a:latin typeface="Times New Roman" panose="02020603050405020304" pitchFamily="18" charset="0"/>
                <a:ea typeface="宋体" panose="02010600030101010101" pitchFamily="2" charset="-122"/>
              </a:rPr>
              <a:t>E</a:t>
            </a:r>
            <a:r>
              <a:rPr lang="zh-CN" altLang="en-US" dirty="0">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graphicFrame>
        <p:nvGraphicFramePr>
          <p:cNvPr id="142340" name="对象 137222"/>
          <p:cNvGraphicFramePr/>
          <p:nvPr/>
        </p:nvGraphicFramePr>
        <p:xfrm>
          <a:off x="1295400" y="2549525"/>
          <a:ext cx="7162800" cy="2135188"/>
        </p:xfrm>
        <a:graphic>
          <a:graphicData uri="http://schemas.openxmlformats.org/presentationml/2006/ole">
            <mc:AlternateContent xmlns:mc="http://schemas.openxmlformats.org/markup-compatibility/2006">
              <mc:Choice xmlns:v="urn:schemas-microsoft-com:vml" Requires="v">
                <p:oleObj spid="_x0000_s3250" name="" r:id="rId3" imgW="3149600" imgH="939800" progId="Equation.3">
                  <p:embed/>
                </p:oleObj>
              </mc:Choice>
              <mc:Fallback>
                <p:oleObj name="" r:id="rId3" imgW="3149600" imgH="939800" progId="Equation.3">
                  <p:embed/>
                  <p:pic>
                    <p:nvPicPr>
                      <p:cNvPr id="0" name="图片 3249"/>
                      <p:cNvPicPr/>
                      <p:nvPr/>
                    </p:nvPicPr>
                    <p:blipFill>
                      <a:blip r:embed="rId4"/>
                      <a:stretch>
                        <a:fillRect/>
                      </a:stretch>
                    </p:blipFill>
                    <p:spPr>
                      <a:xfrm>
                        <a:off x="1295400" y="2549525"/>
                        <a:ext cx="7162800" cy="2135188"/>
                      </a:xfrm>
                      <a:prstGeom prst="rect">
                        <a:avLst/>
                      </a:prstGeom>
                      <a:noFill/>
                      <a:ln w="38100">
                        <a:noFill/>
                        <a:miter/>
                      </a:ln>
                    </p:spPr>
                  </p:pic>
                </p:oleObj>
              </mc:Fallback>
            </mc:AlternateContent>
          </a:graphicData>
        </a:graphic>
      </p:graphicFrame>
      <p:sp>
        <p:nvSpPr>
          <p:cNvPr id="142341" name="文本框 137223"/>
          <p:cNvSpPr txBox="1"/>
          <p:nvPr/>
        </p:nvSpPr>
        <p:spPr>
          <a:xfrm>
            <a:off x="365125" y="4648200"/>
            <a:ext cx="3867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再代入变换公式（</a:t>
            </a:r>
            <a:r>
              <a:rPr lang="en-US" altLang="zh-CN" dirty="0">
                <a:latin typeface="Times New Roman" panose="02020603050405020304" pitchFamily="18" charset="0"/>
                <a:ea typeface="宋体" panose="02010600030101010101" pitchFamily="2" charset="-122"/>
              </a:rPr>
              <a:t>5-59</a:t>
            </a:r>
            <a:r>
              <a:rPr lang="zh-CN" altLang="en-US" dirty="0">
                <a:latin typeface="Times New Roman" panose="02020603050405020304" pitchFamily="18" charset="0"/>
                <a:ea typeface="宋体" panose="02010600030101010101" pitchFamily="2" charset="-122"/>
              </a:rPr>
              <a:t>）得 </a:t>
            </a:r>
            <a:endParaRPr lang="zh-CN" altLang="en-US">
              <a:latin typeface="Times New Roman" panose="02020603050405020304" pitchFamily="18" charset="0"/>
              <a:ea typeface="宋体" panose="02010600030101010101" pitchFamily="2" charset="-122"/>
            </a:endParaRPr>
          </a:p>
        </p:txBody>
      </p:sp>
      <p:graphicFrame>
        <p:nvGraphicFramePr>
          <p:cNvPr id="142342" name="对象 137224"/>
          <p:cNvGraphicFramePr/>
          <p:nvPr/>
        </p:nvGraphicFramePr>
        <p:xfrm>
          <a:off x="2286000" y="5181600"/>
          <a:ext cx="4724400" cy="1114425"/>
        </p:xfrm>
        <a:graphic>
          <a:graphicData uri="http://schemas.openxmlformats.org/presentationml/2006/ole">
            <mc:AlternateContent xmlns:mc="http://schemas.openxmlformats.org/markup-compatibility/2006">
              <mc:Choice xmlns:v="urn:schemas-microsoft-com:vml" Requires="v">
                <p:oleObj spid="_x0000_s3251" name="" r:id="rId5" imgW="2044065" imgH="482600" progId="Equation.3">
                  <p:embed/>
                </p:oleObj>
              </mc:Choice>
              <mc:Fallback>
                <p:oleObj name="" r:id="rId5" imgW="2044065" imgH="482600" progId="Equation.3">
                  <p:embed/>
                  <p:pic>
                    <p:nvPicPr>
                      <p:cNvPr id="0" name="图片 3250"/>
                      <p:cNvPicPr/>
                      <p:nvPr/>
                    </p:nvPicPr>
                    <p:blipFill>
                      <a:blip r:embed="rId6"/>
                      <a:stretch>
                        <a:fillRect/>
                      </a:stretch>
                    </p:blipFill>
                    <p:spPr>
                      <a:xfrm>
                        <a:off x="2286000" y="5181600"/>
                        <a:ext cx="4724400" cy="1114425"/>
                      </a:xfrm>
                      <a:prstGeom prst="rect">
                        <a:avLst/>
                      </a:prstGeom>
                      <a:noFill/>
                      <a:ln w="38100">
                        <a:noFill/>
                        <a:miter/>
                      </a:ln>
                    </p:spPr>
                  </p:pic>
                </p:oleObj>
              </mc:Fallback>
            </mc:AlternateContent>
          </a:graphicData>
        </a:graphic>
      </p:graphicFrame>
    </p:spTree>
  </p:cSld>
  <p:clrMapOvr>
    <a:masterClrMapping/>
  </p:clrMapOvr>
  <p:transition>
    <p:blinds/>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1" name="文本框 136195"/>
          <p:cNvSpPr txBox="1"/>
          <p:nvPr/>
        </p:nvSpPr>
        <p:spPr>
          <a:xfrm>
            <a:off x="76200" y="685800"/>
            <a:ext cx="9118600" cy="457200"/>
          </a:xfrm>
          <a:prstGeom prst="rect">
            <a:avLst/>
          </a:prstGeom>
          <a:noFill/>
          <a:ln w="9525">
            <a:noFill/>
          </a:ln>
        </p:spPr>
        <p:txBody>
          <a:bodyPr wrap="none" anchor="t">
            <a:spAutoFit/>
          </a:bodyPr>
          <a:p>
            <a:r>
              <a:rPr lang="zh-CN" altLang="en-US">
                <a:latin typeface="Times New Roman" panose="02020603050405020304" pitchFamily="18" charset="0"/>
                <a:ea typeface="宋体" panose="02010600030101010101" pitchFamily="2" charset="-122"/>
              </a:rPr>
              <a:t>由</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，查表</a:t>
            </a:r>
            <a:r>
              <a:rPr lang="en-US" altLang="zh-CN" dirty="0">
                <a:latin typeface="Times New Roman" panose="02020603050405020304" pitchFamily="18" charset="0"/>
                <a:ea typeface="宋体" panose="02010600030101010101" pitchFamily="2" charset="-122"/>
              </a:rPr>
              <a:t>5-1</a:t>
            </a:r>
            <a:r>
              <a:rPr lang="zh-CN" altLang="en-US" dirty="0">
                <a:latin typeface="Times New Roman" panose="02020603050405020304" pitchFamily="18" charset="0"/>
                <a:ea typeface="宋体" panose="02010600030101010101" pitchFamily="2" charset="-122"/>
              </a:rPr>
              <a:t>可得三阶巴特沃思滤波器的归一化原型系统函数为 </a:t>
            </a:r>
            <a:endParaRPr lang="zh-CN" altLang="en-US">
              <a:latin typeface="Times New Roman" panose="02020603050405020304" pitchFamily="18" charset="0"/>
              <a:ea typeface="宋体" panose="02010600030101010101" pitchFamily="2" charset="-122"/>
            </a:endParaRPr>
          </a:p>
        </p:txBody>
      </p:sp>
      <p:graphicFrame>
        <p:nvGraphicFramePr>
          <p:cNvPr id="143362" name="对象 136196"/>
          <p:cNvGraphicFramePr/>
          <p:nvPr/>
        </p:nvGraphicFramePr>
        <p:xfrm>
          <a:off x="2438400" y="1143000"/>
          <a:ext cx="4038600" cy="985838"/>
        </p:xfrm>
        <a:graphic>
          <a:graphicData uri="http://schemas.openxmlformats.org/presentationml/2006/ole">
            <mc:AlternateContent xmlns:mc="http://schemas.openxmlformats.org/markup-compatibility/2006">
              <mc:Choice xmlns:v="urn:schemas-microsoft-com:vml" Requires="v">
                <p:oleObj spid="_x0000_s3247" name="" r:id="rId1" imgW="1612265" imgH="393700" progId="Equation.3">
                  <p:embed/>
                </p:oleObj>
              </mc:Choice>
              <mc:Fallback>
                <p:oleObj name="" r:id="rId1" imgW="1612265" imgH="393700" progId="Equation.3">
                  <p:embed/>
                  <p:pic>
                    <p:nvPicPr>
                      <p:cNvPr id="0" name="图片 3246"/>
                      <p:cNvPicPr/>
                      <p:nvPr/>
                    </p:nvPicPr>
                    <p:blipFill>
                      <a:blip r:embed="rId2"/>
                      <a:stretch>
                        <a:fillRect/>
                      </a:stretch>
                    </p:blipFill>
                    <p:spPr>
                      <a:xfrm>
                        <a:off x="2438400" y="1143000"/>
                        <a:ext cx="4038600" cy="985838"/>
                      </a:xfrm>
                      <a:prstGeom prst="rect">
                        <a:avLst/>
                      </a:prstGeom>
                      <a:noFill/>
                      <a:ln w="38100">
                        <a:noFill/>
                        <a:miter/>
                      </a:ln>
                    </p:spPr>
                  </p:pic>
                </p:oleObj>
              </mc:Fallback>
            </mc:AlternateContent>
          </a:graphicData>
        </a:graphic>
      </p:graphicFrame>
      <p:sp>
        <p:nvSpPr>
          <p:cNvPr id="143363" name="文本框 136197"/>
          <p:cNvSpPr txBox="1"/>
          <p:nvPr/>
        </p:nvSpPr>
        <p:spPr>
          <a:xfrm>
            <a:off x="152400" y="2286000"/>
            <a:ext cx="8218488"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3 dB</a:t>
            </a:r>
            <a:r>
              <a:rPr lang="zh-CN" altLang="en-US" dirty="0">
                <a:latin typeface="Times New Roman" panose="02020603050405020304" pitchFamily="18" charset="0"/>
                <a:ea typeface="宋体" panose="02010600030101010101" pitchFamily="2" charset="-122"/>
              </a:rPr>
              <a:t>截止频率为</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=4/</a:t>
            </a:r>
            <a:r>
              <a:rPr lang="en-US" altLang="zh-CN" i="1">
                <a:latin typeface="Times New Roman" panose="02020603050405020304" pitchFamily="18" charset="0"/>
                <a:ea typeface="宋体" panose="02010600030101010101" pitchFamily="2" charset="-122"/>
              </a:rPr>
              <a:t>T</a:t>
            </a:r>
            <a:r>
              <a:rPr lang="zh-CN" altLang="en-US" dirty="0">
                <a:latin typeface="Times New Roman" panose="02020603050405020304" pitchFamily="18" charset="0"/>
                <a:ea typeface="宋体" panose="02010600030101010101" pitchFamily="2" charset="-122"/>
              </a:rPr>
              <a:t>的三阶巴特沃思滤波器的系统函数为 </a:t>
            </a:r>
            <a:endParaRPr lang="zh-CN" altLang="en-US">
              <a:latin typeface="Times New Roman" panose="02020603050405020304" pitchFamily="18" charset="0"/>
              <a:ea typeface="宋体" panose="02010600030101010101" pitchFamily="2" charset="-122"/>
            </a:endParaRPr>
          </a:p>
        </p:txBody>
      </p:sp>
      <p:graphicFrame>
        <p:nvGraphicFramePr>
          <p:cNvPr id="143364" name="对象 136198"/>
          <p:cNvGraphicFramePr/>
          <p:nvPr/>
        </p:nvGraphicFramePr>
        <p:xfrm>
          <a:off x="152400" y="2663190"/>
          <a:ext cx="6553200" cy="925513"/>
        </p:xfrm>
        <a:graphic>
          <a:graphicData uri="http://schemas.openxmlformats.org/presentationml/2006/ole">
            <mc:AlternateContent xmlns:mc="http://schemas.openxmlformats.org/markup-compatibility/2006">
              <mc:Choice xmlns:v="urn:schemas-microsoft-com:vml" Requires="v">
                <p:oleObj spid="_x0000_s3252" name="" r:id="rId3" imgW="3415030" imgH="482600" progId="Equation.3">
                  <p:embed/>
                </p:oleObj>
              </mc:Choice>
              <mc:Fallback>
                <p:oleObj name="" r:id="rId3" imgW="3415030" imgH="482600" progId="Equation.3">
                  <p:embed/>
                  <p:pic>
                    <p:nvPicPr>
                      <p:cNvPr id="0" name="图片 3251"/>
                      <p:cNvPicPr/>
                      <p:nvPr/>
                    </p:nvPicPr>
                    <p:blipFill>
                      <a:blip r:embed="rId4"/>
                      <a:stretch>
                        <a:fillRect/>
                      </a:stretch>
                    </p:blipFill>
                    <p:spPr>
                      <a:xfrm>
                        <a:off x="152400" y="2663190"/>
                        <a:ext cx="6553200" cy="925513"/>
                      </a:xfrm>
                      <a:prstGeom prst="rect">
                        <a:avLst/>
                      </a:prstGeom>
                      <a:noFill/>
                      <a:ln w="38100">
                        <a:noFill/>
                        <a:miter/>
                      </a:ln>
                    </p:spPr>
                  </p:pic>
                </p:oleObj>
              </mc:Fallback>
            </mc:AlternateContent>
          </a:graphicData>
        </a:graphic>
      </p:graphicFrame>
      <p:graphicFrame>
        <p:nvGraphicFramePr>
          <p:cNvPr id="143365" name="对象 136199"/>
          <p:cNvGraphicFramePr/>
          <p:nvPr/>
        </p:nvGraphicFramePr>
        <p:xfrm>
          <a:off x="914400" y="3810000"/>
          <a:ext cx="7696200" cy="2379663"/>
        </p:xfrm>
        <a:graphic>
          <a:graphicData uri="http://schemas.openxmlformats.org/presentationml/2006/ole">
            <mc:AlternateContent xmlns:mc="http://schemas.openxmlformats.org/markup-compatibility/2006">
              <mc:Choice xmlns:v="urn:schemas-microsoft-com:vml" Requires="v">
                <p:oleObj spid="_x0000_s3248" name="" r:id="rId5" imgW="3860800" imgH="1193800" progId="Equation.3">
                  <p:embed/>
                </p:oleObj>
              </mc:Choice>
              <mc:Fallback>
                <p:oleObj name="" r:id="rId5" imgW="3860800" imgH="1193800" progId="Equation.3">
                  <p:embed/>
                  <p:pic>
                    <p:nvPicPr>
                      <p:cNvPr id="0" name="图片 3247"/>
                      <p:cNvPicPr/>
                      <p:nvPr/>
                    </p:nvPicPr>
                    <p:blipFill>
                      <a:blip r:embed="rId6"/>
                      <a:stretch>
                        <a:fillRect/>
                      </a:stretch>
                    </p:blipFill>
                    <p:spPr>
                      <a:xfrm>
                        <a:off x="914400" y="3810000"/>
                        <a:ext cx="7696200" cy="2379663"/>
                      </a:xfrm>
                      <a:prstGeom prst="rect">
                        <a:avLst/>
                      </a:prstGeom>
                      <a:noFill/>
                      <a:ln w="38100">
                        <a:noFill/>
                        <a:miter/>
                      </a:ln>
                    </p:spPr>
                  </p:pic>
                </p:oleObj>
              </mc:Fallback>
            </mc:AlternateContent>
          </a:graphicData>
        </a:graphic>
      </p:graphicFrame>
      <p:graphicFrame>
        <p:nvGraphicFramePr>
          <p:cNvPr id="132098" name="对象 124932"/>
          <p:cNvGraphicFramePr/>
          <p:nvPr/>
        </p:nvGraphicFramePr>
        <p:xfrm>
          <a:off x="6299200" y="1143000"/>
          <a:ext cx="2895600" cy="1085850"/>
        </p:xfrm>
        <a:graphic>
          <a:graphicData uri="http://schemas.openxmlformats.org/presentationml/2006/ole">
            <mc:AlternateContent xmlns:mc="http://schemas.openxmlformats.org/markup-compatibility/2006">
              <mc:Choice xmlns:v="urn:schemas-microsoft-com:vml" Requires="v">
                <p:oleObj spid="_x0000_s3241" name="" r:id="rId7" imgW="1219200" imgH="457200" progId="Equation.3">
                  <p:embed/>
                </p:oleObj>
              </mc:Choice>
              <mc:Fallback>
                <p:oleObj name="" r:id="rId7" imgW="1219200" imgH="457200" progId="Equation.3">
                  <p:embed/>
                  <p:pic>
                    <p:nvPicPr>
                      <p:cNvPr id="0" name="图片 3240"/>
                      <p:cNvPicPr/>
                      <p:nvPr/>
                    </p:nvPicPr>
                    <p:blipFill>
                      <a:blip r:embed="rId8"/>
                      <a:stretch>
                        <a:fillRect/>
                      </a:stretch>
                    </p:blipFill>
                    <p:spPr>
                      <a:xfrm>
                        <a:off x="6299200" y="1143000"/>
                        <a:ext cx="2895600" cy="1085850"/>
                      </a:xfrm>
                      <a:prstGeom prst="rect">
                        <a:avLst/>
                      </a:prstGeom>
                      <a:solidFill>
                        <a:schemeClr val="accent1"/>
                      </a:solidFill>
                      <a:ln w="38100">
                        <a:noFill/>
                        <a:miter/>
                      </a:ln>
                    </p:spPr>
                  </p:pic>
                </p:oleObj>
              </mc:Fallback>
            </mc:AlternateContent>
          </a:graphicData>
        </a:graphic>
      </p:graphicFrame>
      <p:graphicFrame>
        <p:nvGraphicFramePr>
          <p:cNvPr id="132101" name="对象 124935"/>
          <p:cNvGraphicFramePr/>
          <p:nvPr/>
        </p:nvGraphicFramePr>
        <p:xfrm>
          <a:off x="6908800" y="3032760"/>
          <a:ext cx="2286000" cy="1179513"/>
        </p:xfrm>
        <a:graphic>
          <a:graphicData uri="http://schemas.openxmlformats.org/presentationml/2006/ole">
            <mc:AlternateContent xmlns:mc="http://schemas.openxmlformats.org/markup-compatibility/2006">
              <mc:Choice xmlns:v="urn:schemas-microsoft-com:vml" Requires="v">
                <p:oleObj spid="_x0000_s3239" name="" r:id="rId9" imgW="812165" imgH="419100" progId="Equation.3">
                  <p:embed/>
                </p:oleObj>
              </mc:Choice>
              <mc:Fallback>
                <p:oleObj name="" r:id="rId9" imgW="812165" imgH="419100" progId="Equation.3">
                  <p:embed/>
                  <p:pic>
                    <p:nvPicPr>
                      <p:cNvPr id="0" name="图片 3238"/>
                      <p:cNvPicPr/>
                      <p:nvPr/>
                    </p:nvPicPr>
                    <p:blipFill>
                      <a:blip r:embed="rId10"/>
                      <a:stretch>
                        <a:fillRect/>
                      </a:stretch>
                    </p:blipFill>
                    <p:spPr>
                      <a:xfrm>
                        <a:off x="6908800" y="3032760"/>
                        <a:ext cx="2286000" cy="1179513"/>
                      </a:xfrm>
                      <a:prstGeom prst="rect">
                        <a:avLst/>
                      </a:prstGeom>
                      <a:solidFill>
                        <a:schemeClr val="accent1"/>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2098"/>
                                        </p:tgtEl>
                                        <p:attrNameLst>
                                          <p:attrName>style.visibility</p:attrName>
                                        </p:attrNameLst>
                                      </p:cBhvr>
                                      <p:to>
                                        <p:strVal val="visible"/>
                                      </p:to>
                                    </p:set>
                                    <p:anim calcmode="lin" valueType="num">
                                      <p:cBhvr additive="base">
                                        <p:cTn id="7" dur="500" fill="hold"/>
                                        <p:tgtEl>
                                          <p:spTgt spid="132098"/>
                                        </p:tgtEl>
                                        <p:attrNameLst>
                                          <p:attrName>ppt_x</p:attrName>
                                        </p:attrNameLst>
                                      </p:cBhvr>
                                      <p:tavLst>
                                        <p:tav tm="0">
                                          <p:val>
                                            <p:strVal val="#ppt_x"/>
                                          </p:val>
                                        </p:tav>
                                        <p:tav tm="100000">
                                          <p:val>
                                            <p:strVal val="#ppt_x"/>
                                          </p:val>
                                        </p:tav>
                                      </p:tavLst>
                                    </p:anim>
                                    <p:anim calcmode="lin" valueType="num">
                                      <p:cBhvr additive="base">
                                        <p:cTn id="8" dur="500" fill="hold"/>
                                        <p:tgtEl>
                                          <p:spTgt spid="13209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2101"/>
                                        </p:tgtEl>
                                        <p:attrNameLst>
                                          <p:attrName>style.visibility</p:attrName>
                                        </p:attrNameLst>
                                      </p:cBhvr>
                                      <p:to>
                                        <p:strVal val="visible"/>
                                      </p:to>
                                    </p:set>
                                    <p:anim calcmode="lin" valueType="num">
                                      <p:cBhvr additive="base">
                                        <p:cTn id="13" dur="500" fill="hold"/>
                                        <p:tgtEl>
                                          <p:spTgt spid="132101"/>
                                        </p:tgtEl>
                                        <p:attrNameLst>
                                          <p:attrName>ppt_x</p:attrName>
                                        </p:attrNameLst>
                                      </p:cBhvr>
                                      <p:tavLst>
                                        <p:tav tm="0">
                                          <p:val>
                                            <p:strVal val="#ppt_x"/>
                                          </p:val>
                                        </p:tav>
                                        <p:tav tm="100000">
                                          <p:val>
                                            <p:strVal val="#ppt_x"/>
                                          </p:val>
                                        </p:tav>
                                      </p:tavLst>
                                    </p:anim>
                                    <p:anim calcmode="lin" valueType="num">
                                      <p:cBhvr additive="base">
                                        <p:cTn id="14" dur="500" fill="hold"/>
                                        <p:tgtEl>
                                          <p:spTgt spid="1321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5" name="文本框 139267"/>
          <p:cNvSpPr txBox="1"/>
          <p:nvPr/>
        </p:nvSpPr>
        <p:spPr>
          <a:xfrm>
            <a:off x="2627313" y="5734050"/>
            <a:ext cx="4095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5-23  </a:t>
            </a:r>
            <a:r>
              <a:rPr lang="zh-CN" altLang="en-US" dirty="0">
                <a:latin typeface="Times New Roman" panose="02020603050405020304" pitchFamily="18" charset="0"/>
                <a:ea typeface="宋体" panose="02010600030101010101" pitchFamily="2" charset="-122"/>
              </a:rPr>
              <a:t>巴特沃思带通滤波器 </a:t>
            </a:r>
            <a:endParaRPr lang="zh-CN" altLang="en-US">
              <a:latin typeface="Times New Roman" panose="02020603050405020304" pitchFamily="18" charset="0"/>
              <a:ea typeface="宋体" panose="02010600030101010101" pitchFamily="2" charset="-122"/>
            </a:endParaRPr>
          </a:p>
        </p:txBody>
      </p:sp>
      <p:pic>
        <p:nvPicPr>
          <p:cNvPr id="144386" name="图片 139270" descr="5-23"/>
          <p:cNvPicPr>
            <a:picLocks noChangeAspect="1"/>
          </p:cNvPicPr>
          <p:nvPr/>
        </p:nvPicPr>
        <p:blipFill>
          <a:blip r:embed="rId1"/>
          <a:stretch>
            <a:fillRect/>
          </a:stretch>
        </p:blipFill>
        <p:spPr>
          <a:xfrm>
            <a:off x="1866900" y="1125538"/>
            <a:ext cx="5410200" cy="4286250"/>
          </a:xfrm>
          <a:prstGeom prst="rect">
            <a:avLst/>
          </a:prstGeom>
          <a:noFill/>
          <a:ln w="9525">
            <a:noFill/>
          </a:ln>
        </p:spPr>
      </p:pic>
    </p:spTree>
  </p:cSld>
  <p:clrMapOvr>
    <a:masterClrMapping/>
  </p:clrMapOvr>
  <p:transition>
    <p:blinds/>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09" name="文本框 138243"/>
          <p:cNvSpPr txBox="1"/>
          <p:nvPr/>
        </p:nvSpPr>
        <p:spPr>
          <a:xfrm>
            <a:off x="228600" y="685800"/>
            <a:ext cx="8686800" cy="4926013"/>
          </a:xfrm>
          <a:prstGeom prst="rect">
            <a:avLst/>
          </a:prstGeom>
          <a:noFill/>
          <a:ln w="9525">
            <a:noFill/>
          </a:ln>
        </p:spPr>
        <p:txBody>
          <a:bodyPr anchor="t">
            <a:spAutoFit/>
          </a:bodyPr>
          <a:p>
            <a:pPr algn="just">
              <a:lnSpc>
                <a:spcPct val="18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从上面设计过程中可以看出，如果在求</a:t>
            </a:r>
            <a:r>
              <a:rPr lang="en-US" altLang="zh-CN" i="1">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参数时，假定</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，即采用归一化低通原型，则由归一化低通原型模拟滤波器变换得到的数字带通滤波器，将与上面得到的结果一致。这是因为在</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中的</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D</a:t>
            </a:r>
            <a:r>
              <a:rPr lang="zh-CN" altLang="en-US" dirty="0">
                <a:latin typeface="Times New Roman" panose="02020603050405020304" pitchFamily="18" charset="0"/>
                <a:ea typeface="宋体" panose="02010600030101010101" pitchFamily="2" charset="-122"/>
              </a:rPr>
              <a:t>中的</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互相抵消，所以只需用</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的归一化原型</a:t>
            </a:r>
            <a:r>
              <a:rPr lang="en-US" altLang="zh-CN" i="1" err="1">
                <a:latin typeface="Times New Roman" panose="02020603050405020304" pitchFamily="18" charset="0"/>
                <a:ea typeface="宋体" panose="02010600030101010101" pitchFamily="2" charset="-122"/>
              </a:rPr>
              <a:t>H</a:t>
            </a:r>
            <a:r>
              <a:rPr lang="en-US" altLang="zh-CN" baseline="-25000" err="1">
                <a:latin typeface="Times New Roman" panose="02020603050405020304" pitchFamily="18" charset="0"/>
                <a:ea typeface="宋体" panose="02010600030101010101" pitchFamily="2" charset="-122"/>
              </a:rPr>
              <a:t>a</a:t>
            </a:r>
            <a:r>
              <a:rPr lang="en-US" altLang="zh-CN" baseline="-60000" err="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设计即可。 </a:t>
            </a:r>
            <a:endParaRPr lang="zh-CN" altLang="en-US" dirty="0">
              <a:latin typeface="Times New Roman" panose="02020603050405020304" pitchFamily="18" charset="0"/>
              <a:ea typeface="宋体" panose="02010600030101010101" pitchFamily="2" charset="-122"/>
            </a:endParaRPr>
          </a:p>
          <a:p>
            <a:pPr algn="just">
              <a:lnSpc>
                <a:spcPct val="180000"/>
              </a:lnSpc>
              <a:spcBef>
                <a:spcPct val="50000"/>
              </a:spcBef>
            </a:pPr>
            <a:r>
              <a:rPr lang="zh-CN" altLang="en-US" dirty="0">
                <a:latin typeface="Times New Roman" panose="02020603050405020304" pitchFamily="18" charset="0"/>
                <a:ea typeface="宋体" panose="02010600030101010101" pitchFamily="2" charset="-122"/>
              </a:rPr>
              <a:t>        对其他类型的滤波器，同样也可直接利用归一化原型滤波器</a:t>
            </a:r>
            <a:r>
              <a:rPr lang="en-US" altLang="zh-CN" i="1" err="1">
                <a:latin typeface="Times New Roman" panose="02020603050405020304" pitchFamily="18" charset="0"/>
                <a:ea typeface="宋体" panose="02010600030101010101" pitchFamily="2" charset="-122"/>
              </a:rPr>
              <a:t>H</a:t>
            </a:r>
            <a:r>
              <a:rPr lang="en-US" altLang="zh-CN" baseline="-25000" err="1">
                <a:latin typeface="Times New Roman" panose="02020603050405020304" pitchFamily="18" charset="0"/>
                <a:ea typeface="宋体" panose="02010600030101010101" pitchFamily="2" charset="-122"/>
              </a:rPr>
              <a:t>a</a:t>
            </a:r>
            <a:r>
              <a:rPr lang="en-US" altLang="zh-CN" baseline="-60000" err="1">
                <a:latin typeface="Times New Roman" panose="02020603050405020304" pitchFamily="18" charset="0"/>
                <a:ea typeface="宋体" panose="02010600030101010101" pitchFamily="2" charset="-122"/>
              </a:rPr>
              <a:t>N</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设计</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3" name="文本框 141315"/>
          <p:cNvSpPr txBox="1"/>
          <p:nvPr/>
        </p:nvSpPr>
        <p:spPr>
          <a:xfrm>
            <a:off x="304800" y="609600"/>
            <a:ext cx="8686800" cy="1281113"/>
          </a:xfrm>
          <a:prstGeom prst="rect">
            <a:avLst/>
          </a:prstGeom>
          <a:noFill/>
          <a:ln w="9525">
            <a:noFill/>
          </a:ln>
        </p:spPr>
        <p:txBody>
          <a:bodyPr anchor="t">
            <a:spAutoFit/>
          </a:bodyPr>
          <a:p>
            <a:pPr algn="just">
              <a:lnSpc>
                <a:spcPct val="138000"/>
              </a:lnSpc>
              <a:spcBef>
                <a:spcPct val="50000"/>
              </a:spcBef>
            </a:pPr>
            <a:r>
              <a:rPr lang="en-US" altLang="zh-CN" b="1" dirty="0">
                <a:solidFill>
                  <a:srgbClr val="FF0000"/>
                </a:solidFill>
                <a:latin typeface="Times New Roman" panose="02020603050405020304" pitchFamily="18" charset="0"/>
                <a:ea typeface="宋体" panose="02010600030101010101" pitchFamily="2" charset="-122"/>
              </a:rPr>
              <a:t>5.6.4 </a:t>
            </a:r>
            <a:r>
              <a:rPr lang="zh-CN" altLang="en-US" b="1" dirty="0">
                <a:solidFill>
                  <a:srgbClr val="FF0000"/>
                </a:solidFill>
                <a:latin typeface="Times New Roman" panose="02020603050405020304" pitchFamily="18" charset="0"/>
                <a:ea typeface="宋体" panose="02010600030101010101" pitchFamily="2" charset="-122"/>
              </a:rPr>
              <a:t>模拟低通滤波器变换成数字带阻滤波器</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由表</a:t>
            </a:r>
            <a:r>
              <a:rPr lang="en-US" altLang="zh-CN" dirty="0">
                <a:latin typeface="Times New Roman" panose="02020603050405020304" pitchFamily="18" charset="0"/>
                <a:ea typeface="宋体" panose="02010600030101010101" pitchFamily="2" charset="-122"/>
              </a:rPr>
              <a:t>5-3</a:t>
            </a:r>
            <a:r>
              <a:rPr lang="zh-CN" altLang="en-US" dirty="0">
                <a:latin typeface="Times New Roman" panose="02020603050405020304" pitchFamily="18" charset="0"/>
                <a:ea typeface="宋体" panose="02010600030101010101" pitchFamily="2" charset="-122"/>
              </a:rPr>
              <a:t>可知， 由模拟低通原型到模拟带阻的变换关系为 </a:t>
            </a:r>
            <a:endParaRPr lang="zh-CN" altLang="en-US">
              <a:latin typeface="Times New Roman" panose="02020603050405020304" pitchFamily="18" charset="0"/>
              <a:ea typeface="宋体" panose="02010600030101010101" pitchFamily="2" charset="-122"/>
            </a:endParaRPr>
          </a:p>
        </p:txBody>
      </p:sp>
      <p:graphicFrame>
        <p:nvGraphicFramePr>
          <p:cNvPr id="146434" name="对象 141316"/>
          <p:cNvGraphicFramePr/>
          <p:nvPr/>
        </p:nvGraphicFramePr>
        <p:xfrm>
          <a:off x="2513013" y="1981200"/>
          <a:ext cx="3203575" cy="1133475"/>
        </p:xfrm>
        <a:graphic>
          <a:graphicData uri="http://schemas.openxmlformats.org/presentationml/2006/ole">
            <mc:AlternateContent xmlns:mc="http://schemas.openxmlformats.org/markup-compatibility/2006">
              <mc:Choice xmlns:v="urn:schemas-microsoft-com:vml" Requires="v">
                <p:oleObj spid="_x0000_s3254" name="" r:id="rId1" imgW="1219200" imgH="431800" progId="Equation.3">
                  <p:embed/>
                </p:oleObj>
              </mc:Choice>
              <mc:Fallback>
                <p:oleObj name="" r:id="rId1" imgW="1219200" imgH="431800" progId="Equation.3">
                  <p:embed/>
                  <p:pic>
                    <p:nvPicPr>
                      <p:cNvPr id="0" name="图片 3253"/>
                      <p:cNvPicPr/>
                      <p:nvPr/>
                    </p:nvPicPr>
                    <p:blipFill>
                      <a:blip r:embed="rId2"/>
                      <a:stretch>
                        <a:fillRect/>
                      </a:stretch>
                    </p:blipFill>
                    <p:spPr>
                      <a:xfrm>
                        <a:off x="2513013" y="1981200"/>
                        <a:ext cx="3203575" cy="1133475"/>
                      </a:xfrm>
                      <a:prstGeom prst="rect">
                        <a:avLst/>
                      </a:prstGeom>
                      <a:solidFill>
                        <a:schemeClr val="accent1"/>
                      </a:solidFill>
                      <a:ln w="38100">
                        <a:noFill/>
                        <a:miter/>
                      </a:ln>
                    </p:spPr>
                  </p:pic>
                </p:oleObj>
              </mc:Fallback>
            </mc:AlternateContent>
          </a:graphicData>
        </a:graphic>
      </p:graphicFrame>
      <p:sp>
        <p:nvSpPr>
          <p:cNvPr id="146435" name="文本框 141317"/>
          <p:cNvSpPr txBox="1"/>
          <p:nvPr/>
        </p:nvSpPr>
        <p:spPr>
          <a:xfrm>
            <a:off x="6934200" y="22860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5-72</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46436" name="文本框 141318"/>
          <p:cNvSpPr txBox="1"/>
          <p:nvPr/>
        </p:nvSpPr>
        <p:spPr>
          <a:xfrm>
            <a:off x="228600" y="3048000"/>
            <a:ext cx="8686800" cy="2287588"/>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为模拟低通滤波器的截止频率，</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l</a:t>
            </a:r>
            <a:r>
              <a:rPr lang="zh-CN" altLang="en-US" dirty="0">
                <a:latin typeface="Times New Roman" panose="02020603050405020304" pitchFamily="18" charset="0"/>
                <a:ea typeface="宋体" panose="02010600030101010101" pitchFamily="2" charset="-122"/>
              </a:rPr>
              <a:t>分别为实</a:t>
            </a:r>
            <a:r>
              <a:rPr lang="zh-CN" altLang="en-US" dirty="0">
                <a:latin typeface="Times New Roman" panose="02020603050405020304" pitchFamily="18" charset="0"/>
                <a:ea typeface="宋体" panose="02010600030101010101" pitchFamily="2" charset="-122"/>
              </a:rPr>
              <a:t>际带阻滤波器的阻带上、下截止频率。</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根据双线性变换，模拟带阻与数字带阻之间的</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平面与</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平面的关系仍为  </a:t>
            </a:r>
            <a:endParaRPr lang="zh-CN" altLang="en-US">
              <a:latin typeface="Times New Roman" panose="02020603050405020304" pitchFamily="18" charset="0"/>
              <a:ea typeface="宋体" panose="02010600030101010101" pitchFamily="2" charset="-122"/>
            </a:endParaRPr>
          </a:p>
        </p:txBody>
      </p:sp>
      <p:graphicFrame>
        <p:nvGraphicFramePr>
          <p:cNvPr id="146437" name="对象 141319"/>
          <p:cNvGraphicFramePr/>
          <p:nvPr/>
        </p:nvGraphicFramePr>
        <p:xfrm>
          <a:off x="3352800" y="4876800"/>
          <a:ext cx="2286000" cy="1179513"/>
        </p:xfrm>
        <a:graphic>
          <a:graphicData uri="http://schemas.openxmlformats.org/presentationml/2006/ole">
            <mc:AlternateContent xmlns:mc="http://schemas.openxmlformats.org/markup-compatibility/2006">
              <mc:Choice xmlns:v="urn:schemas-microsoft-com:vml" Requires="v">
                <p:oleObj spid="_x0000_s3257" name="" r:id="rId3" imgW="812165" imgH="419100" progId="Equation.3">
                  <p:embed/>
                </p:oleObj>
              </mc:Choice>
              <mc:Fallback>
                <p:oleObj name="" r:id="rId3" imgW="812165" imgH="419100" progId="Equation.3">
                  <p:embed/>
                  <p:pic>
                    <p:nvPicPr>
                      <p:cNvPr id="0" name="图片 3256"/>
                      <p:cNvPicPr/>
                      <p:nvPr/>
                    </p:nvPicPr>
                    <p:blipFill>
                      <a:blip r:embed="rId4"/>
                      <a:stretch>
                        <a:fillRect/>
                      </a:stretch>
                    </p:blipFill>
                    <p:spPr>
                      <a:xfrm>
                        <a:off x="3352800" y="4876800"/>
                        <a:ext cx="2286000" cy="1179513"/>
                      </a:xfrm>
                      <a:prstGeom prst="rect">
                        <a:avLst/>
                      </a:prstGeom>
                      <a:solidFill>
                        <a:schemeClr val="accent1"/>
                      </a:solidFill>
                      <a:ln w="38100">
                        <a:noFill/>
                        <a:miter/>
                      </a:ln>
                    </p:spPr>
                  </p:pic>
                </p:oleObj>
              </mc:Fallback>
            </mc:AlternateContent>
          </a:graphicData>
        </a:graphic>
      </p:graphicFrame>
      <p:sp>
        <p:nvSpPr>
          <p:cNvPr id="146438" name="文本框 141320"/>
          <p:cNvSpPr txBox="1"/>
          <p:nvPr/>
        </p:nvSpPr>
        <p:spPr>
          <a:xfrm>
            <a:off x="7162800" y="53340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5-73</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7" name="文本框 140291"/>
          <p:cNvSpPr txBox="1"/>
          <p:nvPr/>
        </p:nvSpPr>
        <p:spPr>
          <a:xfrm>
            <a:off x="152400" y="533400"/>
            <a:ext cx="8839200" cy="1601788"/>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把变换式（</a:t>
            </a:r>
            <a:r>
              <a:rPr lang="en-US" altLang="zh-CN" dirty="0">
                <a:latin typeface="Times New Roman" panose="02020603050405020304" pitchFamily="18" charset="0"/>
                <a:ea typeface="宋体" panose="02010600030101010101" pitchFamily="2" charset="-122"/>
              </a:rPr>
              <a:t>5-72</a:t>
            </a:r>
            <a:r>
              <a:rPr lang="zh-CN" altLang="en-US" dirty="0">
                <a:latin typeface="Times New Roman" panose="02020603050405020304" pitchFamily="18" charset="0"/>
                <a:ea typeface="宋体" panose="02010600030101010101" pitchFamily="2" charset="-122"/>
              </a:rPr>
              <a:t>）和变换式（</a:t>
            </a:r>
            <a:r>
              <a:rPr lang="en-US" altLang="zh-CN" dirty="0">
                <a:latin typeface="Times New Roman" panose="02020603050405020304" pitchFamily="18" charset="0"/>
                <a:ea typeface="宋体" panose="02010600030101010101" pitchFamily="2" charset="-122"/>
              </a:rPr>
              <a:t>5-73</a:t>
            </a:r>
            <a:r>
              <a:rPr lang="zh-CN" altLang="en-US" dirty="0">
                <a:latin typeface="Times New Roman" panose="02020603050405020304" pitchFamily="18" charset="0"/>
                <a:ea typeface="宋体" panose="02010600030101010101" pitchFamily="2" charset="-122"/>
              </a:rPr>
              <a:t>）结合起来，可得到直接从模拟低通原</a:t>
            </a:r>
            <a:r>
              <a:rPr lang="zh-CN" altLang="en-US" dirty="0">
                <a:latin typeface="Times New Roman" panose="02020603050405020304" pitchFamily="18" charset="0"/>
                <a:ea typeface="宋体" panose="02010600030101010101" pitchFamily="2" charset="-122"/>
              </a:rPr>
              <a:t>型变换成数字带阻滤波器的表达式，也就是直接联系</a:t>
            </a:r>
            <a:r>
              <a:rPr lang="en-US" altLang="zh-CN" dirty="0">
                <a:latin typeface="Times New Roman" panose="02020603050405020304" pitchFamily="18" charset="0"/>
                <a:ea typeface="宋体" panose="02010600030101010101" pitchFamily="2" charset="-122"/>
              </a:rPr>
              <a:t>s</a:t>
            </a:r>
            <a:r>
              <a:rPr lang="zh-CN" altLang="en-US" dirty="0">
                <a:latin typeface="Times New Roman" panose="02020603050405020304" pitchFamily="18" charset="0"/>
                <a:ea typeface="宋体" panose="02010600030101010101" pitchFamily="2" charset="-122"/>
              </a:rPr>
              <a:t>与</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之间的变换公式 </a:t>
            </a:r>
            <a:endParaRPr lang="zh-CN" altLang="en-US">
              <a:latin typeface="Times New Roman" panose="02020603050405020304" pitchFamily="18" charset="0"/>
              <a:ea typeface="宋体" panose="02010600030101010101" pitchFamily="2" charset="-122"/>
            </a:endParaRPr>
          </a:p>
        </p:txBody>
      </p:sp>
      <p:graphicFrame>
        <p:nvGraphicFramePr>
          <p:cNvPr id="147458" name="对象 140292"/>
          <p:cNvGraphicFramePr/>
          <p:nvPr/>
        </p:nvGraphicFramePr>
        <p:xfrm>
          <a:off x="2681288" y="2043113"/>
          <a:ext cx="3781425" cy="1976437"/>
        </p:xfrm>
        <a:graphic>
          <a:graphicData uri="http://schemas.openxmlformats.org/presentationml/2006/ole">
            <mc:AlternateContent xmlns:mc="http://schemas.openxmlformats.org/markup-compatibility/2006">
              <mc:Choice xmlns:v="urn:schemas-microsoft-com:vml" Requires="v">
                <p:oleObj spid="_x0000_s3259" name="" r:id="rId1" imgW="1701800" imgH="889000" progId="Equation.3">
                  <p:embed/>
                </p:oleObj>
              </mc:Choice>
              <mc:Fallback>
                <p:oleObj name="" r:id="rId1" imgW="1701800" imgH="889000" progId="Equation.3">
                  <p:embed/>
                  <p:pic>
                    <p:nvPicPr>
                      <p:cNvPr id="0" name="图片 3258"/>
                      <p:cNvPicPr/>
                      <p:nvPr/>
                    </p:nvPicPr>
                    <p:blipFill>
                      <a:blip r:embed="rId2"/>
                      <a:stretch>
                        <a:fillRect/>
                      </a:stretch>
                    </p:blipFill>
                    <p:spPr>
                      <a:xfrm>
                        <a:off x="2681288" y="2043113"/>
                        <a:ext cx="3781425" cy="1976437"/>
                      </a:xfrm>
                      <a:prstGeom prst="rect">
                        <a:avLst/>
                      </a:prstGeom>
                      <a:noFill/>
                      <a:ln w="38100">
                        <a:noFill/>
                        <a:miter/>
                      </a:ln>
                    </p:spPr>
                  </p:pic>
                </p:oleObj>
              </mc:Fallback>
            </mc:AlternateContent>
          </a:graphicData>
        </a:graphic>
      </p:graphicFrame>
      <p:sp>
        <p:nvSpPr>
          <p:cNvPr id="147459" name="文本框 140293"/>
          <p:cNvSpPr txBox="1"/>
          <p:nvPr/>
        </p:nvSpPr>
        <p:spPr>
          <a:xfrm>
            <a:off x="212725" y="4156075"/>
            <a:ext cx="1784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经推导后得 </a:t>
            </a:r>
            <a:endParaRPr lang="zh-CN" altLang="en-US">
              <a:latin typeface="Times New Roman" panose="02020603050405020304" pitchFamily="18" charset="0"/>
              <a:ea typeface="宋体" panose="02010600030101010101" pitchFamily="2" charset="-122"/>
            </a:endParaRPr>
          </a:p>
        </p:txBody>
      </p:sp>
      <p:graphicFrame>
        <p:nvGraphicFramePr>
          <p:cNvPr id="147460" name="对象 140294"/>
          <p:cNvGraphicFramePr/>
          <p:nvPr/>
        </p:nvGraphicFramePr>
        <p:xfrm>
          <a:off x="2895600" y="4648200"/>
          <a:ext cx="3429000" cy="1211263"/>
        </p:xfrm>
        <a:graphic>
          <a:graphicData uri="http://schemas.openxmlformats.org/presentationml/2006/ole">
            <mc:AlternateContent xmlns:mc="http://schemas.openxmlformats.org/markup-compatibility/2006">
              <mc:Choice xmlns:v="urn:schemas-microsoft-com:vml" Requires="v">
                <p:oleObj spid="_x0000_s3258" name="" r:id="rId3" imgW="1295400" imgH="457200" progId="Equation.3">
                  <p:embed/>
                </p:oleObj>
              </mc:Choice>
              <mc:Fallback>
                <p:oleObj name="" r:id="rId3" imgW="1295400" imgH="457200" progId="Equation.3">
                  <p:embed/>
                  <p:pic>
                    <p:nvPicPr>
                      <p:cNvPr id="0" name="图片 3257"/>
                      <p:cNvPicPr/>
                      <p:nvPr/>
                    </p:nvPicPr>
                    <p:blipFill>
                      <a:blip r:embed="rId4"/>
                      <a:stretch>
                        <a:fillRect/>
                      </a:stretch>
                    </p:blipFill>
                    <p:spPr>
                      <a:xfrm>
                        <a:off x="2895600" y="4648200"/>
                        <a:ext cx="3429000" cy="1211263"/>
                      </a:xfrm>
                      <a:prstGeom prst="rect">
                        <a:avLst/>
                      </a:prstGeom>
                      <a:noFill/>
                      <a:ln w="38100">
                        <a:noFill/>
                        <a:miter/>
                      </a:ln>
                    </p:spPr>
                  </p:pic>
                </p:oleObj>
              </mc:Fallback>
            </mc:AlternateContent>
          </a:graphicData>
        </a:graphic>
      </p:graphicFrame>
      <p:sp>
        <p:nvSpPr>
          <p:cNvPr id="147461" name="文本框 140296"/>
          <p:cNvSpPr txBox="1"/>
          <p:nvPr/>
        </p:nvSpPr>
        <p:spPr>
          <a:xfrm>
            <a:off x="7239000" y="51054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5-74</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1" name="文本框 143363"/>
          <p:cNvSpPr txBox="1"/>
          <p:nvPr/>
        </p:nvSpPr>
        <p:spPr>
          <a:xfrm>
            <a:off x="152400" y="727075"/>
            <a:ext cx="1174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 </a:t>
            </a:r>
            <a:endParaRPr lang="zh-CN" altLang="en-US">
              <a:latin typeface="Times New Roman" panose="02020603050405020304" pitchFamily="18" charset="0"/>
              <a:ea typeface="宋体" panose="02010600030101010101" pitchFamily="2" charset="-122"/>
            </a:endParaRPr>
          </a:p>
        </p:txBody>
      </p:sp>
      <p:graphicFrame>
        <p:nvGraphicFramePr>
          <p:cNvPr id="148482" name="对象 143364"/>
          <p:cNvGraphicFramePr/>
          <p:nvPr/>
        </p:nvGraphicFramePr>
        <p:xfrm>
          <a:off x="2833688" y="906463"/>
          <a:ext cx="3324225" cy="1952625"/>
        </p:xfrm>
        <a:graphic>
          <a:graphicData uri="http://schemas.openxmlformats.org/presentationml/2006/ole">
            <mc:AlternateContent xmlns:mc="http://schemas.openxmlformats.org/markup-compatibility/2006">
              <mc:Choice xmlns:v="urn:schemas-microsoft-com:vml" Requires="v">
                <p:oleObj spid="_x0000_s3256" name="" r:id="rId1" imgW="1536700" imgH="901700" progId="Equation.3">
                  <p:embed/>
                </p:oleObj>
              </mc:Choice>
              <mc:Fallback>
                <p:oleObj name="" r:id="rId1" imgW="1536700" imgH="901700" progId="Equation.3">
                  <p:embed/>
                  <p:pic>
                    <p:nvPicPr>
                      <p:cNvPr id="0" name="图片 3255"/>
                      <p:cNvPicPr/>
                      <p:nvPr/>
                    </p:nvPicPr>
                    <p:blipFill>
                      <a:blip r:embed="rId2"/>
                      <a:stretch>
                        <a:fillRect/>
                      </a:stretch>
                    </p:blipFill>
                    <p:spPr>
                      <a:xfrm>
                        <a:off x="2833688" y="906463"/>
                        <a:ext cx="3324225" cy="1952625"/>
                      </a:xfrm>
                      <a:prstGeom prst="rect">
                        <a:avLst/>
                      </a:prstGeom>
                      <a:noFill/>
                      <a:ln w="38100">
                        <a:noFill/>
                        <a:miter/>
                      </a:ln>
                    </p:spPr>
                  </p:pic>
                </p:oleObj>
              </mc:Fallback>
            </mc:AlternateContent>
          </a:graphicData>
        </a:graphic>
      </p:graphicFrame>
      <p:sp>
        <p:nvSpPr>
          <p:cNvPr id="148483" name="文本框 143365"/>
          <p:cNvSpPr txBox="1"/>
          <p:nvPr/>
        </p:nvSpPr>
        <p:spPr>
          <a:xfrm>
            <a:off x="76200" y="2895600"/>
            <a:ext cx="8794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根据双线性变换，模拟带阻频率与数字带阻频率之间的关系仍为 </a:t>
            </a:r>
            <a:endParaRPr lang="zh-CN" altLang="en-US">
              <a:latin typeface="Times New Roman" panose="02020603050405020304" pitchFamily="18" charset="0"/>
              <a:ea typeface="宋体" panose="02010600030101010101" pitchFamily="2" charset="-122"/>
            </a:endParaRPr>
          </a:p>
        </p:txBody>
      </p:sp>
      <p:graphicFrame>
        <p:nvGraphicFramePr>
          <p:cNvPr id="148484" name="对象 143366"/>
          <p:cNvGraphicFramePr/>
          <p:nvPr/>
        </p:nvGraphicFramePr>
        <p:xfrm>
          <a:off x="3429000" y="3505200"/>
          <a:ext cx="1828800" cy="839788"/>
        </p:xfrm>
        <a:graphic>
          <a:graphicData uri="http://schemas.openxmlformats.org/presentationml/2006/ole">
            <mc:AlternateContent xmlns:mc="http://schemas.openxmlformats.org/markup-compatibility/2006">
              <mc:Choice xmlns:v="urn:schemas-microsoft-com:vml" Requires="v">
                <p:oleObj spid="_x0000_s3255" name="" r:id="rId3" imgW="939165" imgH="431800" progId="Equation.3">
                  <p:embed/>
                </p:oleObj>
              </mc:Choice>
              <mc:Fallback>
                <p:oleObj name="" r:id="rId3" imgW="939165" imgH="431800" progId="Equation.3">
                  <p:embed/>
                  <p:pic>
                    <p:nvPicPr>
                      <p:cNvPr id="0" name="图片 3254"/>
                      <p:cNvPicPr/>
                      <p:nvPr/>
                    </p:nvPicPr>
                    <p:blipFill>
                      <a:blip r:embed="rId4"/>
                      <a:stretch>
                        <a:fillRect/>
                      </a:stretch>
                    </p:blipFill>
                    <p:spPr>
                      <a:xfrm>
                        <a:off x="3429000" y="3505200"/>
                        <a:ext cx="1828800" cy="839788"/>
                      </a:xfrm>
                      <a:prstGeom prst="rect">
                        <a:avLst/>
                      </a:prstGeom>
                      <a:noFill/>
                      <a:ln w="38100">
                        <a:noFill/>
                        <a:miter/>
                      </a:ln>
                    </p:spPr>
                  </p:pic>
                </p:oleObj>
              </mc:Fallback>
            </mc:AlternateContent>
          </a:graphicData>
        </a:graphic>
      </p:graphicFrame>
      <p:sp>
        <p:nvSpPr>
          <p:cNvPr id="148485" name="文本框 143367"/>
          <p:cNvSpPr txBox="1"/>
          <p:nvPr/>
        </p:nvSpPr>
        <p:spPr>
          <a:xfrm>
            <a:off x="76200" y="4114800"/>
            <a:ext cx="95408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定义</a:t>
            </a:r>
            <a:r>
              <a:rPr lang="en-US" altLang="zh-CN" dirty="0">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148486" name="对象 143368"/>
          <p:cNvGraphicFramePr/>
          <p:nvPr/>
        </p:nvGraphicFramePr>
        <p:xfrm>
          <a:off x="3414713" y="4654550"/>
          <a:ext cx="3686175" cy="1622425"/>
        </p:xfrm>
        <a:graphic>
          <a:graphicData uri="http://schemas.openxmlformats.org/presentationml/2006/ole">
            <mc:AlternateContent xmlns:mc="http://schemas.openxmlformats.org/markup-compatibility/2006">
              <mc:Choice xmlns:v="urn:schemas-microsoft-com:vml" Requires="v">
                <p:oleObj spid="_x0000_s3253" name="" r:id="rId5" imgW="1676400" imgH="736600" progId="Equation.3">
                  <p:embed/>
                </p:oleObj>
              </mc:Choice>
              <mc:Fallback>
                <p:oleObj name="" r:id="rId5" imgW="1676400" imgH="736600" progId="Equation.3">
                  <p:embed/>
                  <p:pic>
                    <p:nvPicPr>
                      <p:cNvPr id="0" name="图片 3252"/>
                      <p:cNvPicPr/>
                      <p:nvPr/>
                    </p:nvPicPr>
                    <p:blipFill>
                      <a:blip r:embed="rId6"/>
                      <a:stretch>
                        <a:fillRect/>
                      </a:stretch>
                    </p:blipFill>
                    <p:spPr>
                      <a:xfrm>
                        <a:off x="3414713" y="4654550"/>
                        <a:ext cx="3686175" cy="1622425"/>
                      </a:xfrm>
                      <a:prstGeom prst="rect">
                        <a:avLst/>
                      </a:prstGeom>
                      <a:noFill/>
                      <a:ln w="38100">
                        <a:noFill/>
                        <a:miter/>
                      </a:ln>
                    </p:spPr>
                  </p:pic>
                </p:oleObj>
              </mc:Fallback>
            </mc:AlternateContent>
          </a:graphicData>
        </a:graphic>
      </p:graphicFrame>
      <p:sp>
        <p:nvSpPr>
          <p:cNvPr id="148487" name="文本框 143369"/>
          <p:cNvSpPr txBox="1"/>
          <p:nvPr/>
        </p:nvSpPr>
        <p:spPr>
          <a:xfrm>
            <a:off x="7239000" y="36576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5-77</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48488" name="文本框 143370"/>
          <p:cNvSpPr txBox="1"/>
          <p:nvPr/>
        </p:nvSpPr>
        <p:spPr>
          <a:xfrm>
            <a:off x="7258050" y="45720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5-78</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48489" name="文本框 143371"/>
          <p:cNvSpPr txBox="1"/>
          <p:nvPr/>
        </p:nvSpPr>
        <p:spPr>
          <a:xfrm>
            <a:off x="7239000" y="5638800"/>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5-79</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5" name="文本框 142339"/>
          <p:cNvSpPr txBox="1"/>
          <p:nvPr/>
        </p:nvSpPr>
        <p:spPr>
          <a:xfrm>
            <a:off x="228600" y="533400"/>
            <a:ext cx="8763000" cy="2821305"/>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为带阻滤波器阻带的几何对称中心角频率</a:t>
            </a:r>
            <a:r>
              <a:rPr lang="en-US" altLang="zh-CN" dirty="0">
                <a:latin typeface="Times New Roman" panose="02020603050405020304" pitchFamily="18" charset="0"/>
                <a:ea typeface="宋体" panose="02010600030101010101" pitchFamily="2" charset="-122"/>
              </a:rPr>
              <a:t>; </a:t>
            </a:r>
            <a:r>
              <a:rPr lang="en-US" altLang="zh-CN" i="1">
                <a:latin typeface="Times New Roman" panose="02020603050405020304" pitchFamily="18" charset="0"/>
                <a:ea typeface="宋体" panose="02010600030101010101" pitchFamily="2" charset="-122"/>
              </a:rPr>
              <a:t>B</a:t>
            </a:r>
            <a:r>
              <a:rPr lang="zh-CN" altLang="en-US" dirty="0">
                <a:latin typeface="Times New Roman" panose="02020603050405020304" pitchFamily="18" charset="0"/>
                <a:ea typeface="宋体" panose="02010600030101010101" pitchFamily="2" charset="-122"/>
              </a:rPr>
              <a:t>为带阻滤波器的阻带宽度，它与低通原型中的截止频率</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成反比。 </a:t>
            </a:r>
            <a:endParaRPr lang="zh-CN" altLang="en-US" dirty="0">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设数字带阻的中心频率为</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，数字带阻滤波器的上、下边带的截止频率分别为</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2</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则将式（</a:t>
            </a:r>
            <a:r>
              <a:rPr lang="en-US" altLang="zh-CN" dirty="0">
                <a:latin typeface="Times New Roman" panose="02020603050405020304" pitchFamily="18" charset="0"/>
                <a:ea typeface="宋体" panose="02010600030101010101" pitchFamily="2" charset="-122"/>
              </a:rPr>
              <a:t>5-77</a:t>
            </a:r>
            <a:r>
              <a:rPr lang="zh-CN" altLang="en-US" dirty="0">
                <a:latin typeface="Times New Roman" panose="02020603050405020304" pitchFamily="18" charset="0"/>
                <a:ea typeface="宋体" panose="02010600030101010101" pitchFamily="2" charset="-122"/>
              </a:rPr>
              <a:t>）代入式（</a:t>
            </a:r>
            <a:r>
              <a:rPr lang="en-US" altLang="zh-CN" dirty="0">
                <a:latin typeface="Times New Roman" panose="02020603050405020304" pitchFamily="18" charset="0"/>
                <a:ea typeface="宋体" panose="02010600030101010101" pitchFamily="2" charset="-122"/>
              </a:rPr>
              <a:t>5-78</a:t>
            </a:r>
            <a:r>
              <a:rPr lang="zh-CN" altLang="en-US" dirty="0">
                <a:latin typeface="Times New Roman" panose="02020603050405020304" pitchFamily="18" charset="0"/>
                <a:ea typeface="宋体" panose="02010600030101010101" pitchFamily="2" charset="-122"/>
              </a:rPr>
              <a:t>）、 式（</a:t>
            </a:r>
            <a:r>
              <a:rPr lang="en-US" altLang="zh-CN" dirty="0">
                <a:latin typeface="Times New Roman" panose="02020603050405020304" pitchFamily="18" charset="0"/>
                <a:ea typeface="宋体" panose="02010600030101010101" pitchFamily="2" charset="-122"/>
              </a:rPr>
              <a:t>5-79</a:t>
            </a:r>
            <a:r>
              <a:rPr lang="zh-CN" altLang="en-US"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，可得</a:t>
            </a:r>
            <a:r>
              <a:rPr lang="en-US" altLang="zh-CN" dirty="0">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149506" name="对象 142340"/>
          <p:cNvGraphicFramePr/>
          <p:nvPr/>
        </p:nvGraphicFramePr>
        <p:xfrm>
          <a:off x="395288" y="3573463"/>
          <a:ext cx="8458200" cy="2028825"/>
        </p:xfrm>
        <a:graphic>
          <a:graphicData uri="http://schemas.openxmlformats.org/presentationml/2006/ole">
            <mc:AlternateContent xmlns:mc="http://schemas.openxmlformats.org/markup-compatibility/2006">
              <mc:Choice xmlns:v="urn:schemas-microsoft-com:vml" Requires="v">
                <p:oleObj spid="_x0000_s3261" name="" r:id="rId1" imgW="3810000" imgH="914400" progId="Equation.DSMT4">
                  <p:embed/>
                </p:oleObj>
              </mc:Choice>
              <mc:Fallback>
                <p:oleObj name="" r:id="rId1" imgW="3810000" imgH="914400" progId="Equation.DSMT4">
                  <p:embed/>
                  <p:pic>
                    <p:nvPicPr>
                      <p:cNvPr id="0" name="图片 3260"/>
                      <p:cNvPicPr/>
                      <p:nvPr/>
                    </p:nvPicPr>
                    <p:blipFill>
                      <a:blip r:embed="rId2"/>
                      <a:stretch>
                        <a:fillRect/>
                      </a:stretch>
                    </p:blipFill>
                    <p:spPr>
                      <a:xfrm>
                        <a:off x="395288" y="3573463"/>
                        <a:ext cx="8458200" cy="2028825"/>
                      </a:xfrm>
                      <a:prstGeom prst="rect">
                        <a:avLst/>
                      </a:prstGeom>
                      <a:noFill/>
                      <a:ln w="38100">
                        <a:noFill/>
                        <a:miter/>
                      </a:ln>
                    </p:spPr>
                  </p:pic>
                </p:oleObj>
              </mc:Fallback>
            </mc:AlternateContent>
          </a:graphicData>
        </a:graphic>
      </p:graphicFrame>
      <p:sp>
        <p:nvSpPr>
          <p:cNvPr id="149507" name="文本框 142341"/>
          <p:cNvSpPr txBox="1"/>
          <p:nvPr/>
        </p:nvSpPr>
        <p:spPr>
          <a:xfrm>
            <a:off x="7667625" y="3716338"/>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5-80</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49508" name="文本框 142342"/>
          <p:cNvSpPr txBox="1"/>
          <p:nvPr/>
        </p:nvSpPr>
        <p:spPr>
          <a:xfrm>
            <a:off x="7715250" y="5589588"/>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5-81</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29" name="文本框 145411"/>
          <p:cNvSpPr txBox="1"/>
          <p:nvPr/>
        </p:nvSpPr>
        <p:spPr>
          <a:xfrm>
            <a:off x="304800" y="609600"/>
            <a:ext cx="8610600" cy="1098550"/>
          </a:xfrm>
          <a:prstGeom prst="rect">
            <a:avLst/>
          </a:prstGeom>
          <a:noFill/>
          <a:ln w="9525">
            <a:noFill/>
          </a:ln>
        </p:spPr>
        <p:txBody>
          <a:bodyPr anchor="t">
            <a:spAutoFit/>
          </a:bodyPr>
          <a:p>
            <a:pPr>
              <a:lnSpc>
                <a:spcPct val="138000"/>
              </a:lnSpc>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考虑到模拟带阻到数字带阻是阻带中心频率相对应的映射关系，则有 </a:t>
            </a:r>
            <a:endParaRPr lang="zh-CN" altLang="en-US">
              <a:latin typeface="Times New Roman" panose="02020603050405020304" pitchFamily="18" charset="0"/>
              <a:ea typeface="宋体" panose="02010600030101010101" pitchFamily="2" charset="-122"/>
            </a:endParaRPr>
          </a:p>
        </p:txBody>
      </p:sp>
      <p:graphicFrame>
        <p:nvGraphicFramePr>
          <p:cNvPr id="150530" name="对象 145412"/>
          <p:cNvGraphicFramePr/>
          <p:nvPr/>
        </p:nvGraphicFramePr>
        <p:xfrm>
          <a:off x="3657600" y="1371600"/>
          <a:ext cx="2120900" cy="879475"/>
        </p:xfrm>
        <a:graphic>
          <a:graphicData uri="http://schemas.openxmlformats.org/presentationml/2006/ole">
            <mc:AlternateContent xmlns:mc="http://schemas.openxmlformats.org/markup-compatibility/2006">
              <mc:Choice xmlns:v="urn:schemas-microsoft-com:vml" Requires="v">
                <p:oleObj spid="_x0000_s3260" name="" r:id="rId1" imgW="1040765" imgH="431800" progId="Equation.3">
                  <p:embed/>
                </p:oleObj>
              </mc:Choice>
              <mc:Fallback>
                <p:oleObj name="" r:id="rId1" imgW="1040765" imgH="431800" progId="Equation.3">
                  <p:embed/>
                  <p:pic>
                    <p:nvPicPr>
                      <p:cNvPr id="0" name="图片 3259"/>
                      <p:cNvPicPr/>
                      <p:nvPr/>
                    </p:nvPicPr>
                    <p:blipFill>
                      <a:blip r:embed="rId2"/>
                      <a:stretch>
                        <a:fillRect/>
                      </a:stretch>
                    </p:blipFill>
                    <p:spPr>
                      <a:xfrm>
                        <a:off x="3657600" y="1371600"/>
                        <a:ext cx="2120900" cy="879475"/>
                      </a:xfrm>
                      <a:prstGeom prst="rect">
                        <a:avLst/>
                      </a:prstGeom>
                      <a:noFill/>
                      <a:ln w="38100">
                        <a:noFill/>
                        <a:miter/>
                      </a:ln>
                    </p:spPr>
                  </p:pic>
                </p:oleObj>
              </mc:Fallback>
            </mc:AlternateContent>
          </a:graphicData>
        </a:graphic>
      </p:graphicFrame>
      <p:sp>
        <p:nvSpPr>
          <p:cNvPr id="150531" name="文本框 145413"/>
          <p:cNvSpPr txBox="1"/>
          <p:nvPr/>
        </p:nvSpPr>
        <p:spPr>
          <a:xfrm>
            <a:off x="7396163" y="1600200"/>
            <a:ext cx="1352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5-82</a:t>
            </a:r>
            <a:r>
              <a:rPr lang="zh-CN" altLang="en-US" dirty="0">
                <a:latin typeface="Times New Roman" panose="02020603050405020304" pitchFamily="18" charset="0"/>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150532" name="文本框 145414"/>
          <p:cNvSpPr txBox="1"/>
          <p:nvPr/>
        </p:nvSpPr>
        <p:spPr>
          <a:xfrm>
            <a:off x="228600" y="2406650"/>
            <a:ext cx="8763000" cy="109855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将式（</a:t>
            </a:r>
            <a:r>
              <a:rPr lang="en-US" altLang="zh-CN" dirty="0">
                <a:latin typeface="Times New Roman" panose="02020603050405020304" pitchFamily="18" charset="0"/>
                <a:ea typeface="宋体" panose="02010600030101010101" pitchFamily="2" charset="-122"/>
              </a:rPr>
              <a:t>5-80</a:t>
            </a:r>
            <a:r>
              <a:rPr lang="zh-CN" altLang="en-US" dirty="0">
                <a:latin typeface="Times New Roman" panose="02020603050405020304" pitchFamily="18" charset="0"/>
                <a:ea typeface="宋体" panose="02010600030101010101" pitchFamily="2" charset="-122"/>
              </a:rPr>
              <a:t>）、式（</a:t>
            </a:r>
            <a:r>
              <a:rPr lang="en-US" altLang="zh-CN" dirty="0">
                <a:latin typeface="Times New Roman" panose="02020603050405020304" pitchFamily="18" charset="0"/>
                <a:ea typeface="宋体" panose="02010600030101010101" pitchFamily="2" charset="-122"/>
              </a:rPr>
              <a:t>5-81</a:t>
            </a:r>
            <a:r>
              <a:rPr lang="zh-CN" altLang="en-US" dirty="0">
                <a:latin typeface="Times New Roman" panose="02020603050405020304" pitchFamily="18" charset="0"/>
                <a:ea typeface="宋体" panose="02010600030101010101" pitchFamily="2" charset="-122"/>
              </a:rPr>
              <a:t>）和式（</a:t>
            </a:r>
            <a:r>
              <a:rPr lang="en-US" altLang="zh-CN" dirty="0">
                <a:latin typeface="Times New Roman" panose="02020603050405020304" pitchFamily="18" charset="0"/>
                <a:ea typeface="宋体" panose="02010600030101010101" pitchFamily="2" charset="-122"/>
              </a:rPr>
              <a:t>5-82</a:t>
            </a:r>
            <a:r>
              <a:rPr lang="zh-CN" altLang="en-US" dirty="0">
                <a:latin typeface="Times New Roman" panose="02020603050405020304" pitchFamily="18" charset="0"/>
                <a:ea typeface="宋体" panose="02010600030101010101" pitchFamily="2" charset="-122"/>
              </a:rPr>
              <a:t>）代入式（</a:t>
            </a:r>
            <a:r>
              <a:rPr lang="en-US" altLang="zh-CN" dirty="0">
                <a:latin typeface="Times New Roman" panose="02020603050405020304" pitchFamily="18" charset="0"/>
                <a:ea typeface="宋体" panose="02010600030101010101" pitchFamily="2" charset="-122"/>
              </a:rPr>
              <a:t>5-75</a:t>
            </a:r>
            <a:r>
              <a:rPr lang="zh-CN" altLang="en-US"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及式（</a:t>
            </a:r>
            <a:r>
              <a:rPr lang="en-US" altLang="zh-CN" dirty="0">
                <a:latin typeface="Times New Roman" panose="02020603050405020304" pitchFamily="18" charset="0"/>
                <a:ea typeface="宋体" panose="02010600030101010101" pitchFamily="2" charset="-122"/>
              </a:rPr>
              <a:t>5-76</a:t>
            </a:r>
            <a:r>
              <a:rPr lang="zh-CN" altLang="en-US" dirty="0">
                <a:latin typeface="Times New Roman" panose="02020603050405020304" pitchFamily="18" charset="0"/>
                <a:ea typeface="宋体" panose="02010600030101010101" pitchFamily="2" charset="-122"/>
              </a:rPr>
              <a:t>），并应用一些标准三角恒等式运算后可得</a:t>
            </a:r>
            <a:r>
              <a:rPr lang="en-US" altLang="zh-CN" dirty="0">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150533" name="对象 145415"/>
          <p:cNvGraphicFramePr/>
          <p:nvPr/>
        </p:nvGraphicFramePr>
        <p:xfrm>
          <a:off x="1258888" y="3708400"/>
          <a:ext cx="6715125" cy="2082800"/>
        </p:xfrm>
        <a:graphic>
          <a:graphicData uri="http://schemas.openxmlformats.org/presentationml/2006/ole">
            <mc:AlternateContent xmlns:mc="http://schemas.openxmlformats.org/markup-compatibility/2006">
              <mc:Choice xmlns:v="urn:schemas-microsoft-com:vml" Requires="v">
                <p:oleObj spid="_x0000_s3262" name="" r:id="rId3" imgW="3111500" imgH="965200" progId="Equation.3">
                  <p:embed/>
                </p:oleObj>
              </mc:Choice>
              <mc:Fallback>
                <p:oleObj name="" r:id="rId3" imgW="3111500" imgH="965200" progId="Equation.3">
                  <p:embed/>
                  <p:pic>
                    <p:nvPicPr>
                      <p:cNvPr id="0" name="图片 3261"/>
                      <p:cNvPicPr/>
                      <p:nvPr/>
                    </p:nvPicPr>
                    <p:blipFill>
                      <a:blip r:embed="rId4"/>
                      <a:stretch>
                        <a:fillRect/>
                      </a:stretch>
                    </p:blipFill>
                    <p:spPr>
                      <a:xfrm>
                        <a:off x="1258888" y="3708400"/>
                        <a:ext cx="6715125" cy="2082800"/>
                      </a:xfrm>
                      <a:prstGeom prst="rect">
                        <a:avLst/>
                      </a:prstGeom>
                      <a:noFill/>
                      <a:ln w="38100">
                        <a:noFill/>
                        <a:miter/>
                      </a:ln>
                    </p:spPr>
                  </p:pic>
                </p:oleObj>
              </mc:Fallback>
            </mc:AlternateContent>
          </a:graphicData>
        </a:graphic>
      </p:graphicFrame>
      <p:sp>
        <p:nvSpPr>
          <p:cNvPr id="150534" name="文本框 145416"/>
          <p:cNvSpPr txBox="1"/>
          <p:nvPr/>
        </p:nvSpPr>
        <p:spPr>
          <a:xfrm>
            <a:off x="7524750" y="3979863"/>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5-83</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50535" name="文本框 145417"/>
          <p:cNvSpPr txBox="1"/>
          <p:nvPr/>
        </p:nvSpPr>
        <p:spPr>
          <a:xfrm>
            <a:off x="7524750" y="5589588"/>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5-84</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3" name="文本框 144387"/>
          <p:cNvSpPr txBox="1"/>
          <p:nvPr/>
        </p:nvSpPr>
        <p:spPr>
          <a:xfrm>
            <a:off x="152400" y="549275"/>
            <a:ext cx="8763000" cy="2282825"/>
          </a:xfrm>
          <a:prstGeom prst="rect">
            <a:avLst/>
          </a:prstGeom>
          <a:noFill/>
          <a:ln w="9525">
            <a:noFill/>
          </a:ln>
        </p:spPr>
        <p:txBody>
          <a:bodyPr anchor="t">
            <a:spAutoFit/>
          </a:bodyPr>
          <a:p>
            <a:pPr algn="just">
              <a:lnSpc>
                <a:spcPct val="150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所以，在设计时，要给定中心频率和带宽或者是中心频率和边带频率，利用式（</a:t>
            </a:r>
            <a:r>
              <a:rPr lang="en-US" altLang="zh-CN" dirty="0">
                <a:latin typeface="Times New Roman" panose="02020603050405020304" pitchFamily="18" charset="0"/>
                <a:ea typeface="宋体" panose="02010600030101010101" pitchFamily="2" charset="-122"/>
              </a:rPr>
              <a:t>5-83</a:t>
            </a:r>
            <a:r>
              <a:rPr lang="zh-CN" altLang="en-US" dirty="0">
                <a:latin typeface="Times New Roman" panose="02020603050405020304" pitchFamily="18" charset="0"/>
                <a:ea typeface="宋体" panose="02010600030101010101" pitchFamily="2" charset="-122"/>
              </a:rPr>
              <a:t>）和式（</a:t>
            </a:r>
            <a:r>
              <a:rPr lang="en-US" altLang="zh-CN" dirty="0">
                <a:latin typeface="Times New Roman" panose="02020603050405020304" pitchFamily="18" charset="0"/>
                <a:ea typeface="宋体" panose="02010600030101010101" pitchFamily="2" charset="-122"/>
              </a:rPr>
              <a:t>5-84</a:t>
            </a:r>
            <a:r>
              <a:rPr lang="zh-CN" altLang="en-US" dirty="0">
                <a:latin typeface="Times New Roman" panose="02020603050405020304" pitchFamily="18" charset="0"/>
                <a:ea typeface="宋体" panose="02010600030101010101" pitchFamily="2" charset="-122"/>
              </a:rPr>
              <a:t>）来确定</a:t>
            </a:r>
            <a:r>
              <a:rPr lang="en-US" altLang="zh-CN" i="1">
                <a:latin typeface="Times New Roman" panose="02020603050405020304" pitchFamily="18" charset="0"/>
                <a:ea typeface="宋体" panose="02010600030101010101" pitchFamily="2" charset="-122"/>
              </a:rPr>
              <a:t>D</a:t>
            </a:r>
            <a:r>
              <a:rPr lang="en-US" altLang="zh-CN" baseline="-25000">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E</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两常数， 然后利用式（</a:t>
            </a:r>
            <a:r>
              <a:rPr lang="en-US" altLang="zh-CN" dirty="0">
                <a:latin typeface="Times New Roman" panose="02020603050405020304" pitchFamily="18" charset="0"/>
                <a:ea typeface="宋体" panose="02010600030101010101" pitchFamily="2" charset="-122"/>
              </a:rPr>
              <a:t>5-7</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）的变换，把模拟低通系统函数一步变成数字带阻系统函数 </a:t>
            </a:r>
            <a:endParaRPr lang="zh-CN" altLang="en-US">
              <a:latin typeface="Times New Roman" panose="02020603050405020304" pitchFamily="18" charset="0"/>
              <a:ea typeface="宋体" panose="02010600030101010101" pitchFamily="2" charset="-122"/>
            </a:endParaRPr>
          </a:p>
        </p:txBody>
      </p:sp>
      <p:graphicFrame>
        <p:nvGraphicFramePr>
          <p:cNvPr id="151554" name="对象 144388"/>
          <p:cNvGraphicFramePr/>
          <p:nvPr/>
        </p:nvGraphicFramePr>
        <p:xfrm>
          <a:off x="2124075" y="2924175"/>
          <a:ext cx="4518025" cy="1101725"/>
        </p:xfrm>
        <a:graphic>
          <a:graphicData uri="http://schemas.openxmlformats.org/presentationml/2006/ole">
            <mc:AlternateContent xmlns:mc="http://schemas.openxmlformats.org/markup-compatibility/2006">
              <mc:Choice xmlns:v="urn:schemas-microsoft-com:vml" Requires="v">
                <p:oleObj spid="_x0000_s3263" name="" r:id="rId1" imgW="1612265" imgH="393700" progId="Equation.3">
                  <p:embed/>
                </p:oleObj>
              </mc:Choice>
              <mc:Fallback>
                <p:oleObj name="" r:id="rId1" imgW="1612265" imgH="393700" progId="Equation.3">
                  <p:embed/>
                  <p:pic>
                    <p:nvPicPr>
                      <p:cNvPr id="0" name="图片 3262"/>
                      <p:cNvPicPr/>
                      <p:nvPr/>
                    </p:nvPicPr>
                    <p:blipFill>
                      <a:blip r:embed="rId2"/>
                      <a:stretch>
                        <a:fillRect/>
                      </a:stretch>
                    </p:blipFill>
                    <p:spPr>
                      <a:xfrm>
                        <a:off x="2124075" y="2924175"/>
                        <a:ext cx="4518025" cy="1101725"/>
                      </a:xfrm>
                      <a:prstGeom prst="rect">
                        <a:avLst/>
                      </a:prstGeom>
                      <a:noFill/>
                      <a:ln w="38100">
                        <a:noFill/>
                        <a:miter/>
                      </a:ln>
                    </p:spPr>
                  </p:pic>
                </p:oleObj>
              </mc:Fallback>
            </mc:AlternateContent>
          </a:graphicData>
        </a:graphic>
      </p:graphicFrame>
      <p:sp>
        <p:nvSpPr>
          <p:cNvPr id="151555" name="文本框 144389"/>
          <p:cNvSpPr txBox="1"/>
          <p:nvPr/>
        </p:nvSpPr>
        <p:spPr>
          <a:xfrm>
            <a:off x="7391400" y="3141663"/>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5-85</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51556" name="文本框 144390"/>
          <p:cNvSpPr txBox="1"/>
          <p:nvPr/>
        </p:nvSpPr>
        <p:spPr>
          <a:xfrm>
            <a:off x="228600" y="4149725"/>
            <a:ext cx="8686800" cy="1803400"/>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a</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为模拟低通原型传递函数。 </a:t>
            </a:r>
            <a:endParaRPr lang="zh-CN" altLang="en-US" dirty="0">
              <a:latin typeface="Times New Roman" panose="02020603050405020304" pitchFamily="18" charset="0"/>
              <a:ea typeface="宋体" panose="02010600030101010101" pitchFamily="2" charset="-122"/>
            </a:endParaRPr>
          </a:p>
          <a:p>
            <a:pPr>
              <a:lnSpc>
                <a:spcPct val="138000"/>
              </a:lnSpc>
              <a:spcBef>
                <a:spcPct val="50000"/>
              </a:spcBef>
            </a:pPr>
            <a:r>
              <a:rPr lang="zh-CN" altLang="en-US" dirty="0">
                <a:latin typeface="Times New Roman" panose="02020603050405020304" pitchFamily="18" charset="0"/>
                <a:ea typeface="宋体" panose="02010600030101010101" pitchFamily="2" charset="-122"/>
              </a:rPr>
              <a:t>        可以看出，数字带阻滤波器的极点数（或阶数）将是模拟低通滤波器极点数的两倍。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7" name="文本框 147459"/>
          <p:cNvSpPr txBox="1"/>
          <p:nvPr/>
        </p:nvSpPr>
        <p:spPr>
          <a:xfrm>
            <a:off x="228600" y="577850"/>
            <a:ext cx="8686800" cy="10985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下面来讨论模拟低通滤波器与数字带阻滤波器频率之间的关系。令</a:t>
            </a:r>
            <a:r>
              <a:rPr lang="en-US" altLang="zh-CN" i="1">
                <a:latin typeface="Times New Roman" panose="02020603050405020304" pitchFamily="18" charset="0"/>
                <a:ea typeface="宋体" panose="02010600030101010101" pitchFamily="2" charset="-122"/>
              </a:rPr>
              <a:t>s</a:t>
            </a:r>
            <a:r>
              <a:rPr lang="en-US" altLang="zh-CN">
                <a:latin typeface="Times New Roman" panose="02020603050405020304" pitchFamily="18" charset="0"/>
                <a:ea typeface="宋体" panose="02010600030101010101" pitchFamily="2" charset="-122"/>
              </a:rPr>
              <a:t>=j</a:t>
            </a:r>
            <a:r>
              <a:rPr lang="en-US" altLang="zh-CN" i="1">
                <a:latin typeface="Times New Roman" panose="02020603050405020304" pitchFamily="18" charset="0"/>
                <a:ea typeface="宋体" panose="02010600030101010101" pitchFamily="2" charset="-122"/>
              </a:rPr>
              <a:t>Ω</a:t>
            </a:r>
            <a:r>
              <a:rPr lang="zh-CN" altLang="en-US">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a:latin typeface="Times New Roman" panose="02020603050405020304" pitchFamily="18" charset="0"/>
                <a:ea typeface="宋体" panose="02010600030101010101" pitchFamily="2" charset="-122"/>
              </a:rPr>
              <a:t>=</a:t>
            </a:r>
            <a:r>
              <a:rPr lang="en-US" altLang="zh-CN" dirty="0" err="1">
                <a:latin typeface="Times New Roman" panose="02020603050405020304" pitchFamily="18" charset="0"/>
                <a:ea typeface="宋体" panose="02010600030101010101" pitchFamily="2" charset="-122"/>
              </a:rPr>
              <a:t>e</a:t>
            </a:r>
            <a:r>
              <a:rPr lang="en-US" altLang="zh-CN" baseline="30000" dirty="0" err="1">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代入式（</a:t>
            </a:r>
            <a:r>
              <a:rPr lang="en-US" altLang="zh-CN" dirty="0">
                <a:latin typeface="Times New Roman" panose="02020603050405020304" pitchFamily="18" charset="0"/>
                <a:ea typeface="宋体" panose="02010600030101010101" pitchFamily="2" charset="-122"/>
              </a:rPr>
              <a:t>5-74</a:t>
            </a:r>
            <a:r>
              <a:rPr lang="zh-CN" altLang="en-US" dirty="0">
                <a:latin typeface="Times New Roman" panose="02020603050405020304" pitchFamily="18" charset="0"/>
                <a:ea typeface="宋体" panose="02010600030101010101" pitchFamily="2" charset="-122"/>
              </a:rPr>
              <a:t>），经推导后可得 </a:t>
            </a:r>
            <a:endParaRPr lang="zh-CN" altLang="en-US">
              <a:latin typeface="Times New Roman" panose="02020603050405020304" pitchFamily="18" charset="0"/>
              <a:ea typeface="宋体" panose="02010600030101010101" pitchFamily="2" charset="-122"/>
            </a:endParaRPr>
          </a:p>
        </p:txBody>
      </p:sp>
      <p:graphicFrame>
        <p:nvGraphicFramePr>
          <p:cNvPr id="152578" name="对象 147460"/>
          <p:cNvGraphicFramePr/>
          <p:nvPr/>
        </p:nvGraphicFramePr>
        <p:xfrm>
          <a:off x="2895600" y="1752600"/>
          <a:ext cx="3044825" cy="968375"/>
        </p:xfrm>
        <a:graphic>
          <a:graphicData uri="http://schemas.openxmlformats.org/presentationml/2006/ole">
            <mc:AlternateContent xmlns:mc="http://schemas.openxmlformats.org/markup-compatibility/2006">
              <mc:Choice xmlns:v="urn:schemas-microsoft-com:vml" Requires="v">
                <p:oleObj spid="_x0000_s3264" name="" r:id="rId1" imgW="1358265" imgH="431800" progId="Equation.3">
                  <p:embed/>
                </p:oleObj>
              </mc:Choice>
              <mc:Fallback>
                <p:oleObj name="" r:id="rId1" imgW="1358265" imgH="431800" progId="Equation.3">
                  <p:embed/>
                  <p:pic>
                    <p:nvPicPr>
                      <p:cNvPr id="0" name="图片 3263"/>
                      <p:cNvPicPr/>
                      <p:nvPr/>
                    </p:nvPicPr>
                    <p:blipFill>
                      <a:blip r:embed="rId2"/>
                      <a:stretch>
                        <a:fillRect/>
                      </a:stretch>
                    </p:blipFill>
                    <p:spPr>
                      <a:xfrm>
                        <a:off x="2895600" y="1752600"/>
                        <a:ext cx="3044825" cy="968375"/>
                      </a:xfrm>
                      <a:prstGeom prst="rect">
                        <a:avLst/>
                      </a:prstGeom>
                      <a:noFill/>
                      <a:ln w="38100">
                        <a:noFill/>
                        <a:miter/>
                      </a:ln>
                    </p:spPr>
                  </p:pic>
                </p:oleObj>
              </mc:Fallback>
            </mc:AlternateContent>
          </a:graphicData>
        </a:graphic>
      </p:graphicFrame>
      <p:sp>
        <p:nvSpPr>
          <p:cNvPr id="152579" name="文本框 147461"/>
          <p:cNvSpPr txBox="1"/>
          <p:nvPr/>
        </p:nvSpPr>
        <p:spPr>
          <a:xfrm>
            <a:off x="7543800" y="19812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(5-86) </a:t>
            </a:r>
            <a:endParaRPr lang="en-US" altLang="zh-CN">
              <a:latin typeface="Times New Roman" panose="02020603050405020304" pitchFamily="18" charset="0"/>
              <a:ea typeface="宋体" panose="02010600030101010101" pitchFamily="2" charset="-122"/>
            </a:endParaRPr>
          </a:p>
        </p:txBody>
      </p:sp>
      <p:sp>
        <p:nvSpPr>
          <p:cNvPr id="152580" name="文本框 147462"/>
          <p:cNvSpPr txBox="1"/>
          <p:nvPr/>
        </p:nvSpPr>
        <p:spPr>
          <a:xfrm>
            <a:off x="228600" y="2819400"/>
            <a:ext cx="638968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其变换关系曲线如图</a:t>
            </a:r>
            <a:r>
              <a:rPr lang="en-US" altLang="zh-CN" dirty="0">
                <a:latin typeface="Times New Roman" panose="02020603050405020304" pitchFamily="18" charset="0"/>
                <a:ea typeface="宋体" panose="02010600030101010101" pitchFamily="2" charset="-122"/>
              </a:rPr>
              <a:t>5-24</a:t>
            </a:r>
            <a:r>
              <a:rPr lang="zh-CN" altLang="en-US" dirty="0">
                <a:latin typeface="Times New Roman" panose="02020603050405020304" pitchFamily="18" charset="0"/>
                <a:ea typeface="宋体" panose="02010600030101010101" pitchFamily="2" charset="-122"/>
              </a:rPr>
              <a:t>所示，其映射关系为</a:t>
            </a:r>
            <a:r>
              <a:rPr lang="en-US" altLang="zh-CN" dirty="0">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
        <p:nvSpPr>
          <p:cNvPr id="152581" name="文本框 147463"/>
          <p:cNvSpPr txBox="1"/>
          <p:nvPr/>
        </p:nvSpPr>
        <p:spPr>
          <a:xfrm>
            <a:off x="2882900" y="3124200"/>
            <a:ext cx="2265363" cy="1419225"/>
          </a:xfrm>
          <a:prstGeom prst="rect">
            <a:avLst/>
          </a:prstGeom>
          <a:noFill/>
          <a:ln w="9525">
            <a:noFill/>
          </a:ln>
        </p:spPr>
        <p:txBody>
          <a:bodyPr wrap="none" anchor="t">
            <a:spAutoFit/>
          </a:bodyPr>
          <a:p>
            <a:pPr>
              <a:lnSpc>
                <a:spcPct val="180000"/>
              </a:lnSpc>
            </a:pP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=0→</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=0, </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=π</a:t>
            </a:r>
            <a:endParaRPr lang="zh-CN" altLang="en-US">
              <a:latin typeface="Times New Roman" panose="02020603050405020304" pitchFamily="18" charset="0"/>
              <a:ea typeface="宋体" panose="02010600030101010101" pitchFamily="2" charset="-122"/>
            </a:endParaRPr>
          </a:p>
          <a:p>
            <a:pPr>
              <a:lnSpc>
                <a:spcPct val="180000"/>
              </a:lnSpc>
            </a:pP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0</a:t>
            </a:r>
            <a:r>
              <a:rPr lang="en-US" altLang="zh-CN">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sp>
        <p:nvSpPr>
          <p:cNvPr id="152582" name="文本框 147464"/>
          <p:cNvSpPr txBox="1"/>
          <p:nvPr/>
        </p:nvSpPr>
        <p:spPr>
          <a:xfrm>
            <a:off x="152400" y="4494213"/>
            <a:ext cx="8991600" cy="1601787"/>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也就是说，低通滤波器的通带（</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附近）映射到带阻滤波器的阻带范围之外（</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=0, π</a:t>
            </a:r>
            <a:r>
              <a:rPr lang="zh-CN" altLang="en-US" dirty="0">
                <a:latin typeface="Times New Roman" panose="02020603050405020304" pitchFamily="18" charset="0"/>
                <a:ea typeface="宋体" panose="02010600030101010101" pitchFamily="2" charset="-122"/>
              </a:rPr>
              <a:t>），低通滤波器的阻带（</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）映射到带阻滤波器的阻带上（</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附近）</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1" name="文本框 384002"/>
          <p:cNvSpPr txBox="1"/>
          <p:nvPr/>
        </p:nvSpPr>
        <p:spPr>
          <a:xfrm>
            <a:off x="782638" y="5564188"/>
            <a:ext cx="7677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5-24  </a:t>
            </a:r>
            <a:r>
              <a:rPr lang="zh-CN" altLang="en-US" dirty="0">
                <a:latin typeface="Times New Roman" panose="02020603050405020304" pitchFamily="18" charset="0"/>
                <a:ea typeface="宋体" panose="02010600030101010101" pitchFamily="2" charset="-122"/>
              </a:rPr>
              <a:t>从模拟低通变换到数字带阻时频率间关系的曲线</a:t>
            </a:r>
            <a:endParaRPr lang="zh-CN" altLang="en-US" dirty="0">
              <a:latin typeface="Times New Roman" panose="02020603050405020304" pitchFamily="18" charset="0"/>
              <a:ea typeface="宋体" panose="02010600030101010101" pitchFamily="2" charset="-122"/>
            </a:endParaRPr>
          </a:p>
        </p:txBody>
      </p:sp>
      <p:pic>
        <p:nvPicPr>
          <p:cNvPr id="153602" name="图片 384004" descr="5-24"/>
          <p:cNvPicPr>
            <a:picLocks noChangeAspect="1"/>
          </p:cNvPicPr>
          <p:nvPr/>
        </p:nvPicPr>
        <p:blipFill>
          <a:blip r:embed="rId1"/>
          <a:stretch>
            <a:fillRect/>
          </a:stretch>
        </p:blipFill>
        <p:spPr>
          <a:xfrm>
            <a:off x="2314575" y="908050"/>
            <a:ext cx="4514850" cy="4286250"/>
          </a:xfrm>
          <a:prstGeom prst="rect">
            <a:avLst/>
          </a:prstGeom>
          <a:noFill/>
          <a:ln w="9525">
            <a:noFill/>
          </a:ln>
        </p:spPr>
      </p:pic>
    </p:spTree>
  </p:cSld>
  <p:clrMapOvr>
    <a:masterClrMapping/>
  </p:clrMapOvr>
  <p:transition>
    <p:blinds/>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5" name="文本框 146435"/>
          <p:cNvSpPr txBox="1"/>
          <p:nvPr/>
        </p:nvSpPr>
        <p:spPr>
          <a:xfrm>
            <a:off x="609600" y="533400"/>
            <a:ext cx="8001000" cy="830263"/>
          </a:xfrm>
          <a:prstGeom prst="rect">
            <a:avLst/>
          </a:prstGeom>
          <a:noFill/>
          <a:ln w="9525">
            <a:noFill/>
          </a:ln>
        </p:spPr>
        <p:txBody>
          <a:bodyPr anchor="t">
            <a:spAutoFit/>
          </a:bodyPr>
          <a:p>
            <a:pPr algn="just">
              <a:spcBef>
                <a:spcPct val="50000"/>
              </a:spcBef>
            </a:pPr>
            <a:r>
              <a:rPr lang="zh-CN" altLang="en-US" b="1" dirty="0">
                <a:latin typeface="Times New Roman" panose="02020603050405020304" pitchFamily="18" charset="0"/>
                <a:ea typeface="宋体" panose="02010600030101010101" pitchFamily="2" charset="-122"/>
              </a:rPr>
              <a:t>表 </a:t>
            </a:r>
            <a:r>
              <a:rPr lang="en-US" altLang="zh-CN" b="1" dirty="0">
                <a:latin typeface="Times New Roman" panose="02020603050405020304" pitchFamily="18" charset="0"/>
                <a:ea typeface="宋体" panose="02010600030101010101" pitchFamily="2" charset="-122"/>
              </a:rPr>
              <a:t>5-4 </a:t>
            </a:r>
            <a:r>
              <a:rPr lang="zh-CN" altLang="en-US" b="1" dirty="0">
                <a:latin typeface="Times New Roman" panose="02020603050405020304" pitchFamily="18" charset="0"/>
                <a:ea typeface="宋体" panose="02010600030101010101" pitchFamily="2" charset="-122"/>
              </a:rPr>
              <a:t>利用双线性变换法从截止频率为</a:t>
            </a:r>
            <a:r>
              <a:rPr lang="en-US" altLang="zh-CN" b="1" i="1">
                <a:latin typeface="Times New Roman" panose="02020603050405020304" pitchFamily="18" charset="0"/>
                <a:ea typeface="宋体" panose="02010600030101010101" pitchFamily="2" charset="-122"/>
              </a:rPr>
              <a:t>Ω</a:t>
            </a:r>
            <a:r>
              <a:rPr lang="en-US" altLang="zh-CN" b="1" baseline="-25000">
                <a:latin typeface="Times New Roman" panose="02020603050405020304" pitchFamily="18" charset="0"/>
                <a:ea typeface="宋体" panose="02010600030101010101" pitchFamily="2" charset="-122"/>
              </a:rPr>
              <a:t>c</a:t>
            </a:r>
            <a:r>
              <a:rPr lang="zh-CN" altLang="en-US" b="1" dirty="0">
                <a:latin typeface="Times New Roman" panose="02020603050405020304" pitchFamily="18" charset="0"/>
                <a:ea typeface="宋体" panose="02010600030101010101" pitchFamily="2" charset="-122"/>
              </a:rPr>
              <a:t>的低通原型模拟	 </a:t>
            </a:r>
            <a:r>
              <a:rPr lang="zh-CN" altLang="en-US" b="1" dirty="0">
                <a:latin typeface="Times New Roman" panose="02020603050405020304" pitchFamily="18" charset="0"/>
                <a:ea typeface="宋体" panose="02010600030101010101" pitchFamily="2" charset="-122"/>
              </a:rPr>
              <a:t>滤波器到实际数字滤波器的变换 </a:t>
            </a:r>
            <a:endParaRPr lang="zh-CN" altLang="en-US" b="1">
              <a:latin typeface="Times New Roman" panose="02020603050405020304" pitchFamily="18" charset="0"/>
              <a:ea typeface="宋体" panose="02010600030101010101" pitchFamily="2" charset="-122"/>
            </a:endParaRPr>
          </a:p>
        </p:txBody>
      </p:sp>
      <p:pic>
        <p:nvPicPr>
          <p:cNvPr id="154626" name="图片 146436" descr="Img00011"/>
          <p:cNvPicPr>
            <a:picLocks noChangeAspect="1"/>
          </p:cNvPicPr>
          <p:nvPr/>
        </p:nvPicPr>
        <p:blipFill>
          <a:blip r:embed="rId1"/>
          <a:stretch>
            <a:fillRect/>
          </a:stretch>
        </p:blipFill>
        <p:spPr>
          <a:xfrm>
            <a:off x="228600" y="1284605"/>
            <a:ext cx="8661400" cy="5452745"/>
          </a:xfrm>
          <a:prstGeom prst="rect">
            <a:avLst/>
          </a:prstGeom>
          <a:noFill/>
          <a:ln w="9525">
            <a:noFill/>
          </a:ln>
        </p:spPr>
      </p:pic>
    </p:spTree>
  </p:cSld>
  <p:clrMapOvr>
    <a:masterClrMapping/>
  </p:clrMapOvr>
  <p:transition>
    <p:blinds/>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1979295" y="5013325"/>
            <a:ext cx="2664460" cy="9359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矩形 1"/>
          <p:cNvSpPr/>
          <p:nvPr/>
        </p:nvSpPr>
        <p:spPr>
          <a:xfrm>
            <a:off x="1907540" y="3583940"/>
            <a:ext cx="2592070" cy="1141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5649" name="文本框 149507"/>
          <p:cNvSpPr txBox="1"/>
          <p:nvPr/>
        </p:nvSpPr>
        <p:spPr>
          <a:xfrm>
            <a:off x="228600" y="533400"/>
            <a:ext cx="8686800" cy="1619250"/>
          </a:xfrm>
          <a:prstGeom prst="rect">
            <a:avLst/>
          </a:prstGeom>
          <a:noFill/>
          <a:ln w="9525">
            <a:noFill/>
          </a:ln>
        </p:spPr>
        <p:txBody>
          <a:bodyPr anchor="t">
            <a:spAutoFit/>
          </a:bodyPr>
          <a:p>
            <a:pPr algn="just">
              <a:lnSpc>
                <a:spcPct val="138000"/>
              </a:lnSpc>
              <a:spcBef>
                <a:spcPct val="50000"/>
              </a:spcBef>
            </a:pPr>
            <a:r>
              <a:rPr lang="en-US" altLang="zh-CN" dirty="0">
                <a:solidFill>
                  <a:srgbClr val="FF0000"/>
                </a:solidFill>
                <a:latin typeface="Times New Roman" panose="02020603050405020304" pitchFamily="18" charset="0"/>
                <a:ea typeface="宋体" panose="02010600030101010101" pitchFamily="2" charset="-122"/>
              </a:rPr>
              <a:t>        </a:t>
            </a:r>
            <a:r>
              <a:rPr lang="zh-CN" altLang="en-US" b="1" dirty="0">
                <a:solidFill>
                  <a:srgbClr val="FF0000"/>
                </a:solidFill>
                <a:latin typeface="Times New Roman" panose="02020603050405020304" pitchFamily="18" charset="0"/>
                <a:ea typeface="宋体" panose="02010600030101010101" pitchFamily="2" charset="-122"/>
              </a:rPr>
              <a:t>例 </a:t>
            </a:r>
            <a:r>
              <a:rPr lang="en-US" altLang="zh-CN" b="1" dirty="0">
                <a:solidFill>
                  <a:srgbClr val="FF0000"/>
                </a:solidFill>
                <a:latin typeface="Times New Roman" panose="02020603050405020304" pitchFamily="18" charset="0"/>
                <a:ea typeface="宋体" panose="02010600030101010101" pitchFamily="2" charset="-122"/>
              </a:rPr>
              <a:t>5-9</a:t>
            </a:r>
            <a:r>
              <a:rPr lang="en-US" altLang="zh-CN" dirty="0">
                <a:solidFill>
                  <a:srgbClr val="FF0000"/>
                </a:solidFill>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要设计一个带阻数字滤波器，其采样频率为</a:t>
            </a:r>
            <a:r>
              <a:rPr lang="en-US" altLang="zh-CN" i="1" err="1">
                <a:latin typeface="Times New Roman" panose="02020603050405020304" pitchFamily="18" charset="0"/>
                <a:ea typeface="宋体" panose="02010600030101010101" pitchFamily="2" charset="-122"/>
              </a:rPr>
              <a:t>f</a:t>
            </a:r>
            <a:r>
              <a:rPr lang="en-US" altLang="zh-CN" baseline="-25000" err="1">
                <a:latin typeface="Times New Roman" panose="02020603050405020304" pitchFamily="18" charset="0"/>
                <a:ea typeface="宋体" panose="02010600030101010101" pitchFamily="2" charset="-122"/>
              </a:rPr>
              <a:t>s</a:t>
            </a:r>
            <a:r>
              <a:rPr lang="en-US" altLang="zh-CN" dirty="0">
                <a:latin typeface="Times New Roman" panose="02020603050405020304" pitchFamily="18" charset="0"/>
                <a:ea typeface="宋体" panose="02010600030101010101" pitchFamily="2" charset="-122"/>
              </a:rPr>
              <a:t>=1 kHz</a:t>
            </a:r>
            <a:r>
              <a:rPr lang="zh-CN" altLang="en-US" dirty="0">
                <a:latin typeface="Times New Roman" panose="02020603050405020304" pitchFamily="18" charset="0"/>
                <a:ea typeface="宋体" panose="02010600030101010101" pitchFamily="2" charset="-122"/>
              </a:rPr>
              <a:t>，要求滤除</a:t>
            </a:r>
            <a:r>
              <a:rPr lang="en-US" altLang="zh-CN" dirty="0">
                <a:latin typeface="Times New Roman" panose="02020603050405020304" pitchFamily="18" charset="0"/>
                <a:ea typeface="宋体" panose="02010600030101010101" pitchFamily="2" charset="-122"/>
              </a:rPr>
              <a:t>100Hz</a:t>
            </a:r>
            <a:r>
              <a:rPr lang="zh-CN" altLang="en-US" dirty="0">
                <a:latin typeface="Times New Roman" panose="02020603050405020304" pitchFamily="18" charset="0"/>
                <a:ea typeface="宋体" panose="02010600030101010101" pitchFamily="2" charset="-122"/>
              </a:rPr>
              <a:t>的干扰，其</a:t>
            </a:r>
            <a:r>
              <a:rPr lang="en-US" altLang="zh-CN" dirty="0">
                <a:latin typeface="Times New Roman" panose="02020603050405020304" pitchFamily="18" charset="0"/>
                <a:ea typeface="宋体" panose="02010600030101010101" pitchFamily="2" charset="-122"/>
              </a:rPr>
              <a:t>3 dB</a:t>
            </a:r>
            <a:r>
              <a:rPr lang="zh-CN" altLang="en-US" dirty="0">
                <a:latin typeface="Times New Roman" panose="02020603050405020304" pitchFamily="18" charset="0"/>
                <a:ea typeface="宋体" panose="02010600030101010101" pitchFamily="2" charset="-122"/>
              </a:rPr>
              <a:t>的边界频率为</a:t>
            </a:r>
            <a:r>
              <a:rPr lang="en-US" altLang="zh-CN" dirty="0">
                <a:latin typeface="Times New Roman" panose="02020603050405020304" pitchFamily="18" charset="0"/>
                <a:ea typeface="宋体" panose="02010600030101010101" pitchFamily="2" charset="-122"/>
              </a:rPr>
              <a:t>95 Hz</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105 Hz</a:t>
            </a:r>
            <a:r>
              <a:rPr lang="zh-CN" altLang="en-US" dirty="0">
                <a:latin typeface="Times New Roman" panose="02020603050405020304" pitchFamily="18" charset="0"/>
                <a:ea typeface="宋体" panose="02010600030101010101" pitchFamily="2" charset="-122"/>
              </a:rPr>
              <a:t>，原型归一化低通滤波器为 </a:t>
            </a:r>
            <a:endParaRPr lang="zh-CN" altLang="en-US">
              <a:latin typeface="Times New Roman" panose="02020603050405020304" pitchFamily="18" charset="0"/>
              <a:ea typeface="宋体" panose="02010600030101010101" pitchFamily="2" charset="-122"/>
            </a:endParaRPr>
          </a:p>
        </p:txBody>
      </p:sp>
      <p:graphicFrame>
        <p:nvGraphicFramePr>
          <p:cNvPr id="155650" name="对象 149508"/>
          <p:cNvGraphicFramePr/>
          <p:nvPr/>
        </p:nvGraphicFramePr>
        <p:xfrm>
          <a:off x="3429000" y="2057400"/>
          <a:ext cx="2133600" cy="919163"/>
        </p:xfrm>
        <a:graphic>
          <a:graphicData uri="http://schemas.openxmlformats.org/presentationml/2006/ole">
            <mc:AlternateContent xmlns:mc="http://schemas.openxmlformats.org/markup-compatibility/2006">
              <mc:Choice xmlns:v="urn:schemas-microsoft-com:vml" Requires="v">
                <p:oleObj spid="_x0000_s3269" name="" r:id="rId1" imgW="913765" imgH="393700" progId="Equation.3">
                  <p:embed/>
                </p:oleObj>
              </mc:Choice>
              <mc:Fallback>
                <p:oleObj name="" r:id="rId1" imgW="913765" imgH="393700" progId="Equation.3">
                  <p:embed/>
                  <p:pic>
                    <p:nvPicPr>
                      <p:cNvPr id="0" name="图片 3268"/>
                      <p:cNvPicPr/>
                      <p:nvPr/>
                    </p:nvPicPr>
                    <p:blipFill>
                      <a:blip r:embed="rId2"/>
                      <a:stretch>
                        <a:fillRect/>
                      </a:stretch>
                    </p:blipFill>
                    <p:spPr>
                      <a:xfrm>
                        <a:off x="3429000" y="2057400"/>
                        <a:ext cx="2133600" cy="919163"/>
                      </a:xfrm>
                      <a:prstGeom prst="rect">
                        <a:avLst/>
                      </a:prstGeom>
                      <a:noFill/>
                      <a:ln w="38100">
                        <a:noFill/>
                        <a:miter/>
                      </a:ln>
                    </p:spPr>
                  </p:pic>
                </p:oleObj>
              </mc:Fallback>
            </mc:AlternateContent>
          </a:graphicData>
        </a:graphic>
      </p:graphicFrame>
      <p:sp>
        <p:nvSpPr>
          <p:cNvPr id="155651" name="文本框 149509"/>
          <p:cNvSpPr txBox="1"/>
          <p:nvPr/>
        </p:nvSpPr>
        <p:spPr>
          <a:xfrm>
            <a:off x="838200" y="2971800"/>
            <a:ext cx="8043863"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解</a:t>
            </a:r>
            <a:r>
              <a:rPr lang="zh-CN" altLang="en-US" dirty="0">
                <a:latin typeface="Times New Roman" panose="02020603050405020304" pitchFamily="18" charset="0"/>
                <a:ea typeface="宋体" panose="02010600030101010101" pitchFamily="2" charset="-122"/>
              </a:rPr>
              <a:t>  首先求出所需数字滤波器在数字域的上、下边界频率为</a:t>
            </a:r>
            <a:r>
              <a:rPr lang="en-US" altLang="zh-CN" dirty="0">
                <a:latin typeface="Times New Roman" panose="02020603050405020304" pitchFamily="18" charset="0"/>
                <a:ea typeface="宋体" panose="02010600030101010101" pitchFamily="2" charset="-122"/>
              </a:rPr>
              <a:t>:</a:t>
            </a:r>
            <a:endParaRPr lang="en-US" altLang="zh-CN">
              <a:latin typeface="Times New Roman" panose="02020603050405020304" pitchFamily="18" charset="0"/>
              <a:ea typeface="宋体" panose="02010600030101010101" pitchFamily="2" charset="-122"/>
            </a:endParaRPr>
          </a:p>
        </p:txBody>
      </p:sp>
      <p:graphicFrame>
        <p:nvGraphicFramePr>
          <p:cNvPr id="155652" name="对象 149510"/>
          <p:cNvGraphicFramePr/>
          <p:nvPr/>
        </p:nvGraphicFramePr>
        <p:xfrm>
          <a:off x="1907540" y="3705860"/>
          <a:ext cx="5486400" cy="2243138"/>
        </p:xfrm>
        <a:graphic>
          <a:graphicData uri="http://schemas.openxmlformats.org/presentationml/2006/ole">
            <mc:AlternateContent xmlns:mc="http://schemas.openxmlformats.org/markup-compatibility/2006">
              <mc:Choice xmlns:v="urn:schemas-microsoft-com:vml" Requires="v">
                <p:oleObj spid="_x0000_s3267" name="" r:id="rId3" imgW="2362200" imgH="965200" progId="Equation.3">
                  <p:embed/>
                </p:oleObj>
              </mc:Choice>
              <mc:Fallback>
                <p:oleObj name="" r:id="rId3" imgW="2362200" imgH="965200" progId="Equation.3">
                  <p:embed/>
                  <p:pic>
                    <p:nvPicPr>
                      <p:cNvPr id="0" name="图片 3266"/>
                      <p:cNvPicPr/>
                      <p:nvPr/>
                    </p:nvPicPr>
                    <p:blipFill>
                      <a:blip r:embed="rId4"/>
                      <a:stretch>
                        <a:fillRect/>
                      </a:stretch>
                    </p:blipFill>
                    <p:spPr>
                      <a:xfrm>
                        <a:off x="1907540" y="3705860"/>
                        <a:ext cx="5486400" cy="2243138"/>
                      </a:xfrm>
                      <a:prstGeom prst="rect">
                        <a:avLst/>
                      </a:prstGeom>
                      <a:noFill/>
                      <a:ln w="38100">
                        <a:noFill/>
                        <a:miter/>
                      </a:ln>
                    </p:spPr>
                  </p:pic>
                </p:oleObj>
              </mc:Fallback>
            </mc:AlternateContent>
          </a:graphicData>
        </a:graphic>
      </p:graphicFrame>
    </p:spTree>
  </p:cSld>
  <p:clrMapOvr>
    <a:masterClrMapping/>
  </p:clrMapOvr>
  <p:transition>
    <p:blinds/>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3" name="文本框 148483"/>
          <p:cNvSpPr txBox="1"/>
          <p:nvPr/>
        </p:nvSpPr>
        <p:spPr>
          <a:xfrm>
            <a:off x="228600" y="533400"/>
            <a:ext cx="53721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代入式（</a:t>
            </a:r>
            <a:r>
              <a:rPr lang="en-US" altLang="zh-CN" dirty="0">
                <a:latin typeface="Times New Roman" panose="02020603050405020304" pitchFamily="18" charset="0"/>
                <a:ea typeface="宋体" panose="02010600030101010101" pitchFamily="2" charset="-122"/>
              </a:rPr>
              <a:t>5-81</a:t>
            </a:r>
            <a:r>
              <a:rPr lang="zh-CN" altLang="en-US" dirty="0">
                <a:latin typeface="Times New Roman" panose="02020603050405020304" pitchFamily="18" charset="0"/>
                <a:ea typeface="宋体" panose="02010600030101010101" pitchFamily="2" charset="-122"/>
              </a:rPr>
              <a:t>）求模拟低通的截止频率 </a:t>
            </a:r>
            <a:endParaRPr lang="zh-CN" altLang="en-US" dirty="0">
              <a:latin typeface="Times New Roman" panose="02020603050405020304" pitchFamily="18" charset="0"/>
              <a:ea typeface="宋体" panose="02010600030101010101" pitchFamily="2" charset="-122"/>
            </a:endParaRPr>
          </a:p>
        </p:txBody>
      </p:sp>
      <p:graphicFrame>
        <p:nvGraphicFramePr>
          <p:cNvPr id="156674" name="对象 148484"/>
          <p:cNvGraphicFramePr/>
          <p:nvPr/>
        </p:nvGraphicFramePr>
        <p:xfrm>
          <a:off x="228600" y="914400"/>
          <a:ext cx="8686800" cy="1652588"/>
        </p:xfrm>
        <a:graphic>
          <a:graphicData uri="http://schemas.openxmlformats.org/presentationml/2006/ole">
            <mc:AlternateContent xmlns:mc="http://schemas.openxmlformats.org/markup-compatibility/2006">
              <mc:Choice xmlns:v="urn:schemas-microsoft-com:vml" Requires="v">
                <p:oleObj spid="_x0000_s3266" name="" r:id="rId1" imgW="4406900" imgH="838200" progId="Equation.3">
                  <p:embed/>
                </p:oleObj>
              </mc:Choice>
              <mc:Fallback>
                <p:oleObj name="" r:id="rId1" imgW="4406900" imgH="838200" progId="Equation.3">
                  <p:embed/>
                  <p:pic>
                    <p:nvPicPr>
                      <p:cNvPr id="0" name="图片 3265"/>
                      <p:cNvPicPr/>
                      <p:nvPr/>
                    </p:nvPicPr>
                    <p:blipFill>
                      <a:blip r:embed="rId2"/>
                      <a:stretch>
                        <a:fillRect/>
                      </a:stretch>
                    </p:blipFill>
                    <p:spPr>
                      <a:xfrm>
                        <a:off x="228600" y="914400"/>
                        <a:ext cx="8686800" cy="1652588"/>
                      </a:xfrm>
                      <a:prstGeom prst="rect">
                        <a:avLst/>
                      </a:prstGeom>
                      <a:noFill/>
                      <a:ln w="38100">
                        <a:noFill/>
                        <a:miter/>
                      </a:ln>
                    </p:spPr>
                  </p:pic>
                </p:oleObj>
              </mc:Fallback>
            </mc:AlternateContent>
          </a:graphicData>
        </a:graphic>
      </p:graphicFrame>
      <p:sp>
        <p:nvSpPr>
          <p:cNvPr id="156675" name="文本框 148485"/>
          <p:cNvSpPr txBox="1"/>
          <p:nvPr/>
        </p:nvSpPr>
        <p:spPr>
          <a:xfrm>
            <a:off x="0" y="2667000"/>
            <a:ext cx="3268663"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由式（</a:t>
            </a:r>
            <a:r>
              <a:rPr lang="en-US" altLang="zh-CN" dirty="0">
                <a:latin typeface="Times New Roman" panose="02020603050405020304" pitchFamily="18" charset="0"/>
                <a:ea typeface="宋体" panose="02010600030101010101" pitchFamily="2" charset="-122"/>
              </a:rPr>
              <a:t>5-83</a:t>
            </a:r>
            <a:r>
              <a:rPr lang="zh-CN" altLang="en-US" dirty="0">
                <a:latin typeface="Times New Roman" panose="02020603050405020304" pitchFamily="18" charset="0"/>
                <a:ea typeface="宋体" panose="02010600030101010101" pitchFamily="2" charset="-122"/>
              </a:rPr>
              <a:t>）求得</a:t>
            </a:r>
            <a:r>
              <a:rPr lang="en-US" altLang="zh-CN" i="1">
                <a:latin typeface="Times New Roman" panose="02020603050405020304" pitchFamily="18" charset="0"/>
                <a:ea typeface="宋体" panose="02010600030101010101" pitchFamily="2" charset="-122"/>
              </a:rPr>
              <a:t>D</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graphicFrame>
        <p:nvGraphicFramePr>
          <p:cNvPr id="156676" name="对象 148486"/>
          <p:cNvGraphicFramePr/>
          <p:nvPr/>
        </p:nvGraphicFramePr>
        <p:xfrm>
          <a:off x="195263" y="3276600"/>
          <a:ext cx="8948737" cy="812800"/>
        </p:xfrm>
        <a:graphic>
          <a:graphicData uri="http://schemas.openxmlformats.org/presentationml/2006/ole">
            <mc:AlternateContent xmlns:mc="http://schemas.openxmlformats.org/markup-compatibility/2006">
              <mc:Choice xmlns:v="urn:schemas-microsoft-com:vml" Requires="v">
                <p:oleObj spid="_x0000_s3268" name="" r:id="rId3" imgW="4747895" imgH="431800" progId="Equation.3">
                  <p:embed/>
                </p:oleObj>
              </mc:Choice>
              <mc:Fallback>
                <p:oleObj name="" r:id="rId3" imgW="4747895" imgH="431800" progId="Equation.3">
                  <p:embed/>
                  <p:pic>
                    <p:nvPicPr>
                      <p:cNvPr id="0" name="图片 3267"/>
                      <p:cNvPicPr/>
                      <p:nvPr/>
                    </p:nvPicPr>
                    <p:blipFill>
                      <a:blip r:embed="rId4"/>
                      <a:stretch>
                        <a:fillRect/>
                      </a:stretch>
                    </p:blipFill>
                    <p:spPr>
                      <a:xfrm>
                        <a:off x="195263" y="3276600"/>
                        <a:ext cx="8948737" cy="812800"/>
                      </a:xfrm>
                      <a:prstGeom prst="rect">
                        <a:avLst/>
                      </a:prstGeom>
                      <a:noFill/>
                      <a:ln w="38100">
                        <a:noFill/>
                        <a:miter/>
                      </a:ln>
                    </p:spPr>
                  </p:pic>
                </p:oleObj>
              </mc:Fallback>
            </mc:AlternateContent>
          </a:graphicData>
        </a:graphic>
      </p:graphicFrame>
      <p:sp>
        <p:nvSpPr>
          <p:cNvPr id="156677" name="文本框 148487"/>
          <p:cNvSpPr txBox="1"/>
          <p:nvPr/>
        </p:nvSpPr>
        <p:spPr>
          <a:xfrm>
            <a:off x="0" y="4114800"/>
            <a:ext cx="3538538"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由式（</a:t>
            </a:r>
            <a:r>
              <a:rPr lang="en-US" altLang="zh-CN" dirty="0">
                <a:latin typeface="Times New Roman" panose="02020603050405020304" pitchFamily="18" charset="0"/>
                <a:ea typeface="宋体" panose="02010600030101010101" pitchFamily="2" charset="-122"/>
              </a:rPr>
              <a:t>5-84</a:t>
            </a:r>
            <a:r>
              <a:rPr lang="zh-CN" altLang="en-US" dirty="0">
                <a:latin typeface="Times New Roman" panose="02020603050405020304" pitchFamily="18" charset="0"/>
                <a:ea typeface="宋体" panose="02010600030101010101" pitchFamily="2" charset="-122"/>
              </a:rPr>
              <a:t>）可求得</a:t>
            </a:r>
            <a:r>
              <a:rPr lang="en-US" altLang="zh-CN" i="1">
                <a:latin typeface="Times New Roman" panose="02020603050405020304" pitchFamily="18" charset="0"/>
                <a:ea typeface="宋体" panose="02010600030101010101" pitchFamily="2" charset="-122"/>
              </a:rPr>
              <a:t>E</a:t>
            </a:r>
            <a:r>
              <a:rPr lang="en-US" altLang="zh-CN" baseline="-25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graphicFrame>
        <p:nvGraphicFramePr>
          <p:cNvPr id="156678" name="对象 148488"/>
          <p:cNvGraphicFramePr/>
          <p:nvPr/>
        </p:nvGraphicFramePr>
        <p:xfrm>
          <a:off x="1600200" y="4495800"/>
          <a:ext cx="6553200" cy="1930400"/>
        </p:xfrm>
        <a:graphic>
          <a:graphicData uri="http://schemas.openxmlformats.org/presentationml/2006/ole">
            <mc:AlternateContent xmlns:mc="http://schemas.openxmlformats.org/markup-compatibility/2006">
              <mc:Choice xmlns:v="urn:schemas-microsoft-com:vml" Requires="v">
                <p:oleObj spid="_x0000_s3270" name="" r:id="rId5" imgW="3187700" imgH="939800" progId="Equation.3">
                  <p:embed/>
                </p:oleObj>
              </mc:Choice>
              <mc:Fallback>
                <p:oleObj name="" r:id="rId5" imgW="3187700" imgH="939800" progId="Equation.3">
                  <p:embed/>
                  <p:pic>
                    <p:nvPicPr>
                      <p:cNvPr id="0" name="图片 3269"/>
                      <p:cNvPicPr/>
                      <p:nvPr/>
                    </p:nvPicPr>
                    <p:blipFill>
                      <a:blip r:embed="rId6"/>
                      <a:stretch>
                        <a:fillRect/>
                      </a:stretch>
                    </p:blipFill>
                    <p:spPr>
                      <a:xfrm>
                        <a:off x="1600200" y="4495800"/>
                        <a:ext cx="6553200" cy="1930400"/>
                      </a:xfrm>
                      <a:prstGeom prst="rect">
                        <a:avLst/>
                      </a:prstGeom>
                      <a:noFill/>
                      <a:ln w="38100">
                        <a:noFill/>
                        <a:miter/>
                      </a:ln>
                    </p:spPr>
                  </p:pic>
                </p:oleObj>
              </mc:Fallback>
            </mc:AlternateContent>
          </a:graphicData>
        </a:graphic>
      </p:graphicFrame>
    </p:spTree>
  </p:cSld>
  <p:clrMapOvr>
    <a:masterClrMapping/>
  </p:clrMapOvr>
  <p:transition>
    <p:blinds/>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7" name="文本框 151555"/>
          <p:cNvSpPr txBox="1"/>
          <p:nvPr/>
        </p:nvSpPr>
        <p:spPr>
          <a:xfrm>
            <a:off x="304800" y="914400"/>
            <a:ext cx="38608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再代入变换公式（</a:t>
            </a:r>
            <a:r>
              <a:rPr lang="en-US" altLang="zh-CN" dirty="0">
                <a:latin typeface="Times New Roman" panose="02020603050405020304" pitchFamily="18" charset="0"/>
                <a:ea typeface="宋体" panose="02010600030101010101" pitchFamily="2" charset="-122"/>
              </a:rPr>
              <a:t>5-74</a:t>
            </a:r>
            <a:r>
              <a:rPr lang="zh-CN" altLang="en-US" dirty="0">
                <a:latin typeface="Times New Roman" panose="02020603050405020304" pitchFamily="18" charset="0"/>
                <a:ea typeface="宋体" panose="02010600030101010101" pitchFamily="2" charset="-122"/>
              </a:rPr>
              <a:t>）得 </a:t>
            </a:r>
            <a:endParaRPr lang="zh-CN" altLang="en-US">
              <a:latin typeface="Times New Roman" panose="02020603050405020304" pitchFamily="18" charset="0"/>
              <a:ea typeface="宋体" panose="02010600030101010101" pitchFamily="2" charset="-122"/>
            </a:endParaRPr>
          </a:p>
        </p:txBody>
      </p:sp>
      <p:graphicFrame>
        <p:nvGraphicFramePr>
          <p:cNvPr id="157698" name="对象 151556"/>
          <p:cNvGraphicFramePr/>
          <p:nvPr/>
        </p:nvGraphicFramePr>
        <p:xfrm>
          <a:off x="762000" y="1676400"/>
          <a:ext cx="7772400" cy="1096963"/>
        </p:xfrm>
        <a:graphic>
          <a:graphicData uri="http://schemas.openxmlformats.org/presentationml/2006/ole">
            <mc:AlternateContent xmlns:mc="http://schemas.openxmlformats.org/markup-compatibility/2006">
              <mc:Choice xmlns:v="urn:schemas-microsoft-com:vml" Requires="v">
                <p:oleObj spid="_x0000_s3271" name="" r:id="rId1" imgW="3415030" imgH="482600" progId="Equation.3">
                  <p:embed/>
                </p:oleObj>
              </mc:Choice>
              <mc:Fallback>
                <p:oleObj name="" r:id="rId1" imgW="3415030" imgH="482600" progId="Equation.3">
                  <p:embed/>
                  <p:pic>
                    <p:nvPicPr>
                      <p:cNvPr id="0" name="图片 3270"/>
                      <p:cNvPicPr/>
                      <p:nvPr/>
                    </p:nvPicPr>
                    <p:blipFill>
                      <a:blip r:embed="rId2"/>
                      <a:stretch>
                        <a:fillRect/>
                      </a:stretch>
                    </p:blipFill>
                    <p:spPr>
                      <a:xfrm>
                        <a:off x="762000" y="1676400"/>
                        <a:ext cx="7772400" cy="1096963"/>
                      </a:xfrm>
                      <a:prstGeom prst="rect">
                        <a:avLst/>
                      </a:prstGeom>
                      <a:noFill/>
                      <a:ln w="38100">
                        <a:noFill/>
                        <a:miter/>
                      </a:ln>
                    </p:spPr>
                  </p:pic>
                </p:oleObj>
              </mc:Fallback>
            </mc:AlternateContent>
          </a:graphicData>
        </a:graphic>
      </p:graphicFrame>
      <p:sp>
        <p:nvSpPr>
          <p:cNvPr id="157699" name="文本框 151557"/>
          <p:cNvSpPr txBox="1"/>
          <p:nvPr/>
        </p:nvSpPr>
        <p:spPr>
          <a:xfrm>
            <a:off x="304800" y="3352800"/>
            <a:ext cx="5137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归一化原型低通滤波器的系统函数为 </a:t>
            </a:r>
            <a:endParaRPr lang="zh-CN" altLang="en-US">
              <a:latin typeface="Times New Roman" panose="02020603050405020304" pitchFamily="18" charset="0"/>
              <a:ea typeface="宋体" panose="02010600030101010101" pitchFamily="2" charset="-122"/>
            </a:endParaRPr>
          </a:p>
        </p:txBody>
      </p:sp>
      <p:graphicFrame>
        <p:nvGraphicFramePr>
          <p:cNvPr id="157700" name="对象 151558"/>
          <p:cNvGraphicFramePr/>
          <p:nvPr/>
        </p:nvGraphicFramePr>
        <p:xfrm>
          <a:off x="3657600" y="4343400"/>
          <a:ext cx="2438400" cy="1047750"/>
        </p:xfrm>
        <a:graphic>
          <a:graphicData uri="http://schemas.openxmlformats.org/presentationml/2006/ole">
            <mc:AlternateContent xmlns:mc="http://schemas.openxmlformats.org/markup-compatibility/2006">
              <mc:Choice xmlns:v="urn:schemas-microsoft-com:vml" Requires="v">
                <p:oleObj spid="_x0000_s3272" name="" r:id="rId3" imgW="913765" imgH="393700" progId="Equation.3">
                  <p:embed/>
                </p:oleObj>
              </mc:Choice>
              <mc:Fallback>
                <p:oleObj name="" r:id="rId3" imgW="913765" imgH="393700" progId="Equation.3">
                  <p:embed/>
                  <p:pic>
                    <p:nvPicPr>
                      <p:cNvPr id="0" name="图片 3271"/>
                      <p:cNvPicPr/>
                      <p:nvPr/>
                    </p:nvPicPr>
                    <p:blipFill>
                      <a:blip r:embed="rId4"/>
                      <a:stretch>
                        <a:fillRect/>
                      </a:stretch>
                    </p:blipFill>
                    <p:spPr>
                      <a:xfrm>
                        <a:off x="3657600" y="4343400"/>
                        <a:ext cx="2438400" cy="1047750"/>
                      </a:xfrm>
                      <a:prstGeom prst="rect">
                        <a:avLst/>
                      </a:prstGeom>
                      <a:noFill/>
                      <a:ln w="38100">
                        <a:noFill/>
                        <a:miter/>
                      </a:ln>
                    </p:spPr>
                  </p:pic>
                </p:oleObj>
              </mc:Fallback>
            </mc:AlternateContent>
          </a:graphicData>
        </a:graphic>
      </p:graphicFrame>
    </p:spTree>
  </p:cSld>
  <p:clrMapOvr>
    <a:masterClrMapping/>
  </p:clrMapOvr>
  <p:transition>
    <p:blinds/>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1" name="文本框 150531"/>
          <p:cNvSpPr txBox="1"/>
          <p:nvPr/>
        </p:nvSpPr>
        <p:spPr>
          <a:xfrm>
            <a:off x="228600" y="762000"/>
            <a:ext cx="5299075"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截止频率为</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的滤波器的系统函数为</a:t>
            </a:r>
            <a:r>
              <a:rPr lang="en-US" altLang="zh-CN" dirty="0">
                <a:latin typeface="Times New Roman" panose="02020603050405020304" pitchFamily="18" charset="0"/>
                <a:ea typeface="宋体" panose="02010600030101010101" pitchFamily="2" charset="-122"/>
              </a:rPr>
              <a:t>: </a:t>
            </a:r>
            <a:endParaRPr lang="en-US" altLang="zh-CN">
              <a:latin typeface="Times New Roman" panose="02020603050405020304" pitchFamily="18" charset="0"/>
              <a:ea typeface="宋体" panose="02010600030101010101" pitchFamily="2" charset="-122"/>
            </a:endParaRPr>
          </a:p>
        </p:txBody>
      </p:sp>
      <p:graphicFrame>
        <p:nvGraphicFramePr>
          <p:cNvPr id="158722" name="对象 150532"/>
          <p:cNvGraphicFramePr/>
          <p:nvPr/>
        </p:nvGraphicFramePr>
        <p:xfrm>
          <a:off x="2133600" y="1295400"/>
          <a:ext cx="5181600" cy="4581525"/>
        </p:xfrm>
        <a:graphic>
          <a:graphicData uri="http://schemas.openxmlformats.org/presentationml/2006/ole">
            <mc:AlternateContent xmlns:mc="http://schemas.openxmlformats.org/markup-compatibility/2006">
              <mc:Choice xmlns:v="urn:schemas-microsoft-com:vml" Requires="v">
                <p:oleObj spid="_x0000_s3265" name="" r:id="rId1" imgW="2413000" imgH="2133600" progId="Equation.3">
                  <p:embed/>
                </p:oleObj>
              </mc:Choice>
              <mc:Fallback>
                <p:oleObj name="" r:id="rId1" imgW="2413000" imgH="2133600" progId="Equation.3">
                  <p:embed/>
                  <p:pic>
                    <p:nvPicPr>
                      <p:cNvPr id="0" name="图片 3264"/>
                      <p:cNvPicPr/>
                      <p:nvPr/>
                    </p:nvPicPr>
                    <p:blipFill>
                      <a:blip r:embed="rId2"/>
                      <a:stretch>
                        <a:fillRect/>
                      </a:stretch>
                    </p:blipFill>
                    <p:spPr>
                      <a:xfrm>
                        <a:off x="2133600" y="1295400"/>
                        <a:ext cx="5181600" cy="4581525"/>
                      </a:xfrm>
                      <a:prstGeom prst="rect">
                        <a:avLst/>
                      </a:prstGeom>
                      <a:noFill/>
                      <a:ln w="38100">
                        <a:noFill/>
                        <a:miter/>
                      </a:ln>
                    </p:spPr>
                  </p:pic>
                </p:oleObj>
              </mc:Fallback>
            </mc:AlternateContent>
          </a:graphicData>
        </a:graphic>
      </p:graphicFrame>
      <p:graphicFrame>
        <p:nvGraphicFramePr>
          <p:cNvPr id="146434" name="对象 141316"/>
          <p:cNvGraphicFramePr/>
          <p:nvPr/>
        </p:nvGraphicFramePr>
        <p:xfrm>
          <a:off x="5940108" y="571500"/>
          <a:ext cx="3203575" cy="1133475"/>
        </p:xfrm>
        <a:graphic>
          <a:graphicData uri="http://schemas.openxmlformats.org/presentationml/2006/ole">
            <mc:AlternateContent xmlns:mc="http://schemas.openxmlformats.org/markup-compatibility/2006">
              <mc:Choice xmlns:v="urn:schemas-microsoft-com:vml" Requires="v">
                <p:oleObj spid="_x0000_s3254" name="" r:id="rId3" imgW="1219200" imgH="431800" progId="Equation.3">
                  <p:embed/>
                </p:oleObj>
              </mc:Choice>
              <mc:Fallback>
                <p:oleObj name="" r:id="rId3" imgW="1219200" imgH="431800" progId="Equation.3">
                  <p:embed/>
                  <p:pic>
                    <p:nvPicPr>
                      <p:cNvPr id="0" name="图片 3253"/>
                      <p:cNvPicPr/>
                      <p:nvPr/>
                    </p:nvPicPr>
                    <p:blipFill>
                      <a:blip r:embed="rId4"/>
                      <a:stretch>
                        <a:fillRect/>
                      </a:stretch>
                    </p:blipFill>
                    <p:spPr>
                      <a:xfrm>
                        <a:off x="5940108" y="571500"/>
                        <a:ext cx="3203575" cy="1133475"/>
                      </a:xfrm>
                      <a:prstGeom prst="rect">
                        <a:avLst/>
                      </a:prstGeom>
                      <a:solidFill>
                        <a:schemeClr val="accent1"/>
                      </a:solidFill>
                      <a:ln w="38100">
                        <a:noFill/>
                        <a:miter/>
                      </a:ln>
                    </p:spPr>
                  </p:pic>
                </p:oleObj>
              </mc:Fallback>
            </mc:AlternateContent>
          </a:graphicData>
        </a:graphic>
      </p:graphicFrame>
      <p:graphicFrame>
        <p:nvGraphicFramePr>
          <p:cNvPr id="146437" name="对象 141319"/>
          <p:cNvGraphicFramePr/>
          <p:nvPr/>
        </p:nvGraphicFramePr>
        <p:xfrm>
          <a:off x="6858000" y="1980565"/>
          <a:ext cx="2286000" cy="1179513"/>
        </p:xfrm>
        <a:graphic>
          <a:graphicData uri="http://schemas.openxmlformats.org/presentationml/2006/ole">
            <mc:AlternateContent xmlns:mc="http://schemas.openxmlformats.org/markup-compatibility/2006">
              <mc:Choice xmlns:v="urn:schemas-microsoft-com:vml" Requires="v">
                <p:oleObj spid="_x0000_s3257" name="" r:id="rId5" imgW="812165" imgH="419100" progId="Equation.3">
                  <p:embed/>
                </p:oleObj>
              </mc:Choice>
              <mc:Fallback>
                <p:oleObj name="" r:id="rId5" imgW="812165" imgH="419100" progId="Equation.3">
                  <p:embed/>
                  <p:pic>
                    <p:nvPicPr>
                      <p:cNvPr id="0" name="图片 3256"/>
                      <p:cNvPicPr/>
                      <p:nvPr/>
                    </p:nvPicPr>
                    <p:blipFill>
                      <a:blip r:embed="rId6"/>
                      <a:stretch>
                        <a:fillRect/>
                      </a:stretch>
                    </p:blipFill>
                    <p:spPr>
                      <a:xfrm>
                        <a:off x="6858000" y="1980565"/>
                        <a:ext cx="2286000" cy="1179513"/>
                      </a:xfrm>
                      <a:prstGeom prst="rect">
                        <a:avLst/>
                      </a:prstGeom>
                      <a:solidFill>
                        <a:schemeClr val="accent1"/>
                      </a:solidFill>
                      <a:ln w="38100">
                        <a:noFill/>
                        <a:miter/>
                      </a:ln>
                    </p:spPr>
                  </p:pic>
                </p:oleObj>
              </mc:Fallback>
            </mc:AlternateContent>
          </a:graphicData>
        </a:graphic>
      </p:graphicFrame>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6434"/>
                                        </p:tgtEl>
                                        <p:attrNameLst>
                                          <p:attrName>style.visibility</p:attrName>
                                        </p:attrNameLst>
                                      </p:cBhvr>
                                      <p:to>
                                        <p:strVal val="visible"/>
                                      </p:to>
                                    </p:set>
                                    <p:anim calcmode="lin" valueType="num">
                                      <p:cBhvr additive="base">
                                        <p:cTn id="7" dur="500" fill="hold"/>
                                        <p:tgtEl>
                                          <p:spTgt spid="146434"/>
                                        </p:tgtEl>
                                        <p:attrNameLst>
                                          <p:attrName>ppt_x</p:attrName>
                                        </p:attrNameLst>
                                      </p:cBhvr>
                                      <p:tavLst>
                                        <p:tav tm="0">
                                          <p:val>
                                            <p:strVal val="#ppt_x"/>
                                          </p:val>
                                        </p:tav>
                                        <p:tav tm="100000">
                                          <p:val>
                                            <p:strVal val="#ppt_x"/>
                                          </p:val>
                                        </p:tav>
                                      </p:tavLst>
                                    </p:anim>
                                    <p:anim calcmode="lin" valueType="num">
                                      <p:cBhvr additive="base">
                                        <p:cTn id="8" dur="500" fill="hold"/>
                                        <p:tgtEl>
                                          <p:spTgt spid="1464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6437"/>
                                        </p:tgtEl>
                                        <p:attrNameLst>
                                          <p:attrName>style.visibility</p:attrName>
                                        </p:attrNameLst>
                                      </p:cBhvr>
                                      <p:to>
                                        <p:strVal val="visible"/>
                                      </p:to>
                                    </p:set>
                                    <p:anim calcmode="lin" valueType="num">
                                      <p:cBhvr additive="base">
                                        <p:cTn id="13" dur="500" fill="hold"/>
                                        <p:tgtEl>
                                          <p:spTgt spid="146437"/>
                                        </p:tgtEl>
                                        <p:attrNameLst>
                                          <p:attrName>ppt_x</p:attrName>
                                        </p:attrNameLst>
                                      </p:cBhvr>
                                      <p:tavLst>
                                        <p:tav tm="0">
                                          <p:val>
                                            <p:strVal val="#ppt_x"/>
                                          </p:val>
                                        </p:tav>
                                        <p:tav tm="100000">
                                          <p:val>
                                            <p:strVal val="#ppt_x"/>
                                          </p:val>
                                        </p:tav>
                                      </p:tavLst>
                                    </p:anim>
                                    <p:anim calcmode="lin" valueType="num">
                                      <p:cBhvr additive="base">
                                        <p:cTn id="14" dur="500" fill="hold"/>
                                        <p:tgtEl>
                                          <p:spTgt spid="1464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5" name="文本框 153603"/>
          <p:cNvSpPr txBox="1"/>
          <p:nvPr/>
        </p:nvSpPr>
        <p:spPr>
          <a:xfrm>
            <a:off x="3048000" y="685800"/>
            <a:ext cx="3316288" cy="579438"/>
          </a:xfrm>
          <a:prstGeom prst="rect">
            <a:avLst/>
          </a:prstGeom>
          <a:noFill/>
          <a:ln w="9525">
            <a:noFill/>
          </a:ln>
        </p:spPr>
        <p:txBody>
          <a:bodyPr wrap="none" anchor="t">
            <a:spAutoFit/>
          </a:bodyPr>
          <a:p>
            <a:r>
              <a:rPr lang="en-US" altLang="zh-CN" sz="3200" b="1" dirty="0">
                <a:latin typeface="Times New Roman" panose="02020603050405020304" pitchFamily="18" charset="0"/>
                <a:ea typeface="宋体" panose="02010600030101010101" pitchFamily="2" charset="-122"/>
              </a:rPr>
              <a:t>5.7  </a:t>
            </a:r>
            <a:r>
              <a:rPr lang="en-US" altLang="zh-CN" sz="3200" b="1" dirty="0">
                <a:solidFill>
                  <a:srgbClr val="FF0000"/>
                </a:solidFill>
                <a:latin typeface="Times New Roman" panose="02020603050405020304" pitchFamily="18" charset="0"/>
                <a:ea typeface="宋体" panose="02010600030101010101" pitchFamily="2" charset="-122"/>
              </a:rPr>
              <a:t>Z</a:t>
            </a:r>
            <a:r>
              <a:rPr lang="zh-CN" altLang="en-US" sz="3200" b="1" dirty="0">
                <a:solidFill>
                  <a:srgbClr val="FF0000"/>
                </a:solidFill>
                <a:latin typeface="Times New Roman" panose="02020603050405020304" pitchFamily="18" charset="0"/>
                <a:ea typeface="宋体" panose="02010600030101010101" pitchFamily="2" charset="-122"/>
              </a:rPr>
              <a:t>平面</a:t>
            </a:r>
            <a:r>
              <a:rPr lang="zh-CN" altLang="en-US" sz="3200" b="1" dirty="0">
                <a:latin typeface="Times New Roman" panose="02020603050405020304" pitchFamily="18" charset="0"/>
                <a:ea typeface="宋体" panose="02010600030101010101" pitchFamily="2" charset="-122"/>
              </a:rPr>
              <a:t>变换法 </a:t>
            </a:r>
            <a:endParaRPr lang="zh-CN" altLang="en-US" sz="3200" b="1">
              <a:latin typeface="Times New Roman" panose="02020603050405020304" pitchFamily="18" charset="0"/>
              <a:ea typeface="宋体" panose="02010600030101010101" pitchFamily="2" charset="-122"/>
            </a:endParaRPr>
          </a:p>
        </p:txBody>
      </p:sp>
      <p:sp>
        <p:nvSpPr>
          <p:cNvPr id="159746" name="文本框 153604"/>
          <p:cNvSpPr txBox="1"/>
          <p:nvPr/>
        </p:nvSpPr>
        <p:spPr>
          <a:xfrm>
            <a:off x="152400" y="1371600"/>
            <a:ext cx="8839200" cy="4117975"/>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上一节讨论了由模拟低通原型来设计各种数字滤波器的方法，这种原型变换的设计方法同样也可直接在数字域上进行。如果我们已经有了一个数字滤波器的低通原型</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（这个滤波器也可以由模拟低通原型设计得到），同样可以通过一定的变换，来设计其他各种不同的数字滤波器函数</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，这种变换也就是由</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所在的</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平面到</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所在的</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平面的一个映射变换。为了便于区分变换前后两个不同的</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平面，把变换前的</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平面定义为</a:t>
            </a:r>
            <a:r>
              <a:rPr lang="en-US" altLang="zh-CN" dirty="0">
                <a:latin typeface="Times New Roman" panose="02020603050405020304" pitchFamily="18" charset="0"/>
                <a:ea typeface="宋体" panose="02010600030101010101" pitchFamily="2" charset="-122"/>
              </a:rPr>
              <a:t>U</a:t>
            </a:r>
            <a:r>
              <a:rPr lang="zh-CN" altLang="en-US" dirty="0">
                <a:latin typeface="Times New Roman" panose="02020603050405020304" pitchFamily="18" charset="0"/>
                <a:ea typeface="宋体" panose="02010600030101010101" pitchFamily="2" charset="-122"/>
              </a:rPr>
              <a:t>平面，</a:t>
            </a:r>
            <a:r>
              <a:rPr lang="en-US" altLang="zh-CN" i="1">
                <a:latin typeface="Times New Roman" panose="02020603050405020304" pitchFamily="18" charset="0"/>
                <a:ea typeface="宋体" panose="02010600030101010101" pitchFamily="2" charset="-122"/>
              </a:rPr>
              <a:t>u</a:t>
            </a:r>
            <a:r>
              <a:rPr lang="zh-CN" altLang="en-US">
                <a:latin typeface="Times New Roman" panose="02020603050405020304" pitchFamily="18" charset="0"/>
                <a:ea typeface="宋体" panose="02010600030101010101" pitchFamily="2" charset="-122"/>
              </a:rPr>
              <a:t>到</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的变</a:t>
            </a:r>
            <a:r>
              <a:rPr lang="zh-CN" altLang="en-US" dirty="0">
                <a:latin typeface="Times New Roman" panose="02020603050405020304" pitchFamily="18" charset="0"/>
                <a:ea typeface="宋体" panose="02010600030101010101" pitchFamily="2" charset="-122"/>
              </a:rPr>
              <a:t>换关系表示为： </a:t>
            </a:r>
            <a:endParaRPr lang="zh-CN" altLang="en-US">
              <a:latin typeface="Times New Roman" panose="02020603050405020304" pitchFamily="18" charset="0"/>
              <a:ea typeface="宋体" panose="02010600030101010101" pitchFamily="2" charset="-122"/>
            </a:endParaRPr>
          </a:p>
        </p:txBody>
      </p:sp>
      <p:sp>
        <p:nvSpPr>
          <p:cNvPr id="159747" name="文本框 153605"/>
          <p:cNvSpPr txBox="1"/>
          <p:nvPr/>
        </p:nvSpPr>
        <p:spPr>
          <a:xfrm>
            <a:off x="3505200" y="5486400"/>
            <a:ext cx="1687513" cy="519113"/>
          </a:xfrm>
          <a:prstGeom prst="rect">
            <a:avLst/>
          </a:prstGeom>
          <a:solidFill>
            <a:schemeClr val="accent1"/>
          </a:solidFill>
          <a:ln w="9525">
            <a:noFill/>
          </a:ln>
        </p:spPr>
        <p:txBody>
          <a:bodyPr wrap="none" anchor="t">
            <a:spAutoFit/>
          </a:bodyPr>
          <a:p>
            <a:r>
              <a:rPr lang="en-US" altLang="zh-CN" sz="2800" i="1">
                <a:latin typeface="Times New Roman" panose="02020603050405020304" pitchFamily="18" charset="0"/>
                <a:ea typeface="宋体" panose="02010600030101010101" pitchFamily="2" charset="-122"/>
              </a:rPr>
              <a:t>u</a:t>
            </a:r>
            <a:r>
              <a:rPr lang="en-US" altLang="zh-CN" sz="2800" baseline="30000">
                <a:latin typeface="Times New Roman" panose="02020603050405020304" pitchFamily="18" charset="0"/>
                <a:ea typeface="宋体" panose="02010600030101010101" pitchFamily="2" charset="-122"/>
              </a:rPr>
              <a:t>-1</a:t>
            </a:r>
            <a:r>
              <a:rPr lang="en-US" altLang="zh-CN"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G</a:t>
            </a:r>
            <a:r>
              <a:rPr lang="en-US" altLang="zh-CN" sz="2800">
                <a:latin typeface="Times New Roman" panose="02020603050405020304" pitchFamily="18" charset="0"/>
                <a:ea typeface="宋体" panose="02010600030101010101" pitchFamily="2" charset="-122"/>
              </a:rPr>
              <a:t>(</a:t>
            </a:r>
            <a:r>
              <a:rPr lang="en-US" altLang="zh-CN" sz="2800" i="1">
                <a:latin typeface="Times New Roman" panose="02020603050405020304" pitchFamily="18" charset="0"/>
                <a:ea typeface="宋体" panose="02010600030101010101" pitchFamily="2" charset="-122"/>
              </a:rPr>
              <a:t>z</a:t>
            </a:r>
            <a:r>
              <a:rPr lang="en-US" altLang="zh-CN" sz="2800" baseline="30000">
                <a:latin typeface="Times New Roman" panose="02020603050405020304" pitchFamily="18" charset="0"/>
                <a:ea typeface="宋体" panose="02010600030101010101" pitchFamily="2" charset="-122"/>
              </a:rPr>
              <a:t>-1</a:t>
            </a:r>
            <a:r>
              <a:rPr lang="en-US" altLang="zh-CN" sz="2800">
                <a:latin typeface="Times New Roman" panose="02020603050405020304" pitchFamily="18" charset="0"/>
                <a:ea typeface="宋体" panose="02010600030101010101" pitchFamily="2" charset="-122"/>
              </a:rPr>
              <a:t>) </a:t>
            </a:r>
            <a:endParaRPr lang="en-US" altLang="zh-CN" sz="2800">
              <a:latin typeface="Times New Roman" panose="02020603050405020304" pitchFamily="18" charset="0"/>
              <a:ea typeface="宋体" panose="02010600030101010101" pitchFamily="2" charset="-122"/>
            </a:endParaRPr>
          </a:p>
        </p:txBody>
      </p:sp>
      <p:sp>
        <p:nvSpPr>
          <p:cNvPr id="159748" name="文本框 153606"/>
          <p:cNvSpPr txBox="1"/>
          <p:nvPr/>
        </p:nvSpPr>
        <p:spPr>
          <a:xfrm>
            <a:off x="6659563" y="5589588"/>
            <a:ext cx="1428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5-87</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69" name="文本框 152579"/>
          <p:cNvSpPr txBox="1"/>
          <p:nvPr/>
        </p:nvSpPr>
        <p:spPr>
          <a:xfrm>
            <a:off x="730250" y="685800"/>
            <a:ext cx="61277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这样，数字滤波器的原型变换就可以表达为 </a:t>
            </a:r>
            <a:endParaRPr lang="zh-CN" altLang="en-US">
              <a:latin typeface="Times New Roman" panose="02020603050405020304" pitchFamily="18" charset="0"/>
              <a:ea typeface="宋体" panose="02010600030101010101" pitchFamily="2" charset="-122"/>
            </a:endParaRPr>
          </a:p>
        </p:txBody>
      </p:sp>
      <p:graphicFrame>
        <p:nvGraphicFramePr>
          <p:cNvPr id="160770" name="对象 152580"/>
          <p:cNvGraphicFramePr/>
          <p:nvPr/>
        </p:nvGraphicFramePr>
        <p:xfrm>
          <a:off x="2743200" y="1371600"/>
          <a:ext cx="3276600" cy="625475"/>
        </p:xfrm>
        <a:graphic>
          <a:graphicData uri="http://schemas.openxmlformats.org/presentationml/2006/ole">
            <mc:AlternateContent xmlns:mc="http://schemas.openxmlformats.org/markup-compatibility/2006">
              <mc:Choice xmlns:v="urn:schemas-microsoft-com:vml" Requires="v">
                <p:oleObj spid="_x0000_s3278" name="" r:id="rId1" imgW="1395095" imgH="266065" progId="Equation.3">
                  <p:embed/>
                </p:oleObj>
              </mc:Choice>
              <mc:Fallback>
                <p:oleObj name="" r:id="rId1" imgW="1395095" imgH="266065" progId="Equation.3">
                  <p:embed/>
                  <p:pic>
                    <p:nvPicPr>
                      <p:cNvPr id="0" name="图片 3277"/>
                      <p:cNvPicPr/>
                      <p:nvPr/>
                    </p:nvPicPr>
                    <p:blipFill>
                      <a:blip r:embed="rId2"/>
                      <a:stretch>
                        <a:fillRect/>
                      </a:stretch>
                    </p:blipFill>
                    <p:spPr>
                      <a:xfrm>
                        <a:off x="2743200" y="1371600"/>
                        <a:ext cx="3276600" cy="625475"/>
                      </a:xfrm>
                      <a:prstGeom prst="rect">
                        <a:avLst/>
                      </a:prstGeom>
                      <a:solidFill>
                        <a:schemeClr val="accent1"/>
                      </a:solidFill>
                      <a:ln w="38100">
                        <a:noFill/>
                        <a:miter/>
                      </a:ln>
                    </p:spPr>
                  </p:pic>
                </p:oleObj>
              </mc:Fallback>
            </mc:AlternateContent>
          </a:graphicData>
        </a:graphic>
      </p:graphicFrame>
      <p:sp>
        <p:nvSpPr>
          <p:cNvPr id="160771" name="文本框 152581"/>
          <p:cNvSpPr txBox="1"/>
          <p:nvPr/>
        </p:nvSpPr>
        <p:spPr>
          <a:xfrm>
            <a:off x="6781800" y="14478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5-88</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60772" name="文本框 152582"/>
          <p:cNvSpPr txBox="1"/>
          <p:nvPr/>
        </p:nvSpPr>
        <p:spPr>
          <a:xfrm>
            <a:off x="304800" y="2012950"/>
            <a:ext cx="8686800" cy="4071938"/>
          </a:xfrm>
          <a:prstGeom prst="rect">
            <a:avLst/>
          </a:prstGeom>
          <a:noFill/>
          <a:ln w="9525">
            <a:noFill/>
          </a:ln>
        </p:spPr>
        <p:txBody>
          <a:bodyPr anchor="t">
            <a:spAutoFit/>
          </a:bodyPr>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在式（</a:t>
            </a:r>
            <a:r>
              <a:rPr lang="en-US" altLang="zh-CN" dirty="0">
                <a:latin typeface="Times New Roman" panose="02020603050405020304" pitchFamily="18" charset="0"/>
                <a:ea typeface="宋体" panose="02010600030101010101" pitchFamily="2" charset="-122"/>
              </a:rPr>
              <a:t>5-87</a:t>
            </a:r>
            <a:r>
              <a:rPr lang="zh-CN" altLang="en-US" dirty="0">
                <a:latin typeface="Times New Roman" panose="02020603050405020304" pitchFamily="18" charset="0"/>
                <a:ea typeface="宋体" panose="02010600030101010101" pitchFamily="2" charset="-122"/>
              </a:rPr>
              <a:t>）中，选用</a:t>
            </a:r>
            <a:r>
              <a:rPr lang="en-US" altLang="zh-CN" i="1">
                <a:latin typeface="Times New Roman" panose="02020603050405020304" pitchFamily="18" charset="0"/>
                <a:ea typeface="宋体" panose="02010600030101010101" pitchFamily="2" charset="-122"/>
              </a:rPr>
              <a:t>u</a:t>
            </a:r>
            <a:r>
              <a:rPr lang="en-US" altLang="zh-CN" baseline="30000">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及</a:t>
            </a:r>
            <a:r>
              <a:rPr lang="en-US" altLang="zh-CN" i="1">
                <a:latin typeface="Times New Roman" panose="02020603050405020304" pitchFamily="18" charset="0"/>
                <a:ea typeface="宋体" panose="02010600030101010101" pitchFamily="2" charset="-122"/>
              </a:rPr>
              <a:t>z</a:t>
            </a:r>
            <a:r>
              <a:rPr lang="en-US" altLang="zh-CN" baseline="30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而不用</a:t>
            </a:r>
            <a:r>
              <a:rPr lang="en-US" altLang="zh-CN" i="1">
                <a:latin typeface="Times New Roman" panose="02020603050405020304" pitchFamily="18" charset="0"/>
                <a:ea typeface="宋体" panose="02010600030101010101" pitchFamily="2" charset="-122"/>
              </a:rPr>
              <a:t>u</a:t>
            </a:r>
            <a:r>
              <a:rPr lang="zh-CN" altLang="en-US">
                <a:latin typeface="Times New Roman" panose="02020603050405020304" pitchFamily="18" charset="0"/>
                <a:ea typeface="宋体" panose="02010600030101010101" pitchFamily="2" charset="-122"/>
              </a:rPr>
              <a:t>及</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，这是因为在系统</a:t>
            </a:r>
            <a:r>
              <a:rPr lang="zh-CN" altLang="en-US" dirty="0">
                <a:latin typeface="Times New Roman" panose="02020603050405020304" pitchFamily="18" charset="0"/>
                <a:ea typeface="宋体" panose="02010600030101010101" pitchFamily="2" charset="-122"/>
              </a:rPr>
              <a:t>函数中</a:t>
            </a:r>
            <a:r>
              <a:rPr lang="en-US" altLang="zh-CN" i="1">
                <a:latin typeface="Times New Roman" panose="02020603050405020304" pitchFamily="18" charset="0"/>
                <a:ea typeface="宋体" panose="02010600030101010101" pitchFamily="2" charset="-122"/>
              </a:rPr>
              <a:t>z</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u</a:t>
            </a:r>
            <a:r>
              <a:rPr lang="zh-CN" altLang="en-US" dirty="0">
                <a:latin typeface="Times New Roman" panose="02020603050405020304" pitchFamily="18" charset="0"/>
                <a:ea typeface="宋体" panose="02010600030101010101" pitchFamily="2" charset="-122"/>
              </a:rPr>
              <a:t>都是以负幂形式出现的。</a:t>
            </a:r>
            <a:endParaRPr lang="zh-CN" altLang="en-US" dirty="0">
              <a:latin typeface="Times New Roman" panose="02020603050405020304" pitchFamily="18" charset="0"/>
              <a:ea typeface="宋体" panose="02010600030101010101" pitchFamily="2" charset="-122"/>
            </a:endParaRPr>
          </a:p>
          <a:p>
            <a:pPr algn="just">
              <a:lnSpc>
                <a:spcPct val="130000"/>
              </a:lnSpc>
              <a:spcBef>
                <a:spcPct val="50000"/>
              </a:spcBef>
            </a:pPr>
            <a:r>
              <a:rPr lang="zh-CN" altLang="en-US" dirty="0">
                <a:latin typeface="Times New Roman" panose="02020603050405020304" pitchFamily="18" charset="0"/>
                <a:ea typeface="宋体" panose="02010600030101010101" pitchFamily="2" charset="-122"/>
              </a:rPr>
              <a:t>         现在来讨论对变换函数</a:t>
            </a:r>
            <a:r>
              <a:rPr lang="en-US" altLang="zh-CN" i="1">
                <a:latin typeface="Times New Roman" panose="02020603050405020304" pitchFamily="18" charset="0"/>
                <a:ea typeface="宋体" panose="02010600030101010101" pitchFamily="2" charset="-122"/>
              </a:rPr>
              <a:t>G</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baseline="300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的要求。首先，要使一个因果稳定的低通函数</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L</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u</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变换成的</a:t>
            </a:r>
            <a:r>
              <a:rPr lang="en-US" altLang="zh-CN" i="1">
                <a:latin typeface="Times New Roman" panose="02020603050405020304" pitchFamily="18" charset="0"/>
                <a:ea typeface="宋体" panose="02010600030101010101" pitchFamily="2" charset="-122"/>
              </a:rPr>
              <a:t>H</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依然是一个因果稳定的系统函数， 因此</a:t>
            </a:r>
            <a:r>
              <a:rPr lang="en-US" altLang="zh-CN" i="1">
                <a:latin typeface="Times New Roman" panose="02020603050405020304" pitchFamily="18" charset="0"/>
                <a:ea typeface="宋体" panose="02010600030101010101" pitchFamily="2" charset="-122"/>
              </a:rPr>
              <a:t>u</a:t>
            </a:r>
            <a:r>
              <a:rPr lang="zh-CN" altLang="en-US" dirty="0">
                <a:latin typeface="Times New Roman" panose="02020603050405020304" pitchFamily="18" charset="0"/>
                <a:ea typeface="宋体" panose="02010600030101010101" pitchFamily="2" charset="-122"/>
              </a:rPr>
              <a:t>的单位圆内部必须对应于</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的单位圆内部。其次，两个函数的频响要满足一定的要求，因此</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的单位圆应映射到</a:t>
            </a:r>
            <a:r>
              <a:rPr lang="en-US" altLang="zh-CN" i="1">
                <a:latin typeface="Times New Roman" panose="02020603050405020304" pitchFamily="18" charset="0"/>
                <a:ea typeface="宋体" panose="02010600030101010101" pitchFamily="2" charset="-122"/>
              </a:rPr>
              <a:t>u</a:t>
            </a:r>
            <a:r>
              <a:rPr lang="zh-CN" altLang="en-US" dirty="0">
                <a:latin typeface="Times New Roman" panose="02020603050405020304" pitchFamily="18" charset="0"/>
                <a:ea typeface="宋体" panose="02010600030101010101" pitchFamily="2" charset="-122"/>
              </a:rPr>
              <a:t>的单位圆上， 用</a:t>
            </a:r>
            <a:r>
              <a:rPr lang="en-US" altLang="zh-CN" i="1">
                <a:latin typeface="Times New Roman" panose="02020603050405020304" pitchFamily="18" charset="0"/>
                <a:ea typeface="宋体" panose="02010600030101010101" pitchFamily="2" charset="-122"/>
              </a:rPr>
              <a:t>θ</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分别表示</a:t>
            </a:r>
            <a:r>
              <a:rPr lang="en-US" altLang="zh-CN" dirty="0">
                <a:latin typeface="Times New Roman" panose="02020603050405020304" pitchFamily="18" charset="0"/>
                <a:ea typeface="宋体" panose="02010600030101010101" pitchFamily="2" charset="-122"/>
              </a:rPr>
              <a:t>U</a:t>
            </a:r>
            <a:r>
              <a:rPr lang="zh-CN" altLang="en-US" dirty="0">
                <a:latin typeface="Times New Roman" panose="02020603050405020304" pitchFamily="18" charset="0"/>
                <a:ea typeface="宋体" panose="02010600030101010101" pitchFamily="2" charset="-122"/>
              </a:rPr>
              <a:t>平面和</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平面上的数字角频率，则</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θ</a:t>
            </a:r>
            <a:r>
              <a:rPr lang="zh-CN" altLang="en-US" err="1">
                <a:latin typeface="Times New Roman" panose="02020603050405020304" pitchFamily="18" charset="0"/>
                <a:ea typeface="宋体" panose="02010600030101010101" pitchFamily="2" charset="-122"/>
              </a:rPr>
              <a:t>和</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分别表示</a:t>
            </a:r>
            <a:r>
              <a:rPr lang="en-US" altLang="zh-CN" dirty="0">
                <a:latin typeface="Times New Roman" panose="02020603050405020304" pitchFamily="18" charset="0"/>
                <a:ea typeface="宋体" panose="02010600030101010101" pitchFamily="2" charset="-122"/>
              </a:rPr>
              <a:t>U</a:t>
            </a:r>
            <a:r>
              <a:rPr lang="zh-CN" altLang="en-US" dirty="0">
                <a:latin typeface="Times New Roman" panose="02020603050405020304" pitchFamily="18" charset="0"/>
                <a:ea typeface="宋体" panose="02010600030101010101" pitchFamily="2" charset="-122"/>
              </a:rPr>
              <a:t>平面和</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平面的单位圆，式（</a:t>
            </a:r>
            <a:r>
              <a:rPr lang="en-US" altLang="zh-CN" dirty="0">
                <a:latin typeface="Times New Roman" panose="02020603050405020304" pitchFamily="18" charset="0"/>
                <a:ea typeface="宋体" panose="02010600030101010101" pitchFamily="2" charset="-122"/>
              </a:rPr>
              <a:t>5-87</a:t>
            </a:r>
            <a:r>
              <a:rPr lang="zh-CN" altLang="en-US" dirty="0">
                <a:latin typeface="Times New Roman" panose="02020603050405020304" pitchFamily="18" charset="0"/>
                <a:ea typeface="宋体" panose="02010600030101010101" pitchFamily="2" charset="-122"/>
              </a:rPr>
              <a:t>）应满足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11188" y="3644900"/>
            <a:ext cx="1223963" cy="576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graphicFrame>
        <p:nvGraphicFramePr>
          <p:cNvPr id="161794" name="对象 155651"/>
          <p:cNvGraphicFramePr/>
          <p:nvPr/>
        </p:nvGraphicFramePr>
        <p:xfrm>
          <a:off x="1981200" y="762000"/>
          <a:ext cx="4953000" cy="585788"/>
        </p:xfrm>
        <a:graphic>
          <a:graphicData uri="http://schemas.openxmlformats.org/presentationml/2006/ole">
            <mc:AlternateContent xmlns:mc="http://schemas.openxmlformats.org/markup-compatibility/2006">
              <mc:Choice xmlns:v="urn:schemas-microsoft-com:vml" Requires="v">
                <p:oleObj spid="_x0000_s3277" name="" r:id="rId1" imgW="1930400" imgH="228600" progId="Equation.3">
                  <p:embed/>
                </p:oleObj>
              </mc:Choice>
              <mc:Fallback>
                <p:oleObj name="" r:id="rId1" imgW="1930400" imgH="228600" progId="Equation.3">
                  <p:embed/>
                  <p:pic>
                    <p:nvPicPr>
                      <p:cNvPr id="0" name="图片 3276"/>
                      <p:cNvPicPr/>
                      <p:nvPr/>
                    </p:nvPicPr>
                    <p:blipFill>
                      <a:blip r:embed="rId2"/>
                      <a:stretch>
                        <a:fillRect/>
                      </a:stretch>
                    </p:blipFill>
                    <p:spPr>
                      <a:xfrm>
                        <a:off x="1981200" y="762000"/>
                        <a:ext cx="4953000" cy="585788"/>
                      </a:xfrm>
                      <a:prstGeom prst="rect">
                        <a:avLst/>
                      </a:prstGeom>
                      <a:solidFill>
                        <a:schemeClr val="accent1"/>
                      </a:solidFill>
                      <a:ln w="38100">
                        <a:noFill/>
                        <a:miter/>
                      </a:ln>
                    </p:spPr>
                  </p:pic>
                </p:oleObj>
              </mc:Fallback>
            </mc:AlternateContent>
          </a:graphicData>
        </a:graphic>
      </p:graphicFrame>
      <p:sp>
        <p:nvSpPr>
          <p:cNvPr id="161795" name="文本框 155652"/>
          <p:cNvSpPr txBox="1"/>
          <p:nvPr/>
        </p:nvSpPr>
        <p:spPr>
          <a:xfrm>
            <a:off x="7721600" y="8382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5-89</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61796" name="文本框 155653"/>
          <p:cNvSpPr txBox="1"/>
          <p:nvPr/>
        </p:nvSpPr>
        <p:spPr>
          <a:xfrm>
            <a:off x="212725" y="1327150"/>
            <a:ext cx="5008563" cy="1187450"/>
          </a:xfrm>
          <a:prstGeom prst="rect">
            <a:avLst/>
          </a:prstGeom>
          <a:noFill/>
          <a:ln w="9525">
            <a:noFill/>
          </a:ln>
        </p:spPr>
        <p:txBody>
          <a:bodyPr wrap="none" anchor="t">
            <a:spAutoFit/>
          </a:bodyPr>
          <a:p>
            <a:pPr>
              <a:lnSpc>
                <a:spcPct val="150000"/>
              </a:lnSpc>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φ</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是</a:t>
            </a:r>
            <a:r>
              <a:rPr lang="en-US" altLang="zh-CN" i="1">
                <a:latin typeface="Times New Roman" panose="02020603050405020304" pitchFamily="18" charset="0"/>
                <a:ea typeface="宋体" panose="02010600030101010101" pitchFamily="2" charset="-122"/>
              </a:rPr>
              <a:t>G</a:t>
            </a:r>
            <a:r>
              <a:rPr lang="en-US" altLang="zh-CN">
                <a:latin typeface="Times New Roman" panose="02020603050405020304" pitchFamily="18" charset="0"/>
                <a:ea typeface="宋体" panose="02010600030101010101" pitchFamily="2" charset="-122"/>
              </a:rPr>
              <a:t>(e </a:t>
            </a:r>
            <a:r>
              <a:rPr lang="en-US" altLang="zh-CN" baseline="30000">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的相位函数。</a:t>
            </a:r>
            <a:endParaRPr lang="zh-CN" altLang="en-US" dirty="0">
              <a:latin typeface="Times New Roman" panose="02020603050405020304" pitchFamily="18" charset="0"/>
              <a:ea typeface="宋体" panose="02010600030101010101" pitchFamily="2" charset="-122"/>
            </a:endParaRPr>
          </a:p>
          <a:p>
            <a:pPr>
              <a:lnSpc>
                <a:spcPct val="150000"/>
              </a:lnSpc>
            </a:pPr>
            <a:r>
              <a:rPr lang="zh-CN" altLang="en-US" dirty="0">
                <a:latin typeface="Times New Roman" panose="02020603050405020304" pitchFamily="18" charset="0"/>
                <a:ea typeface="宋体" panose="02010600030101010101" pitchFamily="2" charset="-122"/>
              </a:rPr>
              <a:t>         从上式可以得到 </a:t>
            </a:r>
            <a:endParaRPr lang="zh-CN" altLang="en-US">
              <a:latin typeface="Times New Roman" panose="02020603050405020304" pitchFamily="18" charset="0"/>
              <a:ea typeface="宋体" panose="02010600030101010101" pitchFamily="2" charset="-122"/>
            </a:endParaRPr>
          </a:p>
        </p:txBody>
      </p:sp>
      <p:graphicFrame>
        <p:nvGraphicFramePr>
          <p:cNvPr id="161797" name="对象 155654"/>
          <p:cNvGraphicFramePr/>
          <p:nvPr/>
        </p:nvGraphicFramePr>
        <p:xfrm>
          <a:off x="3521710" y="2438400"/>
          <a:ext cx="2176780" cy="631825"/>
        </p:xfrm>
        <a:graphic>
          <a:graphicData uri="http://schemas.openxmlformats.org/presentationml/2006/ole">
            <mc:AlternateContent xmlns:mc="http://schemas.openxmlformats.org/markup-compatibility/2006">
              <mc:Choice xmlns:v="urn:schemas-microsoft-com:vml" Requires="v">
                <p:oleObj spid="_x0000_s3276" name="" r:id="rId3" imgW="787400" imgH="228600" progId="Equation.3">
                  <p:embed/>
                </p:oleObj>
              </mc:Choice>
              <mc:Fallback>
                <p:oleObj name="" r:id="rId3" imgW="787400" imgH="228600" progId="Equation.3">
                  <p:embed/>
                  <p:pic>
                    <p:nvPicPr>
                      <p:cNvPr id="0" name="图片 3275"/>
                      <p:cNvPicPr/>
                      <p:nvPr/>
                    </p:nvPicPr>
                    <p:blipFill>
                      <a:blip r:embed="rId4"/>
                      <a:stretch>
                        <a:fillRect/>
                      </a:stretch>
                    </p:blipFill>
                    <p:spPr>
                      <a:xfrm>
                        <a:off x="3521710" y="2438400"/>
                        <a:ext cx="2176780" cy="631825"/>
                      </a:xfrm>
                      <a:prstGeom prst="rect">
                        <a:avLst/>
                      </a:prstGeom>
                      <a:noFill/>
                      <a:ln w="38100">
                        <a:noFill/>
                        <a:miter/>
                      </a:ln>
                    </p:spPr>
                  </p:pic>
                </p:oleObj>
              </mc:Fallback>
            </mc:AlternateContent>
          </a:graphicData>
        </a:graphic>
      </p:graphicFrame>
      <p:sp>
        <p:nvSpPr>
          <p:cNvPr id="161798" name="文本框 155655"/>
          <p:cNvSpPr txBox="1"/>
          <p:nvPr/>
        </p:nvSpPr>
        <p:spPr>
          <a:xfrm>
            <a:off x="228600" y="3124200"/>
            <a:ext cx="8686800" cy="1109663"/>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也即</a:t>
            </a:r>
            <a:r>
              <a:rPr lang="zh-CN" altLang="en-US" b="1" dirty="0">
                <a:solidFill>
                  <a:srgbClr val="FF0000"/>
                </a:solidFill>
                <a:latin typeface="Times New Roman" panose="02020603050405020304" pitchFamily="18" charset="0"/>
                <a:ea typeface="宋体" panose="02010600030101010101" pitchFamily="2" charset="-122"/>
              </a:rPr>
              <a:t>变换函数</a:t>
            </a:r>
            <a:r>
              <a:rPr lang="en-US" altLang="zh-CN" b="1" i="1">
                <a:solidFill>
                  <a:srgbClr val="FF0000"/>
                </a:solidFill>
                <a:latin typeface="Times New Roman" panose="02020603050405020304" pitchFamily="18" charset="0"/>
                <a:ea typeface="宋体" panose="02010600030101010101" pitchFamily="2" charset="-122"/>
              </a:rPr>
              <a:t>G</a:t>
            </a:r>
            <a:r>
              <a:rPr lang="en-US" altLang="zh-CN" b="1">
                <a:solidFill>
                  <a:srgbClr val="FF0000"/>
                </a:solidFill>
                <a:latin typeface="Times New Roman" panose="02020603050405020304" pitchFamily="18" charset="0"/>
                <a:ea typeface="宋体" panose="02010600030101010101" pitchFamily="2" charset="-122"/>
              </a:rPr>
              <a:t>(</a:t>
            </a:r>
            <a:r>
              <a:rPr lang="en-US" altLang="zh-CN" b="1" i="1">
                <a:solidFill>
                  <a:srgbClr val="FF0000"/>
                </a:solidFill>
                <a:latin typeface="Times New Roman" panose="02020603050405020304" pitchFamily="18" charset="0"/>
                <a:ea typeface="宋体" panose="02010600030101010101" pitchFamily="2" charset="-122"/>
              </a:rPr>
              <a:t>z</a:t>
            </a:r>
            <a:r>
              <a:rPr lang="en-US" altLang="zh-CN" b="1" baseline="30000">
                <a:solidFill>
                  <a:srgbClr val="FF0000"/>
                </a:solidFill>
                <a:latin typeface="Times New Roman" panose="02020603050405020304" pitchFamily="18" charset="0"/>
                <a:ea typeface="宋体" panose="02010600030101010101" pitchFamily="2" charset="-122"/>
              </a:rPr>
              <a:t>-1</a:t>
            </a:r>
            <a:r>
              <a:rPr lang="en-US" altLang="zh-CN" b="1" dirty="0">
                <a:solidFill>
                  <a:srgbClr val="FF0000"/>
                </a:solidFill>
                <a:latin typeface="Times New Roman" panose="02020603050405020304" pitchFamily="18" charset="0"/>
                <a:ea typeface="宋体" panose="02010600030101010101" pitchFamily="2" charset="-122"/>
              </a:rPr>
              <a:t>)</a:t>
            </a:r>
            <a:r>
              <a:rPr lang="zh-CN" altLang="en-US" b="1" dirty="0">
                <a:solidFill>
                  <a:srgbClr val="FF0000"/>
                </a:solidFill>
                <a:latin typeface="Times New Roman" panose="02020603050405020304" pitchFamily="18" charset="0"/>
                <a:ea typeface="宋体" panose="02010600030101010101" pitchFamily="2" charset="-122"/>
              </a:rPr>
              <a:t>在单位圆上的幅度必须恒等于</a:t>
            </a:r>
            <a:r>
              <a:rPr lang="en-US" altLang="zh-CN" b="1" dirty="0">
                <a:solidFill>
                  <a:srgbClr val="FF0000"/>
                </a:solidFill>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，这种函数称为全通函数。</a:t>
            </a:r>
            <a:r>
              <a:rPr lang="zh-CN" altLang="en-US" dirty="0">
                <a:latin typeface="Times New Roman" panose="02020603050405020304" pitchFamily="18" charset="0"/>
                <a:ea typeface="宋体" panose="02010600030101010101" pitchFamily="2" charset="-122"/>
              </a:rPr>
              <a:t>任何一个全通函数都可以表示为 </a:t>
            </a:r>
            <a:endParaRPr lang="zh-CN" altLang="en-US">
              <a:latin typeface="Times New Roman" panose="02020603050405020304" pitchFamily="18" charset="0"/>
              <a:ea typeface="宋体" panose="02010600030101010101" pitchFamily="2" charset="-122"/>
            </a:endParaRPr>
          </a:p>
        </p:txBody>
      </p:sp>
      <p:graphicFrame>
        <p:nvGraphicFramePr>
          <p:cNvPr id="161799" name="对象 155656"/>
          <p:cNvGraphicFramePr/>
          <p:nvPr/>
        </p:nvGraphicFramePr>
        <p:xfrm>
          <a:off x="2514600" y="4495800"/>
          <a:ext cx="3581400" cy="1139825"/>
        </p:xfrm>
        <a:graphic>
          <a:graphicData uri="http://schemas.openxmlformats.org/presentationml/2006/ole">
            <mc:AlternateContent xmlns:mc="http://schemas.openxmlformats.org/markup-compatibility/2006">
              <mc:Choice xmlns:v="urn:schemas-microsoft-com:vml" Requires="v">
                <p:oleObj spid="_x0000_s3273" name="" r:id="rId5" imgW="1435100" imgH="457200" progId="Equation.3">
                  <p:embed/>
                </p:oleObj>
              </mc:Choice>
              <mc:Fallback>
                <p:oleObj name="" r:id="rId5" imgW="1435100" imgH="457200" progId="Equation.3">
                  <p:embed/>
                  <p:pic>
                    <p:nvPicPr>
                      <p:cNvPr id="0" name="图片 3272"/>
                      <p:cNvPicPr/>
                      <p:nvPr/>
                    </p:nvPicPr>
                    <p:blipFill>
                      <a:blip r:embed="rId6"/>
                      <a:stretch>
                        <a:fillRect/>
                      </a:stretch>
                    </p:blipFill>
                    <p:spPr>
                      <a:xfrm>
                        <a:off x="2514600" y="4495800"/>
                        <a:ext cx="3581400" cy="1139825"/>
                      </a:xfrm>
                      <a:prstGeom prst="rect">
                        <a:avLst/>
                      </a:prstGeom>
                      <a:solidFill>
                        <a:srgbClr val="C00000"/>
                      </a:solidFill>
                      <a:ln w="38100">
                        <a:noFill/>
                        <a:miter/>
                      </a:ln>
                    </p:spPr>
                  </p:pic>
                </p:oleObj>
              </mc:Fallback>
            </mc:AlternateContent>
          </a:graphicData>
        </a:graphic>
      </p:graphicFrame>
      <p:sp>
        <p:nvSpPr>
          <p:cNvPr id="161800" name="文本框 155657"/>
          <p:cNvSpPr txBox="1"/>
          <p:nvPr/>
        </p:nvSpPr>
        <p:spPr>
          <a:xfrm>
            <a:off x="7721600" y="25146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5-90</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61801" name="文本框 155658"/>
          <p:cNvSpPr txBox="1"/>
          <p:nvPr/>
        </p:nvSpPr>
        <p:spPr>
          <a:xfrm>
            <a:off x="7721600" y="49530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5-91</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2195513" y="1989138"/>
            <a:ext cx="3816350" cy="503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162818" name="文本框 154627"/>
          <p:cNvSpPr txBox="1"/>
          <p:nvPr/>
        </p:nvSpPr>
        <p:spPr>
          <a:xfrm>
            <a:off x="395288" y="765175"/>
            <a:ext cx="8375650" cy="4360863"/>
          </a:xfrm>
          <a:prstGeom prst="rect">
            <a:avLst/>
          </a:prstGeom>
          <a:noFill/>
          <a:ln w="9525">
            <a:noFill/>
          </a:ln>
        </p:spPr>
        <p:txBody>
          <a:bodyPr anchor="t">
            <a:spAutoFit/>
          </a:bodyPr>
          <a:p>
            <a:pPr algn="just">
              <a:lnSpc>
                <a:spcPct val="158000"/>
              </a:lnSpc>
              <a:spcBef>
                <a:spcPct val="50000"/>
              </a:spcBef>
            </a:pPr>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α</a:t>
            </a:r>
            <a:r>
              <a:rPr lang="en-US" altLang="zh-CN" i="1" baseline="-25000">
                <a:latin typeface="Times New Roman" panose="02020603050405020304" pitchFamily="18" charset="0"/>
                <a:ea typeface="宋体" panose="02010600030101010101" pitchFamily="2" charset="-122"/>
              </a:rPr>
              <a:t>i</a:t>
            </a:r>
            <a:r>
              <a:rPr lang="zh-CN" altLang="en-US" dirty="0">
                <a:latin typeface="Times New Roman" panose="02020603050405020304" pitchFamily="18" charset="0"/>
                <a:ea typeface="宋体" panose="02010600030101010101" pitchFamily="2" charset="-122"/>
              </a:rPr>
              <a:t>为它的极点，可以是实数，也可以是共轭复数，但都必须在单位圆以内， 即</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α</a:t>
            </a:r>
            <a:r>
              <a:rPr lang="en-US" altLang="zh-CN" i="1" baseline="-25000">
                <a:latin typeface="Times New Roman" panose="02020603050405020304" pitchFamily="18" charset="0"/>
                <a:ea typeface="宋体" panose="02010600030101010101" pitchFamily="2" charset="-122"/>
              </a:rPr>
              <a:t>i</a:t>
            </a:r>
            <a:r>
              <a:rPr lang="en-US" altLang="zh-CN" dirty="0">
                <a:latin typeface="Times New Roman" panose="02020603050405020304" pitchFamily="18" charset="0"/>
                <a:ea typeface="宋体" panose="02010600030101010101" pitchFamily="2" charset="-122"/>
              </a:rPr>
              <a:t>|&lt;1</a:t>
            </a:r>
            <a:r>
              <a:rPr lang="zh-CN" altLang="en-US" dirty="0">
                <a:latin typeface="Times New Roman" panose="02020603050405020304" pitchFamily="18" charset="0"/>
                <a:ea typeface="宋体" panose="02010600030101010101" pitchFamily="2" charset="-122"/>
              </a:rPr>
              <a:t>， 以保证变换的稳定性不变；</a:t>
            </a:r>
            <a:r>
              <a:rPr lang="en-US" altLang="zh-CN" i="1">
                <a:latin typeface="Times New Roman" panose="02020603050405020304" pitchFamily="18" charset="0"/>
                <a:ea typeface="宋体" panose="02010600030101010101" pitchFamily="2" charset="-122"/>
              </a:rPr>
              <a:t>G</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en-US" altLang="zh-CN" baseline="3000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的所有零点都是其极点的共轭倒数，</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称为全通函数的阶数， 当</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由</a:t>
            </a:r>
            <a:r>
              <a:rPr lang="en-US" altLang="zh-CN" dirty="0">
                <a:latin typeface="Times New Roman" panose="02020603050405020304" pitchFamily="18" charset="0"/>
                <a:ea typeface="宋体" panose="02010600030101010101" pitchFamily="2" charset="-122"/>
              </a:rPr>
              <a:t>0→π</a:t>
            </a:r>
            <a:r>
              <a:rPr lang="zh-CN" altLang="en-US" dirty="0">
                <a:latin typeface="Times New Roman" panose="02020603050405020304" pitchFamily="18" charset="0"/>
                <a:ea typeface="宋体" panose="02010600030101010101" pitchFamily="2" charset="-122"/>
              </a:rPr>
              <a:t>时，其相位函数</a:t>
            </a:r>
            <a:r>
              <a:rPr lang="en-US" altLang="zh-CN" i="1">
                <a:latin typeface="Times New Roman" panose="02020603050405020304" pitchFamily="18" charset="0"/>
                <a:ea typeface="宋体" panose="02010600030101010101" pitchFamily="2" charset="-122"/>
              </a:rPr>
              <a:t>φ</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的变化量为</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。选择合适的</a:t>
            </a:r>
            <a:r>
              <a:rPr lang="en-US" altLang="zh-CN" i="1">
                <a:latin typeface="Times New Roman" panose="02020603050405020304" pitchFamily="18" charset="0"/>
                <a:ea typeface="宋体" panose="02010600030101010101" pitchFamily="2" charset="-122"/>
              </a:rPr>
              <a:t>N</a:t>
            </a:r>
            <a:r>
              <a:rPr lang="zh-CN" altLang="en-US">
                <a:latin typeface="Times New Roman" panose="02020603050405020304" pitchFamily="18" charset="0"/>
                <a:ea typeface="宋体" panose="02010600030101010101" pitchFamily="2" charset="-122"/>
              </a:rPr>
              <a:t>和</a:t>
            </a:r>
            <a:r>
              <a:rPr lang="en-US" altLang="zh-CN" i="1">
                <a:latin typeface="Times New Roman" panose="02020603050405020304" pitchFamily="18" charset="0"/>
                <a:ea typeface="宋体" panose="02010600030101010101" pitchFamily="2" charset="-122"/>
              </a:rPr>
              <a:t>α</a:t>
            </a:r>
            <a:r>
              <a:rPr lang="en-US" altLang="zh-CN" i="1" baseline="-25000">
                <a:latin typeface="Times New Roman" panose="02020603050405020304" pitchFamily="18" charset="0"/>
                <a:ea typeface="宋体" panose="02010600030101010101" pitchFamily="2" charset="-122"/>
              </a:rPr>
              <a:t>i</a:t>
            </a:r>
            <a:r>
              <a:rPr lang="zh-CN" altLang="en-US" dirty="0">
                <a:latin typeface="Times New Roman" panose="02020603050405020304" pitchFamily="18" charset="0"/>
                <a:ea typeface="宋体" panose="02010600030101010101" pitchFamily="2" charset="-122"/>
              </a:rPr>
              <a:t>，则可得到各类变换。 </a:t>
            </a:r>
            <a:endParaRPr lang="zh-CN" altLang="en-US" dirty="0">
              <a:latin typeface="Times New Roman" panose="02020603050405020304" pitchFamily="18" charset="0"/>
              <a:ea typeface="宋体" panose="02010600030101010101" pitchFamily="2" charset="-122"/>
            </a:endParaRPr>
          </a:p>
          <a:p>
            <a:pPr>
              <a:lnSpc>
                <a:spcPct val="158000"/>
              </a:lnSpc>
              <a:spcBef>
                <a:spcPct val="50000"/>
              </a:spcBef>
            </a:pPr>
            <a:r>
              <a:rPr lang="zh-CN" altLang="en-US" dirty="0">
                <a:latin typeface="Times New Roman" panose="02020603050405020304" pitchFamily="18" charset="0"/>
                <a:ea typeface="宋体" panose="02010600030101010101" pitchFamily="2" charset="-122"/>
              </a:rPr>
              <a:t>        根据全通函数的这些基本特点，下面具体讨论数字域的各种原型变换。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1" name="文本框 157699"/>
          <p:cNvSpPr txBox="1"/>
          <p:nvPr/>
        </p:nvSpPr>
        <p:spPr>
          <a:xfrm>
            <a:off x="228600" y="457200"/>
            <a:ext cx="8763000" cy="3013075"/>
          </a:xfrm>
          <a:prstGeom prst="rect">
            <a:avLst/>
          </a:prstGeom>
          <a:noFill/>
          <a:ln w="9525">
            <a:noFill/>
          </a:ln>
        </p:spPr>
        <p:txBody>
          <a:bodyPr anchor="t">
            <a:spAutoFit/>
          </a:bodyPr>
          <a:p>
            <a:pPr algn="just">
              <a:lnSpc>
                <a:spcPct val="150000"/>
              </a:lnSpc>
              <a:spcBef>
                <a:spcPct val="50000"/>
              </a:spcBef>
            </a:pPr>
            <a:r>
              <a:rPr lang="en-US" altLang="zh-CN" b="1" dirty="0">
                <a:latin typeface="Times New Roman" panose="02020603050405020304" pitchFamily="18" charset="0"/>
                <a:ea typeface="宋体" panose="02010600030101010101" pitchFamily="2" charset="-122"/>
              </a:rPr>
              <a:t>5.7.1 </a:t>
            </a:r>
            <a:r>
              <a:rPr lang="zh-CN" altLang="en-US" b="1" dirty="0">
                <a:latin typeface="Times New Roman" panose="02020603050405020304" pitchFamily="18" charset="0"/>
                <a:ea typeface="宋体" panose="02010600030101010101" pitchFamily="2" charset="-122"/>
              </a:rPr>
              <a:t>数字低通</a:t>
            </a:r>
            <a:r>
              <a:rPr lang="en-US" altLang="zh-CN" b="1" dirty="0">
                <a:latin typeface="Courier New" panose="02070309020205020404" pitchFamily="49"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数字低通</a:t>
            </a:r>
            <a:endParaRPr lang="zh-CN" altLang="en-US" b="1">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在低通到低通的变换中，</a:t>
            </a:r>
            <a:r>
              <a:rPr lang="en-US" altLang="zh-CN" i="1">
                <a:latin typeface="Times New Roman" panose="02020603050405020304" pitchFamily="18" charset="0"/>
                <a:ea typeface="宋体" panose="02010600030101010101" pitchFamily="2" charset="-122"/>
              </a:rPr>
              <a:t>H</a:t>
            </a:r>
            <a:r>
              <a:rPr lang="en-US" altLang="zh-CN" baseline="-25000">
                <a:latin typeface="Times New Roman" panose="02020603050405020304" pitchFamily="18" charset="0"/>
                <a:ea typeface="宋体" panose="02010600030101010101" pitchFamily="2" charset="-122"/>
              </a:rPr>
              <a:t>L</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θ</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及</a:t>
            </a:r>
            <a:r>
              <a:rPr lang="en-US" altLang="zh-CN" i="1">
                <a:latin typeface="Times New Roman" panose="02020603050405020304" pitchFamily="18" charset="0"/>
                <a:ea typeface="宋体" panose="02010600030101010101" pitchFamily="2" charset="-122"/>
              </a:rPr>
              <a:t>H</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都是低通函数，只是截止频率互不相同，因此当</a:t>
            </a:r>
            <a:r>
              <a:rPr lang="en-US" altLang="zh-CN" i="1">
                <a:latin typeface="Times New Roman" panose="02020603050405020304" pitchFamily="18" charset="0"/>
                <a:ea typeface="宋体" panose="02010600030101010101" pitchFamily="2" charset="-122"/>
              </a:rPr>
              <a:t>θ</a:t>
            </a:r>
            <a:r>
              <a:rPr lang="zh-CN" altLang="en-US" dirty="0">
                <a:latin typeface="Times New Roman" panose="02020603050405020304" pitchFamily="18" charset="0"/>
                <a:ea typeface="宋体" panose="02010600030101010101" pitchFamily="2" charset="-122"/>
              </a:rPr>
              <a:t>由</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变到</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时，相应的</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也应由</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变到</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，根据全通函数相位</a:t>
            </a:r>
            <a:r>
              <a:rPr lang="en-US" altLang="zh-CN" i="1">
                <a:latin typeface="Times New Roman" panose="02020603050405020304" pitchFamily="18" charset="0"/>
                <a:ea typeface="宋体" panose="02010600030101010101" pitchFamily="2" charset="-122"/>
              </a:rPr>
              <a:t>φ</a:t>
            </a:r>
            <a:r>
              <a:rPr lang="en-US" altLang="zh-CN">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ω</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变化量为</a:t>
            </a:r>
            <a:r>
              <a:rPr lang="en-US" altLang="zh-CN" i="1">
                <a:latin typeface="Times New Roman" panose="02020603050405020304" pitchFamily="18" charset="0"/>
                <a:ea typeface="宋体" panose="02010600030101010101" pitchFamily="2" charset="-122"/>
              </a:rPr>
              <a:t>N</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的性质，就可确定全通函数的阶数必须为</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 并且必须满足以下两个条件： </a:t>
            </a:r>
            <a:endParaRPr lang="zh-CN" altLang="en-US">
              <a:latin typeface="Times New Roman" panose="02020603050405020304" pitchFamily="18" charset="0"/>
              <a:ea typeface="宋体" panose="02010600030101010101" pitchFamily="2" charset="-122"/>
            </a:endParaRPr>
          </a:p>
        </p:txBody>
      </p:sp>
      <p:graphicFrame>
        <p:nvGraphicFramePr>
          <p:cNvPr id="163842" name="对象 157700"/>
          <p:cNvGraphicFramePr/>
          <p:nvPr/>
        </p:nvGraphicFramePr>
        <p:xfrm>
          <a:off x="3657600" y="3581400"/>
          <a:ext cx="1676400" cy="1176338"/>
        </p:xfrm>
        <a:graphic>
          <a:graphicData uri="http://schemas.openxmlformats.org/presentationml/2006/ole">
            <mc:AlternateContent xmlns:mc="http://schemas.openxmlformats.org/markup-compatibility/2006">
              <mc:Choice xmlns:v="urn:schemas-microsoft-com:vml" Requires="v">
                <p:oleObj spid="_x0000_s3279" name="" r:id="rId1" imgW="723900" imgH="508000" progId="Equation.3">
                  <p:embed/>
                </p:oleObj>
              </mc:Choice>
              <mc:Fallback>
                <p:oleObj name="" r:id="rId1" imgW="723900" imgH="508000" progId="Equation.3">
                  <p:embed/>
                  <p:pic>
                    <p:nvPicPr>
                      <p:cNvPr id="0" name="图片 3278"/>
                      <p:cNvPicPr/>
                      <p:nvPr/>
                    </p:nvPicPr>
                    <p:blipFill>
                      <a:blip r:embed="rId2"/>
                      <a:stretch>
                        <a:fillRect/>
                      </a:stretch>
                    </p:blipFill>
                    <p:spPr>
                      <a:xfrm>
                        <a:off x="3657600" y="3581400"/>
                        <a:ext cx="1676400" cy="1176338"/>
                      </a:xfrm>
                      <a:prstGeom prst="rect">
                        <a:avLst/>
                      </a:prstGeom>
                      <a:solidFill>
                        <a:schemeClr val="accent1"/>
                      </a:solidFill>
                      <a:ln w="38100">
                        <a:noFill/>
                        <a:miter/>
                      </a:ln>
                    </p:spPr>
                  </p:pic>
                </p:oleObj>
              </mc:Fallback>
            </mc:AlternateContent>
          </a:graphicData>
        </a:graphic>
      </p:graphicFrame>
      <p:sp>
        <p:nvSpPr>
          <p:cNvPr id="163843" name="文本框 157701"/>
          <p:cNvSpPr txBox="1"/>
          <p:nvPr/>
        </p:nvSpPr>
        <p:spPr>
          <a:xfrm>
            <a:off x="304800" y="4635500"/>
            <a:ext cx="8610600" cy="1079500"/>
          </a:xfrm>
          <a:prstGeom prst="rect">
            <a:avLst/>
          </a:prstGeom>
          <a:noFill/>
          <a:ln w="9525">
            <a:noFill/>
          </a:ln>
        </p:spPr>
        <p:txBody>
          <a:bodyPr anchor="t">
            <a:spAutoFit/>
          </a:bodyPr>
          <a:p>
            <a:pPr algn="just">
              <a:lnSpc>
                <a:spcPct val="135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由式（</a:t>
            </a:r>
            <a:r>
              <a:rPr lang="en-US" altLang="zh-CN" dirty="0">
                <a:latin typeface="Times New Roman" panose="02020603050405020304" pitchFamily="18" charset="0"/>
                <a:ea typeface="宋体" panose="02010600030101010101" pitchFamily="2" charset="-122"/>
              </a:rPr>
              <a:t>5-87</a:t>
            </a:r>
            <a:r>
              <a:rPr lang="zh-CN" altLang="en-US" dirty="0">
                <a:latin typeface="Times New Roman" panose="02020603050405020304" pitchFamily="18" charset="0"/>
                <a:ea typeface="宋体" panose="02010600030101010101" pitchFamily="2" charset="-122"/>
              </a:rPr>
              <a:t>）及式（</a:t>
            </a:r>
            <a:r>
              <a:rPr lang="en-US" altLang="zh-CN" dirty="0">
                <a:latin typeface="Times New Roman" panose="02020603050405020304" pitchFamily="18" charset="0"/>
                <a:ea typeface="宋体" panose="02010600030101010101" pitchFamily="2" charset="-122"/>
              </a:rPr>
              <a:t>5-91</a:t>
            </a:r>
            <a:r>
              <a:rPr lang="zh-CN" altLang="en-US" dirty="0">
                <a:latin typeface="Times New Roman" panose="02020603050405020304" pitchFamily="18" charset="0"/>
                <a:ea typeface="宋体" panose="02010600030101010101" pitchFamily="2" charset="-122"/>
              </a:rPr>
              <a:t>）可以找到，满足以上要求的映射函数应</a:t>
            </a:r>
            <a:r>
              <a:rPr lang="zh-CN" altLang="en-US" dirty="0">
                <a:latin typeface="Times New Roman" panose="02020603050405020304" pitchFamily="18" charset="0"/>
                <a:ea typeface="宋体" panose="02010600030101010101" pitchFamily="2" charset="-122"/>
              </a:rPr>
              <a:t>该是 </a:t>
            </a:r>
            <a:endParaRPr lang="zh-CN" altLang="en-US">
              <a:latin typeface="Times New Roman" panose="02020603050405020304" pitchFamily="18" charset="0"/>
              <a:ea typeface="宋体" panose="02010600030101010101" pitchFamily="2" charset="-122"/>
            </a:endParaRPr>
          </a:p>
        </p:txBody>
      </p:sp>
      <p:graphicFrame>
        <p:nvGraphicFramePr>
          <p:cNvPr id="163844" name="对象 157702"/>
          <p:cNvGraphicFramePr/>
          <p:nvPr/>
        </p:nvGraphicFramePr>
        <p:xfrm>
          <a:off x="2209800" y="5181600"/>
          <a:ext cx="2667000" cy="1060450"/>
        </p:xfrm>
        <a:graphic>
          <a:graphicData uri="http://schemas.openxmlformats.org/presentationml/2006/ole">
            <mc:AlternateContent xmlns:mc="http://schemas.openxmlformats.org/markup-compatibility/2006">
              <mc:Choice xmlns:v="urn:schemas-microsoft-com:vml" Requires="v">
                <p:oleObj spid="_x0000_s3274" name="" r:id="rId3" imgW="1054100" imgH="419100" progId="Equation.3">
                  <p:embed/>
                </p:oleObj>
              </mc:Choice>
              <mc:Fallback>
                <p:oleObj name="" r:id="rId3" imgW="1054100" imgH="419100" progId="Equation.3">
                  <p:embed/>
                  <p:pic>
                    <p:nvPicPr>
                      <p:cNvPr id="0" name="图片 3273"/>
                      <p:cNvPicPr/>
                      <p:nvPr/>
                    </p:nvPicPr>
                    <p:blipFill>
                      <a:blip r:embed="rId4"/>
                      <a:stretch>
                        <a:fillRect/>
                      </a:stretch>
                    </p:blipFill>
                    <p:spPr>
                      <a:xfrm>
                        <a:off x="2209800" y="5181600"/>
                        <a:ext cx="2667000" cy="1060450"/>
                      </a:xfrm>
                      <a:prstGeom prst="rect">
                        <a:avLst/>
                      </a:prstGeom>
                      <a:noFill/>
                      <a:ln w="38100">
                        <a:noFill/>
                        <a:miter/>
                      </a:ln>
                    </p:spPr>
                  </p:pic>
                </p:oleObj>
              </mc:Fallback>
            </mc:AlternateContent>
          </a:graphicData>
        </a:graphic>
      </p:graphicFrame>
      <p:sp>
        <p:nvSpPr>
          <p:cNvPr id="163845" name="文本框 157703"/>
          <p:cNvSpPr txBox="1"/>
          <p:nvPr/>
        </p:nvSpPr>
        <p:spPr>
          <a:xfrm>
            <a:off x="5029200" y="5715000"/>
            <a:ext cx="43624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式中，</a:t>
            </a:r>
            <a:r>
              <a:rPr lang="en-US" altLang="zh-CN" i="1">
                <a:latin typeface="Times New Roman" panose="02020603050405020304" pitchFamily="18" charset="0"/>
                <a:ea typeface="宋体" panose="02010600030101010101" pitchFamily="2" charset="-122"/>
              </a:rPr>
              <a:t>α</a:t>
            </a:r>
            <a:r>
              <a:rPr lang="zh-CN" altLang="en-US" dirty="0">
                <a:latin typeface="Times New Roman" panose="02020603050405020304" pitchFamily="18" charset="0"/>
                <a:ea typeface="宋体" panose="02010600030101010101" pitchFamily="2" charset="-122"/>
              </a:rPr>
              <a:t>是实数，而且</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α</a:t>
            </a:r>
            <a:r>
              <a:rPr lang="en-US" altLang="zh-CN">
                <a:latin typeface="Times New Roman" panose="02020603050405020304" pitchFamily="18" charset="0"/>
                <a:ea typeface="宋体" panose="02010600030101010101" pitchFamily="2" charset="-122"/>
              </a:rPr>
              <a:t>|&lt;1</a:t>
            </a:r>
            <a:r>
              <a:rPr lang="zh-CN" altLang="en-US">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63846" name="文本框 157704"/>
          <p:cNvSpPr txBox="1"/>
          <p:nvPr/>
        </p:nvSpPr>
        <p:spPr>
          <a:xfrm>
            <a:off x="8001000" y="6400800"/>
            <a:ext cx="9461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(5-92)</a:t>
            </a:r>
            <a:endParaRPr lang="en-US" altLang="zh-CN">
              <a:latin typeface="Times New Roman" panose="02020603050405020304" pitchFamily="18" charset="0"/>
              <a:ea typeface="宋体" panose="02010600030101010101" pitchFamily="2" charset="-122"/>
            </a:endParaRPr>
          </a:p>
        </p:txBody>
      </p:sp>
      <p:graphicFrame>
        <p:nvGraphicFramePr>
          <p:cNvPr id="163847" name="对象 1">
            <a:hlinkClick r:id="" action="ppaction://ole?verb="/>
          </p:cNvPr>
          <p:cNvGraphicFramePr>
            <a:graphicFrameLocks noChangeAspect="1"/>
          </p:cNvGraphicFramePr>
          <p:nvPr/>
        </p:nvGraphicFramePr>
        <p:xfrm>
          <a:off x="3657600" y="619125"/>
          <a:ext cx="1995488" cy="385763"/>
        </p:xfrm>
        <a:graphic>
          <a:graphicData uri="http://schemas.openxmlformats.org/presentationml/2006/ole">
            <mc:AlternateContent xmlns:mc="http://schemas.openxmlformats.org/markup-compatibility/2006">
              <mc:Choice xmlns:v="urn:schemas-microsoft-com:vml" Requires="v">
                <p:oleObj spid="_x0000_s3275" name="" r:id="rId5" imgW="914400" imgH="177165" progId="Equation.KSEE3">
                  <p:embed/>
                </p:oleObj>
              </mc:Choice>
              <mc:Fallback>
                <p:oleObj name="" r:id="rId5" imgW="914400" imgH="177165" progId="Equation.KSEE3">
                  <p:embed/>
                  <p:pic>
                    <p:nvPicPr>
                      <p:cNvPr id="0" name="图片 3274"/>
                      <p:cNvPicPr/>
                      <p:nvPr/>
                    </p:nvPicPr>
                    <p:blipFill>
                      <a:blip r:embed="rId6"/>
                      <a:stretch>
                        <a:fillRect/>
                      </a:stretch>
                    </p:blipFill>
                    <p:spPr>
                      <a:xfrm>
                        <a:off x="3657600" y="619125"/>
                        <a:ext cx="1995488" cy="385763"/>
                      </a:xfrm>
                      <a:prstGeom prst="rect">
                        <a:avLst/>
                      </a:prstGeom>
                      <a:solidFill>
                        <a:srgbClr val="C00000"/>
                      </a:solidFill>
                      <a:ln w="38100">
                        <a:noFill/>
                        <a:miter/>
                      </a:ln>
                    </p:spPr>
                  </p:pic>
                </p:oleObj>
              </mc:Fallback>
            </mc:AlternateContent>
          </a:graphicData>
        </a:graphic>
      </p:graphicFrame>
    </p:spTree>
  </p:cSld>
  <p:clrMapOvr>
    <a:masterClrMapping/>
  </p:clrMapOvr>
  <p:transition>
    <p:blinds/>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3092450" y="620713"/>
            <a:ext cx="719138" cy="504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2" name="矩形 1"/>
          <p:cNvSpPr/>
          <p:nvPr/>
        </p:nvSpPr>
        <p:spPr>
          <a:xfrm>
            <a:off x="2124075" y="620713"/>
            <a:ext cx="719138" cy="504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164867" name="文本框 156675"/>
          <p:cNvSpPr txBox="1"/>
          <p:nvPr/>
        </p:nvSpPr>
        <p:spPr>
          <a:xfrm>
            <a:off x="228600" y="533400"/>
            <a:ext cx="8686800" cy="1098550"/>
          </a:xfrm>
          <a:prstGeom prst="rect">
            <a:avLst/>
          </a:prstGeom>
          <a:noFill/>
          <a:ln w="9525">
            <a:noFill/>
          </a:ln>
        </p:spPr>
        <p:txBody>
          <a:bodyPr anchor="t">
            <a:spAutoFit/>
          </a:bodyPr>
          <a:p>
            <a:pPr algn="just">
              <a:lnSpc>
                <a:spcPct val="13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当我们将</a:t>
            </a:r>
            <a:r>
              <a:rPr lang="en-US" altLang="zh-CN" i="1">
                <a:latin typeface="Times New Roman" panose="02020603050405020304" pitchFamily="18" charset="0"/>
                <a:ea typeface="宋体" panose="02010600030101010101" pitchFamily="2" charset="-122"/>
              </a:rPr>
              <a:t>z</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baseline="30000">
                <a:latin typeface="Times New Roman" panose="02020603050405020304" pitchFamily="18" charset="0"/>
                <a:ea typeface="宋体" panose="02010600030101010101" pitchFamily="2" charset="-122"/>
              </a:rPr>
              <a:t>ω</a:t>
            </a:r>
            <a:r>
              <a:rPr lang="zh-CN" altLang="en-US">
                <a:latin typeface="Times New Roman" panose="02020603050405020304" pitchFamily="18" charset="0"/>
                <a:ea typeface="宋体" panose="02010600030101010101" pitchFamily="2" charset="-122"/>
              </a:rPr>
              <a:t>及</a:t>
            </a:r>
            <a:r>
              <a:rPr lang="en-US" altLang="zh-CN" i="1">
                <a:latin typeface="Times New Roman" panose="02020603050405020304" pitchFamily="18" charset="0"/>
                <a:ea typeface="宋体" panose="02010600030101010101" pitchFamily="2" charset="-122"/>
              </a:rPr>
              <a:t>u</a:t>
            </a:r>
            <a:r>
              <a:rPr lang="en-US" altLang="zh-CN" err="1">
                <a:latin typeface="Times New Roman" panose="02020603050405020304" pitchFamily="18" charset="0"/>
                <a:ea typeface="宋体" panose="02010600030101010101" pitchFamily="2" charset="-122"/>
              </a:rPr>
              <a:t>=e</a:t>
            </a:r>
            <a:r>
              <a:rPr lang="en-US" altLang="zh-CN" baseline="30000" err="1">
                <a:latin typeface="Times New Roman" panose="02020603050405020304" pitchFamily="18" charset="0"/>
                <a:ea typeface="宋体" panose="02010600030101010101" pitchFamily="2" charset="-122"/>
              </a:rPr>
              <a:t>j</a:t>
            </a:r>
            <a:r>
              <a:rPr lang="en-US" altLang="zh-CN" i="1" baseline="30000">
                <a:latin typeface="Times New Roman" panose="02020603050405020304" pitchFamily="18" charset="0"/>
                <a:ea typeface="宋体" panose="02010600030101010101" pitchFamily="2" charset="-122"/>
              </a:rPr>
              <a:t>θ</a:t>
            </a:r>
            <a:r>
              <a:rPr lang="zh-CN" altLang="en-US" dirty="0">
                <a:latin typeface="Times New Roman" panose="02020603050405020304" pitchFamily="18" charset="0"/>
                <a:ea typeface="宋体" panose="02010600030101010101" pitchFamily="2" charset="-122"/>
              </a:rPr>
              <a:t>代入上式时，就可以找到这</a:t>
            </a:r>
            <a:r>
              <a:rPr lang="zh-CN" altLang="en-US" dirty="0">
                <a:latin typeface="Times New Roman" panose="02020603050405020304" pitchFamily="18" charset="0"/>
                <a:ea typeface="宋体" panose="02010600030101010101" pitchFamily="2" charset="-122"/>
              </a:rPr>
              <a:t>个变换所反映的频率变换关系是 </a:t>
            </a:r>
            <a:endParaRPr lang="zh-CN" altLang="en-US">
              <a:latin typeface="Times New Roman" panose="02020603050405020304" pitchFamily="18" charset="0"/>
              <a:ea typeface="宋体" panose="02010600030101010101" pitchFamily="2" charset="-122"/>
            </a:endParaRPr>
          </a:p>
        </p:txBody>
      </p:sp>
      <p:graphicFrame>
        <p:nvGraphicFramePr>
          <p:cNvPr id="164868" name="对象 156676"/>
          <p:cNvGraphicFramePr/>
          <p:nvPr/>
        </p:nvGraphicFramePr>
        <p:xfrm>
          <a:off x="3200400" y="1219200"/>
          <a:ext cx="2438400" cy="1031875"/>
        </p:xfrm>
        <a:graphic>
          <a:graphicData uri="http://schemas.openxmlformats.org/presentationml/2006/ole">
            <mc:AlternateContent xmlns:mc="http://schemas.openxmlformats.org/markup-compatibility/2006">
              <mc:Choice xmlns:v="urn:schemas-microsoft-com:vml" Requires="v">
                <p:oleObj spid="_x0000_s3280" name="" r:id="rId1" imgW="989965" imgH="419100" progId="Equation.3">
                  <p:embed/>
                </p:oleObj>
              </mc:Choice>
              <mc:Fallback>
                <p:oleObj name="" r:id="rId1" imgW="989965" imgH="419100" progId="Equation.3">
                  <p:embed/>
                  <p:pic>
                    <p:nvPicPr>
                      <p:cNvPr id="0" name="图片 3279"/>
                      <p:cNvPicPr/>
                      <p:nvPr/>
                    </p:nvPicPr>
                    <p:blipFill>
                      <a:blip r:embed="rId2"/>
                      <a:stretch>
                        <a:fillRect/>
                      </a:stretch>
                    </p:blipFill>
                    <p:spPr>
                      <a:xfrm>
                        <a:off x="3200400" y="1219200"/>
                        <a:ext cx="2438400" cy="1031875"/>
                      </a:xfrm>
                      <a:prstGeom prst="rect">
                        <a:avLst/>
                      </a:prstGeom>
                      <a:noFill/>
                      <a:ln w="38100">
                        <a:noFill/>
                        <a:miter/>
                      </a:ln>
                    </p:spPr>
                  </p:pic>
                </p:oleObj>
              </mc:Fallback>
            </mc:AlternateContent>
          </a:graphicData>
        </a:graphic>
      </p:graphicFrame>
      <p:sp>
        <p:nvSpPr>
          <p:cNvPr id="164869" name="文本框 156677"/>
          <p:cNvSpPr txBox="1"/>
          <p:nvPr/>
        </p:nvSpPr>
        <p:spPr>
          <a:xfrm>
            <a:off x="8001000" y="1447800"/>
            <a:ext cx="9461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(5-93)</a:t>
            </a:r>
            <a:endParaRPr lang="en-US" altLang="zh-CN">
              <a:latin typeface="Times New Roman" panose="02020603050405020304" pitchFamily="18" charset="0"/>
              <a:ea typeface="宋体" panose="02010600030101010101" pitchFamily="2" charset="-122"/>
            </a:endParaRPr>
          </a:p>
        </p:txBody>
      </p:sp>
      <p:sp>
        <p:nvSpPr>
          <p:cNvPr id="164870" name="文本框 156678"/>
          <p:cNvSpPr txBox="1"/>
          <p:nvPr/>
        </p:nvSpPr>
        <p:spPr>
          <a:xfrm>
            <a:off x="228600" y="2514600"/>
            <a:ext cx="17843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也可表示为 </a:t>
            </a:r>
            <a:endParaRPr lang="zh-CN" altLang="en-US">
              <a:latin typeface="Times New Roman" panose="02020603050405020304" pitchFamily="18" charset="0"/>
              <a:ea typeface="宋体" panose="02010600030101010101" pitchFamily="2" charset="-122"/>
            </a:endParaRPr>
          </a:p>
        </p:txBody>
      </p:sp>
      <p:graphicFrame>
        <p:nvGraphicFramePr>
          <p:cNvPr id="164871" name="对象 156679"/>
          <p:cNvGraphicFramePr/>
          <p:nvPr/>
        </p:nvGraphicFramePr>
        <p:xfrm>
          <a:off x="2286000" y="2438400"/>
          <a:ext cx="4343400" cy="2073275"/>
        </p:xfrm>
        <a:graphic>
          <a:graphicData uri="http://schemas.openxmlformats.org/presentationml/2006/ole">
            <mc:AlternateContent xmlns:mc="http://schemas.openxmlformats.org/markup-compatibility/2006">
              <mc:Choice xmlns:v="urn:schemas-microsoft-com:vml" Requires="v">
                <p:oleObj spid="_x0000_s3281" name="" r:id="rId3" imgW="1968500" imgH="939800" progId="Equation.3">
                  <p:embed/>
                </p:oleObj>
              </mc:Choice>
              <mc:Fallback>
                <p:oleObj name="" r:id="rId3" imgW="1968500" imgH="939800" progId="Equation.3">
                  <p:embed/>
                  <p:pic>
                    <p:nvPicPr>
                      <p:cNvPr id="0" name="图片 3280"/>
                      <p:cNvPicPr/>
                      <p:nvPr/>
                    </p:nvPicPr>
                    <p:blipFill>
                      <a:blip r:embed="rId4"/>
                      <a:stretch>
                        <a:fillRect/>
                      </a:stretch>
                    </p:blipFill>
                    <p:spPr>
                      <a:xfrm>
                        <a:off x="2286000" y="2438400"/>
                        <a:ext cx="4343400" cy="2073275"/>
                      </a:xfrm>
                      <a:prstGeom prst="rect">
                        <a:avLst/>
                      </a:prstGeom>
                      <a:noFill/>
                      <a:ln w="38100">
                        <a:noFill/>
                        <a:miter/>
                      </a:ln>
                    </p:spPr>
                  </p:pic>
                </p:oleObj>
              </mc:Fallback>
            </mc:AlternateContent>
          </a:graphicData>
        </a:graphic>
      </p:graphicFrame>
      <p:sp>
        <p:nvSpPr>
          <p:cNvPr id="164872" name="文本框 156680"/>
          <p:cNvSpPr txBox="1"/>
          <p:nvPr/>
        </p:nvSpPr>
        <p:spPr>
          <a:xfrm>
            <a:off x="136525" y="4460875"/>
            <a:ext cx="14795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由此求得 </a:t>
            </a:r>
            <a:endParaRPr lang="zh-CN" altLang="en-US">
              <a:latin typeface="Times New Roman" panose="02020603050405020304" pitchFamily="18" charset="0"/>
              <a:ea typeface="宋体" panose="02010600030101010101" pitchFamily="2" charset="-122"/>
            </a:endParaRPr>
          </a:p>
        </p:txBody>
      </p:sp>
      <p:graphicFrame>
        <p:nvGraphicFramePr>
          <p:cNvPr id="164873" name="对象 156681"/>
          <p:cNvGraphicFramePr/>
          <p:nvPr/>
        </p:nvGraphicFramePr>
        <p:xfrm>
          <a:off x="2895600" y="4724400"/>
          <a:ext cx="3581400" cy="1814513"/>
        </p:xfrm>
        <a:graphic>
          <a:graphicData uri="http://schemas.openxmlformats.org/presentationml/2006/ole">
            <mc:AlternateContent xmlns:mc="http://schemas.openxmlformats.org/markup-compatibility/2006">
              <mc:Choice xmlns:v="urn:schemas-microsoft-com:vml" Requires="v">
                <p:oleObj spid="_x0000_s3285" name="" r:id="rId5" imgW="1955165" imgH="989965" progId="Equation.3">
                  <p:embed/>
                </p:oleObj>
              </mc:Choice>
              <mc:Fallback>
                <p:oleObj name="" r:id="rId5" imgW="1955165" imgH="989965" progId="Equation.3">
                  <p:embed/>
                  <p:pic>
                    <p:nvPicPr>
                      <p:cNvPr id="0" name="图片 3284"/>
                      <p:cNvPicPr/>
                      <p:nvPr/>
                    </p:nvPicPr>
                    <p:blipFill>
                      <a:blip r:embed="rId6"/>
                      <a:stretch>
                        <a:fillRect/>
                      </a:stretch>
                    </p:blipFill>
                    <p:spPr>
                      <a:xfrm>
                        <a:off x="2895600" y="4724400"/>
                        <a:ext cx="3581400" cy="1814513"/>
                      </a:xfrm>
                      <a:prstGeom prst="rect">
                        <a:avLst/>
                      </a:prstGeom>
                      <a:noFill/>
                      <a:ln w="38100">
                        <a:noFill/>
                        <a:miter/>
                      </a:ln>
                    </p:spPr>
                  </p:pic>
                </p:oleObj>
              </mc:Fallback>
            </mc:AlternateContent>
          </a:graphicData>
        </a:graphic>
      </p:graphicFrame>
      <p:sp>
        <p:nvSpPr>
          <p:cNvPr id="164874" name="文本框 156682"/>
          <p:cNvSpPr txBox="1"/>
          <p:nvPr/>
        </p:nvSpPr>
        <p:spPr>
          <a:xfrm>
            <a:off x="7848600" y="5486400"/>
            <a:ext cx="9461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(5-94)</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89" name="文本框 158723"/>
          <p:cNvSpPr txBox="1"/>
          <p:nvPr/>
        </p:nvSpPr>
        <p:spPr>
          <a:xfrm>
            <a:off x="323850" y="476250"/>
            <a:ext cx="8375650" cy="1257300"/>
          </a:xfrm>
          <a:prstGeom prst="rect">
            <a:avLst/>
          </a:prstGeom>
          <a:noFill/>
          <a:ln w="9525">
            <a:noFill/>
          </a:ln>
        </p:spPr>
        <p:txBody>
          <a:bodyPr anchor="t">
            <a:spAutoFit/>
          </a:bodyPr>
          <a:p>
            <a:pPr algn="just">
              <a:lnSpc>
                <a:spcPct val="158000"/>
              </a:lnSpc>
              <a:spcBef>
                <a:spcPct val="50000"/>
              </a:spcBef>
            </a:pP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如果低通原型的截止频率为</a:t>
            </a:r>
            <a:r>
              <a:rPr lang="en-US" altLang="zh-CN" i="1">
                <a:latin typeface="Times New Roman" panose="02020603050405020304" pitchFamily="18" charset="0"/>
                <a:ea typeface="宋体" panose="02010600030101010101" pitchFamily="2" charset="-122"/>
              </a:rPr>
              <a:t>θ</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，而所需变换后的相应截止频率为</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，那么代入式（</a:t>
            </a:r>
            <a:r>
              <a:rPr lang="en-US" altLang="zh-CN" dirty="0">
                <a:latin typeface="Times New Roman" panose="02020603050405020304" pitchFamily="18" charset="0"/>
                <a:ea typeface="宋体" panose="02010600030101010101" pitchFamily="2" charset="-122"/>
              </a:rPr>
              <a:t>5-93</a:t>
            </a:r>
            <a:r>
              <a:rPr lang="zh-CN" altLang="en-US" dirty="0">
                <a:latin typeface="Times New Roman" panose="02020603050405020304" pitchFamily="18" charset="0"/>
                <a:ea typeface="宋体" panose="02010600030101010101" pitchFamily="2" charset="-122"/>
              </a:rPr>
              <a:t>），我们就可以确定参数</a:t>
            </a:r>
            <a:r>
              <a:rPr lang="en-US" altLang="zh-CN" i="1">
                <a:latin typeface="Times New Roman" panose="02020603050405020304" pitchFamily="18" charset="0"/>
                <a:ea typeface="宋体" panose="02010600030101010101" pitchFamily="2" charset="-122"/>
              </a:rPr>
              <a:t>α</a:t>
            </a:r>
            <a:r>
              <a:rPr lang="zh-CN" altLang="en-US" dirty="0">
                <a:latin typeface="Times New Roman" panose="02020603050405020304" pitchFamily="18" charset="0"/>
                <a:ea typeface="宋体" panose="02010600030101010101" pitchFamily="2" charset="-122"/>
              </a:rPr>
              <a:t>为 </a:t>
            </a:r>
            <a:endParaRPr lang="zh-CN" altLang="en-US">
              <a:latin typeface="Times New Roman" panose="02020603050405020304" pitchFamily="18" charset="0"/>
              <a:ea typeface="宋体" panose="02010600030101010101" pitchFamily="2" charset="-122"/>
            </a:endParaRPr>
          </a:p>
        </p:txBody>
      </p:sp>
      <p:graphicFrame>
        <p:nvGraphicFramePr>
          <p:cNvPr id="165890" name="对象 158724"/>
          <p:cNvGraphicFramePr/>
          <p:nvPr/>
        </p:nvGraphicFramePr>
        <p:xfrm>
          <a:off x="3124200" y="1873250"/>
          <a:ext cx="2895600" cy="2197100"/>
        </p:xfrm>
        <a:graphic>
          <a:graphicData uri="http://schemas.openxmlformats.org/presentationml/2006/ole">
            <mc:AlternateContent xmlns:mc="http://schemas.openxmlformats.org/markup-compatibility/2006">
              <mc:Choice xmlns:v="urn:schemas-microsoft-com:vml" Requires="v">
                <p:oleObj spid="_x0000_s3282" name="" r:id="rId1" imgW="1104900" imgH="838200" progId="Equation.3">
                  <p:embed/>
                </p:oleObj>
              </mc:Choice>
              <mc:Fallback>
                <p:oleObj name="" r:id="rId1" imgW="1104900" imgH="838200" progId="Equation.3">
                  <p:embed/>
                  <p:pic>
                    <p:nvPicPr>
                      <p:cNvPr id="0" name="图片 3281"/>
                      <p:cNvPicPr/>
                      <p:nvPr/>
                    </p:nvPicPr>
                    <p:blipFill>
                      <a:blip r:embed="rId2"/>
                      <a:stretch>
                        <a:fillRect/>
                      </a:stretch>
                    </p:blipFill>
                    <p:spPr>
                      <a:xfrm>
                        <a:off x="3124200" y="1873250"/>
                        <a:ext cx="2895600" cy="2197100"/>
                      </a:xfrm>
                      <a:prstGeom prst="rect">
                        <a:avLst/>
                      </a:prstGeom>
                      <a:noFill/>
                      <a:ln w="38100">
                        <a:noFill/>
                        <a:miter/>
                      </a:ln>
                    </p:spPr>
                  </p:pic>
                </p:oleObj>
              </mc:Fallback>
            </mc:AlternateContent>
          </a:graphicData>
        </a:graphic>
      </p:graphicFrame>
      <p:sp>
        <p:nvSpPr>
          <p:cNvPr id="165891" name="文本框 158725"/>
          <p:cNvSpPr txBox="1"/>
          <p:nvPr/>
        </p:nvSpPr>
        <p:spPr>
          <a:xfrm>
            <a:off x="7059613" y="2601913"/>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(5-95) </a:t>
            </a:r>
            <a:endParaRPr lang="en-US" altLang="zh-CN">
              <a:latin typeface="Times New Roman" panose="02020603050405020304" pitchFamily="18" charset="0"/>
              <a:ea typeface="宋体" panose="02010600030101010101" pitchFamily="2" charset="-122"/>
            </a:endParaRPr>
          </a:p>
        </p:txBody>
      </p:sp>
      <p:sp>
        <p:nvSpPr>
          <p:cNvPr id="165892" name="文本框 158726"/>
          <p:cNvSpPr txBox="1"/>
          <p:nvPr/>
        </p:nvSpPr>
        <p:spPr>
          <a:xfrm>
            <a:off x="506413" y="4068763"/>
            <a:ext cx="51371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从而整个变换函数也就惟一确定了。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3" name="文本框 159747"/>
          <p:cNvSpPr txBox="1"/>
          <p:nvPr/>
        </p:nvSpPr>
        <p:spPr>
          <a:xfrm>
            <a:off x="2003425" y="4708525"/>
            <a:ext cx="56197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图 </a:t>
            </a:r>
            <a:r>
              <a:rPr lang="en-US" altLang="zh-CN" dirty="0">
                <a:latin typeface="Times New Roman" panose="02020603050405020304" pitchFamily="18" charset="0"/>
                <a:ea typeface="宋体" panose="02010600030101010101" pitchFamily="2" charset="-122"/>
              </a:rPr>
              <a:t>5-25  </a:t>
            </a:r>
            <a:r>
              <a:rPr lang="zh-CN" altLang="en-US" dirty="0">
                <a:latin typeface="Times New Roman" panose="02020603050405020304" pitchFamily="18" charset="0"/>
                <a:ea typeface="宋体" panose="02010600030101010101" pitchFamily="2" charset="-122"/>
              </a:rPr>
              <a:t>数字低通</a:t>
            </a:r>
            <a:r>
              <a:rPr lang="en-US" altLang="zh-CN">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数字低通的变换特性 </a:t>
            </a:r>
            <a:endParaRPr lang="zh-CN" altLang="en-US">
              <a:latin typeface="Times New Roman" panose="02020603050405020304" pitchFamily="18" charset="0"/>
              <a:ea typeface="宋体" panose="02010600030101010101" pitchFamily="2" charset="-122"/>
            </a:endParaRPr>
          </a:p>
        </p:txBody>
      </p:sp>
      <p:pic>
        <p:nvPicPr>
          <p:cNvPr id="166914" name="图片 159750" descr="5-25"/>
          <p:cNvPicPr>
            <a:picLocks noChangeAspect="1"/>
          </p:cNvPicPr>
          <p:nvPr/>
        </p:nvPicPr>
        <p:blipFill>
          <a:blip r:embed="rId1"/>
          <a:stretch>
            <a:fillRect/>
          </a:stretch>
        </p:blipFill>
        <p:spPr>
          <a:xfrm>
            <a:off x="2276475" y="517525"/>
            <a:ext cx="4724400" cy="4286250"/>
          </a:xfrm>
          <a:prstGeom prst="rect">
            <a:avLst/>
          </a:prstGeom>
          <a:noFill/>
          <a:ln w="9525">
            <a:noFill/>
          </a:ln>
        </p:spPr>
      </p:pic>
      <p:sp>
        <p:nvSpPr>
          <p:cNvPr id="2" name="文本框 1"/>
          <p:cNvSpPr txBox="1"/>
          <p:nvPr/>
        </p:nvSpPr>
        <p:spPr>
          <a:xfrm>
            <a:off x="1963738" y="4594225"/>
            <a:ext cx="5216525" cy="1198563"/>
          </a:xfrm>
          <a:prstGeom prst="rect">
            <a:avLst/>
          </a:prstGeom>
          <a:noFill/>
        </p:spPr>
        <p:txBody>
          <a:bodyPr wrap="none" rtlCol="0" anchor="t">
            <a:spAutoFit/>
          </a:bodyPr>
          <a:p>
            <a:r>
              <a:rPr lang="zh-CN" altLang="en-US" b="1" noProof="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sym typeface="+mn-ea"/>
              </a:rPr>
              <a:t>由图中我们可以看到</a:t>
            </a:r>
            <a:r>
              <a:rPr lang="en-US" altLang="zh-CN" b="1" noProof="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sym typeface="+mn-ea"/>
              </a:rPr>
              <a:t>: </a:t>
            </a:r>
            <a:endParaRPr lang="en-US" altLang="zh-CN" b="1" noProof="1" dirty="0">
              <a:solidFill>
                <a:srgbClr val="FF0000"/>
              </a:solidFill>
              <a:effectLst>
                <a:outerShdw blurRad="38100" dist="38100" dir="2700000" algn="tl">
                  <a:srgbClr val="000000">
                    <a:alpha val="43137"/>
                  </a:srgbClr>
                </a:outerShdw>
              </a:effectLst>
              <a:sym typeface="+mn-ea"/>
            </a:endParaRPr>
          </a:p>
          <a:p>
            <a:r>
              <a:rPr lang="zh-CN" altLang="en-US" b="1" noProof="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sym typeface="+mn-ea"/>
              </a:rPr>
              <a:t>当</a:t>
            </a:r>
            <a:r>
              <a:rPr lang="en-US" altLang="zh-CN" b="1" i="1" noProof="1">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sym typeface="+mn-ea"/>
              </a:rPr>
              <a:t>α</a:t>
            </a:r>
            <a:r>
              <a:rPr lang="en-US" altLang="zh-CN" b="1" noProof="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sym typeface="+mn-ea"/>
              </a:rPr>
              <a:t>&gt;0 </a:t>
            </a:r>
            <a:r>
              <a:rPr lang="zh-CN" altLang="en-US" b="1" noProof="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sym typeface="+mn-ea"/>
              </a:rPr>
              <a:t>时，此变换代表的是频率压缩</a:t>
            </a:r>
            <a:r>
              <a:rPr lang="en-US" altLang="zh-CN" b="1" noProof="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sym typeface="+mn-ea"/>
              </a:rPr>
              <a:t>; </a:t>
            </a:r>
            <a:endParaRPr lang="en-US" altLang="zh-CN" b="1" noProof="1" dirty="0">
              <a:solidFill>
                <a:srgbClr val="FF0000"/>
              </a:solidFill>
              <a:effectLst>
                <a:outerShdw blurRad="38100" dist="38100" dir="2700000" algn="tl">
                  <a:srgbClr val="000000">
                    <a:alpha val="43137"/>
                  </a:srgbClr>
                </a:outerShdw>
              </a:effectLst>
              <a:sym typeface="+mn-ea"/>
            </a:endParaRPr>
          </a:p>
          <a:p>
            <a:r>
              <a:rPr lang="zh-CN" altLang="en-US" b="1" noProof="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sym typeface="+mn-ea"/>
              </a:rPr>
              <a:t>而</a:t>
            </a:r>
            <a:r>
              <a:rPr lang="en-US" altLang="zh-CN" b="1" i="1" noProof="1">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sym typeface="+mn-ea"/>
              </a:rPr>
              <a:t>α</a:t>
            </a:r>
            <a:r>
              <a:rPr lang="en-US" altLang="zh-CN" b="1" noProof="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sym typeface="+mn-ea"/>
              </a:rPr>
              <a:t>&lt;0 </a:t>
            </a:r>
            <a:r>
              <a:rPr lang="zh-CN" altLang="en-US" b="1" noProof="1" dirty="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mn-cs"/>
                <a:sym typeface="+mn-ea"/>
              </a:rPr>
              <a:t>则是频率扩展。</a:t>
            </a:r>
            <a:endParaRPr lang="zh-CN" altLang="en-US" b="1" noProof="1" dirty="0">
              <a:solidFill>
                <a:srgbClr val="FF0000"/>
              </a:solidFill>
              <a:effectLst>
                <a:outerShdw blurRad="38100" dist="38100" dir="2700000" algn="tl">
                  <a:srgbClr val="000000">
                    <a:alpha val="43137"/>
                  </a:srgbClr>
                </a:outerShdw>
              </a:effectLst>
              <a:sym typeface="+mn-ea"/>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矩形 5"/>
          <p:cNvSpPr/>
          <p:nvPr/>
        </p:nvSpPr>
        <p:spPr>
          <a:xfrm>
            <a:off x="682625" y="2925763"/>
            <a:ext cx="1584325" cy="503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trike="noStrike" noProof="1"/>
          </a:p>
        </p:txBody>
      </p:sp>
      <p:sp>
        <p:nvSpPr>
          <p:cNvPr id="167938" name="文本框 161795"/>
          <p:cNvSpPr txBox="1"/>
          <p:nvPr/>
        </p:nvSpPr>
        <p:spPr>
          <a:xfrm>
            <a:off x="296863" y="609600"/>
            <a:ext cx="8523287" cy="2820988"/>
          </a:xfrm>
          <a:prstGeom prst="rect">
            <a:avLst/>
          </a:prstGeom>
          <a:noFill/>
          <a:ln w="9525">
            <a:noFill/>
          </a:ln>
        </p:spPr>
        <p:txBody>
          <a:bodyPr anchor="t">
            <a:spAutoFit/>
          </a:bodyPr>
          <a:p>
            <a:pPr algn="just">
              <a:lnSpc>
                <a:spcPct val="138000"/>
              </a:lnSpc>
              <a:spcBef>
                <a:spcPct val="50000"/>
              </a:spcBef>
            </a:pPr>
            <a:r>
              <a:rPr lang="en-US" altLang="zh-CN" b="1" dirty="0">
                <a:latin typeface="Times New Roman" panose="02020603050405020304" pitchFamily="18" charset="0"/>
                <a:ea typeface="宋体" panose="02010600030101010101" pitchFamily="2" charset="-122"/>
              </a:rPr>
              <a:t>5.7.2 </a:t>
            </a:r>
            <a:r>
              <a:rPr lang="zh-CN" altLang="en-US" b="1" dirty="0">
                <a:latin typeface="Times New Roman" panose="02020603050405020304" pitchFamily="18" charset="0"/>
                <a:ea typeface="宋体" panose="02010600030101010101" pitchFamily="2" charset="-122"/>
              </a:rPr>
              <a:t>数字低通</a:t>
            </a:r>
            <a:r>
              <a:rPr lang="en-US" altLang="zh-CN" b="1" dirty="0">
                <a:latin typeface="Courier New" panose="02070309020205020404" pitchFamily="49"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数字高通</a:t>
            </a:r>
            <a:endParaRPr lang="zh-CN" altLang="en-US">
              <a:latin typeface="Times New Roman" panose="02020603050405020304" pitchFamily="18" charset="0"/>
              <a:ea typeface="宋体" panose="02010600030101010101" pitchFamily="2" charset="-122"/>
            </a:endParaRPr>
          </a:p>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        如果将</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变换为</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，我们就将</a:t>
            </a:r>
            <a:r>
              <a:rPr lang="zh-CN" altLang="en-US" b="1" u="sng" dirty="0">
                <a:solidFill>
                  <a:srgbClr val="FF0000"/>
                </a:solidFill>
                <a:latin typeface="Times New Roman" panose="02020603050405020304" pitchFamily="18" charset="0"/>
                <a:ea typeface="宋体" panose="02010600030101010101" pitchFamily="2" charset="-122"/>
              </a:rPr>
              <a:t>单位圆上的频响旋转了一个</a:t>
            </a:r>
            <a:r>
              <a:rPr lang="en-US" altLang="zh-CN" b="1" u="sng" dirty="0">
                <a:solidFill>
                  <a:srgbClr val="FF0000"/>
                </a:solidFill>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角度，因此</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这个变换也称为旋转变换。利用旋转变换，原</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平面上的低通就变换为相应的高通了，所以只要将式（</a:t>
            </a:r>
            <a:r>
              <a:rPr lang="en-US" altLang="zh-CN" dirty="0">
                <a:latin typeface="Times New Roman" panose="02020603050405020304" pitchFamily="18" charset="0"/>
                <a:ea typeface="宋体" panose="02010600030101010101" pitchFamily="2" charset="-122"/>
              </a:rPr>
              <a:t>5-</a:t>
            </a:r>
            <a:r>
              <a:rPr lang="en-US" altLang="zh-CN" dirty="0">
                <a:latin typeface="Times New Roman" panose="02020603050405020304" pitchFamily="18" charset="0"/>
                <a:ea typeface="宋体" panose="02010600030101010101" pitchFamily="2" charset="-122"/>
              </a:rPr>
              <a:t>92</a:t>
            </a:r>
            <a:r>
              <a:rPr lang="zh-CN" altLang="en-US" dirty="0">
                <a:latin typeface="Times New Roman" panose="02020603050405020304" pitchFamily="18" charset="0"/>
                <a:ea typeface="宋体" panose="02010600030101010101" pitchFamily="2" charset="-122"/>
              </a:rPr>
              <a:t>）中的</a:t>
            </a:r>
            <a:r>
              <a:rPr lang="en-US" altLang="zh-CN" i="1">
                <a:latin typeface="Times New Roman" panose="02020603050405020304" pitchFamily="18" charset="0"/>
                <a:ea typeface="宋体" panose="02010600030101010101" pitchFamily="2" charset="-122"/>
              </a:rPr>
              <a:t>z</a:t>
            </a:r>
            <a:r>
              <a:rPr lang="en-US" altLang="zh-CN" baseline="30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变换为-</a:t>
            </a:r>
            <a:r>
              <a:rPr lang="en-US" altLang="zh-CN" i="1">
                <a:latin typeface="Times New Roman" panose="02020603050405020304" pitchFamily="18" charset="0"/>
                <a:ea typeface="宋体" panose="02010600030101010101" pitchFamily="2" charset="-122"/>
              </a:rPr>
              <a:t>z</a:t>
            </a:r>
            <a:r>
              <a:rPr lang="en-US" altLang="zh-CN" baseline="3000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，就完成了由低通</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高通的原型变换，即 </a:t>
            </a:r>
            <a:endParaRPr lang="zh-CN" altLang="en-US">
              <a:latin typeface="Times New Roman" panose="02020603050405020304" pitchFamily="18" charset="0"/>
              <a:ea typeface="宋体" panose="02010600030101010101" pitchFamily="2" charset="-122"/>
            </a:endParaRPr>
          </a:p>
        </p:txBody>
      </p:sp>
      <p:graphicFrame>
        <p:nvGraphicFramePr>
          <p:cNvPr id="167939" name="对象 161796"/>
          <p:cNvGraphicFramePr/>
          <p:nvPr/>
        </p:nvGraphicFramePr>
        <p:xfrm>
          <a:off x="2133600" y="3500438"/>
          <a:ext cx="4724400" cy="1039812"/>
        </p:xfrm>
        <a:graphic>
          <a:graphicData uri="http://schemas.openxmlformats.org/presentationml/2006/ole">
            <mc:AlternateContent xmlns:mc="http://schemas.openxmlformats.org/markup-compatibility/2006">
              <mc:Choice xmlns:v="urn:schemas-microsoft-com:vml" Requires="v">
                <p:oleObj spid="_x0000_s3283" name="" r:id="rId1" imgW="2018665" imgH="444500" progId="Equation.3">
                  <p:embed/>
                </p:oleObj>
              </mc:Choice>
              <mc:Fallback>
                <p:oleObj name="" r:id="rId1" imgW="2018665" imgH="444500" progId="Equation.3">
                  <p:embed/>
                  <p:pic>
                    <p:nvPicPr>
                      <p:cNvPr id="0" name="图片 3282"/>
                      <p:cNvPicPr/>
                      <p:nvPr/>
                    </p:nvPicPr>
                    <p:blipFill>
                      <a:blip r:embed="rId2"/>
                      <a:stretch>
                        <a:fillRect/>
                      </a:stretch>
                    </p:blipFill>
                    <p:spPr>
                      <a:xfrm>
                        <a:off x="2133600" y="3500438"/>
                        <a:ext cx="4724400" cy="1039812"/>
                      </a:xfrm>
                      <a:prstGeom prst="rect">
                        <a:avLst/>
                      </a:prstGeom>
                      <a:noFill/>
                      <a:ln w="38100">
                        <a:noFill/>
                        <a:miter/>
                      </a:ln>
                    </p:spPr>
                  </p:pic>
                </p:oleObj>
              </mc:Fallback>
            </mc:AlternateContent>
          </a:graphicData>
        </a:graphic>
      </p:graphicFrame>
      <p:sp>
        <p:nvSpPr>
          <p:cNvPr id="167940" name="文本框 161797"/>
          <p:cNvSpPr txBox="1"/>
          <p:nvPr/>
        </p:nvSpPr>
        <p:spPr>
          <a:xfrm>
            <a:off x="7467600" y="3810000"/>
            <a:ext cx="142240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5-96</a:t>
            </a:r>
            <a:r>
              <a:rPr lang="zh-CN" altLang="en-US" dirty="0">
                <a:latin typeface="Times New Roman" panose="02020603050405020304" pitchFamily="18" charset="0"/>
                <a:ea typeface="宋体" panose="02010600030101010101" pitchFamily="2" charset="-122"/>
              </a:rPr>
              <a:t>） </a:t>
            </a:r>
            <a:endParaRPr lang="zh-CN" altLang="en-US">
              <a:latin typeface="Times New Roman" panose="02020603050405020304" pitchFamily="18" charset="0"/>
              <a:ea typeface="宋体" panose="02010600030101010101" pitchFamily="2" charset="-122"/>
            </a:endParaRPr>
          </a:p>
        </p:txBody>
      </p:sp>
      <p:sp>
        <p:nvSpPr>
          <p:cNvPr id="167941" name="文本框 161798"/>
          <p:cNvSpPr txBox="1"/>
          <p:nvPr/>
        </p:nvSpPr>
        <p:spPr>
          <a:xfrm>
            <a:off x="323850" y="4495800"/>
            <a:ext cx="8520113" cy="1601788"/>
          </a:xfrm>
          <a:prstGeom prst="rect">
            <a:avLst/>
          </a:prstGeom>
          <a:noFill/>
          <a:ln w="9525">
            <a:noFill/>
          </a:ln>
        </p:spPr>
        <p:txBody>
          <a:bodyPr anchor="t">
            <a:spAutoFit/>
          </a:bodyPr>
          <a:p>
            <a:pPr algn="just">
              <a:lnSpc>
                <a:spcPct val="138000"/>
              </a:lnSpc>
              <a:spcBef>
                <a:spcPct val="50000"/>
              </a:spcBef>
            </a:pPr>
            <a:r>
              <a:rPr lang="zh-CN" altLang="en-US" dirty="0">
                <a:latin typeface="Times New Roman" panose="02020603050405020304" pitchFamily="18" charset="0"/>
                <a:ea typeface="宋体" panose="02010600030101010101" pitchFamily="2" charset="-122"/>
              </a:rPr>
              <a:t>上式满足</a:t>
            </a:r>
            <a:r>
              <a:rPr lang="zh-CN" altLang="en-US" i="1" dirty="0">
                <a:latin typeface="Times New Roman" panose="02020603050405020304" pitchFamily="18" charset="0"/>
                <a:ea typeface="宋体" panose="02010600030101010101" pitchFamily="2" charset="-122"/>
              </a:rPr>
              <a:t>Ｇ</a:t>
            </a:r>
            <a:r>
              <a:rPr lang="en-US" altLang="zh-CN" dirty="0">
                <a:latin typeface="Times New Roman" panose="02020603050405020304" pitchFamily="18" charset="0"/>
                <a:ea typeface="宋体" panose="02010600030101010101" pitchFamily="2" charset="-122"/>
              </a:rPr>
              <a:t>(-1)=1</a:t>
            </a:r>
            <a:r>
              <a:rPr lang="zh-CN" altLang="en-US"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G</a:t>
            </a:r>
            <a:r>
              <a:rPr lang="en-US" altLang="zh-CN" dirty="0">
                <a:latin typeface="Times New Roman" panose="02020603050405020304" pitchFamily="18" charset="0"/>
                <a:ea typeface="宋体" panose="02010600030101010101" pitchFamily="2" charset="-122"/>
              </a:rPr>
              <a:t>(1)=-1</a:t>
            </a:r>
            <a:r>
              <a:rPr lang="zh-CN" altLang="en-US" dirty="0">
                <a:latin typeface="Times New Roman" panose="02020603050405020304" pitchFamily="18" charset="0"/>
                <a:ea typeface="宋体" panose="02010600030101010101" pitchFamily="2" charset="-122"/>
              </a:rPr>
              <a:t>，且有</a:t>
            </a:r>
            <a:r>
              <a:rPr lang="en-US" altLang="zh-CN" dirty="0">
                <a:latin typeface="Times New Roman" panose="02020603050405020304" pitchFamily="18" charset="0"/>
                <a:ea typeface="宋体" panose="02010600030101010101" pitchFamily="2" charset="-122"/>
              </a:rPr>
              <a:t>|</a:t>
            </a:r>
            <a:r>
              <a:rPr lang="en-US" altLang="zh-CN" i="1">
                <a:latin typeface="Times New Roman" panose="02020603050405020304" pitchFamily="18" charset="0"/>
                <a:ea typeface="宋体" panose="02010600030101010101" pitchFamily="2" charset="-122"/>
              </a:rPr>
              <a:t>α</a:t>
            </a:r>
            <a:r>
              <a:rPr lang="en-US" altLang="zh-CN" dirty="0">
                <a:latin typeface="Times New Roman" panose="02020603050405020304" pitchFamily="18" charset="0"/>
                <a:ea typeface="宋体" panose="02010600030101010101" pitchFamily="2" charset="-122"/>
              </a:rPr>
              <a:t>|&lt;1</a:t>
            </a:r>
            <a:r>
              <a:rPr lang="zh-CN" altLang="en-US" dirty="0">
                <a:latin typeface="Times New Roman" panose="02020603050405020304" pitchFamily="18" charset="0"/>
                <a:ea typeface="宋体" panose="02010600030101010101" pitchFamily="2" charset="-122"/>
              </a:rPr>
              <a:t>。注意，这时低通原型的截止频率</a:t>
            </a:r>
            <a:r>
              <a:rPr lang="en-US" altLang="zh-CN" i="1">
                <a:latin typeface="Times New Roman" panose="02020603050405020304" pitchFamily="18" charset="0"/>
                <a:ea typeface="宋体" panose="02010600030101010101" pitchFamily="2" charset="-122"/>
              </a:rPr>
              <a:t>θ</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对应的不是</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而是</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en-US" altLang="zh-CN">
                <a:latin typeface="Times New Roman" panose="02020603050405020304" pitchFamily="18" charset="0"/>
                <a:ea typeface="宋体" panose="02010600030101010101" pitchFamily="2" charset="-122"/>
              </a:rPr>
              <a:t>+π,-</a:t>
            </a:r>
            <a:r>
              <a:rPr lang="en-US" altLang="zh-CN" i="1">
                <a:latin typeface="Times New Roman" panose="02020603050405020304" pitchFamily="18" charset="0"/>
                <a:ea typeface="宋体" panose="02010600030101010101" pitchFamily="2" charset="-122"/>
              </a:rPr>
              <a:t>θ</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对应于高通的截</a:t>
            </a:r>
            <a:r>
              <a:rPr lang="zh-CN" altLang="en-US" dirty="0">
                <a:latin typeface="Times New Roman" panose="02020603050405020304" pitchFamily="18" charset="0"/>
                <a:ea typeface="宋体" panose="02010600030101010101" pitchFamily="2" charset="-122"/>
              </a:rPr>
              <a:t>止频率</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c</a:t>
            </a:r>
            <a:r>
              <a:rPr lang="zh-CN" altLang="en-US" dirty="0">
                <a:latin typeface="Times New Roman" panose="02020603050405020304" pitchFamily="18" charset="0"/>
                <a:ea typeface="宋体" panose="02010600030101010101" pitchFamily="2" charset="-122"/>
              </a:rPr>
              <a:t>，则 </a:t>
            </a:r>
            <a:endParaRPr lang="zh-CN" altLang="en-US">
              <a:latin typeface="Times New Roman" panose="02020603050405020304" pitchFamily="18" charset="0"/>
              <a:ea typeface="宋体" panose="02010600030101010101" pitchFamily="2" charset="-122"/>
            </a:endParaRPr>
          </a:p>
        </p:txBody>
      </p:sp>
      <p:graphicFrame>
        <p:nvGraphicFramePr>
          <p:cNvPr id="167942" name="对象 1"/>
          <p:cNvGraphicFramePr/>
          <p:nvPr/>
        </p:nvGraphicFramePr>
        <p:xfrm>
          <a:off x="3749675" y="692150"/>
          <a:ext cx="2592388" cy="490538"/>
        </p:xfrm>
        <a:graphic>
          <a:graphicData uri="http://schemas.openxmlformats.org/presentationml/2006/ole">
            <mc:AlternateContent xmlns:mc="http://schemas.openxmlformats.org/markup-compatibility/2006">
              <mc:Choice xmlns:v="urn:schemas-microsoft-com:vml" Requires="v">
                <p:oleObj spid="_x0000_s3284" name="" r:id="rId3" imgW="1298575" imgH="340360" progId="Equation.KSEE3">
                  <p:embed/>
                </p:oleObj>
              </mc:Choice>
              <mc:Fallback>
                <p:oleObj name="" r:id="rId3" imgW="1298575" imgH="340360" progId="Equation.KSEE3">
                  <p:embed/>
                  <p:pic>
                    <p:nvPicPr>
                      <p:cNvPr id="0" name="图片 3283"/>
                      <p:cNvPicPr/>
                      <p:nvPr/>
                    </p:nvPicPr>
                    <p:blipFill>
                      <a:blip r:embed="rId4"/>
                      <a:stretch>
                        <a:fillRect/>
                      </a:stretch>
                    </p:blipFill>
                    <p:spPr>
                      <a:xfrm>
                        <a:off x="3749675" y="692150"/>
                        <a:ext cx="2592388" cy="490538"/>
                      </a:xfrm>
                      <a:prstGeom prst="rect">
                        <a:avLst/>
                      </a:prstGeom>
                      <a:solidFill>
                        <a:srgbClr val="C00000"/>
                      </a:solidFill>
                      <a:ln w="38100">
                        <a:noFill/>
                        <a:miter/>
                      </a:ln>
                    </p:spPr>
                  </p:pic>
                </p:oleObj>
              </mc:Fallback>
            </mc:AlternateContent>
          </a:graphicData>
        </a:graphic>
      </p:graphicFrame>
    </p:spTree>
  </p:cSld>
  <p:clrMapOvr>
    <a:masterClrMapping/>
  </p:clrMapOvr>
  <p:transition>
    <p:blinds/>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68961" name="对象 160771"/>
          <p:cNvGraphicFramePr/>
          <p:nvPr/>
        </p:nvGraphicFramePr>
        <p:xfrm>
          <a:off x="2743200" y="990600"/>
          <a:ext cx="3886200" cy="1244600"/>
        </p:xfrm>
        <a:graphic>
          <a:graphicData uri="http://schemas.openxmlformats.org/presentationml/2006/ole">
            <mc:AlternateContent xmlns:mc="http://schemas.openxmlformats.org/markup-compatibility/2006">
              <mc:Choice xmlns:v="urn:schemas-microsoft-com:vml" Requires="v">
                <p:oleObj spid="_x0000_s3286" name="" r:id="rId1" imgW="1308100" imgH="419100" progId="Equation.3">
                  <p:embed/>
                </p:oleObj>
              </mc:Choice>
              <mc:Fallback>
                <p:oleObj name="" r:id="rId1" imgW="1308100" imgH="419100" progId="Equation.3">
                  <p:embed/>
                  <p:pic>
                    <p:nvPicPr>
                      <p:cNvPr id="0" name="图片 3285"/>
                      <p:cNvPicPr/>
                      <p:nvPr/>
                    </p:nvPicPr>
                    <p:blipFill>
                      <a:blip r:embed="rId2"/>
                      <a:stretch>
                        <a:fillRect/>
                      </a:stretch>
                    </p:blipFill>
                    <p:spPr>
                      <a:xfrm>
                        <a:off x="2743200" y="990600"/>
                        <a:ext cx="3886200" cy="1244600"/>
                      </a:xfrm>
                      <a:prstGeom prst="rect">
                        <a:avLst/>
                      </a:prstGeom>
                      <a:noFill/>
                      <a:ln w="38100">
                        <a:noFill/>
                        <a:miter/>
                      </a:ln>
                    </p:spPr>
                  </p:pic>
                </p:oleObj>
              </mc:Fallback>
            </mc:AlternateContent>
          </a:graphicData>
        </a:graphic>
      </p:graphicFrame>
      <p:sp>
        <p:nvSpPr>
          <p:cNvPr id="168962" name="文本框 160772"/>
          <p:cNvSpPr txBox="1"/>
          <p:nvPr/>
        </p:nvSpPr>
        <p:spPr>
          <a:xfrm>
            <a:off x="533400" y="2667000"/>
            <a:ext cx="869950" cy="457200"/>
          </a:xfrm>
          <a:prstGeom prst="rect">
            <a:avLst/>
          </a:prstGeom>
          <a:no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求得 </a:t>
            </a:r>
            <a:endParaRPr lang="zh-CN" altLang="en-US">
              <a:latin typeface="Times New Roman" panose="02020603050405020304" pitchFamily="18" charset="0"/>
              <a:ea typeface="宋体" panose="02010600030101010101" pitchFamily="2" charset="-122"/>
            </a:endParaRPr>
          </a:p>
        </p:txBody>
      </p:sp>
      <p:graphicFrame>
        <p:nvGraphicFramePr>
          <p:cNvPr id="168963" name="对象 160773"/>
          <p:cNvGraphicFramePr/>
          <p:nvPr/>
        </p:nvGraphicFramePr>
        <p:xfrm>
          <a:off x="3048000" y="3198813"/>
          <a:ext cx="3200400" cy="2179637"/>
        </p:xfrm>
        <a:graphic>
          <a:graphicData uri="http://schemas.openxmlformats.org/presentationml/2006/ole">
            <mc:AlternateContent xmlns:mc="http://schemas.openxmlformats.org/markup-compatibility/2006">
              <mc:Choice xmlns:v="urn:schemas-microsoft-com:vml" Requires="v">
                <p:oleObj spid="_x0000_s3288" name="" r:id="rId3" imgW="1231265" imgH="838200" progId="Equation.3">
                  <p:embed/>
                </p:oleObj>
              </mc:Choice>
              <mc:Fallback>
                <p:oleObj name="" r:id="rId3" imgW="1231265" imgH="838200" progId="Equation.3">
                  <p:embed/>
                  <p:pic>
                    <p:nvPicPr>
                      <p:cNvPr id="0" name="图片 3287"/>
                      <p:cNvPicPr/>
                      <p:nvPr/>
                    </p:nvPicPr>
                    <p:blipFill>
                      <a:blip r:embed="rId4"/>
                      <a:stretch>
                        <a:fillRect/>
                      </a:stretch>
                    </p:blipFill>
                    <p:spPr>
                      <a:xfrm>
                        <a:off x="3048000" y="3198813"/>
                        <a:ext cx="3200400" cy="2179637"/>
                      </a:xfrm>
                      <a:prstGeom prst="rect">
                        <a:avLst/>
                      </a:prstGeom>
                      <a:solidFill>
                        <a:schemeClr val="accent1"/>
                      </a:solidFill>
                      <a:ln w="38100">
                        <a:noFill/>
                        <a:miter/>
                      </a:ln>
                    </p:spPr>
                  </p:pic>
                </p:oleObj>
              </mc:Fallback>
            </mc:AlternateContent>
          </a:graphicData>
        </a:graphic>
      </p:graphicFrame>
      <p:sp>
        <p:nvSpPr>
          <p:cNvPr id="168964" name="文本框 160774"/>
          <p:cNvSpPr txBox="1"/>
          <p:nvPr/>
        </p:nvSpPr>
        <p:spPr>
          <a:xfrm>
            <a:off x="8121650" y="4191000"/>
            <a:ext cx="1022350" cy="457200"/>
          </a:xfrm>
          <a:prstGeom prst="rect">
            <a:avLst/>
          </a:prstGeom>
          <a:solidFill>
            <a:srgbClr val="C00000"/>
          </a:solid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(5-98) </a:t>
            </a:r>
            <a:endParaRPr lang="en-US" altLang="zh-CN">
              <a:latin typeface="Times New Roman" panose="02020603050405020304" pitchFamily="18" charset="0"/>
              <a:ea typeface="宋体" panose="02010600030101010101" pitchFamily="2" charset="-122"/>
            </a:endParaRPr>
          </a:p>
        </p:txBody>
      </p:sp>
      <p:sp>
        <p:nvSpPr>
          <p:cNvPr id="168965" name="文本框 160775"/>
          <p:cNvSpPr txBox="1"/>
          <p:nvPr/>
        </p:nvSpPr>
        <p:spPr>
          <a:xfrm>
            <a:off x="8121650" y="1447800"/>
            <a:ext cx="10223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(5-97) </a:t>
            </a:r>
            <a:endParaRPr lang="en-US" altLang="zh-CN">
              <a:latin typeface="Times New Roman" panose="02020603050405020304" pitchFamily="18" charset="0"/>
              <a:ea typeface="宋体" panose="02010600030101010101" pitchFamily="2" charset="-122"/>
            </a:endParaRPr>
          </a:p>
        </p:txBody>
      </p:sp>
      <p:sp>
        <p:nvSpPr>
          <p:cNvPr id="2" name="文本框 160772"/>
          <p:cNvSpPr txBox="1"/>
          <p:nvPr/>
        </p:nvSpPr>
        <p:spPr>
          <a:xfrm>
            <a:off x="6248400" y="5480050"/>
            <a:ext cx="2544763" cy="460375"/>
          </a:xfrm>
          <a:prstGeom prst="rect">
            <a:avLst/>
          </a:prstGeom>
          <a:solidFill>
            <a:srgbClr val="C00000"/>
          </a:solidFill>
          <a:ln w="9525">
            <a:noFill/>
          </a:ln>
        </p:spPr>
        <p:txBody>
          <a:bodyPr wrap="none" anchor="t">
            <a:spAutoFit/>
          </a:bodyPr>
          <a:p>
            <a:r>
              <a:rPr lang="zh-CN" altLang="en-US" dirty="0">
                <a:latin typeface="Times New Roman" panose="02020603050405020304" pitchFamily="18" charset="0"/>
                <a:ea typeface="宋体" panose="02010600030101010101" pitchFamily="2" charset="-122"/>
              </a:rPr>
              <a:t>教材</a:t>
            </a:r>
            <a:r>
              <a:rPr lang="en-US" altLang="zh-CN" dirty="0">
                <a:latin typeface="Times New Roman" panose="02020603050405020304" pitchFamily="18" charset="0"/>
                <a:ea typeface="宋体" panose="02010600030101010101" pitchFamily="2" charset="-122"/>
              </a:rPr>
              <a:t>209</a:t>
            </a:r>
            <a:r>
              <a:rPr lang="zh-CN" altLang="en-US" dirty="0">
                <a:latin typeface="Times New Roman" panose="02020603050405020304" pitchFamily="18" charset="0"/>
                <a:ea typeface="宋体" panose="02010600030101010101" pitchFamily="2" charset="-122"/>
              </a:rPr>
              <a:t>页请改正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5" name="文本框 163843"/>
          <p:cNvSpPr txBox="1"/>
          <p:nvPr/>
        </p:nvSpPr>
        <p:spPr>
          <a:xfrm>
            <a:off x="152400" y="685800"/>
            <a:ext cx="8763000" cy="4108450"/>
          </a:xfrm>
          <a:prstGeom prst="rect">
            <a:avLst/>
          </a:prstGeom>
          <a:noFill/>
          <a:ln w="9525">
            <a:noFill/>
          </a:ln>
        </p:spPr>
        <p:txBody>
          <a:bodyPr anchor="t">
            <a:spAutoFit/>
          </a:bodyPr>
          <a:p>
            <a:pPr algn="just">
              <a:lnSpc>
                <a:spcPct val="150000"/>
              </a:lnSpc>
              <a:spcBef>
                <a:spcPct val="50000"/>
              </a:spcBef>
            </a:pPr>
            <a:r>
              <a:rPr lang="en-US" altLang="zh-CN" b="1" dirty="0">
                <a:latin typeface="Times New Roman" panose="02020603050405020304" pitchFamily="18" charset="0"/>
                <a:ea typeface="宋体" panose="02010600030101010101" pitchFamily="2" charset="-122"/>
              </a:rPr>
              <a:t>5.7.3 </a:t>
            </a:r>
            <a:r>
              <a:rPr lang="zh-CN" altLang="en-US" b="1" dirty="0">
                <a:latin typeface="Times New Roman" panose="02020603050405020304" pitchFamily="18" charset="0"/>
                <a:ea typeface="宋体" panose="02010600030101010101" pitchFamily="2" charset="-122"/>
              </a:rPr>
              <a:t>数字低通</a:t>
            </a:r>
            <a:r>
              <a:rPr lang="en-US" altLang="zh-CN" b="1" dirty="0">
                <a:latin typeface="Courier New" panose="02070309020205020404" pitchFamily="49"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数字带通</a:t>
            </a:r>
            <a:endParaRPr lang="zh-CN" altLang="en-US">
              <a:latin typeface="Times New Roman" panose="02020603050405020304" pitchFamily="18" charset="0"/>
              <a:ea typeface="宋体" panose="02010600030101010101" pitchFamily="2" charset="-122"/>
            </a:endParaRPr>
          </a:p>
          <a:p>
            <a:pPr algn="just">
              <a:lnSpc>
                <a:spcPct val="150000"/>
              </a:lnSpc>
              <a:spcBef>
                <a:spcPct val="50000"/>
              </a:spcBef>
            </a:pPr>
            <a:r>
              <a:rPr lang="zh-CN" altLang="en-US" dirty="0">
                <a:latin typeface="Times New Roman" panose="02020603050405020304" pitchFamily="18" charset="0"/>
                <a:ea typeface="宋体" panose="02010600030101010101" pitchFamily="2" charset="-122"/>
              </a:rPr>
              <a:t>        若带通的中心频率为</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，它应该对应于低通原型的通带中心，即</a:t>
            </a:r>
            <a:r>
              <a:rPr lang="en-US" altLang="zh-CN" i="1">
                <a:latin typeface="Times New Roman" panose="02020603050405020304" pitchFamily="18" charset="0"/>
                <a:ea typeface="宋体" panose="02010600030101010101" pitchFamily="2" charset="-122"/>
              </a:rPr>
              <a:t>θ</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点；当带通的频率由</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时，是由通带走向止带， 因此应该对应于</a:t>
            </a:r>
            <a:r>
              <a:rPr lang="en-US" altLang="zh-CN" i="1">
                <a:latin typeface="Times New Roman" panose="02020603050405020304" pitchFamily="18" charset="0"/>
                <a:ea typeface="宋体" panose="02010600030101010101" pitchFamily="2" charset="-122"/>
              </a:rPr>
              <a:t>θ</a:t>
            </a:r>
            <a:r>
              <a:rPr lang="zh-CN" altLang="en-US" dirty="0">
                <a:latin typeface="Times New Roman" panose="02020603050405020304" pitchFamily="18" charset="0"/>
                <a:ea typeface="宋体" panose="02010600030101010101" pitchFamily="2" charset="-122"/>
              </a:rPr>
              <a:t>由</a:t>
            </a:r>
            <a:r>
              <a:rPr lang="en-US" altLang="zh-CN" dirty="0">
                <a:latin typeface="Times New Roman" panose="02020603050405020304" pitchFamily="18" charset="0"/>
                <a:ea typeface="宋体" panose="02010600030101010101" pitchFamily="2" charset="-122"/>
              </a:rPr>
              <a:t>0→π</a:t>
            </a:r>
            <a:r>
              <a:rPr lang="zh-CN" altLang="en-US" dirty="0">
                <a:latin typeface="Times New Roman" panose="02020603050405020304" pitchFamily="18" charset="0"/>
                <a:ea typeface="宋体" panose="02010600030101010101" pitchFamily="2" charset="-122"/>
              </a:rPr>
              <a:t>；同样，当</a:t>
            </a:r>
            <a:r>
              <a:rPr lang="en-US" altLang="zh-CN" i="1">
                <a:latin typeface="Times New Roman" panose="02020603050405020304" pitchFamily="18" charset="0"/>
                <a:ea typeface="宋体" panose="02010600030101010101" pitchFamily="2" charset="-122"/>
              </a:rPr>
              <a:t>ω</a:t>
            </a:r>
            <a:r>
              <a:rPr lang="zh-CN" altLang="en-US">
                <a:latin typeface="Times New Roman" panose="02020603050405020304" pitchFamily="18" charset="0"/>
                <a:ea typeface="宋体" panose="02010600030101010101" pitchFamily="2" charset="-122"/>
              </a:rPr>
              <a:t>由</a:t>
            </a:r>
            <a:r>
              <a:rPr lang="en-US" altLang="zh-CN" i="1">
                <a:latin typeface="Times New Roman" panose="02020603050405020304" pitchFamily="18" charset="0"/>
                <a:ea typeface="宋体" panose="02010600030101010101" pitchFamily="2" charset="-122"/>
              </a:rPr>
              <a:t>ω</a:t>
            </a:r>
            <a:r>
              <a:rPr lang="en-US" altLang="zh-CN" baseline="-25000">
                <a:latin typeface="Times New Roman" panose="02020603050405020304" pitchFamily="18" charset="0"/>
                <a:ea typeface="宋体" panose="02010600030101010101" pitchFamily="2" charset="-122"/>
              </a:rPr>
              <a:t>0</a:t>
            </a:r>
            <a:r>
              <a:rPr lang="en-US" altLang="zh-CN" dirty="0">
                <a:latin typeface="Times New Roman" panose="02020603050405020304" pitchFamily="18" charset="0"/>
                <a:ea typeface="宋体" panose="02010600030101010101" pitchFamily="2" charset="-122"/>
              </a:rPr>
              <a:t>→0 </a:t>
            </a:r>
            <a:r>
              <a:rPr lang="zh-CN" altLang="en-US" dirty="0">
                <a:latin typeface="Times New Roman" panose="02020603050405020304" pitchFamily="18" charset="0"/>
                <a:ea typeface="宋体" panose="02010600030101010101" pitchFamily="2" charset="-122"/>
              </a:rPr>
              <a:t>时，也是由通带走向另一边止带，它对应的是低通原型的镜像部分，即相应于</a:t>
            </a:r>
            <a:r>
              <a:rPr lang="en-US" altLang="zh-CN" i="1">
                <a:latin typeface="Times New Roman" panose="02020603050405020304" pitchFamily="18" charset="0"/>
                <a:ea typeface="宋体" panose="02010600030101010101" pitchFamily="2" charset="-122"/>
              </a:rPr>
              <a:t>θ</a:t>
            </a:r>
            <a:r>
              <a:rPr lang="zh-CN" altLang="en-US" dirty="0">
                <a:latin typeface="Times New Roman" panose="02020603050405020304" pitchFamily="18" charset="0"/>
                <a:ea typeface="宋体" panose="02010600030101010101" pitchFamily="2" charset="-122"/>
              </a:rPr>
              <a:t>由</a:t>
            </a:r>
            <a:r>
              <a:rPr lang="en-US" altLang="zh-CN" dirty="0">
                <a:latin typeface="Times New Roman" panose="02020603050405020304" pitchFamily="18" charset="0"/>
                <a:ea typeface="宋体" panose="02010600030101010101" pitchFamily="2" charset="-122"/>
              </a:rPr>
              <a:t>0→-π</a:t>
            </a:r>
            <a:r>
              <a:rPr lang="zh-CN" altLang="en-US" dirty="0">
                <a:latin typeface="Times New Roman" panose="02020603050405020304" pitchFamily="18" charset="0"/>
                <a:ea typeface="宋体" panose="02010600030101010101" pitchFamily="2" charset="-122"/>
              </a:rPr>
              <a:t>。这样我们看到，当</a:t>
            </a:r>
            <a:r>
              <a:rPr lang="en-US" altLang="zh-CN" i="1">
                <a:latin typeface="Times New Roman" panose="02020603050405020304" pitchFamily="18" charset="0"/>
                <a:ea typeface="宋体" panose="02010600030101010101" pitchFamily="2" charset="-122"/>
              </a:rPr>
              <a:t>ω</a:t>
            </a:r>
            <a:r>
              <a:rPr lang="zh-CN" altLang="en-US" dirty="0">
                <a:latin typeface="Times New Roman" panose="02020603050405020304" pitchFamily="18" charset="0"/>
                <a:ea typeface="宋体" panose="02010600030101010101" pitchFamily="2" charset="-122"/>
              </a:rPr>
              <a:t>由０变化到</a:t>
            </a:r>
            <a:r>
              <a:rPr lang="en-US" altLang="zh-CN" dirty="0">
                <a:latin typeface="Times New Roman" panose="02020603050405020304" pitchFamily="18" charset="0"/>
                <a:ea typeface="宋体" panose="02010600030101010101" pitchFamily="2" charset="-122"/>
              </a:rPr>
              <a:t>π</a:t>
            </a:r>
            <a:r>
              <a:rPr lang="zh-CN" altLang="en-US" dirty="0">
                <a:latin typeface="Times New Roman" panose="02020603050405020304" pitchFamily="18" charset="0"/>
                <a:ea typeface="宋体" panose="02010600030101010101" pitchFamily="2" charset="-122"/>
              </a:rPr>
              <a:t>时，</a:t>
            </a:r>
            <a:r>
              <a:rPr lang="en-US" altLang="zh-CN" i="1">
                <a:latin typeface="Times New Roman" panose="02020603050405020304" pitchFamily="18" charset="0"/>
                <a:ea typeface="宋体" panose="02010600030101010101" pitchFamily="2" charset="-122"/>
              </a:rPr>
              <a:t>θ</a:t>
            </a:r>
            <a:r>
              <a:rPr lang="zh-CN" altLang="en-US" dirty="0">
                <a:latin typeface="Times New Roman" panose="02020603050405020304" pitchFamily="18" charset="0"/>
                <a:ea typeface="宋体" panose="02010600030101010101" pitchFamily="2" charset="-122"/>
              </a:rPr>
              <a:t>必须相应变化</a:t>
            </a:r>
            <a:r>
              <a:rPr lang="en-US" altLang="zh-CN" dirty="0">
                <a:latin typeface="Times New Roman" panose="02020603050405020304" pitchFamily="18" charset="0"/>
                <a:ea typeface="宋体" panose="02010600030101010101" pitchFamily="2" charset="-122"/>
              </a:rPr>
              <a:t>2π</a:t>
            </a:r>
            <a:r>
              <a:rPr lang="zh-CN" altLang="en-US" dirty="0">
                <a:latin typeface="Times New Roman" panose="02020603050405020304" pitchFamily="18" charset="0"/>
                <a:ea typeface="宋体" panose="02010600030101010101" pitchFamily="2" charset="-122"/>
              </a:rPr>
              <a:t>，也即全通函数的阶数</a:t>
            </a:r>
            <a:r>
              <a:rPr lang="en-US" altLang="zh-CN" i="1">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必须为２，这时 </a:t>
            </a:r>
            <a:endParaRPr lang="zh-CN" altLang="en-US">
              <a:latin typeface="Times New Roman" panose="02020603050405020304" pitchFamily="18" charset="0"/>
              <a:ea typeface="宋体" panose="02010600030101010101" pitchFamily="2" charset="-122"/>
            </a:endParaRPr>
          </a:p>
        </p:txBody>
      </p:sp>
      <p:graphicFrame>
        <p:nvGraphicFramePr>
          <p:cNvPr id="169986" name="对象 163844"/>
          <p:cNvGraphicFramePr/>
          <p:nvPr/>
        </p:nvGraphicFramePr>
        <p:xfrm>
          <a:off x="2209800" y="4876800"/>
          <a:ext cx="4495800" cy="1036638"/>
        </p:xfrm>
        <a:graphic>
          <a:graphicData uri="http://schemas.openxmlformats.org/presentationml/2006/ole">
            <mc:AlternateContent xmlns:mc="http://schemas.openxmlformats.org/markup-compatibility/2006">
              <mc:Choice xmlns:v="urn:schemas-microsoft-com:vml" Requires="v">
                <p:oleObj spid="_x0000_s3287" name="" r:id="rId1" imgW="1816100" imgH="419100" progId="Equation.3">
                  <p:embed/>
                </p:oleObj>
              </mc:Choice>
              <mc:Fallback>
                <p:oleObj name="" r:id="rId1" imgW="1816100" imgH="419100" progId="Equation.3">
                  <p:embed/>
                  <p:pic>
                    <p:nvPicPr>
                      <p:cNvPr id="0" name="图片 3286"/>
                      <p:cNvPicPr/>
                      <p:nvPr/>
                    </p:nvPicPr>
                    <p:blipFill>
                      <a:blip r:embed="rId2"/>
                      <a:stretch>
                        <a:fillRect/>
                      </a:stretch>
                    </p:blipFill>
                    <p:spPr>
                      <a:xfrm>
                        <a:off x="2209800" y="4876800"/>
                        <a:ext cx="4495800" cy="1036638"/>
                      </a:xfrm>
                      <a:prstGeom prst="rect">
                        <a:avLst/>
                      </a:prstGeom>
                      <a:solidFill>
                        <a:schemeClr val="accent1"/>
                      </a:solidFill>
                      <a:ln w="38100">
                        <a:noFill/>
                        <a:miter/>
                      </a:ln>
                    </p:spPr>
                  </p:pic>
                </p:oleObj>
              </mc:Fallback>
            </mc:AlternateContent>
          </a:graphicData>
        </a:graphic>
      </p:graphicFrame>
      <p:sp>
        <p:nvSpPr>
          <p:cNvPr id="169987" name="文本框 163845"/>
          <p:cNvSpPr txBox="1"/>
          <p:nvPr/>
        </p:nvSpPr>
        <p:spPr>
          <a:xfrm>
            <a:off x="7620000" y="5257800"/>
            <a:ext cx="1098550" cy="457200"/>
          </a:xfrm>
          <a:prstGeom prst="rect">
            <a:avLst/>
          </a:prstGeom>
          <a:noFill/>
          <a:ln w="9525">
            <a:noFill/>
          </a:ln>
        </p:spPr>
        <p:txBody>
          <a:bodyPr wrap="none" anchor="t">
            <a:spAutoFit/>
          </a:bodyPr>
          <a:p>
            <a:r>
              <a:rPr lang="en-US" altLang="zh-CN" dirty="0">
                <a:latin typeface="Times New Roman" panose="02020603050405020304" pitchFamily="18" charset="0"/>
                <a:ea typeface="宋体" panose="02010600030101010101" pitchFamily="2" charset="-122"/>
              </a:rPr>
              <a:t> (5-99) </a:t>
            </a:r>
            <a:endParaRPr lang="en-US" altLang="zh-CN">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09" name="文本框 162819"/>
          <p:cNvSpPr txBox="1"/>
          <p:nvPr/>
        </p:nvSpPr>
        <p:spPr>
          <a:xfrm>
            <a:off x="304800" y="533400"/>
            <a:ext cx="8834438" cy="457200"/>
          </a:xfrm>
          <a:prstGeom prst="rect">
            <a:avLst/>
          </a:prstGeom>
          <a:noFill/>
          <a:ln w="9525">
            <a:noFill/>
          </a:ln>
        </p:spPr>
        <p:txBody>
          <a:bodyPr wrap="none" anchor="t">
            <a:spAutoFit/>
          </a:bodyPr>
          <a:p>
            <a:r>
              <a:rPr lang="zh-CN" altLang="en-US" b="1" dirty="0">
                <a:latin typeface="Times New Roman" panose="02020603050405020304" pitchFamily="18" charset="0"/>
                <a:ea typeface="宋体" panose="02010600030101010101" pitchFamily="2" charset="-122"/>
              </a:rPr>
              <a:t>表</a:t>
            </a:r>
            <a:r>
              <a:rPr lang="en-US" altLang="zh-CN" b="1" dirty="0">
                <a:latin typeface="Times New Roman" panose="02020603050405020304" pitchFamily="18" charset="0"/>
                <a:ea typeface="宋体" panose="02010600030101010101" pitchFamily="2" charset="-122"/>
              </a:rPr>
              <a:t>5-5 </a:t>
            </a:r>
            <a:r>
              <a:rPr lang="zh-CN" altLang="en-US" b="1" dirty="0">
                <a:latin typeface="Times New Roman" panose="02020603050405020304" pitchFamily="18" charset="0"/>
                <a:ea typeface="宋体" panose="02010600030101010101" pitchFamily="2" charset="-122"/>
              </a:rPr>
              <a:t>由截止频率为</a:t>
            </a:r>
            <a:r>
              <a:rPr lang="en-US" altLang="zh-CN" b="1" i="1">
                <a:latin typeface="Times New Roman" panose="02020603050405020304" pitchFamily="18" charset="0"/>
                <a:ea typeface="宋体" panose="02010600030101010101" pitchFamily="2" charset="-122"/>
              </a:rPr>
              <a:t>θ</a:t>
            </a:r>
            <a:r>
              <a:rPr lang="en-US" altLang="zh-CN" b="1" baseline="-25000">
                <a:latin typeface="Times New Roman" panose="02020603050405020304" pitchFamily="18" charset="0"/>
                <a:ea typeface="宋体" panose="02010600030101010101" pitchFamily="2" charset="-122"/>
              </a:rPr>
              <a:t>c</a:t>
            </a:r>
            <a:r>
              <a:rPr lang="zh-CN" altLang="en-US" b="1" dirty="0">
                <a:latin typeface="Times New Roman" panose="02020603050405020304" pitchFamily="18" charset="0"/>
                <a:ea typeface="宋体" panose="02010600030101010101" pitchFamily="2" charset="-122"/>
              </a:rPr>
              <a:t>的低通数字滤波器变换成各型数字滤波器 </a:t>
            </a:r>
            <a:endParaRPr lang="zh-CN" altLang="en-US" b="1">
              <a:latin typeface="Times New Roman" panose="02020603050405020304" pitchFamily="18" charset="0"/>
              <a:ea typeface="宋体" panose="02010600030101010101" pitchFamily="2" charset="-122"/>
            </a:endParaRPr>
          </a:p>
        </p:txBody>
      </p:sp>
      <p:pic>
        <p:nvPicPr>
          <p:cNvPr id="171010" name="图片 162820" descr="C:\WINDOWS\Desktop\wp\Img00012.JPG"/>
          <p:cNvPicPr>
            <a:picLocks noChangeAspect="1"/>
          </p:cNvPicPr>
          <p:nvPr/>
        </p:nvPicPr>
        <p:blipFill>
          <a:blip r:embed="rId1"/>
          <a:stretch>
            <a:fillRect/>
          </a:stretch>
        </p:blipFill>
        <p:spPr>
          <a:xfrm>
            <a:off x="838200" y="936625"/>
            <a:ext cx="7696200" cy="5845175"/>
          </a:xfrm>
          <a:prstGeom prst="rect">
            <a:avLst/>
          </a:prstGeom>
          <a:noFill/>
          <a:ln w="9525">
            <a:noFill/>
          </a:ln>
        </p:spPr>
      </p:pic>
    </p:spTree>
  </p:cSld>
  <p:clrMapOvr>
    <a:masterClrMapping/>
  </p:clrMapOvr>
  <p:transition>
    <p:blinds/>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3" name="文本框 165891"/>
          <p:cNvSpPr txBox="1"/>
          <p:nvPr/>
        </p:nvSpPr>
        <p:spPr>
          <a:xfrm>
            <a:off x="395288" y="838200"/>
            <a:ext cx="8370887" cy="3195638"/>
          </a:xfrm>
          <a:prstGeom prst="rect">
            <a:avLst/>
          </a:prstGeom>
          <a:noFill/>
          <a:ln w="9525">
            <a:noFill/>
          </a:ln>
        </p:spPr>
        <p:txBody>
          <a:bodyPr anchor="t">
            <a:spAutoFit/>
          </a:bodyPr>
          <a:p>
            <a:pPr algn="just">
              <a:lnSpc>
                <a:spcPct val="200000"/>
              </a:lnSpc>
              <a:spcBef>
                <a:spcPct val="50000"/>
              </a:spcBef>
            </a:pPr>
            <a:r>
              <a:rPr lang="en-US" altLang="zh-CN" b="1" dirty="0">
                <a:latin typeface="Times New Roman" panose="02020603050405020304" pitchFamily="18" charset="0"/>
                <a:ea typeface="宋体" panose="02010600030101010101" pitchFamily="2" charset="-122"/>
              </a:rPr>
              <a:t>5.7.4 </a:t>
            </a:r>
            <a:r>
              <a:rPr lang="zh-CN" altLang="en-US" b="1" dirty="0">
                <a:latin typeface="Times New Roman" panose="02020603050405020304" pitchFamily="18" charset="0"/>
                <a:ea typeface="宋体" panose="02010600030101010101" pitchFamily="2" charset="-122"/>
              </a:rPr>
              <a:t>数字低通</a:t>
            </a:r>
            <a:r>
              <a:rPr lang="en-US" altLang="zh-CN" b="1" dirty="0">
                <a:latin typeface="Courier New" panose="02070309020205020404" pitchFamily="49"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数字带阻</a:t>
            </a:r>
            <a:endParaRPr lang="zh-CN" altLang="en-US">
              <a:latin typeface="Times New Roman" panose="02020603050405020304" pitchFamily="18" charset="0"/>
              <a:ea typeface="宋体" panose="02010600030101010101" pitchFamily="2" charset="-122"/>
            </a:endParaRPr>
          </a:p>
          <a:p>
            <a:pPr algn="just">
              <a:lnSpc>
                <a:spcPct val="200000"/>
              </a:lnSpc>
              <a:spcBef>
                <a:spcPct val="50000"/>
              </a:spcBef>
            </a:pPr>
            <a:r>
              <a:rPr lang="zh-CN" altLang="en-US" dirty="0">
                <a:latin typeface="Times New Roman" panose="02020603050405020304" pitchFamily="18" charset="0"/>
                <a:ea typeface="宋体" panose="02010600030101010101" pitchFamily="2" charset="-122"/>
              </a:rPr>
              <a:t>        由带通到带阻的变换同样可以通过旋转变换来完成，其相应的结果也列于表</a:t>
            </a:r>
            <a:r>
              <a:rPr lang="en-US" altLang="zh-CN" dirty="0">
                <a:latin typeface="Times New Roman" panose="02020603050405020304" pitchFamily="18" charset="0"/>
                <a:ea typeface="宋体" panose="02010600030101010101" pitchFamily="2" charset="-122"/>
              </a:rPr>
              <a:t>5-5</a:t>
            </a:r>
            <a:r>
              <a:rPr lang="zh-CN" altLang="en-US" dirty="0">
                <a:latin typeface="Times New Roman" panose="02020603050405020304" pitchFamily="18" charset="0"/>
                <a:ea typeface="宋体" panose="02010600030101010101" pitchFamily="2" charset="-122"/>
              </a:rPr>
              <a:t>中</a:t>
            </a:r>
            <a:r>
              <a:rPr lang="zh-CN" altLang="en-US" dirty="0">
                <a:latin typeface="Times New Roman" panose="02020603050405020304" pitchFamily="18" charset="0"/>
                <a:ea typeface="宋体" panose="02010600030101010101" pitchFamily="2" charset="-122"/>
              </a:rPr>
              <a:t>，读者可以自己验证，这里就不再细述了。 </a:t>
            </a:r>
            <a:endParaRPr lang="zh-CN" altLang="en-US">
              <a:latin typeface="Times New Roman" panose="02020603050405020304" pitchFamily="18" charset="0"/>
              <a:ea typeface="宋体" panose="02010600030101010101" pitchFamily="2" charset="-122"/>
            </a:endParaRPr>
          </a:p>
        </p:txBody>
      </p:sp>
    </p:spTree>
  </p:cSld>
  <p:clrMapOvr>
    <a:masterClrMapping/>
  </p:clrMapOvr>
  <p:transition>
    <p:blinds/>
  </p:transition>
</p:sld>
</file>

<file path=ppt/tags/tag1.xml><?xml version="1.0" encoding="utf-8"?>
<p:tagLst xmlns:p="http://schemas.openxmlformats.org/presentationml/2006/main">
  <p:tag name="KSO_WM_UNIT_PLACING_PICTURE_USER_VIEWPORT" val="{&quot;height&quot;:6067.499212598425,&quot;width&quot;:10170}"/>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UNIT_TABLE_BEAUTIFY" val="smartTable{e1be97da-811a-4d34-8d35-f68cc44faf40}"/>
</p:tagLst>
</file>

<file path=ppt/tags/tag4.xml><?xml version="1.0" encoding="utf-8"?>
<p:tagLst xmlns:p="http://schemas.openxmlformats.org/presentationml/2006/main">
  <p:tag name="commondata" val="eyJoZGlkIjoiZTIzNGVhN2JkNjY3NDk3ZDAxODhlODJjYTM4MTM3NGIifQ=="/>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FF0066"/>
      </a:hlink>
      <a:folHlink>
        <a:srgbClr val="A50021"/>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FF0066"/>
      </a:hlink>
      <a:folHlink>
        <a:srgbClr val="A50021"/>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22277</Words>
  <Application>WPS 演示</Application>
  <PresentationFormat>在屏幕上显示</PresentationFormat>
  <Paragraphs>971</Paragraphs>
  <Slides>168</Slides>
  <Notes>0</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242</vt:i4>
      </vt:variant>
      <vt:variant>
        <vt:lpstr>幻灯片标题</vt:lpstr>
      </vt:variant>
      <vt:variant>
        <vt:i4>168</vt:i4>
      </vt:variant>
    </vt:vector>
  </HeadingPairs>
  <TitlesOfParts>
    <vt:vector size="421" baseType="lpstr">
      <vt:lpstr>Arial</vt:lpstr>
      <vt:lpstr>宋体</vt:lpstr>
      <vt:lpstr>Wingdings</vt:lpstr>
      <vt:lpstr>Times New Roman</vt:lpstr>
      <vt:lpstr>华文行楷</vt:lpstr>
      <vt:lpstr>微软雅黑</vt:lpstr>
      <vt:lpstr>Arial Unicode MS</vt:lpstr>
      <vt:lpstr>Calibri</vt:lpstr>
      <vt:lpstr>Courier New</vt:lpstr>
      <vt:lpstr>默认设计模板</vt:lpstr>
      <vt:lpstr>1_默认设计模板</vt:lpstr>
      <vt:lpstr>Equation.3</vt:lpstr>
      <vt:lpstr>Equation.3</vt:lpstr>
      <vt:lpstr>Equation.3</vt:lpstr>
      <vt:lpstr>Equation.3</vt:lpstr>
      <vt:lpstr>Equation.KSEE3</vt:lpstr>
      <vt:lpstr>Equation.3</vt:lpstr>
      <vt:lpstr>Equation.KSEE3</vt:lpstr>
      <vt:lpstr>Equation.KSEE3</vt:lpstr>
      <vt:lpstr>Equation.KSEE3</vt:lpstr>
      <vt:lpstr>Equation.KSEE3</vt:lpstr>
      <vt:lpstr>Equation.KSEE3</vt:lpstr>
      <vt:lpstr>Equation.KSEE3</vt:lpstr>
      <vt:lpstr>Equation.3</vt:lpstr>
      <vt:lpstr>Equation.KSEE3</vt:lpstr>
      <vt:lpstr>Equation.3</vt:lpstr>
      <vt:lpstr>Equation.3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Equation.3</vt:lpstr>
      <vt:lpstr>Equation.3</vt:lpstr>
      <vt:lpstr>Equation.3</vt:lpstr>
      <vt:lpstr>Equation.KSEE3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Equation.KSEE3</vt:lpstr>
      <vt:lpstr>Equation.KSEE3</vt:lpstr>
      <vt:lpstr>Equation.KSEE3</vt:lpstr>
      <vt:lpstr>Equation.KSEE3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西安火炬电脑公司</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mwz2</dc:creator>
  <cp:lastModifiedBy>淑玉刘</cp:lastModifiedBy>
  <cp:revision>75</cp:revision>
  <dcterms:created xsi:type="dcterms:W3CDTF">2003-07-29T00:54:00Z</dcterms:created>
  <dcterms:modified xsi:type="dcterms:W3CDTF">2023-10-30T07:32:58Z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E75BE92DAD114B23AD5794D39EDA197D</vt:lpwstr>
  </property>
</Properties>
</file>