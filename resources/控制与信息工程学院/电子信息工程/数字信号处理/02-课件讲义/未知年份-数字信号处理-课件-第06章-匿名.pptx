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2.bin" ContentType="application/vnd.ms-office.activeX"/>
  <Override PartName="/ppt/activeX/activeX2.xml" ContentType="application/vnd.ms-office.activeX+xml"/>
  <Override PartName="/ppt/activeX/activeX3.bin" ContentType="application/vnd.ms-office.activeX"/>
  <Override PartName="/ppt/activeX/activeX3.xml" ContentType="application/vnd.ms-office.activeX+xml"/>
  <Override PartName="/ppt/activeX/activeX4.bin" ContentType="application/vnd.ms-office.activeX"/>
  <Override PartName="/ppt/activeX/activeX4.xml" ContentType="application/vnd.ms-office.activeX+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0" r:id="rId18"/>
    <p:sldId id="272" r:id="rId19"/>
    <p:sldId id="274" r:id="rId20"/>
    <p:sldId id="273" r:id="rId21"/>
    <p:sldId id="277" r:id="rId22"/>
    <p:sldId id="276" r:id="rId23"/>
    <p:sldId id="275" r:id="rId24"/>
    <p:sldId id="279" r:id="rId25"/>
    <p:sldId id="278" r:id="rId26"/>
    <p:sldId id="281" r:id="rId27"/>
    <p:sldId id="280" r:id="rId28"/>
    <p:sldId id="283" r:id="rId29"/>
    <p:sldId id="282" r:id="rId30"/>
    <p:sldId id="285" r:id="rId31"/>
    <p:sldId id="284" r:id="rId32"/>
    <p:sldId id="287" r:id="rId33"/>
    <p:sldId id="286" r:id="rId34"/>
    <p:sldId id="289" r:id="rId35"/>
    <p:sldId id="291" r:id="rId36"/>
    <p:sldId id="423" r:id="rId37"/>
    <p:sldId id="290" r:id="rId38"/>
    <p:sldId id="293" r:id="rId39"/>
    <p:sldId id="295" r:id="rId40"/>
    <p:sldId id="424" r:id="rId41"/>
    <p:sldId id="294" r:id="rId42"/>
    <p:sldId id="298" r:id="rId43"/>
    <p:sldId id="297" r:id="rId44"/>
    <p:sldId id="296" r:id="rId45"/>
    <p:sldId id="300" r:id="rId46"/>
    <p:sldId id="299" r:id="rId47"/>
    <p:sldId id="302" r:id="rId48"/>
    <p:sldId id="301" r:id="rId49"/>
    <p:sldId id="537" r:id="rId50"/>
    <p:sldId id="304" r:id="rId51"/>
    <p:sldId id="303" r:id="rId52"/>
    <p:sldId id="306" r:id="rId53"/>
    <p:sldId id="305" r:id="rId54"/>
    <p:sldId id="308" r:id="rId55"/>
    <p:sldId id="307" r:id="rId56"/>
    <p:sldId id="311" r:id="rId57"/>
    <p:sldId id="310" r:id="rId58"/>
    <p:sldId id="643" r:id="rId59"/>
    <p:sldId id="309" r:id="rId60"/>
    <p:sldId id="314" r:id="rId61"/>
    <p:sldId id="313" r:id="rId62"/>
    <p:sldId id="312" r:id="rId63"/>
    <p:sldId id="316" r:id="rId64"/>
    <p:sldId id="315" r:id="rId65"/>
    <p:sldId id="318" r:id="rId66"/>
    <p:sldId id="317" r:id="rId67"/>
    <p:sldId id="320" r:id="rId68"/>
    <p:sldId id="539" r:id="rId69"/>
    <p:sldId id="319" r:id="rId70"/>
    <p:sldId id="323" r:id="rId71"/>
    <p:sldId id="322" r:id="rId72"/>
    <p:sldId id="321" r:id="rId73"/>
    <p:sldId id="540" r:id="rId74"/>
    <p:sldId id="325" r:id="rId75"/>
    <p:sldId id="324" r:id="rId76"/>
    <p:sldId id="327" r:id="rId77"/>
    <p:sldId id="326" r:id="rId78"/>
    <p:sldId id="329" r:id="rId79"/>
    <p:sldId id="328" r:id="rId80"/>
    <p:sldId id="331" r:id="rId81"/>
    <p:sldId id="330" r:id="rId82"/>
    <p:sldId id="333" r:id="rId83"/>
    <p:sldId id="332" r:id="rId84"/>
    <p:sldId id="335" r:id="rId85"/>
    <p:sldId id="334" r:id="rId86"/>
    <p:sldId id="337" r:id="rId87"/>
    <p:sldId id="336" r:id="rId88"/>
    <p:sldId id="339" r:id="rId89"/>
    <p:sldId id="338" r:id="rId90"/>
    <p:sldId id="341" r:id="rId91"/>
    <p:sldId id="340" r:id="rId92"/>
    <p:sldId id="343" r:id="rId93"/>
    <p:sldId id="342" r:id="rId94"/>
    <p:sldId id="345" r:id="rId95"/>
    <p:sldId id="344" r:id="rId96"/>
    <p:sldId id="347" r:id="rId97"/>
    <p:sldId id="346" r:id="rId98"/>
    <p:sldId id="350" r:id="rId99"/>
    <p:sldId id="349" r:id="rId100"/>
    <p:sldId id="348" r:id="rId101"/>
    <p:sldId id="353" r:id="rId102"/>
    <p:sldId id="352" r:id="rId103"/>
    <p:sldId id="351" r:id="rId104"/>
    <p:sldId id="356" r:id="rId105"/>
    <p:sldId id="355" r:id="rId106"/>
    <p:sldId id="354" r:id="rId107"/>
    <p:sldId id="358" r:id="rId108"/>
    <p:sldId id="357" r:id="rId109"/>
    <p:sldId id="361" r:id="rId110"/>
    <p:sldId id="360" r:id="rId111"/>
    <p:sldId id="359" r:id="rId112"/>
    <p:sldId id="363" r:id="rId113"/>
    <p:sldId id="362" r:id="rId114"/>
    <p:sldId id="365" r:id="rId115"/>
    <p:sldId id="364" r:id="rId116"/>
    <p:sldId id="367" r:id="rId117"/>
    <p:sldId id="366" r:id="rId118"/>
    <p:sldId id="740" r:id="rId119"/>
    <p:sldId id="394" r:id="rId120"/>
    <p:sldId id="395" r:id="rId121"/>
    <p:sldId id="396" r:id="rId122"/>
    <p:sldId id="370" r:id="rId123"/>
    <p:sldId id="433" r:id="rId124"/>
    <p:sldId id="739" r:id="rId125"/>
    <p:sldId id="369" r:id="rId126"/>
    <p:sldId id="368" r:id="rId127"/>
    <p:sldId id="371" r:id="rId128"/>
    <p:sldId id="372" r:id="rId129"/>
    <p:sldId id="373" r:id="rId130"/>
    <p:sldId id="374" r:id="rId131"/>
    <p:sldId id="375" r:id="rId132"/>
    <p:sldId id="376" r:id="rId133"/>
    <p:sldId id="377" r:id="rId134"/>
    <p:sldId id="378" r:id="rId135"/>
    <p:sldId id="379" r:id="rId136"/>
    <p:sldId id="380" r:id="rId137"/>
    <p:sldId id="381" r:id="rId138"/>
    <p:sldId id="382" r:id="rId139"/>
    <p:sldId id="383" r:id="rId140"/>
    <p:sldId id="384" r:id="rId141"/>
    <p:sldId id="385" r:id="rId142"/>
    <p:sldId id="386" r:id="rId143"/>
    <p:sldId id="387" r:id="rId144"/>
    <p:sldId id="388" r:id="rId145"/>
    <p:sldId id="389" r:id="rId146"/>
    <p:sldId id="390" r:id="rId147"/>
    <p:sldId id="391" r:id="rId148"/>
    <p:sldId id="392" r:id="rId149"/>
    <p:sldId id="393" r:id="rId150"/>
    <p:sldId id="425" r:id="rId151"/>
    <p:sldId id="426" r:id="rId152"/>
    <p:sldId id="430" r:id="rId153"/>
    <p:sldId id="429" r:id="rId154"/>
    <p:sldId id="428" r:id="rId155"/>
    <p:sldId id="432" r:id="rId156"/>
  </p:sldIdLst>
  <p:sldSz cx="9144000" cy="6858000" type="screen4x3"/>
  <p:notesSz cx="6858000" cy="9144000"/>
  <p:custDataLst>
    <p:tags r:id="rId160"/>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varScale="1">
        <p:scale>
          <a:sx n="115" d="100"/>
          <a:sy n="115" d="100"/>
        </p:scale>
        <p:origin x="774" y="102"/>
      </p:cViewPr>
      <p:guideLst>
        <p:guide orient="horz" pos="2197"/>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321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0" Type="http://schemas.openxmlformats.org/officeDocument/2006/relationships/tags" Target="tags/tag35.xml"/><Relationship Id="rId16" Type="http://schemas.openxmlformats.org/officeDocument/2006/relationships/slide" Target="slides/slide14.xml"/><Relationship Id="rId159" Type="http://schemas.openxmlformats.org/officeDocument/2006/relationships/tableStyles" Target="tableStyles.xml"/><Relationship Id="rId158" Type="http://schemas.openxmlformats.org/officeDocument/2006/relationships/viewProps" Target="viewProps.xml"/><Relationship Id="rId157" Type="http://schemas.openxmlformats.org/officeDocument/2006/relationships/presProps" Target="presProps.xml"/><Relationship Id="rId156" Type="http://schemas.openxmlformats.org/officeDocument/2006/relationships/slide" Target="slides/slide154.xml"/><Relationship Id="rId155" Type="http://schemas.openxmlformats.org/officeDocument/2006/relationships/slide" Target="slides/slide153.xml"/><Relationship Id="rId154" Type="http://schemas.openxmlformats.org/officeDocument/2006/relationships/slide" Target="slides/slide152.xml"/><Relationship Id="rId153" Type="http://schemas.openxmlformats.org/officeDocument/2006/relationships/slide" Target="slides/slide151.xml"/><Relationship Id="rId152" Type="http://schemas.openxmlformats.org/officeDocument/2006/relationships/slide" Target="slides/slide150.xml"/><Relationship Id="rId151" Type="http://schemas.openxmlformats.org/officeDocument/2006/relationships/slide" Target="slides/slide149.xml"/><Relationship Id="rId150" Type="http://schemas.openxmlformats.org/officeDocument/2006/relationships/slide" Target="slides/slide148.xml"/><Relationship Id="rId15" Type="http://schemas.openxmlformats.org/officeDocument/2006/relationships/slide" Target="slides/slide13.xml"/><Relationship Id="rId149" Type="http://schemas.openxmlformats.org/officeDocument/2006/relationships/slide" Target="slides/slide147.xml"/><Relationship Id="rId148" Type="http://schemas.openxmlformats.org/officeDocument/2006/relationships/slide" Target="slides/slide146.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activeX/activeX4.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4.wmf"/><Relationship Id="rId1" Type="http://schemas.openxmlformats.org/officeDocument/2006/relationships/image" Target="../media/image43.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2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31.wmf"/><Relationship Id="rId1" Type="http://schemas.openxmlformats.org/officeDocument/2006/relationships/image" Target="../media/image4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image" Target="../media/image5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59.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png"/><Relationship Id="rId1" Type="http://schemas.openxmlformats.org/officeDocument/2006/relationships/image" Target="../media/image81.w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87.wmf"/><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drawings/_rels/vmlDrawing36.vml.rels><?xml version="1.0" encoding="UTF-8" standalone="yes"?>
<Relationships xmlns="http://schemas.openxmlformats.org/package/2006/relationships"><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101.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4.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image" Target="../media/image107.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2.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23.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32.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image" Target="../media/image138.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40.w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142.wmf"/><Relationship Id="rId1" Type="http://schemas.openxmlformats.org/officeDocument/2006/relationships/image" Target="../media/image141.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drawings/_rels/vmlDrawing64.vml.rels><?xml version="1.0" encoding="UTF-8" standalone="yes"?>
<Relationships xmlns="http://schemas.openxmlformats.org/package/2006/relationships"><Relationship Id="rId2" Type="http://schemas.openxmlformats.org/officeDocument/2006/relationships/image" Target="../media/image147.wmf"/><Relationship Id="rId1" Type="http://schemas.openxmlformats.org/officeDocument/2006/relationships/image" Target="../media/image146.wmf"/></Relationships>
</file>

<file path=ppt/drawings/_rels/vmlDrawing65.vml.rels><?xml version="1.0" encoding="UTF-8" standalone="yes"?>
<Relationships xmlns="http://schemas.openxmlformats.org/package/2006/relationships"><Relationship Id="rId5" Type="http://schemas.openxmlformats.org/officeDocument/2006/relationships/image" Target="../media/image152.wmf"/><Relationship Id="rId4" Type="http://schemas.openxmlformats.org/officeDocument/2006/relationships/image" Target="../media/image151.wmf"/><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153.wmf"/></Relationships>
</file>

<file path=ppt/drawings/_rels/vmlDrawing67.vml.rels><?xml version="1.0" encoding="UTF-8" standalone="yes"?>
<Relationships xmlns="http://schemas.openxmlformats.org/package/2006/relationships"><Relationship Id="rId2" Type="http://schemas.openxmlformats.org/officeDocument/2006/relationships/image" Target="../media/image156.wmf"/><Relationship Id="rId1" Type="http://schemas.openxmlformats.org/officeDocument/2006/relationships/image" Target="../media/image155.wmf"/></Relationships>
</file>

<file path=ppt/drawings/_rels/vmlDrawing68.vml.rels><?xml version="1.0" encoding="UTF-8" standalone="yes"?>
<Relationships xmlns="http://schemas.openxmlformats.org/package/2006/relationships"><Relationship Id="rId2" Type="http://schemas.openxmlformats.org/officeDocument/2006/relationships/image" Target="../media/image157.wmf"/><Relationship Id="rId1" Type="http://schemas.openxmlformats.org/officeDocument/2006/relationships/image" Target="../media/image136.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158.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162.w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163.wmf"/></Relationships>
</file>

<file path=ppt/drawings/_rels/vmlDrawing73.vml.rels><?xml version="1.0" encoding="UTF-8" standalone="yes"?>
<Relationships xmlns="http://schemas.openxmlformats.org/package/2006/relationships"><Relationship Id="rId2" Type="http://schemas.openxmlformats.org/officeDocument/2006/relationships/image" Target="../media/image165.wmf"/><Relationship Id="rId1" Type="http://schemas.openxmlformats.org/officeDocument/2006/relationships/image" Target="../media/image164.wmf"/></Relationships>
</file>

<file path=ppt/drawings/_rels/vmlDrawing74.vml.rels><?xml version="1.0" encoding="UTF-8" standalone="yes"?>
<Relationships xmlns="http://schemas.openxmlformats.org/package/2006/relationships"><Relationship Id="rId2" Type="http://schemas.openxmlformats.org/officeDocument/2006/relationships/image" Target="../media/image167.wmf"/><Relationship Id="rId1" Type="http://schemas.openxmlformats.org/officeDocument/2006/relationships/image" Target="../media/image166.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image" Target="../media/image159.wmf"/><Relationship Id="rId1" Type="http://schemas.openxmlformats.org/officeDocument/2006/relationships/image" Target="../media/image168.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175.wmf"/></Relationships>
</file>

<file path=ppt/drawings/_rels/vmlDrawing78.vml.rels><?xml version="1.0" encoding="UTF-8" standalone="yes"?>
<Relationships xmlns="http://schemas.openxmlformats.org/package/2006/relationships"><Relationship Id="rId2" Type="http://schemas.openxmlformats.org/officeDocument/2006/relationships/image" Target="../media/image177.wmf"/><Relationship Id="rId1" Type="http://schemas.openxmlformats.org/officeDocument/2006/relationships/image" Target="../media/image176.wmf"/></Relationships>
</file>

<file path=ppt/drawings/_rels/vmlDrawing79.vml.rels><?xml version="1.0" encoding="UTF-8" standalone="yes"?>
<Relationships xmlns="http://schemas.openxmlformats.org/package/2006/relationships"><Relationship Id="rId2" Type="http://schemas.openxmlformats.org/officeDocument/2006/relationships/image" Target="../media/image179.wmf"/><Relationship Id="rId1" Type="http://schemas.openxmlformats.org/officeDocument/2006/relationships/image" Target="../media/image178.wmf"/></Relationships>
</file>

<file path=ppt/drawings/_rels/vmlDrawing80.vml.rels><?xml version="1.0" encoding="UTF-8" standalone="yes"?>
<Relationships xmlns="http://schemas.openxmlformats.org/package/2006/relationships"><Relationship Id="rId2" Type="http://schemas.openxmlformats.org/officeDocument/2006/relationships/image" Target="../media/image181.wmf"/><Relationship Id="rId1" Type="http://schemas.openxmlformats.org/officeDocument/2006/relationships/image" Target="../media/image180.w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82.v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image" Target="../media/image184.wmf"/><Relationship Id="rId1" Type="http://schemas.openxmlformats.org/officeDocument/2006/relationships/image" Target="../media/image183.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drawings/_rels/vmlDrawing84.vml.rels><?xml version="1.0" encoding="UTF-8" standalone="yes"?>
<Relationships xmlns="http://schemas.openxmlformats.org/package/2006/relationships"><Relationship Id="rId2" Type="http://schemas.openxmlformats.org/officeDocument/2006/relationships/image" Target="../media/image190.wmf"/><Relationship Id="rId1" Type="http://schemas.openxmlformats.org/officeDocument/2006/relationships/image" Target="../media/image189.png"/></Relationships>
</file>

<file path=ppt/drawings/_rels/vmlDrawing85.vml.rels><?xml version="1.0" encoding="UTF-8" standalone="yes"?>
<Relationships xmlns="http://schemas.openxmlformats.org/package/2006/relationships"><Relationship Id="rId3" Type="http://schemas.openxmlformats.org/officeDocument/2006/relationships/image" Target="../media/image194.wmf"/><Relationship Id="rId2" Type="http://schemas.openxmlformats.org/officeDocument/2006/relationships/image" Target="../media/image192.wmf"/><Relationship Id="rId1" Type="http://schemas.openxmlformats.org/officeDocument/2006/relationships/image" Target="../media/image182.w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195.png"/></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197.wmf"/><Relationship Id="rId1" Type="http://schemas.openxmlformats.org/officeDocument/2006/relationships/image" Target="../media/image196.wmf"/></Relationships>
</file>

<file path=ppt/drawings/_rels/vmlDrawing88.vml.rels><?xml version="1.0" encoding="UTF-8" standalone="yes"?>
<Relationships xmlns="http://schemas.openxmlformats.org/package/2006/relationships"><Relationship Id="rId2" Type="http://schemas.openxmlformats.org/officeDocument/2006/relationships/image" Target="../media/image199.wmf"/><Relationship Id="rId1" Type="http://schemas.openxmlformats.org/officeDocument/2006/relationships/image" Target="../media/image198.w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00.w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02.w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03.wmf"/></Relationships>
</file>

<file path=ppt/drawings/_rels/vmlDrawing92.vml.rels><?xml version="1.0" encoding="UTF-8" standalone="yes"?>
<Relationships xmlns="http://schemas.openxmlformats.org/package/2006/relationships"><Relationship Id="rId2" Type="http://schemas.openxmlformats.org/officeDocument/2006/relationships/image" Target="../media/image205.wmf"/><Relationship Id="rId1" Type="http://schemas.openxmlformats.org/officeDocument/2006/relationships/image" Target="../media/image204.w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206.w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207.w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208.wmf"/></Relationships>
</file>

<file path=ppt/drawings/_rels/vmlDrawing96.vml.rels><?xml version="1.0" encoding="UTF-8" standalone="yes"?>
<Relationships xmlns="http://schemas.openxmlformats.org/package/2006/relationships"><Relationship Id="rId2" Type="http://schemas.openxmlformats.org/officeDocument/2006/relationships/image" Target="../media/image210.wmf"/><Relationship Id="rId1" Type="http://schemas.openxmlformats.org/officeDocument/2006/relationships/image" Target="../media/image209.w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212.w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213.wmf"/></Relationships>
</file>

<file path=ppt/drawings/_rels/vmlDrawing99.vml.rels><?xml version="1.0" encoding="UTF-8" standalone="yes"?>
<Relationships xmlns="http://schemas.openxmlformats.org/package/2006/relationships"><Relationship Id="rId9" Type="http://schemas.openxmlformats.org/officeDocument/2006/relationships/image" Target="../media/image224.wmf"/><Relationship Id="rId8" Type="http://schemas.openxmlformats.org/officeDocument/2006/relationships/image" Target="../media/image223.wmf"/><Relationship Id="rId7" Type="http://schemas.openxmlformats.org/officeDocument/2006/relationships/image" Target="../media/image222.wmf"/><Relationship Id="rId6" Type="http://schemas.openxmlformats.org/officeDocument/2006/relationships/image" Target="../media/image221.wmf"/><Relationship Id="rId5" Type="http://schemas.openxmlformats.org/officeDocument/2006/relationships/image" Target="../media/image220.wmf"/><Relationship Id="rId4" Type="http://schemas.openxmlformats.org/officeDocument/2006/relationships/image" Target="../media/image219.wmf"/><Relationship Id="rId3" Type="http://schemas.openxmlformats.org/officeDocument/2006/relationships/image" Target="../media/image218.wmf"/><Relationship Id="rId2" Type="http://schemas.openxmlformats.org/officeDocument/2006/relationships/image" Target="../media/image217.wmf"/><Relationship Id="rId10" Type="http://schemas.openxmlformats.org/officeDocument/2006/relationships/image" Target="../media/image225.wmf"/><Relationship Id="rId1" Type="http://schemas.openxmlformats.org/officeDocument/2006/relationships/image" Target="../media/image216.wmf"/></Relationships>
</file>

<file path=ppt/drawings/_rels/vmlDrawing100.vml.rels><?xml version="1.0" encoding="UTF-8" standalone="yes"?>
<Relationships xmlns="http://schemas.openxmlformats.org/package/2006/relationships"><Relationship Id="rId3" Type="http://schemas.openxmlformats.org/officeDocument/2006/relationships/image" Target="../media/image228.wmf"/><Relationship Id="rId2" Type="http://schemas.openxmlformats.org/officeDocument/2006/relationships/image" Target="../media/image227.wmf"/><Relationship Id="rId1" Type="http://schemas.openxmlformats.org/officeDocument/2006/relationships/image" Target="../media/image226.wmf"/></Relationships>
</file>

<file path=ppt/drawings/_rels/vmlDrawing101.vml.rels><?xml version="1.0" encoding="UTF-8" standalone="yes"?>
<Relationships xmlns="http://schemas.openxmlformats.org/package/2006/relationships"><Relationship Id="rId9" Type="http://schemas.openxmlformats.org/officeDocument/2006/relationships/image" Target="../media/image239.wmf"/><Relationship Id="rId8" Type="http://schemas.openxmlformats.org/officeDocument/2006/relationships/image" Target="../media/image238.wmf"/><Relationship Id="rId7" Type="http://schemas.openxmlformats.org/officeDocument/2006/relationships/image" Target="../media/image237.wmf"/><Relationship Id="rId6" Type="http://schemas.openxmlformats.org/officeDocument/2006/relationships/image" Target="../media/image236.wmf"/><Relationship Id="rId5" Type="http://schemas.openxmlformats.org/officeDocument/2006/relationships/image" Target="../media/image235.wmf"/><Relationship Id="rId4" Type="http://schemas.openxmlformats.org/officeDocument/2006/relationships/image" Target="../media/image234.wmf"/><Relationship Id="rId3" Type="http://schemas.openxmlformats.org/officeDocument/2006/relationships/image" Target="../media/image233.wmf"/><Relationship Id="rId2" Type="http://schemas.openxmlformats.org/officeDocument/2006/relationships/image" Target="../media/image232.wmf"/><Relationship Id="rId12" Type="http://schemas.openxmlformats.org/officeDocument/2006/relationships/image" Target="../media/image242.wmf"/><Relationship Id="rId11" Type="http://schemas.openxmlformats.org/officeDocument/2006/relationships/image" Target="../media/image241.wmf"/><Relationship Id="rId10" Type="http://schemas.openxmlformats.org/officeDocument/2006/relationships/image" Target="../media/image240.wmf"/><Relationship Id="rId1" Type="http://schemas.openxmlformats.org/officeDocument/2006/relationships/image" Target="../media/image231.wmf"/></Relationships>
</file>

<file path=ppt/drawings/_rels/vmlDrawing102.vml.rels><?xml version="1.0" encoding="UTF-8" standalone="yes"?>
<Relationships xmlns="http://schemas.openxmlformats.org/package/2006/relationships"><Relationship Id="rId9" Type="http://schemas.openxmlformats.org/officeDocument/2006/relationships/image" Target="../media/image251.wmf"/><Relationship Id="rId8" Type="http://schemas.openxmlformats.org/officeDocument/2006/relationships/image" Target="../media/image250.wmf"/><Relationship Id="rId7" Type="http://schemas.openxmlformats.org/officeDocument/2006/relationships/image" Target="../media/image249.wmf"/><Relationship Id="rId6" Type="http://schemas.openxmlformats.org/officeDocument/2006/relationships/image" Target="../media/image248.wmf"/><Relationship Id="rId5" Type="http://schemas.openxmlformats.org/officeDocument/2006/relationships/image" Target="../media/image247.wmf"/><Relationship Id="rId4" Type="http://schemas.openxmlformats.org/officeDocument/2006/relationships/image" Target="../media/image246.wmf"/><Relationship Id="rId3" Type="http://schemas.openxmlformats.org/officeDocument/2006/relationships/image" Target="../media/image245.wmf"/><Relationship Id="rId2" Type="http://schemas.openxmlformats.org/officeDocument/2006/relationships/image" Target="../media/image244.wmf"/><Relationship Id="rId10" Type="http://schemas.openxmlformats.org/officeDocument/2006/relationships/image" Target="../media/image252.wmf"/><Relationship Id="rId1" Type="http://schemas.openxmlformats.org/officeDocument/2006/relationships/image" Target="../media/image243.wmf"/></Relationships>
</file>

<file path=ppt/drawings/_rels/vmlDrawing103.vml.rels><?xml version="1.0" encoding="UTF-8" standalone="yes"?>
<Relationships xmlns="http://schemas.openxmlformats.org/package/2006/relationships"><Relationship Id="rId9" Type="http://schemas.openxmlformats.org/officeDocument/2006/relationships/image" Target="../media/image261.wmf"/><Relationship Id="rId8" Type="http://schemas.openxmlformats.org/officeDocument/2006/relationships/image" Target="../media/image260.wmf"/><Relationship Id="rId7" Type="http://schemas.openxmlformats.org/officeDocument/2006/relationships/image" Target="../media/image259.wmf"/><Relationship Id="rId6" Type="http://schemas.openxmlformats.org/officeDocument/2006/relationships/image" Target="../media/image258.wmf"/><Relationship Id="rId5" Type="http://schemas.openxmlformats.org/officeDocument/2006/relationships/image" Target="../media/image257.wmf"/><Relationship Id="rId4" Type="http://schemas.openxmlformats.org/officeDocument/2006/relationships/image" Target="../media/image256.wmf"/><Relationship Id="rId3" Type="http://schemas.openxmlformats.org/officeDocument/2006/relationships/image" Target="../media/image255.wmf"/><Relationship Id="rId2" Type="http://schemas.openxmlformats.org/officeDocument/2006/relationships/image" Target="../media/image254.wmf"/><Relationship Id="rId10" Type="http://schemas.openxmlformats.org/officeDocument/2006/relationships/image" Target="../media/image262.wmf"/><Relationship Id="rId1" Type="http://schemas.openxmlformats.org/officeDocument/2006/relationships/image" Target="../media/image253.wmf"/></Relationships>
</file>

<file path=ppt/drawings/_rels/vmlDrawing104.vml.rels><?xml version="1.0" encoding="UTF-8" standalone="yes"?>
<Relationships xmlns="http://schemas.openxmlformats.org/package/2006/relationships"><Relationship Id="rId9" Type="http://schemas.openxmlformats.org/officeDocument/2006/relationships/image" Target="../media/image268.wmf"/><Relationship Id="rId8" Type="http://schemas.openxmlformats.org/officeDocument/2006/relationships/image" Target="../media/image267.wmf"/><Relationship Id="rId7" Type="http://schemas.openxmlformats.org/officeDocument/2006/relationships/image" Target="../media/image266.wmf"/><Relationship Id="rId6" Type="http://schemas.openxmlformats.org/officeDocument/2006/relationships/image" Target="../media/image265.wmf"/><Relationship Id="rId5" Type="http://schemas.openxmlformats.org/officeDocument/2006/relationships/image" Target="../media/image247.wmf"/><Relationship Id="rId4" Type="http://schemas.openxmlformats.org/officeDocument/2006/relationships/image" Target="../media/image245.wmf"/><Relationship Id="rId3" Type="http://schemas.openxmlformats.org/officeDocument/2006/relationships/image" Target="../media/image244.wmf"/><Relationship Id="rId2" Type="http://schemas.openxmlformats.org/officeDocument/2006/relationships/image" Target="../media/image264.wmf"/><Relationship Id="rId12" Type="http://schemas.openxmlformats.org/officeDocument/2006/relationships/image" Target="../media/image271.wmf"/><Relationship Id="rId11" Type="http://schemas.openxmlformats.org/officeDocument/2006/relationships/image" Target="../media/image270.wmf"/><Relationship Id="rId10" Type="http://schemas.openxmlformats.org/officeDocument/2006/relationships/image" Target="../media/image269.wmf"/><Relationship Id="rId1" Type="http://schemas.openxmlformats.org/officeDocument/2006/relationships/image" Target="../media/image263.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716657"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dir="in"/>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jpeg"/><Relationship Id="rId14" Type="http://schemas.openxmlformats.org/officeDocument/2006/relationships/image" Target="../media/image3.jpeg"/><Relationship Id="rId13" Type="http://schemas.openxmlformats.org/officeDocument/2006/relationships/image" Target="../media/image2.GIF"/><Relationship Id="rId12" Type="http://schemas.openxmlformats.org/officeDocument/2006/relationships/image" Target="../media/image1.GIF"/><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1026"/>
          <p:cNvSpPr>
            <a:spLocks noGrp="1"/>
          </p:cNvSpPr>
          <p:nvPr>
            <p:ph type="body"/>
          </p:nvPr>
        </p:nvSpPr>
        <p:spPr>
          <a:xfrm>
            <a:off x="685800" y="1981200"/>
            <a:ext cx="7772400" cy="4114800"/>
          </a:xfrm>
          <a:prstGeom prst="rect">
            <a:avLst/>
          </a:prstGeom>
          <a:noFill/>
          <a:ln w="9525">
            <a:noFill/>
          </a:ln>
        </p:spPr>
        <p:txBody>
          <a:bodyPr anchor="t"/>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eaLnBrk="1" hangingPunct="1">
              <a:defRPr sz="14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eaLnBrk="1" hangingPunct="1">
              <a:defRPr sz="1400" noProof="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eaLnBrk="1" hangingPunct="1">
              <a:defRPr sz="1400"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D30CF0B9-280D-49CA-8A06-9F79DFCBE628}" type="slidenum">
              <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031" name="图片 1030" descr="GIF-388"/>
          <p:cNvPicPr>
            <a:picLocks noChangeAspect="1"/>
          </p:cNvPicPr>
          <p:nvPr userDrawn="1"/>
        </p:nvPicPr>
        <p:blipFill>
          <a:blip r:embed="rId12"/>
          <a:stretch>
            <a:fillRect/>
          </a:stretch>
        </p:blipFill>
        <p:spPr>
          <a:xfrm>
            <a:off x="0" y="76200"/>
            <a:ext cx="381000" cy="381000"/>
          </a:xfrm>
          <a:prstGeom prst="rect">
            <a:avLst/>
          </a:prstGeom>
          <a:noFill/>
          <a:ln w="9525">
            <a:noFill/>
          </a:ln>
        </p:spPr>
      </p:pic>
      <p:pic>
        <p:nvPicPr>
          <p:cNvPr id="1032" name="图片 1031" descr="GIF-396"/>
          <p:cNvPicPr>
            <a:picLocks noChangeAspect="1"/>
          </p:cNvPicPr>
          <p:nvPr userDrawn="1"/>
        </p:nvPicPr>
        <p:blipFill>
          <a:blip r:embed="rId13"/>
          <a:stretch>
            <a:fillRect/>
          </a:stretch>
        </p:blipFill>
        <p:spPr>
          <a:xfrm>
            <a:off x="0" y="381000"/>
            <a:ext cx="4572000" cy="76200"/>
          </a:xfrm>
          <a:prstGeom prst="rect">
            <a:avLst/>
          </a:prstGeom>
          <a:noFill/>
          <a:ln w="9525">
            <a:noFill/>
          </a:ln>
        </p:spPr>
      </p:pic>
      <p:pic>
        <p:nvPicPr>
          <p:cNvPr id="1033" name="图片 1032" descr="BJ2047"/>
          <p:cNvPicPr>
            <a:picLocks noChangeAspect="1"/>
          </p:cNvPicPr>
          <p:nvPr userDrawn="1"/>
        </p:nvPicPr>
        <p:blipFill>
          <a:blip r:embed="rId14"/>
          <a:stretch>
            <a:fillRect/>
          </a:stretch>
        </p:blipFill>
        <p:spPr>
          <a:xfrm>
            <a:off x="0" y="6096000"/>
            <a:ext cx="9144000" cy="762000"/>
          </a:xfrm>
          <a:prstGeom prst="rect">
            <a:avLst/>
          </a:prstGeom>
          <a:noFill/>
          <a:ln w="9525">
            <a:noFill/>
          </a:ln>
        </p:spPr>
      </p:pic>
      <p:pic>
        <p:nvPicPr>
          <p:cNvPr id="1034" name="图片 1033" descr="BJ2108"/>
          <p:cNvPicPr>
            <a:picLocks noChangeAspect="1"/>
          </p:cNvPicPr>
          <p:nvPr userDrawn="1"/>
        </p:nvPicPr>
        <p:blipFill>
          <a:blip r:embed="rId15"/>
          <a:stretch>
            <a:fillRect/>
          </a:stretch>
        </p:blipFill>
        <p:spPr>
          <a:xfrm>
            <a:off x="8153400" y="0"/>
            <a:ext cx="990600" cy="742950"/>
          </a:xfrm>
          <a:prstGeom prst="rect">
            <a:avLst/>
          </a:prstGeom>
          <a:noFill/>
          <a:ln w="9525">
            <a:noFill/>
          </a:ln>
        </p:spPr>
      </p:pic>
      <p:sp>
        <p:nvSpPr>
          <p:cNvPr id="1035" name="文本框 1034"/>
          <p:cNvSpPr txBox="1">
            <a:spLocks noChangeArrowheads="1"/>
          </p:cNvSpPr>
          <p:nvPr/>
        </p:nvSpPr>
        <p:spPr bwMode="auto">
          <a:xfrm>
            <a:off x="617538" y="30163"/>
            <a:ext cx="3813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sym typeface="+mn-ea"/>
              </a:rPr>
              <a:t>第</a:t>
            </a:r>
            <a:r>
              <a:rPr kumimoji="0" lang="en-US" altLang="zh-CN" sz="2400" b="0"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sym typeface="+mn-ea"/>
              </a:rPr>
              <a:t>6</a:t>
            </a:r>
            <a:r>
              <a:rPr kumimoji="0" lang="zh-CN" altLang="en-US" sz="2400" b="0"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sym typeface="+mn-ea"/>
              </a:rPr>
              <a:t>章 有限长单位脉冲响应 </a:t>
            </a:r>
            <a:endParaRPr kumimoji="0" lang="zh-CN" altLang="en-US" sz="2400" b="0"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zoom dir="in"/>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143.xml"/><Relationship Id="rId5" Type="http://schemas.openxmlformats.org/officeDocument/2006/relationships/slide" Target="slide138.xml"/><Relationship Id="rId4" Type="http://schemas.openxmlformats.org/officeDocument/2006/relationships/slide" Target="slide124.xml"/><Relationship Id="rId3" Type="http://schemas.openxmlformats.org/officeDocument/2006/relationships/slide" Target="slide97.xml"/><Relationship Id="rId2" Type="http://schemas.openxmlformats.org/officeDocument/2006/relationships/slide" Target="slide43.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4.bin"/><Relationship Id="rId2" Type="http://schemas.openxmlformats.org/officeDocument/2006/relationships/image" Target="../media/image7.wmf"/><Relationship Id="rId1"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10.wmf"/><Relationship Id="rId3" Type="http://schemas.openxmlformats.org/officeDocument/2006/relationships/oleObject" Target="../embeddings/oleObject6.bin"/><Relationship Id="rId2" Type="http://schemas.openxmlformats.org/officeDocument/2006/relationships/image" Target="../media/image9.wmf"/><Relationship Id="rId1"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7.xml"/><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image" Target="../media/image12.jpeg"/></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18.wmf"/><Relationship Id="rId3" Type="http://schemas.openxmlformats.org/officeDocument/2006/relationships/oleObject" Target="../embeddings/oleObject13.bin"/><Relationship Id="rId2" Type="http://schemas.openxmlformats.org/officeDocument/2006/relationships/image" Target="../media/image17.wmf"/><Relationship Id="rId1"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7.xml"/><Relationship Id="rId3" Type="http://schemas.openxmlformats.org/officeDocument/2006/relationships/image" Target="../media/image20.wmf"/><Relationship Id="rId2" Type="http://schemas.openxmlformats.org/officeDocument/2006/relationships/oleObject" Target="../embeddings/oleObject14.bin"/><Relationship Id="rId1" Type="http://schemas.openxmlformats.org/officeDocument/2006/relationships/image" Target="../media/image19.jpeg"/></Relationships>
</file>

<file path=ppt/slides/_rels/slide14.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oleObject" Target="../embeddings/oleObject17.bin"/><Relationship Id="rId4" Type="http://schemas.openxmlformats.org/officeDocument/2006/relationships/image" Target="../media/image22.wmf"/><Relationship Id="rId3" Type="http://schemas.openxmlformats.org/officeDocument/2006/relationships/oleObject" Target="../embeddings/oleObject16.bin"/><Relationship Id="rId2" Type="http://schemas.openxmlformats.org/officeDocument/2006/relationships/image" Target="../media/image21.wmf"/><Relationship Id="rId1"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20.bin"/><Relationship Id="rId4" Type="http://schemas.openxmlformats.org/officeDocument/2006/relationships/image" Target="../media/image25.wmf"/><Relationship Id="rId3" Type="http://schemas.openxmlformats.org/officeDocument/2006/relationships/oleObject" Target="../embeddings/oleObject19.bin"/><Relationship Id="rId2" Type="http://schemas.openxmlformats.org/officeDocument/2006/relationships/image" Target="../media/image24.wmf"/><Relationship Id="rId1" Type="http://schemas.openxmlformats.org/officeDocument/2006/relationships/oleObject" Target="../embeddings/oleObject18.bin"/></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oleObject" Target="../embeddings/oleObject23.bin"/><Relationship Id="rId4" Type="http://schemas.openxmlformats.org/officeDocument/2006/relationships/image" Target="../media/image28.wmf"/><Relationship Id="rId3" Type="http://schemas.openxmlformats.org/officeDocument/2006/relationships/oleObject" Target="../embeddings/oleObject22.bin"/><Relationship Id="rId2" Type="http://schemas.openxmlformats.org/officeDocument/2006/relationships/image" Target="../media/image27.wmf"/><Relationship Id="rId1" Type="http://schemas.openxmlformats.org/officeDocument/2006/relationships/oleObject" Target="../embeddings/oleObject21.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33.wmf"/><Relationship Id="rId7" Type="http://schemas.openxmlformats.org/officeDocument/2006/relationships/oleObject" Target="../embeddings/oleObject27.bin"/><Relationship Id="rId6" Type="http://schemas.openxmlformats.org/officeDocument/2006/relationships/image" Target="../media/image32.wmf"/><Relationship Id="rId5" Type="http://schemas.openxmlformats.org/officeDocument/2006/relationships/oleObject" Target="../embeddings/oleObject26.bin"/><Relationship Id="rId4" Type="http://schemas.openxmlformats.org/officeDocument/2006/relationships/image" Target="../media/image31.wmf"/><Relationship Id="rId3" Type="http://schemas.openxmlformats.org/officeDocument/2006/relationships/oleObject" Target="../embeddings/oleObject25.bin"/><Relationship Id="rId2" Type="http://schemas.openxmlformats.org/officeDocument/2006/relationships/image" Target="../media/image30.wmf"/><Relationship Id="rId14" Type="http://schemas.openxmlformats.org/officeDocument/2006/relationships/vmlDrawing" Target="../drawings/vmlDrawing14.vml"/><Relationship Id="rId13" Type="http://schemas.openxmlformats.org/officeDocument/2006/relationships/slideLayout" Target="../slideLayouts/slideLayout7.xml"/><Relationship Id="rId12" Type="http://schemas.openxmlformats.org/officeDocument/2006/relationships/image" Target="../media/image35.wmf"/><Relationship Id="rId11" Type="http://schemas.openxmlformats.org/officeDocument/2006/relationships/oleObject" Target="../embeddings/oleObject29.bin"/><Relationship Id="rId10" Type="http://schemas.openxmlformats.org/officeDocument/2006/relationships/image" Target="../media/image34.wmf"/><Relationship Id="rId1" Type="http://schemas.openxmlformats.org/officeDocument/2006/relationships/oleObject" Target="../embeddings/oleObject24.bin"/></Relationships>
</file>

<file path=ppt/slides/_rels/slide18.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7.xml"/><Relationship Id="rId6" Type="http://schemas.openxmlformats.org/officeDocument/2006/relationships/image" Target="../media/image38.wmf"/><Relationship Id="rId5" Type="http://schemas.openxmlformats.org/officeDocument/2006/relationships/oleObject" Target="../embeddings/oleObject32.bin"/><Relationship Id="rId4" Type="http://schemas.openxmlformats.org/officeDocument/2006/relationships/image" Target="../media/image37.wmf"/><Relationship Id="rId3" Type="http://schemas.openxmlformats.org/officeDocument/2006/relationships/oleObject" Target="../embeddings/oleObject31.bin"/><Relationship Id="rId2" Type="http://schemas.openxmlformats.org/officeDocument/2006/relationships/image" Target="../media/image36.wmf"/><Relationship Id="rId1"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2.wmf"/><Relationship Id="rId7" Type="http://schemas.openxmlformats.org/officeDocument/2006/relationships/oleObject" Target="../embeddings/oleObject36.bin"/><Relationship Id="rId6" Type="http://schemas.openxmlformats.org/officeDocument/2006/relationships/image" Target="../media/image41.wmf"/><Relationship Id="rId5" Type="http://schemas.openxmlformats.org/officeDocument/2006/relationships/oleObject" Target="../embeddings/oleObject35.bin"/><Relationship Id="rId4" Type="http://schemas.openxmlformats.org/officeDocument/2006/relationships/image" Target="../media/image40.wmf"/><Relationship Id="rId3" Type="http://schemas.openxmlformats.org/officeDocument/2006/relationships/oleObject" Target="../embeddings/oleObject34.bin"/><Relationship Id="rId2" Type="http://schemas.openxmlformats.org/officeDocument/2006/relationships/image" Target="../media/image39.wmf"/><Relationship Id="rId10" Type="http://schemas.openxmlformats.org/officeDocument/2006/relationships/vmlDrawing" Target="../drawings/vmlDrawing16.vml"/><Relationship Id="rId1" Type="http://schemas.openxmlformats.org/officeDocument/2006/relationships/oleObject" Target="../embeddings/oleObject33.bin"/></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7.xml"/><Relationship Id="rId6" Type="http://schemas.openxmlformats.org/officeDocument/2006/relationships/image" Target="../media/image42.wmf"/><Relationship Id="rId5" Type="http://schemas.openxmlformats.org/officeDocument/2006/relationships/oleObject" Target="../embeddings/oleObject39.bin"/><Relationship Id="rId4" Type="http://schemas.openxmlformats.org/officeDocument/2006/relationships/image" Target="../media/image44.wmf"/><Relationship Id="rId3" Type="http://schemas.openxmlformats.org/officeDocument/2006/relationships/oleObject" Target="../embeddings/oleObject38.bin"/><Relationship Id="rId2" Type="http://schemas.openxmlformats.org/officeDocument/2006/relationships/image" Target="../media/image43.wmf"/><Relationship Id="rId1" Type="http://schemas.openxmlformats.org/officeDocument/2006/relationships/oleObject" Target="../embeddings/oleObject37.bin"/></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7.wmf"/><Relationship Id="rId7" Type="http://schemas.openxmlformats.org/officeDocument/2006/relationships/oleObject" Target="../embeddings/oleObject43.bin"/><Relationship Id="rId6" Type="http://schemas.openxmlformats.org/officeDocument/2006/relationships/image" Target="../media/image46.wmf"/><Relationship Id="rId5" Type="http://schemas.openxmlformats.org/officeDocument/2006/relationships/oleObject" Target="../embeddings/oleObject42.bin"/><Relationship Id="rId4" Type="http://schemas.openxmlformats.org/officeDocument/2006/relationships/image" Target="../media/image45.wmf"/><Relationship Id="rId3" Type="http://schemas.openxmlformats.org/officeDocument/2006/relationships/oleObject" Target="../embeddings/oleObject41.bin"/><Relationship Id="rId2" Type="http://schemas.openxmlformats.org/officeDocument/2006/relationships/image" Target="../media/image25.wmf"/><Relationship Id="rId10" Type="http://schemas.openxmlformats.org/officeDocument/2006/relationships/vmlDrawing" Target="../drawings/vmlDrawing18.vml"/><Relationship Id="rId1" Type="http://schemas.openxmlformats.org/officeDocument/2006/relationships/oleObject" Target="../embeddings/oleObject40.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19.vml"/><Relationship Id="rId7" Type="http://schemas.openxmlformats.org/officeDocument/2006/relationships/slideLayout" Target="../slideLayouts/slideLayout7.xml"/><Relationship Id="rId6" Type="http://schemas.openxmlformats.org/officeDocument/2006/relationships/image" Target="../media/image49.wmf"/><Relationship Id="rId5" Type="http://schemas.openxmlformats.org/officeDocument/2006/relationships/oleObject" Target="../embeddings/oleObject46.bin"/><Relationship Id="rId4" Type="http://schemas.openxmlformats.org/officeDocument/2006/relationships/image" Target="../media/image31.wmf"/><Relationship Id="rId3" Type="http://schemas.openxmlformats.org/officeDocument/2006/relationships/oleObject" Target="../embeddings/oleObject45.bin"/><Relationship Id="rId2" Type="http://schemas.openxmlformats.org/officeDocument/2006/relationships/image" Target="../media/image48.wmf"/><Relationship Id="rId1" Type="http://schemas.openxmlformats.org/officeDocument/2006/relationships/oleObject" Target="../embeddings/oleObject44.bin"/></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52.wmf"/><Relationship Id="rId5" Type="http://schemas.openxmlformats.org/officeDocument/2006/relationships/oleObject" Target="../embeddings/oleObject49.bin"/><Relationship Id="rId4" Type="http://schemas.openxmlformats.org/officeDocument/2006/relationships/image" Target="../media/image51.wmf"/><Relationship Id="rId3" Type="http://schemas.openxmlformats.org/officeDocument/2006/relationships/oleObject" Target="../embeddings/oleObject48.bin"/><Relationship Id="rId2" Type="http://schemas.openxmlformats.org/officeDocument/2006/relationships/image" Target="../media/image50.wmf"/><Relationship Id="rId1" Type="http://schemas.openxmlformats.org/officeDocument/2006/relationships/oleObject" Target="../embeddings/oleObject47.bin"/></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21.vml"/><Relationship Id="rId5" Type="http://schemas.openxmlformats.org/officeDocument/2006/relationships/slideLayout" Target="../slideLayouts/slideLayout7.xml"/><Relationship Id="rId4" Type="http://schemas.openxmlformats.org/officeDocument/2006/relationships/image" Target="../media/image54.wmf"/><Relationship Id="rId3" Type="http://schemas.openxmlformats.org/officeDocument/2006/relationships/oleObject" Target="../embeddings/oleObject51.bin"/><Relationship Id="rId2" Type="http://schemas.openxmlformats.org/officeDocument/2006/relationships/image" Target="../media/image53.wmf"/><Relationship Id="rId1" Type="http://schemas.openxmlformats.org/officeDocument/2006/relationships/oleObject" Target="../embeddings/oleObject50.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55.png"/><Relationship Id="rId1" Type="http://schemas.openxmlformats.org/officeDocument/2006/relationships/oleObject" Target="../embeddings/oleObject52.bin"/></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7.xml"/><Relationship Id="rId4" Type="http://schemas.openxmlformats.org/officeDocument/2006/relationships/image" Target="../media/image57.png"/><Relationship Id="rId3" Type="http://schemas.openxmlformats.org/officeDocument/2006/relationships/oleObject" Target="../embeddings/oleObject54.bin"/><Relationship Id="rId2" Type="http://schemas.openxmlformats.org/officeDocument/2006/relationships/image" Target="../media/image56.wmf"/><Relationship Id="rId1" Type="http://schemas.openxmlformats.org/officeDocument/2006/relationships/oleObject" Target="../embeddings/oleObject53.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7.xml"/><Relationship Id="rId6" Type="http://schemas.openxmlformats.org/officeDocument/2006/relationships/image" Target="../media/image61.wmf"/><Relationship Id="rId5" Type="http://schemas.openxmlformats.org/officeDocument/2006/relationships/oleObject" Target="../embeddings/oleObject57.bin"/><Relationship Id="rId4" Type="http://schemas.openxmlformats.org/officeDocument/2006/relationships/image" Target="../media/image60.wmf"/><Relationship Id="rId3" Type="http://schemas.openxmlformats.org/officeDocument/2006/relationships/oleObject" Target="../embeddings/oleObject56.bin"/><Relationship Id="rId2" Type="http://schemas.openxmlformats.org/officeDocument/2006/relationships/image" Target="../media/image59.wmf"/><Relationship Id="rId1" Type="http://schemas.openxmlformats.org/officeDocument/2006/relationships/oleObject" Target="../embeddings/oleObject55.bin"/></Relationships>
</file>

<file path=ppt/slides/_rels/slide33.xml.rels><?xml version="1.0" encoding="UTF-8" standalone="yes"?>
<Relationships xmlns="http://schemas.openxmlformats.org/package/2006/relationships"><Relationship Id="rId5" Type="http://schemas.openxmlformats.org/officeDocument/2006/relationships/vmlDrawing" Target="../drawings/vmlDrawing25.vml"/><Relationship Id="rId4" Type="http://schemas.openxmlformats.org/officeDocument/2006/relationships/slideLayout" Target="../slideLayouts/slideLayout7.xml"/><Relationship Id="rId3" Type="http://schemas.openxmlformats.org/officeDocument/2006/relationships/image" Target="../media/image14.wmf"/><Relationship Id="rId2" Type="http://schemas.openxmlformats.org/officeDocument/2006/relationships/oleObject" Target="../embeddings/oleObject58.bin"/><Relationship Id="rId1" Type="http://schemas.openxmlformats.org/officeDocument/2006/relationships/image" Target="../media/image62.jpeg"/></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7.xml"/><Relationship Id="rId4" Type="http://schemas.openxmlformats.org/officeDocument/2006/relationships/image" Target="../media/image63.wmf"/><Relationship Id="rId3" Type="http://schemas.openxmlformats.org/officeDocument/2006/relationships/oleObject" Target="../embeddings/oleObject60.bin"/><Relationship Id="rId2" Type="http://schemas.openxmlformats.org/officeDocument/2006/relationships/image" Target="../media/image59.wmf"/><Relationship Id="rId1" Type="http://schemas.openxmlformats.org/officeDocument/2006/relationships/oleObject" Target="../embeddings/oleObject59.bin"/></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4.jpeg"/></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7.xml"/><Relationship Id="rId2" Type="http://schemas.openxmlformats.org/officeDocument/2006/relationships/image" Target="../media/image65.wmf"/><Relationship Id="rId1" Type="http://schemas.openxmlformats.org/officeDocument/2006/relationships/oleObject" Target="../embeddings/oleObject61.bin"/></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jpe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7.xml"/><Relationship Id="rId2" Type="http://schemas.openxmlformats.org/officeDocument/2006/relationships/image" Target="../media/image67.wmf"/><Relationship Id="rId1" Type="http://schemas.openxmlformats.org/officeDocument/2006/relationships/oleObject" Target="../embeddings/oleObject62.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jpe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7.xml"/><Relationship Id="rId4" Type="http://schemas.openxmlformats.org/officeDocument/2006/relationships/image" Target="../media/image73.wmf"/><Relationship Id="rId3" Type="http://schemas.openxmlformats.org/officeDocument/2006/relationships/oleObject" Target="../embeddings/oleObject64.bin"/><Relationship Id="rId2" Type="http://schemas.openxmlformats.org/officeDocument/2006/relationships/image" Target="../media/image72.wmf"/><Relationship Id="rId1" Type="http://schemas.openxmlformats.org/officeDocument/2006/relationships/oleObject" Target="../embeddings/oleObject63.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7.xml"/><Relationship Id="rId6" Type="http://schemas.openxmlformats.org/officeDocument/2006/relationships/image" Target="../media/image76.wmf"/><Relationship Id="rId5" Type="http://schemas.openxmlformats.org/officeDocument/2006/relationships/oleObject" Target="../embeddings/oleObject67.bin"/><Relationship Id="rId4" Type="http://schemas.openxmlformats.org/officeDocument/2006/relationships/image" Target="../media/image75.wmf"/><Relationship Id="rId3" Type="http://schemas.openxmlformats.org/officeDocument/2006/relationships/oleObject" Target="../embeddings/oleObject66.bin"/><Relationship Id="rId2" Type="http://schemas.openxmlformats.org/officeDocument/2006/relationships/image" Target="../media/image74.wmf"/><Relationship Id="rId1" Type="http://schemas.openxmlformats.org/officeDocument/2006/relationships/oleObject" Target="../embeddings/oleObject65.bin"/></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31.vml"/><Relationship Id="rId5" Type="http://schemas.openxmlformats.org/officeDocument/2006/relationships/slideLayout" Target="../slideLayouts/slideLayout7.xml"/><Relationship Id="rId4" Type="http://schemas.openxmlformats.org/officeDocument/2006/relationships/image" Target="../media/image78.wmf"/><Relationship Id="rId3" Type="http://schemas.openxmlformats.org/officeDocument/2006/relationships/oleObject" Target="../embeddings/oleObject69.bin"/><Relationship Id="rId2" Type="http://schemas.openxmlformats.org/officeDocument/2006/relationships/image" Target="../media/image77.wmf"/><Relationship Id="rId1" Type="http://schemas.openxmlformats.org/officeDocument/2006/relationships/oleObject" Target="../embeddings/oleObject68.bin"/></Relationships>
</file>

<file path=ppt/slides/_rels/slide44.xml.rels><?xml version="1.0" encoding="UTF-8" standalone="yes"?>
<Relationships xmlns="http://schemas.openxmlformats.org/package/2006/relationships"><Relationship Id="rId5" Type="http://schemas.openxmlformats.org/officeDocument/2006/relationships/vmlDrawing" Target="../drawings/vmlDrawing32.vml"/><Relationship Id="rId4" Type="http://schemas.openxmlformats.org/officeDocument/2006/relationships/slideLayout" Target="../slideLayouts/slideLayout7.xml"/><Relationship Id="rId3" Type="http://schemas.openxmlformats.org/officeDocument/2006/relationships/image" Target="../media/image80.png"/><Relationship Id="rId2" Type="http://schemas.openxmlformats.org/officeDocument/2006/relationships/image" Target="../media/image79.wmf"/><Relationship Id="rId1" Type="http://schemas.openxmlformats.org/officeDocument/2006/relationships/oleObject" Target="../embeddings/oleObject70.bin"/></Relationships>
</file>

<file path=ppt/slides/_rels/slide45.xml.rels><?xml version="1.0" encoding="UTF-8" standalone="yes"?>
<Relationships xmlns="http://schemas.openxmlformats.org/package/2006/relationships"><Relationship Id="rId8" Type="http://schemas.openxmlformats.org/officeDocument/2006/relationships/vmlDrawing" Target="../drawings/vmlDrawing33.vml"/><Relationship Id="rId7" Type="http://schemas.openxmlformats.org/officeDocument/2006/relationships/slideLayout" Target="../slideLayouts/slideLayout7.xml"/><Relationship Id="rId6" Type="http://schemas.openxmlformats.org/officeDocument/2006/relationships/image" Target="../media/image83.wmf"/><Relationship Id="rId5" Type="http://schemas.openxmlformats.org/officeDocument/2006/relationships/oleObject" Target="../embeddings/oleObject73.bin"/><Relationship Id="rId4" Type="http://schemas.openxmlformats.org/officeDocument/2006/relationships/image" Target="../media/image82.png"/><Relationship Id="rId3" Type="http://schemas.openxmlformats.org/officeDocument/2006/relationships/oleObject" Target="../embeddings/oleObject72.bin"/><Relationship Id="rId2" Type="http://schemas.openxmlformats.org/officeDocument/2006/relationships/image" Target="../media/image81.wmf"/><Relationship Id="rId1" Type="http://schemas.openxmlformats.org/officeDocument/2006/relationships/oleObject" Target="../embeddings/oleObject71.bin"/></Relationships>
</file>

<file path=ppt/slides/_rels/slide46.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image" Target="../media/image87.wmf"/><Relationship Id="rId7" Type="http://schemas.openxmlformats.org/officeDocument/2006/relationships/oleObject" Target="../embeddings/oleObject77.bin"/><Relationship Id="rId6" Type="http://schemas.openxmlformats.org/officeDocument/2006/relationships/image" Target="../media/image86.wmf"/><Relationship Id="rId5" Type="http://schemas.openxmlformats.org/officeDocument/2006/relationships/oleObject" Target="../embeddings/oleObject76.bin"/><Relationship Id="rId4" Type="http://schemas.openxmlformats.org/officeDocument/2006/relationships/image" Target="../media/image85.wmf"/><Relationship Id="rId3" Type="http://schemas.openxmlformats.org/officeDocument/2006/relationships/oleObject" Target="../embeddings/oleObject75.bin"/><Relationship Id="rId2" Type="http://schemas.openxmlformats.org/officeDocument/2006/relationships/image" Target="../media/image84.wmf"/><Relationship Id="rId14" Type="http://schemas.openxmlformats.org/officeDocument/2006/relationships/vmlDrawing" Target="../drawings/vmlDrawing34.vml"/><Relationship Id="rId13" Type="http://schemas.openxmlformats.org/officeDocument/2006/relationships/slideLayout" Target="../slideLayouts/slideLayout7.xml"/><Relationship Id="rId12" Type="http://schemas.openxmlformats.org/officeDocument/2006/relationships/oleObject" Target="../embeddings/oleObject79.bin"/><Relationship Id="rId11" Type="http://schemas.openxmlformats.org/officeDocument/2006/relationships/tags" Target="../tags/tag2.xml"/><Relationship Id="rId10" Type="http://schemas.openxmlformats.org/officeDocument/2006/relationships/oleObject" Target="../embeddings/oleObject78.bin"/><Relationship Id="rId1" Type="http://schemas.openxmlformats.org/officeDocument/2006/relationships/oleObject" Target="../embeddings/oleObject74.bin"/></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jpeg"/></Relationships>
</file>

<file path=ppt/slides/_rels/slide48.xml.rels><?xml version="1.0" encoding="UTF-8" standalone="yes"?>
<Relationships xmlns="http://schemas.openxmlformats.org/package/2006/relationships"><Relationship Id="rId7" Type="http://schemas.openxmlformats.org/officeDocument/2006/relationships/vmlDrawing" Target="../drawings/vmlDrawing35.vml"/><Relationship Id="rId6" Type="http://schemas.openxmlformats.org/officeDocument/2006/relationships/slideLayout" Target="../slideLayouts/slideLayout7.xml"/><Relationship Id="rId5" Type="http://schemas.openxmlformats.org/officeDocument/2006/relationships/image" Target="../media/image90.wmf"/><Relationship Id="rId4" Type="http://schemas.openxmlformats.org/officeDocument/2006/relationships/tags" Target="../tags/tag3.xml"/><Relationship Id="rId3" Type="http://schemas.openxmlformats.org/officeDocument/2006/relationships/control" Target="../activeX/activeX1.xml"/><Relationship Id="rId2" Type="http://schemas.openxmlformats.org/officeDocument/2006/relationships/image" Target="../media/image89.wmf"/><Relationship Id="rId1" Type="http://schemas.openxmlformats.org/officeDocument/2006/relationships/oleObject" Target="../embeddings/oleObject80.bin"/></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4.wmf"/><Relationship Id="rId7" Type="http://schemas.openxmlformats.org/officeDocument/2006/relationships/oleObject" Target="../embeddings/oleObject84.bin"/><Relationship Id="rId6" Type="http://schemas.openxmlformats.org/officeDocument/2006/relationships/image" Target="../media/image93.wmf"/><Relationship Id="rId5" Type="http://schemas.openxmlformats.org/officeDocument/2006/relationships/oleObject" Target="../embeddings/oleObject83.bin"/><Relationship Id="rId4" Type="http://schemas.openxmlformats.org/officeDocument/2006/relationships/image" Target="../media/image92.wmf"/><Relationship Id="rId3" Type="http://schemas.openxmlformats.org/officeDocument/2006/relationships/oleObject" Target="../embeddings/oleObject82.bin"/><Relationship Id="rId2" Type="http://schemas.openxmlformats.org/officeDocument/2006/relationships/image" Target="../media/image91.wmf"/><Relationship Id="rId10" Type="http://schemas.openxmlformats.org/officeDocument/2006/relationships/vmlDrawing" Target="../drawings/vmlDrawing36.vml"/><Relationship Id="rId1" Type="http://schemas.openxmlformats.org/officeDocument/2006/relationships/oleObject" Target="../embeddings/oleObject81.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7.xml"/><Relationship Id="rId4" Type="http://schemas.openxmlformats.org/officeDocument/2006/relationships/image" Target="../media/image96.wmf"/><Relationship Id="rId3" Type="http://schemas.openxmlformats.org/officeDocument/2006/relationships/oleObject" Target="../embeddings/oleObject86.bin"/><Relationship Id="rId2" Type="http://schemas.openxmlformats.org/officeDocument/2006/relationships/image" Target="../media/image95.wmf"/><Relationship Id="rId1" Type="http://schemas.openxmlformats.org/officeDocument/2006/relationships/oleObject" Target="../embeddings/oleObject85.bin"/></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5.xml"/><Relationship Id="rId2" Type="http://schemas.openxmlformats.org/officeDocument/2006/relationships/image" Target="../media/image97.png"/><Relationship Id="rId1" Type="http://schemas.openxmlformats.org/officeDocument/2006/relationships/tags" Target="../tags/tag4.xml"/></Relationships>
</file>

<file path=ppt/slides/_rels/slide52.xml.rels><?xml version="1.0" encoding="UTF-8" standalone="yes"?>
<Relationships xmlns="http://schemas.openxmlformats.org/package/2006/relationships"><Relationship Id="rId9" Type="http://schemas.openxmlformats.org/officeDocument/2006/relationships/vmlDrawing" Target="../drawings/vmlDrawing38.vml"/><Relationship Id="rId8" Type="http://schemas.openxmlformats.org/officeDocument/2006/relationships/slideLayout" Target="../slideLayouts/slideLayout7.xml"/><Relationship Id="rId7" Type="http://schemas.openxmlformats.org/officeDocument/2006/relationships/tags" Target="../tags/tag6.xml"/><Relationship Id="rId6" Type="http://schemas.openxmlformats.org/officeDocument/2006/relationships/image" Target="../media/image100.wmf"/><Relationship Id="rId5" Type="http://schemas.openxmlformats.org/officeDocument/2006/relationships/oleObject" Target="../embeddings/oleObject89.bin"/><Relationship Id="rId4" Type="http://schemas.openxmlformats.org/officeDocument/2006/relationships/image" Target="../media/image99.wmf"/><Relationship Id="rId3" Type="http://schemas.openxmlformats.org/officeDocument/2006/relationships/oleObject" Target="../embeddings/oleObject88.bin"/><Relationship Id="rId2" Type="http://schemas.openxmlformats.org/officeDocument/2006/relationships/image" Target="../media/image98.wmf"/><Relationship Id="rId1" Type="http://schemas.openxmlformats.org/officeDocument/2006/relationships/oleObject" Target="../embeddings/oleObject87.bin"/></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39.vml"/><Relationship Id="rId5" Type="http://schemas.openxmlformats.org/officeDocument/2006/relationships/slideLayout" Target="../slideLayouts/slideLayout7.xml"/><Relationship Id="rId4" Type="http://schemas.openxmlformats.org/officeDocument/2006/relationships/image" Target="../media/image102.wmf"/><Relationship Id="rId3" Type="http://schemas.openxmlformats.org/officeDocument/2006/relationships/oleObject" Target="../embeddings/oleObject91.bin"/><Relationship Id="rId2" Type="http://schemas.openxmlformats.org/officeDocument/2006/relationships/image" Target="../media/image101.wmf"/><Relationship Id="rId1" Type="http://schemas.openxmlformats.org/officeDocument/2006/relationships/oleObject" Target="../embeddings/oleObject90.bin"/></Relationships>
</file>

<file path=ppt/slides/_rels/slide54.xml.rels><?xml version="1.0" encoding="UTF-8" standalone="yes"?>
<Relationships xmlns="http://schemas.openxmlformats.org/package/2006/relationships"><Relationship Id="rId5" Type="http://schemas.openxmlformats.org/officeDocument/2006/relationships/vmlDrawing" Target="../drawings/vmlDrawing40.vml"/><Relationship Id="rId4" Type="http://schemas.openxmlformats.org/officeDocument/2006/relationships/slideLayout" Target="../slideLayouts/slideLayout7.xml"/><Relationship Id="rId3" Type="http://schemas.openxmlformats.org/officeDocument/2006/relationships/image" Target="../media/image102.wmf"/><Relationship Id="rId2" Type="http://schemas.openxmlformats.org/officeDocument/2006/relationships/oleObject" Target="../embeddings/oleObject92.bin"/><Relationship Id="rId1" Type="http://schemas.openxmlformats.org/officeDocument/2006/relationships/tags" Target="../tags/tag7.xml"/></Relationships>
</file>

<file path=ppt/slides/_rels/slide55.xml.rels><?xml version="1.0" encoding="UTF-8" standalone="yes"?>
<Relationships xmlns="http://schemas.openxmlformats.org/package/2006/relationships"><Relationship Id="rId5" Type="http://schemas.openxmlformats.org/officeDocument/2006/relationships/vmlDrawing" Target="../drawings/vmlDrawing41.vml"/><Relationship Id="rId4" Type="http://schemas.openxmlformats.org/officeDocument/2006/relationships/slideLayout" Target="../slideLayouts/slideLayout7.xml"/><Relationship Id="rId3" Type="http://schemas.openxmlformats.org/officeDocument/2006/relationships/image" Target="../media/image102.wmf"/><Relationship Id="rId2" Type="http://schemas.openxmlformats.org/officeDocument/2006/relationships/oleObject" Target="../embeddings/oleObject93.bin"/><Relationship Id="rId1" Type="http://schemas.openxmlformats.org/officeDocument/2006/relationships/tags" Target="../tags/tag8.xml"/></Relationships>
</file>

<file path=ppt/slides/_rels/slide56.xml.rels><?xml version="1.0" encoding="UTF-8" standalone="yes"?>
<Relationships xmlns="http://schemas.openxmlformats.org/package/2006/relationships"><Relationship Id="rId5" Type="http://schemas.openxmlformats.org/officeDocument/2006/relationships/vmlDrawing" Target="../drawings/vmlDrawing42.vml"/><Relationship Id="rId4" Type="http://schemas.openxmlformats.org/officeDocument/2006/relationships/slideLayout" Target="../slideLayouts/slideLayout7.xml"/><Relationship Id="rId3" Type="http://schemas.openxmlformats.org/officeDocument/2006/relationships/image" Target="../media/image102.wmf"/><Relationship Id="rId2" Type="http://schemas.openxmlformats.org/officeDocument/2006/relationships/oleObject" Target="../embeddings/oleObject94.bin"/><Relationship Id="rId1" Type="http://schemas.openxmlformats.org/officeDocument/2006/relationships/tags" Target="../tags/tag9.xml"/></Relationships>
</file>

<file path=ppt/slides/_rels/slide57.xml.rels><?xml version="1.0" encoding="UTF-8" standalone="yes"?>
<Relationships xmlns="http://schemas.openxmlformats.org/package/2006/relationships"><Relationship Id="rId5" Type="http://schemas.openxmlformats.org/officeDocument/2006/relationships/vmlDrawing" Target="../drawings/vmlDrawing43.vml"/><Relationship Id="rId4" Type="http://schemas.openxmlformats.org/officeDocument/2006/relationships/slideLayout" Target="../slideLayouts/slideLayout7.xml"/><Relationship Id="rId3" Type="http://schemas.openxmlformats.org/officeDocument/2006/relationships/image" Target="../media/image103.wmf"/><Relationship Id="rId2" Type="http://schemas.openxmlformats.org/officeDocument/2006/relationships/tags" Target="../tags/tag10.xml"/><Relationship Id="rId1" Type="http://schemas.openxmlformats.org/officeDocument/2006/relationships/control" Target="../activeX/activeX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7.xml"/><Relationship Id="rId4" Type="http://schemas.openxmlformats.org/officeDocument/2006/relationships/image" Target="../media/image105.wmf"/><Relationship Id="rId3" Type="http://schemas.openxmlformats.org/officeDocument/2006/relationships/oleObject" Target="../embeddings/oleObject96.bin"/><Relationship Id="rId2" Type="http://schemas.openxmlformats.org/officeDocument/2006/relationships/image" Target="../media/image104.wmf"/><Relationship Id="rId1" Type="http://schemas.openxmlformats.org/officeDocument/2006/relationships/oleObject" Target="../embeddings/oleObject95.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106.wmf"/><Relationship Id="rId1" Type="http://schemas.openxmlformats.org/officeDocument/2006/relationships/oleObject" Target="../embeddings/oleObject97.bin"/></Relationships>
</file>

<file path=ppt/slides/_rels/slide64.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7.xml"/><Relationship Id="rId4" Type="http://schemas.openxmlformats.org/officeDocument/2006/relationships/image" Target="../media/image108.wmf"/><Relationship Id="rId3" Type="http://schemas.openxmlformats.org/officeDocument/2006/relationships/oleObject" Target="../embeddings/oleObject99.bin"/><Relationship Id="rId2" Type="http://schemas.openxmlformats.org/officeDocument/2006/relationships/image" Target="../media/image107.wmf"/><Relationship Id="rId1" Type="http://schemas.openxmlformats.org/officeDocument/2006/relationships/oleObject" Target="../embeddings/oleObject98.bin"/></Relationships>
</file>

<file path=ppt/slides/_rels/slide65.xml.rels><?xml version="1.0" encoding="UTF-8" standalone="yes"?>
<Relationships xmlns="http://schemas.openxmlformats.org/package/2006/relationships"><Relationship Id="rId9" Type="http://schemas.openxmlformats.org/officeDocument/2006/relationships/vmlDrawing" Target="../drawings/vmlDrawing47.vml"/><Relationship Id="rId8" Type="http://schemas.openxmlformats.org/officeDocument/2006/relationships/slideLayout" Target="../slideLayouts/slideLayout7.xml"/><Relationship Id="rId7" Type="http://schemas.openxmlformats.org/officeDocument/2006/relationships/image" Target="../media/image111.wmf"/><Relationship Id="rId6" Type="http://schemas.openxmlformats.org/officeDocument/2006/relationships/oleObject" Target="../embeddings/oleObject102.bin"/><Relationship Id="rId5" Type="http://schemas.openxmlformats.org/officeDocument/2006/relationships/tags" Target="../tags/tag11.xml"/><Relationship Id="rId4" Type="http://schemas.openxmlformats.org/officeDocument/2006/relationships/image" Target="../media/image110.wmf"/><Relationship Id="rId3" Type="http://schemas.openxmlformats.org/officeDocument/2006/relationships/oleObject" Target="../embeddings/oleObject101.bin"/><Relationship Id="rId2" Type="http://schemas.openxmlformats.org/officeDocument/2006/relationships/image" Target="../media/image109.wmf"/><Relationship Id="rId1" Type="http://schemas.openxmlformats.org/officeDocument/2006/relationships/oleObject" Target="../embeddings/oleObject100.bin"/></Relationships>
</file>

<file path=ppt/slides/_rels/slide66.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7.xml"/><Relationship Id="rId4" Type="http://schemas.openxmlformats.org/officeDocument/2006/relationships/image" Target="../media/image113.wmf"/><Relationship Id="rId3" Type="http://schemas.openxmlformats.org/officeDocument/2006/relationships/oleObject" Target="../embeddings/oleObject104.bin"/><Relationship Id="rId2" Type="http://schemas.openxmlformats.org/officeDocument/2006/relationships/image" Target="../media/image112.wmf"/><Relationship Id="rId1" Type="http://schemas.openxmlformats.org/officeDocument/2006/relationships/oleObject" Target="../embeddings/oleObject103.bin"/></Relationships>
</file>

<file path=ppt/slides/_rels/slide67.xml.rels><?xml version="1.0" encoding="UTF-8" standalone="yes"?>
<Relationships xmlns="http://schemas.openxmlformats.org/package/2006/relationships"><Relationship Id="rId5" Type="http://schemas.openxmlformats.org/officeDocument/2006/relationships/vmlDrawing" Target="../drawings/vmlDrawing49.vml"/><Relationship Id="rId4" Type="http://schemas.openxmlformats.org/officeDocument/2006/relationships/slideLayout" Target="../slideLayouts/slideLayout7.xml"/><Relationship Id="rId3" Type="http://schemas.openxmlformats.org/officeDocument/2006/relationships/image" Target="../media/image114.wmf"/><Relationship Id="rId2" Type="http://schemas.openxmlformats.org/officeDocument/2006/relationships/tags" Target="../tags/tag12.xml"/><Relationship Id="rId1" Type="http://schemas.openxmlformats.org/officeDocument/2006/relationships/control" Target="../activeX/activeX3.xml"/></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7.xml"/><Relationship Id="rId2" Type="http://schemas.openxmlformats.org/officeDocument/2006/relationships/image" Target="../media/image115.wmf"/><Relationship Id="rId1" Type="http://schemas.openxmlformats.org/officeDocument/2006/relationships/oleObject" Target="../embeddings/oleObject105.bin"/></Relationships>
</file>

<file path=ppt/slides/_rels/slide69.xml.rels><?xml version="1.0" encoding="UTF-8" standalone="yes"?>
<Relationships xmlns="http://schemas.openxmlformats.org/package/2006/relationships"><Relationship Id="rId9" Type="http://schemas.openxmlformats.org/officeDocument/2006/relationships/vmlDrawing" Target="../drawings/vmlDrawing51.vml"/><Relationship Id="rId8" Type="http://schemas.openxmlformats.org/officeDocument/2006/relationships/slideLayout" Target="../slideLayouts/slideLayout7.xml"/><Relationship Id="rId7" Type="http://schemas.openxmlformats.org/officeDocument/2006/relationships/image" Target="../media/image118.wmf"/><Relationship Id="rId6" Type="http://schemas.openxmlformats.org/officeDocument/2006/relationships/oleObject" Target="../embeddings/oleObject108.bin"/><Relationship Id="rId5" Type="http://schemas.openxmlformats.org/officeDocument/2006/relationships/tags" Target="../tags/tag13.xml"/><Relationship Id="rId4" Type="http://schemas.openxmlformats.org/officeDocument/2006/relationships/image" Target="../media/image117.wmf"/><Relationship Id="rId3" Type="http://schemas.openxmlformats.org/officeDocument/2006/relationships/oleObject" Target="../embeddings/oleObject107.bin"/><Relationship Id="rId2" Type="http://schemas.openxmlformats.org/officeDocument/2006/relationships/image" Target="../media/image116.wmf"/><Relationship Id="rId1" Type="http://schemas.openxmlformats.org/officeDocument/2006/relationships/oleObject" Target="../embeddings/oleObject106.bin"/></Relationships>
</file>

<file path=ppt/slides/_rels/slide70.xml.rels><?xml version="1.0" encoding="UTF-8" standalone="yes"?>
<Relationships xmlns="http://schemas.openxmlformats.org/package/2006/relationships"><Relationship Id="rId9" Type="http://schemas.openxmlformats.org/officeDocument/2006/relationships/vmlDrawing" Target="../drawings/vmlDrawing52.vml"/><Relationship Id="rId8" Type="http://schemas.openxmlformats.org/officeDocument/2006/relationships/slideLayout" Target="../slideLayouts/slideLayout7.xml"/><Relationship Id="rId7" Type="http://schemas.openxmlformats.org/officeDocument/2006/relationships/image" Target="../media/image121.wmf"/><Relationship Id="rId6" Type="http://schemas.openxmlformats.org/officeDocument/2006/relationships/oleObject" Target="../embeddings/oleObject111.bin"/><Relationship Id="rId5" Type="http://schemas.openxmlformats.org/officeDocument/2006/relationships/tags" Target="../tags/tag14.xml"/><Relationship Id="rId4" Type="http://schemas.openxmlformats.org/officeDocument/2006/relationships/image" Target="../media/image120.wmf"/><Relationship Id="rId3" Type="http://schemas.openxmlformats.org/officeDocument/2006/relationships/oleObject" Target="../embeddings/oleObject110.bin"/><Relationship Id="rId2" Type="http://schemas.openxmlformats.org/officeDocument/2006/relationships/image" Target="../media/image119.wmf"/><Relationship Id="rId1" Type="http://schemas.openxmlformats.org/officeDocument/2006/relationships/oleObject" Target="../embeddings/oleObject109.bin"/></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2.jpeg"/></Relationships>
</file>

<file path=ppt/slides/_rels/slide72.xml.rels><?xml version="1.0" encoding="UTF-8" standalone="yes"?>
<Relationships xmlns="http://schemas.openxmlformats.org/package/2006/relationships"><Relationship Id="rId5" Type="http://schemas.openxmlformats.org/officeDocument/2006/relationships/vmlDrawing" Target="../drawings/vmlDrawing53.vml"/><Relationship Id="rId4" Type="http://schemas.openxmlformats.org/officeDocument/2006/relationships/slideLayout" Target="../slideLayouts/slideLayout7.xml"/><Relationship Id="rId3" Type="http://schemas.openxmlformats.org/officeDocument/2006/relationships/image" Target="../media/image123.wmf"/><Relationship Id="rId2" Type="http://schemas.openxmlformats.org/officeDocument/2006/relationships/tags" Target="../tags/tag15.xml"/><Relationship Id="rId1" Type="http://schemas.openxmlformats.org/officeDocument/2006/relationships/control" Target="../activeX/activeX4.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4.jpe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5.jpeg"/></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54.vml"/><Relationship Id="rId3" Type="http://schemas.openxmlformats.org/officeDocument/2006/relationships/slideLayout" Target="../slideLayouts/slideLayout7.xml"/><Relationship Id="rId2" Type="http://schemas.openxmlformats.org/officeDocument/2006/relationships/image" Target="../media/image126.wmf"/><Relationship Id="rId1" Type="http://schemas.openxmlformats.org/officeDocument/2006/relationships/oleObject" Target="../embeddings/oleObject112.bin"/></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7.jpe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8.jpe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9.jpeg"/></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55.vml"/><Relationship Id="rId3" Type="http://schemas.openxmlformats.org/officeDocument/2006/relationships/slideLayout" Target="../slideLayouts/slideLayout7.xml"/><Relationship Id="rId2" Type="http://schemas.openxmlformats.org/officeDocument/2006/relationships/image" Target="../media/image130.wmf"/><Relationship Id="rId1" Type="http://schemas.openxmlformats.org/officeDocument/2006/relationships/oleObject" Target="../embeddings/oleObject113.bin"/></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1.jpeg"/></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7.xml"/><Relationship Id="rId2" Type="http://schemas.openxmlformats.org/officeDocument/2006/relationships/image" Target="../media/image132.wmf"/><Relationship Id="rId1" Type="http://schemas.openxmlformats.org/officeDocument/2006/relationships/oleObject" Target="../embeddings/oleObject114.bin"/></Relationships>
</file>

<file path=ppt/slides/_rels/slide82.xml.rels><?xml version="1.0" encoding="UTF-8" standalone="yes"?>
<Relationships xmlns="http://schemas.openxmlformats.org/package/2006/relationships"><Relationship Id="rId8" Type="http://schemas.openxmlformats.org/officeDocument/2006/relationships/vmlDrawing" Target="../drawings/vmlDrawing57.vml"/><Relationship Id="rId7" Type="http://schemas.openxmlformats.org/officeDocument/2006/relationships/slideLayout" Target="../slideLayouts/slideLayout7.xml"/><Relationship Id="rId6" Type="http://schemas.openxmlformats.org/officeDocument/2006/relationships/image" Target="../media/image135.wmf"/><Relationship Id="rId5" Type="http://schemas.openxmlformats.org/officeDocument/2006/relationships/oleObject" Target="../embeddings/oleObject117.bin"/><Relationship Id="rId4" Type="http://schemas.openxmlformats.org/officeDocument/2006/relationships/image" Target="../media/image134.wmf"/><Relationship Id="rId3" Type="http://schemas.openxmlformats.org/officeDocument/2006/relationships/oleObject" Target="../embeddings/oleObject116.bin"/><Relationship Id="rId2" Type="http://schemas.openxmlformats.org/officeDocument/2006/relationships/image" Target="../media/image133.wmf"/><Relationship Id="rId1" Type="http://schemas.openxmlformats.org/officeDocument/2006/relationships/oleObject" Target="../embeddings/oleObject115.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4" Type="http://schemas.openxmlformats.org/officeDocument/2006/relationships/vmlDrawing" Target="../drawings/vmlDrawing58.vml"/><Relationship Id="rId3" Type="http://schemas.openxmlformats.org/officeDocument/2006/relationships/slideLayout" Target="../slideLayouts/slideLayout7.xml"/><Relationship Id="rId2" Type="http://schemas.openxmlformats.org/officeDocument/2006/relationships/image" Target="../media/image136.wmf"/><Relationship Id="rId1" Type="http://schemas.openxmlformats.org/officeDocument/2006/relationships/oleObject" Target="../embeddings/oleObject118.bin"/></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59.vml"/><Relationship Id="rId3" Type="http://schemas.openxmlformats.org/officeDocument/2006/relationships/slideLayout" Target="../slideLayouts/slideLayout7.xml"/><Relationship Id="rId2" Type="http://schemas.openxmlformats.org/officeDocument/2006/relationships/image" Target="../media/image137.wmf"/><Relationship Id="rId1" Type="http://schemas.openxmlformats.org/officeDocument/2006/relationships/oleObject" Target="../embeddings/oleObject119.bin"/></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60.vml"/><Relationship Id="rId5" Type="http://schemas.openxmlformats.org/officeDocument/2006/relationships/slideLayout" Target="../slideLayouts/slideLayout7.xml"/><Relationship Id="rId4" Type="http://schemas.openxmlformats.org/officeDocument/2006/relationships/image" Target="../media/image139.wmf"/><Relationship Id="rId3" Type="http://schemas.openxmlformats.org/officeDocument/2006/relationships/oleObject" Target="../embeddings/oleObject121.bin"/><Relationship Id="rId2" Type="http://schemas.openxmlformats.org/officeDocument/2006/relationships/image" Target="../media/image138.wmf"/><Relationship Id="rId1" Type="http://schemas.openxmlformats.org/officeDocument/2006/relationships/oleObject" Target="../embeddings/oleObject120.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61.vml"/><Relationship Id="rId3" Type="http://schemas.openxmlformats.org/officeDocument/2006/relationships/slideLayout" Target="../slideLayouts/slideLayout7.xml"/><Relationship Id="rId2" Type="http://schemas.openxmlformats.org/officeDocument/2006/relationships/image" Target="../media/image140.wmf"/><Relationship Id="rId1" Type="http://schemas.openxmlformats.org/officeDocument/2006/relationships/oleObject" Target="../embeddings/oleObject122.bin"/></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62.vml"/><Relationship Id="rId5" Type="http://schemas.openxmlformats.org/officeDocument/2006/relationships/slideLayout" Target="../slideLayouts/slideLayout7.xml"/><Relationship Id="rId4" Type="http://schemas.openxmlformats.org/officeDocument/2006/relationships/image" Target="../media/image142.wmf"/><Relationship Id="rId3" Type="http://schemas.openxmlformats.org/officeDocument/2006/relationships/oleObject" Target="../embeddings/oleObject124.bin"/><Relationship Id="rId2" Type="http://schemas.openxmlformats.org/officeDocument/2006/relationships/image" Target="../media/image141.wmf"/><Relationship Id="rId1" Type="http://schemas.openxmlformats.org/officeDocument/2006/relationships/oleObject" Target="../embeddings/oleObject123.bin"/></Relationships>
</file>

<file path=ppt/slides/_rels/slide90.xml.rels><?xml version="1.0" encoding="UTF-8" standalone="yes"?>
<Relationships xmlns="http://schemas.openxmlformats.org/package/2006/relationships"><Relationship Id="rId8" Type="http://schemas.openxmlformats.org/officeDocument/2006/relationships/vmlDrawing" Target="../drawings/vmlDrawing63.vml"/><Relationship Id="rId7" Type="http://schemas.openxmlformats.org/officeDocument/2006/relationships/slideLayout" Target="../slideLayouts/slideLayout7.xml"/><Relationship Id="rId6" Type="http://schemas.openxmlformats.org/officeDocument/2006/relationships/image" Target="../media/image145.wmf"/><Relationship Id="rId5" Type="http://schemas.openxmlformats.org/officeDocument/2006/relationships/oleObject" Target="../embeddings/oleObject127.bin"/><Relationship Id="rId4" Type="http://schemas.openxmlformats.org/officeDocument/2006/relationships/image" Target="../media/image144.wmf"/><Relationship Id="rId3" Type="http://schemas.openxmlformats.org/officeDocument/2006/relationships/oleObject" Target="../embeddings/oleObject126.bin"/><Relationship Id="rId2" Type="http://schemas.openxmlformats.org/officeDocument/2006/relationships/image" Target="../media/image143.wmf"/><Relationship Id="rId1" Type="http://schemas.openxmlformats.org/officeDocument/2006/relationships/oleObject" Target="../embeddings/oleObject125.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6" Type="http://schemas.openxmlformats.org/officeDocument/2006/relationships/vmlDrawing" Target="../drawings/vmlDrawing64.vml"/><Relationship Id="rId5" Type="http://schemas.openxmlformats.org/officeDocument/2006/relationships/slideLayout" Target="../slideLayouts/slideLayout7.xml"/><Relationship Id="rId4" Type="http://schemas.openxmlformats.org/officeDocument/2006/relationships/image" Target="../media/image147.wmf"/><Relationship Id="rId3" Type="http://schemas.openxmlformats.org/officeDocument/2006/relationships/oleObject" Target="../embeddings/oleObject129.bin"/><Relationship Id="rId2" Type="http://schemas.openxmlformats.org/officeDocument/2006/relationships/image" Target="../media/image146.wmf"/><Relationship Id="rId1" Type="http://schemas.openxmlformats.org/officeDocument/2006/relationships/oleObject" Target="../embeddings/oleObject128.bin"/></Relationships>
</file>

<file path=ppt/slides/_rels/slide93.xml.rels><?xml version="1.0" encoding="UTF-8" standalone="yes"?>
<Relationships xmlns="http://schemas.openxmlformats.org/package/2006/relationships"><Relationship Id="rId9" Type="http://schemas.openxmlformats.org/officeDocument/2006/relationships/oleObject" Target="../embeddings/oleObject134.bin"/><Relationship Id="rId8" Type="http://schemas.openxmlformats.org/officeDocument/2006/relationships/image" Target="../media/image151.wmf"/><Relationship Id="rId7" Type="http://schemas.openxmlformats.org/officeDocument/2006/relationships/oleObject" Target="../embeddings/oleObject133.bin"/><Relationship Id="rId6" Type="http://schemas.openxmlformats.org/officeDocument/2006/relationships/image" Target="../media/image150.wmf"/><Relationship Id="rId5" Type="http://schemas.openxmlformats.org/officeDocument/2006/relationships/oleObject" Target="../embeddings/oleObject132.bin"/><Relationship Id="rId4" Type="http://schemas.openxmlformats.org/officeDocument/2006/relationships/image" Target="../media/image149.wmf"/><Relationship Id="rId3" Type="http://schemas.openxmlformats.org/officeDocument/2006/relationships/oleObject" Target="../embeddings/oleObject131.bin"/><Relationship Id="rId2" Type="http://schemas.openxmlformats.org/officeDocument/2006/relationships/image" Target="../media/image148.wmf"/><Relationship Id="rId12" Type="http://schemas.openxmlformats.org/officeDocument/2006/relationships/vmlDrawing" Target="../drawings/vmlDrawing65.vml"/><Relationship Id="rId11" Type="http://schemas.openxmlformats.org/officeDocument/2006/relationships/slideLayout" Target="../slideLayouts/slideLayout7.xml"/><Relationship Id="rId10" Type="http://schemas.openxmlformats.org/officeDocument/2006/relationships/image" Target="../media/image152.wmf"/><Relationship Id="rId1" Type="http://schemas.openxmlformats.org/officeDocument/2006/relationships/oleObject" Target="../embeddings/oleObject130.bin"/></Relationships>
</file>

<file path=ppt/slides/_rels/slide94.xml.rels><?xml version="1.0" encoding="UTF-8" standalone="yes"?>
<Relationships xmlns="http://schemas.openxmlformats.org/package/2006/relationships"><Relationship Id="rId6" Type="http://schemas.openxmlformats.org/officeDocument/2006/relationships/vmlDrawing" Target="../drawings/vmlDrawing66.vml"/><Relationship Id="rId5" Type="http://schemas.openxmlformats.org/officeDocument/2006/relationships/slideLayout" Target="../slideLayouts/slideLayout7.xml"/><Relationship Id="rId4" Type="http://schemas.openxmlformats.org/officeDocument/2006/relationships/image" Target="../media/image77.wmf"/><Relationship Id="rId3" Type="http://schemas.openxmlformats.org/officeDocument/2006/relationships/oleObject" Target="../embeddings/oleObject136.bin"/><Relationship Id="rId2" Type="http://schemas.openxmlformats.org/officeDocument/2006/relationships/image" Target="../media/image153.wmf"/><Relationship Id="rId1" Type="http://schemas.openxmlformats.org/officeDocument/2006/relationships/oleObject" Target="../embeddings/oleObject135.bin"/></Relationships>
</file>

<file path=ppt/slides/_rels/slide9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image" Target="../media/image154.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6" Type="http://schemas.openxmlformats.org/officeDocument/2006/relationships/vmlDrawing" Target="../drawings/vmlDrawing67.vml"/><Relationship Id="rId5" Type="http://schemas.openxmlformats.org/officeDocument/2006/relationships/slideLayout" Target="../slideLayouts/slideLayout7.xml"/><Relationship Id="rId4" Type="http://schemas.openxmlformats.org/officeDocument/2006/relationships/image" Target="../media/image156.wmf"/><Relationship Id="rId3" Type="http://schemas.openxmlformats.org/officeDocument/2006/relationships/oleObject" Target="../embeddings/oleObject138.bin"/><Relationship Id="rId2" Type="http://schemas.openxmlformats.org/officeDocument/2006/relationships/image" Target="../media/image155.wmf"/><Relationship Id="rId1" Type="http://schemas.openxmlformats.org/officeDocument/2006/relationships/oleObject" Target="../embeddings/oleObject137.bin"/></Relationships>
</file>

<file path=ppt/slides/_rels/slide98.xml.rels><?xml version="1.0" encoding="UTF-8" standalone="yes"?>
<Relationships xmlns="http://schemas.openxmlformats.org/package/2006/relationships"><Relationship Id="rId6" Type="http://schemas.openxmlformats.org/officeDocument/2006/relationships/vmlDrawing" Target="../drawings/vmlDrawing68.vml"/><Relationship Id="rId5" Type="http://schemas.openxmlformats.org/officeDocument/2006/relationships/slideLayout" Target="../slideLayouts/slideLayout7.xml"/><Relationship Id="rId4" Type="http://schemas.openxmlformats.org/officeDocument/2006/relationships/image" Target="../media/image157.wmf"/><Relationship Id="rId3" Type="http://schemas.openxmlformats.org/officeDocument/2006/relationships/oleObject" Target="../embeddings/oleObject140.bin"/><Relationship Id="rId2" Type="http://schemas.openxmlformats.org/officeDocument/2006/relationships/image" Target="../media/image136.wmf"/><Relationship Id="rId1" Type="http://schemas.openxmlformats.org/officeDocument/2006/relationships/oleObject" Target="../embeddings/oleObject139.bin"/></Relationships>
</file>

<file path=ppt/slides/_rels/slide99.xml.rels><?xml version="1.0" encoding="UTF-8" standalone="yes"?>
<Relationships xmlns="http://schemas.openxmlformats.org/package/2006/relationships"><Relationship Id="rId4" Type="http://schemas.openxmlformats.org/officeDocument/2006/relationships/vmlDrawing" Target="../drawings/vmlDrawing69.vml"/><Relationship Id="rId3" Type="http://schemas.openxmlformats.org/officeDocument/2006/relationships/slideLayout" Target="../slideLayouts/slideLayout7.xml"/><Relationship Id="rId2" Type="http://schemas.openxmlformats.org/officeDocument/2006/relationships/image" Target="../media/image158.wmf"/><Relationship Id="rId1" Type="http://schemas.openxmlformats.org/officeDocument/2006/relationships/oleObject" Target="../embeddings/oleObject141.bin"/></Relationships>
</file>

<file path=ppt/slides/_rels/slide100.xml.rels><?xml version="1.0" encoding="UTF-8" standalone="yes"?>
<Relationships xmlns="http://schemas.openxmlformats.org/package/2006/relationships"><Relationship Id="rId8" Type="http://schemas.openxmlformats.org/officeDocument/2006/relationships/vmlDrawing" Target="../drawings/vmlDrawing70.vml"/><Relationship Id="rId7" Type="http://schemas.openxmlformats.org/officeDocument/2006/relationships/slideLayout" Target="../slideLayouts/slideLayout7.xml"/><Relationship Id="rId6" Type="http://schemas.openxmlformats.org/officeDocument/2006/relationships/image" Target="../media/image161.wmf"/><Relationship Id="rId5" Type="http://schemas.openxmlformats.org/officeDocument/2006/relationships/oleObject" Target="../embeddings/oleObject144.bin"/><Relationship Id="rId4" Type="http://schemas.openxmlformats.org/officeDocument/2006/relationships/image" Target="../media/image160.wmf"/><Relationship Id="rId3" Type="http://schemas.openxmlformats.org/officeDocument/2006/relationships/oleObject" Target="../embeddings/oleObject143.bin"/><Relationship Id="rId2" Type="http://schemas.openxmlformats.org/officeDocument/2006/relationships/image" Target="../media/image159.wmf"/><Relationship Id="rId1" Type="http://schemas.openxmlformats.org/officeDocument/2006/relationships/oleObject" Target="../embeddings/oleObject142.bin"/></Relationships>
</file>

<file path=ppt/slides/_rels/slide101.xml.rels><?xml version="1.0" encoding="UTF-8" standalone="yes"?>
<Relationships xmlns="http://schemas.openxmlformats.org/package/2006/relationships"><Relationship Id="rId4" Type="http://schemas.openxmlformats.org/officeDocument/2006/relationships/vmlDrawing" Target="../drawings/vmlDrawing71.vml"/><Relationship Id="rId3" Type="http://schemas.openxmlformats.org/officeDocument/2006/relationships/slideLayout" Target="../slideLayouts/slideLayout7.xml"/><Relationship Id="rId2" Type="http://schemas.openxmlformats.org/officeDocument/2006/relationships/image" Target="../media/image162.wmf"/><Relationship Id="rId1" Type="http://schemas.openxmlformats.org/officeDocument/2006/relationships/oleObject" Target="../embeddings/oleObject145.bin"/></Relationships>
</file>

<file path=ppt/slides/_rels/slide102.xml.rels><?xml version="1.0" encoding="UTF-8" standalone="yes"?>
<Relationships xmlns="http://schemas.openxmlformats.org/package/2006/relationships"><Relationship Id="rId4" Type="http://schemas.openxmlformats.org/officeDocument/2006/relationships/vmlDrawing" Target="../drawings/vmlDrawing72.vml"/><Relationship Id="rId3" Type="http://schemas.openxmlformats.org/officeDocument/2006/relationships/slideLayout" Target="../slideLayouts/slideLayout7.xml"/><Relationship Id="rId2" Type="http://schemas.openxmlformats.org/officeDocument/2006/relationships/image" Target="../media/image163.wmf"/><Relationship Id="rId1" Type="http://schemas.openxmlformats.org/officeDocument/2006/relationships/oleObject" Target="../embeddings/oleObject146.bin"/></Relationships>
</file>

<file path=ppt/slides/_rels/slide103.xml.rels><?xml version="1.0" encoding="UTF-8" standalone="yes"?>
<Relationships xmlns="http://schemas.openxmlformats.org/package/2006/relationships"><Relationship Id="rId6" Type="http://schemas.openxmlformats.org/officeDocument/2006/relationships/vmlDrawing" Target="../drawings/vmlDrawing73.vml"/><Relationship Id="rId5" Type="http://schemas.openxmlformats.org/officeDocument/2006/relationships/slideLayout" Target="../slideLayouts/slideLayout7.xml"/><Relationship Id="rId4" Type="http://schemas.openxmlformats.org/officeDocument/2006/relationships/image" Target="../media/image165.wmf"/><Relationship Id="rId3" Type="http://schemas.openxmlformats.org/officeDocument/2006/relationships/oleObject" Target="../embeddings/oleObject148.bin"/><Relationship Id="rId2" Type="http://schemas.openxmlformats.org/officeDocument/2006/relationships/image" Target="../media/image164.wmf"/><Relationship Id="rId1" Type="http://schemas.openxmlformats.org/officeDocument/2006/relationships/oleObject" Target="../embeddings/oleObject147.bin"/></Relationships>
</file>

<file path=ppt/slides/_rels/slide104.xml.rels><?xml version="1.0" encoding="UTF-8" standalone="yes"?>
<Relationships xmlns="http://schemas.openxmlformats.org/package/2006/relationships"><Relationship Id="rId6" Type="http://schemas.openxmlformats.org/officeDocument/2006/relationships/vmlDrawing" Target="../drawings/vmlDrawing74.vml"/><Relationship Id="rId5" Type="http://schemas.openxmlformats.org/officeDocument/2006/relationships/slideLayout" Target="../slideLayouts/slideLayout7.xml"/><Relationship Id="rId4" Type="http://schemas.openxmlformats.org/officeDocument/2006/relationships/image" Target="../media/image167.wmf"/><Relationship Id="rId3" Type="http://schemas.openxmlformats.org/officeDocument/2006/relationships/oleObject" Target="../embeddings/oleObject150.bin"/><Relationship Id="rId2" Type="http://schemas.openxmlformats.org/officeDocument/2006/relationships/image" Target="../media/image166.wmf"/><Relationship Id="rId1" Type="http://schemas.openxmlformats.org/officeDocument/2006/relationships/oleObject" Target="../embeddings/oleObject149.bin"/></Relationships>
</file>

<file path=ppt/slides/_rels/slide105.xml.rels><?xml version="1.0" encoding="UTF-8" standalone="yes"?>
<Relationships xmlns="http://schemas.openxmlformats.org/package/2006/relationships"><Relationship Id="rId8" Type="http://schemas.openxmlformats.org/officeDocument/2006/relationships/vmlDrawing" Target="../drawings/vmlDrawing75.vml"/><Relationship Id="rId7" Type="http://schemas.openxmlformats.org/officeDocument/2006/relationships/slideLayout" Target="../slideLayouts/slideLayout7.xml"/><Relationship Id="rId6" Type="http://schemas.openxmlformats.org/officeDocument/2006/relationships/image" Target="../media/image169.wmf"/><Relationship Id="rId5" Type="http://schemas.openxmlformats.org/officeDocument/2006/relationships/oleObject" Target="../embeddings/oleObject153.bin"/><Relationship Id="rId4" Type="http://schemas.openxmlformats.org/officeDocument/2006/relationships/image" Target="../media/image159.wmf"/><Relationship Id="rId3" Type="http://schemas.openxmlformats.org/officeDocument/2006/relationships/oleObject" Target="../embeddings/oleObject152.bin"/><Relationship Id="rId2" Type="http://schemas.openxmlformats.org/officeDocument/2006/relationships/image" Target="../media/image168.wmf"/><Relationship Id="rId1" Type="http://schemas.openxmlformats.org/officeDocument/2006/relationships/oleObject" Target="../embeddings/oleObject151.bin"/></Relationships>
</file>

<file path=ppt/slides/_rels/slide106.xml.rels><?xml version="1.0" encoding="UTF-8" standalone="yes"?>
<Relationships xmlns="http://schemas.openxmlformats.org/package/2006/relationships"><Relationship Id="rId8" Type="http://schemas.openxmlformats.org/officeDocument/2006/relationships/vmlDrawing" Target="../drawings/vmlDrawing76.vml"/><Relationship Id="rId7" Type="http://schemas.openxmlformats.org/officeDocument/2006/relationships/slideLayout" Target="../slideLayouts/slideLayout7.xml"/><Relationship Id="rId6" Type="http://schemas.openxmlformats.org/officeDocument/2006/relationships/image" Target="../media/image172.wmf"/><Relationship Id="rId5" Type="http://schemas.openxmlformats.org/officeDocument/2006/relationships/oleObject" Target="../embeddings/oleObject156.bin"/><Relationship Id="rId4" Type="http://schemas.openxmlformats.org/officeDocument/2006/relationships/image" Target="../media/image171.wmf"/><Relationship Id="rId3" Type="http://schemas.openxmlformats.org/officeDocument/2006/relationships/oleObject" Target="../embeddings/oleObject155.bin"/><Relationship Id="rId2" Type="http://schemas.openxmlformats.org/officeDocument/2006/relationships/image" Target="../media/image170.wmf"/><Relationship Id="rId1" Type="http://schemas.openxmlformats.org/officeDocument/2006/relationships/oleObject" Target="../embeddings/oleObject154.bin"/></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173.jpe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4.jpeg"/></Relationships>
</file>

<file path=ppt/slides/_rels/slide110.xml.rels><?xml version="1.0" encoding="UTF-8" standalone="yes"?>
<Relationships xmlns="http://schemas.openxmlformats.org/package/2006/relationships"><Relationship Id="rId4" Type="http://schemas.openxmlformats.org/officeDocument/2006/relationships/vmlDrawing" Target="../drawings/vmlDrawing77.vml"/><Relationship Id="rId3" Type="http://schemas.openxmlformats.org/officeDocument/2006/relationships/slideLayout" Target="../slideLayouts/slideLayout7.xml"/><Relationship Id="rId2" Type="http://schemas.openxmlformats.org/officeDocument/2006/relationships/image" Target="../media/image175.wmf"/><Relationship Id="rId1" Type="http://schemas.openxmlformats.org/officeDocument/2006/relationships/oleObject" Target="../embeddings/oleObject157.bin"/></Relationships>
</file>

<file path=ppt/slides/_rels/slide111.xml.rels><?xml version="1.0" encoding="UTF-8" standalone="yes"?>
<Relationships xmlns="http://schemas.openxmlformats.org/package/2006/relationships"><Relationship Id="rId6" Type="http://schemas.openxmlformats.org/officeDocument/2006/relationships/vmlDrawing" Target="../drawings/vmlDrawing78.vml"/><Relationship Id="rId5" Type="http://schemas.openxmlformats.org/officeDocument/2006/relationships/slideLayout" Target="../slideLayouts/slideLayout7.xml"/><Relationship Id="rId4" Type="http://schemas.openxmlformats.org/officeDocument/2006/relationships/image" Target="../media/image177.wmf"/><Relationship Id="rId3" Type="http://schemas.openxmlformats.org/officeDocument/2006/relationships/oleObject" Target="../embeddings/oleObject159.bin"/><Relationship Id="rId2" Type="http://schemas.openxmlformats.org/officeDocument/2006/relationships/image" Target="../media/image176.wmf"/><Relationship Id="rId1" Type="http://schemas.openxmlformats.org/officeDocument/2006/relationships/oleObject" Target="../embeddings/oleObject158.bin"/></Relationships>
</file>

<file path=ppt/slides/_rels/slide112.xml.rels><?xml version="1.0" encoding="UTF-8" standalone="yes"?>
<Relationships xmlns="http://schemas.openxmlformats.org/package/2006/relationships"><Relationship Id="rId6" Type="http://schemas.openxmlformats.org/officeDocument/2006/relationships/vmlDrawing" Target="../drawings/vmlDrawing79.vml"/><Relationship Id="rId5" Type="http://schemas.openxmlformats.org/officeDocument/2006/relationships/slideLayout" Target="../slideLayouts/slideLayout7.xml"/><Relationship Id="rId4" Type="http://schemas.openxmlformats.org/officeDocument/2006/relationships/image" Target="../media/image179.wmf"/><Relationship Id="rId3" Type="http://schemas.openxmlformats.org/officeDocument/2006/relationships/oleObject" Target="../embeddings/oleObject161.bin"/><Relationship Id="rId2" Type="http://schemas.openxmlformats.org/officeDocument/2006/relationships/image" Target="../media/image178.wmf"/><Relationship Id="rId1" Type="http://schemas.openxmlformats.org/officeDocument/2006/relationships/oleObject" Target="../embeddings/oleObject160.bin"/></Relationships>
</file>

<file path=ppt/slides/_rels/slide113.xml.rels><?xml version="1.0" encoding="UTF-8" standalone="yes"?>
<Relationships xmlns="http://schemas.openxmlformats.org/package/2006/relationships"><Relationship Id="rId6" Type="http://schemas.openxmlformats.org/officeDocument/2006/relationships/vmlDrawing" Target="../drawings/vmlDrawing80.vml"/><Relationship Id="rId5" Type="http://schemas.openxmlformats.org/officeDocument/2006/relationships/slideLayout" Target="../slideLayouts/slideLayout7.xml"/><Relationship Id="rId4" Type="http://schemas.openxmlformats.org/officeDocument/2006/relationships/image" Target="../media/image181.wmf"/><Relationship Id="rId3" Type="http://schemas.openxmlformats.org/officeDocument/2006/relationships/oleObject" Target="../embeddings/oleObject163.bin"/><Relationship Id="rId2" Type="http://schemas.openxmlformats.org/officeDocument/2006/relationships/image" Target="../media/image180.wmf"/><Relationship Id="rId1" Type="http://schemas.openxmlformats.org/officeDocument/2006/relationships/oleObject" Target="../embeddings/oleObject162.bin"/></Relationships>
</file>

<file path=ppt/slides/_rels/slide114.xml.rels><?xml version="1.0" encoding="UTF-8" standalone="yes"?>
<Relationships xmlns="http://schemas.openxmlformats.org/package/2006/relationships"><Relationship Id="rId4" Type="http://schemas.openxmlformats.org/officeDocument/2006/relationships/vmlDrawing" Target="../drawings/vmlDrawing81.vml"/><Relationship Id="rId3" Type="http://schemas.openxmlformats.org/officeDocument/2006/relationships/slideLayout" Target="../slideLayouts/slideLayout7.xml"/><Relationship Id="rId2" Type="http://schemas.openxmlformats.org/officeDocument/2006/relationships/image" Target="../media/image182.wmf"/><Relationship Id="rId1" Type="http://schemas.openxmlformats.org/officeDocument/2006/relationships/oleObject" Target="../embeddings/oleObject164.bin"/></Relationships>
</file>

<file path=ppt/slides/_rels/slide115.xml.rels><?xml version="1.0" encoding="UTF-8" standalone="yes"?>
<Relationships xmlns="http://schemas.openxmlformats.org/package/2006/relationships"><Relationship Id="rId8" Type="http://schemas.openxmlformats.org/officeDocument/2006/relationships/vmlDrawing" Target="../drawings/vmlDrawing82.vml"/><Relationship Id="rId7" Type="http://schemas.openxmlformats.org/officeDocument/2006/relationships/slideLayout" Target="../slideLayouts/slideLayout7.xml"/><Relationship Id="rId6" Type="http://schemas.openxmlformats.org/officeDocument/2006/relationships/image" Target="../media/image185.wmf"/><Relationship Id="rId5" Type="http://schemas.openxmlformats.org/officeDocument/2006/relationships/oleObject" Target="../embeddings/oleObject167.bin"/><Relationship Id="rId4" Type="http://schemas.openxmlformats.org/officeDocument/2006/relationships/image" Target="../media/image184.wmf"/><Relationship Id="rId3" Type="http://schemas.openxmlformats.org/officeDocument/2006/relationships/oleObject" Target="../embeddings/oleObject166.bin"/><Relationship Id="rId2" Type="http://schemas.openxmlformats.org/officeDocument/2006/relationships/image" Target="../media/image183.wmf"/><Relationship Id="rId1" Type="http://schemas.openxmlformats.org/officeDocument/2006/relationships/oleObject" Target="../embeddings/oleObject165.bin"/></Relationships>
</file>

<file path=ppt/slides/_rels/slide116.xml.rels><?xml version="1.0" encoding="UTF-8" standalone="yes"?>
<Relationships xmlns="http://schemas.openxmlformats.org/package/2006/relationships"><Relationship Id="rId8" Type="http://schemas.openxmlformats.org/officeDocument/2006/relationships/vmlDrawing" Target="../drawings/vmlDrawing83.vml"/><Relationship Id="rId7" Type="http://schemas.openxmlformats.org/officeDocument/2006/relationships/slideLayout" Target="../slideLayouts/slideLayout7.xml"/><Relationship Id="rId6" Type="http://schemas.openxmlformats.org/officeDocument/2006/relationships/image" Target="../media/image188.wmf"/><Relationship Id="rId5" Type="http://schemas.openxmlformats.org/officeDocument/2006/relationships/oleObject" Target="../embeddings/oleObject170.bin"/><Relationship Id="rId4" Type="http://schemas.openxmlformats.org/officeDocument/2006/relationships/image" Target="../media/image187.wmf"/><Relationship Id="rId3" Type="http://schemas.openxmlformats.org/officeDocument/2006/relationships/oleObject" Target="../embeddings/oleObject169.bin"/><Relationship Id="rId2" Type="http://schemas.openxmlformats.org/officeDocument/2006/relationships/image" Target="../media/image186.wmf"/><Relationship Id="rId1" Type="http://schemas.openxmlformats.org/officeDocument/2006/relationships/oleObject" Target="../embeddings/oleObject168.bin"/></Relationships>
</file>

<file path=ppt/slides/_rels/slide117.xml.rels><?xml version="1.0" encoding="UTF-8" standalone="yes"?>
<Relationships xmlns="http://schemas.openxmlformats.org/package/2006/relationships"><Relationship Id="rId9" Type="http://schemas.openxmlformats.org/officeDocument/2006/relationships/vmlDrawing" Target="../drawings/vmlDrawing84.vml"/><Relationship Id="rId8" Type="http://schemas.openxmlformats.org/officeDocument/2006/relationships/slideLayout" Target="../slideLayouts/slideLayout7.xml"/><Relationship Id="rId7" Type="http://schemas.openxmlformats.org/officeDocument/2006/relationships/image" Target="../media/image190.wmf"/><Relationship Id="rId6" Type="http://schemas.openxmlformats.org/officeDocument/2006/relationships/oleObject" Target="../embeddings/oleObject172.bin"/><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image" Target="../media/image189.png"/><Relationship Id="rId2" Type="http://schemas.openxmlformats.org/officeDocument/2006/relationships/oleObject" Target="../embeddings/oleObject171.bin"/><Relationship Id="rId1" Type="http://schemas.openxmlformats.org/officeDocument/2006/relationships/tags" Target="../tags/tag2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1.jpe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9" Type="http://schemas.openxmlformats.org/officeDocument/2006/relationships/vmlDrawing" Target="../drawings/vmlDrawing85.vml"/><Relationship Id="rId8" Type="http://schemas.openxmlformats.org/officeDocument/2006/relationships/slideLayout" Target="../slideLayouts/slideLayout7.xml"/><Relationship Id="rId7" Type="http://schemas.openxmlformats.org/officeDocument/2006/relationships/image" Target="../media/image194.wmf"/><Relationship Id="rId6" Type="http://schemas.openxmlformats.org/officeDocument/2006/relationships/oleObject" Target="../embeddings/oleObject175.bin"/><Relationship Id="rId5" Type="http://schemas.openxmlformats.org/officeDocument/2006/relationships/image" Target="../media/image193.png"/><Relationship Id="rId4" Type="http://schemas.openxmlformats.org/officeDocument/2006/relationships/image" Target="../media/image192.wmf"/><Relationship Id="rId3" Type="http://schemas.openxmlformats.org/officeDocument/2006/relationships/oleObject" Target="../embeddings/oleObject174.bin"/><Relationship Id="rId2" Type="http://schemas.openxmlformats.org/officeDocument/2006/relationships/image" Target="../media/image182.wmf"/><Relationship Id="rId1" Type="http://schemas.openxmlformats.org/officeDocument/2006/relationships/oleObject" Target="../embeddings/oleObject173.bin"/></Relationships>
</file>

<file path=ppt/slides/_rels/slide123.xml.rels><?xml version="1.0" encoding="UTF-8" standalone="yes"?>
<Relationships xmlns="http://schemas.openxmlformats.org/package/2006/relationships"><Relationship Id="rId8" Type="http://schemas.openxmlformats.org/officeDocument/2006/relationships/vmlDrawing" Target="../drawings/vmlDrawing86.vml"/><Relationship Id="rId7" Type="http://schemas.openxmlformats.org/officeDocument/2006/relationships/slideLayout" Target="../slideLayouts/slideLayout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image" Target="../media/image195.png"/><Relationship Id="rId2" Type="http://schemas.openxmlformats.org/officeDocument/2006/relationships/oleObject" Target="../embeddings/oleObject176.bin"/><Relationship Id="rId1" Type="http://schemas.openxmlformats.org/officeDocument/2006/relationships/tags" Target="../tags/tag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6" Type="http://schemas.openxmlformats.org/officeDocument/2006/relationships/vmlDrawing" Target="../drawings/vmlDrawing87.vml"/><Relationship Id="rId5" Type="http://schemas.openxmlformats.org/officeDocument/2006/relationships/slideLayout" Target="../slideLayouts/slideLayout7.xml"/><Relationship Id="rId4" Type="http://schemas.openxmlformats.org/officeDocument/2006/relationships/image" Target="../media/image197.wmf"/><Relationship Id="rId3" Type="http://schemas.openxmlformats.org/officeDocument/2006/relationships/oleObject" Target="../embeddings/oleObject178.bin"/><Relationship Id="rId2" Type="http://schemas.openxmlformats.org/officeDocument/2006/relationships/image" Target="../media/image196.wmf"/><Relationship Id="rId1" Type="http://schemas.openxmlformats.org/officeDocument/2006/relationships/oleObject" Target="../embeddings/oleObject177.bin"/></Relationships>
</file>

<file path=ppt/slides/_rels/slide127.xml.rels><?xml version="1.0" encoding="UTF-8" standalone="yes"?>
<Relationships xmlns="http://schemas.openxmlformats.org/package/2006/relationships"><Relationship Id="rId6" Type="http://schemas.openxmlformats.org/officeDocument/2006/relationships/vmlDrawing" Target="../drawings/vmlDrawing88.vml"/><Relationship Id="rId5" Type="http://schemas.openxmlformats.org/officeDocument/2006/relationships/slideLayout" Target="../slideLayouts/slideLayout7.xml"/><Relationship Id="rId4" Type="http://schemas.openxmlformats.org/officeDocument/2006/relationships/image" Target="../media/image199.wmf"/><Relationship Id="rId3" Type="http://schemas.openxmlformats.org/officeDocument/2006/relationships/oleObject" Target="../embeddings/oleObject180.bin"/><Relationship Id="rId2" Type="http://schemas.openxmlformats.org/officeDocument/2006/relationships/image" Target="../media/image198.wmf"/><Relationship Id="rId1" Type="http://schemas.openxmlformats.org/officeDocument/2006/relationships/oleObject" Target="../embeddings/oleObject179.bin"/></Relationships>
</file>

<file path=ppt/slides/_rels/slide128.xml.rels><?xml version="1.0" encoding="UTF-8" standalone="yes"?>
<Relationships xmlns="http://schemas.openxmlformats.org/package/2006/relationships"><Relationship Id="rId4" Type="http://schemas.openxmlformats.org/officeDocument/2006/relationships/vmlDrawing" Target="../drawings/vmlDrawing89.vml"/><Relationship Id="rId3" Type="http://schemas.openxmlformats.org/officeDocument/2006/relationships/slideLayout" Target="../slideLayouts/slideLayout7.xml"/><Relationship Id="rId2" Type="http://schemas.openxmlformats.org/officeDocument/2006/relationships/image" Target="../media/image200.wmf"/><Relationship Id="rId1" Type="http://schemas.openxmlformats.org/officeDocument/2006/relationships/oleObject" Target="../embeddings/oleObject181.bin"/></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1.jpeg"/></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90.vml"/><Relationship Id="rId3" Type="http://schemas.openxmlformats.org/officeDocument/2006/relationships/slideLayout" Target="../slideLayouts/slideLayout7.xml"/><Relationship Id="rId2" Type="http://schemas.openxmlformats.org/officeDocument/2006/relationships/image" Target="../media/image202.wmf"/><Relationship Id="rId1" Type="http://schemas.openxmlformats.org/officeDocument/2006/relationships/oleObject" Target="../embeddings/oleObject182.bin"/></Relationships>
</file>

<file path=ppt/slides/_rels/slide131.xml.rels><?xml version="1.0" encoding="UTF-8" standalone="yes"?>
<Relationships xmlns="http://schemas.openxmlformats.org/package/2006/relationships"><Relationship Id="rId4" Type="http://schemas.openxmlformats.org/officeDocument/2006/relationships/vmlDrawing" Target="../drawings/vmlDrawing91.vml"/><Relationship Id="rId3" Type="http://schemas.openxmlformats.org/officeDocument/2006/relationships/slideLayout" Target="../slideLayouts/slideLayout7.xml"/><Relationship Id="rId2" Type="http://schemas.openxmlformats.org/officeDocument/2006/relationships/image" Target="../media/image203.wmf"/><Relationship Id="rId1" Type="http://schemas.openxmlformats.org/officeDocument/2006/relationships/oleObject" Target="../embeddings/oleObject183.bin"/></Relationships>
</file>

<file path=ppt/slides/_rels/slide132.xml.rels><?xml version="1.0" encoding="UTF-8" standalone="yes"?>
<Relationships xmlns="http://schemas.openxmlformats.org/package/2006/relationships"><Relationship Id="rId6" Type="http://schemas.openxmlformats.org/officeDocument/2006/relationships/vmlDrawing" Target="../drawings/vmlDrawing92.vml"/><Relationship Id="rId5" Type="http://schemas.openxmlformats.org/officeDocument/2006/relationships/slideLayout" Target="../slideLayouts/slideLayout7.xml"/><Relationship Id="rId4" Type="http://schemas.openxmlformats.org/officeDocument/2006/relationships/image" Target="../media/image205.wmf"/><Relationship Id="rId3" Type="http://schemas.openxmlformats.org/officeDocument/2006/relationships/oleObject" Target="../embeddings/oleObject185.bin"/><Relationship Id="rId2" Type="http://schemas.openxmlformats.org/officeDocument/2006/relationships/image" Target="../media/image204.wmf"/><Relationship Id="rId1" Type="http://schemas.openxmlformats.org/officeDocument/2006/relationships/oleObject" Target="../embeddings/oleObject184.bin"/></Relationships>
</file>

<file path=ppt/slides/_rels/slide133.xml.rels><?xml version="1.0" encoding="UTF-8" standalone="yes"?>
<Relationships xmlns="http://schemas.openxmlformats.org/package/2006/relationships"><Relationship Id="rId4" Type="http://schemas.openxmlformats.org/officeDocument/2006/relationships/vmlDrawing" Target="../drawings/vmlDrawing93.vml"/><Relationship Id="rId3" Type="http://schemas.openxmlformats.org/officeDocument/2006/relationships/slideLayout" Target="../slideLayouts/slideLayout7.xml"/><Relationship Id="rId2" Type="http://schemas.openxmlformats.org/officeDocument/2006/relationships/image" Target="../media/image206.wmf"/><Relationship Id="rId1" Type="http://schemas.openxmlformats.org/officeDocument/2006/relationships/oleObject" Target="../embeddings/oleObject186.bin"/></Relationships>
</file>

<file path=ppt/slides/_rels/slide134.xml.rels><?xml version="1.0" encoding="UTF-8" standalone="yes"?>
<Relationships xmlns="http://schemas.openxmlformats.org/package/2006/relationships"><Relationship Id="rId4" Type="http://schemas.openxmlformats.org/officeDocument/2006/relationships/vmlDrawing" Target="../drawings/vmlDrawing94.vml"/><Relationship Id="rId3" Type="http://schemas.openxmlformats.org/officeDocument/2006/relationships/slideLayout" Target="../slideLayouts/slideLayout7.xml"/><Relationship Id="rId2" Type="http://schemas.openxmlformats.org/officeDocument/2006/relationships/image" Target="../media/image207.wmf"/><Relationship Id="rId1" Type="http://schemas.openxmlformats.org/officeDocument/2006/relationships/oleObject" Target="../embeddings/oleObject187.bin"/></Relationships>
</file>

<file path=ppt/slides/_rels/slide135.xml.rels><?xml version="1.0" encoding="UTF-8" standalone="yes"?>
<Relationships xmlns="http://schemas.openxmlformats.org/package/2006/relationships"><Relationship Id="rId4" Type="http://schemas.openxmlformats.org/officeDocument/2006/relationships/vmlDrawing" Target="../drawings/vmlDrawing95.vml"/><Relationship Id="rId3" Type="http://schemas.openxmlformats.org/officeDocument/2006/relationships/slideLayout" Target="../slideLayouts/slideLayout7.xml"/><Relationship Id="rId2" Type="http://schemas.openxmlformats.org/officeDocument/2006/relationships/image" Target="../media/image208.wmf"/><Relationship Id="rId1" Type="http://schemas.openxmlformats.org/officeDocument/2006/relationships/oleObject" Target="../embeddings/oleObject188.bin"/></Relationships>
</file>

<file path=ppt/slides/_rels/slide136.xml.rels><?xml version="1.0" encoding="UTF-8" standalone="yes"?>
<Relationships xmlns="http://schemas.openxmlformats.org/package/2006/relationships"><Relationship Id="rId6" Type="http://schemas.openxmlformats.org/officeDocument/2006/relationships/vmlDrawing" Target="../drawings/vmlDrawing96.vml"/><Relationship Id="rId5" Type="http://schemas.openxmlformats.org/officeDocument/2006/relationships/slideLayout" Target="../slideLayouts/slideLayout7.xml"/><Relationship Id="rId4" Type="http://schemas.openxmlformats.org/officeDocument/2006/relationships/image" Target="../media/image210.wmf"/><Relationship Id="rId3" Type="http://schemas.openxmlformats.org/officeDocument/2006/relationships/oleObject" Target="../embeddings/oleObject190.bin"/><Relationship Id="rId2" Type="http://schemas.openxmlformats.org/officeDocument/2006/relationships/image" Target="../media/image209.wmf"/><Relationship Id="rId1" Type="http://schemas.openxmlformats.org/officeDocument/2006/relationships/oleObject" Target="../embeddings/oleObject189.bin"/></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1.jpeg"/></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xml"/><Relationship Id="rId1" Type="http://schemas.openxmlformats.org/officeDocument/2006/relationships/tags" Target="../tags/tag27.xml"/></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tags" Target="../tags/tag29.xml"/></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2.xml"/><Relationship Id="rId1" Type="http://schemas.openxmlformats.org/officeDocument/2006/relationships/tags" Target="../tags/tag3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6" Type="http://schemas.openxmlformats.org/officeDocument/2006/relationships/vmlDrawing" Target="../drawings/vmlDrawing97.vml"/><Relationship Id="rId5" Type="http://schemas.openxmlformats.org/officeDocument/2006/relationships/slideLayout" Target="../slideLayouts/slideLayout7.xml"/><Relationship Id="rId4" Type="http://schemas.openxmlformats.org/officeDocument/2006/relationships/tags" Target="../tags/tag34.xml"/><Relationship Id="rId3" Type="http://schemas.openxmlformats.org/officeDocument/2006/relationships/image" Target="../media/image212.wmf"/><Relationship Id="rId2" Type="http://schemas.openxmlformats.org/officeDocument/2006/relationships/oleObject" Target="../embeddings/oleObject191.bin"/><Relationship Id="rId1" Type="http://schemas.openxmlformats.org/officeDocument/2006/relationships/tags" Target="../tags/tag33.xml"/></Relationships>
</file>

<file path=ppt/slides/_rels/slide144.xml.rels><?xml version="1.0" encoding="UTF-8" standalone="yes"?>
<Relationships xmlns="http://schemas.openxmlformats.org/package/2006/relationships"><Relationship Id="rId4" Type="http://schemas.openxmlformats.org/officeDocument/2006/relationships/vmlDrawing" Target="../drawings/vmlDrawing98.vml"/><Relationship Id="rId3" Type="http://schemas.openxmlformats.org/officeDocument/2006/relationships/slideLayout" Target="../slideLayouts/slideLayout7.xml"/><Relationship Id="rId2" Type="http://schemas.openxmlformats.org/officeDocument/2006/relationships/image" Target="../media/image213.wmf"/><Relationship Id="rId1" Type="http://schemas.openxmlformats.org/officeDocument/2006/relationships/oleObject" Target="../embeddings/oleObject192.bin"/></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4.jpe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5.jpeg"/></Relationships>
</file>

<file path=ppt/slides/_rels/slide149.xml.rels><?xml version="1.0" encoding="UTF-8" standalone="yes"?>
<Relationships xmlns="http://schemas.openxmlformats.org/package/2006/relationships"><Relationship Id="rId9" Type="http://schemas.openxmlformats.org/officeDocument/2006/relationships/oleObject" Target="../embeddings/oleObject197.bin"/><Relationship Id="rId8" Type="http://schemas.openxmlformats.org/officeDocument/2006/relationships/image" Target="../media/image219.wmf"/><Relationship Id="rId7" Type="http://schemas.openxmlformats.org/officeDocument/2006/relationships/oleObject" Target="../embeddings/oleObject196.bin"/><Relationship Id="rId6" Type="http://schemas.openxmlformats.org/officeDocument/2006/relationships/image" Target="../media/image218.wmf"/><Relationship Id="rId5" Type="http://schemas.openxmlformats.org/officeDocument/2006/relationships/oleObject" Target="../embeddings/oleObject195.bin"/><Relationship Id="rId4" Type="http://schemas.openxmlformats.org/officeDocument/2006/relationships/image" Target="../media/image217.wmf"/><Relationship Id="rId3" Type="http://schemas.openxmlformats.org/officeDocument/2006/relationships/oleObject" Target="../embeddings/oleObject194.bin"/><Relationship Id="rId22" Type="http://schemas.openxmlformats.org/officeDocument/2006/relationships/vmlDrawing" Target="../drawings/vmlDrawing99.vml"/><Relationship Id="rId21" Type="http://schemas.openxmlformats.org/officeDocument/2006/relationships/slideLayout" Target="../slideLayouts/slideLayout7.xml"/><Relationship Id="rId20" Type="http://schemas.openxmlformats.org/officeDocument/2006/relationships/image" Target="../media/image225.wmf"/><Relationship Id="rId2" Type="http://schemas.openxmlformats.org/officeDocument/2006/relationships/image" Target="../media/image216.wmf"/><Relationship Id="rId19" Type="http://schemas.openxmlformats.org/officeDocument/2006/relationships/oleObject" Target="../embeddings/oleObject202.bin"/><Relationship Id="rId18" Type="http://schemas.openxmlformats.org/officeDocument/2006/relationships/image" Target="../media/image224.wmf"/><Relationship Id="rId17" Type="http://schemas.openxmlformats.org/officeDocument/2006/relationships/oleObject" Target="../embeddings/oleObject201.bin"/><Relationship Id="rId16" Type="http://schemas.openxmlformats.org/officeDocument/2006/relationships/image" Target="../media/image223.wmf"/><Relationship Id="rId15" Type="http://schemas.openxmlformats.org/officeDocument/2006/relationships/oleObject" Target="../embeddings/oleObject200.bin"/><Relationship Id="rId14" Type="http://schemas.openxmlformats.org/officeDocument/2006/relationships/image" Target="../media/image222.wmf"/><Relationship Id="rId13" Type="http://schemas.openxmlformats.org/officeDocument/2006/relationships/oleObject" Target="../embeddings/oleObject199.bin"/><Relationship Id="rId12" Type="http://schemas.openxmlformats.org/officeDocument/2006/relationships/image" Target="../media/image221.wmf"/><Relationship Id="rId11" Type="http://schemas.openxmlformats.org/officeDocument/2006/relationships/oleObject" Target="../embeddings/oleObject198.bin"/><Relationship Id="rId10" Type="http://schemas.openxmlformats.org/officeDocument/2006/relationships/image" Target="../media/image220.wmf"/><Relationship Id="rId1" Type="http://schemas.openxmlformats.org/officeDocument/2006/relationships/oleObject" Target="../embeddings/oleObject193.bin"/></Relationships>
</file>

<file path=ppt/slides/_rels/slide15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30.png"/><Relationship Id="rId7" Type="http://schemas.openxmlformats.org/officeDocument/2006/relationships/image" Target="../media/image229.png"/><Relationship Id="rId6" Type="http://schemas.openxmlformats.org/officeDocument/2006/relationships/image" Target="../media/image228.wmf"/><Relationship Id="rId5" Type="http://schemas.openxmlformats.org/officeDocument/2006/relationships/oleObject" Target="../embeddings/oleObject205.bin"/><Relationship Id="rId4" Type="http://schemas.openxmlformats.org/officeDocument/2006/relationships/image" Target="../media/image227.wmf"/><Relationship Id="rId3" Type="http://schemas.openxmlformats.org/officeDocument/2006/relationships/oleObject" Target="../embeddings/oleObject204.bin"/><Relationship Id="rId2" Type="http://schemas.openxmlformats.org/officeDocument/2006/relationships/image" Target="../media/image226.wmf"/><Relationship Id="rId10" Type="http://schemas.openxmlformats.org/officeDocument/2006/relationships/vmlDrawing" Target="../drawings/vmlDrawing100.vml"/><Relationship Id="rId1" Type="http://schemas.openxmlformats.org/officeDocument/2006/relationships/oleObject" Target="../embeddings/oleObject203.bin"/></Relationships>
</file>

<file path=ppt/slides/_rels/slide151.xml.rels><?xml version="1.0" encoding="UTF-8" standalone="yes"?>
<Relationships xmlns="http://schemas.openxmlformats.org/package/2006/relationships"><Relationship Id="rId9" Type="http://schemas.openxmlformats.org/officeDocument/2006/relationships/oleObject" Target="../embeddings/oleObject210.bin"/><Relationship Id="rId8" Type="http://schemas.openxmlformats.org/officeDocument/2006/relationships/image" Target="../media/image234.wmf"/><Relationship Id="rId7" Type="http://schemas.openxmlformats.org/officeDocument/2006/relationships/oleObject" Target="../embeddings/oleObject209.bin"/><Relationship Id="rId6" Type="http://schemas.openxmlformats.org/officeDocument/2006/relationships/image" Target="../media/image233.wmf"/><Relationship Id="rId5" Type="http://schemas.openxmlformats.org/officeDocument/2006/relationships/oleObject" Target="../embeddings/oleObject208.bin"/><Relationship Id="rId4" Type="http://schemas.openxmlformats.org/officeDocument/2006/relationships/image" Target="../media/image232.wmf"/><Relationship Id="rId3" Type="http://schemas.openxmlformats.org/officeDocument/2006/relationships/oleObject" Target="../embeddings/oleObject207.bin"/><Relationship Id="rId26" Type="http://schemas.openxmlformats.org/officeDocument/2006/relationships/vmlDrawing" Target="../drawings/vmlDrawing101.vml"/><Relationship Id="rId25" Type="http://schemas.openxmlformats.org/officeDocument/2006/relationships/slideLayout" Target="../slideLayouts/slideLayout7.xml"/><Relationship Id="rId24" Type="http://schemas.openxmlformats.org/officeDocument/2006/relationships/image" Target="../media/image242.wmf"/><Relationship Id="rId23" Type="http://schemas.openxmlformats.org/officeDocument/2006/relationships/oleObject" Target="../embeddings/oleObject217.bin"/><Relationship Id="rId22" Type="http://schemas.openxmlformats.org/officeDocument/2006/relationships/image" Target="../media/image241.wmf"/><Relationship Id="rId21" Type="http://schemas.openxmlformats.org/officeDocument/2006/relationships/oleObject" Target="../embeddings/oleObject216.bin"/><Relationship Id="rId20" Type="http://schemas.openxmlformats.org/officeDocument/2006/relationships/image" Target="../media/image240.wmf"/><Relationship Id="rId2" Type="http://schemas.openxmlformats.org/officeDocument/2006/relationships/image" Target="../media/image231.wmf"/><Relationship Id="rId19" Type="http://schemas.openxmlformats.org/officeDocument/2006/relationships/oleObject" Target="../embeddings/oleObject215.bin"/><Relationship Id="rId18" Type="http://schemas.openxmlformats.org/officeDocument/2006/relationships/image" Target="../media/image239.wmf"/><Relationship Id="rId17" Type="http://schemas.openxmlformats.org/officeDocument/2006/relationships/oleObject" Target="../embeddings/oleObject214.bin"/><Relationship Id="rId16" Type="http://schemas.openxmlformats.org/officeDocument/2006/relationships/image" Target="../media/image238.wmf"/><Relationship Id="rId15" Type="http://schemas.openxmlformats.org/officeDocument/2006/relationships/oleObject" Target="../embeddings/oleObject213.bin"/><Relationship Id="rId14" Type="http://schemas.openxmlformats.org/officeDocument/2006/relationships/image" Target="../media/image237.wmf"/><Relationship Id="rId13" Type="http://schemas.openxmlformats.org/officeDocument/2006/relationships/oleObject" Target="../embeddings/oleObject212.bin"/><Relationship Id="rId12" Type="http://schemas.openxmlformats.org/officeDocument/2006/relationships/image" Target="../media/image236.wmf"/><Relationship Id="rId11" Type="http://schemas.openxmlformats.org/officeDocument/2006/relationships/oleObject" Target="../embeddings/oleObject211.bin"/><Relationship Id="rId10" Type="http://schemas.openxmlformats.org/officeDocument/2006/relationships/image" Target="../media/image235.wmf"/><Relationship Id="rId1" Type="http://schemas.openxmlformats.org/officeDocument/2006/relationships/oleObject" Target="../embeddings/oleObject206.bin"/></Relationships>
</file>

<file path=ppt/slides/_rels/slide152.xml.rels><?xml version="1.0" encoding="UTF-8" standalone="yes"?>
<Relationships xmlns="http://schemas.openxmlformats.org/package/2006/relationships"><Relationship Id="rId9" Type="http://schemas.openxmlformats.org/officeDocument/2006/relationships/oleObject" Target="../embeddings/oleObject222.bin"/><Relationship Id="rId8" Type="http://schemas.openxmlformats.org/officeDocument/2006/relationships/image" Target="../media/image246.wmf"/><Relationship Id="rId7" Type="http://schemas.openxmlformats.org/officeDocument/2006/relationships/oleObject" Target="../embeddings/oleObject221.bin"/><Relationship Id="rId6" Type="http://schemas.openxmlformats.org/officeDocument/2006/relationships/image" Target="../media/image245.wmf"/><Relationship Id="rId5" Type="http://schemas.openxmlformats.org/officeDocument/2006/relationships/oleObject" Target="../embeddings/oleObject220.bin"/><Relationship Id="rId4" Type="http://schemas.openxmlformats.org/officeDocument/2006/relationships/image" Target="../media/image244.wmf"/><Relationship Id="rId3" Type="http://schemas.openxmlformats.org/officeDocument/2006/relationships/oleObject" Target="../embeddings/oleObject219.bin"/><Relationship Id="rId23" Type="http://schemas.openxmlformats.org/officeDocument/2006/relationships/vmlDrawing" Target="../drawings/vmlDrawing102.vml"/><Relationship Id="rId22" Type="http://schemas.openxmlformats.org/officeDocument/2006/relationships/slideLayout" Target="../slideLayouts/slideLayout7.xml"/><Relationship Id="rId21" Type="http://schemas.openxmlformats.org/officeDocument/2006/relationships/image" Target="../media/image252.wmf"/><Relationship Id="rId20" Type="http://schemas.openxmlformats.org/officeDocument/2006/relationships/oleObject" Target="../embeddings/oleObject228.bin"/><Relationship Id="rId2" Type="http://schemas.openxmlformats.org/officeDocument/2006/relationships/image" Target="../media/image243.wmf"/><Relationship Id="rId19" Type="http://schemas.openxmlformats.org/officeDocument/2006/relationships/image" Target="../media/image251.wmf"/><Relationship Id="rId18" Type="http://schemas.openxmlformats.org/officeDocument/2006/relationships/oleObject" Target="../embeddings/oleObject227.bin"/><Relationship Id="rId17" Type="http://schemas.openxmlformats.org/officeDocument/2006/relationships/image" Target="../media/image250.wmf"/><Relationship Id="rId16" Type="http://schemas.openxmlformats.org/officeDocument/2006/relationships/oleObject" Target="../embeddings/oleObject226.bin"/><Relationship Id="rId15" Type="http://schemas.openxmlformats.org/officeDocument/2006/relationships/oleObject" Target="../embeddings/oleObject225.bin"/><Relationship Id="rId14" Type="http://schemas.openxmlformats.org/officeDocument/2006/relationships/image" Target="../media/image249.wmf"/><Relationship Id="rId13" Type="http://schemas.openxmlformats.org/officeDocument/2006/relationships/oleObject" Target="../embeddings/oleObject224.bin"/><Relationship Id="rId12" Type="http://schemas.openxmlformats.org/officeDocument/2006/relationships/image" Target="../media/image248.wmf"/><Relationship Id="rId11" Type="http://schemas.openxmlformats.org/officeDocument/2006/relationships/oleObject" Target="../embeddings/oleObject223.bin"/><Relationship Id="rId10" Type="http://schemas.openxmlformats.org/officeDocument/2006/relationships/image" Target="../media/image247.wmf"/><Relationship Id="rId1" Type="http://schemas.openxmlformats.org/officeDocument/2006/relationships/oleObject" Target="../embeddings/oleObject218.bin"/></Relationships>
</file>

<file path=ppt/slides/_rels/slide153.xml.rels><?xml version="1.0" encoding="UTF-8" standalone="yes"?>
<Relationships xmlns="http://schemas.openxmlformats.org/package/2006/relationships"><Relationship Id="rId9" Type="http://schemas.openxmlformats.org/officeDocument/2006/relationships/oleObject" Target="../embeddings/oleObject233.bin"/><Relationship Id="rId8" Type="http://schemas.openxmlformats.org/officeDocument/2006/relationships/image" Target="../media/image256.wmf"/><Relationship Id="rId7" Type="http://schemas.openxmlformats.org/officeDocument/2006/relationships/oleObject" Target="../embeddings/oleObject232.bin"/><Relationship Id="rId6" Type="http://schemas.openxmlformats.org/officeDocument/2006/relationships/image" Target="../media/image255.wmf"/><Relationship Id="rId5" Type="http://schemas.openxmlformats.org/officeDocument/2006/relationships/oleObject" Target="../embeddings/oleObject231.bin"/><Relationship Id="rId4" Type="http://schemas.openxmlformats.org/officeDocument/2006/relationships/image" Target="../media/image254.wmf"/><Relationship Id="rId3" Type="http://schemas.openxmlformats.org/officeDocument/2006/relationships/oleObject" Target="../embeddings/oleObject230.bin"/><Relationship Id="rId22" Type="http://schemas.openxmlformats.org/officeDocument/2006/relationships/vmlDrawing" Target="../drawings/vmlDrawing103.vml"/><Relationship Id="rId21" Type="http://schemas.openxmlformats.org/officeDocument/2006/relationships/slideLayout" Target="../slideLayouts/slideLayout7.xml"/><Relationship Id="rId20" Type="http://schemas.openxmlformats.org/officeDocument/2006/relationships/image" Target="../media/image262.wmf"/><Relationship Id="rId2" Type="http://schemas.openxmlformats.org/officeDocument/2006/relationships/image" Target="../media/image253.wmf"/><Relationship Id="rId19" Type="http://schemas.openxmlformats.org/officeDocument/2006/relationships/oleObject" Target="../embeddings/oleObject238.bin"/><Relationship Id="rId18" Type="http://schemas.openxmlformats.org/officeDocument/2006/relationships/image" Target="../media/image261.wmf"/><Relationship Id="rId17" Type="http://schemas.openxmlformats.org/officeDocument/2006/relationships/oleObject" Target="../embeddings/oleObject237.bin"/><Relationship Id="rId16" Type="http://schemas.openxmlformats.org/officeDocument/2006/relationships/image" Target="../media/image260.wmf"/><Relationship Id="rId15" Type="http://schemas.openxmlformats.org/officeDocument/2006/relationships/oleObject" Target="../embeddings/oleObject236.bin"/><Relationship Id="rId14" Type="http://schemas.openxmlformats.org/officeDocument/2006/relationships/image" Target="../media/image259.wmf"/><Relationship Id="rId13" Type="http://schemas.openxmlformats.org/officeDocument/2006/relationships/oleObject" Target="../embeddings/oleObject235.bin"/><Relationship Id="rId12" Type="http://schemas.openxmlformats.org/officeDocument/2006/relationships/image" Target="../media/image258.wmf"/><Relationship Id="rId11" Type="http://schemas.openxmlformats.org/officeDocument/2006/relationships/oleObject" Target="../embeddings/oleObject234.bin"/><Relationship Id="rId10" Type="http://schemas.openxmlformats.org/officeDocument/2006/relationships/image" Target="../media/image257.wmf"/><Relationship Id="rId1" Type="http://schemas.openxmlformats.org/officeDocument/2006/relationships/oleObject" Target="../embeddings/oleObject229.bin"/></Relationships>
</file>

<file path=ppt/slides/_rels/slide154.xml.rels><?xml version="1.0" encoding="UTF-8" standalone="yes"?>
<Relationships xmlns="http://schemas.openxmlformats.org/package/2006/relationships"><Relationship Id="rId9" Type="http://schemas.openxmlformats.org/officeDocument/2006/relationships/oleObject" Target="../embeddings/oleObject243.bin"/><Relationship Id="rId8" Type="http://schemas.openxmlformats.org/officeDocument/2006/relationships/image" Target="../media/image245.wmf"/><Relationship Id="rId7" Type="http://schemas.openxmlformats.org/officeDocument/2006/relationships/oleObject" Target="../embeddings/oleObject242.bin"/><Relationship Id="rId6" Type="http://schemas.openxmlformats.org/officeDocument/2006/relationships/image" Target="../media/image244.wmf"/><Relationship Id="rId5" Type="http://schemas.openxmlformats.org/officeDocument/2006/relationships/oleObject" Target="../embeddings/oleObject241.bin"/><Relationship Id="rId4" Type="http://schemas.openxmlformats.org/officeDocument/2006/relationships/image" Target="../media/image264.wmf"/><Relationship Id="rId3" Type="http://schemas.openxmlformats.org/officeDocument/2006/relationships/oleObject" Target="../embeddings/oleObject240.bin"/><Relationship Id="rId26" Type="http://schemas.openxmlformats.org/officeDocument/2006/relationships/vmlDrawing" Target="../drawings/vmlDrawing104.vml"/><Relationship Id="rId25" Type="http://schemas.openxmlformats.org/officeDocument/2006/relationships/slideLayout" Target="../slideLayouts/slideLayout7.xml"/><Relationship Id="rId24" Type="http://schemas.openxmlformats.org/officeDocument/2006/relationships/image" Target="../media/image271.wmf"/><Relationship Id="rId23" Type="http://schemas.openxmlformats.org/officeDocument/2006/relationships/oleObject" Target="../embeddings/oleObject250.bin"/><Relationship Id="rId22" Type="http://schemas.openxmlformats.org/officeDocument/2006/relationships/image" Target="../media/image270.wmf"/><Relationship Id="rId21" Type="http://schemas.openxmlformats.org/officeDocument/2006/relationships/oleObject" Target="../embeddings/oleObject249.bin"/><Relationship Id="rId20" Type="http://schemas.openxmlformats.org/officeDocument/2006/relationships/image" Target="../media/image269.wmf"/><Relationship Id="rId2" Type="http://schemas.openxmlformats.org/officeDocument/2006/relationships/image" Target="../media/image263.wmf"/><Relationship Id="rId19" Type="http://schemas.openxmlformats.org/officeDocument/2006/relationships/oleObject" Target="../embeddings/oleObject248.bin"/><Relationship Id="rId18" Type="http://schemas.openxmlformats.org/officeDocument/2006/relationships/image" Target="../media/image268.wmf"/><Relationship Id="rId17" Type="http://schemas.openxmlformats.org/officeDocument/2006/relationships/oleObject" Target="../embeddings/oleObject247.bin"/><Relationship Id="rId16" Type="http://schemas.openxmlformats.org/officeDocument/2006/relationships/image" Target="../media/image267.wmf"/><Relationship Id="rId15" Type="http://schemas.openxmlformats.org/officeDocument/2006/relationships/oleObject" Target="../embeddings/oleObject246.bin"/><Relationship Id="rId14" Type="http://schemas.openxmlformats.org/officeDocument/2006/relationships/image" Target="../media/image266.wmf"/><Relationship Id="rId13" Type="http://schemas.openxmlformats.org/officeDocument/2006/relationships/oleObject" Target="../embeddings/oleObject245.bin"/><Relationship Id="rId12" Type="http://schemas.openxmlformats.org/officeDocument/2006/relationships/image" Target="../media/image265.wmf"/><Relationship Id="rId11" Type="http://schemas.openxmlformats.org/officeDocument/2006/relationships/oleObject" Target="../embeddings/oleObject244.bin"/><Relationship Id="rId10" Type="http://schemas.openxmlformats.org/officeDocument/2006/relationships/image" Target="../media/image247.wmf"/><Relationship Id="rId1" Type="http://schemas.openxmlformats.org/officeDocument/2006/relationships/oleObject" Target="../embeddings/oleObject23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9" name="文本框 2051"/>
          <p:cNvSpPr txBox="1"/>
          <p:nvPr/>
        </p:nvSpPr>
        <p:spPr>
          <a:xfrm>
            <a:off x="1558925" y="573088"/>
            <a:ext cx="6219825" cy="1322387"/>
          </a:xfrm>
          <a:prstGeom prst="rect">
            <a:avLst/>
          </a:prstGeom>
          <a:noFill/>
          <a:ln w="9525">
            <a:noFill/>
          </a:ln>
        </p:spPr>
        <p:txBody>
          <a:bodyPr wrap="none" anchor="t">
            <a:spAutoFit/>
          </a:bodyPr>
          <a:p>
            <a:r>
              <a:rPr lang="zh-CN" altLang="en-US" sz="4000" dirty="0">
                <a:latin typeface="华文行楷" panose="02010800040101010101" pitchFamily="2" charset="-122"/>
                <a:ea typeface="华文行楷" panose="02010800040101010101" pitchFamily="2" charset="-122"/>
              </a:rPr>
              <a:t>第</a:t>
            </a:r>
            <a:r>
              <a:rPr lang="en-US" altLang="zh-CN" sz="4000" dirty="0">
                <a:latin typeface="华文行楷" panose="02010800040101010101" pitchFamily="2" charset="-122"/>
                <a:ea typeface="华文行楷" panose="02010800040101010101" pitchFamily="2" charset="-122"/>
              </a:rPr>
              <a:t>6</a:t>
            </a:r>
            <a:r>
              <a:rPr lang="zh-CN" altLang="en-US" sz="4000" dirty="0">
                <a:latin typeface="华文行楷" panose="02010800040101010101" pitchFamily="2" charset="-122"/>
                <a:ea typeface="华文行楷" panose="02010800040101010101" pitchFamily="2" charset="-122"/>
              </a:rPr>
              <a:t>章 有限长单位脉冲响应</a:t>
            </a:r>
            <a:endParaRPr lang="zh-CN" altLang="en-US" sz="4000" dirty="0">
              <a:latin typeface="华文行楷" panose="02010800040101010101" pitchFamily="2" charset="-122"/>
              <a:ea typeface="华文行楷" panose="02010800040101010101" pitchFamily="2" charset="-122"/>
            </a:endParaRPr>
          </a:p>
          <a:p>
            <a:r>
              <a:rPr lang="zh-CN" altLang="en-US" sz="4000" dirty="0">
                <a:latin typeface="华文行楷" panose="02010800040101010101" pitchFamily="2" charset="-122"/>
                <a:ea typeface="华文行楷" panose="02010800040101010101" pitchFamily="2" charset="-122"/>
              </a:rPr>
              <a:t>     数字滤波器设计方法 </a:t>
            </a:r>
            <a:endParaRPr lang="zh-CN" altLang="en-US" sz="4000" dirty="0">
              <a:latin typeface="华文行楷" panose="02010800040101010101" pitchFamily="2" charset="-122"/>
              <a:ea typeface="华文行楷" panose="02010800040101010101" pitchFamily="2" charset="-122"/>
            </a:endParaRPr>
          </a:p>
        </p:txBody>
      </p:sp>
      <p:sp>
        <p:nvSpPr>
          <p:cNvPr id="2050" name="文本框 2053"/>
          <p:cNvSpPr txBox="1"/>
          <p:nvPr/>
        </p:nvSpPr>
        <p:spPr>
          <a:xfrm>
            <a:off x="2406650" y="2017713"/>
            <a:ext cx="4683125" cy="4076700"/>
          </a:xfrm>
          <a:prstGeom prst="rect">
            <a:avLst/>
          </a:prstGeom>
          <a:noFill/>
          <a:ln w="9525">
            <a:noFill/>
          </a:ln>
        </p:spPr>
        <p:txBody>
          <a:bodyPr wrap="none" anchor="t">
            <a:spAutoFit/>
          </a:bodyPr>
          <a:p>
            <a:pPr>
              <a:lnSpc>
                <a:spcPct val="180000"/>
              </a:lnSpc>
            </a:pPr>
            <a:r>
              <a:rPr lang="en-US" altLang="zh-CN" b="1" dirty="0">
                <a:latin typeface="Times New Roman" panose="02020603050405020304" pitchFamily="18" charset="0"/>
                <a:ea typeface="宋体" panose="02010600030101010101" pitchFamily="2" charset="-122"/>
                <a:hlinkClick r:id="rId1" action="ppaction://hlinksldjump"/>
              </a:rPr>
              <a:t>6.1 </a:t>
            </a:r>
            <a:r>
              <a:rPr lang="zh-CN" altLang="en-US" b="1" dirty="0">
                <a:latin typeface="Times New Roman" panose="02020603050405020304" pitchFamily="18" charset="0"/>
                <a:ea typeface="宋体" panose="02010600030101010101" pitchFamily="2" charset="-122"/>
                <a:hlinkClick r:id="rId1" action="ppaction://hlinksldjump"/>
              </a:rPr>
              <a:t>线性相位</a:t>
            </a:r>
            <a:r>
              <a:rPr lang="en-US" altLang="zh-CN" b="1" dirty="0">
                <a:latin typeface="Times New Roman" panose="02020603050405020304" pitchFamily="18" charset="0"/>
                <a:ea typeface="宋体" panose="02010600030101010101" pitchFamily="2" charset="-122"/>
                <a:hlinkClick r:id="rId1" action="ppaction://hlinksldjump"/>
              </a:rPr>
              <a:t>FIR</a:t>
            </a:r>
            <a:r>
              <a:rPr lang="zh-CN" altLang="en-US" b="1" dirty="0">
                <a:latin typeface="Times New Roman" panose="02020603050405020304" pitchFamily="18" charset="0"/>
                <a:ea typeface="宋体" panose="02010600030101010101" pitchFamily="2" charset="-122"/>
                <a:hlinkClick r:id="rId1" action="ppaction://hlinksldjump"/>
              </a:rPr>
              <a:t>滤波器的特点 </a:t>
            </a:r>
            <a:endParaRPr lang="zh-CN" altLang="en-US" b="1" dirty="0">
              <a:latin typeface="Times New Roman" panose="02020603050405020304" pitchFamily="18" charset="0"/>
              <a:ea typeface="宋体" panose="02010600030101010101" pitchFamily="2" charset="-122"/>
            </a:endParaRPr>
          </a:p>
          <a:p>
            <a:pPr>
              <a:lnSpc>
                <a:spcPct val="180000"/>
              </a:lnSpc>
            </a:pPr>
            <a:r>
              <a:rPr lang="en-US" altLang="zh-CN" b="1" dirty="0">
                <a:latin typeface="Times New Roman" panose="02020603050405020304" pitchFamily="18" charset="0"/>
                <a:ea typeface="宋体" panose="02010600030101010101" pitchFamily="2" charset="-122"/>
                <a:hlinkClick r:id="rId2" action="ppaction://hlinksldjump"/>
              </a:rPr>
              <a:t>6.2 </a:t>
            </a:r>
            <a:r>
              <a:rPr lang="zh-CN" altLang="en-US" b="1" dirty="0">
                <a:latin typeface="Times New Roman" panose="02020603050405020304" pitchFamily="18" charset="0"/>
                <a:ea typeface="宋体" panose="02010600030101010101" pitchFamily="2" charset="-122"/>
                <a:hlinkClick r:id="rId2" action="ppaction://hlinksldjump"/>
              </a:rPr>
              <a:t>用窗函数法设计</a:t>
            </a:r>
            <a:r>
              <a:rPr lang="en-US" altLang="zh-CN" b="1" dirty="0">
                <a:latin typeface="Times New Roman" panose="02020603050405020304" pitchFamily="18" charset="0"/>
                <a:ea typeface="宋体" panose="02010600030101010101" pitchFamily="2" charset="-122"/>
                <a:hlinkClick r:id="rId2" action="ppaction://hlinksldjump"/>
              </a:rPr>
              <a:t>FIR</a:t>
            </a:r>
            <a:r>
              <a:rPr lang="zh-CN" altLang="en-US" b="1" dirty="0">
                <a:latin typeface="Times New Roman" panose="02020603050405020304" pitchFamily="18" charset="0"/>
                <a:ea typeface="宋体" panose="02010600030101010101" pitchFamily="2" charset="-122"/>
                <a:hlinkClick r:id="rId2" action="ppaction://hlinksldjump"/>
              </a:rPr>
              <a:t>滤波器 </a:t>
            </a:r>
            <a:endParaRPr lang="zh-CN" altLang="en-US" b="1" dirty="0">
              <a:latin typeface="Times New Roman" panose="02020603050405020304" pitchFamily="18" charset="0"/>
              <a:ea typeface="宋体" panose="02010600030101010101" pitchFamily="2" charset="-122"/>
            </a:endParaRPr>
          </a:p>
          <a:p>
            <a:pPr>
              <a:lnSpc>
                <a:spcPct val="180000"/>
              </a:lnSpc>
            </a:pPr>
            <a:r>
              <a:rPr lang="en-US" altLang="zh-CN" b="1" dirty="0">
                <a:latin typeface="Times New Roman" panose="02020603050405020304" pitchFamily="18" charset="0"/>
                <a:ea typeface="宋体" panose="02010600030101010101" pitchFamily="2" charset="-122"/>
                <a:hlinkClick r:id="rId3" action="ppaction://hlinksldjump"/>
              </a:rPr>
              <a:t>6.3 </a:t>
            </a:r>
            <a:r>
              <a:rPr lang="zh-CN" altLang="en-US" b="1" dirty="0">
                <a:latin typeface="Times New Roman" panose="02020603050405020304" pitchFamily="18" charset="0"/>
                <a:ea typeface="宋体" panose="02010600030101010101" pitchFamily="2" charset="-122"/>
                <a:hlinkClick r:id="rId3" action="ppaction://hlinksldjump"/>
              </a:rPr>
              <a:t>用频率采样法设计</a:t>
            </a:r>
            <a:r>
              <a:rPr lang="en-US" altLang="zh-CN" b="1" dirty="0">
                <a:latin typeface="Times New Roman" panose="02020603050405020304" pitchFamily="18" charset="0"/>
                <a:ea typeface="宋体" panose="02010600030101010101" pitchFamily="2" charset="-122"/>
                <a:hlinkClick r:id="rId3" action="ppaction://hlinksldjump"/>
              </a:rPr>
              <a:t>FIR</a:t>
            </a:r>
            <a:r>
              <a:rPr lang="zh-CN" altLang="en-US" b="1" dirty="0">
                <a:latin typeface="Times New Roman" panose="02020603050405020304" pitchFamily="18" charset="0"/>
                <a:ea typeface="宋体" panose="02010600030101010101" pitchFamily="2" charset="-122"/>
                <a:hlinkClick r:id="rId3" action="ppaction://hlinksldjump"/>
              </a:rPr>
              <a:t>滤波器 </a:t>
            </a:r>
            <a:endParaRPr lang="zh-CN" altLang="en-US" b="1" dirty="0">
              <a:latin typeface="Times New Roman" panose="02020603050405020304" pitchFamily="18" charset="0"/>
              <a:ea typeface="宋体" panose="02010600030101010101" pitchFamily="2" charset="-122"/>
            </a:endParaRPr>
          </a:p>
          <a:p>
            <a:pPr>
              <a:lnSpc>
                <a:spcPct val="180000"/>
              </a:lnSpc>
            </a:pPr>
            <a:r>
              <a:rPr lang="en-US" altLang="zh-CN" b="1" dirty="0">
                <a:latin typeface="Times New Roman" panose="02020603050405020304" pitchFamily="18" charset="0"/>
                <a:ea typeface="宋体" panose="02010600030101010101" pitchFamily="2" charset="-122"/>
                <a:hlinkClick r:id="rId4" action="ppaction://hlinksldjump"/>
              </a:rPr>
              <a:t>6.4 </a:t>
            </a:r>
            <a:r>
              <a:rPr lang="zh-CN" altLang="en-US" b="1" dirty="0">
                <a:latin typeface="Times New Roman" panose="02020603050405020304" pitchFamily="18" charset="0"/>
                <a:ea typeface="宋体" panose="02010600030101010101" pitchFamily="2" charset="-122"/>
                <a:hlinkClick r:id="rId4" action="ppaction://hlinksldjump"/>
              </a:rPr>
              <a:t>等波纹线性相位滤波器</a:t>
            </a:r>
            <a:endParaRPr lang="zh-CN" altLang="en-US" b="1" dirty="0">
              <a:latin typeface="Times New Roman" panose="02020603050405020304" pitchFamily="18" charset="0"/>
              <a:ea typeface="宋体" panose="02010600030101010101" pitchFamily="2" charset="-122"/>
            </a:endParaRPr>
          </a:p>
          <a:p>
            <a:pPr>
              <a:lnSpc>
                <a:spcPct val="180000"/>
              </a:lnSpc>
            </a:pPr>
            <a:r>
              <a:rPr lang="en-US" altLang="zh-CN" b="1" dirty="0">
                <a:latin typeface="Times New Roman" panose="02020603050405020304" pitchFamily="18" charset="0"/>
                <a:ea typeface="宋体" panose="02010600030101010101" pitchFamily="2" charset="-122"/>
                <a:hlinkClick r:id="rId5" action="ppaction://hlinksldjump"/>
              </a:rPr>
              <a:t>6.5 FIR</a:t>
            </a:r>
            <a:r>
              <a:rPr lang="zh-CN" altLang="en-US" b="1" dirty="0">
                <a:latin typeface="Times New Roman" panose="02020603050405020304" pitchFamily="18" charset="0"/>
                <a:ea typeface="宋体" panose="02010600030101010101" pitchFamily="2" charset="-122"/>
                <a:hlinkClick r:id="rId5" action="ppaction://hlinksldjump"/>
              </a:rPr>
              <a:t>滤波器和</a:t>
            </a:r>
            <a:r>
              <a:rPr lang="en-US" altLang="zh-CN" b="1" dirty="0">
                <a:latin typeface="Times New Roman" panose="02020603050405020304" pitchFamily="18" charset="0"/>
                <a:ea typeface="宋体" panose="02010600030101010101" pitchFamily="2" charset="-122"/>
                <a:hlinkClick r:id="rId5" action="ppaction://hlinksldjump"/>
              </a:rPr>
              <a:t>IIR</a:t>
            </a:r>
            <a:r>
              <a:rPr lang="zh-CN" altLang="en-US" b="1" dirty="0">
                <a:latin typeface="Times New Roman" panose="02020603050405020304" pitchFamily="18" charset="0"/>
                <a:ea typeface="宋体" panose="02010600030101010101" pitchFamily="2" charset="-122"/>
                <a:hlinkClick r:id="rId5" action="ppaction://hlinksldjump"/>
              </a:rPr>
              <a:t>滤波器的比较</a:t>
            </a:r>
            <a:endParaRPr lang="zh-CN" altLang="en-US" b="1" dirty="0">
              <a:latin typeface="Times New Roman" panose="02020603050405020304" pitchFamily="18" charset="0"/>
              <a:ea typeface="宋体" panose="02010600030101010101" pitchFamily="2" charset="-122"/>
            </a:endParaRPr>
          </a:p>
          <a:p>
            <a:pPr>
              <a:lnSpc>
                <a:spcPct val="180000"/>
              </a:lnSpc>
            </a:pPr>
            <a:r>
              <a:rPr lang="en-US" altLang="zh-CN" b="1" dirty="0">
                <a:latin typeface="Times New Roman" panose="02020603050405020304" pitchFamily="18" charset="0"/>
                <a:ea typeface="宋体" panose="02010600030101010101" pitchFamily="2" charset="-122"/>
                <a:hlinkClick r:id="rId6" action="ppaction://hlinksldjump"/>
              </a:rPr>
              <a:t>6.6 </a:t>
            </a:r>
            <a:r>
              <a:rPr lang="zh-CN" altLang="en-US" b="1" dirty="0">
                <a:latin typeface="Times New Roman" panose="02020603050405020304" pitchFamily="18" charset="0"/>
                <a:ea typeface="宋体" panose="02010600030101010101" pitchFamily="2" charset="-122"/>
                <a:hlinkClick r:id="rId6" action="ppaction://hlinksldjump"/>
              </a:rPr>
              <a:t>数字滤波器的应用</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3419475" y="4645025"/>
            <a:ext cx="2428875"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 name="矩形 1"/>
          <p:cNvSpPr/>
          <p:nvPr/>
        </p:nvSpPr>
        <p:spPr>
          <a:xfrm>
            <a:off x="3492500" y="3068638"/>
            <a:ext cx="2159000" cy="865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3075" name="文本框 3075"/>
          <p:cNvSpPr txBox="1"/>
          <p:nvPr/>
        </p:nvSpPr>
        <p:spPr>
          <a:xfrm>
            <a:off x="1981200" y="838200"/>
            <a:ext cx="5676900" cy="584200"/>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6.1 </a:t>
            </a:r>
            <a:r>
              <a:rPr lang="zh-CN" altLang="en-US" sz="3200" b="1" u="sng" dirty="0">
                <a:solidFill>
                  <a:srgbClr val="FF0000"/>
                </a:solidFill>
                <a:latin typeface="Times New Roman" panose="02020603050405020304" pitchFamily="18" charset="0"/>
                <a:ea typeface="宋体" panose="02010600030101010101" pitchFamily="2" charset="-122"/>
              </a:rPr>
              <a:t>线性相位</a:t>
            </a:r>
            <a:r>
              <a:rPr lang="en-US" altLang="zh-CN" sz="3200" b="1" dirty="0">
                <a:latin typeface="Times New Roman" panose="02020603050405020304" pitchFamily="18" charset="0"/>
                <a:ea typeface="宋体" panose="02010600030101010101" pitchFamily="2" charset="-122"/>
              </a:rPr>
              <a:t>FIR</a:t>
            </a:r>
            <a:r>
              <a:rPr lang="zh-CN" altLang="en-US" sz="3200" b="1" dirty="0">
                <a:latin typeface="Times New Roman" panose="02020603050405020304" pitchFamily="18" charset="0"/>
                <a:ea typeface="宋体" panose="02010600030101010101" pitchFamily="2" charset="-122"/>
              </a:rPr>
              <a:t>滤波器的</a:t>
            </a:r>
            <a:r>
              <a:rPr lang="zh-CN" altLang="en-US" sz="3200" b="1" dirty="0">
                <a:solidFill>
                  <a:srgbClr val="FF0000"/>
                </a:solidFill>
                <a:latin typeface="Times New Roman" panose="02020603050405020304" pitchFamily="18" charset="0"/>
                <a:ea typeface="宋体" panose="02010600030101010101" pitchFamily="2" charset="-122"/>
              </a:rPr>
              <a:t>特点</a:t>
            </a:r>
            <a:r>
              <a:rPr lang="zh-CN" altLang="en-US" sz="3200" b="1" dirty="0">
                <a:latin typeface="Times New Roman" panose="02020603050405020304" pitchFamily="18" charset="0"/>
                <a:ea typeface="宋体" panose="02010600030101010101" pitchFamily="2" charset="-122"/>
              </a:rPr>
              <a:t> </a:t>
            </a:r>
            <a:endParaRPr lang="zh-CN" altLang="en-US" sz="3200" b="1" dirty="0">
              <a:latin typeface="Times New Roman" panose="02020603050405020304" pitchFamily="18" charset="0"/>
              <a:ea typeface="宋体" panose="02010600030101010101" pitchFamily="2" charset="-122"/>
            </a:endParaRPr>
          </a:p>
        </p:txBody>
      </p:sp>
      <p:sp>
        <p:nvSpPr>
          <p:cNvPr id="3076" name="文本框 3076"/>
          <p:cNvSpPr txBox="1"/>
          <p:nvPr/>
        </p:nvSpPr>
        <p:spPr>
          <a:xfrm>
            <a:off x="228600" y="1758950"/>
            <a:ext cx="8686800" cy="440055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数字滤波器的单位脉冲响应</a:t>
            </a:r>
            <a:r>
              <a:rPr lang="en-US" altLang="zh-CN" b="1" dirty="0">
                <a:solidFill>
                  <a:srgbClr val="FF0000"/>
                </a:solidFill>
                <a:latin typeface="Times New Roman" panose="02020603050405020304" pitchFamily="18" charset="0"/>
                <a:ea typeface="宋体" panose="02010600030101010101" pitchFamily="2" charset="-122"/>
              </a:rPr>
              <a:t>h(n)</a:t>
            </a:r>
            <a:r>
              <a:rPr lang="zh-CN" altLang="en-US" b="1" dirty="0">
                <a:solidFill>
                  <a:srgbClr val="FF0000"/>
                </a:solidFill>
                <a:latin typeface="Times New Roman" panose="02020603050405020304" pitchFamily="18" charset="0"/>
                <a:ea typeface="宋体" panose="02010600030101010101" pitchFamily="2" charset="-122"/>
              </a:rPr>
              <a:t>是实数序列</a:t>
            </a:r>
            <a:r>
              <a:rPr lang="zh-CN" altLang="en-US" dirty="0">
                <a:latin typeface="Times New Roman" panose="02020603050405020304" pitchFamily="18" charset="0"/>
                <a:ea typeface="宋体" panose="02010600030101010101" pitchFamily="2" charset="-122"/>
              </a:rPr>
              <a:t>， 而且满足</a:t>
            </a:r>
            <a:r>
              <a:rPr lang="zh-CN" altLang="en-US" b="1" dirty="0">
                <a:solidFill>
                  <a:srgbClr val="FF0000"/>
                </a:solidFill>
                <a:latin typeface="Times New Roman" panose="02020603050405020304" pitchFamily="18" charset="0"/>
                <a:ea typeface="宋体" panose="02010600030101010101" pitchFamily="2" charset="-122"/>
              </a:rPr>
              <a:t>偶对称</a:t>
            </a:r>
            <a:r>
              <a:rPr lang="zh-CN" altLang="en-US" dirty="0">
                <a:latin typeface="Times New Roman" panose="02020603050405020304" pitchFamily="18" charset="0"/>
                <a:ea typeface="宋体" panose="02010600030101010101" pitchFamily="2" charset="-122"/>
              </a:rPr>
              <a:t>或</a:t>
            </a:r>
            <a:r>
              <a:rPr lang="zh-CN" altLang="en-US" b="1" dirty="0">
                <a:solidFill>
                  <a:srgbClr val="FF0000"/>
                </a:solidFill>
                <a:latin typeface="Times New Roman" panose="02020603050405020304" pitchFamily="18" charset="0"/>
                <a:ea typeface="宋体" panose="02010600030101010101" pitchFamily="2" charset="-122"/>
              </a:rPr>
              <a:t>奇对称</a:t>
            </a:r>
            <a:r>
              <a:rPr lang="zh-CN" altLang="en-US" dirty="0">
                <a:latin typeface="Times New Roman" panose="02020603050405020304" pitchFamily="18" charset="0"/>
                <a:ea typeface="宋体" panose="02010600030101010101" pitchFamily="2" charset="-122"/>
              </a:rPr>
              <a:t>的条件，即</a:t>
            </a:r>
            <a:endParaRPr lang="zh-CN" altLang="en-US" dirty="0">
              <a:latin typeface="Times New Roman" panose="02020603050405020304" pitchFamily="18" charset="0"/>
              <a:ea typeface="宋体" panose="02010600030101010101" pitchFamily="2" charset="-122"/>
            </a:endParaRPr>
          </a:p>
          <a:p>
            <a:pPr algn="ctr">
              <a:lnSpc>
                <a:spcPct val="150000"/>
              </a:lnSpc>
              <a:spcBef>
                <a:spcPct val="50000"/>
              </a:spcBef>
            </a:pP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-1-</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或</a:t>
            </a:r>
            <a:endParaRPr lang="zh-CN" altLang="en-US" dirty="0">
              <a:latin typeface="Times New Roman" panose="02020603050405020304" pitchFamily="18" charset="0"/>
              <a:ea typeface="宋体" panose="02010600030101010101" pitchFamily="2" charset="-122"/>
            </a:endParaRPr>
          </a:p>
          <a:p>
            <a:pPr algn="ctr">
              <a:lnSpc>
                <a:spcPct val="150000"/>
              </a:lnSpc>
              <a:spcBef>
                <a:spcPct val="50000"/>
              </a:spcBef>
            </a:pP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-1-</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50000"/>
              </a:lnSpc>
              <a:spcBef>
                <a:spcPct val="50000"/>
              </a:spcBef>
            </a:pPr>
            <a:r>
              <a:rPr lang="zh-CN" altLang="en-US" dirty="0">
                <a:latin typeface="Times New Roman" panose="02020603050405020304" pitchFamily="18" charset="0"/>
                <a:ea typeface="宋体" panose="02010600030101010101" pitchFamily="2" charset="-122"/>
              </a:rPr>
              <a:t>则滤波器就具有严格的线性相位特点。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539750" y="4076700"/>
            <a:ext cx="1223963" cy="504825"/>
          </a:xfrm>
          <a:prstGeom prst="rect">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 name="矩形 1"/>
          <p:cNvSpPr/>
          <p:nvPr/>
        </p:nvSpPr>
        <p:spPr>
          <a:xfrm>
            <a:off x="2206625" y="1760538"/>
            <a:ext cx="2160588"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4099" name="文本框 4099"/>
          <p:cNvSpPr txBox="1"/>
          <p:nvPr/>
        </p:nvSpPr>
        <p:spPr>
          <a:xfrm>
            <a:off x="228600" y="533400"/>
            <a:ext cx="8686800" cy="2563813"/>
          </a:xfrm>
          <a:prstGeom prst="rect">
            <a:avLst/>
          </a:prstGeom>
          <a:noFill/>
          <a:ln w="9525">
            <a:noFill/>
          </a:ln>
        </p:spPr>
        <p:txBody>
          <a:bodyPr anchor="t">
            <a:spAutoFit/>
          </a:bodyPr>
          <a:p>
            <a:pPr algn="just">
              <a:lnSpc>
                <a:spcPct val="130000"/>
              </a:lnSpc>
              <a:spcBef>
                <a:spcPct val="50000"/>
              </a:spcBef>
            </a:pPr>
            <a:r>
              <a:rPr lang="en-US" altLang="zh-CN" b="1" dirty="0">
                <a:latin typeface="Times New Roman" panose="02020603050405020304" pitchFamily="18" charset="0"/>
                <a:ea typeface="宋体" panose="02010600030101010101" pitchFamily="2" charset="-122"/>
              </a:rPr>
              <a:t>6.1.1 </a:t>
            </a:r>
            <a:r>
              <a:rPr lang="zh-CN" altLang="en-US" b="1" dirty="0">
                <a:latin typeface="Times New Roman" panose="02020603050405020304" pitchFamily="18" charset="0"/>
                <a:ea typeface="宋体" panose="02010600030101010101" pitchFamily="2" charset="-122"/>
              </a:rPr>
              <a:t>线性相位特性</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先看</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偶对称的情况</a:t>
            </a:r>
            <a:r>
              <a:rPr lang="en-US" altLang="zh-CN" b="1" dirty="0">
                <a:solidFill>
                  <a:srgbClr val="FF0000"/>
                </a:solidFill>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gn="r">
              <a:lnSpc>
                <a:spcPct val="130000"/>
              </a:lnSpc>
              <a:spcBef>
                <a:spcPct val="50000"/>
              </a:spcBef>
            </a:pPr>
            <a:r>
              <a:rPr lang="en-US" altLang="zh-CN" i="1" dirty="0">
                <a:latin typeface="Times New Roman" panose="02020603050405020304" pitchFamily="18" charset="0"/>
                <a:ea typeface="宋体" panose="02010600030101010101" pitchFamily="2" charset="-122"/>
              </a:rPr>
              <a:t>          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30000"/>
              </a:lnSpc>
              <a:spcBef>
                <a:spcPct val="50000"/>
              </a:spcBef>
            </a:pPr>
            <a:r>
              <a:rPr lang="zh-CN" altLang="en-US" dirty="0">
                <a:latin typeface="Times New Roman" panose="02020603050405020304" pitchFamily="18" charset="0"/>
                <a:ea typeface="宋体" panose="02010600030101010101" pitchFamily="2" charset="-122"/>
              </a:rPr>
              <a:t>其系统函数为 </a:t>
            </a:r>
            <a:endParaRPr lang="zh-CN" altLang="en-US" dirty="0">
              <a:latin typeface="Times New Roman" panose="02020603050405020304" pitchFamily="18" charset="0"/>
              <a:ea typeface="宋体" panose="02010600030101010101" pitchFamily="2" charset="-122"/>
            </a:endParaRPr>
          </a:p>
        </p:txBody>
      </p:sp>
      <p:graphicFrame>
        <p:nvGraphicFramePr>
          <p:cNvPr id="4100" name="对象 4100"/>
          <p:cNvGraphicFramePr/>
          <p:nvPr/>
        </p:nvGraphicFramePr>
        <p:xfrm>
          <a:off x="1835150" y="2997200"/>
          <a:ext cx="5791200" cy="1047750"/>
        </p:xfrm>
        <a:graphic>
          <a:graphicData uri="http://schemas.openxmlformats.org/presentationml/2006/ole">
            <mc:AlternateContent xmlns:mc="http://schemas.openxmlformats.org/markup-compatibility/2006">
              <mc:Choice xmlns:v="urn:schemas-microsoft-com:vml" Requires="v">
                <p:oleObj spid="_x0000_s3096" name="" r:id="rId1" imgW="2386330" imgH="431800" progId="Equation.3">
                  <p:embed/>
                </p:oleObj>
              </mc:Choice>
              <mc:Fallback>
                <p:oleObj name="" r:id="rId1" imgW="2386330" imgH="431800" progId="Equation.3">
                  <p:embed/>
                  <p:pic>
                    <p:nvPicPr>
                      <p:cNvPr id="0" name="图片 3095"/>
                      <p:cNvPicPr/>
                      <p:nvPr/>
                    </p:nvPicPr>
                    <p:blipFill>
                      <a:blip r:embed="rId2"/>
                      <a:stretch>
                        <a:fillRect/>
                      </a:stretch>
                    </p:blipFill>
                    <p:spPr>
                      <a:xfrm>
                        <a:off x="1835150" y="2997200"/>
                        <a:ext cx="5791200" cy="1047750"/>
                      </a:xfrm>
                      <a:prstGeom prst="rect">
                        <a:avLst/>
                      </a:prstGeom>
                      <a:solidFill>
                        <a:schemeClr val="accent1"/>
                      </a:solidFill>
                      <a:ln w="38100">
                        <a:noFill/>
                        <a:miter/>
                      </a:ln>
                    </p:spPr>
                  </p:pic>
                </p:oleObj>
              </mc:Fallback>
            </mc:AlternateContent>
          </a:graphicData>
        </a:graphic>
      </p:graphicFrame>
      <p:sp>
        <p:nvSpPr>
          <p:cNvPr id="4101" name="文本框 4101"/>
          <p:cNvSpPr txBox="1"/>
          <p:nvPr/>
        </p:nvSpPr>
        <p:spPr>
          <a:xfrm>
            <a:off x="228600" y="4114800"/>
            <a:ext cx="227806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将</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代入 </a:t>
            </a:r>
            <a:endParaRPr lang="zh-CN" altLang="en-US" dirty="0">
              <a:latin typeface="Times New Roman" panose="02020603050405020304" pitchFamily="18" charset="0"/>
              <a:ea typeface="宋体" panose="02010600030101010101" pitchFamily="2" charset="-122"/>
            </a:endParaRPr>
          </a:p>
        </p:txBody>
      </p:sp>
      <p:graphicFrame>
        <p:nvGraphicFramePr>
          <p:cNvPr id="4102" name="对象 4102"/>
          <p:cNvGraphicFramePr/>
          <p:nvPr/>
        </p:nvGraphicFramePr>
        <p:xfrm>
          <a:off x="1535113" y="5029200"/>
          <a:ext cx="6530975" cy="1047750"/>
        </p:xfrm>
        <a:graphic>
          <a:graphicData uri="http://schemas.openxmlformats.org/presentationml/2006/ole">
            <mc:AlternateContent xmlns:mc="http://schemas.openxmlformats.org/markup-compatibility/2006">
              <mc:Choice xmlns:v="urn:schemas-microsoft-com:vml" Requires="v">
                <p:oleObj spid="_x0000_s3097" name="" r:id="rId3" imgW="2691130" imgH="431800" progId="Equation.3">
                  <p:embed/>
                </p:oleObj>
              </mc:Choice>
              <mc:Fallback>
                <p:oleObj name="" r:id="rId3" imgW="2691130" imgH="431800" progId="Equation.3">
                  <p:embed/>
                  <p:pic>
                    <p:nvPicPr>
                      <p:cNvPr id="0" name="图片 3096"/>
                      <p:cNvPicPr/>
                      <p:nvPr/>
                    </p:nvPicPr>
                    <p:blipFill>
                      <a:blip r:embed="rId4"/>
                      <a:stretch>
                        <a:fillRect/>
                      </a:stretch>
                    </p:blipFill>
                    <p:spPr>
                      <a:xfrm>
                        <a:off x="1535113" y="5029200"/>
                        <a:ext cx="6530975" cy="1047750"/>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5123"/>
          <p:cNvSpPr txBox="1"/>
          <p:nvPr/>
        </p:nvSpPr>
        <p:spPr>
          <a:xfrm>
            <a:off x="457200" y="685800"/>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即 </a:t>
            </a:r>
            <a:endParaRPr lang="zh-CN" altLang="en-US" dirty="0">
              <a:latin typeface="Times New Roman" panose="02020603050405020304" pitchFamily="18" charset="0"/>
              <a:ea typeface="宋体" panose="02010600030101010101" pitchFamily="2" charset="-122"/>
            </a:endParaRPr>
          </a:p>
        </p:txBody>
      </p:sp>
      <p:graphicFrame>
        <p:nvGraphicFramePr>
          <p:cNvPr id="5122" name="对象 5124"/>
          <p:cNvGraphicFramePr/>
          <p:nvPr/>
        </p:nvGraphicFramePr>
        <p:xfrm>
          <a:off x="3276600" y="838200"/>
          <a:ext cx="3175000" cy="549275"/>
        </p:xfrm>
        <a:graphic>
          <a:graphicData uri="http://schemas.openxmlformats.org/presentationml/2006/ole">
            <mc:AlternateContent xmlns:mc="http://schemas.openxmlformats.org/markup-compatibility/2006">
              <mc:Choice xmlns:v="urn:schemas-microsoft-com:vml" Requires="v">
                <p:oleObj spid="_x0000_s3092" name="" r:id="rId1" imgW="1320165" imgH="228600" progId="Equation.3">
                  <p:embed/>
                </p:oleObj>
              </mc:Choice>
              <mc:Fallback>
                <p:oleObj name="" r:id="rId1" imgW="1320165" imgH="228600" progId="Equation.3">
                  <p:embed/>
                  <p:pic>
                    <p:nvPicPr>
                      <p:cNvPr id="0" name="图片 3091"/>
                      <p:cNvPicPr/>
                      <p:nvPr/>
                    </p:nvPicPr>
                    <p:blipFill>
                      <a:blip r:embed="rId2"/>
                      <a:stretch>
                        <a:fillRect/>
                      </a:stretch>
                    </p:blipFill>
                    <p:spPr>
                      <a:xfrm>
                        <a:off x="3276600" y="838200"/>
                        <a:ext cx="3175000" cy="549275"/>
                      </a:xfrm>
                      <a:prstGeom prst="rect">
                        <a:avLst/>
                      </a:prstGeom>
                      <a:solidFill>
                        <a:schemeClr val="accent1"/>
                      </a:solidFill>
                      <a:ln w="38100">
                        <a:noFill/>
                        <a:miter/>
                      </a:ln>
                    </p:spPr>
                  </p:pic>
                </p:oleObj>
              </mc:Fallback>
            </mc:AlternateContent>
          </a:graphicData>
        </a:graphic>
      </p:graphicFrame>
      <p:sp>
        <p:nvSpPr>
          <p:cNvPr id="5123" name="文本框 5125"/>
          <p:cNvSpPr txBox="1"/>
          <p:nvPr/>
        </p:nvSpPr>
        <p:spPr>
          <a:xfrm>
            <a:off x="381000" y="1565275"/>
            <a:ext cx="1784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上式改写成 </a:t>
            </a:r>
            <a:endParaRPr lang="zh-CN" altLang="en-US" dirty="0">
              <a:latin typeface="Times New Roman" panose="02020603050405020304" pitchFamily="18" charset="0"/>
              <a:ea typeface="宋体" panose="02010600030101010101" pitchFamily="2" charset="-122"/>
            </a:endParaRPr>
          </a:p>
        </p:txBody>
      </p:sp>
      <p:graphicFrame>
        <p:nvGraphicFramePr>
          <p:cNvPr id="5124" name="对象 5126"/>
          <p:cNvGraphicFramePr/>
          <p:nvPr/>
        </p:nvGraphicFramePr>
        <p:xfrm>
          <a:off x="1816100" y="2022475"/>
          <a:ext cx="6096000" cy="3946525"/>
        </p:xfrm>
        <a:graphic>
          <a:graphicData uri="http://schemas.openxmlformats.org/presentationml/2006/ole">
            <mc:AlternateContent xmlns:mc="http://schemas.openxmlformats.org/markup-compatibility/2006">
              <mc:Choice xmlns:v="urn:schemas-microsoft-com:vml" Requires="v">
                <p:oleObj spid="_x0000_s3093" name="" r:id="rId3" imgW="2667000" imgH="1727200" progId="Equation.3">
                  <p:embed/>
                </p:oleObj>
              </mc:Choice>
              <mc:Fallback>
                <p:oleObj name="" r:id="rId3" imgW="2667000" imgH="1727200" progId="Equation.3">
                  <p:embed/>
                  <p:pic>
                    <p:nvPicPr>
                      <p:cNvPr id="0" name="图片 3092"/>
                      <p:cNvPicPr/>
                      <p:nvPr/>
                    </p:nvPicPr>
                    <p:blipFill>
                      <a:blip r:embed="rId4"/>
                      <a:stretch>
                        <a:fillRect/>
                      </a:stretch>
                    </p:blipFill>
                    <p:spPr>
                      <a:xfrm>
                        <a:off x="1816100" y="2022475"/>
                        <a:ext cx="6096000" cy="3946525"/>
                      </a:xfrm>
                      <a:prstGeom prst="rect">
                        <a:avLst/>
                      </a:prstGeom>
                      <a:noFill/>
                      <a:ln w="38100">
                        <a:noFill/>
                        <a:miter/>
                      </a:ln>
                    </p:spPr>
                  </p:pic>
                </p:oleObj>
              </mc:Fallback>
            </mc:AlternateContent>
          </a:graphicData>
        </a:graphic>
      </p:graphicFrame>
      <p:sp>
        <p:nvSpPr>
          <p:cNvPr id="5125" name="矩形 5127"/>
          <p:cNvSpPr/>
          <p:nvPr/>
        </p:nvSpPr>
        <p:spPr>
          <a:xfrm>
            <a:off x="7950200" y="914400"/>
            <a:ext cx="1193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126" name="矩形 5128"/>
          <p:cNvSpPr/>
          <p:nvPr/>
        </p:nvSpPr>
        <p:spPr>
          <a:xfrm>
            <a:off x="7950200" y="5181600"/>
            <a:ext cx="1193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 name="椭圆 1"/>
          <p:cNvSpPr/>
          <p:nvPr/>
        </p:nvSpPr>
        <p:spPr>
          <a:xfrm>
            <a:off x="5003800" y="3117850"/>
            <a:ext cx="1008063" cy="936625"/>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3" name="椭圆 2"/>
          <p:cNvSpPr/>
          <p:nvPr/>
        </p:nvSpPr>
        <p:spPr>
          <a:xfrm>
            <a:off x="2840038" y="4495800"/>
            <a:ext cx="1158875" cy="969963"/>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6147"/>
          <p:cNvSpPr txBox="1"/>
          <p:nvPr/>
        </p:nvSpPr>
        <p:spPr>
          <a:xfrm>
            <a:off x="365125" y="727075"/>
            <a:ext cx="3003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滤波器的频率响应为 </a:t>
            </a:r>
            <a:endParaRPr lang="zh-CN" altLang="en-US" dirty="0">
              <a:latin typeface="Times New Roman" panose="02020603050405020304" pitchFamily="18" charset="0"/>
              <a:ea typeface="宋体" panose="02010600030101010101" pitchFamily="2" charset="-122"/>
            </a:endParaRPr>
          </a:p>
        </p:txBody>
      </p:sp>
      <p:graphicFrame>
        <p:nvGraphicFramePr>
          <p:cNvPr id="6146" name="对象 6148"/>
          <p:cNvGraphicFramePr/>
          <p:nvPr/>
        </p:nvGraphicFramePr>
        <p:xfrm>
          <a:off x="1447800" y="1371600"/>
          <a:ext cx="6324600" cy="1897063"/>
        </p:xfrm>
        <a:graphic>
          <a:graphicData uri="http://schemas.openxmlformats.org/presentationml/2006/ole">
            <mc:AlternateContent xmlns:mc="http://schemas.openxmlformats.org/markup-compatibility/2006">
              <mc:Choice xmlns:v="urn:schemas-microsoft-com:vml" Requires="v">
                <p:oleObj spid="_x0000_s3094" name="" r:id="rId1" imgW="2794000" imgH="838200" progId="Equation.3">
                  <p:embed/>
                </p:oleObj>
              </mc:Choice>
              <mc:Fallback>
                <p:oleObj name="" r:id="rId1" imgW="2794000" imgH="838200" progId="Equation.3">
                  <p:embed/>
                  <p:pic>
                    <p:nvPicPr>
                      <p:cNvPr id="0" name="图片 3093"/>
                      <p:cNvPicPr/>
                      <p:nvPr/>
                    </p:nvPicPr>
                    <p:blipFill>
                      <a:blip r:embed="rId2"/>
                      <a:stretch>
                        <a:fillRect/>
                      </a:stretch>
                    </p:blipFill>
                    <p:spPr>
                      <a:xfrm>
                        <a:off x="1447800" y="1371600"/>
                        <a:ext cx="6324600" cy="1897063"/>
                      </a:xfrm>
                      <a:prstGeom prst="rect">
                        <a:avLst/>
                      </a:prstGeom>
                      <a:solidFill>
                        <a:schemeClr val="accent1"/>
                      </a:solidFill>
                      <a:ln w="38100">
                        <a:noFill/>
                        <a:miter/>
                      </a:ln>
                    </p:spPr>
                  </p:pic>
                </p:oleObj>
              </mc:Fallback>
            </mc:AlternateContent>
          </a:graphicData>
        </a:graphic>
      </p:graphicFrame>
      <p:sp>
        <p:nvSpPr>
          <p:cNvPr id="6147" name="矩形 6149"/>
          <p:cNvSpPr/>
          <p:nvPr/>
        </p:nvSpPr>
        <p:spPr>
          <a:xfrm>
            <a:off x="7950200" y="2514600"/>
            <a:ext cx="1193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148" name="文本框 6150"/>
          <p:cNvSpPr txBox="1"/>
          <p:nvPr/>
        </p:nvSpPr>
        <p:spPr>
          <a:xfrm>
            <a:off x="250825" y="3409950"/>
            <a:ext cx="8459788"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我们可以看到，上式的</a:t>
            </a:r>
            <a:r>
              <a:rPr lang="en-US" altLang="zh-CN" dirty="0">
                <a:latin typeface="Times New Roman" panose="02020603050405020304" pitchFamily="18" charset="0"/>
                <a:ea typeface="宋体" panose="02010600030101010101" pitchFamily="2" charset="-122"/>
              </a:rPr>
              <a:t>Σ</a:t>
            </a:r>
            <a:r>
              <a:rPr lang="zh-CN" altLang="en-US" dirty="0">
                <a:latin typeface="Times New Roman" panose="02020603050405020304" pitchFamily="18" charset="0"/>
                <a:ea typeface="宋体" panose="02010600030101010101" pitchFamily="2" charset="-122"/>
              </a:rPr>
              <a:t>以内全部是标量，如果我们将频率响应用相位函数</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及幅度函数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表示 </a:t>
            </a:r>
            <a:endParaRPr lang="zh-CN" altLang="en-US" dirty="0">
              <a:latin typeface="Times New Roman" panose="02020603050405020304" pitchFamily="18" charset="0"/>
              <a:ea typeface="宋体" panose="02010600030101010101" pitchFamily="2" charset="-122"/>
            </a:endParaRPr>
          </a:p>
        </p:txBody>
      </p:sp>
      <p:graphicFrame>
        <p:nvGraphicFramePr>
          <p:cNvPr id="6149" name="对象 6151"/>
          <p:cNvGraphicFramePr/>
          <p:nvPr/>
        </p:nvGraphicFramePr>
        <p:xfrm>
          <a:off x="2971800" y="5105400"/>
          <a:ext cx="3352800" cy="581025"/>
        </p:xfrm>
        <a:graphic>
          <a:graphicData uri="http://schemas.openxmlformats.org/presentationml/2006/ole">
            <mc:AlternateContent xmlns:mc="http://schemas.openxmlformats.org/markup-compatibility/2006">
              <mc:Choice xmlns:v="urn:schemas-microsoft-com:vml" Requires="v">
                <p:oleObj spid="_x0000_s3095" name="" r:id="rId3" imgW="1320165" imgH="228600" progId="Equation.3">
                  <p:embed/>
                </p:oleObj>
              </mc:Choice>
              <mc:Fallback>
                <p:oleObj name="" r:id="rId3" imgW="1320165" imgH="228600" progId="Equation.3">
                  <p:embed/>
                  <p:pic>
                    <p:nvPicPr>
                      <p:cNvPr id="0" name="图片 3094"/>
                      <p:cNvPicPr/>
                      <p:nvPr/>
                    </p:nvPicPr>
                    <p:blipFill>
                      <a:blip r:embed="rId4"/>
                      <a:stretch>
                        <a:fillRect/>
                      </a:stretch>
                    </p:blipFill>
                    <p:spPr>
                      <a:xfrm>
                        <a:off x="2971800" y="5105400"/>
                        <a:ext cx="3352800" cy="581025"/>
                      </a:xfrm>
                      <a:prstGeom prst="rect">
                        <a:avLst/>
                      </a:prstGeom>
                      <a:noFill/>
                      <a:ln w="38100">
                        <a:noFill/>
                        <a:miter/>
                      </a:ln>
                    </p:spPr>
                  </p:pic>
                </p:oleObj>
              </mc:Fallback>
            </mc:AlternateContent>
          </a:graphicData>
        </a:graphic>
      </p:graphicFrame>
      <p:sp>
        <p:nvSpPr>
          <p:cNvPr id="6150" name="矩形 6152"/>
          <p:cNvSpPr/>
          <p:nvPr/>
        </p:nvSpPr>
        <p:spPr>
          <a:xfrm>
            <a:off x="7950200" y="5181600"/>
            <a:ext cx="1193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文本框 7171"/>
          <p:cNvSpPr txBox="1"/>
          <p:nvPr/>
        </p:nvSpPr>
        <p:spPr>
          <a:xfrm>
            <a:off x="365125" y="803275"/>
            <a:ext cx="1479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那么有： </a:t>
            </a:r>
            <a:endParaRPr lang="zh-CN" altLang="en-US" dirty="0">
              <a:latin typeface="Times New Roman" panose="02020603050405020304" pitchFamily="18" charset="0"/>
              <a:ea typeface="宋体" panose="02010600030101010101" pitchFamily="2" charset="-122"/>
            </a:endParaRPr>
          </a:p>
        </p:txBody>
      </p:sp>
      <p:graphicFrame>
        <p:nvGraphicFramePr>
          <p:cNvPr id="7170" name="对象 7172"/>
          <p:cNvGraphicFramePr/>
          <p:nvPr/>
        </p:nvGraphicFramePr>
        <p:xfrm>
          <a:off x="2314575" y="998538"/>
          <a:ext cx="4819650" cy="2055812"/>
        </p:xfrm>
        <a:graphic>
          <a:graphicData uri="http://schemas.openxmlformats.org/presentationml/2006/ole">
            <mc:AlternateContent xmlns:mc="http://schemas.openxmlformats.org/markup-compatibility/2006">
              <mc:Choice xmlns:v="urn:schemas-microsoft-com:vml" Requires="v">
                <p:oleObj spid="_x0000_s3100" name="" r:id="rId1" imgW="2145665" imgH="914400" progId="Equation.3">
                  <p:embed/>
                </p:oleObj>
              </mc:Choice>
              <mc:Fallback>
                <p:oleObj name="" r:id="rId1" imgW="2145665" imgH="914400" progId="Equation.3">
                  <p:embed/>
                  <p:pic>
                    <p:nvPicPr>
                      <p:cNvPr id="0" name="图片 3099"/>
                      <p:cNvPicPr/>
                      <p:nvPr/>
                    </p:nvPicPr>
                    <p:blipFill>
                      <a:blip r:embed="rId2"/>
                      <a:stretch>
                        <a:fillRect/>
                      </a:stretch>
                    </p:blipFill>
                    <p:spPr>
                      <a:xfrm>
                        <a:off x="2314575" y="998538"/>
                        <a:ext cx="4819650" cy="2055812"/>
                      </a:xfrm>
                      <a:prstGeom prst="rect">
                        <a:avLst/>
                      </a:prstGeom>
                      <a:solidFill>
                        <a:schemeClr val="accent1"/>
                      </a:solidFill>
                      <a:ln w="38100">
                        <a:noFill/>
                        <a:miter/>
                      </a:ln>
                    </p:spPr>
                  </p:pic>
                </p:oleObj>
              </mc:Fallback>
            </mc:AlternateContent>
          </a:graphicData>
        </a:graphic>
      </p:graphicFrame>
      <p:sp>
        <p:nvSpPr>
          <p:cNvPr id="7171" name="文本框 7173"/>
          <p:cNvSpPr txBox="1"/>
          <p:nvPr/>
        </p:nvSpPr>
        <p:spPr>
          <a:xfrm>
            <a:off x="7874000" y="1143000"/>
            <a:ext cx="12700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7172" name="文本框 7174"/>
          <p:cNvSpPr txBox="1"/>
          <p:nvPr/>
        </p:nvSpPr>
        <p:spPr>
          <a:xfrm>
            <a:off x="7874000" y="2438400"/>
            <a:ext cx="12700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6-7</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7173" name="文本框 7175"/>
          <p:cNvSpPr txBox="1"/>
          <p:nvPr/>
        </p:nvSpPr>
        <p:spPr>
          <a:xfrm>
            <a:off x="152400" y="3394075"/>
            <a:ext cx="8763000" cy="2425700"/>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(6-6)</a:t>
            </a:r>
            <a:r>
              <a:rPr lang="zh-CN" altLang="en-US" dirty="0">
                <a:latin typeface="Times New Roman" panose="02020603050405020304" pitchFamily="18" charset="0"/>
                <a:ea typeface="宋体" panose="02010600030101010101" pitchFamily="2" charset="-122"/>
              </a:rPr>
              <a:t>的幅度函数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是标量函数，可以包括正值、负值和零， 而且是</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的</a:t>
            </a:r>
            <a:r>
              <a:rPr lang="zh-CN" altLang="en-US" b="1" u="sng" dirty="0">
                <a:solidFill>
                  <a:srgbClr val="FF0000"/>
                </a:solidFill>
                <a:latin typeface="Times New Roman" panose="02020603050405020304" pitchFamily="18" charset="0"/>
                <a:ea typeface="宋体" panose="02010600030101010101" pitchFamily="2" charset="-122"/>
              </a:rPr>
              <a:t>偶对称函数</a:t>
            </a:r>
            <a:r>
              <a:rPr lang="zh-CN" altLang="en-US" dirty="0">
                <a:latin typeface="Times New Roman" panose="02020603050405020304" pitchFamily="18" charset="0"/>
                <a:ea typeface="宋体" panose="02010600030101010101" pitchFamily="2" charset="-122"/>
              </a:rPr>
              <a:t>和</a:t>
            </a:r>
            <a:r>
              <a:rPr lang="zh-CN" altLang="en-US" b="1" u="sng" dirty="0">
                <a:solidFill>
                  <a:srgbClr val="FF0000"/>
                </a:solidFill>
                <a:latin typeface="Times New Roman" panose="02020603050405020304" pitchFamily="18" charset="0"/>
                <a:ea typeface="宋体" panose="02010600030101010101" pitchFamily="2" charset="-122"/>
              </a:rPr>
              <a:t>周期函数</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而</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取值大于等于零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两者在某些</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值上相位相差</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(6-7)</a:t>
            </a:r>
            <a:r>
              <a:rPr lang="zh-CN" altLang="en-US" dirty="0">
                <a:latin typeface="Times New Roman" panose="02020603050405020304" pitchFamily="18" charset="0"/>
                <a:ea typeface="宋体" panose="02010600030101010101" pitchFamily="2" charset="-122"/>
              </a:rPr>
              <a:t>的相位函数</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具有严格的线性相位，如图</a:t>
            </a:r>
            <a:r>
              <a:rPr lang="en-US" altLang="zh-CN" dirty="0">
                <a:latin typeface="Times New Roman" panose="02020603050405020304" pitchFamily="18" charset="0"/>
                <a:ea typeface="宋体" panose="02010600030101010101" pitchFamily="2" charset="-122"/>
              </a:rPr>
              <a:t>6-1</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文本框 8195"/>
          <p:cNvSpPr txBox="1"/>
          <p:nvPr/>
        </p:nvSpPr>
        <p:spPr>
          <a:xfrm>
            <a:off x="2514600" y="5486400"/>
            <a:ext cx="461010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6-1 </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偶对称时</a:t>
            </a:r>
            <a:r>
              <a:rPr lang="zh-CN" altLang="en-US" b="1" u="sng" dirty="0">
                <a:solidFill>
                  <a:srgbClr val="FF0000"/>
                </a:solidFill>
                <a:latin typeface="Times New Roman" panose="02020603050405020304" pitchFamily="18" charset="0"/>
                <a:ea typeface="宋体" panose="02010600030101010101" pitchFamily="2" charset="-122"/>
              </a:rPr>
              <a:t>线性相位特性</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pic>
        <p:nvPicPr>
          <p:cNvPr id="8194" name="图片 8199" descr="6-1"/>
          <p:cNvPicPr>
            <a:picLocks noChangeAspect="1"/>
          </p:cNvPicPr>
          <p:nvPr/>
        </p:nvPicPr>
        <p:blipFill>
          <a:blip r:embed="rId1"/>
          <a:stretch>
            <a:fillRect/>
          </a:stretch>
        </p:blipFill>
        <p:spPr>
          <a:xfrm>
            <a:off x="1714500" y="1628775"/>
            <a:ext cx="5715000" cy="3390900"/>
          </a:xfrm>
          <a:prstGeom prst="rect">
            <a:avLst/>
          </a:prstGeom>
          <a:noFill/>
          <a:ln w="9525">
            <a:noFill/>
          </a:ln>
        </p:spPr>
      </p:pic>
      <p:graphicFrame>
        <p:nvGraphicFramePr>
          <p:cNvPr id="2" name="对象 1"/>
          <p:cNvGraphicFramePr/>
          <p:nvPr/>
        </p:nvGraphicFramePr>
        <p:xfrm>
          <a:off x="4740275" y="993775"/>
          <a:ext cx="3865563" cy="955675"/>
        </p:xfrm>
        <a:graphic>
          <a:graphicData uri="http://schemas.openxmlformats.org/presentationml/2006/ole">
            <mc:AlternateContent xmlns:mc="http://schemas.openxmlformats.org/markup-compatibility/2006">
              <mc:Choice xmlns:v="urn:schemas-microsoft-com:vml" Requires="v">
                <p:oleObj spid="_x0000_s3099" name="" r:id="rId2" imgW="2447290" imgH="916940" progId="Equation.KSEE3">
                  <p:embed/>
                </p:oleObj>
              </mc:Choice>
              <mc:Fallback>
                <p:oleObj name="" r:id="rId2" imgW="2447290" imgH="916940" progId="Equation.KSEE3">
                  <p:embed/>
                  <p:pic>
                    <p:nvPicPr>
                      <p:cNvPr id="0" name="图片 3098"/>
                      <p:cNvPicPr/>
                      <p:nvPr/>
                    </p:nvPicPr>
                    <p:blipFill>
                      <a:blip r:embed="rId3"/>
                      <a:stretch>
                        <a:fillRect/>
                      </a:stretch>
                    </p:blipFill>
                    <p:spPr>
                      <a:xfrm>
                        <a:off x="4740275" y="993775"/>
                        <a:ext cx="3865563" cy="955675"/>
                      </a:xfrm>
                      <a:prstGeom prst="rect">
                        <a:avLst/>
                      </a:prstGeom>
                      <a:noFill/>
                      <a:ln w="38100">
                        <a:noFill/>
                        <a:miter/>
                      </a:ln>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文本框 9219"/>
          <p:cNvSpPr txBox="1"/>
          <p:nvPr/>
        </p:nvSpPr>
        <p:spPr>
          <a:xfrm>
            <a:off x="474663" y="914400"/>
            <a:ext cx="4529137"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数字滤波器的群延迟</a:t>
            </a:r>
            <a:r>
              <a:rPr lang="en-US" altLang="zh-CN" i="1" dirty="0">
                <a:latin typeface="Times New Roman" panose="02020603050405020304" pitchFamily="18" charset="0"/>
                <a:ea typeface="宋体" panose="02010600030101010101" pitchFamily="2" charset="-122"/>
              </a:rPr>
              <a:t>τ</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定义为</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9218" name="对象 9220"/>
          <p:cNvGraphicFramePr/>
          <p:nvPr/>
        </p:nvGraphicFramePr>
        <p:xfrm>
          <a:off x="1970088" y="1644650"/>
          <a:ext cx="4953000" cy="903288"/>
        </p:xfrm>
        <a:graphic>
          <a:graphicData uri="http://schemas.openxmlformats.org/presentationml/2006/ole">
            <mc:AlternateContent xmlns:mc="http://schemas.openxmlformats.org/markup-compatibility/2006">
              <mc:Choice xmlns:v="urn:schemas-microsoft-com:vml" Requires="v">
                <p:oleObj spid="_x0000_s3098" name="" r:id="rId1" imgW="2158365" imgH="393700" progId="Equation.3">
                  <p:embed/>
                </p:oleObj>
              </mc:Choice>
              <mc:Fallback>
                <p:oleObj name="" r:id="rId1" imgW="2158365" imgH="393700" progId="Equation.3">
                  <p:embed/>
                  <p:pic>
                    <p:nvPicPr>
                      <p:cNvPr id="0" name="图片 3097"/>
                      <p:cNvPicPr/>
                      <p:nvPr/>
                    </p:nvPicPr>
                    <p:blipFill>
                      <a:blip r:embed="rId2"/>
                      <a:stretch>
                        <a:fillRect/>
                      </a:stretch>
                    </p:blipFill>
                    <p:spPr>
                      <a:xfrm>
                        <a:off x="1970088" y="1644650"/>
                        <a:ext cx="4953000" cy="903288"/>
                      </a:xfrm>
                      <a:prstGeom prst="rect">
                        <a:avLst/>
                      </a:prstGeom>
                      <a:solidFill>
                        <a:schemeClr val="accent1"/>
                      </a:solidFill>
                      <a:ln w="38100">
                        <a:noFill/>
                        <a:miter/>
                      </a:ln>
                    </p:spPr>
                  </p:pic>
                </p:oleObj>
              </mc:Fallback>
            </mc:AlternateContent>
          </a:graphicData>
        </a:graphic>
      </p:graphicFrame>
      <p:sp>
        <p:nvSpPr>
          <p:cNvPr id="9219" name="文本框 9221"/>
          <p:cNvSpPr txBox="1"/>
          <p:nvPr/>
        </p:nvSpPr>
        <p:spPr>
          <a:xfrm>
            <a:off x="7908925" y="1489075"/>
            <a:ext cx="12700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6-8</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9220" name="文本框 9222"/>
          <p:cNvSpPr txBox="1"/>
          <p:nvPr/>
        </p:nvSpPr>
        <p:spPr>
          <a:xfrm>
            <a:off x="-34925" y="2547938"/>
            <a:ext cx="9213850" cy="3962400"/>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grd(group</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delay)</a:t>
            </a:r>
            <a:r>
              <a:rPr lang="zh-CN" altLang="en-US" dirty="0">
                <a:latin typeface="Times New Roman" panose="02020603050405020304" pitchFamily="18" charset="0"/>
                <a:ea typeface="宋体" panose="02010600030101010101" pitchFamily="2" charset="-122"/>
              </a:rPr>
              <a:t>为群延迟函数。由式（</a:t>
            </a:r>
            <a:r>
              <a:rPr lang="en-US" altLang="zh-CN" dirty="0">
                <a:latin typeface="Times New Roman" panose="02020603050405020304" pitchFamily="18" charset="0"/>
                <a:ea typeface="宋体" panose="02010600030101010101" pitchFamily="2" charset="-122"/>
              </a:rPr>
              <a:t>6-8</a:t>
            </a:r>
            <a:r>
              <a:rPr lang="zh-CN" altLang="en-US" dirty="0">
                <a:latin typeface="Times New Roman" panose="02020603050405020304" pitchFamily="18" charset="0"/>
                <a:ea typeface="宋体" panose="02010600030101010101" pitchFamily="2" charset="-122"/>
              </a:rPr>
              <a:t>）可知，当</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满足偶对称时，</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数字滤波器具有</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个采样的延时， 它等于单位脉冲响应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长度的一半。也就是说，</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FIR</a:t>
            </a:r>
            <a:r>
              <a:rPr lang="zh-CN" altLang="en-US" b="1" dirty="0">
                <a:solidFill>
                  <a:srgbClr val="FF0000"/>
                </a:solidFill>
                <a:latin typeface="Times New Roman" panose="02020603050405020304" pitchFamily="18" charset="0"/>
                <a:ea typeface="宋体" panose="02010600030101010101" pitchFamily="2" charset="-122"/>
              </a:rPr>
              <a:t>数字滤波器的输出响应整体相对于输入延时了</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-1)/2</a:t>
            </a:r>
            <a:r>
              <a:rPr lang="zh-CN" altLang="en-US" b="1" dirty="0">
                <a:solidFill>
                  <a:srgbClr val="FF0000"/>
                </a:solidFill>
                <a:latin typeface="Times New Roman" panose="02020603050405020304" pitchFamily="18" charset="0"/>
                <a:ea typeface="宋体" panose="02010600030101010101" pitchFamily="2" charset="-122"/>
              </a:rPr>
              <a:t>个采样周期</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10243"/>
          <p:cNvSpPr txBox="1"/>
          <p:nvPr/>
        </p:nvSpPr>
        <p:spPr>
          <a:xfrm>
            <a:off x="328613" y="1895475"/>
            <a:ext cx="2082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其系统函数为 </a:t>
            </a:r>
            <a:endParaRPr lang="zh-CN" altLang="en-US" dirty="0">
              <a:latin typeface="Times New Roman" panose="02020603050405020304" pitchFamily="18" charset="0"/>
              <a:ea typeface="宋体" panose="02010600030101010101" pitchFamily="2" charset="-122"/>
            </a:endParaRPr>
          </a:p>
        </p:txBody>
      </p:sp>
      <p:graphicFrame>
        <p:nvGraphicFramePr>
          <p:cNvPr id="10242" name="对象 10244"/>
          <p:cNvGraphicFramePr/>
          <p:nvPr/>
        </p:nvGraphicFramePr>
        <p:xfrm>
          <a:off x="-15875" y="2638425"/>
          <a:ext cx="8245475" cy="2025650"/>
        </p:xfrm>
        <a:graphic>
          <a:graphicData uri="http://schemas.openxmlformats.org/presentationml/2006/ole">
            <mc:AlternateContent xmlns:mc="http://schemas.openxmlformats.org/markup-compatibility/2006">
              <mc:Choice xmlns:v="urn:schemas-microsoft-com:vml" Requires="v">
                <p:oleObj spid="_x0000_s3101" name="" r:id="rId1" imgW="4381500" imgH="889000" progId="Equation.3">
                  <p:embed/>
                </p:oleObj>
              </mc:Choice>
              <mc:Fallback>
                <p:oleObj name="" r:id="rId1" imgW="4381500" imgH="889000" progId="Equation.3">
                  <p:embed/>
                  <p:pic>
                    <p:nvPicPr>
                      <p:cNvPr id="0" name="图片 3100"/>
                      <p:cNvPicPr/>
                      <p:nvPr/>
                    </p:nvPicPr>
                    <p:blipFill>
                      <a:blip r:embed="rId2"/>
                      <a:stretch>
                        <a:fillRect/>
                      </a:stretch>
                    </p:blipFill>
                    <p:spPr>
                      <a:xfrm>
                        <a:off x="-15875" y="2638425"/>
                        <a:ext cx="8245475" cy="2025650"/>
                      </a:xfrm>
                      <a:prstGeom prst="rect">
                        <a:avLst/>
                      </a:prstGeom>
                      <a:noFill/>
                      <a:ln w="38100">
                        <a:noFill/>
                        <a:miter/>
                      </a:ln>
                    </p:spPr>
                  </p:pic>
                </p:oleObj>
              </mc:Fallback>
            </mc:AlternateContent>
          </a:graphicData>
        </a:graphic>
      </p:graphicFrame>
      <p:sp>
        <p:nvSpPr>
          <p:cNvPr id="10243" name="文本框 10245"/>
          <p:cNvSpPr txBox="1"/>
          <p:nvPr/>
        </p:nvSpPr>
        <p:spPr>
          <a:xfrm>
            <a:off x="581025" y="4949825"/>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因此 </a:t>
            </a:r>
            <a:endParaRPr lang="zh-CN" altLang="en-US" dirty="0">
              <a:latin typeface="Times New Roman" panose="02020603050405020304" pitchFamily="18" charset="0"/>
              <a:ea typeface="宋体" panose="02010600030101010101" pitchFamily="2" charset="-122"/>
            </a:endParaRPr>
          </a:p>
        </p:txBody>
      </p:sp>
      <p:sp>
        <p:nvSpPr>
          <p:cNvPr id="10244" name="文本框 10246"/>
          <p:cNvSpPr txBox="1"/>
          <p:nvPr/>
        </p:nvSpPr>
        <p:spPr>
          <a:xfrm>
            <a:off x="3136900" y="5205413"/>
            <a:ext cx="2870200" cy="522287"/>
          </a:xfrm>
          <a:prstGeom prst="rect">
            <a:avLst/>
          </a:prstGeom>
          <a:solidFill>
            <a:schemeClr val="accent1"/>
          </a:solidFill>
          <a:ln w="9525">
            <a:noFill/>
          </a:ln>
        </p:spPr>
        <p:txBody>
          <a:bodyPr anchor="t">
            <a:spAutoFit/>
          </a:bodyPr>
          <a:p>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z</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z</a:t>
            </a:r>
            <a:r>
              <a:rPr lang="en-US" altLang="zh-CN" sz="2800" baseline="30000" dirty="0">
                <a:latin typeface="Times New Roman" panose="02020603050405020304" pitchFamily="18" charset="0"/>
                <a:ea typeface="宋体" panose="02010600030101010101" pitchFamily="2" charset="-122"/>
              </a:rPr>
              <a:t>-(</a:t>
            </a:r>
            <a:r>
              <a:rPr lang="en-US" altLang="zh-CN" sz="2800" i="1" baseline="30000" dirty="0">
                <a:latin typeface="Times New Roman" panose="02020603050405020304" pitchFamily="18" charset="0"/>
                <a:ea typeface="宋体" panose="02010600030101010101" pitchFamily="2" charset="-122"/>
              </a:rPr>
              <a:t>N</a:t>
            </a:r>
            <a:r>
              <a:rPr lang="en-US" altLang="zh-CN" sz="2800" baseline="30000" dirty="0">
                <a:latin typeface="Times New Roman" panose="02020603050405020304" pitchFamily="18" charset="0"/>
                <a:ea typeface="宋体" panose="02010600030101010101" pitchFamily="2" charset="-122"/>
              </a:rPr>
              <a:t>-1)</a:t>
            </a: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z</a:t>
            </a:r>
            <a:r>
              <a:rPr lang="en-US" altLang="zh-CN" sz="2800" baseline="30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 </a:t>
            </a:r>
            <a:endParaRPr lang="en-US" altLang="zh-CN" sz="2800" dirty="0">
              <a:latin typeface="Times New Roman" panose="02020603050405020304" pitchFamily="18" charset="0"/>
              <a:ea typeface="宋体" panose="02010600030101010101" pitchFamily="2" charset="-122"/>
            </a:endParaRPr>
          </a:p>
        </p:txBody>
      </p:sp>
      <p:sp>
        <p:nvSpPr>
          <p:cNvPr id="10245" name="文本框 10247"/>
          <p:cNvSpPr txBox="1"/>
          <p:nvPr/>
        </p:nvSpPr>
        <p:spPr>
          <a:xfrm>
            <a:off x="7491413" y="5472113"/>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6-10</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246" name="文本框 1"/>
          <p:cNvSpPr txBox="1"/>
          <p:nvPr/>
        </p:nvSpPr>
        <p:spPr>
          <a:xfrm>
            <a:off x="296863" y="466725"/>
            <a:ext cx="3581400" cy="674688"/>
          </a:xfrm>
          <a:prstGeom prst="rect">
            <a:avLst/>
          </a:prstGeom>
          <a:noFill/>
          <a:ln w="9525">
            <a:noFill/>
          </a:ln>
        </p:spPr>
        <p:txBody>
          <a:bodyPr wrap="none"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 再看</a:t>
            </a:r>
            <a:r>
              <a:rPr lang="en-US" altLang="zh-CN" b="1" dirty="0">
                <a:solidFill>
                  <a:srgbClr val="FF0000"/>
                </a:solidFill>
                <a:latin typeface="Times New Roman" panose="02020603050405020304" pitchFamily="18" charset="0"/>
                <a:ea typeface="宋体" panose="02010600030101010101" pitchFamily="2" charset="-122"/>
              </a:rPr>
              <a:t>h(n)</a:t>
            </a:r>
            <a:r>
              <a:rPr lang="zh-CN" altLang="en-US" b="1" dirty="0">
                <a:solidFill>
                  <a:srgbClr val="FF0000"/>
                </a:solidFill>
                <a:latin typeface="Times New Roman" panose="02020603050405020304" pitchFamily="18" charset="0"/>
                <a:ea typeface="宋体" panose="02010600030101010101" pitchFamily="2" charset="-122"/>
              </a:rPr>
              <a:t>奇对称的情况</a:t>
            </a:r>
            <a:r>
              <a:rPr lang="en-US" altLang="zh-CN" b="1" dirty="0">
                <a:solidFill>
                  <a:srgbClr val="FF00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247" name="文本框 9223"/>
          <p:cNvSpPr txBox="1"/>
          <p:nvPr/>
        </p:nvSpPr>
        <p:spPr>
          <a:xfrm>
            <a:off x="2024063" y="1233488"/>
            <a:ext cx="4165600" cy="457200"/>
          </a:xfrm>
          <a:prstGeom prst="rect">
            <a:avLst/>
          </a:prstGeom>
          <a:solidFill>
            <a:schemeClr val="accent1"/>
          </a:solid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11267"/>
          <p:cNvSpPr txBox="1"/>
          <p:nvPr/>
        </p:nvSpPr>
        <p:spPr>
          <a:xfrm>
            <a:off x="381000" y="762000"/>
            <a:ext cx="2393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同样可以改写成 </a:t>
            </a:r>
            <a:endParaRPr lang="zh-CN" altLang="en-US" dirty="0">
              <a:latin typeface="Times New Roman" panose="02020603050405020304" pitchFamily="18" charset="0"/>
              <a:ea typeface="宋体" panose="02010600030101010101" pitchFamily="2" charset="-122"/>
            </a:endParaRPr>
          </a:p>
        </p:txBody>
      </p:sp>
      <p:graphicFrame>
        <p:nvGraphicFramePr>
          <p:cNvPr id="11266" name="对象 11268"/>
          <p:cNvGraphicFramePr/>
          <p:nvPr/>
        </p:nvGraphicFramePr>
        <p:xfrm>
          <a:off x="1371600" y="1600200"/>
          <a:ext cx="6248400" cy="4046538"/>
        </p:xfrm>
        <a:graphic>
          <a:graphicData uri="http://schemas.openxmlformats.org/presentationml/2006/ole">
            <mc:AlternateContent xmlns:mc="http://schemas.openxmlformats.org/markup-compatibility/2006">
              <mc:Choice xmlns:v="urn:schemas-microsoft-com:vml" Requires="v">
                <p:oleObj spid="_x0000_s3105" name="" r:id="rId1" imgW="2667000" imgH="1727200" progId="Equation.3">
                  <p:embed/>
                </p:oleObj>
              </mc:Choice>
              <mc:Fallback>
                <p:oleObj name="" r:id="rId1" imgW="2667000" imgH="1727200" progId="Equation.3">
                  <p:embed/>
                  <p:pic>
                    <p:nvPicPr>
                      <p:cNvPr id="0" name="图片 3104"/>
                      <p:cNvPicPr/>
                      <p:nvPr/>
                    </p:nvPicPr>
                    <p:blipFill>
                      <a:blip r:embed="rId2"/>
                      <a:stretch>
                        <a:fillRect/>
                      </a:stretch>
                    </p:blipFill>
                    <p:spPr>
                      <a:xfrm>
                        <a:off x="1371600" y="1600200"/>
                        <a:ext cx="6248400" cy="4046538"/>
                      </a:xfrm>
                      <a:prstGeom prst="rect">
                        <a:avLst/>
                      </a:prstGeom>
                      <a:noFill/>
                      <a:ln w="38100">
                        <a:noFill/>
                        <a:miter/>
                      </a:ln>
                    </p:spPr>
                  </p:pic>
                </p:oleObj>
              </mc:Fallback>
            </mc:AlternateContent>
          </a:graphicData>
        </a:graphic>
      </p:graphicFrame>
      <p:sp>
        <p:nvSpPr>
          <p:cNvPr id="11267" name="文本框 11269"/>
          <p:cNvSpPr txBox="1"/>
          <p:nvPr/>
        </p:nvSpPr>
        <p:spPr>
          <a:xfrm>
            <a:off x="7721600" y="48768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6-11</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 name="椭圆 1"/>
          <p:cNvSpPr/>
          <p:nvPr/>
        </p:nvSpPr>
        <p:spPr>
          <a:xfrm>
            <a:off x="2411413" y="4076700"/>
            <a:ext cx="1152525" cy="1081088"/>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3" name="椭圆 2"/>
          <p:cNvSpPr/>
          <p:nvPr/>
        </p:nvSpPr>
        <p:spPr>
          <a:xfrm>
            <a:off x="4467225" y="3797300"/>
            <a:ext cx="3152775" cy="10795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12291"/>
          <p:cNvSpPr txBox="1"/>
          <p:nvPr/>
        </p:nvSpPr>
        <p:spPr>
          <a:xfrm>
            <a:off x="304800" y="533400"/>
            <a:ext cx="2082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其频率响应为 </a:t>
            </a:r>
            <a:endParaRPr lang="zh-CN" altLang="en-US" dirty="0">
              <a:latin typeface="Times New Roman" panose="02020603050405020304" pitchFamily="18" charset="0"/>
              <a:ea typeface="宋体" panose="02010600030101010101" pitchFamily="2" charset="-122"/>
            </a:endParaRPr>
          </a:p>
        </p:txBody>
      </p:sp>
      <p:graphicFrame>
        <p:nvGraphicFramePr>
          <p:cNvPr id="12290" name="对象 12292"/>
          <p:cNvGraphicFramePr/>
          <p:nvPr/>
        </p:nvGraphicFramePr>
        <p:xfrm>
          <a:off x="1612900" y="1236663"/>
          <a:ext cx="6221413" cy="2562225"/>
        </p:xfrm>
        <a:graphic>
          <a:graphicData uri="http://schemas.openxmlformats.org/presentationml/2006/ole">
            <mc:AlternateContent xmlns:mc="http://schemas.openxmlformats.org/markup-compatibility/2006">
              <mc:Choice xmlns:v="urn:schemas-microsoft-com:vml" Requires="v">
                <p:oleObj spid="_x0000_s3106" name="" r:id="rId1" imgW="3022600" imgH="1244600" progId="Equation.DSMT4">
                  <p:embed/>
                </p:oleObj>
              </mc:Choice>
              <mc:Fallback>
                <p:oleObj name="" r:id="rId1" imgW="3022600" imgH="1244600" progId="Equation.DSMT4">
                  <p:embed/>
                  <p:pic>
                    <p:nvPicPr>
                      <p:cNvPr id="0" name="图片 3105"/>
                      <p:cNvPicPr/>
                      <p:nvPr/>
                    </p:nvPicPr>
                    <p:blipFill>
                      <a:blip r:embed="rId2"/>
                      <a:stretch>
                        <a:fillRect/>
                      </a:stretch>
                    </p:blipFill>
                    <p:spPr>
                      <a:xfrm>
                        <a:off x="1612900" y="1236663"/>
                        <a:ext cx="6221413" cy="2562225"/>
                      </a:xfrm>
                      <a:prstGeom prst="rect">
                        <a:avLst/>
                      </a:prstGeom>
                      <a:noFill/>
                      <a:ln w="38100">
                        <a:noFill/>
                        <a:miter/>
                      </a:ln>
                    </p:spPr>
                  </p:pic>
                </p:oleObj>
              </mc:Fallback>
            </mc:AlternateContent>
          </a:graphicData>
        </a:graphic>
      </p:graphicFrame>
      <p:sp>
        <p:nvSpPr>
          <p:cNvPr id="12291" name="文本框 12293"/>
          <p:cNvSpPr txBox="1"/>
          <p:nvPr/>
        </p:nvSpPr>
        <p:spPr>
          <a:xfrm>
            <a:off x="7924800" y="33528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6-12</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2292" name="文本框 12294"/>
          <p:cNvSpPr txBox="1"/>
          <p:nvPr/>
        </p:nvSpPr>
        <p:spPr>
          <a:xfrm>
            <a:off x="365125" y="4079875"/>
            <a:ext cx="12588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所以有</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12293" name="对象 12295"/>
          <p:cNvGraphicFramePr/>
          <p:nvPr/>
        </p:nvGraphicFramePr>
        <p:xfrm>
          <a:off x="2603500" y="4157663"/>
          <a:ext cx="4343400" cy="1873250"/>
        </p:xfrm>
        <a:graphic>
          <a:graphicData uri="http://schemas.openxmlformats.org/presentationml/2006/ole">
            <mc:AlternateContent xmlns:mc="http://schemas.openxmlformats.org/markup-compatibility/2006">
              <mc:Choice xmlns:v="urn:schemas-microsoft-com:vml" Requires="v">
                <p:oleObj spid="_x0000_s3102" name="" r:id="rId3" imgW="2120900" imgH="914400" progId="Equation.3">
                  <p:embed/>
                </p:oleObj>
              </mc:Choice>
              <mc:Fallback>
                <p:oleObj name="" r:id="rId3" imgW="2120900" imgH="914400" progId="Equation.3">
                  <p:embed/>
                  <p:pic>
                    <p:nvPicPr>
                      <p:cNvPr id="0" name="图片 3101"/>
                      <p:cNvPicPr/>
                      <p:nvPr/>
                    </p:nvPicPr>
                    <p:blipFill>
                      <a:blip r:embed="rId4"/>
                      <a:stretch>
                        <a:fillRect/>
                      </a:stretch>
                    </p:blipFill>
                    <p:spPr>
                      <a:xfrm>
                        <a:off x="2603500" y="4157663"/>
                        <a:ext cx="4343400" cy="1873250"/>
                      </a:xfrm>
                      <a:prstGeom prst="rect">
                        <a:avLst/>
                      </a:prstGeom>
                      <a:solidFill>
                        <a:schemeClr val="accent1"/>
                      </a:solidFill>
                      <a:ln w="38100">
                        <a:noFill/>
                        <a:miter/>
                      </a:ln>
                    </p:spPr>
                  </p:pic>
                </p:oleObj>
              </mc:Fallback>
            </mc:AlternateContent>
          </a:graphicData>
        </a:graphic>
      </p:graphicFrame>
      <p:sp>
        <p:nvSpPr>
          <p:cNvPr id="12294" name="文本框 12296"/>
          <p:cNvSpPr txBox="1"/>
          <p:nvPr/>
        </p:nvSpPr>
        <p:spPr>
          <a:xfrm>
            <a:off x="7834313" y="4303713"/>
            <a:ext cx="13462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2295" name="文本框 12297"/>
          <p:cNvSpPr txBox="1"/>
          <p:nvPr/>
        </p:nvSpPr>
        <p:spPr>
          <a:xfrm>
            <a:off x="7962900" y="5464175"/>
            <a:ext cx="13462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 name="椭圆 1"/>
          <p:cNvSpPr/>
          <p:nvPr/>
        </p:nvSpPr>
        <p:spPr>
          <a:xfrm>
            <a:off x="2809875" y="2019300"/>
            <a:ext cx="228600" cy="555625"/>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cxnSp>
        <p:nvCxnSpPr>
          <p:cNvPr id="3" name="直接连接符 2"/>
          <p:cNvCxnSpPr/>
          <p:nvPr/>
        </p:nvCxnSpPr>
        <p:spPr>
          <a:xfrm flipV="1">
            <a:off x="3063875" y="3213100"/>
            <a:ext cx="1436688" cy="269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V="1">
            <a:off x="2603500" y="5921375"/>
            <a:ext cx="3048000" cy="444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100000">
                                          <p:val>
                                            <p:strVal val="#ppt_x"/>
                                          </p:val>
                                        </p:tav>
                                      </p:tavLst>
                                    </p:anim>
                                    <p:anim calcmode="lin" valueType="num">
                                      <p:cBhvr>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13315"/>
          <p:cNvSpPr txBox="1"/>
          <p:nvPr/>
        </p:nvSpPr>
        <p:spPr>
          <a:xfrm>
            <a:off x="365125" y="609600"/>
            <a:ext cx="8383588" cy="552767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幅度函数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可以包括正值、负值和零，而且是</a:t>
            </a:r>
            <a:r>
              <a:rPr lang="en-US" altLang="zh-CN" b="1" i="1" u="sng" dirty="0">
                <a:solidFill>
                  <a:srgbClr val="FF0000"/>
                </a:solidFill>
                <a:latin typeface="Times New Roman" panose="02020603050405020304" pitchFamily="18" charset="0"/>
                <a:ea typeface="宋体" panose="02010600030101010101" pitchFamily="2" charset="-122"/>
              </a:rPr>
              <a:t>ω</a:t>
            </a:r>
            <a:r>
              <a:rPr lang="zh-CN" altLang="en-US" b="1" u="sng" dirty="0">
                <a:solidFill>
                  <a:srgbClr val="FF0000"/>
                </a:solidFill>
                <a:latin typeface="Times New Roman" panose="02020603050405020304" pitchFamily="18" charset="0"/>
                <a:ea typeface="宋体" panose="02010600030101010101" pitchFamily="2" charset="-122"/>
              </a:rPr>
              <a:t>的奇对称函数</a:t>
            </a:r>
            <a:r>
              <a:rPr lang="zh-CN" altLang="en-US" dirty="0">
                <a:latin typeface="Times New Roman" panose="02020603050405020304" pitchFamily="18" charset="0"/>
                <a:ea typeface="宋体" panose="02010600030101010101" pitchFamily="2" charset="-122"/>
              </a:rPr>
              <a:t>和</a:t>
            </a:r>
            <a:r>
              <a:rPr lang="zh-CN" altLang="en-US" b="1" u="sng" dirty="0">
                <a:solidFill>
                  <a:srgbClr val="FF0000"/>
                </a:solidFill>
                <a:latin typeface="Times New Roman" panose="02020603050405020304" pitchFamily="18" charset="0"/>
                <a:ea typeface="宋体" panose="02010600030101010101" pitchFamily="2" charset="-122"/>
              </a:rPr>
              <a:t>周期函数</a:t>
            </a:r>
            <a:r>
              <a:rPr lang="zh-CN" altLang="en-US" dirty="0">
                <a:latin typeface="Times New Roman" panose="02020603050405020304" pitchFamily="18" charset="0"/>
                <a:ea typeface="宋体" panose="02010600030101010101" pitchFamily="2" charset="-122"/>
              </a:rPr>
              <a:t>。相位函数既是线性相位，又包括</a:t>
            </a:r>
            <a:r>
              <a:rPr lang="en-US" altLang="zh-CN" dirty="0">
                <a:latin typeface="Times New Roman" panose="02020603050405020304" pitchFamily="18" charset="0"/>
                <a:ea typeface="宋体" panose="02010600030101010101" pitchFamily="2" charset="-122"/>
              </a:rPr>
              <a:t>π/2</a:t>
            </a:r>
            <a:r>
              <a:rPr lang="zh-CN" altLang="en-US" dirty="0">
                <a:latin typeface="Times New Roman" panose="02020603050405020304" pitchFamily="18" charset="0"/>
                <a:ea typeface="宋体" panose="02010600030101010101" pitchFamily="2" charset="-122"/>
              </a:rPr>
              <a:t>的相移，如图</a:t>
            </a:r>
            <a:r>
              <a:rPr lang="en-US" altLang="zh-CN" dirty="0">
                <a:latin typeface="Times New Roman" panose="02020603050405020304" pitchFamily="18" charset="0"/>
                <a:ea typeface="宋体" panose="02010600030101010101" pitchFamily="2" charset="-122"/>
              </a:rPr>
              <a:t>6-2</a:t>
            </a:r>
            <a:r>
              <a:rPr lang="zh-CN" altLang="en-US" dirty="0">
                <a:latin typeface="Times New Roman" panose="02020603050405020304" pitchFamily="18" charset="0"/>
                <a:ea typeface="宋体" panose="02010600030101010101" pitchFamily="2" charset="-122"/>
              </a:rPr>
              <a:t>所示。可以看出，当</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为奇对称时，</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滤波器不仅有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 </a:t>
            </a:r>
            <a:r>
              <a:rPr lang="zh-CN" altLang="en-US" dirty="0">
                <a:latin typeface="Times New Roman" panose="02020603050405020304" pitchFamily="18" charset="0"/>
                <a:ea typeface="宋体" panose="02010600030101010101" pitchFamily="2" charset="-122"/>
              </a:rPr>
              <a:t>个采样的延时， 还产生一个</a:t>
            </a:r>
            <a:r>
              <a:rPr lang="en-US" altLang="zh-CN" dirty="0">
                <a:latin typeface="Times New Roman" panose="02020603050405020304" pitchFamily="18" charset="0"/>
                <a:ea typeface="宋体" panose="02010600030101010101" pitchFamily="2" charset="-122"/>
              </a:rPr>
              <a:t>90°</a:t>
            </a:r>
            <a:r>
              <a:rPr lang="zh-CN" altLang="en-US" dirty="0">
                <a:latin typeface="Times New Roman" panose="02020603050405020304" pitchFamily="18" charset="0"/>
                <a:ea typeface="宋体" panose="02010600030101010101" pitchFamily="2" charset="-122"/>
              </a:rPr>
              <a:t>的相移。这种使所有频率的相移皆为</a:t>
            </a:r>
            <a:r>
              <a:rPr lang="en-US" altLang="zh-CN" dirty="0">
                <a:latin typeface="Times New Roman" panose="02020603050405020304" pitchFamily="18" charset="0"/>
                <a:ea typeface="宋体" panose="02010600030101010101" pitchFamily="2" charset="-122"/>
              </a:rPr>
              <a:t>90°</a:t>
            </a:r>
            <a:r>
              <a:rPr lang="zh-CN" altLang="en-US" dirty="0">
                <a:latin typeface="Times New Roman" panose="02020603050405020304" pitchFamily="18" charset="0"/>
                <a:ea typeface="宋体" panose="02010600030101010101" pitchFamily="2" charset="-122"/>
              </a:rPr>
              <a:t>的网络，称为</a:t>
            </a:r>
            <a:r>
              <a:rPr lang="en-US" altLang="zh-CN" dirty="0">
                <a:latin typeface="Times New Roman" panose="02020603050405020304" pitchFamily="18" charset="0"/>
                <a:ea typeface="宋体" panose="02010600030101010101" pitchFamily="2" charset="-122"/>
              </a:rPr>
              <a:t>90°</a:t>
            </a:r>
            <a:r>
              <a:rPr lang="zh-CN" altLang="en-US" dirty="0">
                <a:latin typeface="Times New Roman" panose="02020603050405020304" pitchFamily="18" charset="0"/>
                <a:ea typeface="宋体" panose="02010600030101010101" pitchFamily="2" charset="-122"/>
              </a:rPr>
              <a:t>移相器，或称正交变换网络。它和理想低通滤波器、理想微分器一样，有着极重要的理论和实际意义。  </a:t>
            </a:r>
            <a:endParaRPr lang="zh-CN" altLang="en-US" dirty="0">
              <a:latin typeface="Times New Roman" panose="02020603050405020304" pitchFamily="18" charset="0"/>
              <a:ea typeface="宋体" panose="02010600030101010101" pitchFamily="2" charset="-122"/>
            </a:endParaRPr>
          </a:p>
          <a:p>
            <a:pPr>
              <a:lnSpc>
                <a:spcPct val="158000"/>
              </a:lnSpc>
              <a:spcBef>
                <a:spcPct val="50000"/>
              </a:spcBef>
            </a:pPr>
            <a:r>
              <a:rPr lang="zh-CN" altLang="en-US" dirty="0">
                <a:latin typeface="Times New Roman" panose="02020603050405020304" pitchFamily="18" charset="0"/>
                <a:ea typeface="宋体" panose="02010600030101010101" pitchFamily="2" charset="-122"/>
              </a:rPr>
              <a:t>        当</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为奇对称时，</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滤波器将是一个具有准确的线性相位的正交变换网络。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14339"/>
          <p:cNvSpPr txBox="1"/>
          <p:nvPr/>
        </p:nvSpPr>
        <p:spPr>
          <a:xfrm>
            <a:off x="2514600" y="5486400"/>
            <a:ext cx="467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6-2</a:t>
            </a:r>
            <a:r>
              <a:rPr lang="en-US" altLang="zh-CN" i="1" dirty="0">
                <a:latin typeface="Times New Roman" panose="02020603050405020304" pitchFamily="18" charset="0"/>
                <a:ea typeface="宋体" panose="02010600030101010101" pitchFamily="2" charset="-122"/>
              </a:rPr>
              <a:t> 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奇对称时线性相位特性 </a:t>
            </a:r>
            <a:endParaRPr lang="zh-CN" altLang="en-US" dirty="0">
              <a:latin typeface="Times New Roman" panose="02020603050405020304" pitchFamily="18" charset="0"/>
              <a:ea typeface="宋体" panose="02010600030101010101" pitchFamily="2" charset="-122"/>
            </a:endParaRPr>
          </a:p>
        </p:txBody>
      </p:sp>
      <p:pic>
        <p:nvPicPr>
          <p:cNvPr id="14338" name="图片 14342" descr="6-2"/>
          <p:cNvPicPr>
            <a:picLocks noChangeAspect="1"/>
          </p:cNvPicPr>
          <p:nvPr/>
        </p:nvPicPr>
        <p:blipFill>
          <a:blip r:embed="rId1"/>
          <a:stretch>
            <a:fillRect/>
          </a:stretch>
        </p:blipFill>
        <p:spPr>
          <a:xfrm>
            <a:off x="1714500" y="1847850"/>
            <a:ext cx="5715000" cy="3162300"/>
          </a:xfrm>
          <a:prstGeom prst="rect">
            <a:avLst/>
          </a:prstGeom>
          <a:noFill/>
          <a:ln w="9525">
            <a:noFill/>
          </a:ln>
        </p:spPr>
      </p:pic>
      <p:graphicFrame>
        <p:nvGraphicFramePr>
          <p:cNvPr id="2" name="对象 1"/>
          <p:cNvGraphicFramePr/>
          <p:nvPr/>
        </p:nvGraphicFramePr>
        <p:xfrm>
          <a:off x="3459163" y="588963"/>
          <a:ext cx="5689600" cy="1019175"/>
        </p:xfrm>
        <a:graphic>
          <a:graphicData uri="http://schemas.openxmlformats.org/presentationml/2006/ole">
            <mc:AlternateContent xmlns:mc="http://schemas.openxmlformats.org/markup-compatibility/2006">
              <mc:Choice xmlns:v="urn:schemas-microsoft-com:vml" Requires="v">
                <p:oleObj spid="_x0000_s3103" name="" r:id="rId2" imgW="2914015" imgH="742315" progId="Equation.KSEE3">
                  <p:embed/>
                </p:oleObj>
              </mc:Choice>
              <mc:Fallback>
                <p:oleObj name="" r:id="rId2" imgW="2914015" imgH="742315" progId="Equation.KSEE3">
                  <p:embed/>
                  <p:pic>
                    <p:nvPicPr>
                      <p:cNvPr id="0" name="图片 3102"/>
                      <p:cNvPicPr/>
                      <p:nvPr/>
                    </p:nvPicPr>
                    <p:blipFill>
                      <a:blip r:embed="rId3"/>
                      <a:stretch>
                        <a:fillRect/>
                      </a:stretch>
                    </p:blipFill>
                    <p:spPr>
                      <a:xfrm>
                        <a:off x="3459163" y="588963"/>
                        <a:ext cx="5689600" cy="1019175"/>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5364163" y="1052513"/>
            <a:ext cx="1368425" cy="72072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3" name="矩形 2"/>
          <p:cNvSpPr/>
          <p:nvPr/>
        </p:nvSpPr>
        <p:spPr>
          <a:xfrm>
            <a:off x="6732588" y="5229225"/>
            <a:ext cx="2376488" cy="1079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 name="矩形 1"/>
          <p:cNvSpPr/>
          <p:nvPr/>
        </p:nvSpPr>
        <p:spPr>
          <a:xfrm>
            <a:off x="179388" y="5157788"/>
            <a:ext cx="3455988" cy="1079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5364" name="文本框 15363"/>
          <p:cNvSpPr txBox="1"/>
          <p:nvPr/>
        </p:nvSpPr>
        <p:spPr>
          <a:xfrm>
            <a:off x="215900" y="609600"/>
            <a:ext cx="2781300" cy="460375"/>
          </a:xfrm>
          <a:prstGeom prst="rect">
            <a:avLst/>
          </a:prstGeom>
          <a:no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6.1.2</a:t>
            </a:r>
            <a:r>
              <a:rPr lang="en-US" altLang="zh-CN" b="1" u="sng" dirty="0">
                <a:solidFill>
                  <a:srgbClr val="FF0000"/>
                </a:solidFill>
                <a:latin typeface="Times New Roman" panose="02020603050405020304" pitchFamily="18" charset="0"/>
                <a:ea typeface="宋体" panose="02010600030101010101" pitchFamily="2" charset="-122"/>
              </a:rPr>
              <a:t> </a:t>
            </a:r>
            <a:r>
              <a:rPr lang="zh-CN" altLang="en-US" b="1" u="sng" dirty="0">
                <a:solidFill>
                  <a:srgbClr val="FF0000"/>
                </a:solidFill>
                <a:latin typeface="Times New Roman" panose="02020603050405020304" pitchFamily="18" charset="0"/>
                <a:ea typeface="宋体" panose="02010600030101010101" pitchFamily="2" charset="-122"/>
              </a:rPr>
              <a:t>幅度</a:t>
            </a:r>
            <a:r>
              <a:rPr lang="zh-CN" altLang="en-US" b="1" dirty="0">
                <a:solidFill>
                  <a:srgbClr val="FF0000"/>
                </a:solidFill>
                <a:latin typeface="Times New Roman" panose="02020603050405020304" pitchFamily="18" charset="0"/>
                <a:ea typeface="宋体" panose="02010600030101010101" pitchFamily="2" charset="-122"/>
              </a:rPr>
              <a:t>响应特性 </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15365" name="文本框 15364"/>
          <p:cNvSpPr txBox="1"/>
          <p:nvPr/>
        </p:nvSpPr>
        <p:spPr>
          <a:xfrm>
            <a:off x="1066800" y="1066800"/>
            <a:ext cx="5640388" cy="1098550"/>
          </a:xfrm>
          <a:prstGeom prst="rect">
            <a:avLst/>
          </a:prstGeom>
          <a:noFill/>
          <a:ln w="9525">
            <a:noFill/>
          </a:ln>
        </p:spPr>
        <p:txBody>
          <a:bodyPr wrap="none" anchor="t">
            <a:spAutoFit/>
          </a:bodyPr>
          <a:p>
            <a:pPr>
              <a:lnSpc>
                <a:spcPct val="138000"/>
              </a:lnSpc>
            </a:pPr>
            <a:r>
              <a:rPr lang="en-US" altLang="zh-CN" b="1" dirty="0">
                <a:latin typeface="Times New Roman" panose="02020603050405020304" pitchFamily="18" charset="0"/>
                <a:ea typeface="宋体" panose="02010600030101010101" pitchFamily="2" charset="-122"/>
              </a:rPr>
              <a:t>1.</a:t>
            </a:r>
            <a:r>
              <a:rPr lang="en-US" altLang="zh-CN" b="1" dirty="0">
                <a:solidFill>
                  <a:srgbClr val="FF0000"/>
                </a:solidFill>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第一种类型</a:t>
            </a:r>
            <a:r>
              <a:rPr lang="zh-CN" altLang="en-US" b="1" dirty="0">
                <a:latin typeface="Times New Roman" panose="02020603050405020304" pitchFamily="18" charset="0"/>
                <a:ea typeface="宋体" panose="02010600030101010101" pitchFamily="2" charset="-122"/>
              </a:rPr>
              <a:t>：</a:t>
            </a:r>
            <a:r>
              <a:rPr lang="zh-CN" altLang="en-US" b="1" i="1"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h</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n</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为</a:t>
            </a:r>
            <a:r>
              <a:rPr lang="zh-CN" altLang="en-US" b="1" dirty="0">
                <a:solidFill>
                  <a:srgbClr val="FF0000"/>
                </a:solidFill>
                <a:latin typeface="Times New Roman" panose="02020603050405020304" pitchFamily="18" charset="0"/>
                <a:ea typeface="宋体" panose="02010600030101010101" pitchFamily="2" charset="-122"/>
              </a:rPr>
              <a:t>偶对称</a:t>
            </a:r>
            <a:r>
              <a:rPr lang="zh-CN" altLang="en-US"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N</a:t>
            </a:r>
            <a:r>
              <a:rPr lang="zh-CN" altLang="en-US" b="1" dirty="0">
                <a:latin typeface="Times New Roman" panose="02020603050405020304" pitchFamily="18" charset="0"/>
                <a:ea typeface="宋体" panose="02010600030101010101" pitchFamily="2" charset="-122"/>
              </a:rPr>
              <a:t>为</a:t>
            </a:r>
            <a:r>
              <a:rPr lang="zh-CN" altLang="en-US" b="1" dirty="0">
                <a:solidFill>
                  <a:srgbClr val="FF0000"/>
                </a:solidFill>
                <a:latin typeface="Times New Roman" panose="02020603050405020304" pitchFamily="18" charset="0"/>
                <a:ea typeface="宋体" panose="02010600030101010101" pitchFamily="2" charset="-122"/>
              </a:rPr>
              <a:t>奇数</a:t>
            </a:r>
            <a:endParaRPr lang="zh-CN" altLang="en-US" b="1" dirty="0">
              <a:latin typeface="Times New Roman" panose="02020603050405020304" pitchFamily="18" charset="0"/>
              <a:ea typeface="宋体" panose="02010600030101010101" pitchFamily="2" charset="-122"/>
            </a:endParaRPr>
          </a:p>
          <a:p>
            <a:pPr>
              <a:lnSpc>
                <a:spcPct val="138000"/>
              </a:lnSpc>
            </a:pPr>
            <a:r>
              <a:rPr lang="zh-CN" altLang="en-US" dirty="0">
                <a:latin typeface="Times New Roman" panose="02020603050405020304" pitchFamily="18" charset="0"/>
                <a:ea typeface="宋体" panose="02010600030101010101" pitchFamily="2" charset="-122"/>
              </a:rPr>
              <a:t>从</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偶对称的幅度函数式（</a:t>
            </a:r>
            <a:r>
              <a:rPr lang="en-US" altLang="zh-CN" dirty="0">
                <a:latin typeface="Times New Roman" panose="02020603050405020304" pitchFamily="18" charset="0"/>
                <a:ea typeface="宋体" panose="02010600030101010101" pitchFamily="2" charset="-122"/>
              </a:rPr>
              <a:t>6-6</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15366" name="对象 15365"/>
          <p:cNvGraphicFramePr/>
          <p:nvPr/>
        </p:nvGraphicFramePr>
        <p:xfrm>
          <a:off x="2455863" y="2362200"/>
          <a:ext cx="4537075" cy="966788"/>
        </p:xfrm>
        <a:graphic>
          <a:graphicData uri="http://schemas.openxmlformats.org/presentationml/2006/ole">
            <mc:AlternateContent xmlns:mc="http://schemas.openxmlformats.org/markup-compatibility/2006">
              <mc:Choice xmlns:v="urn:schemas-microsoft-com:vml" Requires="v">
                <p:oleObj spid="_x0000_s3104" name="" r:id="rId1" imgW="2145665" imgH="457200" progId="Equation.3">
                  <p:embed/>
                </p:oleObj>
              </mc:Choice>
              <mc:Fallback>
                <p:oleObj name="" r:id="rId1" imgW="2145665" imgH="457200" progId="Equation.3">
                  <p:embed/>
                  <p:pic>
                    <p:nvPicPr>
                      <p:cNvPr id="0" name="图片 3103"/>
                      <p:cNvPicPr/>
                      <p:nvPr/>
                    </p:nvPicPr>
                    <p:blipFill>
                      <a:blip r:embed="rId2"/>
                      <a:stretch>
                        <a:fillRect/>
                      </a:stretch>
                    </p:blipFill>
                    <p:spPr>
                      <a:xfrm>
                        <a:off x="2455863" y="2362200"/>
                        <a:ext cx="4537075" cy="966788"/>
                      </a:xfrm>
                      <a:prstGeom prst="rect">
                        <a:avLst/>
                      </a:prstGeom>
                      <a:solidFill>
                        <a:schemeClr val="accent1"/>
                      </a:solidFill>
                      <a:ln w="38100">
                        <a:noFill/>
                        <a:miter/>
                      </a:ln>
                    </p:spPr>
                  </p:pic>
                </p:oleObj>
              </mc:Fallback>
            </mc:AlternateContent>
          </a:graphicData>
        </a:graphic>
      </p:graphicFrame>
      <p:grpSp>
        <p:nvGrpSpPr>
          <p:cNvPr id="15367" name="组合 15368"/>
          <p:cNvGrpSpPr/>
          <p:nvPr/>
        </p:nvGrpSpPr>
        <p:grpSpPr>
          <a:xfrm>
            <a:off x="228600" y="3214688"/>
            <a:ext cx="8839200" cy="1530350"/>
            <a:chOff x="96" y="2153"/>
            <a:chExt cx="5568" cy="964"/>
          </a:xfrm>
        </p:grpSpPr>
        <p:sp>
          <p:nvSpPr>
            <p:cNvPr id="15368" name="文本框 15366"/>
            <p:cNvSpPr txBox="1"/>
            <p:nvPr/>
          </p:nvSpPr>
          <p:spPr>
            <a:xfrm>
              <a:off x="96" y="2208"/>
              <a:ext cx="5568" cy="909"/>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不但</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对于</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-1)/2 </a:t>
              </a:r>
              <a:r>
                <a:rPr lang="zh-CN" altLang="en-US" dirty="0">
                  <a:latin typeface="Times New Roman" panose="02020603050405020304" pitchFamily="18" charset="0"/>
                  <a:ea typeface="宋体" panose="02010600030101010101" pitchFamily="2" charset="-122"/>
                </a:rPr>
                <a:t>呈偶对称，而且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也对</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-1)/2 </a:t>
              </a:r>
              <a:r>
                <a:rPr lang="zh-CN" altLang="en-US" dirty="0">
                  <a:latin typeface="Times New Roman" panose="02020603050405020304" pitchFamily="18" charset="0"/>
                  <a:ea typeface="宋体" panose="02010600030101010101" pitchFamily="2" charset="-122"/>
                </a:rPr>
                <a:t>呈偶对称，即</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15369" name="对象 15367"/>
            <p:cNvGraphicFramePr/>
            <p:nvPr/>
          </p:nvGraphicFramePr>
          <p:xfrm>
            <a:off x="3583" y="2153"/>
            <a:ext cx="1488" cy="570"/>
          </p:xfrm>
          <a:graphic>
            <a:graphicData uri="http://schemas.openxmlformats.org/presentationml/2006/ole">
              <mc:AlternateContent xmlns:mc="http://schemas.openxmlformats.org/markup-compatibility/2006">
                <mc:Choice xmlns:v="urn:schemas-microsoft-com:vml" Requires="v">
                  <p:oleObj spid="_x0000_s3112" name="" r:id="rId3" imgW="1193800" imgH="457200" progId="Equation.3">
                    <p:embed/>
                  </p:oleObj>
                </mc:Choice>
                <mc:Fallback>
                  <p:oleObj name="" r:id="rId3" imgW="1193800" imgH="457200" progId="Equation.3">
                    <p:embed/>
                    <p:pic>
                      <p:nvPicPr>
                        <p:cNvPr id="0" name="图片 3111"/>
                        <p:cNvPicPr/>
                        <p:nvPr/>
                      </p:nvPicPr>
                      <p:blipFill>
                        <a:blip r:embed="rId4"/>
                        <a:stretch>
                          <a:fillRect/>
                        </a:stretch>
                      </p:blipFill>
                      <p:spPr>
                        <a:xfrm>
                          <a:off x="3583" y="2153"/>
                          <a:ext cx="1488" cy="570"/>
                        </a:xfrm>
                        <a:prstGeom prst="rect">
                          <a:avLst/>
                        </a:prstGeom>
                        <a:noFill/>
                        <a:ln w="38100">
                          <a:noFill/>
                          <a:miter/>
                        </a:ln>
                      </p:spPr>
                    </p:pic>
                  </p:oleObj>
                </mc:Fallback>
              </mc:AlternateContent>
            </a:graphicData>
          </a:graphic>
        </p:graphicFrame>
      </p:grpSp>
      <p:graphicFrame>
        <p:nvGraphicFramePr>
          <p:cNvPr id="15370" name="对象 15369"/>
          <p:cNvGraphicFramePr/>
          <p:nvPr/>
        </p:nvGraphicFramePr>
        <p:xfrm>
          <a:off x="215900" y="4799013"/>
          <a:ext cx="8940800" cy="1357312"/>
        </p:xfrm>
        <a:graphic>
          <a:graphicData uri="http://schemas.openxmlformats.org/presentationml/2006/ole">
            <mc:AlternateContent xmlns:mc="http://schemas.openxmlformats.org/markup-compatibility/2006">
              <mc:Choice xmlns:v="urn:schemas-microsoft-com:vml" Requires="v">
                <p:oleObj spid="_x0000_s3109" name="" r:id="rId5" imgW="4521200" imgH="685800" progId="Equation.DSMT4">
                  <p:embed/>
                </p:oleObj>
              </mc:Choice>
              <mc:Fallback>
                <p:oleObj name="" r:id="rId5" imgW="4521200" imgH="685800" progId="Equation.DSMT4">
                  <p:embed/>
                  <p:pic>
                    <p:nvPicPr>
                      <p:cNvPr id="0" name="图片 3108"/>
                      <p:cNvPicPr/>
                      <p:nvPr/>
                    </p:nvPicPr>
                    <p:blipFill>
                      <a:blip r:embed="rId6"/>
                      <a:stretch>
                        <a:fillRect/>
                      </a:stretch>
                    </p:blipFill>
                    <p:spPr>
                      <a:xfrm>
                        <a:off x="215900" y="4799013"/>
                        <a:ext cx="8940800" cy="1357312"/>
                      </a:xfrm>
                      <a:prstGeom prst="rect">
                        <a:avLst/>
                      </a:prstGeom>
                      <a:noFill/>
                      <a:ln w="38100">
                        <a:noFill/>
                        <a:miter/>
                      </a:ln>
                    </p:spPr>
                  </p:pic>
                </p:oleObj>
              </mc:Fallback>
            </mc:AlternateContent>
          </a:graphicData>
        </a:graphic>
      </p:graphicFrame>
      <p:sp>
        <p:nvSpPr>
          <p:cNvPr id="5" name="文本框 4"/>
          <p:cNvSpPr txBox="1"/>
          <p:nvPr/>
        </p:nvSpPr>
        <p:spPr>
          <a:xfrm>
            <a:off x="5207000" y="4154488"/>
            <a:ext cx="3902075" cy="644525"/>
          </a:xfrm>
          <a:prstGeom prst="rect">
            <a:avLst/>
          </a:prstGeom>
          <a:solidFill>
            <a:srgbClr val="FFFF00"/>
          </a:solidFill>
          <a:ln w="9525">
            <a:noFill/>
          </a:ln>
        </p:spPr>
        <p:txBody>
          <a:bodyPr anchor="t">
            <a:spAutoFit/>
          </a:bodyPr>
          <a:p>
            <a:r>
              <a:rPr lang="en-US" altLang="zh-CN" sz="3600" i="1" dirty="0">
                <a:latin typeface="Times New Roman" panose="02020603050405020304" pitchFamily="18" charset="0"/>
                <a:ea typeface="宋体" panose="02010600030101010101" pitchFamily="2" charset="-122"/>
              </a:rPr>
              <a:t>n</a:t>
            </a:r>
            <a:r>
              <a:rPr lang="en-US" altLang="zh-CN" sz="3600" dirty="0">
                <a:latin typeface="Times New Roman" panose="02020603050405020304" pitchFamily="18" charset="0"/>
                <a:ea typeface="宋体" panose="02010600030101010101" pitchFamily="2" charset="-122"/>
              </a:rPr>
              <a:t>=(</a:t>
            </a:r>
            <a:r>
              <a:rPr lang="en-US" altLang="zh-CN" sz="3600" i="1" dirty="0">
                <a:latin typeface="Times New Roman" panose="02020603050405020304" pitchFamily="18" charset="0"/>
                <a:ea typeface="宋体" panose="02010600030101010101" pitchFamily="2" charset="-122"/>
              </a:rPr>
              <a:t>N</a:t>
            </a:r>
            <a:r>
              <a:rPr lang="en-US" altLang="zh-CN" sz="3600" dirty="0">
                <a:latin typeface="Times New Roman" panose="02020603050405020304" pitchFamily="18" charset="0"/>
                <a:ea typeface="宋体" panose="02010600030101010101" pitchFamily="2" charset="-122"/>
              </a:rPr>
              <a:t>-1)/2</a:t>
            </a:r>
            <a:r>
              <a:rPr lang="zh-CN" altLang="en-US" sz="3600" dirty="0">
                <a:latin typeface="Times New Roman" panose="02020603050405020304" pitchFamily="18" charset="0"/>
                <a:ea typeface="宋体" panose="02010600030101010101" pitchFamily="2" charset="-122"/>
              </a:rPr>
              <a:t>项是单项</a:t>
            </a:r>
            <a:endParaRPr lang="zh-CN" altLang="en-US" sz="3600"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文本框 17411"/>
          <p:cNvSpPr txBox="1"/>
          <p:nvPr/>
        </p:nvSpPr>
        <p:spPr>
          <a:xfrm>
            <a:off x="228600" y="609600"/>
            <a:ext cx="8686800" cy="2397125"/>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因此，可以将</a:t>
            </a:r>
            <a:r>
              <a:rPr lang="en-US" altLang="zh-CN" dirty="0">
                <a:latin typeface="Times New Roman" panose="02020603050405020304" pitchFamily="18" charset="0"/>
                <a:ea typeface="宋体" panose="02010600030101010101" pitchFamily="2" charset="-122"/>
              </a:rPr>
              <a:t>Σ</a:t>
            </a:r>
            <a:r>
              <a:rPr lang="zh-CN" altLang="en-US" dirty="0">
                <a:latin typeface="Times New Roman" panose="02020603050405020304" pitchFamily="18" charset="0"/>
                <a:ea typeface="宋体" panose="02010600030101010101" pitchFamily="2" charset="-122"/>
              </a:rPr>
              <a:t>内两两相等的项合并，例如</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项与</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项合并，</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项与</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项合并，等等。但是，由于</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是奇数，两两合并的结果必然还剩下一项，即</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项是单项，无法和其他项合并，这样，幅度函数就可以表示为 </a:t>
            </a:r>
            <a:endParaRPr lang="zh-CN" altLang="en-US" dirty="0">
              <a:latin typeface="Times New Roman" panose="02020603050405020304" pitchFamily="18" charset="0"/>
              <a:ea typeface="宋体" panose="02010600030101010101" pitchFamily="2" charset="-122"/>
            </a:endParaRPr>
          </a:p>
        </p:txBody>
      </p:sp>
      <p:graphicFrame>
        <p:nvGraphicFramePr>
          <p:cNvPr id="16386" name="对象 17412"/>
          <p:cNvGraphicFramePr/>
          <p:nvPr/>
        </p:nvGraphicFramePr>
        <p:xfrm>
          <a:off x="762000" y="3048000"/>
          <a:ext cx="7543800" cy="1095375"/>
        </p:xfrm>
        <a:graphic>
          <a:graphicData uri="http://schemas.openxmlformats.org/presentationml/2006/ole">
            <mc:AlternateContent xmlns:mc="http://schemas.openxmlformats.org/markup-compatibility/2006">
              <mc:Choice xmlns:v="urn:schemas-microsoft-com:vml" Requires="v">
                <p:oleObj spid="_x0000_s3115" name="" r:id="rId1" imgW="3149600" imgH="457200" progId="Equation.3">
                  <p:embed/>
                </p:oleObj>
              </mc:Choice>
              <mc:Fallback>
                <p:oleObj name="" r:id="rId1" imgW="3149600" imgH="457200" progId="Equation.3">
                  <p:embed/>
                  <p:pic>
                    <p:nvPicPr>
                      <p:cNvPr id="0" name="图片 3114"/>
                      <p:cNvPicPr/>
                      <p:nvPr/>
                    </p:nvPicPr>
                    <p:blipFill>
                      <a:blip r:embed="rId2"/>
                      <a:stretch>
                        <a:fillRect/>
                      </a:stretch>
                    </p:blipFill>
                    <p:spPr>
                      <a:xfrm>
                        <a:off x="762000" y="3048000"/>
                        <a:ext cx="7543800" cy="1095375"/>
                      </a:xfrm>
                      <a:prstGeom prst="rect">
                        <a:avLst/>
                      </a:prstGeom>
                      <a:solidFill>
                        <a:schemeClr val="accent1"/>
                      </a:solidFill>
                      <a:ln w="38100">
                        <a:noFill/>
                        <a:miter/>
                      </a:ln>
                    </p:spPr>
                  </p:pic>
                </p:oleObj>
              </mc:Fallback>
            </mc:AlternateContent>
          </a:graphicData>
        </a:graphic>
      </p:graphicFrame>
      <p:sp>
        <p:nvSpPr>
          <p:cNvPr id="16387" name="文本框 17413"/>
          <p:cNvSpPr txBox="1"/>
          <p:nvPr/>
        </p:nvSpPr>
        <p:spPr>
          <a:xfrm>
            <a:off x="288925" y="4384675"/>
            <a:ext cx="7956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再进行一次换元，即令		         ，则上式可改写为 </a:t>
            </a:r>
            <a:endParaRPr lang="zh-CN" altLang="en-US" dirty="0">
              <a:latin typeface="Times New Roman" panose="02020603050405020304" pitchFamily="18" charset="0"/>
              <a:ea typeface="宋体" panose="02010600030101010101" pitchFamily="2" charset="-122"/>
            </a:endParaRPr>
          </a:p>
        </p:txBody>
      </p:sp>
      <p:graphicFrame>
        <p:nvGraphicFramePr>
          <p:cNvPr id="16388" name="对象 17414"/>
          <p:cNvGraphicFramePr/>
          <p:nvPr/>
        </p:nvGraphicFramePr>
        <p:xfrm>
          <a:off x="3505200" y="4191000"/>
          <a:ext cx="1905000" cy="855663"/>
        </p:xfrm>
        <a:graphic>
          <a:graphicData uri="http://schemas.openxmlformats.org/presentationml/2006/ole">
            <mc:AlternateContent xmlns:mc="http://schemas.openxmlformats.org/markup-compatibility/2006">
              <mc:Choice xmlns:v="urn:schemas-microsoft-com:vml" Requires="v">
                <p:oleObj spid="_x0000_s3113" name="" r:id="rId3" imgW="875665" imgH="393700" progId="Equation.3">
                  <p:embed/>
                </p:oleObj>
              </mc:Choice>
              <mc:Fallback>
                <p:oleObj name="" r:id="rId3" imgW="875665" imgH="393700" progId="Equation.3">
                  <p:embed/>
                  <p:pic>
                    <p:nvPicPr>
                      <p:cNvPr id="0" name="图片 3112"/>
                      <p:cNvPicPr/>
                      <p:nvPr/>
                    </p:nvPicPr>
                    <p:blipFill>
                      <a:blip r:embed="rId4"/>
                      <a:stretch>
                        <a:fillRect/>
                      </a:stretch>
                    </p:blipFill>
                    <p:spPr>
                      <a:xfrm>
                        <a:off x="3505200" y="4191000"/>
                        <a:ext cx="1905000" cy="855663"/>
                      </a:xfrm>
                      <a:prstGeom prst="rect">
                        <a:avLst/>
                      </a:prstGeom>
                      <a:noFill/>
                      <a:ln w="38100">
                        <a:noFill/>
                        <a:miter/>
                      </a:ln>
                    </p:spPr>
                  </p:pic>
                </p:oleObj>
              </mc:Fallback>
            </mc:AlternateContent>
          </a:graphicData>
        </a:graphic>
      </p:graphicFrame>
      <p:graphicFrame>
        <p:nvGraphicFramePr>
          <p:cNvPr id="16389" name="对象 17415"/>
          <p:cNvGraphicFramePr/>
          <p:nvPr/>
        </p:nvGraphicFramePr>
        <p:xfrm>
          <a:off x="1020763" y="5135563"/>
          <a:ext cx="7331075" cy="1035050"/>
        </p:xfrm>
        <a:graphic>
          <a:graphicData uri="http://schemas.openxmlformats.org/presentationml/2006/ole">
            <mc:AlternateContent xmlns:mc="http://schemas.openxmlformats.org/markup-compatibility/2006">
              <mc:Choice xmlns:v="urn:schemas-microsoft-com:vml" Requires="v">
                <p:oleObj spid="_x0000_s3114" name="" r:id="rId5" imgW="3059430" imgH="431800" progId="Equation.3">
                  <p:embed/>
                </p:oleObj>
              </mc:Choice>
              <mc:Fallback>
                <p:oleObj name="" r:id="rId5" imgW="3059430" imgH="431800" progId="Equation.3">
                  <p:embed/>
                  <p:pic>
                    <p:nvPicPr>
                      <p:cNvPr id="0" name="图片 3113"/>
                      <p:cNvPicPr/>
                      <p:nvPr/>
                    </p:nvPicPr>
                    <p:blipFill>
                      <a:blip r:embed="rId6"/>
                      <a:stretch>
                        <a:fillRect/>
                      </a:stretch>
                    </p:blipFill>
                    <p:spPr>
                      <a:xfrm>
                        <a:off x="1020763" y="5135563"/>
                        <a:ext cx="7331075" cy="1035050"/>
                      </a:xfrm>
                      <a:prstGeom prst="rect">
                        <a:avLst/>
                      </a:prstGeom>
                      <a:solidFill>
                        <a:schemeClr val="accent1"/>
                      </a:solidFill>
                      <a:ln w="38100">
                        <a:noFill/>
                        <a:miter/>
                      </a:ln>
                    </p:spPr>
                  </p:pic>
                </p:oleObj>
              </mc:Fallback>
            </mc:AlternateContent>
          </a:graphicData>
        </a:graphic>
      </p:graphicFrame>
      <p:cxnSp>
        <p:nvCxnSpPr>
          <p:cNvPr id="3" name="直接连接符 2"/>
          <p:cNvCxnSpPr/>
          <p:nvPr/>
        </p:nvCxnSpPr>
        <p:spPr>
          <a:xfrm flipV="1">
            <a:off x="2225675" y="6092825"/>
            <a:ext cx="1482725" cy="2063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V="1">
            <a:off x="4872038" y="6092825"/>
            <a:ext cx="2076450" cy="2063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16387"/>
          <p:cNvSpPr txBox="1"/>
          <p:nvPr/>
        </p:nvSpPr>
        <p:spPr>
          <a:xfrm>
            <a:off x="365125" y="727075"/>
            <a:ext cx="1479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可表示为 </a:t>
            </a:r>
            <a:endParaRPr lang="zh-CN" altLang="en-US" dirty="0">
              <a:latin typeface="Times New Roman" panose="02020603050405020304" pitchFamily="18" charset="0"/>
              <a:ea typeface="宋体" panose="02010600030101010101" pitchFamily="2" charset="-122"/>
            </a:endParaRPr>
          </a:p>
        </p:txBody>
      </p:sp>
      <p:graphicFrame>
        <p:nvGraphicFramePr>
          <p:cNvPr id="17410" name="对象 16388"/>
          <p:cNvGraphicFramePr/>
          <p:nvPr/>
        </p:nvGraphicFramePr>
        <p:xfrm>
          <a:off x="2514600" y="990600"/>
          <a:ext cx="3962400" cy="1068388"/>
        </p:xfrm>
        <a:graphic>
          <a:graphicData uri="http://schemas.openxmlformats.org/presentationml/2006/ole">
            <mc:AlternateContent xmlns:mc="http://schemas.openxmlformats.org/markup-compatibility/2006">
              <mc:Choice xmlns:v="urn:schemas-microsoft-com:vml" Requires="v">
                <p:oleObj spid="_x0000_s3108" name="" r:id="rId1" imgW="1599565" imgH="431800" progId="Equation.3">
                  <p:embed/>
                </p:oleObj>
              </mc:Choice>
              <mc:Fallback>
                <p:oleObj name="" r:id="rId1" imgW="1599565" imgH="431800" progId="Equation.3">
                  <p:embed/>
                  <p:pic>
                    <p:nvPicPr>
                      <p:cNvPr id="0" name="图片 3107"/>
                      <p:cNvPicPr/>
                      <p:nvPr/>
                    </p:nvPicPr>
                    <p:blipFill>
                      <a:blip r:embed="rId2"/>
                      <a:stretch>
                        <a:fillRect/>
                      </a:stretch>
                    </p:blipFill>
                    <p:spPr>
                      <a:xfrm>
                        <a:off x="2514600" y="990600"/>
                        <a:ext cx="3962400" cy="1068388"/>
                      </a:xfrm>
                      <a:prstGeom prst="rect">
                        <a:avLst/>
                      </a:prstGeom>
                      <a:solidFill>
                        <a:schemeClr val="accent1"/>
                      </a:solidFill>
                      <a:ln w="38100">
                        <a:noFill/>
                        <a:miter/>
                      </a:ln>
                    </p:spPr>
                  </p:pic>
                </p:oleObj>
              </mc:Fallback>
            </mc:AlternateContent>
          </a:graphicData>
        </a:graphic>
      </p:graphicFrame>
      <p:sp>
        <p:nvSpPr>
          <p:cNvPr id="17411" name="文本框 16389"/>
          <p:cNvSpPr txBox="1"/>
          <p:nvPr/>
        </p:nvSpPr>
        <p:spPr>
          <a:xfrm>
            <a:off x="7645400" y="12954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6-15</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7412" name="文本框 16390"/>
          <p:cNvSpPr txBox="1"/>
          <p:nvPr/>
        </p:nvSpPr>
        <p:spPr>
          <a:xfrm>
            <a:off x="381000" y="2327275"/>
            <a:ext cx="9540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17413" name="对象 16391"/>
          <p:cNvGraphicFramePr/>
          <p:nvPr/>
        </p:nvGraphicFramePr>
        <p:xfrm>
          <a:off x="2462213" y="2278063"/>
          <a:ext cx="2009775" cy="1630362"/>
        </p:xfrm>
        <a:graphic>
          <a:graphicData uri="http://schemas.openxmlformats.org/presentationml/2006/ole">
            <mc:AlternateContent xmlns:mc="http://schemas.openxmlformats.org/markup-compatibility/2006">
              <mc:Choice xmlns:v="urn:schemas-microsoft-com:vml" Requires="v">
                <p:oleObj spid="_x0000_s3107" name="" r:id="rId3" imgW="1016000" imgH="825500" progId="Equation.3">
                  <p:embed/>
                </p:oleObj>
              </mc:Choice>
              <mc:Fallback>
                <p:oleObj name="" r:id="rId3" imgW="1016000" imgH="825500" progId="Equation.3">
                  <p:embed/>
                  <p:pic>
                    <p:nvPicPr>
                      <p:cNvPr id="0" name="图片 3106"/>
                      <p:cNvPicPr/>
                      <p:nvPr/>
                    </p:nvPicPr>
                    <p:blipFill>
                      <a:blip r:embed="rId4"/>
                      <a:stretch>
                        <a:fillRect/>
                      </a:stretch>
                    </p:blipFill>
                    <p:spPr>
                      <a:xfrm>
                        <a:off x="2462213" y="2278063"/>
                        <a:ext cx="2009775" cy="1630362"/>
                      </a:xfrm>
                      <a:prstGeom prst="rect">
                        <a:avLst/>
                      </a:prstGeom>
                      <a:noFill/>
                      <a:ln w="38100">
                        <a:noFill/>
                        <a:miter/>
                      </a:ln>
                    </p:spPr>
                  </p:pic>
                </p:oleObj>
              </mc:Fallback>
            </mc:AlternateContent>
          </a:graphicData>
        </a:graphic>
      </p:graphicFrame>
      <p:sp>
        <p:nvSpPr>
          <p:cNvPr id="17414" name="文本框 16392"/>
          <p:cNvSpPr txBox="1"/>
          <p:nvPr/>
        </p:nvSpPr>
        <p:spPr>
          <a:xfrm>
            <a:off x="7645400" y="2784475"/>
            <a:ext cx="1574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6-16</a:t>
            </a:r>
            <a:r>
              <a:rPr lang="en-US" altLang="zh-CN" i="1"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17415" name="对象 16393"/>
          <p:cNvGraphicFramePr/>
          <p:nvPr/>
        </p:nvGraphicFramePr>
        <p:xfrm>
          <a:off x="2398713" y="3962400"/>
          <a:ext cx="2586037" cy="852488"/>
        </p:xfrm>
        <a:graphic>
          <a:graphicData uri="http://schemas.openxmlformats.org/presentationml/2006/ole">
            <mc:AlternateContent xmlns:mc="http://schemas.openxmlformats.org/markup-compatibility/2006">
              <mc:Choice xmlns:v="urn:schemas-microsoft-com:vml" Requires="v">
                <p:oleObj spid="_x0000_s3110" name="" r:id="rId5" imgW="1308100" imgH="431800" progId="Equation.3">
                  <p:embed/>
                </p:oleObj>
              </mc:Choice>
              <mc:Fallback>
                <p:oleObj name="" r:id="rId5" imgW="1308100" imgH="431800" progId="Equation.3">
                  <p:embed/>
                  <p:pic>
                    <p:nvPicPr>
                      <p:cNvPr id="0" name="图片 3109"/>
                      <p:cNvPicPr/>
                      <p:nvPr/>
                    </p:nvPicPr>
                    <p:blipFill>
                      <a:blip r:embed="rId6"/>
                      <a:stretch>
                        <a:fillRect/>
                      </a:stretch>
                    </p:blipFill>
                    <p:spPr>
                      <a:xfrm>
                        <a:off x="2398713" y="3962400"/>
                        <a:ext cx="2586037" cy="852488"/>
                      </a:xfrm>
                      <a:prstGeom prst="rect">
                        <a:avLst/>
                      </a:prstGeom>
                      <a:noFill/>
                      <a:ln w="38100">
                        <a:noFill/>
                        <a:miter/>
                      </a:ln>
                    </p:spPr>
                  </p:pic>
                </p:oleObj>
              </mc:Fallback>
            </mc:AlternateContent>
          </a:graphicData>
        </a:graphic>
      </p:graphicFrame>
      <p:sp>
        <p:nvSpPr>
          <p:cNvPr id="17416" name="文本框 16394"/>
          <p:cNvSpPr txBox="1"/>
          <p:nvPr/>
        </p:nvSpPr>
        <p:spPr>
          <a:xfrm>
            <a:off x="5181600" y="4114800"/>
            <a:ext cx="2547938" cy="457200"/>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=1,2,3,…,(</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 </a:t>
            </a:r>
            <a:endParaRPr lang="en-US" altLang="zh-CN" dirty="0">
              <a:latin typeface="Times New Roman" panose="02020603050405020304" pitchFamily="18" charset="0"/>
              <a:ea typeface="宋体" panose="02010600030101010101" pitchFamily="2" charset="-122"/>
            </a:endParaRPr>
          </a:p>
        </p:txBody>
      </p:sp>
      <p:sp>
        <p:nvSpPr>
          <p:cNvPr id="17417" name="文本框 16395"/>
          <p:cNvSpPr txBox="1"/>
          <p:nvPr/>
        </p:nvSpPr>
        <p:spPr>
          <a:xfrm>
            <a:off x="7721600" y="4114800"/>
            <a:ext cx="1574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6-16b</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7418" name="文本框 16396"/>
          <p:cNvSpPr txBox="1"/>
          <p:nvPr/>
        </p:nvSpPr>
        <p:spPr>
          <a:xfrm>
            <a:off x="228600" y="4800600"/>
            <a:ext cx="8763000" cy="1198563"/>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按照式（</a:t>
            </a:r>
            <a:r>
              <a:rPr lang="en-US" altLang="zh-CN" dirty="0">
                <a:latin typeface="Times New Roman" panose="02020603050405020304" pitchFamily="18" charset="0"/>
                <a:ea typeface="宋体" panose="02010600030101010101" pitchFamily="2" charset="-122"/>
              </a:rPr>
              <a:t>6-15</a:t>
            </a:r>
            <a:r>
              <a:rPr lang="zh-CN" altLang="en-US" dirty="0">
                <a:latin typeface="Times New Roman" panose="02020603050405020304" pitchFamily="18" charset="0"/>
                <a:ea typeface="宋体" panose="02010600030101010101" pitchFamily="2" charset="-122"/>
              </a:rPr>
              <a:t>），由于式中</a:t>
            </a:r>
            <a:r>
              <a:rPr lang="en-US" altLang="zh-CN" dirty="0">
                <a:latin typeface="Times New Roman" panose="02020603050405020304" pitchFamily="18" charset="0"/>
                <a:ea typeface="宋体" panose="02010600030101010101" pitchFamily="2" charset="-122"/>
              </a:rPr>
              <a:t>cos(</a:t>
            </a:r>
            <a:r>
              <a:rPr lang="en-US" altLang="zh-CN" i="1" dirty="0">
                <a:latin typeface="Times New Roman" panose="02020603050405020304" pitchFamily="18" charset="0"/>
                <a:ea typeface="宋体" panose="02010600030101010101" pitchFamily="2" charset="-122"/>
              </a:rPr>
              <a:t>ωn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项对</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=0,π,2π</a:t>
            </a:r>
            <a:r>
              <a:rPr lang="zh-CN" altLang="en-US" dirty="0">
                <a:latin typeface="Times New Roman" panose="02020603050405020304" pitchFamily="18" charset="0"/>
                <a:ea typeface="宋体" panose="02010600030101010101" pitchFamily="2" charset="-122"/>
              </a:rPr>
              <a:t>皆为偶对称，因此幅度函数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对于</a:t>
            </a:r>
            <a:r>
              <a:rPr lang="en-US" altLang="zh-CN" dirty="0">
                <a:latin typeface="Times New Roman" panose="02020603050405020304" pitchFamily="18" charset="0"/>
                <a:ea typeface="宋体" panose="02010600030101010101" pitchFamily="2" charset="-122"/>
              </a:rPr>
              <a:t>ω=0, π</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2π</a:t>
            </a:r>
            <a:r>
              <a:rPr lang="zh-CN" altLang="en-US" dirty="0">
                <a:latin typeface="Times New Roman" panose="02020603050405020304" pitchFamily="18" charset="0"/>
                <a:ea typeface="宋体" panose="02010600030101010101" pitchFamily="2" charset="-122"/>
              </a:rPr>
              <a:t>也呈偶对称。 </a:t>
            </a:r>
            <a:endParaRPr lang="zh-CN" altLang="en-US" dirty="0">
              <a:latin typeface="Times New Roman" panose="02020603050405020304" pitchFamily="18" charset="0"/>
              <a:ea typeface="宋体" panose="02010600030101010101" pitchFamily="2" charset="-122"/>
            </a:endParaRPr>
          </a:p>
        </p:txBody>
      </p:sp>
      <p:sp>
        <p:nvSpPr>
          <p:cNvPr id="2" name="流程图: 顺序访问存储器 1"/>
          <p:cNvSpPr/>
          <p:nvPr/>
        </p:nvSpPr>
        <p:spPr>
          <a:xfrm flipH="1">
            <a:off x="7235825" y="4580255"/>
            <a:ext cx="1958975" cy="2303463"/>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低通</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高通</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带通</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带阻</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18435"/>
          <p:cNvSpPr txBox="1"/>
          <p:nvPr/>
        </p:nvSpPr>
        <p:spPr>
          <a:xfrm>
            <a:off x="152400" y="457200"/>
            <a:ext cx="8763000" cy="18034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2. </a:t>
            </a:r>
            <a:r>
              <a:rPr lang="zh-CN" altLang="en-US" b="1" dirty="0">
                <a:latin typeface="Times New Roman" panose="02020603050405020304" pitchFamily="18" charset="0"/>
                <a:ea typeface="宋体" panose="02010600030101010101" pitchFamily="2" charset="-122"/>
              </a:rPr>
              <a:t>第二种类型</a:t>
            </a:r>
            <a:r>
              <a:rPr lang="zh-CN" altLang="en-US"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为偶对称，</a:t>
            </a:r>
            <a:r>
              <a:rPr lang="en-US" altLang="zh-CN" b="1" i="1" dirty="0">
                <a:solidFill>
                  <a:srgbClr val="FF0000"/>
                </a:solidFill>
                <a:latin typeface="Times New Roman" panose="02020603050405020304" pitchFamily="18" charset="0"/>
                <a:ea typeface="宋体" panose="02010600030101010101" pitchFamily="2" charset="-122"/>
              </a:rPr>
              <a:t>N</a:t>
            </a:r>
            <a:r>
              <a:rPr lang="zh-CN" altLang="en-US" b="1" dirty="0">
                <a:solidFill>
                  <a:srgbClr val="FF0000"/>
                </a:solidFill>
                <a:latin typeface="Times New Roman" panose="02020603050405020304" pitchFamily="18" charset="0"/>
                <a:ea typeface="宋体" panose="02010600030101010101" pitchFamily="2" charset="-122"/>
              </a:rPr>
              <a:t>为偶数</a:t>
            </a:r>
            <a:endParaRPr lang="zh-CN" altLang="en-US" b="1"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推导过程和前面</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为奇数相似，不同点是由于</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为偶数，因此式（</a:t>
            </a:r>
            <a:r>
              <a:rPr lang="en-US" altLang="zh-CN" dirty="0">
                <a:latin typeface="Times New Roman" panose="02020603050405020304" pitchFamily="18" charset="0"/>
                <a:ea typeface="宋体" panose="02010600030101010101" pitchFamily="2" charset="-122"/>
              </a:rPr>
              <a:t>6-6</a:t>
            </a:r>
            <a:r>
              <a:rPr lang="zh-CN" altLang="en-US" dirty="0">
                <a:latin typeface="Times New Roman" panose="02020603050405020304" pitchFamily="18" charset="0"/>
                <a:ea typeface="宋体" panose="02010600030101010101" pitchFamily="2" charset="-122"/>
              </a:rPr>
              <a:t>）中无单独项，全部可以两两合并得 </a:t>
            </a:r>
            <a:endParaRPr lang="zh-CN" altLang="en-US" dirty="0">
              <a:latin typeface="Times New Roman" panose="02020603050405020304" pitchFamily="18" charset="0"/>
              <a:ea typeface="宋体" panose="02010600030101010101" pitchFamily="2" charset="-122"/>
            </a:endParaRPr>
          </a:p>
        </p:txBody>
      </p:sp>
      <p:graphicFrame>
        <p:nvGraphicFramePr>
          <p:cNvPr id="18434" name="对象 18436"/>
          <p:cNvGraphicFramePr/>
          <p:nvPr/>
        </p:nvGraphicFramePr>
        <p:xfrm>
          <a:off x="63500" y="2260600"/>
          <a:ext cx="5257800" cy="1044575"/>
        </p:xfrm>
        <a:graphic>
          <a:graphicData uri="http://schemas.openxmlformats.org/presentationml/2006/ole">
            <mc:AlternateContent xmlns:mc="http://schemas.openxmlformats.org/markup-compatibility/2006">
              <mc:Choice xmlns:v="urn:schemas-microsoft-com:vml" Requires="v">
                <p:oleObj spid="_x0000_s3111" name="" r:id="rId1" imgW="2298700" imgH="457200" progId="Equation.3">
                  <p:embed/>
                </p:oleObj>
              </mc:Choice>
              <mc:Fallback>
                <p:oleObj name="" r:id="rId1" imgW="2298700" imgH="457200" progId="Equation.3">
                  <p:embed/>
                  <p:pic>
                    <p:nvPicPr>
                      <p:cNvPr id="0" name="图片 3110"/>
                      <p:cNvPicPr/>
                      <p:nvPr/>
                    </p:nvPicPr>
                    <p:blipFill>
                      <a:blip r:embed="rId2"/>
                      <a:stretch>
                        <a:fillRect/>
                      </a:stretch>
                    </p:blipFill>
                    <p:spPr>
                      <a:xfrm>
                        <a:off x="63500" y="2260600"/>
                        <a:ext cx="5257800" cy="1044575"/>
                      </a:xfrm>
                      <a:prstGeom prst="rect">
                        <a:avLst/>
                      </a:prstGeom>
                      <a:solidFill>
                        <a:schemeClr val="accent1"/>
                      </a:solidFill>
                      <a:ln w="38100">
                        <a:noFill/>
                        <a:miter/>
                      </a:ln>
                    </p:spPr>
                  </p:pic>
                </p:oleObj>
              </mc:Fallback>
            </mc:AlternateContent>
          </a:graphicData>
        </a:graphic>
      </p:graphicFrame>
      <p:sp>
        <p:nvSpPr>
          <p:cNvPr id="18435" name="文本框 18437"/>
          <p:cNvSpPr txBox="1"/>
          <p:nvPr/>
        </p:nvSpPr>
        <p:spPr>
          <a:xfrm>
            <a:off x="136525" y="3505200"/>
            <a:ext cx="4222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令		，代入上式可得 </a:t>
            </a:r>
            <a:endParaRPr lang="zh-CN" altLang="en-US" dirty="0">
              <a:latin typeface="Times New Roman" panose="02020603050405020304" pitchFamily="18" charset="0"/>
              <a:ea typeface="宋体" panose="02010600030101010101" pitchFamily="2" charset="-122"/>
            </a:endParaRPr>
          </a:p>
        </p:txBody>
      </p:sp>
      <p:graphicFrame>
        <p:nvGraphicFramePr>
          <p:cNvPr id="18436" name="对象 18438"/>
          <p:cNvGraphicFramePr/>
          <p:nvPr/>
        </p:nvGraphicFramePr>
        <p:xfrm>
          <a:off x="571500" y="3328988"/>
          <a:ext cx="1409700" cy="809625"/>
        </p:xfrm>
        <a:graphic>
          <a:graphicData uri="http://schemas.openxmlformats.org/presentationml/2006/ole">
            <mc:AlternateContent xmlns:mc="http://schemas.openxmlformats.org/markup-compatibility/2006">
              <mc:Choice xmlns:v="urn:schemas-microsoft-com:vml" Requires="v">
                <p:oleObj spid="_x0000_s3126" name="" r:id="rId3" imgW="685800" imgH="393700" progId="Equation.3">
                  <p:embed/>
                </p:oleObj>
              </mc:Choice>
              <mc:Fallback>
                <p:oleObj name="" r:id="rId3" imgW="685800" imgH="393700" progId="Equation.3">
                  <p:embed/>
                  <p:pic>
                    <p:nvPicPr>
                      <p:cNvPr id="0" name="图片 3125"/>
                      <p:cNvPicPr/>
                      <p:nvPr/>
                    </p:nvPicPr>
                    <p:blipFill>
                      <a:blip r:embed="rId4"/>
                      <a:stretch>
                        <a:fillRect/>
                      </a:stretch>
                    </p:blipFill>
                    <p:spPr>
                      <a:xfrm>
                        <a:off x="571500" y="3328988"/>
                        <a:ext cx="1409700" cy="809625"/>
                      </a:xfrm>
                      <a:prstGeom prst="rect">
                        <a:avLst/>
                      </a:prstGeom>
                      <a:solidFill>
                        <a:schemeClr val="accent1"/>
                      </a:solidFill>
                      <a:ln w="38100">
                        <a:noFill/>
                        <a:miter/>
                      </a:ln>
                    </p:spPr>
                  </p:pic>
                </p:oleObj>
              </mc:Fallback>
            </mc:AlternateContent>
          </a:graphicData>
        </a:graphic>
      </p:graphicFrame>
      <p:graphicFrame>
        <p:nvGraphicFramePr>
          <p:cNvPr id="18437" name="对象 18439"/>
          <p:cNvGraphicFramePr/>
          <p:nvPr/>
        </p:nvGraphicFramePr>
        <p:xfrm>
          <a:off x="2079625" y="4038600"/>
          <a:ext cx="5519738" cy="1044575"/>
        </p:xfrm>
        <a:graphic>
          <a:graphicData uri="http://schemas.openxmlformats.org/presentationml/2006/ole">
            <mc:AlternateContent xmlns:mc="http://schemas.openxmlformats.org/markup-compatibility/2006">
              <mc:Choice xmlns:v="urn:schemas-microsoft-com:vml" Requires="v">
                <p:oleObj spid="_x0000_s3118" name="" r:id="rId5" imgW="2413000" imgH="457200" progId="Equation.3">
                  <p:embed/>
                </p:oleObj>
              </mc:Choice>
              <mc:Fallback>
                <p:oleObj name="" r:id="rId5" imgW="2413000" imgH="457200" progId="Equation.3">
                  <p:embed/>
                  <p:pic>
                    <p:nvPicPr>
                      <p:cNvPr id="0" name="图片 3117"/>
                      <p:cNvPicPr/>
                      <p:nvPr/>
                    </p:nvPicPr>
                    <p:blipFill>
                      <a:blip r:embed="rId6"/>
                      <a:stretch>
                        <a:fillRect/>
                      </a:stretch>
                    </p:blipFill>
                    <p:spPr>
                      <a:xfrm>
                        <a:off x="2079625" y="4038600"/>
                        <a:ext cx="5519738" cy="1044575"/>
                      </a:xfrm>
                      <a:prstGeom prst="rect">
                        <a:avLst/>
                      </a:prstGeom>
                      <a:noFill/>
                      <a:ln w="38100">
                        <a:noFill/>
                        <a:miter/>
                      </a:ln>
                    </p:spPr>
                  </p:pic>
                </p:oleObj>
              </mc:Fallback>
            </mc:AlternateContent>
          </a:graphicData>
        </a:graphic>
      </p:graphicFrame>
      <p:sp>
        <p:nvSpPr>
          <p:cNvPr id="18438" name="文本框 18440"/>
          <p:cNvSpPr txBox="1"/>
          <p:nvPr/>
        </p:nvSpPr>
        <p:spPr>
          <a:xfrm>
            <a:off x="152400" y="5070475"/>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因此 </a:t>
            </a:r>
            <a:endParaRPr lang="zh-CN" altLang="en-US" dirty="0">
              <a:latin typeface="Times New Roman" panose="02020603050405020304" pitchFamily="18" charset="0"/>
              <a:ea typeface="宋体" panose="02010600030101010101" pitchFamily="2" charset="-122"/>
            </a:endParaRPr>
          </a:p>
        </p:txBody>
      </p:sp>
      <p:graphicFrame>
        <p:nvGraphicFramePr>
          <p:cNvPr id="18439" name="对象 18441"/>
          <p:cNvGraphicFramePr/>
          <p:nvPr/>
        </p:nvGraphicFramePr>
        <p:xfrm>
          <a:off x="2667000" y="5410200"/>
          <a:ext cx="4416425" cy="1044575"/>
        </p:xfrm>
        <a:graphic>
          <a:graphicData uri="http://schemas.openxmlformats.org/presentationml/2006/ole">
            <mc:AlternateContent xmlns:mc="http://schemas.openxmlformats.org/markup-compatibility/2006">
              <mc:Choice xmlns:v="urn:schemas-microsoft-com:vml" Requires="v">
                <p:oleObj spid="_x0000_s3116" name="" r:id="rId7" imgW="1930400" imgH="457200" progId="Equation.3">
                  <p:embed/>
                </p:oleObj>
              </mc:Choice>
              <mc:Fallback>
                <p:oleObj name="" r:id="rId7" imgW="1930400" imgH="457200" progId="Equation.3">
                  <p:embed/>
                  <p:pic>
                    <p:nvPicPr>
                      <p:cNvPr id="0" name="图片 3115"/>
                      <p:cNvPicPr/>
                      <p:nvPr/>
                    </p:nvPicPr>
                    <p:blipFill>
                      <a:blip r:embed="rId8"/>
                      <a:stretch>
                        <a:fillRect/>
                      </a:stretch>
                    </p:blipFill>
                    <p:spPr>
                      <a:xfrm>
                        <a:off x="2667000" y="5410200"/>
                        <a:ext cx="4416425" cy="1044575"/>
                      </a:xfrm>
                      <a:prstGeom prst="rect">
                        <a:avLst/>
                      </a:prstGeom>
                      <a:solidFill>
                        <a:schemeClr val="accent1"/>
                      </a:solidFill>
                      <a:ln w="38100">
                        <a:noFill/>
                        <a:miter/>
                      </a:ln>
                    </p:spPr>
                  </p:pic>
                </p:oleObj>
              </mc:Fallback>
            </mc:AlternateContent>
          </a:graphicData>
        </a:graphic>
      </p:graphicFrame>
      <p:sp>
        <p:nvSpPr>
          <p:cNvPr id="18440" name="文本框 18442"/>
          <p:cNvSpPr txBox="1"/>
          <p:nvPr/>
        </p:nvSpPr>
        <p:spPr>
          <a:xfrm>
            <a:off x="7721600" y="55626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6-17</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2" name="对象 18438"/>
          <p:cNvGraphicFramePr/>
          <p:nvPr/>
        </p:nvGraphicFramePr>
        <p:xfrm>
          <a:off x="6477000" y="1992313"/>
          <a:ext cx="1749425" cy="809625"/>
        </p:xfrm>
        <a:graphic>
          <a:graphicData uri="http://schemas.openxmlformats.org/presentationml/2006/ole">
            <mc:AlternateContent xmlns:mc="http://schemas.openxmlformats.org/markup-compatibility/2006">
              <mc:Choice xmlns:v="urn:schemas-microsoft-com:vml" Requires="v">
                <p:oleObj spid="_x0000_s3125" name="" r:id="rId9" imgW="850900" imgH="393700" progId="Equation.3">
                  <p:embed/>
                </p:oleObj>
              </mc:Choice>
              <mc:Fallback>
                <p:oleObj name="" r:id="rId9" imgW="850900" imgH="393700" progId="Equation.3">
                  <p:embed/>
                  <p:pic>
                    <p:nvPicPr>
                      <p:cNvPr id="0" name="图片 3124"/>
                      <p:cNvPicPr/>
                      <p:nvPr/>
                    </p:nvPicPr>
                    <p:blipFill>
                      <a:blip r:embed="rId10"/>
                      <a:stretch>
                        <a:fillRect/>
                      </a:stretch>
                    </p:blipFill>
                    <p:spPr>
                      <a:xfrm>
                        <a:off x="6477000" y="1992313"/>
                        <a:ext cx="1749425" cy="809625"/>
                      </a:xfrm>
                      <a:prstGeom prst="rect">
                        <a:avLst/>
                      </a:prstGeom>
                      <a:solidFill>
                        <a:srgbClr val="C00000"/>
                      </a:solidFill>
                      <a:ln w="38100">
                        <a:noFill/>
                        <a:miter/>
                      </a:ln>
                    </p:spPr>
                  </p:pic>
                </p:oleObj>
              </mc:Fallback>
            </mc:AlternateContent>
          </a:graphicData>
        </a:graphic>
      </p:graphicFrame>
      <p:graphicFrame>
        <p:nvGraphicFramePr>
          <p:cNvPr id="4" name="对象 18438"/>
          <p:cNvGraphicFramePr/>
          <p:nvPr/>
        </p:nvGraphicFramePr>
        <p:xfrm>
          <a:off x="6464300" y="2935288"/>
          <a:ext cx="1774825" cy="809625"/>
        </p:xfrm>
        <a:graphic>
          <a:graphicData uri="http://schemas.openxmlformats.org/presentationml/2006/ole">
            <mc:AlternateContent xmlns:mc="http://schemas.openxmlformats.org/markup-compatibility/2006">
              <mc:Choice xmlns:v="urn:schemas-microsoft-com:vml" Requires="v">
                <p:oleObj spid="_x0000_s3119" name="" r:id="rId11" imgW="862965" imgH="393700" progId="Equation.3">
                  <p:embed/>
                </p:oleObj>
              </mc:Choice>
              <mc:Fallback>
                <p:oleObj name="" r:id="rId11" imgW="862965" imgH="393700" progId="Equation.3">
                  <p:embed/>
                  <p:pic>
                    <p:nvPicPr>
                      <p:cNvPr id="0" name="图片 3118"/>
                      <p:cNvPicPr/>
                      <p:nvPr/>
                    </p:nvPicPr>
                    <p:blipFill>
                      <a:blip r:embed="rId12"/>
                      <a:stretch>
                        <a:fillRect/>
                      </a:stretch>
                    </p:blipFill>
                    <p:spPr>
                      <a:xfrm>
                        <a:off x="6464300" y="2935288"/>
                        <a:ext cx="1774825" cy="809625"/>
                      </a:xfrm>
                      <a:prstGeom prst="rect">
                        <a:avLst/>
                      </a:prstGeom>
                      <a:solidFill>
                        <a:srgbClr val="C00000"/>
                      </a:solidFill>
                      <a:ln w="38100">
                        <a:noFill/>
                        <a:miter/>
                      </a:ln>
                    </p:spPr>
                  </p:pic>
                </p:oleObj>
              </mc:Fallback>
            </mc:AlternateContent>
          </a:graphicData>
        </a:graphic>
      </p:graphicFrame>
      <p:sp>
        <p:nvSpPr>
          <p:cNvPr id="7" name="乘号 6"/>
          <p:cNvSpPr/>
          <p:nvPr/>
        </p:nvSpPr>
        <p:spPr>
          <a:xfrm>
            <a:off x="7534275" y="1992313"/>
            <a:ext cx="1795463" cy="1801813"/>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411413" y="4365625"/>
            <a:ext cx="3744913"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3" name="矩形 2"/>
          <p:cNvSpPr/>
          <p:nvPr/>
        </p:nvSpPr>
        <p:spPr>
          <a:xfrm>
            <a:off x="611188" y="2997200"/>
            <a:ext cx="273685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 name="矩形 1"/>
          <p:cNvSpPr/>
          <p:nvPr/>
        </p:nvSpPr>
        <p:spPr>
          <a:xfrm>
            <a:off x="2987675" y="2060575"/>
            <a:ext cx="72072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9460" name="文本框 20483"/>
          <p:cNvSpPr txBox="1"/>
          <p:nvPr/>
        </p:nvSpPr>
        <p:spPr>
          <a:xfrm>
            <a:off x="533400" y="609600"/>
            <a:ext cx="9540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19461" name="对象 20484"/>
          <p:cNvGraphicFramePr/>
          <p:nvPr/>
        </p:nvGraphicFramePr>
        <p:xfrm>
          <a:off x="1981200" y="914400"/>
          <a:ext cx="2514600" cy="949325"/>
        </p:xfrm>
        <a:graphic>
          <a:graphicData uri="http://schemas.openxmlformats.org/presentationml/2006/ole">
            <mc:AlternateContent xmlns:mc="http://schemas.openxmlformats.org/markup-compatibility/2006">
              <mc:Choice xmlns:v="urn:schemas-microsoft-com:vml" Requires="v">
                <p:oleObj spid="_x0000_s3120" name="" r:id="rId1" imgW="1142365" imgH="431800" progId="Equation.3">
                  <p:embed/>
                </p:oleObj>
              </mc:Choice>
              <mc:Fallback>
                <p:oleObj name="" r:id="rId1" imgW="1142365" imgH="431800" progId="Equation.3">
                  <p:embed/>
                  <p:pic>
                    <p:nvPicPr>
                      <p:cNvPr id="0" name="图片 3119"/>
                      <p:cNvPicPr/>
                      <p:nvPr/>
                    </p:nvPicPr>
                    <p:blipFill>
                      <a:blip r:embed="rId2"/>
                      <a:stretch>
                        <a:fillRect/>
                      </a:stretch>
                    </p:blipFill>
                    <p:spPr>
                      <a:xfrm>
                        <a:off x="1981200" y="914400"/>
                        <a:ext cx="2514600" cy="949325"/>
                      </a:xfrm>
                      <a:prstGeom prst="rect">
                        <a:avLst/>
                      </a:prstGeom>
                      <a:noFill/>
                      <a:ln w="38100">
                        <a:noFill/>
                        <a:miter/>
                      </a:ln>
                    </p:spPr>
                  </p:pic>
                </p:oleObj>
              </mc:Fallback>
            </mc:AlternateContent>
          </a:graphicData>
        </a:graphic>
      </p:graphicFrame>
      <p:sp>
        <p:nvSpPr>
          <p:cNvPr id="19462" name="文本框 20485"/>
          <p:cNvSpPr txBox="1"/>
          <p:nvPr/>
        </p:nvSpPr>
        <p:spPr>
          <a:xfrm>
            <a:off x="5257800" y="1143000"/>
            <a:ext cx="2319338" cy="457200"/>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 3, …,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 </a:t>
            </a:r>
            <a:endParaRPr lang="en-US" altLang="zh-CN" dirty="0">
              <a:latin typeface="Times New Roman" panose="02020603050405020304" pitchFamily="18" charset="0"/>
              <a:ea typeface="宋体" panose="02010600030101010101" pitchFamily="2" charset="-122"/>
            </a:endParaRPr>
          </a:p>
        </p:txBody>
      </p:sp>
      <p:sp>
        <p:nvSpPr>
          <p:cNvPr id="19463" name="文本框 20486"/>
          <p:cNvSpPr txBox="1"/>
          <p:nvPr/>
        </p:nvSpPr>
        <p:spPr>
          <a:xfrm>
            <a:off x="7848600" y="1184275"/>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6-18</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pSp>
        <p:nvGrpSpPr>
          <p:cNvPr id="19464" name="组合 20490"/>
          <p:cNvGrpSpPr/>
          <p:nvPr/>
        </p:nvGrpSpPr>
        <p:grpSpPr>
          <a:xfrm>
            <a:off x="228600" y="1847850"/>
            <a:ext cx="8763000" cy="4371975"/>
            <a:chOff x="144" y="1164"/>
            <a:chExt cx="5520" cy="2754"/>
          </a:xfrm>
        </p:grpSpPr>
        <p:sp>
          <p:nvSpPr>
            <p:cNvPr id="19465" name="文本框 20487"/>
            <p:cNvSpPr txBox="1"/>
            <p:nvPr/>
          </p:nvSpPr>
          <p:spPr>
            <a:xfrm>
              <a:off x="144" y="1185"/>
              <a:ext cx="5520" cy="2733"/>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按照式（</a:t>
              </a:r>
              <a:r>
                <a:rPr lang="en-US" altLang="zh-CN" dirty="0">
                  <a:latin typeface="Times New Roman" panose="02020603050405020304" pitchFamily="18" charset="0"/>
                  <a:ea typeface="宋体" panose="02010600030101010101" pitchFamily="2" charset="-122"/>
                </a:rPr>
                <a:t>6-17</a:t>
              </a:r>
              <a:r>
                <a:rPr lang="zh-CN" altLang="en-US" dirty="0">
                  <a:latin typeface="Times New Roman" panose="02020603050405020304" pitchFamily="18" charset="0"/>
                  <a:ea typeface="宋体" panose="02010600030101010101" pitchFamily="2" charset="-122"/>
                </a:rPr>
                <a:t>），当 </a:t>
              </a:r>
              <a:r>
                <a:rPr lang="en-US" altLang="zh-CN" dirty="0">
                  <a:latin typeface="Times New Roman" panose="02020603050405020304" pitchFamily="18" charset="0"/>
                  <a:ea typeface="宋体" panose="02010600030101010101" pitchFamily="2" charset="-122"/>
                </a:rPr>
                <a:t>ω=π </a:t>
              </a:r>
              <a:r>
                <a:rPr lang="zh-CN" altLang="en-US" dirty="0">
                  <a:latin typeface="Times New Roman" panose="02020603050405020304" pitchFamily="18" charset="0"/>
                  <a:ea typeface="宋体" panose="02010600030101010101" pitchFamily="2" charset="-122"/>
                </a:rPr>
                <a:t>时， 		      ，余弦项对</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呈奇对称，因此</a:t>
              </a:r>
              <a:r>
                <a:rPr lang="en-US" altLang="zh-CN" dirty="0">
                  <a:latin typeface="Times New Roman" panose="02020603050405020304" pitchFamily="18" charset="0"/>
                  <a:ea typeface="宋体" panose="02010600030101010101" pitchFamily="2" charset="-122"/>
                </a:rPr>
                <a:t>H(π)=0</a:t>
              </a:r>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jπ</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处必然有一个零点，而且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对</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呈奇对称。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当</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或</a:t>
              </a:r>
              <a:r>
                <a:rPr lang="en-US" altLang="zh-CN" dirty="0">
                  <a:latin typeface="Times New Roman" panose="02020603050405020304" pitchFamily="18" charset="0"/>
                  <a:ea typeface="宋体" panose="02010600030101010101" pitchFamily="2" charset="-122"/>
                </a:rPr>
                <a:t>2π</a:t>
              </a:r>
              <a:r>
                <a:rPr lang="zh-CN" altLang="en-US" dirty="0">
                  <a:latin typeface="Times New Roman" panose="02020603050405020304" pitchFamily="18" charset="0"/>
                  <a:ea typeface="宋体" panose="02010600030101010101" pitchFamily="2" charset="-122"/>
                </a:rPr>
                <a:t>时，		              或</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，余弦项对</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为偶对称，幅度函数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对于</a:t>
              </a:r>
              <a:r>
                <a:rPr lang="en-US" altLang="zh-CN" dirty="0">
                  <a:latin typeface="Times New Roman" panose="02020603050405020304" pitchFamily="18" charset="0"/>
                  <a:ea typeface="宋体" panose="02010600030101010101" pitchFamily="2" charset="-122"/>
                </a:rPr>
                <a:t>ω=0, 2π</a:t>
              </a:r>
              <a:r>
                <a:rPr lang="zh-CN" altLang="en-US" dirty="0">
                  <a:latin typeface="Times New Roman" panose="02020603050405020304" pitchFamily="18" charset="0"/>
                  <a:ea typeface="宋体" panose="02010600030101010101" pitchFamily="2" charset="-122"/>
                </a:rPr>
                <a:t>也呈偶对称。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如果数字滤波器在</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处不为零，例如高通滤波器、带阻滤波器，则不能用这类数字滤波器来设计。 </a:t>
              </a:r>
              <a:endParaRPr lang="zh-CN" altLang="en-US" dirty="0">
                <a:latin typeface="Times New Roman" panose="02020603050405020304" pitchFamily="18" charset="0"/>
                <a:ea typeface="宋体" panose="02010600030101010101" pitchFamily="2" charset="-122"/>
              </a:endParaRPr>
            </a:p>
          </p:txBody>
        </p:sp>
        <p:graphicFrame>
          <p:nvGraphicFramePr>
            <p:cNvPr id="19466" name="对象 20488"/>
            <p:cNvGraphicFramePr/>
            <p:nvPr/>
          </p:nvGraphicFramePr>
          <p:xfrm>
            <a:off x="1882" y="2282"/>
            <a:ext cx="1377" cy="539"/>
          </p:xfrm>
          <a:graphic>
            <a:graphicData uri="http://schemas.openxmlformats.org/presentationml/2006/ole">
              <mc:AlternateContent xmlns:mc="http://schemas.openxmlformats.org/markup-compatibility/2006">
                <mc:Choice xmlns:v="urn:schemas-microsoft-com:vml" Requires="v">
                  <p:oleObj spid="_x0000_s3127" name="" r:id="rId3" imgW="1168400" imgH="457200" progId="Equation.3">
                    <p:embed/>
                  </p:oleObj>
                </mc:Choice>
                <mc:Fallback>
                  <p:oleObj name="" r:id="rId3" imgW="1168400" imgH="457200" progId="Equation.3">
                    <p:embed/>
                    <p:pic>
                      <p:nvPicPr>
                        <p:cNvPr id="0" name="图片 3126"/>
                        <p:cNvPicPr/>
                        <p:nvPr/>
                      </p:nvPicPr>
                      <p:blipFill>
                        <a:blip r:embed="rId4"/>
                        <a:stretch>
                          <a:fillRect/>
                        </a:stretch>
                      </p:blipFill>
                      <p:spPr>
                        <a:xfrm>
                          <a:off x="1882" y="2282"/>
                          <a:ext cx="1377" cy="539"/>
                        </a:xfrm>
                        <a:prstGeom prst="rect">
                          <a:avLst/>
                        </a:prstGeom>
                        <a:noFill/>
                        <a:ln w="38100">
                          <a:noFill/>
                          <a:miter/>
                        </a:ln>
                      </p:spPr>
                    </p:pic>
                  </p:oleObj>
                </mc:Fallback>
              </mc:AlternateContent>
            </a:graphicData>
          </a:graphic>
        </p:graphicFrame>
        <p:graphicFrame>
          <p:nvGraphicFramePr>
            <p:cNvPr id="19467" name="对象 20489"/>
            <p:cNvGraphicFramePr/>
            <p:nvPr/>
          </p:nvGraphicFramePr>
          <p:xfrm>
            <a:off x="2733" y="1164"/>
            <a:ext cx="1392" cy="504"/>
          </p:xfrm>
          <a:graphic>
            <a:graphicData uri="http://schemas.openxmlformats.org/presentationml/2006/ole">
              <mc:AlternateContent xmlns:mc="http://schemas.openxmlformats.org/markup-compatibility/2006">
                <mc:Choice xmlns:v="urn:schemas-microsoft-com:vml" Requires="v">
                  <p:oleObj spid="_x0000_s3121" name="" r:id="rId5" imgW="1180465" imgH="457200" progId="Equation.3">
                    <p:embed/>
                  </p:oleObj>
                </mc:Choice>
                <mc:Fallback>
                  <p:oleObj name="" r:id="rId5" imgW="1180465" imgH="457200" progId="Equation.3">
                    <p:embed/>
                    <p:pic>
                      <p:nvPicPr>
                        <p:cNvPr id="0" name="图片 3120"/>
                        <p:cNvPicPr/>
                        <p:nvPr/>
                      </p:nvPicPr>
                      <p:blipFill>
                        <a:blip r:embed="rId6"/>
                        <a:stretch>
                          <a:fillRect/>
                        </a:stretch>
                      </p:blipFill>
                      <p:spPr>
                        <a:xfrm>
                          <a:off x="2733" y="1164"/>
                          <a:ext cx="1392" cy="504"/>
                        </a:xfrm>
                        <a:prstGeom prst="rect">
                          <a:avLst/>
                        </a:prstGeom>
                        <a:solidFill>
                          <a:schemeClr val="accent1"/>
                        </a:solidFill>
                        <a:ln w="38100">
                          <a:noFill/>
                          <a:miter/>
                        </a:ln>
                      </p:spPr>
                    </p:pic>
                  </p:oleObj>
                </mc:Fallback>
              </mc:AlternateContent>
            </a:graphicData>
          </a:graphic>
        </p:graphicFrame>
      </p:grpSp>
      <p:sp>
        <p:nvSpPr>
          <p:cNvPr id="7" name="流程图: 顺序访问存储器 6"/>
          <p:cNvSpPr/>
          <p:nvPr/>
        </p:nvSpPr>
        <p:spPr>
          <a:xfrm flipH="1">
            <a:off x="7456805" y="4437380"/>
            <a:ext cx="1728788" cy="2470150"/>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低通</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 </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带通</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 </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387975" y="2886075"/>
            <a:ext cx="2232025" cy="649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0482" name="文本框 19459"/>
          <p:cNvSpPr txBox="1"/>
          <p:nvPr/>
        </p:nvSpPr>
        <p:spPr>
          <a:xfrm>
            <a:off x="685800" y="609600"/>
            <a:ext cx="6858000" cy="1004888"/>
          </a:xfrm>
          <a:prstGeom prst="rect">
            <a:avLst/>
          </a:prstGeom>
          <a:noFill/>
          <a:ln w="9525">
            <a:noFill/>
          </a:ln>
        </p:spPr>
        <p:txBody>
          <a:bodyPr anchor="t">
            <a:spAutoFit/>
          </a:bodyPr>
          <a:p>
            <a:pPr algn="just">
              <a:spcBef>
                <a:spcPct val="50000"/>
              </a:spcBef>
            </a:pPr>
            <a:r>
              <a:rPr lang="en-US" altLang="zh-CN" b="1" dirty="0">
                <a:latin typeface="Times New Roman" panose="02020603050405020304" pitchFamily="18" charset="0"/>
                <a:ea typeface="宋体" panose="02010600030101010101" pitchFamily="2" charset="-122"/>
              </a:rPr>
              <a:t>3. </a:t>
            </a:r>
            <a:r>
              <a:rPr lang="zh-CN" altLang="en-US" b="1" dirty="0">
                <a:latin typeface="Times New Roman" panose="02020603050405020304" pitchFamily="18" charset="0"/>
                <a:ea typeface="宋体" panose="02010600030101010101" pitchFamily="2" charset="-122"/>
              </a:rPr>
              <a:t>第三种类型：</a:t>
            </a:r>
            <a:r>
              <a:rPr lang="zh-CN" altLang="en-US" b="1" dirty="0">
                <a:solidFill>
                  <a:srgbClr val="FF0000"/>
                </a:solidFill>
                <a:latin typeface="Times New Roman" panose="02020603050405020304" pitchFamily="18" charset="0"/>
                <a:ea typeface="宋体" panose="02010600030101010101" pitchFamily="2" charset="-122"/>
              </a:rPr>
              <a:t> </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为奇对称</a:t>
            </a:r>
            <a:r>
              <a:rPr lang="zh-CN" altLang="en-US" b="1" dirty="0">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zh-CN" altLang="en-US" b="1" dirty="0">
                <a:solidFill>
                  <a:srgbClr val="FF0000"/>
                </a:solidFill>
                <a:latin typeface="Times New Roman" panose="02020603050405020304" pitchFamily="18" charset="0"/>
                <a:ea typeface="宋体" panose="02010600030101010101" pitchFamily="2" charset="-122"/>
              </a:rPr>
              <a:t>为奇数</a:t>
            </a:r>
            <a:endParaRPr lang="zh-CN" altLang="en-US" b="1" dirty="0">
              <a:latin typeface="Times New Roman" panose="02020603050405020304" pitchFamily="18" charset="0"/>
              <a:ea typeface="宋体" panose="02010600030101010101" pitchFamily="2" charset="-122"/>
            </a:endParaRPr>
          </a:p>
          <a:p>
            <a:pPr>
              <a:spcBef>
                <a:spcPct val="50000"/>
              </a:spcBef>
            </a:pPr>
            <a:r>
              <a:rPr lang="zh-CN" altLang="en-US" dirty="0">
                <a:latin typeface="Times New Roman" panose="02020603050405020304" pitchFamily="18" charset="0"/>
                <a:ea typeface="宋体" panose="02010600030101010101" pitchFamily="2" charset="-122"/>
              </a:rPr>
              <a:t>将</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奇对称的幅度函数式（</a:t>
            </a:r>
            <a:r>
              <a:rPr lang="en-US" altLang="zh-CN" dirty="0">
                <a:latin typeface="Times New Roman" panose="02020603050405020304" pitchFamily="18" charset="0"/>
                <a:ea typeface="宋体" panose="02010600030101010101" pitchFamily="2" charset="-122"/>
              </a:rPr>
              <a:t>6-13</a:t>
            </a:r>
            <a:r>
              <a:rPr lang="zh-CN" altLang="en-US" dirty="0">
                <a:latin typeface="Times New Roman" panose="02020603050405020304" pitchFamily="18" charset="0"/>
                <a:ea typeface="宋体" panose="02010600030101010101" pitchFamily="2" charset="-122"/>
              </a:rPr>
              <a:t>）重写如下： </a:t>
            </a:r>
            <a:endParaRPr lang="zh-CN" altLang="en-US" dirty="0">
              <a:latin typeface="Times New Roman" panose="02020603050405020304" pitchFamily="18" charset="0"/>
              <a:ea typeface="宋体" panose="02010600030101010101" pitchFamily="2" charset="-122"/>
            </a:endParaRPr>
          </a:p>
        </p:txBody>
      </p:sp>
      <p:graphicFrame>
        <p:nvGraphicFramePr>
          <p:cNvPr id="20483" name="对象 19460"/>
          <p:cNvGraphicFramePr/>
          <p:nvPr/>
        </p:nvGraphicFramePr>
        <p:xfrm>
          <a:off x="2362200" y="1752600"/>
          <a:ext cx="4648200" cy="984250"/>
        </p:xfrm>
        <a:graphic>
          <a:graphicData uri="http://schemas.openxmlformats.org/presentationml/2006/ole">
            <mc:AlternateContent xmlns:mc="http://schemas.openxmlformats.org/markup-compatibility/2006">
              <mc:Choice xmlns:v="urn:schemas-microsoft-com:vml" Requires="v">
                <p:oleObj spid="_x0000_s3122" name="" r:id="rId1" imgW="2159000" imgH="457200" progId="Equation.3">
                  <p:embed/>
                </p:oleObj>
              </mc:Choice>
              <mc:Fallback>
                <p:oleObj name="" r:id="rId1" imgW="2159000" imgH="457200" progId="Equation.3">
                  <p:embed/>
                  <p:pic>
                    <p:nvPicPr>
                      <p:cNvPr id="0" name="图片 3121"/>
                      <p:cNvPicPr/>
                      <p:nvPr/>
                    </p:nvPicPr>
                    <p:blipFill>
                      <a:blip r:embed="rId2"/>
                      <a:stretch>
                        <a:fillRect/>
                      </a:stretch>
                    </p:blipFill>
                    <p:spPr>
                      <a:xfrm>
                        <a:off x="2362200" y="1752600"/>
                        <a:ext cx="4648200" cy="984250"/>
                      </a:xfrm>
                      <a:prstGeom prst="rect">
                        <a:avLst/>
                      </a:prstGeom>
                      <a:solidFill>
                        <a:schemeClr val="accent1"/>
                      </a:solidFill>
                      <a:ln w="38100">
                        <a:noFill/>
                        <a:miter/>
                      </a:ln>
                    </p:spPr>
                  </p:pic>
                </p:oleObj>
              </mc:Fallback>
            </mc:AlternateContent>
          </a:graphicData>
        </a:graphic>
      </p:graphicFrame>
      <p:sp>
        <p:nvSpPr>
          <p:cNvPr id="20484" name="文本框 19461"/>
          <p:cNvSpPr txBox="1"/>
          <p:nvPr/>
        </p:nvSpPr>
        <p:spPr>
          <a:xfrm>
            <a:off x="266700" y="2886075"/>
            <a:ext cx="8610600" cy="1657985"/>
          </a:xfrm>
          <a:prstGeom prst="rect">
            <a:avLst/>
          </a:prstGeom>
          <a:noFill/>
          <a:ln w="9525">
            <a:noFill/>
          </a:ln>
        </p:spPr>
        <p:txBody>
          <a:bodyPr anchor="t">
            <a:noAutofit/>
          </a:bodyPr>
          <a:p>
            <a:pPr>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由于</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对于</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 </a:t>
            </a:r>
            <a:r>
              <a:rPr lang="zh-CN" altLang="en-US" dirty="0">
                <a:latin typeface="Times New Roman" panose="02020603050405020304" pitchFamily="18" charset="0"/>
                <a:ea typeface="宋体" panose="02010600030101010101" pitchFamily="2" charset="-122"/>
              </a:rPr>
              <a:t>呈奇对称，即   </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fontAlgn="ctr">
              <a:lnSpc>
                <a:spcPct val="138000"/>
              </a:lnSpc>
              <a:spcBef>
                <a:spcPts val="0"/>
              </a:spcBef>
            </a:pPr>
            <a:r>
              <a:rPr lang="zh-CN" altLang="en-US" dirty="0">
                <a:latin typeface="Times New Roman" panose="02020603050405020304" pitchFamily="18" charset="0"/>
                <a:ea typeface="宋体" panose="02010600030101010101" pitchFamily="2" charset="-122"/>
              </a:rPr>
              <a:t>当</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时， </a:t>
            </a:r>
            <a:endParaRPr lang="zh-CN" altLang="en-US" dirty="0">
              <a:latin typeface="Times New Roman" panose="02020603050405020304" pitchFamily="18" charset="0"/>
              <a:ea typeface="宋体" panose="02010600030101010101" pitchFamily="2" charset="-122"/>
            </a:endParaRPr>
          </a:p>
        </p:txBody>
      </p:sp>
      <p:graphicFrame>
        <p:nvGraphicFramePr>
          <p:cNvPr id="20485" name="对象 19462"/>
          <p:cNvGraphicFramePr/>
          <p:nvPr/>
        </p:nvGraphicFramePr>
        <p:xfrm>
          <a:off x="2362200" y="3683000"/>
          <a:ext cx="5257800" cy="835025"/>
        </p:xfrm>
        <a:graphic>
          <a:graphicData uri="http://schemas.openxmlformats.org/presentationml/2006/ole">
            <mc:AlternateContent xmlns:mc="http://schemas.openxmlformats.org/markup-compatibility/2006">
              <mc:Choice xmlns:v="urn:schemas-microsoft-com:vml" Requires="v">
                <p:oleObj spid="_x0000_s3117" name="" r:id="rId3" imgW="2716530" imgH="431800" progId="Equation.3">
                  <p:embed/>
                </p:oleObj>
              </mc:Choice>
              <mc:Fallback>
                <p:oleObj name="" r:id="rId3" imgW="2716530" imgH="431800" progId="Equation.3">
                  <p:embed/>
                  <p:pic>
                    <p:nvPicPr>
                      <p:cNvPr id="0" name="图片 3116"/>
                      <p:cNvPicPr/>
                      <p:nvPr/>
                    </p:nvPicPr>
                    <p:blipFill>
                      <a:blip r:embed="rId4"/>
                      <a:stretch>
                        <a:fillRect/>
                      </a:stretch>
                    </p:blipFill>
                    <p:spPr>
                      <a:xfrm>
                        <a:off x="2362200" y="3683000"/>
                        <a:ext cx="5257800" cy="835025"/>
                      </a:xfrm>
                      <a:prstGeom prst="rect">
                        <a:avLst/>
                      </a:prstGeom>
                      <a:noFill/>
                      <a:ln w="38100">
                        <a:noFill/>
                        <a:miter/>
                      </a:ln>
                    </p:spPr>
                  </p:pic>
                </p:oleObj>
              </mc:Fallback>
            </mc:AlternateContent>
          </a:graphicData>
        </a:graphic>
      </p:graphicFrame>
      <p:grpSp>
        <p:nvGrpSpPr>
          <p:cNvPr id="20486" name="组合 19467"/>
          <p:cNvGrpSpPr/>
          <p:nvPr/>
        </p:nvGrpSpPr>
        <p:grpSpPr>
          <a:xfrm>
            <a:off x="228600" y="4365625"/>
            <a:ext cx="8763000" cy="1636713"/>
            <a:chOff x="144" y="2750"/>
            <a:chExt cx="5520" cy="1031"/>
          </a:xfrm>
        </p:grpSpPr>
        <p:sp>
          <p:nvSpPr>
            <p:cNvPr id="20487" name="文本框 19463"/>
            <p:cNvSpPr txBox="1"/>
            <p:nvPr/>
          </p:nvSpPr>
          <p:spPr>
            <a:xfrm>
              <a:off x="144" y="2750"/>
              <a:ext cx="5520" cy="988"/>
            </a:xfrm>
            <a:prstGeom prst="rect">
              <a:avLst/>
            </a:prstGeom>
            <a:noFill/>
            <a:ln w="9525">
              <a:noFill/>
            </a:ln>
          </p:spPr>
          <p:txBody>
            <a:bodyPr anchor="t">
              <a:spAutoFit/>
            </a:bodyPr>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因此，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即</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奇对称时，中间项一定为零</a:t>
              </a:r>
              <a:r>
                <a:rPr lang="zh-CN" altLang="en-US" dirty="0">
                  <a:latin typeface="Times New Roman" panose="02020603050405020304" pitchFamily="18" charset="0"/>
                  <a:ea typeface="宋体" panose="02010600030101010101" pitchFamily="2" charset="-122"/>
                </a:rPr>
                <a:t>。此外，在幅度函数式（</a:t>
              </a:r>
              <a:r>
                <a:rPr lang="en-US" altLang="zh-CN" dirty="0">
                  <a:latin typeface="Times New Roman" panose="02020603050405020304" pitchFamily="18" charset="0"/>
                  <a:ea typeface="宋体" panose="02010600030101010101" pitchFamily="2" charset="-122"/>
                </a:rPr>
                <a:t>6-13</a:t>
              </a:r>
              <a:r>
                <a:rPr lang="zh-CN" altLang="en-US" dirty="0">
                  <a:latin typeface="Times New Roman" panose="02020603050405020304" pitchFamily="18" charset="0"/>
                  <a:ea typeface="宋体" panose="02010600030101010101" pitchFamily="2" charset="-122"/>
                </a:rPr>
                <a:t>）中，		           也对</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 </a:t>
              </a:r>
              <a:r>
                <a:rPr lang="zh-CN" altLang="en-US" dirty="0">
                  <a:latin typeface="Times New Roman" panose="02020603050405020304" pitchFamily="18" charset="0"/>
                  <a:ea typeface="宋体" panose="02010600030101010101" pitchFamily="2" charset="-122"/>
                </a:rPr>
                <a:t>呈奇对称。 </a:t>
              </a:r>
              <a:endParaRPr lang="zh-CN" altLang="en-US" dirty="0">
                <a:latin typeface="Times New Roman" panose="02020603050405020304" pitchFamily="18" charset="0"/>
                <a:ea typeface="宋体" panose="02010600030101010101" pitchFamily="2" charset="-122"/>
              </a:endParaRPr>
            </a:p>
          </p:txBody>
        </p:sp>
        <p:graphicFrame>
          <p:nvGraphicFramePr>
            <p:cNvPr id="20488" name="对象 19464"/>
            <p:cNvGraphicFramePr/>
            <p:nvPr/>
          </p:nvGraphicFramePr>
          <p:xfrm>
            <a:off x="788" y="2846"/>
            <a:ext cx="940" cy="477"/>
          </p:xfrm>
          <a:graphic>
            <a:graphicData uri="http://schemas.openxmlformats.org/presentationml/2006/ole">
              <mc:AlternateContent xmlns:mc="http://schemas.openxmlformats.org/markup-compatibility/2006">
                <mc:Choice xmlns:v="urn:schemas-microsoft-com:vml" Requires="v">
                  <p:oleObj spid="_x0000_s3123" name="" r:id="rId5" imgW="850265" imgH="431800" progId="Equation.3">
                    <p:embed/>
                  </p:oleObj>
                </mc:Choice>
                <mc:Fallback>
                  <p:oleObj name="" r:id="rId5" imgW="850265" imgH="431800" progId="Equation.3">
                    <p:embed/>
                    <p:pic>
                      <p:nvPicPr>
                        <p:cNvPr id="0" name="图片 3122"/>
                        <p:cNvPicPr/>
                        <p:nvPr/>
                      </p:nvPicPr>
                      <p:blipFill>
                        <a:blip r:embed="rId6"/>
                        <a:stretch>
                          <a:fillRect/>
                        </a:stretch>
                      </p:blipFill>
                      <p:spPr>
                        <a:xfrm>
                          <a:off x="788" y="2846"/>
                          <a:ext cx="940" cy="477"/>
                        </a:xfrm>
                        <a:prstGeom prst="rect">
                          <a:avLst/>
                        </a:prstGeom>
                        <a:solidFill>
                          <a:schemeClr val="accent1"/>
                        </a:solidFill>
                        <a:ln w="38100">
                          <a:noFill/>
                          <a:miter/>
                        </a:ln>
                      </p:spPr>
                    </p:pic>
                  </p:oleObj>
                </mc:Fallback>
              </mc:AlternateContent>
            </a:graphicData>
          </a:graphic>
        </p:graphicFrame>
        <p:graphicFrame>
          <p:nvGraphicFramePr>
            <p:cNvPr id="20489" name="对象 19465"/>
            <p:cNvGraphicFramePr/>
            <p:nvPr/>
          </p:nvGraphicFramePr>
          <p:xfrm>
            <a:off x="2342" y="3276"/>
            <a:ext cx="1305" cy="505"/>
          </p:xfrm>
          <a:graphic>
            <a:graphicData uri="http://schemas.openxmlformats.org/presentationml/2006/ole">
              <mc:AlternateContent xmlns:mc="http://schemas.openxmlformats.org/markup-compatibility/2006">
                <mc:Choice xmlns:v="urn:schemas-microsoft-com:vml" Requires="v">
                  <p:oleObj spid="_x0000_s3124" name="" r:id="rId7" imgW="1180465" imgH="457200" progId="Equation.3">
                    <p:embed/>
                  </p:oleObj>
                </mc:Choice>
                <mc:Fallback>
                  <p:oleObj name="" r:id="rId7" imgW="1180465" imgH="457200" progId="Equation.3">
                    <p:embed/>
                    <p:pic>
                      <p:nvPicPr>
                        <p:cNvPr id="0" name="图片 3123"/>
                        <p:cNvPicPr/>
                        <p:nvPr/>
                      </p:nvPicPr>
                      <p:blipFill>
                        <a:blip r:embed="rId8"/>
                        <a:stretch>
                          <a:fillRect/>
                        </a:stretch>
                      </p:blipFill>
                      <p:spPr>
                        <a:xfrm>
                          <a:off x="2342" y="3276"/>
                          <a:ext cx="1305" cy="505"/>
                        </a:xfrm>
                        <a:prstGeom prst="rect">
                          <a:avLst/>
                        </a:prstGeom>
                        <a:noFill/>
                        <a:ln w="38100">
                          <a:noFill/>
                          <a:miter/>
                        </a:ln>
                      </p:spPr>
                    </p:pic>
                  </p:oleObj>
                </mc:Fallback>
              </mc:AlternateContent>
            </a:graphicData>
          </a:graphic>
        </p:graphicFrame>
      </p:grpSp>
    </p:spTree>
  </p:cSld>
  <p:clrMapOvr>
    <a:masterClrMapping/>
  </p:clrMapOvr>
  <p:transition>
    <p:zoom dir="in"/>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505" name="对象 23555"/>
          <p:cNvGraphicFramePr/>
          <p:nvPr/>
        </p:nvGraphicFramePr>
        <p:xfrm>
          <a:off x="1517650" y="546100"/>
          <a:ext cx="6629400" cy="2130425"/>
        </p:xfrm>
        <a:graphic>
          <a:graphicData uri="http://schemas.openxmlformats.org/presentationml/2006/ole">
            <mc:AlternateContent xmlns:mc="http://schemas.openxmlformats.org/markup-compatibility/2006">
              <mc:Choice xmlns:v="urn:schemas-microsoft-com:vml" Requires="v">
                <p:oleObj spid="_x0000_s3135" name="" r:id="rId1" imgW="3162300" imgH="1016000" progId="Equation.3">
                  <p:embed/>
                </p:oleObj>
              </mc:Choice>
              <mc:Fallback>
                <p:oleObj name="" r:id="rId1" imgW="3162300" imgH="1016000" progId="Equation.3">
                  <p:embed/>
                  <p:pic>
                    <p:nvPicPr>
                      <p:cNvPr id="0" name="图片 3134"/>
                      <p:cNvPicPr/>
                      <p:nvPr/>
                    </p:nvPicPr>
                    <p:blipFill>
                      <a:blip r:embed="rId2"/>
                      <a:stretch>
                        <a:fillRect/>
                      </a:stretch>
                    </p:blipFill>
                    <p:spPr>
                      <a:xfrm>
                        <a:off x="1517650" y="546100"/>
                        <a:ext cx="6629400" cy="2130425"/>
                      </a:xfrm>
                      <a:prstGeom prst="rect">
                        <a:avLst/>
                      </a:prstGeom>
                      <a:noFill/>
                      <a:ln w="38100">
                        <a:noFill/>
                        <a:miter/>
                      </a:ln>
                    </p:spPr>
                  </p:pic>
                </p:oleObj>
              </mc:Fallback>
            </mc:AlternateContent>
          </a:graphicData>
        </a:graphic>
      </p:graphicFrame>
      <p:sp>
        <p:nvSpPr>
          <p:cNvPr id="21506" name="文本框 23556"/>
          <p:cNvSpPr txBox="1"/>
          <p:nvPr/>
        </p:nvSpPr>
        <p:spPr>
          <a:xfrm>
            <a:off x="228600" y="3479800"/>
            <a:ext cx="86868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因此，在</a:t>
            </a:r>
            <a:r>
              <a:rPr lang="en-US" altLang="zh-CN" dirty="0">
                <a:latin typeface="Times New Roman" panose="02020603050405020304" pitchFamily="18" charset="0"/>
                <a:ea typeface="宋体" panose="02010600030101010101" pitchFamily="2" charset="-122"/>
              </a:rPr>
              <a:t>Σ</a:t>
            </a:r>
            <a:r>
              <a:rPr lang="zh-CN" altLang="en-US" dirty="0">
                <a:latin typeface="Times New Roman" panose="02020603050405020304" pitchFamily="18" charset="0"/>
                <a:ea typeface="宋体" panose="02010600030101010101" pitchFamily="2" charset="-122"/>
              </a:rPr>
              <a:t>中第</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项和第</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项是相等的，将这两两相等的项合并，共合并为</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 即 </a:t>
            </a:r>
            <a:endParaRPr lang="zh-CN" altLang="en-US" dirty="0">
              <a:latin typeface="Times New Roman" panose="02020603050405020304" pitchFamily="18" charset="0"/>
              <a:ea typeface="宋体" panose="02010600030101010101" pitchFamily="2" charset="-122"/>
            </a:endParaRPr>
          </a:p>
        </p:txBody>
      </p:sp>
      <p:graphicFrame>
        <p:nvGraphicFramePr>
          <p:cNvPr id="21507" name="对象 23557"/>
          <p:cNvGraphicFramePr/>
          <p:nvPr/>
        </p:nvGraphicFramePr>
        <p:xfrm>
          <a:off x="1209675" y="4752975"/>
          <a:ext cx="6858000" cy="1306513"/>
        </p:xfrm>
        <a:graphic>
          <a:graphicData uri="http://schemas.openxmlformats.org/presentationml/2006/ole">
            <mc:AlternateContent xmlns:mc="http://schemas.openxmlformats.org/markup-compatibility/2006">
              <mc:Choice xmlns:v="urn:schemas-microsoft-com:vml" Requires="v">
                <p:oleObj spid="_x0000_s3129" name="" r:id="rId3" imgW="2400300" imgH="457200" progId="Equation.3">
                  <p:embed/>
                </p:oleObj>
              </mc:Choice>
              <mc:Fallback>
                <p:oleObj name="" r:id="rId3" imgW="2400300" imgH="457200" progId="Equation.3">
                  <p:embed/>
                  <p:pic>
                    <p:nvPicPr>
                      <p:cNvPr id="0" name="图片 3128"/>
                      <p:cNvPicPr/>
                      <p:nvPr/>
                    </p:nvPicPr>
                    <p:blipFill>
                      <a:blip r:embed="rId4"/>
                      <a:stretch>
                        <a:fillRect/>
                      </a:stretch>
                    </p:blipFill>
                    <p:spPr>
                      <a:xfrm>
                        <a:off x="1209675" y="4752975"/>
                        <a:ext cx="6858000" cy="1306513"/>
                      </a:xfrm>
                      <a:prstGeom prst="rect">
                        <a:avLst/>
                      </a:prstGeom>
                      <a:solidFill>
                        <a:schemeClr val="accent1"/>
                      </a:solidFill>
                      <a:ln w="38100">
                        <a:noFill/>
                        <a:miter/>
                      </a:ln>
                    </p:spPr>
                  </p:pic>
                </p:oleObj>
              </mc:Fallback>
            </mc:AlternateContent>
          </a:graphicData>
        </a:graphic>
      </p:graphicFrame>
      <p:sp>
        <p:nvSpPr>
          <p:cNvPr id="21508" name="文本框 1"/>
          <p:cNvSpPr txBox="1"/>
          <p:nvPr/>
        </p:nvSpPr>
        <p:spPr>
          <a:xfrm>
            <a:off x="1517650" y="2806700"/>
            <a:ext cx="598170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           也对</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-1)/2 </a:t>
            </a:r>
            <a:r>
              <a:rPr lang="zh-CN" altLang="en-US" b="1" dirty="0">
                <a:solidFill>
                  <a:srgbClr val="FF0000"/>
                </a:solidFill>
                <a:latin typeface="Times New Roman" panose="02020603050405020304" pitchFamily="18" charset="0"/>
                <a:ea typeface="宋体" panose="02010600030101010101" pitchFamily="2" charset="-122"/>
              </a:rPr>
              <a:t>呈奇对称。</a:t>
            </a:r>
            <a:endParaRPr lang="zh-CN" altLang="en-US" b="1" dirty="0">
              <a:solidFill>
                <a:srgbClr val="FF0000"/>
              </a:solidFill>
              <a:latin typeface="Times New Roman" panose="02020603050405020304" pitchFamily="18" charset="0"/>
              <a:ea typeface="宋体" panose="02010600030101010101" pitchFamily="2" charset="-122"/>
            </a:endParaRPr>
          </a:p>
        </p:txBody>
      </p:sp>
      <p:graphicFrame>
        <p:nvGraphicFramePr>
          <p:cNvPr id="21509" name="对象 19465"/>
          <p:cNvGraphicFramePr/>
          <p:nvPr/>
        </p:nvGraphicFramePr>
        <p:xfrm>
          <a:off x="2187575" y="2636838"/>
          <a:ext cx="2071688" cy="801687"/>
        </p:xfrm>
        <a:graphic>
          <a:graphicData uri="http://schemas.openxmlformats.org/presentationml/2006/ole">
            <mc:AlternateContent xmlns:mc="http://schemas.openxmlformats.org/markup-compatibility/2006">
              <mc:Choice xmlns:v="urn:schemas-microsoft-com:vml" Requires="v">
                <p:oleObj spid="_x0000_s3136" name="" r:id="rId5" imgW="1180465" imgH="457200" progId="Equation.3">
                  <p:embed/>
                </p:oleObj>
              </mc:Choice>
              <mc:Fallback>
                <p:oleObj name="" r:id="rId5" imgW="1180465" imgH="457200" progId="Equation.3">
                  <p:embed/>
                  <p:pic>
                    <p:nvPicPr>
                      <p:cNvPr id="0" name="图片 3135"/>
                      <p:cNvPicPr/>
                      <p:nvPr/>
                    </p:nvPicPr>
                    <p:blipFill>
                      <a:blip r:embed="rId6"/>
                      <a:stretch>
                        <a:fillRect/>
                      </a:stretch>
                    </p:blipFill>
                    <p:spPr>
                      <a:xfrm>
                        <a:off x="2187575" y="2636838"/>
                        <a:ext cx="2071688" cy="801687"/>
                      </a:xfrm>
                      <a:prstGeom prst="rect">
                        <a:avLst/>
                      </a:prstGeom>
                      <a:solidFill>
                        <a:schemeClr val="accent1"/>
                      </a:solidFill>
                      <a:ln w="38100">
                        <a:noFill/>
                        <a:miter/>
                      </a:ln>
                    </p:spPr>
                  </p:pic>
                </p:oleObj>
              </mc:Fallback>
            </mc:AlternateContent>
          </a:graphicData>
        </a:graphic>
      </p:graphicFrame>
      <p:cxnSp>
        <p:nvCxnSpPr>
          <p:cNvPr id="2" name="直接连接符 1"/>
          <p:cNvCxnSpPr/>
          <p:nvPr/>
        </p:nvCxnSpPr>
        <p:spPr>
          <a:xfrm flipV="1">
            <a:off x="1517650" y="1401763"/>
            <a:ext cx="3659188" cy="396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219700" y="2636838"/>
            <a:ext cx="3416300" cy="793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22531"/>
          <p:cNvSpPr txBox="1"/>
          <p:nvPr/>
        </p:nvSpPr>
        <p:spPr>
          <a:xfrm>
            <a:off x="609600" y="762000"/>
            <a:ext cx="498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令		     ， 则上式可改写为 </a:t>
            </a:r>
            <a:endParaRPr lang="zh-CN" altLang="en-US" dirty="0">
              <a:latin typeface="Times New Roman" panose="02020603050405020304" pitchFamily="18" charset="0"/>
              <a:ea typeface="宋体" panose="02010600030101010101" pitchFamily="2" charset="-122"/>
            </a:endParaRPr>
          </a:p>
        </p:txBody>
      </p:sp>
      <p:graphicFrame>
        <p:nvGraphicFramePr>
          <p:cNvPr id="22530" name="对象 22532"/>
          <p:cNvGraphicFramePr/>
          <p:nvPr/>
        </p:nvGraphicFramePr>
        <p:xfrm>
          <a:off x="1143000" y="609600"/>
          <a:ext cx="1657350" cy="744538"/>
        </p:xfrm>
        <a:graphic>
          <a:graphicData uri="http://schemas.openxmlformats.org/presentationml/2006/ole">
            <mc:AlternateContent xmlns:mc="http://schemas.openxmlformats.org/markup-compatibility/2006">
              <mc:Choice xmlns:v="urn:schemas-microsoft-com:vml" Requires="v">
                <p:oleObj spid="_x0000_s3130" name="" r:id="rId1" imgW="875665" imgH="393700" progId="Equation.3">
                  <p:embed/>
                </p:oleObj>
              </mc:Choice>
              <mc:Fallback>
                <p:oleObj name="" r:id="rId1" imgW="875665" imgH="393700" progId="Equation.3">
                  <p:embed/>
                  <p:pic>
                    <p:nvPicPr>
                      <p:cNvPr id="0" name="图片 3129"/>
                      <p:cNvPicPr/>
                      <p:nvPr/>
                    </p:nvPicPr>
                    <p:blipFill>
                      <a:blip r:embed="rId2"/>
                      <a:stretch>
                        <a:fillRect/>
                      </a:stretch>
                    </p:blipFill>
                    <p:spPr>
                      <a:xfrm>
                        <a:off x="1143000" y="609600"/>
                        <a:ext cx="1657350" cy="744538"/>
                      </a:xfrm>
                      <a:prstGeom prst="rect">
                        <a:avLst/>
                      </a:prstGeom>
                      <a:solidFill>
                        <a:schemeClr val="accent1"/>
                      </a:solidFill>
                      <a:ln w="38100">
                        <a:noFill/>
                        <a:miter/>
                      </a:ln>
                    </p:spPr>
                  </p:pic>
                </p:oleObj>
              </mc:Fallback>
            </mc:AlternateContent>
          </a:graphicData>
        </a:graphic>
      </p:graphicFrame>
      <p:graphicFrame>
        <p:nvGraphicFramePr>
          <p:cNvPr id="22531" name="对象 22533"/>
          <p:cNvGraphicFramePr/>
          <p:nvPr/>
        </p:nvGraphicFramePr>
        <p:xfrm>
          <a:off x="1416050" y="1401763"/>
          <a:ext cx="6083300" cy="1055687"/>
        </p:xfrm>
        <a:graphic>
          <a:graphicData uri="http://schemas.openxmlformats.org/presentationml/2006/ole">
            <mc:AlternateContent xmlns:mc="http://schemas.openxmlformats.org/markup-compatibility/2006">
              <mc:Choice xmlns:v="urn:schemas-microsoft-com:vml" Requires="v">
                <p:oleObj spid="_x0000_s3128" name="" r:id="rId3" imgW="2487930" imgH="431800" progId="Equation.3">
                  <p:embed/>
                </p:oleObj>
              </mc:Choice>
              <mc:Fallback>
                <p:oleObj name="" r:id="rId3" imgW="2487930" imgH="431800" progId="Equation.3">
                  <p:embed/>
                  <p:pic>
                    <p:nvPicPr>
                      <p:cNvPr id="0" name="图片 3127"/>
                      <p:cNvPicPr/>
                      <p:nvPr/>
                    </p:nvPicPr>
                    <p:blipFill>
                      <a:blip r:embed="rId4"/>
                      <a:stretch>
                        <a:fillRect/>
                      </a:stretch>
                    </p:blipFill>
                    <p:spPr>
                      <a:xfrm>
                        <a:off x="1416050" y="1401763"/>
                        <a:ext cx="6083300" cy="1055687"/>
                      </a:xfrm>
                      <a:prstGeom prst="rect">
                        <a:avLst/>
                      </a:prstGeom>
                      <a:noFill/>
                      <a:ln w="38100">
                        <a:noFill/>
                        <a:miter/>
                      </a:ln>
                    </p:spPr>
                  </p:pic>
                </p:oleObj>
              </mc:Fallback>
            </mc:AlternateContent>
          </a:graphicData>
        </a:graphic>
      </p:graphicFrame>
      <p:sp>
        <p:nvSpPr>
          <p:cNvPr id="22532" name="文本框 22534"/>
          <p:cNvSpPr txBox="1"/>
          <p:nvPr/>
        </p:nvSpPr>
        <p:spPr>
          <a:xfrm>
            <a:off x="304800" y="2667000"/>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即 </a:t>
            </a:r>
            <a:endParaRPr lang="zh-CN" altLang="en-US" dirty="0">
              <a:latin typeface="Times New Roman" panose="02020603050405020304" pitchFamily="18" charset="0"/>
              <a:ea typeface="宋体" panose="02010600030101010101" pitchFamily="2" charset="-122"/>
            </a:endParaRPr>
          </a:p>
        </p:txBody>
      </p:sp>
      <p:graphicFrame>
        <p:nvGraphicFramePr>
          <p:cNvPr id="22533" name="对象 22535"/>
          <p:cNvGraphicFramePr/>
          <p:nvPr/>
        </p:nvGraphicFramePr>
        <p:xfrm>
          <a:off x="2776538" y="2971800"/>
          <a:ext cx="4035425" cy="1055688"/>
        </p:xfrm>
        <a:graphic>
          <a:graphicData uri="http://schemas.openxmlformats.org/presentationml/2006/ole">
            <mc:AlternateContent xmlns:mc="http://schemas.openxmlformats.org/markup-compatibility/2006">
              <mc:Choice xmlns:v="urn:schemas-microsoft-com:vml" Requires="v">
                <p:oleObj spid="_x0000_s3137" name="" r:id="rId5" imgW="1650365" imgH="431800" progId="Equation.3">
                  <p:embed/>
                </p:oleObj>
              </mc:Choice>
              <mc:Fallback>
                <p:oleObj name="" r:id="rId5" imgW="1650365" imgH="431800" progId="Equation.3">
                  <p:embed/>
                  <p:pic>
                    <p:nvPicPr>
                      <p:cNvPr id="0" name="图片 3136"/>
                      <p:cNvPicPr/>
                      <p:nvPr/>
                    </p:nvPicPr>
                    <p:blipFill>
                      <a:blip r:embed="rId6"/>
                      <a:stretch>
                        <a:fillRect/>
                      </a:stretch>
                    </p:blipFill>
                    <p:spPr>
                      <a:xfrm>
                        <a:off x="2776538" y="2971800"/>
                        <a:ext cx="4035425" cy="1055688"/>
                      </a:xfrm>
                      <a:prstGeom prst="rect">
                        <a:avLst/>
                      </a:prstGeom>
                      <a:solidFill>
                        <a:schemeClr val="accent1"/>
                      </a:solidFill>
                      <a:ln w="38100">
                        <a:noFill/>
                        <a:miter/>
                      </a:ln>
                    </p:spPr>
                  </p:pic>
                </p:oleObj>
              </mc:Fallback>
            </mc:AlternateContent>
          </a:graphicData>
        </a:graphic>
      </p:graphicFrame>
      <p:sp>
        <p:nvSpPr>
          <p:cNvPr id="22534" name="文本框 22536"/>
          <p:cNvSpPr txBox="1"/>
          <p:nvPr/>
        </p:nvSpPr>
        <p:spPr>
          <a:xfrm>
            <a:off x="304800" y="4308475"/>
            <a:ext cx="9540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22535" name="对象 22537"/>
          <p:cNvGraphicFramePr/>
          <p:nvPr/>
        </p:nvGraphicFramePr>
        <p:xfrm>
          <a:off x="1981200" y="4267200"/>
          <a:ext cx="3048000" cy="987425"/>
        </p:xfrm>
        <a:graphic>
          <a:graphicData uri="http://schemas.openxmlformats.org/presentationml/2006/ole">
            <mc:AlternateContent xmlns:mc="http://schemas.openxmlformats.org/markup-compatibility/2006">
              <mc:Choice xmlns:v="urn:schemas-microsoft-com:vml" Requires="v">
                <p:oleObj spid="_x0000_s3131" name="" r:id="rId7" imgW="1332865" imgH="431800" progId="Equation.3">
                  <p:embed/>
                </p:oleObj>
              </mc:Choice>
              <mc:Fallback>
                <p:oleObj name="" r:id="rId7" imgW="1332865" imgH="431800" progId="Equation.3">
                  <p:embed/>
                  <p:pic>
                    <p:nvPicPr>
                      <p:cNvPr id="0" name="图片 3130"/>
                      <p:cNvPicPr/>
                      <p:nvPr/>
                    </p:nvPicPr>
                    <p:blipFill>
                      <a:blip r:embed="rId8"/>
                      <a:stretch>
                        <a:fillRect/>
                      </a:stretch>
                    </p:blipFill>
                    <p:spPr>
                      <a:xfrm>
                        <a:off x="1981200" y="4267200"/>
                        <a:ext cx="3048000" cy="987425"/>
                      </a:xfrm>
                      <a:prstGeom prst="rect">
                        <a:avLst/>
                      </a:prstGeom>
                      <a:noFill/>
                      <a:ln w="38100">
                        <a:noFill/>
                        <a:miter/>
                      </a:ln>
                    </p:spPr>
                  </p:pic>
                </p:oleObj>
              </mc:Fallback>
            </mc:AlternateContent>
          </a:graphicData>
        </a:graphic>
      </p:graphicFrame>
      <p:sp>
        <p:nvSpPr>
          <p:cNvPr id="22536" name="文本框 22538"/>
          <p:cNvSpPr txBox="1"/>
          <p:nvPr/>
        </p:nvSpPr>
        <p:spPr>
          <a:xfrm>
            <a:off x="5486400" y="4557713"/>
            <a:ext cx="2730500" cy="457200"/>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2, 3, </a:t>
            </a:r>
            <a:r>
              <a:rPr lang="en-US" altLang="zh-CN" dirty="0">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 </a:t>
            </a:r>
            <a:endParaRPr lang="en-US" altLang="zh-CN" dirty="0">
              <a:latin typeface="Times New Roman" panose="02020603050405020304" pitchFamily="18" charset="0"/>
              <a:ea typeface="宋体" panose="02010600030101010101" pitchFamily="2" charset="-122"/>
            </a:endParaRPr>
          </a:p>
        </p:txBody>
      </p:sp>
      <p:sp>
        <p:nvSpPr>
          <p:cNvPr id="22537" name="文本框 22539"/>
          <p:cNvSpPr txBox="1"/>
          <p:nvPr/>
        </p:nvSpPr>
        <p:spPr>
          <a:xfrm>
            <a:off x="7721600" y="53340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6-20</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2538" name="文本框 22540"/>
          <p:cNvSpPr txBox="1"/>
          <p:nvPr/>
        </p:nvSpPr>
        <p:spPr>
          <a:xfrm>
            <a:off x="7721600" y="33528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6-19</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框 21507"/>
          <p:cNvSpPr txBox="1"/>
          <p:nvPr/>
        </p:nvSpPr>
        <p:spPr>
          <a:xfrm>
            <a:off x="373063" y="839788"/>
            <a:ext cx="8447087" cy="3776662"/>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由于</a:t>
            </a:r>
            <a:r>
              <a:rPr lang="en-US" altLang="zh-CN" b="1" dirty="0">
                <a:solidFill>
                  <a:srgbClr val="FF0000"/>
                </a:solidFill>
                <a:latin typeface="Times New Roman" panose="02020603050405020304" pitchFamily="18" charset="0"/>
                <a:ea typeface="宋体" panose="02010600030101010101" pitchFamily="2" charset="-122"/>
              </a:rPr>
              <a:t>sin(</a:t>
            </a:r>
            <a:r>
              <a:rPr lang="en-US" altLang="zh-CN" b="1" i="1" dirty="0">
                <a:solidFill>
                  <a:srgbClr val="FF0000"/>
                </a:solidFill>
                <a:latin typeface="Times New Roman" panose="02020603050405020304" pitchFamily="18" charset="0"/>
                <a:ea typeface="宋体" panose="02010600030101010101" pitchFamily="2" charset="-122"/>
              </a:rPr>
              <a:t>ωn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在</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=0, π, 2π</a:t>
            </a:r>
            <a:r>
              <a:rPr lang="zh-CN" altLang="en-US" b="1" dirty="0">
                <a:solidFill>
                  <a:srgbClr val="FF0000"/>
                </a:solidFill>
                <a:latin typeface="Times New Roman" panose="02020603050405020304" pitchFamily="18" charset="0"/>
                <a:ea typeface="宋体" panose="02010600030101010101" pitchFamily="2" charset="-122"/>
              </a:rPr>
              <a:t>处都为零</a:t>
            </a:r>
            <a:r>
              <a:rPr lang="zh-CN" altLang="en-US" dirty="0">
                <a:latin typeface="Times New Roman" panose="02020603050405020304" pitchFamily="18" charset="0"/>
                <a:ea typeface="宋体" panose="02010600030101010101" pitchFamily="2" charset="-122"/>
              </a:rPr>
              <a:t>，并对这些点呈奇对称， 因此幅度函数</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在</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=0,π,2π</a:t>
            </a:r>
            <a:r>
              <a:rPr lang="zh-CN" altLang="en-US" b="1" dirty="0">
                <a:solidFill>
                  <a:srgbClr val="FF0000"/>
                </a:solidFill>
                <a:latin typeface="Times New Roman" panose="02020603050405020304" pitchFamily="18" charset="0"/>
                <a:ea typeface="宋体" panose="02010600030101010101" pitchFamily="2" charset="-122"/>
              </a:rPr>
              <a:t>处为零</a:t>
            </a:r>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上都有零点，且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对于</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=0,π,2π</a:t>
            </a:r>
            <a:r>
              <a:rPr lang="zh-CN" altLang="en-US" dirty="0">
                <a:latin typeface="Times New Roman" panose="02020603050405020304" pitchFamily="18" charset="0"/>
                <a:ea typeface="宋体" panose="02010600030101010101" pitchFamily="2" charset="-122"/>
              </a:rPr>
              <a:t>也呈奇对称。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如果数字滤波器在</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π, 2π</a:t>
            </a:r>
            <a:r>
              <a:rPr lang="zh-CN" altLang="en-US" dirty="0">
                <a:latin typeface="Times New Roman" panose="02020603050405020304" pitchFamily="18" charset="0"/>
                <a:ea typeface="宋体" panose="02010600030101010101" pitchFamily="2" charset="-122"/>
              </a:rPr>
              <a:t>处不为零，例如低通滤波器、 高通滤波器、带阻滤波器，则不能用这类数字滤波器来设计， 除非不考虑这些频率点上的值。 </a:t>
            </a:r>
            <a:endParaRPr lang="zh-CN" altLang="en-US" dirty="0">
              <a:latin typeface="Times New Roman" panose="02020603050405020304" pitchFamily="18" charset="0"/>
              <a:ea typeface="宋体" panose="02010600030101010101" pitchFamily="2" charset="-122"/>
            </a:endParaRPr>
          </a:p>
        </p:txBody>
      </p:sp>
      <p:sp>
        <p:nvSpPr>
          <p:cNvPr id="7" name="流程图: 顺序访问存储器 6"/>
          <p:cNvSpPr/>
          <p:nvPr/>
        </p:nvSpPr>
        <p:spPr>
          <a:xfrm flipH="1">
            <a:off x="7372350" y="3937000"/>
            <a:ext cx="1728788" cy="2303463"/>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 </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带通</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 </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25603"/>
          <p:cNvSpPr txBox="1"/>
          <p:nvPr/>
        </p:nvSpPr>
        <p:spPr>
          <a:xfrm>
            <a:off x="381000" y="549275"/>
            <a:ext cx="8294688" cy="17843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4. </a:t>
            </a:r>
            <a:r>
              <a:rPr lang="zh-CN" altLang="en-US" b="1" dirty="0">
                <a:latin typeface="Times New Roman" panose="02020603050405020304" pitchFamily="18" charset="0"/>
                <a:ea typeface="宋体" panose="02010600030101010101" pitchFamily="2" charset="-122"/>
              </a:rPr>
              <a:t>第四种类型：</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为奇对称</a:t>
            </a:r>
            <a:r>
              <a:rPr lang="zh-CN" altLang="en-US" b="1" dirty="0">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zh-CN" altLang="en-US" b="1" dirty="0">
                <a:solidFill>
                  <a:srgbClr val="FF0000"/>
                </a:solidFill>
                <a:latin typeface="Times New Roman" panose="02020603050405020304" pitchFamily="18" charset="0"/>
                <a:ea typeface="宋体" panose="02010600030101010101" pitchFamily="2" charset="-122"/>
              </a:rPr>
              <a:t>为偶数</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和前面情况</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推导类似，不同点是由于</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为偶数，因此式（</a:t>
            </a:r>
            <a:r>
              <a:rPr lang="en-US" altLang="zh-CN" dirty="0">
                <a:latin typeface="Times New Roman" panose="02020603050405020304" pitchFamily="18" charset="0"/>
                <a:ea typeface="宋体" panose="02010600030101010101" pitchFamily="2" charset="-122"/>
              </a:rPr>
              <a:t>6-13</a:t>
            </a:r>
            <a:r>
              <a:rPr lang="zh-CN" altLang="en-US" dirty="0">
                <a:latin typeface="Times New Roman" panose="02020603050405020304" pitchFamily="18" charset="0"/>
                <a:ea typeface="宋体" panose="02010600030101010101" pitchFamily="2" charset="-122"/>
              </a:rPr>
              <a:t>）中无单独项，全部可以两两合并得 </a:t>
            </a:r>
            <a:endParaRPr lang="zh-CN" altLang="en-US" dirty="0">
              <a:latin typeface="Times New Roman" panose="02020603050405020304" pitchFamily="18" charset="0"/>
              <a:ea typeface="宋体" panose="02010600030101010101" pitchFamily="2" charset="-122"/>
            </a:endParaRPr>
          </a:p>
        </p:txBody>
      </p:sp>
      <p:graphicFrame>
        <p:nvGraphicFramePr>
          <p:cNvPr id="24578" name="对象 25604"/>
          <p:cNvGraphicFramePr/>
          <p:nvPr/>
        </p:nvGraphicFramePr>
        <p:xfrm>
          <a:off x="2324100" y="2466975"/>
          <a:ext cx="4419600" cy="2082800"/>
        </p:xfrm>
        <a:graphic>
          <a:graphicData uri="http://schemas.openxmlformats.org/presentationml/2006/ole">
            <mc:AlternateContent xmlns:mc="http://schemas.openxmlformats.org/markup-compatibility/2006">
              <mc:Choice xmlns:v="urn:schemas-microsoft-com:vml" Requires="v">
                <p:oleObj spid="_x0000_s3132" name="" r:id="rId1" imgW="2209800" imgH="1041400" progId="Equation.3">
                  <p:embed/>
                </p:oleObj>
              </mc:Choice>
              <mc:Fallback>
                <p:oleObj name="" r:id="rId1" imgW="2209800" imgH="1041400" progId="Equation.3">
                  <p:embed/>
                  <p:pic>
                    <p:nvPicPr>
                      <p:cNvPr id="0" name="图片 3131"/>
                      <p:cNvPicPr/>
                      <p:nvPr/>
                    </p:nvPicPr>
                    <p:blipFill>
                      <a:blip r:embed="rId2"/>
                      <a:stretch>
                        <a:fillRect/>
                      </a:stretch>
                    </p:blipFill>
                    <p:spPr>
                      <a:xfrm>
                        <a:off x="2324100" y="2466975"/>
                        <a:ext cx="4419600" cy="2082800"/>
                      </a:xfrm>
                      <a:prstGeom prst="rect">
                        <a:avLst/>
                      </a:prstGeom>
                      <a:noFill/>
                      <a:ln w="38100">
                        <a:noFill/>
                        <a:miter/>
                      </a:ln>
                    </p:spPr>
                  </p:pic>
                </p:oleObj>
              </mc:Fallback>
            </mc:AlternateContent>
          </a:graphicData>
        </a:graphic>
      </p:graphicFrame>
      <p:grpSp>
        <p:nvGrpSpPr>
          <p:cNvPr id="24579" name="组合 25607"/>
          <p:cNvGrpSpPr/>
          <p:nvPr/>
        </p:nvGrpSpPr>
        <p:grpSpPr>
          <a:xfrm>
            <a:off x="212725" y="4495800"/>
            <a:ext cx="3079750" cy="852488"/>
            <a:chOff x="134" y="2919"/>
            <a:chExt cx="1940" cy="537"/>
          </a:xfrm>
        </p:grpSpPr>
        <p:sp>
          <p:nvSpPr>
            <p:cNvPr id="24580" name="文本框 25605"/>
            <p:cNvSpPr txBox="1"/>
            <p:nvPr/>
          </p:nvSpPr>
          <p:spPr>
            <a:xfrm>
              <a:off x="134" y="3002"/>
              <a:ext cx="1940"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令		， 则有 </a:t>
              </a:r>
              <a:endParaRPr lang="zh-CN" altLang="en-US" dirty="0">
                <a:latin typeface="Times New Roman" panose="02020603050405020304" pitchFamily="18" charset="0"/>
                <a:ea typeface="宋体" panose="02010600030101010101" pitchFamily="2" charset="-122"/>
              </a:endParaRPr>
            </a:p>
          </p:txBody>
        </p:sp>
        <p:graphicFrame>
          <p:nvGraphicFramePr>
            <p:cNvPr id="24581" name="对象 25606"/>
            <p:cNvGraphicFramePr/>
            <p:nvPr/>
          </p:nvGraphicFramePr>
          <p:xfrm>
            <a:off x="384" y="2919"/>
            <a:ext cx="936" cy="537"/>
          </p:xfrm>
          <a:graphic>
            <a:graphicData uri="http://schemas.openxmlformats.org/presentationml/2006/ole">
              <mc:AlternateContent xmlns:mc="http://schemas.openxmlformats.org/markup-compatibility/2006">
                <mc:Choice xmlns:v="urn:schemas-microsoft-com:vml" Requires="v">
                  <p:oleObj spid="_x0000_s3134" name="" r:id="rId3" imgW="685800" imgH="393700" progId="Equation.3">
                    <p:embed/>
                  </p:oleObj>
                </mc:Choice>
                <mc:Fallback>
                  <p:oleObj name="" r:id="rId3" imgW="685800" imgH="393700" progId="Equation.3">
                    <p:embed/>
                    <p:pic>
                      <p:nvPicPr>
                        <p:cNvPr id="0" name="图片 3133"/>
                        <p:cNvPicPr/>
                        <p:nvPr/>
                      </p:nvPicPr>
                      <p:blipFill>
                        <a:blip r:embed="rId4"/>
                        <a:stretch>
                          <a:fillRect/>
                        </a:stretch>
                      </p:blipFill>
                      <p:spPr>
                        <a:xfrm>
                          <a:off x="384" y="2919"/>
                          <a:ext cx="936" cy="537"/>
                        </a:xfrm>
                        <a:prstGeom prst="rect">
                          <a:avLst/>
                        </a:prstGeom>
                        <a:solidFill>
                          <a:schemeClr val="accent1"/>
                        </a:solidFill>
                        <a:ln w="38100">
                          <a:noFill/>
                          <a:miter/>
                        </a:ln>
                      </p:spPr>
                    </p:pic>
                  </p:oleObj>
                </mc:Fallback>
              </mc:AlternateContent>
            </a:graphicData>
          </a:graphic>
        </p:graphicFrame>
      </p:grpSp>
      <p:graphicFrame>
        <p:nvGraphicFramePr>
          <p:cNvPr id="24582" name="对象 25608"/>
          <p:cNvGraphicFramePr/>
          <p:nvPr/>
        </p:nvGraphicFramePr>
        <p:xfrm>
          <a:off x="2432050" y="5260975"/>
          <a:ext cx="5638800" cy="1079500"/>
        </p:xfrm>
        <a:graphic>
          <a:graphicData uri="http://schemas.openxmlformats.org/presentationml/2006/ole">
            <mc:AlternateContent xmlns:mc="http://schemas.openxmlformats.org/markup-compatibility/2006">
              <mc:Choice xmlns:v="urn:schemas-microsoft-com:vml" Requires="v">
                <p:oleObj spid="_x0000_s3133" name="" r:id="rId5" imgW="2387600" imgH="457200" progId="Equation.3">
                  <p:embed/>
                </p:oleObj>
              </mc:Choice>
              <mc:Fallback>
                <p:oleObj name="" r:id="rId5" imgW="2387600" imgH="457200" progId="Equation.3">
                  <p:embed/>
                  <p:pic>
                    <p:nvPicPr>
                      <p:cNvPr id="0" name="图片 3132"/>
                      <p:cNvPicPr/>
                      <p:nvPr/>
                    </p:nvPicPr>
                    <p:blipFill>
                      <a:blip r:embed="rId6"/>
                      <a:stretch>
                        <a:fillRect/>
                      </a:stretch>
                    </p:blipFill>
                    <p:spPr>
                      <a:xfrm>
                        <a:off x="2432050" y="5260975"/>
                        <a:ext cx="5638800" cy="1079500"/>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771775" y="3749675"/>
            <a:ext cx="4248150" cy="903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5602" name="文本框 24579"/>
          <p:cNvSpPr txBox="1"/>
          <p:nvPr/>
        </p:nvSpPr>
        <p:spPr>
          <a:xfrm>
            <a:off x="349250" y="5334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因此 </a:t>
            </a:r>
            <a:endParaRPr lang="zh-CN" altLang="en-US" dirty="0">
              <a:latin typeface="Times New Roman" panose="02020603050405020304" pitchFamily="18" charset="0"/>
              <a:ea typeface="宋体" panose="02010600030101010101" pitchFamily="2" charset="-122"/>
            </a:endParaRPr>
          </a:p>
        </p:txBody>
      </p:sp>
      <p:graphicFrame>
        <p:nvGraphicFramePr>
          <p:cNvPr id="25603" name="对象 24580"/>
          <p:cNvGraphicFramePr/>
          <p:nvPr/>
        </p:nvGraphicFramePr>
        <p:xfrm>
          <a:off x="2362200" y="838200"/>
          <a:ext cx="4559300" cy="1079500"/>
        </p:xfrm>
        <a:graphic>
          <a:graphicData uri="http://schemas.openxmlformats.org/presentationml/2006/ole">
            <mc:AlternateContent xmlns:mc="http://schemas.openxmlformats.org/markup-compatibility/2006">
              <mc:Choice xmlns:v="urn:schemas-microsoft-com:vml" Requires="v">
                <p:oleObj spid="_x0000_s3141" name="" r:id="rId1" imgW="1930400" imgH="457200" progId="Equation.3">
                  <p:embed/>
                </p:oleObj>
              </mc:Choice>
              <mc:Fallback>
                <p:oleObj name="" r:id="rId1" imgW="1930400" imgH="457200" progId="Equation.3">
                  <p:embed/>
                  <p:pic>
                    <p:nvPicPr>
                      <p:cNvPr id="0" name="图片 3140"/>
                      <p:cNvPicPr/>
                      <p:nvPr/>
                    </p:nvPicPr>
                    <p:blipFill>
                      <a:blip r:embed="rId2"/>
                      <a:stretch>
                        <a:fillRect/>
                      </a:stretch>
                    </p:blipFill>
                    <p:spPr>
                      <a:xfrm>
                        <a:off x="2362200" y="838200"/>
                        <a:ext cx="4559300" cy="1079500"/>
                      </a:xfrm>
                      <a:prstGeom prst="rect">
                        <a:avLst/>
                      </a:prstGeom>
                      <a:noFill/>
                      <a:ln w="38100">
                        <a:noFill/>
                        <a:miter/>
                      </a:ln>
                    </p:spPr>
                  </p:pic>
                </p:oleObj>
              </mc:Fallback>
            </mc:AlternateContent>
          </a:graphicData>
        </a:graphic>
      </p:graphicFrame>
      <p:sp>
        <p:nvSpPr>
          <p:cNvPr id="25604" name="文本框 24581"/>
          <p:cNvSpPr txBox="1"/>
          <p:nvPr/>
        </p:nvSpPr>
        <p:spPr>
          <a:xfrm>
            <a:off x="381000" y="2057400"/>
            <a:ext cx="9540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25605" name="对象 24582"/>
          <p:cNvGraphicFramePr/>
          <p:nvPr/>
        </p:nvGraphicFramePr>
        <p:xfrm>
          <a:off x="1676400" y="2438400"/>
          <a:ext cx="5638800" cy="1139825"/>
        </p:xfrm>
        <a:graphic>
          <a:graphicData uri="http://schemas.openxmlformats.org/presentationml/2006/ole">
            <mc:AlternateContent xmlns:mc="http://schemas.openxmlformats.org/markup-compatibility/2006">
              <mc:Choice xmlns:v="urn:schemas-microsoft-com:vml" Requires="v">
                <p:oleObj spid="_x0000_s3144" name="" r:id="rId3" imgW="2324100" imgH="469900" progId="Equation.3">
                  <p:embed/>
                </p:oleObj>
              </mc:Choice>
              <mc:Fallback>
                <p:oleObj name="" r:id="rId3" imgW="2324100" imgH="469900" progId="Equation.3">
                  <p:embed/>
                  <p:pic>
                    <p:nvPicPr>
                      <p:cNvPr id="0" name="图片 3143"/>
                      <p:cNvPicPr/>
                      <p:nvPr/>
                    </p:nvPicPr>
                    <p:blipFill>
                      <a:blip r:embed="rId4"/>
                      <a:stretch>
                        <a:fillRect/>
                      </a:stretch>
                    </p:blipFill>
                    <p:spPr>
                      <a:xfrm>
                        <a:off x="1676400" y="2438400"/>
                        <a:ext cx="5638800" cy="1139825"/>
                      </a:xfrm>
                      <a:prstGeom prst="rect">
                        <a:avLst/>
                      </a:prstGeom>
                      <a:noFill/>
                      <a:ln w="38100">
                        <a:noFill/>
                        <a:miter/>
                      </a:ln>
                    </p:spPr>
                  </p:pic>
                </p:oleObj>
              </mc:Fallback>
            </mc:AlternateContent>
          </a:graphicData>
        </a:graphic>
      </p:graphicFrame>
      <p:sp>
        <p:nvSpPr>
          <p:cNvPr id="25606" name="文本框 24583"/>
          <p:cNvSpPr txBox="1"/>
          <p:nvPr/>
        </p:nvSpPr>
        <p:spPr>
          <a:xfrm>
            <a:off x="7721600" y="27432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6-22</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5607" name="文本框 24584"/>
          <p:cNvSpPr txBox="1"/>
          <p:nvPr/>
        </p:nvSpPr>
        <p:spPr>
          <a:xfrm>
            <a:off x="7721600" y="11430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6-21</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pSp>
        <p:nvGrpSpPr>
          <p:cNvPr id="25608" name="组合 24588"/>
          <p:cNvGrpSpPr/>
          <p:nvPr/>
        </p:nvGrpSpPr>
        <p:grpSpPr>
          <a:xfrm>
            <a:off x="215900" y="3749675"/>
            <a:ext cx="8763000" cy="1951038"/>
            <a:chOff x="144" y="2384"/>
            <a:chExt cx="5520" cy="1229"/>
          </a:xfrm>
        </p:grpSpPr>
        <p:sp>
          <p:nvSpPr>
            <p:cNvPr id="25609" name="文本框 24585"/>
            <p:cNvSpPr txBox="1"/>
            <p:nvPr/>
          </p:nvSpPr>
          <p:spPr>
            <a:xfrm>
              <a:off x="144" y="2384"/>
              <a:ext cx="5520" cy="1229"/>
            </a:xfrm>
            <a:prstGeom prst="rect">
              <a:avLst/>
            </a:prstGeom>
            <a:noFill/>
            <a:ln w="9525">
              <a:noFill/>
            </a:ln>
          </p:spPr>
          <p:txBody>
            <a:bodyPr anchor="t">
              <a:spAutoFit/>
            </a:bodyPr>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6-21</a:t>
              </a:r>
              <a:r>
                <a:rPr lang="zh-CN" altLang="en-US" dirty="0">
                  <a:latin typeface="Times New Roman" panose="02020603050405020304" pitchFamily="18" charset="0"/>
                  <a:ea typeface="宋体" panose="02010600030101010101" pitchFamily="2" charset="-122"/>
                </a:rPr>
                <a:t>），当</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时， 			    ，且对</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呈奇对称，因此</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处为零，即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处有一个零点，且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对</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也呈奇对称。 </a:t>
              </a:r>
              <a:endParaRPr lang="zh-CN" altLang="en-US" dirty="0">
                <a:latin typeface="Times New Roman" panose="02020603050405020304" pitchFamily="18" charset="0"/>
                <a:ea typeface="宋体" panose="02010600030101010101" pitchFamily="2" charset="-122"/>
              </a:endParaRPr>
            </a:p>
          </p:txBody>
        </p:sp>
        <p:graphicFrame>
          <p:nvGraphicFramePr>
            <p:cNvPr id="25610" name="对象 24586"/>
            <p:cNvGraphicFramePr/>
            <p:nvPr/>
          </p:nvGraphicFramePr>
          <p:xfrm>
            <a:off x="2880" y="2387"/>
            <a:ext cx="1488" cy="589"/>
          </p:xfrm>
          <a:graphic>
            <a:graphicData uri="http://schemas.openxmlformats.org/presentationml/2006/ole">
              <mc:AlternateContent xmlns:mc="http://schemas.openxmlformats.org/markup-compatibility/2006">
                <mc:Choice xmlns:v="urn:schemas-microsoft-com:vml" Requires="v">
                  <p:oleObj spid="_x0000_s3140" name="" r:id="rId5" imgW="1155700" imgH="457200" progId="Equation.3">
                    <p:embed/>
                  </p:oleObj>
                </mc:Choice>
                <mc:Fallback>
                  <p:oleObj name="" r:id="rId5" imgW="1155700" imgH="457200" progId="Equation.3">
                    <p:embed/>
                    <p:pic>
                      <p:nvPicPr>
                        <p:cNvPr id="0" name="图片 3139"/>
                        <p:cNvPicPr/>
                        <p:nvPr/>
                      </p:nvPicPr>
                      <p:blipFill>
                        <a:blip r:embed="rId6"/>
                        <a:stretch>
                          <a:fillRect/>
                        </a:stretch>
                      </p:blipFill>
                      <p:spPr>
                        <a:xfrm>
                          <a:off x="2880" y="2387"/>
                          <a:ext cx="1488" cy="589"/>
                        </a:xfrm>
                        <a:prstGeom prst="rect">
                          <a:avLst/>
                        </a:prstGeom>
                        <a:noFill/>
                        <a:ln w="38100">
                          <a:noFill/>
                          <a:miter/>
                        </a:ln>
                      </p:spPr>
                    </p:pic>
                  </p:oleObj>
                </mc:Fallback>
              </mc:AlternateContent>
            </a:graphicData>
          </a:graphic>
        </p:graphicFrame>
      </p:grpSp>
    </p:spTree>
  </p:cSld>
  <p:clrMapOvr>
    <a:masterClrMapping/>
  </p:clrMapOvr>
  <p:transition>
    <p:zoom dir="in"/>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5" name="组合 27654"/>
          <p:cNvGrpSpPr/>
          <p:nvPr/>
        </p:nvGrpSpPr>
        <p:grpSpPr>
          <a:xfrm>
            <a:off x="152400" y="904875"/>
            <a:ext cx="8763000" cy="3781425"/>
            <a:chOff x="96" y="432"/>
            <a:chExt cx="5520" cy="2382"/>
          </a:xfrm>
        </p:grpSpPr>
        <p:sp>
          <p:nvSpPr>
            <p:cNvPr id="26626" name="文本框 27651"/>
            <p:cNvSpPr txBox="1"/>
            <p:nvPr/>
          </p:nvSpPr>
          <p:spPr>
            <a:xfrm>
              <a:off x="96" y="432"/>
              <a:ext cx="5520" cy="2382"/>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当</a:t>
              </a:r>
              <a:r>
                <a:rPr lang="en-US" altLang="zh-CN" dirty="0">
                  <a:latin typeface="Times New Roman" panose="02020603050405020304" pitchFamily="18" charset="0"/>
                  <a:ea typeface="宋体" panose="02010600030101010101" pitchFamily="2" charset="-122"/>
                </a:rPr>
                <a:t>ω=π</a:t>
              </a:r>
              <a:r>
                <a:rPr lang="zh-CN" altLang="en-US" dirty="0">
                  <a:latin typeface="Times New Roman" panose="02020603050405020304" pitchFamily="18" charset="0"/>
                  <a:ea typeface="宋体" panose="02010600030101010101" pitchFamily="2" charset="-122"/>
                </a:rPr>
                <a:t>时， 			或</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		    对</a:t>
              </a:r>
              <a:r>
                <a:rPr lang="en-US" altLang="zh-CN" dirty="0">
                  <a:latin typeface="Times New Roman" panose="02020603050405020304" pitchFamily="18" charset="0"/>
                  <a:ea typeface="宋体" panose="02010600030101010101" pitchFamily="2" charset="-122"/>
                </a:rPr>
                <a:t>ω=π</a:t>
              </a:r>
              <a:r>
                <a:rPr lang="zh-CN" altLang="en-US" dirty="0">
                  <a:latin typeface="Times New Roman" panose="02020603050405020304" pitchFamily="18" charset="0"/>
                  <a:ea typeface="宋体" panose="02010600030101010101" pitchFamily="2" charset="-122"/>
                </a:rPr>
                <a:t>呈偶对称，幅度函数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对于</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也呈偶对称。 </a:t>
              </a:r>
              <a:endParaRPr lang="zh-CN" altLang="en-US" dirty="0">
                <a:latin typeface="Times New Roman" panose="02020603050405020304" pitchFamily="18" charset="0"/>
                <a:ea typeface="宋体" panose="02010600030101010101" pitchFamily="2" charset="-122"/>
              </a:endParaRPr>
            </a:p>
            <a:p>
              <a:pPr algn="just">
                <a:lnSpc>
                  <a:spcPct val="180000"/>
                </a:lnSpc>
                <a:spcBef>
                  <a:spcPct val="50000"/>
                </a:spcBef>
              </a:pPr>
              <a:r>
                <a:rPr lang="zh-CN" altLang="en-US" dirty="0">
                  <a:latin typeface="Times New Roman" panose="02020603050405020304" pitchFamily="18" charset="0"/>
                  <a:ea typeface="宋体" panose="02010600030101010101" pitchFamily="2" charset="-122"/>
                </a:rPr>
                <a:t>         如果数字滤波器在</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处不为零，例如低通滤波器、 带阻滤波器，则不能用这类数字滤波器来设计。 </a:t>
              </a:r>
              <a:endParaRPr lang="zh-CN" altLang="en-US" dirty="0">
                <a:latin typeface="Times New Roman" panose="02020603050405020304" pitchFamily="18" charset="0"/>
                <a:ea typeface="宋体" panose="02010600030101010101" pitchFamily="2" charset="-122"/>
              </a:endParaRPr>
            </a:p>
            <a:p>
              <a:pPr>
                <a:lnSpc>
                  <a:spcPct val="180000"/>
                </a:lnSpc>
                <a:spcBef>
                  <a:spcPct val="50000"/>
                </a:spcBef>
              </a:pPr>
              <a:r>
                <a:rPr lang="zh-CN" altLang="en-US" dirty="0">
                  <a:latin typeface="Times New Roman" panose="02020603050405020304" pitchFamily="18" charset="0"/>
                  <a:ea typeface="宋体" panose="02010600030101010101" pitchFamily="2" charset="-122"/>
                </a:rPr>
                <a:t>         最后</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将这四种线性相位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滤波器的特性示于表</a:t>
              </a:r>
              <a:r>
                <a:rPr lang="en-US" altLang="zh-CN" dirty="0">
                  <a:latin typeface="Times New Roman" panose="02020603050405020304" pitchFamily="18" charset="0"/>
                  <a:ea typeface="宋体" panose="02010600030101010101" pitchFamily="2" charset="-122"/>
                </a:rPr>
                <a:t>6-1</a:t>
              </a:r>
              <a:r>
                <a:rPr lang="zh-CN" altLang="en-US" dirty="0">
                  <a:latin typeface="Times New Roman" panose="02020603050405020304" pitchFamily="18" charset="0"/>
                  <a:ea typeface="宋体" panose="02010600030101010101" pitchFamily="2" charset="-122"/>
                </a:rPr>
                <a:t>中。 </a:t>
              </a:r>
              <a:endParaRPr lang="zh-CN" altLang="en-US" dirty="0">
                <a:latin typeface="Times New Roman" panose="02020603050405020304" pitchFamily="18" charset="0"/>
                <a:ea typeface="宋体" panose="02010600030101010101" pitchFamily="2" charset="-122"/>
              </a:endParaRPr>
            </a:p>
          </p:txBody>
        </p:sp>
        <p:graphicFrame>
          <p:nvGraphicFramePr>
            <p:cNvPr id="26627" name="对象 27652"/>
            <p:cNvGraphicFramePr/>
            <p:nvPr/>
          </p:nvGraphicFramePr>
          <p:xfrm>
            <a:off x="1479" y="432"/>
            <a:ext cx="1603" cy="589"/>
          </p:xfrm>
          <a:graphic>
            <a:graphicData uri="http://schemas.openxmlformats.org/presentationml/2006/ole">
              <mc:AlternateContent xmlns:mc="http://schemas.openxmlformats.org/markup-compatibility/2006">
                <mc:Choice xmlns:v="urn:schemas-microsoft-com:vml" Requires="v">
                  <p:oleObj spid="_x0000_s3142" name="" r:id="rId1" imgW="1244600" imgH="457200" progId="Equation.3">
                    <p:embed/>
                  </p:oleObj>
                </mc:Choice>
                <mc:Fallback>
                  <p:oleObj name="" r:id="rId1" imgW="1244600" imgH="457200" progId="Equation.3">
                    <p:embed/>
                    <p:pic>
                      <p:nvPicPr>
                        <p:cNvPr id="0" name="图片 3141"/>
                        <p:cNvPicPr/>
                        <p:nvPr/>
                      </p:nvPicPr>
                      <p:blipFill>
                        <a:blip r:embed="rId2"/>
                        <a:stretch>
                          <a:fillRect/>
                        </a:stretch>
                      </p:blipFill>
                      <p:spPr>
                        <a:xfrm>
                          <a:off x="1479" y="432"/>
                          <a:ext cx="1603" cy="589"/>
                        </a:xfrm>
                        <a:prstGeom prst="rect">
                          <a:avLst/>
                        </a:prstGeom>
                        <a:noFill/>
                        <a:ln w="38100">
                          <a:noFill/>
                          <a:miter/>
                        </a:ln>
                      </p:spPr>
                    </p:pic>
                  </p:oleObj>
                </mc:Fallback>
              </mc:AlternateContent>
            </a:graphicData>
          </a:graphic>
        </p:graphicFrame>
        <p:graphicFrame>
          <p:nvGraphicFramePr>
            <p:cNvPr id="26628" name="对象 27653"/>
            <p:cNvGraphicFramePr/>
            <p:nvPr/>
          </p:nvGraphicFramePr>
          <p:xfrm>
            <a:off x="3696" y="432"/>
            <a:ext cx="1194" cy="589"/>
          </p:xfrm>
          <a:graphic>
            <a:graphicData uri="http://schemas.openxmlformats.org/presentationml/2006/ole">
              <mc:AlternateContent xmlns:mc="http://schemas.openxmlformats.org/markup-compatibility/2006">
                <mc:Choice xmlns:v="urn:schemas-microsoft-com:vml" Requires="v">
                  <p:oleObj spid="_x0000_s3143" name="" r:id="rId3" imgW="927100" imgH="457200" progId="Equation.3">
                    <p:embed/>
                  </p:oleObj>
                </mc:Choice>
                <mc:Fallback>
                  <p:oleObj name="" r:id="rId3" imgW="927100" imgH="457200" progId="Equation.3">
                    <p:embed/>
                    <p:pic>
                      <p:nvPicPr>
                        <p:cNvPr id="0" name="图片 3142"/>
                        <p:cNvPicPr/>
                        <p:nvPr/>
                      </p:nvPicPr>
                      <p:blipFill>
                        <a:blip r:embed="rId4"/>
                        <a:stretch>
                          <a:fillRect/>
                        </a:stretch>
                      </p:blipFill>
                      <p:spPr>
                        <a:xfrm>
                          <a:off x="3696" y="432"/>
                          <a:ext cx="1194" cy="589"/>
                        </a:xfrm>
                        <a:prstGeom prst="rect">
                          <a:avLst/>
                        </a:prstGeom>
                        <a:noFill/>
                        <a:ln w="38100">
                          <a:noFill/>
                          <a:miter/>
                        </a:ln>
                      </p:spPr>
                    </p:pic>
                  </p:oleObj>
                </mc:Fallback>
              </mc:AlternateContent>
            </a:graphicData>
          </a:graphic>
        </p:graphicFrame>
      </p:grpSp>
      <p:sp>
        <p:nvSpPr>
          <p:cNvPr id="7" name="流程图: 顺序访问存储器 6"/>
          <p:cNvSpPr/>
          <p:nvPr/>
        </p:nvSpPr>
        <p:spPr>
          <a:xfrm flipH="1">
            <a:off x="6981825" y="3390900"/>
            <a:ext cx="1728788" cy="2303463"/>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高通</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rPr>
              <a:t>带通 </a:t>
            </a:r>
            <a:endParaRPr kumimoji="0" lang="zh-CN" altLang="en-US" sz="2400" b="1" i="0" u="none" strike="noStrike" kern="1200" cap="none" spc="0" normalizeH="0" baseline="0" noProof="1">
              <a:ln>
                <a:noFill/>
              </a:ln>
              <a:solidFill>
                <a:srgbClr val="FF0000"/>
              </a:solidFill>
              <a:effectLst/>
              <a:uLnTx/>
              <a:uFillTx/>
              <a:latin typeface="+mn-lt"/>
              <a:ea typeface="+mn-ea"/>
              <a:cs typeface="+mn-cs"/>
              <a:sym typeface="+mn-ea"/>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26627"/>
          <p:cNvSpPr txBox="1"/>
          <p:nvPr/>
        </p:nvSpPr>
        <p:spPr>
          <a:xfrm>
            <a:off x="2819400" y="457200"/>
            <a:ext cx="3822700"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表</a:t>
            </a:r>
            <a:r>
              <a:rPr lang="en-US" altLang="zh-CN" b="1" dirty="0">
                <a:latin typeface="Times New Roman" panose="02020603050405020304" pitchFamily="18" charset="0"/>
                <a:ea typeface="宋体" panose="02010600030101010101" pitchFamily="2" charset="-122"/>
              </a:rPr>
              <a:t>6-1 </a:t>
            </a:r>
            <a:r>
              <a:rPr lang="zh-CN" altLang="en-US" b="1" dirty="0">
                <a:latin typeface="Times New Roman" panose="02020603050405020304" pitchFamily="18" charset="0"/>
                <a:ea typeface="宋体" panose="02010600030101010101" pitchFamily="2" charset="-122"/>
              </a:rPr>
              <a:t>四种线性相位滤波器 </a:t>
            </a:r>
            <a:endParaRPr lang="zh-CN" altLang="en-US" b="1" dirty="0">
              <a:latin typeface="Times New Roman" panose="02020603050405020304" pitchFamily="18" charset="0"/>
              <a:ea typeface="宋体" panose="02010600030101010101" pitchFamily="2" charset="-122"/>
            </a:endParaRPr>
          </a:p>
        </p:txBody>
      </p:sp>
      <p:graphicFrame>
        <p:nvGraphicFramePr>
          <p:cNvPr id="27650" name="对象 2"/>
          <p:cNvGraphicFramePr/>
          <p:nvPr/>
        </p:nvGraphicFramePr>
        <p:xfrm>
          <a:off x="9525" y="812800"/>
          <a:ext cx="9123363" cy="6043613"/>
        </p:xfrm>
        <a:graphic>
          <a:graphicData uri="http://schemas.openxmlformats.org/presentationml/2006/ole">
            <mc:AlternateContent xmlns:mc="http://schemas.openxmlformats.org/markup-compatibility/2006">
              <mc:Choice xmlns:v="urn:schemas-microsoft-com:vml" Requires="v">
                <p:oleObj spid="_x0000_s3138" name="" r:id="rId1" imgW="9115425" imgH="6038850" progId="Paint.Picture">
                  <p:embed/>
                </p:oleObj>
              </mc:Choice>
              <mc:Fallback>
                <p:oleObj name="" r:id="rId1" imgW="9115425" imgH="6038850" progId="Paint.Picture">
                  <p:embed/>
                  <p:pic>
                    <p:nvPicPr>
                      <p:cNvPr id="0" name="图片 3137"/>
                      <p:cNvPicPr/>
                      <p:nvPr/>
                    </p:nvPicPr>
                    <p:blipFill>
                      <a:blip r:embed="rId2"/>
                      <a:stretch>
                        <a:fillRect/>
                      </a:stretch>
                    </p:blipFill>
                    <p:spPr>
                      <a:xfrm>
                        <a:off x="9525" y="812800"/>
                        <a:ext cx="9123363" cy="6043613"/>
                      </a:xfrm>
                      <a:prstGeom prst="rect">
                        <a:avLst/>
                      </a:prstGeom>
                      <a:noFill/>
                      <a:ln w="38100">
                        <a:noFill/>
                        <a:miter/>
                      </a:ln>
                    </p:spPr>
                  </p:pic>
                </p:oleObj>
              </mc:Fallback>
            </mc:AlternateContent>
          </a:graphicData>
        </a:graphic>
      </p:graphicFrame>
      <p:sp>
        <p:nvSpPr>
          <p:cNvPr id="2" name="文本框 1"/>
          <p:cNvSpPr txBox="1"/>
          <p:nvPr/>
        </p:nvSpPr>
        <p:spPr>
          <a:xfrm>
            <a:off x="7315200" y="2073275"/>
            <a:ext cx="1817688" cy="460375"/>
          </a:xfrm>
          <a:prstGeom prst="rect">
            <a:avLst/>
          </a:prstGeom>
          <a:solidFill>
            <a:schemeClr val="accent1"/>
          </a:solidFill>
          <a:ln w="9525">
            <a:noFill/>
          </a:ln>
        </p:spPr>
        <p:txBody>
          <a:bodyPr anchor="t">
            <a:spAutoFit/>
          </a:bodyPr>
          <a:p>
            <a:r>
              <a:rPr lang="zh-CN" altLang="en-US" dirty="0">
                <a:latin typeface="Times New Roman" panose="02020603050405020304" pitchFamily="18" charset="0"/>
                <a:ea typeface="宋体" panose="02010600030101010101" pitchFamily="2" charset="-122"/>
              </a:rPr>
              <a:t>任意滤波器</a:t>
            </a:r>
            <a:endParaRPr lang="zh-CN" altLang="en-US" dirty="0">
              <a:latin typeface="Times New Roman" panose="02020603050405020304" pitchFamily="18" charset="0"/>
              <a:ea typeface="宋体" panose="02010600030101010101" pitchFamily="2" charset="-122"/>
            </a:endParaRPr>
          </a:p>
        </p:txBody>
      </p:sp>
      <p:sp>
        <p:nvSpPr>
          <p:cNvPr id="3" name="文本框 2"/>
          <p:cNvSpPr txBox="1"/>
          <p:nvPr/>
        </p:nvSpPr>
        <p:spPr>
          <a:xfrm>
            <a:off x="7315200" y="6096000"/>
            <a:ext cx="1817688" cy="460375"/>
          </a:xfrm>
          <a:prstGeom prst="rect">
            <a:avLst/>
          </a:prstGeom>
          <a:solidFill>
            <a:schemeClr val="accent1"/>
          </a:solidFill>
          <a:ln w="9525">
            <a:noFill/>
          </a:ln>
        </p:spPr>
        <p:txBody>
          <a:bodyPr anchor="t">
            <a:spAutoFit/>
          </a:bodyPr>
          <a:p>
            <a:r>
              <a:rPr lang="zh-CN" altLang="en-US" dirty="0">
                <a:latin typeface="Times New Roman" panose="02020603050405020304" pitchFamily="18" charset="0"/>
                <a:ea typeface="宋体" panose="02010600030101010101" pitchFamily="2" charset="-122"/>
              </a:rPr>
              <a:t>低通、带通</a:t>
            </a:r>
            <a:endParaRPr lang="zh-CN" altLang="en-US" dirty="0">
              <a:latin typeface="Times New Roman" panose="02020603050405020304" pitchFamily="18" charset="0"/>
              <a:ea typeface="宋体" panose="02010600030101010101" pitchFamily="2" charset="-122"/>
            </a:endParaRPr>
          </a:p>
        </p:txBody>
      </p:sp>
      <p:sp>
        <p:nvSpPr>
          <p:cNvPr id="4" name="椭圆 3"/>
          <p:cNvSpPr/>
          <p:nvPr/>
        </p:nvSpPr>
        <p:spPr>
          <a:xfrm>
            <a:off x="4668838" y="2152650"/>
            <a:ext cx="123825" cy="127000"/>
          </a:xfrm>
          <a:prstGeom prst="ellipse">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5" name="椭圆 4"/>
          <p:cNvSpPr/>
          <p:nvPr/>
        </p:nvSpPr>
        <p:spPr>
          <a:xfrm>
            <a:off x="4668838" y="4886325"/>
            <a:ext cx="123825" cy="127000"/>
          </a:xfrm>
          <a:prstGeom prst="ellipse">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ppt_x</p:attrName>
                                        </p:attrNameLst>
                                      </p:cBhvr>
                                      <p:tavLst>
                                        <p:tav tm="0">
                                          <p:val>
                                            <p:strVal val="#ppt_x"/>
                                          </p:val>
                                        </p:tav>
                                        <p:tav tm="100000">
                                          <p:val>
                                            <p:strVal val="#ppt_x"/>
                                          </p:val>
                                        </p:tav>
                                      </p:tavLst>
                                    </p:anim>
                                    <p:anim calcmode="lin" valueType="num">
                                      <p:cBhvr>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bldLvl="0" animBg="1"/>
      <p:bldP spid="3" grpId="1" animBg="1"/>
      <p:bldP spid="4" grpId="0" bldLvl="0" animBg="1"/>
      <p:bldP spid="4" grpId="1" animBg="1"/>
      <p:bldP spid="5" grpId="0" bldLvl="0" animBg="1"/>
      <p:bldP spid="5"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文本框 29699"/>
          <p:cNvSpPr txBox="1"/>
          <p:nvPr/>
        </p:nvSpPr>
        <p:spPr>
          <a:xfrm>
            <a:off x="2819400" y="457200"/>
            <a:ext cx="3822700"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表</a:t>
            </a:r>
            <a:r>
              <a:rPr lang="en-US" altLang="zh-CN" b="1" dirty="0">
                <a:latin typeface="Times New Roman" panose="02020603050405020304" pitchFamily="18" charset="0"/>
                <a:ea typeface="宋体" panose="02010600030101010101" pitchFamily="2" charset="-122"/>
              </a:rPr>
              <a:t>6-1 </a:t>
            </a:r>
            <a:r>
              <a:rPr lang="zh-CN" altLang="en-US" b="1" dirty="0">
                <a:latin typeface="Times New Roman" panose="02020603050405020304" pitchFamily="18" charset="0"/>
                <a:ea typeface="宋体" panose="02010600030101010101" pitchFamily="2" charset="-122"/>
              </a:rPr>
              <a:t>四种线性相位滤波器 </a:t>
            </a:r>
            <a:endParaRPr lang="zh-CN" altLang="en-US" b="1" dirty="0">
              <a:latin typeface="Times New Roman" panose="02020603050405020304" pitchFamily="18" charset="0"/>
              <a:ea typeface="宋体" panose="02010600030101010101" pitchFamily="2" charset="-122"/>
            </a:endParaRPr>
          </a:p>
        </p:txBody>
      </p:sp>
      <p:graphicFrame>
        <p:nvGraphicFramePr>
          <p:cNvPr id="28674" name="对象 1">
            <a:hlinkClick r:id="" action="ppaction://ole?verb="/>
          </p:cNvPr>
          <p:cNvGraphicFramePr>
            <a:graphicFrameLocks noChangeAspect="1"/>
          </p:cNvGraphicFramePr>
          <p:nvPr/>
        </p:nvGraphicFramePr>
        <p:xfrm>
          <a:off x="5118100" y="831850"/>
          <a:ext cx="2270125" cy="368300"/>
        </p:xfrm>
        <a:graphic>
          <a:graphicData uri="http://schemas.openxmlformats.org/presentationml/2006/ole">
            <mc:AlternateContent xmlns:mc="http://schemas.openxmlformats.org/markup-compatibility/2006">
              <mc:Choice xmlns:v="urn:schemas-microsoft-com:vml" Requires="v">
                <p:oleObj spid="_x0000_s3139" name="" r:id="rId1" imgW="1257300" imgH="203200" progId="Equation.KSEE3">
                  <p:embed/>
                </p:oleObj>
              </mc:Choice>
              <mc:Fallback>
                <p:oleObj name="" r:id="rId1" imgW="1257300" imgH="203200" progId="Equation.KSEE3">
                  <p:embed/>
                  <p:pic>
                    <p:nvPicPr>
                      <p:cNvPr id="0" name="图片 3138"/>
                      <p:cNvPicPr/>
                      <p:nvPr/>
                    </p:nvPicPr>
                    <p:blipFill>
                      <a:blip r:embed="rId2"/>
                      <a:stretch>
                        <a:fillRect/>
                      </a:stretch>
                    </p:blipFill>
                    <p:spPr>
                      <a:xfrm>
                        <a:off x="5118100" y="831850"/>
                        <a:ext cx="2270125" cy="368300"/>
                      </a:xfrm>
                      <a:prstGeom prst="rect">
                        <a:avLst/>
                      </a:prstGeom>
                      <a:noFill/>
                      <a:ln w="38100">
                        <a:noFill/>
                        <a:miter/>
                      </a:ln>
                    </p:spPr>
                  </p:pic>
                </p:oleObj>
              </mc:Fallback>
            </mc:AlternateContent>
          </a:graphicData>
        </a:graphic>
      </p:graphicFrame>
      <p:graphicFrame>
        <p:nvGraphicFramePr>
          <p:cNvPr id="28675" name="对象 4"/>
          <p:cNvGraphicFramePr/>
          <p:nvPr/>
        </p:nvGraphicFramePr>
        <p:xfrm>
          <a:off x="228600" y="1200150"/>
          <a:ext cx="8674100" cy="5581650"/>
        </p:xfrm>
        <a:graphic>
          <a:graphicData uri="http://schemas.openxmlformats.org/presentationml/2006/ole">
            <mc:AlternateContent xmlns:mc="http://schemas.openxmlformats.org/markup-compatibility/2006">
              <mc:Choice xmlns:v="urn:schemas-microsoft-com:vml" Requires="v">
                <p:oleObj spid="_x0000_s3148" name="" r:id="rId3" imgW="7696200" imgH="4943475" progId="Paint.Picture">
                  <p:embed/>
                </p:oleObj>
              </mc:Choice>
              <mc:Fallback>
                <p:oleObj name="" r:id="rId3" imgW="7696200" imgH="4943475" progId="Paint.Picture">
                  <p:embed/>
                  <p:pic>
                    <p:nvPicPr>
                      <p:cNvPr id="0" name="图片 3147"/>
                      <p:cNvPicPr/>
                      <p:nvPr/>
                    </p:nvPicPr>
                    <p:blipFill>
                      <a:blip r:embed="rId4"/>
                      <a:stretch>
                        <a:fillRect/>
                      </a:stretch>
                    </p:blipFill>
                    <p:spPr>
                      <a:xfrm>
                        <a:off x="228600" y="1200150"/>
                        <a:ext cx="8674100" cy="5581650"/>
                      </a:xfrm>
                      <a:prstGeom prst="rect">
                        <a:avLst/>
                      </a:prstGeom>
                      <a:noFill/>
                      <a:ln w="38100">
                        <a:noFill/>
                        <a:miter/>
                      </a:ln>
                    </p:spPr>
                  </p:pic>
                </p:oleObj>
              </mc:Fallback>
            </mc:AlternateContent>
          </a:graphicData>
        </a:graphic>
      </p:graphicFrame>
      <p:sp>
        <p:nvSpPr>
          <p:cNvPr id="2" name="文本框 1"/>
          <p:cNvSpPr txBox="1"/>
          <p:nvPr/>
        </p:nvSpPr>
        <p:spPr>
          <a:xfrm>
            <a:off x="8247063" y="1830388"/>
            <a:ext cx="898525" cy="460375"/>
          </a:xfrm>
          <a:prstGeom prst="rect">
            <a:avLst/>
          </a:prstGeom>
          <a:solidFill>
            <a:schemeClr val="accent1"/>
          </a:solidFill>
          <a:ln w="9525">
            <a:noFill/>
          </a:ln>
        </p:spPr>
        <p:txBody>
          <a:bodyPr anchor="t">
            <a:spAutoFit/>
          </a:bodyPr>
          <a:p>
            <a:r>
              <a:rPr lang="zh-CN" altLang="en-US" dirty="0">
                <a:latin typeface="Times New Roman" panose="02020603050405020304" pitchFamily="18" charset="0"/>
                <a:ea typeface="宋体" panose="02010600030101010101" pitchFamily="2" charset="-122"/>
              </a:rPr>
              <a:t>帯通</a:t>
            </a:r>
            <a:endParaRPr lang="zh-CN" altLang="en-US" dirty="0">
              <a:latin typeface="Times New Roman" panose="02020603050405020304" pitchFamily="18" charset="0"/>
              <a:ea typeface="宋体" panose="02010600030101010101" pitchFamily="2" charset="-122"/>
            </a:endParaRPr>
          </a:p>
        </p:txBody>
      </p:sp>
      <p:sp>
        <p:nvSpPr>
          <p:cNvPr id="3" name="文本框 2"/>
          <p:cNvSpPr txBox="1"/>
          <p:nvPr/>
        </p:nvSpPr>
        <p:spPr>
          <a:xfrm>
            <a:off x="7327900" y="6178550"/>
            <a:ext cx="1817688" cy="460375"/>
          </a:xfrm>
          <a:prstGeom prst="rect">
            <a:avLst/>
          </a:prstGeom>
          <a:solidFill>
            <a:schemeClr val="accent1"/>
          </a:solidFill>
          <a:ln w="9525">
            <a:noFill/>
          </a:ln>
        </p:spPr>
        <p:txBody>
          <a:bodyPr anchor="t">
            <a:spAutoFit/>
          </a:bodyPr>
          <a:p>
            <a:r>
              <a:rPr lang="zh-CN" altLang="en-US" dirty="0">
                <a:latin typeface="Times New Roman" panose="02020603050405020304" pitchFamily="18" charset="0"/>
                <a:ea typeface="宋体" panose="02010600030101010101" pitchFamily="2" charset="-122"/>
              </a:rPr>
              <a:t>高通、帯通</a:t>
            </a:r>
            <a:endParaRPr lang="zh-CN" altLang="en-US" dirty="0">
              <a:latin typeface="Times New Roman" panose="02020603050405020304" pitchFamily="18" charset="0"/>
              <a:ea typeface="宋体" panose="02010600030101010101" pitchFamily="2" charset="-122"/>
            </a:endParaRPr>
          </a:p>
        </p:txBody>
      </p:sp>
      <p:sp>
        <p:nvSpPr>
          <p:cNvPr id="4" name="椭圆 3"/>
          <p:cNvSpPr/>
          <p:nvPr/>
        </p:nvSpPr>
        <p:spPr>
          <a:xfrm>
            <a:off x="4510088" y="2165350"/>
            <a:ext cx="123825" cy="125413"/>
          </a:xfrm>
          <a:prstGeom prst="ellipse">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5" name="椭圆 4"/>
          <p:cNvSpPr/>
          <p:nvPr/>
        </p:nvSpPr>
        <p:spPr>
          <a:xfrm>
            <a:off x="4503738" y="4927600"/>
            <a:ext cx="123825" cy="125413"/>
          </a:xfrm>
          <a:prstGeom prst="ellipse">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100000">
                                          <p:val>
                                            <p:strVal val="#ppt_x"/>
                                          </p:val>
                                        </p:tav>
                                      </p:tavLst>
                                    </p:anim>
                                    <p:anim calcmode="lin" valueType="num">
                                      <p:cBhvr>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ppt_x</p:attrName>
                                        </p:attrNameLst>
                                      </p:cBhvr>
                                      <p:tavLst>
                                        <p:tav tm="0">
                                          <p:val>
                                            <p:strVal val="#ppt_x"/>
                                          </p:val>
                                        </p:tav>
                                        <p:tav tm="100000">
                                          <p:val>
                                            <p:strVal val="#ppt_x"/>
                                          </p:val>
                                        </p:tav>
                                      </p:tavLst>
                                    </p:anim>
                                    <p:anim calcmode="lin" valueType="num">
                                      <p:cBhvr>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bldLvl="0" animBg="1"/>
      <p:bldP spid="3" grpId="1" animBg="1"/>
      <p:bldP spid="4" grpId="0" bldLvl="0" animBg="1"/>
      <p:bldP spid="4" grpId="1" animBg="1"/>
      <p:bldP spid="5" grpId="0" bldLvl="0" animBg="1"/>
      <p:bldP spid="5"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698750" y="2420938"/>
            <a:ext cx="2736850" cy="936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9698" name="文本框 28675"/>
          <p:cNvSpPr txBox="1"/>
          <p:nvPr/>
        </p:nvSpPr>
        <p:spPr>
          <a:xfrm>
            <a:off x="228600" y="533400"/>
            <a:ext cx="8763000" cy="5630863"/>
          </a:xfrm>
          <a:prstGeom prst="rect">
            <a:avLst/>
          </a:prstGeom>
          <a:noFill/>
          <a:ln w="9525">
            <a:noFill/>
          </a:ln>
        </p:spPr>
        <p:txBody>
          <a:bodyPr anchor="t">
            <a:spAutoFit/>
          </a:bodyPr>
          <a:p>
            <a:pPr algn="just">
              <a:lnSpc>
                <a:spcPct val="150000"/>
              </a:lnSpc>
              <a:spcBef>
                <a:spcPct val="50000"/>
              </a:spcBef>
            </a:pPr>
            <a:r>
              <a:rPr lang="en-US" altLang="zh-CN" b="1" dirty="0">
                <a:latin typeface="Times New Roman" panose="02020603050405020304" pitchFamily="18" charset="0"/>
                <a:ea typeface="宋体" panose="02010600030101010101" pitchFamily="2" charset="-122"/>
              </a:rPr>
              <a:t>6.1.3 </a:t>
            </a:r>
            <a:r>
              <a:rPr lang="zh-CN" altLang="en-US" b="1" dirty="0">
                <a:latin typeface="Times New Roman" panose="02020603050405020304" pitchFamily="18" charset="0"/>
                <a:ea typeface="宋体" panose="02010600030101010101" pitchFamily="2" charset="-122"/>
              </a:rPr>
              <a:t>线性相位</a:t>
            </a:r>
            <a:r>
              <a:rPr lang="en-US" altLang="zh-CN" b="1" dirty="0">
                <a:latin typeface="Times New Roman" panose="02020603050405020304" pitchFamily="18" charset="0"/>
                <a:ea typeface="宋体" panose="02010600030101010101" pitchFamily="2" charset="-122"/>
              </a:rPr>
              <a:t>FIR</a:t>
            </a:r>
            <a:r>
              <a:rPr lang="zh-CN" altLang="en-US" b="1" dirty="0">
                <a:latin typeface="Times New Roman" panose="02020603050405020304" pitchFamily="18" charset="0"/>
                <a:ea typeface="宋体" panose="02010600030101010101" pitchFamily="2" charset="-122"/>
              </a:rPr>
              <a:t>滤波器的</a:t>
            </a:r>
            <a:r>
              <a:rPr lang="zh-CN" altLang="en-US" b="1" u="sng" dirty="0">
                <a:solidFill>
                  <a:srgbClr val="FF0000"/>
                </a:solidFill>
                <a:latin typeface="Times New Roman" panose="02020603050405020304" pitchFamily="18" charset="0"/>
                <a:ea typeface="宋体" panose="02010600030101010101" pitchFamily="2" charset="-122"/>
              </a:rPr>
              <a:t>零点位置</a:t>
            </a:r>
            <a:endParaRPr lang="zh-CN" altLang="en-US" b="1"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由式（</a:t>
            </a:r>
            <a:r>
              <a:rPr lang="en-US" altLang="zh-CN" dirty="0">
                <a:latin typeface="Times New Roman" panose="02020603050405020304" pitchFamily="18" charset="0"/>
                <a:ea typeface="宋体" panose="02010600030101010101" pitchFamily="2" charset="-122"/>
              </a:rPr>
              <a:t>6-2</a:t>
            </a:r>
            <a:r>
              <a:rPr lang="zh-CN" altLang="en-US" dirty="0">
                <a:latin typeface="Times New Roman" panose="02020603050405020304" pitchFamily="18" charset="0"/>
                <a:ea typeface="宋体" panose="02010600030101010101" pitchFamily="2" charset="-122"/>
              </a:rPr>
              <a:t>）与式（</a:t>
            </a:r>
            <a:r>
              <a:rPr lang="en-US" altLang="zh-CN" dirty="0">
                <a:latin typeface="Times New Roman" panose="02020603050405020304" pitchFamily="18" charset="0"/>
                <a:ea typeface="宋体" panose="02010600030101010101" pitchFamily="2" charset="-122"/>
              </a:rPr>
              <a:t>6-10</a:t>
            </a:r>
            <a:r>
              <a:rPr lang="zh-CN" altLang="en-US" dirty="0">
                <a:latin typeface="Times New Roman" panose="02020603050405020304" pitchFamily="18" charset="0"/>
                <a:ea typeface="宋体" panose="02010600030101010101" pitchFamily="2" charset="-122"/>
              </a:rPr>
              <a:t>）可以看到， 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滤波器的系统函数有以下特点： </a:t>
            </a:r>
            <a:endParaRPr lang="zh-CN" altLang="en-US" dirty="0">
              <a:latin typeface="Times New Roman" panose="02020603050405020304" pitchFamily="18" charset="0"/>
              <a:ea typeface="宋体" panose="02010600030101010101" pitchFamily="2" charset="-122"/>
            </a:endParaRPr>
          </a:p>
          <a:p>
            <a:pPr algn="ctr">
              <a:lnSpc>
                <a:spcPct val="150000"/>
              </a:lnSpc>
              <a:spcBef>
                <a:spcPct val="50000"/>
              </a:spcBef>
            </a:pPr>
            <a:r>
              <a:rPr lang="en-US" altLang="zh-CN" i="1" dirty="0">
                <a:latin typeface="Times New Roman" panose="02020603050405020304" pitchFamily="18" charset="0"/>
                <a:ea typeface="宋体" panose="02010600030101010101" pitchFamily="2" charset="-122"/>
              </a:rPr>
              <a:t>                                 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baseline="30000" dirty="0">
                <a:latin typeface="Times New Roman" panose="02020603050405020304" pitchFamily="18" charset="0"/>
                <a:ea typeface="宋体" panose="02010600030101010101" pitchFamily="2" charset="-122"/>
              </a:rPr>
              <a:t>-(</a:t>
            </a:r>
            <a:r>
              <a:rPr lang="en-US" altLang="zh-CN" i="1" baseline="30000" dirty="0">
                <a:latin typeface="Times New Roman" panose="02020603050405020304" pitchFamily="18" charset="0"/>
                <a:ea typeface="宋体" panose="02010600030101010101" pitchFamily="2" charset="-122"/>
              </a:rPr>
              <a:t>N</a:t>
            </a:r>
            <a:r>
              <a:rPr lang="en-US" altLang="zh-CN" baseline="30000"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baseline="30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6-23</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因此，若</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是</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的零点，即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，则它的倒数</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en-US" altLang="zh-CN" baseline="30000"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也一定是</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的零点，因为</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en-US" altLang="zh-CN" baseline="30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en-US" altLang="zh-CN" i="1" dirty="0">
                <a:latin typeface="Times New Roman" panose="02020603050405020304" pitchFamily="18" charset="0"/>
                <a:ea typeface="宋体" panose="02010600030101010101" pitchFamily="2" charset="-122"/>
              </a:rPr>
              <a:t> </a:t>
            </a:r>
            <a:r>
              <a:rPr lang="en-US" altLang="zh-CN" baseline="30000" dirty="0">
                <a:latin typeface="Times New Roman" panose="02020603050405020304" pitchFamily="18" charset="0"/>
                <a:ea typeface="宋体" panose="02010600030101010101" pitchFamily="2" charset="-122"/>
              </a:rPr>
              <a:t>(</a:t>
            </a:r>
            <a:r>
              <a:rPr lang="en-US" altLang="zh-CN" i="1" baseline="30000" dirty="0">
                <a:latin typeface="Times New Roman" panose="02020603050405020304" pitchFamily="18" charset="0"/>
                <a:ea typeface="宋体" panose="02010600030101010101" pitchFamily="2" charset="-122"/>
              </a:rPr>
              <a:t>N</a:t>
            </a:r>
            <a:r>
              <a:rPr lang="en-US" altLang="zh-CN" baseline="30000" dirty="0">
                <a:latin typeface="Times New Roman" panose="02020603050405020304" pitchFamily="18" charset="0"/>
                <a:ea typeface="宋体" panose="02010600030101010101" pitchFamily="2" charset="-122"/>
              </a:rPr>
              <a:t>-1)</a:t>
            </a:r>
            <a:r>
              <a:rPr lang="en-US" altLang="zh-CN" i="1" baseline="-25000"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而且当</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是实数时，</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的零点必成共轭对出现，所以</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及</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i="1" baseline="30000" dirty="0">
                <a:latin typeface="Times New Roman" panose="02020603050405020304" pitchFamily="18" charset="0"/>
                <a:ea typeface="宋体" panose="02010600030101010101" pitchFamily="2" charset="-122"/>
              </a:rPr>
              <a:t>*</a:t>
            </a:r>
            <a:r>
              <a:rPr lang="en-US" altLang="zh-CN" i="1" baseline="-25000"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也一定是</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的零点，因而</a:t>
            </a:r>
            <a:r>
              <a:rPr lang="zh-CN" altLang="en-US" b="1" dirty="0">
                <a:solidFill>
                  <a:srgbClr val="FF0000"/>
                </a:solidFill>
                <a:latin typeface="Times New Roman" panose="02020603050405020304" pitchFamily="18" charset="0"/>
                <a:ea typeface="宋体" panose="02010600030101010101" pitchFamily="2" charset="-122"/>
              </a:rPr>
              <a:t>线性相位</a:t>
            </a:r>
            <a:r>
              <a:rPr lang="en-US" altLang="zh-CN" b="1" dirty="0">
                <a:solidFill>
                  <a:srgbClr val="FF0000"/>
                </a:solidFill>
                <a:latin typeface="Times New Roman" panose="02020603050405020304" pitchFamily="18" charset="0"/>
                <a:ea typeface="宋体" panose="02010600030101010101" pitchFamily="2" charset="-122"/>
              </a:rPr>
              <a:t>FIR</a:t>
            </a:r>
            <a:r>
              <a:rPr lang="zh-CN" altLang="en-US" b="1" dirty="0">
                <a:solidFill>
                  <a:srgbClr val="FF0000"/>
                </a:solidFill>
                <a:latin typeface="Times New Roman" panose="02020603050405020304" pitchFamily="18" charset="0"/>
                <a:ea typeface="宋体" panose="02010600030101010101" pitchFamily="2" charset="-122"/>
              </a:rPr>
              <a:t>滤波器的零点必是互为倒数的共轭对</a:t>
            </a:r>
            <a:r>
              <a:rPr lang="zh-CN" altLang="en-US" dirty="0">
                <a:latin typeface="Times New Roman" panose="02020603050405020304" pitchFamily="18" charset="0"/>
                <a:ea typeface="宋体" panose="02010600030101010101" pitchFamily="2" charset="-122"/>
              </a:rPr>
              <a:t>。这种互为倒数的共轭对有四种可能性：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框 31747"/>
          <p:cNvSpPr txBox="1"/>
          <p:nvPr/>
        </p:nvSpPr>
        <p:spPr>
          <a:xfrm>
            <a:off x="228600" y="609600"/>
            <a:ext cx="8763000" cy="5313363"/>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(1) </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既不在实轴上，也不在单位圆上，则零点是</a:t>
            </a:r>
            <a:r>
              <a:rPr lang="zh-CN" altLang="en-US" b="1" u="sng" dirty="0">
                <a:solidFill>
                  <a:srgbClr val="FF0000"/>
                </a:solidFill>
                <a:latin typeface="Times New Roman" panose="02020603050405020304" pitchFamily="18" charset="0"/>
                <a:ea typeface="宋体" panose="02010600030101010101" pitchFamily="2" charset="-122"/>
              </a:rPr>
              <a:t>互为倒数的两组共轭对</a:t>
            </a:r>
            <a:r>
              <a:rPr lang="zh-CN" altLang="en-US" dirty="0">
                <a:latin typeface="Times New Roman" panose="02020603050405020304" pitchFamily="18" charset="0"/>
                <a:ea typeface="宋体" panose="02010600030101010101" pitchFamily="2" charset="-122"/>
              </a:rPr>
              <a:t>，如图</a:t>
            </a:r>
            <a:r>
              <a:rPr lang="en-US" altLang="zh-CN" dirty="0">
                <a:latin typeface="Times New Roman" panose="02020603050405020304" pitchFamily="18" charset="0"/>
                <a:ea typeface="宋体" panose="02010600030101010101" pitchFamily="2" charset="-122"/>
              </a:rPr>
              <a:t>6-3(</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rPr>
              <a:t> z</a:t>
            </a:r>
            <a:r>
              <a:rPr lang="en-US" altLang="zh-CN" i="1" baseline="-25000" dirty="0">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不在实轴上，但是在单位圆上，则共轭对的倒数是它们本身，故此时</a:t>
            </a:r>
            <a:r>
              <a:rPr lang="zh-CN" altLang="en-US" b="1" u="sng" dirty="0">
                <a:solidFill>
                  <a:srgbClr val="FF0000"/>
                </a:solidFill>
                <a:latin typeface="Times New Roman" panose="02020603050405020304" pitchFamily="18" charset="0"/>
                <a:ea typeface="宋体" panose="02010600030101010101" pitchFamily="2" charset="-122"/>
              </a:rPr>
              <a:t>零点是一组共轭对</a:t>
            </a:r>
            <a:r>
              <a:rPr lang="zh-CN" altLang="en-US" dirty="0">
                <a:latin typeface="Times New Roman" panose="02020603050405020304" pitchFamily="18" charset="0"/>
                <a:ea typeface="宋体" panose="02010600030101010101" pitchFamily="2" charset="-122"/>
              </a:rPr>
              <a:t>，如图</a:t>
            </a:r>
            <a:r>
              <a:rPr lang="en-US" altLang="zh-CN" dirty="0">
                <a:latin typeface="Times New Roman" panose="02020603050405020304" pitchFamily="18" charset="0"/>
                <a:ea typeface="宋体" panose="02010600030101010101" pitchFamily="2" charset="-122"/>
              </a:rPr>
              <a:t>6-3(</a:t>
            </a:r>
            <a:r>
              <a:rPr lang="en-US" altLang="zh-CN" i="1" dirty="0">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 </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在实轴上但不在单位圆上，只有</a:t>
            </a:r>
            <a:r>
              <a:rPr lang="zh-CN" altLang="en-US" b="1" u="sng" dirty="0">
                <a:solidFill>
                  <a:srgbClr val="FF0000"/>
                </a:solidFill>
                <a:latin typeface="Times New Roman" panose="02020603050405020304" pitchFamily="18" charset="0"/>
                <a:ea typeface="宋体" panose="02010600030101010101" pitchFamily="2" charset="-122"/>
              </a:rPr>
              <a:t>倒数部分</a:t>
            </a:r>
            <a:r>
              <a:rPr lang="zh-CN" altLang="en-US" dirty="0">
                <a:latin typeface="Times New Roman" panose="02020603050405020304" pitchFamily="18" charset="0"/>
                <a:ea typeface="宋体" panose="02010600030101010101" pitchFamily="2" charset="-122"/>
              </a:rPr>
              <a:t>，无复共轭部分。故零点对如图</a:t>
            </a:r>
            <a:r>
              <a:rPr lang="en-US" altLang="zh-CN" dirty="0">
                <a:latin typeface="Times New Roman" panose="02020603050405020304" pitchFamily="18" charset="0"/>
                <a:ea typeface="宋体" panose="02010600030101010101" pitchFamily="2" charset="-122"/>
              </a:rPr>
              <a:t>6-3(</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(4) </a:t>
            </a:r>
            <a:r>
              <a:rPr lang="en-US" altLang="zh-CN" i="1" dirty="0">
                <a:latin typeface="Times New Roman" panose="02020603050405020304" pitchFamily="18" charset="0"/>
                <a:ea typeface="宋体" panose="02010600030101010101" pitchFamily="2" charset="-122"/>
              </a:rPr>
              <a:t>z</a:t>
            </a:r>
            <a:r>
              <a:rPr lang="en-US" altLang="zh-CN" i="1" baseline="-25000" dirty="0">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既在实轴上又在单位圆上，此时</a:t>
            </a:r>
            <a:r>
              <a:rPr lang="zh-CN" altLang="en-US" b="1" u="sng" dirty="0">
                <a:solidFill>
                  <a:srgbClr val="FF0000"/>
                </a:solidFill>
                <a:latin typeface="Times New Roman" panose="02020603050405020304" pitchFamily="18" charset="0"/>
                <a:ea typeface="宋体" panose="02010600030101010101" pitchFamily="2" charset="-122"/>
              </a:rPr>
              <a:t>只有一个零点</a:t>
            </a:r>
            <a:r>
              <a:rPr lang="zh-CN" altLang="en-US" dirty="0">
                <a:latin typeface="Times New Roman" panose="02020603050405020304" pitchFamily="18" charset="0"/>
                <a:ea typeface="宋体" panose="02010600030101010101" pitchFamily="2" charset="-122"/>
              </a:rPr>
              <a:t>，有两种可能， 或位于</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或位于</a:t>
            </a:r>
            <a:r>
              <a:rPr lang="en-US" altLang="zh-CN" dirty="0">
                <a:latin typeface="Times New Roman" panose="02020603050405020304" pitchFamily="18" charset="0"/>
                <a:ea typeface="宋体" panose="02010600030101010101" pitchFamily="2" charset="-122"/>
              </a:rPr>
              <a:t>z=-1</a:t>
            </a:r>
            <a:r>
              <a:rPr lang="zh-CN" altLang="en-US" dirty="0">
                <a:latin typeface="Times New Roman" panose="02020603050405020304" pitchFamily="18" charset="0"/>
                <a:ea typeface="宋体" panose="02010600030101010101" pitchFamily="2" charset="-122"/>
              </a:rPr>
              <a:t>，如图</a:t>
            </a:r>
            <a:r>
              <a:rPr lang="en-US" altLang="zh-CN" dirty="0">
                <a:latin typeface="Times New Roman" panose="02020603050405020304" pitchFamily="18" charset="0"/>
                <a:ea typeface="宋体" panose="02010600030101010101" pitchFamily="2" charset="-122"/>
              </a:rPr>
              <a:t>6-3(</a:t>
            </a:r>
            <a:r>
              <a:rPr lang="en-US" altLang="zh-CN" i="1"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e</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文本框 30723"/>
          <p:cNvSpPr txBox="1"/>
          <p:nvPr/>
        </p:nvSpPr>
        <p:spPr>
          <a:xfrm>
            <a:off x="1835150" y="5995988"/>
            <a:ext cx="5786438"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图 </a:t>
            </a:r>
            <a:r>
              <a:rPr lang="en-US" altLang="zh-CN" b="1" dirty="0">
                <a:latin typeface="Times New Roman" panose="02020603050405020304" pitchFamily="18" charset="0"/>
                <a:ea typeface="宋体" panose="02010600030101010101" pitchFamily="2" charset="-122"/>
              </a:rPr>
              <a:t>6-3   </a:t>
            </a:r>
            <a:r>
              <a:rPr lang="zh-CN" altLang="en-US" b="1" dirty="0">
                <a:latin typeface="Times New Roman" panose="02020603050405020304" pitchFamily="18" charset="0"/>
                <a:ea typeface="宋体" panose="02010600030101010101" pitchFamily="2" charset="-122"/>
              </a:rPr>
              <a:t>线性相位</a:t>
            </a:r>
            <a:r>
              <a:rPr lang="en-US" altLang="zh-CN" b="1" dirty="0">
                <a:latin typeface="Times New Roman" panose="02020603050405020304" pitchFamily="18" charset="0"/>
                <a:ea typeface="宋体" panose="02010600030101010101" pitchFamily="2" charset="-122"/>
              </a:rPr>
              <a:t>FIR</a:t>
            </a:r>
            <a:r>
              <a:rPr lang="zh-CN" altLang="en-US" b="1" dirty="0">
                <a:latin typeface="Times New Roman" panose="02020603050405020304" pitchFamily="18" charset="0"/>
                <a:ea typeface="宋体" panose="02010600030101010101" pitchFamily="2" charset="-122"/>
              </a:rPr>
              <a:t>滤波器的零点位置图 </a:t>
            </a:r>
            <a:endParaRPr lang="zh-CN" altLang="en-US" b="1" dirty="0">
              <a:latin typeface="Times New Roman" panose="02020603050405020304" pitchFamily="18" charset="0"/>
              <a:ea typeface="宋体" panose="02010600030101010101" pitchFamily="2" charset="-122"/>
            </a:endParaRPr>
          </a:p>
        </p:txBody>
      </p:sp>
      <p:pic>
        <p:nvPicPr>
          <p:cNvPr id="31746" name="图片 30726" descr="6-3"/>
          <p:cNvPicPr>
            <a:picLocks noChangeAspect="1"/>
          </p:cNvPicPr>
          <p:nvPr/>
        </p:nvPicPr>
        <p:blipFill>
          <a:blip r:embed="rId1"/>
          <a:stretch>
            <a:fillRect/>
          </a:stretch>
        </p:blipFill>
        <p:spPr>
          <a:xfrm>
            <a:off x="755650" y="1196975"/>
            <a:ext cx="7920038" cy="4633913"/>
          </a:xfrm>
          <a:prstGeom prst="rect">
            <a:avLst/>
          </a:prstGeom>
          <a:noFill/>
          <a:ln w="9525">
            <a:noFill/>
          </a:ln>
        </p:spPr>
      </p:pic>
      <p:sp>
        <p:nvSpPr>
          <p:cNvPr id="2" name="文本框 1"/>
          <p:cNvSpPr txBox="1"/>
          <p:nvPr/>
        </p:nvSpPr>
        <p:spPr>
          <a:xfrm>
            <a:off x="998538" y="581025"/>
            <a:ext cx="6900862" cy="460375"/>
          </a:xfrm>
          <a:prstGeom prst="rect">
            <a:avLst/>
          </a:prstGeom>
          <a:solidFill>
            <a:srgbClr val="C2FFF0"/>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不在单位圆上的复数零点是</a:t>
            </a:r>
            <a:r>
              <a:rPr lang="zh-CN" altLang="en-US" b="1" u="sng" dirty="0">
                <a:solidFill>
                  <a:srgbClr val="FF0000"/>
                </a:solidFill>
                <a:latin typeface="Times New Roman" panose="02020603050405020304" pitchFamily="18" charset="0"/>
                <a:ea typeface="宋体" panose="02010600030101010101" pitchFamily="2" charset="-122"/>
              </a:rPr>
              <a:t>互为倒数的两组共轭对</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文本框 33795"/>
          <p:cNvSpPr txBox="1"/>
          <p:nvPr/>
        </p:nvSpPr>
        <p:spPr>
          <a:xfrm>
            <a:off x="441325" y="765175"/>
            <a:ext cx="8307388" cy="4927600"/>
          </a:xfrm>
          <a:prstGeom prst="rect">
            <a:avLst/>
          </a:prstGeom>
          <a:noFill/>
          <a:ln w="9525">
            <a:noFill/>
          </a:ln>
        </p:spPr>
        <p:txBody>
          <a:bodyPr anchor="t">
            <a:spAutoFit/>
          </a:bodyPr>
          <a:p>
            <a:pPr algn="just">
              <a:lnSpc>
                <a:spcPct val="14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由幅度响应的讨论可知，第二种类型的线性相位滤波器由于</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(π)=0</a:t>
            </a:r>
            <a:r>
              <a:rPr lang="zh-CN" altLang="en-US" dirty="0">
                <a:latin typeface="Times New Roman" panose="02020603050405020304" pitchFamily="18" charset="0"/>
                <a:ea typeface="宋体" panose="02010600030101010101" pitchFamily="2" charset="-122"/>
              </a:rPr>
              <a:t>， 因此必然有单根</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。第四种类型的线性相位滤波器由于</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(0)=0, </a:t>
            </a:r>
            <a:r>
              <a:rPr lang="zh-CN" altLang="en-US" dirty="0">
                <a:latin typeface="Times New Roman" panose="02020603050405020304" pitchFamily="18" charset="0"/>
                <a:ea typeface="宋体" panose="02010600030101010101" pitchFamily="2" charset="-122"/>
              </a:rPr>
              <a:t>因此必然有单根</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。而第三种类型的线性相位滤波器由于</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因此这两种单根</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都必须有。 </a:t>
            </a:r>
            <a:endParaRPr lang="zh-CN" altLang="en-US" dirty="0">
              <a:latin typeface="Times New Roman" panose="02020603050405020304" pitchFamily="18" charset="0"/>
              <a:ea typeface="宋体" panose="02010600030101010101" pitchFamily="2" charset="-122"/>
            </a:endParaRPr>
          </a:p>
          <a:p>
            <a:pPr algn="just">
              <a:lnSpc>
                <a:spcPct val="140000"/>
              </a:lnSpc>
              <a:spcBef>
                <a:spcPct val="50000"/>
              </a:spcBef>
            </a:pPr>
            <a:r>
              <a:rPr lang="zh-CN" altLang="en-US" dirty="0">
                <a:latin typeface="Times New Roman" panose="02020603050405020304" pitchFamily="18" charset="0"/>
                <a:ea typeface="宋体" panose="02010600030101010101" pitchFamily="2" charset="-122"/>
              </a:rPr>
              <a:t>      了解线性相位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滤波器的特点，便可根据实际需要选择合适类型的</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滤波器，同时设计时需遵循有关的约束条件。下面讨论线性相位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滤波器的设计方法时，都要用到这些特点。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文本框 32771"/>
          <p:cNvSpPr txBox="1"/>
          <p:nvPr/>
        </p:nvSpPr>
        <p:spPr>
          <a:xfrm>
            <a:off x="457200" y="549275"/>
            <a:ext cx="6705600" cy="1004888"/>
          </a:xfrm>
          <a:prstGeom prst="rect">
            <a:avLst/>
          </a:prstGeom>
          <a:noFill/>
          <a:ln w="9525">
            <a:noFill/>
          </a:ln>
        </p:spPr>
        <p:txBody>
          <a:bodyPr anchor="t">
            <a:spAutoFit/>
          </a:bodyPr>
          <a:p>
            <a:pPr algn="just">
              <a:spcBef>
                <a:spcPct val="50000"/>
              </a:spcBef>
            </a:pPr>
            <a:r>
              <a:rPr lang="en-US" altLang="zh-CN" b="1" dirty="0">
                <a:latin typeface="Times New Roman" panose="02020603050405020304" pitchFamily="18" charset="0"/>
                <a:ea typeface="宋体" panose="02010600030101010101" pitchFamily="2" charset="-122"/>
              </a:rPr>
              <a:t>6.1.4 </a:t>
            </a:r>
            <a:r>
              <a:rPr lang="zh-CN" altLang="en-US" b="1" dirty="0">
                <a:latin typeface="Times New Roman" panose="02020603050405020304" pitchFamily="18" charset="0"/>
                <a:ea typeface="宋体" panose="02010600030101010101" pitchFamily="2" charset="-122"/>
              </a:rPr>
              <a:t>举例</a:t>
            </a:r>
            <a:endParaRPr lang="zh-CN" altLang="en-US" b="1" dirty="0">
              <a:latin typeface="Times New Roman" panose="02020603050405020304" pitchFamily="18" charset="0"/>
              <a:ea typeface="宋体" panose="02010600030101010101" pitchFamily="2" charset="-122"/>
            </a:endParaRPr>
          </a:p>
          <a:p>
            <a:pPr algn="just">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如果系统的单位脉冲响应为 </a:t>
            </a:r>
            <a:endParaRPr lang="zh-CN" altLang="en-US" dirty="0">
              <a:latin typeface="Times New Roman" panose="02020603050405020304" pitchFamily="18" charset="0"/>
              <a:ea typeface="宋体" panose="02010600030101010101" pitchFamily="2" charset="-122"/>
            </a:endParaRPr>
          </a:p>
        </p:txBody>
      </p:sp>
      <p:graphicFrame>
        <p:nvGraphicFramePr>
          <p:cNvPr id="33794" name="对象 32772"/>
          <p:cNvGraphicFramePr/>
          <p:nvPr/>
        </p:nvGraphicFramePr>
        <p:xfrm>
          <a:off x="2743200" y="1768475"/>
          <a:ext cx="1219200" cy="1044575"/>
        </p:xfrm>
        <a:graphic>
          <a:graphicData uri="http://schemas.openxmlformats.org/presentationml/2006/ole">
            <mc:AlternateContent xmlns:mc="http://schemas.openxmlformats.org/markup-compatibility/2006">
              <mc:Choice xmlns:v="urn:schemas-microsoft-com:vml" Requires="v">
                <p:oleObj spid="_x0000_s3145" name="" r:id="rId1" imgW="622300" imgH="533400" progId="Equation.3">
                  <p:embed/>
                </p:oleObj>
              </mc:Choice>
              <mc:Fallback>
                <p:oleObj name="" r:id="rId1" imgW="622300" imgH="533400" progId="Equation.3">
                  <p:embed/>
                  <p:pic>
                    <p:nvPicPr>
                      <p:cNvPr id="0" name="图片 3144"/>
                      <p:cNvPicPr/>
                      <p:nvPr/>
                    </p:nvPicPr>
                    <p:blipFill>
                      <a:blip r:embed="rId2"/>
                      <a:stretch>
                        <a:fillRect/>
                      </a:stretch>
                    </p:blipFill>
                    <p:spPr>
                      <a:xfrm>
                        <a:off x="2743200" y="1768475"/>
                        <a:ext cx="1219200" cy="1044575"/>
                      </a:xfrm>
                      <a:prstGeom prst="rect">
                        <a:avLst/>
                      </a:prstGeom>
                      <a:noFill/>
                      <a:ln w="38100">
                        <a:noFill/>
                        <a:miter/>
                      </a:ln>
                    </p:spPr>
                  </p:pic>
                </p:oleObj>
              </mc:Fallback>
            </mc:AlternateContent>
          </a:graphicData>
        </a:graphic>
      </p:graphicFrame>
      <p:sp>
        <p:nvSpPr>
          <p:cNvPr id="33795" name="文本框 32773"/>
          <p:cNvSpPr txBox="1"/>
          <p:nvPr/>
        </p:nvSpPr>
        <p:spPr>
          <a:xfrm>
            <a:off x="4784725" y="1733550"/>
            <a:ext cx="13271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 </a:t>
            </a:r>
            <a:endParaRPr lang="en-US" altLang="zh-CN" dirty="0">
              <a:latin typeface="Times New Roman" panose="02020603050405020304" pitchFamily="18" charset="0"/>
              <a:ea typeface="宋体" panose="02010600030101010101" pitchFamily="2" charset="-122"/>
            </a:endParaRPr>
          </a:p>
        </p:txBody>
      </p:sp>
      <p:sp>
        <p:nvSpPr>
          <p:cNvPr id="33796" name="文本框 32774"/>
          <p:cNvSpPr txBox="1"/>
          <p:nvPr/>
        </p:nvSpPr>
        <p:spPr>
          <a:xfrm>
            <a:off x="4724400" y="2343150"/>
            <a:ext cx="1022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其他</a:t>
            </a:r>
            <a:r>
              <a:rPr lang="en-US" altLang="zh-CN" i="1" dirty="0">
                <a:latin typeface="Times New Roman" panose="02020603050405020304" pitchFamily="18" charset="0"/>
                <a:ea typeface="宋体" panose="02010600030101010101" pitchFamily="2" charset="-122"/>
              </a:rPr>
              <a:t>n </a:t>
            </a:r>
            <a:endParaRPr lang="en-US" altLang="zh-CN" i="1" dirty="0">
              <a:latin typeface="Times New Roman" panose="02020603050405020304" pitchFamily="18" charset="0"/>
              <a:ea typeface="宋体" panose="02010600030101010101" pitchFamily="2" charset="-122"/>
            </a:endParaRPr>
          </a:p>
        </p:txBody>
      </p:sp>
      <p:sp>
        <p:nvSpPr>
          <p:cNvPr id="33797" name="文本框 32775"/>
          <p:cNvSpPr txBox="1"/>
          <p:nvPr/>
        </p:nvSpPr>
        <p:spPr>
          <a:xfrm>
            <a:off x="228600" y="2759075"/>
            <a:ext cx="8686800" cy="1050925"/>
          </a:xfrm>
          <a:prstGeom prst="rect">
            <a:avLst/>
          </a:prstGeom>
          <a:noFill/>
          <a:ln w="9525">
            <a:noFill/>
          </a:ln>
        </p:spPr>
        <p:txBody>
          <a:bodyPr anchor="t">
            <a:spAutoFit/>
          </a:bodyPr>
          <a:p>
            <a:pPr>
              <a:lnSpc>
                <a:spcPct val="130000"/>
              </a:lnSpc>
              <a:spcBef>
                <a:spcPct val="50000"/>
              </a:spcBef>
            </a:pPr>
            <a:r>
              <a:rPr lang="zh-CN" altLang="en-US" dirty="0">
                <a:latin typeface="Times New Roman" panose="02020603050405020304" pitchFamily="18" charset="0"/>
                <a:ea typeface="宋体" panose="02010600030101010101" pitchFamily="2" charset="-122"/>
              </a:rPr>
              <a:t>显然，这是第一种类型的线性相位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数字滤波器。该系统的频率响应为 </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graphicFrame>
        <p:nvGraphicFramePr>
          <p:cNvPr id="33798" name="对象 32776"/>
          <p:cNvGraphicFramePr/>
          <p:nvPr/>
        </p:nvGraphicFramePr>
        <p:xfrm>
          <a:off x="76200" y="3790950"/>
          <a:ext cx="8959850" cy="1054100"/>
        </p:xfrm>
        <a:graphic>
          <a:graphicData uri="http://schemas.openxmlformats.org/presentationml/2006/ole">
            <mc:AlternateContent xmlns:mc="http://schemas.openxmlformats.org/markup-compatibility/2006">
              <mc:Choice xmlns:v="urn:schemas-microsoft-com:vml" Requires="v">
                <p:oleObj spid="_x0000_s3146" name="" r:id="rId3" imgW="4508500" imgH="444500" progId="Equation.3">
                  <p:embed/>
                </p:oleObj>
              </mc:Choice>
              <mc:Fallback>
                <p:oleObj name="" r:id="rId3" imgW="4508500" imgH="444500" progId="Equation.3">
                  <p:embed/>
                  <p:pic>
                    <p:nvPicPr>
                      <p:cNvPr id="0" name="图片 3145"/>
                      <p:cNvPicPr/>
                      <p:nvPr/>
                    </p:nvPicPr>
                    <p:blipFill>
                      <a:blip r:embed="rId4"/>
                      <a:stretch>
                        <a:fillRect/>
                      </a:stretch>
                    </p:blipFill>
                    <p:spPr>
                      <a:xfrm>
                        <a:off x="76200" y="3790950"/>
                        <a:ext cx="8959850" cy="1054100"/>
                      </a:xfrm>
                      <a:prstGeom prst="rect">
                        <a:avLst/>
                      </a:prstGeom>
                      <a:noFill/>
                      <a:ln w="38100">
                        <a:noFill/>
                        <a:miter/>
                      </a:ln>
                    </p:spPr>
                  </p:pic>
                </p:oleObj>
              </mc:Fallback>
            </mc:AlternateContent>
          </a:graphicData>
        </a:graphic>
      </p:graphicFrame>
      <p:sp>
        <p:nvSpPr>
          <p:cNvPr id="33799" name="文本框 32777"/>
          <p:cNvSpPr txBox="1"/>
          <p:nvPr/>
        </p:nvSpPr>
        <p:spPr>
          <a:xfrm>
            <a:off x="76200" y="4937125"/>
            <a:ext cx="89154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该系统的振幅、相位和群延迟示于图</a:t>
            </a:r>
            <a:r>
              <a:rPr lang="en-US" altLang="zh-CN" dirty="0">
                <a:latin typeface="Times New Roman" panose="02020603050405020304" pitchFamily="18" charset="0"/>
                <a:ea typeface="宋体" panose="02010600030101010101" pitchFamily="2" charset="-122"/>
              </a:rPr>
              <a:t>6-4</a:t>
            </a:r>
            <a:r>
              <a:rPr lang="zh-CN" altLang="en-US" dirty="0">
                <a:latin typeface="Times New Roman" panose="02020603050405020304" pitchFamily="18" charset="0"/>
                <a:ea typeface="宋体" panose="02010600030101010101" pitchFamily="2" charset="-122"/>
              </a:rPr>
              <a:t>中。因为</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的长度</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 群延迟也是整数，</a:t>
            </a:r>
            <a:r>
              <a:rPr lang="en-US" altLang="zh-CN" i="1" dirty="0">
                <a:latin typeface="Times New Roman" panose="02020603050405020304" pitchFamily="18" charset="0"/>
                <a:ea typeface="宋体" panose="02010600030101010101" pitchFamily="2" charset="-122"/>
              </a:rPr>
              <a:t>τ</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-1)/2=2</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 name="五角星 1"/>
          <p:cNvSpPr/>
          <p:nvPr/>
        </p:nvSpPr>
        <p:spPr>
          <a:xfrm>
            <a:off x="457200" y="1003300"/>
            <a:ext cx="576263" cy="649288"/>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3" name="矩形 2"/>
          <p:cNvSpPr/>
          <p:nvPr/>
        </p:nvSpPr>
        <p:spPr>
          <a:xfrm>
            <a:off x="3352800" y="1473200"/>
            <a:ext cx="1108075" cy="461963"/>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偶对称</a:t>
            </a:r>
            <a:endParaRPr lang="zh-CN" altLang="en-US" dirty="0">
              <a:latin typeface="Times New Roman" panose="02020603050405020304" pitchFamily="18" charset="0"/>
              <a:ea typeface="宋体" panose="02010600030101010101" pitchFamily="2" charset="-122"/>
            </a:endParaRPr>
          </a:p>
        </p:txBody>
      </p:sp>
      <p:sp>
        <p:nvSpPr>
          <p:cNvPr id="11" name="矩形 10"/>
          <p:cNvSpPr/>
          <p:nvPr/>
        </p:nvSpPr>
        <p:spPr>
          <a:xfrm>
            <a:off x="5746750" y="1622425"/>
            <a:ext cx="800100" cy="461963"/>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奇数</a:t>
            </a:r>
            <a:endParaRPr lang="zh-CN" altLang="en-US" dirty="0">
              <a:latin typeface="Times New Roman" panose="02020603050405020304" pitchFamily="18" charset="0"/>
              <a:ea typeface="宋体" panose="02010600030101010101" pitchFamily="2" charset="-122"/>
            </a:endParaRPr>
          </a:p>
        </p:txBody>
      </p:sp>
      <p:graphicFrame>
        <p:nvGraphicFramePr>
          <p:cNvPr id="4" name="对象 3"/>
          <p:cNvGraphicFramePr>
            <a:graphicFrameLocks noChangeAspect="1"/>
          </p:cNvGraphicFramePr>
          <p:nvPr/>
        </p:nvGraphicFramePr>
        <p:xfrm>
          <a:off x="1093788" y="3228975"/>
          <a:ext cx="3367087" cy="1855788"/>
        </p:xfrm>
        <a:graphic>
          <a:graphicData uri="http://schemas.openxmlformats.org/presentationml/2006/ole">
            <mc:AlternateContent xmlns:mc="http://schemas.openxmlformats.org/markup-compatibility/2006">
              <mc:Choice xmlns:v="urn:schemas-microsoft-com:vml" Requires="v">
                <p:oleObj spid="_x0000_s3147" name="" r:id="rId5" imgW="1435100" imgH="787400" progId="Equation.3">
                  <p:embed/>
                </p:oleObj>
              </mc:Choice>
              <mc:Fallback>
                <p:oleObj name="" r:id="rId5" imgW="1435100" imgH="787400" progId="Equation.3">
                  <p:embed/>
                  <p:pic>
                    <p:nvPicPr>
                      <p:cNvPr id="0" name="图片 3146"/>
                      <p:cNvPicPr/>
                      <p:nvPr/>
                    </p:nvPicPr>
                    <p:blipFill>
                      <a:blip r:embed="rId6"/>
                      <a:stretch>
                        <a:fillRect/>
                      </a:stretch>
                    </p:blipFill>
                    <p:spPr>
                      <a:xfrm>
                        <a:off x="1093788" y="3228975"/>
                        <a:ext cx="3367087" cy="1855788"/>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文本框 35843"/>
          <p:cNvSpPr txBox="1"/>
          <p:nvPr/>
        </p:nvSpPr>
        <p:spPr>
          <a:xfrm>
            <a:off x="2590800" y="5661025"/>
            <a:ext cx="4562475" cy="701675"/>
          </a:xfrm>
          <a:prstGeom prst="rect">
            <a:avLst/>
          </a:prstGeom>
          <a:solidFill>
            <a:schemeClr val="bg1"/>
          </a:solidFill>
          <a:ln w="9525">
            <a:noFill/>
          </a:ln>
        </p:spPr>
        <p:txBody>
          <a:bodyPr wrap="none" anchor="t">
            <a:spAutoFit/>
          </a:bodyPr>
          <a:p>
            <a:pPr algn="ctr"/>
            <a:r>
              <a:rPr lang="zh-CN" altLang="en-US" sz="2000" b="1" dirty="0">
                <a:latin typeface="Times New Roman" panose="02020603050405020304" pitchFamily="18" charset="0"/>
                <a:ea typeface="宋体" panose="02010600030101010101" pitchFamily="2" charset="-122"/>
              </a:rPr>
              <a:t>图 </a:t>
            </a:r>
            <a:r>
              <a:rPr lang="en-US" altLang="zh-CN" sz="2000" b="1" dirty="0">
                <a:latin typeface="Times New Roman" panose="02020603050405020304" pitchFamily="18" charset="0"/>
                <a:ea typeface="宋体" panose="02010600030101010101" pitchFamily="2" charset="-122"/>
              </a:rPr>
              <a:t>6-4 </a:t>
            </a:r>
            <a:r>
              <a:rPr lang="zh-CN" altLang="en-US" sz="2000" b="1" dirty="0">
                <a:latin typeface="Times New Roman" panose="02020603050405020304" pitchFamily="18" charset="0"/>
                <a:ea typeface="宋体" panose="02010600030101010101" pitchFamily="2" charset="-122"/>
              </a:rPr>
              <a:t>例</a:t>
            </a:r>
            <a:r>
              <a:rPr lang="en-US" altLang="zh-CN" sz="2000" b="1" dirty="0">
                <a:latin typeface="Times New Roman" panose="02020603050405020304" pitchFamily="18" charset="0"/>
                <a:ea typeface="宋体" panose="02010600030101010101" pitchFamily="2" charset="-122"/>
              </a:rPr>
              <a:t>6-1</a:t>
            </a:r>
            <a:r>
              <a:rPr lang="zh-CN" altLang="en-US" sz="2000" b="1" dirty="0">
                <a:latin typeface="Times New Roman" panose="02020603050405020304" pitchFamily="18" charset="0"/>
                <a:ea typeface="宋体" panose="02010600030101010101" pitchFamily="2" charset="-122"/>
              </a:rPr>
              <a:t>系统的频率响应</a:t>
            </a:r>
            <a:endParaRPr lang="zh-CN" altLang="en-US" sz="2000" b="1" dirty="0">
              <a:latin typeface="Times New Roman" panose="02020603050405020304" pitchFamily="18" charset="0"/>
              <a:ea typeface="宋体" panose="02010600030101010101" pitchFamily="2" charset="-122"/>
            </a:endParaRPr>
          </a:p>
          <a:p>
            <a:pPr algn="ct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a</a:t>
            </a:r>
            <a:r>
              <a:rPr lang="zh-CN" altLang="en-US" sz="2000" b="1" dirty="0">
                <a:latin typeface="Times New Roman" panose="02020603050405020304" pitchFamily="18" charset="0"/>
                <a:ea typeface="宋体" panose="02010600030101010101" pitchFamily="2" charset="-122"/>
              </a:rPr>
              <a:t>） 振幅特性</a:t>
            </a:r>
            <a:r>
              <a:rPr lang="en-US" altLang="zh-CN" sz="2000" b="1" dirty="0">
                <a:latin typeface="Times New Roman" panose="02020603050405020304" pitchFamily="18" charset="0"/>
                <a:ea typeface="宋体" panose="02010600030101010101" pitchFamily="2" charset="-122"/>
              </a:rPr>
              <a:t>;   (b) </a:t>
            </a:r>
            <a:r>
              <a:rPr lang="zh-CN" altLang="en-US" sz="2000" b="1" dirty="0">
                <a:latin typeface="Times New Roman" panose="02020603050405020304" pitchFamily="18" charset="0"/>
                <a:ea typeface="宋体" panose="02010600030101010101" pitchFamily="2" charset="-122"/>
              </a:rPr>
              <a:t>相位</a:t>
            </a:r>
            <a:r>
              <a:rPr lang="en-US" altLang="zh-CN" sz="2000" b="1" dirty="0">
                <a:latin typeface="Times New Roman" panose="02020603050405020304" pitchFamily="18" charset="0"/>
                <a:ea typeface="宋体" panose="02010600030101010101" pitchFamily="2" charset="-122"/>
              </a:rPr>
              <a:t>;   (c) </a:t>
            </a:r>
            <a:r>
              <a:rPr lang="zh-CN" altLang="en-US" sz="2000" b="1" dirty="0">
                <a:latin typeface="Times New Roman" panose="02020603050405020304" pitchFamily="18" charset="0"/>
                <a:ea typeface="宋体" panose="02010600030101010101" pitchFamily="2" charset="-122"/>
              </a:rPr>
              <a:t>群延迟  </a:t>
            </a:r>
            <a:endParaRPr lang="zh-CN" altLang="en-US" sz="2000" b="1" dirty="0">
              <a:latin typeface="Times New Roman" panose="02020603050405020304" pitchFamily="18" charset="0"/>
              <a:ea typeface="宋体" panose="02010600030101010101" pitchFamily="2" charset="-122"/>
            </a:endParaRPr>
          </a:p>
        </p:txBody>
      </p:sp>
      <p:pic>
        <p:nvPicPr>
          <p:cNvPr id="34818" name="图片 35846" descr="6-4"/>
          <p:cNvPicPr>
            <a:picLocks noChangeAspect="1"/>
          </p:cNvPicPr>
          <p:nvPr/>
        </p:nvPicPr>
        <p:blipFill>
          <a:blip r:embed="rId1"/>
          <a:stretch>
            <a:fillRect/>
          </a:stretch>
        </p:blipFill>
        <p:spPr>
          <a:xfrm>
            <a:off x="1565275" y="692150"/>
            <a:ext cx="5880100" cy="4968875"/>
          </a:xfrm>
          <a:prstGeom prst="rect">
            <a:avLst/>
          </a:prstGeom>
          <a:noFill/>
          <a:ln w="9525">
            <a:noFill/>
          </a:ln>
        </p:spPr>
      </p:pic>
      <p:cxnSp>
        <p:nvCxnSpPr>
          <p:cNvPr id="2" name="直接连接符 1"/>
          <p:cNvCxnSpPr/>
          <p:nvPr/>
        </p:nvCxnSpPr>
        <p:spPr>
          <a:xfrm flipV="1">
            <a:off x="4787900" y="404813"/>
            <a:ext cx="0" cy="2160588"/>
          </a:xfrm>
          <a:prstGeom prst="line">
            <a:avLst/>
          </a:prstGeom>
          <a:ln w="44450">
            <a:solidFill>
              <a:srgbClr val="C0000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5" name="对象 9220"/>
          <p:cNvGraphicFramePr/>
          <p:nvPr/>
        </p:nvGraphicFramePr>
        <p:xfrm>
          <a:off x="4284663" y="3789363"/>
          <a:ext cx="4859337" cy="903287"/>
        </p:xfrm>
        <a:graphic>
          <a:graphicData uri="http://schemas.openxmlformats.org/presentationml/2006/ole">
            <mc:AlternateContent xmlns:mc="http://schemas.openxmlformats.org/markup-compatibility/2006">
              <mc:Choice xmlns:v="urn:schemas-microsoft-com:vml" Requires="v">
                <p:oleObj spid="_x0000_s3151" name="" r:id="rId2" imgW="2158365" imgH="393700" progId="Equation.3">
                  <p:embed/>
                </p:oleObj>
              </mc:Choice>
              <mc:Fallback>
                <p:oleObj name="" r:id="rId2" imgW="2158365" imgH="393700" progId="Equation.3">
                  <p:embed/>
                  <p:pic>
                    <p:nvPicPr>
                      <p:cNvPr id="0" name="图片 3150"/>
                      <p:cNvPicPr/>
                      <p:nvPr/>
                    </p:nvPicPr>
                    <p:blipFill>
                      <a:blip r:embed="rId3"/>
                      <a:stretch>
                        <a:fillRect/>
                      </a:stretch>
                    </p:blipFill>
                    <p:spPr>
                      <a:xfrm>
                        <a:off x="4284663" y="3789363"/>
                        <a:ext cx="4859337" cy="903287"/>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文本框 37891"/>
          <p:cNvSpPr txBox="1"/>
          <p:nvPr/>
        </p:nvSpPr>
        <p:spPr>
          <a:xfrm>
            <a:off x="669925" y="727075"/>
            <a:ext cx="432752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6-2</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系统的单位脉冲响应为 </a:t>
            </a:r>
            <a:endParaRPr lang="zh-CN" altLang="en-US" dirty="0">
              <a:latin typeface="Times New Roman" panose="02020603050405020304" pitchFamily="18" charset="0"/>
              <a:ea typeface="宋体" panose="02010600030101010101" pitchFamily="2" charset="-122"/>
            </a:endParaRPr>
          </a:p>
        </p:txBody>
      </p:sp>
      <p:grpSp>
        <p:nvGrpSpPr>
          <p:cNvPr id="35842" name="组合 37895"/>
          <p:cNvGrpSpPr/>
          <p:nvPr/>
        </p:nvGrpSpPr>
        <p:grpSpPr>
          <a:xfrm>
            <a:off x="3200400" y="1455738"/>
            <a:ext cx="2987675" cy="1109662"/>
            <a:chOff x="2016" y="768"/>
            <a:chExt cx="1882" cy="699"/>
          </a:xfrm>
        </p:grpSpPr>
        <p:graphicFrame>
          <p:nvGraphicFramePr>
            <p:cNvPr id="35843" name="对象 37892"/>
            <p:cNvGraphicFramePr/>
            <p:nvPr/>
          </p:nvGraphicFramePr>
          <p:xfrm>
            <a:off x="2016" y="768"/>
            <a:ext cx="816" cy="699"/>
          </p:xfrm>
          <a:graphic>
            <a:graphicData uri="http://schemas.openxmlformats.org/presentationml/2006/ole">
              <mc:AlternateContent xmlns:mc="http://schemas.openxmlformats.org/markup-compatibility/2006">
                <mc:Choice xmlns:v="urn:schemas-microsoft-com:vml" Requires="v">
                  <p:oleObj spid="_x0000_s3149" name="" r:id="rId1" imgW="622300" imgH="533400" progId="Equation.3">
                    <p:embed/>
                  </p:oleObj>
                </mc:Choice>
                <mc:Fallback>
                  <p:oleObj name="" r:id="rId1" imgW="622300" imgH="533400" progId="Equation.3">
                    <p:embed/>
                    <p:pic>
                      <p:nvPicPr>
                        <p:cNvPr id="0" name="图片 3148"/>
                        <p:cNvPicPr/>
                        <p:nvPr/>
                      </p:nvPicPr>
                      <p:blipFill>
                        <a:blip r:embed="rId2"/>
                        <a:stretch>
                          <a:fillRect/>
                        </a:stretch>
                      </p:blipFill>
                      <p:spPr>
                        <a:xfrm>
                          <a:off x="2016" y="768"/>
                          <a:ext cx="816" cy="699"/>
                        </a:xfrm>
                        <a:prstGeom prst="rect">
                          <a:avLst/>
                        </a:prstGeom>
                        <a:noFill/>
                        <a:ln w="38100">
                          <a:noFill/>
                          <a:miter/>
                        </a:ln>
                      </p:spPr>
                    </p:pic>
                  </p:oleObj>
                </mc:Fallback>
              </mc:AlternateContent>
            </a:graphicData>
          </a:graphic>
        </p:graphicFrame>
        <p:sp>
          <p:nvSpPr>
            <p:cNvPr id="35844" name="文本框 37893"/>
            <p:cNvSpPr txBox="1"/>
            <p:nvPr/>
          </p:nvSpPr>
          <p:spPr>
            <a:xfrm>
              <a:off x="3062" y="768"/>
              <a:ext cx="836"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≤5 </a:t>
              </a:r>
              <a:endParaRPr lang="en-US" altLang="zh-CN" dirty="0">
                <a:latin typeface="Times New Roman" panose="02020603050405020304" pitchFamily="18" charset="0"/>
                <a:ea typeface="宋体" panose="02010600030101010101" pitchFamily="2" charset="-122"/>
              </a:endParaRPr>
            </a:p>
          </p:txBody>
        </p:sp>
        <p:sp>
          <p:nvSpPr>
            <p:cNvPr id="35845" name="文本框 37894"/>
            <p:cNvSpPr txBox="1"/>
            <p:nvPr/>
          </p:nvSpPr>
          <p:spPr>
            <a:xfrm>
              <a:off x="3056" y="1152"/>
              <a:ext cx="644"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其他</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pSp>
      <p:sp>
        <p:nvSpPr>
          <p:cNvPr id="35846" name="文本框 37896"/>
          <p:cNvSpPr txBox="1"/>
          <p:nvPr/>
        </p:nvSpPr>
        <p:spPr>
          <a:xfrm>
            <a:off x="304800" y="2635250"/>
            <a:ext cx="8610600" cy="1109663"/>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 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为偶对称且长度</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，因此，这是第二种类型的线性相位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数字滤波器。该系统的频率响应为 </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graphicFrame>
        <p:nvGraphicFramePr>
          <p:cNvPr id="35847" name="对象 37897"/>
          <p:cNvGraphicFramePr/>
          <p:nvPr/>
        </p:nvGraphicFramePr>
        <p:xfrm>
          <a:off x="1258888" y="3933825"/>
          <a:ext cx="6481762" cy="1008063"/>
        </p:xfrm>
        <a:graphic>
          <a:graphicData uri="http://schemas.openxmlformats.org/presentationml/2006/ole">
            <mc:AlternateContent xmlns:mc="http://schemas.openxmlformats.org/markup-compatibility/2006">
              <mc:Choice xmlns:v="urn:schemas-microsoft-com:vml" Requires="v">
                <p:oleObj spid="_x0000_s3150" name="" r:id="rId3" imgW="2856230" imgH="444500" progId="Equation.3">
                  <p:embed/>
                </p:oleObj>
              </mc:Choice>
              <mc:Fallback>
                <p:oleObj name="" r:id="rId3" imgW="2856230" imgH="444500" progId="Equation.3">
                  <p:embed/>
                  <p:pic>
                    <p:nvPicPr>
                      <p:cNvPr id="0" name="图片 3149"/>
                      <p:cNvPicPr/>
                      <p:nvPr/>
                    </p:nvPicPr>
                    <p:blipFill>
                      <a:blip r:embed="rId4"/>
                      <a:stretch>
                        <a:fillRect/>
                      </a:stretch>
                    </p:blipFill>
                    <p:spPr>
                      <a:xfrm>
                        <a:off x="1258888" y="3933825"/>
                        <a:ext cx="6481762" cy="1008063"/>
                      </a:xfrm>
                      <a:prstGeom prst="rect">
                        <a:avLst/>
                      </a:prstGeom>
                      <a:noFill/>
                      <a:ln w="38100">
                        <a:noFill/>
                        <a:miter/>
                      </a:ln>
                    </p:spPr>
                  </p:pic>
                </p:oleObj>
              </mc:Fallback>
            </mc:AlternateContent>
          </a:graphicData>
        </a:graphic>
      </p:graphicFrame>
      <p:sp>
        <p:nvSpPr>
          <p:cNvPr id="35848" name="文本框 37898"/>
          <p:cNvSpPr txBox="1"/>
          <p:nvPr/>
        </p:nvSpPr>
        <p:spPr>
          <a:xfrm>
            <a:off x="381000" y="5410200"/>
            <a:ext cx="6146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该系统的振幅、相位和群延迟示于图</a:t>
            </a:r>
            <a:r>
              <a:rPr lang="en-US" altLang="zh-CN" dirty="0">
                <a:latin typeface="Times New Roman" panose="02020603050405020304" pitchFamily="18" charset="0"/>
                <a:ea typeface="宋体" panose="02010600030101010101" pitchFamily="2" charset="-122"/>
              </a:rPr>
              <a:t>6-5</a:t>
            </a:r>
            <a:r>
              <a:rPr lang="zh-CN" altLang="en-US" dirty="0">
                <a:latin typeface="Times New Roman" panose="02020603050405020304" pitchFamily="18" charset="0"/>
                <a:ea typeface="宋体" panose="02010600030101010101" pitchFamily="2" charset="-122"/>
              </a:rPr>
              <a:t>中。 </a:t>
            </a:r>
            <a:endParaRPr lang="zh-CN" altLang="en-US" dirty="0">
              <a:latin typeface="Times New Roman" panose="02020603050405020304" pitchFamily="18" charset="0"/>
              <a:ea typeface="宋体" panose="02010600030101010101" pitchFamily="2" charset="-122"/>
            </a:endParaRPr>
          </a:p>
        </p:txBody>
      </p:sp>
      <p:sp>
        <p:nvSpPr>
          <p:cNvPr id="2" name="五角星 1"/>
          <p:cNvSpPr/>
          <p:nvPr/>
        </p:nvSpPr>
        <p:spPr>
          <a:xfrm>
            <a:off x="163513" y="631825"/>
            <a:ext cx="576263" cy="6477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1" name="矩形 10"/>
          <p:cNvSpPr/>
          <p:nvPr/>
        </p:nvSpPr>
        <p:spPr>
          <a:xfrm>
            <a:off x="3387725" y="1082675"/>
            <a:ext cx="1108075" cy="460375"/>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偶对称</a:t>
            </a:r>
            <a:endParaRPr lang="zh-CN" altLang="en-US" dirty="0">
              <a:latin typeface="Times New Roman" panose="02020603050405020304" pitchFamily="18" charset="0"/>
              <a:ea typeface="宋体" panose="02010600030101010101" pitchFamily="2" charset="-122"/>
            </a:endParaRPr>
          </a:p>
        </p:txBody>
      </p:sp>
      <p:sp>
        <p:nvSpPr>
          <p:cNvPr id="12" name="矩形 11"/>
          <p:cNvSpPr/>
          <p:nvPr/>
        </p:nvSpPr>
        <p:spPr>
          <a:xfrm>
            <a:off x="5781675" y="1231900"/>
            <a:ext cx="800100" cy="460375"/>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偶数</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8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8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35846" grpId="0"/>
      <p:bldP spid="3584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文本框 34819"/>
          <p:cNvSpPr txBox="1"/>
          <p:nvPr/>
        </p:nvSpPr>
        <p:spPr>
          <a:xfrm>
            <a:off x="2468563" y="5805488"/>
            <a:ext cx="4335462" cy="701675"/>
          </a:xfrm>
          <a:prstGeom prst="rect">
            <a:avLst/>
          </a:prstGeom>
          <a:solidFill>
            <a:schemeClr val="bg1"/>
          </a:solidFill>
          <a:ln w="9525">
            <a:noFill/>
          </a:ln>
        </p:spPr>
        <p:txBody>
          <a:bodyPr wrap="none" anchor="t">
            <a:spAutoFit/>
          </a:bodyPr>
          <a:p>
            <a:pPr algn="ctr"/>
            <a:r>
              <a:rPr lang="zh-CN" altLang="en-US" sz="2000" dirty="0">
                <a:latin typeface="Times New Roman" panose="02020603050405020304" pitchFamily="18" charset="0"/>
                <a:ea typeface="宋体" panose="02010600030101010101" pitchFamily="2" charset="-122"/>
              </a:rPr>
              <a:t>图</a:t>
            </a:r>
            <a:r>
              <a:rPr lang="en-US" altLang="zh-CN" sz="2000" dirty="0">
                <a:latin typeface="Times New Roman" panose="02020603050405020304" pitchFamily="18" charset="0"/>
                <a:ea typeface="宋体" panose="02010600030101010101" pitchFamily="2" charset="-122"/>
              </a:rPr>
              <a:t>6-5 </a:t>
            </a:r>
            <a:r>
              <a:rPr lang="zh-CN" altLang="en-US"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6-2</a:t>
            </a:r>
            <a:r>
              <a:rPr lang="zh-CN" altLang="en-US" sz="2000" dirty="0">
                <a:latin typeface="Times New Roman" panose="02020603050405020304" pitchFamily="18" charset="0"/>
                <a:ea typeface="宋体" panose="02010600030101010101" pitchFamily="2" charset="-122"/>
              </a:rPr>
              <a:t>系统的频率响应</a:t>
            </a:r>
            <a:endParaRPr lang="zh-CN" altLang="en-US" sz="2000" dirty="0">
              <a:latin typeface="Times New Roman" panose="02020603050405020304" pitchFamily="18" charset="0"/>
              <a:ea typeface="宋体" panose="02010600030101010101" pitchFamily="2" charset="-122"/>
            </a:endParaRPr>
          </a:p>
          <a:p>
            <a:pPr algn="ctr"/>
            <a:r>
              <a:rPr lang="en-US" altLang="zh-CN" sz="2000" dirty="0">
                <a:latin typeface="Times New Roman" panose="02020603050405020304" pitchFamily="18" charset="0"/>
                <a:ea typeface="宋体" panose="02010600030101010101" pitchFamily="2" charset="-122"/>
              </a:rPr>
              <a:t>(a</a:t>
            </a:r>
            <a:r>
              <a:rPr lang="zh-CN" altLang="en-US" sz="2000" dirty="0">
                <a:latin typeface="Times New Roman" panose="02020603050405020304" pitchFamily="18" charset="0"/>
                <a:ea typeface="宋体" panose="02010600030101010101" pitchFamily="2" charset="-122"/>
              </a:rPr>
              <a:t>） 振幅特性</a:t>
            </a:r>
            <a:r>
              <a:rPr lang="en-US" altLang="zh-CN" sz="2000" dirty="0">
                <a:latin typeface="Times New Roman" panose="02020603050405020304" pitchFamily="18" charset="0"/>
                <a:ea typeface="宋体" panose="02010600030101010101" pitchFamily="2" charset="-122"/>
              </a:rPr>
              <a:t>;   (b) </a:t>
            </a:r>
            <a:r>
              <a:rPr lang="zh-CN" altLang="en-US" sz="2000" dirty="0">
                <a:latin typeface="Times New Roman" panose="02020603050405020304" pitchFamily="18" charset="0"/>
                <a:ea typeface="宋体" panose="02010600030101010101" pitchFamily="2" charset="-122"/>
              </a:rPr>
              <a:t>相位</a:t>
            </a:r>
            <a:r>
              <a:rPr lang="en-US" altLang="zh-CN" sz="2000" dirty="0">
                <a:latin typeface="Times New Roman" panose="02020603050405020304" pitchFamily="18" charset="0"/>
                <a:ea typeface="宋体" panose="02010600030101010101" pitchFamily="2" charset="-122"/>
              </a:rPr>
              <a:t>;   (c) </a:t>
            </a:r>
            <a:r>
              <a:rPr lang="zh-CN" altLang="en-US" sz="2000" dirty="0">
                <a:latin typeface="Times New Roman" panose="02020603050405020304" pitchFamily="18" charset="0"/>
                <a:ea typeface="宋体" panose="02010600030101010101" pitchFamily="2" charset="-122"/>
              </a:rPr>
              <a:t>群延迟  </a:t>
            </a:r>
            <a:endParaRPr lang="zh-CN" altLang="en-US" sz="2000" dirty="0">
              <a:latin typeface="Times New Roman" panose="02020603050405020304" pitchFamily="18" charset="0"/>
              <a:ea typeface="宋体" panose="02010600030101010101" pitchFamily="2" charset="-122"/>
            </a:endParaRPr>
          </a:p>
        </p:txBody>
      </p:sp>
      <p:pic>
        <p:nvPicPr>
          <p:cNvPr id="36866" name="图片 34822" descr="6-5"/>
          <p:cNvPicPr>
            <a:picLocks noChangeAspect="1"/>
          </p:cNvPicPr>
          <p:nvPr/>
        </p:nvPicPr>
        <p:blipFill>
          <a:blip r:embed="rId1"/>
          <a:stretch>
            <a:fillRect/>
          </a:stretch>
        </p:blipFill>
        <p:spPr>
          <a:xfrm>
            <a:off x="1625600" y="620713"/>
            <a:ext cx="4968875" cy="5040312"/>
          </a:xfrm>
          <a:prstGeom prst="rect">
            <a:avLst/>
          </a:prstGeom>
          <a:noFill/>
          <a:ln w="9525">
            <a:noFill/>
          </a:ln>
        </p:spPr>
      </p:pic>
      <p:cxnSp>
        <p:nvCxnSpPr>
          <p:cNvPr id="2" name="直接连接符 1"/>
          <p:cNvCxnSpPr/>
          <p:nvPr/>
        </p:nvCxnSpPr>
        <p:spPr>
          <a:xfrm flipV="1">
            <a:off x="4273550" y="452438"/>
            <a:ext cx="0" cy="2160588"/>
          </a:xfrm>
          <a:prstGeom prst="line">
            <a:avLst/>
          </a:prstGeom>
          <a:ln w="4445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文本框 36867"/>
          <p:cNvSpPr txBox="1"/>
          <p:nvPr/>
        </p:nvSpPr>
        <p:spPr>
          <a:xfrm>
            <a:off x="228600" y="533400"/>
            <a:ext cx="8686800" cy="249713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系统的单位脉冲响应为</a:t>
            </a:r>
            <a:endParaRPr lang="zh-CN" altLang="en-US" dirty="0">
              <a:latin typeface="Times New Roman" panose="02020603050405020304" pitchFamily="18" charset="0"/>
              <a:ea typeface="宋体" panose="02010600030101010101" pitchFamily="2" charset="-122"/>
            </a:endParaRPr>
          </a:p>
          <a:p>
            <a:pPr algn="ctr">
              <a:lnSpc>
                <a:spcPct val="138000"/>
              </a:lnSpc>
              <a:spcBef>
                <a:spcPct val="50000"/>
              </a:spcBef>
            </a:pP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δ</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δ</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为奇对称且长度</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，因此，这是第三种类型的线性相位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数字滤波器。该系统的频率响应为</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37890" name="对象 36868"/>
          <p:cNvGraphicFramePr/>
          <p:nvPr/>
        </p:nvGraphicFramePr>
        <p:xfrm>
          <a:off x="1219200" y="3352800"/>
          <a:ext cx="6781800" cy="1663700"/>
        </p:xfrm>
        <a:graphic>
          <a:graphicData uri="http://schemas.openxmlformats.org/presentationml/2006/ole">
            <mc:AlternateContent xmlns:mc="http://schemas.openxmlformats.org/markup-compatibility/2006">
              <mc:Choice xmlns:v="urn:schemas-microsoft-com:vml" Requires="v">
                <p:oleObj spid="_x0000_s3152" name="" r:id="rId1" imgW="2691130" imgH="660400" progId="Equation.3">
                  <p:embed/>
                </p:oleObj>
              </mc:Choice>
              <mc:Fallback>
                <p:oleObj name="" r:id="rId1" imgW="2691130" imgH="660400" progId="Equation.3">
                  <p:embed/>
                  <p:pic>
                    <p:nvPicPr>
                      <p:cNvPr id="0" name="图片 3151"/>
                      <p:cNvPicPr/>
                      <p:nvPr/>
                    </p:nvPicPr>
                    <p:blipFill>
                      <a:blip r:embed="rId2"/>
                      <a:stretch>
                        <a:fillRect/>
                      </a:stretch>
                    </p:blipFill>
                    <p:spPr>
                      <a:xfrm>
                        <a:off x="1219200" y="3352800"/>
                        <a:ext cx="6781800" cy="1663700"/>
                      </a:xfrm>
                      <a:prstGeom prst="rect">
                        <a:avLst/>
                      </a:prstGeom>
                      <a:noFill/>
                      <a:ln w="38100">
                        <a:noFill/>
                        <a:miter/>
                      </a:ln>
                    </p:spPr>
                  </p:pic>
                </p:oleObj>
              </mc:Fallback>
            </mc:AlternateContent>
          </a:graphicData>
        </a:graphic>
      </p:graphicFrame>
      <p:sp>
        <p:nvSpPr>
          <p:cNvPr id="37891" name="文本框 36869"/>
          <p:cNvSpPr txBox="1"/>
          <p:nvPr/>
        </p:nvSpPr>
        <p:spPr>
          <a:xfrm>
            <a:off x="827088" y="5516563"/>
            <a:ext cx="6229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该系统的振幅、 相位和群延迟示于图</a:t>
            </a:r>
            <a:r>
              <a:rPr lang="en-US" altLang="zh-CN" dirty="0">
                <a:latin typeface="Times New Roman" panose="02020603050405020304" pitchFamily="18" charset="0"/>
                <a:ea typeface="宋体" panose="02010600030101010101" pitchFamily="2" charset="-122"/>
              </a:rPr>
              <a:t>6-6</a:t>
            </a:r>
            <a:r>
              <a:rPr lang="zh-CN" altLang="en-US" dirty="0">
                <a:latin typeface="Times New Roman" panose="02020603050405020304" pitchFamily="18" charset="0"/>
                <a:ea typeface="宋体" panose="02010600030101010101" pitchFamily="2" charset="-122"/>
              </a:rPr>
              <a:t>中。 </a:t>
            </a:r>
            <a:endParaRPr lang="zh-CN" altLang="en-US" dirty="0">
              <a:latin typeface="Times New Roman" panose="02020603050405020304" pitchFamily="18" charset="0"/>
              <a:ea typeface="宋体" panose="02010600030101010101" pitchFamily="2" charset="-122"/>
            </a:endParaRPr>
          </a:p>
        </p:txBody>
      </p:sp>
      <p:sp>
        <p:nvSpPr>
          <p:cNvPr id="2" name="五角星 1"/>
          <p:cNvSpPr/>
          <p:nvPr/>
        </p:nvSpPr>
        <p:spPr>
          <a:xfrm>
            <a:off x="323850" y="549275"/>
            <a:ext cx="503238" cy="6477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6" name="矩形 5"/>
          <p:cNvSpPr/>
          <p:nvPr/>
        </p:nvSpPr>
        <p:spPr>
          <a:xfrm>
            <a:off x="6300788" y="642938"/>
            <a:ext cx="1108075" cy="460375"/>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奇对称</a:t>
            </a:r>
            <a:endParaRPr lang="zh-CN" altLang="en-US" dirty="0">
              <a:latin typeface="Times New Roman" panose="02020603050405020304" pitchFamily="18" charset="0"/>
              <a:ea typeface="宋体" panose="02010600030101010101" pitchFamily="2" charset="-122"/>
            </a:endParaRPr>
          </a:p>
        </p:txBody>
      </p:sp>
      <p:sp>
        <p:nvSpPr>
          <p:cNvPr id="7" name="矩形 6"/>
          <p:cNvSpPr/>
          <p:nvPr/>
        </p:nvSpPr>
        <p:spPr>
          <a:xfrm>
            <a:off x="6300788" y="1373188"/>
            <a:ext cx="800100" cy="461962"/>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奇数</a:t>
            </a:r>
            <a:endParaRPr lang="zh-CN" altLang="en-US" dirty="0">
              <a:latin typeface="Times New Roman" panose="02020603050405020304" pitchFamily="18" charset="0"/>
              <a:ea typeface="宋体" panose="02010600030101010101" pitchFamily="2" charset="-122"/>
            </a:endParaRPr>
          </a:p>
        </p:txBody>
      </p:sp>
      <p:sp>
        <p:nvSpPr>
          <p:cNvPr id="3" name="椭圆 2"/>
          <p:cNvSpPr/>
          <p:nvPr/>
        </p:nvSpPr>
        <p:spPr>
          <a:xfrm>
            <a:off x="2771775" y="4437063"/>
            <a:ext cx="215900" cy="5794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889">
                                            <p:txEl>
                                              <p:pRg st="2" end="2"/>
                                            </p:txEl>
                                          </p:spTgt>
                                        </p:tgtEl>
                                        <p:attrNameLst>
                                          <p:attrName>style.visibility</p:attrName>
                                        </p:attrNameLst>
                                      </p:cBhvr>
                                      <p:to>
                                        <p:strVal val="visible"/>
                                      </p:to>
                                    </p:set>
                                    <p:anim calcmode="lin" valueType="num">
                                      <p:cBhvr additive="base">
                                        <p:cTn id="25" dur="500" fill="hold"/>
                                        <p:tgtEl>
                                          <p:spTgt spid="3788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88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8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8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 grpId="0" animBg="1"/>
      <p:bldP spid="3789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39939"/>
          <p:cNvSpPr txBox="1"/>
          <p:nvPr/>
        </p:nvSpPr>
        <p:spPr>
          <a:xfrm>
            <a:off x="2268538" y="5949950"/>
            <a:ext cx="4505325" cy="701675"/>
          </a:xfrm>
          <a:prstGeom prst="rect">
            <a:avLst/>
          </a:prstGeom>
          <a:solidFill>
            <a:schemeClr val="bg1"/>
          </a:solidFill>
          <a:ln w="9525">
            <a:noFill/>
          </a:ln>
        </p:spPr>
        <p:txBody>
          <a:bodyPr wrap="none" anchor="t">
            <a:spAutoFit/>
          </a:bodyPr>
          <a:p>
            <a:pPr algn="ct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6-6 </a:t>
            </a:r>
            <a:r>
              <a:rPr lang="zh-CN" altLang="en-US"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6-3</a:t>
            </a:r>
            <a:r>
              <a:rPr lang="zh-CN" altLang="en-US" sz="2000" dirty="0">
                <a:latin typeface="Times New Roman" panose="02020603050405020304" pitchFamily="18" charset="0"/>
                <a:ea typeface="宋体" panose="02010600030101010101" pitchFamily="2" charset="-122"/>
              </a:rPr>
              <a:t>系统的频率响应</a:t>
            </a:r>
            <a:endParaRPr lang="zh-CN" altLang="en-US" sz="2000" dirty="0">
              <a:latin typeface="Times New Roman" panose="02020603050405020304" pitchFamily="18" charset="0"/>
              <a:ea typeface="宋体" panose="02010600030101010101" pitchFamily="2" charset="-122"/>
            </a:endParaRPr>
          </a:p>
          <a:p>
            <a:pPr algn="ct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a:t>
            </a:r>
            <a:r>
              <a:rPr lang="zh-CN" altLang="en-US" sz="2000" dirty="0">
                <a:latin typeface="Times New Roman" panose="02020603050405020304" pitchFamily="18" charset="0"/>
                <a:ea typeface="宋体" panose="02010600030101010101" pitchFamily="2" charset="-122"/>
              </a:rPr>
              <a:t>） 振幅特性</a:t>
            </a:r>
            <a:r>
              <a:rPr lang="en-US" altLang="zh-CN" sz="2000" dirty="0">
                <a:latin typeface="Times New Roman" panose="02020603050405020304" pitchFamily="18" charset="0"/>
                <a:ea typeface="宋体" panose="02010600030101010101" pitchFamily="2" charset="-122"/>
              </a:rPr>
              <a:t>;   (b) </a:t>
            </a:r>
            <a:r>
              <a:rPr lang="zh-CN" altLang="en-US" sz="2000" dirty="0">
                <a:latin typeface="Times New Roman" panose="02020603050405020304" pitchFamily="18" charset="0"/>
                <a:ea typeface="宋体" panose="02010600030101010101" pitchFamily="2" charset="-122"/>
              </a:rPr>
              <a:t>相位</a:t>
            </a:r>
            <a:r>
              <a:rPr lang="en-US" altLang="zh-CN" sz="2000" dirty="0">
                <a:latin typeface="Times New Roman" panose="02020603050405020304" pitchFamily="18" charset="0"/>
                <a:ea typeface="宋体" panose="02010600030101010101" pitchFamily="2" charset="-122"/>
              </a:rPr>
              <a:t>;   (c) </a:t>
            </a:r>
            <a:r>
              <a:rPr lang="zh-CN" altLang="en-US" sz="2000" dirty="0">
                <a:latin typeface="Times New Roman" panose="02020603050405020304" pitchFamily="18" charset="0"/>
                <a:ea typeface="宋体" panose="02010600030101010101" pitchFamily="2" charset="-122"/>
              </a:rPr>
              <a:t>群延迟  </a:t>
            </a:r>
            <a:endParaRPr lang="zh-CN" altLang="en-US" sz="2000" dirty="0">
              <a:latin typeface="Times New Roman" panose="02020603050405020304" pitchFamily="18" charset="0"/>
              <a:ea typeface="宋体" panose="02010600030101010101" pitchFamily="2" charset="-122"/>
            </a:endParaRPr>
          </a:p>
        </p:txBody>
      </p:sp>
      <p:pic>
        <p:nvPicPr>
          <p:cNvPr id="38914" name="图片 39942" descr="6-6"/>
          <p:cNvPicPr>
            <a:picLocks noChangeAspect="1"/>
          </p:cNvPicPr>
          <p:nvPr/>
        </p:nvPicPr>
        <p:blipFill>
          <a:blip r:embed="rId1"/>
          <a:stretch>
            <a:fillRect/>
          </a:stretch>
        </p:blipFill>
        <p:spPr>
          <a:xfrm>
            <a:off x="1381125" y="620713"/>
            <a:ext cx="5943600" cy="5184775"/>
          </a:xfrm>
          <a:prstGeom prst="rect">
            <a:avLst/>
          </a:prstGeom>
          <a:noFill/>
          <a:ln w="9525">
            <a:noFill/>
          </a:ln>
        </p:spPr>
      </p:pic>
      <p:cxnSp>
        <p:nvCxnSpPr>
          <p:cNvPr id="2" name="直接连接符 1"/>
          <p:cNvCxnSpPr/>
          <p:nvPr/>
        </p:nvCxnSpPr>
        <p:spPr>
          <a:xfrm flipV="1">
            <a:off x="4835525" y="404813"/>
            <a:ext cx="0" cy="2160588"/>
          </a:xfrm>
          <a:prstGeom prst="line">
            <a:avLst/>
          </a:prstGeom>
          <a:ln w="4445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框 41987"/>
          <p:cNvSpPr txBox="1"/>
          <p:nvPr/>
        </p:nvSpPr>
        <p:spPr>
          <a:xfrm>
            <a:off x="228600" y="455613"/>
            <a:ext cx="8686800" cy="2489200"/>
          </a:xfrm>
          <a:prstGeom prst="rect">
            <a:avLst/>
          </a:prstGeom>
          <a:noFill/>
          <a:ln w="9525">
            <a:noFill/>
          </a:ln>
        </p:spPr>
        <p:txBody>
          <a:bodyPr anchor="t">
            <a:spAutoFit/>
          </a:bodyPr>
          <a:p>
            <a:pPr algn="just">
              <a:lnSpc>
                <a:spcPct val="130000"/>
              </a:lnSpc>
              <a:spcBef>
                <a:spcPct val="50000"/>
              </a:spcBef>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6-4</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系统的单位脉冲响应为</a:t>
            </a:r>
            <a:endParaRPr lang="zh-CN" altLang="en-US" dirty="0">
              <a:latin typeface="Times New Roman" panose="02020603050405020304" pitchFamily="18" charset="0"/>
              <a:ea typeface="宋体" panose="02010600030101010101" pitchFamily="2" charset="-122"/>
            </a:endParaRPr>
          </a:p>
          <a:p>
            <a:pPr algn="ctr">
              <a:lnSpc>
                <a:spcPct val="130000"/>
              </a:lnSpc>
              <a:spcBef>
                <a:spcPct val="50000"/>
              </a:spcBef>
            </a:pPr>
            <a:r>
              <a:rPr lang="zh-CN" altLang="en-US" sz="2800" i="1"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δ</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δ</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-1)</a:t>
            </a:r>
            <a:endParaRPr lang="zh-CN" altLang="en-US" sz="2800"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为奇对称且长度</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，这是第四种类型的线性相位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数字滤波器。该系统的频率响应为 </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39938" name="文本框 41988"/>
          <p:cNvSpPr txBox="1"/>
          <p:nvPr/>
        </p:nvSpPr>
        <p:spPr>
          <a:xfrm>
            <a:off x="179388" y="5373688"/>
            <a:ext cx="6229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该系统的振幅、 相位和群延迟示于图</a:t>
            </a:r>
            <a:r>
              <a:rPr lang="en-US" altLang="zh-CN" dirty="0">
                <a:latin typeface="Times New Roman" panose="02020603050405020304" pitchFamily="18" charset="0"/>
                <a:ea typeface="宋体" panose="02010600030101010101" pitchFamily="2" charset="-122"/>
              </a:rPr>
              <a:t>6-7</a:t>
            </a:r>
            <a:r>
              <a:rPr lang="zh-CN" altLang="en-US" dirty="0">
                <a:latin typeface="Times New Roman" panose="02020603050405020304" pitchFamily="18" charset="0"/>
                <a:ea typeface="宋体" panose="02010600030101010101" pitchFamily="2" charset="-122"/>
              </a:rPr>
              <a:t>中。 </a:t>
            </a:r>
            <a:endParaRPr lang="zh-CN" altLang="en-US" dirty="0">
              <a:latin typeface="Times New Roman" panose="02020603050405020304" pitchFamily="18" charset="0"/>
              <a:ea typeface="宋体" panose="02010600030101010101" pitchFamily="2" charset="-122"/>
            </a:endParaRPr>
          </a:p>
        </p:txBody>
      </p:sp>
      <p:graphicFrame>
        <p:nvGraphicFramePr>
          <p:cNvPr id="39939" name="对象 41989"/>
          <p:cNvGraphicFramePr/>
          <p:nvPr/>
        </p:nvGraphicFramePr>
        <p:xfrm>
          <a:off x="468313" y="2760663"/>
          <a:ext cx="8302625" cy="2255837"/>
        </p:xfrm>
        <a:graphic>
          <a:graphicData uri="http://schemas.openxmlformats.org/presentationml/2006/ole">
            <mc:AlternateContent xmlns:mc="http://schemas.openxmlformats.org/markup-compatibility/2006">
              <mc:Choice xmlns:v="urn:schemas-microsoft-com:vml" Requires="v">
                <p:oleObj spid="_x0000_s3153" name="" r:id="rId1" imgW="3543300" imgH="889000" progId="Equation.3">
                  <p:embed/>
                </p:oleObj>
              </mc:Choice>
              <mc:Fallback>
                <p:oleObj name="" r:id="rId1" imgW="3543300" imgH="889000" progId="Equation.3">
                  <p:embed/>
                  <p:pic>
                    <p:nvPicPr>
                      <p:cNvPr id="0" name="图片 3152"/>
                      <p:cNvPicPr/>
                      <p:nvPr/>
                    </p:nvPicPr>
                    <p:blipFill>
                      <a:blip r:embed="rId2"/>
                      <a:stretch>
                        <a:fillRect/>
                      </a:stretch>
                    </p:blipFill>
                    <p:spPr>
                      <a:xfrm>
                        <a:off x="468313" y="2760663"/>
                        <a:ext cx="8302625" cy="2255837"/>
                      </a:xfrm>
                      <a:prstGeom prst="rect">
                        <a:avLst/>
                      </a:prstGeom>
                      <a:noFill/>
                      <a:ln w="38100">
                        <a:noFill/>
                        <a:miter/>
                      </a:ln>
                    </p:spPr>
                  </p:pic>
                </p:oleObj>
              </mc:Fallback>
            </mc:AlternateContent>
          </a:graphicData>
        </a:graphic>
      </p:graphicFrame>
      <p:sp>
        <p:nvSpPr>
          <p:cNvPr id="2" name="五角星 1"/>
          <p:cNvSpPr/>
          <p:nvPr/>
        </p:nvSpPr>
        <p:spPr>
          <a:xfrm>
            <a:off x="392113" y="549275"/>
            <a:ext cx="576263" cy="57626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6" name="矩形 5"/>
          <p:cNvSpPr/>
          <p:nvPr/>
        </p:nvSpPr>
        <p:spPr>
          <a:xfrm>
            <a:off x="6732588" y="765175"/>
            <a:ext cx="1108075" cy="461963"/>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奇对称</a:t>
            </a:r>
            <a:endParaRPr lang="zh-CN" altLang="en-US" dirty="0">
              <a:latin typeface="Times New Roman" panose="02020603050405020304" pitchFamily="18" charset="0"/>
              <a:ea typeface="宋体" panose="02010600030101010101" pitchFamily="2" charset="-122"/>
            </a:endParaRPr>
          </a:p>
        </p:txBody>
      </p:sp>
      <p:sp>
        <p:nvSpPr>
          <p:cNvPr id="7" name="矩形 6"/>
          <p:cNvSpPr/>
          <p:nvPr/>
        </p:nvSpPr>
        <p:spPr>
          <a:xfrm>
            <a:off x="6732588" y="1341438"/>
            <a:ext cx="800100" cy="460375"/>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偶数</a:t>
            </a:r>
            <a:endParaRPr lang="zh-CN" altLang="en-US" dirty="0">
              <a:latin typeface="Times New Roman" panose="02020603050405020304" pitchFamily="18" charset="0"/>
              <a:ea typeface="宋体" panose="02010600030101010101" pitchFamily="2" charset="-122"/>
            </a:endParaRPr>
          </a:p>
        </p:txBody>
      </p:sp>
      <p:sp>
        <p:nvSpPr>
          <p:cNvPr id="8" name="椭圆 7"/>
          <p:cNvSpPr/>
          <p:nvPr/>
        </p:nvSpPr>
        <p:spPr>
          <a:xfrm>
            <a:off x="6192838" y="3068638"/>
            <a:ext cx="215900" cy="6223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9937">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9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9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3993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文本框 38915"/>
          <p:cNvSpPr txBox="1"/>
          <p:nvPr/>
        </p:nvSpPr>
        <p:spPr>
          <a:xfrm>
            <a:off x="2555875" y="5661025"/>
            <a:ext cx="4505325" cy="701675"/>
          </a:xfrm>
          <a:prstGeom prst="rect">
            <a:avLst/>
          </a:prstGeom>
          <a:solidFill>
            <a:schemeClr val="bg1"/>
          </a:solidFill>
          <a:ln w="9525">
            <a:noFill/>
          </a:ln>
        </p:spPr>
        <p:txBody>
          <a:bodyPr wrap="none" anchor="t">
            <a:spAutoFit/>
          </a:bodyPr>
          <a:p>
            <a:pPr algn="ctr"/>
            <a:r>
              <a:rPr lang="zh-CN" altLang="en-US" sz="2000" dirty="0">
                <a:latin typeface="Times New Roman" panose="02020603050405020304" pitchFamily="18" charset="0"/>
                <a:ea typeface="宋体" panose="02010600030101010101" pitchFamily="2" charset="-122"/>
              </a:rPr>
              <a:t>图</a:t>
            </a:r>
            <a:r>
              <a:rPr lang="en-US" altLang="zh-CN" sz="2000" dirty="0">
                <a:latin typeface="Times New Roman" panose="02020603050405020304" pitchFamily="18" charset="0"/>
                <a:ea typeface="宋体" panose="02010600030101010101" pitchFamily="2" charset="-122"/>
              </a:rPr>
              <a:t>6-7 </a:t>
            </a:r>
            <a:r>
              <a:rPr lang="zh-CN" altLang="en-US"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6-4 </a:t>
            </a:r>
            <a:r>
              <a:rPr lang="zh-CN" altLang="en-US" sz="2000" dirty="0">
                <a:latin typeface="Times New Roman" panose="02020603050405020304" pitchFamily="18" charset="0"/>
                <a:ea typeface="宋体" panose="02010600030101010101" pitchFamily="2" charset="-122"/>
              </a:rPr>
              <a:t>系统的频率响应</a:t>
            </a:r>
            <a:endParaRPr lang="zh-CN" altLang="en-US" sz="2000" dirty="0">
              <a:latin typeface="Times New Roman" panose="02020603050405020304" pitchFamily="18" charset="0"/>
              <a:ea typeface="宋体" panose="02010600030101010101" pitchFamily="2" charset="-122"/>
            </a:endParaRPr>
          </a:p>
          <a:p>
            <a:pPr algn="ct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a:t>
            </a:r>
            <a:r>
              <a:rPr lang="zh-CN" altLang="en-US" sz="2000" dirty="0">
                <a:latin typeface="Times New Roman" panose="02020603050405020304" pitchFamily="18" charset="0"/>
                <a:ea typeface="宋体" panose="02010600030101010101" pitchFamily="2" charset="-122"/>
              </a:rPr>
              <a:t>） 振幅特性</a:t>
            </a:r>
            <a:r>
              <a:rPr lang="en-US" altLang="zh-CN" sz="2000" dirty="0">
                <a:latin typeface="Times New Roman" panose="02020603050405020304" pitchFamily="18" charset="0"/>
                <a:ea typeface="宋体" panose="02010600030101010101" pitchFamily="2" charset="-122"/>
              </a:rPr>
              <a:t>;   (b) </a:t>
            </a:r>
            <a:r>
              <a:rPr lang="zh-CN" altLang="en-US" sz="2000" dirty="0">
                <a:latin typeface="Times New Roman" panose="02020603050405020304" pitchFamily="18" charset="0"/>
                <a:ea typeface="宋体" panose="02010600030101010101" pitchFamily="2" charset="-122"/>
              </a:rPr>
              <a:t>相位</a:t>
            </a:r>
            <a:r>
              <a:rPr lang="en-US" altLang="zh-CN" sz="2000" dirty="0">
                <a:latin typeface="Times New Roman" panose="02020603050405020304" pitchFamily="18" charset="0"/>
                <a:ea typeface="宋体" panose="02010600030101010101" pitchFamily="2" charset="-122"/>
              </a:rPr>
              <a:t>;   (c) </a:t>
            </a:r>
            <a:r>
              <a:rPr lang="zh-CN" altLang="en-US" sz="2000" dirty="0">
                <a:latin typeface="Times New Roman" panose="02020603050405020304" pitchFamily="18" charset="0"/>
                <a:ea typeface="宋体" panose="02010600030101010101" pitchFamily="2" charset="-122"/>
              </a:rPr>
              <a:t>群延迟  </a:t>
            </a:r>
            <a:endParaRPr lang="zh-CN" altLang="en-US" sz="2000" dirty="0">
              <a:latin typeface="Times New Roman" panose="02020603050405020304" pitchFamily="18" charset="0"/>
              <a:ea typeface="宋体" panose="02010600030101010101" pitchFamily="2" charset="-122"/>
            </a:endParaRPr>
          </a:p>
        </p:txBody>
      </p:sp>
      <p:pic>
        <p:nvPicPr>
          <p:cNvPr id="40962" name="图片 38918" descr="6-7"/>
          <p:cNvPicPr>
            <a:picLocks noChangeAspect="1"/>
          </p:cNvPicPr>
          <p:nvPr/>
        </p:nvPicPr>
        <p:blipFill>
          <a:blip r:embed="rId1"/>
          <a:stretch>
            <a:fillRect/>
          </a:stretch>
        </p:blipFill>
        <p:spPr>
          <a:xfrm>
            <a:off x="2416175" y="747713"/>
            <a:ext cx="4368800" cy="4751387"/>
          </a:xfrm>
          <a:prstGeom prst="rect">
            <a:avLst/>
          </a:prstGeom>
          <a:noFill/>
          <a:ln w="9525">
            <a:noFill/>
          </a:ln>
        </p:spPr>
      </p:pic>
      <p:sp>
        <p:nvSpPr>
          <p:cNvPr id="2" name="矩形 1"/>
          <p:cNvSpPr/>
          <p:nvPr/>
        </p:nvSpPr>
        <p:spPr>
          <a:xfrm>
            <a:off x="107950" y="1196975"/>
            <a:ext cx="3240088" cy="2678113"/>
          </a:xfrm>
          <a:prstGeom prst="rect">
            <a:avLst/>
          </a:prstGeom>
          <a:solidFill>
            <a:schemeClr val="accent1"/>
          </a:solidFill>
          <a:ln w="9525">
            <a:noFill/>
          </a:ln>
        </p:spPr>
        <p:txBody>
          <a:bodyPr anchor="t">
            <a:spAutoFit/>
          </a:bodyPr>
          <a:p>
            <a:r>
              <a:rPr lang="zh-CN" altLang="en-US" b="1" dirty="0">
                <a:solidFill>
                  <a:srgbClr val="FF0000"/>
                </a:solidFill>
                <a:latin typeface="Times New Roman" panose="02020603050405020304" pitchFamily="18" charset="0"/>
                <a:ea typeface="宋体" panose="02010600030101010101" pitchFamily="2" charset="-122"/>
              </a:rPr>
              <a:t>要求：</a:t>
            </a:r>
            <a:endParaRPr lang="en-US" altLang="zh-CN" b="1" dirty="0">
              <a:solidFill>
                <a:srgbClr val="FF0000"/>
              </a:solidFill>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根据给定的单位脉冲响应，判断属于</a:t>
            </a:r>
            <a:r>
              <a:rPr lang="zh-CN" altLang="en-US" b="1" u="sng" dirty="0">
                <a:solidFill>
                  <a:srgbClr val="FF0000"/>
                </a:solidFill>
                <a:latin typeface="Times New Roman" panose="02020603050405020304" pitchFamily="18" charset="0"/>
                <a:ea typeface="宋体" panose="02010600030101010101" pitchFamily="2" charset="-122"/>
              </a:rPr>
              <a:t>哪一类</a:t>
            </a:r>
            <a:r>
              <a:rPr lang="zh-CN" altLang="en-US" dirty="0">
                <a:latin typeface="Times New Roman" panose="02020603050405020304" pitchFamily="18" charset="0"/>
                <a:ea typeface="宋体" panose="02010600030101010101" pitchFamily="2" charset="-122"/>
              </a:rPr>
              <a:t>的线性滤波器</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画幅度、相位及群延时</a:t>
            </a:r>
            <a:r>
              <a:rPr lang="zh-CN" altLang="en-US" b="1" u="sng" dirty="0">
                <a:solidFill>
                  <a:srgbClr val="FF0000"/>
                </a:solidFill>
                <a:latin typeface="Times New Roman" panose="02020603050405020304" pitchFamily="18" charset="0"/>
                <a:ea typeface="宋体" panose="02010600030101010101" pitchFamily="2" charset="-122"/>
              </a:rPr>
              <a:t>曲线</a:t>
            </a:r>
            <a:endParaRPr lang="en-US" altLang="zh-CN" b="1" u="sng" dirty="0">
              <a:solidFill>
                <a:srgbClr val="FF0000"/>
              </a:solidFill>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适合设计</a:t>
            </a:r>
            <a:r>
              <a:rPr lang="zh-CN" altLang="en-US" b="1" u="sng" dirty="0">
                <a:solidFill>
                  <a:srgbClr val="FF0000"/>
                </a:solidFill>
                <a:latin typeface="Times New Roman" panose="02020603050405020304" pitchFamily="18" charset="0"/>
                <a:ea typeface="宋体" panose="02010600030101010101" pitchFamily="2" charset="-122"/>
              </a:rPr>
              <a:t>何种</a:t>
            </a:r>
            <a:r>
              <a:rPr lang="zh-CN" altLang="en-US" dirty="0">
                <a:latin typeface="Times New Roman" panose="02020603050405020304" pitchFamily="18" charset="0"/>
                <a:ea typeface="宋体" panose="02010600030101010101" pitchFamily="2" charset="-122"/>
              </a:rPr>
              <a:t>滤波器</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框 40963"/>
          <p:cNvSpPr txBox="1"/>
          <p:nvPr/>
        </p:nvSpPr>
        <p:spPr>
          <a:xfrm>
            <a:off x="228600" y="554038"/>
            <a:ext cx="8763000" cy="5078412"/>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6-5]</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一个</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线性相位滤波器的单位脉冲响应是实数的， 且</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&lt;0 </a:t>
            </a:r>
            <a:r>
              <a:rPr lang="zh-CN" altLang="en-US" b="1" dirty="0">
                <a:solidFill>
                  <a:srgbClr val="FF0000"/>
                </a:solidFill>
                <a:latin typeface="Times New Roman" panose="02020603050405020304" pitchFamily="18" charset="0"/>
                <a:ea typeface="宋体" panose="02010600030101010101" pitchFamily="2" charset="-122"/>
              </a:rPr>
              <a:t>和</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&gt;6 </a:t>
            </a:r>
            <a:r>
              <a:rPr lang="zh-CN" altLang="en-US" b="1" dirty="0">
                <a:solidFill>
                  <a:srgbClr val="FF0000"/>
                </a:solidFill>
                <a:latin typeface="Times New Roman" panose="02020603050405020304" pitchFamily="18" charset="0"/>
                <a:ea typeface="宋体" panose="02010600030101010101" pitchFamily="2" charset="-122"/>
              </a:rPr>
              <a:t>时</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如果</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(0)=1</a:t>
            </a:r>
            <a:r>
              <a:rPr lang="zh-CN" altLang="en-US" dirty="0">
                <a:latin typeface="Times New Roman" panose="02020603050405020304" pitchFamily="18" charset="0"/>
                <a:ea typeface="宋体" panose="02010600030101010101" pitchFamily="2" charset="-122"/>
              </a:rPr>
              <a:t>且系统函数在</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=0.5e</a:t>
            </a:r>
            <a:r>
              <a:rPr lang="en-US" altLang="zh-CN" baseline="30000" dirty="0">
                <a:latin typeface="Times New Roman" panose="02020603050405020304" pitchFamily="18" charset="0"/>
                <a:ea typeface="宋体" panose="02010600030101010101" pitchFamily="2" charset="-122"/>
              </a:rPr>
              <a:t>jπ/3</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各有一个零点，</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的表达式是什么？</a:t>
            </a:r>
            <a:endParaRPr lang="en-US" altLang="zh-CN" dirty="0">
              <a:latin typeface="Times New Roman" panose="02020603050405020304" pitchFamily="18" charset="0"/>
              <a:ea typeface="宋体" panose="02010600030101010101" pitchFamily="2" charset="-122"/>
            </a:endParaRPr>
          </a:p>
          <a:p>
            <a:pPr algn="just">
              <a:lnSpc>
                <a:spcPct val="150000"/>
              </a:lnSpc>
              <a:spcBef>
                <a:spcPct val="50000"/>
              </a:spcBef>
            </a:pPr>
            <a:endParaRPr lang="en-US" altLang="zh-CN"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b="1" dirty="0">
                <a:latin typeface="Times New Roman" panose="02020603050405020304" pitchFamily="18" charset="0"/>
                <a:ea typeface="宋体" panose="02010600030101010101" pitchFamily="2" charset="-122"/>
              </a:rPr>
              <a:t>解 </a:t>
            </a:r>
            <a:r>
              <a:rPr lang="zh-CN" altLang="en-US" dirty="0">
                <a:latin typeface="Times New Roman" panose="02020603050405020304" pitchFamily="18" charset="0"/>
                <a:ea typeface="宋体" panose="02010600030101010101" pitchFamily="2" charset="-122"/>
              </a:rPr>
              <a:t>因为</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&lt;0 </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&gt;6 </a:t>
            </a:r>
            <a:r>
              <a:rPr lang="zh-CN" altLang="en-US" dirty="0">
                <a:latin typeface="Times New Roman" panose="02020603050405020304" pitchFamily="18" charset="0"/>
                <a:ea typeface="宋体" panose="02010600030101010101" pitchFamily="2" charset="-122"/>
              </a:rPr>
              <a:t>时</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是实值，所以当</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z=0.5e</a:t>
            </a:r>
            <a:r>
              <a:rPr lang="en-US" altLang="zh-CN" baseline="30000" dirty="0">
                <a:latin typeface="Times New Roman" panose="02020603050405020304" pitchFamily="18" charset="0"/>
                <a:ea typeface="宋体" panose="02010600030101010101" pitchFamily="2" charset="-122"/>
              </a:rPr>
              <a:t>jπ/3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有一个复零点时，则在它的共轭位置</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=0.5e</a:t>
            </a:r>
            <a:r>
              <a:rPr lang="en-US" altLang="zh-CN" baseline="30000" dirty="0">
                <a:latin typeface="Times New Roman" panose="02020603050405020304" pitchFamily="18" charset="0"/>
                <a:ea typeface="宋体" panose="02010600030101010101" pitchFamily="2" charset="-122"/>
              </a:rPr>
              <a:t>-jπ/3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处一定有另一个零点。这个零点共轭对产生如下的二阶因子： </a:t>
            </a:r>
            <a:endParaRPr lang="zh-CN" altLang="en-US" dirty="0">
              <a:latin typeface="Times New Roman" panose="02020603050405020304" pitchFamily="18" charset="0"/>
              <a:ea typeface="宋体" panose="02010600030101010101" pitchFamily="2" charset="-122"/>
            </a:endParaRPr>
          </a:p>
        </p:txBody>
      </p:sp>
      <p:sp>
        <p:nvSpPr>
          <p:cNvPr id="41986" name="文本框 40964"/>
          <p:cNvSpPr txBox="1"/>
          <p:nvPr/>
        </p:nvSpPr>
        <p:spPr>
          <a:xfrm>
            <a:off x="2090738" y="5525453"/>
            <a:ext cx="5038725" cy="1384300"/>
          </a:xfrm>
          <a:prstGeom prst="rect">
            <a:avLst/>
          </a:prstGeom>
          <a:solidFill>
            <a:schemeClr val="accent1"/>
          </a:solidFill>
          <a:ln w="9525">
            <a:noFill/>
          </a:ln>
        </p:spPr>
        <p:txBody>
          <a:bodyPr wrap="none" anchor="t">
            <a:spAutoFit/>
          </a:bodyPr>
          <a:p>
            <a:pPr>
              <a:lnSpc>
                <a:spcPct val="150000"/>
              </a:lnSpc>
            </a:pPr>
            <a:r>
              <a:rPr lang="en-US" altLang="zh-CN" sz="2800" i="1" dirty="0">
                <a:latin typeface="Times New Roman" panose="02020603050405020304" pitchFamily="18" charset="0"/>
                <a:ea typeface="宋体" panose="02010600030101010101" pitchFamily="2" charset="-122"/>
              </a:rPr>
              <a:t>H</a:t>
            </a:r>
            <a:r>
              <a:rPr lang="en-US" altLang="zh-CN" sz="2800" baseline="-25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z</a:t>
            </a:r>
            <a:r>
              <a:rPr lang="en-US" altLang="zh-CN" sz="2800" dirty="0">
                <a:latin typeface="Times New Roman" panose="02020603050405020304" pitchFamily="18" charset="0"/>
                <a:ea typeface="宋体" panose="02010600030101010101" pitchFamily="2" charset="-122"/>
              </a:rPr>
              <a:t>) =(1-0.5e</a:t>
            </a:r>
            <a:r>
              <a:rPr lang="en-US" altLang="zh-CN" sz="2800" baseline="30000" dirty="0">
                <a:latin typeface="Times New Roman" panose="02020603050405020304" pitchFamily="18" charset="0"/>
                <a:ea typeface="宋体" panose="02010600030101010101" pitchFamily="2" charset="-122"/>
              </a:rPr>
              <a:t>jπ/3</a:t>
            </a:r>
            <a:r>
              <a:rPr lang="en-US" altLang="zh-CN" sz="2800"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z</a:t>
            </a:r>
            <a:r>
              <a:rPr lang="en-US" altLang="zh-CN" sz="2800" baseline="30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)(1-0.5e</a:t>
            </a:r>
            <a:r>
              <a:rPr lang="en-US" altLang="zh-CN" sz="2800" baseline="30000" dirty="0">
                <a:latin typeface="Times New Roman" panose="02020603050405020304" pitchFamily="18" charset="0"/>
                <a:ea typeface="宋体" panose="02010600030101010101" pitchFamily="2" charset="-122"/>
              </a:rPr>
              <a:t>-jπ/3</a:t>
            </a:r>
            <a:r>
              <a:rPr lang="en-US" altLang="zh-CN" sz="2800" i="1" dirty="0">
                <a:latin typeface="Times New Roman" panose="02020603050405020304" pitchFamily="18" charset="0"/>
                <a:ea typeface="宋体" panose="02010600030101010101" pitchFamily="2" charset="-122"/>
              </a:rPr>
              <a:t>z</a:t>
            </a:r>
            <a:r>
              <a:rPr lang="en-US" altLang="zh-CN" sz="2800" baseline="30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pPr>
              <a:lnSpc>
                <a:spcPct val="150000"/>
              </a:lnSpc>
            </a:pP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=1-0.5</a:t>
            </a:r>
            <a:r>
              <a:rPr lang="en-US" altLang="zh-CN" sz="2800" i="1" dirty="0">
                <a:latin typeface="Times New Roman" panose="02020603050405020304" pitchFamily="18" charset="0"/>
                <a:ea typeface="宋体" panose="02010600030101010101" pitchFamily="2" charset="-122"/>
              </a:rPr>
              <a:t>z</a:t>
            </a:r>
            <a:r>
              <a:rPr lang="en-US" altLang="zh-CN" sz="2800" baseline="30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+0.25</a:t>
            </a:r>
            <a:r>
              <a:rPr lang="en-US" altLang="zh-CN" sz="2800" i="1" dirty="0">
                <a:latin typeface="Times New Roman" panose="02020603050405020304" pitchFamily="18" charset="0"/>
                <a:ea typeface="宋体" panose="02010600030101010101" pitchFamily="2" charset="-122"/>
              </a:rPr>
              <a:t>z</a:t>
            </a:r>
            <a:r>
              <a:rPr lang="en-US" altLang="zh-CN" sz="2800" baseline="30000" dirty="0">
                <a:latin typeface="Times New Roman" panose="02020603050405020304" pitchFamily="18" charset="0"/>
                <a:ea typeface="宋体" panose="02010600030101010101" pitchFamily="2" charset="-122"/>
              </a:rPr>
              <a:t>-2</a:t>
            </a:r>
            <a:endParaRPr lang="zh-CN" altLang="en-US" sz="2800" dirty="0">
              <a:latin typeface="Times New Roman" panose="02020603050405020304" pitchFamily="18" charset="0"/>
              <a:ea typeface="宋体" panose="02010600030101010101" pitchFamily="2" charset="-122"/>
            </a:endParaRPr>
          </a:p>
        </p:txBody>
      </p:sp>
      <p:sp>
        <p:nvSpPr>
          <p:cNvPr id="2" name="五角星 1"/>
          <p:cNvSpPr/>
          <p:nvPr/>
        </p:nvSpPr>
        <p:spPr>
          <a:xfrm>
            <a:off x="379413" y="655638"/>
            <a:ext cx="504825" cy="6477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4" name="矩形 3"/>
          <p:cNvSpPr>
            <a:spLocks noRot="1" noChangeAspect="1" noMove="1" noResize="1" noEditPoints="1" noAdjustHandles="1" noChangeArrowheads="1" noChangeShapeType="1" noTextEdit="1"/>
          </p:cNvSpPr>
          <p:nvPr/>
        </p:nvSpPr>
        <p:spPr>
          <a:xfrm>
            <a:off x="0" y="0"/>
            <a:ext cx="9144000" cy="1131888"/>
          </a:xfrm>
          <a:prstGeom prst="rect">
            <a:avLst/>
          </a:prstGeom>
          <a:blipFill>
            <a:blip r:embed="rId1"/>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sym typeface="+mn-ea"/>
              </a:rPr>
              <a:t> </a:t>
            </a:r>
            <a:endParaRPr kumimoji="0" lang="zh-CN" altLang="en-US" sz="24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sym typeface="+mn-ea"/>
            </a:endParaRPr>
          </a:p>
        </p:txBody>
      </p:sp>
      <p:sp>
        <p:nvSpPr>
          <p:cNvPr id="5" name="矩形 4"/>
          <p:cNvSpPr>
            <a:spLocks noRot="1" noChangeAspect="1" noMove="1" noResize="1" noEditPoints="1" noAdjustHandles="1" noChangeArrowheads="1" noChangeShapeType="1" noTextEdit="1"/>
          </p:cNvSpPr>
          <p:nvPr/>
        </p:nvSpPr>
        <p:spPr>
          <a:xfrm>
            <a:off x="76200" y="2314575"/>
            <a:ext cx="3587750" cy="1131888"/>
          </a:xfrm>
          <a:prstGeom prst="rect">
            <a:avLst/>
          </a:prstGeom>
          <a:blipFill>
            <a:blip r:embed="rId2"/>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sym typeface="+mn-ea"/>
              </a:rPr>
              <a:t> </a:t>
            </a:r>
            <a:endParaRPr kumimoji="0" lang="zh-CN" altLang="en-US" sz="24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sym typeface="+mn-ea"/>
            </a:endParaRPr>
          </a:p>
        </p:txBody>
      </p:sp>
      <p:sp>
        <p:nvSpPr>
          <p:cNvPr id="6" name="矩形 5"/>
          <p:cNvSpPr>
            <a:spLocks noRot="1" noChangeAspect="1" noMove="1" noResize="1" noEditPoints="1" noAdjustHandles="1" noChangeArrowheads="1" noChangeShapeType="1" noTextEdit="1"/>
          </p:cNvSpPr>
          <p:nvPr/>
        </p:nvSpPr>
        <p:spPr>
          <a:xfrm>
            <a:off x="3990975" y="2395538"/>
            <a:ext cx="5076825" cy="985838"/>
          </a:xfrm>
          <a:prstGeom prst="rect">
            <a:avLst/>
          </a:prstGeom>
          <a:blipFill>
            <a:blip r:embed="rId3"/>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sym typeface="+mn-ea"/>
              </a:rPr>
              <a:t> </a:t>
            </a:r>
            <a:endParaRPr kumimoji="0" lang="zh-CN" altLang="en-US" sz="24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sym typeface="+mn-ea"/>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985">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9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文本框 45059"/>
          <p:cNvSpPr txBox="1"/>
          <p:nvPr/>
        </p:nvSpPr>
        <p:spPr>
          <a:xfrm>
            <a:off x="228600" y="60960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线性相位的约束条件需要在这两个零点的倒数位置上有零点，所以</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同样必须包括如下的有关因子： </a:t>
            </a:r>
            <a:endParaRPr lang="zh-CN" altLang="en-US" dirty="0">
              <a:latin typeface="Times New Roman" panose="02020603050405020304" pitchFamily="18" charset="0"/>
              <a:ea typeface="宋体" panose="02010600030101010101" pitchFamily="2" charset="-122"/>
            </a:endParaRPr>
          </a:p>
        </p:txBody>
      </p:sp>
      <p:graphicFrame>
        <p:nvGraphicFramePr>
          <p:cNvPr id="43010" name="对象 45060"/>
          <p:cNvGraphicFramePr/>
          <p:nvPr/>
        </p:nvGraphicFramePr>
        <p:xfrm>
          <a:off x="1476375" y="1916113"/>
          <a:ext cx="6858000" cy="1246187"/>
        </p:xfrm>
        <a:graphic>
          <a:graphicData uri="http://schemas.openxmlformats.org/presentationml/2006/ole">
            <mc:AlternateContent xmlns:mc="http://schemas.openxmlformats.org/markup-compatibility/2006">
              <mc:Choice xmlns:v="urn:schemas-microsoft-com:vml" Requires="v">
                <p:oleObj spid="_x0000_s3154" name="" r:id="rId1" imgW="2932430" imgH="533400" progId="Equation.3">
                  <p:embed/>
                </p:oleObj>
              </mc:Choice>
              <mc:Fallback>
                <p:oleObj name="" r:id="rId1" imgW="2932430" imgH="533400" progId="Equation.3">
                  <p:embed/>
                  <p:pic>
                    <p:nvPicPr>
                      <p:cNvPr id="0" name="图片 3153"/>
                      <p:cNvPicPr/>
                      <p:nvPr/>
                    </p:nvPicPr>
                    <p:blipFill>
                      <a:blip r:embed="rId2"/>
                      <a:stretch>
                        <a:fillRect/>
                      </a:stretch>
                    </p:blipFill>
                    <p:spPr>
                      <a:xfrm>
                        <a:off x="1476375" y="1916113"/>
                        <a:ext cx="6858000" cy="1246187"/>
                      </a:xfrm>
                      <a:prstGeom prst="rect">
                        <a:avLst/>
                      </a:prstGeom>
                      <a:noFill/>
                      <a:ln w="38100">
                        <a:noFill/>
                        <a:miter/>
                      </a:ln>
                    </p:spPr>
                  </p:pic>
                </p:oleObj>
              </mc:Fallback>
            </mc:AlternateContent>
          </a:graphicData>
        </a:graphic>
      </p:graphicFrame>
      <p:sp>
        <p:nvSpPr>
          <p:cNvPr id="43011" name="文本框 45061"/>
          <p:cNvSpPr txBox="1"/>
          <p:nvPr/>
        </p:nvSpPr>
        <p:spPr>
          <a:xfrm>
            <a:off x="228600" y="332105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系统函数还包含一个</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的零点，同样线性相位的约束条件需要在</a:t>
            </a:r>
            <a:r>
              <a:rPr lang="en-US" altLang="zh-CN" dirty="0">
                <a:latin typeface="Times New Roman" panose="02020603050405020304" pitchFamily="18" charset="0"/>
                <a:ea typeface="宋体" panose="02010600030101010101" pitchFamily="2" charset="-122"/>
              </a:rPr>
              <a:t>z=1/3 </a:t>
            </a:r>
            <a:r>
              <a:rPr lang="zh-CN" altLang="en-US" dirty="0">
                <a:latin typeface="Times New Roman" panose="02020603050405020304" pitchFamily="18" charset="0"/>
                <a:ea typeface="宋体" panose="02010600030101010101" pitchFamily="2" charset="-122"/>
              </a:rPr>
              <a:t>也有一个零点。 于是，</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还具有如下因子： </a:t>
            </a:r>
            <a:endParaRPr lang="zh-CN" altLang="en-US" dirty="0">
              <a:latin typeface="Times New Roman" panose="02020603050405020304" pitchFamily="18" charset="0"/>
              <a:ea typeface="宋体" panose="02010600030101010101" pitchFamily="2" charset="-122"/>
            </a:endParaRPr>
          </a:p>
        </p:txBody>
      </p:sp>
      <p:graphicFrame>
        <p:nvGraphicFramePr>
          <p:cNvPr id="43012" name="对象 45063"/>
          <p:cNvGraphicFramePr/>
          <p:nvPr/>
        </p:nvGraphicFramePr>
        <p:xfrm>
          <a:off x="2339975" y="4724400"/>
          <a:ext cx="4648200" cy="1162050"/>
        </p:xfrm>
        <a:graphic>
          <a:graphicData uri="http://schemas.openxmlformats.org/presentationml/2006/ole">
            <mc:AlternateContent xmlns:mc="http://schemas.openxmlformats.org/markup-compatibility/2006">
              <mc:Choice xmlns:v="urn:schemas-microsoft-com:vml" Requires="v">
                <p:oleObj spid="_x0000_s3076" name="" r:id="rId3" imgW="1726565" imgH="431800" progId="Equation.3">
                  <p:embed/>
                </p:oleObj>
              </mc:Choice>
              <mc:Fallback>
                <p:oleObj name="" r:id="rId3" imgW="1726565" imgH="431800" progId="Equation.3">
                  <p:embed/>
                  <p:pic>
                    <p:nvPicPr>
                      <p:cNvPr id="0" name="图片 3075"/>
                      <p:cNvPicPr/>
                      <p:nvPr/>
                    </p:nvPicPr>
                    <p:blipFill>
                      <a:blip r:embed="rId4"/>
                      <a:stretch>
                        <a:fillRect/>
                      </a:stretch>
                    </p:blipFill>
                    <p:spPr>
                      <a:xfrm>
                        <a:off x="2339975" y="4724400"/>
                        <a:ext cx="4648200" cy="1162050"/>
                      </a:xfrm>
                      <a:prstGeom prst="rect">
                        <a:avLst/>
                      </a:prstGeom>
                      <a:noFill/>
                      <a:ln w="38100">
                        <a:noFill/>
                        <a:miter/>
                      </a:ln>
                    </p:spPr>
                  </p:pic>
                </p:oleObj>
              </mc:Fallback>
            </mc:AlternateContent>
          </a:graphicData>
        </a:graphic>
      </p:graphicFrame>
    </p:spTree>
  </p:cSld>
  <p:clrMapOvr>
    <a:masterClrMapping/>
  </p:clrMapOvr>
  <p:transition>
    <p:zoom dir="in"/>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文本框 44035"/>
          <p:cNvSpPr txBox="1"/>
          <p:nvPr/>
        </p:nvSpPr>
        <p:spPr>
          <a:xfrm>
            <a:off x="381000" y="914400"/>
            <a:ext cx="2089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由此，我们有 </a:t>
            </a:r>
            <a:endParaRPr lang="zh-CN" altLang="en-US" dirty="0">
              <a:latin typeface="Times New Roman" panose="02020603050405020304" pitchFamily="18" charset="0"/>
              <a:ea typeface="宋体" panose="02010600030101010101" pitchFamily="2" charset="-122"/>
            </a:endParaRPr>
          </a:p>
        </p:txBody>
      </p:sp>
      <p:graphicFrame>
        <p:nvGraphicFramePr>
          <p:cNvPr id="44034" name="对象 44036"/>
          <p:cNvGraphicFramePr/>
          <p:nvPr/>
        </p:nvGraphicFramePr>
        <p:xfrm>
          <a:off x="381000" y="1676400"/>
          <a:ext cx="8705850" cy="936625"/>
        </p:xfrm>
        <a:graphic>
          <a:graphicData uri="http://schemas.openxmlformats.org/presentationml/2006/ole">
            <mc:AlternateContent xmlns:mc="http://schemas.openxmlformats.org/markup-compatibility/2006">
              <mc:Choice xmlns:v="urn:schemas-microsoft-com:vml" Requires="v">
                <p:oleObj spid="_x0000_s3081" name="" r:id="rId1" imgW="4011295" imgH="431800" progId="Equation.3">
                  <p:embed/>
                </p:oleObj>
              </mc:Choice>
              <mc:Fallback>
                <p:oleObj name="" r:id="rId1" imgW="4011295" imgH="431800" progId="Equation.3">
                  <p:embed/>
                  <p:pic>
                    <p:nvPicPr>
                      <p:cNvPr id="0" name="图片 3080"/>
                      <p:cNvPicPr/>
                      <p:nvPr/>
                    </p:nvPicPr>
                    <p:blipFill>
                      <a:blip r:embed="rId2"/>
                      <a:stretch>
                        <a:fillRect/>
                      </a:stretch>
                    </p:blipFill>
                    <p:spPr>
                      <a:xfrm>
                        <a:off x="381000" y="1676400"/>
                        <a:ext cx="8705850" cy="936625"/>
                      </a:xfrm>
                      <a:prstGeom prst="rect">
                        <a:avLst/>
                      </a:prstGeom>
                      <a:noFill/>
                      <a:ln w="38100">
                        <a:noFill/>
                        <a:miter/>
                      </a:ln>
                    </p:spPr>
                  </p:pic>
                </p:oleObj>
              </mc:Fallback>
            </mc:AlternateContent>
          </a:graphicData>
        </a:graphic>
      </p:graphicFrame>
      <p:sp>
        <p:nvSpPr>
          <p:cNvPr id="44035" name="文本框 44037"/>
          <p:cNvSpPr txBox="1"/>
          <p:nvPr/>
        </p:nvSpPr>
        <p:spPr>
          <a:xfrm>
            <a:off x="173038" y="4702175"/>
            <a:ext cx="879792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最后，多项式中零阶项的系数为</a:t>
            </a:r>
            <a:r>
              <a:rPr lang="en-US" altLang="zh-CN" i="1"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，为使</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(0)=1</a:t>
            </a:r>
            <a:r>
              <a:rPr lang="zh-CN" altLang="en-US" dirty="0">
                <a:latin typeface="Times New Roman" panose="02020603050405020304" pitchFamily="18" charset="0"/>
                <a:ea typeface="宋体" panose="02010600030101010101" pitchFamily="2" charset="-122"/>
              </a:rPr>
              <a:t>，必定有：</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44036" name="对象 1">
            <a:hlinkClick r:id="" action="ppaction://ole?verb="/>
          </p:cNvPr>
          <p:cNvGraphicFramePr>
            <a:graphicFrameLocks noChangeAspect="1"/>
          </p:cNvGraphicFramePr>
          <p:nvPr/>
        </p:nvGraphicFramePr>
        <p:xfrm>
          <a:off x="555625" y="2870200"/>
          <a:ext cx="8356600" cy="885825"/>
        </p:xfrm>
        <a:graphic>
          <a:graphicData uri="http://schemas.openxmlformats.org/presentationml/2006/ole">
            <mc:AlternateContent xmlns:mc="http://schemas.openxmlformats.org/markup-compatibility/2006">
              <mc:Choice xmlns:v="urn:schemas-microsoft-com:vml" Requires="v">
                <p:oleObj spid="_x0000_s3079" name="" r:id="rId3" imgW="4076700" imgH="431800" progId="Equation.KSEE3">
                  <p:embed/>
                </p:oleObj>
              </mc:Choice>
              <mc:Fallback>
                <p:oleObj name="" r:id="rId3" imgW="4076700" imgH="431800" progId="Equation.KSEE3">
                  <p:embed/>
                  <p:pic>
                    <p:nvPicPr>
                      <p:cNvPr id="0" name="图片 3078"/>
                      <p:cNvPicPr/>
                      <p:nvPr/>
                    </p:nvPicPr>
                    <p:blipFill>
                      <a:blip r:embed="rId4"/>
                      <a:stretch>
                        <a:fillRect/>
                      </a:stretch>
                    </p:blipFill>
                    <p:spPr>
                      <a:xfrm>
                        <a:off x="555625" y="2870200"/>
                        <a:ext cx="8356600" cy="885825"/>
                      </a:xfrm>
                      <a:prstGeom prst="rect">
                        <a:avLst/>
                      </a:prstGeom>
                      <a:noFill/>
                      <a:ln w="38100">
                        <a:noFill/>
                        <a:miter/>
                      </a:ln>
                    </p:spPr>
                  </p:pic>
                </p:oleObj>
              </mc:Fallback>
            </mc:AlternateContent>
          </a:graphicData>
        </a:graphic>
      </p:graphicFrame>
      <p:graphicFrame>
        <p:nvGraphicFramePr>
          <p:cNvPr id="44037" name="对象 3">
            <a:hlinkClick r:id="" action="ppaction://ole?verb="/>
          </p:cNvPr>
          <p:cNvGraphicFramePr>
            <a:graphicFrameLocks noChangeAspect="1"/>
          </p:cNvGraphicFramePr>
          <p:nvPr/>
        </p:nvGraphicFramePr>
        <p:xfrm>
          <a:off x="3948113" y="3983038"/>
          <a:ext cx="730250" cy="339725"/>
        </p:xfrm>
        <a:graphic>
          <a:graphicData uri="http://schemas.openxmlformats.org/presentationml/2006/ole">
            <mc:AlternateContent xmlns:mc="http://schemas.openxmlformats.org/markup-compatibility/2006">
              <mc:Choice xmlns:v="urn:schemas-microsoft-com:vml" Requires="v">
                <p:oleObj spid="_x0000_s3077" name="" r:id="rId5" imgW="355600" imgH="165100" progId="Equation.KSEE3">
                  <p:embed/>
                </p:oleObj>
              </mc:Choice>
              <mc:Fallback>
                <p:oleObj name="" r:id="rId5" imgW="355600" imgH="165100" progId="Equation.KSEE3">
                  <p:embed/>
                  <p:pic>
                    <p:nvPicPr>
                      <p:cNvPr id="0" name="图片 3076"/>
                      <p:cNvPicPr/>
                      <p:nvPr/>
                    </p:nvPicPr>
                    <p:blipFill>
                      <a:blip r:embed="rId6"/>
                      <a:stretch>
                        <a:fillRect/>
                      </a:stretch>
                    </p:blipFill>
                    <p:spPr>
                      <a:xfrm>
                        <a:off x="3948113" y="3983038"/>
                        <a:ext cx="730250" cy="339725"/>
                      </a:xfrm>
                      <a:prstGeom prst="rect">
                        <a:avLst/>
                      </a:prstGeom>
                      <a:noFill/>
                      <a:ln w="38100">
                        <a:noFill/>
                        <a:miter/>
                      </a:ln>
                    </p:spPr>
                  </p:pic>
                </p:oleObj>
              </mc:Fallback>
            </mc:AlternateContent>
          </a:graphicData>
        </a:graphic>
      </p:graphicFrame>
      <p:cxnSp>
        <p:nvCxnSpPr>
          <p:cNvPr id="2" name="直接连接符 1"/>
          <p:cNvCxnSpPr/>
          <p:nvPr/>
        </p:nvCxnSpPr>
        <p:spPr>
          <a:xfrm>
            <a:off x="1657350" y="2308225"/>
            <a:ext cx="1690688" cy="83343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文本框 43011"/>
          <p:cNvSpPr txBox="1"/>
          <p:nvPr/>
        </p:nvSpPr>
        <p:spPr>
          <a:xfrm>
            <a:off x="1754188" y="685800"/>
            <a:ext cx="5713412"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6.2  </a:t>
            </a:r>
            <a:r>
              <a:rPr lang="zh-CN" altLang="en-US" sz="3200" b="1" dirty="0">
                <a:latin typeface="Times New Roman" panose="02020603050405020304" pitchFamily="18" charset="0"/>
                <a:ea typeface="宋体" panose="02010600030101010101" pitchFamily="2" charset="-122"/>
              </a:rPr>
              <a:t>用</a:t>
            </a:r>
            <a:r>
              <a:rPr lang="zh-CN" altLang="en-US" sz="3200" b="1" dirty="0">
                <a:solidFill>
                  <a:srgbClr val="FF0000"/>
                </a:solidFill>
                <a:latin typeface="Times New Roman" panose="02020603050405020304" pitchFamily="18" charset="0"/>
                <a:ea typeface="宋体" panose="02010600030101010101" pitchFamily="2" charset="-122"/>
              </a:rPr>
              <a:t>窗函数法</a:t>
            </a:r>
            <a:r>
              <a:rPr lang="zh-CN" altLang="en-US" sz="3200" b="1" dirty="0">
                <a:latin typeface="Times New Roman" panose="02020603050405020304" pitchFamily="18" charset="0"/>
                <a:ea typeface="宋体" panose="02010600030101010101" pitchFamily="2" charset="-122"/>
              </a:rPr>
              <a:t>设计</a:t>
            </a:r>
            <a:r>
              <a:rPr lang="en-US" altLang="zh-CN" sz="3200" b="1" dirty="0">
                <a:latin typeface="Times New Roman" panose="02020603050405020304" pitchFamily="18" charset="0"/>
                <a:ea typeface="宋体" panose="02010600030101010101" pitchFamily="2" charset="-122"/>
              </a:rPr>
              <a:t>FIR</a:t>
            </a:r>
            <a:r>
              <a:rPr lang="zh-CN" altLang="en-US" sz="3200" b="1" dirty="0">
                <a:latin typeface="Times New Roman" panose="02020603050405020304" pitchFamily="18" charset="0"/>
                <a:ea typeface="宋体" panose="02010600030101010101" pitchFamily="2" charset="-122"/>
              </a:rPr>
              <a:t>滤波器 </a:t>
            </a:r>
            <a:endParaRPr lang="zh-CN" altLang="en-US" sz="3200" b="1" dirty="0">
              <a:latin typeface="Times New Roman" panose="02020603050405020304" pitchFamily="18" charset="0"/>
              <a:ea typeface="宋体" panose="02010600030101010101" pitchFamily="2" charset="-122"/>
            </a:endParaRPr>
          </a:p>
        </p:txBody>
      </p:sp>
      <p:grpSp>
        <p:nvGrpSpPr>
          <p:cNvPr id="45058" name="组合 43014"/>
          <p:cNvGrpSpPr/>
          <p:nvPr/>
        </p:nvGrpSpPr>
        <p:grpSpPr>
          <a:xfrm>
            <a:off x="152400" y="1371600"/>
            <a:ext cx="8839200" cy="4360863"/>
            <a:chOff x="96" y="1030"/>
            <a:chExt cx="5568" cy="2747"/>
          </a:xfrm>
        </p:grpSpPr>
        <p:sp>
          <p:nvSpPr>
            <p:cNvPr id="45059" name="文本框 43012"/>
            <p:cNvSpPr txBox="1"/>
            <p:nvPr/>
          </p:nvSpPr>
          <p:spPr>
            <a:xfrm>
              <a:off x="96" y="1030"/>
              <a:ext cx="5568" cy="2747"/>
            </a:xfrm>
            <a:prstGeom prst="rect">
              <a:avLst/>
            </a:prstGeom>
            <a:noFill/>
            <a:ln w="9525">
              <a:noFill/>
            </a:ln>
          </p:spPr>
          <p:txBody>
            <a:bodyPr anchor="t">
              <a:spAutoFit/>
            </a:bodyPr>
            <a:p>
              <a:pPr algn="just">
                <a:lnSpc>
                  <a:spcPct val="158000"/>
                </a:lnSpc>
                <a:spcBef>
                  <a:spcPct val="50000"/>
                </a:spcBef>
              </a:pPr>
              <a:r>
                <a:rPr lang="en-US" altLang="zh-CN" b="1" dirty="0">
                  <a:latin typeface="Times New Roman" panose="02020603050405020304" pitchFamily="18" charset="0"/>
                  <a:ea typeface="宋体" panose="02010600030101010101" pitchFamily="2" charset="-122"/>
                </a:rPr>
                <a:t>6.2.1 </a:t>
              </a:r>
              <a:r>
                <a:rPr lang="zh-CN" altLang="en-US" b="1" dirty="0">
                  <a:latin typeface="Times New Roman" panose="02020603050405020304" pitchFamily="18" charset="0"/>
                  <a:ea typeface="宋体" panose="02010600030101010101" pitchFamily="2" charset="-122"/>
                </a:rPr>
                <a:t>设计方法</a:t>
              </a:r>
              <a:endParaRPr lang="zh-CN" altLang="en-US" b="1"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设计</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数字滤波器最简单的方法是窗函数法。这种方法一般是先</a:t>
              </a:r>
              <a:r>
                <a:rPr lang="zh-CN" altLang="en-US" b="1" dirty="0">
                  <a:solidFill>
                    <a:srgbClr val="FF0000"/>
                  </a:solidFill>
                  <a:latin typeface="Times New Roman" panose="02020603050405020304" pitchFamily="18" charset="0"/>
                  <a:ea typeface="宋体" panose="02010600030101010101" pitchFamily="2" charset="-122"/>
                </a:rPr>
                <a:t>给定</a:t>
              </a:r>
              <a:r>
                <a:rPr lang="zh-CN" altLang="en-US" dirty="0">
                  <a:latin typeface="Times New Roman" panose="02020603050405020304" pitchFamily="18" charset="0"/>
                  <a:ea typeface="宋体" panose="02010600030101010101" pitchFamily="2" charset="-122"/>
                </a:rPr>
                <a:t>所要求的</a:t>
              </a:r>
              <a:r>
                <a:rPr lang="zh-CN" altLang="en-US" b="1" dirty="0">
                  <a:solidFill>
                    <a:srgbClr val="FF0000"/>
                  </a:solidFill>
                  <a:latin typeface="Times New Roman" panose="02020603050405020304" pitchFamily="18" charset="0"/>
                  <a:ea typeface="宋体" panose="02010600030101010101" pitchFamily="2" charset="-122"/>
                </a:rPr>
                <a:t>理想滤波器的频率响应</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baseline="-25000" dirty="0">
                  <a:solidFill>
                    <a:srgbClr val="FF0000"/>
                  </a:solidFill>
                  <a:latin typeface="Times New Roman" panose="02020603050405020304" pitchFamily="18" charset="0"/>
                  <a:ea typeface="宋体" panose="02010600030101010101" pitchFamily="2" charset="-122"/>
                </a:rPr>
                <a:t>d</a:t>
              </a:r>
              <a:r>
                <a:rPr lang="en-US" altLang="zh-CN" b="1" dirty="0">
                  <a:solidFill>
                    <a:srgbClr val="FF0000"/>
                  </a:solidFill>
                  <a:latin typeface="Times New Roman" panose="02020603050405020304" pitchFamily="18" charset="0"/>
                  <a:ea typeface="宋体" panose="02010600030101010101" pitchFamily="2" charset="-122"/>
                </a:rPr>
                <a:t>(e</a:t>
              </a:r>
              <a:r>
                <a:rPr lang="en-US" altLang="zh-CN" b="1" baseline="30000" dirty="0">
                  <a:solidFill>
                    <a:srgbClr val="FF0000"/>
                  </a:solidFill>
                  <a:latin typeface="Times New Roman" panose="02020603050405020304" pitchFamily="18" charset="0"/>
                  <a:ea typeface="宋体" panose="02010600030101010101" pitchFamily="2" charset="-122"/>
                </a:rPr>
                <a:t>jω</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，要求设计一个</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滤波器频率响应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去</a:t>
              </a:r>
              <a:r>
                <a:rPr lang="zh-CN" altLang="en-US" b="1" u="sng" dirty="0">
                  <a:solidFill>
                    <a:srgbClr val="FF0000"/>
                  </a:solidFill>
                  <a:latin typeface="Times New Roman" panose="02020603050405020304" pitchFamily="18" charset="0"/>
                  <a:ea typeface="宋体" panose="02010600030101010101" pitchFamily="2" charset="-122"/>
                </a:rPr>
                <a:t>逼近</a:t>
              </a:r>
              <a:r>
                <a:rPr lang="zh-CN" altLang="en-US" dirty="0">
                  <a:latin typeface="Times New Roman" panose="02020603050405020304" pitchFamily="18" charset="0"/>
                  <a:ea typeface="宋体" panose="02010600030101010101" pitchFamily="2" charset="-122"/>
                </a:rPr>
                <a:t>理想的频率响应</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。然而，窗函数法设计</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数字滤波器是</a:t>
              </a:r>
              <a:r>
                <a:rPr lang="zh-CN" altLang="en-US" b="1" u="sng" dirty="0">
                  <a:solidFill>
                    <a:srgbClr val="FF0000"/>
                  </a:solidFill>
                  <a:latin typeface="Times New Roman" panose="02020603050405020304" pitchFamily="18" charset="0"/>
                  <a:ea typeface="宋体" panose="02010600030101010101" pitchFamily="2" charset="-122"/>
                </a:rPr>
                <a:t>在时域进行</a:t>
              </a:r>
              <a:r>
                <a:rPr lang="zh-CN" altLang="en-US" dirty="0">
                  <a:latin typeface="Times New Roman" panose="02020603050405020304" pitchFamily="18" charset="0"/>
                  <a:ea typeface="宋体" panose="02010600030101010101" pitchFamily="2" charset="-122"/>
                </a:rPr>
                <a:t>的，因此，必须首先由理想频率响应</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的傅里叶反变换推导出对应的单位脉冲响应</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45060" name="对象 43013"/>
            <p:cNvGraphicFramePr/>
            <p:nvPr/>
          </p:nvGraphicFramePr>
          <p:xfrm>
            <a:off x="2016" y="2257"/>
            <a:ext cx="1536" cy="479"/>
          </p:xfrm>
          <a:graphic>
            <a:graphicData uri="http://schemas.openxmlformats.org/presentationml/2006/ole">
              <mc:AlternateContent xmlns:mc="http://schemas.openxmlformats.org/markup-compatibility/2006">
                <mc:Choice xmlns:v="urn:schemas-microsoft-com:vml" Requires="v">
                  <p:oleObj spid="_x0000_s3080" name="" r:id="rId1" imgW="1383665" imgH="431800" progId="Equation.3">
                    <p:embed/>
                  </p:oleObj>
                </mc:Choice>
                <mc:Fallback>
                  <p:oleObj name="" r:id="rId1" imgW="1383665" imgH="431800" progId="Equation.3">
                    <p:embed/>
                    <p:pic>
                      <p:nvPicPr>
                        <p:cNvPr id="0" name="图片 3079"/>
                        <p:cNvPicPr/>
                        <p:nvPr/>
                      </p:nvPicPr>
                      <p:blipFill>
                        <a:blip r:embed="rId2"/>
                        <a:stretch>
                          <a:fillRect/>
                        </a:stretch>
                      </p:blipFill>
                      <p:spPr>
                        <a:xfrm>
                          <a:off x="2016" y="2257"/>
                          <a:ext cx="1536" cy="479"/>
                        </a:xfrm>
                        <a:prstGeom prst="rect">
                          <a:avLst/>
                        </a:prstGeom>
                        <a:noFill/>
                        <a:ln w="38100">
                          <a:noFill/>
                          <a:miter/>
                        </a:ln>
                      </p:spPr>
                    </p:pic>
                  </p:oleObj>
                </mc:Fallback>
              </mc:AlternateContent>
            </a:graphicData>
          </a:graphic>
        </p:graphicFrame>
      </p:grpSp>
      <p:graphicFrame>
        <p:nvGraphicFramePr>
          <p:cNvPr id="45061" name="对象 43015"/>
          <p:cNvGraphicFramePr/>
          <p:nvPr/>
        </p:nvGraphicFramePr>
        <p:xfrm>
          <a:off x="2882900" y="5727383"/>
          <a:ext cx="4176713" cy="892175"/>
        </p:xfrm>
        <a:graphic>
          <a:graphicData uri="http://schemas.openxmlformats.org/presentationml/2006/ole">
            <mc:AlternateContent xmlns:mc="http://schemas.openxmlformats.org/markup-compatibility/2006">
              <mc:Choice xmlns:v="urn:schemas-microsoft-com:vml" Requires="v">
                <p:oleObj spid="_x0000_s3082" name="" r:id="rId3" imgW="1840865" imgH="393700" progId="Equation.3">
                  <p:embed/>
                </p:oleObj>
              </mc:Choice>
              <mc:Fallback>
                <p:oleObj name="" r:id="rId3" imgW="1840865" imgH="393700" progId="Equation.3">
                  <p:embed/>
                  <p:pic>
                    <p:nvPicPr>
                      <p:cNvPr id="0" name="图片 3081"/>
                      <p:cNvPicPr/>
                      <p:nvPr/>
                    </p:nvPicPr>
                    <p:blipFill>
                      <a:blip r:embed="rId4"/>
                      <a:stretch>
                        <a:fillRect/>
                      </a:stretch>
                    </p:blipFill>
                    <p:spPr>
                      <a:xfrm>
                        <a:off x="2882900" y="5727383"/>
                        <a:ext cx="4176713" cy="892175"/>
                      </a:xfrm>
                      <a:prstGeom prst="rect">
                        <a:avLst/>
                      </a:prstGeom>
                      <a:solidFill>
                        <a:schemeClr val="accent1"/>
                      </a:solidFill>
                      <a:ln w="38100">
                        <a:noFill/>
                        <a:miter/>
                      </a:ln>
                    </p:spPr>
                  </p:pic>
                </p:oleObj>
              </mc:Fallback>
            </mc:AlternateContent>
          </a:graphicData>
        </a:graphic>
      </p:graphicFrame>
      <p:sp>
        <p:nvSpPr>
          <p:cNvPr id="45062" name="文本框 43016"/>
          <p:cNvSpPr txBox="1"/>
          <p:nvPr/>
        </p:nvSpPr>
        <p:spPr>
          <a:xfrm>
            <a:off x="7908925" y="5527675"/>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6-24</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 name="五角星 1"/>
          <p:cNvSpPr/>
          <p:nvPr/>
        </p:nvSpPr>
        <p:spPr>
          <a:xfrm>
            <a:off x="8603933" y="3933825"/>
            <a:ext cx="576263" cy="6477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文本框 47107"/>
          <p:cNvSpPr txBox="1"/>
          <p:nvPr/>
        </p:nvSpPr>
        <p:spPr>
          <a:xfrm>
            <a:off x="228600" y="533400"/>
            <a:ext cx="8686800" cy="2860675"/>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由于许多理想化的系统均用分段恒定的或分段函数表示的频率响应来定义，因此这种系统具有非因果的和无限长的脉冲响应，即</a:t>
            </a:r>
            <a:r>
              <a:rPr lang="en-US" altLang="zh-CN" b="1" i="1" u="sng" dirty="0">
                <a:solidFill>
                  <a:srgbClr val="FF0000"/>
                </a:solidFill>
                <a:latin typeface="Times New Roman" panose="02020603050405020304" pitchFamily="18" charset="0"/>
                <a:ea typeface="宋体" panose="02010600030101010101" pitchFamily="2" charset="-122"/>
              </a:rPr>
              <a:t>h</a:t>
            </a:r>
            <a:r>
              <a:rPr lang="en-US" altLang="zh-CN" b="1" u="sng" baseline="-25000" dirty="0">
                <a:solidFill>
                  <a:srgbClr val="FF0000"/>
                </a:solidFill>
                <a:latin typeface="Times New Roman" panose="02020603050405020304" pitchFamily="18" charset="0"/>
                <a:ea typeface="宋体" panose="02010600030101010101" pitchFamily="2" charset="-122"/>
              </a:rPr>
              <a:t>d</a:t>
            </a:r>
            <a:r>
              <a:rPr lang="en-US" altLang="zh-CN" b="1" u="sng" dirty="0">
                <a:solidFill>
                  <a:srgbClr val="FF0000"/>
                </a:solidFill>
                <a:latin typeface="Times New Roman" panose="02020603050405020304" pitchFamily="18" charset="0"/>
                <a:ea typeface="宋体" panose="02010600030101010101" pitchFamily="2" charset="-122"/>
              </a:rPr>
              <a:t>(</a:t>
            </a:r>
            <a:r>
              <a:rPr lang="en-US" altLang="zh-CN" b="1" i="1" u="sng" dirty="0">
                <a:solidFill>
                  <a:srgbClr val="FF0000"/>
                </a:solidFill>
                <a:latin typeface="Times New Roman" panose="02020603050405020304" pitchFamily="18" charset="0"/>
                <a:ea typeface="宋体" panose="02010600030101010101" pitchFamily="2" charset="-122"/>
              </a:rPr>
              <a:t>n</a:t>
            </a:r>
            <a:r>
              <a:rPr lang="en-US" altLang="zh-CN" b="1" u="sng"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一定是无限长的序列</a:t>
            </a:r>
            <a:r>
              <a:rPr lang="zh-CN" altLang="en-US" dirty="0">
                <a:latin typeface="Times New Roman" panose="02020603050405020304" pitchFamily="18" charset="0"/>
                <a:ea typeface="宋体" panose="02010600030101010101" pitchFamily="2" charset="-122"/>
              </a:rPr>
              <a:t>，且是非因果的。而我们要设计的是</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滤波器，其</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必定是有限长的，所以要用有限长的</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来逼近无限长的</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，最简单且最有效的方法是截断</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pSp>
        <p:nvGrpSpPr>
          <p:cNvPr id="46082" name="组合 47111"/>
          <p:cNvGrpSpPr/>
          <p:nvPr/>
        </p:nvGrpSpPr>
        <p:grpSpPr>
          <a:xfrm>
            <a:off x="2133600" y="3505200"/>
            <a:ext cx="4740275" cy="1246188"/>
            <a:chOff x="1344" y="2208"/>
            <a:chExt cx="2986" cy="785"/>
          </a:xfrm>
        </p:grpSpPr>
        <p:graphicFrame>
          <p:nvGraphicFramePr>
            <p:cNvPr id="46083" name="对象 47108"/>
            <p:cNvGraphicFramePr/>
            <p:nvPr/>
          </p:nvGraphicFramePr>
          <p:xfrm>
            <a:off x="1344" y="2208"/>
            <a:ext cx="1248" cy="785"/>
          </p:xfrm>
          <a:graphic>
            <a:graphicData uri="http://schemas.openxmlformats.org/presentationml/2006/ole">
              <mc:AlternateContent xmlns:mc="http://schemas.openxmlformats.org/markup-compatibility/2006">
                <mc:Choice xmlns:v="urn:schemas-microsoft-com:vml" Requires="v">
                  <p:oleObj spid="_x0000_s3078" name="" r:id="rId1" imgW="889000" imgH="558800" progId="Equation.3">
                    <p:embed/>
                  </p:oleObj>
                </mc:Choice>
                <mc:Fallback>
                  <p:oleObj name="" r:id="rId1" imgW="889000" imgH="558800" progId="Equation.3">
                    <p:embed/>
                    <p:pic>
                      <p:nvPicPr>
                        <p:cNvPr id="0" name="图片 3077"/>
                        <p:cNvPicPr/>
                        <p:nvPr/>
                      </p:nvPicPr>
                      <p:blipFill>
                        <a:blip r:embed="rId2"/>
                        <a:stretch>
                          <a:fillRect/>
                        </a:stretch>
                      </p:blipFill>
                      <p:spPr>
                        <a:xfrm>
                          <a:off x="1344" y="2208"/>
                          <a:ext cx="1248" cy="785"/>
                        </a:xfrm>
                        <a:prstGeom prst="rect">
                          <a:avLst/>
                        </a:prstGeom>
                        <a:noFill/>
                        <a:ln w="38100">
                          <a:noFill/>
                          <a:miter/>
                        </a:ln>
                      </p:spPr>
                    </p:pic>
                  </p:oleObj>
                </mc:Fallback>
              </mc:AlternateContent>
            </a:graphicData>
          </a:graphic>
        </p:graphicFrame>
        <p:sp>
          <p:nvSpPr>
            <p:cNvPr id="46084" name="文本框 47109"/>
            <p:cNvSpPr txBox="1"/>
            <p:nvPr/>
          </p:nvSpPr>
          <p:spPr>
            <a:xfrm>
              <a:off x="3302" y="2234"/>
              <a:ext cx="1028"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endParaRPr lang="en-US" altLang="zh-CN" dirty="0">
                <a:latin typeface="Times New Roman" panose="02020603050405020304" pitchFamily="18" charset="0"/>
                <a:ea typeface="宋体" panose="02010600030101010101" pitchFamily="2" charset="-122"/>
              </a:endParaRPr>
            </a:p>
          </p:txBody>
        </p:sp>
        <p:sp>
          <p:nvSpPr>
            <p:cNvPr id="46085" name="文本框 47110"/>
            <p:cNvSpPr txBox="1"/>
            <p:nvPr/>
          </p:nvSpPr>
          <p:spPr>
            <a:xfrm>
              <a:off x="3264" y="2666"/>
              <a:ext cx="544"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其他 </a:t>
              </a:r>
              <a:endParaRPr lang="zh-CN" altLang="en-US" dirty="0">
                <a:latin typeface="Times New Roman" panose="02020603050405020304" pitchFamily="18" charset="0"/>
                <a:ea typeface="宋体" panose="02010600030101010101" pitchFamily="2" charset="-122"/>
              </a:endParaRPr>
            </a:p>
          </p:txBody>
        </p:sp>
      </p:grpSp>
      <p:sp>
        <p:nvSpPr>
          <p:cNvPr id="46086" name="文本框 47112"/>
          <p:cNvSpPr txBox="1"/>
          <p:nvPr/>
        </p:nvSpPr>
        <p:spPr>
          <a:xfrm>
            <a:off x="152400" y="4597400"/>
            <a:ext cx="8839200" cy="1041400"/>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通常，我们可以把</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表示为所需单位脉冲响应与一个有限长的窗口函数序列</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的乘积，即 </a:t>
            </a:r>
            <a:endParaRPr lang="zh-CN" altLang="en-US" dirty="0">
              <a:latin typeface="Times New Roman" panose="02020603050405020304" pitchFamily="18" charset="0"/>
              <a:ea typeface="宋体" panose="02010600030101010101" pitchFamily="2" charset="-122"/>
            </a:endParaRPr>
          </a:p>
        </p:txBody>
      </p:sp>
      <p:sp>
        <p:nvSpPr>
          <p:cNvPr id="46087" name="文本框 47113"/>
          <p:cNvSpPr txBox="1"/>
          <p:nvPr/>
        </p:nvSpPr>
        <p:spPr>
          <a:xfrm>
            <a:off x="3248025" y="5775325"/>
            <a:ext cx="2647950" cy="584200"/>
          </a:xfrm>
          <a:prstGeom prst="rect">
            <a:avLst/>
          </a:prstGeom>
          <a:solidFill>
            <a:schemeClr val="accent1"/>
          </a:solidFill>
          <a:ln w="9525">
            <a:noFill/>
          </a:ln>
        </p:spPr>
        <p:txBody>
          <a:bodyPr anchor="t">
            <a:spAutoFit/>
          </a:bodyPr>
          <a:p>
            <a:r>
              <a:rPr lang="en-US" altLang="zh-CN" sz="3200" i="1" dirty="0">
                <a:latin typeface="Times New Roman" panose="02020603050405020304" pitchFamily="18" charset="0"/>
                <a:ea typeface="宋体" panose="02010600030101010101" pitchFamily="2" charset="-122"/>
              </a:rPr>
              <a:t>h</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n</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h</a:t>
            </a:r>
            <a:r>
              <a:rPr lang="en-US" altLang="zh-CN" sz="3200" baseline="-25000" dirty="0">
                <a:latin typeface="Times New Roman" panose="02020603050405020304" pitchFamily="18" charset="0"/>
                <a:ea typeface="宋体" panose="02010600030101010101" pitchFamily="2" charset="-122"/>
              </a:rPr>
              <a:t>d</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n</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w</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n</a:t>
            </a:r>
            <a:r>
              <a:rPr lang="en-US" altLang="zh-CN" sz="3200" dirty="0">
                <a:latin typeface="Times New Roman" panose="02020603050405020304" pitchFamily="18" charset="0"/>
                <a:ea typeface="宋体" panose="02010600030101010101" pitchFamily="2" charset="-122"/>
              </a:rPr>
              <a:t>) </a:t>
            </a:r>
            <a:endParaRPr lang="en-US" altLang="zh-CN" sz="3200" dirty="0">
              <a:latin typeface="Times New Roman" panose="02020603050405020304" pitchFamily="18" charset="0"/>
              <a:ea typeface="宋体" panose="02010600030101010101" pitchFamily="2" charset="-122"/>
            </a:endParaRPr>
          </a:p>
        </p:txBody>
      </p:sp>
      <p:sp>
        <p:nvSpPr>
          <p:cNvPr id="46088" name="文本框 47114"/>
          <p:cNvSpPr txBox="1"/>
          <p:nvPr/>
        </p:nvSpPr>
        <p:spPr>
          <a:xfrm>
            <a:off x="7524115" y="563562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6-26</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46089" name="文本框 47115"/>
          <p:cNvSpPr txBox="1"/>
          <p:nvPr/>
        </p:nvSpPr>
        <p:spPr>
          <a:xfrm>
            <a:off x="7535228" y="3979863"/>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6-25</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5981700" y="-9525"/>
            <a:ext cx="3162300" cy="1809750"/>
          </a:xfrm>
          <a:prstGeom prst="rect">
            <a:avLst/>
          </a:prstGeom>
        </p:spPr>
      </p:pic>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文本框 46083"/>
          <p:cNvSpPr txBox="1"/>
          <p:nvPr/>
        </p:nvSpPr>
        <p:spPr>
          <a:xfrm>
            <a:off x="441325" y="685800"/>
            <a:ext cx="8753475"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式中，如果采用如式（</a:t>
            </a:r>
            <a:r>
              <a:rPr lang="en-US" altLang="zh-CN" dirty="0">
                <a:latin typeface="Times New Roman" panose="02020603050405020304" pitchFamily="18" charset="0"/>
                <a:ea typeface="宋体" panose="02010600030101010101" pitchFamily="2" charset="-122"/>
              </a:rPr>
              <a:t>6-25</a:t>
            </a:r>
            <a:r>
              <a:rPr lang="zh-CN" altLang="en-US" dirty="0">
                <a:latin typeface="Times New Roman" panose="02020603050405020304" pitchFamily="18" charset="0"/>
                <a:ea typeface="宋体" panose="02010600030101010101" pitchFamily="2" charset="-122"/>
              </a:rPr>
              <a:t>）的简单截取，则</a:t>
            </a:r>
            <a:r>
              <a:rPr lang="zh-CN" altLang="en-US" b="1" u="sng" dirty="0">
                <a:solidFill>
                  <a:srgbClr val="FF0000"/>
                </a:solidFill>
                <a:latin typeface="Times New Roman" panose="02020603050405020304" pitchFamily="18" charset="0"/>
                <a:ea typeface="宋体" panose="02010600030101010101" pitchFamily="2" charset="-122"/>
              </a:rPr>
              <a:t>窗函数为矩形窗。</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pSp>
        <p:nvGrpSpPr>
          <p:cNvPr id="2" name="组合 46088"/>
          <p:cNvGrpSpPr/>
          <p:nvPr/>
        </p:nvGrpSpPr>
        <p:grpSpPr>
          <a:xfrm>
            <a:off x="1935152" y="1425575"/>
            <a:ext cx="5038725" cy="1090612"/>
            <a:chOff x="1204" y="938"/>
            <a:chExt cx="3174" cy="687"/>
          </a:xfrm>
          <a:solidFill>
            <a:schemeClr val="accent1"/>
          </a:solidFill>
        </p:grpSpPr>
        <p:sp>
          <p:nvSpPr>
            <p:cNvPr id="47108" name="文本框 46086"/>
            <p:cNvSpPr txBox="1"/>
            <p:nvPr/>
          </p:nvSpPr>
          <p:spPr>
            <a:xfrm>
              <a:off x="3350" y="938"/>
              <a:ext cx="1028" cy="288"/>
            </a:xfrm>
            <a:prstGeom prst="rect">
              <a:avLst/>
            </a:prstGeom>
            <a:grp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1"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-1 </a:t>
              </a:r>
              <a:endPar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09" name="文本框 46087"/>
            <p:cNvSpPr txBox="1"/>
            <p:nvPr/>
          </p:nvSpPr>
          <p:spPr>
            <a:xfrm>
              <a:off x="3379" y="1337"/>
              <a:ext cx="548" cy="288"/>
            </a:xfrm>
            <a:prstGeom prst="rect">
              <a:avLst/>
            </a:prstGeom>
            <a:grp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其他 </a:t>
              </a:r>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 name="文本框 46089"/>
          <p:cNvSpPr txBox="1"/>
          <p:nvPr/>
        </p:nvSpPr>
        <p:spPr>
          <a:xfrm>
            <a:off x="7721600" y="198913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6-27</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4" name="文本框 46090"/>
          <p:cNvSpPr txBox="1"/>
          <p:nvPr/>
        </p:nvSpPr>
        <p:spPr>
          <a:xfrm>
            <a:off x="266700" y="2806700"/>
            <a:ext cx="8610600" cy="2497138"/>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矩形窗的波形如图所示。</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例如，</a:t>
            </a:r>
            <a:r>
              <a:rPr lang="zh-CN" altLang="en-US" b="1" dirty="0">
                <a:solidFill>
                  <a:srgbClr val="FF0000"/>
                </a:solidFill>
                <a:latin typeface="Times New Roman" panose="02020603050405020304" pitchFamily="18" charset="0"/>
                <a:ea typeface="宋体" panose="02010600030101010101" pitchFamily="2" charset="-122"/>
              </a:rPr>
              <a:t>要求设计一个</a:t>
            </a:r>
            <a:r>
              <a:rPr lang="en-US" altLang="zh-CN" b="1" dirty="0">
                <a:solidFill>
                  <a:srgbClr val="FF0000"/>
                </a:solidFill>
                <a:latin typeface="Times New Roman" panose="02020603050405020304" pitchFamily="18" charset="0"/>
                <a:ea typeface="宋体" panose="02010600030101010101" pitchFamily="2" charset="-122"/>
              </a:rPr>
              <a:t>FIR</a:t>
            </a:r>
            <a:r>
              <a:rPr lang="zh-CN" altLang="en-US" b="1" dirty="0">
                <a:solidFill>
                  <a:srgbClr val="FF0000"/>
                </a:solidFill>
                <a:latin typeface="Times New Roman" panose="02020603050405020304" pitchFamily="18" charset="0"/>
                <a:ea typeface="宋体" panose="02010600030101010101" pitchFamily="2" charset="-122"/>
              </a:rPr>
              <a:t>低通数字滤波器</a:t>
            </a:r>
            <a:r>
              <a:rPr lang="zh-CN" altLang="en-US" dirty="0">
                <a:latin typeface="Times New Roman" panose="02020603050405020304" pitchFamily="18" charset="0"/>
                <a:ea typeface="宋体" panose="02010600030101010101" pitchFamily="2" charset="-122"/>
              </a:rPr>
              <a:t>，假设理想低通滤波器的频率响应为 </a:t>
            </a:r>
            <a:endParaRPr lang="zh-CN" altLang="en-US" dirty="0">
              <a:latin typeface="Times New Roman" panose="02020603050405020304" pitchFamily="18" charset="0"/>
              <a:ea typeface="宋体" panose="02010600030101010101" pitchFamily="2" charset="-122"/>
            </a:endParaRPr>
          </a:p>
        </p:txBody>
      </p:sp>
      <p:grpSp>
        <p:nvGrpSpPr>
          <p:cNvPr id="5" name="组合 46096"/>
          <p:cNvGrpSpPr/>
          <p:nvPr/>
        </p:nvGrpSpPr>
        <p:grpSpPr>
          <a:xfrm>
            <a:off x="2847975" y="5175250"/>
            <a:ext cx="4687888" cy="1246188"/>
            <a:chOff x="1502" y="3006"/>
            <a:chExt cx="2953" cy="785"/>
          </a:xfrm>
        </p:grpSpPr>
        <p:graphicFrame>
          <p:nvGraphicFramePr>
            <p:cNvPr id="47110" name="对象 46092"/>
            <p:cNvGraphicFramePr/>
            <p:nvPr/>
          </p:nvGraphicFramePr>
          <p:xfrm>
            <a:off x="1502" y="3006"/>
            <a:ext cx="1533" cy="785"/>
          </p:xfrm>
          <a:graphic>
            <a:graphicData uri="http://schemas.openxmlformats.org/presentationml/2006/ole">
              <mc:AlternateContent xmlns:mc="http://schemas.openxmlformats.org/markup-compatibility/2006">
                <mc:Choice xmlns:v="urn:schemas-microsoft-com:vml" Requires="v">
                  <p:oleObj spid="_x0000_s3086" name="" r:id="rId1" imgW="1091565" imgH="558800" progId="Equation.3">
                    <p:embed/>
                  </p:oleObj>
                </mc:Choice>
                <mc:Fallback>
                  <p:oleObj name="" r:id="rId1" imgW="1091565" imgH="558800" progId="Equation.3">
                    <p:embed/>
                    <p:pic>
                      <p:nvPicPr>
                        <p:cNvPr id="0" name="图片 3085"/>
                        <p:cNvPicPr/>
                        <p:nvPr/>
                      </p:nvPicPr>
                      <p:blipFill>
                        <a:blip r:embed="rId2"/>
                        <a:stretch>
                          <a:fillRect/>
                        </a:stretch>
                      </p:blipFill>
                      <p:spPr>
                        <a:xfrm>
                          <a:off x="1502" y="3006"/>
                          <a:ext cx="1533" cy="785"/>
                        </a:xfrm>
                        <a:prstGeom prst="rect">
                          <a:avLst/>
                        </a:prstGeom>
                        <a:solidFill>
                          <a:schemeClr val="accent1"/>
                        </a:solidFill>
                        <a:ln w="38100">
                          <a:noFill/>
                          <a:miter/>
                        </a:ln>
                      </p:spPr>
                    </p:pic>
                  </p:oleObj>
                </mc:Fallback>
              </mc:AlternateContent>
            </a:graphicData>
          </a:graphic>
        </p:graphicFrame>
        <p:sp>
          <p:nvSpPr>
            <p:cNvPr id="47111" name="文本框 46093"/>
            <p:cNvSpPr txBox="1"/>
            <p:nvPr/>
          </p:nvSpPr>
          <p:spPr>
            <a:xfrm>
              <a:off x="3650" y="3087"/>
              <a:ext cx="720" cy="290"/>
            </a:xfrm>
            <a:prstGeom prst="rect">
              <a:avLst/>
            </a:prstGeom>
            <a:solidFill>
              <a:schemeClr val="accent1"/>
            </a:solidFill>
            <a:ln w="9525">
              <a:noFill/>
            </a:ln>
          </p:spPr>
          <p:txBody>
            <a:bodyPr anchor="t">
              <a:spAutoFit/>
            </a:bodyPr>
            <a:p>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47112" name="文本框 46094"/>
            <p:cNvSpPr txBox="1"/>
            <p:nvPr/>
          </p:nvSpPr>
          <p:spPr>
            <a:xfrm>
              <a:off x="3565" y="3464"/>
              <a:ext cx="890" cy="290"/>
            </a:xfrm>
            <a:prstGeom prst="rect">
              <a:avLst/>
            </a:prstGeom>
            <a:solidFill>
              <a:schemeClr val="accent1"/>
            </a:solidFill>
            <a:ln w="9525">
              <a:noFill/>
            </a:ln>
          </p:spPr>
          <p:txBody>
            <a:bodyPr anchor="t">
              <a:spAutoFit/>
            </a:bodyPr>
            <a:p>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 </a:t>
              </a:r>
              <a:endParaRPr lang="en-US" altLang="zh-CN" dirty="0">
                <a:latin typeface="Times New Roman" panose="02020603050405020304" pitchFamily="18" charset="0"/>
                <a:ea typeface="宋体" panose="02010600030101010101" pitchFamily="2" charset="-122"/>
              </a:endParaRPr>
            </a:p>
          </p:txBody>
        </p:sp>
      </p:grpSp>
      <p:sp>
        <p:nvSpPr>
          <p:cNvPr id="47113" name="文本框 46095"/>
          <p:cNvSpPr txBox="1"/>
          <p:nvPr/>
        </p:nvSpPr>
        <p:spPr>
          <a:xfrm>
            <a:off x="7721600" y="51054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6-28</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47114" name="对象 5"/>
          <p:cNvGraphicFramePr/>
          <p:nvPr/>
        </p:nvGraphicFramePr>
        <p:xfrm>
          <a:off x="3979863" y="2806700"/>
          <a:ext cx="3906837" cy="1468438"/>
        </p:xfrm>
        <a:graphic>
          <a:graphicData uri="http://schemas.openxmlformats.org/presentationml/2006/ole">
            <mc:AlternateContent xmlns:mc="http://schemas.openxmlformats.org/markup-compatibility/2006">
              <mc:Choice xmlns:v="urn:schemas-microsoft-com:vml" Requires="v">
                <p:oleObj spid="_x0000_s3088" name="" r:id="rId3" imgW="3390900" imgH="1181100" progId="Paint.Picture">
                  <p:embed/>
                </p:oleObj>
              </mc:Choice>
              <mc:Fallback>
                <p:oleObj name="" r:id="rId3" imgW="3390900" imgH="1181100" progId="Paint.Picture">
                  <p:embed/>
                  <p:pic>
                    <p:nvPicPr>
                      <p:cNvPr id="0" name="图片 3087"/>
                      <p:cNvPicPr/>
                      <p:nvPr/>
                    </p:nvPicPr>
                    <p:blipFill>
                      <a:blip r:embed="rId4"/>
                      <a:stretch>
                        <a:fillRect/>
                      </a:stretch>
                    </p:blipFill>
                    <p:spPr>
                      <a:xfrm>
                        <a:off x="3979863" y="2806700"/>
                        <a:ext cx="3906837" cy="1468438"/>
                      </a:xfrm>
                      <a:prstGeom prst="rect">
                        <a:avLst/>
                      </a:prstGeom>
                      <a:noFill/>
                      <a:ln w="38100">
                        <a:noFill/>
                        <a:miter/>
                      </a:ln>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2381250" y="1196975"/>
          <a:ext cx="2676525" cy="1449705"/>
        </p:xfrm>
        <a:graphic>
          <a:graphicData uri="http://schemas.openxmlformats.org/presentationml/2006/ole">
            <mc:AlternateContent xmlns:mc="http://schemas.openxmlformats.org/markup-compatibility/2006">
              <mc:Choice xmlns:v="urn:schemas-microsoft-com:vml" Requires="v">
                <p:oleObj spid="_x0000_s1025" name="" r:id="rId5" imgW="774065" imgH="419100" progId="Equation.KSEE3">
                  <p:embed/>
                </p:oleObj>
              </mc:Choice>
              <mc:Fallback>
                <p:oleObj name="" r:id="rId5" imgW="774065" imgH="419100" progId="Equation.KSEE3">
                  <p:embed/>
                  <p:pic>
                    <p:nvPicPr>
                      <p:cNvPr id="0" name="图片 1024"/>
                      <p:cNvPicPr/>
                      <p:nvPr/>
                    </p:nvPicPr>
                    <p:blipFill>
                      <a:blip r:embed="rId6"/>
                      <a:stretch>
                        <a:fillRect/>
                      </a:stretch>
                    </p:blipFill>
                    <p:spPr>
                      <a:xfrm>
                        <a:off x="2381250" y="1196975"/>
                        <a:ext cx="2676525" cy="1449705"/>
                      </a:xfrm>
                      <a:prstGeom prst="rect">
                        <a:avLst/>
                      </a:prstGeom>
                      <a:solidFill>
                        <a:schemeClr val="accent1"/>
                      </a:solidFill>
                    </p:spPr>
                  </p:pic>
                </p:oleObj>
              </mc:Fallback>
            </mc:AlternateContent>
          </a:graphicData>
        </a:graphic>
      </p:graphicFrame>
    </p:spTree>
  </p:cSld>
  <p:clrMapOvr>
    <a:masterClrMapping/>
  </p:clrMapOvr>
  <p:transition>
    <p:zoom dir="in"/>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文本框 49155"/>
          <p:cNvSpPr txBox="1"/>
          <p:nvPr/>
        </p:nvSpPr>
        <p:spPr>
          <a:xfrm>
            <a:off x="365125" y="762000"/>
            <a:ext cx="3917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相应的单位脉冲响应</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dirty="0">
              <a:latin typeface="Times New Roman" panose="02020603050405020304" pitchFamily="18" charset="0"/>
              <a:ea typeface="宋体" panose="02010600030101010101" pitchFamily="2" charset="-122"/>
            </a:endParaRPr>
          </a:p>
        </p:txBody>
      </p:sp>
      <p:graphicFrame>
        <p:nvGraphicFramePr>
          <p:cNvPr id="48130" name="对象 49156"/>
          <p:cNvGraphicFramePr/>
          <p:nvPr/>
        </p:nvGraphicFramePr>
        <p:xfrm>
          <a:off x="1016635" y="1562735"/>
          <a:ext cx="3405505" cy="1646555"/>
        </p:xfrm>
        <a:graphic>
          <a:graphicData uri="http://schemas.openxmlformats.org/presentationml/2006/ole">
            <mc:AlternateContent xmlns:mc="http://schemas.openxmlformats.org/markup-compatibility/2006">
              <mc:Choice xmlns:v="urn:schemas-microsoft-com:vml" Requires="v">
                <p:oleObj spid="_x0000_s3091" name="" r:id="rId1" imgW="1548765" imgH="749300" progId="Equation.3">
                  <p:embed/>
                </p:oleObj>
              </mc:Choice>
              <mc:Fallback>
                <p:oleObj name="" r:id="rId1" imgW="1548765" imgH="749300" progId="Equation.3">
                  <p:embed/>
                  <p:pic>
                    <p:nvPicPr>
                      <p:cNvPr id="0" name="图片 3090"/>
                      <p:cNvPicPr/>
                      <p:nvPr/>
                    </p:nvPicPr>
                    <p:blipFill>
                      <a:blip r:embed="rId2"/>
                      <a:stretch>
                        <a:fillRect/>
                      </a:stretch>
                    </p:blipFill>
                    <p:spPr>
                      <a:xfrm>
                        <a:off x="1016635" y="1562735"/>
                        <a:ext cx="3405505" cy="1646555"/>
                      </a:xfrm>
                      <a:prstGeom prst="rect">
                        <a:avLst/>
                      </a:prstGeom>
                      <a:solidFill>
                        <a:schemeClr val="accent1"/>
                      </a:solidFill>
                      <a:ln w="38100">
                        <a:noFill/>
                        <a:miter/>
                      </a:ln>
                    </p:spPr>
                  </p:pic>
                </p:oleObj>
              </mc:Fallback>
            </mc:AlternateContent>
          </a:graphicData>
        </a:graphic>
      </p:graphicFrame>
      <p:sp>
        <p:nvSpPr>
          <p:cNvPr id="48131" name="文本框 49157"/>
          <p:cNvSpPr txBox="1"/>
          <p:nvPr/>
        </p:nvSpPr>
        <p:spPr>
          <a:xfrm>
            <a:off x="7721600" y="27432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6-29</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48132" name="文本框 49158"/>
          <p:cNvSpPr txBox="1"/>
          <p:nvPr/>
        </p:nvSpPr>
        <p:spPr>
          <a:xfrm>
            <a:off x="152400" y="3411538"/>
            <a:ext cx="8839200" cy="263652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这是一个中心点在   的偶对称、无限长、非因果序列，</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的波形如图</a:t>
            </a:r>
            <a:r>
              <a:rPr lang="en-US" altLang="zh-CN" dirty="0">
                <a:latin typeface="Times New Roman" panose="02020603050405020304" pitchFamily="18" charset="0"/>
                <a:ea typeface="宋体" panose="02010600030101010101" pitchFamily="2" charset="-122"/>
              </a:rPr>
              <a:t>6-8</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）所示。为了构造一个长度为</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的线性相位滤波器，只有</a:t>
            </a:r>
            <a:r>
              <a:rPr lang="zh-CN" altLang="en-US" b="1" dirty="0">
                <a:solidFill>
                  <a:srgbClr val="FF0000"/>
                </a:solidFill>
                <a:latin typeface="Times New Roman" panose="02020603050405020304" pitchFamily="18" charset="0"/>
                <a:ea typeface="宋体" panose="02010600030101010101" pitchFamily="2" charset="-122"/>
              </a:rPr>
              <a:t>将</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baseline="-25000" dirty="0">
                <a:solidFill>
                  <a:srgbClr val="FF0000"/>
                </a:solidFill>
                <a:latin typeface="Times New Roman" panose="02020603050405020304" pitchFamily="18" charset="0"/>
                <a:ea typeface="宋体" panose="02010600030101010101" pitchFamily="2" charset="-122"/>
              </a:rPr>
              <a:t>d</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截取一段</a:t>
            </a:r>
            <a:r>
              <a:rPr lang="zh-CN" altLang="en-US" dirty="0">
                <a:latin typeface="Times New Roman" panose="02020603050405020304" pitchFamily="18" charset="0"/>
                <a:ea typeface="宋体" panose="02010600030101010101" pitchFamily="2" charset="-122"/>
              </a:rPr>
              <a:t>，并保证</a:t>
            </a:r>
            <a:r>
              <a:rPr lang="zh-CN" altLang="en-US" b="1" dirty="0">
                <a:solidFill>
                  <a:srgbClr val="FF0000"/>
                </a:solidFill>
                <a:latin typeface="Times New Roman" panose="02020603050405020304" pitchFamily="18" charset="0"/>
                <a:ea typeface="宋体" panose="02010600030101010101" pitchFamily="2" charset="-122"/>
              </a:rPr>
              <a:t>截取的一段对</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-1)/2 </a:t>
            </a:r>
            <a:r>
              <a:rPr lang="zh-CN" altLang="en-US" b="1" dirty="0">
                <a:solidFill>
                  <a:srgbClr val="FF0000"/>
                </a:solidFill>
                <a:latin typeface="Times New Roman" panose="02020603050405020304" pitchFamily="18" charset="0"/>
                <a:ea typeface="宋体" panose="02010600030101010101" pitchFamily="2" charset="-122"/>
              </a:rPr>
              <a:t>对称</a:t>
            </a:r>
            <a:r>
              <a:rPr lang="zh-CN" altLang="en-US" dirty="0">
                <a:latin typeface="Times New Roman" panose="02020603050405020304" pitchFamily="18" charset="0"/>
                <a:ea typeface="宋体" panose="02010600030101010101" pitchFamily="2" charset="-122"/>
              </a:rPr>
              <a:t>， 故中心点</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必须取</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。设截取的一段用</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表示，如式</a:t>
            </a:r>
            <a:r>
              <a:rPr lang="en-US" altLang="zh-CN" dirty="0">
                <a:latin typeface="Times New Roman" panose="02020603050405020304" pitchFamily="18" charset="0"/>
                <a:ea typeface="宋体" panose="02010600030101010101" pitchFamily="2" charset="-122"/>
              </a:rPr>
              <a:t>(6-26</a:t>
            </a:r>
            <a:r>
              <a:rPr lang="zh-CN" altLang="en-US" dirty="0">
                <a:latin typeface="Times New Roman" panose="02020603050405020304" pitchFamily="18" charset="0"/>
                <a:ea typeface="宋体" panose="02010600030101010101" pitchFamily="2" charset="-122"/>
              </a:rPr>
              <a:t>）所示，</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的波形如图</a:t>
            </a:r>
            <a:r>
              <a:rPr lang="en-US" altLang="zh-CN" dirty="0">
                <a:latin typeface="Times New Roman" panose="02020603050405020304" pitchFamily="18" charset="0"/>
                <a:ea typeface="宋体" panose="02010600030101010101" pitchFamily="2" charset="-122"/>
              </a:rPr>
              <a:t>6-8</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p:txBody>
      </p:sp>
      <p:graphicFrame>
        <p:nvGraphicFramePr>
          <p:cNvPr id="2" name="对象 1"/>
          <p:cNvGraphicFramePr/>
          <p:nvPr/>
        </p:nvGraphicFramePr>
        <p:xfrm>
          <a:off x="4788536" y="2348866"/>
          <a:ext cx="1861820" cy="815340"/>
        </p:xfrm>
        <a:graphic>
          <a:graphicData uri="http://schemas.openxmlformats.org/presentationml/2006/ole">
            <mc:AlternateContent xmlns:mc="http://schemas.openxmlformats.org/markup-compatibility/2006">
              <mc:Choice xmlns:v="urn:schemas-microsoft-com:vml" Requires="v">
                <p:oleObj spid="_x0000_s3087" name="" r:id="rId3" imgW="1117600" imgH="381000" progId="Equation.KSEE3">
                  <p:embed/>
                </p:oleObj>
              </mc:Choice>
              <mc:Fallback>
                <p:oleObj name="" r:id="rId3" imgW="1117600" imgH="381000" progId="Equation.KSEE3">
                  <p:embed/>
                  <p:pic>
                    <p:nvPicPr>
                      <p:cNvPr id="0" name="图片 3086"/>
                      <p:cNvPicPr/>
                      <p:nvPr/>
                    </p:nvPicPr>
                    <p:blipFill>
                      <a:blip r:embed="rId4"/>
                      <a:stretch>
                        <a:fillRect/>
                      </a:stretch>
                    </p:blipFill>
                    <p:spPr>
                      <a:xfrm>
                        <a:off x="4788536" y="2348866"/>
                        <a:ext cx="1861820" cy="815340"/>
                      </a:xfrm>
                      <a:prstGeom prst="rect">
                        <a:avLst/>
                      </a:prstGeom>
                      <a:noFill/>
                      <a:ln w="38100">
                        <a:noFill/>
                        <a:miter/>
                      </a:ln>
                    </p:spPr>
                  </p:pic>
                </p:oleObj>
              </mc:Fallback>
            </mc:AlternateContent>
          </a:graphicData>
        </a:graphic>
      </p:graphicFrame>
      <p:graphicFrame>
        <p:nvGraphicFramePr>
          <p:cNvPr id="4" name="对象 3"/>
          <p:cNvGraphicFramePr/>
          <p:nvPr/>
        </p:nvGraphicFramePr>
        <p:xfrm>
          <a:off x="4769644" y="2329180"/>
          <a:ext cx="2501900" cy="929640"/>
        </p:xfrm>
        <a:graphic>
          <a:graphicData uri="http://schemas.openxmlformats.org/presentationml/2006/ole">
            <mc:AlternateContent xmlns:mc="http://schemas.openxmlformats.org/markup-compatibility/2006">
              <mc:Choice xmlns:v="urn:schemas-microsoft-com:vml" Requires="v">
                <p:oleObj spid="_x0000_s3089" name="" r:id="rId5" imgW="1079500" imgH="355600" progId="Equation.KSEE3">
                  <p:embed/>
                </p:oleObj>
              </mc:Choice>
              <mc:Fallback>
                <p:oleObj name="" r:id="rId5" imgW="1079500" imgH="355600" progId="Equation.KSEE3">
                  <p:embed/>
                  <p:pic>
                    <p:nvPicPr>
                      <p:cNvPr id="0" name="图片 3088"/>
                      <p:cNvPicPr/>
                      <p:nvPr/>
                    </p:nvPicPr>
                    <p:blipFill>
                      <a:blip r:embed="rId6"/>
                      <a:stretch>
                        <a:fillRect/>
                      </a:stretch>
                    </p:blipFill>
                    <p:spPr>
                      <a:xfrm>
                        <a:off x="4769644" y="2329180"/>
                        <a:ext cx="2501900" cy="929640"/>
                      </a:xfrm>
                      <a:prstGeom prst="rect">
                        <a:avLst/>
                      </a:prstGeom>
                      <a:solidFill>
                        <a:schemeClr val="accent1"/>
                      </a:solidFill>
                      <a:ln w="38100">
                        <a:noFill/>
                        <a:miter/>
                      </a:ln>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2772410" y="3644900"/>
          <a:ext cx="311785" cy="283845"/>
        </p:xfrm>
        <a:graphic>
          <a:graphicData uri="http://schemas.openxmlformats.org/presentationml/2006/ole">
            <mc:AlternateContent xmlns:mc="http://schemas.openxmlformats.org/markup-compatibility/2006">
              <mc:Choice xmlns:v="urn:schemas-microsoft-com:vml" Requires="v">
                <p:oleObj spid="_x0000_s1025" name="" r:id="rId7" imgW="139700" imgH="127000" progId="Equation.KSEE3">
                  <p:embed/>
                </p:oleObj>
              </mc:Choice>
              <mc:Fallback>
                <p:oleObj name="" r:id="rId7" imgW="139700" imgH="127000" progId="Equation.KSEE3">
                  <p:embed/>
                  <p:pic>
                    <p:nvPicPr>
                      <p:cNvPr id="0" name="图片 1024"/>
                      <p:cNvPicPr/>
                      <p:nvPr/>
                    </p:nvPicPr>
                    <p:blipFill>
                      <a:blip r:embed="rId8"/>
                      <a:stretch>
                        <a:fillRect/>
                      </a:stretch>
                    </p:blipFill>
                    <p:spPr>
                      <a:xfrm>
                        <a:off x="2772410" y="3644900"/>
                        <a:ext cx="311785" cy="28384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custDataLst>
              <p:tags r:id="rId9"/>
            </p:custDataLst>
          </p:nvPr>
        </p:nvGraphicFramePr>
        <p:xfrm>
          <a:off x="1908175" y="5157470"/>
          <a:ext cx="311785" cy="283845"/>
        </p:xfrm>
        <a:graphic>
          <a:graphicData uri="http://schemas.openxmlformats.org/presentationml/2006/ole">
            <mc:AlternateContent xmlns:mc="http://schemas.openxmlformats.org/markup-compatibility/2006">
              <mc:Choice xmlns:v="urn:schemas-microsoft-com:vml" Requires="v">
                <p:oleObj spid="_x0000_s6" name="" r:id="rId10" imgW="139700" imgH="127000" progId="Equation.KSEE3">
                  <p:embed/>
                </p:oleObj>
              </mc:Choice>
              <mc:Fallback>
                <p:oleObj name="" r:id="rId10" imgW="139700" imgH="127000" progId="Equation.KSEE3">
                  <p:embed/>
                  <p:pic>
                    <p:nvPicPr>
                      <p:cNvPr id="0" name="图片 1024"/>
                      <p:cNvPicPr/>
                      <p:nvPr/>
                    </p:nvPicPr>
                    <p:blipFill>
                      <a:blip r:embed="rId8"/>
                      <a:stretch>
                        <a:fillRect/>
                      </a:stretch>
                    </p:blipFill>
                    <p:spPr>
                      <a:xfrm>
                        <a:off x="1908175" y="5157470"/>
                        <a:ext cx="311785" cy="28384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custDataLst>
              <p:tags r:id="rId11"/>
            </p:custDataLst>
          </p:nvPr>
        </p:nvGraphicFramePr>
        <p:xfrm>
          <a:off x="827405" y="5157470"/>
          <a:ext cx="311785" cy="283845"/>
        </p:xfrm>
        <a:graphic>
          <a:graphicData uri="http://schemas.openxmlformats.org/presentationml/2006/ole">
            <mc:AlternateContent xmlns:mc="http://schemas.openxmlformats.org/markup-compatibility/2006">
              <mc:Choice xmlns:v="urn:schemas-microsoft-com:vml" Requires="v">
                <p:oleObj spid="_x0000_s8" name="" r:id="rId12" imgW="139700" imgH="127000" progId="Equation.KSEE3">
                  <p:embed/>
                </p:oleObj>
              </mc:Choice>
              <mc:Fallback>
                <p:oleObj name="" r:id="rId12" imgW="139700" imgH="127000" progId="Equation.KSEE3">
                  <p:embed/>
                  <p:pic>
                    <p:nvPicPr>
                      <p:cNvPr id="0" name="图片 1024"/>
                      <p:cNvPicPr/>
                      <p:nvPr/>
                    </p:nvPicPr>
                    <p:blipFill>
                      <a:blip r:embed="rId8"/>
                      <a:stretch>
                        <a:fillRect/>
                      </a:stretch>
                    </p:blipFill>
                    <p:spPr>
                      <a:xfrm>
                        <a:off x="827405" y="5157470"/>
                        <a:ext cx="311785" cy="283845"/>
                      </a:xfrm>
                      <a:prstGeom prst="rect">
                        <a:avLst/>
                      </a:prstGeom>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文本框 48131"/>
          <p:cNvSpPr txBox="1"/>
          <p:nvPr/>
        </p:nvSpPr>
        <p:spPr>
          <a:xfrm>
            <a:off x="2133600" y="5708650"/>
            <a:ext cx="5695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6-8 </a:t>
            </a:r>
            <a:r>
              <a:rPr lang="zh-CN" altLang="en-US" dirty="0">
                <a:latin typeface="Times New Roman" panose="02020603050405020304" pitchFamily="18" charset="0"/>
                <a:ea typeface="宋体" panose="02010600030101010101" pitchFamily="2" charset="-122"/>
              </a:rPr>
              <a:t>理想低通的单位脉冲响应及矩形窗 </a:t>
            </a:r>
            <a:endParaRPr lang="zh-CN" altLang="en-US" dirty="0">
              <a:latin typeface="Times New Roman" panose="02020603050405020304" pitchFamily="18" charset="0"/>
              <a:ea typeface="宋体" panose="02010600030101010101" pitchFamily="2" charset="-122"/>
            </a:endParaRPr>
          </a:p>
        </p:txBody>
      </p:sp>
      <p:pic>
        <p:nvPicPr>
          <p:cNvPr id="49154" name="图片 48134" descr="6-8"/>
          <p:cNvPicPr>
            <a:picLocks noChangeAspect="1"/>
          </p:cNvPicPr>
          <p:nvPr/>
        </p:nvPicPr>
        <p:blipFill>
          <a:blip r:embed="rId1"/>
          <a:stretch>
            <a:fillRect/>
          </a:stretch>
        </p:blipFill>
        <p:spPr>
          <a:xfrm>
            <a:off x="2057400" y="981075"/>
            <a:ext cx="5029200" cy="4286250"/>
          </a:xfrm>
          <a:prstGeom prst="rect">
            <a:avLst/>
          </a:prstGeom>
          <a:noFill/>
          <a:ln w="9525">
            <a:noFill/>
          </a:ln>
        </p:spPr>
      </p:pic>
      <p:cxnSp>
        <p:nvCxnSpPr>
          <p:cNvPr id="2" name="直接连接符 1"/>
          <p:cNvCxnSpPr/>
          <p:nvPr/>
        </p:nvCxnSpPr>
        <p:spPr>
          <a:xfrm flipV="1">
            <a:off x="4787900" y="627063"/>
            <a:ext cx="1588" cy="4962525"/>
          </a:xfrm>
          <a:prstGeom prst="line">
            <a:avLst/>
          </a:prstGeom>
          <a:ln w="4445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1">
            <a:hlinkClick r:id="" action="ppaction://ole?verb="/>
          </p:cNvPr>
          <p:cNvGraphicFramePr>
            <a:graphicFrameLocks noChangeAspect="1"/>
          </p:cNvGraphicFramePr>
          <p:nvPr/>
        </p:nvGraphicFramePr>
        <p:xfrm>
          <a:off x="1619885" y="621030"/>
          <a:ext cx="5634355" cy="585470"/>
        </p:xfrm>
        <a:graphic>
          <a:graphicData uri="http://schemas.openxmlformats.org/presentationml/2006/ole">
            <mc:AlternateContent xmlns:mc="http://schemas.openxmlformats.org/markup-compatibility/2006">
              <mc:Choice xmlns:v="urn:schemas-microsoft-com:vml" Requires="v">
                <p:oleObj spid="_x0000_s2052" name="" r:id="rId1" imgW="1955800" imgH="203200" progId="Equation.KSEE3">
                  <p:embed/>
                </p:oleObj>
              </mc:Choice>
              <mc:Fallback>
                <p:oleObj name="" r:id="rId1" imgW="1955800" imgH="203200" progId="Equation.KSEE3">
                  <p:embed/>
                  <p:pic>
                    <p:nvPicPr>
                      <p:cNvPr id="0" name="图片 2051"/>
                      <p:cNvPicPr/>
                      <p:nvPr/>
                    </p:nvPicPr>
                    <p:blipFill>
                      <a:blip r:embed="rId2"/>
                      <a:stretch>
                        <a:fillRect/>
                      </a:stretch>
                    </p:blipFill>
                    <p:spPr>
                      <a:xfrm>
                        <a:off x="1619885" y="621030"/>
                        <a:ext cx="5634355" cy="585470"/>
                      </a:xfrm>
                      <a:prstGeom prst="rect">
                        <a:avLst/>
                      </a:prstGeom>
                      <a:solidFill>
                        <a:schemeClr val="accent1"/>
                      </a:solidFill>
                    </p:spPr>
                  </p:pic>
                </p:oleObj>
              </mc:Fallback>
            </mc:AlternateContent>
          </a:graphicData>
        </a:graphic>
      </p:graphicFrame>
    </p:spTree>
    <p:controls>
      <mc:AlternateContent xmlns:mc="http://schemas.openxmlformats.org/markup-compatibility/2006">
        <mc:Choice xmlns:v="urn:schemas-microsoft-com:vml" Requires="v">
          <p:control spid="2051" name="" r:id="rId3" imgW="8716010" imgH="5319395"/>
        </mc:Choice>
        <mc:Fallback>
          <p:control name="" r:id="rId3" imgW="8716010" imgH="5319395">
            <p:pic>
              <p:nvPicPr>
                <p:cNvPr id="0" name="ShockwaveFlash2"/>
                <p:cNvPicPr>
                  <a:picLocks noChangeAspect="1"/>
                </p:cNvPicPr>
                <p:nvPr>
                  <p:custDataLst>
                    <p:tags r:id="rId4"/>
                  </p:custDataLst>
                </p:nvPr>
              </p:nvPicPr>
              <p:blipFill>
                <a:blip r:embed="rId5"/>
                <a:stretch>
                  <a:fillRect/>
                </a:stretch>
              </p:blipFill>
              <p:spPr>
                <a:xfrm>
                  <a:off x="216535" y="1427480"/>
                  <a:ext cx="8716010" cy="5319395"/>
                </a:xfrm>
                <a:prstGeom prst="rect">
                  <a:avLst/>
                </a:prstGeom>
                <a:noFill/>
                <a:ln w="9525">
                  <a:noFill/>
                </a:ln>
              </p:spPr>
            </p:pic>
          </p:control>
        </mc:Fallback>
      </mc:AlternateContent>
    </p:controls>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框 51203"/>
          <p:cNvSpPr txBox="1"/>
          <p:nvPr/>
        </p:nvSpPr>
        <p:spPr>
          <a:xfrm>
            <a:off x="304800" y="457200"/>
            <a:ext cx="8610600" cy="1109663"/>
          </a:xfrm>
          <a:prstGeom prst="rect">
            <a:avLst/>
          </a:prstGeom>
          <a:noFill/>
          <a:ln w="9525">
            <a:noFill/>
          </a:ln>
        </p:spPr>
        <p:txBody>
          <a:bodyPr anchor="t">
            <a:spAutoFit/>
          </a:bodyPr>
          <a:p>
            <a:pPr>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由复卷积定理可知，</a:t>
            </a:r>
            <a:r>
              <a:rPr lang="zh-CN" altLang="en-US" b="1" dirty="0">
                <a:solidFill>
                  <a:srgbClr val="FF0000"/>
                </a:solidFill>
                <a:latin typeface="Times New Roman" panose="02020603050405020304" pitchFamily="18" charset="0"/>
                <a:ea typeface="宋体" panose="02010600030101010101" pitchFamily="2" charset="-122"/>
              </a:rPr>
              <a:t>时域相乘</a:t>
            </a:r>
            <a:r>
              <a:rPr lang="zh-CN" altLang="en-US" dirty="0">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频域是</a:t>
            </a:r>
            <a:r>
              <a:rPr lang="zh-CN" altLang="en-US" b="1" u="sng" dirty="0">
                <a:solidFill>
                  <a:srgbClr val="FF0000"/>
                </a:solidFill>
                <a:latin typeface="Times New Roman" panose="02020603050405020304" pitchFamily="18" charset="0"/>
                <a:ea typeface="宋体" panose="02010600030101010101" pitchFamily="2" charset="-122"/>
              </a:rPr>
              <a:t>周期卷积</a:t>
            </a:r>
            <a:r>
              <a:rPr lang="zh-CN" altLang="en-US" dirty="0">
                <a:latin typeface="Times New Roman" panose="02020603050405020304" pitchFamily="18" charset="0"/>
                <a:ea typeface="宋体" panose="02010600030101010101" pitchFamily="2" charset="-122"/>
              </a:rPr>
              <a:t>，故</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的频率特性为 </a:t>
            </a:r>
            <a:endParaRPr lang="zh-CN" altLang="en-US" dirty="0">
              <a:latin typeface="Times New Roman" panose="02020603050405020304" pitchFamily="18" charset="0"/>
              <a:ea typeface="宋体" panose="02010600030101010101" pitchFamily="2" charset="-122"/>
            </a:endParaRPr>
          </a:p>
        </p:txBody>
      </p:sp>
      <p:graphicFrame>
        <p:nvGraphicFramePr>
          <p:cNvPr id="50178" name="对象 51206"/>
          <p:cNvGraphicFramePr/>
          <p:nvPr/>
        </p:nvGraphicFramePr>
        <p:xfrm>
          <a:off x="1752600" y="1495425"/>
          <a:ext cx="5638800" cy="925513"/>
        </p:xfrm>
        <a:graphic>
          <a:graphicData uri="http://schemas.openxmlformats.org/presentationml/2006/ole">
            <mc:AlternateContent xmlns:mc="http://schemas.openxmlformats.org/markup-compatibility/2006">
              <mc:Choice xmlns:v="urn:schemas-microsoft-com:vml" Requires="v">
                <p:oleObj spid="_x0000_s3083" name="" r:id="rId1" imgW="2399030" imgH="393700" progId="Equation.3">
                  <p:embed/>
                </p:oleObj>
              </mc:Choice>
              <mc:Fallback>
                <p:oleObj name="" r:id="rId1" imgW="2399030" imgH="393700" progId="Equation.3">
                  <p:embed/>
                  <p:pic>
                    <p:nvPicPr>
                      <p:cNvPr id="0" name="图片 3082"/>
                      <p:cNvPicPr/>
                      <p:nvPr/>
                    </p:nvPicPr>
                    <p:blipFill>
                      <a:blip r:embed="rId2"/>
                      <a:stretch>
                        <a:fillRect/>
                      </a:stretch>
                    </p:blipFill>
                    <p:spPr>
                      <a:xfrm>
                        <a:off x="1752600" y="1495425"/>
                        <a:ext cx="5638800" cy="925513"/>
                      </a:xfrm>
                      <a:prstGeom prst="rect">
                        <a:avLst/>
                      </a:prstGeom>
                      <a:solidFill>
                        <a:schemeClr val="accent1"/>
                      </a:solidFill>
                      <a:ln w="38100">
                        <a:noFill/>
                        <a:miter/>
                      </a:ln>
                    </p:spPr>
                  </p:pic>
                </p:oleObj>
              </mc:Fallback>
            </mc:AlternateContent>
          </a:graphicData>
        </a:graphic>
      </p:graphicFrame>
      <p:sp>
        <p:nvSpPr>
          <p:cNvPr id="50179" name="文本框 51208"/>
          <p:cNvSpPr txBox="1"/>
          <p:nvPr/>
        </p:nvSpPr>
        <p:spPr>
          <a:xfrm>
            <a:off x="7708900" y="1676400"/>
            <a:ext cx="1435100"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6-30</a:t>
            </a:r>
            <a:r>
              <a:rPr lang="zh-CN" altLang="en-US" b="1" dirty="0">
                <a:latin typeface="Times New Roman" panose="02020603050405020304" pitchFamily="18" charset="0"/>
                <a:ea typeface="宋体" panose="02010600030101010101" pitchFamily="2" charset="-122"/>
              </a:rPr>
              <a:t>） </a:t>
            </a:r>
            <a:endParaRPr lang="zh-CN" altLang="en-US" b="1" dirty="0">
              <a:latin typeface="Times New Roman" panose="02020603050405020304" pitchFamily="18" charset="0"/>
              <a:ea typeface="宋体" panose="02010600030101010101" pitchFamily="2" charset="-122"/>
            </a:endParaRPr>
          </a:p>
        </p:txBody>
      </p:sp>
      <p:sp>
        <p:nvSpPr>
          <p:cNvPr id="50180" name="文本框 51209"/>
          <p:cNvSpPr txBox="1"/>
          <p:nvPr/>
        </p:nvSpPr>
        <p:spPr>
          <a:xfrm>
            <a:off x="228600" y="2514600"/>
            <a:ext cx="8763000" cy="457200"/>
          </a:xfrm>
          <a:prstGeom prst="rect">
            <a:avLst/>
          </a:prstGeom>
          <a:noFill/>
          <a:ln w="9525">
            <a:noFill/>
          </a:ln>
        </p:spPr>
        <p:txBody>
          <a:bodyPr anchor="t">
            <a:spAutoFit/>
          </a:bodyPr>
          <a:p>
            <a:pPr algn="just">
              <a:spcBef>
                <a:spcPct val="50000"/>
              </a:spcBef>
            </a:pP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能否逼近</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取决于窗函数的频谱特性</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50181" name="对象 51210"/>
          <p:cNvGraphicFramePr/>
          <p:nvPr/>
        </p:nvGraphicFramePr>
        <p:xfrm>
          <a:off x="3176905" y="3048000"/>
          <a:ext cx="2942590" cy="981075"/>
        </p:xfrm>
        <a:graphic>
          <a:graphicData uri="http://schemas.openxmlformats.org/presentationml/2006/ole">
            <mc:AlternateContent xmlns:mc="http://schemas.openxmlformats.org/markup-compatibility/2006">
              <mc:Choice xmlns:v="urn:schemas-microsoft-com:vml" Requires="v">
                <p:oleObj spid="_x0000_s3084" name="" r:id="rId3" imgW="1295400" imgH="431800" progId="Equation.3">
                  <p:embed/>
                </p:oleObj>
              </mc:Choice>
              <mc:Fallback>
                <p:oleObj name="" r:id="rId3" imgW="1295400" imgH="431800" progId="Equation.3">
                  <p:embed/>
                  <p:pic>
                    <p:nvPicPr>
                      <p:cNvPr id="0" name="图片 3083"/>
                      <p:cNvPicPr/>
                      <p:nvPr/>
                    </p:nvPicPr>
                    <p:blipFill>
                      <a:blip r:embed="rId4"/>
                      <a:stretch>
                        <a:fillRect/>
                      </a:stretch>
                    </p:blipFill>
                    <p:spPr>
                      <a:xfrm>
                        <a:off x="3176905" y="3048000"/>
                        <a:ext cx="2942590" cy="981075"/>
                      </a:xfrm>
                      <a:prstGeom prst="rect">
                        <a:avLst/>
                      </a:prstGeom>
                      <a:noFill/>
                      <a:ln w="38100">
                        <a:noFill/>
                        <a:miter/>
                      </a:ln>
                    </p:spPr>
                  </p:pic>
                </p:oleObj>
              </mc:Fallback>
            </mc:AlternateContent>
          </a:graphicData>
        </a:graphic>
      </p:graphicFrame>
      <p:sp>
        <p:nvSpPr>
          <p:cNvPr id="50182" name="文本框 51211"/>
          <p:cNvSpPr txBox="1"/>
          <p:nvPr/>
        </p:nvSpPr>
        <p:spPr>
          <a:xfrm>
            <a:off x="838200" y="4267200"/>
            <a:ext cx="5211763"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这里选用矩形窗         ，其频谱特性为 </a:t>
            </a:r>
            <a:endParaRPr lang="zh-CN" altLang="en-US" dirty="0">
              <a:latin typeface="Times New Roman" panose="02020603050405020304" pitchFamily="18" charset="0"/>
              <a:ea typeface="宋体" panose="02010600030101010101" pitchFamily="2" charset="-122"/>
            </a:endParaRPr>
          </a:p>
        </p:txBody>
      </p:sp>
      <p:graphicFrame>
        <p:nvGraphicFramePr>
          <p:cNvPr id="50183" name="对象 51212"/>
          <p:cNvGraphicFramePr/>
          <p:nvPr/>
        </p:nvGraphicFramePr>
        <p:xfrm>
          <a:off x="900113" y="4797425"/>
          <a:ext cx="7380287" cy="1066800"/>
        </p:xfrm>
        <a:graphic>
          <a:graphicData uri="http://schemas.openxmlformats.org/presentationml/2006/ole">
            <mc:AlternateContent xmlns:mc="http://schemas.openxmlformats.org/markup-compatibility/2006">
              <mc:Choice xmlns:v="urn:schemas-microsoft-com:vml" Requires="v">
                <p:oleObj spid="_x0000_s3085" name="" r:id="rId5" imgW="3251200" imgH="469900" progId="Equation.3">
                  <p:embed/>
                </p:oleObj>
              </mc:Choice>
              <mc:Fallback>
                <p:oleObj name="" r:id="rId5" imgW="3251200" imgH="469900" progId="Equation.3">
                  <p:embed/>
                  <p:pic>
                    <p:nvPicPr>
                      <p:cNvPr id="0" name="图片 3084"/>
                      <p:cNvPicPr/>
                      <p:nvPr/>
                    </p:nvPicPr>
                    <p:blipFill>
                      <a:blip r:embed="rId6"/>
                      <a:stretch>
                        <a:fillRect/>
                      </a:stretch>
                    </p:blipFill>
                    <p:spPr>
                      <a:xfrm>
                        <a:off x="900113" y="4797425"/>
                        <a:ext cx="7380287" cy="1066800"/>
                      </a:xfrm>
                      <a:prstGeom prst="rect">
                        <a:avLst/>
                      </a:prstGeom>
                      <a:solidFill>
                        <a:schemeClr val="accent1"/>
                      </a:solidFill>
                      <a:ln w="38100">
                        <a:noFill/>
                        <a:miter/>
                      </a:ln>
                    </p:spPr>
                  </p:pic>
                </p:oleObj>
              </mc:Fallback>
            </mc:AlternateContent>
          </a:graphicData>
        </a:graphic>
      </p:graphicFrame>
      <p:sp>
        <p:nvSpPr>
          <p:cNvPr id="50184" name="文本框 51213"/>
          <p:cNvSpPr txBox="1"/>
          <p:nvPr/>
        </p:nvSpPr>
        <p:spPr>
          <a:xfrm>
            <a:off x="7708900" y="5876925"/>
            <a:ext cx="143192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6-31</a:t>
            </a:r>
            <a:r>
              <a:rPr lang="zh-CN" altLang="en-US" b="1" dirty="0">
                <a:latin typeface="Times New Roman" panose="02020603050405020304" pitchFamily="18" charset="0"/>
                <a:ea typeface="宋体" panose="02010600030101010101" pitchFamily="2" charset="-122"/>
              </a:rPr>
              <a:t>） </a:t>
            </a:r>
            <a:endParaRPr lang="zh-CN" altLang="en-US" b="1" dirty="0">
              <a:latin typeface="Times New Roman" panose="02020603050405020304" pitchFamily="18" charset="0"/>
              <a:ea typeface="宋体" panose="02010600030101010101" pitchFamily="2" charset="-122"/>
            </a:endParaRPr>
          </a:p>
        </p:txBody>
      </p:sp>
      <p:graphicFrame>
        <p:nvGraphicFramePr>
          <p:cNvPr id="50185" name="对象 1"/>
          <p:cNvGraphicFramePr/>
          <p:nvPr/>
        </p:nvGraphicFramePr>
        <p:xfrm>
          <a:off x="3098800" y="4230688"/>
          <a:ext cx="690563" cy="496887"/>
        </p:xfrm>
        <a:graphic>
          <a:graphicData uri="http://schemas.openxmlformats.org/presentationml/2006/ole">
            <mc:AlternateContent xmlns:mc="http://schemas.openxmlformats.org/markup-compatibility/2006">
              <mc:Choice xmlns:v="urn:schemas-microsoft-com:vml" Requires="v">
                <p:oleObj spid="_x0000_s3155" name="" r:id="rId7" imgW="590550" imgH="459740" progId="Equation.KSEE3">
                  <p:embed/>
                </p:oleObj>
              </mc:Choice>
              <mc:Fallback>
                <p:oleObj name="" r:id="rId7" imgW="590550" imgH="459740" progId="Equation.KSEE3">
                  <p:embed/>
                  <p:pic>
                    <p:nvPicPr>
                      <p:cNvPr id="0" name="图片 3154"/>
                      <p:cNvPicPr/>
                      <p:nvPr/>
                    </p:nvPicPr>
                    <p:blipFill>
                      <a:blip r:embed="rId8"/>
                      <a:stretch>
                        <a:fillRect/>
                      </a:stretch>
                    </p:blipFill>
                    <p:spPr>
                      <a:xfrm>
                        <a:off x="3098800" y="4230688"/>
                        <a:ext cx="690563" cy="496887"/>
                      </a:xfrm>
                      <a:prstGeom prst="rect">
                        <a:avLst/>
                      </a:prstGeom>
                      <a:noFill/>
                      <a:ln w="38100">
                        <a:noFill/>
                        <a:miter/>
                      </a:ln>
                    </p:spPr>
                  </p:pic>
                </p:oleObj>
              </mc:Fallback>
            </mc:AlternateContent>
          </a:graphicData>
        </a:graphic>
      </p:graphicFrame>
      <p:sp>
        <p:nvSpPr>
          <p:cNvPr id="2" name="椭圆 1"/>
          <p:cNvSpPr/>
          <p:nvPr/>
        </p:nvSpPr>
        <p:spPr>
          <a:xfrm>
            <a:off x="5435600" y="1495425"/>
            <a:ext cx="1512888" cy="92551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335588" y="1557338"/>
            <a:ext cx="1468438" cy="719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51202" name="文本框 50179"/>
          <p:cNvSpPr txBox="1"/>
          <p:nvPr/>
        </p:nvSpPr>
        <p:spPr>
          <a:xfrm>
            <a:off x="381000" y="838200"/>
            <a:ext cx="3308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幅频特性和相频特性为 </a:t>
            </a:r>
            <a:endParaRPr lang="zh-CN" altLang="en-US" dirty="0">
              <a:latin typeface="Times New Roman" panose="02020603050405020304" pitchFamily="18" charset="0"/>
              <a:ea typeface="宋体" panose="02010600030101010101" pitchFamily="2" charset="-122"/>
            </a:endParaRPr>
          </a:p>
        </p:txBody>
      </p:sp>
      <p:graphicFrame>
        <p:nvGraphicFramePr>
          <p:cNvPr id="51203" name="对象 50180"/>
          <p:cNvGraphicFramePr/>
          <p:nvPr/>
        </p:nvGraphicFramePr>
        <p:xfrm>
          <a:off x="2001838" y="3429000"/>
          <a:ext cx="5254625" cy="973138"/>
        </p:xfrm>
        <a:graphic>
          <a:graphicData uri="http://schemas.openxmlformats.org/presentationml/2006/ole">
            <mc:AlternateContent xmlns:mc="http://schemas.openxmlformats.org/markup-compatibility/2006">
              <mc:Choice xmlns:v="urn:schemas-microsoft-com:vml" Requires="v">
                <p:oleObj spid="_x0000_s3156" name="" r:id="rId1" imgW="2260600" imgH="419100" progId="Equation.3">
                  <p:embed/>
                </p:oleObj>
              </mc:Choice>
              <mc:Fallback>
                <p:oleObj name="" r:id="rId1" imgW="2260600" imgH="419100" progId="Equation.3">
                  <p:embed/>
                  <p:pic>
                    <p:nvPicPr>
                      <p:cNvPr id="0" name="图片 3155"/>
                      <p:cNvPicPr/>
                      <p:nvPr/>
                    </p:nvPicPr>
                    <p:blipFill>
                      <a:blip r:embed="rId2"/>
                      <a:stretch>
                        <a:fillRect/>
                      </a:stretch>
                    </p:blipFill>
                    <p:spPr>
                      <a:xfrm>
                        <a:off x="2001838" y="3429000"/>
                        <a:ext cx="5254625" cy="973138"/>
                      </a:xfrm>
                      <a:prstGeom prst="rect">
                        <a:avLst/>
                      </a:prstGeom>
                      <a:solidFill>
                        <a:schemeClr val="accent1"/>
                      </a:solidFill>
                      <a:ln w="38100">
                        <a:noFill/>
                        <a:miter/>
                      </a:ln>
                    </p:spPr>
                  </p:pic>
                </p:oleObj>
              </mc:Fallback>
            </mc:AlternateContent>
          </a:graphicData>
        </a:graphic>
      </p:graphicFrame>
      <p:graphicFrame>
        <p:nvGraphicFramePr>
          <p:cNvPr id="51204" name="对象 50181"/>
          <p:cNvGraphicFramePr/>
          <p:nvPr/>
        </p:nvGraphicFramePr>
        <p:xfrm>
          <a:off x="2362200" y="1600200"/>
          <a:ext cx="4191000" cy="923925"/>
        </p:xfrm>
        <a:graphic>
          <a:graphicData uri="http://schemas.openxmlformats.org/presentationml/2006/ole">
            <mc:AlternateContent xmlns:mc="http://schemas.openxmlformats.org/markup-compatibility/2006">
              <mc:Choice xmlns:v="urn:schemas-microsoft-com:vml" Requires="v">
                <p:oleObj spid="_x0000_s3157" name="" r:id="rId3" imgW="1611630" imgH="355600" progId="Equation.3">
                  <p:embed/>
                </p:oleObj>
              </mc:Choice>
              <mc:Fallback>
                <p:oleObj name="" r:id="rId3" imgW="1611630" imgH="355600" progId="Equation.3">
                  <p:embed/>
                  <p:pic>
                    <p:nvPicPr>
                      <p:cNvPr id="0" name="图片 3156"/>
                      <p:cNvPicPr/>
                      <p:nvPr/>
                    </p:nvPicPr>
                    <p:blipFill>
                      <a:blip r:embed="rId4"/>
                      <a:stretch>
                        <a:fillRect/>
                      </a:stretch>
                    </p:blipFill>
                    <p:spPr>
                      <a:xfrm>
                        <a:off x="2362200" y="1600200"/>
                        <a:ext cx="4191000" cy="923925"/>
                      </a:xfrm>
                      <a:prstGeom prst="rect">
                        <a:avLst/>
                      </a:prstGeom>
                      <a:noFill/>
                      <a:ln w="38100">
                        <a:noFill/>
                        <a:miter/>
                      </a:ln>
                    </p:spPr>
                  </p:pic>
                </p:oleObj>
              </mc:Fallback>
            </mc:AlternateContent>
          </a:graphicData>
        </a:graphic>
      </p:graphicFrame>
      <p:sp>
        <p:nvSpPr>
          <p:cNvPr id="51205" name="文本框 50182"/>
          <p:cNvSpPr txBox="1"/>
          <p:nvPr/>
        </p:nvSpPr>
        <p:spPr>
          <a:xfrm>
            <a:off x="7527925" y="2022475"/>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6-32</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51206" name="文本框 50183"/>
          <p:cNvSpPr txBox="1"/>
          <p:nvPr/>
        </p:nvSpPr>
        <p:spPr>
          <a:xfrm>
            <a:off x="381000" y="3124200"/>
            <a:ext cx="117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dirty="0">
              <a:latin typeface="Times New Roman" panose="02020603050405020304" pitchFamily="18" charset="0"/>
              <a:ea typeface="宋体" panose="02010600030101010101" pitchFamily="2" charset="-122"/>
            </a:endParaRPr>
          </a:p>
        </p:txBody>
      </p:sp>
      <p:sp>
        <p:nvSpPr>
          <p:cNvPr id="51207" name="文本框 50184"/>
          <p:cNvSpPr txBox="1"/>
          <p:nvPr/>
        </p:nvSpPr>
        <p:spPr>
          <a:xfrm>
            <a:off x="152400" y="4572000"/>
            <a:ext cx="8763000" cy="1601788"/>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其中，</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是周期函数，如图</a:t>
            </a:r>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）所示。主瓣宽度为</a:t>
            </a:r>
            <a:r>
              <a:rPr lang="en-US" altLang="zh-CN" dirty="0">
                <a:latin typeface="Times New Roman" panose="02020603050405020304" pitchFamily="18" charset="0"/>
                <a:ea typeface="宋体" panose="02010600030101010101" pitchFamily="2" charset="-122"/>
              </a:rPr>
              <a:t>4π/N</a:t>
            </a:r>
            <a:r>
              <a:rPr lang="zh-CN" altLang="en-US" dirty="0">
                <a:latin typeface="Times New Roman" panose="02020603050405020304" pitchFamily="18" charset="0"/>
                <a:ea typeface="宋体" panose="02010600030101010101" pitchFamily="2" charset="-122"/>
              </a:rPr>
              <a:t>，两侧有许多衰减振荡的旁瓣。通常主瓣定义为原点两边第一个过零点之间的区域。 </a:t>
            </a:r>
            <a:endParaRPr lang="zh-CN" altLang="en-US" dirty="0">
              <a:latin typeface="Times New Roman" panose="02020603050405020304" pitchFamily="18" charset="0"/>
              <a:ea typeface="宋体" panose="02010600030101010101" pitchFamily="2" charset="-122"/>
            </a:endParaRPr>
          </a:p>
        </p:txBody>
      </p:sp>
      <p:sp>
        <p:nvSpPr>
          <p:cNvPr id="51208" name="文本框 50185"/>
          <p:cNvSpPr txBox="1"/>
          <p:nvPr/>
        </p:nvSpPr>
        <p:spPr>
          <a:xfrm>
            <a:off x="7543800" y="36576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6-33</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87" name="图片 122886"/>
          <p:cNvPicPr>
            <a:picLocks noChangeAspect="1"/>
          </p:cNvPicPr>
          <p:nvPr>
            <p:custDataLst>
              <p:tags r:id="rId1"/>
            </p:custDataLst>
          </p:nvPr>
        </p:nvPicPr>
        <p:blipFill>
          <a:blip r:embed="rId2"/>
          <a:stretch>
            <a:fillRect/>
          </a:stretch>
        </p:blipFill>
        <p:spPr>
          <a:xfrm>
            <a:off x="1764030" y="244158"/>
            <a:ext cx="5400675" cy="6264275"/>
          </a:xfrm>
          <a:prstGeom prst="rect">
            <a:avLst/>
          </a:prstGeom>
          <a:noFill/>
          <a:ln w="9525">
            <a:noFill/>
          </a:ln>
        </p:spPr>
      </p:pic>
      <p:sp>
        <p:nvSpPr>
          <p:cNvPr id="52226" name="文本框 53251"/>
          <p:cNvSpPr txBox="1"/>
          <p:nvPr/>
        </p:nvSpPr>
        <p:spPr>
          <a:xfrm>
            <a:off x="8229600" y="609600"/>
            <a:ext cx="549275" cy="5899150"/>
          </a:xfrm>
          <a:prstGeom prst="rect">
            <a:avLst/>
          </a:prstGeom>
          <a:noFill/>
          <a:ln w="9525">
            <a:noFill/>
          </a:ln>
        </p:spPr>
        <p:txBody>
          <a:bodyPr vert="eaVert"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6-9 </a:t>
            </a:r>
            <a:r>
              <a:rPr lang="zh-CN" altLang="en-US" dirty="0">
                <a:latin typeface="Times New Roman" panose="02020603050405020304" pitchFamily="18" charset="0"/>
                <a:ea typeface="宋体" panose="02010600030101010101" pitchFamily="2" charset="-122"/>
              </a:rPr>
              <a:t>矩形窗对理想低通幅频特性的影响 </a:t>
            </a:r>
            <a:endParaRPr lang="zh-CN" altLang="en-US" dirty="0">
              <a:latin typeface="Times New Roman" panose="02020603050405020304" pitchFamily="18" charset="0"/>
              <a:ea typeface="宋体" panose="02010600030101010101" pitchFamily="2" charset="-122"/>
            </a:endParaRPr>
          </a:p>
        </p:txBody>
      </p:sp>
      <p:cxnSp>
        <p:nvCxnSpPr>
          <p:cNvPr id="3" name="直接连接符 2"/>
          <p:cNvCxnSpPr>
            <a:endCxn id="10" idx="1"/>
          </p:cNvCxnSpPr>
          <p:nvPr/>
        </p:nvCxnSpPr>
        <p:spPr>
          <a:xfrm flipV="1">
            <a:off x="4787583" y="5408613"/>
            <a:ext cx="2088515" cy="71120"/>
          </a:xfrm>
          <a:prstGeom prst="line">
            <a:avLst/>
          </a:prstGeom>
          <a:ln w="31750">
            <a:solidFill>
              <a:srgbClr val="C00000"/>
            </a:solidFill>
            <a:prstDash val="sysDot"/>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V="1">
            <a:off x="4715828" y="5588953"/>
            <a:ext cx="2232025" cy="51435"/>
          </a:xfrm>
          <a:prstGeom prst="line">
            <a:avLst/>
          </a:prstGeom>
          <a:ln w="31750">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009640" y="1357313"/>
            <a:ext cx="2881313" cy="461962"/>
          </a:xfrm>
          <a:prstGeom prst="rect">
            <a:avLst/>
          </a:prstGeom>
          <a:solidFill>
            <a:schemeClr val="accent1"/>
          </a:solidFill>
          <a:ln w="9525">
            <a:noFill/>
          </a:ln>
        </p:spPr>
        <p:txBody>
          <a:bodyPr anchor="t">
            <a:spAutoFit/>
          </a:bodyPr>
          <a:p>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主瓣宽度越宽越好</a:t>
            </a:r>
            <a:endParaRPr lang="zh-CN" altLang="en-US" dirty="0">
              <a:latin typeface="Times New Roman" panose="02020603050405020304" pitchFamily="18" charset="0"/>
              <a:ea typeface="宋体" panose="02010600030101010101" pitchFamily="2" charset="-122"/>
            </a:endParaRPr>
          </a:p>
        </p:txBody>
      </p:sp>
      <p:sp>
        <p:nvSpPr>
          <p:cNvPr id="9" name="矩形 8"/>
          <p:cNvSpPr/>
          <p:nvPr/>
        </p:nvSpPr>
        <p:spPr>
          <a:xfrm>
            <a:off x="6009640" y="1978025"/>
            <a:ext cx="2881313" cy="461963"/>
          </a:xfrm>
          <a:prstGeom prst="rect">
            <a:avLst/>
          </a:prstGeom>
          <a:solidFill>
            <a:schemeClr val="accent1"/>
          </a:solidFill>
          <a:ln w="9525">
            <a:noFill/>
          </a:ln>
        </p:spPr>
        <p:txBody>
          <a:bodyPr anchor="t">
            <a:spAutoFit/>
          </a:bodyPr>
          <a:p>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过渡带越窄越好</a:t>
            </a:r>
            <a:endParaRPr lang="zh-CN" altLang="en-US" dirty="0">
              <a:latin typeface="Times New Roman" panose="02020603050405020304" pitchFamily="18" charset="0"/>
              <a:ea typeface="宋体" panose="02010600030101010101" pitchFamily="2" charset="-122"/>
            </a:endParaRPr>
          </a:p>
        </p:txBody>
      </p:sp>
      <p:sp>
        <p:nvSpPr>
          <p:cNvPr id="10" name="矩形 9"/>
          <p:cNvSpPr/>
          <p:nvPr/>
        </p:nvSpPr>
        <p:spPr>
          <a:xfrm>
            <a:off x="6876098" y="5178425"/>
            <a:ext cx="1722437" cy="460375"/>
          </a:xfrm>
          <a:prstGeom prst="rect">
            <a:avLst/>
          </a:prstGeom>
          <a:solidFill>
            <a:schemeClr val="accent1"/>
          </a:solidFill>
          <a:ln w="9525">
            <a:noFill/>
          </a:ln>
        </p:spPr>
        <p:txBody>
          <a:bodyPr anchor="t">
            <a:spAutoFit/>
          </a:bodyPr>
          <a:p>
            <a:r>
              <a:rPr lang="zh-CN" altLang="en-US" dirty="0">
                <a:latin typeface="Times New Roman" panose="02020603050405020304" pitchFamily="18" charset="0"/>
                <a:ea typeface="宋体" panose="02010600030101010101" pitchFamily="2" charset="-122"/>
              </a:rPr>
              <a:t>吉布斯现象</a:t>
            </a:r>
            <a:endParaRPr lang="zh-CN" altLang="en-US" dirty="0">
              <a:latin typeface="Times New Roman" panose="02020603050405020304" pitchFamily="18" charset="0"/>
              <a:ea typeface="宋体" panose="02010600030101010101" pitchFamily="2" charset="-122"/>
            </a:endParaRPr>
          </a:p>
        </p:txBody>
      </p:sp>
      <p:cxnSp>
        <p:nvCxnSpPr>
          <p:cNvPr id="8" name="直接连接符 7"/>
          <p:cNvCxnSpPr/>
          <p:nvPr/>
        </p:nvCxnSpPr>
        <p:spPr>
          <a:xfrm>
            <a:off x="4932363" y="333375"/>
            <a:ext cx="0" cy="102393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任意多边形 11"/>
          <p:cNvSpPr/>
          <p:nvPr/>
        </p:nvSpPr>
        <p:spPr>
          <a:xfrm>
            <a:off x="4787583" y="5408930"/>
            <a:ext cx="452438" cy="590550"/>
          </a:xfrm>
          <a:custGeom>
            <a:avLst/>
            <a:gdLst>
              <a:gd name="connsiteX0" fmla="*/ 0 w 453610"/>
              <a:gd name="connsiteY0" fmla="*/ 0 h 590304"/>
              <a:gd name="connsiteX1" fmla="*/ 108065 w 453610"/>
              <a:gd name="connsiteY1" fmla="*/ 166255 h 590304"/>
              <a:gd name="connsiteX2" fmla="*/ 149629 w 453610"/>
              <a:gd name="connsiteY2" fmla="*/ 249382 h 590304"/>
              <a:gd name="connsiteX3" fmla="*/ 166254 w 453610"/>
              <a:gd name="connsiteY3" fmla="*/ 282633 h 590304"/>
              <a:gd name="connsiteX4" fmla="*/ 182880 w 453610"/>
              <a:gd name="connsiteY4" fmla="*/ 332509 h 590304"/>
              <a:gd name="connsiteX5" fmla="*/ 232756 w 453610"/>
              <a:gd name="connsiteY5" fmla="*/ 432262 h 590304"/>
              <a:gd name="connsiteX6" fmla="*/ 274320 w 453610"/>
              <a:gd name="connsiteY6" fmla="*/ 465513 h 590304"/>
              <a:gd name="connsiteX7" fmla="*/ 357447 w 453610"/>
              <a:gd name="connsiteY7" fmla="*/ 556953 h 590304"/>
              <a:gd name="connsiteX8" fmla="*/ 448887 w 453610"/>
              <a:gd name="connsiteY8" fmla="*/ 590204 h 590304"/>
              <a:gd name="connsiteX9" fmla="*/ 432261 w 453610"/>
              <a:gd name="connsiteY9" fmla="*/ 565265 h 59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10" h="590304">
                <a:moveTo>
                  <a:pt x="0" y="0"/>
                </a:moveTo>
                <a:cubicBezTo>
                  <a:pt x="41563" y="62345"/>
                  <a:pt x="83127" y="124691"/>
                  <a:pt x="108065" y="166255"/>
                </a:cubicBezTo>
                <a:cubicBezTo>
                  <a:pt x="133003" y="207819"/>
                  <a:pt x="149629" y="249382"/>
                  <a:pt x="149629" y="249382"/>
                </a:cubicBezTo>
                <a:cubicBezTo>
                  <a:pt x="159327" y="268778"/>
                  <a:pt x="160712" y="268779"/>
                  <a:pt x="166254" y="282633"/>
                </a:cubicBezTo>
                <a:cubicBezTo>
                  <a:pt x="171796" y="296487"/>
                  <a:pt x="171796" y="307571"/>
                  <a:pt x="182880" y="332509"/>
                </a:cubicBezTo>
                <a:cubicBezTo>
                  <a:pt x="193964" y="357447"/>
                  <a:pt x="217516" y="410095"/>
                  <a:pt x="232756" y="432262"/>
                </a:cubicBezTo>
                <a:cubicBezTo>
                  <a:pt x="247996" y="454429"/>
                  <a:pt x="253538" y="444731"/>
                  <a:pt x="274320" y="465513"/>
                </a:cubicBezTo>
                <a:cubicBezTo>
                  <a:pt x="295102" y="486295"/>
                  <a:pt x="328353" y="536171"/>
                  <a:pt x="357447" y="556953"/>
                </a:cubicBezTo>
                <a:cubicBezTo>
                  <a:pt x="386541" y="577735"/>
                  <a:pt x="436418" y="588819"/>
                  <a:pt x="448887" y="590204"/>
                </a:cubicBezTo>
                <a:cubicBezTo>
                  <a:pt x="461356" y="591589"/>
                  <a:pt x="446808" y="578427"/>
                  <a:pt x="432261" y="565265"/>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6" name="直接连接符 5"/>
          <p:cNvCxnSpPr/>
          <p:nvPr>
            <p:custDataLst>
              <p:tags r:id="rId3"/>
            </p:custDataLst>
          </p:nvPr>
        </p:nvCxnSpPr>
        <p:spPr>
          <a:xfrm flipV="1">
            <a:off x="5004118" y="5776913"/>
            <a:ext cx="2447925" cy="45720"/>
          </a:xfrm>
          <a:prstGeom prst="line">
            <a:avLst/>
          </a:prstGeom>
          <a:ln w="66675">
            <a:solidFill>
              <a:schemeClr val="accent2"/>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9" grpId="0" bldLvl="0" animBg="1"/>
      <p:bldP spid="10"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3857625" y="5594350"/>
            <a:ext cx="3181350" cy="730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 name="矩形 1"/>
          <p:cNvSpPr/>
          <p:nvPr/>
        </p:nvSpPr>
        <p:spPr>
          <a:xfrm>
            <a:off x="1042988" y="4508500"/>
            <a:ext cx="1081088" cy="577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53251" name="文本框 52227"/>
          <p:cNvSpPr txBox="1"/>
          <p:nvPr/>
        </p:nvSpPr>
        <p:spPr>
          <a:xfrm>
            <a:off x="1042988" y="549275"/>
            <a:ext cx="4762500"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若</a:t>
            </a:r>
            <a:r>
              <a:rPr lang="zh-CN" altLang="en-US" dirty="0">
                <a:latin typeface="Times New Roman" panose="02020603050405020304" pitchFamily="18" charset="0"/>
                <a:ea typeface="宋体" panose="02010600030101010101" pitchFamily="2" charset="-122"/>
              </a:rPr>
              <a:t>将</a:t>
            </a:r>
            <a:r>
              <a:rPr lang="zh-CN" altLang="en-US" b="1" u="sng" dirty="0">
                <a:solidFill>
                  <a:srgbClr val="FF0000"/>
                </a:solidFill>
                <a:latin typeface="Times New Roman" panose="02020603050405020304" pitchFamily="18" charset="0"/>
                <a:ea typeface="宋体" panose="02010600030101010101" pitchFamily="2" charset="-122"/>
              </a:rPr>
              <a:t>理想滤波器</a:t>
            </a:r>
            <a:r>
              <a:rPr lang="zh-CN" altLang="en-US" dirty="0">
                <a:latin typeface="Times New Roman" panose="02020603050405020304" pitchFamily="18" charset="0"/>
                <a:ea typeface="宋体" panose="02010600030101010101" pitchFamily="2" charset="-122"/>
              </a:rPr>
              <a:t>的频率响应也写成 </a:t>
            </a:r>
            <a:endParaRPr lang="zh-CN" altLang="en-US" dirty="0">
              <a:latin typeface="Times New Roman" panose="02020603050405020304" pitchFamily="18" charset="0"/>
              <a:ea typeface="宋体" panose="02010600030101010101" pitchFamily="2" charset="-122"/>
            </a:endParaRPr>
          </a:p>
        </p:txBody>
      </p:sp>
      <p:graphicFrame>
        <p:nvGraphicFramePr>
          <p:cNvPr id="53252" name="对象 52228"/>
          <p:cNvGraphicFramePr/>
          <p:nvPr/>
        </p:nvGraphicFramePr>
        <p:xfrm>
          <a:off x="2411413" y="981075"/>
          <a:ext cx="4267200" cy="958850"/>
        </p:xfrm>
        <a:graphic>
          <a:graphicData uri="http://schemas.openxmlformats.org/presentationml/2006/ole">
            <mc:AlternateContent xmlns:mc="http://schemas.openxmlformats.org/markup-compatibility/2006">
              <mc:Choice xmlns:v="urn:schemas-microsoft-com:vml" Requires="v">
                <p:oleObj spid="_x0000_s3158" name="" r:id="rId1" imgW="1638300" imgH="368300" progId="Equation.3">
                  <p:embed/>
                </p:oleObj>
              </mc:Choice>
              <mc:Fallback>
                <p:oleObj name="" r:id="rId1" imgW="1638300" imgH="368300" progId="Equation.3">
                  <p:embed/>
                  <p:pic>
                    <p:nvPicPr>
                      <p:cNvPr id="0" name="图片 3157"/>
                      <p:cNvPicPr/>
                      <p:nvPr/>
                    </p:nvPicPr>
                    <p:blipFill>
                      <a:blip r:embed="rId2"/>
                      <a:stretch>
                        <a:fillRect/>
                      </a:stretch>
                    </p:blipFill>
                    <p:spPr>
                      <a:xfrm>
                        <a:off x="2411413" y="981075"/>
                        <a:ext cx="4267200" cy="958850"/>
                      </a:xfrm>
                      <a:prstGeom prst="rect">
                        <a:avLst/>
                      </a:prstGeom>
                      <a:solidFill>
                        <a:schemeClr val="accent1"/>
                      </a:solidFill>
                      <a:ln w="38100">
                        <a:noFill/>
                        <a:miter/>
                      </a:ln>
                    </p:spPr>
                  </p:pic>
                </p:oleObj>
              </mc:Fallback>
            </mc:AlternateContent>
          </a:graphicData>
        </a:graphic>
      </p:graphicFrame>
      <p:sp>
        <p:nvSpPr>
          <p:cNvPr id="53253" name="文本框 52229"/>
          <p:cNvSpPr txBox="1"/>
          <p:nvPr/>
        </p:nvSpPr>
        <p:spPr>
          <a:xfrm>
            <a:off x="7315200" y="1355725"/>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6-34</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53254" name="文本框 52230"/>
          <p:cNvSpPr txBox="1"/>
          <p:nvPr/>
        </p:nvSpPr>
        <p:spPr>
          <a:xfrm>
            <a:off x="457200" y="1889125"/>
            <a:ext cx="217170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则其幅频特性</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53255" name="对象 52231"/>
          <p:cNvGraphicFramePr/>
          <p:nvPr/>
        </p:nvGraphicFramePr>
        <p:xfrm>
          <a:off x="2667000" y="2117725"/>
          <a:ext cx="3149600" cy="1168400"/>
        </p:xfrm>
        <a:graphic>
          <a:graphicData uri="http://schemas.openxmlformats.org/presentationml/2006/ole">
            <mc:AlternateContent xmlns:mc="http://schemas.openxmlformats.org/markup-compatibility/2006">
              <mc:Choice xmlns:v="urn:schemas-microsoft-com:vml" Requires="v">
                <p:oleObj spid="_x0000_s3162" name="" r:id="rId3" imgW="1574165" imgH="584200" progId="Equation.3">
                  <p:embed/>
                </p:oleObj>
              </mc:Choice>
              <mc:Fallback>
                <p:oleObj name="" r:id="rId3" imgW="1574165" imgH="584200" progId="Equation.3">
                  <p:embed/>
                  <p:pic>
                    <p:nvPicPr>
                      <p:cNvPr id="0" name="图片 3161"/>
                      <p:cNvPicPr/>
                      <p:nvPr/>
                    </p:nvPicPr>
                    <p:blipFill>
                      <a:blip r:embed="rId4"/>
                      <a:stretch>
                        <a:fillRect/>
                      </a:stretch>
                    </p:blipFill>
                    <p:spPr>
                      <a:xfrm>
                        <a:off x="2667000" y="2117725"/>
                        <a:ext cx="3149600" cy="1168400"/>
                      </a:xfrm>
                      <a:prstGeom prst="rect">
                        <a:avLst/>
                      </a:prstGeom>
                      <a:noFill/>
                      <a:ln w="38100">
                        <a:noFill/>
                        <a:miter/>
                      </a:ln>
                    </p:spPr>
                  </p:pic>
                </p:oleObj>
              </mc:Fallback>
            </mc:AlternateContent>
          </a:graphicData>
        </a:graphic>
      </p:graphicFrame>
      <p:sp>
        <p:nvSpPr>
          <p:cNvPr id="53256" name="文本框 52232"/>
          <p:cNvSpPr txBox="1"/>
          <p:nvPr/>
        </p:nvSpPr>
        <p:spPr>
          <a:xfrm>
            <a:off x="7315200" y="2498725"/>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6-35</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53257" name="文本框 52233"/>
          <p:cNvSpPr txBox="1"/>
          <p:nvPr/>
        </p:nvSpPr>
        <p:spPr>
          <a:xfrm>
            <a:off x="152400" y="3336925"/>
            <a:ext cx="8839200" cy="1050925"/>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将式（</a:t>
            </a:r>
            <a:r>
              <a:rPr lang="en-US" altLang="zh-CN" dirty="0">
                <a:latin typeface="Times New Roman" panose="02020603050405020304" pitchFamily="18" charset="0"/>
                <a:ea typeface="宋体" panose="02010600030101010101" pitchFamily="2" charset="-122"/>
              </a:rPr>
              <a:t>6-32</a:t>
            </a:r>
            <a:r>
              <a:rPr lang="zh-CN" altLang="en-US" dirty="0">
                <a:latin typeface="Times New Roman" panose="02020603050405020304" pitchFamily="18" charset="0"/>
                <a:ea typeface="宋体" panose="02010600030101010101" pitchFamily="2" charset="-122"/>
              </a:rPr>
              <a:t>）和式（</a:t>
            </a:r>
            <a:r>
              <a:rPr lang="en-US" altLang="zh-CN" dirty="0">
                <a:latin typeface="Times New Roman" panose="02020603050405020304" pitchFamily="18" charset="0"/>
                <a:ea typeface="宋体" panose="02010600030101010101" pitchFamily="2" charset="-122"/>
              </a:rPr>
              <a:t>6-34</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6-30</a:t>
            </a:r>
            <a:r>
              <a:rPr lang="zh-CN" altLang="en-US" dirty="0">
                <a:latin typeface="Times New Roman" panose="02020603050405020304" pitchFamily="18" charset="0"/>
                <a:ea typeface="宋体" panose="02010600030101010101" pitchFamily="2" charset="-122"/>
              </a:rPr>
              <a:t>），就可以得到实际设计的</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滤波器频率响应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53258" name="对象 52234"/>
          <p:cNvGraphicFramePr/>
          <p:nvPr/>
        </p:nvGraphicFramePr>
        <p:xfrm>
          <a:off x="1042988" y="4387850"/>
          <a:ext cx="7064375" cy="1841500"/>
        </p:xfrm>
        <a:graphic>
          <a:graphicData uri="http://schemas.openxmlformats.org/presentationml/2006/ole">
            <mc:AlternateContent xmlns:mc="http://schemas.openxmlformats.org/markup-compatibility/2006">
              <mc:Choice xmlns:v="urn:schemas-microsoft-com:vml" Requires="v">
                <p:oleObj spid="_x0000_s3163" name="" r:id="rId5" imgW="3505200" imgH="914400" progId="Equation.3">
                  <p:embed/>
                </p:oleObj>
              </mc:Choice>
              <mc:Fallback>
                <p:oleObj name="" r:id="rId5" imgW="3505200" imgH="914400" progId="Equation.3">
                  <p:embed/>
                  <p:pic>
                    <p:nvPicPr>
                      <p:cNvPr id="0" name="图片 3162"/>
                      <p:cNvPicPr/>
                      <p:nvPr/>
                    </p:nvPicPr>
                    <p:blipFill>
                      <a:blip r:embed="rId6"/>
                      <a:stretch>
                        <a:fillRect/>
                      </a:stretch>
                    </p:blipFill>
                    <p:spPr>
                      <a:xfrm>
                        <a:off x="1042988" y="4387850"/>
                        <a:ext cx="7064375" cy="1841500"/>
                      </a:xfrm>
                      <a:prstGeom prst="rect">
                        <a:avLst/>
                      </a:prstGeom>
                      <a:noFill/>
                      <a:ln w="38100">
                        <a:noFill/>
                        <a:miter/>
                      </a:ln>
                    </p:spPr>
                  </p:pic>
                </p:oleObj>
              </mc:Fallback>
            </mc:AlternateContent>
          </a:graphicData>
        </a:graphic>
      </p:graphicFrame>
      <p:sp>
        <p:nvSpPr>
          <p:cNvPr id="53259" name="文本框 52235"/>
          <p:cNvSpPr txBox="1"/>
          <p:nvPr/>
        </p:nvSpPr>
        <p:spPr>
          <a:xfrm>
            <a:off x="7380288" y="534828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6-36</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4" name="矩形 3"/>
          <p:cNvSpPr/>
          <p:nvPr/>
        </p:nvSpPr>
        <p:spPr>
          <a:xfrm>
            <a:off x="3203575" y="4364990"/>
            <a:ext cx="1800225" cy="792480"/>
          </a:xfrm>
          <a:prstGeom prst="rect">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custDataLst>
              <p:tags r:id="rId7"/>
            </p:custDataLst>
          </p:nvPr>
        </p:nvSpPr>
        <p:spPr>
          <a:xfrm>
            <a:off x="5026025" y="4352290"/>
            <a:ext cx="2692400" cy="1001395"/>
          </a:xfrm>
          <a:prstGeom prst="rect">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框 55299"/>
          <p:cNvSpPr txBox="1"/>
          <p:nvPr/>
        </p:nvSpPr>
        <p:spPr>
          <a:xfrm>
            <a:off x="533400" y="762000"/>
            <a:ext cx="558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设 </a:t>
            </a:r>
            <a:endParaRPr lang="zh-CN" altLang="en-US" dirty="0">
              <a:latin typeface="Times New Roman" panose="02020603050405020304" pitchFamily="18" charset="0"/>
              <a:ea typeface="宋体" panose="02010600030101010101" pitchFamily="2" charset="-122"/>
            </a:endParaRPr>
          </a:p>
        </p:txBody>
      </p:sp>
      <p:graphicFrame>
        <p:nvGraphicFramePr>
          <p:cNvPr id="54274" name="对象 55300"/>
          <p:cNvGraphicFramePr/>
          <p:nvPr/>
        </p:nvGraphicFramePr>
        <p:xfrm>
          <a:off x="2700338" y="836613"/>
          <a:ext cx="3733800" cy="871537"/>
        </p:xfrm>
        <a:graphic>
          <a:graphicData uri="http://schemas.openxmlformats.org/presentationml/2006/ole">
            <mc:AlternateContent xmlns:mc="http://schemas.openxmlformats.org/markup-compatibility/2006">
              <mc:Choice xmlns:v="urn:schemas-microsoft-com:vml" Requires="v">
                <p:oleObj spid="_x0000_s3160" name="" r:id="rId1" imgW="1522730" imgH="355600" progId="Equation.3">
                  <p:embed/>
                </p:oleObj>
              </mc:Choice>
              <mc:Fallback>
                <p:oleObj name="" r:id="rId1" imgW="1522730" imgH="355600" progId="Equation.3">
                  <p:embed/>
                  <p:pic>
                    <p:nvPicPr>
                      <p:cNvPr id="0" name="图片 3159"/>
                      <p:cNvPicPr/>
                      <p:nvPr/>
                    </p:nvPicPr>
                    <p:blipFill>
                      <a:blip r:embed="rId2"/>
                      <a:stretch>
                        <a:fillRect/>
                      </a:stretch>
                    </p:blipFill>
                    <p:spPr>
                      <a:xfrm>
                        <a:off x="2700338" y="836613"/>
                        <a:ext cx="3733800" cy="871537"/>
                      </a:xfrm>
                      <a:prstGeom prst="rect">
                        <a:avLst/>
                      </a:prstGeom>
                      <a:noFill/>
                      <a:ln w="38100">
                        <a:noFill/>
                        <a:miter/>
                      </a:ln>
                    </p:spPr>
                  </p:pic>
                </p:oleObj>
              </mc:Fallback>
            </mc:AlternateContent>
          </a:graphicData>
        </a:graphic>
      </p:graphicFrame>
      <p:sp>
        <p:nvSpPr>
          <p:cNvPr id="54275" name="文本框 55301"/>
          <p:cNvSpPr txBox="1"/>
          <p:nvPr/>
        </p:nvSpPr>
        <p:spPr>
          <a:xfrm>
            <a:off x="7721600" y="12192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6-37</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54276" name="文本框 55302"/>
          <p:cNvSpPr txBox="1"/>
          <p:nvPr/>
        </p:nvSpPr>
        <p:spPr>
          <a:xfrm>
            <a:off x="533400" y="2133600"/>
            <a:ext cx="5294313" cy="457200"/>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则实际设计的</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滤波器的幅频特性为 </a:t>
            </a:r>
            <a:endParaRPr lang="zh-CN" altLang="en-US" dirty="0">
              <a:latin typeface="Times New Roman" panose="02020603050405020304" pitchFamily="18" charset="0"/>
              <a:ea typeface="宋体" panose="02010600030101010101" pitchFamily="2" charset="-122"/>
            </a:endParaRPr>
          </a:p>
        </p:txBody>
      </p:sp>
      <p:graphicFrame>
        <p:nvGraphicFramePr>
          <p:cNvPr id="54277" name="对象 55303"/>
          <p:cNvGraphicFramePr/>
          <p:nvPr/>
        </p:nvGraphicFramePr>
        <p:xfrm>
          <a:off x="2314575" y="2971800"/>
          <a:ext cx="4864100" cy="871538"/>
        </p:xfrm>
        <a:graphic>
          <a:graphicData uri="http://schemas.openxmlformats.org/presentationml/2006/ole">
            <mc:AlternateContent xmlns:mc="http://schemas.openxmlformats.org/markup-compatibility/2006">
              <mc:Choice xmlns:v="urn:schemas-microsoft-com:vml" Requires="v">
                <p:oleObj spid="_x0000_s3159" name="" r:id="rId3" imgW="2195830" imgH="393700" progId="Equation.DSMT4">
                  <p:embed/>
                </p:oleObj>
              </mc:Choice>
              <mc:Fallback>
                <p:oleObj name="" r:id="rId3" imgW="2195830" imgH="393700" progId="Equation.DSMT4">
                  <p:embed/>
                  <p:pic>
                    <p:nvPicPr>
                      <p:cNvPr id="0" name="图片 3158"/>
                      <p:cNvPicPr/>
                      <p:nvPr/>
                    </p:nvPicPr>
                    <p:blipFill>
                      <a:blip r:embed="rId4"/>
                      <a:stretch>
                        <a:fillRect/>
                      </a:stretch>
                    </p:blipFill>
                    <p:spPr>
                      <a:xfrm>
                        <a:off x="2314575" y="2971800"/>
                        <a:ext cx="4864100" cy="871538"/>
                      </a:xfrm>
                      <a:prstGeom prst="rect">
                        <a:avLst/>
                      </a:prstGeom>
                      <a:solidFill>
                        <a:schemeClr val="accent1"/>
                      </a:solidFill>
                      <a:ln w="38100">
                        <a:noFill/>
                        <a:miter/>
                      </a:ln>
                    </p:spPr>
                  </p:pic>
                </p:oleObj>
              </mc:Fallback>
            </mc:AlternateContent>
          </a:graphicData>
        </a:graphic>
      </p:graphicFrame>
      <p:sp>
        <p:nvSpPr>
          <p:cNvPr id="54278" name="文本框 55304"/>
          <p:cNvSpPr txBox="1"/>
          <p:nvPr/>
        </p:nvSpPr>
        <p:spPr>
          <a:xfrm>
            <a:off x="7721600" y="31242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6-38</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54279" name="文本框 55305"/>
          <p:cNvSpPr txBox="1"/>
          <p:nvPr/>
        </p:nvSpPr>
        <p:spPr>
          <a:xfrm>
            <a:off x="369888" y="4076700"/>
            <a:ext cx="8523287" cy="184150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显然，对实际</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滤波器的幅频特性</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有影响的只是窗函数的</a:t>
            </a:r>
            <a:r>
              <a:rPr lang="zh-CN" altLang="en-US" b="1" dirty="0">
                <a:solidFill>
                  <a:srgbClr val="FF0000"/>
                </a:solidFill>
                <a:latin typeface="Times New Roman" panose="02020603050405020304" pitchFamily="18" charset="0"/>
                <a:ea typeface="宋体" panose="02010600030101010101" pitchFamily="2" charset="-122"/>
              </a:rPr>
              <a:t>幅频特性</a:t>
            </a:r>
            <a:r>
              <a:rPr lang="en-US" altLang="zh-CN" b="1" i="1" dirty="0">
                <a:solidFill>
                  <a:srgbClr val="FF0000"/>
                </a:solidFill>
                <a:latin typeface="Times New Roman" panose="02020603050405020304" pitchFamily="18" charset="0"/>
                <a:ea typeface="宋体" panose="02010600030101010101" pitchFamily="2" charset="-122"/>
              </a:rPr>
              <a:t>W</a:t>
            </a:r>
            <a:r>
              <a:rPr lang="en-US" altLang="zh-CN" b="1" baseline="-25000" dirty="0">
                <a:solidFill>
                  <a:srgbClr val="FF0000"/>
                </a:solidFill>
                <a:latin typeface="Times New Roman" panose="02020603050405020304" pitchFamily="18" charset="0"/>
                <a:ea typeface="宋体" panose="02010600030101010101" pitchFamily="2" charset="-122"/>
              </a:rPr>
              <a:t>R</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。实际</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滤波器的幅频特性是理想低通滤波器的幅频特性与窗函数的幅频特性的复卷积。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文本框 54275"/>
          <p:cNvSpPr txBox="1"/>
          <p:nvPr/>
        </p:nvSpPr>
        <p:spPr>
          <a:xfrm>
            <a:off x="373063" y="549275"/>
            <a:ext cx="8375650" cy="5630863"/>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复卷积过程可用图</a:t>
            </a:r>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说明。为了观察到复卷积给</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带来的过冲和波动，只看几个特殊的频率点。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dirty="0">
                <a:highlight>
                  <a:srgbClr val="00FFFF"/>
                </a:highlight>
                <a:latin typeface="Times New Roman" panose="02020603050405020304" pitchFamily="18" charset="0"/>
                <a:ea typeface="宋体" panose="02010600030101010101" pitchFamily="2" charset="-122"/>
              </a:rPr>
              <a:t>ω</a:t>
            </a:r>
            <a:r>
              <a:rPr lang="en-US" altLang="zh-CN" dirty="0">
                <a:highlight>
                  <a:srgbClr val="00FFFF"/>
                </a:highlight>
                <a:latin typeface="Times New Roman" panose="02020603050405020304" pitchFamily="18" charset="0"/>
                <a:ea typeface="宋体" panose="02010600030101010101" pitchFamily="2" charset="-122"/>
              </a:rPr>
              <a:t>=0 </a:t>
            </a:r>
            <a:r>
              <a:rPr lang="zh-CN" altLang="en-US" dirty="0">
                <a:highlight>
                  <a:srgbClr val="00FFFF"/>
                </a:highlight>
                <a:latin typeface="Times New Roman" panose="02020603050405020304" pitchFamily="18" charset="0"/>
                <a:ea typeface="宋体" panose="02010600030101010101" pitchFamily="2" charset="-122"/>
              </a:rPr>
              <a:t>时的响应</a:t>
            </a:r>
            <a:r>
              <a:rPr lang="en-US" altLang="zh-CN" i="1" dirty="0">
                <a:highlight>
                  <a:srgbClr val="00FFFF"/>
                </a:highlight>
                <a:latin typeface="Times New Roman" panose="02020603050405020304" pitchFamily="18" charset="0"/>
                <a:ea typeface="宋体" panose="02010600030101010101" pitchFamily="2" charset="-122"/>
              </a:rPr>
              <a:t>H</a:t>
            </a:r>
            <a:r>
              <a:rPr lang="en-US" altLang="zh-CN" dirty="0">
                <a:highlight>
                  <a:srgbClr val="00FFFF"/>
                </a:highlight>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，根据式（</a:t>
            </a:r>
            <a:r>
              <a:rPr lang="en-US" altLang="zh-CN" dirty="0">
                <a:latin typeface="Times New Roman" panose="02020603050405020304" pitchFamily="18" charset="0"/>
                <a:ea typeface="宋体" panose="02010600030101010101" pitchFamily="2" charset="-122"/>
              </a:rPr>
              <a:t>6-38</a:t>
            </a:r>
            <a:r>
              <a:rPr lang="zh-CN" altLang="en-US" dirty="0">
                <a:latin typeface="Times New Roman" panose="02020603050405020304" pitchFamily="18" charset="0"/>
                <a:ea typeface="宋体" panose="02010600030101010101" pitchFamily="2" charset="-122"/>
              </a:rPr>
              <a:t>），响应应该是图</a:t>
            </a:r>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中（</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两个函数乘积的积分，即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等于</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到</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一段的积分面积。通常</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&gt;&gt;2π/</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实际上近似等于</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的全部积分（</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到</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）面积。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i="1" dirty="0">
                <a:highlight>
                  <a:srgbClr val="00FFFF"/>
                </a:highlight>
                <a:latin typeface="Times New Roman" panose="02020603050405020304" pitchFamily="18" charset="0"/>
                <a:ea typeface="宋体" panose="02010600030101010101" pitchFamily="2" charset="-122"/>
              </a:rPr>
              <a:t>ω</a:t>
            </a:r>
            <a:r>
              <a:rPr lang="en-US" altLang="zh-CN" dirty="0">
                <a:highlight>
                  <a:srgbClr val="00FFFF"/>
                </a:highlight>
                <a:latin typeface="Times New Roman" panose="02020603050405020304" pitchFamily="18" charset="0"/>
                <a:ea typeface="宋体" panose="02010600030101010101" pitchFamily="2" charset="-122"/>
              </a:rPr>
              <a:t>=ω</a:t>
            </a:r>
            <a:r>
              <a:rPr lang="en-US" altLang="zh-CN" baseline="-25000" dirty="0">
                <a:highlight>
                  <a:srgbClr val="00FFFF"/>
                </a:highlight>
                <a:latin typeface="Times New Roman" panose="02020603050405020304" pitchFamily="18" charset="0"/>
                <a:ea typeface="宋体" panose="02010600030101010101" pitchFamily="2" charset="-122"/>
              </a:rPr>
              <a:t>c</a:t>
            </a:r>
            <a:r>
              <a:rPr lang="zh-CN" altLang="en-US" dirty="0">
                <a:highlight>
                  <a:srgbClr val="00FFFF"/>
                </a:highlight>
                <a:latin typeface="Times New Roman" panose="02020603050405020304" pitchFamily="18" charset="0"/>
                <a:ea typeface="宋体" panose="02010600030101010101" pitchFamily="2" charset="-122"/>
              </a:rPr>
              <a:t>时的响应</a:t>
            </a:r>
            <a:r>
              <a:rPr lang="en-US" altLang="zh-CN" i="1" dirty="0">
                <a:highlight>
                  <a:srgbClr val="00FFFF"/>
                </a:highlight>
                <a:latin typeface="Times New Roman" panose="02020603050405020304" pitchFamily="18" charset="0"/>
                <a:ea typeface="宋体" panose="02010600030101010101" pitchFamily="2" charset="-122"/>
              </a:rPr>
              <a:t>H</a:t>
            </a:r>
            <a:r>
              <a:rPr lang="en-US" altLang="zh-CN" dirty="0">
                <a:highlight>
                  <a:srgbClr val="00FFFF"/>
                </a:highlight>
                <a:latin typeface="Times New Roman" panose="02020603050405020304" pitchFamily="18" charset="0"/>
                <a:ea typeface="宋体" panose="02010600030101010101" pitchFamily="2" charset="-122"/>
              </a:rPr>
              <a:t>(</a:t>
            </a:r>
            <a:r>
              <a:rPr lang="en-US" altLang="zh-CN" i="1" dirty="0">
                <a:highlight>
                  <a:srgbClr val="00FFFF"/>
                </a:highlight>
                <a:latin typeface="Times New Roman" panose="02020603050405020304" pitchFamily="18" charset="0"/>
                <a:ea typeface="宋体" panose="02010600030101010101" pitchFamily="2" charset="-122"/>
              </a:rPr>
              <a:t>ω</a:t>
            </a:r>
            <a:r>
              <a:rPr lang="en-US" altLang="zh-CN" baseline="-25000" dirty="0">
                <a:highlight>
                  <a:srgbClr val="00FFFF"/>
                </a:highlight>
                <a:latin typeface="Times New Roman" panose="02020603050405020304" pitchFamily="18" charset="0"/>
                <a:ea typeface="宋体" panose="02010600030101010101" pitchFamily="2" charset="-122"/>
              </a:rPr>
              <a:t>c</a:t>
            </a:r>
            <a:r>
              <a:rPr lang="en-US" altLang="zh-CN" dirty="0">
                <a:highlight>
                  <a:srgbClr val="00FFFF"/>
                </a:highlight>
                <a:latin typeface="Times New Roman" panose="02020603050405020304" pitchFamily="18" charset="0"/>
                <a:ea typeface="宋体" panose="02010600030101010101" pitchFamily="2" charset="-122"/>
              </a:rPr>
              <a:t>)</a:t>
            </a:r>
            <a:r>
              <a:rPr lang="zh-CN" altLang="en-US" dirty="0">
                <a:highlight>
                  <a:srgbClr val="00FFFF"/>
                </a:highlight>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刚好与</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的一半重叠，如图</a:t>
            </a:r>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）。因此卷积值刚好是</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的一半，即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(0)=1/2</a:t>
            </a:r>
            <a:r>
              <a:rPr lang="zh-CN" altLang="en-US" dirty="0">
                <a:latin typeface="Times New Roman" panose="02020603050405020304" pitchFamily="18" charset="0"/>
                <a:ea typeface="宋体" panose="02010600030101010101" pitchFamily="2" charset="-122"/>
              </a:rPr>
              <a:t>，如图</a:t>
            </a:r>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54277" name="对象 55303"/>
          <p:cNvGraphicFramePr/>
          <p:nvPr>
            <p:custDataLst>
              <p:tags r:id="rId1"/>
            </p:custDataLst>
          </p:nvPr>
        </p:nvGraphicFramePr>
        <p:xfrm>
          <a:off x="4354830" y="-27305"/>
          <a:ext cx="4817110" cy="791845"/>
        </p:xfrm>
        <a:graphic>
          <a:graphicData uri="http://schemas.openxmlformats.org/presentationml/2006/ole">
            <mc:AlternateContent xmlns:mc="http://schemas.openxmlformats.org/markup-compatibility/2006">
              <mc:Choice xmlns:v="urn:schemas-microsoft-com:vml" Requires="v">
                <p:oleObj spid="_x0000_s3159" name="" r:id="rId2" imgW="2195830" imgH="393700" progId="Equation.DSMT4">
                  <p:embed/>
                </p:oleObj>
              </mc:Choice>
              <mc:Fallback>
                <p:oleObj name="" r:id="rId2" imgW="2195830" imgH="393700" progId="Equation.DSMT4">
                  <p:embed/>
                  <p:pic>
                    <p:nvPicPr>
                      <p:cNvPr id="0" name="图片 3158"/>
                      <p:cNvPicPr/>
                      <p:nvPr/>
                    </p:nvPicPr>
                    <p:blipFill>
                      <a:blip r:embed="rId3"/>
                      <a:stretch>
                        <a:fillRect/>
                      </a:stretch>
                    </p:blipFill>
                    <p:spPr>
                      <a:xfrm>
                        <a:off x="4354830" y="-27305"/>
                        <a:ext cx="4817110" cy="791845"/>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框 58371"/>
          <p:cNvSpPr txBox="1"/>
          <p:nvPr/>
        </p:nvSpPr>
        <p:spPr>
          <a:xfrm>
            <a:off x="152400" y="687388"/>
            <a:ext cx="8763000" cy="4875212"/>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时的响应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的全部主瓣都在</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的通带（</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）之内，如图</a:t>
            </a:r>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）。因此卷积结果有最大值，即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为最大值，频响出现正肩峰。 </a:t>
            </a:r>
            <a:endParaRPr lang="zh-CN" altLang="en-US" dirty="0">
              <a:latin typeface="Times New Roman" panose="02020603050405020304" pitchFamily="18" charset="0"/>
              <a:ea typeface="宋体" panose="02010600030101010101" pitchFamily="2" charset="-122"/>
            </a:endParaRPr>
          </a:p>
          <a:p>
            <a:pPr algn="just">
              <a:lnSpc>
                <a:spcPct val="18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+2π</a:t>
            </a:r>
            <a:r>
              <a:rPr lang="zh-CN" altLang="en-US" dirty="0">
                <a:latin typeface="Times New Roman" panose="02020603050405020304" pitchFamily="18" charset="0"/>
                <a:ea typeface="宋体" panose="02010600030101010101" pitchFamily="2" charset="-122"/>
              </a:rPr>
              <a:t>／</a:t>
            </a:r>
            <a:r>
              <a:rPr lang="zh-CN" altLang="en-US" i="1" dirty="0">
                <a:latin typeface="Times New Roman" panose="02020603050405020304" pitchFamily="18" charset="0"/>
                <a:ea typeface="宋体" panose="02010600030101010101" pitchFamily="2" charset="-122"/>
              </a:rPr>
              <a:t>Ｎ</a:t>
            </a:r>
            <a:r>
              <a:rPr lang="zh-CN" altLang="en-US" dirty="0">
                <a:latin typeface="Times New Roman" panose="02020603050405020304" pitchFamily="18" charset="0"/>
                <a:ea typeface="宋体" panose="02010600030101010101" pitchFamily="2" charset="-122"/>
              </a:rPr>
              <a:t>时的响应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的全部主瓣都在</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的通带（</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）之外，如图</a:t>
            </a:r>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）。而通带内的旁瓣负的面积大于正的面积，因而卷积结果达到最负值，频响出现负肩峰。 </a:t>
            </a:r>
            <a:endParaRPr lang="zh-CN" altLang="en-US" dirty="0">
              <a:latin typeface="Times New Roman" panose="02020603050405020304" pitchFamily="18" charset="0"/>
              <a:ea typeface="宋体" panose="02010600030101010101" pitchFamily="2" charset="-122"/>
            </a:endParaRPr>
          </a:p>
        </p:txBody>
      </p:sp>
      <p:graphicFrame>
        <p:nvGraphicFramePr>
          <p:cNvPr id="54277" name="对象 55303"/>
          <p:cNvGraphicFramePr/>
          <p:nvPr>
            <p:custDataLst>
              <p:tags r:id="rId1"/>
            </p:custDataLst>
          </p:nvPr>
        </p:nvGraphicFramePr>
        <p:xfrm>
          <a:off x="4283710" y="0"/>
          <a:ext cx="4864100" cy="871538"/>
        </p:xfrm>
        <a:graphic>
          <a:graphicData uri="http://schemas.openxmlformats.org/presentationml/2006/ole">
            <mc:AlternateContent xmlns:mc="http://schemas.openxmlformats.org/markup-compatibility/2006">
              <mc:Choice xmlns:v="urn:schemas-microsoft-com:vml" Requires="v">
                <p:oleObj spid="_x0000_s3159" name="" r:id="rId2" imgW="2195830" imgH="393700" progId="Equation.DSMT4">
                  <p:embed/>
                </p:oleObj>
              </mc:Choice>
              <mc:Fallback>
                <p:oleObj name="" r:id="rId2" imgW="2195830" imgH="393700" progId="Equation.DSMT4">
                  <p:embed/>
                  <p:pic>
                    <p:nvPicPr>
                      <p:cNvPr id="0" name="图片 3158"/>
                      <p:cNvPicPr/>
                      <p:nvPr/>
                    </p:nvPicPr>
                    <p:blipFill>
                      <a:blip r:embed="rId3"/>
                      <a:stretch>
                        <a:fillRect/>
                      </a:stretch>
                    </p:blipFill>
                    <p:spPr>
                      <a:xfrm>
                        <a:off x="4283710" y="0"/>
                        <a:ext cx="4864100" cy="871538"/>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文本框 57347"/>
          <p:cNvSpPr txBox="1"/>
          <p:nvPr/>
        </p:nvSpPr>
        <p:spPr>
          <a:xfrm>
            <a:off x="439738" y="849313"/>
            <a:ext cx="8235950" cy="4181475"/>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）当</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&gt;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当时，随着</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的继续增大，卷积值将随着</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的旁瓣在</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的通带内面积的变化而变化，</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将围绕着零值波动。 </a:t>
            </a:r>
            <a:endParaRPr lang="zh-CN" altLang="en-US" dirty="0">
              <a:latin typeface="Times New Roman" panose="02020603050405020304" pitchFamily="18" charset="0"/>
              <a:ea typeface="宋体" panose="02010600030101010101" pitchFamily="2" charset="-122"/>
            </a:endParaRPr>
          </a:p>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         当</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由</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向通带内减小时，</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的右旁瓣进入</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的通带，使得</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值围绕</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值而波动。</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值如图</a:t>
            </a:r>
            <a:endParaRPr lang="zh-CN" altLang="en-US" dirty="0">
              <a:latin typeface="Times New Roman" panose="02020603050405020304" pitchFamily="18" charset="0"/>
              <a:ea typeface="宋体" panose="02010600030101010101" pitchFamily="2" charset="-122"/>
            </a:endParaRPr>
          </a:p>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p:txBody>
      </p:sp>
      <p:graphicFrame>
        <p:nvGraphicFramePr>
          <p:cNvPr id="54277" name="对象 55303"/>
          <p:cNvGraphicFramePr/>
          <p:nvPr>
            <p:custDataLst>
              <p:tags r:id="rId1"/>
            </p:custDataLst>
          </p:nvPr>
        </p:nvGraphicFramePr>
        <p:xfrm>
          <a:off x="4279900" y="0"/>
          <a:ext cx="4864100" cy="871538"/>
        </p:xfrm>
        <a:graphic>
          <a:graphicData uri="http://schemas.openxmlformats.org/presentationml/2006/ole">
            <mc:AlternateContent xmlns:mc="http://schemas.openxmlformats.org/markup-compatibility/2006">
              <mc:Choice xmlns:v="urn:schemas-microsoft-com:vml" Requires="v">
                <p:oleObj spid="_x0000_s3159" name="" r:id="rId2" imgW="2195830" imgH="393700" progId="Equation.DSMT4">
                  <p:embed/>
                </p:oleObj>
              </mc:Choice>
              <mc:Fallback>
                <p:oleObj name="" r:id="rId2" imgW="2195830" imgH="393700" progId="Equation.DSMT4">
                  <p:embed/>
                  <p:pic>
                    <p:nvPicPr>
                      <p:cNvPr id="0" name="图片 3158"/>
                      <p:cNvPicPr/>
                      <p:nvPr/>
                    </p:nvPicPr>
                    <p:blipFill>
                      <a:blip r:embed="rId3"/>
                      <a:stretch>
                        <a:fillRect/>
                      </a:stretch>
                    </p:blipFill>
                    <p:spPr>
                      <a:xfrm>
                        <a:off x="4279900" y="0"/>
                        <a:ext cx="4864100" cy="871538"/>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3075" name="" r:id="rId1" imgW="8459470" imgH="5940425"/>
        </mc:Choice>
        <mc:Fallback>
          <p:control name="" r:id="rId1" imgW="8459470" imgH="5940425">
            <p:pic>
              <p:nvPicPr>
                <p:cNvPr id="0" name="ShockwaveFlash4"/>
                <p:cNvPicPr>
                  <a:picLocks noChangeAspect="1"/>
                </p:cNvPicPr>
                <p:nvPr>
                  <p:custDataLst>
                    <p:tags r:id="rId2"/>
                  </p:custDataLst>
                </p:nvPr>
              </p:nvPicPr>
              <p:blipFill>
                <a:blip r:embed="rId3"/>
                <a:stretch>
                  <a:fillRect/>
                </a:stretch>
              </p:blipFill>
              <p:spPr>
                <a:xfrm>
                  <a:off x="467043" y="762635"/>
                  <a:ext cx="8459470" cy="5940425"/>
                </a:xfrm>
                <a:prstGeom prst="rect">
                  <a:avLst/>
                </a:prstGeom>
                <a:noFill/>
                <a:ln w="9525">
                  <a:noFill/>
                </a:ln>
              </p:spPr>
            </p:pic>
          </p:control>
        </mc:Fallback>
      </mc:AlternateContent>
    </p:controls>
  </p:cSld>
  <p:clrMapOvr>
    <a:masterClrMapping/>
  </p:clrMapOvr>
  <p:transition>
    <p:zoom dir="in"/>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文本框 56323"/>
          <p:cNvSpPr txBox="1"/>
          <p:nvPr/>
        </p:nvSpPr>
        <p:spPr>
          <a:xfrm>
            <a:off x="300038" y="558800"/>
            <a:ext cx="8520112" cy="5256213"/>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综上所述， 加窗函数处理后， 对理想频率响应产生以下几点影响：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将</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在截止频率处的间断点变成了连续曲线， 使理想频率特性不连续点处边沿加宽，形成一个过渡带，过渡带的宽度等于窗的频率响应</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a:t>
            </a:r>
            <a:r>
              <a:rPr lang="zh-CN" altLang="en-US" b="1" dirty="0">
                <a:solidFill>
                  <a:srgbClr val="FF0000"/>
                </a:solidFill>
                <a:latin typeface="Times New Roman" panose="02020603050405020304" pitchFamily="18" charset="0"/>
                <a:ea typeface="宋体" panose="02010600030101010101" pitchFamily="2" charset="-122"/>
              </a:rPr>
              <a:t>主瓣宽度</a:t>
            </a:r>
            <a:r>
              <a:rPr lang="en-US" altLang="zh-CN" b="1" dirty="0">
                <a:solidFill>
                  <a:srgbClr val="FF0000"/>
                </a:solidFill>
                <a:latin typeface="Times New Roman" panose="02020603050405020304" pitchFamily="18" charset="0"/>
                <a:ea typeface="宋体" panose="02010600030101010101" pitchFamily="2" charset="-122"/>
              </a:rPr>
              <a:t>Δ</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=4π/</a:t>
            </a:r>
            <a:r>
              <a:rPr lang="en-US" altLang="zh-CN" b="1" i="1" dirty="0">
                <a:solidFill>
                  <a:srgbClr val="FF0000"/>
                </a:solidFill>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，即正肩峰与负肩峰的间隔为 </a:t>
            </a:r>
            <a:r>
              <a:rPr lang="en-US" altLang="zh-CN" dirty="0">
                <a:latin typeface="Times New Roman" panose="02020603050405020304" pitchFamily="18" charset="0"/>
                <a:ea typeface="宋体" panose="02010600030101010101" pitchFamily="2" charset="-122"/>
              </a:rPr>
              <a:t>4π/</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窗函数的主瓣越宽，过渡带也越宽。 </a:t>
            </a:r>
            <a:endParaRPr lang="zh-CN" altLang="en-US" b="1" u="sng" dirty="0">
              <a:solidFill>
                <a:srgbClr val="FF0000"/>
              </a:solidFill>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）在截止频率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的两边即</a:t>
            </a:r>
            <a:r>
              <a:rPr lang="en-US" altLang="zh-CN" i="1" dirty="0">
                <a:latin typeface="Times New Roman" panose="02020603050405020304" pitchFamily="18" charset="0"/>
                <a:ea typeface="宋体" panose="02010600030101010101" pitchFamily="2" charset="-122"/>
              </a:rPr>
              <a:t>ω=ω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的地方，</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出现最大的肩峰值，肩峰的两侧形成起伏振荡，其振荡幅度取决于旁瓣的相对幅度，而振荡的多少，则取决于旁瓣的多少。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文本框 61444"/>
          <p:cNvSpPr txBox="1"/>
          <p:nvPr/>
        </p:nvSpPr>
        <p:spPr>
          <a:xfrm>
            <a:off x="444500" y="404813"/>
            <a:ext cx="8375650" cy="1601787"/>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）改变</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，只能改变窗谱函数的主瓣宽度，改变</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的坐标比例以及改变</a:t>
            </a:r>
            <a:r>
              <a:rPr lang="en-US" altLang="zh-CN" i="1" dirty="0">
                <a:latin typeface="Times New Roman" panose="02020603050405020304" pitchFamily="18" charset="0"/>
                <a:ea typeface="宋体" panose="02010600030101010101" pitchFamily="2" charset="-122"/>
              </a:rPr>
              <a:t>W</a:t>
            </a:r>
            <a:r>
              <a:rPr lang="en-US" altLang="zh-CN" baseline="-25000" dirty="0">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的绝对值大小。例如，在矩形窗情况下， </a:t>
            </a:r>
            <a:endParaRPr lang="zh-CN" altLang="en-US" dirty="0">
              <a:latin typeface="Times New Roman" panose="02020603050405020304" pitchFamily="18" charset="0"/>
              <a:ea typeface="宋体" panose="02010600030101010101" pitchFamily="2" charset="-122"/>
            </a:endParaRPr>
          </a:p>
        </p:txBody>
      </p:sp>
      <p:graphicFrame>
        <p:nvGraphicFramePr>
          <p:cNvPr id="59394" name="对象 61445"/>
          <p:cNvGraphicFramePr/>
          <p:nvPr/>
        </p:nvGraphicFramePr>
        <p:xfrm>
          <a:off x="1905000" y="1828800"/>
          <a:ext cx="5943600" cy="908050"/>
        </p:xfrm>
        <a:graphic>
          <a:graphicData uri="http://schemas.openxmlformats.org/presentationml/2006/ole">
            <mc:AlternateContent xmlns:mc="http://schemas.openxmlformats.org/markup-compatibility/2006">
              <mc:Choice xmlns:v="urn:schemas-microsoft-com:vml" Requires="v">
                <p:oleObj spid="_x0000_s3161" name="" r:id="rId1" imgW="2743200" imgH="419100" progId="Equation.3">
                  <p:embed/>
                </p:oleObj>
              </mc:Choice>
              <mc:Fallback>
                <p:oleObj name="" r:id="rId1" imgW="2743200" imgH="419100" progId="Equation.3">
                  <p:embed/>
                  <p:pic>
                    <p:nvPicPr>
                      <p:cNvPr id="0" name="图片 3160"/>
                      <p:cNvPicPr/>
                      <p:nvPr/>
                    </p:nvPicPr>
                    <p:blipFill>
                      <a:blip r:embed="rId2"/>
                      <a:stretch>
                        <a:fillRect/>
                      </a:stretch>
                    </p:blipFill>
                    <p:spPr>
                      <a:xfrm>
                        <a:off x="1905000" y="1828800"/>
                        <a:ext cx="5943600" cy="908050"/>
                      </a:xfrm>
                      <a:prstGeom prst="rect">
                        <a:avLst/>
                      </a:prstGeom>
                      <a:noFill/>
                      <a:ln w="38100">
                        <a:noFill/>
                        <a:miter/>
                      </a:ln>
                    </p:spPr>
                  </p:pic>
                </p:oleObj>
              </mc:Fallback>
            </mc:AlternateContent>
          </a:graphicData>
        </a:graphic>
      </p:graphicFrame>
      <p:sp>
        <p:nvSpPr>
          <p:cNvPr id="59395" name="文本框 61446"/>
          <p:cNvSpPr txBox="1"/>
          <p:nvPr/>
        </p:nvSpPr>
        <p:spPr>
          <a:xfrm>
            <a:off x="385763" y="2900363"/>
            <a:ext cx="253047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59396" name="文本框 61447"/>
          <p:cNvSpPr txBox="1"/>
          <p:nvPr/>
        </p:nvSpPr>
        <p:spPr>
          <a:xfrm>
            <a:off x="296863" y="3500438"/>
            <a:ext cx="8523287" cy="2608262"/>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当截取长度</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增加时，只会减小过渡带宽度（</a:t>
            </a:r>
            <a:r>
              <a:rPr lang="en-US" altLang="zh-CN" dirty="0">
                <a:latin typeface="Times New Roman" panose="02020603050405020304" pitchFamily="18" charset="0"/>
                <a:ea typeface="宋体" panose="02010600030101010101" pitchFamily="2" charset="-122"/>
              </a:rPr>
              <a:t>4π/</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），但不能改变主瓣与旁瓣幅值的相对比例</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同样，也不会改变肩峰的相对值。这个相对比例是由窗函数形状决定的，与</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无关。换句话说，增加截取窗函数的长度</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只能相应的减少过渡带，而不能改变肩峰值。 </a:t>
            </a:r>
            <a:endParaRPr lang="zh-CN" altLang="en-US" dirty="0">
              <a:latin typeface="Times New Roman" panose="02020603050405020304" pitchFamily="18" charset="0"/>
              <a:ea typeface="宋体" panose="02010600030101010101" pitchFamily="2" charset="-122"/>
            </a:endParaRPr>
          </a:p>
        </p:txBody>
      </p:sp>
      <p:graphicFrame>
        <p:nvGraphicFramePr>
          <p:cNvPr id="51203" name="对象 50180"/>
          <p:cNvGraphicFramePr/>
          <p:nvPr/>
        </p:nvGraphicFramePr>
        <p:xfrm>
          <a:off x="3392488" y="2632075"/>
          <a:ext cx="3306762" cy="973138"/>
        </p:xfrm>
        <a:graphic>
          <a:graphicData uri="http://schemas.openxmlformats.org/presentationml/2006/ole">
            <mc:AlternateContent xmlns:mc="http://schemas.openxmlformats.org/markup-compatibility/2006">
              <mc:Choice xmlns:v="urn:schemas-microsoft-com:vml" Requires="v">
                <p:oleObj spid="_x0000_s3165" name="" r:id="rId3" imgW="1422400" imgH="419100" progId="Equation.3">
                  <p:embed/>
                </p:oleObj>
              </mc:Choice>
              <mc:Fallback>
                <p:oleObj name="" r:id="rId3" imgW="1422400" imgH="419100" progId="Equation.3">
                  <p:embed/>
                  <p:pic>
                    <p:nvPicPr>
                      <p:cNvPr id="0" name="图片 3164"/>
                      <p:cNvPicPr/>
                      <p:nvPr/>
                    </p:nvPicPr>
                    <p:blipFill>
                      <a:blip r:embed="rId4"/>
                      <a:stretch>
                        <a:fillRect/>
                      </a:stretch>
                    </p:blipFill>
                    <p:spPr>
                      <a:xfrm>
                        <a:off x="3392488" y="2632075"/>
                        <a:ext cx="3306762" cy="973138"/>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 calcmode="lin" valueType="num">
                                      <p:cBhvr additive="base">
                                        <p:cTn id="7" dur="500" fill="hold"/>
                                        <p:tgtEl>
                                          <p:spTgt spid="51203"/>
                                        </p:tgtEl>
                                        <p:attrNameLst>
                                          <p:attrName>ppt_x</p:attrName>
                                        </p:attrNameLst>
                                      </p:cBhvr>
                                      <p:tavLst>
                                        <p:tav tm="0">
                                          <p:val>
                                            <p:strVal val="#ppt_x"/>
                                          </p:val>
                                        </p:tav>
                                        <p:tav tm="100000">
                                          <p:val>
                                            <p:strVal val="#ppt_x"/>
                                          </p:val>
                                        </p:tav>
                                      </p:tavLst>
                                    </p:anim>
                                    <p:anim calcmode="lin" valueType="num">
                                      <p:cBhvr additive="base">
                                        <p:cTn id="8" dur="500" fill="hold"/>
                                        <p:tgtEl>
                                          <p:spTgt spid="512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文本框 60419"/>
          <p:cNvSpPr txBox="1"/>
          <p:nvPr/>
        </p:nvSpPr>
        <p:spPr>
          <a:xfrm>
            <a:off x="596900" y="914400"/>
            <a:ext cx="8151813" cy="3046413"/>
          </a:xfrm>
          <a:prstGeom prst="rect">
            <a:avLst/>
          </a:prstGeom>
          <a:noFill/>
          <a:ln w="9525">
            <a:noFill/>
          </a:ln>
        </p:spPr>
        <p:txBody>
          <a:bodyPr anchor="t">
            <a:spAutoFit/>
          </a:bodyPr>
          <a:p>
            <a:pPr algn="just">
              <a:lnSpc>
                <a:spcPct val="20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由于肩峰值的大小直接影响通带特性和阻带衰减，所以对滤波器的性能影响较大。例如</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在矩形窗情况下，最大相对肩峰值为</a:t>
            </a:r>
            <a:r>
              <a:rPr lang="en-US" altLang="zh-CN" dirty="0">
                <a:latin typeface="Times New Roman" panose="02020603050405020304" pitchFamily="18" charset="0"/>
                <a:ea typeface="宋体" panose="02010600030101010101" pitchFamily="2" charset="-122"/>
              </a:rPr>
              <a:t>8.95%</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增加时， </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减小，起伏振荡变密， 最大相对肩峰值则总是</a:t>
            </a:r>
            <a:r>
              <a:rPr lang="en-US" altLang="zh-CN" dirty="0">
                <a:latin typeface="Times New Roman" panose="02020603050405020304" pitchFamily="18" charset="0"/>
                <a:ea typeface="宋体" panose="02010600030101010101" pitchFamily="2" charset="-122"/>
              </a:rPr>
              <a:t>8.95%</a:t>
            </a:r>
            <a:r>
              <a:rPr lang="zh-CN" altLang="en-US" dirty="0">
                <a:latin typeface="Times New Roman" panose="02020603050405020304" pitchFamily="18" charset="0"/>
                <a:ea typeface="宋体" panose="02010600030101010101" pitchFamily="2" charset="-122"/>
              </a:rPr>
              <a:t>，这种现象称为</a:t>
            </a:r>
            <a:r>
              <a:rPr lang="zh-CN" altLang="en-US" b="1" u="sng" dirty="0">
                <a:solidFill>
                  <a:srgbClr val="FF0000"/>
                </a:solidFill>
                <a:latin typeface="Times New Roman" panose="02020603050405020304" pitchFamily="18" charset="0"/>
                <a:ea typeface="宋体" panose="02010600030101010101" pitchFamily="2" charset="-122"/>
              </a:rPr>
              <a:t>吉布斯效应</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文本框 59395"/>
          <p:cNvSpPr txBox="1"/>
          <p:nvPr/>
        </p:nvSpPr>
        <p:spPr>
          <a:xfrm>
            <a:off x="369888" y="404813"/>
            <a:ext cx="8523287" cy="5895975"/>
          </a:xfrm>
          <a:prstGeom prst="rect">
            <a:avLst/>
          </a:prstGeom>
          <a:noFill/>
          <a:ln w="9525">
            <a:noFill/>
          </a:ln>
        </p:spPr>
        <p:txBody>
          <a:bodyPr anchor="t">
            <a:spAutoFit/>
          </a:bodyPr>
          <a:p>
            <a:pPr algn="just">
              <a:lnSpc>
                <a:spcPct val="158000"/>
              </a:lnSpc>
              <a:spcBef>
                <a:spcPct val="50000"/>
              </a:spcBef>
            </a:pPr>
            <a:r>
              <a:rPr lang="en-US" altLang="zh-CN" b="1" dirty="0">
                <a:latin typeface="Times New Roman" panose="02020603050405020304" pitchFamily="18" charset="0"/>
                <a:ea typeface="宋体" panose="02010600030101010101" pitchFamily="2" charset="-122"/>
              </a:rPr>
              <a:t>6.2.2 </a:t>
            </a:r>
            <a:r>
              <a:rPr lang="zh-CN" altLang="en-US" b="1" dirty="0">
                <a:latin typeface="Times New Roman" panose="02020603050405020304" pitchFamily="18" charset="0"/>
                <a:ea typeface="宋体" panose="02010600030101010101" pitchFamily="2" charset="-122"/>
              </a:rPr>
              <a:t>各种窗函数</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 矩形窗</a:t>
            </a:r>
            <a:r>
              <a:rPr lang="zh-CN" altLang="en-US" dirty="0">
                <a:latin typeface="Times New Roman" panose="02020603050405020304" pitchFamily="18" charset="0"/>
                <a:ea typeface="宋体" panose="02010600030101010101" pitchFamily="2" charset="-122"/>
              </a:rPr>
              <a:t>截断造成的肩峰值为</a:t>
            </a:r>
            <a:r>
              <a:rPr lang="en-US" altLang="zh-CN" dirty="0">
                <a:latin typeface="Times New Roman" panose="02020603050405020304" pitchFamily="18" charset="0"/>
                <a:ea typeface="宋体" panose="02010600030101010101" pitchFamily="2" charset="-122"/>
              </a:rPr>
              <a:t>8.95%</a:t>
            </a:r>
            <a:r>
              <a:rPr lang="zh-CN" altLang="en-US" dirty="0">
                <a:latin typeface="Times New Roman" panose="02020603050405020304" pitchFamily="18" charset="0"/>
                <a:ea typeface="宋体" panose="02010600030101010101" pitchFamily="2" charset="-122"/>
              </a:rPr>
              <a:t>，则</a:t>
            </a:r>
            <a:r>
              <a:rPr lang="zh-CN" altLang="en-US" b="1" u="sng" dirty="0">
                <a:solidFill>
                  <a:srgbClr val="FF0000"/>
                </a:solidFill>
                <a:latin typeface="Times New Roman" panose="02020603050405020304" pitchFamily="18" charset="0"/>
                <a:ea typeface="宋体" panose="02010600030101010101" pitchFamily="2" charset="-122"/>
              </a:rPr>
              <a:t>阻带最小衰减为</a:t>
            </a:r>
            <a:endParaRPr lang="zh-CN" altLang="en-US" b="1" u="sng" dirty="0">
              <a:solidFill>
                <a:srgbClr val="FF0000"/>
              </a:solidFill>
              <a:latin typeface="Times New Roman" panose="02020603050405020304" pitchFamily="18" charset="0"/>
              <a:ea typeface="宋体" panose="02010600030101010101" pitchFamily="2" charset="-122"/>
            </a:endParaRPr>
          </a:p>
          <a:p>
            <a:pPr algn="just">
              <a:lnSpc>
                <a:spcPct val="158000"/>
              </a:lnSpc>
              <a:spcBef>
                <a:spcPct val="50000"/>
              </a:spcBef>
            </a:pPr>
            <a:r>
              <a:rPr lang="en-US" altLang="zh-CN" b="1" u="sng" dirty="0">
                <a:solidFill>
                  <a:srgbClr val="FF0000"/>
                </a:solidFill>
                <a:latin typeface="Times New Roman" panose="02020603050405020304" pitchFamily="18" charset="0"/>
                <a:ea typeface="宋体" panose="02010600030101010101" pitchFamily="2" charset="-122"/>
              </a:rPr>
              <a:t>20 lg(8.95%)=-21 dB</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这个衰减量在工程上常常是不够大的。 为了加大阻带衰减， 只能改变窗函数的形状。只有当窗谱逼近冲激函数时，也就是绝大部分能量集中于频谱中点时，</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才会逼近</a:t>
            </a:r>
            <a:r>
              <a:rPr lang="en-US" altLang="zh-CN"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。这相当于窗的宽度为无限长，等于不加窗口截断，这没有实际意义。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从以上讨论中看出，窗函数序列的形状及长度的选择很关键， 一般希望窗函数满足两项要求：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文本框 63491"/>
          <p:cNvSpPr txBox="1"/>
          <p:nvPr/>
        </p:nvSpPr>
        <p:spPr>
          <a:xfrm>
            <a:off x="228600" y="533400"/>
            <a:ext cx="8763000" cy="606107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）窗谱主瓣尽可能地窄，以获取</a:t>
            </a:r>
            <a:r>
              <a:rPr lang="zh-CN" altLang="en-US" b="1" dirty="0">
                <a:solidFill>
                  <a:srgbClr val="FF0000"/>
                </a:solidFill>
                <a:latin typeface="Times New Roman" panose="02020603050405020304" pitchFamily="18" charset="0"/>
                <a:ea typeface="宋体" panose="02010600030101010101" pitchFamily="2" charset="-122"/>
              </a:rPr>
              <a:t>较陡的过渡带</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）尽量减少窗谱的最大旁瓣的相对幅度。也就是</a:t>
            </a:r>
            <a:r>
              <a:rPr lang="zh-CN" altLang="en-US" b="1" dirty="0">
                <a:solidFill>
                  <a:srgbClr val="FF0000"/>
                </a:solidFill>
                <a:latin typeface="Times New Roman" panose="02020603050405020304" pitchFamily="18" charset="0"/>
                <a:ea typeface="宋体" panose="02010600030101010101" pitchFamily="2" charset="-122"/>
              </a:rPr>
              <a:t>能量尽量集中</a:t>
            </a:r>
            <a:r>
              <a:rPr lang="zh-CN" altLang="en-US" dirty="0">
                <a:latin typeface="Times New Roman" panose="02020603050405020304" pitchFamily="18" charset="0"/>
                <a:ea typeface="宋体" panose="02010600030101010101" pitchFamily="2" charset="-122"/>
              </a:rPr>
              <a:t>于主瓣， 这样使肩峰和波纹减小，就可增大阻带的衰减。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但是这两项要求是不能同时都满足的。当选用主瓣宽度较窄时，虽然得到较陡的过渡带，但通带和阻带的波动明显增加； 当选用最小的旁瓣幅度时，虽能得到平坦的幅度响应和较小的阻带波纹，但过渡带加宽，也即主瓣会加宽。因此</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实际所选用的窗函数往往是它们的折衷。在保证主瓣宽度达到一定要求的前提下，适当牺牲主瓣宽度以换取相对旁瓣的抑制。以上是从幅频特性的改善对窗函数提出的要求。实际上</a:t>
            </a:r>
            <a:r>
              <a:rPr lang="zh-CN" altLang="en-US" b="1" u="sng" dirty="0">
                <a:solidFill>
                  <a:srgbClr val="FF0000"/>
                </a:solidFill>
                <a:latin typeface="Times New Roman" panose="02020603050405020304" pitchFamily="18" charset="0"/>
                <a:ea typeface="宋体" panose="02010600030101010101" pitchFamily="2" charset="-122"/>
              </a:rPr>
              <a:t>设计的</a:t>
            </a:r>
            <a:r>
              <a:rPr lang="en-US" altLang="zh-CN" b="1" u="sng" dirty="0">
                <a:solidFill>
                  <a:srgbClr val="FF0000"/>
                </a:solidFill>
                <a:latin typeface="Times New Roman" panose="02020603050405020304" pitchFamily="18" charset="0"/>
                <a:ea typeface="宋体" panose="02010600030101010101" pitchFamily="2" charset="-122"/>
              </a:rPr>
              <a:t>FIR</a:t>
            </a:r>
            <a:r>
              <a:rPr lang="zh-CN" altLang="en-US" b="1" u="sng" dirty="0">
                <a:solidFill>
                  <a:srgbClr val="FF0000"/>
                </a:solidFill>
                <a:latin typeface="Times New Roman" panose="02020603050405020304" pitchFamily="18" charset="0"/>
                <a:ea typeface="宋体" panose="02010600030101010101" pitchFamily="2" charset="-122"/>
              </a:rPr>
              <a:t>滤波器往往要求具有线性相位，  </a:t>
            </a:r>
            <a:endParaRPr lang="zh-CN" altLang="en-US" b="1" u="sng"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987675" y="2708275"/>
            <a:ext cx="2376488" cy="649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63490" name="文本框 62467"/>
          <p:cNvSpPr txBox="1"/>
          <p:nvPr/>
        </p:nvSpPr>
        <p:spPr>
          <a:xfrm>
            <a:off x="3048000" y="685800"/>
            <a:ext cx="2744788" cy="579438"/>
          </a:xfrm>
          <a:prstGeom prst="rect">
            <a:avLst/>
          </a:prstGeom>
          <a:solidFill>
            <a:schemeClr val="accent1"/>
          </a:solidFill>
          <a:ln w="9525">
            <a:noFill/>
          </a:ln>
        </p:spPr>
        <p:txBody>
          <a:bodyPr wrap="none" anchor="t">
            <a:spAutoFit/>
          </a:bodyPr>
          <a:p>
            <a:r>
              <a:rPr lang="en-US" altLang="zh-CN" sz="3200" i="1" dirty="0">
                <a:latin typeface="Times New Roman" panose="02020603050405020304" pitchFamily="18" charset="0"/>
                <a:ea typeface="宋体" panose="02010600030101010101" pitchFamily="2" charset="-122"/>
              </a:rPr>
              <a:t>h</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n</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h</a:t>
            </a:r>
            <a:r>
              <a:rPr lang="en-US" altLang="zh-CN" sz="3200" baseline="-25000" dirty="0">
                <a:latin typeface="Times New Roman" panose="02020603050405020304" pitchFamily="18" charset="0"/>
                <a:ea typeface="宋体" panose="02010600030101010101" pitchFamily="2" charset="-122"/>
              </a:rPr>
              <a:t>d</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n</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w</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n</a:t>
            </a:r>
            <a:r>
              <a:rPr lang="en-US" altLang="zh-CN" sz="3200" dirty="0">
                <a:latin typeface="Times New Roman" panose="02020603050405020304" pitchFamily="18" charset="0"/>
                <a:ea typeface="宋体" panose="02010600030101010101" pitchFamily="2" charset="-122"/>
              </a:rPr>
              <a:t>) </a:t>
            </a:r>
            <a:endParaRPr lang="en-US" altLang="zh-CN" sz="3200" dirty="0">
              <a:latin typeface="Times New Roman" panose="02020603050405020304" pitchFamily="18" charset="0"/>
              <a:ea typeface="宋体" panose="02010600030101010101" pitchFamily="2" charset="-122"/>
            </a:endParaRPr>
          </a:p>
        </p:txBody>
      </p:sp>
      <p:sp>
        <p:nvSpPr>
          <p:cNvPr id="63491" name="文本框 62468"/>
          <p:cNvSpPr txBox="1"/>
          <p:nvPr/>
        </p:nvSpPr>
        <p:spPr>
          <a:xfrm>
            <a:off x="228600" y="1295400"/>
            <a:ext cx="8763000" cy="452120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因此，除了要求</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满足线性相位条件外，对</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也要求长度</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有限，且以</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为其对称中心，即</a:t>
            </a:r>
            <a:endParaRPr lang="zh-CN" altLang="en-US" dirty="0">
              <a:latin typeface="Times New Roman" panose="02020603050405020304" pitchFamily="18" charset="0"/>
              <a:ea typeface="宋体" panose="02010600030101010101" pitchFamily="2" charset="-122"/>
            </a:endParaRPr>
          </a:p>
          <a:p>
            <a:pPr algn="r">
              <a:lnSpc>
                <a:spcPct val="150000"/>
              </a:lnSpc>
              <a:spcBef>
                <a:spcPct val="50000"/>
              </a:spcBef>
            </a:pPr>
            <a:r>
              <a:rPr lang="en-US" altLang="zh-CN" dirty="0">
                <a:latin typeface="Times New Roman" panose="02020603050405020304" pitchFamily="18" charset="0"/>
                <a:ea typeface="宋体" panose="02010600030101010101" pitchFamily="2" charset="-122"/>
              </a:rPr>
              <a:t>                                    6-39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综上所述，窗函数不仅起截断作用，还能起平滑作用，在很多领域都得到广泛应用。因此</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设计一个特性良好的窗函数有着重要的实际意义。 </a:t>
            </a:r>
            <a:endParaRPr lang="zh-CN" altLang="en-US" dirty="0">
              <a:latin typeface="Times New Roman" panose="02020603050405020304" pitchFamily="18" charset="0"/>
              <a:ea typeface="宋体" panose="02010600030101010101" pitchFamily="2" charset="-122"/>
            </a:endParaRPr>
          </a:p>
          <a:p>
            <a:pPr>
              <a:lnSpc>
                <a:spcPct val="150000"/>
              </a:lnSpc>
              <a:spcBef>
                <a:spcPct val="50000"/>
              </a:spcBef>
            </a:pPr>
            <a:r>
              <a:rPr lang="zh-CN" altLang="en-US" dirty="0">
                <a:latin typeface="Times New Roman" panose="02020603050405020304" pitchFamily="18" charset="0"/>
                <a:ea typeface="宋体" panose="02010600030101010101" pitchFamily="2" charset="-122"/>
              </a:rPr>
              <a:t>        设计</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滤波器常用的窗函数有： </a:t>
            </a:r>
            <a:endParaRPr lang="zh-CN" altLang="en-US" dirty="0">
              <a:latin typeface="Times New Roman" panose="02020603050405020304" pitchFamily="18" charset="0"/>
              <a:ea typeface="宋体" panose="02010600030101010101" pitchFamily="2" charset="-122"/>
            </a:endParaRPr>
          </a:p>
        </p:txBody>
      </p:sp>
      <p:sp>
        <p:nvSpPr>
          <p:cNvPr id="63492" name="文本框 2"/>
          <p:cNvSpPr txBox="1"/>
          <p:nvPr/>
        </p:nvSpPr>
        <p:spPr>
          <a:xfrm>
            <a:off x="915988" y="685800"/>
            <a:ext cx="1196975" cy="460375"/>
          </a:xfrm>
          <a:prstGeom prst="rect">
            <a:avLst/>
          </a:prstGeom>
          <a:noFill/>
          <a:ln w="9525">
            <a:noFill/>
          </a:ln>
        </p:spPr>
        <p:txBody>
          <a:bodyPr anchor="t">
            <a:spAutoFit/>
          </a:bodyPr>
          <a:p>
            <a:r>
              <a:rPr lang="zh-CN" altLang="en-US" b="1" u="sng" dirty="0">
                <a:solidFill>
                  <a:srgbClr val="FF0000"/>
                </a:solidFill>
                <a:latin typeface="Times New Roman" panose="02020603050405020304" pitchFamily="18" charset="0"/>
                <a:ea typeface="宋体" panose="02010600030101010101" pitchFamily="2" charset="-122"/>
              </a:rPr>
              <a:t>时域中</a:t>
            </a:r>
            <a:endParaRPr lang="zh-CN" altLang="en-US" b="1" u="sng" dirty="0">
              <a:solidFill>
                <a:srgbClr val="FF0000"/>
              </a:solidFill>
              <a:latin typeface="Times New Roman" panose="02020603050405020304" pitchFamily="18" charset="0"/>
              <a:ea typeface="宋体" panose="02010600030101010101" pitchFamily="2" charset="-122"/>
            </a:endParaRPr>
          </a:p>
        </p:txBody>
      </p:sp>
      <p:graphicFrame>
        <p:nvGraphicFramePr>
          <p:cNvPr id="3" name="对象 2">
            <a:hlinkClick r:id="" action="ppaction://ole?verb="/>
          </p:cNvPr>
          <p:cNvGraphicFramePr>
            <a:graphicFrameLocks noChangeAspect="1"/>
          </p:cNvGraphicFramePr>
          <p:nvPr/>
        </p:nvGraphicFramePr>
        <p:xfrm>
          <a:off x="2955290" y="2781300"/>
          <a:ext cx="2439035" cy="520065"/>
        </p:xfrm>
        <a:graphic>
          <a:graphicData uri="http://schemas.openxmlformats.org/presentationml/2006/ole">
            <mc:AlternateContent xmlns:mc="http://schemas.openxmlformats.org/markup-compatibility/2006">
              <mc:Choice xmlns:v="urn:schemas-microsoft-com:vml" Requires="v">
                <p:oleObj spid="_x0000_s4097" name="" r:id="rId1" imgW="1002665" imgH="190500" progId="Equation.KSEE3">
                  <p:embed/>
                </p:oleObj>
              </mc:Choice>
              <mc:Fallback>
                <p:oleObj name="" r:id="rId1" imgW="1002665" imgH="190500" progId="Equation.KSEE3">
                  <p:embed/>
                  <p:pic>
                    <p:nvPicPr>
                      <p:cNvPr id="0" name="图片 4096"/>
                      <p:cNvPicPr/>
                      <p:nvPr/>
                    </p:nvPicPr>
                    <p:blipFill>
                      <a:blip r:embed="rId2"/>
                      <a:stretch>
                        <a:fillRect/>
                      </a:stretch>
                    </p:blipFill>
                    <p:spPr>
                      <a:xfrm>
                        <a:off x="2955290" y="2781300"/>
                        <a:ext cx="2439035" cy="520065"/>
                      </a:xfrm>
                      <a:prstGeom prst="rect">
                        <a:avLst/>
                      </a:prstGeom>
                    </p:spPr>
                  </p:pic>
                </p:oleObj>
              </mc:Fallback>
            </mc:AlternateContent>
          </a:graphicData>
        </a:graphic>
      </p:graphicFrame>
    </p:spTree>
  </p:cSld>
  <p:clrMapOvr>
    <a:masterClrMapping/>
  </p:clrMapOvr>
  <p:transition>
    <p:zoom dir="in"/>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文本框 65540"/>
          <p:cNvSpPr txBox="1"/>
          <p:nvPr/>
        </p:nvSpPr>
        <p:spPr>
          <a:xfrm>
            <a:off x="533400" y="685800"/>
            <a:ext cx="1482725" cy="457200"/>
          </a:xfrm>
          <a:prstGeom prst="rect">
            <a:avLst/>
          </a:prstGeom>
          <a:solidFill>
            <a:schemeClr val="accent1"/>
          </a:solid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1. </a:t>
            </a:r>
            <a:r>
              <a:rPr lang="zh-CN" altLang="en-US" b="1" dirty="0">
                <a:latin typeface="Times New Roman" panose="02020603050405020304" pitchFamily="18" charset="0"/>
                <a:ea typeface="宋体" panose="02010600030101010101" pitchFamily="2" charset="-122"/>
              </a:rPr>
              <a:t>矩形窗 </a:t>
            </a:r>
            <a:endParaRPr lang="zh-CN" altLang="en-US" b="1" dirty="0">
              <a:latin typeface="Times New Roman" panose="02020603050405020304" pitchFamily="18" charset="0"/>
              <a:ea typeface="宋体" panose="02010600030101010101" pitchFamily="2" charset="-122"/>
            </a:endParaRPr>
          </a:p>
        </p:txBody>
      </p:sp>
      <p:grpSp>
        <p:nvGrpSpPr>
          <p:cNvPr id="2" name="组合 65543"/>
          <p:cNvGrpSpPr/>
          <p:nvPr/>
        </p:nvGrpSpPr>
        <p:grpSpPr>
          <a:xfrm>
            <a:off x="2395527" y="1484304"/>
            <a:ext cx="4984751" cy="1308100"/>
            <a:chOff x="1248" y="624"/>
            <a:chExt cx="3140" cy="824"/>
          </a:xfrm>
          <a:solidFill>
            <a:schemeClr val="accent1"/>
          </a:solidFill>
        </p:grpSpPr>
        <p:sp>
          <p:nvSpPr>
            <p:cNvPr id="64516" name="文本框 65541"/>
            <p:cNvSpPr txBox="1"/>
            <p:nvPr/>
          </p:nvSpPr>
          <p:spPr>
            <a:xfrm>
              <a:off x="3360" y="624"/>
              <a:ext cx="1028" cy="288"/>
            </a:xfrm>
            <a:prstGeom prst="rect">
              <a:avLst/>
            </a:prstGeom>
            <a:grp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1"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-1 </a:t>
              </a:r>
              <a:endPar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4517" name="文本框 65542"/>
            <p:cNvSpPr txBox="1"/>
            <p:nvPr/>
          </p:nvSpPr>
          <p:spPr>
            <a:xfrm>
              <a:off x="3360" y="1082"/>
              <a:ext cx="548" cy="288"/>
            </a:xfrm>
            <a:prstGeom prst="rect">
              <a:avLst/>
            </a:prstGeom>
            <a:grp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其他 </a:t>
              </a:r>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3" name="对象 65544"/>
          <p:cNvGraphicFramePr/>
          <p:nvPr/>
        </p:nvGraphicFramePr>
        <p:xfrm>
          <a:off x="1611313" y="3297238"/>
          <a:ext cx="5768975" cy="2073275"/>
        </p:xfrm>
        <a:graphic>
          <a:graphicData uri="http://schemas.openxmlformats.org/presentationml/2006/ole">
            <mc:AlternateContent xmlns:mc="http://schemas.openxmlformats.org/markup-compatibility/2006">
              <mc:Choice xmlns:v="urn:schemas-microsoft-com:vml" Requires="v">
                <p:oleObj spid="_x0000_s3167" name="" r:id="rId1" imgW="2260600" imgH="812800" progId="Equation.3">
                  <p:embed/>
                </p:oleObj>
              </mc:Choice>
              <mc:Fallback>
                <p:oleObj name="" r:id="rId1" imgW="2260600" imgH="812800" progId="Equation.3">
                  <p:embed/>
                  <p:pic>
                    <p:nvPicPr>
                      <p:cNvPr id="0" name="图片 3166"/>
                      <p:cNvPicPr/>
                      <p:nvPr/>
                    </p:nvPicPr>
                    <p:blipFill>
                      <a:blip r:embed="rId2"/>
                      <a:stretch>
                        <a:fillRect/>
                      </a:stretch>
                    </p:blipFill>
                    <p:spPr>
                      <a:xfrm>
                        <a:off x="1611313" y="3297238"/>
                        <a:ext cx="5768975" cy="2073275"/>
                      </a:xfrm>
                      <a:prstGeom prst="rect">
                        <a:avLst/>
                      </a:prstGeom>
                      <a:solidFill>
                        <a:schemeClr val="accent1"/>
                      </a:solidFill>
                      <a:ln w="38100">
                        <a:noFill/>
                        <a:miter/>
                      </a:ln>
                    </p:spPr>
                  </p:pic>
                </p:oleObj>
              </mc:Fallback>
            </mc:AlternateContent>
          </a:graphicData>
        </a:graphic>
      </p:graphicFrame>
      <p:sp>
        <p:nvSpPr>
          <p:cNvPr id="4" name="文本框 1"/>
          <p:cNvSpPr txBox="1"/>
          <p:nvPr/>
        </p:nvSpPr>
        <p:spPr>
          <a:xfrm>
            <a:off x="6618288" y="5546725"/>
            <a:ext cx="2376487" cy="460375"/>
          </a:xfrm>
          <a:prstGeom prst="rect">
            <a:avLst/>
          </a:prstGeom>
          <a:solidFill>
            <a:srgbClr val="FF0000"/>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主瓣宽度为</a:t>
            </a:r>
            <a:r>
              <a:rPr lang="en-US" altLang="zh-CN" dirty="0">
                <a:latin typeface="Times New Roman" panose="02020603050405020304" pitchFamily="18" charset="0"/>
                <a:ea typeface="宋体" panose="02010600030101010101" pitchFamily="2" charset="-122"/>
              </a:rPr>
              <a:t>4π/</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5" name="对象 4">
            <a:hlinkClick r:id="" action="ppaction://ole?verb="/>
          </p:cNvPr>
          <p:cNvGraphicFramePr>
            <a:graphicFrameLocks noChangeAspect="1"/>
          </p:cNvGraphicFramePr>
          <p:nvPr/>
        </p:nvGraphicFramePr>
        <p:xfrm>
          <a:off x="2363470" y="1421130"/>
          <a:ext cx="3202940" cy="1289685"/>
        </p:xfrm>
        <a:graphic>
          <a:graphicData uri="http://schemas.openxmlformats.org/presentationml/2006/ole">
            <mc:AlternateContent xmlns:mc="http://schemas.openxmlformats.org/markup-compatibility/2006">
              <mc:Choice xmlns:v="urn:schemas-microsoft-com:vml" Requires="v">
                <p:oleObj spid="_x0000_s5121" name="" r:id="rId3" imgW="1041400" imgH="419100" progId="Equation.KSEE3">
                  <p:embed/>
                </p:oleObj>
              </mc:Choice>
              <mc:Fallback>
                <p:oleObj name="" r:id="rId3" imgW="1041400" imgH="419100" progId="Equation.KSEE3">
                  <p:embed/>
                  <p:pic>
                    <p:nvPicPr>
                      <p:cNvPr id="0" name="图片 5120"/>
                      <p:cNvPicPr/>
                      <p:nvPr/>
                    </p:nvPicPr>
                    <p:blipFill>
                      <a:blip r:embed="rId4"/>
                      <a:stretch>
                        <a:fillRect/>
                      </a:stretch>
                    </p:blipFill>
                    <p:spPr>
                      <a:xfrm>
                        <a:off x="2363470" y="1421130"/>
                        <a:ext cx="3202940" cy="1289685"/>
                      </a:xfrm>
                      <a:prstGeom prst="rect">
                        <a:avLst/>
                      </a:prstGeom>
                      <a:solidFill>
                        <a:schemeClr val="accent1"/>
                      </a:solidFill>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文本框 64515"/>
          <p:cNvSpPr txBox="1"/>
          <p:nvPr/>
        </p:nvSpPr>
        <p:spPr>
          <a:xfrm>
            <a:off x="685800" y="609600"/>
            <a:ext cx="3389313" cy="457200"/>
          </a:xfrm>
          <a:prstGeom prst="rect">
            <a:avLst/>
          </a:prstGeom>
          <a:solidFill>
            <a:schemeClr val="accent1"/>
          </a:solid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2. </a:t>
            </a:r>
            <a:r>
              <a:rPr lang="zh-CN" altLang="en-US" b="1" dirty="0">
                <a:latin typeface="Times New Roman" panose="02020603050405020304" pitchFamily="18" charset="0"/>
                <a:ea typeface="宋体" panose="02010600030101010101" pitchFamily="2" charset="-122"/>
              </a:rPr>
              <a:t>三角形（</a:t>
            </a:r>
            <a:r>
              <a:rPr lang="en-US" altLang="zh-CN" b="1" dirty="0">
                <a:latin typeface="Times New Roman" panose="02020603050405020304" pitchFamily="18" charset="0"/>
                <a:ea typeface="宋体" panose="02010600030101010101" pitchFamily="2" charset="-122"/>
              </a:rPr>
              <a:t>Bartlett</a:t>
            </a:r>
            <a:r>
              <a:rPr lang="zh-CN" altLang="en-US" b="1" dirty="0">
                <a:latin typeface="Times New Roman" panose="02020603050405020304" pitchFamily="18" charset="0"/>
                <a:ea typeface="宋体" panose="02010600030101010101" pitchFamily="2" charset="-122"/>
              </a:rPr>
              <a:t>）窗 </a:t>
            </a:r>
            <a:endParaRPr lang="zh-CN" altLang="en-US" b="1" dirty="0">
              <a:latin typeface="Times New Roman" panose="02020603050405020304" pitchFamily="18" charset="0"/>
              <a:ea typeface="宋体" panose="02010600030101010101" pitchFamily="2" charset="-122"/>
            </a:endParaRPr>
          </a:p>
        </p:txBody>
      </p:sp>
      <p:graphicFrame>
        <p:nvGraphicFramePr>
          <p:cNvPr id="65538" name="对象 64520"/>
          <p:cNvGraphicFramePr/>
          <p:nvPr/>
        </p:nvGraphicFramePr>
        <p:xfrm>
          <a:off x="1851819" y="1384300"/>
          <a:ext cx="5280025" cy="1711325"/>
        </p:xfrm>
        <a:graphic>
          <a:graphicData uri="http://schemas.openxmlformats.org/presentationml/2006/ole">
            <mc:AlternateContent xmlns:mc="http://schemas.openxmlformats.org/markup-compatibility/2006">
              <mc:Choice xmlns:v="urn:schemas-microsoft-com:vml" Requires="v">
                <p:oleObj spid="_x0000_s3164" name="" r:id="rId1" imgW="2311400" imgH="749300" progId="Equation.3">
                  <p:embed/>
                </p:oleObj>
              </mc:Choice>
              <mc:Fallback>
                <p:oleObj name="" r:id="rId1" imgW="2311400" imgH="749300" progId="Equation.3">
                  <p:embed/>
                  <p:pic>
                    <p:nvPicPr>
                      <p:cNvPr id="0" name="图片 3163"/>
                      <p:cNvPicPr/>
                      <p:nvPr/>
                    </p:nvPicPr>
                    <p:blipFill>
                      <a:blip r:embed="rId2"/>
                      <a:stretch>
                        <a:fillRect/>
                      </a:stretch>
                    </p:blipFill>
                    <p:spPr>
                      <a:xfrm>
                        <a:off x="1851819" y="1384300"/>
                        <a:ext cx="5280025" cy="1711325"/>
                      </a:xfrm>
                      <a:prstGeom prst="rect">
                        <a:avLst/>
                      </a:prstGeom>
                      <a:solidFill>
                        <a:schemeClr val="accent1"/>
                      </a:solidFill>
                      <a:ln w="38100">
                        <a:noFill/>
                        <a:miter/>
                      </a:ln>
                    </p:spPr>
                  </p:pic>
                </p:oleObj>
              </mc:Fallback>
            </mc:AlternateContent>
          </a:graphicData>
        </a:graphic>
      </p:graphicFrame>
      <p:sp>
        <p:nvSpPr>
          <p:cNvPr id="65539" name="文本框 64521"/>
          <p:cNvSpPr txBox="1"/>
          <p:nvPr/>
        </p:nvSpPr>
        <p:spPr>
          <a:xfrm>
            <a:off x="196850" y="3465513"/>
            <a:ext cx="3010535" cy="460375"/>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的傅里叶变换为</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65540" name="对象 64522"/>
          <p:cNvGraphicFramePr/>
          <p:nvPr/>
        </p:nvGraphicFramePr>
        <p:xfrm>
          <a:off x="0" y="3862388"/>
          <a:ext cx="9144000" cy="1928812"/>
        </p:xfrm>
        <a:graphic>
          <a:graphicData uri="http://schemas.openxmlformats.org/presentationml/2006/ole">
            <mc:AlternateContent xmlns:mc="http://schemas.openxmlformats.org/markup-compatibility/2006">
              <mc:Choice xmlns:v="urn:schemas-microsoft-com:vml" Requires="v">
                <p:oleObj spid="_x0000_s3166" name="" r:id="rId3" imgW="4457700" imgH="939800" progId="Equation.3">
                  <p:embed/>
                </p:oleObj>
              </mc:Choice>
              <mc:Fallback>
                <p:oleObj name="" r:id="rId3" imgW="4457700" imgH="939800" progId="Equation.3">
                  <p:embed/>
                  <p:pic>
                    <p:nvPicPr>
                      <p:cNvPr id="0" name="图片 3165"/>
                      <p:cNvPicPr/>
                      <p:nvPr/>
                    </p:nvPicPr>
                    <p:blipFill>
                      <a:blip r:embed="rId4"/>
                      <a:stretch>
                        <a:fillRect/>
                      </a:stretch>
                    </p:blipFill>
                    <p:spPr>
                      <a:xfrm>
                        <a:off x="0" y="3862388"/>
                        <a:ext cx="9144000" cy="1928812"/>
                      </a:xfrm>
                      <a:prstGeom prst="rect">
                        <a:avLst/>
                      </a:prstGeom>
                      <a:noFill/>
                      <a:ln w="38100">
                        <a:noFill/>
                        <a:miter/>
                      </a:ln>
                    </p:spPr>
                  </p:pic>
                </p:oleObj>
              </mc:Fallback>
            </mc:AlternateContent>
          </a:graphicData>
        </a:graphic>
      </p:graphicFrame>
      <p:sp>
        <p:nvSpPr>
          <p:cNvPr id="65541" name="文本框 64523"/>
          <p:cNvSpPr txBox="1"/>
          <p:nvPr/>
        </p:nvSpPr>
        <p:spPr>
          <a:xfrm>
            <a:off x="8045450" y="1916113"/>
            <a:ext cx="1098550" cy="457200"/>
          </a:xfrm>
          <a:prstGeom prst="rect">
            <a:avLst/>
          </a:prstGeom>
          <a:noFill/>
          <a:ln w="9525">
            <a:noFill/>
          </a:ln>
        </p:spPr>
        <p:txBody>
          <a:bodyPr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6-40</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65542" name="文本框 64524"/>
          <p:cNvSpPr txBox="1"/>
          <p:nvPr/>
        </p:nvSpPr>
        <p:spPr>
          <a:xfrm>
            <a:off x="8045450" y="53340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(6-41) </a:t>
            </a:r>
            <a:endParaRPr lang="en-US" altLang="zh-CN" dirty="0">
              <a:latin typeface="Times New Roman" panose="02020603050405020304" pitchFamily="18" charset="0"/>
              <a:ea typeface="宋体" panose="02010600030101010101" pitchFamily="2" charset="-122"/>
            </a:endParaRPr>
          </a:p>
        </p:txBody>
      </p:sp>
      <p:sp>
        <p:nvSpPr>
          <p:cNvPr id="2" name="文本框 1"/>
          <p:cNvSpPr txBox="1"/>
          <p:nvPr/>
        </p:nvSpPr>
        <p:spPr>
          <a:xfrm>
            <a:off x="5819775" y="5553075"/>
            <a:ext cx="2301875" cy="460375"/>
          </a:xfrm>
          <a:prstGeom prst="rect">
            <a:avLst/>
          </a:prstGeom>
          <a:solidFill>
            <a:srgbClr val="FF0000"/>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主瓣宽度为</a:t>
            </a:r>
            <a:r>
              <a:rPr lang="en-US" altLang="zh-CN" dirty="0">
                <a:latin typeface="Times New Roman" panose="02020603050405020304" pitchFamily="18" charset="0"/>
                <a:ea typeface="宋体" panose="02010600030101010101" pitchFamily="2" charset="-122"/>
              </a:rPr>
              <a:t>8π/</a:t>
            </a:r>
            <a:r>
              <a:rPr lang="en-US" altLang="zh-CN" i="1" dirty="0">
                <a:latin typeface="Times New Roman" panose="02020603050405020304" pitchFamily="18" charset="0"/>
                <a:ea typeface="宋体" panose="02010600030101010101" pitchFamily="2" charset="-122"/>
              </a:rPr>
              <a:t>N</a:t>
            </a:r>
            <a:endParaRPr lang="zh-CN" altLang="en-US" dirty="0">
              <a:latin typeface="Times New Roman" panose="02020603050405020304" pitchFamily="18" charset="0"/>
              <a:ea typeface="宋体" panose="02010600030101010101" pitchFamily="2" charset="-122"/>
            </a:endParaRPr>
          </a:p>
        </p:txBody>
      </p:sp>
      <p:graphicFrame>
        <p:nvGraphicFramePr>
          <p:cNvPr id="3" name="对象 2"/>
          <p:cNvGraphicFramePr/>
          <p:nvPr>
            <p:custDataLst>
              <p:tags r:id="rId5"/>
            </p:custDataLst>
          </p:nvPr>
        </p:nvGraphicFramePr>
        <p:xfrm>
          <a:off x="164465" y="3363278"/>
          <a:ext cx="817880" cy="647700"/>
        </p:xfrm>
        <a:graphic>
          <a:graphicData uri="http://schemas.openxmlformats.org/presentationml/2006/ole">
            <mc:AlternateContent xmlns:mc="http://schemas.openxmlformats.org/markup-compatibility/2006">
              <mc:Choice xmlns:v="urn:schemas-microsoft-com:vml" Requires="v">
                <p:oleObj spid="_x0000_s4" name="" r:id="rId6" imgW="499110" imgH="351155" progId="Equation.KSEE3">
                  <p:embed/>
                </p:oleObj>
              </mc:Choice>
              <mc:Fallback>
                <p:oleObj name="" r:id="rId6" imgW="499110" imgH="351155" progId="Equation.KSEE3">
                  <p:embed/>
                  <p:pic>
                    <p:nvPicPr>
                      <p:cNvPr id="0" name="图片 3"/>
                      <p:cNvPicPr/>
                      <p:nvPr/>
                    </p:nvPicPr>
                    <p:blipFill>
                      <a:blip r:embed="rId7"/>
                      <a:stretch>
                        <a:fillRect/>
                      </a:stretch>
                    </p:blipFill>
                    <p:spPr>
                      <a:xfrm>
                        <a:off x="164465" y="3363278"/>
                        <a:ext cx="817880" cy="647700"/>
                      </a:xfrm>
                      <a:prstGeom prst="rect">
                        <a:avLst/>
                      </a:prstGeom>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755650" y="620713"/>
            <a:ext cx="3240088"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66562" name="文本框 67587"/>
          <p:cNvSpPr txBox="1"/>
          <p:nvPr/>
        </p:nvSpPr>
        <p:spPr>
          <a:xfrm>
            <a:off x="838200" y="685800"/>
            <a:ext cx="5715000" cy="1014413"/>
          </a:xfrm>
          <a:prstGeom prst="rect">
            <a:avLst/>
          </a:prstGeom>
          <a:noFill/>
          <a:ln w="9525">
            <a:noFill/>
          </a:ln>
        </p:spPr>
        <p:txBody>
          <a:bodyPr anchor="t">
            <a:spAutoFit/>
          </a:bodyPr>
          <a:p>
            <a:pPr algn="just">
              <a:spcBef>
                <a:spcPct val="50000"/>
              </a:spcBef>
            </a:pPr>
            <a:r>
              <a:rPr lang="en-US" altLang="zh-CN" b="1" dirty="0">
                <a:latin typeface="Times New Roman" panose="02020603050405020304" pitchFamily="18" charset="0"/>
                <a:ea typeface="宋体" panose="02010600030101010101" pitchFamily="2" charset="-122"/>
              </a:rPr>
              <a:t>3. </a:t>
            </a:r>
            <a:r>
              <a:rPr lang="zh-CN" altLang="en-US" b="1" dirty="0">
                <a:latin typeface="Times New Roman" panose="02020603050405020304" pitchFamily="18" charset="0"/>
                <a:ea typeface="宋体" panose="02010600030101010101" pitchFamily="2" charset="-122"/>
              </a:rPr>
              <a:t>汉宁（</a:t>
            </a:r>
            <a:r>
              <a:rPr lang="en-US" altLang="zh-CN" b="1" dirty="0">
                <a:latin typeface="Times New Roman" panose="02020603050405020304" pitchFamily="18" charset="0"/>
                <a:ea typeface="宋体" panose="02010600030101010101" pitchFamily="2" charset="-122"/>
              </a:rPr>
              <a:t>Hanning</a:t>
            </a:r>
            <a:r>
              <a:rPr lang="zh-CN" altLang="en-US" b="1" dirty="0">
                <a:latin typeface="Times New Roman" panose="02020603050405020304" pitchFamily="18" charset="0"/>
                <a:ea typeface="宋体" panose="02010600030101010101" pitchFamily="2" charset="-122"/>
              </a:rPr>
              <a:t>）窗</a:t>
            </a:r>
            <a:endParaRPr lang="zh-CN" altLang="en-US" dirty="0">
              <a:latin typeface="Times New Roman" panose="02020603050405020304" pitchFamily="18" charset="0"/>
              <a:ea typeface="宋体" panose="02010600030101010101" pitchFamily="2" charset="-122"/>
            </a:endParaRPr>
          </a:p>
          <a:p>
            <a:pPr>
              <a:spcBef>
                <a:spcPct val="50000"/>
              </a:spcBef>
            </a:pPr>
            <a:r>
              <a:rPr lang="zh-CN" altLang="en-US" dirty="0">
                <a:latin typeface="Times New Roman" panose="02020603050405020304" pitchFamily="18" charset="0"/>
                <a:ea typeface="宋体" panose="02010600030101010101" pitchFamily="2" charset="-122"/>
              </a:rPr>
              <a:t>汉宁窗又称升余弦窗。 </a:t>
            </a:r>
            <a:endParaRPr lang="zh-CN" altLang="en-US" dirty="0">
              <a:latin typeface="Times New Roman" panose="02020603050405020304" pitchFamily="18" charset="0"/>
              <a:ea typeface="宋体" panose="02010600030101010101" pitchFamily="2" charset="-122"/>
            </a:endParaRPr>
          </a:p>
        </p:txBody>
      </p:sp>
      <p:graphicFrame>
        <p:nvGraphicFramePr>
          <p:cNvPr id="66563" name="对象 67588"/>
          <p:cNvGraphicFramePr/>
          <p:nvPr/>
        </p:nvGraphicFramePr>
        <p:xfrm>
          <a:off x="1211263" y="1855312"/>
          <a:ext cx="7165975" cy="1037590"/>
        </p:xfrm>
        <a:graphic>
          <a:graphicData uri="http://schemas.openxmlformats.org/presentationml/2006/ole">
            <mc:AlternateContent xmlns:mc="http://schemas.openxmlformats.org/markup-compatibility/2006">
              <mc:Choice xmlns:v="urn:schemas-microsoft-com:vml" Requires="v">
                <p:oleObj spid="_x0000_s3169" name="" r:id="rId1" imgW="2895600" imgH="419100" progId="Equation.3">
                  <p:embed/>
                </p:oleObj>
              </mc:Choice>
              <mc:Fallback>
                <p:oleObj name="" r:id="rId1" imgW="2895600" imgH="419100" progId="Equation.3">
                  <p:embed/>
                  <p:pic>
                    <p:nvPicPr>
                      <p:cNvPr id="0" name="图片 3168"/>
                      <p:cNvPicPr/>
                      <p:nvPr/>
                    </p:nvPicPr>
                    <p:blipFill>
                      <a:blip r:embed="rId2"/>
                      <a:stretch>
                        <a:fillRect/>
                      </a:stretch>
                    </p:blipFill>
                    <p:spPr>
                      <a:xfrm>
                        <a:off x="1211263" y="1855312"/>
                        <a:ext cx="7165975" cy="1037590"/>
                      </a:xfrm>
                      <a:prstGeom prst="rect">
                        <a:avLst/>
                      </a:prstGeom>
                      <a:solidFill>
                        <a:schemeClr val="accent1"/>
                      </a:solidFill>
                      <a:ln w="38100">
                        <a:noFill/>
                        <a:miter/>
                      </a:ln>
                    </p:spPr>
                  </p:pic>
                </p:oleObj>
              </mc:Fallback>
            </mc:AlternateContent>
          </a:graphicData>
        </a:graphic>
      </p:graphicFrame>
      <p:sp>
        <p:nvSpPr>
          <p:cNvPr id="66564" name="文本框 67589"/>
          <p:cNvSpPr txBox="1"/>
          <p:nvPr/>
        </p:nvSpPr>
        <p:spPr>
          <a:xfrm>
            <a:off x="8121650" y="30480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(6-42) </a:t>
            </a:r>
            <a:endParaRPr lang="en-US" altLang="zh-CN" dirty="0">
              <a:latin typeface="Times New Roman" panose="02020603050405020304" pitchFamily="18" charset="0"/>
              <a:ea typeface="宋体" panose="02010600030101010101" pitchFamily="2" charset="-122"/>
            </a:endParaRPr>
          </a:p>
        </p:txBody>
      </p:sp>
      <p:sp>
        <p:nvSpPr>
          <p:cNvPr id="66565" name="文本框 67590"/>
          <p:cNvSpPr txBox="1"/>
          <p:nvPr/>
        </p:nvSpPr>
        <p:spPr>
          <a:xfrm>
            <a:off x="233363" y="3502025"/>
            <a:ext cx="4144962"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利用傅里叶变换特性，可得： </a:t>
            </a:r>
            <a:endParaRPr lang="zh-CN" altLang="en-US" dirty="0">
              <a:latin typeface="Times New Roman" panose="02020603050405020304" pitchFamily="18" charset="0"/>
              <a:ea typeface="宋体" panose="02010600030101010101" pitchFamily="2" charset="-122"/>
            </a:endParaRPr>
          </a:p>
        </p:txBody>
      </p:sp>
      <p:graphicFrame>
        <p:nvGraphicFramePr>
          <p:cNvPr id="66566" name="对象 67592"/>
          <p:cNvGraphicFramePr/>
          <p:nvPr/>
        </p:nvGraphicFramePr>
        <p:xfrm>
          <a:off x="0" y="3962400"/>
          <a:ext cx="9144000" cy="1939925"/>
        </p:xfrm>
        <a:graphic>
          <a:graphicData uri="http://schemas.openxmlformats.org/presentationml/2006/ole">
            <mc:AlternateContent xmlns:mc="http://schemas.openxmlformats.org/markup-compatibility/2006">
              <mc:Choice xmlns:v="urn:schemas-microsoft-com:vml" Requires="v">
                <p:oleObj spid="_x0000_s3170" name="" r:id="rId3" imgW="4432300" imgH="939800" progId="Equation.3">
                  <p:embed/>
                </p:oleObj>
              </mc:Choice>
              <mc:Fallback>
                <p:oleObj name="" r:id="rId3" imgW="4432300" imgH="939800" progId="Equation.3">
                  <p:embed/>
                  <p:pic>
                    <p:nvPicPr>
                      <p:cNvPr id="0" name="图片 3169"/>
                      <p:cNvPicPr/>
                      <p:nvPr/>
                    </p:nvPicPr>
                    <p:blipFill>
                      <a:blip r:embed="rId4"/>
                      <a:stretch>
                        <a:fillRect/>
                      </a:stretch>
                    </p:blipFill>
                    <p:spPr>
                      <a:xfrm>
                        <a:off x="0" y="3962400"/>
                        <a:ext cx="9144000" cy="1939925"/>
                      </a:xfrm>
                      <a:prstGeom prst="rect">
                        <a:avLst/>
                      </a:prstGeom>
                      <a:noFill/>
                      <a:ln w="38100">
                        <a:noFill/>
                        <a:miter/>
                      </a:ln>
                    </p:spPr>
                  </p:pic>
                </p:oleObj>
              </mc:Fallback>
            </mc:AlternateContent>
          </a:graphicData>
        </a:graphic>
      </p:graphicFrame>
      <p:sp>
        <p:nvSpPr>
          <p:cNvPr id="66567" name="文本框 67593"/>
          <p:cNvSpPr txBox="1"/>
          <p:nvPr/>
        </p:nvSpPr>
        <p:spPr>
          <a:xfrm>
            <a:off x="8121650" y="54864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(6-43)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411730" y="476885"/>
            <a:ext cx="4572000" cy="460375"/>
          </a:xfrm>
          <a:prstGeom prst="rect">
            <a:avLst/>
          </a:prstGeom>
          <a:noFill/>
        </p:spPr>
        <p:txBody>
          <a:bodyPr wrap="square" rtlCol="0" anchor="t">
            <a:spAutoFit/>
          </a:bodyPr>
          <a:p>
            <a:pPr algn="just" eaLnBrk="1" hangingPunct="1">
              <a:spcBef>
                <a:spcPct val="50000"/>
              </a:spcBef>
            </a:pPr>
            <a:r>
              <a:rPr lang="zh-CN" altLang="en-US" b="1" dirty="0">
                <a:sym typeface="+mn-ea"/>
              </a:rPr>
              <a:t>汉宁窗的幅度特性</a:t>
            </a:r>
            <a:endParaRPr lang="zh-CN" altLang="en-US" b="1" dirty="0">
              <a:sym typeface="+mn-ea"/>
            </a:endParaRPr>
          </a:p>
        </p:txBody>
      </p:sp>
    </p:spTree>
    <p:controls>
      <mc:AlternateContent xmlns:mc="http://schemas.openxmlformats.org/markup-compatibility/2006">
        <mc:Choice xmlns:v="urn:schemas-microsoft-com:vml" Requires="v">
          <p:control spid="6147" name="" r:id="rId1" imgW="8461375" imgH="5581650"/>
        </mc:Choice>
        <mc:Fallback>
          <p:control name="" r:id="rId1" imgW="8461375" imgH="5581650">
            <p:pic>
              <p:nvPicPr>
                <p:cNvPr id="0" name="ShockwaveFlash2"/>
                <p:cNvPicPr>
                  <a:picLocks noChangeAspect="1"/>
                </p:cNvPicPr>
                <p:nvPr>
                  <p:custDataLst>
                    <p:tags r:id="rId2"/>
                  </p:custDataLst>
                </p:nvPr>
              </p:nvPicPr>
              <p:blipFill>
                <a:blip r:embed="rId3"/>
                <a:stretch>
                  <a:fillRect/>
                </a:stretch>
              </p:blipFill>
              <p:spPr>
                <a:xfrm>
                  <a:off x="395605" y="1052830"/>
                  <a:ext cx="8461375" cy="5581650"/>
                </a:xfrm>
                <a:prstGeom prst="rect">
                  <a:avLst/>
                </a:prstGeom>
                <a:noFill/>
                <a:ln w="9525">
                  <a:noFill/>
                </a:ln>
              </p:spPr>
            </p:pic>
          </p:control>
        </mc:Fallback>
      </mc:AlternateContent>
    </p:controls>
  </p:cSld>
  <p:clrMapOvr>
    <a:masterClrMapping/>
  </p:clrMapOvr>
  <p:transition>
    <p:zoom dir="in"/>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7585" name="对象 66563"/>
          <p:cNvGraphicFramePr/>
          <p:nvPr/>
        </p:nvGraphicFramePr>
        <p:xfrm>
          <a:off x="1171575" y="1474788"/>
          <a:ext cx="7181850" cy="971550"/>
        </p:xfrm>
        <a:graphic>
          <a:graphicData uri="http://schemas.openxmlformats.org/presentationml/2006/ole">
            <mc:AlternateContent xmlns:mc="http://schemas.openxmlformats.org/markup-compatibility/2006">
              <mc:Choice xmlns:v="urn:schemas-microsoft-com:vml" Requires="v">
                <p:oleObj spid="_x0000_s3168" name="" r:id="rId1" imgW="3378200" imgH="457200" progId="Equation.3">
                  <p:embed/>
                </p:oleObj>
              </mc:Choice>
              <mc:Fallback>
                <p:oleObj name="" r:id="rId1" imgW="3378200" imgH="457200" progId="Equation.3">
                  <p:embed/>
                  <p:pic>
                    <p:nvPicPr>
                      <p:cNvPr id="0" name="图片 3167"/>
                      <p:cNvPicPr/>
                      <p:nvPr/>
                    </p:nvPicPr>
                    <p:blipFill>
                      <a:blip r:embed="rId2"/>
                      <a:stretch>
                        <a:fillRect/>
                      </a:stretch>
                    </p:blipFill>
                    <p:spPr>
                      <a:xfrm>
                        <a:off x="1171575" y="1474788"/>
                        <a:ext cx="7181850" cy="971550"/>
                      </a:xfrm>
                      <a:prstGeom prst="rect">
                        <a:avLst/>
                      </a:prstGeom>
                      <a:noFill/>
                      <a:ln w="38100">
                        <a:noFill/>
                        <a:miter/>
                      </a:ln>
                    </p:spPr>
                  </p:pic>
                </p:oleObj>
              </mc:Fallback>
            </mc:AlternateContent>
          </a:graphicData>
        </a:graphic>
      </p:graphicFrame>
      <p:sp>
        <p:nvSpPr>
          <p:cNvPr id="67586" name="文本框 66564"/>
          <p:cNvSpPr txBox="1"/>
          <p:nvPr/>
        </p:nvSpPr>
        <p:spPr>
          <a:xfrm>
            <a:off x="304800" y="762000"/>
            <a:ext cx="64897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当</a:t>
            </a:r>
            <a:r>
              <a:rPr lang="en-US" altLang="zh-CN" i="1" dirty="0">
                <a:latin typeface="Times New Roman" panose="02020603050405020304" pitchFamily="18" charset="0"/>
                <a:ea typeface="宋体" panose="02010600030101010101" pitchFamily="2" charset="-122"/>
              </a:rPr>
              <a:t>N&gt;&gt;</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时，</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所以窗函数的幅频函数为 </a:t>
            </a:r>
            <a:endParaRPr lang="zh-CN" altLang="en-US" dirty="0">
              <a:latin typeface="Times New Roman" panose="02020603050405020304" pitchFamily="18" charset="0"/>
              <a:ea typeface="宋体" panose="02010600030101010101" pitchFamily="2" charset="-122"/>
            </a:endParaRPr>
          </a:p>
        </p:txBody>
      </p:sp>
      <p:sp>
        <p:nvSpPr>
          <p:cNvPr id="67587" name="文本框 66565"/>
          <p:cNvSpPr txBox="1"/>
          <p:nvPr/>
        </p:nvSpPr>
        <p:spPr>
          <a:xfrm>
            <a:off x="7756525" y="2860675"/>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6-44</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67588" name="文本框 66566"/>
          <p:cNvSpPr txBox="1"/>
          <p:nvPr/>
        </p:nvSpPr>
        <p:spPr>
          <a:xfrm>
            <a:off x="228600" y="3505200"/>
            <a:ext cx="8686800" cy="1568450"/>
          </a:xfrm>
          <a:prstGeom prst="rect">
            <a:avLst/>
          </a:prstGeom>
          <a:noFill/>
          <a:ln w="9525">
            <a:noFill/>
          </a:ln>
        </p:spPr>
        <p:txBody>
          <a:bodyPr anchor="t">
            <a:spAutoFit/>
          </a:bodyPr>
          <a:p>
            <a:pPr algn="just">
              <a:lnSpc>
                <a:spcPct val="20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这三部分之和，使旁瓣互相抵消，能量更集中在主瓣，它的最大旁瓣值比主瓣值约低</a:t>
            </a:r>
            <a:r>
              <a:rPr lang="en-US" altLang="zh-CN" dirty="0">
                <a:latin typeface="Times New Roman" panose="02020603050405020304" pitchFamily="18" charset="0"/>
                <a:ea typeface="宋体" panose="02010600030101010101" pitchFamily="2" charset="-122"/>
              </a:rPr>
              <a:t>31dB</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 name="文本框 1"/>
          <p:cNvSpPr txBox="1"/>
          <p:nvPr/>
        </p:nvSpPr>
        <p:spPr>
          <a:xfrm>
            <a:off x="5619750" y="5297488"/>
            <a:ext cx="2301875" cy="460375"/>
          </a:xfrm>
          <a:prstGeom prst="rect">
            <a:avLst/>
          </a:prstGeom>
          <a:solidFill>
            <a:srgbClr val="FF0000"/>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主瓣宽度为</a:t>
            </a:r>
            <a:r>
              <a:rPr lang="en-US" altLang="zh-CN" dirty="0">
                <a:latin typeface="Times New Roman" panose="02020603050405020304" pitchFamily="18" charset="0"/>
                <a:ea typeface="宋体" panose="02010600030101010101" pitchFamily="2" charset="-122"/>
              </a:rPr>
              <a:t>8π/</a:t>
            </a:r>
            <a:r>
              <a:rPr lang="en-US" altLang="zh-CN" i="1" dirty="0">
                <a:latin typeface="Times New Roman" panose="02020603050405020304" pitchFamily="18" charset="0"/>
                <a:ea typeface="宋体" panose="02010600030101010101" pitchFamily="2" charset="-122"/>
              </a:rPr>
              <a:t>N</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50825" y="404813"/>
            <a:ext cx="3816350"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68610" name="文本框 70659"/>
          <p:cNvSpPr txBox="1"/>
          <p:nvPr/>
        </p:nvSpPr>
        <p:spPr>
          <a:xfrm>
            <a:off x="381000" y="228600"/>
            <a:ext cx="8416925" cy="1754188"/>
          </a:xfrm>
          <a:prstGeom prst="rect">
            <a:avLst/>
          </a:prstGeom>
          <a:noFill/>
          <a:ln w="9525">
            <a:noFill/>
          </a:ln>
        </p:spPr>
        <p:txBody>
          <a:bodyPr wrap="none" anchor="t">
            <a:spAutoFit/>
          </a:bodyPr>
          <a:p>
            <a:pPr>
              <a:lnSpc>
                <a:spcPct val="150000"/>
              </a:lnSpc>
            </a:pPr>
            <a:r>
              <a:rPr lang="en-US" altLang="zh-CN" b="1" dirty="0">
                <a:latin typeface="Times New Roman" panose="02020603050405020304" pitchFamily="18" charset="0"/>
                <a:ea typeface="宋体" panose="02010600030101010101" pitchFamily="2" charset="-122"/>
              </a:rPr>
              <a:t>4. </a:t>
            </a:r>
            <a:r>
              <a:rPr lang="zh-CN" altLang="en-US" b="1" dirty="0">
                <a:latin typeface="Times New Roman" panose="02020603050405020304" pitchFamily="18" charset="0"/>
                <a:ea typeface="宋体" panose="02010600030101010101" pitchFamily="2" charset="-122"/>
              </a:rPr>
              <a:t>海明（</a:t>
            </a:r>
            <a:r>
              <a:rPr lang="en-US" altLang="zh-CN" b="1" dirty="0">
                <a:latin typeface="Times New Roman" panose="02020603050405020304" pitchFamily="18" charset="0"/>
                <a:ea typeface="宋体" panose="02010600030101010101" pitchFamily="2" charset="-122"/>
              </a:rPr>
              <a:t>Hamming</a:t>
            </a:r>
            <a:r>
              <a:rPr lang="zh-CN" altLang="en-US" b="1" dirty="0">
                <a:latin typeface="Times New Roman" panose="02020603050405020304" pitchFamily="18" charset="0"/>
                <a:ea typeface="宋体" panose="02010600030101010101" pitchFamily="2" charset="-122"/>
              </a:rPr>
              <a:t>）窗</a:t>
            </a:r>
            <a:endParaRPr lang="zh-CN" altLang="en-US" b="1"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海明窗又称改进的</a:t>
            </a:r>
            <a:r>
              <a:rPr lang="zh-CN" altLang="en-US" b="1" u="sng" dirty="0">
                <a:solidFill>
                  <a:srgbClr val="FF0000"/>
                </a:solidFill>
                <a:latin typeface="Times New Roman" panose="02020603050405020304" pitchFamily="18" charset="0"/>
                <a:ea typeface="宋体" panose="02010600030101010101" pitchFamily="2" charset="-122"/>
              </a:rPr>
              <a:t>升余弦窗</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把升余弦窗加以改进， 可以得到旁瓣更小的效果， 窗形式为 </a:t>
            </a:r>
            <a:endParaRPr lang="zh-CN" altLang="en-US" dirty="0">
              <a:latin typeface="Times New Roman" panose="02020603050405020304" pitchFamily="18" charset="0"/>
              <a:ea typeface="宋体" panose="02010600030101010101" pitchFamily="2" charset="-122"/>
            </a:endParaRPr>
          </a:p>
        </p:txBody>
      </p:sp>
      <p:graphicFrame>
        <p:nvGraphicFramePr>
          <p:cNvPr id="68611" name="对象 70660"/>
          <p:cNvGraphicFramePr/>
          <p:nvPr/>
        </p:nvGraphicFramePr>
        <p:xfrm>
          <a:off x="2328863" y="1938655"/>
          <a:ext cx="4410075" cy="882015"/>
        </p:xfrm>
        <a:graphic>
          <a:graphicData uri="http://schemas.openxmlformats.org/presentationml/2006/ole">
            <mc:AlternateContent xmlns:mc="http://schemas.openxmlformats.org/markup-compatibility/2006">
              <mc:Choice xmlns:v="urn:schemas-microsoft-com:vml" Requires="v">
                <p:oleObj spid="_x0000_s3172" name="" r:id="rId1" imgW="2095500" imgH="419100" progId="Equation.3">
                  <p:embed/>
                </p:oleObj>
              </mc:Choice>
              <mc:Fallback>
                <p:oleObj name="" r:id="rId1" imgW="2095500" imgH="419100" progId="Equation.3">
                  <p:embed/>
                  <p:pic>
                    <p:nvPicPr>
                      <p:cNvPr id="0" name="图片 3171"/>
                      <p:cNvPicPr/>
                      <p:nvPr/>
                    </p:nvPicPr>
                    <p:blipFill>
                      <a:blip r:embed="rId2"/>
                      <a:stretch>
                        <a:fillRect/>
                      </a:stretch>
                    </p:blipFill>
                    <p:spPr>
                      <a:xfrm>
                        <a:off x="2328863" y="1938655"/>
                        <a:ext cx="4410075" cy="882015"/>
                      </a:xfrm>
                      <a:prstGeom prst="rect">
                        <a:avLst/>
                      </a:prstGeom>
                      <a:solidFill>
                        <a:schemeClr val="accent1"/>
                      </a:solidFill>
                      <a:ln w="38100">
                        <a:noFill/>
                        <a:miter/>
                      </a:ln>
                    </p:spPr>
                  </p:pic>
                </p:oleObj>
              </mc:Fallback>
            </mc:AlternateContent>
          </a:graphicData>
        </a:graphic>
      </p:graphicFrame>
      <p:sp>
        <p:nvSpPr>
          <p:cNvPr id="68612" name="文本框 70661"/>
          <p:cNvSpPr txBox="1"/>
          <p:nvPr/>
        </p:nvSpPr>
        <p:spPr>
          <a:xfrm>
            <a:off x="8045450" y="22860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(6-45) </a:t>
            </a:r>
            <a:endParaRPr lang="en-US" altLang="zh-CN" dirty="0">
              <a:latin typeface="Times New Roman" panose="02020603050405020304" pitchFamily="18" charset="0"/>
              <a:ea typeface="宋体" panose="02010600030101010101" pitchFamily="2" charset="-122"/>
            </a:endParaRPr>
          </a:p>
        </p:txBody>
      </p:sp>
      <p:sp>
        <p:nvSpPr>
          <p:cNvPr id="68613" name="文本框 70662"/>
          <p:cNvSpPr txBox="1"/>
          <p:nvPr/>
        </p:nvSpPr>
        <p:spPr>
          <a:xfrm>
            <a:off x="381000" y="2859088"/>
            <a:ext cx="3992880" cy="460375"/>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的频率响应的幅度特性为 </a:t>
            </a:r>
            <a:endParaRPr lang="zh-CN" altLang="en-US" dirty="0">
              <a:latin typeface="Times New Roman" panose="02020603050405020304" pitchFamily="18" charset="0"/>
              <a:ea typeface="宋体" panose="02010600030101010101" pitchFamily="2" charset="-122"/>
            </a:endParaRPr>
          </a:p>
        </p:txBody>
      </p:sp>
      <p:graphicFrame>
        <p:nvGraphicFramePr>
          <p:cNvPr id="68614" name="对象 70663"/>
          <p:cNvGraphicFramePr/>
          <p:nvPr/>
        </p:nvGraphicFramePr>
        <p:xfrm>
          <a:off x="876300" y="3282950"/>
          <a:ext cx="7315200" cy="1984375"/>
        </p:xfrm>
        <a:graphic>
          <a:graphicData uri="http://schemas.openxmlformats.org/presentationml/2006/ole">
            <mc:AlternateContent xmlns:mc="http://schemas.openxmlformats.org/markup-compatibility/2006">
              <mc:Choice xmlns:v="urn:schemas-microsoft-com:vml" Requires="v">
                <p:oleObj spid="_x0000_s3171" name="" r:id="rId3" imgW="3746500" imgH="1016000" progId="Equation.3">
                  <p:embed/>
                </p:oleObj>
              </mc:Choice>
              <mc:Fallback>
                <p:oleObj name="" r:id="rId3" imgW="3746500" imgH="1016000" progId="Equation.3">
                  <p:embed/>
                  <p:pic>
                    <p:nvPicPr>
                      <p:cNvPr id="0" name="图片 3170"/>
                      <p:cNvPicPr/>
                      <p:nvPr/>
                    </p:nvPicPr>
                    <p:blipFill>
                      <a:blip r:embed="rId4"/>
                      <a:stretch>
                        <a:fillRect/>
                      </a:stretch>
                    </p:blipFill>
                    <p:spPr>
                      <a:xfrm>
                        <a:off x="876300" y="3282950"/>
                        <a:ext cx="7315200" cy="1984375"/>
                      </a:xfrm>
                      <a:prstGeom prst="rect">
                        <a:avLst/>
                      </a:prstGeom>
                      <a:noFill/>
                      <a:ln w="38100">
                        <a:noFill/>
                        <a:miter/>
                      </a:ln>
                    </p:spPr>
                  </p:pic>
                </p:oleObj>
              </mc:Fallback>
            </mc:AlternateContent>
          </a:graphicData>
        </a:graphic>
      </p:graphicFrame>
      <p:sp>
        <p:nvSpPr>
          <p:cNvPr id="68615" name="文本框 70664"/>
          <p:cNvSpPr txBox="1"/>
          <p:nvPr/>
        </p:nvSpPr>
        <p:spPr>
          <a:xfrm>
            <a:off x="8045450" y="47244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(6-46) </a:t>
            </a:r>
            <a:endParaRPr lang="en-US" altLang="zh-CN" dirty="0">
              <a:latin typeface="Times New Roman" panose="02020603050405020304" pitchFamily="18" charset="0"/>
              <a:ea typeface="宋体" panose="02010600030101010101" pitchFamily="2" charset="-122"/>
            </a:endParaRPr>
          </a:p>
        </p:txBody>
      </p:sp>
      <p:sp>
        <p:nvSpPr>
          <p:cNvPr id="68616" name="文本框 70665"/>
          <p:cNvSpPr txBox="1"/>
          <p:nvPr/>
        </p:nvSpPr>
        <p:spPr>
          <a:xfrm>
            <a:off x="152400" y="5265738"/>
            <a:ext cx="8763000" cy="1530350"/>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与汉宁窗相比，</a:t>
            </a:r>
            <a:r>
              <a:rPr lang="zh-CN" altLang="en-US" b="1" dirty="0">
                <a:solidFill>
                  <a:srgbClr val="FF0000"/>
                </a:solidFill>
                <a:latin typeface="Times New Roman" panose="02020603050405020304" pitchFamily="18" charset="0"/>
                <a:ea typeface="宋体" panose="02010600030101010101" pitchFamily="2" charset="-122"/>
              </a:rPr>
              <a:t>主瓣宽度相同，为 </a:t>
            </a:r>
            <a:r>
              <a:rPr lang="en-US" altLang="zh-CN" b="1" dirty="0">
                <a:solidFill>
                  <a:srgbClr val="FF0000"/>
                </a:solidFill>
                <a:latin typeface="Times New Roman" panose="02020603050405020304" pitchFamily="18" charset="0"/>
                <a:ea typeface="宋体" panose="02010600030101010101" pitchFamily="2" charset="-122"/>
              </a:rPr>
              <a:t>8π/</a:t>
            </a:r>
            <a:r>
              <a:rPr lang="en-US" altLang="zh-CN" b="1" i="1" dirty="0">
                <a:solidFill>
                  <a:srgbClr val="FF0000"/>
                </a:solidFill>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，但旁瓣又被进一步压低， 结果可将</a:t>
            </a:r>
            <a:r>
              <a:rPr lang="en-US" altLang="zh-CN" dirty="0">
                <a:latin typeface="Times New Roman" panose="02020603050405020304" pitchFamily="18" charset="0"/>
                <a:ea typeface="宋体" panose="02010600030101010101" pitchFamily="2" charset="-122"/>
              </a:rPr>
              <a:t>99.963%</a:t>
            </a:r>
            <a:r>
              <a:rPr lang="zh-CN" altLang="en-US" dirty="0">
                <a:latin typeface="Times New Roman" panose="02020603050405020304" pitchFamily="18" charset="0"/>
                <a:ea typeface="宋体" panose="02010600030101010101" pitchFamily="2" charset="-122"/>
              </a:rPr>
              <a:t>的能量集中在窗谱的主瓣内，它的最大旁瓣值比主瓣值约低</a:t>
            </a:r>
            <a:r>
              <a:rPr lang="en-US" altLang="zh-CN" b="1" dirty="0">
                <a:solidFill>
                  <a:srgbClr val="FF0000"/>
                </a:solidFill>
                <a:latin typeface="Times New Roman" panose="02020603050405020304" pitchFamily="18" charset="0"/>
                <a:ea typeface="宋体" panose="02010600030101010101" pitchFamily="2" charset="-122"/>
              </a:rPr>
              <a:t>41dB</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3" name="文本框 2"/>
          <p:cNvSpPr txBox="1"/>
          <p:nvPr/>
        </p:nvSpPr>
        <p:spPr>
          <a:xfrm>
            <a:off x="5486400" y="6240463"/>
            <a:ext cx="2301875" cy="460375"/>
          </a:xfrm>
          <a:prstGeom prst="rect">
            <a:avLst/>
          </a:prstGeom>
          <a:solidFill>
            <a:srgbClr val="FF0000"/>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主瓣宽度为</a:t>
            </a:r>
            <a:r>
              <a:rPr lang="en-US" altLang="zh-CN" dirty="0">
                <a:latin typeface="Times New Roman" panose="02020603050405020304" pitchFamily="18" charset="0"/>
                <a:ea typeface="宋体" panose="02010600030101010101" pitchFamily="2" charset="-122"/>
              </a:rPr>
              <a:t>8π/</a:t>
            </a:r>
            <a:r>
              <a:rPr lang="en-US" altLang="zh-CN" i="1" dirty="0">
                <a:latin typeface="Times New Roman" panose="02020603050405020304" pitchFamily="18" charset="0"/>
                <a:ea typeface="宋体" panose="02010600030101010101" pitchFamily="2" charset="-122"/>
              </a:rPr>
              <a:t>N</a:t>
            </a:r>
            <a:endParaRPr lang="zh-CN" altLang="en-US" dirty="0">
              <a:latin typeface="Times New Roman" panose="02020603050405020304" pitchFamily="18" charset="0"/>
              <a:ea typeface="宋体" panose="02010600030101010101" pitchFamily="2" charset="-122"/>
            </a:endParaRPr>
          </a:p>
        </p:txBody>
      </p:sp>
      <p:graphicFrame>
        <p:nvGraphicFramePr>
          <p:cNvPr id="4" name="对象 3"/>
          <p:cNvGraphicFramePr/>
          <p:nvPr>
            <p:custDataLst>
              <p:tags r:id="rId5"/>
            </p:custDataLst>
          </p:nvPr>
        </p:nvGraphicFramePr>
        <p:xfrm>
          <a:off x="363220" y="2924810"/>
          <a:ext cx="544830" cy="345440"/>
        </p:xfrm>
        <a:graphic>
          <a:graphicData uri="http://schemas.openxmlformats.org/presentationml/2006/ole">
            <mc:AlternateContent xmlns:mc="http://schemas.openxmlformats.org/markup-compatibility/2006">
              <mc:Choice xmlns:v="urn:schemas-microsoft-com:vml" Requires="v">
                <p:oleObj spid="_x0000_s5" name="" r:id="rId6" imgW="304800" imgH="190500" progId="Equation.KSEE3">
                  <p:embed/>
                </p:oleObj>
              </mc:Choice>
              <mc:Fallback>
                <p:oleObj name="" r:id="rId6" imgW="304800" imgH="190500" progId="Equation.KSEE3">
                  <p:embed/>
                  <p:pic>
                    <p:nvPicPr>
                      <p:cNvPr id="0" name="图片 4"/>
                      <p:cNvPicPr/>
                      <p:nvPr/>
                    </p:nvPicPr>
                    <p:blipFill>
                      <a:blip r:embed="rId7"/>
                      <a:stretch>
                        <a:fillRect/>
                      </a:stretch>
                    </p:blipFill>
                    <p:spPr>
                      <a:xfrm>
                        <a:off x="363220" y="2924810"/>
                        <a:ext cx="544830" cy="345440"/>
                      </a:xfrm>
                      <a:prstGeom prst="rect">
                        <a:avLst/>
                      </a:prstGeom>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100000">
                                          <p:val>
                                            <p:strVal val="#ppt_x"/>
                                          </p:val>
                                        </p:tav>
                                      </p:tavLst>
                                    </p:anim>
                                    <p:anim calcmode="lin" valueType="num">
                                      <p:cBhvr>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827088" y="549275"/>
            <a:ext cx="4032250"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69634" name="文本框 69635"/>
          <p:cNvSpPr txBox="1"/>
          <p:nvPr/>
        </p:nvSpPr>
        <p:spPr>
          <a:xfrm>
            <a:off x="228600" y="457200"/>
            <a:ext cx="8686800" cy="249713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5. </a:t>
            </a:r>
            <a:r>
              <a:rPr lang="zh-CN" altLang="en-US" b="1" dirty="0">
                <a:latin typeface="Times New Roman" panose="02020603050405020304" pitchFamily="18" charset="0"/>
                <a:ea typeface="宋体" panose="02010600030101010101" pitchFamily="2" charset="-122"/>
              </a:rPr>
              <a:t>布拉克曼（</a:t>
            </a:r>
            <a:r>
              <a:rPr lang="en-US" altLang="zh-CN" b="1" dirty="0">
                <a:latin typeface="Times New Roman" panose="02020603050405020304" pitchFamily="18" charset="0"/>
                <a:ea typeface="宋体" panose="02010600030101010101" pitchFamily="2" charset="-122"/>
              </a:rPr>
              <a:t>Blackman</a:t>
            </a:r>
            <a:r>
              <a:rPr lang="zh-CN" altLang="en-US" b="1" dirty="0">
                <a:latin typeface="Times New Roman" panose="02020603050405020304" pitchFamily="18" charset="0"/>
                <a:ea typeface="宋体" panose="02010600030101010101" pitchFamily="2" charset="-122"/>
              </a:rPr>
              <a:t>）窗</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布拉克曼窗又称二阶升余弦窗。</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为了进一步抑制旁瓣，对升余弦窗函数再加上一个二次谐波的余弦分量， 变成布拉克曼窗，故又称二阶升余弦窗。 </a:t>
            </a:r>
            <a:endParaRPr lang="zh-CN" altLang="en-US" dirty="0">
              <a:latin typeface="Times New Roman" panose="02020603050405020304" pitchFamily="18" charset="0"/>
              <a:ea typeface="宋体" panose="02010600030101010101" pitchFamily="2" charset="-122"/>
            </a:endParaRPr>
          </a:p>
        </p:txBody>
      </p:sp>
      <p:graphicFrame>
        <p:nvGraphicFramePr>
          <p:cNvPr id="69635" name="对象 69636"/>
          <p:cNvGraphicFramePr/>
          <p:nvPr/>
        </p:nvGraphicFramePr>
        <p:xfrm>
          <a:off x="1236980" y="3110548"/>
          <a:ext cx="6377940" cy="887730"/>
        </p:xfrm>
        <a:graphic>
          <a:graphicData uri="http://schemas.openxmlformats.org/presentationml/2006/ole">
            <mc:AlternateContent xmlns:mc="http://schemas.openxmlformats.org/markup-compatibility/2006">
              <mc:Choice xmlns:v="urn:schemas-microsoft-com:vml" Requires="v">
                <p:oleObj spid="_x0000_s3174" name="" r:id="rId1" imgW="3009900" imgH="419100" progId="Equation.3">
                  <p:embed/>
                </p:oleObj>
              </mc:Choice>
              <mc:Fallback>
                <p:oleObj name="" r:id="rId1" imgW="3009900" imgH="419100" progId="Equation.3">
                  <p:embed/>
                  <p:pic>
                    <p:nvPicPr>
                      <p:cNvPr id="0" name="图片 3173"/>
                      <p:cNvPicPr/>
                      <p:nvPr/>
                    </p:nvPicPr>
                    <p:blipFill>
                      <a:blip r:embed="rId2"/>
                      <a:stretch>
                        <a:fillRect/>
                      </a:stretch>
                    </p:blipFill>
                    <p:spPr>
                      <a:xfrm>
                        <a:off x="1236980" y="3110548"/>
                        <a:ext cx="6377940" cy="887730"/>
                      </a:xfrm>
                      <a:prstGeom prst="rect">
                        <a:avLst/>
                      </a:prstGeom>
                      <a:solidFill>
                        <a:schemeClr val="accent1"/>
                      </a:solidFill>
                      <a:ln w="38100">
                        <a:noFill/>
                        <a:miter/>
                      </a:ln>
                    </p:spPr>
                  </p:pic>
                </p:oleObj>
              </mc:Fallback>
            </mc:AlternateContent>
          </a:graphicData>
        </a:graphic>
      </p:graphicFrame>
      <p:sp>
        <p:nvSpPr>
          <p:cNvPr id="69636" name="文本框 69637"/>
          <p:cNvSpPr txBox="1"/>
          <p:nvPr/>
        </p:nvSpPr>
        <p:spPr>
          <a:xfrm>
            <a:off x="8045450" y="33528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(6-47) </a:t>
            </a:r>
            <a:endParaRPr lang="en-US" altLang="zh-CN" dirty="0">
              <a:latin typeface="Times New Roman" panose="02020603050405020304" pitchFamily="18" charset="0"/>
              <a:ea typeface="宋体" panose="02010600030101010101" pitchFamily="2" charset="-122"/>
            </a:endParaRPr>
          </a:p>
        </p:txBody>
      </p:sp>
      <p:sp>
        <p:nvSpPr>
          <p:cNvPr id="69637" name="文本框 69638"/>
          <p:cNvSpPr txBox="1"/>
          <p:nvPr/>
        </p:nvSpPr>
        <p:spPr>
          <a:xfrm>
            <a:off x="228600" y="4038600"/>
            <a:ext cx="4069080" cy="460375"/>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的频率响应的幅度特性为 </a:t>
            </a:r>
            <a:endParaRPr lang="zh-CN" altLang="en-US" dirty="0">
              <a:latin typeface="Times New Roman" panose="02020603050405020304" pitchFamily="18" charset="0"/>
              <a:ea typeface="宋体" panose="02010600030101010101" pitchFamily="2" charset="-122"/>
            </a:endParaRPr>
          </a:p>
        </p:txBody>
      </p:sp>
      <p:graphicFrame>
        <p:nvGraphicFramePr>
          <p:cNvPr id="69638" name="对象 69639"/>
          <p:cNvGraphicFramePr/>
          <p:nvPr/>
        </p:nvGraphicFramePr>
        <p:xfrm>
          <a:off x="533400" y="4500563"/>
          <a:ext cx="7804150" cy="1989137"/>
        </p:xfrm>
        <a:graphic>
          <a:graphicData uri="http://schemas.openxmlformats.org/presentationml/2006/ole">
            <mc:AlternateContent xmlns:mc="http://schemas.openxmlformats.org/markup-compatibility/2006">
              <mc:Choice xmlns:v="urn:schemas-microsoft-com:vml" Requires="v">
                <p:oleObj spid="_x0000_s3173" name="" r:id="rId3" imgW="3683000" imgH="939800" progId="Equation.3">
                  <p:embed/>
                </p:oleObj>
              </mc:Choice>
              <mc:Fallback>
                <p:oleObj name="" r:id="rId3" imgW="3683000" imgH="939800" progId="Equation.3">
                  <p:embed/>
                  <p:pic>
                    <p:nvPicPr>
                      <p:cNvPr id="0" name="图片 3172"/>
                      <p:cNvPicPr/>
                      <p:nvPr/>
                    </p:nvPicPr>
                    <p:blipFill>
                      <a:blip r:embed="rId4"/>
                      <a:stretch>
                        <a:fillRect/>
                      </a:stretch>
                    </p:blipFill>
                    <p:spPr>
                      <a:xfrm>
                        <a:off x="533400" y="4500563"/>
                        <a:ext cx="7804150" cy="1989137"/>
                      </a:xfrm>
                      <a:prstGeom prst="rect">
                        <a:avLst/>
                      </a:prstGeom>
                      <a:noFill/>
                      <a:ln w="38100">
                        <a:noFill/>
                        <a:miter/>
                      </a:ln>
                    </p:spPr>
                  </p:pic>
                </p:oleObj>
              </mc:Fallback>
            </mc:AlternateContent>
          </a:graphicData>
        </a:graphic>
      </p:graphicFrame>
      <p:sp>
        <p:nvSpPr>
          <p:cNvPr id="69639" name="文本框 69640"/>
          <p:cNvSpPr txBox="1"/>
          <p:nvPr/>
        </p:nvSpPr>
        <p:spPr>
          <a:xfrm>
            <a:off x="8045450" y="57150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(6-48) </a:t>
            </a:r>
            <a:endParaRPr lang="en-US" altLang="zh-CN" dirty="0">
              <a:latin typeface="Times New Roman" panose="02020603050405020304" pitchFamily="18" charset="0"/>
              <a:ea typeface="宋体" panose="02010600030101010101" pitchFamily="2" charset="-122"/>
            </a:endParaRPr>
          </a:p>
        </p:txBody>
      </p:sp>
      <p:sp>
        <p:nvSpPr>
          <p:cNvPr id="3" name="文本框 2"/>
          <p:cNvSpPr txBox="1"/>
          <p:nvPr/>
        </p:nvSpPr>
        <p:spPr>
          <a:xfrm>
            <a:off x="6613525" y="6172200"/>
            <a:ext cx="2452688" cy="460375"/>
          </a:xfrm>
          <a:prstGeom prst="rect">
            <a:avLst/>
          </a:prstGeom>
          <a:solidFill>
            <a:srgbClr val="FF0000"/>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主瓣宽度为</a:t>
            </a:r>
            <a:r>
              <a:rPr lang="en-US" altLang="zh-CN" dirty="0">
                <a:latin typeface="Times New Roman" panose="02020603050405020304" pitchFamily="18" charset="0"/>
                <a:ea typeface="宋体" panose="02010600030101010101" pitchFamily="2" charset="-122"/>
              </a:rPr>
              <a:t>12π/</a:t>
            </a:r>
            <a:r>
              <a:rPr lang="en-US" altLang="zh-CN" i="1" dirty="0">
                <a:latin typeface="Times New Roman" panose="02020603050405020304" pitchFamily="18" charset="0"/>
                <a:ea typeface="宋体" panose="02010600030101010101" pitchFamily="2" charset="-122"/>
              </a:rPr>
              <a:t>N</a:t>
            </a:r>
            <a:endParaRPr lang="zh-CN" altLang="en-US" dirty="0">
              <a:latin typeface="Times New Roman" panose="02020603050405020304" pitchFamily="18" charset="0"/>
              <a:ea typeface="宋体" panose="02010600030101010101" pitchFamily="2" charset="-122"/>
            </a:endParaRPr>
          </a:p>
        </p:txBody>
      </p:sp>
      <p:graphicFrame>
        <p:nvGraphicFramePr>
          <p:cNvPr id="4" name="对象 3"/>
          <p:cNvGraphicFramePr/>
          <p:nvPr>
            <p:custDataLst>
              <p:tags r:id="rId5"/>
            </p:custDataLst>
          </p:nvPr>
        </p:nvGraphicFramePr>
        <p:xfrm>
          <a:off x="181928" y="3908108"/>
          <a:ext cx="772795" cy="704850"/>
        </p:xfrm>
        <a:graphic>
          <a:graphicData uri="http://schemas.openxmlformats.org/presentationml/2006/ole">
            <mc:AlternateContent xmlns:mc="http://schemas.openxmlformats.org/markup-compatibility/2006">
              <mc:Choice xmlns:v="urn:schemas-microsoft-com:vml" Requires="v">
                <p:oleObj spid="_x0000_s5" name="" r:id="rId6" imgW="485140" imgH="366395" progId="Equation.KSEE3">
                  <p:embed/>
                </p:oleObj>
              </mc:Choice>
              <mc:Fallback>
                <p:oleObj name="" r:id="rId6" imgW="485140" imgH="366395" progId="Equation.KSEE3">
                  <p:embed/>
                  <p:pic>
                    <p:nvPicPr>
                      <p:cNvPr id="0" name="图片 4"/>
                      <p:cNvPicPr/>
                      <p:nvPr/>
                    </p:nvPicPr>
                    <p:blipFill>
                      <a:blip r:embed="rId7"/>
                      <a:stretch>
                        <a:fillRect/>
                      </a:stretch>
                    </p:blipFill>
                    <p:spPr>
                      <a:xfrm>
                        <a:off x="181928" y="3908108"/>
                        <a:ext cx="772795" cy="704850"/>
                      </a:xfrm>
                      <a:prstGeom prst="rect">
                        <a:avLst/>
                      </a:prstGeom>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100000">
                                          <p:val>
                                            <p:strVal val="#ppt_x"/>
                                          </p:val>
                                        </p:tav>
                                      </p:tavLst>
                                    </p:anim>
                                    <p:anim calcmode="lin" valueType="num">
                                      <p:cBhvr>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文本框 68611"/>
          <p:cNvSpPr txBox="1"/>
          <p:nvPr/>
        </p:nvSpPr>
        <p:spPr>
          <a:xfrm>
            <a:off x="2590800" y="5562600"/>
            <a:ext cx="371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6-10 </a:t>
            </a:r>
            <a:r>
              <a:rPr lang="zh-CN" altLang="en-US" dirty="0">
                <a:latin typeface="Times New Roman" panose="02020603050405020304" pitchFamily="18" charset="0"/>
                <a:ea typeface="宋体" panose="02010600030101010101" pitchFamily="2" charset="-122"/>
              </a:rPr>
              <a:t>五种常用的窗函数 </a:t>
            </a:r>
            <a:endParaRPr lang="zh-CN" altLang="en-US" dirty="0">
              <a:latin typeface="Times New Roman" panose="02020603050405020304" pitchFamily="18" charset="0"/>
              <a:ea typeface="宋体" panose="02010600030101010101" pitchFamily="2" charset="-122"/>
            </a:endParaRPr>
          </a:p>
        </p:txBody>
      </p:sp>
      <p:pic>
        <p:nvPicPr>
          <p:cNvPr id="70658" name="图片 68614" descr="6-10"/>
          <p:cNvPicPr>
            <a:picLocks noChangeAspect="1"/>
          </p:cNvPicPr>
          <p:nvPr/>
        </p:nvPicPr>
        <p:blipFill>
          <a:blip r:embed="rId1"/>
          <a:stretch>
            <a:fillRect/>
          </a:stretch>
        </p:blipFill>
        <p:spPr>
          <a:xfrm>
            <a:off x="1714500" y="1268413"/>
            <a:ext cx="5715000" cy="3848100"/>
          </a:xfrm>
          <a:prstGeom prst="rect">
            <a:avLst/>
          </a:prstGeom>
          <a:noFill/>
          <a:ln w="9525">
            <a:noFill/>
          </a:ln>
        </p:spPr>
      </p:pic>
    </p:spTree>
  </p:cSld>
  <p:clrMapOvr>
    <a:masterClrMapping/>
  </p:clrMapOvr>
  <p:transition>
    <p:zoom dir="in"/>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8195" name="" r:id="rId1" imgW="8459470" imgH="5491480"/>
        </mc:Choice>
        <mc:Fallback>
          <p:control name="" r:id="rId1" imgW="8459470" imgH="5491480">
            <p:pic>
              <p:nvPicPr>
                <p:cNvPr id="0" name="ShockwaveFlash2"/>
                <p:cNvPicPr>
                  <a:picLocks noChangeAspect="1"/>
                </p:cNvPicPr>
                <p:nvPr>
                  <p:custDataLst>
                    <p:tags r:id="rId2"/>
                  </p:custDataLst>
                </p:nvPr>
              </p:nvPicPr>
              <p:blipFill>
                <a:blip r:embed="rId3"/>
                <a:stretch>
                  <a:fillRect/>
                </a:stretch>
              </p:blipFill>
              <p:spPr>
                <a:xfrm>
                  <a:off x="341948" y="1052830"/>
                  <a:ext cx="8459470" cy="5491480"/>
                </a:xfrm>
                <a:prstGeom prst="rect">
                  <a:avLst/>
                </a:prstGeom>
                <a:noFill/>
                <a:ln w="9525">
                  <a:noFill/>
                </a:ln>
              </p:spPr>
            </p:pic>
          </p:control>
        </mc:Fallback>
      </mc:AlternateContent>
    </p:controls>
  </p:cSld>
  <p:clrMapOvr>
    <a:masterClrMapping/>
  </p:clrMapOvr>
  <p:transition>
    <p:zoom dir="in"/>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文本框 72707"/>
          <p:cNvSpPr txBox="1"/>
          <p:nvPr/>
        </p:nvSpPr>
        <p:spPr>
          <a:xfrm>
            <a:off x="411163" y="5853113"/>
            <a:ext cx="8321675" cy="398462"/>
          </a:xfrm>
          <a:prstGeom prst="rect">
            <a:avLst/>
          </a:prstGeom>
          <a:noFill/>
          <a:ln w="9525">
            <a:noFill/>
          </a:ln>
        </p:spPr>
        <p:txBody>
          <a:bodyPr wrap="none" anchor="t">
            <a:spAutoFit/>
          </a:bodyPr>
          <a:p>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6-11 </a:t>
            </a: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6-10 </a:t>
            </a:r>
            <a:r>
              <a:rPr lang="zh-CN" altLang="en-US" sz="2000" dirty="0">
                <a:latin typeface="Times New Roman" panose="02020603050405020304" pitchFamily="18" charset="0"/>
                <a:ea typeface="宋体" panose="02010600030101010101" pitchFamily="2" charset="-122"/>
              </a:rPr>
              <a:t>的各种窗函数的傅里叶变换（</a:t>
            </a:r>
            <a:r>
              <a:rPr lang="en-US" altLang="zh-CN" sz="2000" i="1" dirty="0">
                <a:solidFill>
                  <a:srgbClr val="FF0000"/>
                </a:solidFill>
                <a:latin typeface="Times New Roman" panose="02020603050405020304" pitchFamily="18" charset="0"/>
                <a:ea typeface="宋体" panose="02010600030101010101" pitchFamily="2" charset="-122"/>
              </a:rPr>
              <a:t>N</a:t>
            </a:r>
            <a:r>
              <a:rPr lang="en-US" altLang="zh-CN" sz="2000" dirty="0">
                <a:solidFill>
                  <a:srgbClr val="FF0000"/>
                </a:solidFill>
                <a:latin typeface="Times New Roman" panose="02020603050405020304" pitchFamily="18" charset="0"/>
                <a:ea typeface="宋体" panose="02010600030101010101" pitchFamily="2" charset="-122"/>
              </a:rPr>
              <a:t>=51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A=20 lg|</a:t>
            </a:r>
            <a:r>
              <a:rPr lang="en-US" altLang="zh-CN" sz="2000" i="1" dirty="0">
                <a:latin typeface="Times New Roman" panose="02020603050405020304" pitchFamily="18" charset="0"/>
                <a:ea typeface="宋体" panose="02010600030101010101" pitchFamily="2" charset="-122"/>
              </a:rPr>
              <a:t>W</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ω</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W</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θ</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pic>
        <p:nvPicPr>
          <p:cNvPr id="71682" name="图片 72710" descr="6-11"/>
          <p:cNvPicPr>
            <a:picLocks noChangeAspect="1"/>
          </p:cNvPicPr>
          <p:nvPr/>
        </p:nvPicPr>
        <p:blipFill>
          <a:blip r:embed="rId1"/>
          <a:stretch>
            <a:fillRect/>
          </a:stretch>
        </p:blipFill>
        <p:spPr>
          <a:xfrm>
            <a:off x="941388" y="765175"/>
            <a:ext cx="6823075" cy="4732338"/>
          </a:xfrm>
          <a:prstGeom prst="rect">
            <a:avLst/>
          </a:prstGeom>
          <a:noFill/>
          <a:ln w="9525">
            <a:noFill/>
          </a:ln>
        </p:spPr>
      </p:pic>
      <p:sp>
        <p:nvSpPr>
          <p:cNvPr id="71683" name="文本框 1"/>
          <p:cNvSpPr txBox="1"/>
          <p:nvPr/>
        </p:nvSpPr>
        <p:spPr>
          <a:xfrm>
            <a:off x="2159000" y="1855788"/>
            <a:ext cx="1177925" cy="460375"/>
          </a:xfrm>
          <a:prstGeom prst="rect">
            <a:avLst/>
          </a:prstGeom>
          <a:noFill/>
          <a:ln w="9525">
            <a:noFill/>
          </a:ln>
        </p:spPr>
        <p:txBody>
          <a:bodyPr wrap="none" anchor="t">
            <a:spAutoFit/>
          </a:bodyPr>
          <a:p>
            <a:r>
              <a:rPr lang="en-US" altLang="zh-CN" b="1" dirty="0">
                <a:solidFill>
                  <a:srgbClr val="FF0000"/>
                </a:solidFill>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矩形窗</a:t>
            </a:r>
            <a:endParaRPr lang="zh-CN" altLang="en-US" dirty="0">
              <a:latin typeface="Times New Roman" panose="02020603050405020304" pitchFamily="18" charset="0"/>
              <a:ea typeface="宋体" panose="02010600030101010101" pitchFamily="2" charset="-122"/>
            </a:endParaRPr>
          </a:p>
        </p:txBody>
      </p:sp>
      <p:sp>
        <p:nvSpPr>
          <p:cNvPr id="71684" name="文本框 2"/>
          <p:cNvSpPr txBox="1"/>
          <p:nvPr/>
        </p:nvSpPr>
        <p:spPr>
          <a:xfrm>
            <a:off x="1890713" y="3502025"/>
            <a:ext cx="1408112"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三角形窗</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71685" name="文本框 3"/>
          <p:cNvSpPr txBox="1"/>
          <p:nvPr/>
        </p:nvSpPr>
        <p:spPr>
          <a:xfrm>
            <a:off x="1890713" y="5181600"/>
            <a:ext cx="1101725"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汉宁窗</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71686" name="文本框 4"/>
          <p:cNvSpPr txBox="1"/>
          <p:nvPr/>
        </p:nvSpPr>
        <p:spPr>
          <a:xfrm>
            <a:off x="5822950" y="2498725"/>
            <a:ext cx="1100138"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海明窗</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71687" name="文本框 5"/>
          <p:cNvSpPr txBox="1"/>
          <p:nvPr/>
        </p:nvSpPr>
        <p:spPr>
          <a:xfrm>
            <a:off x="5516563" y="4252913"/>
            <a:ext cx="1712912"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布拉克曼窗</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7" name="文本框 6"/>
          <p:cNvSpPr txBox="1"/>
          <p:nvPr/>
        </p:nvSpPr>
        <p:spPr>
          <a:xfrm>
            <a:off x="4783138" y="5259388"/>
            <a:ext cx="4144962" cy="460375"/>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主瓣宽度增加，旁瓣数量减少</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文本框 71683"/>
          <p:cNvSpPr txBox="1"/>
          <p:nvPr/>
        </p:nvSpPr>
        <p:spPr>
          <a:xfrm>
            <a:off x="136525" y="5878513"/>
            <a:ext cx="8869363" cy="398462"/>
          </a:xfrm>
          <a:prstGeom prst="rect">
            <a:avLst/>
          </a:prstGeom>
          <a:noFill/>
          <a:ln w="9525">
            <a:noFill/>
          </a:ln>
        </p:spPr>
        <p:txBody>
          <a:bodyPr anchor="t">
            <a:spAutoFit/>
          </a:bodyPr>
          <a:p>
            <a:pPr algn="ct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6-12 </a:t>
            </a:r>
            <a:r>
              <a:rPr lang="zh-CN" altLang="en-US" sz="2000" dirty="0">
                <a:latin typeface="Times New Roman" panose="02020603050405020304" pitchFamily="18" charset="0"/>
                <a:ea typeface="宋体" panose="02010600030101010101" pitchFamily="2" charset="-122"/>
              </a:rPr>
              <a:t>理想低通滤波器加窗后的幅度响应（</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=51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A</a:t>
            </a:r>
            <a:r>
              <a:rPr lang="en-US" altLang="zh-CN" sz="2000" dirty="0">
                <a:latin typeface="Times New Roman" panose="02020603050405020304" pitchFamily="18" charset="0"/>
                <a:ea typeface="宋体" panose="02010600030101010101" pitchFamily="2" charset="-122"/>
              </a:rPr>
              <a:t>=20lg|</a:t>
            </a:r>
            <a:r>
              <a:rPr lang="en-US" altLang="zh-CN" sz="2000" i="1" dirty="0">
                <a:latin typeface="Times New Roman" panose="02020603050405020304" pitchFamily="18" charset="0"/>
                <a:ea typeface="宋体" panose="02010600030101010101" pitchFamily="2" charset="-122"/>
              </a:rPr>
              <a:t>H</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ω</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H</a:t>
            </a:r>
            <a:r>
              <a:rPr lang="en-US" altLang="zh-CN" sz="2000" dirty="0">
                <a:latin typeface="Times New Roman" panose="02020603050405020304" pitchFamily="18" charset="0"/>
                <a:ea typeface="宋体" panose="02010600030101010101" pitchFamily="2" charset="-122"/>
              </a:rPr>
              <a:t>(0)|</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pic>
        <p:nvPicPr>
          <p:cNvPr id="72706" name="图片 71686" descr="6-12"/>
          <p:cNvPicPr>
            <a:picLocks noChangeAspect="1"/>
          </p:cNvPicPr>
          <p:nvPr/>
        </p:nvPicPr>
        <p:blipFill>
          <a:blip r:embed="rId1"/>
          <a:stretch>
            <a:fillRect/>
          </a:stretch>
        </p:blipFill>
        <p:spPr>
          <a:xfrm>
            <a:off x="1331913" y="549275"/>
            <a:ext cx="6192837" cy="5038725"/>
          </a:xfrm>
          <a:prstGeom prst="rect">
            <a:avLst/>
          </a:prstGeom>
          <a:noFill/>
          <a:ln w="9525">
            <a:noFill/>
          </a:ln>
        </p:spPr>
      </p:pic>
      <p:sp>
        <p:nvSpPr>
          <p:cNvPr id="72707" name="文本框 1"/>
          <p:cNvSpPr txBox="1"/>
          <p:nvPr/>
        </p:nvSpPr>
        <p:spPr>
          <a:xfrm>
            <a:off x="2625725" y="1589088"/>
            <a:ext cx="1176338" cy="460375"/>
          </a:xfrm>
          <a:prstGeom prst="rect">
            <a:avLst/>
          </a:prstGeom>
          <a:noFill/>
          <a:ln w="9525">
            <a:noFill/>
          </a:ln>
        </p:spPr>
        <p:txBody>
          <a:bodyPr wrap="none" anchor="t">
            <a:spAutoFit/>
          </a:bodyPr>
          <a:p>
            <a:r>
              <a:rPr lang="en-US" altLang="zh-CN"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矩形窗</a:t>
            </a:r>
            <a:endParaRPr lang="zh-CN" altLang="en-US" dirty="0">
              <a:latin typeface="Times New Roman" panose="02020603050405020304" pitchFamily="18" charset="0"/>
              <a:ea typeface="宋体" panose="02010600030101010101" pitchFamily="2" charset="-122"/>
            </a:endParaRPr>
          </a:p>
        </p:txBody>
      </p:sp>
      <p:sp>
        <p:nvSpPr>
          <p:cNvPr id="72708" name="文本框 2"/>
          <p:cNvSpPr txBox="1"/>
          <p:nvPr/>
        </p:nvSpPr>
        <p:spPr>
          <a:xfrm>
            <a:off x="2509838" y="3467100"/>
            <a:ext cx="1408112"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三角形窗</a:t>
            </a:r>
            <a:endPar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72709" name="文本框 3"/>
          <p:cNvSpPr txBox="1"/>
          <p:nvPr/>
        </p:nvSpPr>
        <p:spPr>
          <a:xfrm>
            <a:off x="2816225" y="5127625"/>
            <a:ext cx="1101725"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汉宁窗</a:t>
            </a:r>
            <a:endPar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72710" name="文本框 4"/>
          <p:cNvSpPr txBox="1"/>
          <p:nvPr/>
        </p:nvSpPr>
        <p:spPr>
          <a:xfrm>
            <a:off x="6254750" y="2320925"/>
            <a:ext cx="1101725"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海明窗</a:t>
            </a:r>
            <a:endPar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72711" name="文本框 5"/>
          <p:cNvSpPr txBox="1"/>
          <p:nvPr/>
        </p:nvSpPr>
        <p:spPr>
          <a:xfrm>
            <a:off x="5948363" y="4252913"/>
            <a:ext cx="1712912"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布拉克曼窗</a:t>
            </a:r>
            <a:endParaRPr lang="zh-CN" altLang="en-US" b="1" dirty="0">
              <a:solidFill>
                <a:srgbClr val="FF0000"/>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7" name="文本框 6"/>
          <p:cNvSpPr txBox="1"/>
          <p:nvPr/>
        </p:nvSpPr>
        <p:spPr>
          <a:xfrm>
            <a:off x="5099050" y="5048250"/>
            <a:ext cx="3230563" cy="830263"/>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sym typeface="宋体" panose="02010600030101010101" pitchFamily="2" charset="-122"/>
              </a:rPr>
              <a:t>矩形窗过渡带最窄</a:t>
            </a:r>
            <a:endParaRPr lang="zh-CN" altLang="en-US" dirty="0">
              <a:latin typeface="Times New Roman" panose="02020603050405020304" pitchFamily="18" charset="0"/>
              <a:ea typeface="宋体" panose="02010600030101010101" pitchFamily="2" charset="-122"/>
              <a:sym typeface="宋体" panose="02010600030101010101" pitchFamily="2" charset="-122"/>
            </a:endParaRPr>
          </a:p>
          <a:p>
            <a:r>
              <a:rPr lang="zh-CN" altLang="en-US" dirty="0">
                <a:latin typeface="Times New Roman" panose="02020603050405020304" pitchFamily="18" charset="0"/>
                <a:ea typeface="宋体" panose="02010600030101010101" pitchFamily="2" charset="-122"/>
              </a:rPr>
              <a:t>布拉克曼窗过渡带最宽</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95288" y="620713"/>
            <a:ext cx="3097213"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73730" name="文本框 74755"/>
          <p:cNvSpPr txBox="1"/>
          <p:nvPr/>
        </p:nvSpPr>
        <p:spPr>
          <a:xfrm>
            <a:off x="381000" y="533400"/>
            <a:ext cx="6735763" cy="1109663"/>
          </a:xfrm>
          <a:prstGeom prst="rect">
            <a:avLst/>
          </a:prstGeom>
          <a:noFill/>
          <a:ln w="9525">
            <a:noFill/>
          </a:ln>
        </p:spPr>
        <p:txBody>
          <a:bodyPr wrap="none" anchor="t">
            <a:spAutoFit/>
          </a:bodyPr>
          <a:p>
            <a:pPr>
              <a:lnSpc>
                <a:spcPct val="138000"/>
              </a:lnSpc>
            </a:pPr>
            <a:r>
              <a:rPr lang="en-US" altLang="zh-CN" b="1" dirty="0">
                <a:latin typeface="Times New Roman" panose="02020603050405020304" pitchFamily="18" charset="0"/>
                <a:ea typeface="宋体" panose="02010600030101010101" pitchFamily="2" charset="-122"/>
              </a:rPr>
              <a:t>6. </a:t>
            </a:r>
            <a:r>
              <a:rPr lang="zh-CN" altLang="en-US" b="1" dirty="0">
                <a:latin typeface="Times New Roman" panose="02020603050405020304" pitchFamily="18" charset="0"/>
                <a:ea typeface="宋体" panose="02010600030101010101" pitchFamily="2" charset="-122"/>
              </a:rPr>
              <a:t>凯塞（</a:t>
            </a:r>
            <a:r>
              <a:rPr lang="en-US" altLang="zh-CN" b="1" dirty="0">
                <a:latin typeface="Times New Roman" panose="02020603050405020304" pitchFamily="18" charset="0"/>
                <a:ea typeface="宋体" panose="02010600030101010101" pitchFamily="2" charset="-122"/>
              </a:rPr>
              <a:t>Kaiser</a:t>
            </a:r>
            <a:r>
              <a:rPr lang="zh-CN" altLang="en-US" b="1" dirty="0">
                <a:latin typeface="Times New Roman" panose="02020603050405020304" pitchFamily="18" charset="0"/>
                <a:ea typeface="宋体" panose="02010600030101010101" pitchFamily="2" charset="-122"/>
              </a:rPr>
              <a:t>）窗</a:t>
            </a:r>
            <a:endParaRPr lang="zh-CN" altLang="en-US" b="1" dirty="0">
              <a:latin typeface="Times New Roman" panose="02020603050405020304" pitchFamily="18" charset="0"/>
              <a:ea typeface="宋体" panose="02010600030101010101" pitchFamily="2" charset="-122"/>
            </a:endParaRPr>
          </a:p>
          <a:p>
            <a:pPr>
              <a:lnSpc>
                <a:spcPct val="138000"/>
              </a:lnSpc>
            </a:pPr>
            <a:r>
              <a:rPr lang="zh-CN" altLang="en-US" dirty="0">
                <a:latin typeface="Times New Roman" panose="02020603050405020304" pitchFamily="18" charset="0"/>
                <a:ea typeface="宋体" panose="02010600030101010101" pitchFamily="2" charset="-122"/>
              </a:rPr>
              <a:t>  这是一种适应性较强的窗，其窗函数的表示式为 </a:t>
            </a:r>
            <a:endParaRPr lang="zh-CN" altLang="en-US" dirty="0">
              <a:latin typeface="Times New Roman" panose="02020603050405020304" pitchFamily="18" charset="0"/>
              <a:ea typeface="宋体" panose="02010600030101010101" pitchFamily="2" charset="-122"/>
            </a:endParaRPr>
          </a:p>
        </p:txBody>
      </p:sp>
      <p:sp>
        <p:nvSpPr>
          <p:cNvPr id="73731" name="文本框 74757"/>
          <p:cNvSpPr txBox="1"/>
          <p:nvPr/>
        </p:nvSpPr>
        <p:spPr>
          <a:xfrm>
            <a:off x="5757863" y="2528888"/>
            <a:ext cx="1433512" cy="460375"/>
          </a:xfrm>
          <a:prstGeom prst="rect">
            <a:avLst/>
          </a:prstGeom>
          <a:noFill/>
          <a:ln w="9525">
            <a:noFill/>
          </a:ln>
        </p:spPr>
        <p:txBody>
          <a:bodyPr anchor="t">
            <a:spAutoFit/>
          </a:bodyPr>
          <a:p>
            <a:r>
              <a:rPr lang="en-US" altLang="zh-CN" dirty="0">
                <a:latin typeface="Times New Roman" panose="02020603050405020304" pitchFamily="18" charset="0"/>
                <a:ea typeface="宋体" panose="02010600030101010101" pitchFamily="2" charset="-122"/>
              </a:rPr>
              <a:t>  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endParaRPr lang="en-US" altLang="zh-CN" dirty="0">
              <a:latin typeface="Times New Roman" panose="02020603050405020304" pitchFamily="18" charset="0"/>
              <a:ea typeface="宋体" panose="02010600030101010101" pitchFamily="2" charset="-122"/>
            </a:endParaRPr>
          </a:p>
        </p:txBody>
      </p:sp>
      <p:sp>
        <p:nvSpPr>
          <p:cNvPr id="73732" name="文本框 74758"/>
          <p:cNvSpPr txBox="1"/>
          <p:nvPr/>
        </p:nvSpPr>
        <p:spPr>
          <a:xfrm>
            <a:off x="7721600" y="35052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6-49</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73733" name="文本框 74759"/>
          <p:cNvSpPr txBox="1"/>
          <p:nvPr/>
        </p:nvSpPr>
        <p:spPr>
          <a:xfrm>
            <a:off x="228600" y="4016375"/>
            <a:ext cx="8763000" cy="2025650"/>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是第一类变形零阶贝塞尔函数，</a:t>
            </a:r>
            <a:r>
              <a:rPr lang="en-US" altLang="zh-CN" i="1" dirty="0">
                <a:latin typeface="Times New Roman" panose="02020603050405020304" pitchFamily="18" charset="0"/>
                <a:ea typeface="宋体" panose="02010600030101010101" pitchFamily="2" charset="-122"/>
              </a:rPr>
              <a:t>β</a:t>
            </a:r>
            <a:r>
              <a:rPr lang="zh-CN" altLang="en-US" dirty="0">
                <a:latin typeface="Times New Roman" panose="02020603050405020304" pitchFamily="18" charset="0"/>
                <a:ea typeface="宋体" panose="02010600030101010101" pitchFamily="2" charset="-122"/>
              </a:rPr>
              <a:t>是一个可自由选择的参数。</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en-US" altLang="zh-CN" dirty="0">
                <a:latin typeface="Courier New" panose="02070309020205020404" pitchFamily="49"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零阶贝塞尔函数的曲线如图</a:t>
            </a:r>
            <a:r>
              <a:rPr lang="en-US" altLang="zh-CN" dirty="0">
                <a:latin typeface="Times New Roman" panose="02020603050405020304" pitchFamily="18" charset="0"/>
                <a:ea typeface="宋体" panose="02010600030101010101" pitchFamily="2" charset="-122"/>
              </a:rPr>
              <a:t>6-13</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p:txBody>
      </p:sp>
      <p:graphicFrame>
        <p:nvGraphicFramePr>
          <p:cNvPr id="73734" name="对象 74760"/>
          <p:cNvGraphicFramePr/>
          <p:nvPr/>
        </p:nvGraphicFramePr>
        <p:xfrm>
          <a:off x="1557973" y="1838325"/>
          <a:ext cx="3996055" cy="1971675"/>
        </p:xfrm>
        <a:graphic>
          <a:graphicData uri="http://schemas.openxmlformats.org/presentationml/2006/ole">
            <mc:AlternateContent xmlns:mc="http://schemas.openxmlformats.org/markup-compatibility/2006">
              <mc:Choice xmlns:v="urn:schemas-microsoft-com:vml" Requires="v">
                <p:oleObj spid="_x0000_s3175" name="" r:id="rId1" imgW="1562100" imgH="723900" progId="Equation.3">
                  <p:embed/>
                </p:oleObj>
              </mc:Choice>
              <mc:Fallback>
                <p:oleObj name="" r:id="rId1" imgW="1562100" imgH="723900" progId="Equation.3">
                  <p:embed/>
                  <p:pic>
                    <p:nvPicPr>
                      <p:cNvPr id="0" name="图片 3174"/>
                      <p:cNvPicPr/>
                      <p:nvPr/>
                    </p:nvPicPr>
                    <p:blipFill>
                      <a:blip r:embed="rId2"/>
                      <a:stretch>
                        <a:fillRect/>
                      </a:stretch>
                    </p:blipFill>
                    <p:spPr>
                      <a:xfrm>
                        <a:off x="1557973" y="1838325"/>
                        <a:ext cx="3996055" cy="1971675"/>
                      </a:xfrm>
                      <a:prstGeom prst="rect">
                        <a:avLst/>
                      </a:prstGeom>
                      <a:noFill/>
                      <a:ln w="38100">
                        <a:noFill/>
                        <a:miter/>
                      </a:ln>
                    </p:spPr>
                  </p:pic>
                </p:oleObj>
              </mc:Fallback>
            </mc:AlternateContent>
          </a:graphicData>
        </a:graphic>
      </p:graphicFrame>
    </p:spTree>
  </p:cSld>
  <p:clrMapOvr>
    <a:masterClrMapping/>
  </p:clrMapOvr>
  <p:transition>
    <p:zoom dir="in"/>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文本框 73731"/>
          <p:cNvSpPr txBox="1"/>
          <p:nvPr/>
        </p:nvSpPr>
        <p:spPr>
          <a:xfrm>
            <a:off x="2843213" y="5734050"/>
            <a:ext cx="340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6-13 </a:t>
            </a:r>
            <a:r>
              <a:rPr lang="zh-CN" altLang="en-US" dirty="0">
                <a:latin typeface="Times New Roman" panose="02020603050405020304" pitchFamily="18" charset="0"/>
                <a:ea typeface="宋体" panose="02010600030101010101" pitchFamily="2" charset="-122"/>
              </a:rPr>
              <a:t>零阶贝塞尔函数 </a:t>
            </a:r>
            <a:endParaRPr lang="zh-CN" altLang="en-US" dirty="0">
              <a:latin typeface="Times New Roman" panose="02020603050405020304" pitchFamily="18" charset="0"/>
              <a:ea typeface="宋体" panose="02010600030101010101" pitchFamily="2" charset="-122"/>
            </a:endParaRPr>
          </a:p>
        </p:txBody>
      </p:sp>
      <p:pic>
        <p:nvPicPr>
          <p:cNvPr id="74754" name="图片 73734" descr="6-13"/>
          <p:cNvPicPr>
            <a:picLocks noChangeAspect="1"/>
          </p:cNvPicPr>
          <p:nvPr/>
        </p:nvPicPr>
        <p:blipFill>
          <a:blip r:embed="rId1"/>
          <a:stretch>
            <a:fillRect/>
          </a:stretch>
        </p:blipFill>
        <p:spPr>
          <a:xfrm>
            <a:off x="2209800" y="908050"/>
            <a:ext cx="4724400" cy="4286250"/>
          </a:xfrm>
          <a:prstGeom prst="rect">
            <a:avLst/>
          </a:prstGeom>
          <a:noFill/>
          <a:ln w="9525">
            <a:noFill/>
          </a:ln>
        </p:spPr>
      </p:pic>
    </p:spTree>
  </p:cSld>
  <p:clrMapOvr>
    <a:masterClrMapping/>
  </p:clrMapOvr>
  <p:transition>
    <p:zoom dir="in"/>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文本框 76803"/>
          <p:cNvSpPr txBox="1"/>
          <p:nvPr/>
        </p:nvSpPr>
        <p:spPr>
          <a:xfrm>
            <a:off x="3352800" y="5486400"/>
            <a:ext cx="2724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6-14 </a:t>
            </a:r>
            <a:r>
              <a:rPr lang="zh-CN" altLang="en-US" dirty="0">
                <a:latin typeface="Times New Roman" panose="02020603050405020304" pitchFamily="18" charset="0"/>
                <a:ea typeface="宋体" panose="02010600030101010101" pitchFamily="2" charset="-122"/>
              </a:rPr>
              <a:t>凯塞窗函数 </a:t>
            </a:r>
            <a:endParaRPr lang="zh-CN" altLang="en-US" dirty="0">
              <a:latin typeface="Times New Roman" panose="02020603050405020304" pitchFamily="18" charset="0"/>
              <a:ea typeface="宋体" panose="02010600030101010101" pitchFamily="2" charset="-122"/>
            </a:endParaRPr>
          </a:p>
        </p:txBody>
      </p:sp>
      <p:pic>
        <p:nvPicPr>
          <p:cNvPr id="75778" name="图片 76806" descr="6-14"/>
          <p:cNvPicPr>
            <a:picLocks noChangeAspect="1"/>
          </p:cNvPicPr>
          <p:nvPr/>
        </p:nvPicPr>
        <p:blipFill>
          <a:blip r:embed="rId1"/>
          <a:stretch>
            <a:fillRect/>
          </a:stretch>
        </p:blipFill>
        <p:spPr>
          <a:xfrm>
            <a:off x="1714500" y="2085975"/>
            <a:ext cx="5715000" cy="2686050"/>
          </a:xfrm>
          <a:prstGeom prst="rect">
            <a:avLst/>
          </a:prstGeom>
          <a:noFill/>
          <a:ln w="9525">
            <a:noFill/>
          </a:ln>
        </p:spPr>
      </p:pic>
    </p:spTree>
  </p:cSld>
  <p:clrMapOvr>
    <a:masterClrMapping/>
  </p:clrMapOvr>
  <p:transition>
    <p:zoom dir="in"/>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文本框 75779"/>
          <p:cNvSpPr txBox="1"/>
          <p:nvPr/>
        </p:nvSpPr>
        <p:spPr>
          <a:xfrm>
            <a:off x="3124200" y="990600"/>
            <a:ext cx="2898775" cy="457200"/>
          </a:xfrm>
          <a:prstGeom prst="rect">
            <a:avLst/>
          </a:prstGeom>
          <a:solidFill>
            <a:schemeClr val="accent1"/>
          </a:solid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表</a:t>
            </a:r>
            <a:r>
              <a:rPr lang="en-US" altLang="zh-CN" b="1" dirty="0">
                <a:latin typeface="Times New Roman" panose="02020603050405020304" pitchFamily="18" charset="0"/>
                <a:ea typeface="宋体" panose="02010600030101010101" pitchFamily="2" charset="-122"/>
              </a:rPr>
              <a:t>6-2  </a:t>
            </a:r>
            <a:r>
              <a:rPr lang="zh-CN" altLang="en-US" b="1" dirty="0">
                <a:latin typeface="Times New Roman" panose="02020603050405020304" pitchFamily="18" charset="0"/>
                <a:ea typeface="宋体" panose="02010600030101010101" pitchFamily="2" charset="-122"/>
              </a:rPr>
              <a:t>凯塞窗的性能</a:t>
            </a:r>
            <a:endParaRPr lang="zh-CN" altLang="en-US" b="1" dirty="0">
              <a:latin typeface="Times New Roman" panose="02020603050405020304" pitchFamily="18" charset="0"/>
              <a:ea typeface="宋体" panose="02010600030101010101" pitchFamily="2" charset="-122"/>
            </a:endParaRPr>
          </a:p>
        </p:txBody>
      </p:sp>
      <p:pic>
        <p:nvPicPr>
          <p:cNvPr id="76802" name="图片 75780" descr="Img00015"/>
          <p:cNvPicPr>
            <a:picLocks noChangeAspect="1"/>
          </p:cNvPicPr>
          <p:nvPr/>
        </p:nvPicPr>
        <p:blipFill>
          <a:blip r:embed="rId1"/>
          <a:stretch>
            <a:fillRect/>
          </a:stretch>
        </p:blipFill>
        <p:spPr>
          <a:xfrm>
            <a:off x="0" y="1700213"/>
            <a:ext cx="9144000" cy="3921125"/>
          </a:xfrm>
          <a:prstGeom prst="rect">
            <a:avLst/>
          </a:prstGeom>
          <a:noFill/>
          <a:ln w="9525">
            <a:noFill/>
          </a:ln>
        </p:spPr>
      </p:pic>
      <p:sp>
        <p:nvSpPr>
          <p:cNvPr id="3" name="圆角矩形 2"/>
          <p:cNvSpPr/>
          <p:nvPr/>
        </p:nvSpPr>
        <p:spPr>
          <a:xfrm>
            <a:off x="336550" y="4270375"/>
            <a:ext cx="8208963" cy="433388"/>
          </a:xfrm>
          <a:prstGeom prst="roundRect">
            <a:avLst/>
          </a:prstGeom>
          <a:noFill/>
          <a:ln w="25400" cmpd="sng">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文本框 78851"/>
          <p:cNvSpPr txBox="1"/>
          <p:nvPr/>
        </p:nvSpPr>
        <p:spPr>
          <a:xfrm>
            <a:off x="228600" y="609600"/>
            <a:ext cx="8686800" cy="124460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虽然凯塞窗看上去没有初等函数的解析表达式。但是，在设计凯塞窗时，对零阶变形贝塞尔函数可采用无穷级数来表达 </a:t>
            </a:r>
            <a:endParaRPr lang="zh-CN" altLang="en-US" dirty="0">
              <a:latin typeface="Times New Roman" panose="02020603050405020304" pitchFamily="18" charset="0"/>
              <a:ea typeface="宋体" panose="02010600030101010101" pitchFamily="2" charset="-122"/>
            </a:endParaRPr>
          </a:p>
        </p:txBody>
      </p:sp>
      <p:graphicFrame>
        <p:nvGraphicFramePr>
          <p:cNvPr id="77826" name="对象 78852"/>
          <p:cNvGraphicFramePr/>
          <p:nvPr/>
        </p:nvGraphicFramePr>
        <p:xfrm>
          <a:off x="2590800" y="1981200"/>
          <a:ext cx="3505200" cy="1441450"/>
        </p:xfrm>
        <a:graphic>
          <a:graphicData uri="http://schemas.openxmlformats.org/presentationml/2006/ole">
            <mc:AlternateContent xmlns:mc="http://schemas.openxmlformats.org/markup-compatibility/2006">
              <mc:Choice xmlns:v="urn:schemas-microsoft-com:vml" Requires="v">
                <p:oleObj spid="_x0000_s3176" name="" r:id="rId1" imgW="1358900" imgH="558800" progId="Equation.3">
                  <p:embed/>
                </p:oleObj>
              </mc:Choice>
              <mc:Fallback>
                <p:oleObj name="" r:id="rId1" imgW="1358900" imgH="558800" progId="Equation.3">
                  <p:embed/>
                  <p:pic>
                    <p:nvPicPr>
                      <p:cNvPr id="0" name="图片 3175"/>
                      <p:cNvPicPr/>
                      <p:nvPr/>
                    </p:nvPicPr>
                    <p:blipFill>
                      <a:blip r:embed="rId2"/>
                      <a:stretch>
                        <a:fillRect/>
                      </a:stretch>
                    </p:blipFill>
                    <p:spPr>
                      <a:xfrm>
                        <a:off x="2590800" y="1981200"/>
                        <a:ext cx="3505200" cy="1441450"/>
                      </a:xfrm>
                      <a:prstGeom prst="rect">
                        <a:avLst/>
                      </a:prstGeom>
                      <a:noFill/>
                      <a:ln w="38100">
                        <a:noFill/>
                        <a:miter/>
                      </a:ln>
                    </p:spPr>
                  </p:pic>
                </p:oleObj>
              </mc:Fallback>
            </mc:AlternateContent>
          </a:graphicData>
        </a:graphic>
      </p:graphicFrame>
      <p:sp>
        <p:nvSpPr>
          <p:cNvPr id="77827" name="文本框 78853"/>
          <p:cNvSpPr txBox="1"/>
          <p:nvPr/>
        </p:nvSpPr>
        <p:spPr>
          <a:xfrm>
            <a:off x="7223125" y="2632075"/>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6-50</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77828" name="文本框 78854"/>
          <p:cNvSpPr txBox="1"/>
          <p:nvPr/>
        </p:nvSpPr>
        <p:spPr>
          <a:xfrm>
            <a:off x="228600" y="3810000"/>
            <a:ext cx="8686800" cy="1552575"/>
          </a:xfrm>
          <a:prstGeom prst="rect">
            <a:avLst/>
          </a:prstGeom>
          <a:noFill/>
          <a:ln w="9525">
            <a:noFill/>
          </a:ln>
        </p:spPr>
        <p:txBody>
          <a:bodyPr anchor="t">
            <a:spAutoFit/>
          </a:bodyPr>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这个无穷级数，可用有限项级数去近似，项数多少由要求的精度来确定。 因而采用计算机是很容易求解的。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文本框 77827"/>
          <p:cNvSpPr txBox="1"/>
          <p:nvPr/>
        </p:nvSpPr>
        <p:spPr>
          <a:xfrm>
            <a:off x="2286000" y="1143000"/>
            <a:ext cx="4740275" cy="457200"/>
          </a:xfrm>
          <a:prstGeom prst="rect">
            <a:avLst/>
          </a:prstGeom>
          <a:solidFill>
            <a:schemeClr val="accent1"/>
          </a:solid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表</a:t>
            </a:r>
            <a:r>
              <a:rPr lang="en-US" altLang="zh-CN" b="1" dirty="0">
                <a:latin typeface="Times New Roman" panose="02020603050405020304" pitchFamily="18" charset="0"/>
                <a:ea typeface="宋体" panose="02010600030101010101" pitchFamily="2" charset="-122"/>
              </a:rPr>
              <a:t>6-3  </a:t>
            </a:r>
            <a:r>
              <a:rPr lang="zh-CN" altLang="en-US" b="1" dirty="0">
                <a:latin typeface="Times New Roman" panose="02020603050405020304" pitchFamily="18" charset="0"/>
                <a:ea typeface="宋体" panose="02010600030101010101" pitchFamily="2" charset="-122"/>
              </a:rPr>
              <a:t>六种窗函数基本参数的比较</a:t>
            </a:r>
            <a:endParaRPr lang="zh-CN" altLang="en-US" b="1" dirty="0">
              <a:latin typeface="Times New Roman" panose="02020603050405020304" pitchFamily="18" charset="0"/>
              <a:ea typeface="宋体" panose="02010600030101010101" pitchFamily="2" charset="-122"/>
            </a:endParaRPr>
          </a:p>
        </p:txBody>
      </p:sp>
      <p:pic>
        <p:nvPicPr>
          <p:cNvPr id="78850" name="图片 77828" descr="Img00016"/>
          <p:cNvPicPr>
            <a:picLocks noChangeAspect="1"/>
          </p:cNvPicPr>
          <p:nvPr/>
        </p:nvPicPr>
        <p:blipFill>
          <a:blip r:embed="rId1"/>
          <a:stretch>
            <a:fillRect/>
          </a:stretch>
        </p:blipFill>
        <p:spPr>
          <a:xfrm>
            <a:off x="0" y="2190750"/>
            <a:ext cx="9144000" cy="3765550"/>
          </a:xfrm>
          <a:prstGeom prst="rect">
            <a:avLst/>
          </a:prstGeom>
          <a:noFill/>
          <a:ln w="9525">
            <a:noFill/>
          </a:ln>
        </p:spPr>
      </p:pic>
      <p:sp>
        <p:nvSpPr>
          <p:cNvPr id="2" name="五角星 1"/>
          <p:cNvSpPr/>
          <p:nvPr/>
        </p:nvSpPr>
        <p:spPr>
          <a:xfrm>
            <a:off x="1212850" y="866775"/>
            <a:ext cx="936625" cy="100965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3" name="矩形 2"/>
          <p:cNvSpPr/>
          <p:nvPr/>
        </p:nvSpPr>
        <p:spPr>
          <a:xfrm>
            <a:off x="4932363" y="3429000"/>
            <a:ext cx="1079500" cy="1152525"/>
          </a:xfrm>
          <a:prstGeom prst="rect">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987425" y="1138238"/>
            <a:ext cx="5178425" cy="5873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79874" name="文本框 80899"/>
          <p:cNvSpPr txBox="1"/>
          <p:nvPr/>
        </p:nvSpPr>
        <p:spPr>
          <a:xfrm>
            <a:off x="288925" y="304800"/>
            <a:ext cx="6226175" cy="2084388"/>
          </a:xfrm>
          <a:prstGeom prst="rect">
            <a:avLst/>
          </a:prstGeom>
          <a:noFill/>
          <a:ln w="9525">
            <a:noFill/>
          </a:ln>
        </p:spPr>
        <p:txBody>
          <a:bodyPr wrap="none" anchor="t">
            <a:spAutoFit/>
          </a:bodyPr>
          <a:p>
            <a:pPr>
              <a:lnSpc>
                <a:spcPct val="180000"/>
              </a:lnSpc>
            </a:pPr>
            <a:r>
              <a:rPr lang="zh-CN" altLang="en-US" dirty="0">
                <a:latin typeface="Times New Roman" panose="02020603050405020304" pitchFamily="18" charset="0"/>
                <a:ea typeface="宋体" panose="02010600030101010101" pitchFamily="2" charset="-122"/>
              </a:rPr>
              <a:t>下面将窗函数法的</a:t>
            </a:r>
            <a:r>
              <a:rPr lang="zh-CN" altLang="en-US" b="1" u="sng" dirty="0">
                <a:solidFill>
                  <a:srgbClr val="FF0000"/>
                </a:solidFill>
                <a:latin typeface="Times New Roman" panose="02020603050405020304" pitchFamily="18" charset="0"/>
                <a:ea typeface="宋体" panose="02010600030101010101" pitchFamily="2" charset="-122"/>
              </a:rPr>
              <a:t>设计步骤</a:t>
            </a:r>
            <a:r>
              <a:rPr lang="zh-CN" altLang="en-US" dirty="0">
                <a:latin typeface="Times New Roman" panose="02020603050405020304" pitchFamily="18" charset="0"/>
                <a:ea typeface="宋体" panose="02010600030101010101" pitchFamily="2" charset="-122"/>
              </a:rPr>
              <a:t>归纳如下：</a:t>
            </a:r>
            <a:endParaRPr lang="zh-CN" altLang="en-US" dirty="0">
              <a:latin typeface="Times New Roman" panose="02020603050405020304" pitchFamily="18" charset="0"/>
              <a:ea typeface="宋体" panose="02010600030101010101" pitchFamily="2" charset="-122"/>
            </a:endParaRPr>
          </a:p>
          <a:p>
            <a:pPr>
              <a:lnSpc>
                <a:spcPct val="18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给定希望逼近的频率响应函数</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8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根据式（</a:t>
            </a:r>
            <a:r>
              <a:rPr lang="en-US" altLang="zh-CN" dirty="0">
                <a:latin typeface="Times New Roman" panose="02020603050405020304" pitchFamily="18" charset="0"/>
                <a:ea typeface="宋体" panose="02010600030101010101" pitchFamily="2" charset="-122"/>
              </a:rPr>
              <a:t>6-24</a:t>
            </a:r>
            <a:r>
              <a:rPr lang="zh-CN" altLang="en-US" dirty="0">
                <a:latin typeface="Times New Roman" panose="02020603050405020304" pitchFamily="18" charset="0"/>
                <a:ea typeface="宋体" panose="02010600030101010101" pitchFamily="2" charset="-122"/>
              </a:rPr>
              <a:t>）求单位脉冲响应</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79875" name="对象 80900"/>
          <p:cNvGraphicFramePr/>
          <p:nvPr/>
        </p:nvGraphicFramePr>
        <p:xfrm>
          <a:off x="1451928" y="2605088"/>
          <a:ext cx="6163945" cy="892175"/>
        </p:xfrm>
        <a:graphic>
          <a:graphicData uri="http://schemas.openxmlformats.org/presentationml/2006/ole">
            <mc:AlternateContent xmlns:mc="http://schemas.openxmlformats.org/markup-compatibility/2006">
              <mc:Choice xmlns:v="urn:schemas-microsoft-com:vml" Requires="v">
                <p:oleObj spid="_x0000_s3177" name="" r:id="rId1" imgW="2628900" imgH="381000" progId="Equation.3">
                  <p:embed/>
                </p:oleObj>
              </mc:Choice>
              <mc:Fallback>
                <p:oleObj name="" r:id="rId1" imgW="2628900" imgH="381000" progId="Equation.3">
                  <p:embed/>
                  <p:pic>
                    <p:nvPicPr>
                      <p:cNvPr id="0" name="图片 3176"/>
                      <p:cNvPicPr/>
                      <p:nvPr/>
                    </p:nvPicPr>
                    <p:blipFill>
                      <a:blip r:embed="rId2"/>
                      <a:stretch>
                        <a:fillRect/>
                      </a:stretch>
                    </p:blipFill>
                    <p:spPr>
                      <a:xfrm>
                        <a:off x="1451928" y="2605088"/>
                        <a:ext cx="6163945" cy="892175"/>
                      </a:xfrm>
                      <a:prstGeom prst="rect">
                        <a:avLst/>
                      </a:prstGeom>
                      <a:solidFill>
                        <a:schemeClr val="accent1"/>
                      </a:solidFill>
                      <a:ln w="38100">
                        <a:noFill/>
                        <a:miter/>
                      </a:ln>
                    </p:spPr>
                  </p:pic>
                </p:oleObj>
              </mc:Fallback>
            </mc:AlternateContent>
          </a:graphicData>
        </a:graphic>
      </p:graphicFrame>
      <p:sp>
        <p:nvSpPr>
          <p:cNvPr id="79876" name="文本框 80901"/>
          <p:cNvSpPr txBox="1"/>
          <p:nvPr/>
        </p:nvSpPr>
        <p:spPr>
          <a:xfrm>
            <a:off x="228600" y="3581400"/>
            <a:ext cx="8763000" cy="239712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很复杂或不能直接计算积分，则必须用求和代替积分，以便在计算机上计算，也就是要计算离散傅里叶反变换， 一般都采用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来计算。将积分限分成</a:t>
            </a:r>
            <a:r>
              <a:rPr lang="en-US" altLang="zh-CN" i="1"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段，也就是令采样频率为</a:t>
            </a:r>
            <a:r>
              <a:rPr lang="en-US" altLang="zh-CN" i="1" dirty="0">
                <a:latin typeface="Times New Roman" panose="02020603050405020304" pitchFamily="18" charset="0"/>
                <a:ea typeface="宋体" panose="02010600030101010101" pitchFamily="2" charset="-122"/>
              </a:rPr>
              <a:t>ω</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 2, …, </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，则有 </a:t>
            </a:r>
            <a:endParaRPr lang="zh-CN" altLang="en-US" dirty="0">
              <a:latin typeface="Times New Roman" panose="02020603050405020304" pitchFamily="18" charset="0"/>
              <a:ea typeface="宋体" panose="02010600030101010101" pitchFamily="2" charset="-122"/>
            </a:endParaRPr>
          </a:p>
        </p:txBody>
      </p:sp>
      <p:sp>
        <p:nvSpPr>
          <p:cNvPr id="3" name="五角星 2"/>
          <p:cNvSpPr/>
          <p:nvPr/>
        </p:nvSpPr>
        <p:spPr>
          <a:xfrm>
            <a:off x="6705600" y="715963"/>
            <a:ext cx="936625" cy="100965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transition>
    <p:zoom dir="in"/>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0897" name="对象 79875"/>
          <p:cNvGraphicFramePr/>
          <p:nvPr/>
        </p:nvGraphicFramePr>
        <p:xfrm>
          <a:off x="1986439" y="685959"/>
          <a:ext cx="4607560" cy="1176020"/>
        </p:xfrm>
        <a:graphic>
          <a:graphicData uri="http://schemas.openxmlformats.org/presentationml/2006/ole">
            <mc:AlternateContent xmlns:mc="http://schemas.openxmlformats.org/markup-compatibility/2006">
              <mc:Choice xmlns:v="urn:schemas-microsoft-com:vml" Requires="v">
                <p:oleObj spid="_x0000_s3178" name="" r:id="rId1" imgW="1739900" imgH="444500" progId="Equation.3">
                  <p:embed/>
                </p:oleObj>
              </mc:Choice>
              <mc:Fallback>
                <p:oleObj name="" r:id="rId1" imgW="1739900" imgH="444500" progId="Equation.3">
                  <p:embed/>
                  <p:pic>
                    <p:nvPicPr>
                      <p:cNvPr id="0" name="图片 3177"/>
                      <p:cNvPicPr/>
                      <p:nvPr/>
                    </p:nvPicPr>
                    <p:blipFill>
                      <a:blip r:embed="rId2"/>
                      <a:stretch>
                        <a:fillRect/>
                      </a:stretch>
                    </p:blipFill>
                    <p:spPr>
                      <a:xfrm>
                        <a:off x="1986439" y="685959"/>
                        <a:ext cx="4607560" cy="1176020"/>
                      </a:xfrm>
                      <a:prstGeom prst="rect">
                        <a:avLst/>
                      </a:prstGeom>
                      <a:noFill/>
                      <a:ln w="38100">
                        <a:noFill/>
                        <a:miter/>
                      </a:ln>
                    </p:spPr>
                  </p:pic>
                </p:oleObj>
              </mc:Fallback>
            </mc:AlternateContent>
          </a:graphicData>
        </a:graphic>
      </p:graphicFrame>
      <p:sp>
        <p:nvSpPr>
          <p:cNvPr id="80898" name="文本框 79876"/>
          <p:cNvSpPr txBox="1"/>
          <p:nvPr/>
        </p:nvSpPr>
        <p:spPr>
          <a:xfrm>
            <a:off x="7721600" y="11430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6-51</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80899" name="文本框 79877"/>
          <p:cNvSpPr txBox="1"/>
          <p:nvPr/>
        </p:nvSpPr>
        <p:spPr>
          <a:xfrm>
            <a:off x="228600" y="1905000"/>
            <a:ext cx="82042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频域的采样，造成时域序列的周期延拓，延拓周期是</a:t>
            </a:r>
            <a:r>
              <a:rPr lang="en-US" altLang="zh-CN" i="1"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 即 </a:t>
            </a:r>
            <a:endParaRPr lang="zh-CN" altLang="en-US" dirty="0">
              <a:latin typeface="Times New Roman" panose="02020603050405020304" pitchFamily="18" charset="0"/>
              <a:ea typeface="宋体" panose="02010600030101010101" pitchFamily="2" charset="-122"/>
            </a:endParaRPr>
          </a:p>
        </p:txBody>
      </p:sp>
      <p:graphicFrame>
        <p:nvGraphicFramePr>
          <p:cNvPr id="80900" name="对象 79878"/>
          <p:cNvGraphicFramePr/>
          <p:nvPr/>
        </p:nvGraphicFramePr>
        <p:xfrm>
          <a:off x="2895600" y="2590800"/>
          <a:ext cx="3276600" cy="968375"/>
        </p:xfrm>
        <a:graphic>
          <a:graphicData uri="http://schemas.openxmlformats.org/presentationml/2006/ole">
            <mc:AlternateContent xmlns:mc="http://schemas.openxmlformats.org/markup-compatibility/2006">
              <mc:Choice xmlns:v="urn:schemas-microsoft-com:vml" Requires="v">
                <p:oleObj spid="_x0000_s3181" name="" r:id="rId3" imgW="1459865" imgH="431800" progId="Equation.3">
                  <p:embed/>
                </p:oleObj>
              </mc:Choice>
              <mc:Fallback>
                <p:oleObj name="" r:id="rId3" imgW="1459865" imgH="431800" progId="Equation.3">
                  <p:embed/>
                  <p:pic>
                    <p:nvPicPr>
                      <p:cNvPr id="0" name="图片 3180"/>
                      <p:cNvPicPr/>
                      <p:nvPr/>
                    </p:nvPicPr>
                    <p:blipFill>
                      <a:blip r:embed="rId4"/>
                      <a:stretch>
                        <a:fillRect/>
                      </a:stretch>
                    </p:blipFill>
                    <p:spPr>
                      <a:xfrm>
                        <a:off x="2895600" y="2590800"/>
                        <a:ext cx="3276600" cy="968375"/>
                      </a:xfrm>
                      <a:prstGeom prst="rect">
                        <a:avLst/>
                      </a:prstGeom>
                      <a:noFill/>
                      <a:ln w="38100">
                        <a:noFill/>
                        <a:miter/>
                      </a:ln>
                    </p:spPr>
                  </p:pic>
                </p:oleObj>
              </mc:Fallback>
            </mc:AlternateContent>
          </a:graphicData>
        </a:graphic>
      </p:graphicFrame>
      <p:sp>
        <p:nvSpPr>
          <p:cNvPr id="80901" name="文本框 79879"/>
          <p:cNvSpPr txBox="1"/>
          <p:nvPr/>
        </p:nvSpPr>
        <p:spPr>
          <a:xfrm>
            <a:off x="7772400" y="28956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6-52</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pSp>
        <p:nvGrpSpPr>
          <p:cNvPr id="80902" name="组合 79882"/>
          <p:cNvGrpSpPr/>
          <p:nvPr/>
        </p:nvGrpSpPr>
        <p:grpSpPr>
          <a:xfrm>
            <a:off x="228600" y="3660775"/>
            <a:ext cx="8915400" cy="2492375"/>
            <a:chOff x="144" y="2258"/>
            <a:chExt cx="5616" cy="1570"/>
          </a:xfrm>
        </p:grpSpPr>
        <p:sp>
          <p:nvSpPr>
            <p:cNvPr id="80903" name="文本框 79880"/>
            <p:cNvSpPr txBox="1"/>
            <p:nvPr/>
          </p:nvSpPr>
          <p:spPr>
            <a:xfrm>
              <a:off x="144" y="2258"/>
              <a:ext cx="5616" cy="157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由于</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有可能是无限长的序列，因此严格说，必须当</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时，</a:t>
              </a:r>
              <a:r>
                <a:rPr lang="en-US" altLang="zh-CN" i="1" dirty="0">
                  <a:latin typeface="Times New Roman" panose="02020603050405020304" pitchFamily="18" charset="0"/>
                  <a:ea typeface="宋体" panose="02010600030101010101" pitchFamily="2" charset="-122"/>
                </a:rPr>
                <a:t>h</a:t>
              </a:r>
              <a:r>
                <a:rPr lang="zh-CN" altLang="en-US" i="1" baseline="-25000" dirty="0">
                  <a:latin typeface="Times New Roman" panose="02020603050405020304" pitchFamily="18" charset="0"/>
                  <a:ea typeface="宋体" panose="02010600030101010101" pitchFamily="2" charset="-122"/>
                </a:rPr>
                <a:t>Ｍ</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才能等于</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而不产生混叠现象，即                               。            </a:t>
              </a:r>
              <a:endParaRPr lang="en-US" altLang="zh-CN"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实际上，由于</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随</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的增加衰减很快，一般只要</a:t>
              </a:r>
              <a:r>
                <a:rPr lang="en-US" altLang="zh-CN" i="1"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足够大，即</a:t>
              </a:r>
              <a:r>
                <a:rPr lang="en-US" altLang="zh-CN" i="1" dirty="0">
                  <a:latin typeface="Times New Roman" panose="02020603050405020304" pitchFamily="18" charset="0"/>
                  <a:ea typeface="宋体" panose="02010600030101010101" pitchFamily="2" charset="-122"/>
                </a:rPr>
                <a:t>M&gt;&gt;N</a:t>
              </a:r>
              <a:r>
                <a:rPr lang="zh-CN" altLang="en-US" dirty="0">
                  <a:latin typeface="Times New Roman" panose="02020603050405020304" pitchFamily="18" charset="0"/>
                  <a:ea typeface="宋体" panose="02010600030101010101" pitchFamily="2" charset="-122"/>
                </a:rPr>
                <a:t>，近似就足够了。 </a:t>
              </a:r>
              <a:endParaRPr lang="zh-CN" altLang="en-US" dirty="0">
                <a:latin typeface="Times New Roman" panose="02020603050405020304" pitchFamily="18" charset="0"/>
                <a:ea typeface="宋体" panose="02010600030101010101" pitchFamily="2" charset="-122"/>
              </a:endParaRPr>
            </a:p>
          </p:txBody>
        </p:sp>
        <p:graphicFrame>
          <p:nvGraphicFramePr>
            <p:cNvPr id="80904" name="对象 79881"/>
            <p:cNvGraphicFramePr/>
            <p:nvPr/>
          </p:nvGraphicFramePr>
          <p:xfrm>
            <a:off x="4116" y="2656"/>
            <a:ext cx="1440" cy="344"/>
          </p:xfrm>
          <a:graphic>
            <a:graphicData uri="http://schemas.openxmlformats.org/presentationml/2006/ole">
              <mc:AlternateContent xmlns:mc="http://schemas.openxmlformats.org/markup-compatibility/2006">
                <mc:Choice xmlns:v="urn:schemas-microsoft-com:vml" Requires="v">
                  <p:oleObj spid="_x0000_s3180" name="" r:id="rId5" imgW="1168400" imgH="279400" progId="Equation.3">
                    <p:embed/>
                  </p:oleObj>
                </mc:Choice>
                <mc:Fallback>
                  <p:oleObj name="" r:id="rId5" imgW="1168400" imgH="279400" progId="Equation.3">
                    <p:embed/>
                    <p:pic>
                      <p:nvPicPr>
                        <p:cNvPr id="0" name="图片 3179"/>
                        <p:cNvPicPr/>
                        <p:nvPr/>
                      </p:nvPicPr>
                      <p:blipFill>
                        <a:blip r:embed="rId6"/>
                        <a:stretch>
                          <a:fillRect/>
                        </a:stretch>
                      </p:blipFill>
                      <p:spPr>
                        <a:xfrm>
                          <a:off x="4116" y="2656"/>
                          <a:ext cx="1440" cy="344"/>
                        </a:xfrm>
                        <a:prstGeom prst="rect">
                          <a:avLst/>
                        </a:prstGeom>
                        <a:noFill/>
                        <a:ln w="38100">
                          <a:noFill/>
                          <a:miter/>
                        </a:ln>
                      </p:spPr>
                    </p:pic>
                  </p:oleObj>
                </mc:Fallback>
              </mc:AlternateContent>
            </a:graphicData>
          </a:graphic>
        </p:graphicFrame>
      </p:grpSp>
    </p:spTree>
  </p:cSld>
  <p:clrMapOvr>
    <a:masterClrMapping/>
  </p:clrMapOvr>
  <p:transition>
    <p:zoom dir="in"/>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流程图: 过程 2"/>
          <p:cNvSpPr/>
          <p:nvPr/>
        </p:nvSpPr>
        <p:spPr>
          <a:xfrm>
            <a:off x="2411413" y="4725988"/>
            <a:ext cx="5545138" cy="50323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 name="矩形 1"/>
          <p:cNvSpPr/>
          <p:nvPr/>
        </p:nvSpPr>
        <p:spPr>
          <a:xfrm>
            <a:off x="1547813" y="765175"/>
            <a:ext cx="6697663"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81923" name="文本框 82947"/>
          <p:cNvSpPr txBox="1"/>
          <p:nvPr/>
        </p:nvSpPr>
        <p:spPr>
          <a:xfrm>
            <a:off x="152400" y="609600"/>
            <a:ext cx="8839200" cy="5446713"/>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 由过渡带宽及阻带最小衰减的要求，可选定窗形状， 并估计窗口长度</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。设待求滤波器的过渡带用</a:t>
            </a:r>
            <a:r>
              <a:rPr lang="en-US" altLang="zh-CN" dirty="0">
                <a:latin typeface="Times New Roman" panose="02020603050405020304" pitchFamily="18" charset="0"/>
                <a:ea typeface="宋体" panose="02010600030101010101" pitchFamily="2" charset="-122"/>
              </a:rPr>
              <a:t>Δ</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表示，它近似等于窗函数主瓣宽度。因过渡带</a:t>
            </a:r>
            <a:r>
              <a:rPr lang="en-US" altLang="zh-CN" dirty="0">
                <a:latin typeface="Times New Roman" panose="02020603050405020304" pitchFamily="18" charset="0"/>
                <a:ea typeface="宋体" panose="02010600030101010101" pitchFamily="2" charset="-122"/>
              </a:rPr>
              <a:t>Δ</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近似与窗口长度成反比，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/Δ</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决定于窗口形式。例如，矩形窗</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=4π</a:t>
            </a:r>
            <a:r>
              <a:rPr lang="zh-CN" altLang="en-US" dirty="0">
                <a:latin typeface="Times New Roman" panose="02020603050405020304" pitchFamily="18" charset="0"/>
                <a:ea typeface="宋体" panose="02010600030101010101" pitchFamily="2" charset="-122"/>
              </a:rPr>
              <a:t>，海明窗</a:t>
            </a:r>
            <a:r>
              <a:rPr lang="en-US" altLang="zh-CN" dirty="0">
                <a:latin typeface="Times New Roman" panose="02020603050405020304" pitchFamily="18" charset="0"/>
                <a:ea typeface="宋体" panose="02010600030101010101" pitchFamily="2" charset="-122"/>
              </a:rPr>
              <a:t>A=8π</a:t>
            </a:r>
            <a:r>
              <a:rPr lang="zh-CN" altLang="en-US" dirty="0">
                <a:latin typeface="Times New Roman" panose="02020603050405020304" pitchFamily="18" charset="0"/>
                <a:ea typeface="宋体" panose="02010600030101010101" pitchFamily="2" charset="-122"/>
              </a:rPr>
              <a:t>等，</a:t>
            </a:r>
            <a:r>
              <a:rPr lang="en-US" altLang="zh-CN" i="1"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参数选择参考表</a:t>
            </a:r>
            <a:r>
              <a:rPr lang="en-US" altLang="zh-CN" dirty="0">
                <a:latin typeface="Times New Roman" panose="02020603050405020304" pitchFamily="18" charset="0"/>
                <a:ea typeface="宋体" panose="02010600030101010101" pitchFamily="2" charset="-122"/>
              </a:rPr>
              <a:t>6-3</a:t>
            </a:r>
            <a:r>
              <a:rPr lang="zh-CN" altLang="en-US" dirty="0">
                <a:latin typeface="Times New Roman" panose="02020603050405020304" pitchFamily="18" charset="0"/>
                <a:ea typeface="宋体" panose="02010600030101010101" pitchFamily="2" charset="-122"/>
              </a:rPr>
              <a:t>。按照过渡带及阻带衰减情况，选择窗函数形式。原则是在保证阻带衰减满足要求的情况下， 尽量选择</a:t>
            </a:r>
            <a:r>
              <a:rPr lang="zh-CN" altLang="en-US" b="1" u="sng" dirty="0">
                <a:solidFill>
                  <a:srgbClr val="FF0000"/>
                </a:solidFill>
                <a:latin typeface="Times New Roman" panose="02020603050405020304" pitchFamily="18" charset="0"/>
                <a:ea typeface="宋体" panose="02010600030101010101" pitchFamily="2" charset="-122"/>
              </a:rPr>
              <a:t>主瓣窄</a:t>
            </a:r>
            <a:r>
              <a:rPr lang="zh-CN" altLang="en-US" dirty="0">
                <a:latin typeface="Times New Roman" panose="02020603050405020304" pitchFamily="18" charset="0"/>
                <a:ea typeface="宋体" panose="02010600030101010101" pitchFamily="2" charset="-122"/>
              </a:rPr>
              <a:t>的窗函数。</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 最后，计算所设计的</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滤波器的单位脉冲响应。 </a:t>
            </a:r>
            <a:endParaRPr lang="zh-CN" altLang="en-US" dirty="0">
              <a:latin typeface="Times New Roman" panose="02020603050405020304" pitchFamily="18" charset="0"/>
              <a:ea typeface="宋体" panose="02010600030101010101" pitchFamily="2" charset="-122"/>
            </a:endParaRPr>
          </a:p>
          <a:p>
            <a:pPr algn="ctr">
              <a:lnSpc>
                <a:spcPct val="150000"/>
              </a:lnSpc>
              <a:spcBef>
                <a:spcPct val="50000"/>
              </a:spcBef>
            </a:pP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baseline="-25000" dirty="0">
                <a:solidFill>
                  <a:srgbClr val="FF0000"/>
                </a:solidFill>
                <a:latin typeface="Times New Roman" panose="02020603050405020304" pitchFamily="18" charset="0"/>
                <a:ea typeface="宋体" panose="02010600030101010101" pitchFamily="2" charset="-122"/>
              </a:rPr>
              <a:t>d</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w</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文本框 81923"/>
          <p:cNvSpPr txBox="1"/>
          <p:nvPr/>
        </p:nvSpPr>
        <p:spPr>
          <a:xfrm>
            <a:off x="762000" y="762000"/>
            <a:ext cx="5589588" cy="457200"/>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）由</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求</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滤波器的系统函数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82946" name="对象 81924"/>
          <p:cNvGraphicFramePr/>
          <p:nvPr/>
        </p:nvGraphicFramePr>
        <p:xfrm>
          <a:off x="3132138" y="1484313"/>
          <a:ext cx="2743200" cy="1014412"/>
        </p:xfrm>
        <a:graphic>
          <a:graphicData uri="http://schemas.openxmlformats.org/presentationml/2006/ole">
            <mc:AlternateContent xmlns:mc="http://schemas.openxmlformats.org/markup-compatibility/2006">
              <mc:Choice xmlns:v="urn:schemas-microsoft-com:vml" Requires="v">
                <p:oleObj spid="_x0000_s3179" name="" r:id="rId1" imgW="1167765" imgH="431800" progId="Equation.3">
                  <p:embed/>
                </p:oleObj>
              </mc:Choice>
              <mc:Fallback>
                <p:oleObj name="" r:id="rId1" imgW="1167765" imgH="431800" progId="Equation.3">
                  <p:embed/>
                  <p:pic>
                    <p:nvPicPr>
                      <p:cNvPr id="0" name="图片 3178"/>
                      <p:cNvPicPr/>
                      <p:nvPr/>
                    </p:nvPicPr>
                    <p:blipFill>
                      <a:blip r:embed="rId2"/>
                      <a:stretch>
                        <a:fillRect/>
                      </a:stretch>
                    </p:blipFill>
                    <p:spPr>
                      <a:xfrm>
                        <a:off x="3132138" y="1484313"/>
                        <a:ext cx="2743200" cy="1014412"/>
                      </a:xfrm>
                      <a:prstGeom prst="rect">
                        <a:avLst/>
                      </a:prstGeom>
                      <a:noFill/>
                      <a:ln w="38100">
                        <a:noFill/>
                        <a:miter/>
                      </a:ln>
                    </p:spPr>
                  </p:pic>
                </p:oleObj>
              </mc:Fallback>
            </mc:AlternateContent>
          </a:graphicData>
        </a:graphic>
      </p:graphicFrame>
      <p:sp>
        <p:nvSpPr>
          <p:cNvPr id="82947" name="文本框 81925"/>
          <p:cNvSpPr txBox="1"/>
          <p:nvPr/>
        </p:nvSpPr>
        <p:spPr>
          <a:xfrm>
            <a:off x="304800" y="2622550"/>
            <a:ext cx="8610600" cy="118745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通常整个设计过程可利用计算机编程来实现，可多选择几种窗函数来试探，从而设计出性能良好的</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文本框 84995"/>
          <p:cNvSpPr txBox="1"/>
          <p:nvPr/>
        </p:nvSpPr>
        <p:spPr>
          <a:xfrm>
            <a:off x="685800" y="762000"/>
            <a:ext cx="6359525" cy="457200"/>
          </a:xfrm>
          <a:prstGeom prst="rect">
            <a:avLst/>
          </a:prstGeom>
          <a:solidFill>
            <a:schemeClr val="accent1"/>
          </a:solid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6-6</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用矩形窗设计一个线性相位带通滤波器 </a:t>
            </a:r>
            <a:endParaRPr lang="zh-CN" altLang="en-US" dirty="0">
              <a:latin typeface="Times New Roman" panose="02020603050405020304" pitchFamily="18" charset="0"/>
              <a:ea typeface="宋体" panose="02010600030101010101" pitchFamily="2" charset="-122"/>
            </a:endParaRPr>
          </a:p>
        </p:txBody>
      </p:sp>
      <p:graphicFrame>
        <p:nvGraphicFramePr>
          <p:cNvPr id="83970" name="对象 84996"/>
          <p:cNvGraphicFramePr/>
          <p:nvPr/>
        </p:nvGraphicFramePr>
        <p:xfrm>
          <a:off x="1283335" y="1516698"/>
          <a:ext cx="2614930" cy="1129030"/>
        </p:xfrm>
        <a:graphic>
          <a:graphicData uri="http://schemas.openxmlformats.org/presentationml/2006/ole">
            <mc:AlternateContent xmlns:mc="http://schemas.openxmlformats.org/markup-compatibility/2006">
              <mc:Choice xmlns:v="urn:schemas-microsoft-com:vml" Requires="v">
                <p:oleObj spid="_x0000_s3188" name="" r:id="rId1" imgW="1028700" imgH="444500" progId="Equation.3">
                  <p:embed/>
                </p:oleObj>
              </mc:Choice>
              <mc:Fallback>
                <p:oleObj name="" r:id="rId1" imgW="1028700" imgH="444500" progId="Equation.3">
                  <p:embed/>
                  <p:pic>
                    <p:nvPicPr>
                      <p:cNvPr id="0" name="图片 3187"/>
                      <p:cNvPicPr/>
                      <p:nvPr/>
                    </p:nvPicPr>
                    <p:blipFill>
                      <a:blip r:embed="rId2"/>
                      <a:stretch>
                        <a:fillRect/>
                      </a:stretch>
                    </p:blipFill>
                    <p:spPr>
                      <a:xfrm>
                        <a:off x="1283335" y="1516698"/>
                        <a:ext cx="2614930" cy="1129030"/>
                      </a:xfrm>
                      <a:prstGeom prst="rect">
                        <a:avLst/>
                      </a:prstGeom>
                      <a:noFill/>
                      <a:ln w="38100">
                        <a:noFill/>
                        <a:miter/>
                      </a:ln>
                    </p:spPr>
                  </p:pic>
                </p:oleObj>
              </mc:Fallback>
            </mc:AlternateContent>
          </a:graphicData>
        </a:graphic>
      </p:graphicFrame>
      <p:sp>
        <p:nvSpPr>
          <p:cNvPr id="83971" name="文本框 84997"/>
          <p:cNvSpPr txBox="1"/>
          <p:nvPr/>
        </p:nvSpPr>
        <p:spPr>
          <a:xfrm>
            <a:off x="5068888" y="1574800"/>
            <a:ext cx="2574925"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ω-ω</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83972" name="文本框 84998"/>
          <p:cNvSpPr txBox="1"/>
          <p:nvPr/>
        </p:nvSpPr>
        <p:spPr>
          <a:xfrm>
            <a:off x="4419600" y="2209800"/>
            <a:ext cx="446087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０</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 </a:t>
            </a:r>
            <a:endParaRPr lang="en-US" altLang="zh-CN" dirty="0">
              <a:latin typeface="Times New Roman" panose="02020603050405020304" pitchFamily="18" charset="0"/>
              <a:ea typeface="宋体" panose="02010600030101010101" pitchFamily="2" charset="-122"/>
            </a:endParaRPr>
          </a:p>
        </p:txBody>
      </p:sp>
      <p:sp>
        <p:nvSpPr>
          <p:cNvPr id="83973" name="文本框 84999"/>
          <p:cNvSpPr txBox="1"/>
          <p:nvPr/>
        </p:nvSpPr>
        <p:spPr>
          <a:xfrm>
            <a:off x="533400" y="2822575"/>
            <a:ext cx="8005763" cy="2306638"/>
          </a:xfrm>
          <a:prstGeom prst="rect">
            <a:avLst/>
          </a:prstGeom>
          <a:noFill/>
          <a:ln w="9525">
            <a:noFill/>
          </a:ln>
        </p:spPr>
        <p:txBody>
          <a:bodyPr wrap="none" anchor="t">
            <a:spAutoFit/>
          </a:bodyPr>
          <a:p>
            <a:pPr>
              <a:lnSpc>
                <a:spcPct val="20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设计</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为奇数时的</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nSpc>
                <a:spcPct val="20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设计</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为偶数时的</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nSpc>
                <a:spcPct val="20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 若改用海明窗设计，求以上两种形式的</a:t>
            </a:r>
            <a:r>
              <a:rPr lang="en-US" altLang="zh-CN" dirty="0">
                <a:latin typeface="Times New Roman" panose="02020603050405020304" pitchFamily="18" charset="0"/>
                <a:ea typeface="宋体" panose="02010600030101010101" pitchFamily="2" charset="-122"/>
              </a:rPr>
              <a:t>h(n)</a:t>
            </a:r>
            <a:r>
              <a:rPr lang="zh-CN" altLang="en-US" dirty="0">
                <a:latin typeface="Times New Roman" panose="02020603050405020304" pitchFamily="18" charset="0"/>
                <a:ea typeface="宋体" panose="02010600030101010101" pitchFamily="2" charset="-122"/>
              </a:rPr>
              <a:t>表达式。 </a:t>
            </a:r>
            <a:endParaRPr lang="zh-CN" altLang="en-US" dirty="0">
              <a:latin typeface="Times New Roman" panose="02020603050405020304" pitchFamily="18" charset="0"/>
              <a:ea typeface="宋体" panose="02010600030101010101" pitchFamily="2" charset="-122"/>
            </a:endParaRPr>
          </a:p>
        </p:txBody>
      </p:sp>
      <p:sp>
        <p:nvSpPr>
          <p:cNvPr id="7" name="文本框 84997"/>
          <p:cNvSpPr txBox="1"/>
          <p:nvPr/>
        </p:nvSpPr>
        <p:spPr>
          <a:xfrm>
            <a:off x="4602163" y="1597025"/>
            <a:ext cx="2403475" cy="461963"/>
          </a:xfrm>
          <a:prstGeom prst="rect">
            <a:avLst/>
          </a:prstGeom>
          <a:solidFill>
            <a:schemeClr val="accent1"/>
          </a:solid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0 </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文本框 83971"/>
          <p:cNvSpPr txBox="1"/>
          <p:nvPr/>
        </p:nvSpPr>
        <p:spPr>
          <a:xfrm>
            <a:off x="107950" y="812800"/>
            <a:ext cx="529272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根据该线性相位带通滤波器的相位 </a:t>
            </a:r>
            <a:endParaRPr lang="zh-CN" altLang="en-US" dirty="0">
              <a:latin typeface="Times New Roman" panose="02020603050405020304" pitchFamily="18" charset="0"/>
              <a:ea typeface="宋体" panose="02010600030101010101" pitchFamily="2" charset="-122"/>
            </a:endParaRPr>
          </a:p>
        </p:txBody>
      </p:sp>
      <p:graphicFrame>
        <p:nvGraphicFramePr>
          <p:cNvPr id="84994" name="对象 83972"/>
          <p:cNvGraphicFramePr/>
          <p:nvPr/>
        </p:nvGraphicFramePr>
        <p:xfrm>
          <a:off x="2971800" y="1524000"/>
          <a:ext cx="3200400" cy="827088"/>
        </p:xfrm>
        <a:graphic>
          <a:graphicData uri="http://schemas.openxmlformats.org/presentationml/2006/ole">
            <mc:AlternateContent xmlns:mc="http://schemas.openxmlformats.org/markup-compatibility/2006">
              <mc:Choice xmlns:v="urn:schemas-microsoft-com:vml" Requires="v">
                <p:oleObj spid="_x0000_s3186" name="" r:id="rId1" imgW="1523365" imgH="393700" progId="Equation.3">
                  <p:embed/>
                </p:oleObj>
              </mc:Choice>
              <mc:Fallback>
                <p:oleObj name="" r:id="rId1" imgW="1523365" imgH="393700" progId="Equation.3">
                  <p:embed/>
                  <p:pic>
                    <p:nvPicPr>
                      <p:cNvPr id="0" name="图片 3185"/>
                      <p:cNvPicPr/>
                      <p:nvPr/>
                    </p:nvPicPr>
                    <p:blipFill>
                      <a:blip r:embed="rId2"/>
                      <a:stretch>
                        <a:fillRect/>
                      </a:stretch>
                    </p:blipFill>
                    <p:spPr>
                      <a:xfrm>
                        <a:off x="2971800" y="1524000"/>
                        <a:ext cx="3200400" cy="827088"/>
                      </a:xfrm>
                      <a:prstGeom prst="rect">
                        <a:avLst/>
                      </a:prstGeom>
                      <a:solidFill>
                        <a:schemeClr val="accent1"/>
                      </a:solidFill>
                      <a:ln w="38100">
                        <a:noFill/>
                        <a:miter/>
                      </a:ln>
                    </p:spPr>
                  </p:pic>
                </p:oleObj>
              </mc:Fallback>
            </mc:AlternateContent>
          </a:graphicData>
        </a:graphic>
      </p:graphicFrame>
      <p:grpSp>
        <p:nvGrpSpPr>
          <p:cNvPr id="84995" name="组合 83975"/>
          <p:cNvGrpSpPr/>
          <p:nvPr/>
        </p:nvGrpSpPr>
        <p:grpSpPr>
          <a:xfrm>
            <a:off x="228600" y="2438400"/>
            <a:ext cx="8686800" cy="2473325"/>
            <a:chOff x="144" y="1536"/>
            <a:chExt cx="5472" cy="1558"/>
          </a:xfrm>
        </p:grpSpPr>
        <p:sp>
          <p:nvSpPr>
            <p:cNvPr id="84996" name="文本框 83973"/>
            <p:cNvSpPr txBox="1"/>
            <p:nvPr/>
          </p:nvSpPr>
          <p:spPr>
            <a:xfrm>
              <a:off x="144" y="1536"/>
              <a:ext cx="5472" cy="978"/>
            </a:xfrm>
            <a:prstGeom prst="rect">
              <a:avLst/>
            </a:prstGeom>
            <a:noFill/>
            <a:ln w="9525">
              <a:noFill/>
            </a:ln>
          </p:spPr>
          <p:txBody>
            <a:bodyPr anchor="t">
              <a:spAutoFit/>
            </a:bodyPr>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可知该滤波器只能是</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偶对称的情况，</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偶对称时，可为第一类和第二类滤波器，其频响 </a:t>
              </a:r>
              <a:endParaRPr lang="zh-CN" altLang="en-US" dirty="0">
                <a:latin typeface="Times New Roman" panose="02020603050405020304" pitchFamily="18" charset="0"/>
                <a:ea typeface="宋体" panose="02010600030101010101" pitchFamily="2" charset="-122"/>
              </a:endParaRPr>
            </a:p>
          </p:txBody>
        </p:sp>
        <p:graphicFrame>
          <p:nvGraphicFramePr>
            <p:cNvPr id="84997" name="对象 83974"/>
            <p:cNvGraphicFramePr/>
            <p:nvPr/>
          </p:nvGraphicFramePr>
          <p:xfrm>
            <a:off x="2064" y="2659"/>
            <a:ext cx="1776" cy="435"/>
          </p:xfrm>
          <a:graphic>
            <a:graphicData uri="http://schemas.openxmlformats.org/presentationml/2006/ole">
              <mc:AlternateContent xmlns:mc="http://schemas.openxmlformats.org/markup-compatibility/2006">
                <mc:Choice xmlns:v="urn:schemas-microsoft-com:vml" Requires="v">
                  <p:oleObj spid="_x0000_s3183" name="" r:id="rId3" imgW="1345565" imgH="330200" progId="Equation.3">
                    <p:embed/>
                  </p:oleObj>
                </mc:Choice>
                <mc:Fallback>
                  <p:oleObj name="" r:id="rId3" imgW="1345565" imgH="330200" progId="Equation.3">
                    <p:embed/>
                    <p:pic>
                      <p:nvPicPr>
                        <p:cNvPr id="0" name="图片 3182"/>
                        <p:cNvPicPr/>
                        <p:nvPr/>
                      </p:nvPicPr>
                      <p:blipFill>
                        <a:blip r:embed="rId4"/>
                        <a:stretch>
                          <a:fillRect/>
                        </a:stretch>
                      </p:blipFill>
                      <p:spPr>
                        <a:xfrm>
                          <a:off x="2064" y="2659"/>
                          <a:ext cx="1776" cy="435"/>
                        </a:xfrm>
                        <a:prstGeom prst="rect">
                          <a:avLst/>
                        </a:prstGeom>
                        <a:solidFill>
                          <a:schemeClr val="accent1"/>
                        </a:solidFill>
                        <a:ln w="38100">
                          <a:noFill/>
                          <a:miter/>
                        </a:ln>
                      </p:spPr>
                    </p:pic>
                  </p:oleObj>
                </mc:Fallback>
              </mc:AlternateContent>
            </a:graphicData>
          </a:graphic>
        </p:graphicFrame>
      </p:grpSp>
    </p:spTree>
  </p:cSld>
  <p:clrMapOvr>
    <a:masterClrMapping/>
  </p:clrMapOvr>
  <p:transition>
    <p:zoom dir="in"/>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文本框 87043"/>
          <p:cNvSpPr txBox="1"/>
          <p:nvPr/>
        </p:nvSpPr>
        <p:spPr>
          <a:xfrm>
            <a:off x="684213" y="692150"/>
            <a:ext cx="7948612" cy="341630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u="sng" dirty="0">
                <a:solidFill>
                  <a:srgbClr val="FF0000"/>
                </a:solidFill>
                <a:latin typeface="Times New Roman" panose="02020603050405020304" pitchFamily="18" charset="0"/>
                <a:ea typeface="宋体" panose="02010600030101010101" pitchFamily="2" charset="-122"/>
              </a:rPr>
              <a:t>（</a:t>
            </a:r>
            <a:r>
              <a:rPr lang="en-US" altLang="zh-CN" b="1" u="sng" dirty="0">
                <a:solidFill>
                  <a:srgbClr val="FF0000"/>
                </a:solidFill>
                <a:latin typeface="Times New Roman" panose="02020603050405020304" pitchFamily="18" charset="0"/>
                <a:ea typeface="宋体" panose="02010600030101010101" pitchFamily="2" charset="-122"/>
              </a:rPr>
              <a:t>1</a:t>
            </a:r>
            <a:r>
              <a:rPr lang="zh-CN" altLang="en-US" b="1" u="sng" dirty="0">
                <a:solidFill>
                  <a:srgbClr val="FF0000"/>
                </a:solidFill>
                <a:latin typeface="Times New Roman" panose="02020603050405020304" pitchFamily="18" charset="0"/>
                <a:ea typeface="宋体" panose="02010600030101010101" pitchFamily="2" charset="-122"/>
              </a:rPr>
              <a:t>）当</a:t>
            </a:r>
            <a:r>
              <a:rPr lang="en-US" altLang="zh-CN" b="1" i="1" u="sng" dirty="0">
                <a:solidFill>
                  <a:srgbClr val="FF0000"/>
                </a:solidFill>
                <a:latin typeface="Times New Roman" panose="02020603050405020304" pitchFamily="18" charset="0"/>
                <a:ea typeface="宋体" panose="02010600030101010101" pitchFamily="2" charset="-122"/>
              </a:rPr>
              <a:t>N</a:t>
            </a:r>
            <a:r>
              <a:rPr lang="zh-CN" altLang="en-US" b="1" u="sng" dirty="0">
                <a:solidFill>
                  <a:srgbClr val="FF0000"/>
                </a:solidFill>
                <a:latin typeface="Times New Roman" panose="02020603050405020304" pitchFamily="18" charset="0"/>
                <a:ea typeface="宋体" panose="02010600030101010101" pitchFamily="2" charset="-122"/>
              </a:rPr>
              <a:t>为奇数时</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，可知</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为第一类线性相位滤波器，</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关于</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π, 2π</a:t>
            </a:r>
            <a:r>
              <a:rPr lang="zh-CN" altLang="en-US" dirty="0">
                <a:latin typeface="Times New Roman" panose="02020603050405020304" pitchFamily="18" charset="0"/>
                <a:ea typeface="宋体" panose="02010600030101010101" pitchFamily="2" charset="-122"/>
              </a:rPr>
              <a:t>有偶对称结构。题目中仅给出了</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上的取值，但用傅里叶反变换求</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时， 需要</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在一个周期［</a:t>
            </a:r>
            <a:r>
              <a:rPr lang="en-US" altLang="zh-CN" dirty="0">
                <a:latin typeface="Times New Roman" panose="02020603050405020304" pitchFamily="18" charset="0"/>
                <a:ea typeface="宋体" panose="02010600030101010101" pitchFamily="2" charset="-122"/>
              </a:rPr>
              <a:t>-π,π</a:t>
            </a:r>
            <a:r>
              <a:rPr lang="zh-CN" altLang="en-US" dirty="0">
                <a:latin typeface="Times New Roman" panose="02020603050405020304" pitchFamily="18" charset="0"/>
                <a:ea typeface="宋体" panose="02010600030101010101" pitchFamily="2" charset="-122"/>
              </a:rPr>
              <a:t>］或［</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］上的值，因此</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需根据第一类线性相位滤波器的要求进行扩展，扩展结果为 </a:t>
            </a:r>
            <a:endParaRPr lang="zh-CN" altLang="en-US" dirty="0">
              <a:latin typeface="Times New Roman" panose="02020603050405020304" pitchFamily="18" charset="0"/>
              <a:ea typeface="宋体" panose="02010600030101010101" pitchFamily="2" charset="-122"/>
            </a:endParaRPr>
          </a:p>
        </p:txBody>
      </p:sp>
      <p:grpSp>
        <p:nvGrpSpPr>
          <p:cNvPr id="86019" name="组合 87047"/>
          <p:cNvGrpSpPr/>
          <p:nvPr/>
        </p:nvGrpSpPr>
        <p:grpSpPr bwMode="auto">
          <a:xfrm>
            <a:off x="293688" y="4489450"/>
            <a:ext cx="8556625" cy="1069975"/>
            <a:chOff x="48" y="2784"/>
            <a:chExt cx="5390" cy="674"/>
          </a:xfrm>
          <a:solidFill>
            <a:schemeClr val="bg1"/>
          </a:solidFill>
        </p:grpSpPr>
        <p:sp>
          <p:nvSpPr>
            <p:cNvPr id="86020" name="文本框 87044"/>
            <p:cNvSpPr txBox="1">
              <a:spLocks noChangeArrowheads="1"/>
            </p:cNvSpPr>
            <p:nvPr/>
          </p:nvSpPr>
          <p:spPr bwMode="auto">
            <a:xfrm>
              <a:off x="1553" y="2784"/>
              <a:ext cx="2924" cy="29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 -ω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6021" name="文本框 87045"/>
            <p:cNvSpPr txBox="1">
              <a:spLocks noChangeArrowheads="1"/>
            </p:cNvSpPr>
            <p:nvPr/>
          </p:nvSpPr>
          <p:spPr bwMode="auto">
            <a:xfrm>
              <a:off x="1168" y="3168"/>
              <a:ext cx="4270" cy="29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&lt;ω&lt;ω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 -π≤ω&lt;-ω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 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n-US" altLang="zh-CN" sz="2400" b="0"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&lt;ω≤π </a:t>
              </a:r>
              <a:endPar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zoom dir="in"/>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2339975" y="4076700"/>
            <a:ext cx="4319588" cy="896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7042" name="文本框 86019"/>
          <p:cNvSpPr txBox="1"/>
          <p:nvPr/>
        </p:nvSpPr>
        <p:spPr>
          <a:xfrm>
            <a:off x="441325" y="803275"/>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 </a:t>
            </a:r>
            <a:endParaRPr lang="zh-CN" altLang="en-US" dirty="0">
              <a:latin typeface="Times New Roman" panose="02020603050405020304" pitchFamily="18" charset="0"/>
              <a:ea typeface="宋体" panose="02010600030101010101" pitchFamily="2" charset="-122"/>
            </a:endParaRPr>
          </a:p>
        </p:txBody>
      </p:sp>
      <p:graphicFrame>
        <p:nvGraphicFramePr>
          <p:cNvPr id="87043" name="对象 86020"/>
          <p:cNvGraphicFramePr/>
          <p:nvPr/>
        </p:nvGraphicFramePr>
        <p:xfrm>
          <a:off x="1371600" y="838200"/>
          <a:ext cx="6858000" cy="4135438"/>
        </p:xfrm>
        <a:graphic>
          <a:graphicData uri="http://schemas.openxmlformats.org/presentationml/2006/ole">
            <mc:AlternateContent xmlns:mc="http://schemas.openxmlformats.org/markup-compatibility/2006">
              <mc:Choice xmlns:v="urn:schemas-microsoft-com:vml" Requires="v">
                <p:oleObj spid="_x0000_s3182" name="" r:id="rId1" imgW="3327400" imgH="2006600" progId="Equation.3">
                  <p:embed/>
                </p:oleObj>
              </mc:Choice>
              <mc:Fallback>
                <p:oleObj name="" r:id="rId1" imgW="3327400" imgH="2006600" progId="Equation.3">
                  <p:embed/>
                  <p:pic>
                    <p:nvPicPr>
                      <p:cNvPr id="0" name="图片 3181"/>
                      <p:cNvPicPr/>
                      <p:nvPr/>
                    </p:nvPicPr>
                    <p:blipFill>
                      <a:blip r:embed="rId2"/>
                      <a:stretch>
                        <a:fillRect/>
                      </a:stretch>
                    </p:blipFill>
                    <p:spPr>
                      <a:xfrm>
                        <a:off x="1371600" y="838200"/>
                        <a:ext cx="6858000" cy="4135438"/>
                      </a:xfrm>
                      <a:prstGeom prst="rect">
                        <a:avLst/>
                      </a:prstGeom>
                      <a:noFill/>
                      <a:ln w="38100">
                        <a:noFill/>
                        <a:miter/>
                      </a:ln>
                    </p:spPr>
                  </p:pic>
                </p:oleObj>
              </mc:Fallback>
            </mc:AlternateContent>
          </a:graphicData>
        </a:graphic>
      </p:graphicFrame>
      <p:sp>
        <p:nvSpPr>
          <p:cNvPr id="87044" name="文本框 86021"/>
          <p:cNvSpPr txBox="1"/>
          <p:nvPr/>
        </p:nvSpPr>
        <p:spPr>
          <a:xfrm>
            <a:off x="3124200" y="5359400"/>
            <a:ext cx="2744788" cy="519113"/>
          </a:xfrm>
          <a:prstGeom prst="rect">
            <a:avLst/>
          </a:prstGeom>
          <a:noFill/>
          <a:ln w="9525">
            <a:noFill/>
          </a:ln>
        </p:spPr>
        <p:txBody>
          <a:bodyPr wrap="none" anchor="t">
            <a:spAutoFit/>
          </a:bodyPr>
          <a:p>
            <a:r>
              <a:rPr lang="en-US" altLang="zh-CN" sz="2800"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h</a:t>
            </a:r>
            <a:r>
              <a:rPr lang="en-US" altLang="zh-CN" sz="2800" baseline="-25000" dirty="0">
                <a:latin typeface="Times New Roman" panose="02020603050405020304" pitchFamily="18" charset="0"/>
                <a:ea typeface="宋体" panose="02010600030101010101" pitchFamily="2" charset="-122"/>
              </a:rPr>
              <a:t>d</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R</a:t>
            </a:r>
            <a:r>
              <a:rPr lang="zh-CN" altLang="en-US" sz="2800" i="1" baseline="-25000" dirty="0">
                <a:latin typeface="Times New Roman" panose="02020603050405020304" pitchFamily="18" charset="0"/>
                <a:ea typeface="宋体" panose="02010600030101010101" pitchFamily="2" charset="-122"/>
              </a:rPr>
              <a:t>Ｎ</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 </a:t>
            </a:r>
            <a:endParaRPr lang="en-US" altLang="zh-CN" sz="2800"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文本框 89091"/>
          <p:cNvSpPr txBox="1"/>
          <p:nvPr/>
        </p:nvSpPr>
        <p:spPr>
          <a:xfrm>
            <a:off x="228600" y="685800"/>
            <a:ext cx="8763000" cy="1754188"/>
          </a:xfrm>
          <a:prstGeom prst="rect">
            <a:avLst/>
          </a:prstGeom>
          <a:noFill/>
          <a:ln w="9525">
            <a:noFill/>
          </a:ln>
        </p:spPr>
        <p:txBody>
          <a:bodyPr anchor="t">
            <a:spAutoFit/>
          </a:bodyPr>
          <a:p>
            <a:pPr algn="just">
              <a:lnSpc>
                <a:spcPct val="150000"/>
              </a:lnSpc>
              <a:spcBef>
                <a:spcPct val="50000"/>
              </a:spcBef>
            </a:pPr>
            <a:r>
              <a:rPr lang="en-US" altLang="zh-CN" b="1" u="sng" dirty="0">
                <a:solidFill>
                  <a:srgbClr val="FF0000"/>
                </a:solidFill>
                <a:latin typeface="Times New Roman" panose="02020603050405020304" pitchFamily="18" charset="0"/>
                <a:ea typeface="宋体" panose="02010600030101010101" pitchFamily="2" charset="-122"/>
              </a:rPr>
              <a:t>        (2) </a:t>
            </a:r>
            <a:r>
              <a:rPr lang="en-US" altLang="zh-CN" b="1" i="1" u="sng" dirty="0">
                <a:solidFill>
                  <a:srgbClr val="FF0000"/>
                </a:solidFill>
                <a:latin typeface="Times New Roman" panose="02020603050405020304" pitchFamily="18" charset="0"/>
                <a:ea typeface="宋体" panose="02010600030101010101" pitchFamily="2" charset="-122"/>
              </a:rPr>
              <a:t>N</a:t>
            </a:r>
            <a:r>
              <a:rPr lang="en-US" altLang="zh-CN" b="1" u="sng" dirty="0">
                <a:solidFill>
                  <a:srgbClr val="FF0000"/>
                </a:solidFill>
                <a:latin typeface="Times New Roman" panose="02020603050405020304" pitchFamily="18" charset="0"/>
                <a:ea typeface="宋体" panose="02010600030101010101" pitchFamily="2" charset="-122"/>
              </a:rPr>
              <a:t> </a:t>
            </a:r>
            <a:r>
              <a:rPr lang="zh-CN" altLang="en-US" b="1" u="sng" dirty="0">
                <a:solidFill>
                  <a:srgbClr val="FF0000"/>
                </a:solidFill>
                <a:latin typeface="Times New Roman" panose="02020603050405020304" pitchFamily="18" charset="0"/>
                <a:ea typeface="宋体" panose="02010600030101010101" pitchFamily="2" charset="-122"/>
              </a:rPr>
              <a:t>为偶数时</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为第二类线性相位滤波器，</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关于</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呈偶对称。所以</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-π,π</a:t>
            </a:r>
            <a:r>
              <a:rPr lang="zh-CN" altLang="en-US" dirty="0">
                <a:latin typeface="Times New Roman" panose="02020603050405020304" pitchFamily="18" charset="0"/>
                <a:ea typeface="宋体" panose="02010600030101010101" pitchFamily="2" charset="-122"/>
              </a:rPr>
              <a:t>］之间的扩展同上， 则</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也同上，即</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88066" name="对象 89092"/>
          <p:cNvGraphicFramePr/>
          <p:nvPr/>
        </p:nvGraphicFramePr>
        <p:xfrm>
          <a:off x="1654175" y="3048000"/>
          <a:ext cx="6313488" cy="906463"/>
        </p:xfrm>
        <a:graphic>
          <a:graphicData uri="http://schemas.openxmlformats.org/presentationml/2006/ole">
            <mc:AlternateContent xmlns:mc="http://schemas.openxmlformats.org/markup-compatibility/2006">
              <mc:Choice xmlns:v="urn:schemas-microsoft-com:vml" Requires="v">
                <p:oleObj spid="_x0000_s3184" name="" r:id="rId1" imgW="2921000" imgH="419100" progId="Equation.3">
                  <p:embed/>
                </p:oleObj>
              </mc:Choice>
              <mc:Fallback>
                <p:oleObj name="" r:id="rId1" imgW="2921000" imgH="419100" progId="Equation.3">
                  <p:embed/>
                  <p:pic>
                    <p:nvPicPr>
                      <p:cNvPr id="0" name="图片 3183"/>
                      <p:cNvPicPr/>
                      <p:nvPr/>
                    </p:nvPicPr>
                    <p:blipFill>
                      <a:blip r:embed="rId2"/>
                      <a:stretch>
                        <a:fillRect/>
                      </a:stretch>
                    </p:blipFill>
                    <p:spPr>
                      <a:xfrm>
                        <a:off x="1654175" y="3048000"/>
                        <a:ext cx="6313488" cy="906463"/>
                      </a:xfrm>
                      <a:prstGeom prst="rect">
                        <a:avLst/>
                      </a:prstGeom>
                      <a:noFill/>
                      <a:ln w="38100">
                        <a:noFill/>
                        <a:miter/>
                      </a:ln>
                    </p:spPr>
                  </p:pic>
                </p:oleObj>
              </mc:Fallback>
            </mc:AlternateContent>
          </a:graphicData>
        </a:graphic>
      </p:graphicFrame>
      <p:graphicFrame>
        <p:nvGraphicFramePr>
          <p:cNvPr id="88067" name="对象 89093"/>
          <p:cNvGraphicFramePr/>
          <p:nvPr/>
        </p:nvGraphicFramePr>
        <p:xfrm>
          <a:off x="2057400" y="4724400"/>
          <a:ext cx="2971800" cy="576263"/>
        </p:xfrm>
        <a:graphic>
          <a:graphicData uri="http://schemas.openxmlformats.org/presentationml/2006/ole">
            <mc:AlternateContent xmlns:mc="http://schemas.openxmlformats.org/markup-compatibility/2006">
              <mc:Choice xmlns:v="urn:schemas-microsoft-com:vml" Requires="v">
                <p:oleObj spid="_x0000_s3185" name="" r:id="rId3" imgW="1180465" imgH="228600" progId="Equation.3">
                  <p:embed/>
                </p:oleObj>
              </mc:Choice>
              <mc:Fallback>
                <p:oleObj name="" r:id="rId3" imgW="1180465" imgH="228600" progId="Equation.3">
                  <p:embed/>
                  <p:pic>
                    <p:nvPicPr>
                      <p:cNvPr id="0" name="图片 3184"/>
                      <p:cNvPicPr/>
                      <p:nvPr/>
                    </p:nvPicPr>
                    <p:blipFill>
                      <a:blip r:embed="rId4"/>
                      <a:stretch>
                        <a:fillRect/>
                      </a:stretch>
                    </p:blipFill>
                    <p:spPr>
                      <a:xfrm>
                        <a:off x="2057400" y="4724400"/>
                        <a:ext cx="2971800" cy="576263"/>
                      </a:xfrm>
                      <a:prstGeom prst="rect">
                        <a:avLst/>
                      </a:prstGeom>
                      <a:noFill/>
                      <a:ln w="38100">
                        <a:noFill/>
                        <a:miter/>
                      </a:ln>
                    </p:spPr>
                  </p:pic>
                </p:oleObj>
              </mc:Fallback>
            </mc:AlternateContent>
          </a:graphicData>
        </a:graphic>
      </p:graphicFrame>
    </p:spTree>
  </p:cSld>
  <p:clrMapOvr>
    <a:masterClrMapping/>
  </p:clrMapOvr>
  <p:transition>
    <p:zoom dir="in"/>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文本框 88067"/>
          <p:cNvSpPr txBox="1"/>
          <p:nvPr/>
        </p:nvSpPr>
        <p:spPr>
          <a:xfrm>
            <a:off x="990600" y="620713"/>
            <a:ext cx="2667000" cy="457200"/>
          </a:xfrm>
          <a:prstGeom prst="rect">
            <a:avLst/>
          </a:prstGeom>
          <a:solidFill>
            <a:srgbClr val="C00000"/>
          </a:solidFill>
          <a:ln w="9525">
            <a:noFill/>
          </a:ln>
        </p:spPr>
        <p:txBody>
          <a:bodyPr anchor="t">
            <a:spAutoFit/>
          </a:bodyPr>
          <a:p>
            <a:pPr>
              <a:spcBef>
                <a:spcPct val="50000"/>
              </a:spcBef>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若改用海明窗 </a:t>
            </a:r>
            <a:endParaRPr lang="zh-CN" altLang="en-US" dirty="0">
              <a:latin typeface="Times New Roman" panose="02020603050405020304" pitchFamily="18" charset="0"/>
              <a:ea typeface="宋体" panose="02010600030101010101" pitchFamily="2" charset="-122"/>
            </a:endParaRPr>
          </a:p>
        </p:txBody>
      </p:sp>
      <p:graphicFrame>
        <p:nvGraphicFramePr>
          <p:cNvPr id="89090" name="对象 88068"/>
          <p:cNvGraphicFramePr/>
          <p:nvPr/>
        </p:nvGraphicFramePr>
        <p:xfrm>
          <a:off x="2342198" y="1269048"/>
          <a:ext cx="4275455" cy="855980"/>
        </p:xfrm>
        <a:graphic>
          <a:graphicData uri="http://schemas.openxmlformats.org/presentationml/2006/ole">
            <mc:AlternateContent xmlns:mc="http://schemas.openxmlformats.org/markup-compatibility/2006">
              <mc:Choice xmlns:v="urn:schemas-microsoft-com:vml" Requires="v">
                <p:oleObj spid="_x0000_s3187" name="" r:id="rId1" imgW="2095500" imgH="419100" progId="Equation.3">
                  <p:embed/>
                </p:oleObj>
              </mc:Choice>
              <mc:Fallback>
                <p:oleObj name="" r:id="rId1" imgW="2095500" imgH="419100" progId="Equation.3">
                  <p:embed/>
                  <p:pic>
                    <p:nvPicPr>
                      <p:cNvPr id="0" name="图片 3186"/>
                      <p:cNvPicPr/>
                      <p:nvPr/>
                    </p:nvPicPr>
                    <p:blipFill>
                      <a:blip r:embed="rId2"/>
                      <a:stretch>
                        <a:fillRect/>
                      </a:stretch>
                    </p:blipFill>
                    <p:spPr>
                      <a:xfrm>
                        <a:off x="2342198" y="1269048"/>
                        <a:ext cx="4275455" cy="855980"/>
                      </a:xfrm>
                      <a:prstGeom prst="rect">
                        <a:avLst/>
                      </a:prstGeom>
                      <a:noFill/>
                      <a:ln w="38100">
                        <a:noFill/>
                        <a:miter/>
                      </a:ln>
                    </p:spPr>
                  </p:pic>
                </p:oleObj>
              </mc:Fallback>
            </mc:AlternateContent>
          </a:graphicData>
        </a:graphic>
      </p:graphicFrame>
      <p:sp>
        <p:nvSpPr>
          <p:cNvPr id="89091" name="文本框 88069"/>
          <p:cNvSpPr txBox="1"/>
          <p:nvPr/>
        </p:nvSpPr>
        <p:spPr>
          <a:xfrm>
            <a:off x="228600" y="2297113"/>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 </a:t>
            </a:r>
            <a:endParaRPr lang="zh-CN" altLang="en-US" dirty="0">
              <a:latin typeface="Times New Roman" panose="02020603050405020304" pitchFamily="18" charset="0"/>
              <a:ea typeface="宋体" panose="02010600030101010101" pitchFamily="2" charset="-122"/>
            </a:endParaRPr>
          </a:p>
        </p:txBody>
      </p:sp>
      <p:sp>
        <p:nvSpPr>
          <p:cNvPr id="89092" name="文本框 88070"/>
          <p:cNvSpPr txBox="1"/>
          <p:nvPr/>
        </p:nvSpPr>
        <p:spPr>
          <a:xfrm>
            <a:off x="990600" y="2678113"/>
            <a:ext cx="1682750" cy="457200"/>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 </a:t>
            </a:r>
            <a:endParaRPr lang="zh-CN" altLang="en-US" dirty="0">
              <a:latin typeface="Times New Roman" panose="02020603050405020304" pitchFamily="18" charset="0"/>
              <a:ea typeface="宋体" panose="02010600030101010101" pitchFamily="2" charset="-122"/>
            </a:endParaRPr>
          </a:p>
        </p:txBody>
      </p:sp>
      <p:graphicFrame>
        <p:nvGraphicFramePr>
          <p:cNvPr id="89093" name="对象 88071"/>
          <p:cNvGraphicFramePr/>
          <p:nvPr/>
        </p:nvGraphicFramePr>
        <p:xfrm>
          <a:off x="1705293" y="3363913"/>
          <a:ext cx="6114415" cy="955675"/>
        </p:xfrm>
        <a:graphic>
          <a:graphicData uri="http://schemas.openxmlformats.org/presentationml/2006/ole">
            <mc:AlternateContent xmlns:mc="http://schemas.openxmlformats.org/markup-compatibility/2006">
              <mc:Choice xmlns:v="urn:schemas-microsoft-com:vml" Requires="v">
                <p:oleObj spid="_x0000_s3190" name="" r:id="rId3" imgW="2679700" imgH="419100" progId="Equation.3">
                  <p:embed/>
                </p:oleObj>
              </mc:Choice>
              <mc:Fallback>
                <p:oleObj name="" r:id="rId3" imgW="2679700" imgH="419100" progId="Equation.3">
                  <p:embed/>
                  <p:pic>
                    <p:nvPicPr>
                      <p:cNvPr id="0" name="图片 3189"/>
                      <p:cNvPicPr/>
                      <p:nvPr/>
                    </p:nvPicPr>
                    <p:blipFill>
                      <a:blip r:embed="rId4"/>
                      <a:stretch>
                        <a:fillRect/>
                      </a:stretch>
                    </p:blipFill>
                    <p:spPr>
                      <a:xfrm>
                        <a:off x="1705293" y="3363913"/>
                        <a:ext cx="6114415" cy="955675"/>
                      </a:xfrm>
                      <a:prstGeom prst="rect">
                        <a:avLst/>
                      </a:prstGeom>
                      <a:solidFill>
                        <a:schemeClr val="accent1"/>
                      </a:solidFill>
                      <a:ln w="38100">
                        <a:noFill/>
                        <a:miter/>
                      </a:ln>
                    </p:spPr>
                  </p:pic>
                </p:oleObj>
              </mc:Fallback>
            </mc:AlternateContent>
          </a:graphicData>
        </a:graphic>
      </p:graphicFrame>
      <p:sp>
        <p:nvSpPr>
          <p:cNvPr id="89094" name="文本框 88072"/>
          <p:cNvSpPr txBox="1"/>
          <p:nvPr/>
        </p:nvSpPr>
        <p:spPr>
          <a:xfrm>
            <a:off x="1042988" y="4506913"/>
            <a:ext cx="1682750" cy="457200"/>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为偶数时 </a:t>
            </a:r>
            <a:endParaRPr lang="zh-CN" altLang="en-US" dirty="0">
              <a:latin typeface="Times New Roman" panose="02020603050405020304" pitchFamily="18" charset="0"/>
              <a:ea typeface="宋体" panose="02010600030101010101" pitchFamily="2" charset="-122"/>
            </a:endParaRPr>
          </a:p>
        </p:txBody>
      </p:sp>
      <p:graphicFrame>
        <p:nvGraphicFramePr>
          <p:cNvPr id="89095" name="对象 88073"/>
          <p:cNvGraphicFramePr/>
          <p:nvPr/>
        </p:nvGraphicFramePr>
        <p:xfrm>
          <a:off x="1781493" y="5192713"/>
          <a:ext cx="6114415" cy="955675"/>
        </p:xfrm>
        <a:graphic>
          <a:graphicData uri="http://schemas.openxmlformats.org/presentationml/2006/ole">
            <mc:AlternateContent xmlns:mc="http://schemas.openxmlformats.org/markup-compatibility/2006">
              <mc:Choice xmlns:v="urn:schemas-microsoft-com:vml" Requires="v">
                <p:oleObj spid="_x0000_s3192" name="" r:id="rId5" imgW="2679700" imgH="419100" progId="Equation.3">
                  <p:embed/>
                </p:oleObj>
              </mc:Choice>
              <mc:Fallback>
                <p:oleObj name="" r:id="rId5" imgW="2679700" imgH="419100" progId="Equation.3">
                  <p:embed/>
                  <p:pic>
                    <p:nvPicPr>
                      <p:cNvPr id="0" name="图片 3191"/>
                      <p:cNvPicPr/>
                      <p:nvPr/>
                    </p:nvPicPr>
                    <p:blipFill>
                      <a:blip r:embed="rId6"/>
                      <a:stretch>
                        <a:fillRect/>
                      </a:stretch>
                    </p:blipFill>
                    <p:spPr>
                      <a:xfrm>
                        <a:off x="1781493" y="5192713"/>
                        <a:ext cx="6114415" cy="955675"/>
                      </a:xfrm>
                      <a:prstGeom prst="rect">
                        <a:avLst/>
                      </a:prstGeom>
                      <a:solidFill>
                        <a:schemeClr val="accent1"/>
                      </a:solidFill>
                      <a:ln w="38100">
                        <a:noFill/>
                        <a:miter/>
                      </a:ln>
                    </p:spPr>
                  </p:pic>
                </p:oleObj>
              </mc:Fallback>
            </mc:AlternateContent>
          </a:graphicData>
        </a:graphic>
      </p:graphicFrame>
    </p:spTree>
  </p:cSld>
  <p:clrMapOvr>
    <a:masterClrMapping/>
  </p:clrMapOvr>
  <p:transition>
    <p:zoom dir="in"/>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124075" y="1773238"/>
            <a:ext cx="1511300"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90114" name="文本框 91139"/>
          <p:cNvSpPr txBox="1"/>
          <p:nvPr/>
        </p:nvSpPr>
        <p:spPr>
          <a:xfrm>
            <a:off x="539750" y="981075"/>
            <a:ext cx="8159750" cy="2543175"/>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上面两个表达式形式虽然完全一样，但由于</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 对称中心点</a:t>
            </a:r>
            <a:r>
              <a:rPr lang="en-US" altLang="zh-CN" i="1" dirty="0">
                <a:latin typeface="Times New Roman" panose="02020603050405020304" pitchFamily="18" charset="0"/>
                <a:ea typeface="宋体" panose="02010600030101010101" pitchFamily="2" charset="-122"/>
              </a:rPr>
              <a:t>α</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 </a:t>
            </a:r>
            <a:r>
              <a:rPr lang="zh-CN" altLang="en-US" dirty="0">
                <a:latin typeface="Times New Roman" panose="02020603050405020304" pitchFamily="18" charset="0"/>
                <a:ea typeface="宋体" panose="02010600030101010101" pitchFamily="2" charset="-122"/>
              </a:rPr>
              <a:t>为整数，</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为偶数时，</a:t>
            </a:r>
            <a:r>
              <a:rPr lang="en-US" altLang="zh-CN" i="1" dirty="0">
                <a:latin typeface="Times New Roman" panose="02020603050405020304" pitchFamily="18" charset="0"/>
                <a:ea typeface="宋体" panose="02010600030101010101" pitchFamily="2" charset="-122"/>
              </a:rPr>
              <a:t>α</a:t>
            </a:r>
            <a:r>
              <a:rPr lang="zh-CN" altLang="en-US" dirty="0">
                <a:latin typeface="Times New Roman" panose="02020603050405020304" pitchFamily="18" charset="0"/>
                <a:ea typeface="宋体" panose="02010600030101010101" pitchFamily="2" charset="-122"/>
              </a:rPr>
              <a:t>为非整数，因此</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在奇数和偶数情况下，滤波器的单位脉冲响应的对称中心不同， 在 </a:t>
            </a:r>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上的取值也完全不同。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84213" y="476250"/>
            <a:ext cx="7920038" cy="649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91138" name="文本框 90115"/>
          <p:cNvSpPr txBox="1"/>
          <p:nvPr/>
        </p:nvSpPr>
        <p:spPr>
          <a:xfrm>
            <a:off x="228600" y="457200"/>
            <a:ext cx="8763000" cy="3884613"/>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6-7</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根据下列技术指标，设计一个</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低通滤波器。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通带截止频率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=0.2π</a:t>
            </a:r>
            <a:r>
              <a:rPr lang="zh-CN" altLang="en-US" dirty="0">
                <a:latin typeface="Times New Roman" panose="02020603050405020304" pitchFamily="18" charset="0"/>
                <a:ea typeface="宋体" panose="02010600030101010101" pitchFamily="2" charset="-122"/>
              </a:rPr>
              <a:t>，通带允许波动</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=0.25dB</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阻带截止频率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=0.3π</a:t>
            </a:r>
            <a:r>
              <a:rPr lang="zh-CN" altLang="en-US" dirty="0">
                <a:latin typeface="Times New Roman" panose="02020603050405020304" pitchFamily="18" charset="0"/>
                <a:ea typeface="宋体" panose="02010600030101010101" pitchFamily="2" charset="-122"/>
              </a:rPr>
              <a:t>，阻带衰减</a:t>
            </a:r>
            <a:r>
              <a:rPr lang="en-US" altLang="zh-CN" b="1" i="1" u="sng" dirty="0">
                <a:solidFill>
                  <a:srgbClr val="FF0000"/>
                </a:solidFill>
                <a:latin typeface="Times New Roman" panose="02020603050405020304" pitchFamily="18" charset="0"/>
                <a:ea typeface="宋体" panose="02010600030101010101" pitchFamily="2" charset="-122"/>
              </a:rPr>
              <a:t>A</a:t>
            </a:r>
            <a:r>
              <a:rPr lang="en-US" altLang="zh-CN" b="1" u="sng" baseline="-25000" dirty="0">
                <a:solidFill>
                  <a:srgbClr val="FF0000"/>
                </a:solidFill>
                <a:latin typeface="Times New Roman" panose="02020603050405020304" pitchFamily="18" charset="0"/>
                <a:ea typeface="宋体" panose="02010600030101010101" pitchFamily="2" charset="-122"/>
              </a:rPr>
              <a:t>s</a:t>
            </a:r>
            <a:r>
              <a:rPr lang="en-US" altLang="zh-CN" b="1" u="sng" dirty="0">
                <a:solidFill>
                  <a:srgbClr val="FF0000"/>
                </a:solidFill>
                <a:latin typeface="Times New Roman" panose="02020603050405020304" pitchFamily="18" charset="0"/>
                <a:ea typeface="宋体" panose="02010600030101010101" pitchFamily="2" charset="-122"/>
              </a:rPr>
              <a:t>=50dB</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查表</a:t>
            </a:r>
            <a:r>
              <a:rPr lang="en-US" altLang="zh-CN" dirty="0">
                <a:latin typeface="Times New Roman" panose="02020603050405020304" pitchFamily="18" charset="0"/>
                <a:ea typeface="宋体" panose="02010600030101010101" pitchFamily="2" charset="-122"/>
              </a:rPr>
              <a:t>6-3</a:t>
            </a:r>
            <a:r>
              <a:rPr lang="zh-CN" altLang="en-US" dirty="0">
                <a:latin typeface="Times New Roman" panose="02020603050405020304" pitchFamily="18" charset="0"/>
                <a:ea typeface="宋体" panose="02010600030101010101" pitchFamily="2" charset="-122"/>
              </a:rPr>
              <a:t>可知，海明窗和布拉克曼窗均可提供大于 </a:t>
            </a:r>
            <a:r>
              <a:rPr lang="en-US" altLang="zh-CN" dirty="0">
                <a:latin typeface="Times New Roman" panose="02020603050405020304" pitchFamily="18" charset="0"/>
                <a:ea typeface="宋体" panose="02010600030101010101" pitchFamily="2" charset="-122"/>
              </a:rPr>
              <a:t>50 dB</a:t>
            </a:r>
            <a:r>
              <a:rPr lang="zh-CN" altLang="en-US" dirty="0">
                <a:latin typeface="Times New Roman" panose="02020603050405020304" pitchFamily="18" charset="0"/>
                <a:ea typeface="宋体" panose="02010600030101010101" pitchFamily="2" charset="-122"/>
              </a:rPr>
              <a:t>的衰减。但海明窗具有较小的过渡带从而具有较小的长度</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根据题意，所要设计的滤波器的</a:t>
            </a:r>
            <a:r>
              <a:rPr lang="zh-CN" altLang="en-US" b="1" u="sng" dirty="0">
                <a:solidFill>
                  <a:srgbClr val="FF0000"/>
                </a:solidFill>
                <a:latin typeface="Times New Roman" panose="02020603050405020304" pitchFamily="18" charset="0"/>
                <a:ea typeface="宋体" panose="02010600030101010101" pitchFamily="2" charset="-122"/>
              </a:rPr>
              <a:t>过渡带</a:t>
            </a:r>
            <a:r>
              <a:rPr lang="zh-CN" altLang="en-US" dirty="0">
                <a:latin typeface="Times New Roman" panose="02020603050405020304" pitchFamily="18" charset="0"/>
                <a:ea typeface="宋体" panose="02010600030101010101" pitchFamily="2" charset="-122"/>
              </a:rPr>
              <a:t>为 </a:t>
            </a:r>
            <a:endParaRPr lang="zh-CN" altLang="en-US" dirty="0">
              <a:latin typeface="Times New Roman" panose="02020603050405020304" pitchFamily="18" charset="0"/>
              <a:ea typeface="宋体" panose="02010600030101010101" pitchFamily="2" charset="-122"/>
            </a:endParaRPr>
          </a:p>
        </p:txBody>
      </p:sp>
      <p:graphicFrame>
        <p:nvGraphicFramePr>
          <p:cNvPr id="91139" name="对象 90116"/>
          <p:cNvGraphicFramePr/>
          <p:nvPr/>
        </p:nvGraphicFramePr>
        <p:xfrm>
          <a:off x="2209800" y="4495800"/>
          <a:ext cx="4572000" cy="504825"/>
        </p:xfrm>
        <a:graphic>
          <a:graphicData uri="http://schemas.openxmlformats.org/presentationml/2006/ole">
            <mc:AlternateContent xmlns:mc="http://schemas.openxmlformats.org/markup-compatibility/2006">
              <mc:Choice xmlns:v="urn:schemas-microsoft-com:vml" Requires="v">
                <p:oleObj spid="_x0000_s3197" name="" r:id="rId1" imgW="2183765" imgH="241300" progId="Equation.3">
                  <p:embed/>
                </p:oleObj>
              </mc:Choice>
              <mc:Fallback>
                <p:oleObj name="" r:id="rId1" imgW="2183765" imgH="241300" progId="Equation.3">
                  <p:embed/>
                  <p:pic>
                    <p:nvPicPr>
                      <p:cNvPr id="0" name="图片 3196"/>
                      <p:cNvPicPr/>
                      <p:nvPr/>
                    </p:nvPicPr>
                    <p:blipFill>
                      <a:blip r:embed="rId2"/>
                      <a:stretch>
                        <a:fillRect/>
                      </a:stretch>
                    </p:blipFill>
                    <p:spPr>
                      <a:xfrm>
                        <a:off x="2209800" y="4495800"/>
                        <a:ext cx="4572000" cy="504825"/>
                      </a:xfrm>
                      <a:prstGeom prst="rect">
                        <a:avLst/>
                      </a:prstGeom>
                      <a:solidFill>
                        <a:schemeClr val="accent1"/>
                      </a:solidFill>
                      <a:ln w="38100">
                        <a:noFill/>
                        <a:miter/>
                      </a:ln>
                    </p:spPr>
                  </p:pic>
                </p:oleObj>
              </mc:Fallback>
            </mc:AlternateContent>
          </a:graphicData>
        </a:graphic>
      </p:graphicFrame>
      <p:sp>
        <p:nvSpPr>
          <p:cNvPr id="91140" name="文本框 90117"/>
          <p:cNvSpPr txBox="1"/>
          <p:nvPr/>
        </p:nvSpPr>
        <p:spPr>
          <a:xfrm>
            <a:off x="228600" y="5073650"/>
            <a:ext cx="8915400" cy="110934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由表</a:t>
            </a:r>
            <a:r>
              <a:rPr lang="en-US" altLang="zh-CN" dirty="0">
                <a:latin typeface="Times New Roman" panose="02020603050405020304" pitchFamily="18" charset="0"/>
                <a:ea typeface="宋体" panose="02010600030101010101" pitchFamily="2" charset="-122"/>
              </a:rPr>
              <a:t>6-3</a:t>
            </a:r>
            <a:r>
              <a:rPr lang="zh-CN" altLang="en-US" dirty="0">
                <a:latin typeface="Times New Roman" panose="02020603050405020304" pitchFamily="18" charset="0"/>
                <a:ea typeface="宋体" panose="02010600030101010101" pitchFamily="2" charset="-122"/>
              </a:rPr>
              <a:t>可知，利用海明窗设计的滤波器的过渡带宽</a:t>
            </a:r>
            <a:r>
              <a:rPr lang="en-US" altLang="zh-CN" dirty="0">
                <a:latin typeface="Times New Roman" panose="02020603050405020304" pitchFamily="18" charset="0"/>
                <a:ea typeface="宋体" panose="02010600030101010101" pitchFamily="2" charset="-122"/>
              </a:rPr>
              <a:t>Δ</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=8π/N</a:t>
            </a:r>
            <a:r>
              <a:rPr lang="zh-CN" altLang="en-US" dirty="0">
                <a:latin typeface="Times New Roman" panose="02020603050405020304" pitchFamily="18" charset="0"/>
                <a:ea typeface="宋体" panose="02010600030101010101" pitchFamily="2" charset="-122"/>
              </a:rPr>
              <a:t>，所以低通滤波器单位脉冲响应的长度</a:t>
            </a:r>
            <a:endParaRPr lang="zh-CN" altLang="en-US" dirty="0">
              <a:latin typeface="Times New Roman" panose="02020603050405020304" pitchFamily="18" charset="0"/>
              <a:ea typeface="宋体" panose="02010600030101010101" pitchFamily="2" charset="-122"/>
            </a:endParaRPr>
          </a:p>
        </p:txBody>
      </p:sp>
      <p:graphicFrame>
        <p:nvGraphicFramePr>
          <p:cNvPr id="3" name="对象 2"/>
          <p:cNvGraphicFramePr/>
          <p:nvPr/>
        </p:nvGraphicFramePr>
        <p:xfrm>
          <a:off x="0" y="2421255"/>
          <a:ext cx="3697605" cy="2098040"/>
        </p:xfrm>
        <a:graphic>
          <a:graphicData uri="http://schemas.openxmlformats.org/presentationml/2006/ole">
            <mc:AlternateContent xmlns:mc="http://schemas.openxmlformats.org/markup-compatibility/2006">
              <mc:Choice xmlns:v="urn:schemas-microsoft-com:vml" Requires="v">
                <p:oleObj spid="_x0000_s4" name="" r:id="rId3" imgW="6800850" imgH="3810000" progId="Paint.Picture">
                  <p:embed/>
                </p:oleObj>
              </mc:Choice>
              <mc:Fallback>
                <p:oleObj name="" r:id="rId3" imgW="6800850" imgH="3810000" progId="Paint.Picture">
                  <p:embed/>
                  <p:pic>
                    <p:nvPicPr>
                      <p:cNvPr id="0" name="图片 3"/>
                      <p:cNvPicPr/>
                      <p:nvPr/>
                    </p:nvPicPr>
                    <p:blipFill>
                      <a:blip r:embed="rId4"/>
                      <a:stretch>
                        <a:fillRect/>
                      </a:stretch>
                    </p:blipFill>
                    <p:spPr>
                      <a:xfrm>
                        <a:off x="0" y="2421255"/>
                        <a:ext cx="3697605" cy="2098040"/>
                      </a:xfrm>
                      <a:prstGeom prst="rect">
                        <a:avLst/>
                      </a:prstGeom>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2161" name="对象 93187"/>
          <p:cNvGraphicFramePr/>
          <p:nvPr/>
        </p:nvGraphicFramePr>
        <p:xfrm>
          <a:off x="3200400" y="762000"/>
          <a:ext cx="2800350" cy="827088"/>
        </p:xfrm>
        <a:graphic>
          <a:graphicData uri="http://schemas.openxmlformats.org/presentationml/2006/ole">
            <mc:AlternateContent xmlns:mc="http://schemas.openxmlformats.org/markup-compatibility/2006">
              <mc:Choice xmlns:v="urn:schemas-microsoft-com:vml" Requires="v">
                <p:oleObj spid="_x0000_s3193" name="" r:id="rId1" imgW="1332865" imgH="393700" progId="Equation.3">
                  <p:embed/>
                </p:oleObj>
              </mc:Choice>
              <mc:Fallback>
                <p:oleObj name="" r:id="rId1" imgW="1332865" imgH="393700" progId="Equation.3">
                  <p:embed/>
                  <p:pic>
                    <p:nvPicPr>
                      <p:cNvPr id="0" name="图片 3192"/>
                      <p:cNvPicPr/>
                      <p:nvPr/>
                    </p:nvPicPr>
                    <p:blipFill>
                      <a:blip r:embed="rId2"/>
                      <a:stretch>
                        <a:fillRect/>
                      </a:stretch>
                    </p:blipFill>
                    <p:spPr>
                      <a:xfrm>
                        <a:off x="3200400" y="762000"/>
                        <a:ext cx="2800350" cy="827088"/>
                      </a:xfrm>
                      <a:prstGeom prst="rect">
                        <a:avLst/>
                      </a:prstGeom>
                      <a:noFill/>
                      <a:ln w="38100">
                        <a:noFill/>
                        <a:miter/>
                      </a:ln>
                    </p:spPr>
                  </p:pic>
                </p:oleObj>
              </mc:Fallback>
            </mc:AlternateContent>
          </a:graphicData>
        </a:graphic>
      </p:graphicFrame>
      <p:sp>
        <p:nvSpPr>
          <p:cNvPr id="92162" name="文本框 93188"/>
          <p:cNvSpPr txBox="1"/>
          <p:nvPr/>
        </p:nvSpPr>
        <p:spPr>
          <a:xfrm>
            <a:off x="365125" y="1600200"/>
            <a:ext cx="3033713" cy="461963"/>
          </a:xfrm>
          <a:prstGeom prst="rect">
            <a:avLst/>
          </a:prstGeom>
          <a:noFill/>
          <a:ln w="9525">
            <a:noFill/>
          </a:ln>
        </p:spPr>
        <p:txBody>
          <a:bodyPr wrap="none" anchor="t">
            <a:spAutoFit/>
          </a:bodyPr>
          <a:p>
            <a:r>
              <a:rPr lang="en-US" altLang="zh-CN" b="1" u="sng" dirty="0">
                <a:solidFill>
                  <a:srgbClr val="FF0000"/>
                </a:solidFill>
                <a:latin typeface="Times New Roman" panose="02020603050405020304" pitchFamily="18" charset="0"/>
                <a:ea typeface="宋体" panose="02010600030101010101" pitchFamily="2" charset="-122"/>
              </a:rPr>
              <a:t>3 dB</a:t>
            </a:r>
            <a:r>
              <a:rPr lang="zh-CN" altLang="en-US" b="1" u="sng" dirty="0">
                <a:solidFill>
                  <a:srgbClr val="FF0000"/>
                </a:solidFill>
                <a:latin typeface="Times New Roman" panose="02020603050405020304" pitchFamily="18" charset="0"/>
                <a:ea typeface="宋体" panose="02010600030101010101" pitchFamily="2" charset="-122"/>
              </a:rPr>
              <a:t>通带截止频率</a:t>
            </a:r>
            <a:r>
              <a:rPr lang="zh-CN" altLang="en-US" dirty="0">
                <a:latin typeface="Times New Roman" panose="02020603050405020304" pitchFamily="18" charset="0"/>
                <a:ea typeface="宋体" panose="02010600030101010101" pitchFamily="2" charset="-122"/>
              </a:rPr>
              <a:t>为 </a:t>
            </a:r>
            <a:endParaRPr lang="zh-CN" altLang="en-US" dirty="0">
              <a:latin typeface="Times New Roman" panose="02020603050405020304" pitchFamily="18" charset="0"/>
              <a:ea typeface="宋体" panose="02010600030101010101" pitchFamily="2" charset="-122"/>
            </a:endParaRPr>
          </a:p>
        </p:txBody>
      </p:sp>
      <p:graphicFrame>
        <p:nvGraphicFramePr>
          <p:cNvPr id="92163" name="对象 93189"/>
          <p:cNvGraphicFramePr/>
          <p:nvPr/>
        </p:nvGraphicFramePr>
        <p:xfrm>
          <a:off x="2895600" y="2057400"/>
          <a:ext cx="3505200" cy="1038225"/>
        </p:xfrm>
        <a:graphic>
          <a:graphicData uri="http://schemas.openxmlformats.org/presentationml/2006/ole">
            <mc:AlternateContent xmlns:mc="http://schemas.openxmlformats.org/markup-compatibility/2006">
              <mc:Choice xmlns:v="urn:schemas-microsoft-com:vml" Requires="v">
                <p:oleObj spid="_x0000_s3194" name="" r:id="rId3" imgW="1370330" imgH="405765" progId="Equation.3">
                  <p:embed/>
                </p:oleObj>
              </mc:Choice>
              <mc:Fallback>
                <p:oleObj name="" r:id="rId3" imgW="1370330" imgH="405765" progId="Equation.3">
                  <p:embed/>
                  <p:pic>
                    <p:nvPicPr>
                      <p:cNvPr id="0" name="图片 3193"/>
                      <p:cNvPicPr/>
                      <p:nvPr/>
                    </p:nvPicPr>
                    <p:blipFill>
                      <a:blip r:embed="rId4"/>
                      <a:stretch>
                        <a:fillRect/>
                      </a:stretch>
                    </p:blipFill>
                    <p:spPr>
                      <a:xfrm>
                        <a:off x="2895600" y="2057400"/>
                        <a:ext cx="3505200" cy="1038225"/>
                      </a:xfrm>
                      <a:prstGeom prst="rect">
                        <a:avLst/>
                      </a:prstGeom>
                      <a:solidFill>
                        <a:srgbClr val="C00000"/>
                      </a:solidFill>
                      <a:ln w="38100">
                        <a:noFill/>
                        <a:miter/>
                      </a:ln>
                    </p:spPr>
                  </p:pic>
                </p:oleObj>
              </mc:Fallback>
            </mc:AlternateContent>
          </a:graphicData>
        </a:graphic>
      </p:graphicFrame>
      <p:sp>
        <p:nvSpPr>
          <p:cNvPr id="92164" name="文本框 93190"/>
          <p:cNvSpPr txBox="1"/>
          <p:nvPr/>
        </p:nvSpPr>
        <p:spPr>
          <a:xfrm>
            <a:off x="228600" y="3200400"/>
            <a:ext cx="76009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6-29</a:t>
            </a:r>
            <a:r>
              <a:rPr lang="zh-CN" altLang="en-US" dirty="0">
                <a:latin typeface="Times New Roman" panose="02020603050405020304" pitchFamily="18" charset="0"/>
                <a:ea typeface="宋体" panose="02010600030101010101" pitchFamily="2" charset="-122"/>
              </a:rPr>
              <a:t>）可知，理想低通滤波器的单位脉冲响应为 </a:t>
            </a:r>
            <a:endParaRPr lang="zh-CN" altLang="en-US" dirty="0">
              <a:latin typeface="Times New Roman" panose="02020603050405020304" pitchFamily="18" charset="0"/>
              <a:ea typeface="宋体" panose="02010600030101010101" pitchFamily="2" charset="-122"/>
            </a:endParaRPr>
          </a:p>
        </p:txBody>
      </p:sp>
      <p:graphicFrame>
        <p:nvGraphicFramePr>
          <p:cNvPr id="92165" name="对象 93191"/>
          <p:cNvGraphicFramePr/>
          <p:nvPr/>
        </p:nvGraphicFramePr>
        <p:xfrm>
          <a:off x="1524000" y="3962400"/>
          <a:ext cx="2667000" cy="792163"/>
        </p:xfrm>
        <a:graphic>
          <a:graphicData uri="http://schemas.openxmlformats.org/presentationml/2006/ole">
            <mc:AlternateContent xmlns:mc="http://schemas.openxmlformats.org/markup-compatibility/2006">
              <mc:Choice xmlns:v="urn:schemas-microsoft-com:vml" Requires="v">
                <p:oleObj spid="_x0000_s3195" name="" r:id="rId5" imgW="1409700" imgH="419100" progId="Equation.3">
                  <p:embed/>
                </p:oleObj>
              </mc:Choice>
              <mc:Fallback>
                <p:oleObj name="" r:id="rId5" imgW="1409700" imgH="419100" progId="Equation.3">
                  <p:embed/>
                  <p:pic>
                    <p:nvPicPr>
                      <p:cNvPr id="0" name="图片 3194"/>
                      <p:cNvPicPr/>
                      <p:nvPr/>
                    </p:nvPicPr>
                    <p:blipFill>
                      <a:blip r:embed="rId6"/>
                      <a:stretch>
                        <a:fillRect/>
                      </a:stretch>
                    </p:blipFill>
                    <p:spPr>
                      <a:xfrm>
                        <a:off x="1524000" y="3962400"/>
                        <a:ext cx="2667000" cy="792163"/>
                      </a:xfrm>
                      <a:prstGeom prst="rect">
                        <a:avLst/>
                      </a:prstGeom>
                      <a:solidFill>
                        <a:schemeClr val="accent1"/>
                      </a:solidFill>
                      <a:ln w="38100">
                        <a:noFill/>
                        <a:miter/>
                      </a:ln>
                    </p:spPr>
                  </p:pic>
                </p:oleObj>
              </mc:Fallback>
            </mc:AlternateContent>
          </a:graphicData>
        </a:graphic>
      </p:graphicFrame>
      <p:graphicFrame>
        <p:nvGraphicFramePr>
          <p:cNvPr id="92166" name="对象 93192"/>
          <p:cNvGraphicFramePr/>
          <p:nvPr/>
        </p:nvGraphicFramePr>
        <p:xfrm>
          <a:off x="5334000" y="4038600"/>
          <a:ext cx="1238250" cy="752475"/>
        </p:xfrm>
        <a:graphic>
          <a:graphicData uri="http://schemas.openxmlformats.org/presentationml/2006/ole">
            <mc:AlternateContent xmlns:mc="http://schemas.openxmlformats.org/markup-compatibility/2006">
              <mc:Choice xmlns:v="urn:schemas-microsoft-com:vml" Requires="v">
                <p:oleObj spid="_x0000_s3189" name="" r:id="rId7" imgW="647700" imgH="393700" progId="Equation.3">
                  <p:embed/>
                </p:oleObj>
              </mc:Choice>
              <mc:Fallback>
                <p:oleObj name="" r:id="rId7" imgW="647700" imgH="393700" progId="Equation.3">
                  <p:embed/>
                  <p:pic>
                    <p:nvPicPr>
                      <p:cNvPr id="0" name="图片 3188"/>
                      <p:cNvPicPr/>
                      <p:nvPr/>
                    </p:nvPicPr>
                    <p:blipFill>
                      <a:blip r:embed="rId8"/>
                      <a:stretch>
                        <a:fillRect/>
                      </a:stretch>
                    </p:blipFill>
                    <p:spPr>
                      <a:xfrm>
                        <a:off x="5334000" y="4038600"/>
                        <a:ext cx="1238250" cy="752475"/>
                      </a:xfrm>
                      <a:prstGeom prst="rect">
                        <a:avLst/>
                      </a:prstGeom>
                      <a:solidFill>
                        <a:schemeClr val="accent1"/>
                      </a:solidFill>
                      <a:ln w="38100">
                        <a:noFill/>
                        <a:miter/>
                      </a:ln>
                    </p:spPr>
                  </p:pic>
                </p:oleObj>
              </mc:Fallback>
            </mc:AlternateContent>
          </a:graphicData>
        </a:graphic>
      </p:graphicFrame>
      <p:sp>
        <p:nvSpPr>
          <p:cNvPr id="92167" name="文本框 93193"/>
          <p:cNvSpPr txBox="1"/>
          <p:nvPr/>
        </p:nvSpPr>
        <p:spPr>
          <a:xfrm>
            <a:off x="304800" y="4876800"/>
            <a:ext cx="1479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海明窗为 </a:t>
            </a:r>
            <a:endParaRPr lang="zh-CN" altLang="en-US" dirty="0">
              <a:latin typeface="Times New Roman" panose="02020603050405020304" pitchFamily="18" charset="0"/>
              <a:ea typeface="宋体" panose="02010600030101010101" pitchFamily="2" charset="-122"/>
            </a:endParaRPr>
          </a:p>
        </p:txBody>
      </p:sp>
      <p:graphicFrame>
        <p:nvGraphicFramePr>
          <p:cNvPr id="92168" name="对象 93194"/>
          <p:cNvGraphicFramePr/>
          <p:nvPr/>
        </p:nvGraphicFramePr>
        <p:xfrm>
          <a:off x="1981200" y="5029200"/>
          <a:ext cx="5715000" cy="1100138"/>
        </p:xfrm>
        <a:graphic>
          <a:graphicData uri="http://schemas.openxmlformats.org/presentationml/2006/ole">
            <mc:AlternateContent xmlns:mc="http://schemas.openxmlformats.org/markup-compatibility/2006">
              <mc:Choice xmlns:v="urn:schemas-microsoft-com:vml" Requires="v">
                <p:oleObj spid="_x0000_s3196" name="" r:id="rId9" imgW="2374900" imgH="457200" progId="Equation.3">
                  <p:embed/>
                </p:oleObj>
              </mc:Choice>
              <mc:Fallback>
                <p:oleObj name="" r:id="rId9" imgW="2374900" imgH="457200" progId="Equation.3">
                  <p:embed/>
                  <p:pic>
                    <p:nvPicPr>
                      <p:cNvPr id="0" name="图片 3195"/>
                      <p:cNvPicPr/>
                      <p:nvPr/>
                    </p:nvPicPr>
                    <p:blipFill>
                      <a:blip r:embed="rId10"/>
                      <a:stretch>
                        <a:fillRect/>
                      </a:stretch>
                    </p:blipFill>
                    <p:spPr>
                      <a:xfrm>
                        <a:off x="1981200" y="5029200"/>
                        <a:ext cx="5715000" cy="1100138"/>
                      </a:xfrm>
                      <a:prstGeom prst="rect">
                        <a:avLst/>
                      </a:prstGeom>
                      <a:noFill/>
                      <a:ln w="38100">
                        <a:noFill/>
                        <a:miter/>
                      </a:ln>
                    </p:spPr>
                  </p:pic>
                </p:oleObj>
              </mc:Fallback>
            </mc:AlternateContent>
          </a:graphicData>
        </a:graphic>
      </p:graphicFrame>
    </p:spTree>
  </p:cSld>
  <p:clrMapOvr>
    <a:masterClrMapping/>
  </p:clrMapOvr>
  <p:transition>
    <p:zoom dir="in"/>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文本框 92163"/>
          <p:cNvSpPr txBox="1"/>
          <p:nvPr/>
        </p:nvSpPr>
        <p:spPr>
          <a:xfrm>
            <a:off x="228600" y="685800"/>
            <a:ext cx="513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则所设计的滤波器的单位脉冲响应为 </a:t>
            </a:r>
            <a:endParaRPr lang="zh-CN" altLang="en-US" dirty="0">
              <a:latin typeface="Times New Roman" panose="02020603050405020304" pitchFamily="18" charset="0"/>
              <a:ea typeface="宋体" panose="02010600030101010101" pitchFamily="2" charset="-122"/>
            </a:endParaRPr>
          </a:p>
        </p:txBody>
      </p:sp>
      <p:graphicFrame>
        <p:nvGraphicFramePr>
          <p:cNvPr id="93186" name="对象 92164"/>
          <p:cNvGraphicFramePr/>
          <p:nvPr/>
        </p:nvGraphicFramePr>
        <p:xfrm>
          <a:off x="587375" y="1295400"/>
          <a:ext cx="6902450" cy="963613"/>
        </p:xfrm>
        <a:graphic>
          <a:graphicData uri="http://schemas.openxmlformats.org/presentationml/2006/ole">
            <mc:AlternateContent xmlns:mc="http://schemas.openxmlformats.org/markup-compatibility/2006">
              <mc:Choice xmlns:v="urn:schemas-microsoft-com:vml" Requires="v">
                <p:oleObj spid="_x0000_s3191" name="" r:id="rId1" imgW="3276600" imgH="457200" progId="Equation.3">
                  <p:embed/>
                </p:oleObj>
              </mc:Choice>
              <mc:Fallback>
                <p:oleObj name="" r:id="rId1" imgW="3276600" imgH="457200" progId="Equation.3">
                  <p:embed/>
                  <p:pic>
                    <p:nvPicPr>
                      <p:cNvPr id="0" name="图片 3190"/>
                      <p:cNvPicPr/>
                      <p:nvPr/>
                    </p:nvPicPr>
                    <p:blipFill>
                      <a:blip r:embed="rId2"/>
                      <a:stretch>
                        <a:fillRect/>
                      </a:stretch>
                    </p:blipFill>
                    <p:spPr>
                      <a:xfrm>
                        <a:off x="587375" y="1295400"/>
                        <a:ext cx="6902450" cy="963613"/>
                      </a:xfrm>
                      <a:prstGeom prst="rect">
                        <a:avLst/>
                      </a:prstGeom>
                      <a:noFill/>
                      <a:ln w="38100">
                        <a:noFill/>
                        <a:miter/>
                      </a:ln>
                    </p:spPr>
                  </p:pic>
                </p:oleObj>
              </mc:Fallback>
            </mc:AlternateContent>
          </a:graphicData>
        </a:graphic>
      </p:graphicFrame>
      <p:sp>
        <p:nvSpPr>
          <p:cNvPr id="93187" name="文本框 92165"/>
          <p:cNvSpPr txBox="1"/>
          <p:nvPr/>
        </p:nvSpPr>
        <p:spPr>
          <a:xfrm>
            <a:off x="8077200" y="1524000"/>
            <a:ext cx="939800" cy="457200"/>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=80 </a:t>
            </a:r>
            <a:endParaRPr lang="en-US" altLang="zh-CN" dirty="0">
              <a:latin typeface="Times New Roman" panose="02020603050405020304" pitchFamily="18" charset="0"/>
              <a:ea typeface="宋体" panose="02010600030101010101" pitchFamily="2" charset="-122"/>
            </a:endParaRPr>
          </a:p>
        </p:txBody>
      </p:sp>
      <p:sp>
        <p:nvSpPr>
          <p:cNvPr id="93188" name="文本框 92166"/>
          <p:cNvSpPr txBox="1"/>
          <p:nvPr/>
        </p:nvSpPr>
        <p:spPr>
          <a:xfrm>
            <a:off x="304800" y="2514600"/>
            <a:ext cx="4222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所设计的滤波器的频率响应为 </a:t>
            </a:r>
            <a:endParaRPr lang="zh-CN" altLang="en-US" dirty="0">
              <a:latin typeface="Times New Roman" panose="02020603050405020304" pitchFamily="18" charset="0"/>
              <a:ea typeface="宋体" panose="02010600030101010101" pitchFamily="2" charset="-122"/>
            </a:endParaRPr>
          </a:p>
        </p:txBody>
      </p:sp>
      <p:graphicFrame>
        <p:nvGraphicFramePr>
          <p:cNvPr id="93189" name="对象 92167"/>
          <p:cNvGraphicFramePr/>
          <p:nvPr/>
        </p:nvGraphicFramePr>
        <p:xfrm>
          <a:off x="2971800" y="2971800"/>
          <a:ext cx="3206750" cy="1000125"/>
        </p:xfrm>
        <a:graphic>
          <a:graphicData uri="http://schemas.openxmlformats.org/presentationml/2006/ole">
            <mc:AlternateContent xmlns:mc="http://schemas.openxmlformats.org/markup-compatibility/2006">
              <mc:Choice xmlns:v="urn:schemas-microsoft-com:vml" Requires="v">
                <p:oleObj spid="_x0000_s3198" name="" r:id="rId3" imgW="1383665" imgH="431800" progId="Equation.3">
                  <p:embed/>
                </p:oleObj>
              </mc:Choice>
              <mc:Fallback>
                <p:oleObj name="" r:id="rId3" imgW="1383665" imgH="431800" progId="Equation.3">
                  <p:embed/>
                  <p:pic>
                    <p:nvPicPr>
                      <p:cNvPr id="0" name="图片 3197"/>
                      <p:cNvPicPr/>
                      <p:nvPr/>
                    </p:nvPicPr>
                    <p:blipFill>
                      <a:blip r:embed="rId4"/>
                      <a:stretch>
                        <a:fillRect/>
                      </a:stretch>
                    </p:blipFill>
                    <p:spPr>
                      <a:xfrm>
                        <a:off x="2971800" y="2971800"/>
                        <a:ext cx="3206750" cy="1000125"/>
                      </a:xfrm>
                      <a:prstGeom prst="rect">
                        <a:avLst/>
                      </a:prstGeom>
                      <a:noFill/>
                      <a:ln w="38100">
                        <a:noFill/>
                        <a:miter/>
                      </a:ln>
                    </p:spPr>
                  </p:pic>
                </p:oleObj>
              </mc:Fallback>
            </mc:AlternateContent>
          </a:graphicData>
        </a:graphic>
      </p:graphicFrame>
      <p:sp>
        <p:nvSpPr>
          <p:cNvPr id="93190" name="文本框 92168"/>
          <p:cNvSpPr txBox="1"/>
          <p:nvPr/>
        </p:nvSpPr>
        <p:spPr>
          <a:xfrm>
            <a:off x="0" y="3962400"/>
            <a:ext cx="8991600" cy="2465388"/>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利用计算机编程实现，结果如图</a:t>
            </a:r>
            <a:r>
              <a:rPr lang="en-US" altLang="zh-CN" dirty="0">
                <a:latin typeface="Times New Roman" panose="02020603050405020304" pitchFamily="18" charset="0"/>
                <a:ea typeface="宋体" panose="02010600030101010101" pitchFamily="2" charset="-122"/>
              </a:rPr>
              <a:t>6-15 </a:t>
            </a:r>
            <a:r>
              <a:rPr lang="zh-CN" altLang="en-US" dirty="0">
                <a:latin typeface="Times New Roman" panose="02020603050405020304" pitchFamily="18" charset="0"/>
                <a:ea typeface="宋体" panose="02010600030101010101" pitchFamily="2" charset="-122"/>
              </a:rPr>
              <a:t>所示。图</a:t>
            </a:r>
            <a:r>
              <a:rPr lang="en-US" altLang="zh-CN" dirty="0">
                <a:latin typeface="Times New Roman" panose="02020603050405020304" pitchFamily="18" charset="0"/>
                <a:ea typeface="宋体" panose="02010600030101010101" pitchFamily="2" charset="-122"/>
              </a:rPr>
              <a:t>6-15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）是理想低通滤波器的单位脉冲响应</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6-15(b)</a:t>
            </a:r>
            <a:r>
              <a:rPr lang="zh-CN" altLang="en-US" dirty="0">
                <a:latin typeface="Times New Roman" panose="02020603050405020304" pitchFamily="18" charset="0"/>
                <a:ea typeface="宋体" panose="02010600030101010101" pitchFamily="2" charset="-122"/>
              </a:rPr>
              <a:t>是海明窗函数</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6-15(c) </a:t>
            </a:r>
            <a:r>
              <a:rPr lang="zh-CN" altLang="en-US" dirty="0">
                <a:latin typeface="Times New Roman" panose="02020603050405020304" pitchFamily="18" charset="0"/>
                <a:ea typeface="宋体" panose="02010600030101010101" pitchFamily="2" charset="-122"/>
              </a:rPr>
              <a:t>是实际低通滤波器的单位脉冲响应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6-15(d)</a:t>
            </a:r>
            <a:r>
              <a:rPr lang="zh-CN" altLang="en-US" dirty="0">
                <a:latin typeface="Times New Roman" panose="02020603050405020304" pitchFamily="18" charset="0"/>
                <a:ea typeface="宋体" panose="02010600030101010101" pitchFamily="2" charset="-122"/>
              </a:rPr>
              <a:t>是实际低通滤波器的幅频特性</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a:t>
            </a:r>
            <a:r>
              <a:rPr lang="en-US" altLang="zh-CN" dirty="0">
                <a:latin typeface="Times New Roman" panose="02020603050405020304" pitchFamily="18" charset="0"/>
                <a:ea typeface="宋体" panose="02010600030101010101" pitchFamily="2" charset="-122"/>
              </a:rPr>
              <a:t>dB</a:t>
            </a:r>
            <a:r>
              <a:rPr lang="zh-CN" altLang="en-US" dirty="0">
                <a:latin typeface="Times New Roman" panose="02020603050405020304" pitchFamily="18" charset="0"/>
                <a:ea typeface="宋体" panose="02010600030101010101" pitchFamily="2" charset="-122"/>
              </a:rPr>
              <a:t>为单位。滤波器长</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=80</a:t>
            </a:r>
            <a:r>
              <a:rPr lang="zh-CN" altLang="en-US" dirty="0">
                <a:latin typeface="Times New Roman" panose="02020603050405020304" pitchFamily="18" charset="0"/>
                <a:ea typeface="宋体" panose="02010600030101010101" pitchFamily="2" charset="-122"/>
              </a:rPr>
              <a:t>，实际阻带衰减为</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=53dB</a:t>
            </a:r>
            <a:r>
              <a:rPr lang="zh-CN" altLang="en-US" dirty="0">
                <a:latin typeface="Times New Roman" panose="02020603050405020304" pitchFamily="18" charset="0"/>
                <a:ea typeface="宋体" panose="02010600030101010101" pitchFamily="2" charset="-122"/>
              </a:rPr>
              <a:t>，通带波动为</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=0.0316 dB</a:t>
            </a:r>
            <a:r>
              <a:rPr lang="zh-CN" altLang="en-US" dirty="0">
                <a:latin typeface="Times New Roman" panose="02020603050405020304" pitchFamily="18" charset="0"/>
                <a:ea typeface="宋体" panose="02010600030101010101" pitchFamily="2" charset="-122"/>
              </a:rPr>
              <a:t>，均满足设计要求。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文本框 95235"/>
          <p:cNvSpPr txBox="1"/>
          <p:nvPr/>
        </p:nvSpPr>
        <p:spPr>
          <a:xfrm>
            <a:off x="2268220" y="6400800"/>
            <a:ext cx="5035550" cy="457200"/>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6-15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6-7</a:t>
            </a:r>
            <a:r>
              <a:rPr lang="zh-CN" altLang="en-US" dirty="0">
                <a:latin typeface="Times New Roman" panose="02020603050405020304" pitchFamily="18" charset="0"/>
                <a:ea typeface="宋体" panose="02010600030101010101" pitchFamily="2" charset="-122"/>
              </a:rPr>
              <a:t>中低通滤波器设计结果 </a:t>
            </a:r>
            <a:endParaRPr lang="zh-CN" altLang="en-US" dirty="0">
              <a:latin typeface="Times New Roman" panose="02020603050405020304" pitchFamily="18" charset="0"/>
              <a:ea typeface="宋体" panose="02010600030101010101" pitchFamily="2" charset="-122"/>
            </a:endParaRPr>
          </a:p>
        </p:txBody>
      </p:sp>
      <p:pic>
        <p:nvPicPr>
          <p:cNvPr id="94210" name="图片 95238" descr="6-15"/>
          <p:cNvPicPr>
            <a:picLocks noChangeAspect="1"/>
          </p:cNvPicPr>
          <p:nvPr/>
        </p:nvPicPr>
        <p:blipFill>
          <a:blip r:embed="rId1"/>
          <a:stretch>
            <a:fillRect/>
          </a:stretch>
        </p:blipFill>
        <p:spPr>
          <a:xfrm>
            <a:off x="889000" y="549275"/>
            <a:ext cx="6851650" cy="5476875"/>
          </a:xfrm>
          <a:prstGeom prst="rect">
            <a:avLst/>
          </a:prstGeom>
          <a:noFill/>
          <a:ln w="9525">
            <a:noFill/>
          </a:ln>
        </p:spPr>
      </p:pic>
      <p:sp>
        <p:nvSpPr>
          <p:cNvPr id="2" name="文本框 95235"/>
          <p:cNvSpPr txBox="1"/>
          <p:nvPr/>
        </p:nvSpPr>
        <p:spPr>
          <a:xfrm>
            <a:off x="467360" y="2781300"/>
            <a:ext cx="2269490" cy="379730"/>
          </a:xfrm>
          <a:prstGeom prst="rect">
            <a:avLst/>
          </a:prstGeom>
          <a:solidFill>
            <a:schemeClr val="accent1"/>
          </a:solidFill>
          <a:ln w="9525">
            <a:noFill/>
          </a:ln>
        </p:spPr>
        <p:txBody>
          <a:bodyPr wrap="none" anchor="t">
            <a:noAutofit/>
          </a:bodyPr>
          <a:p>
            <a:r>
              <a:rPr lang="zh-CN" altLang="en-US" dirty="0">
                <a:latin typeface="Times New Roman" panose="02020603050405020304" pitchFamily="18" charset="0"/>
                <a:ea typeface="宋体" panose="02010600030101010101" pitchFamily="2" charset="-122"/>
              </a:rPr>
              <a:t>理想低通滤波器 </a:t>
            </a:r>
            <a:endParaRPr lang="zh-CN" altLang="en-US" dirty="0">
              <a:latin typeface="Times New Roman" panose="02020603050405020304" pitchFamily="18" charset="0"/>
              <a:ea typeface="宋体" panose="02010600030101010101" pitchFamily="2" charset="-122"/>
            </a:endParaRPr>
          </a:p>
        </p:txBody>
      </p:sp>
      <p:sp>
        <p:nvSpPr>
          <p:cNvPr id="3" name="文本框 95235"/>
          <p:cNvSpPr txBox="1"/>
          <p:nvPr/>
        </p:nvSpPr>
        <p:spPr>
          <a:xfrm>
            <a:off x="7812405" y="2637155"/>
            <a:ext cx="1085215" cy="379730"/>
          </a:xfrm>
          <a:prstGeom prst="rect">
            <a:avLst/>
          </a:prstGeom>
          <a:solidFill>
            <a:schemeClr val="accent1"/>
          </a:solidFill>
          <a:ln w="9525">
            <a:noFill/>
          </a:ln>
        </p:spPr>
        <p:txBody>
          <a:bodyPr wrap="none" anchor="t">
            <a:noAutofit/>
          </a:bodyPr>
          <a:p>
            <a:r>
              <a:rPr lang="zh-CN" altLang="en-US" dirty="0">
                <a:latin typeface="Times New Roman" panose="02020603050405020304" pitchFamily="18" charset="0"/>
                <a:ea typeface="宋体" panose="02010600030101010101" pitchFamily="2" charset="-122"/>
              </a:rPr>
              <a:t>海明窗 </a:t>
            </a:r>
            <a:endParaRPr lang="zh-CN" altLang="en-US" dirty="0">
              <a:latin typeface="Times New Roman" panose="02020603050405020304" pitchFamily="18" charset="0"/>
              <a:ea typeface="宋体" panose="02010600030101010101" pitchFamily="2" charset="-122"/>
            </a:endParaRPr>
          </a:p>
        </p:txBody>
      </p:sp>
      <p:sp>
        <p:nvSpPr>
          <p:cNvPr id="4" name="文本框 95235"/>
          <p:cNvSpPr txBox="1"/>
          <p:nvPr>
            <p:custDataLst>
              <p:tags r:id="rId2"/>
            </p:custDataLst>
          </p:nvPr>
        </p:nvSpPr>
        <p:spPr>
          <a:xfrm>
            <a:off x="467360" y="5661660"/>
            <a:ext cx="2218055" cy="379730"/>
          </a:xfrm>
          <a:prstGeom prst="rect">
            <a:avLst/>
          </a:prstGeom>
          <a:solidFill>
            <a:schemeClr val="accent1"/>
          </a:solidFill>
          <a:ln w="9525">
            <a:noFill/>
          </a:ln>
        </p:spPr>
        <p:txBody>
          <a:bodyPr wrap="none" anchor="t">
            <a:noAutofit/>
          </a:bodyPr>
          <a:p>
            <a:r>
              <a:rPr lang="zh-CN" altLang="en-US" dirty="0">
                <a:latin typeface="Times New Roman" panose="02020603050405020304" pitchFamily="18" charset="0"/>
                <a:ea typeface="宋体" panose="02010600030101010101" pitchFamily="2" charset="-122"/>
              </a:rPr>
              <a:t>实际低通滤波器 </a:t>
            </a:r>
            <a:endParaRPr lang="zh-CN" altLang="en-US" dirty="0">
              <a:latin typeface="Times New Roman" panose="02020603050405020304" pitchFamily="18" charset="0"/>
              <a:ea typeface="宋体" panose="02010600030101010101" pitchFamily="2" charset="-122"/>
            </a:endParaRPr>
          </a:p>
        </p:txBody>
      </p:sp>
      <p:sp>
        <p:nvSpPr>
          <p:cNvPr id="5" name="文本框 95235"/>
          <p:cNvSpPr txBox="1"/>
          <p:nvPr>
            <p:custDataLst>
              <p:tags r:id="rId3"/>
            </p:custDataLst>
          </p:nvPr>
        </p:nvSpPr>
        <p:spPr>
          <a:xfrm>
            <a:off x="7226300" y="5589270"/>
            <a:ext cx="1917700" cy="379730"/>
          </a:xfrm>
          <a:prstGeom prst="rect">
            <a:avLst/>
          </a:prstGeom>
          <a:solidFill>
            <a:schemeClr val="accent1"/>
          </a:solidFill>
          <a:ln w="9525">
            <a:noFill/>
          </a:ln>
        </p:spPr>
        <p:txBody>
          <a:bodyPr wrap="none" anchor="t">
            <a:noAutofit/>
          </a:bodyPr>
          <a:p>
            <a:r>
              <a:rPr lang="zh-CN" altLang="en-US" dirty="0">
                <a:latin typeface="Times New Roman" panose="02020603050405020304" pitchFamily="18" charset="0"/>
                <a:ea typeface="宋体" panose="02010600030101010101" pitchFamily="2" charset="-122"/>
              </a:rPr>
              <a:t>幅度特性曲线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animBg="1"/>
      <p:bldP spid="4" grpId="0" bldLvl="0" animBg="1"/>
      <p:bldP spid="5"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文本框 94211"/>
          <p:cNvSpPr txBox="1"/>
          <p:nvPr/>
        </p:nvSpPr>
        <p:spPr>
          <a:xfrm>
            <a:off x="304800" y="914400"/>
            <a:ext cx="8610600" cy="3013075"/>
          </a:xfrm>
          <a:prstGeom prst="rect">
            <a:avLst/>
          </a:prstGeom>
          <a:noFill/>
          <a:ln w="9525">
            <a:noFill/>
          </a:ln>
        </p:spPr>
        <p:txBody>
          <a:bodyPr anchor="t">
            <a:spAutoFit/>
          </a:bodyPr>
          <a:p>
            <a:pPr algn="just">
              <a:lnSpc>
                <a:spcPct val="20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窗口法设计的主要优点是简单，使用方便。窗口函数大多有封闭的公式可循，性能、参数都已有表格、资料可供参考， 计算程序简便， 所以很实用。缺点是通带和阻带的截止频率不易控制。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187450" y="3789363"/>
            <a:ext cx="6121400"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2" name="矩形 1"/>
          <p:cNvSpPr/>
          <p:nvPr/>
        </p:nvSpPr>
        <p:spPr>
          <a:xfrm>
            <a:off x="3014663" y="1412875"/>
            <a:ext cx="727075"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96259" name="文本框 98307"/>
          <p:cNvSpPr txBox="1"/>
          <p:nvPr/>
        </p:nvSpPr>
        <p:spPr>
          <a:xfrm>
            <a:off x="1752600" y="609600"/>
            <a:ext cx="6084888" cy="584200"/>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6.3 </a:t>
            </a:r>
            <a:r>
              <a:rPr lang="zh-CN" altLang="en-US" sz="3200" b="1" dirty="0">
                <a:latin typeface="Times New Roman" panose="02020603050405020304" pitchFamily="18" charset="0"/>
                <a:ea typeface="宋体" panose="02010600030101010101" pitchFamily="2" charset="-122"/>
              </a:rPr>
              <a:t>用</a:t>
            </a:r>
            <a:r>
              <a:rPr lang="zh-CN" altLang="en-US" sz="3200" b="1" u="sng" dirty="0">
                <a:solidFill>
                  <a:srgbClr val="FF0000"/>
                </a:solidFill>
                <a:latin typeface="Times New Roman" panose="02020603050405020304" pitchFamily="18" charset="0"/>
                <a:ea typeface="宋体" panose="02010600030101010101" pitchFamily="2" charset="-122"/>
              </a:rPr>
              <a:t>频率采样法</a:t>
            </a:r>
            <a:r>
              <a:rPr lang="zh-CN" altLang="en-US" sz="3200" b="1" dirty="0">
                <a:latin typeface="Times New Roman" panose="02020603050405020304" pitchFamily="18" charset="0"/>
                <a:ea typeface="宋体" panose="02010600030101010101" pitchFamily="2" charset="-122"/>
              </a:rPr>
              <a:t>设计</a:t>
            </a:r>
            <a:r>
              <a:rPr lang="en-US" altLang="zh-CN" sz="3200" b="1" dirty="0">
                <a:latin typeface="Times New Roman" panose="02020603050405020304" pitchFamily="18" charset="0"/>
                <a:ea typeface="宋体" panose="02010600030101010101" pitchFamily="2" charset="-122"/>
              </a:rPr>
              <a:t>FIR</a:t>
            </a:r>
            <a:r>
              <a:rPr lang="zh-CN" altLang="en-US" sz="3200" b="1" dirty="0">
                <a:latin typeface="Times New Roman" panose="02020603050405020304" pitchFamily="18" charset="0"/>
                <a:ea typeface="宋体" panose="02010600030101010101" pitchFamily="2" charset="-122"/>
              </a:rPr>
              <a:t>滤波器 </a:t>
            </a:r>
            <a:endParaRPr lang="zh-CN" altLang="en-US" sz="3200" b="1" dirty="0">
              <a:latin typeface="Times New Roman" panose="02020603050405020304" pitchFamily="18" charset="0"/>
              <a:ea typeface="宋体" panose="02010600030101010101" pitchFamily="2" charset="-122"/>
            </a:endParaRPr>
          </a:p>
        </p:txBody>
      </p:sp>
      <p:sp>
        <p:nvSpPr>
          <p:cNvPr id="96260" name="文本框 98308"/>
          <p:cNvSpPr txBox="1"/>
          <p:nvPr/>
        </p:nvSpPr>
        <p:spPr>
          <a:xfrm>
            <a:off x="152400" y="1447800"/>
            <a:ext cx="8839200" cy="1079500"/>
          </a:xfrm>
          <a:prstGeom prst="rect">
            <a:avLst/>
          </a:prstGeom>
          <a:noFill/>
          <a:ln w="9525">
            <a:noFill/>
          </a:ln>
        </p:spPr>
        <p:txBody>
          <a:bodyPr anchor="t">
            <a:spAutoFit/>
          </a:bodyPr>
          <a:p>
            <a:pPr algn="just">
              <a:lnSpc>
                <a:spcPct val="135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频率采样法是从频域出发，把给定的理想频率响应</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以等间隔采样 </a:t>
            </a:r>
            <a:endParaRPr lang="zh-CN" altLang="en-US" dirty="0">
              <a:latin typeface="Times New Roman" panose="02020603050405020304" pitchFamily="18" charset="0"/>
              <a:ea typeface="宋体" panose="02010600030101010101" pitchFamily="2" charset="-122"/>
            </a:endParaRPr>
          </a:p>
        </p:txBody>
      </p:sp>
      <p:graphicFrame>
        <p:nvGraphicFramePr>
          <p:cNvPr id="96261" name="对象 98309"/>
          <p:cNvGraphicFramePr/>
          <p:nvPr/>
        </p:nvGraphicFramePr>
        <p:xfrm>
          <a:off x="1835785" y="2204720"/>
          <a:ext cx="5571490" cy="1203325"/>
        </p:xfrm>
        <a:graphic>
          <a:graphicData uri="http://schemas.openxmlformats.org/presentationml/2006/ole">
            <mc:AlternateContent xmlns:mc="http://schemas.openxmlformats.org/markup-compatibility/2006">
              <mc:Choice xmlns:v="urn:schemas-microsoft-com:vml" Requires="v">
                <p:oleObj spid="_x0000_s3200" name="" r:id="rId1" imgW="2234565" imgH="482600" progId="Equation.3">
                  <p:embed/>
                </p:oleObj>
              </mc:Choice>
              <mc:Fallback>
                <p:oleObj name="" r:id="rId1" imgW="2234565" imgH="482600" progId="Equation.3">
                  <p:embed/>
                  <p:pic>
                    <p:nvPicPr>
                      <p:cNvPr id="0" name="图片 3199"/>
                      <p:cNvPicPr/>
                      <p:nvPr/>
                    </p:nvPicPr>
                    <p:blipFill>
                      <a:blip r:embed="rId2"/>
                      <a:stretch>
                        <a:fillRect/>
                      </a:stretch>
                    </p:blipFill>
                    <p:spPr>
                      <a:xfrm>
                        <a:off x="1835785" y="2204720"/>
                        <a:ext cx="5571490" cy="1203325"/>
                      </a:xfrm>
                      <a:prstGeom prst="rect">
                        <a:avLst/>
                      </a:prstGeom>
                      <a:solidFill>
                        <a:schemeClr val="accent1"/>
                      </a:solidFill>
                      <a:ln w="38100">
                        <a:noFill/>
                        <a:miter/>
                      </a:ln>
                    </p:spPr>
                  </p:pic>
                </p:oleObj>
              </mc:Fallback>
            </mc:AlternateContent>
          </a:graphicData>
        </a:graphic>
      </p:graphicFrame>
      <p:sp>
        <p:nvSpPr>
          <p:cNvPr id="96262" name="文本框 98310"/>
          <p:cNvSpPr txBox="1"/>
          <p:nvPr/>
        </p:nvSpPr>
        <p:spPr>
          <a:xfrm>
            <a:off x="7715250" y="25908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6-53</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96263" name="文本框 98311"/>
          <p:cNvSpPr txBox="1"/>
          <p:nvPr/>
        </p:nvSpPr>
        <p:spPr>
          <a:xfrm>
            <a:off x="76200" y="3276600"/>
            <a:ext cx="8991600" cy="2378075"/>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以此</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作为实际</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数字滤波器的频率响应的采样值</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，即令</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i="1"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baseline="-25000"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=2π</a:t>
            </a:r>
            <a:r>
              <a:rPr lang="en-US" altLang="zh-CN" i="1" baseline="-25000"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t>
            </a:r>
            <a:r>
              <a:rPr lang="en-US" altLang="zh-CN" i="1" baseline="-25000" dirty="0">
                <a:latin typeface="Times New Roman" panose="02020603050405020304" pitchFamily="18" charset="0"/>
                <a:ea typeface="宋体" panose="02010600030101010101" pitchFamily="2" charset="-122"/>
              </a:rPr>
              <a:t>N        </a:t>
            </a:r>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 2, </a:t>
            </a:r>
            <a:r>
              <a:rPr lang="en-US" altLang="zh-CN" dirty="0">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知道</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后</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IDFT</a:t>
            </a:r>
            <a:r>
              <a:rPr lang="zh-CN" altLang="en-US" dirty="0">
                <a:latin typeface="Times New Roman" panose="02020603050405020304" pitchFamily="18" charset="0"/>
                <a:ea typeface="宋体" panose="02010600030101010101" pitchFamily="2" charset="-122"/>
              </a:rPr>
              <a:t>定义</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可以用这</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个采样值</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来惟一确定有限长序列</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 </a:t>
            </a:r>
            <a:endParaRPr lang="zh-CN" altLang="en-US" dirty="0">
              <a:latin typeface="Times New Roman" panose="02020603050405020304" pitchFamily="18" charset="0"/>
              <a:ea typeface="宋体" panose="02010600030101010101" pitchFamily="2" charset="-122"/>
            </a:endParaRPr>
          </a:p>
        </p:txBody>
      </p:sp>
      <p:graphicFrame>
        <p:nvGraphicFramePr>
          <p:cNvPr id="96264" name="对象 98312"/>
          <p:cNvGraphicFramePr/>
          <p:nvPr/>
        </p:nvGraphicFramePr>
        <p:xfrm>
          <a:off x="1907858" y="5732463"/>
          <a:ext cx="3048000" cy="909637"/>
        </p:xfrm>
        <a:graphic>
          <a:graphicData uri="http://schemas.openxmlformats.org/presentationml/2006/ole">
            <mc:AlternateContent xmlns:mc="http://schemas.openxmlformats.org/markup-compatibility/2006">
              <mc:Choice xmlns:v="urn:schemas-microsoft-com:vml" Requires="v">
                <p:oleObj spid="_x0000_s3199" name="" r:id="rId3" imgW="1447165" imgH="431800" progId="Equation.3">
                  <p:embed/>
                </p:oleObj>
              </mc:Choice>
              <mc:Fallback>
                <p:oleObj name="" r:id="rId3" imgW="1447165" imgH="431800" progId="Equation.3">
                  <p:embed/>
                  <p:pic>
                    <p:nvPicPr>
                      <p:cNvPr id="0" name="图片 3198"/>
                      <p:cNvPicPr/>
                      <p:nvPr/>
                    </p:nvPicPr>
                    <p:blipFill>
                      <a:blip r:embed="rId4"/>
                      <a:stretch>
                        <a:fillRect/>
                      </a:stretch>
                    </p:blipFill>
                    <p:spPr>
                      <a:xfrm>
                        <a:off x="1907858" y="5732463"/>
                        <a:ext cx="3048000" cy="909637"/>
                      </a:xfrm>
                      <a:prstGeom prst="rect">
                        <a:avLst/>
                      </a:prstGeom>
                      <a:solidFill>
                        <a:schemeClr val="accent1"/>
                      </a:solidFill>
                      <a:ln w="38100">
                        <a:noFill/>
                        <a:miter/>
                      </a:ln>
                    </p:spPr>
                  </p:pic>
                </p:oleObj>
              </mc:Fallback>
            </mc:AlternateContent>
          </a:graphicData>
        </a:graphic>
      </p:graphicFrame>
      <p:sp>
        <p:nvSpPr>
          <p:cNvPr id="96265" name="文本框 98313"/>
          <p:cNvSpPr txBox="1"/>
          <p:nvPr/>
        </p:nvSpPr>
        <p:spPr>
          <a:xfrm>
            <a:off x="5441950" y="6019800"/>
            <a:ext cx="2413000" cy="457200"/>
          </a:xfrm>
          <a:prstGeom prst="rect">
            <a:avLst/>
          </a:prstGeom>
          <a:solidFill>
            <a:schemeClr val="accent1"/>
          </a:solid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n=0, 1, 2, …,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endParaRPr lang="en-US" altLang="zh-CN" dirty="0">
              <a:latin typeface="Times New Roman" panose="02020603050405020304" pitchFamily="18" charset="0"/>
              <a:ea typeface="宋体" panose="02010600030101010101" pitchFamily="2" charset="-122"/>
            </a:endParaRPr>
          </a:p>
        </p:txBody>
      </p:sp>
      <p:sp>
        <p:nvSpPr>
          <p:cNvPr id="96266" name="文本框 98314"/>
          <p:cNvSpPr txBox="1"/>
          <p:nvPr/>
        </p:nvSpPr>
        <p:spPr>
          <a:xfrm>
            <a:off x="8100695" y="5948680"/>
            <a:ext cx="1225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(6-55</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文本框 97283"/>
          <p:cNvSpPr txBox="1"/>
          <p:nvPr/>
        </p:nvSpPr>
        <p:spPr>
          <a:xfrm>
            <a:off x="212725" y="762000"/>
            <a:ext cx="8939213"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为待设计的滤波器</a:t>
            </a:r>
            <a:r>
              <a:rPr lang="zh-CN" altLang="en-US" dirty="0">
                <a:latin typeface="Times New Roman" panose="02020603050405020304" pitchFamily="18" charset="0"/>
                <a:ea typeface="宋体" panose="02010600030101010101" pitchFamily="2" charset="-122"/>
              </a:rPr>
              <a:t>的单位脉冲响应。其系统函数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dirty="0">
              <a:latin typeface="Times New Roman" panose="02020603050405020304" pitchFamily="18" charset="0"/>
              <a:ea typeface="宋体" panose="02010600030101010101" pitchFamily="2" charset="-122"/>
            </a:endParaRPr>
          </a:p>
        </p:txBody>
      </p:sp>
      <p:graphicFrame>
        <p:nvGraphicFramePr>
          <p:cNvPr id="97282" name="对象 97284"/>
          <p:cNvGraphicFramePr/>
          <p:nvPr/>
        </p:nvGraphicFramePr>
        <p:xfrm>
          <a:off x="3048000" y="1295400"/>
          <a:ext cx="2743200" cy="1014413"/>
        </p:xfrm>
        <a:graphic>
          <a:graphicData uri="http://schemas.openxmlformats.org/presentationml/2006/ole">
            <mc:AlternateContent xmlns:mc="http://schemas.openxmlformats.org/markup-compatibility/2006">
              <mc:Choice xmlns:v="urn:schemas-microsoft-com:vml" Requires="v">
                <p:oleObj spid="_x0000_s3201" name="" r:id="rId1" imgW="1167765" imgH="431800" progId="Equation.3">
                  <p:embed/>
                </p:oleObj>
              </mc:Choice>
              <mc:Fallback>
                <p:oleObj name="" r:id="rId1" imgW="1167765" imgH="431800" progId="Equation.3">
                  <p:embed/>
                  <p:pic>
                    <p:nvPicPr>
                      <p:cNvPr id="0" name="图片 3200"/>
                      <p:cNvPicPr/>
                      <p:nvPr/>
                    </p:nvPicPr>
                    <p:blipFill>
                      <a:blip r:embed="rId2"/>
                      <a:stretch>
                        <a:fillRect/>
                      </a:stretch>
                    </p:blipFill>
                    <p:spPr>
                      <a:xfrm>
                        <a:off x="3048000" y="1295400"/>
                        <a:ext cx="2743200" cy="1014413"/>
                      </a:xfrm>
                      <a:prstGeom prst="rect">
                        <a:avLst/>
                      </a:prstGeom>
                      <a:solidFill>
                        <a:schemeClr val="accent1"/>
                      </a:solidFill>
                      <a:ln w="38100">
                        <a:noFill/>
                        <a:miter/>
                      </a:ln>
                    </p:spPr>
                  </p:pic>
                </p:oleObj>
              </mc:Fallback>
            </mc:AlternateContent>
          </a:graphicData>
        </a:graphic>
      </p:graphicFrame>
      <p:sp>
        <p:nvSpPr>
          <p:cNvPr id="97283" name="文本框 97285"/>
          <p:cNvSpPr txBox="1"/>
          <p:nvPr/>
        </p:nvSpPr>
        <p:spPr>
          <a:xfrm>
            <a:off x="7315200" y="1676400"/>
            <a:ext cx="1225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(6-56</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97284" name="文本框 97286"/>
          <p:cNvSpPr txBox="1"/>
          <p:nvPr/>
        </p:nvSpPr>
        <p:spPr>
          <a:xfrm>
            <a:off x="152400" y="2522538"/>
            <a:ext cx="8839200" cy="1530350"/>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以上就是频率采样法设计滤波器的基本原理。此外，由频域</a:t>
            </a:r>
            <a:r>
              <a:rPr lang="zh-CN" altLang="en-US" b="1" dirty="0">
                <a:solidFill>
                  <a:srgbClr val="FF0000"/>
                </a:solidFill>
                <a:latin typeface="Times New Roman" panose="02020603050405020304" pitchFamily="18" charset="0"/>
                <a:ea typeface="宋体" panose="02010600030101010101" pitchFamily="2" charset="-122"/>
              </a:rPr>
              <a:t>内插</a:t>
            </a:r>
            <a:r>
              <a:rPr lang="zh-CN" altLang="en-US" dirty="0">
                <a:latin typeface="Times New Roman" panose="02020603050405020304" pitchFamily="18" charset="0"/>
                <a:ea typeface="宋体" panose="02010600030101010101" pitchFamily="2" charset="-122"/>
              </a:rPr>
              <a:t>公式知道，利用这</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个频域采样值</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同样可求得</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滤波器的系统</a:t>
            </a:r>
            <a:r>
              <a:rPr lang="zh-CN" altLang="en-US" b="1" dirty="0">
                <a:solidFill>
                  <a:srgbClr val="FF0000"/>
                </a:solidFill>
                <a:latin typeface="Times New Roman" panose="02020603050405020304" pitchFamily="18" charset="0"/>
                <a:ea typeface="宋体" panose="02010600030101010101" pitchFamily="2" charset="-122"/>
              </a:rPr>
              <a:t>函数</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z</a:t>
            </a:r>
            <a:r>
              <a:rPr lang="en-US" altLang="zh-CN" b="1" dirty="0">
                <a:solidFill>
                  <a:srgbClr val="FF00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97285" name="对象 97287"/>
          <p:cNvGraphicFramePr/>
          <p:nvPr/>
        </p:nvGraphicFramePr>
        <p:xfrm>
          <a:off x="2362200" y="4267200"/>
          <a:ext cx="4648200" cy="1187450"/>
        </p:xfrm>
        <a:graphic>
          <a:graphicData uri="http://schemas.openxmlformats.org/presentationml/2006/ole">
            <mc:AlternateContent xmlns:mc="http://schemas.openxmlformats.org/markup-compatibility/2006">
              <mc:Choice xmlns:v="urn:schemas-microsoft-com:vml" Requires="v">
                <p:oleObj spid="_x0000_s3202" name="" r:id="rId3" imgW="1790700" imgH="457200" progId="Equation.3">
                  <p:embed/>
                </p:oleObj>
              </mc:Choice>
              <mc:Fallback>
                <p:oleObj name="" r:id="rId3" imgW="1790700" imgH="457200" progId="Equation.3">
                  <p:embed/>
                  <p:pic>
                    <p:nvPicPr>
                      <p:cNvPr id="0" name="图片 3201"/>
                      <p:cNvPicPr/>
                      <p:nvPr/>
                    </p:nvPicPr>
                    <p:blipFill>
                      <a:blip r:embed="rId4"/>
                      <a:stretch>
                        <a:fillRect/>
                      </a:stretch>
                    </p:blipFill>
                    <p:spPr>
                      <a:xfrm>
                        <a:off x="2362200" y="4267200"/>
                        <a:ext cx="4648200" cy="1187450"/>
                      </a:xfrm>
                      <a:prstGeom prst="rect">
                        <a:avLst/>
                      </a:prstGeom>
                      <a:solidFill>
                        <a:schemeClr val="accent1"/>
                      </a:solidFill>
                      <a:ln w="38100">
                        <a:noFill/>
                        <a:miter/>
                      </a:ln>
                    </p:spPr>
                  </p:pic>
                </p:oleObj>
              </mc:Fallback>
            </mc:AlternateContent>
          </a:graphicData>
        </a:graphic>
      </p:graphicFrame>
      <p:sp>
        <p:nvSpPr>
          <p:cNvPr id="97286" name="文本框 97288"/>
          <p:cNvSpPr txBox="1"/>
          <p:nvPr/>
        </p:nvSpPr>
        <p:spPr>
          <a:xfrm>
            <a:off x="7467600" y="4648200"/>
            <a:ext cx="1225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(6-57</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979613" y="2781300"/>
            <a:ext cx="3240088"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98306" name="文本框 96259"/>
          <p:cNvSpPr txBox="1"/>
          <p:nvPr/>
        </p:nvSpPr>
        <p:spPr>
          <a:xfrm>
            <a:off x="152400" y="609600"/>
            <a:ext cx="8763000" cy="4429125"/>
          </a:xfrm>
          <a:prstGeom prst="rect">
            <a:avLst/>
          </a:prstGeom>
          <a:noFill/>
          <a:ln w="9525">
            <a:noFill/>
          </a:ln>
        </p:spPr>
        <p:txBody>
          <a:bodyPr anchor="t">
            <a:spAutoFit/>
          </a:bodyPr>
          <a:p>
            <a:pPr algn="just">
              <a:spcBef>
                <a:spcPct val="50000"/>
              </a:spcBef>
            </a:pPr>
            <a:r>
              <a:rPr lang="en-US" altLang="zh-CN" b="1" dirty="0">
                <a:solidFill>
                  <a:srgbClr val="FF0000"/>
                </a:solidFill>
                <a:latin typeface="Times New Roman" panose="02020603050405020304" pitchFamily="18" charset="0"/>
                <a:ea typeface="宋体" panose="02010600030101010101" pitchFamily="2" charset="-122"/>
              </a:rPr>
              <a:t>6.3.1 </a:t>
            </a:r>
            <a:r>
              <a:rPr lang="zh-CN" altLang="en-US" b="1" dirty="0">
                <a:solidFill>
                  <a:srgbClr val="FF0000"/>
                </a:solidFill>
                <a:latin typeface="Times New Roman" panose="02020603050405020304" pitchFamily="18" charset="0"/>
                <a:ea typeface="宋体" panose="02010600030101010101" pitchFamily="2" charset="-122"/>
              </a:rPr>
              <a:t>线性相位的约束</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如果我们设计的是线性相位的</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滤波器，则其采样值</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的幅度和相位一定要满足前面所讨论的四类线性相位滤波器的约束条件。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对于</a:t>
            </a:r>
            <a:r>
              <a:rPr lang="zh-CN" altLang="en-US" b="1" dirty="0">
                <a:solidFill>
                  <a:srgbClr val="FF0000"/>
                </a:solidFill>
                <a:latin typeface="Times New Roman" panose="02020603050405020304" pitchFamily="18" charset="0"/>
                <a:ea typeface="宋体" panose="02010600030101010101" pitchFamily="2" charset="-122"/>
              </a:rPr>
              <a:t>第一类线性相位滤波器，</a:t>
            </a:r>
            <a:r>
              <a:rPr lang="zh-CN" altLang="en-US" dirty="0">
                <a:latin typeface="Times New Roman" panose="02020603050405020304" pitchFamily="18" charset="0"/>
                <a:ea typeface="宋体" panose="02010600030101010101" pitchFamily="2" charset="-122"/>
              </a:rPr>
              <a:t> 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偶对称， 长度</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 </a:t>
            </a:r>
            <a:endParaRPr lang="zh-CN" altLang="en-US" dirty="0">
              <a:latin typeface="Times New Roman" panose="02020603050405020304" pitchFamily="18" charset="0"/>
              <a:ea typeface="宋体" panose="02010600030101010101" pitchFamily="2" charset="-122"/>
            </a:endParaRPr>
          </a:p>
          <a:p>
            <a:pPr algn="r">
              <a:spcBef>
                <a:spcPct val="50000"/>
              </a:spcBef>
            </a:pPr>
            <a:r>
              <a:rPr lang="zh-CN" altLang="en-US" sz="2800" i="1"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(e</a:t>
            </a:r>
            <a:r>
              <a:rPr lang="en-US" altLang="zh-CN" sz="2800" baseline="30000" dirty="0">
                <a:latin typeface="Times New Roman" panose="02020603050405020304" pitchFamily="18" charset="0"/>
                <a:ea typeface="宋体" panose="02010600030101010101" pitchFamily="2" charset="-122"/>
              </a:rPr>
              <a:t>jω</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H</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ω</a:t>
            </a:r>
            <a:r>
              <a:rPr lang="en-US" altLang="zh-CN" sz="2800" dirty="0">
                <a:latin typeface="Times New Roman" panose="02020603050405020304" pitchFamily="18" charset="0"/>
                <a:ea typeface="宋体" panose="02010600030101010101" pitchFamily="2" charset="-122"/>
              </a:rPr>
              <a:t>)e</a:t>
            </a:r>
            <a:r>
              <a:rPr lang="en-US" altLang="zh-CN" sz="2800" baseline="30000" dirty="0">
                <a:latin typeface="Times New Roman" panose="02020603050405020304" pitchFamily="18" charset="0"/>
                <a:ea typeface="宋体" panose="02010600030101010101" pitchFamily="2" charset="-122"/>
              </a:rPr>
              <a:t>jθ(ω)</a:t>
            </a:r>
            <a:r>
              <a:rPr lang="en-US" altLang="zh-CN" baseline="3000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gn="just">
              <a:spcBef>
                <a:spcPct val="50000"/>
              </a:spcBef>
            </a:pPr>
            <a:r>
              <a:rPr lang="zh-CN" altLang="en-US" dirty="0">
                <a:latin typeface="Times New Roman" panose="02020603050405020304" pitchFamily="18" charset="0"/>
                <a:ea typeface="宋体" panose="02010600030101010101" pitchFamily="2" charset="-122"/>
              </a:rPr>
              <a:t>式中： </a:t>
            </a:r>
            <a:endParaRPr lang="zh-CN" altLang="en-US" dirty="0">
              <a:latin typeface="Times New Roman" panose="02020603050405020304" pitchFamily="18" charset="0"/>
              <a:ea typeface="宋体" panose="02010600030101010101" pitchFamily="2" charset="-122"/>
            </a:endParaRPr>
          </a:p>
        </p:txBody>
      </p:sp>
      <p:graphicFrame>
        <p:nvGraphicFramePr>
          <p:cNvPr id="98307" name="对象 96260"/>
          <p:cNvGraphicFramePr/>
          <p:nvPr/>
        </p:nvGraphicFramePr>
        <p:xfrm>
          <a:off x="3200400" y="4953000"/>
          <a:ext cx="2667000" cy="954088"/>
        </p:xfrm>
        <a:graphic>
          <a:graphicData uri="http://schemas.openxmlformats.org/presentationml/2006/ole">
            <mc:AlternateContent xmlns:mc="http://schemas.openxmlformats.org/markup-compatibility/2006">
              <mc:Choice xmlns:v="urn:schemas-microsoft-com:vml" Requires="v">
                <p:oleObj spid="_x0000_s3204" name="" r:id="rId1" imgW="1205865" imgH="431800" progId="Equation.3">
                  <p:embed/>
                </p:oleObj>
              </mc:Choice>
              <mc:Fallback>
                <p:oleObj name="" r:id="rId1" imgW="1205865" imgH="431800" progId="Equation.3">
                  <p:embed/>
                  <p:pic>
                    <p:nvPicPr>
                      <p:cNvPr id="0" name="图片 3203"/>
                      <p:cNvPicPr/>
                      <p:nvPr/>
                    </p:nvPicPr>
                    <p:blipFill>
                      <a:blip r:embed="rId2"/>
                      <a:stretch>
                        <a:fillRect/>
                      </a:stretch>
                    </p:blipFill>
                    <p:spPr>
                      <a:xfrm>
                        <a:off x="3200400" y="4953000"/>
                        <a:ext cx="2667000" cy="954088"/>
                      </a:xfrm>
                      <a:prstGeom prst="rect">
                        <a:avLst/>
                      </a:prstGeom>
                      <a:noFill/>
                      <a:ln w="38100">
                        <a:noFill/>
                        <a:miter/>
                      </a:ln>
                    </p:spPr>
                  </p:pic>
                </p:oleObj>
              </mc:Fallback>
            </mc:AlternateContent>
          </a:graphicData>
        </a:graphic>
      </p:graphicFrame>
      <p:sp>
        <p:nvSpPr>
          <p:cNvPr id="98308" name="文本框 96261"/>
          <p:cNvSpPr txBox="1"/>
          <p:nvPr/>
        </p:nvSpPr>
        <p:spPr>
          <a:xfrm>
            <a:off x="7562850" y="5181600"/>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文本框 101379"/>
          <p:cNvSpPr txBox="1"/>
          <p:nvPr/>
        </p:nvSpPr>
        <p:spPr>
          <a:xfrm>
            <a:off x="304800" y="609600"/>
            <a:ext cx="8686800" cy="1111250"/>
          </a:xfrm>
          <a:prstGeom prst="rect">
            <a:avLst/>
          </a:prstGeom>
          <a:noFill/>
          <a:ln w="9525">
            <a:noFill/>
          </a:ln>
        </p:spPr>
        <p:txBody>
          <a:bodyPr anchor="t">
            <a:spAutoFit/>
          </a:bodyPr>
          <a:p>
            <a:pPr>
              <a:lnSpc>
                <a:spcPct val="138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第一类线性相位滤波器幅度函数</a:t>
            </a:r>
            <a:r>
              <a:rPr lang="en-US" altLang="zh-CN" b="1" i="1" u="sng" dirty="0">
                <a:solidFill>
                  <a:srgbClr val="FF0000"/>
                </a:solidFill>
                <a:latin typeface="Times New Roman" panose="02020603050405020304" pitchFamily="18" charset="0"/>
                <a:ea typeface="宋体" panose="02010600030101010101" pitchFamily="2" charset="-122"/>
              </a:rPr>
              <a:t>H</a:t>
            </a:r>
            <a:r>
              <a:rPr lang="en-US" altLang="zh-CN" b="1" u="sng" dirty="0">
                <a:solidFill>
                  <a:srgbClr val="FF0000"/>
                </a:solidFill>
                <a:latin typeface="Times New Roman" panose="02020603050405020304" pitchFamily="18" charset="0"/>
                <a:ea typeface="宋体" panose="02010600030101010101" pitchFamily="2" charset="-122"/>
              </a:rPr>
              <a:t>(</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关于</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=0, π, 2π</a:t>
            </a:r>
            <a:r>
              <a:rPr lang="zh-CN" altLang="en-US" b="1" u="sng" dirty="0">
                <a:solidFill>
                  <a:srgbClr val="FF0000"/>
                </a:solidFill>
                <a:latin typeface="Times New Roman" panose="02020603050405020304" pitchFamily="18" charset="0"/>
                <a:ea typeface="宋体" panose="02010600030101010101" pitchFamily="2" charset="-122"/>
              </a:rPr>
              <a:t>为偶对</a:t>
            </a:r>
            <a:r>
              <a:rPr lang="zh-CN" altLang="en-US" dirty="0">
                <a:latin typeface="Times New Roman" panose="02020603050405020304" pitchFamily="18" charset="0"/>
                <a:ea typeface="宋体" panose="02010600030101010101" pitchFamily="2" charset="-122"/>
              </a:rPr>
              <a:t>称，即 </a:t>
            </a:r>
            <a:endParaRPr lang="zh-CN" altLang="en-US" dirty="0">
              <a:latin typeface="Times New Roman" panose="02020603050405020304" pitchFamily="18" charset="0"/>
              <a:ea typeface="宋体" panose="02010600030101010101" pitchFamily="2" charset="-122"/>
            </a:endParaRPr>
          </a:p>
        </p:txBody>
      </p:sp>
      <p:graphicFrame>
        <p:nvGraphicFramePr>
          <p:cNvPr id="99330" name="对象 101380"/>
          <p:cNvGraphicFramePr/>
          <p:nvPr/>
        </p:nvGraphicFramePr>
        <p:xfrm>
          <a:off x="3276600" y="1600200"/>
          <a:ext cx="2895600" cy="477838"/>
        </p:xfrm>
        <a:graphic>
          <a:graphicData uri="http://schemas.openxmlformats.org/presentationml/2006/ole">
            <mc:AlternateContent xmlns:mc="http://schemas.openxmlformats.org/markup-compatibility/2006">
              <mc:Choice xmlns:v="urn:schemas-microsoft-com:vml" Requires="v">
                <p:oleObj spid="_x0000_s3207" name="" r:id="rId1" imgW="1230630" imgH="203200" progId="Equation.3">
                  <p:embed/>
                </p:oleObj>
              </mc:Choice>
              <mc:Fallback>
                <p:oleObj name="" r:id="rId1" imgW="1230630" imgH="203200" progId="Equation.3">
                  <p:embed/>
                  <p:pic>
                    <p:nvPicPr>
                      <p:cNvPr id="0" name="图片 3206"/>
                      <p:cNvPicPr/>
                      <p:nvPr/>
                    </p:nvPicPr>
                    <p:blipFill>
                      <a:blip r:embed="rId2"/>
                      <a:stretch>
                        <a:fillRect/>
                      </a:stretch>
                    </p:blipFill>
                    <p:spPr>
                      <a:xfrm>
                        <a:off x="3276600" y="1600200"/>
                        <a:ext cx="2895600" cy="477838"/>
                      </a:xfrm>
                      <a:prstGeom prst="rect">
                        <a:avLst/>
                      </a:prstGeom>
                      <a:solidFill>
                        <a:schemeClr val="accent1"/>
                      </a:solidFill>
                      <a:ln w="38100">
                        <a:noFill/>
                        <a:miter/>
                      </a:ln>
                    </p:spPr>
                  </p:pic>
                </p:oleObj>
              </mc:Fallback>
            </mc:AlternateContent>
          </a:graphicData>
        </a:graphic>
      </p:graphicFrame>
      <p:sp>
        <p:nvSpPr>
          <p:cNvPr id="99331" name="文本框 101381"/>
          <p:cNvSpPr txBox="1"/>
          <p:nvPr/>
        </p:nvSpPr>
        <p:spPr>
          <a:xfrm>
            <a:off x="7791450" y="1600200"/>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9332" name="文本框 101382"/>
          <p:cNvSpPr txBox="1"/>
          <p:nvPr/>
        </p:nvSpPr>
        <p:spPr>
          <a:xfrm>
            <a:off x="228600" y="2286000"/>
            <a:ext cx="8686800" cy="1041400"/>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如果采样值</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j2π</a:t>
            </a:r>
            <a:r>
              <a:rPr lang="en-US" altLang="zh-CN" i="1" baseline="30000" dirty="0">
                <a:latin typeface="Times New Roman" panose="02020603050405020304" pitchFamily="18" charset="0"/>
                <a:ea typeface="宋体" panose="02010600030101010101" pitchFamily="2" charset="-122"/>
              </a:rPr>
              <a:t>k</a:t>
            </a:r>
            <a:r>
              <a:rPr lang="en-US" altLang="zh-CN" baseline="30000" dirty="0">
                <a:latin typeface="Times New Roman" panose="02020603050405020304" pitchFamily="18" charset="0"/>
                <a:ea typeface="宋体" panose="02010600030101010101" pitchFamily="2" charset="-122"/>
              </a:rPr>
              <a:t>/</a:t>
            </a:r>
            <a:r>
              <a:rPr lang="en-US" altLang="zh-CN" i="1" baseline="30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也用幅值</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（纯标量）与相角</a:t>
            </a:r>
            <a:r>
              <a:rPr lang="en-US" altLang="zh-CN" i="1" dirty="0">
                <a:latin typeface="Times New Roman" panose="02020603050405020304" pitchFamily="18" charset="0"/>
                <a:ea typeface="宋体" panose="02010600030101010101" pitchFamily="2" charset="-122"/>
              </a:rPr>
              <a:t>θ</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表示， 即 </a:t>
            </a:r>
            <a:endParaRPr lang="zh-CN" altLang="en-US" dirty="0">
              <a:latin typeface="Times New Roman" panose="02020603050405020304" pitchFamily="18" charset="0"/>
              <a:ea typeface="宋体" panose="02010600030101010101" pitchFamily="2" charset="-122"/>
            </a:endParaRPr>
          </a:p>
        </p:txBody>
      </p:sp>
      <p:graphicFrame>
        <p:nvGraphicFramePr>
          <p:cNvPr id="99333" name="对象 101383"/>
          <p:cNvGraphicFramePr/>
          <p:nvPr/>
        </p:nvGraphicFramePr>
        <p:xfrm>
          <a:off x="2514600" y="3276600"/>
          <a:ext cx="4597400" cy="642938"/>
        </p:xfrm>
        <a:graphic>
          <a:graphicData uri="http://schemas.openxmlformats.org/presentationml/2006/ole">
            <mc:AlternateContent xmlns:mc="http://schemas.openxmlformats.org/markup-compatibility/2006">
              <mc:Choice xmlns:v="urn:schemas-microsoft-com:vml" Requires="v">
                <p:oleObj spid="_x0000_s3206" name="" r:id="rId3" imgW="1726565" imgH="241300" progId="Equation.3">
                  <p:embed/>
                </p:oleObj>
              </mc:Choice>
              <mc:Fallback>
                <p:oleObj name="" r:id="rId3" imgW="1726565" imgH="241300" progId="Equation.3">
                  <p:embed/>
                  <p:pic>
                    <p:nvPicPr>
                      <p:cNvPr id="0" name="图片 3205"/>
                      <p:cNvPicPr/>
                      <p:nvPr/>
                    </p:nvPicPr>
                    <p:blipFill>
                      <a:blip r:embed="rId4"/>
                      <a:stretch>
                        <a:fillRect/>
                      </a:stretch>
                    </p:blipFill>
                    <p:spPr>
                      <a:xfrm>
                        <a:off x="2514600" y="3276600"/>
                        <a:ext cx="4597400" cy="642938"/>
                      </a:xfrm>
                      <a:prstGeom prst="rect">
                        <a:avLst/>
                      </a:prstGeom>
                      <a:noFill/>
                      <a:ln w="38100">
                        <a:noFill/>
                        <a:miter/>
                      </a:ln>
                    </p:spPr>
                  </p:pic>
                </p:oleObj>
              </mc:Fallback>
            </mc:AlternateContent>
          </a:graphicData>
        </a:graphic>
      </p:graphicFrame>
      <p:sp>
        <p:nvSpPr>
          <p:cNvPr id="99334" name="文本框 101384"/>
          <p:cNvSpPr txBox="1"/>
          <p:nvPr/>
        </p:nvSpPr>
        <p:spPr>
          <a:xfrm>
            <a:off x="7791450" y="3352800"/>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9335" name="文本框 101385"/>
          <p:cNvSpPr txBox="1"/>
          <p:nvPr/>
        </p:nvSpPr>
        <p:spPr>
          <a:xfrm>
            <a:off x="212725" y="4114800"/>
            <a:ext cx="49022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并在</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2π</a:t>
            </a:r>
            <a:r>
              <a:rPr lang="zh-CN" altLang="en-US" dirty="0">
                <a:latin typeface="Times New Roman" panose="02020603050405020304" pitchFamily="18" charset="0"/>
                <a:ea typeface="宋体" panose="02010600030101010101" pitchFamily="2" charset="-122"/>
              </a:rPr>
              <a:t>之间等间隔采样</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 </a:t>
            </a:r>
            <a:endParaRPr lang="zh-CN" altLang="en-US" dirty="0">
              <a:latin typeface="Times New Roman" panose="02020603050405020304" pitchFamily="18" charset="0"/>
              <a:ea typeface="宋体" panose="02010600030101010101" pitchFamily="2" charset="-122"/>
            </a:endParaRPr>
          </a:p>
        </p:txBody>
      </p:sp>
      <p:graphicFrame>
        <p:nvGraphicFramePr>
          <p:cNvPr id="99336" name="对象 101386"/>
          <p:cNvGraphicFramePr/>
          <p:nvPr/>
        </p:nvGraphicFramePr>
        <p:xfrm>
          <a:off x="2438400" y="4800600"/>
          <a:ext cx="1752600" cy="1044575"/>
        </p:xfrm>
        <a:graphic>
          <a:graphicData uri="http://schemas.openxmlformats.org/presentationml/2006/ole">
            <mc:AlternateContent xmlns:mc="http://schemas.openxmlformats.org/markup-compatibility/2006">
              <mc:Choice xmlns:v="urn:schemas-microsoft-com:vml" Requires="v">
                <p:oleObj spid="_x0000_s3203" name="" r:id="rId5" imgW="660400" imgH="393700" progId="Equation.3">
                  <p:embed/>
                </p:oleObj>
              </mc:Choice>
              <mc:Fallback>
                <p:oleObj name="" r:id="rId5" imgW="660400" imgH="393700" progId="Equation.3">
                  <p:embed/>
                  <p:pic>
                    <p:nvPicPr>
                      <p:cNvPr id="0" name="图片 3202"/>
                      <p:cNvPicPr/>
                      <p:nvPr/>
                    </p:nvPicPr>
                    <p:blipFill>
                      <a:blip r:embed="rId6"/>
                      <a:stretch>
                        <a:fillRect/>
                      </a:stretch>
                    </p:blipFill>
                    <p:spPr>
                      <a:xfrm>
                        <a:off x="2438400" y="4800600"/>
                        <a:ext cx="1752600" cy="1044575"/>
                      </a:xfrm>
                      <a:prstGeom prst="rect">
                        <a:avLst/>
                      </a:prstGeom>
                      <a:solidFill>
                        <a:schemeClr val="accent1"/>
                      </a:solidFill>
                      <a:ln w="38100">
                        <a:noFill/>
                        <a:miter/>
                      </a:ln>
                    </p:spPr>
                  </p:pic>
                </p:oleObj>
              </mc:Fallback>
            </mc:AlternateContent>
          </a:graphicData>
        </a:graphic>
      </p:graphicFrame>
      <p:sp>
        <p:nvSpPr>
          <p:cNvPr id="99337" name="文本框 101387"/>
          <p:cNvSpPr txBox="1"/>
          <p:nvPr/>
        </p:nvSpPr>
        <p:spPr>
          <a:xfrm>
            <a:off x="5334000" y="5105400"/>
            <a:ext cx="2395538" cy="457200"/>
          </a:xfrm>
          <a:prstGeom prst="rect">
            <a:avLst/>
          </a:prstGeom>
          <a:solidFill>
            <a:schemeClr val="accent1"/>
          </a:solid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 2, …,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547813" y="3225800"/>
            <a:ext cx="2300288" cy="6254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00354" name="文本框 100355"/>
          <p:cNvSpPr txBox="1"/>
          <p:nvPr/>
        </p:nvSpPr>
        <p:spPr>
          <a:xfrm>
            <a:off x="304800" y="1066800"/>
            <a:ext cx="842962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将</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6-59</a:t>
            </a:r>
            <a:r>
              <a:rPr lang="zh-CN" altLang="en-US" dirty="0">
                <a:latin typeface="Times New Roman" panose="02020603050405020304" pitchFamily="18" charset="0"/>
                <a:ea typeface="宋体" panose="02010600030101010101" pitchFamily="2" charset="-122"/>
              </a:rPr>
              <a:t>）与式（</a:t>
            </a:r>
            <a:r>
              <a:rPr lang="en-US" altLang="zh-CN" dirty="0">
                <a:latin typeface="Times New Roman" panose="02020603050405020304" pitchFamily="18" charset="0"/>
                <a:ea typeface="宋体" panose="02010600030101010101" pitchFamily="2" charset="-122"/>
              </a:rPr>
              <a:t>6-60)</a:t>
            </a:r>
            <a:r>
              <a:rPr lang="zh-CN" altLang="en-US" dirty="0">
                <a:latin typeface="Times New Roman" panose="02020603050405020304" pitchFamily="18" charset="0"/>
                <a:ea typeface="宋体" panose="02010600030101010101" pitchFamily="2" charset="-122"/>
              </a:rPr>
              <a:t>中，并写成</a:t>
            </a:r>
            <a:r>
              <a:rPr lang="en-US" altLang="zh-CN" i="1"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的函数</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有： </a:t>
            </a:r>
            <a:endParaRPr lang="zh-CN" altLang="en-US" dirty="0">
              <a:latin typeface="Times New Roman" panose="02020603050405020304" pitchFamily="18" charset="0"/>
              <a:ea typeface="宋体" panose="02010600030101010101" pitchFamily="2" charset="-122"/>
            </a:endParaRPr>
          </a:p>
        </p:txBody>
      </p:sp>
      <p:graphicFrame>
        <p:nvGraphicFramePr>
          <p:cNvPr id="100355" name="对象 100356"/>
          <p:cNvGraphicFramePr/>
          <p:nvPr/>
        </p:nvGraphicFramePr>
        <p:xfrm>
          <a:off x="1892300" y="1946275"/>
          <a:ext cx="4967288" cy="1905000"/>
        </p:xfrm>
        <a:graphic>
          <a:graphicData uri="http://schemas.openxmlformats.org/presentationml/2006/ole">
            <mc:AlternateContent xmlns:mc="http://schemas.openxmlformats.org/markup-compatibility/2006">
              <mc:Choice xmlns:v="urn:schemas-microsoft-com:vml" Requires="v">
                <p:oleObj spid="_x0000_s3205" name="" r:id="rId1" imgW="2133600" imgH="736600" progId="Equation.3">
                  <p:embed/>
                </p:oleObj>
              </mc:Choice>
              <mc:Fallback>
                <p:oleObj name="" r:id="rId1" imgW="2133600" imgH="736600" progId="Equation.3">
                  <p:embed/>
                  <p:pic>
                    <p:nvPicPr>
                      <p:cNvPr id="0" name="图片 3204"/>
                      <p:cNvPicPr/>
                      <p:nvPr/>
                    </p:nvPicPr>
                    <p:blipFill>
                      <a:blip r:embed="rId2"/>
                      <a:stretch>
                        <a:fillRect/>
                      </a:stretch>
                    </p:blipFill>
                    <p:spPr>
                      <a:xfrm>
                        <a:off x="1892300" y="1946275"/>
                        <a:ext cx="4967288" cy="1905000"/>
                      </a:xfrm>
                      <a:prstGeom prst="rect">
                        <a:avLst/>
                      </a:prstGeom>
                      <a:noFill/>
                      <a:ln w="38100">
                        <a:noFill/>
                        <a:miter/>
                      </a:ln>
                    </p:spPr>
                  </p:pic>
                </p:oleObj>
              </mc:Fallback>
            </mc:AlternateContent>
          </a:graphicData>
        </a:graphic>
      </p:graphicFrame>
      <p:sp>
        <p:nvSpPr>
          <p:cNvPr id="100356" name="文本框 100357"/>
          <p:cNvSpPr txBox="1"/>
          <p:nvPr/>
        </p:nvSpPr>
        <p:spPr>
          <a:xfrm>
            <a:off x="6994525" y="194627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6-62</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0357" name="文本框 100358"/>
          <p:cNvSpPr txBox="1"/>
          <p:nvPr/>
        </p:nvSpPr>
        <p:spPr>
          <a:xfrm>
            <a:off x="6994525" y="29972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6-63</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0358" name="文本框 100359"/>
          <p:cNvSpPr txBox="1"/>
          <p:nvPr/>
        </p:nvSpPr>
        <p:spPr>
          <a:xfrm>
            <a:off x="457200" y="4038600"/>
            <a:ext cx="57023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6-63</a:t>
            </a:r>
            <a:r>
              <a:rPr lang="zh-CN" altLang="en-US" dirty="0">
                <a:latin typeface="Times New Roman" panose="02020603050405020304" pitchFamily="18" charset="0"/>
                <a:ea typeface="宋体" panose="02010600030101010101" pitchFamily="2" charset="-122"/>
              </a:rPr>
              <a:t>）可知，</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满足偶对称要求。 </a:t>
            </a:r>
            <a:endParaRPr lang="zh-CN" altLang="en-US" dirty="0">
              <a:latin typeface="Times New Roman" panose="02020603050405020304" pitchFamily="18" charset="0"/>
              <a:ea typeface="宋体" panose="02010600030101010101" pitchFamily="2" charset="-122"/>
            </a:endParaRPr>
          </a:p>
        </p:txBody>
      </p:sp>
      <p:sp>
        <p:nvSpPr>
          <p:cNvPr id="3" name="矩形 2"/>
          <p:cNvSpPr/>
          <p:nvPr/>
        </p:nvSpPr>
        <p:spPr>
          <a:xfrm>
            <a:off x="1892300" y="4868863"/>
            <a:ext cx="5848350" cy="461962"/>
          </a:xfrm>
          <a:prstGeom prst="rect">
            <a:avLst/>
          </a:prstGeom>
          <a:solidFill>
            <a:schemeClr val="accent1"/>
          </a:solidFill>
          <a:ln w="9525">
            <a:noFill/>
          </a:ln>
        </p:spPr>
        <p:txBody>
          <a:bodyPr anchor="t">
            <a:spAutoFit/>
          </a:bodyPr>
          <a:p>
            <a:pPr algn="just">
              <a:spcBef>
                <a:spcPct val="50000"/>
              </a:spcBef>
            </a:pPr>
            <a:r>
              <a:rPr lang="zh-CN" altLang="en-US" dirty="0">
                <a:latin typeface="Times New Roman" panose="02020603050405020304" pitchFamily="18" charset="0"/>
                <a:ea typeface="宋体" panose="02010600030101010101" pitchFamily="2" charset="-122"/>
              </a:rPr>
              <a:t>其幅度函数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关于</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π,2π</a:t>
            </a:r>
            <a:r>
              <a:rPr lang="zh-CN" altLang="en-US" dirty="0">
                <a:latin typeface="Times New Roman" panose="02020603050405020304" pitchFamily="18" charset="0"/>
                <a:ea typeface="宋体" panose="02010600030101010101" pitchFamily="2" charset="-122"/>
              </a:rPr>
              <a:t>为偶对称，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195513" y="549275"/>
            <a:ext cx="360045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01378" name="文本框 99331"/>
          <p:cNvSpPr txBox="1"/>
          <p:nvPr/>
        </p:nvSpPr>
        <p:spPr>
          <a:xfrm>
            <a:off x="228600" y="533400"/>
            <a:ext cx="86106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对于第二类线性相位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偶对称，</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为偶数，则其</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的表达式仍为 </a:t>
            </a:r>
            <a:endParaRPr lang="zh-CN" altLang="en-US" dirty="0">
              <a:latin typeface="Times New Roman" panose="02020603050405020304" pitchFamily="18" charset="0"/>
              <a:ea typeface="宋体" panose="02010600030101010101" pitchFamily="2" charset="-122"/>
            </a:endParaRPr>
          </a:p>
        </p:txBody>
      </p:sp>
      <p:graphicFrame>
        <p:nvGraphicFramePr>
          <p:cNvPr id="101379" name="对象 99332"/>
          <p:cNvGraphicFramePr/>
          <p:nvPr/>
        </p:nvGraphicFramePr>
        <p:xfrm>
          <a:off x="1676400" y="1670050"/>
          <a:ext cx="5715000" cy="1600200"/>
        </p:xfrm>
        <a:graphic>
          <a:graphicData uri="http://schemas.openxmlformats.org/presentationml/2006/ole">
            <mc:AlternateContent xmlns:mc="http://schemas.openxmlformats.org/markup-compatibility/2006">
              <mc:Choice xmlns:v="urn:schemas-microsoft-com:vml" Requires="v">
                <p:oleObj spid="_x0000_s3208" name="" r:id="rId1" imgW="2540000" imgH="711200" progId="Equation.3">
                  <p:embed/>
                </p:oleObj>
              </mc:Choice>
              <mc:Fallback>
                <p:oleObj name="" r:id="rId1" imgW="2540000" imgH="711200" progId="Equation.3">
                  <p:embed/>
                  <p:pic>
                    <p:nvPicPr>
                      <p:cNvPr id="0" name="图片 3207"/>
                      <p:cNvPicPr/>
                      <p:nvPr/>
                    </p:nvPicPr>
                    <p:blipFill>
                      <a:blip r:embed="rId2"/>
                      <a:stretch>
                        <a:fillRect/>
                      </a:stretch>
                    </p:blipFill>
                    <p:spPr>
                      <a:xfrm>
                        <a:off x="1676400" y="1670050"/>
                        <a:ext cx="5715000" cy="1600200"/>
                      </a:xfrm>
                      <a:prstGeom prst="rect">
                        <a:avLst/>
                      </a:prstGeom>
                      <a:solidFill>
                        <a:schemeClr val="accent1"/>
                      </a:solidFill>
                      <a:ln w="38100">
                        <a:noFill/>
                        <a:miter/>
                      </a:ln>
                    </p:spPr>
                  </p:pic>
                </p:oleObj>
              </mc:Fallback>
            </mc:AlternateContent>
          </a:graphicData>
        </a:graphic>
      </p:graphicFrame>
      <p:sp>
        <p:nvSpPr>
          <p:cNvPr id="101380" name="文本框 99333"/>
          <p:cNvSpPr txBox="1"/>
          <p:nvPr/>
        </p:nvSpPr>
        <p:spPr>
          <a:xfrm>
            <a:off x="228600" y="3352800"/>
            <a:ext cx="8763000" cy="1570038"/>
          </a:xfrm>
          <a:prstGeom prst="rect">
            <a:avLst/>
          </a:prstGeom>
          <a:solidFill>
            <a:schemeClr val="bg1"/>
          </a:solidFill>
          <a:ln w="9525">
            <a:noFill/>
          </a:ln>
        </p:spPr>
        <p:txBody>
          <a:bodyPr anchor="t">
            <a:spAutoFit/>
          </a:bodyPr>
          <a:p>
            <a:pPr algn="just">
              <a:spcBef>
                <a:spcPct val="50000"/>
              </a:spcBef>
            </a:pPr>
            <a:r>
              <a:rPr lang="zh-CN" altLang="en-US" dirty="0">
                <a:latin typeface="Times New Roman" panose="02020603050405020304" pitchFamily="18" charset="0"/>
                <a:ea typeface="宋体" panose="02010600030101010101" pitchFamily="2" charset="-122"/>
              </a:rPr>
              <a:t>但是，其</a:t>
            </a:r>
            <a:endParaRPr lang="en-US" altLang="zh-CN" dirty="0">
              <a:latin typeface="Times New Roman" panose="02020603050405020304" pitchFamily="18" charset="0"/>
              <a:ea typeface="宋体" panose="02010600030101010101" pitchFamily="2" charset="-122"/>
            </a:endParaRPr>
          </a:p>
          <a:p>
            <a:pPr algn="just">
              <a:spcBef>
                <a:spcPct val="50000"/>
              </a:spcBef>
            </a:pPr>
            <a:r>
              <a:rPr lang="zh-CN" altLang="en-US" b="1" u="sng" dirty="0">
                <a:solidFill>
                  <a:srgbClr val="FF0000"/>
                </a:solidFill>
                <a:latin typeface="Times New Roman" panose="02020603050405020304" pitchFamily="18" charset="0"/>
                <a:ea typeface="宋体" panose="02010600030101010101" pitchFamily="2" charset="-122"/>
              </a:rPr>
              <a:t>幅度函数</a:t>
            </a:r>
            <a:r>
              <a:rPr lang="en-US" altLang="zh-CN" b="1" i="1" u="sng" dirty="0">
                <a:solidFill>
                  <a:srgbClr val="FF0000"/>
                </a:solidFill>
                <a:latin typeface="Times New Roman" panose="02020603050405020304" pitchFamily="18" charset="0"/>
                <a:ea typeface="宋体" panose="02010600030101010101" pitchFamily="2" charset="-122"/>
              </a:rPr>
              <a:t>H</a:t>
            </a:r>
            <a:r>
              <a:rPr lang="en-US" altLang="zh-CN" b="1" u="sng" dirty="0">
                <a:solidFill>
                  <a:srgbClr val="FF0000"/>
                </a:solidFill>
                <a:latin typeface="Times New Roman" panose="02020603050405020304" pitchFamily="18" charset="0"/>
                <a:ea typeface="宋体" panose="02010600030101010101" pitchFamily="2" charset="-122"/>
              </a:rPr>
              <a:t>(</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关于</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=π</a:t>
            </a:r>
            <a:r>
              <a:rPr lang="zh-CN" altLang="en-US" b="1" u="sng" dirty="0">
                <a:solidFill>
                  <a:srgbClr val="FF0000"/>
                </a:solidFill>
                <a:latin typeface="Times New Roman" panose="02020603050405020304" pitchFamily="18" charset="0"/>
                <a:ea typeface="宋体" panose="02010600030101010101" pitchFamily="2" charset="-122"/>
              </a:rPr>
              <a:t>是奇对称的，关于</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=0, 2π</a:t>
            </a:r>
            <a:r>
              <a:rPr lang="zh-CN" altLang="en-US" b="1" u="sng" dirty="0">
                <a:solidFill>
                  <a:srgbClr val="FF0000"/>
                </a:solidFill>
                <a:latin typeface="Times New Roman" panose="02020603050405020304" pitchFamily="18" charset="0"/>
                <a:ea typeface="宋体" panose="02010600030101010101" pitchFamily="2" charset="-122"/>
              </a:rPr>
              <a:t>为偶对称，</a:t>
            </a:r>
            <a:r>
              <a:rPr lang="zh-CN" altLang="en-US" b="1" dirty="0">
                <a:solidFill>
                  <a:schemeClr val="accent1"/>
                </a:solidFill>
                <a:latin typeface="Times New Roman" panose="02020603050405020304" pitchFamily="18" charset="0"/>
                <a:ea typeface="宋体" panose="02010600030101010101" pitchFamily="2" charset="-122"/>
              </a:rPr>
              <a:t> </a:t>
            </a:r>
            <a:endParaRPr lang="zh-CN" altLang="en-US" b="1" dirty="0">
              <a:solidFill>
                <a:schemeClr val="accent1"/>
              </a:solidFill>
              <a:latin typeface="Times New Roman" panose="02020603050405020304" pitchFamily="18" charset="0"/>
              <a:ea typeface="宋体" panose="02010600030101010101" pitchFamily="2" charset="-122"/>
            </a:endParaRPr>
          </a:p>
          <a:p>
            <a:pPr algn="ctr">
              <a:spcBef>
                <a:spcPct val="50000"/>
              </a:spcBef>
            </a:pP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(2π-ω) </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101381" name="文本框 99334"/>
          <p:cNvSpPr txBox="1"/>
          <p:nvPr/>
        </p:nvSpPr>
        <p:spPr>
          <a:xfrm>
            <a:off x="7715250" y="42672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6-64</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1382" name="文本框 99335"/>
          <p:cNvSpPr txBox="1"/>
          <p:nvPr/>
        </p:nvSpPr>
        <p:spPr>
          <a:xfrm>
            <a:off x="152400" y="4876800"/>
            <a:ext cx="51435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所以，这时的</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也应满足奇对称要求 </a:t>
            </a:r>
            <a:endParaRPr lang="zh-CN" altLang="en-US" dirty="0">
              <a:latin typeface="Times New Roman" panose="02020603050405020304" pitchFamily="18" charset="0"/>
              <a:ea typeface="宋体" panose="02010600030101010101" pitchFamily="2" charset="-122"/>
            </a:endParaRPr>
          </a:p>
        </p:txBody>
      </p:sp>
      <p:sp>
        <p:nvSpPr>
          <p:cNvPr id="101383" name="文本框 99336"/>
          <p:cNvSpPr txBox="1"/>
          <p:nvPr/>
        </p:nvSpPr>
        <p:spPr>
          <a:xfrm>
            <a:off x="3962400" y="5486400"/>
            <a:ext cx="1447800" cy="461963"/>
          </a:xfrm>
          <a:prstGeom prst="rect">
            <a:avLst/>
          </a:prstGeom>
          <a:solidFill>
            <a:srgbClr val="FF0000"/>
          </a:solid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N-k</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01384" name="文本框 99337"/>
          <p:cNvSpPr txBox="1"/>
          <p:nvPr/>
        </p:nvSpPr>
        <p:spPr>
          <a:xfrm>
            <a:off x="7791450" y="5486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6-65</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266950" y="620713"/>
            <a:ext cx="360045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02402" name="文本框 104451"/>
          <p:cNvSpPr txBox="1"/>
          <p:nvPr/>
        </p:nvSpPr>
        <p:spPr>
          <a:xfrm>
            <a:off x="228600" y="685800"/>
            <a:ext cx="8686800" cy="1938338"/>
          </a:xfrm>
          <a:prstGeom prst="rect">
            <a:avLst/>
          </a:prstGeom>
          <a:noFill/>
          <a:ln w="9525">
            <a:noFill/>
          </a:ln>
        </p:spPr>
        <p:txBody>
          <a:bodyPr anchor="t">
            <a:spAutoFit/>
          </a:bodyPr>
          <a:p>
            <a:pPr algn="just">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 对于第三类线性相位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奇对称，</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a:t>
            </a:r>
            <a:endParaRPr lang="zh-CN" altLang="en-US" dirty="0">
              <a:latin typeface="Times New Roman" panose="02020603050405020304" pitchFamily="18" charset="0"/>
              <a:ea typeface="宋体" panose="02010600030101010101" pitchFamily="2" charset="-122"/>
            </a:endParaRPr>
          </a:p>
          <a:p>
            <a:pPr algn="ctr">
              <a:spcBef>
                <a:spcPct val="50000"/>
              </a:spcBef>
            </a:pPr>
            <a:r>
              <a:rPr lang="zh-CN" altLang="en-US" i="1"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jθ(ω)</a:t>
            </a:r>
            <a:endParaRPr lang="zh-CN" altLang="en-US" dirty="0">
              <a:latin typeface="Times New Roman" panose="02020603050405020304" pitchFamily="18" charset="0"/>
              <a:ea typeface="宋体" panose="02010600030101010101" pitchFamily="2" charset="-122"/>
            </a:endParaRPr>
          </a:p>
          <a:p>
            <a:pPr>
              <a:spcBef>
                <a:spcPct val="50000"/>
              </a:spcBef>
            </a:pPr>
            <a:r>
              <a:rPr lang="zh-CN" altLang="en-US" dirty="0">
                <a:latin typeface="Times New Roman" panose="02020603050405020304" pitchFamily="18" charset="0"/>
                <a:ea typeface="宋体" panose="02010600030101010101" pitchFamily="2" charset="-122"/>
              </a:rPr>
              <a:t>式中： </a:t>
            </a:r>
            <a:endParaRPr lang="zh-CN" altLang="en-US" dirty="0">
              <a:latin typeface="Times New Roman" panose="02020603050405020304" pitchFamily="18" charset="0"/>
              <a:ea typeface="宋体" panose="02010600030101010101" pitchFamily="2" charset="-122"/>
            </a:endParaRPr>
          </a:p>
        </p:txBody>
      </p:sp>
      <p:graphicFrame>
        <p:nvGraphicFramePr>
          <p:cNvPr id="102403" name="对象 104452"/>
          <p:cNvGraphicFramePr/>
          <p:nvPr/>
        </p:nvGraphicFramePr>
        <p:xfrm>
          <a:off x="3048000" y="2895600"/>
          <a:ext cx="2787650" cy="823913"/>
        </p:xfrm>
        <a:graphic>
          <a:graphicData uri="http://schemas.openxmlformats.org/presentationml/2006/ole">
            <mc:AlternateContent xmlns:mc="http://schemas.openxmlformats.org/markup-compatibility/2006">
              <mc:Choice xmlns:v="urn:schemas-microsoft-com:vml" Requires="v">
                <p:oleObj spid="_x0000_s3211" name="" r:id="rId1" imgW="1459865" imgH="431800" progId="Equation.3">
                  <p:embed/>
                </p:oleObj>
              </mc:Choice>
              <mc:Fallback>
                <p:oleObj name="" r:id="rId1" imgW="1459865" imgH="431800" progId="Equation.3">
                  <p:embed/>
                  <p:pic>
                    <p:nvPicPr>
                      <p:cNvPr id="0" name="图片 3210"/>
                      <p:cNvPicPr/>
                      <p:nvPr/>
                    </p:nvPicPr>
                    <p:blipFill>
                      <a:blip r:embed="rId2"/>
                      <a:stretch>
                        <a:fillRect/>
                      </a:stretch>
                    </p:blipFill>
                    <p:spPr>
                      <a:xfrm>
                        <a:off x="3048000" y="2895600"/>
                        <a:ext cx="2787650" cy="823913"/>
                      </a:xfrm>
                      <a:prstGeom prst="rect">
                        <a:avLst/>
                      </a:prstGeom>
                      <a:solidFill>
                        <a:schemeClr val="accent1"/>
                      </a:solidFill>
                      <a:ln w="38100">
                        <a:noFill/>
                        <a:miter/>
                      </a:ln>
                    </p:spPr>
                  </p:pic>
                </p:oleObj>
              </mc:Fallback>
            </mc:AlternateContent>
          </a:graphicData>
        </a:graphic>
      </p:graphicFrame>
      <p:sp>
        <p:nvSpPr>
          <p:cNvPr id="102404" name="文本框 104454"/>
          <p:cNvSpPr txBox="1"/>
          <p:nvPr/>
        </p:nvSpPr>
        <p:spPr>
          <a:xfrm>
            <a:off x="228600" y="3841750"/>
            <a:ext cx="8763000" cy="1200150"/>
          </a:xfrm>
          <a:prstGeom prst="rect">
            <a:avLst/>
          </a:prstGeom>
          <a:noFill/>
          <a:ln w="9525">
            <a:noFill/>
          </a:ln>
        </p:spPr>
        <p:txBody>
          <a:bodyPr anchor="t">
            <a:spAutoFit/>
          </a:bodyPr>
          <a:p>
            <a:pPr>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u="sng" dirty="0">
                <a:solidFill>
                  <a:srgbClr val="FF0000"/>
                </a:solidFill>
                <a:latin typeface="Times New Roman" panose="02020603050405020304" pitchFamily="18" charset="0"/>
                <a:ea typeface="宋体" panose="02010600030101010101" pitchFamily="2" charset="-122"/>
              </a:rPr>
              <a:t>第三类线性相位滤波器幅度函数</a:t>
            </a:r>
            <a:r>
              <a:rPr lang="en-US" altLang="zh-CN" b="1" i="1" u="sng" dirty="0">
                <a:solidFill>
                  <a:srgbClr val="FF0000"/>
                </a:solidFill>
                <a:latin typeface="Times New Roman" panose="02020603050405020304" pitchFamily="18" charset="0"/>
                <a:ea typeface="宋体" panose="02010600030101010101" pitchFamily="2" charset="-122"/>
              </a:rPr>
              <a:t>H</a:t>
            </a:r>
            <a:r>
              <a:rPr lang="en-US" altLang="zh-CN" b="1" u="sng" dirty="0">
                <a:solidFill>
                  <a:srgbClr val="FF0000"/>
                </a:solidFill>
                <a:latin typeface="Times New Roman" panose="02020603050405020304" pitchFamily="18" charset="0"/>
                <a:ea typeface="宋体" panose="02010600030101010101" pitchFamily="2" charset="-122"/>
              </a:rPr>
              <a:t>(</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关于</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=0, π, 2π</a:t>
            </a:r>
            <a:r>
              <a:rPr lang="zh-CN" altLang="en-US" b="1" u="sng" dirty="0">
                <a:solidFill>
                  <a:srgbClr val="FF0000"/>
                </a:solidFill>
                <a:latin typeface="Times New Roman" panose="02020603050405020304" pitchFamily="18" charset="0"/>
                <a:ea typeface="宋体" panose="02010600030101010101" pitchFamily="2" charset="-122"/>
              </a:rPr>
              <a:t>为奇对称，</a:t>
            </a:r>
            <a:r>
              <a:rPr lang="zh-CN" altLang="en-US" dirty="0">
                <a:latin typeface="Times New Roman" panose="02020603050405020304" pitchFamily="18" charset="0"/>
                <a:ea typeface="宋体" panose="02010600030101010101" pitchFamily="2" charset="-122"/>
              </a:rPr>
              <a:t>即 </a:t>
            </a:r>
            <a:endParaRPr lang="zh-CN" altLang="en-US" dirty="0">
              <a:latin typeface="Times New Roman" panose="02020603050405020304" pitchFamily="18" charset="0"/>
              <a:ea typeface="宋体" panose="02010600030101010101" pitchFamily="2" charset="-122"/>
            </a:endParaRPr>
          </a:p>
        </p:txBody>
      </p:sp>
      <p:graphicFrame>
        <p:nvGraphicFramePr>
          <p:cNvPr id="102405" name="对象 104455"/>
          <p:cNvGraphicFramePr/>
          <p:nvPr/>
        </p:nvGraphicFramePr>
        <p:xfrm>
          <a:off x="3276600" y="5410200"/>
          <a:ext cx="2946400" cy="454025"/>
        </p:xfrm>
        <a:graphic>
          <a:graphicData uri="http://schemas.openxmlformats.org/presentationml/2006/ole">
            <mc:AlternateContent xmlns:mc="http://schemas.openxmlformats.org/markup-compatibility/2006">
              <mc:Choice xmlns:v="urn:schemas-microsoft-com:vml" Requires="v">
                <p:oleObj spid="_x0000_s3209" name="" r:id="rId3" imgW="1319530" imgH="203200" progId="Equation.3">
                  <p:embed/>
                </p:oleObj>
              </mc:Choice>
              <mc:Fallback>
                <p:oleObj name="" r:id="rId3" imgW="1319530" imgH="203200" progId="Equation.3">
                  <p:embed/>
                  <p:pic>
                    <p:nvPicPr>
                      <p:cNvPr id="0" name="图片 3208"/>
                      <p:cNvPicPr/>
                      <p:nvPr/>
                    </p:nvPicPr>
                    <p:blipFill>
                      <a:blip r:embed="rId4"/>
                      <a:stretch>
                        <a:fillRect/>
                      </a:stretch>
                    </p:blipFill>
                    <p:spPr>
                      <a:xfrm>
                        <a:off x="3276600" y="5410200"/>
                        <a:ext cx="2946400" cy="454025"/>
                      </a:xfrm>
                      <a:prstGeom prst="rect">
                        <a:avLst/>
                      </a:prstGeom>
                      <a:solidFill>
                        <a:schemeClr val="accent1"/>
                      </a:solidFill>
                      <a:ln w="38100">
                        <a:noFill/>
                        <a:miter/>
                      </a:ln>
                    </p:spPr>
                  </p:pic>
                </p:oleObj>
              </mc:Fallback>
            </mc:AlternateContent>
          </a:graphicData>
        </a:graphic>
      </p:graphicFrame>
      <p:sp>
        <p:nvSpPr>
          <p:cNvPr id="102406" name="文本框 104457"/>
          <p:cNvSpPr txBox="1"/>
          <p:nvPr/>
        </p:nvSpPr>
        <p:spPr>
          <a:xfrm>
            <a:off x="7680325" y="3089275"/>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2407" name="文本框 104458"/>
          <p:cNvSpPr txBox="1"/>
          <p:nvPr/>
        </p:nvSpPr>
        <p:spPr>
          <a:xfrm>
            <a:off x="7791450" y="5334000"/>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文本框 103427"/>
          <p:cNvSpPr txBox="1"/>
          <p:nvPr/>
        </p:nvSpPr>
        <p:spPr>
          <a:xfrm>
            <a:off x="381000" y="574675"/>
            <a:ext cx="8540750" cy="1406525"/>
          </a:xfrm>
          <a:prstGeom prst="rect">
            <a:avLst/>
          </a:prstGeom>
          <a:noFill/>
          <a:ln w="9525">
            <a:noFill/>
          </a:ln>
        </p:spPr>
        <p:txBody>
          <a:bodyPr wrap="none" anchor="t">
            <a:spAutoFit/>
          </a:bodyPr>
          <a:p>
            <a:pPr>
              <a:lnSpc>
                <a:spcPct val="180000"/>
              </a:lnSpc>
            </a:pPr>
            <a:r>
              <a:rPr lang="zh-CN" altLang="en-US" dirty="0">
                <a:latin typeface="Times New Roman" panose="02020603050405020304" pitchFamily="18" charset="0"/>
                <a:ea typeface="宋体" panose="02010600030101010101" pitchFamily="2" charset="-122"/>
              </a:rPr>
              <a:t>将</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6-66</a:t>
            </a:r>
            <a:r>
              <a:rPr lang="zh-CN" altLang="en-US" dirty="0">
                <a:latin typeface="Times New Roman" panose="02020603050405020304" pitchFamily="18" charset="0"/>
                <a:ea typeface="宋体" panose="02010600030101010101" pitchFamily="2" charset="-122"/>
              </a:rPr>
              <a:t>）与式（</a:t>
            </a:r>
            <a:r>
              <a:rPr lang="en-US" altLang="zh-CN" dirty="0">
                <a:latin typeface="Times New Roman" panose="02020603050405020304" pitchFamily="18" charset="0"/>
                <a:ea typeface="宋体" panose="02010600030101010101" pitchFamily="2" charset="-122"/>
              </a:rPr>
              <a:t>6-67</a:t>
            </a:r>
            <a:r>
              <a:rPr lang="zh-CN" altLang="en-US" dirty="0">
                <a:latin typeface="Times New Roman" panose="02020603050405020304" pitchFamily="18" charset="0"/>
                <a:ea typeface="宋体" panose="02010600030101010101" pitchFamily="2" charset="-122"/>
              </a:rPr>
              <a:t>）中，并写成</a:t>
            </a:r>
            <a:r>
              <a:rPr lang="en-US" altLang="zh-CN" i="1"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的函</a:t>
            </a:r>
            <a:endParaRPr lang="zh-CN" altLang="en-US" dirty="0">
              <a:latin typeface="Times New Roman" panose="02020603050405020304" pitchFamily="18" charset="0"/>
              <a:ea typeface="宋体" panose="02010600030101010101" pitchFamily="2" charset="-122"/>
            </a:endParaRPr>
          </a:p>
          <a:p>
            <a:pPr>
              <a:lnSpc>
                <a:spcPct val="180000"/>
              </a:lnSpc>
            </a:pPr>
            <a:r>
              <a:rPr lang="zh-CN" altLang="en-US" dirty="0">
                <a:latin typeface="Times New Roman" panose="02020603050405020304" pitchFamily="18" charset="0"/>
                <a:ea typeface="宋体" panose="02010600030101010101" pitchFamily="2" charset="-122"/>
              </a:rPr>
              <a:t>数，得</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103426" name="对象 103428"/>
          <p:cNvGraphicFramePr/>
          <p:nvPr/>
        </p:nvGraphicFramePr>
        <p:xfrm>
          <a:off x="1905000" y="2133600"/>
          <a:ext cx="5867400" cy="954088"/>
        </p:xfrm>
        <a:graphic>
          <a:graphicData uri="http://schemas.openxmlformats.org/presentationml/2006/ole">
            <mc:AlternateContent xmlns:mc="http://schemas.openxmlformats.org/markup-compatibility/2006">
              <mc:Choice xmlns:v="urn:schemas-microsoft-com:vml" Requires="v">
                <p:oleObj spid="_x0000_s3212" name="" r:id="rId1" imgW="2653030" imgH="431800" progId="Equation.DSMT4">
                  <p:embed/>
                </p:oleObj>
              </mc:Choice>
              <mc:Fallback>
                <p:oleObj name="" r:id="rId1" imgW="2653030" imgH="431800" progId="Equation.DSMT4">
                  <p:embed/>
                  <p:pic>
                    <p:nvPicPr>
                      <p:cNvPr id="0" name="图片 3211"/>
                      <p:cNvPicPr/>
                      <p:nvPr/>
                    </p:nvPicPr>
                    <p:blipFill>
                      <a:blip r:embed="rId2"/>
                      <a:stretch>
                        <a:fillRect/>
                      </a:stretch>
                    </p:blipFill>
                    <p:spPr>
                      <a:xfrm>
                        <a:off x="1905000" y="2133600"/>
                        <a:ext cx="5867400" cy="954088"/>
                      </a:xfrm>
                      <a:prstGeom prst="rect">
                        <a:avLst/>
                      </a:prstGeom>
                      <a:solidFill>
                        <a:schemeClr val="accent1"/>
                      </a:solidFill>
                      <a:ln w="38100">
                        <a:noFill/>
                        <a:miter/>
                      </a:ln>
                    </p:spPr>
                  </p:pic>
                </p:oleObj>
              </mc:Fallback>
            </mc:AlternateContent>
          </a:graphicData>
        </a:graphic>
      </p:graphicFrame>
      <p:graphicFrame>
        <p:nvGraphicFramePr>
          <p:cNvPr id="103427" name="对象 103429"/>
          <p:cNvGraphicFramePr/>
          <p:nvPr/>
        </p:nvGraphicFramePr>
        <p:xfrm>
          <a:off x="3924300" y="3573463"/>
          <a:ext cx="2133600" cy="619125"/>
        </p:xfrm>
        <a:graphic>
          <a:graphicData uri="http://schemas.openxmlformats.org/presentationml/2006/ole">
            <mc:AlternateContent xmlns:mc="http://schemas.openxmlformats.org/markup-compatibility/2006">
              <mc:Choice xmlns:v="urn:schemas-microsoft-com:vml" Requires="v">
                <p:oleObj spid="_x0000_s3213" name="" r:id="rId3" imgW="787400" imgH="228600" progId="Equation.3">
                  <p:embed/>
                </p:oleObj>
              </mc:Choice>
              <mc:Fallback>
                <p:oleObj name="" r:id="rId3" imgW="787400" imgH="228600" progId="Equation.3">
                  <p:embed/>
                  <p:pic>
                    <p:nvPicPr>
                      <p:cNvPr id="0" name="图片 3212"/>
                      <p:cNvPicPr/>
                      <p:nvPr/>
                    </p:nvPicPr>
                    <p:blipFill>
                      <a:blip r:embed="rId4"/>
                      <a:stretch>
                        <a:fillRect/>
                      </a:stretch>
                    </p:blipFill>
                    <p:spPr>
                      <a:xfrm>
                        <a:off x="3924300" y="3573463"/>
                        <a:ext cx="2133600" cy="619125"/>
                      </a:xfrm>
                      <a:prstGeom prst="rect">
                        <a:avLst/>
                      </a:prstGeom>
                      <a:solidFill>
                        <a:srgbClr val="C00000"/>
                      </a:solidFill>
                      <a:ln w="38100">
                        <a:noFill/>
                        <a:miter/>
                      </a:ln>
                    </p:spPr>
                  </p:pic>
                </p:oleObj>
              </mc:Fallback>
            </mc:AlternateContent>
          </a:graphicData>
        </a:graphic>
      </p:graphicFrame>
      <p:sp>
        <p:nvSpPr>
          <p:cNvPr id="103428" name="文本框 103430"/>
          <p:cNvSpPr txBox="1"/>
          <p:nvPr/>
        </p:nvSpPr>
        <p:spPr>
          <a:xfrm>
            <a:off x="7924800" y="2438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6-68</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3429" name="文本框 103431"/>
          <p:cNvSpPr txBox="1"/>
          <p:nvPr/>
        </p:nvSpPr>
        <p:spPr>
          <a:xfrm>
            <a:off x="7943850" y="3657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6-69</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3430" name="文本框 103432"/>
          <p:cNvSpPr txBox="1"/>
          <p:nvPr/>
        </p:nvSpPr>
        <p:spPr>
          <a:xfrm>
            <a:off x="365125" y="4841875"/>
            <a:ext cx="33147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满足奇对称要求。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124075" y="549275"/>
            <a:ext cx="360045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04450" name="文本框 102403"/>
          <p:cNvSpPr txBox="1"/>
          <p:nvPr/>
        </p:nvSpPr>
        <p:spPr>
          <a:xfrm>
            <a:off x="228600" y="533400"/>
            <a:ext cx="8763000" cy="1041400"/>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）对于第四类线性相位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滤波器，即</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奇对称，</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为偶数，则其</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的表达式仍为 </a:t>
            </a:r>
            <a:endParaRPr lang="zh-CN" altLang="en-US" dirty="0">
              <a:latin typeface="Times New Roman" panose="02020603050405020304" pitchFamily="18" charset="0"/>
              <a:ea typeface="宋体" panose="02010600030101010101" pitchFamily="2" charset="-122"/>
            </a:endParaRPr>
          </a:p>
        </p:txBody>
      </p:sp>
      <p:graphicFrame>
        <p:nvGraphicFramePr>
          <p:cNvPr id="104451" name="对象 102404"/>
          <p:cNvGraphicFramePr/>
          <p:nvPr/>
        </p:nvGraphicFramePr>
        <p:xfrm>
          <a:off x="1427163" y="1724025"/>
          <a:ext cx="5986462" cy="1335088"/>
        </p:xfrm>
        <a:graphic>
          <a:graphicData uri="http://schemas.openxmlformats.org/presentationml/2006/ole">
            <mc:AlternateContent xmlns:mc="http://schemas.openxmlformats.org/markup-compatibility/2006">
              <mc:Choice xmlns:v="urn:schemas-microsoft-com:vml" Requires="v">
                <p:oleObj spid="_x0000_s3210" name="" r:id="rId1" imgW="3187700" imgH="711200" progId="Equation.3">
                  <p:embed/>
                </p:oleObj>
              </mc:Choice>
              <mc:Fallback>
                <p:oleObj name="" r:id="rId1" imgW="3187700" imgH="711200" progId="Equation.3">
                  <p:embed/>
                  <p:pic>
                    <p:nvPicPr>
                      <p:cNvPr id="0" name="图片 3209"/>
                      <p:cNvPicPr/>
                      <p:nvPr/>
                    </p:nvPicPr>
                    <p:blipFill>
                      <a:blip r:embed="rId2"/>
                      <a:stretch>
                        <a:fillRect/>
                      </a:stretch>
                    </p:blipFill>
                    <p:spPr>
                      <a:xfrm>
                        <a:off x="1427163" y="1724025"/>
                        <a:ext cx="5986462" cy="1335088"/>
                      </a:xfrm>
                      <a:prstGeom prst="rect">
                        <a:avLst/>
                      </a:prstGeom>
                      <a:solidFill>
                        <a:schemeClr val="accent1"/>
                      </a:solidFill>
                      <a:ln w="38100">
                        <a:noFill/>
                        <a:miter/>
                      </a:ln>
                    </p:spPr>
                  </p:pic>
                </p:oleObj>
              </mc:Fallback>
            </mc:AlternateContent>
          </a:graphicData>
        </a:graphic>
      </p:graphicFrame>
      <p:sp>
        <p:nvSpPr>
          <p:cNvPr id="104452" name="文本框 102405"/>
          <p:cNvSpPr txBox="1"/>
          <p:nvPr/>
        </p:nvSpPr>
        <p:spPr>
          <a:xfrm>
            <a:off x="212725" y="2813050"/>
            <a:ext cx="8931275" cy="1112838"/>
          </a:xfrm>
          <a:prstGeom prst="rect">
            <a:avLst/>
          </a:prstGeom>
          <a:noFill/>
          <a:ln w="9525">
            <a:noFill/>
          </a:ln>
        </p:spPr>
        <p:txBody>
          <a:bodyPr anchor="t">
            <a:spAutoFit/>
          </a:bodyPr>
          <a:p>
            <a:pPr>
              <a:lnSpc>
                <a:spcPct val="138000"/>
              </a:lnSpc>
            </a:pPr>
            <a:r>
              <a:rPr lang="zh-CN" altLang="en-US" dirty="0">
                <a:latin typeface="Times New Roman" panose="02020603050405020304" pitchFamily="18" charset="0"/>
                <a:ea typeface="宋体" panose="02010600030101010101" pitchFamily="2" charset="-122"/>
              </a:rPr>
              <a:t>但是，</a:t>
            </a:r>
            <a:endParaRPr lang="en-US" altLang="zh-CN" dirty="0">
              <a:latin typeface="Times New Roman" panose="02020603050405020304" pitchFamily="18" charset="0"/>
              <a:ea typeface="宋体" panose="02010600030101010101" pitchFamily="2" charset="-122"/>
            </a:endParaRPr>
          </a:p>
          <a:p>
            <a:pPr>
              <a:lnSpc>
                <a:spcPct val="138000"/>
              </a:lnSpc>
            </a:pPr>
            <a:r>
              <a:rPr lang="zh-CN" altLang="en-US" dirty="0">
                <a:latin typeface="Times New Roman" panose="02020603050405020304" pitchFamily="18" charset="0"/>
                <a:ea typeface="宋体" panose="02010600030101010101" pitchFamily="2" charset="-122"/>
              </a:rPr>
              <a:t>其</a:t>
            </a:r>
            <a:r>
              <a:rPr lang="zh-CN" altLang="en-US" b="1" u="sng" dirty="0">
                <a:solidFill>
                  <a:srgbClr val="FF0000"/>
                </a:solidFill>
                <a:latin typeface="Times New Roman" panose="02020603050405020304" pitchFamily="18" charset="0"/>
                <a:ea typeface="宋体" panose="02010600030101010101" pitchFamily="2" charset="-122"/>
              </a:rPr>
              <a:t>幅度函数</a:t>
            </a:r>
            <a:r>
              <a:rPr lang="en-US" altLang="zh-CN" b="1" i="1" u="sng" dirty="0">
                <a:solidFill>
                  <a:srgbClr val="FF0000"/>
                </a:solidFill>
                <a:latin typeface="Times New Roman" panose="02020603050405020304" pitchFamily="18" charset="0"/>
                <a:ea typeface="宋体" panose="02010600030101010101" pitchFamily="2" charset="-122"/>
              </a:rPr>
              <a:t>H</a:t>
            </a:r>
            <a:r>
              <a:rPr lang="en-US" altLang="zh-CN" b="1" u="sng" dirty="0">
                <a:solidFill>
                  <a:srgbClr val="FF0000"/>
                </a:solidFill>
                <a:latin typeface="Times New Roman" panose="02020603050405020304" pitchFamily="18" charset="0"/>
                <a:ea typeface="宋体" panose="02010600030101010101" pitchFamily="2" charset="-122"/>
              </a:rPr>
              <a:t>(</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关于</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=π</a:t>
            </a:r>
            <a:r>
              <a:rPr lang="zh-CN" altLang="en-US" b="1" u="sng" dirty="0">
                <a:solidFill>
                  <a:srgbClr val="FF0000"/>
                </a:solidFill>
                <a:latin typeface="Times New Roman" panose="02020603050405020304" pitchFamily="18" charset="0"/>
                <a:ea typeface="宋体" panose="02010600030101010101" pitchFamily="2" charset="-122"/>
              </a:rPr>
              <a:t>是偶对称的，关于</a:t>
            </a:r>
            <a:r>
              <a:rPr lang="en-US" altLang="zh-CN" b="1" i="1" u="sng" dirty="0">
                <a:solidFill>
                  <a:srgbClr val="FF0000"/>
                </a:solidFill>
                <a:latin typeface="Times New Roman" panose="02020603050405020304" pitchFamily="18" charset="0"/>
                <a:ea typeface="宋体" panose="02010600030101010101" pitchFamily="2" charset="-122"/>
              </a:rPr>
              <a:t>ω</a:t>
            </a:r>
            <a:r>
              <a:rPr lang="en-US" altLang="zh-CN" b="1" u="sng" dirty="0">
                <a:solidFill>
                  <a:srgbClr val="FF0000"/>
                </a:solidFill>
                <a:latin typeface="Times New Roman" panose="02020603050405020304" pitchFamily="18" charset="0"/>
                <a:ea typeface="宋体" panose="02010600030101010101" pitchFamily="2" charset="-122"/>
              </a:rPr>
              <a:t>=0, 2π</a:t>
            </a:r>
            <a:r>
              <a:rPr lang="zh-CN" altLang="en-US" b="1" u="sng" dirty="0">
                <a:solidFill>
                  <a:srgbClr val="FF0000"/>
                </a:solidFill>
                <a:latin typeface="Times New Roman" panose="02020603050405020304" pitchFamily="18" charset="0"/>
                <a:ea typeface="宋体" panose="02010600030101010101" pitchFamily="2" charset="-122"/>
              </a:rPr>
              <a:t>为奇对称</a:t>
            </a:r>
            <a:r>
              <a:rPr lang="zh-CN" altLang="en-US" dirty="0">
                <a:latin typeface="Times New Roman" panose="02020603050405020304" pitchFamily="18" charset="0"/>
                <a:ea typeface="宋体" panose="02010600030101010101" pitchFamily="2" charset="-122"/>
              </a:rPr>
              <a:t>， 即 </a:t>
            </a:r>
            <a:endParaRPr lang="zh-CN" altLang="en-US" dirty="0">
              <a:latin typeface="Times New Roman" panose="02020603050405020304" pitchFamily="18" charset="0"/>
              <a:ea typeface="宋体" panose="02010600030101010101" pitchFamily="2" charset="-122"/>
            </a:endParaRPr>
          </a:p>
        </p:txBody>
      </p:sp>
      <p:graphicFrame>
        <p:nvGraphicFramePr>
          <p:cNvPr id="104453" name="对象 102406"/>
          <p:cNvGraphicFramePr/>
          <p:nvPr/>
        </p:nvGraphicFramePr>
        <p:xfrm>
          <a:off x="3124200" y="3929063"/>
          <a:ext cx="2971800" cy="490537"/>
        </p:xfrm>
        <a:graphic>
          <a:graphicData uri="http://schemas.openxmlformats.org/presentationml/2006/ole">
            <mc:AlternateContent xmlns:mc="http://schemas.openxmlformats.org/markup-compatibility/2006">
              <mc:Choice xmlns:v="urn:schemas-microsoft-com:vml" Requires="v">
                <p:oleObj spid="_x0000_s3214" name="" r:id="rId3" imgW="1230630" imgH="203200" progId="Equation.3">
                  <p:embed/>
                </p:oleObj>
              </mc:Choice>
              <mc:Fallback>
                <p:oleObj name="" r:id="rId3" imgW="1230630" imgH="203200" progId="Equation.3">
                  <p:embed/>
                  <p:pic>
                    <p:nvPicPr>
                      <p:cNvPr id="0" name="图片 3213"/>
                      <p:cNvPicPr/>
                      <p:nvPr/>
                    </p:nvPicPr>
                    <p:blipFill>
                      <a:blip r:embed="rId4"/>
                      <a:stretch>
                        <a:fillRect/>
                      </a:stretch>
                    </p:blipFill>
                    <p:spPr>
                      <a:xfrm>
                        <a:off x="3124200" y="3929063"/>
                        <a:ext cx="2971800" cy="490537"/>
                      </a:xfrm>
                      <a:prstGeom prst="rect">
                        <a:avLst/>
                      </a:prstGeom>
                      <a:solidFill>
                        <a:schemeClr val="accent1"/>
                      </a:solidFill>
                      <a:ln w="38100">
                        <a:noFill/>
                        <a:miter/>
                      </a:ln>
                    </p:spPr>
                  </p:pic>
                </p:oleObj>
              </mc:Fallback>
            </mc:AlternateContent>
          </a:graphicData>
        </a:graphic>
      </p:graphicFrame>
      <p:sp>
        <p:nvSpPr>
          <p:cNvPr id="104454" name="文本框 102407"/>
          <p:cNvSpPr txBox="1"/>
          <p:nvPr/>
        </p:nvSpPr>
        <p:spPr>
          <a:xfrm>
            <a:off x="7715250" y="3962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6-70</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4455" name="文本框 102408"/>
          <p:cNvSpPr txBox="1"/>
          <p:nvPr/>
        </p:nvSpPr>
        <p:spPr>
          <a:xfrm>
            <a:off x="228600" y="4572000"/>
            <a:ext cx="51435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所以，这时的</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也应满足偶对称要求 </a:t>
            </a:r>
            <a:endParaRPr lang="zh-CN" altLang="en-US" dirty="0">
              <a:latin typeface="Times New Roman" panose="02020603050405020304" pitchFamily="18" charset="0"/>
              <a:ea typeface="宋体" panose="02010600030101010101" pitchFamily="2" charset="-122"/>
            </a:endParaRPr>
          </a:p>
        </p:txBody>
      </p:sp>
      <p:graphicFrame>
        <p:nvGraphicFramePr>
          <p:cNvPr id="104456" name="对象 102409"/>
          <p:cNvGraphicFramePr/>
          <p:nvPr/>
        </p:nvGraphicFramePr>
        <p:xfrm>
          <a:off x="3657600" y="5051425"/>
          <a:ext cx="1797050" cy="587375"/>
        </p:xfrm>
        <a:graphic>
          <a:graphicData uri="http://schemas.openxmlformats.org/presentationml/2006/ole">
            <mc:AlternateContent xmlns:mc="http://schemas.openxmlformats.org/markup-compatibility/2006">
              <mc:Choice xmlns:v="urn:schemas-microsoft-com:vml" Requires="v">
                <p:oleObj spid="_x0000_s3215" name="" r:id="rId5" imgW="698500" imgH="228600" progId="Equation.3">
                  <p:embed/>
                </p:oleObj>
              </mc:Choice>
              <mc:Fallback>
                <p:oleObj name="" r:id="rId5" imgW="698500" imgH="228600" progId="Equation.3">
                  <p:embed/>
                  <p:pic>
                    <p:nvPicPr>
                      <p:cNvPr id="0" name="图片 3214"/>
                      <p:cNvPicPr/>
                      <p:nvPr/>
                    </p:nvPicPr>
                    <p:blipFill>
                      <a:blip r:embed="rId6"/>
                      <a:stretch>
                        <a:fillRect/>
                      </a:stretch>
                    </p:blipFill>
                    <p:spPr>
                      <a:xfrm>
                        <a:off x="3657600" y="5051425"/>
                        <a:ext cx="1797050" cy="587375"/>
                      </a:xfrm>
                      <a:prstGeom prst="rect">
                        <a:avLst/>
                      </a:prstGeom>
                      <a:solidFill>
                        <a:srgbClr val="C00000"/>
                      </a:solidFill>
                      <a:ln w="38100">
                        <a:noFill/>
                        <a:miter/>
                      </a:ln>
                    </p:spPr>
                  </p:pic>
                </p:oleObj>
              </mc:Fallback>
            </mc:AlternateContent>
          </a:graphicData>
        </a:graphic>
      </p:graphicFrame>
      <p:sp>
        <p:nvSpPr>
          <p:cNvPr id="104457" name="文本框 102410"/>
          <p:cNvSpPr txBox="1"/>
          <p:nvPr/>
        </p:nvSpPr>
        <p:spPr>
          <a:xfrm>
            <a:off x="212725" y="5715000"/>
            <a:ext cx="517683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而</a:t>
            </a:r>
            <a:r>
              <a:rPr lang="en-US" altLang="zh-CN" i="1" dirty="0">
                <a:latin typeface="Times New Roman" panose="02020603050405020304" pitchFamily="18" charset="0"/>
                <a:ea typeface="宋体" panose="02010600030101010101" pitchFamily="2" charset="-122"/>
              </a:rPr>
              <a:t>θ</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则与前面公式式（</a:t>
            </a:r>
            <a:r>
              <a:rPr lang="en-US" altLang="zh-CN" dirty="0">
                <a:latin typeface="Times New Roman" panose="02020603050405020304" pitchFamily="18" charset="0"/>
                <a:ea typeface="宋体" panose="02010600030101010101" pitchFamily="2" charset="-122"/>
              </a:rPr>
              <a:t>6-68</a:t>
            </a:r>
            <a:r>
              <a:rPr lang="zh-CN" altLang="en-US" dirty="0">
                <a:latin typeface="Times New Roman" panose="02020603050405020304" pitchFamily="18" charset="0"/>
                <a:ea typeface="宋体" panose="02010600030101010101" pitchFamily="2" charset="-122"/>
              </a:rPr>
              <a:t>）相同。 </a:t>
            </a:r>
            <a:endParaRPr lang="zh-CN" altLang="en-US" dirty="0">
              <a:latin typeface="Times New Roman" panose="02020603050405020304" pitchFamily="18" charset="0"/>
              <a:ea typeface="宋体" panose="02010600030101010101" pitchFamily="2" charset="-122"/>
            </a:endParaRPr>
          </a:p>
        </p:txBody>
      </p:sp>
      <p:sp>
        <p:nvSpPr>
          <p:cNvPr id="104458" name="文本框 102411"/>
          <p:cNvSpPr txBox="1"/>
          <p:nvPr/>
        </p:nvSpPr>
        <p:spPr>
          <a:xfrm>
            <a:off x="7715250" y="5105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6-71</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文本框 106499"/>
          <p:cNvSpPr txBox="1"/>
          <p:nvPr/>
        </p:nvSpPr>
        <p:spPr>
          <a:xfrm>
            <a:off x="152400" y="515938"/>
            <a:ext cx="8839200" cy="3294062"/>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6.3.2 </a:t>
            </a:r>
            <a:r>
              <a:rPr lang="zh-CN" altLang="en-US" b="1" dirty="0">
                <a:latin typeface="Times New Roman" panose="02020603050405020304" pitchFamily="18" charset="0"/>
                <a:ea typeface="宋体" panose="02010600030101010101" pitchFamily="2" charset="-122"/>
              </a:rPr>
              <a:t>逼近误差及其改进措施</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频率采样法是比较简单的，但是我们还应该进一步考察， 用这种频率采样所得到的系统函数究竟逼近效果如何？如此设计所得到的频响</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与要求的理想频响</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会有怎样的差别？在第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章中，我们已经知道，利用</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个频域采样值</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可求得</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滤波器的频率响应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 </a:t>
            </a:r>
            <a:endParaRPr lang="zh-CN" altLang="en-US" dirty="0">
              <a:latin typeface="Times New Roman" panose="02020603050405020304" pitchFamily="18" charset="0"/>
              <a:ea typeface="宋体" panose="02010600030101010101" pitchFamily="2" charset="-122"/>
            </a:endParaRPr>
          </a:p>
        </p:txBody>
      </p:sp>
      <p:graphicFrame>
        <p:nvGraphicFramePr>
          <p:cNvPr id="105474" name="对象 106500"/>
          <p:cNvGraphicFramePr/>
          <p:nvPr/>
        </p:nvGraphicFramePr>
        <p:xfrm>
          <a:off x="2286000" y="3886200"/>
          <a:ext cx="4419600" cy="968375"/>
        </p:xfrm>
        <a:graphic>
          <a:graphicData uri="http://schemas.openxmlformats.org/presentationml/2006/ole">
            <mc:AlternateContent xmlns:mc="http://schemas.openxmlformats.org/markup-compatibility/2006">
              <mc:Choice xmlns:v="urn:schemas-microsoft-com:vml" Requires="v">
                <p:oleObj spid="_x0000_s3218" name="" r:id="rId1" imgW="1967865" imgH="431800" progId="Equation.3">
                  <p:embed/>
                </p:oleObj>
              </mc:Choice>
              <mc:Fallback>
                <p:oleObj name="" r:id="rId1" imgW="1967865" imgH="431800" progId="Equation.3">
                  <p:embed/>
                  <p:pic>
                    <p:nvPicPr>
                      <p:cNvPr id="0" name="图片 3217"/>
                      <p:cNvPicPr/>
                      <p:nvPr/>
                    </p:nvPicPr>
                    <p:blipFill>
                      <a:blip r:embed="rId2"/>
                      <a:stretch>
                        <a:fillRect/>
                      </a:stretch>
                    </p:blipFill>
                    <p:spPr>
                      <a:xfrm>
                        <a:off x="2286000" y="3886200"/>
                        <a:ext cx="4419600" cy="968375"/>
                      </a:xfrm>
                      <a:prstGeom prst="rect">
                        <a:avLst/>
                      </a:prstGeom>
                      <a:solidFill>
                        <a:schemeClr val="accent1"/>
                      </a:solidFill>
                      <a:ln w="38100">
                        <a:noFill/>
                        <a:miter/>
                      </a:ln>
                    </p:spPr>
                  </p:pic>
                </p:oleObj>
              </mc:Fallback>
            </mc:AlternateContent>
          </a:graphicData>
        </a:graphic>
      </p:graphicFrame>
      <p:sp>
        <p:nvSpPr>
          <p:cNvPr id="105475" name="文本框 106501"/>
          <p:cNvSpPr txBox="1"/>
          <p:nvPr/>
        </p:nvSpPr>
        <p:spPr>
          <a:xfrm>
            <a:off x="7715250" y="41148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6-72</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5476" name="文本框 106502"/>
          <p:cNvSpPr txBox="1"/>
          <p:nvPr/>
        </p:nvSpPr>
        <p:spPr>
          <a:xfrm>
            <a:off x="136525" y="5029200"/>
            <a:ext cx="320040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Φ</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a:t>
            </a:r>
            <a:r>
              <a:rPr lang="zh-CN" altLang="en-US" b="1" dirty="0">
                <a:solidFill>
                  <a:srgbClr val="FF0000"/>
                </a:solidFill>
                <a:latin typeface="Times New Roman" panose="02020603050405020304" pitchFamily="18" charset="0"/>
                <a:ea typeface="宋体" panose="02010600030101010101" pitchFamily="2" charset="-122"/>
              </a:rPr>
              <a:t>内插函数 </a:t>
            </a:r>
            <a:endParaRPr lang="zh-CN" altLang="en-US" b="1" dirty="0">
              <a:solidFill>
                <a:srgbClr val="FF0000"/>
              </a:solidFill>
              <a:latin typeface="Times New Roman" panose="02020603050405020304" pitchFamily="18" charset="0"/>
              <a:ea typeface="宋体" panose="02010600030101010101" pitchFamily="2" charset="-122"/>
            </a:endParaRPr>
          </a:p>
        </p:txBody>
      </p:sp>
      <p:graphicFrame>
        <p:nvGraphicFramePr>
          <p:cNvPr id="105477" name="对象 106503"/>
          <p:cNvGraphicFramePr/>
          <p:nvPr/>
        </p:nvGraphicFramePr>
        <p:xfrm>
          <a:off x="941864" y="5635149"/>
          <a:ext cx="3816985" cy="1005840"/>
        </p:xfrm>
        <a:graphic>
          <a:graphicData uri="http://schemas.openxmlformats.org/presentationml/2006/ole">
            <mc:AlternateContent xmlns:mc="http://schemas.openxmlformats.org/markup-compatibility/2006">
              <mc:Choice xmlns:v="urn:schemas-microsoft-com:vml" Requires="v">
                <p:oleObj spid="_x0000_s3221" name="" r:id="rId3" imgW="1688465" imgH="444500" progId="Equation.3">
                  <p:embed/>
                </p:oleObj>
              </mc:Choice>
              <mc:Fallback>
                <p:oleObj name="" r:id="rId3" imgW="1688465" imgH="444500" progId="Equation.3">
                  <p:embed/>
                  <p:pic>
                    <p:nvPicPr>
                      <p:cNvPr id="0" name="图片 3220"/>
                      <p:cNvPicPr/>
                      <p:nvPr/>
                    </p:nvPicPr>
                    <p:blipFill>
                      <a:blip r:embed="rId4"/>
                      <a:stretch>
                        <a:fillRect/>
                      </a:stretch>
                    </p:blipFill>
                    <p:spPr>
                      <a:xfrm>
                        <a:off x="941864" y="5635149"/>
                        <a:ext cx="3816985" cy="1005840"/>
                      </a:xfrm>
                      <a:prstGeom prst="rect">
                        <a:avLst/>
                      </a:prstGeom>
                      <a:solidFill>
                        <a:schemeClr val="accent1"/>
                      </a:solidFill>
                      <a:ln w="38100">
                        <a:noFill/>
                        <a:miter/>
                      </a:ln>
                    </p:spPr>
                  </p:pic>
                </p:oleObj>
              </mc:Fallback>
            </mc:AlternateContent>
          </a:graphicData>
        </a:graphic>
      </p:graphicFrame>
      <p:sp>
        <p:nvSpPr>
          <p:cNvPr id="105478" name="文本框 106504"/>
          <p:cNvSpPr txBox="1"/>
          <p:nvPr/>
        </p:nvSpPr>
        <p:spPr>
          <a:xfrm>
            <a:off x="7791450" y="5562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6-73</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 name="五角星 1"/>
          <p:cNvSpPr/>
          <p:nvPr/>
        </p:nvSpPr>
        <p:spPr>
          <a:xfrm>
            <a:off x="1044575" y="3810000"/>
            <a:ext cx="868363" cy="936625"/>
          </a:xfrm>
          <a:prstGeom prst="star5">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graphicFrame>
        <p:nvGraphicFramePr>
          <p:cNvPr id="3" name="对象 2"/>
          <p:cNvGraphicFramePr>
            <a:graphicFrameLocks noChangeAspect="1"/>
          </p:cNvGraphicFramePr>
          <p:nvPr/>
        </p:nvGraphicFramePr>
        <p:xfrm>
          <a:off x="4716621" y="5588794"/>
          <a:ext cx="3179445" cy="1113790"/>
        </p:xfrm>
        <a:graphic>
          <a:graphicData uri="http://schemas.openxmlformats.org/presentationml/2006/ole">
            <mc:AlternateContent xmlns:mc="http://schemas.openxmlformats.org/markup-compatibility/2006">
              <mc:Choice xmlns:v="urn:schemas-microsoft-com:vml" Requires="v">
                <p:oleObj spid="_x0000_s3219" name="" r:id="rId5" imgW="1270000" imgH="444500" progId="Equation.3">
                  <p:embed/>
                </p:oleObj>
              </mc:Choice>
              <mc:Fallback>
                <p:oleObj name="" r:id="rId5" imgW="1270000" imgH="444500" progId="Equation.3">
                  <p:embed/>
                  <p:pic>
                    <p:nvPicPr>
                      <p:cNvPr id="0" name="图片 3218"/>
                      <p:cNvPicPr/>
                      <p:nvPr/>
                    </p:nvPicPr>
                    <p:blipFill>
                      <a:blip r:embed="rId6"/>
                      <a:stretch>
                        <a:fillRect/>
                      </a:stretch>
                    </p:blipFill>
                    <p:spPr>
                      <a:xfrm>
                        <a:off x="4716621" y="5588794"/>
                        <a:ext cx="3179445" cy="1113790"/>
                      </a:xfrm>
                      <a:prstGeom prst="rect">
                        <a:avLst/>
                      </a:prstGeom>
                      <a:solidFill>
                        <a:srgbClr val="FFFF00"/>
                      </a:solidFill>
                      <a:ln w="38100">
                        <a:noFill/>
                        <a:miter/>
                      </a:ln>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文本框 105475"/>
          <p:cNvSpPr txBox="1"/>
          <p:nvPr/>
        </p:nvSpPr>
        <p:spPr>
          <a:xfrm>
            <a:off x="293688" y="549275"/>
            <a:ext cx="8599487" cy="5788025"/>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上式表明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在各频率采样点</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 2, </a:t>
            </a:r>
            <a:r>
              <a:rPr lang="en-US" altLang="zh-CN" dirty="0">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上</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Φ</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，因此，采样点上滤波器的实际频率响应是严格地和理想频率响应数值相等的。但是在采样点之间的频响则是由各采样点的加权内插函数的延伸叠加而成的</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因而有一定的逼近误差， 误差大小取决于理想频率响应曲线形状。理想频率响应特性变化越平缓，则内插值越接近理想值，逼近误差越小。例如</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6-16(b)</a:t>
            </a:r>
            <a:r>
              <a:rPr lang="zh-CN" altLang="en-US" dirty="0">
                <a:latin typeface="Times New Roman" panose="02020603050405020304" pitchFamily="18" charset="0"/>
                <a:ea typeface="宋体" panose="02010600030101010101" pitchFamily="2" charset="-122"/>
              </a:rPr>
              <a:t>中的理想特性是一梯形响应，变化很缓和，因而采样后逼近效果就较好。反之，如果采样点之间的理想频率特性变化越陡，则内插值与理想值的误差就越大，因而在理想频率特性的不连续点附近，就会产生肩峰和起伏。例如</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6-16(a)</a:t>
            </a:r>
            <a:r>
              <a:rPr lang="zh-CN" altLang="en-US" dirty="0">
                <a:latin typeface="Times New Roman" panose="02020603050405020304" pitchFamily="18" charset="0"/>
                <a:ea typeface="宋体" panose="02010600030101010101" pitchFamily="2" charset="-122"/>
              </a:rPr>
              <a:t>中是一个矩形的理想特性，它在频率采样后出现的肩峰和起伏就比梯形特性大得多。</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文本框 109571"/>
          <p:cNvSpPr txBox="1"/>
          <p:nvPr/>
        </p:nvSpPr>
        <p:spPr>
          <a:xfrm>
            <a:off x="3124200" y="5715000"/>
            <a:ext cx="340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6-16 </a:t>
            </a:r>
            <a:r>
              <a:rPr lang="zh-CN" altLang="en-US" dirty="0">
                <a:latin typeface="Times New Roman" panose="02020603050405020304" pitchFamily="18" charset="0"/>
                <a:ea typeface="宋体" panose="02010600030101010101" pitchFamily="2" charset="-122"/>
              </a:rPr>
              <a:t>频率采样的响应 </a:t>
            </a:r>
            <a:endParaRPr lang="zh-CN" altLang="en-US" dirty="0">
              <a:latin typeface="Times New Roman" panose="02020603050405020304" pitchFamily="18" charset="0"/>
              <a:ea typeface="宋体" panose="02010600030101010101" pitchFamily="2" charset="-122"/>
            </a:endParaRPr>
          </a:p>
        </p:txBody>
      </p:sp>
      <p:pic>
        <p:nvPicPr>
          <p:cNvPr id="107522" name="图片 109575" descr="6-16"/>
          <p:cNvPicPr>
            <a:picLocks noChangeAspect="1"/>
          </p:cNvPicPr>
          <p:nvPr/>
        </p:nvPicPr>
        <p:blipFill>
          <a:blip r:embed="rId1"/>
          <a:stretch>
            <a:fillRect/>
          </a:stretch>
        </p:blipFill>
        <p:spPr>
          <a:xfrm>
            <a:off x="1714500" y="1309688"/>
            <a:ext cx="5715000" cy="4238625"/>
          </a:xfrm>
          <a:prstGeom prst="rect">
            <a:avLst/>
          </a:prstGeom>
          <a:noFill/>
          <a:ln w="9525">
            <a:noFill/>
          </a:ln>
        </p:spPr>
      </p:pic>
      <p:sp>
        <p:nvSpPr>
          <p:cNvPr id="2" name="文本框 1"/>
          <p:cNvSpPr txBox="1"/>
          <p:nvPr/>
        </p:nvSpPr>
        <p:spPr>
          <a:xfrm>
            <a:off x="6534150" y="3429000"/>
            <a:ext cx="1782763" cy="461963"/>
          </a:xfrm>
          <a:prstGeom prst="rect">
            <a:avLst/>
          </a:prstGeom>
          <a:solidFill>
            <a:schemeClr val="accent1"/>
          </a:solidFill>
          <a:ln w="9525">
            <a:noFill/>
          </a:ln>
        </p:spPr>
        <p:txBody>
          <a:bodyPr anchor="t">
            <a:spAutoFit/>
          </a:bodyPr>
          <a:p>
            <a:pPr eaLnBrk="0" hangingPunct="0"/>
            <a:r>
              <a:rPr lang="zh-CN" altLang="en-US" dirty="0">
                <a:latin typeface="Times New Roman" panose="02020603050405020304" pitchFamily="18" charset="0"/>
                <a:ea typeface="宋体" panose="02010600030101010101" pitchFamily="2" charset="-122"/>
              </a:rPr>
              <a:t>有无过渡点</a:t>
            </a:r>
            <a:endParaRPr lang="zh-CN" altLang="en-US" dirty="0">
              <a:latin typeface="Times New Roman" panose="02020603050405020304" pitchFamily="18" charset="0"/>
              <a:ea typeface="宋体" panose="02010600030101010101" pitchFamily="2" charset="-122"/>
            </a:endParaRPr>
          </a:p>
        </p:txBody>
      </p:sp>
      <p:sp>
        <p:nvSpPr>
          <p:cNvPr id="3" name="文本框 2"/>
          <p:cNvSpPr txBox="1"/>
          <p:nvPr>
            <p:custDataLst>
              <p:tags r:id="rId2"/>
            </p:custDataLst>
          </p:nvPr>
        </p:nvSpPr>
        <p:spPr>
          <a:xfrm>
            <a:off x="6444615" y="1412240"/>
            <a:ext cx="1462405" cy="460375"/>
          </a:xfrm>
          <a:prstGeom prst="rect">
            <a:avLst/>
          </a:prstGeom>
          <a:solidFill>
            <a:schemeClr val="accent1"/>
          </a:solidFill>
          <a:ln w="9525">
            <a:noFill/>
          </a:ln>
        </p:spPr>
        <p:txBody>
          <a:bodyPr wrap="square" anchor="t">
            <a:spAutoFit/>
          </a:bodyPr>
          <a:p>
            <a:pPr eaLnBrk="0" hangingPunct="0"/>
            <a:r>
              <a:rPr lang="zh-CN" altLang="en-US" dirty="0">
                <a:latin typeface="Times New Roman" panose="02020603050405020304" pitchFamily="18" charset="0"/>
                <a:ea typeface="宋体" panose="02010600030101010101" pitchFamily="2" charset="-122"/>
              </a:rPr>
              <a:t>变化陡峭</a:t>
            </a:r>
            <a:endParaRPr lang="zh-CN" altLang="en-US" dirty="0">
              <a:latin typeface="Times New Roman" panose="02020603050405020304" pitchFamily="18" charset="0"/>
              <a:ea typeface="宋体" panose="02010600030101010101" pitchFamily="2" charset="-122"/>
            </a:endParaRPr>
          </a:p>
        </p:txBody>
      </p:sp>
      <p:sp>
        <p:nvSpPr>
          <p:cNvPr id="4" name="文本框 3"/>
          <p:cNvSpPr txBox="1"/>
          <p:nvPr>
            <p:custDataLst>
              <p:tags r:id="rId3"/>
            </p:custDataLst>
          </p:nvPr>
        </p:nvSpPr>
        <p:spPr>
          <a:xfrm>
            <a:off x="6534150" y="4652645"/>
            <a:ext cx="1409065" cy="460375"/>
          </a:xfrm>
          <a:prstGeom prst="rect">
            <a:avLst/>
          </a:prstGeom>
          <a:solidFill>
            <a:schemeClr val="accent1"/>
          </a:solidFill>
          <a:ln w="9525">
            <a:noFill/>
          </a:ln>
        </p:spPr>
        <p:txBody>
          <a:bodyPr wrap="square" anchor="t">
            <a:spAutoFit/>
          </a:bodyPr>
          <a:p>
            <a:pPr eaLnBrk="0" hangingPunct="0"/>
            <a:r>
              <a:rPr lang="zh-CN" altLang="en-US" dirty="0">
                <a:latin typeface="Times New Roman" panose="02020603050405020304" pitchFamily="18" charset="0"/>
                <a:ea typeface="宋体" panose="02010600030101010101" pitchFamily="2" charset="-122"/>
              </a:rPr>
              <a:t>变化平缓</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2" grpId="0" animBg="1"/>
      <p:bldP spid="2" grpId="1"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文本框 108547"/>
          <p:cNvSpPr txBox="1"/>
          <p:nvPr/>
        </p:nvSpPr>
        <p:spPr>
          <a:xfrm>
            <a:off x="1828800" y="5373688"/>
            <a:ext cx="5838825" cy="701675"/>
          </a:xfrm>
          <a:prstGeom prst="rect">
            <a:avLst/>
          </a:prstGeom>
          <a:noFill/>
          <a:ln w="9525">
            <a:noFill/>
          </a:ln>
        </p:spPr>
        <p:txBody>
          <a:bodyPr wrap="none" anchor="t">
            <a:spAutoFit/>
          </a:bodyPr>
          <a:p>
            <a:pPr algn="ct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6-17 </a:t>
            </a:r>
            <a:r>
              <a:rPr lang="zh-CN" altLang="en-US" sz="2000" dirty="0">
                <a:latin typeface="Times New Roman" panose="02020603050405020304" pitchFamily="18" charset="0"/>
                <a:ea typeface="宋体" panose="02010600030101010101" pitchFamily="2" charset="-122"/>
              </a:rPr>
              <a:t>加过渡带</a:t>
            </a:r>
            <a:endParaRPr lang="zh-CN" altLang="en-US" sz="2000" dirty="0">
              <a:latin typeface="Times New Roman" panose="02020603050405020304" pitchFamily="18" charset="0"/>
              <a:ea typeface="宋体" panose="02010600030101010101" pitchFamily="2" charset="-122"/>
            </a:endParaRPr>
          </a:p>
          <a:p>
            <a:pPr algn="ct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a:t>
            </a:r>
            <a:r>
              <a:rPr lang="zh-CN" altLang="en-US" sz="2000" dirty="0">
                <a:latin typeface="Times New Roman" panose="02020603050405020304" pitchFamily="18" charset="0"/>
                <a:ea typeface="宋体" panose="02010600030101010101" pitchFamily="2" charset="-122"/>
              </a:rPr>
              <a:t>） 一点过渡带</a:t>
            </a:r>
            <a:r>
              <a:rPr lang="en-US" altLang="zh-CN" sz="2000" dirty="0">
                <a:latin typeface="Times New Roman" panose="02020603050405020304" pitchFamily="18" charset="0"/>
                <a:ea typeface="宋体" panose="02010600030101010101" pitchFamily="2" charset="-122"/>
              </a:rPr>
              <a:t>;  (b) </a:t>
            </a:r>
            <a:r>
              <a:rPr lang="zh-CN" altLang="en-US" sz="2000" dirty="0">
                <a:latin typeface="Times New Roman" panose="02020603050405020304" pitchFamily="18" charset="0"/>
                <a:ea typeface="宋体" panose="02010600030101010101" pitchFamily="2" charset="-122"/>
              </a:rPr>
              <a:t>二点过渡带</a:t>
            </a:r>
            <a:r>
              <a:rPr lang="en-US" altLang="zh-CN" sz="2000" dirty="0">
                <a:latin typeface="Times New Roman" panose="02020603050405020304" pitchFamily="18" charset="0"/>
                <a:ea typeface="宋体" panose="02010600030101010101" pitchFamily="2" charset="-122"/>
              </a:rPr>
              <a:t>;  (c) </a:t>
            </a:r>
            <a:r>
              <a:rPr lang="zh-CN" altLang="en-US" sz="2000" dirty="0">
                <a:latin typeface="Times New Roman" panose="02020603050405020304" pitchFamily="18" charset="0"/>
                <a:ea typeface="宋体" panose="02010600030101010101" pitchFamily="2" charset="-122"/>
              </a:rPr>
              <a:t>三点过渡带 </a:t>
            </a:r>
            <a:endParaRPr lang="zh-CN" altLang="en-US" sz="2000" dirty="0">
              <a:latin typeface="Times New Roman" panose="02020603050405020304" pitchFamily="18" charset="0"/>
              <a:ea typeface="宋体" panose="02010600030101010101" pitchFamily="2" charset="-122"/>
            </a:endParaRPr>
          </a:p>
        </p:txBody>
      </p:sp>
      <p:pic>
        <p:nvPicPr>
          <p:cNvPr id="108546" name="图片 108550" descr="6-17"/>
          <p:cNvPicPr>
            <a:picLocks noChangeAspect="1"/>
          </p:cNvPicPr>
          <p:nvPr/>
        </p:nvPicPr>
        <p:blipFill>
          <a:blip r:embed="rId1"/>
          <a:stretch>
            <a:fillRect/>
          </a:stretch>
        </p:blipFill>
        <p:spPr>
          <a:xfrm>
            <a:off x="1476375" y="1055688"/>
            <a:ext cx="4400550" cy="4286250"/>
          </a:xfrm>
          <a:prstGeom prst="rect">
            <a:avLst/>
          </a:prstGeom>
          <a:noFill/>
          <a:ln w="9525">
            <a:noFill/>
          </a:ln>
        </p:spPr>
      </p:pic>
      <p:sp>
        <p:nvSpPr>
          <p:cNvPr id="2" name="矩形 1"/>
          <p:cNvSpPr/>
          <p:nvPr/>
        </p:nvSpPr>
        <p:spPr>
          <a:xfrm>
            <a:off x="5486400" y="3933825"/>
            <a:ext cx="3646488" cy="830263"/>
          </a:xfrm>
          <a:prstGeom prst="rect">
            <a:avLst/>
          </a:prstGeom>
          <a:solidFill>
            <a:schemeClr val="accent1"/>
          </a:solidFill>
          <a:ln w="9525">
            <a:noFill/>
          </a:ln>
        </p:spPr>
        <p:txBody>
          <a:bodyPr wrap="none" anchor="t">
            <a:spAutoFit/>
          </a:bodyPr>
          <a:p>
            <a:pPr eaLnBrk="0" hangingPunct="0"/>
            <a:r>
              <a:rPr lang="zh-CN" altLang="en-US" dirty="0">
                <a:latin typeface="Times New Roman" panose="02020603050405020304" pitchFamily="18" charset="0"/>
                <a:ea typeface="宋体" panose="02010600030101010101" pitchFamily="2" charset="-122"/>
              </a:rPr>
              <a:t>过渡带点数越多，</a:t>
            </a:r>
            <a:endParaRPr lang="en-US" altLang="zh-CN"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曲线变换也接近原始信号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9569" name="组合 107525"/>
          <p:cNvGrpSpPr/>
          <p:nvPr/>
        </p:nvGrpSpPr>
        <p:grpSpPr>
          <a:xfrm>
            <a:off x="152400" y="533400"/>
            <a:ext cx="8839200" cy="5630863"/>
            <a:chOff x="96" y="336"/>
            <a:chExt cx="5568" cy="3547"/>
          </a:xfrm>
        </p:grpSpPr>
        <p:sp>
          <p:nvSpPr>
            <p:cNvPr id="109570" name="文本框 107523"/>
            <p:cNvSpPr txBox="1"/>
            <p:nvPr/>
          </p:nvSpPr>
          <p:spPr>
            <a:xfrm>
              <a:off x="96" y="336"/>
              <a:ext cx="5568" cy="3547"/>
            </a:xfrm>
            <a:prstGeom prst="rect">
              <a:avLst/>
            </a:prstGeom>
            <a:noFill/>
            <a:ln w="9525">
              <a:noFill/>
            </a:ln>
          </p:spPr>
          <p:txBody>
            <a:bodyPr anchor="t">
              <a:spAutoFit/>
            </a:bodyPr>
            <a:p>
              <a:pPr algn="just">
                <a:lnSpc>
                  <a:spcPct val="150000"/>
                </a:lnSpc>
                <a:spcBef>
                  <a:spcPct val="50000"/>
                </a:spcBef>
              </a:pP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如图</a:t>
              </a:r>
              <a:r>
                <a:rPr lang="en-US" altLang="zh-CN" sz="2000" dirty="0">
                  <a:latin typeface="Times New Roman" panose="02020603050405020304" pitchFamily="18" charset="0"/>
                  <a:ea typeface="宋体" panose="02010600030101010101" pitchFamily="2" charset="-122"/>
                </a:rPr>
                <a:t>6-17</a:t>
              </a:r>
              <a:r>
                <a:rPr lang="zh-CN" altLang="en-US" sz="2000" dirty="0">
                  <a:latin typeface="Times New Roman" panose="02020603050405020304" pitchFamily="18" charset="0"/>
                  <a:ea typeface="宋体" panose="02010600030101010101" pitchFamily="2" charset="-122"/>
                </a:rPr>
                <a:t>所示， 在频率响应的过渡带内插入一个（</a:t>
              </a:r>
              <a:r>
                <a:rPr lang="en-US" altLang="zh-CN" sz="2000" i="1" dirty="0">
                  <a:latin typeface="Times New Roman" panose="02020603050405020304" pitchFamily="18" charset="0"/>
                  <a:ea typeface="宋体" panose="02010600030101010101" pitchFamily="2" charset="-122"/>
                </a:rPr>
                <a:t>H</a:t>
              </a:r>
              <a:r>
                <a:rPr lang="en-US" altLang="zh-CN" sz="2000" baseline="-25000" dirty="0">
                  <a:latin typeface="Times New Roman" panose="02020603050405020304" pitchFamily="18" charset="0"/>
                  <a:ea typeface="宋体" panose="02010600030101010101" pitchFamily="2" charset="-122"/>
                </a:rPr>
                <a:t>c1</a:t>
              </a:r>
              <a:r>
                <a:rPr lang="zh-CN" altLang="en-US" sz="2000" dirty="0">
                  <a:latin typeface="Times New Roman" panose="02020603050405020304" pitchFamily="18" charset="0"/>
                  <a:ea typeface="宋体" panose="02010600030101010101" pitchFamily="2" charset="-122"/>
                </a:rPr>
                <a:t>）或两个（</a:t>
              </a:r>
              <a:r>
                <a:rPr lang="en-US" altLang="zh-CN" sz="2000" i="1" dirty="0">
                  <a:latin typeface="Times New Roman" panose="02020603050405020304" pitchFamily="18" charset="0"/>
                  <a:ea typeface="宋体" panose="02010600030101010101" pitchFamily="2" charset="-122"/>
                </a:rPr>
                <a:t>H</a:t>
              </a:r>
              <a:r>
                <a:rPr lang="en-US" altLang="zh-CN" sz="2000" baseline="-25000" dirty="0">
                  <a:latin typeface="Times New Roman" panose="02020603050405020304" pitchFamily="18" charset="0"/>
                  <a:ea typeface="宋体" panose="02010600030101010101" pitchFamily="2" charset="-122"/>
                </a:rPr>
                <a:t>c1</a:t>
              </a:r>
              <a:r>
                <a:rPr lang="zh-CN" altLang="en-US"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H</a:t>
              </a:r>
              <a:r>
                <a:rPr lang="en-US" altLang="zh-CN" sz="2000" baseline="-25000" dirty="0">
                  <a:latin typeface="Times New Roman" panose="02020603050405020304" pitchFamily="18" charset="0"/>
                  <a:ea typeface="宋体" panose="02010600030101010101" pitchFamily="2" charset="-122"/>
                </a:rPr>
                <a:t>c2</a:t>
              </a:r>
              <a:r>
                <a:rPr lang="zh-CN" altLang="en-US" sz="2000" dirty="0">
                  <a:latin typeface="Times New Roman" panose="02020603050405020304" pitchFamily="18" charset="0"/>
                  <a:ea typeface="宋体" panose="02010600030101010101" pitchFamily="2" charset="-122"/>
                </a:rPr>
                <a:t>）或三个（</a:t>
              </a:r>
              <a:r>
                <a:rPr lang="en-US" altLang="zh-CN" sz="2000" i="1" dirty="0">
                  <a:latin typeface="Times New Roman" panose="02020603050405020304" pitchFamily="18" charset="0"/>
                  <a:ea typeface="宋体" panose="02010600030101010101" pitchFamily="2" charset="-122"/>
                </a:rPr>
                <a:t>H</a:t>
              </a:r>
              <a:r>
                <a:rPr lang="en-US" altLang="zh-CN" sz="2000" baseline="-25000" dirty="0">
                  <a:latin typeface="Times New Roman" panose="02020603050405020304" pitchFamily="18" charset="0"/>
                  <a:ea typeface="宋体" panose="02010600030101010101" pitchFamily="2" charset="-122"/>
                </a:rPr>
                <a:t>c1</a:t>
              </a:r>
              <a:r>
                <a:rPr lang="zh-CN" altLang="en-US"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H</a:t>
              </a:r>
              <a:r>
                <a:rPr lang="en-US" altLang="zh-CN" sz="2000" baseline="-25000" dirty="0">
                  <a:latin typeface="Times New Roman" panose="02020603050405020304" pitchFamily="18" charset="0"/>
                  <a:ea typeface="宋体" panose="02010600030101010101" pitchFamily="2" charset="-122"/>
                </a:rPr>
                <a:t>c2</a:t>
              </a:r>
              <a:r>
                <a:rPr lang="zh-CN" altLang="en-US"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H</a:t>
              </a:r>
              <a:r>
                <a:rPr lang="en-US" altLang="zh-CN" sz="2000" baseline="-25000" dirty="0">
                  <a:latin typeface="Times New Roman" panose="02020603050405020304" pitchFamily="18" charset="0"/>
                  <a:ea typeface="宋体" panose="02010600030101010101" pitchFamily="2" charset="-122"/>
                </a:rPr>
                <a:t>c3</a:t>
              </a:r>
              <a:r>
                <a:rPr lang="zh-CN" altLang="en-US" sz="2000" dirty="0">
                  <a:latin typeface="Times New Roman" panose="02020603050405020304" pitchFamily="18" charset="0"/>
                  <a:ea typeface="宋体" panose="02010600030101010101" pitchFamily="2" charset="-122"/>
                </a:rPr>
                <a:t>）采样点，这些点上采样最佳值由计算机算出。这样就增加了过渡带，减小了频带边缘的突变，减小了通带和阻带的波动，因而增大了阻带最小衰减。这些采样点上的取值不同，效果也就不同，从式（</a:t>
              </a:r>
              <a:r>
                <a:rPr lang="en-US" altLang="zh-CN" sz="2000" dirty="0">
                  <a:latin typeface="Times New Roman" panose="02020603050405020304" pitchFamily="18" charset="0"/>
                  <a:ea typeface="宋体" panose="02010600030101010101" pitchFamily="2" charset="-122"/>
                </a:rPr>
                <a:t>6-72</a:t>
              </a:r>
              <a:r>
                <a:rPr lang="zh-CN" altLang="en-US" sz="2000" dirty="0">
                  <a:latin typeface="Times New Roman" panose="02020603050405020304" pitchFamily="18" charset="0"/>
                  <a:ea typeface="宋体" panose="02010600030101010101" pitchFamily="2" charset="-122"/>
                </a:rPr>
                <a:t>）可看出，每一个频率采样值都要产生一个与内插函数</a:t>
              </a:r>
              <a:r>
                <a:rPr lang="en-US" altLang="zh-CN" sz="2000" dirty="0">
                  <a:latin typeface="Times New Roman" panose="02020603050405020304" pitchFamily="18" charset="0"/>
                  <a:ea typeface="宋体" panose="02010600030101010101" pitchFamily="2" charset="-122"/>
                </a:rPr>
                <a:t>sin(</a:t>
              </a:r>
              <a:r>
                <a:rPr lang="en-US" altLang="zh-CN" sz="2000" i="1" dirty="0">
                  <a:latin typeface="Times New Roman" panose="02020603050405020304" pitchFamily="18" charset="0"/>
                  <a:ea typeface="宋体" panose="02010600030101010101" pitchFamily="2" charset="-122"/>
                </a:rPr>
                <a:t>Nω</a:t>
              </a:r>
              <a:r>
                <a:rPr lang="en-US" altLang="zh-CN" sz="2000" dirty="0">
                  <a:latin typeface="Times New Roman" panose="02020603050405020304" pitchFamily="18" charset="0"/>
                  <a:ea typeface="宋体" panose="02010600030101010101" pitchFamily="2" charset="-122"/>
                </a:rPr>
                <a:t>/2)/sin(</a:t>
              </a:r>
              <a:r>
                <a:rPr lang="en-US" altLang="zh-CN" sz="2000" i="1" dirty="0">
                  <a:latin typeface="Times New Roman" panose="02020603050405020304" pitchFamily="18" charset="0"/>
                  <a:ea typeface="宋体" panose="02010600030101010101" pitchFamily="2" charset="-122"/>
                </a:rPr>
                <a:t>ω</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成正比并且在频率上位移</a:t>
              </a:r>
              <a:r>
                <a:rPr lang="en-US" altLang="zh-CN" sz="2000" dirty="0">
                  <a:latin typeface="Times New Roman" panose="02020603050405020304" pitchFamily="18" charset="0"/>
                  <a:ea typeface="宋体" panose="02010600030101010101" pitchFamily="2" charset="-122"/>
                </a:rPr>
                <a:t>2π</a:t>
              </a:r>
              <a:r>
                <a:rPr lang="en-US" altLang="zh-CN" sz="2000" i="1" dirty="0">
                  <a:latin typeface="Times New Roman" panose="02020603050405020304" pitchFamily="18" charset="0"/>
                  <a:ea typeface="宋体" panose="02010600030101010101" pitchFamily="2" charset="-122"/>
                </a:rPr>
                <a:t>k</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的频率响应，而</a:t>
              </a:r>
              <a:r>
                <a:rPr lang="en-US" altLang="zh-CN" sz="2000" dirty="0">
                  <a:latin typeface="Times New Roman" panose="02020603050405020304" pitchFamily="18" charset="0"/>
                  <a:ea typeface="宋体" panose="02010600030101010101" pitchFamily="2" charset="-122"/>
                </a:rPr>
                <a:t>FIR</a:t>
              </a:r>
              <a:r>
                <a:rPr lang="zh-CN" altLang="en-US" sz="2000" dirty="0">
                  <a:latin typeface="Times New Roman" panose="02020603050405020304" pitchFamily="18" charset="0"/>
                  <a:ea typeface="宋体" panose="02010600030101010101" pitchFamily="2" charset="-122"/>
                </a:rPr>
                <a:t>滤波器的频率响应就是</a:t>
              </a:r>
              <a:r>
                <a:rPr lang="en-US" altLang="zh-CN" sz="2000" i="1" dirty="0">
                  <a:latin typeface="Times New Roman" panose="02020603050405020304" pitchFamily="18" charset="0"/>
                  <a:ea typeface="宋体" panose="02010600030101010101" pitchFamily="2" charset="-122"/>
                </a:rPr>
                <a:t>H</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k</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与内插函数                        的线性组合。如果</a:t>
              </a:r>
              <a:r>
                <a:rPr lang="zh-CN" altLang="en-US" sz="2000" b="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rPr>
                <a:t>精心设计过渡带的采样值</a:t>
              </a:r>
              <a:r>
                <a:rPr lang="zh-CN" altLang="en-US" sz="2000" dirty="0">
                  <a:latin typeface="Times New Roman" panose="02020603050405020304" pitchFamily="18" charset="0"/>
                  <a:ea typeface="宋体" panose="02010600030101010101" pitchFamily="2" charset="-122"/>
                </a:rPr>
                <a:t>，就有可能使它的</a:t>
              </a:r>
              <a:r>
                <a:rPr lang="zh-CN" altLang="en-US" sz="2000" b="1" dirty="0">
                  <a:ln/>
                  <a:solidFill>
                    <a:schemeClr val="accent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相邻频带波动得以减小</a:t>
              </a:r>
              <a:r>
                <a:rPr lang="zh-CN" altLang="en-US" sz="2000" dirty="0">
                  <a:latin typeface="Times New Roman" panose="02020603050405020304" pitchFamily="18" charset="0"/>
                  <a:ea typeface="宋体" panose="02010600030101010101" pitchFamily="2" charset="-122"/>
                </a:rPr>
                <a:t>从而设计出较好的滤波器。 一般过渡带取一、 二、 三点采样值即可得到满意结果， 在低通设计中，不加过渡采样点时，阻带最小衰减为</a:t>
              </a:r>
              <a:r>
                <a:rPr lang="en-US" altLang="zh-CN" sz="2000" dirty="0">
                  <a:latin typeface="Times New Roman" panose="02020603050405020304" pitchFamily="18" charset="0"/>
                  <a:ea typeface="宋体" panose="02010600030101010101" pitchFamily="2" charset="-122"/>
                </a:rPr>
                <a:t>-20 dB</a:t>
              </a:r>
              <a:r>
                <a:rPr lang="zh-CN" altLang="en-US" sz="2000" dirty="0">
                  <a:latin typeface="Times New Roman" panose="02020603050405020304" pitchFamily="18" charset="0"/>
                  <a:ea typeface="宋体" panose="02010600030101010101" pitchFamily="2" charset="-122"/>
                </a:rPr>
                <a:t>，一点过渡采样的最优化设计阻带最小衰减可提高到 </a:t>
              </a:r>
              <a:r>
                <a:rPr lang="en-US" altLang="zh-CN" sz="2000" dirty="0">
                  <a:latin typeface="Times New Roman" panose="02020603050405020304" pitchFamily="18" charset="0"/>
                  <a:ea typeface="宋体" panose="02010600030101010101" pitchFamily="2" charset="-122"/>
                </a:rPr>
                <a:t>-44 dB</a:t>
              </a:r>
              <a:r>
                <a:rPr lang="zh-CN" altLang="en-US" sz="2000" dirty="0">
                  <a:latin typeface="Times New Roman" panose="02020603050405020304" pitchFamily="18" charset="0"/>
                  <a:ea typeface="宋体" panose="02010600030101010101" pitchFamily="2" charset="-122"/>
                </a:rPr>
                <a:t>到</a:t>
              </a:r>
              <a:r>
                <a:rPr lang="en-US" altLang="zh-CN" sz="2000" dirty="0">
                  <a:latin typeface="Times New Roman" panose="02020603050405020304" pitchFamily="18" charset="0"/>
                  <a:ea typeface="宋体" panose="02010600030101010101" pitchFamily="2" charset="-122"/>
                </a:rPr>
                <a:t>-54 dB </a:t>
              </a:r>
              <a:r>
                <a:rPr lang="zh-CN" altLang="en-US" sz="2000" dirty="0">
                  <a:latin typeface="Times New Roman" panose="02020603050405020304" pitchFamily="18" charset="0"/>
                  <a:ea typeface="宋体" panose="02010600030101010101" pitchFamily="2" charset="-122"/>
                </a:rPr>
                <a:t>左右，二点过渡采样的最优化设计可达</a:t>
              </a:r>
              <a:r>
                <a:rPr lang="en-US" altLang="zh-CN" sz="2000" dirty="0">
                  <a:latin typeface="Times New Roman" panose="02020603050405020304" pitchFamily="18" charset="0"/>
                  <a:ea typeface="宋体" panose="02010600030101010101" pitchFamily="2" charset="-122"/>
                </a:rPr>
                <a:t>-65 dB</a:t>
              </a:r>
              <a:r>
                <a:rPr lang="zh-CN" altLang="en-US" sz="2000" dirty="0">
                  <a:latin typeface="Times New Roman" panose="02020603050405020304" pitchFamily="18" charset="0"/>
                  <a:ea typeface="宋体" panose="02010600030101010101" pitchFamily="2" charset="-122"/>
                </a:rPr>
                <a:t>到</a:t>
              </a:r>
              <a:r>
                <a:rPr lang="en-US" altLang="zh-CN" sz="2000" dirty="0">
                  <a:latin typeface="Times New Roman" panose="02020603050405020304" pitchFamily="18" charset="0"/>
                  <a:ea typeface="宋体" panose="02010600030101010101" pitchFamily="2" charset="-122"/>
                </a:rPr>
                <a:t>-75dB</a:t>
              </a:r>
              <a:r>
                <a:rPr lang="zh-CN" altLang="en-US" sz="2000" dirty="0">
                  <a:latin typeface="Times New Roman" panose="02020603050405020304" pitchFamily="18" charset="0"/>
                  <a:ea typeface="宋体" panose="02010600030101010101" pitchFamily="2" charset="-122"/>
                </a:rPr>
                <a:t>左右，而加三点过渡采样的最优化设计则可达</a:t>
              </a:r>
              <a:r>
                <a:rPr lang="en-US" altLang="zh-CN" sz="2000" dirty="0">
                  <a:latin typeface="Times New Roman" panose="02020603050405020304" pitchFamily="18" charset="0"/>
                  <a:ea typeface="宋体" panose="02010600030101010101" pitchFamily="2" charset="-122"/>
                </a:rPr>
                <a:t>-85 dB</a:t>
              </a:r>
              <a:r>
                <a:rPr lang="zh-CN" altLang="en-US" sz="2000" dirty="0">
                  <a:latin typeface="Times New Roman" panose="02020603050405020304" pitchFamily="18" charset="0"/>
                  <a:ea typeface="宋体" panose="02010600030101010101" pitchFamily="2" charset="-122"/>
                </a:rPr>
                <a:t>到</a:t>
              </a:r>
              <a:r>
                <a:rPr lang="en-US" altLang="zh-CN" sz="2000" dirty="0">
                  <a:latin typeface="Times New Roman" panose="02020603050405020304" pitchFamily="18" charset="0"/>
                  <a:ea typeface="宋体" panose="02010600030101010101" pitchFamily="2" charset="-122"/>
                </a:rPr>
                <a:t>-95dB</a:t>
              </a:r>
              <a:r>
                <a:rPr lang="zh-CN" altLang="en-US" sz="2000" dirty="0">
                  <a:latin typeface="Times New Roman" panose="02020603050405020304" pitchFamily="18" charset="0"/>
                  <a:ea typeface="宋体" panose="02010600030101010101" pitchFamily="2" charset="-122"/>
                </a:rPr>
                <a:t>左右。 </a:t>
              </a:r>
              <a:endParaRPr lang="zh-CN" altLang="en-US" sz="2000" dirty="0">
                <a:latin typeface="Times New Roman" panose="02020603050405020304" pitchFamily="18" charset="0"/>
                <a:ea typeface="宋体" panose="02010600030101010101" pitchFamily="2" charset="-122"/>
              </a:endParaRPr>
            </a:p>
          </p:txBody>
        </p:sp>
        <p:graphicFrame>
          <p:nvGraphicFramePr>
            <p:cNvPr id="109571" name="对象 107524"/>
            <p:cNvGraphicFramePr/>
            <p:nvPr/>
          </p:nvGraphicFramePr>
          <p:xfrm>
            <a:off x="856" y="2057"/>
            <a:ext cx="848" cy="424"/>
          </p:xfrm>
          <a:graphic>
            <a:graphicData uri="http://schemas.openxmlformats.org/presentationml/2006/ole">
              <mc:AlternateContent xmlns:mc="http://schemas.openxmlformats.org/markup-compatibility/2006">
                <mc:Choice xmlns:v="urn:schemas-microsoft-com:vml" Requires="v">
                  <p:oleObj spid="_x0000_s3216" name="" r:id="rId1" imgW="862965" imgH="431800" progId="Equation.3">
                    <p:embed/>
                  </p:oleObj>
                </mc:Choice>
                <mc:Fallback>
                  <p:oleObj name="" r:id="rId1" imgW="862965" imgH="431800" progId="Equation.3">
                    <p:embed/>
                    <p:pic>
                      <p:nvPicPr>
                        <p:cNvPr id="0" name="图片 3215"/>
                        <p:cNvPicPr/>
                        <p:nvPr/>
                      </p:nvPicPr>
                      <p:blipFill>
                        <a:blip r:embed="rId2"/>
                        <a:stretch>
                          <a:fillRect/>
                        </a:stretch>
                      </p:blipFill>
                      <p:spPr>
                        <a:xfrm>
                          <a:off x="856" y="2057"/>
                          <a:ext cx="848" cy="424"/>
                        </a:xfrm>
                        <a:prstGeom prst="rect">
                          <a:avLst/>
                        </a:prstGeom>
                        <a:noFill/>
                        <a:ln w="38100">
                          <a:noFill/>
                          <a:miter/>
                        </a:ln>
                      </p:spPr>
                    </p:pic>
                  </p:oleObj>
                </mc:Fallback>
              </mc:AlternateContent>
            </a:graphicData>
          </a:graphic>
        </p:graphicFrame>
      </p:grpSp>
    </p:spTree>
  </p:cSld>
  <p:clrMapOvr>
    <a:masterClrMapping/>
  </p:clrMapOvr>
  <p:transition>
    <p:zoom dir="in"/>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文本框 111619"/>
          <p:cNvSpPr txBox="1"/>
          <p:nvPr/>
        </p:nvSpPr>
        <p:spPr>
          <a:xfrm>
            <a:off x="304800" y="533400"/>
            <a:ext cx="8534400" cy="1198563"/>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6-8</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a:t>
            </a:r>
            <a:r>
              <a:rPr lang="zh-CN" altLang="en-US" b="1" dirty="0">
                <a:solidFill>
                  <a:srgbClr val="FF0000"/>
                </a:solidFill>
                <a:latin typeface="Times New Roman" panose="02020603050405020304" pitchFamily="18" charset="0"/>
                <a:ea typeface="宋体" panose="02010600030101010101" pitchFamily="2" charset="-122"/>
              </a:rPr>
              <a:t>频率采样法</a:t>
            </a:r>
            <a:r>
              <a:rPr lang="zh-CN" altLang="en-US" dirty="0">
                <a:latin typeface="Times New Roman" panose="02020603050405020304" pitchFamily="18" charset="0"/>
                <a:ea typeface="宋体" panose="02010600030101010101" pitchFamily="2" charset="-122"/>
              </a:rPr>
              <a:t>设计一线性相位滤波器，</a:t>
            </a:r>
            <a:r>
              <a:rPr lang="en-US" altLang="zh-CN" dirty="0">
                <a:latin typeface="Times New Roman" panose="02020603050405020304" pitchFamily="18" charset="0"/>
                <a:ea typeface="宋体" panose="02010600030101010101" pitchFamily="2" charset="-122"/>
              </a:rPr>
              <a:t>N=15</a:t>
            </a:r>
            <a:r>
              <a:rPr lang="zh-CN" altLang="en-US" dirty="0">
                <a:latin typeface="Times New Roman" panose="02020603050405020304" pitchFamily="18" charset="0"/>
                <a:ea typeface="宋体" panose="02010600030101010101" pitchFamily="2" charset="-122"/>
              </a:rPr>
              <a:t>，幅度采样值为 </a:t>
            </a:r>
            <a:endParaRPr lang="zh-CN" altLang="en-US" dirty="0">
              <a:latin typeface="Times New Roman" panose="02020603050405020304" pitchFamily="18" charset="0"/>
              <a:ea typeface="宋体" panose="02010600030101010101" pitchFamily="2" charset="-122"/>
            </a:endParaRPr>
          </a:p>
        </p:txBody>
      </p:sp>
      <p:graphicFrame>
        <p:nvGraphicFramePr>
          <p:cNvPr id="110594" name="对象 111620"/>
          <p:cNvGraphicFramePr/>
          <p:nvPr/>
        </p:nvGraphicFramePr>
        <p:xfrm>
          <a:off x="2819400" y="1295400"/>
          <a:ext cx="3810000" cy="2160588"/>
        </p:xfrm>
        <a:graphic>
          <a:graphicData uri="http://schemas.openxmlformats.org/presentationml/2006/ole">
            <mc:AlternateContent xmlns:mc="http://schemas.openxmlformats.org/markup-compatibility/2006">
              <mc:Choice xmlns:v="urn:schemas-microsoft-com:vml" Requires="v">
                <p:oleObj spid="_x0000_s3217" name="" r:id="rId1" imgW="1701800" imgH="965200" progId="Equation.3">
                  <p:embed/>
                </p:oleObj>
              </mc:Choice>
              <mc:Fallback>
                <p:oleObj name="" r:id="rId1" imgW="1701800" imgH="965200" progId="Equation.3">
                  <p:embed/>
                  <p:pic>
                    <p:nvPicPr>
                      <p:cNvPr id="0" name="图片 3216"/>
                      <p:cNvPicPr/>
                      <p:nvPr/>
                    </p:nvPicPr>
                    <p:blipFill>
                      <a:blip r:embed="rId2"/>
                      <a:stretch>
                        <a:fillRect/>
                      </a:stretch>
                    </p:blipFill>
                    <p:spPr>
                      <a:xfrm>
                        <a:off x="2819400" y="1295400"/>
                        <a:ext cx="3810000" cy="2160588"/>
                      </a:xfrm>
                      <a:prstGeom prst="rect">
                        <a:avLst/>
                      </a:prstGeom>
                      <a:noFill/>
                      <a:ln w="38100">
                        <a:noFill/>
                        <a:miter/>
                      </a:ln>
                    </p:spPr>
                  </p:pic>
                </p:oleObj>
              </mc:Fallback>
            </mc:AlternateContent>
          </a:graphicData>
        </a:graphic>
      </p:graphicFrame>
      <p:grpSp>
        <p:nvGrpSpPr>
          <p:cNvPr id="110596" name="组合 111623"/>
          <p:cNvGrpSpPr/>
          <p:nvPr/>
        </p:nvGrpSpPr>
        <p:grpSpPr>
          <a:xfrm>
            <a:off x="193675" y="4065588"/>
            <a:ext cx="8686800" cy="1868487"/>
            <a:chOff x="277" y="2523"/>
            <a:chExt cx="5472" cy="1177"/>
          </a:xfrm>
        </p:grpSpPr>
        <p:sp>
          <p:nvSpPr>
            <p:cNvPr id="2" name="文本框 111621"/>
            <p:cNvSpPr txBox="1"/>
            <p:nvPr/>
          </p:nvSpPr>
          <p:spPr>
            <a:xfrm>
              <a:off x="277" y="2523"/>
              <a:ext cx="5472" cy="1177"/>
            </a:xfrm>
            <a:prstGeom prst="rect">
              <a:avLst/>
            </a:prstGeom>
            <a:noFill/>
            <a:ln w="9525">
              <a:noFill/>
            </a:ln>
          </p:spPr>
          <p:txBody>
            <a:bodyPr anchor="t">
              <a:spAutoFit/>
            </a:bodyPr>
            <a:p>
              <a:pPr algn="just">
                <a:lnSpc>
                  <a:spcPct val="150000"/>
                </a:lnSpc>
                <a:spcBef>
                  <a:spcPct val="50000"/>
                </a:spcBef>
              </a:pP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因本题所给</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=15</a:t>
              </a:r>
              <a:r>
                <a:rPr lang="zh-CN" altLang="en-US" dirty="0">
                  <a:latin typeface="Times New Roman" panose="02020603050405020304" pitchFamily="18" charset="0"/>
                  <a:ea typeface="宋体" panose="02010600030101010101" pitchFamily="2" charset="-122"/>
                </a:rPr>
                <a:t>，且</a:t>
              </a:r>
              <a:r>
                <a:rPr lang="zh-CN" altLang="en-US" b="1" i="1" dirty="0">
                  <a:solidFill>
                    <a:srgbClr val="FF0000"/>
                  </a:solidFill>
                  <a:latin typeface="Times New Roman" panose="02020603050405020304" pitchFamily="18" charset="0"/>
                  <a:ea typeface="宋体" panose="02010600030101010101" pitchFamily="2" charset="-122"/>
                </a:rPr>
                <a:t>Ｈ</a:t>
              </a:r>
              <a:r>
                <a:rPr lang="en-US" altLang="zh-CN" b="1" i="1" baseline="-25000" dirty="0">
                  <a:solidFill>
                    <a:srgbClr val="FF0000"/>
                  </a:solidFill>
                  <a:latin typeface="Times New Roman" panose="02020603050405020304" pitchFamily="18" charset="0"/>
                  <a:ea typeface="宋体" panose="02010600030101010101" pitchFamily="2" charset="-122"/>
                </a:rPr>
                <a:t>k</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i="1" baseline="-25000" dirty="0">
                  <a:solidFill>
                    <a:srgbClr val="FF0000"/>
                  </a:solidFill>
                  <a:latin typeface="Times New Roman" panose="02020603050405020304" pitchFamily="18" charset="0"/>
                  <a:ea typeface="宋体" panose="02010600030101010101" pitchFamily="2" charset="-122"/>
                </a:rPr>
                <a:t>N-k</a:t>
              </a:r>
              <a:r>
                <a:rPr lang="zh-CN" altLang="en-US" dirty="0">
                  <a:latin typeface="Times New Roman" panose="02020603050405020304" pitchFamily="18" charset="0"/>
                  <a:ea typeface="宋体" panose="02010600030101010101" pitchFamily="2" charset="-122"/>
                </a:rPr>
                <a:t>满足偶对称条件，</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由表</a:t>
              </a:r>
              <a:r>
                <a:rPr lang="en-US" altLang="zh-CN" dirty="0">
                  <a:latin typeface="Times New Roman" panose="02020603050405020304" pitchFamily="18" charset="0"/>
                  <a:ea typeface="宋体" panose="02010600030101010101" pitchFamily="2" charset="-122"/>
                </a:rPr>
                <a:t>6-1</a:t>
              </a:r>
              <a:r>
                <a:rPr lang="zh-CN" altLang="en-US" dirty="0">
                  <a:latin typeface="Times New Roman" panose="02020603050405020304" pitchFamily="18" charset="0"/>
                  <a:ea typeface="宋体" panose="02010600030101010101" pitchFamily="2" charset="-122"/>
                </a:rPr>
                <a:t>可知，这是第一类线性相位滤波器。相位 	           ，</a:t>
              </a:r>
              <a:endParaRPr lang="en-US" altLang="zh-CN"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因此有： </a:t>
              </a:r>
              <a:endParaRPr lang="zh-CN" altLang="en-US" dirty="0">
                <a:latin typeface="Times New Roman" panose="02020603050405020304" pitchFamily="18" charset="0"/>
                <a:ea typeface="宋体" panose="02010600030101010101" pitchFamily="2" charset="-122"/>
              </a:endParaRPr>
            </a:p>
          </p:txBody>
        </p:sp>
        <p:graphicFrame>
          <p:nvGraphicFramePr>
            <p:cNvPr id="110597" name="对象 111622"/>
            <p:cNvGraphicFramePr/>
            <p:nvPr/>
          </p:nvGraphicFramePr>
          <p:xfrm>
            <a:off x="4130" y="2901"/>
            <a:ext cx="1248" cy="420"/>
          </p:xfrm>
          <a:graphic>
            <a:graphicData uri="http://schemas.openxmlformats.org/presentationml/2006/ole">
              <mc:AlternateContent xmlns:mc="http://schemas.openxmlformats.org/markup-compatibility/2006">
                <mc:Choice xmlns:v="urn:schemas-microsoft-com:vml" Requires="v">
                  <p:oleObj spid="_x0000_s3220" name="" r:id="rId3" imgW="1205230" imgH="405765" progId="Equation.3">
                    <p:embed/>
                  </p:oleObj>
                </mc:Choice>
                <mc:Fallback>
                  <p:oleObj name="" r:id="rId3" imgW="1205230" imgH="405765" progId="Equation.3">
                    <p:embed/>
                    <p:pic>
                      <p:nvPicPr>
                        <p:cNvPr id="0" name="图片 3219"/>
                        <p:cNvPicPr/>
                        <p:nvPr/>
                      </p:nvPicPr>
                      <p:blipFill>
                        <a:blip r:embed="rId4"/>
                        <a:stretch>
                          <a:fillRect/>
                        </a:stretch>
                      </p:blipFill>
                      <p:spPr>
                        <a:xfrm>
                          <a:off x="4130" y="2901"/>
                          <a:ext cx="1248" cy="420"/>
                        </a:xfrm>
                        <a:prstGeom prst="rect">
                          <a:avLst/>
                        </a:prstGeom>
                        <a:solidFill>
                          <a:schemeClr val="accent1"/>
                        </a:solidFill>
                        <a:ln w="38100">
                          <a:noFill/>
                          <a:miter/>
                        </a:ln>
                      </p:spPr>
                    </p:pic>
                  </p:oleObj>
                </mc:Fallback>
              </mc:AlternateContent>
            </a:graphicData>
          </a:graphic>
        </p:graphicFrame>
      </p:grpSp>
      <p:sp>
        <p:nvSpPr>
          <p:cNvPr id="3" name="五角星 1"/>
          <p:cNvSpPr/>
          <p:nvPr/>
        </p:nvSpPr>
        <p:spPr>
          <a:xfrm>
            <a:off x="228600" y="358775"/>
            <a:ext cx="868363" cy="936625"/>
          </a:xfrm>
          <a:prstGeom prst="star5">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10599" name="矩形 2"/>
          <p:cNvSpPr/>
          <p:nvPr/>
        </p:nvSpPr>
        <p:spPr>
          <a:xfrm>
            <a:off x="539750" y="3417888"/>
            <a:ext cx="7850188" cy="646112"/>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试设计采样值的相位</a:t>
            </a:r>
            <a:r>
              <a:rPr lang="en-US" altLang="zh-CN" i="1" dirty="0">
                <a:latin typeface="Times New Roman" panose="02020603050405020304" pitchFamily="18" charset="0"/>
                <a:ea typeface="宋体" panose="02010600030101010101" pitchFamily="2" charset="-122"/>
              </a:rPr>
              <a:t>θ</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，并求</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及</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的表达式。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596"/>
                                        </p:tgtEl>
                                        <p:attrNameLst>
                                          <p:attrName>style.visibility</p:attrName>
                                        </p:attrNameLst>
                                      </p:cBhvr>
                                      <p:to>
                                        <p:strVal val="visible"/>
                                      </p:to>
                                    </p:set>
                                    <p:anim calcmode="lin" valueType="num">
                                      <p:cBhvr additive="base">
                                        <p:cTn id="7" dur="500" fill="hold"/>
                                        <p:tgtEl>
                                          <p:spTgt spid="110596"/>
                                        </p:tgtEl>
                                        <p:attrNameLst>
                                          <p:attrName>ppt_x</p:attrName>
                                        </p:attrNameLst>
                                      </p:cBhvr>
                                      <p:tavLst>
                                        <p:tav tm="0">
                                          <p:val>
                                            <p:strVal val="#ppt_x"/>
                                          </p:val>
                                        </p:tav>
                                        <p:tav tm="100000">
                                          <p:val>
                                            <p:strVal val="#ppt_x"/>
                                          </p:val>
                                        </p:tav>
                                      </p:tavLst>
                                    </p:anim>
                                    <p:anim calcmode="lin" valueType="num">
                                      <p:cBhvr additive="base">
                                        <p:cTn id="8" dur="500" fill="hold"/>
                                        <p:tgtEl>
                                          <p:spTgt spid="1105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695700" y="1485900"/>
            <a:ext cx="576263" cy="574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graphicFrame>
        <p:nvGraphicFramePr>
          <p:cNvPr id="111618" name="对象 110595"/>
          <p:cNvGraphicFramePr/>
          <p:nvPr/>
        </p:nvGraphicFramePr>
        <p:xfrm>
          <a:off x="2057400" y="457200"/>
          <a:ext cx="3657600" cy="815975"/>
        </p:xfrm>
        <a:graphic>
          <a:graphicData uri="http://schemas.openxmlformats.org/presentationml/2006/ole">
            <mc:AlternateContent xmlns:mc="http://schemas.openxmlformats.org/markup-compatibility/2006">
              <mc:Choice xmlns:v="urn:schemas-microsoft-com:vml" Requires="v">
                <p:oleObj spid="_x0000_s3223" name="" r:id="rId1" imgW="1764665" imgH="393700" progId="Equation.3">
                  <p:embed/>
                </p:oleObj>
              </mc:Choice>
              <mc:Fallback>
                <p:oleObj name="" r:id="rId1" imgW="1764665" imgH="393700" progId="Equation.3">
                  <p:embed/>
                  <p:pic>
                    <p:nvPicPr>
                      <p:cNvPr id="0" name="图片 3222"/>
                      <p:cNvPicPr/>
                      <p:nvPr/>
                    </p:nvPicPr>
                    <p:blipFill>
                      <a:blip r:embed="rId2"/>
                      <a:stretch>
                        <a:fillRect/>
                      </a:stretch>
                    </p:blipFill>
                    <p:spPr>
                      <a:xfrm>
                        <a:off x="2057400" y="457200"/>
                        <a:ext cx="3657600" cy="815975"/>
                      </a:xfrm>
                      <a:prstGeom prst="rect">
                        <a:avLst/>
                      </a:prstGeom>
                      <a:solidFill>
                        <a:schemeClr val="accent1"/>
                      </a:solidFill>
                      <a:ln w="38100">
                        <a:noFill/>
                        <a:miter/>
                      </a:ln>
                    </p:spPr>
                  </p:pic>
                </p:oleObj>
              </mc:Fallback>
            </mc:AlternateContent>
          </a:graphicData>
        </a:graphic>
      </p:graphicFrame>
      <p:sp>
        <p:nvSpPr>
          <p:cNvPr id="111619" name="文本框 110596"/>
          <p:cNvSpPr txBox="1"/>
          <p:nvPr/>
        </p:nvSpPr>
        <p:spPr>
          <a:xfrm>
            <a:off x="6480175" y="663575"/>
            <a:ext cx="1538288"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0≤</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≤14 </a:t>
            </a:r>
            <a:endParaRPr lang="en-US" altLang="zh-CN" dirty="0">
              <a:latin typeface="Times New Roman" panose="02020603050405020304" pitchFamily="18" charset="0"/>
              <a:ea typeface="宋体" panose="02010600030101010101" pitchFamily="2" charset="-122"/>
            </a:endParaRPr>
          </a:p>
        </p:txBody>
      </p:sp>
      <p:graphicFrame>
        <p:nvGraphicFramePr>
          <p:cNvPr id="111620" name="对象 110597"/>
          <p:cNvGraphicFramePr/>
          <p:nvPr/>
        </p:nvGraphicFramePr>
        <p:xfrm>
          <a:off x="2057400" y="1295400"/>
          <a:ext cx="5943600" cy="5481638"/>
        </p:xfrm>
        <a:graphic>
          <a:graphicData uri="http://schemas.openxmlformats.org/presentationml/2006/ole">
            <mc:AlternateContent xmlns:mc="http://schemas.openxmlformats.org/markup-compatibility/2006">
              <mc:Choice xmlns:v="urn:schemas-microsoft-com:vml" Requires="v">
                <p:oleObj spid="_x0000_s3227" name="" r:id="rId3" imgW="2933700" imgH="2705100" progId="Equation.3">
                  <p:embed/>
                </p:oleObj>
              </mc:Choice>
              <mc:Fallback>
                <p:oleObj name="" r:id="rId3" imgW="2933700" imgH="2705100" progId="Equation.3">
                  <p:embed/>
                  <p:pic>
                    <p:nvPicPr>
                      <p:cNvPr id="0" name="图片 3226"/>
                      <p:cNvPicPr/>
                      <p:nvPr/>
                    </p:nvPicPr>
                    <p:blipFill>
                      <a:blip r:embed="rId4"/>
                      <a:stretch>
                        <a:fillRect/>
                      </a:stretch>
                    </p:blipFill>
                    <p:spPr>
                      <a:xfrm>
                        <a:off x="2057400" y="1295400"/>
                        <a:ext cx="5943600" cy="5481638"/>
                      </a:xfrm>
                      <a:prstGeom prst="rect">
                        <a:avLst/>
                      </a:prstGeom>
                      <a:solidFill>
                        <a:schemeClr val="bg1"/>
                      </a:solidFill>
                      <a:ln w="38100">
                        <a:noFill/>
                        <a:miter/>
                      </a:ln>
                    </p:spPr>
                  </p:pic>
                </p:oleObj>
              </mc:Fallback>
            </mc:AlternateContent>
          </a:graphicData>
        </a:graphic>
      </p:graphicFrame>
      <p:sp>
        <p:nvSpPr>
          <p:cNvPr id="111621" name="文本框 110598"/>
          <p:cNvSpPr txBox="1"/>
          <p:nvPr/>
        </p:nvSpPr>
        <p:spPr>
          <a:xfrm>
            <a:off x="6769100" y="6021388"/>
            <a:ext cx="1479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≤14 </a:t>
            </a:r>
            <a:endParaRPr lang="en-US" altLang="zh-CN" dirty="0">
              <a:latin typeface="Times New Roman" panose="02020603050405020304" pitchFamily="18" charset="0"/>
              <a:ea typeface="宋体" panose="02010600030101010101" pitchFamily="2" charset="-122"/>
            </a:endParaRPr>
          </a:p>
        </p:txBody>
      </p:sp>
      <p:cxnSp>
        <p:nvCxnSpPr>
          <p:cNvPr id="3" name="直接连接符 2"/>
          <p:cNvCxnSpPr/>
          <p:nvPr/>
        </p:nvCxnSpPr>
        <p:spPr>
          <a:xfrm>
            <a:off x="3695700" y="1976438"/>
            <a:ext cx="608013" cy="31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6005513" y="1973263"/>
            <a:ext cx="798513" cy="31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2674938" y="6669088"/>
            <a:ext cx="3768725" cy="333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ppt_x</p:attrName>
                                        </p:attrNameLst>
                                      </p:cBhvr>
                                      <p:tavLst>
                                        <p:tav tm="0">
                                          <p:val>
                                            <p:strVal val="#ppt_x"/>
                                          </p:val>
                                        </p:tav>
                                        <p:tav tm="100000">
                                          <p:val>
                                            <p:strVal val="#ppt_x"/>
                                          </p:val>
                                        </p:tav>
                                      </p:tavLst>
                                    </p:anim>
                                    <p:anim calcmode="lin" valueType="num">
                                      <p:cBhvr>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641" name="对象 113667"/>
          <p:cNvGraphicFramePr/>
          <p:nvPr/>
        </p:nvGraphicFramePr>
        <p:xfrm>
          <a:off x="1619250" y="22225"/>
          <a:ext cx="6934200" cy="6813550"/>
        </p:xfrm>
        <a:graphic>
          <a:graphicData uri="http://schemas.openxmlformats.org/presentationml/2006/ole">
            <mc:AlternateContent xmlns:mc="http://schemas.openxmlformats.org/markup-compatibility/2006">
              <mc:Choice xmlns:v="urn:schemas-microsoft-com:vml" Requires="v">
                <p:oleObj spid="_x0000_s3225" name="" r:id="rId1" imgW="4381500" imgH="4305300" progId="Equation.3">
                  <p:embed/>
                </p:oleObj>
              </mc:Choice>
              <mc:Fallback>
                <p:oleObj name="" r:id="rId1" imgW="4381500" imgH="4305300" progId="Equation.3">
                  <p:embed/>
                  <p:pic>
                    <p:nvPicPr>
                      <p:cNvPr id="0" name="图片 3224"/>
                      <p:cNvPicPr/>
                      <p:nvPr/>
                    </p:nvPicPr>
                    <p:blipFill>
                      <a:blip r:embed="rId2"/>
                      <a:stretch>
                        <a:fillRect/>
                      </a:stretch>
                    </p:blipFill>
                    <p:spPr>
                      <a:xfrm>
                        <a:off x="1619250" y="22225"/>
                        <a:ext cx="6934200" cy="6813550"/>
                      </a:xfrm>
                      <a:prstGeom prst="rect">
                        <a:avLst/>
                      </a:prstGeom>
                      <a:solidFill>
                        <a:schemeClr val="bg1"/>
                      </a:solidFill>
                      <a:ln w="38100">
                        <a:noFill/>
                        <a:miter/>
                      </a:ln>
                    </p:spPr>
                  </p:pic>
                </p:oleObj>
              </mc:Fallback>
            </mc:AlternateContent>
          </a:graphicData>
        </a:graphic>
      </p:graphicFrame>
      <p:sp>
        <p:nvSpPr>
          <p:cNvPr id="2" name="矩形 1"/>
          <p:cNvSpPr/>
          <p:nvPr/>
        </p:nvSpPr>
        <p:spPr>
          <a:xfrm>
            <a:off x="2411413" y="0"/>
            <a:ext cx="2447925" cy="863600"/>
          </a:xfrm>
          <a:prstGeom prst="rect">
            <a:avLst/>
          </a:prstGeom>
          <a:noFill/>
          <a:ln w="44450">
            <a:solidFill>
              <a:srgbClr val="FF0000">
                <a:alpha val="90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graphicFrame>
        <p:nvGraphicFramePr>
          <p:cNvPr id="3" name="对象 2">
            <a:hlinkClick r:id="" action="ppaction://ole?verb="/>
          </p:cNvPr>
          <p:cNvGraphicFramePr>
            <a:graphicFrameLocks noChangeAspect="1"/>
          </p:cNvGraphicFramePr>
          <p:nvPr/>
        </p:nvGraphicFramePr>
        <p:xfrm>
          <a:off x="5003800" y="-10160"/>
          <a:ext cx="2147570" cy="929005"/>
        </p:xfrm>
        <a:graphic>
          <a:graphicData uri="http://schemas.openxmlformats.org/presentationml/2006/ole">
            <mc:AlternateContent xmlns:mc="http://schemas.openxmlformats.org/markup-compatibility/2006">
              <mc:Choice xmlns:v="urn:schemas-microsoft-com:vml" Requires="v">
                <p:oleObj spid="_x0000_s1025" name="" r:id="rId3" imgW="901700" imgH="431800" progId="Equation.KSEE3">
                  <p:embed/>
                </p:oleObj>
              </mc:Choice>
              <mc:Fallback>
                <p:oleObj name="" r:id="rId3" imgW="901700" imgH="431800" progId="Equation.KSEE3">
                  <p:embed/>
                  <p:pic>
                    <p:nvPicPr>
                      <p:cNvPr id="0" name="图片 1024"/>
                      <p:cNvPicPr/>
                      <p:nvPr/>
                    </p:nvPicPr>
                    <p:blipFill>
                      <a:blip r:embed="rId4"/>
                      <a:stretch>
                        <a:fillRect/>
                      </a:stretch>
                    </p:blipFill>
                    <p:spPr>
                      <a:xfrm>
                        <a:off x="5003800" y="-10160"/>
                        <a:ext cx="2147570" cy="929005"/>
                      </a:xfrm>
                      <a:prstGeom prst="rect">
                        <a:avLst/>
                      </a:prstGeom>
                      <a:solidFill>
                        <a:schemeClr val="accent1"/>
                      </a:solidFill>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文本框 112643"/>
          <p:cNvSpPr txBox="1"/>
          <p:nvPr/>
        </p:nvSpPr>
        <p:spPr>
          <a:xfrm>
            <a:off x="152400" y="457200"/>
            <a:ext cx="88392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6-9</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利用频率采样法，设计一个线性相位低通</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数字滤波器，其理想频率特性是矩形的 </a:t>
            </a:r>
            <a:endParaRPr lang="zh-CN" altLang="en-US" dirty="0">
              <a:latin typeface="Times New Roman" panose="02020603050405020304" pitchFamily="18" charset="0"/>
              <a:ea typeface="宋体" panose="02010600030101010101" pitchFamily="2" charset="-122"/>
            </a:endParaRPr>
          </a:p>
        </p:txBody>
      </p:sp>
      <p:graphicFrame>
        <p:nvGraphicFramePr>
          <p:cNvPr id="113666" name="对象 112644"/>
          <p:cNvGraphicFramePr/>
          <p:nvPr/>
        </p:nvGraphicFramePr>
        <p:xfrm>
          <a:off x="2286000" y="1676400"/>
          <a:ext cx="2133600" cy="1227138"/>
        </p:xfrm>
        <a:graphic>
          <a:graphicData uri="http://schemas.openxmlformats.org/presentationml/2006/ole">
            <mc:AlternateContent xmlns:mc="http://schemas.openxmlformats.org/markup-compatibility/2006">
              <mc:Choice xmlns:v="urn:schemas-microsoft-com:vml" Requires="v">
                <p:oleObj spid="_x0000_s3226" name="" r:id="rId1" imgW="926465" imgH="533400" progId="Equation.3">
                  <p:embed/>
                </p:oleObj>
              </mc:Choice>
              <mc:Fallback>
                <p:oleObj name="" r:id="rId1" imgW="926465" imgH="533400" progId="Equation.3">
                  <p:embed/>
                  <p:pic>
                    <p:nvPicPr>
                      <p:cNvPr id="0" name="图片 3225"/>
                      <p:cNvPicPr/>
                      <p:nvPr/>
                    </p:nvPicPr>
                    <p:blipFill>
                      <a:blip r:embed="rId2"/>
                      <a:stretch>
                        <a:fillRect/>
                      </a:stretch>
                    </p:blipFill>
                    <p:spPr>
                      <a:xfrm>
                        <a:off x="2286000" y="1676400"/>
                        <a:ext cx="2133600" cy="1227138"/>
                      </a:xfrm>
                      <a:prstGeom prst="rect">
                        <a:avLst/>
                      </a:prstGeom>
                      <a:noFill/>
                      <a:ln w="38100">
                        <a:noFill/>
                        <a:miter/>
                      </a:ln>
                    </p:spPr>
                  </p:pic>
                </p:oleObj>
              </mc:Fallback>
            </mc:AlternateContent>
          </a:graphicData>
        </a:graphic>
      </p:graphicFrame>
      <p:sp>
        <p:nvSpPr>
          <p:cNvPr id="113667" name="文本框 112645"/>
          <p:cNvSpPr txBox="1"/>
          <p:nvPr/>
        </p:nvSpPr>
        <p:spPr>
          <a:xfrm>
            <a:off x="5486400" y="1676400"/>
            <a:ext cx="1722438"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13668" name="文本框 112646"/>
          <p:cNvSpPr txBox="1"/>
          <p:nvPr/>
        </p:nvSpPr>
        <p:spPr>
          <a:xfrm>
            <a:off x="5410200" y="23622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其他 </a:t>
            </a:r>
            <a:endParaRPr lang="zh-CN" altLang="en-US" dirty="0">
              <a:latin typeface="Times New Roman" panose="02020603050405020304" pitchFamily="18" charset="0"/>
              <a:ea typeface="宋体" panose="02010600030101010101" pitchFamily="2" charset="-122"/>
            </a:endParaRPr>
          </a:p>
        </p:txBody>
      </p:sp>
      <p:sp>
        <p:nvSpPr>
          <p:cNvPr id="113669" name="文本框 112647"/>
          <p:cNvSpPr txBox="1"/>
          <p:nvPr/>
        </p:nvSpPr>
        <p:spPr>
          <a:xfrm>
            <a:off x="228600" y="2971800"/>
            <a:ext cx="8686800" cy="1182688"/>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已知</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=0.5π</a:t>
            </a:r>
            <a:r>
              <a:rPr lang="zh-CN" altLang="en-US" dirty="0">
                <a:latin typeface="Times New Roman" panose="02020603050405020304" pitchFamily="18" charset="0"/>
                <a:ea typeface="宋体" panose="02010600030101010101" pitchFamily="2" charset="-122"/>
              </a:rPr>
              <a:t>，采样点数为奇数</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=33</a:t>
            </a:r>
            <a:r>
              <a:rPr lang="zh-CN" altLang="en-US" dirty="0">
                <a:latin typeface="Times New Roman" panose="02020603050405020304" pitchFamily="18" charset="0"/>
                <a:ea typeface="宋体" panose="02010600030101010101" pitchFamily="2" charset="-122"/>
              </a:rPr>
              <a:t>。试求各采样点的幅值</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及相位</a:t>
            </a:r>
            <a:r>
              <a:rPr lang="en-US" altLang="zh-CN" i="1" dirty="0">
                <a:latin typeface="Times New Roman" panose="02020603050405020304" pitchFamily="18" charset="0"/>
                <a:ea typeface="宋体" panose="02010600030101010101" pitchFamily="2" charset="-122"/>
              </a:rPr>
              <a:t>θ</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，也即求采样值</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 name="椭圆 1"/>
          <p:cNvSpPr/>
          <p:nvPr/>
        </p:nvSpPr>
        <p:spPr>
          <a:xfrm>
            <a:off x="827088" y="2852738"/>
            <a:ext cx="1296988" cy="9366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9" name="五角星 8"/>
          <p:cNvSpPr/>
          <p:nvPr/>
        </p:nvSpPr>
        <p:spPr>
          <a:xfrm>
            <a:off x="173038" y="204788"/>
            <a:ext cx="868363" cy="936625"/>
          </a:xfrm>
          <a:prstGeom prst="star5">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0" name="椭圆 9"/>
          <p:cNvSpPr/>
          <p:nvPr/>
        </p:nvSpPr>
        <p:spPr>
          <a:xfrm>
            <a:off x="3770313" y="2852738"/>
            <a:ext cx="1296988" cy="9366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4" name="矩形 3"/>
          <p:cNvSpPr/>
          <p:nvPr/>
        </p:nvSpPr>
        <p:spPr>
          <a:xfrm>
            <a:off x="982663" y="4486275"/>
            <a:ext cx="7178675" cy="1200150"/>
          </a:xfrm>
          <a:prstGeom prst="rect">
            <a:avLst/>
          </a:prstGeom>
          <a:noFill/>
          <a:ln w="9525">
            <a:noFill/>
          </a:ln>
        </p:spPr>
        <p:txBody>
          <a:bodyPr anchor="t">
            <a:spAutoFit/>
          </a:bodyPr>
          <a:p>
            <a:pPr eaLnBrk="0" hangingPunct="0"/>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a:t>
            </a:r>
            <a:r>
              <a:rPr lang="en-US" altLang="zh-CN" b="1" i="1" dirty="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=33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且低通滤波器幅度特性</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(0)=1</a:t>
            </a:r>
            <a:r>
              <a:rPr lang="zh-CN" altLang="en-US" dirty="0">
                <a:latin typeface="Times New Roman" panose="02020603050405020304" pitchFamily="18" charset="0"/>
                <a:ea typeface="宋体" panose="02010600030101010101" pitchFamily="2" charset="-122"/>
              </a:rPr>
              <a:t>。由表</a:t>
            </a:r>
            <a:r>
              <a:rPr lang="en-US" altLang="zh-CN" dirty="0">
                <a:latin typeface="Times New Roman" panose="02020603050405020304" pitchFamily="18" charset="0"/>
                <a:ea typeface="宋体" panose="02010600030101010101" pitchFamily="2" charset="-122"/>
              </a:rPr>
              <a:t>6-1</a:t>
            </a:r>
            <a:r>
              <a:rPr lang="zh-CN" altLang="en-US" dirty="0">
                <a:latin typeface="Times New Roman" panose="02020603050405020304" pitchFamily="18" charset="0"/>
                <a:ea typeface="宋体" panose="02010600030101010101" pitchFamily="2" charset="-122"/>
              </a:rPr>
              <a:t>可知，这属于第一类线性相位滤波器。</a:t>
            </a:r>
            <a:r>
              <a:rPr lang="zh-CN" altLang="en-US" b="1" dirty="0">
                <a:solidFill>
                  <a:srgbClr val="FF0000"/>
                </a:solidFill>
                <a:latin typeface="Times New Roman" panose="02020603050405020304" pitchFamily="18" charset="0"/>
                <a:ea typeface="宋体" panose="02010600030101010101" pitchFamily="2" charset="-122"/>
              </a:rPr>
              <a:t>第一类线性相位滤波器</a:t>
            </a:r>
            <a:r>
              <a:rPr lang="zh-CN" altLang="en-US" dirty="0">
                <a:latin typeface="Times New Roman" panose="02020603050405020304" pitchFamily="18" charset="0"/>
                <a:ea typeface="宋体" panose="02010600030101010101" pitchFamily="2" charset="-122"/>
              </a:rPr>
              <a:t>的幅度特性</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关于</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为偶对称， 即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4"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4689" name="对象 115715"/>
          <p:cNvGraphicFramePr/>
          <p:nvPr/>
        </p:nvGraphicFramePr>
        <p:xfrm>
          <a:off x="2782888" y="609600"/>
          <a:ext cx="3733800" cy="866775"/>
        </p:xfrm>
        <a:graphic>
          <a:graphicData uri="http://schemas.openxmlformats.org/presentationml/2006/ole">
            <mc:AlternateContent xmlns:mc="http://schemas.openxmlformats.org/markup-compatibility/2006">
              <mc:Choice xmlns:v="urn:schemas-microsoft-com:vml" Requires="v">
                <p:oleObj spid="_x0000_s3222" name="" r:id="rId1" imgW="1421765" imgH="330200" progId="Equation.3">
                  <p:embed/>
                </p:oleObj>
              </mc:Choice>
              <mc:Fallback>
                <p:oleObj name="" r:id="rId1" imgW="1421765" imgH="330200" progId="Equation.3">
                  <p:embed/>
                  <p:pic>
                    <p:nvPicPr>
                      <p:cNvPr id="0" name="图片 3221"/>
                      <p:cNvPicPr/>
                      <p:nvPr/>
                    </p:nvPicPr>
                    <p:blipFill>
                      <a:blip r:embed="rId2"/>
                      <a:stretch>
                        <a:fillRect/>
                      </a:stretch>
                    </p:blipFill>
                    <p:spPr>
                      <a:xfrm>
                        <a:off x="2782888" y="609600"/>
                        <a:ext cx="3733800" cy="866775"/>
                      </a:xfrm>
                      <a:prstGeom prst="rect">
                        <a:avLst/>
                      </a:prstGeom>
                      <a:noFill/>
                      <a:ln w="38100">
                        <a:noFill/>
                        <a:miter/>
                      </a:ln>
                    </p:spPr>
                  </p:pic>
                </p:oleObj>
              </mc:Fallback>
            </mc:AlternateContent>
          </a:graphicData>
        </a:graphic>
      </p:graphicFrame>
      <p:sp>
        <p:nvSpPr>
          <p:cNvPr id="114690" name="文本框 115716"/>
          <p:cNvSpPr txBox="1"/>
          <p:nvPr/>
        </p:nvSpPr>
        <p:spPr>
          <a:xfrm>
            <a:off x="0" y="1524000"/>
            <a:ext cx="12509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且有： </a:t>
            </a:r>
            <a:endParaRPr lang="zh-CN" altLang="en-US" dirty="0">
              <a:latin typeface="Times New Roman" panose="02020603050405020304" pitchFamily="18" charset="0"/>
              <a:ea typeface="宋体" panose="02010600030101010101" pitchFamily="2" charset="-122"/>
            </a:endParaRPr>
          </a:p>
        </p:txBody>
      </p:sp>
      <p:graphicFrame>
        <p:nvGraphicFramePr>
          <p:cNvPr id="114691" name="对象 115717"/>
          <p:cNvGraphicFramePr/>
          <p:nvPr/>
        </p:nvGraphicFramePr>
        <p:xfrm>
          <a:off x="3019425" y="1998663"/>
          <a:ext cx="2992438" cy="1133475"/>
        </p:xfrm>
        <a:graphic>
          <a:graphicData uri="http://schemas.openxmlformats.org/presentationml/2006/ole">
            <mc:AlternateContent xmlns:mc="http://schemas.openxmlformats.org/markup-compatibility/2006">
              <mc:Choice xmlns:v="urn:schemas-microsoft-com:vml" Requires="v">
                <p:oleObj spid="_x0000_s3224" name="" r:id="rId3" imgW="1206500" imgH="457200" progId="Equation.DSMT4">
                  <p:embed/>
                </p:oleObj>
              </mc:Choice>
              <mc:Fallback>
                <p:oleObj name="" r:id="rId3" imgW="1206500" imgH="457200" progId="Equation.DSMT4">
                  <p:embed/>
                  <p:pic>
                    <p:nvPicPr>
                      <p:cNvPr id="0" name="图片 3223"/>
                      <p:cNvPicPr/>
                      <p:nvPr/>
                    </p:nvPicPr>
                    <p:blipFill>
                      <a:blip r:embed="rId4"/>
                      <a:stretch>
                        <a:fillRect/>
                      </a:stretch>
                    </p:blipFill>
                    <p:spPr>
                      <a:xfrm>
                        <a:off x="3019425" y="1998663"/>
                        <a:ext cx="2992438" cy="1133475"/>
                      </a:xfrm>
                      <a:prstGeom prst="rect">
                        <a:avLst/>
                      </a:prstGeom>
                      <a:noFill/>
                      <a:ln w="38100">
                        <a:noFill/>
                        <a:miter/>
                      </a:ln>
                    </p:spPr>
                  </p:pic>
                </p:oleObj>
              </mc:Fallback>
            </mc:AlternateContent>
          </a:graphicData>
        </a:graphic>
      </p:graphicFrame>
      <p:sp>
        <p:nvSpPr>
          <p:cNvPr id="114692" name="文本框 115718"/>
          <p:cNvSpPr txBox="1"/>
          <p:nvPr/>
        </p:nvSpPr>
        <p:spPr>
          <a:xfrm>
            <a:off x="76200" y="3352800"/>
            <a:ext cx="45339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满足偶对称特性，因而有： </a:t>
            </a:r>
            <a:endParaRPr lang="zh-CN" altLang="en-US" dirty="0">
              <a:latin typeface="Times New Roman" panose="02020603050405020304" pitchFamily="18" charset="0"/>
              <a:ea typeface="宋体" panose="02010600030101010101" pitchFamily="2" charset="-122"/>
            </a:endParaRPr>
          </a:p>
        </p:txBody>
      </p:sp>
      <p:graphicFrame>
        <p:nvGraphicFramePr>
          <p:cNvPr id="114693" name="对象 115719"/>
          <p:cNvGraphicFramePr/>
          <p:nvPr/>
        </p:nvGraphicFramePr>
        <p:xfrm>
          <a:off x="2087563" y="4281488"/>
          <a:ext cx="4054475" cy="1514475"/>
        </p:xfrm>
        <a:graphic>
          <a:graphicData uri="http://schemas.openxmlformats.org/presentationml/2006/ole">
            <mc:AlternateContent xmlns:mc="http://schemas.openxmlformats.org/markup-compatibility/2006">
              <mc:Choice xmlns:v="urn:schemas-microsoft-com:vml" Requires="v">
                <p:oleObj spid="_x0000_s3231" name="" r:id="rId5" imgW="1701165" imgH="635000" progId="Equation.DSMT4">
                  <p:embed/>
                </p:oleObj>
              </mc:Choice>
              <mc:Fallback>
                <p:oleObj name="" r:id="rId5" imgW="1701165" imgH="635000" progId="Equation.DSMT4">
                  <p:embed/>
                  <p:pic>
                    <p:nvPicPr>
                      <p:cNvPr id="0" name="图片 3230"/>
                      <p:cNvPicPr/>
                      <p:nvPr/>
                    </p:nvPicPr>
                    <p:blipFill>
                      <a:blip r:embed="rId6"/>
                      <a:stretch>
                        <a:fillRect/>
                      </a:stretch>
                    </p:blipFill>
                    <p:spPr>
                      <a:xfrm>
                        <a:off x="2087563" y="4281488"/>
                        <a:ext cx="4054475" cy="1514475"/>
                      </a:xfrm>
                      <a:prstGeom prst="rect">
                        <a:avLst/>
                      </a:prstGeom>
                      <a:solidFill>
                        <a:schemeClr val="accent1"/>
                      </a:solidFill>
                      <a:ln w="38100">
                        <a:noFill/>
                        <a:miter/>
                      </a:ln>
                    </p:spPr>
                  </p:pic>
                </p:oleObj>
              </mc:Fallback>
            </mc:AlternateContent>
          </a:graphicData>
        </a:graphic>
      </p:graphicFrame>
      <p:sp>
        <p:nvSpPr>
          <p:cNvPr id="114694" name="文本框 115720"/>
          <p:cNvSpPr txBox="1"/>
          <p:nvPr/>
        </p:nvSpPr>
        <p:spPr>
          <a:xfrm>
            <a:off x="7086600" y="5181600"/>
            <a:ext cx="1462088"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≤32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627313" y="549275"/>
            <a:ext cx="1728788" cy="792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15714" name="文本框 114691"/>
          <p:cNvSpPr txBox="1"/>
          <p:nvPr/>
        </p:nvSpPr>
        <p:spPr>
          <a:xfrm>
            <a:off x="457200" y="609600"/>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又 </a:t>
            </a:r>
            <a:endParaRPr lang="zh-CN" altLang="en-US" dirty="0">
              <a:latin typeface="Times New Roman" panose="02020603050405020304" pitchFamily="18" charset="0"/>
              <a:ea typeface="宋体" panose="02010600030101010101" pitchFamily="2" charset="-122"/>
            </a:endParaRPr>
          </a:p>
        </p:txBody>
      </p:sp>
      <p:graphicFrame>
        <p:nvGraphicFramePr>
          <p:cNvPr id="115715" name="对象 114692"/>
          <p:cNvGraphicFramePr/>
          <p:nvPr/>
        </p:nvGraphicFramePr>
        <p:xfrm>
          <a:off x="2832100" y="841375"/>
          <a:ext cx="3556000" cy="1379538"/>
        </p:xfrm>
        <a:graphic>
          <a:graphicData uri="http://schemas.openxmlformats.org/presentationml/2006/ole">
            <mc:AlternateContent xmlns:mc="http://schemas.openxmlformats.org/markup-compatibility/2006">
              <mc:Choice xmlns:v="urn:schemas-microsoft-com:vml" Requires="v">
                <p:oleObj spid="_x0000_s3229" name="" r:id="rId1" imgW="1701800" imgH="660400" progId="Equation.3">
                  <p:embed/>
                </p:oleObj>
              </mc:Choice>
              <mc:Fallback>
                <p:oleObj name="" r:id="rId1" imgW="1701800" imgH="660400" progId="Equation.3">
                  <p:embed/>
                  <p:pic>
                    <p:nvPicPr>
                      <p:cNvPr id="0" name="图片 3228"/>
                      <p:cNvPicPr/>
                      <p:nvPr/>
                    </p:nvPicPr>
                    <p:blipFill>
                      <a:blip r:embed="rId2"/>
                      <a:stretch>
                        <a:fillRect/>
                      </a:stretch>
                    </p:blipFill>
                    <p:spPr>
                      <a:xfrm>
                        <a:off x="2832100" y="841375"/>
                        <a:ext cx="3556000" cy="1379538"/>
                      </a:xfrm>
                      <a:prstGeom prst="rect">
                        <a:avLst/>
                      </a:prstGeom>
                      <a:noFill/>
                      <a:ln w="38100">
                        <a:noFill/>
                        <a:miter/>
                      </a:ln>
                    </p:spPr>
                  </p:pic>
                </p:oleObj>
              </mc:Fallback>
            </mc:AlternateContent>
          </a:graphicData>
        </a:graphic>
      </p:graphicFrame>
      <p:sp>
        <p:nvSpPr>
          <p:cNvPr id="115716" name="文本框 114693"/>
          <p:cNvSpPr txBox="1"/>
          <p:nvPr/>
        </p:nvSpPr>
        <p:spPr>
          <a:xfrm>
            <a:off x="457200" y="2403475"/>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故 </a:t>
            </a:r>
            <a:endParaRPr lang="zh-CN" altLang="en-US" dirty="0">
              <a:latin typeface="Times New Roman" panose="02020603050405020304" pitchFamily="18" charset="0"/>
              <a:ea typeface="宋体" panose="02010600030101010101" pitchFamily="2" charset="-122"/>
            </a:endParaRPr>
          </a:p>
        </p:txBody>
      </p:sp>
      <p:grpSp>
        <p:nvGrpSpPr>
          <p:cNvPr id="115717" name="组合 114698"/>
          <p:cNvGrpSpPr/>
          <p:nvPr/>
        </p:nvGrpSpPr>
        <p:grpSpPr>
          <a:xfrm>
            <a:off x="2362200" y="3078163"/>
            <a:ext cx="4797425" cy="1265237"/>
            <a:chOff x="1488" y="1939"/>
            <a:chExt cx="3022" cy="797"/>
          </a:xfrm>
        </p:grpSpPr>
        <p:graphicFrame>
          <p:nvGraphicFramePr>
            <p:cNvPr id="115718" name="对象 114694"/>
            <p:cNvGraphicFramePr/>
            <p:nvPr/>
          </p:nvGraphicFramePr>
          <p:xfrm>
            <a:off x="1488" y="1939"/>
            <a:ext cx="816" cy="797"/>
          </p:xfrm>
          <a:graphic>
            <a:graphicData uri="http://schemas.openxmlformats.org/presentationml/2006/ole">
              <mc:AlternateContent xmlns:mc="http://schemas.openxmlformats.org/markup-compatibility/2006">
                <mc:Choice xmlns:v="urn:schemas-microsoft-com:vml" Requires="v">
                  <p:oleObj spid="_x0000_s3230" name="" r:id="rId3" imgW="546100" imgH="533400" progId="Equation.3">
                    <p:embed/>
                  </p:oleObj>
                </mc:Choice>
                <mc:Fallback>
                  <p:oleObj name="" r:id="rId3" imgW="546100" imgH="533400" progId="Equation.3">
                    <p:embed/>
                    <p:pic>
                      <p:nvPicPr>
                        <p:cNvPr id="0" name="图片 3229"/>
                        <p:cNvPicPr/>
                        <p:nvPr/>
                      </p:nvPicPr>
                      <p:blipFill>
                        <a:blip r:embed="rId4"/>
                        <a:stretch>
                          <a:fillRect/>
                        </a:stretch>
                      </p:blipFill>
                      <p:spPr>
                        <a:xfrm>
                          <a:off x="1488" y="1939"/>
                          <a:ext cx="816" cy="797"/>
                        </a:xfrm>
                        <a:prstGeom prst="rect">
                          <a:avLst/>
                        </a:prstGeom>
                        <a:noFill/>
                        <a:ln w="38100">
                          <a:noFill/>
                          <a:miter/>
                        </a:ln>
                      </p:spPr>
                    </p:pic>
                  </p:oleObj>
                </mc:Fallback>
              </mc:AlternateContent>
            </a:graphicData>
          </a:graphic>
        </p:graphicFrame>
        <p:sp>
          <p:nvSpPr>
            <p:cNvPr id="115719" name="文本框 114695"/>
            <p:cNvSpPr txBox="1"/>
            <p:nvPr/>
          </p:nvSpPr>
          <p:spPr>
            <a:xfrm>
              <a:off x="2736" y="1987"/>
              <a:ext cx="1774" cy="288"/>
            </a:xfrm>
            <a:prstGeom prst="rect">
              <a:avLst/>
            </a:prstGeom>
            <a:solidFill>
              <a:schemeClr val="accent1"/>
            </a:solid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≤8, 25≤</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≤32 </a:t>
              </a:r>
              <a:endParaRPr lang="en-US" altLang="zh-CN" dirty="0">
                <a:latin typeface="Times New Roman" panose="02020603050405020304" pitchFamily="18" charset="0"/>
                <a:ea typeface="宋体" panose="02010600030101010101" pitchFamily="2" charset="-122"/>
              </a:endParaRPr>
            </a:p>
          </p:txBody>
        </p:sp>
        <p:sp>
          <p:nvSpPr>
            <p:cNvPr id="115720" name="文本框 114696"/>
            <p:cNvSpPr txBox="1"/>
            <p:nvPr/>
          </p:nvSpPr>
          <p:spPr>
            <a:xfrm>
              <a:off x="2764" y="2397"/>
              <a:ext cx="921"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9≤</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≤24 </a:t>
              </a:r>
              <a:endParaRPr lang="en-US" altLang="zh-CN" dirty="0">
                <a:latin typeface="Times New Roman" panose="02020603050405020304" pitchFamily="18" charset="0"/>
                <a:ea typeface="宋体" panose="02010600030101010101" pitchFamily="2" charset="-122"/>
              </a:endParaRPr>
            </a:p>
          </p:txBody>
        </p:sp>
      </p:grpSp>
      <p:graphicFrame>
        <p:nvGraphicFramePr>
          <p:cNvPr id="115721" name="对象 114697"/>
          <p:cNvGraphicFramePr/>
          <p:nvPr/>
        </p:nvGraphicFramePr>
        <p:xfrm>
          <a:off x="2576513" y="5105400"/>
          <a:ext cx="2438400" cy="642938"/>
        </p:xfrm>
        <a:graphic>
          <a:graphicData uri="http://schemas.openxmlformats.org/presentationml/2006/ole">
            <mc:AlternateContent xmlns:mc="http://schemas.openxmlformats.org/markup-compatibility/2006">
              <mc:Choice xmlns:v="urn:schemas-microsoft-com:vml" Requires="v">
                <p:oleObj spid="_x0000_s3228" name="" r:id="rId5" imgW="913765" imgH="241300" progId="Equation.3">
                  <p:embed/>
                </p:oleObj>
              </mc:Choice>
              <mc:Fallback>
                <p:oleObj name="" r:id="rId5" imgW="913765" imgH="241300" progId="Equation.3">
                  <p:embed/>
                  <p:pic>
                    <p:nvPicPr>
                      <p:cNvPr id="0" name="图片 3227"/>
                      <p:cNvPicPr/>
                      <p:nvPr/>
                    </p:nvPicPr>
                    <p:blipFill>
                      <a:blip r:embed="rId6"/>
                      <a:stretch>
                        <a:fillRect/>
                      </a:stretch>
                    </p:blipFill>
                    <p:spPr>
                      <a:xfrm>
                        <a:off x="2576513" y="5105400"/>
                        <a:ext cx="2438400" cy="642938"/>
                      </a:xfrm>
                      <a:prstGeom prst="rect">
                        <a:avLst/>
                      </a:prstGeom>
                      <a:noFill/>
                      <a:ln w="38100">
                        <a:noFill/>
                        <a:miter/>
                      </a:ln>
                    </p:spPr>
                  </p:pic>
                </p:oleObj>
              </mc:Fallback>
            </mc:AlternateContent>
          </a:graphicData>
        </a:graphic>
      </p:graphicFrame>
      <p:sp>
        <p:nvSpPr>
          <p:cNvPr id="115722" name="文本框 114699"/>
          <p:cNvSpPr txBox="1"/>
          <p:nvPr/>
        </p:nvSpPr>
        <p:spPr>
          <a:xfrm>
            <a:off x="5548313" y="5181600"/>
            <a:ext cx="1462087"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≤32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2476" name="Object 3"/>
          <p:cNvGraphicFramePr>
            <a:graphicFrameLocks noChangeAspect="1"/>
          </p:cNvGraphicFramePr>
          <p:nvPr>
            <p:custDataLst>
              <p:tags r:id="rId1"/>
            </p:custDataLst>
          </p:nvPr>
        </p:nvGraphicFramePr>
        <p:xfrm>
          <a:off x="1259840" y="1412240"/>
          <a:ext cx="3682365" cy="2311400"/>
        </p:xfrm>
        <a:graphic>
          <a:graphicData uri="http://schemas.openxmlformats.org/presentationml/2006/ole">
            <mc:AlternateContent xmlns:mc="http://schemas.openxmlformats.org/markup-compatibility/2006">
              <mc:Choice xmlns:v="urn:schemas-microsoft-com:vml" Requires="v">
                <p:oleObj spid="_x0000_s3184" name="" r:id="rId2" imgW="4512945" imgH="2831465" progId="Photoshop.Image.6">
                  <p:embed/>
                </p:oleObj>
              </mc:Choice>
              <mc:Fallback>
                <p:oleObj name="" r:id="rId2" imgW="4512945" imgH="2831465" progId="Photoshop.Image.6">
                  <p:embed/>
                  <p:pic>
                    <p:nvPicPr>
                      <p:cNvPr id="0" name="图片 3183"/>
                      <p:cNvPicPr/>
                      <p:nvPr/>
                    </p:nvPicPr>
                    <p:blipFill>
                      <a:blip r:embed="rId3"/>
                      <a:stretch>
                        <a:fillRect/>
                      </a:stretch>
                    </p:blipFill>
                    <p:spPr>
                      <a:xfrm>
                        <a:off x="1259840" y="1412240"/>
                        <a:ext cx="3682365" cy="2311400"/>
                      </a:xfrm>
                      <a:prstGeom prst="rect">
                        <a:avLst/>
                      </a:prstGeom>
                      <a:noFill/>
                      <a:ln w="38100">
                        <a:noFill/>
                        <a:miter/>
                      </a:ln>
                    </p:spPr>
                  </p:pic>
                </p:oleObj>
              </mc:Fallback>
            </mc:AlternateContent>
          </a:graphicData>
        </a:graphic>
      </p:graphicFrame>
      <p:sp>
        <p:nvSpPr>
          <p:cNvPr id="62477" name="Text Box 2"/>
          <p:cNvSpPr txBox="1"/>
          <p:nvPr>
            <p:custDataLst>
              <p:tags r:id="rId4"/>
            </p:custDataLst>
          </p:nvPr>
        </p:nvSpPr>
        <p:spPr>
          <a:xfrm>
            <a:off x="1115695" y="4364990"/>
            <a:ext cx="3543935" cy="377190"/>
          </a:xfrm>
          <a:prstGeom prst="rect">
            <a:avLst/>
          </a:prstGeom>
          <a:noFill/>
          <a:ln w="9525">
            <a:noFill/>
          </a:ln>
        </p:spPr>
        <p:txBody>
          <a:bodyPr>
            <a:noAutofit/>
          </a:bodyPr>
          <a:p>
            <a:pPr algn="just" eaLnBrk="1" hangingPunct="1">
              <a:spcBef>
                <a:spcPct val="50000"/>
              </a:spcBef>
            </a:pPr>
            <a:r>
              <a:rPr lang="zh-CN" altLang="zh-CN" dirty="0">
                <a:latin typeface="Times New Roman" panose="02020603050405020304" pitchFamily="18" charset="0"/>
              </a:rPr>
              <a:t> </a:t>
            </a:r>
            <a:r>
              <a:rPr lang="zh-CN" altLang="en-US" dirty="0">
                <a:latin typeface="Times New Roman" panose="02020603050405020304" pitchFamily="18" charset="0"/>
              </a:rPr>
              <a:t>对理想低通进行采样</a:t>
            </a:r>
            <a:endParaRPr lang="zh-CN" altLang="en-US" dirty="0">
              <a:latin typeface="Times New Roman" panose="02020603050405020304" pitchFamily="18" charset="0"/>
            </a:endParaRPr>
          </a:p>
        </p:txBody>
      </p:sp>
      <p:graphicFrame>
        <p:nvGraphicFramePr>
          <p:cNvPr id="115715" name="对象 114692"/>
          <p:cNvGraphicFramePr/>
          <p:nvPr>
            <p:custDataLst>
              <p:tags r:id="rId5"/>
            </p:custDataLst>
          </p:nvPr>
        </p:nvGraphicFramePr>
        <p:xfrm>
          <a:off x="5507673" y="2852579"/>
          <a:ext cx="1406525" cy="848360"/>
        </p:xfrm>
        <a:graphic>
          <a:graphicData uri="http://schemas.openxmlformats.org/presentationml/2006/ole">
            <mc:AlternateContent xmlns:mc="http://schemas.openxmlformats.org/markup-compatibility/2006">
              <mc:Choice xmlns:v="urn:schemas-microsoft-com:vml" Requires="v">
                <p:oleObj spid="_x0000_s3229" name="" r:id="rId6" imgW="673100" imgH="405765" progId="Equation.3">
                  <p:embed/>
                </p:oleObj>
              </mc:Choice>
              <mc:Fallback>
                <p:oleObj name="" r:id="rId6" imgW="673100" imgH="405765" progId="Equation.3">
                  <p:embed/>
                  <p:pic>
                    <p:nvPicPr>
                      <p:cNvPr id="0" name="图片 3228"/>
                      <p:cNvPicPr/>
                      <p:nvPr/>
                    </p:nvPicPr>
                    <p:blipFill>
                      <a:blip r:embed="rId7"/>
                      <a:stretch>
                        <a:fillRect/>
                      </a:stretch>
                    </p:blipFill>
                    <p:spPr>
                      <a:xfrm>
                        <a:off x="5507673" y="2852579"/>
                        <a:ext cx="1406525" cy="848360"/>
                      </a:xfrm>
                      <a:prstGeom prst="rect">
                        <a:avLst/>
                      </a:prstGeom>
                      <a:noFill/>
                      <a:ln w="38100">
                        <a:noFill/>
                        <a:miter/>
                      </a:ln>
                    </p:spPr>
                  </p:pic>
                </p:oleObj>
              </mc:Fallback>
            </mc:AlternateContent>
          </a:graphicData>
        </a:graphic>
      </p:graphicFrame>
    </p:spTree>
  </p:cSld>
  <p:clrMapOvr>
    <a:masterClrMapping/>
  </p:clrMapOvr>
  <p:transition>
    <p:zoom dir="in"/>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文本框 261123"/>
          <p:cNvSpPr txBox="1"/>
          <p:nvPr/>
        </p:nvSpPr>
        <p:spPr>
          <a:xfrm>
            <a:off x="1101725" y="620713"/>
            <a:ext cx="7021513" cy="5367337"/>
          </a:xfrm>
          <a:prstGeom prst="rect">
            <a:avLst/>
          </a:prstGeom>
          <a:noFill/>
          <a:ln w="9525">
            <a:noFill/>
          </a:ln>
        </p:spPr>
        <p:txBody>
          <a:bodyPr wrap="none" anchor="t">
            <a:spAutoFit/>
          </a:bodyPr>
          <a:p>
            <a:pPr>
              <a:lnSpc>
                <a:spcPct val="130000"/>
              </a:lnSpc>
            </a:pPr>
            <a:r>
              <a:rPr lang="zh-CN" altLang="en-US" b="1" dirty="0">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也可用</a:t>
            </a:r>
            <a:r>
              <a:rPr lang="en-US" altLang="zh-CN" dirty="0">
                <a:latin typeface="Times New Roman" panose="02020603050405020304" pitchFamily="18" charset="0"/>
                <a:ea typeface="宋体" panose="02010600030101010101" pitchFamily="2" charset="-122"/>
              </a:rPr>
              <a:t>MATLAB</a:t>
            </a:r>
            <a:r>
              <a:rPr lang="zh-CN" altLang="en-US" dirty="0">
                <a:latin typeface="Times New Roman" panose="02020603050405020304" pitchFamily="18" charset="0"/>
                <a:ea typeface="宋体" panose="02010600030101010101" pitchFamily="2" charset="-122"/>
              </a:rPr>
              <a:t>编程来实现。程序如下：</a:t>
            </a:r>
            <a:endParaRPr lang="zh-CN" altLang="en-US" dirty="0">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clear all;</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N=33;</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wc=0.5*pi;</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k=0:N-1;</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phase=-pi*k*(N-1)/N; </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M= floor(wc/(2*pi/N));</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HK=[ones(1,M+1),zeros(1,N-2*M-1),ones(1,M)];%</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HK1=HK.*exp(j*phase);</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hn=ifft(HK1,N);</a:t>
            </a:r>
            <a:endParaRPr lang="en-US" altLang="zh-CN" sz="2400" dirty="0">
              <a:solidFill>
                <a:schemeClr val="tx1"/>
              </a:solidFill>
              <a:latin typeface="Times New Roman" panose="02020603050405020304" pitchFamily="18" charset="0"/>
              <a:ea typeface="宋体" panose="02010600030101010101" pitchFamily="2" charset="-122"/>
            </a:endParaRPr>
          </a:p>
          <a:p>
            <a:pPr lvl="1" indent="0" rtl="0" eaLnBrk="1" fontAlgn="base" hangingPunct="1">
              <a:lnSpc>
                <a:spcPct val="130000"/>
              </a:lnSpc>
              <a:spcBef>
                <a:spcPct val="0"/>
              </a:spcBef>
              <a:spcAft>
                <a:spcPct val="0"/>
              </a:spcAft>
              <a:buNone/>
            </a:pPr>
            <a:r>
              <a:rPr lang="en-US" altLang="zh-CN" sz="2400" dirty="0">
                <a:solidFill>
                  <a:schemeClr val="tx1"/>
                </a:solidFill>
                <a:latin typeface="Times New Roman" panose="02020603050405020304" pitchFamily="18" charset="0"/>
                <a:ea typeface="宋体" panose="02010600030101010101" pitchFamily="2" charset="-122"/>
              </a:rPr>
              <a:t>freqz(hn,1,512); </a:t>
            </a:r>
            <a:endParaRPr lang="en-US" altLang="zh-CN" sz="2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文本框 262147"/>
          <p:cNvSpPr txBox="1"/>
          <p:nvPr/>
        </p:nvSpPr>
        <p:spPr>
          <a:xfrm>
            <a:off x="1763713" y="5516563"/>
            <a:ext cx="6018212"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6-18  FIR</a:t>
            </a:r>
            <a:r>
              <a:rPr lang="zh-CN" altLang="en-US" dirty="0">
                <a:latin typeface="Times New Roman" panose="02020603050405020304" pitchFamily="18" charset="0"/>
                <a:ea typeface="宋体" panose="02010600030101010101" pitchFamily="2" charset="-122"/>
              </a:rPr>
              <a:t>低通滤波器的幅频和相频特性图 </a:t>
            </a:r>
            <a:endParaRPr lang="zh-CN" altLang="en-US" dirty="0">
              <a:latin typeface="Times New Roman" panose="02020603050405020304" pitchFamily="18" charset="0"/>
              <a:ea typeface="宋体" panose="02010600030101010101" pitchFamily="2" charset="-122"/>
            </a:endParaRPr>
          </a:p>
        </p:txBody>
      </p:sp>
      <p:pic>
        <p:nvPicPr>
          <p:cNvPr id="117762" name="图片 262149" descr="6-18"/>
          <p:cNvPicPr>
            <a:picLocks noChangeAspect="1"/>
          </p:cNvPicPr>
          <p:nvPr/>
        </p:nvPicPr>
        <p:blipFill>
          <a:blip r:embed="rId1"/>
          <a:stretch>
            <a:fillRect/>
          </a:stretch>
        </p:blipFill>
        <p:spPr>
          <a:xfrm>
            <a:off x="1714500" y="1268413"/>
            <a:ext cx="5715000" cy="3867150"/>
          </a:xfrm>
          <a:prstGeom prst="rect">
            <a:avLst/>
          </a:prstGeom>
          <a:noFill/>
          <a:ln w="9525">
            <a:noFill/>
          </a:ln>
        </p:spPr>
      </p:pic>
    </p:spTree>
  </p:cSld>
  <p:clrMapOvr>
    <a:masterClrMapping/>
  </p:clrMapOvr>
  <p:transition>
    <p:zoom dir="in"/>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文本框 263171"/>
          <p:cNvSpPr txBox="1"/>
          <p:nvPr/>
        </p:nvSpPr>
        <p:spPr>
          <a:xfrm>
            <a:off x="468313" y="620713"/>
            <a:ext cx="8351837" cy="2940050"/>
          </a:xfrm>
          <a:prstGeom prst="rect">
            <a:avLst/>
          </a:prstGeom>
          <a:noFill/>
          <a:ln w="9525">
            <a:noFill/>
          </a:ln>
        </p:spPr>
        <p:txBody>
          <a:bodyPr anchor="t">
            <a:spAutoFit/>
          </a:bodyPr>
          <a:p>
            <a:pPr>
              <a:lnSpc>
                <a:spcPct val="130000"/>
              </a:lnSpc>
            </a:pPr>
            <a:r>
              <a:rPr lang="zh-CN" altLang="en-US" dirty="0">
                <a:latin typeface="Times New Roman" panose="02020603050405020304" pitchFamily="18" charset="0"/>
                <a:ea typeface="宋体" panose="02010600030101010101" pitchFamily="2" charset="-122"/>
              </a:rPr>
              <a:t>　　此时是不设过渡点的情况，如果要加一个过渡点</a:t>
            </a:r>
            <a:r>
              <a:rPr lang="en-US" altLang="zh-CN" dirty="0">
                <a:latin typeface="Times New Roman" panose="02020603050405020304" pitchFamily="18" charset="0"/>
                <a:ea typeface="宋体" panose="02010600030101010101" pitchFamily="2" charset="-122"/>
              </a:rPr>
              <a:t>H=0.5</a:t>
            </a:r>
            <a:r>
              <a:rPr lang="zh-CN" altLang="en-US" dirty="0">
                <a:latin typeface="Times New Roman" panose="02020603050405020304" pitchFamily="18" charset="0"/>
                <a:ea typeface="宋体" panose="02010600030101010101" pitchFamily="2" charset="-122"/>
              </a:rPr>
              <a:t>，那么程序只需改动一个地方：把</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HK=[ones(1,M+1),zeros(1,N-2*M-1),ones(1,M)];</a:t>
            </a:r>
            <a:endParaRPr lang="en-US" altLang="zh-CN"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改为</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HK=[ones(1,M+1),0.5,zeros(1,N-2*M-3),0.5,ones(1,M)];</a:t>
            </a:r>
            <a:endParaRPr lang="en-US" altLang="zh-CN"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即可。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689475" y="1958975"/>
            <a:ext cx="695325" cy="471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3" name="矩形 2"/>
          <p:cNvSpPr/>
          <p:nvPr/>
        </p:nvSpPr>
        <p:spPr>
          <a:xfrm>
            <a:off x="2351088" y="2506663"/>
            <a:ext cx="4441825" cy="6588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sp>
        <p:nvSpPr>
          <p:cNvPr id="119811" name="文本框 118787"/>
          <p:cNvSpPr txBox="1"/>
          <p:nvPr/>
        </p:nvSpPr>
        <p:spPr>
          <a:xfrm>
            <a:off x="266700" y="1736725"/>
            <a:ext cx="8610600" cy="2720975"/>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频率采样法的优点是可以在频域直接设计，并且适合最优化设计</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缺点是采样频率只能等于</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的整数倍，因而不能确保截止频率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的自由取值，要想实现自由地选择截止频率，必须增加采样点数</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，但这又使计算量加大。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文本框 112643"/>
          <p:cNvSpPr txBox="1"/>
          <p:nvPr/>
        </p:nvSpPr>
        <p:spPr>
          <a:xfrm>
            <a:off x="152400" y="457200"/>
            <a:ext cx="88392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6-9</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利用频率采样法，设计一个线性相位低通</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数字滤波器，其理想频率特性是矩形的 </a:t>
            </a:r>
            <a:endParaRPr lang="zh-CN" altLang="en-US" dirty="0">
              <a:latin typeface="Times New Roman" panose="02020603050405020304" pitchFamily="18" charset="0"/>
              <a:ea typeface="宋体" panose="02010600030101010101" pitchFamily="2" charset="-122"/>
            </a:endParaRPr>
          </a:p>
        </p:txBody>
      </p:sp>
      <p:graphicFrame>
        <p:nvGraphicFramePr>
          <p:cNvPr id="120834" name="对象 112644"/>
          <p:cNvGraphicFramePr/>
          <p:nvPr/>
        </p:nvGraphicFramePr>
        <p:xfrm>
          <a:off x="2286000" y="1676400"/>
          <a:ext cx="2133600" cy="1227138"/>
        </p:xfrm>
        <a:graphic>
          <a:graphicData uri="http://schemas.openxmlformats.org/presentationml/2006/ole">
            <mc:AlternateContent xmlns:mc="http://schemas.openxmlformats.org/markup-compatibility/2006">
              <mc:Choice xmlns:v="urn:schemas-microsoft-com:vml" Requires="v">
                <p:oleObj spid="_x0000_s3236" name="" r:id="rId1" imgW="926465" imgH="533400" progId="Equation.3">
                  <p:embed/>
                </p:oleObj>
              </mc:Choice>
              <mc:Fallback>
                <p:oleObj name="" r:id="rId1" imgW="926465" imgH="533400" progId="Equation.3">
                  <p:embed/>
                  <p:pic>
                    <p:nvPicPr>
                      <p:cNvPr id="0" name="图片 3235"/>
                      <p:cNvPicPr/>
                      <p:nvPr/>
                    </p:nvPicPr>
                    <p:blipFill>
                      <a:blip r:embed="rId2"/>
                      <a:stretch>
                        <a:fillRect/>
                      </a:stretch>
                    </p:blipFill>
                    <p:spPr>
                      <a:xfrm>
                        <a:off x="2286000" y="1676400"/>
                        <a:ext cx="2133600" cy="1227138"/>
                      </a:xfrm>
                      <a:prstGeom prst="rect">
                        <a:avLst/>
                      </a:prstGeom>
                      <a:noFill/>
                      <a:ln w="38100">
                        <a:noFill/>
                        <a:miter/>
                      </a:ln>
                    </p:spPr>
                  </p:pic>
                </p:oleObj>
              </mc:Fallback>
            </mc:AlternateContent>
          </a:graphicData>
        </a:graphic>
      </p:graphicFrame>
      <p:sp>
        <p:nvSpPr>
          <p:cNvPr id="120835" name="文本框 112645"/>
          <p:cNvSpPr txBox="1"/>
          <p:nvPr/>
        </p:nvSpPr>
        <p:spPr>
          <a:xfrm>
            <a:off x="5486400" y="1676400"/>
            <a:ext cx="1722438"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20836" name="文本框 112646"/>
          <p:cNvSpPr txBox="1"/>
          <p:nvPr/>
        </p:nvSpPr>
        <p:spPr>
          <a:xfrm>
            <a:off x="5410200" y="23622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其他 </a:t>
            </a:r>
            <a:endParaRPr lang="zh-CN" altLang="en-US" dirty="0">
              <a:latin typeface="Times New Roman" panose="02020603050405020304" pitchFamily="18" charset="0"/>
              <a:ea typeface="宋体" panose="02010600030101010101" pitchFamily="2" charset="-122"/>
            </a:endParaRPr>
          </a:p>
        </p:txBody>
      </p:sp>
      <p:sp>
        <p:nvSpPr>
          <p:cNvPr id="120837" name="文本框 112647"/>
          <p:cNvSpPr txBox="1"/>
          <p:nvPr/>
        </p:nvSpPr>
        <p:spPr>
          <a:xfrm>
            <a:off x="228600" y="2971800"/>
            <a:ext cx="8686800" cy="1182688"/>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已知</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=0.5π</a:t>
            </a:r>
            <a:r>
              <a:rPr lang="zh-CN" altLang="en-US" dirty="0">
                <a:latin typeface="Times New Roman" panose="02020603050405020304" pitchFamily="18" charset="0"/>
                <a:ea typeface="宋体" panose="02010600030101010101" pitchFamily="2" charset="-122"/>
              </a:rPr>
              <a:t>，采样点数为奇数</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=33</a:t>
            </a:r>
            <a:r>
              <a:rPr lang="zh-CN" altLang="en-US" dirty="0">
                <a:latin typeface="Times New Roman" panose="02020603050405020304" pitchFamily="18" charset="0"/>
                <a:ea typeface="宋体" panose="02010600030101010101" pitchFamily="2" charset="-122"/>
              </a:rPr>
              <a:t>。试求各采样点的幅值</a:t>
            </a:r>
            <a:r>
              <a:rPr lang="en-US" altLang="zh-CN" i="1" dirty="0">
                <a:latin typeface="Times New Roman" panose="02020603050405020304" pitchFamily="18" charset="0"/>
                <a:ea typeface="宋体" panose="02010600030101010101" pitchFamily="2" charset="-122"/>
              </a:rPr>
              <a:t>H</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及相位</a:t>
            </a:r>
            <a:r>
              <a:rPr lang="en-US" altLang="zh-CN" i="1" dirty="0">
                <a:latin typeface="Times New Roman" panose="02020603050405020304" pitchFamily="18" charset="0"/>
                <a:ea typeface="宋体" panose="02010600030101010101" pitchFamily="2" charset="-122"/>
              </a:rPr>
              <a:t>θ</a:t>
            </a:r>
            <a:r>
              <a:rPr lang="en-US" altLang="zh-CN" i="1"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，也即求采样值</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3" name="文本框 2"/>
          <p:cNvSpPr txBox="1"/>
          <p:nvPr/>
        </p:nvSpPr>
        <p:spPr>
          <a:xfrm>
            <a:off x="4859338" y="955675"/>
            <a:ext cx="3975100" cy="600075"/>
          </a:xfrm>
          <a:prstGeom prst="rect">
            <a:avLst/>
          </a:prstGeom>
          <a:noFill/>
          <a:ln w="9525">
            <a:noFill/>
          </a:ln>
        </p:spPr>
        <p:txBody>
          <a:bodyPr wrap="none" anchor="t">
            <a:spAutoFit/>
          </a:bodyPr>
          <a:p>
            <a:pPr algn="just">
              <a:lnSpc>
                <a:spcPct val="138000"/>
              </a:lnSpc>
              <a:spcBef>
                <a:spcPct val="50000"/>
              </a:spcBef>
            </a:pPr>
            <a:r>
              <a:rPr lang="zh-CN" altLang="en-US" b="1" dirty="0">
                <a:solidFill>
                  <a:srgbClr val="FF0000"/>
                </a:solidFill>
                <a:latin typeface="Times New Roman" panose="02020603050405020304" pitchFamily="18" charset="0"/>
                <a:ea typeface="宋体" panose="02010600030101010101" pitchFamily="2" charset="-122"/>
              </a:rPr>
              <a:t>引入边界点的值</a:t>
            </a:r>
            <a:r>
              <a:rPr lang="en-US" altLang="zh-CN" b="1" dirty="0">
                <a:solidFill>
                  <a:srgbClr val="FF0000"/>
                </a:solidFill>
                <a:latin typeface="Times New Roman" panose="02020603050405020304" pitchFamily="18" charset="0"/>
                <a:ea typeface="宋体" panose="02010600030101010101" pitchFamily="2" charset="-122"/>
              </a:rPr>
              <a:t>H</a:t>
            </a:r>
            <a:r>
              <a:rPr lang="zh-CN" altLang="en-US" b="1" dirty="0">
                <a:solidFill>
                  <a:srgbClr val="FF0000"/>
                </a:solidFill>
                <a:latin typeface="Times New Roman" panose="02020603050405020304" pitchFamily="18" charset="0"/>
                <a:ea typeface="宋体" panose="02010600030101010101" pitchFamily="2" charset="-122"/>
              </a:rPr>
              <a:t>（</a:t>
            </a:r>
            <a:r>
              <a:rPr lang="en-US" altLang="zh-CN" b="1" dirty="0">
                <a:solidFill>
                  <a:srgbClr val="FF0000"/>
                </a:solidFill>
                <a:latin typeface="Times New Roman" panose="02020603050405020304" pitchFamily="18" charset="0"/>
                <a:ea typeface="宋体" panose="02010600030101010101" pitchFamily="2" charset="-122"/>
              </a:rPr>
              <a:t>k</a:t>
            </a:r>
            <a:r>
              <a:rPr lang="zh-CN" altLang="en-US" b="1" dirty="0">
                <a:solidFill>
                  <a:srgbClr val="FF0000"/>
                </a:solidFill>
                <a:latin typeface="Times New Roman" panose="02020603050405020304" pitchFamily="18" charset="0"/>
                <a:ea typeface="宋体" panose="02010600030101010101" pitchFamily="2" charset="-122"/>
              </a:rPr>
              <a:t>）</a:t>
            </a:r>
            <a:r>
              <a:rPr lang="en-US" altLang="zh-CN" b="1" dirty="0">
                <a:solidFill>
                  <a:srgbClr val="FF0000"/>
                </a:solidFill>
                <a:latin typeface="Times New Roman" panose="02020603050405020304" pitchFamily="18" charset="0"/>
                <a:ea typeface="宋体" panose="02010600030101010101" pitchFamily="2" charset="-122"/>
              </a:rPr>
              <a:t>=0.5</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9" name="五角星 8"/>
          <p:cNvSpPr/>
          <p:nvPr/>
        </p:nvSpPr>
        <p:spPr>
          <a:xfrm>
            <a:off x="173038" y="204788"/>
            <a:ext cx="868363" cy="936625"/>
          </a:xfrm>
          <a:prstGeom prst="star5">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lt1"/>
              </a:solidFill>
              <a:effectLst/>
              <a:uLnTx/>
              <a:uFillTx/>
              <a:latin typeface="+mn-lt"/>
              <a:ea typeface="+mn-ea"/>
              <a:cs typeface="+mn-cs"/>
            </a:endParaRPr>
          </a:p>
        </p:txBody>
      </p:sp>
      <p:graphicFrame>
        <p:nvGraphicFramePr>
          <p:cNvPr id="16" name="对象 114697"/>
          <p:cNvGraphicFramePr/>
          <p:nvPr/>
        </p:nvGraphicFramePr>
        <p:xfrm>
          <a:off x="1619250" y="5421313"/>
          <a:ext cx="2608263" cy="676275"/>
        </p:xfrm>
        <a:graphic>
          <a:graphicData uri="http://schemas.openxmlformats.org/presentationml/2006/ole">
            <mc:AlternateContent xmlns:mc="http://schemas.openxmlformats.org/markup-compatibility/2006">
              <mc:Choice xmlns:v="urn:schemas-microsoft-com:vml" Requires="v">
                <p:oleObj spid="_x0000_s3232" name="" r:id="rId3" imgW="977265" imgH="254000" progId="Equation.3">
                  <p:embed/>
                </p:oleObj>
              </mc:Choice>
              <mc:Fallback>
                <p:oleObj name="" r:id="rId3" imgW="977265" imgH="254000" progId="Equation.3">
                  <p:embed/>
                  <p:pic>
                    <p:nvPicPr>
                      <p:cNvPr id="0" name="图片 3231"/>
                      <p:cNvPicPr/>
                      <p:nvPr/>
                    </p:nvPicPr>
                    <p:blipFill>
                      <a:blip r:embed="rId4"/>
                      <a:stretch>
                        <a:fillRect/>
                      </a:stretch>
                    </p:blipFill>
                    <p:spPr>
                      <a:xfrm>
                        <a:off x="1619250" y="5421313"/>
                        <a:ext cx="2608263" cy="676275"/>
                      </a:xfrm>
                      <a:prstGeom prst="rect">
                        <a:avLst/>
                      </a:prstGeom>
                      <a:noFill/>
                      <a:ln w="38100">
                        <a:noFill/>
                        <a:miter/>
                      </a:ln>
                    </p:spPr>
                  </p:pic>
                </p:oleObj>
              </mc:Fallback>
            </mc:AlternateContent>
          </a:graphicData>
        </a:graphic>
      </p:graphicFrame>
      <p:sp>
        <p:nvSpPr>
          <p:cNvPr id="17" name="文本框 114699"/>
          <p:cNvSpPr txBox="1"/>
          <p:nvPr/>
        </p:nvSpPr>
        <p:spPr>
          <a:xfrm>
            <a:off x="4419600" y="5530850"/>
            <a:ext cx="1462088"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≤32 </a:t>
            </a:r>
            <a:endParaRPr lang="en-US" altLang="zh-CN" dirty="0">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5"/>
          <a:stretch>
            <a:fillRect/>
          </a:stretch>
        </p:blipFill>
        <p:spPr>
          <a:xfrm>
            <a:off x="1692275" y="6046788"/>
            <a:ext cx="4010025" cy="866775"/>
          </a:xfrm>
          <a:prstGeom prst="rect">
            <a:avLst/>
          </a:prstGeom>
          <a:noFill/>
          <a:ln w="9525">
            <a:noFill/>
          </a:ln>
        </p:spPr>
      </p:pic>
      <p:graphicFrame>
        <p:nvGraphicFramePr>
          <p:cNvPr id="7" name="对象 6"/>
          <p:cNvGraphicFramePr>
            <a:graphicFrameLocks noChangeAspect="1"/>
          </p:cNvGraphicFramePr>
          <p:nvPr/>
        </p:nvGraphicFramePr>
        <p:xfrm>
          <a:off x="1473200" y="4211638"/>
          <a:ext cx="5043488" cy="1209675"/>
        </p:xfrm>
        <a:graphic>
          <a:graphicData uri="http://schemas.openxmlformats.org/presentationml/2006/ole">
            <mc:AlternateContent xmlns:mc="http://schemas.openxmlformats.org/markup-compatibility/2006">
              <mc:Choice xmlns:v="urn:schemas-microsoft-com:vml" Requires="v">
                <p:oleObj spid="_x0000_s3234" name="" r:id="rId6" imgW="3073400" imgH="736600" progId="Equation.3">
                  <p:embed/>
                </p:oleObj>
              </mc:Choice>
              <mc:Fallback>
                <p:oleObj name="" r:id="rId6" imgW="3073400" imgH="736600" progId="Equation.3">
                  <p:embed/>
                  <p:pic>
                    <p:nvPicPr>
                      <p:cNvPr id="0" name="图片 3233"/>
                      <p:cNvPicPr/>
                      <p:nvPr/>
                    </p:nvPicPr>
                    <p:blipFill>
                      <a:blip r:embed="rId7"/>
                      <a:stretch>
                        <a:fillRect/>
                      </a:stretch>
                    </p:blipFill>
                    <p:spPr>
                      <a:xfrm>
                        <a:off x="1473200" y="4211638"/>
                        <a:ext cx="5043488" cy="1209675"/>
                      </a:xfrm>
                      <a:prstGeom prst="rect">
                        <a:avLst/>
                      </a:prstGeom>
                      <a:solidFill>
                        <a:schemeClr val="accent1"/>
                      </a:solidFill>
                      <a:ln w="38100">
                        <a:noFill/>
                        <a:miter/>
                      </a:ln>
                    </p:spPr>
                  </p:pic>
                </p:oleObj>
              </mc:Fallback>
            </mc:AlternateContent>
          </a:graphicData>
        </a:graphic>
      </p:graphicFrame>
      <p:cxnSp>
        <p:nvCxnSpPr>
          <p:cNvPr id="11" name="直接连接符 10"/>
          <p:cNvCxnSpPr/>
          <p:nvPr/>
        </p:nvCxnSpPr>
        <p:spPr>
          <a:xfrm flipV="1">
            <a:off x="2339975" y="4941888"/>
            <a:ext cx="2663825" cy="508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heel(1)">
                                      <p:cBhvr>
                                        <p:cTn id="13" dur="20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ppt_x"/>
                                          </p:val>
                                        </p:tav>
                                        <p:tav tm="100000">
                                          <p:val>
                                            <p:strVal val="#ppt_x"/>
                                          </p:val>
                                        </p:tav>
                                      </p:tavLst>
                                    </p:anim>
                                    <p:anim calcmode="lin" valueType="num">
                                      <p:cBhvr additive="base">
                                        <p:cTn id="25" dur="500" fill="hold"/>
                                        <p:tgtEl>
                                          <p:spTgt spid="1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500" fill="hold"/>
                                        <p:tgtEl>
                                          <p:spTgt spid="17"/>
                                        </p:tgtEl>
                                        <p:attrNameLst>
                                          <p:attrName>ppt_x</p:attrName>
                                        </p:attrNameLst>
                                      </p:cBhvr>
                                      <p:tavLst>
                                        <p:tav tm="0">
                                          <p:val>
                                            <p:strVal val="#ppt_x"/>
                                          </p:val>
                                        </p:tav>
                                        <p:tav tm="100000">
                                          <p:val>
                                            <p:strVal val="#ppt_x"/>
                                          </p:val>
                                        </p:tav>
                                      </p:tavLst>
                                    </p:anim>
                                    <p:anim calcmode="lin" valueType="num">
                                      <p:cBhvr additive="base">
                                        <p:cTn id="2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ppt_x"/>
                                          </p:val>
                                        </p:tav>
                                        <p:tav tm="100000">
                                          <p:val>
                                            <p:strVal val="#ppt_x"/>
                                          </p:val>
                                        </p:tav>
                                      </p:tavLst>
                                    </p:anim>
                                    <p:anim calcmode="lin" valueType="num">
                                      <p:cBhvr additive="base">
                                        <p:cTn id="3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4515" name="Object 3"/>
          <p:cNvGraphicFramePr>
            <a:graphicFrameLocks noChangeAspect="1"/>
          </p:cNvGraphicFramePr>
          <p:nvPr>
            <p:custDataLst>
              <p:tags r:id="rId1"/>
            </p:custDataLst>
          </p:nvPr>
        </p:nvGraphicFramePr>
        <p:xfrm>
          <a:off x="251460" y="404495"/>
          <a:ext cx="4557713" cy="6096000"/>
        </p:xfrm>
        <a:graphic>
          <a:graphicData uri="http://schemas.openxmlformats.org/presentationml/2006/ole">
            <mc:AlternateContent xmlns:mc="http://schemas.openxmlformats.org/markup-compatibility/2006">
              <mc:Choice xmlns:v="urn:schemas-microsoft-com:vml" Requires="v">
                <p:oleObj spid="_x0000_s3185" name="" r:id="rId2" imgW="5683250" imgH="7600315" progId="Photoshop.Image.6">
                  <p:embed/>
                </p:oleObj>
              </mc:Choice>
              <mc:Fallback>
                <p:oleObj name="" r:id="rId2" imgW="5683250" imgH="7600315" progId="Photoshop.Image.6">
                  <p:embed/>
                  <p:pic>
                    <p:nvPicPr>
                      <p:cNvPr id="0" name="图片 3184"/>
                      <p:cNvPicPr/>
                      <p:nvPr/>
                    </p:nvPicPr>
                    <p:blipFill>
                      <a:blip r:embed="rId3"/>
                      <a:stretch>
                        <a:fillRect/>
                      </a:stretch>
                    </p:blipFill>
                    <p:spPr>
                      <a:xfrm>
                        <a:off x="251460" y="404495"/>
                        <a:ext cx="4557713" cy="6096000"/>
                      </a:xfrm>
                      <a:prstGeom prst="rect">
                        <a:avLst/>
                      </a:prstGeom>
                      <a:noFill/>
                      <a:ln w="38100">
                        <a:noFill/>
                        <a:miter/>
                      </a:ln>
                    </p:spPr>
                  </p:pic>
                </p:oleObj>
              </mc:Fallback>
            </mc:AlternateContent>
          </a:graphicData>
        </a:graphic>
      </p:graphicFrame>
      <p:sp>
        <p:nvSpPr>
          <p:cNvPr id="64517" name="Text Box 2"/>
          <p:cNvSpPr txBox="1"/>
          <p:nvPr>
            <p:custDataLst>
              <p:tags r:id="rId4"/>
            </p:custDataLst>
          </p:nvPr>
        </p:nvSpPr>
        <p:spPr>
          <a:xfrm>
            <a:off x="4860290" y="3356610"/>
            <a:ext cx="4385945" cy="460375"/>
          </a:xfrm>
          <a:prstGeom prst="rect">
            <a:avLst/>
          </a:prstGeom>
          <a:noFill/>
          <a:ln w="9525">
            <a:noFill/>
          </a:ln>
        </p:spPr>
        <p:txBody>
          <a:bodyPr wrap="square">
            <a:spAutoFit/>
          </a:bodyPr>
          <a:p>
            <a:pPr eaLnBrk="1" hangingPunct="1">
              <a:spcBef>
                <a:spcPct val="50000"/>
              </a:spcBef>
            </a:pPr>
            <a:r>
              <a:rPr lang="en-US" altLang="zh-CN">
                <a:latin typeface="Times New Roman" panose="02020603050405020304" pitchFamily="18" charset="0"/>
              </a:rPr>
              <a:t> (N=33)</a:t>
            </a:r>
            <a:r>
              <a:rPr lang="zh-CN" altLang="en-US" dirty="0">
                <a:latin typeface="Times New Roman" panose="02020603050405020304" pitchFamily="18" charset="0"/>
              </a:rPr>
              <a:t>有一个过渡点幅度特性 </a:t>
            </a:r>
            <a:endParaRPr lang="zh-CN" altLang="en-US" dirty="0">
              <a:latin typeface="Times New Roman" panose="02020603050405020304" pitchFamily="18" charset="0"/>
            </a:endParaRPr>
          </a:p>
        </p:txBody>
      </p:sp>
      <p:sp>
        <p:nvSpPr>
          <p:cNvPr id="64518" name="Text Box 2"/>
          <p:cNvSpPr txBox="1"/>
          <p:nvPr>
            <p:custDataLst>
              <p:tags r:id="rId5"/>
            </p:custDataLst>
          </p:nvPr>
        </p:nvSpPr>
        <p:spPr>
          <a:xfrm>
            <a:off x="5076190" y="1412240"/>
            <a:ext cx="2564130" cy="460375"/>
          </a:xfrm>
          <a:prstGeom prst="rect">
            <a:avLst/>
          </a:prstGeom>
          <a:noFill/>
          <a:ln w="9525">
            <a:noFill/>
          </a:ln>
        </p:spPr>
        <p:txBody>
          <a:bodyPr wrap="square">
            <a:spAutoFit/>
          </a:bodyPr>
          <a:p>
            <a:pPr eaLnBrk="1" hangingPunct="1">
              <a:spcBef>
                <a:spcPct val="50000"/>
              </a:spcBef>
            </a:pPr>
            <a:r>
              <a:rPr lang="en-US" altLang="zh-CN">
                <a:latin typeface="Times New Roman" panose="02020603050405020304" pitchFamily="18" charset="0"/>
              </a:rPr>
              <a:t> (N=33)</a:t>
            </a:r>
            <a:r>
              <a:rPr lang="zh-CN" altLang="en-US" dirty="0">
                <a:latin typeface="Times New Roman" panose="02020603050405020304" pitchFamily="18" charset="0"/>
              </a:rPr>
              <a:t>幅度特性 </a:t>
            </a:r>
            <a:endParaRPr lang="zh-CN" altLang="en-US" dirty="0">
              <a:latin typeface="Times New Roman" panose="02020603050405020304" pitchFamily="18" charset="0"/>
            </a:endParaRPr>
          </a:p>
        </p:txBody>
      </p:sp>
      <p:sp>
        <p:nvSpPr>
          <p:cNvPr id="64520" name="Text Box 2"/>
          <p:cNvSpPr txBox="1"/>
          <p:nvPr>
            <p:custDataLst>
              <p:tags r:id="rId6"/>
            </p:custDataLst>
          </p:nvPr>
        </p:nvSpPr>
        <p:spPr>
          <a:xfrm>
            <a:off x="4809490" y="5273675"/>
            <a:ext cx="4391660" cy="460375"/>
          </a:xfrm>
          <a:prstGeom prst="rect">
            <a:avLst/>
          </a:prstGeom>
          <a:noFill/>
          <a:ln w="9525">
            <a:noFill/>
          </a:ln>
        </p:spPr>
        <p:txBody>
          <a:bodyPr wrap="square">
            <a:spAutoFit/>
          </a:bodyPr>
          <a:p>
            <a:pPr eaLnBrk="1" hangingPunct="1">
              <a:spcBef>
                <a:spcPct val="50000"/>
              </a:spcBef>
            </a:pPr>
            <a:r>
              <a:rPr lang="en-US" altLang="zh-CN">
                <a:latin typeface="Times New Roman" panose="02020603050405020304" pitchFamily="18" charset="0"/>
              </a:rPr>
              <a:t> (N=33)</a:t>
            </a:r>
            <a:r>
              <a:rPr lang="zh-CN" altLang="en-US" dirty="0">
                <a:latin typeface="Times New Roman" panose="02020603050405020304" pitchFamily="18" charset="0"/>
              </a:rPr>
              <a:t>有二个过渡点幅度特性 </a:t>
            </a:r>
            <a:endParaRPr lang="zh-CN" altLang="en-US" dirty="0">
              <a:latin typeface="Times New Roman" panose="02020603050405020304" pitchFamily="18" charset="0"/>
            </a:endParaRPr>
          </a:p>
        </p:txBody>
      </p:sp>
    </p:spTree>
  </p:cSld>
  <p:clrMapOvr>
    <a:masterClrMapping/>
  </p:clrMapOvr>
  <p:transition>
    <p:zoom dir="in"/>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文本框 117763"/>
          <p:cNvSpPr txBox="1"/>
          <p:nvPr/>
        </p:nvSpPr>
        <p:spPr>
          <a:xfrm>
            <a:off x="2209800" y="838200"/>
            <a:ext cx="6472555" cy="583565"/>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6.4 </a:t>
            </a:r>
            <a:r>
              <a:rPr lang="zh-CN" altLang="en-US" sz="3200" b="1" dirty="0">
                <a:solidFill>
                  <a:srgbClr val="FF0000"/>
                </a:solidFill>
                <a:latin typeface="Times New Roman" panose="02020603050405020304" pitchFamily="18" charset="0"/>
                <a:ea typeface="宋体" panose="02010600030101010101" pitchFamily="2" charset="-122"/>
              </a:rPr>
              <a:t>等波纹线性相位</a:t>
            </a:r>
            <a:r>
              <a:rPr lang="zh-CN" altLang="en-US" sz="3200" b="1" dirty="0">
                <a:latin typeface="Times New Roman" panose="02020603050405020304" pitchFamily="18" charset="0"/>
                <a:ea typeface="宋体" panose="02010600030101010101" pitchFamily="2" charset="-122"/>
              </a:rPr>
              <a:t>滤波器 </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可自学</a:t>
            </a:r>
            <a:r>
              <a:rPr lang="en-US" altLang="zh-CN" sz="3200" b="1" dirty="0">
                <a:latin typeface="Times New Roman" panose="02020603050405020304" pitchFamily="18" charset="0"/>
                <a:ea typeface="宋体" panose="02010600030101010101" pitchFamily="2" charset="-122"/>
              </a:rPr>
              <a:t>)</a:t>
            </a:r>
            <a:endParaRPr lang="en-US" altLang="zh-CN" sz="3200" b="1" dirty="0">
              <a:latin typeface="Times New Roman" panose="02020603050405020304" pitchFamily="18" charset="0"/>
              <a:ea typeface="宋体" panose="02010600030101010101" pitchFamily="2" charset="-122"/>
            </a:endParaRPr>
          </a:p>
        </p:txBody>
      </p:sp>
      <p:sp>
        <p:nvSpPr>
          <p:cNvPr id="121858" name="文本框 117764"/>
          <p:cNvSpPr txBox="1"/>
          <p:nvPr/>
        </p:nvSpPr>
        <p:spPr>
          <a:xfrm>
            <a:off x="228600" y="1600200"/>
            <a:ext cx="8763000" cy="4360863"/>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采用窗函数法设计</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滤波器方法简单，通常会得到一个性能相对很好的滤波器。但是在以下两个方面的问题，这些滤波器的设计还不是最优的：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通带和阻带的波动基本上相等</a:t>
            </a:r>
            <a:r>
              <a:rPr lang="zh-CN" altLang="en-US" dirty="0">
                <a:latin typeface="Times New Roman" panose="02020603050405020304" pitchFamily="18" charset="0"/>
                <a:ea typeface="宋体" panose="02010600030101010101" pitchFamily="2" charset="-122"/>
              </a:rPr>
              <a:t>，虽然一般需要</a:t>
            </a:r>
            <a:r>
              <a:rPr lang="en-US" altLang="zh-CN" i="1" dirty="0">
                <a:latin typeface="Times New Roman" panose="02020603050405020304" pitchFamily="18" charset="0"/>
                <a:ea typeface="宋体" panose="02010600030101010101" pitchFamily="2" charset="-122"/>
              </a:rPr>
              <a:t>δ</a:t>
            </a:r>
            <a:r>
              <a:rPr lang="en-US" altLang="zh-CN" baseline="-25000"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小于</a:t>
            </a:r>
            <a:r>
              <a:rPr lang="en-US" altLang="zh-CN" i="1" dirty="0">
                <a:latin typeface="Times New Roman" panose="02020603050405020304" pitchFamily="18" charset="0"/>
                <a:ea typeface="宋体" panose="02010600030101010101" pitchFamily="2" charset="-122"/>
              </a:rPr>
              <a:t>δ</a:t>
            </a:r>
            <a:r>
              <a:rPr lang="en-US" altLang="zh-CN" baseline="-25000"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，但是在窗函数法中不能分别控制这些参数。 所以，窗函数法需要在通带内对滤波器</a:t>
            </a:r>
            <a:r>
              <a:rPr lang="zh-CN" altLang="en-US" dirty="0">
                <a:latin typeface="Courier New" panose="02070309020205020404" pitchFamily="49"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过设计</a:t>
            </a:r>
            <a:r>
              <a:rPr lang="zh-CN" altLang="en-US" dirty="0">
                <a:latin typeface="Courier New" panose="02070309020205020404" pitchFamily="49"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（即通带内的技术指标超过所要求的技术指标），这样才能满足阻带的严格要求。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文本框 116739"/>
          <p:cNvSpPr txBox="1"/>
          <p:nvPr/>
        </p:nvSpPr>
        <p:spPr>
          <a:xfrm>
            <a:off x="228600" y="685800"/>
            <a:ext cx="8763000" cy="4360863"/>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对于大部分窗函数来说，</a:t>
            </a:r>
            <a:r>
              <a:rPr lang="zh-CN" altLang="en-US" b="1" dirty="0">
                <a:solidFill>
                  <a:srgbClr val="FF0000"/>
                </a:solidFill>
                <a:latin typeface="Times New Roman" panose="02020603050405020304" pitchFamily="18" charset="0"/>
                <a:ea typeface="宋体" panose="02010600030101010101" pitchFamily="2" charset="-122"/>
              </a:rPr>
              <a:t>通带内或阻带内的波动不是均匀的</a:t>
            </a:r>
            <a:r>
              <a:rPr lang="zh-CN" altLang="en-US" dirty="0">
                <a:latin typeface="Times New Roman" panose="02020603050405020304" pitchFamily="18" charset="0"/>
                <a:ea typeface="宋体" panose="02010600030101010101" pitchFamily="2" charset="-122"/>
              </a:rPr>
              <a:t>，通常离开过渡带时会减小。若允许波动在整个通带内均匀分布， 那么就会产生较小的峰值波动。</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另一方面，对于一个给定的滤波器阶数</a:t>
            </a:r>
            <a:r>
              <a:rPr lang="en-US" altLang="zh-CN" i="1"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），在所有频带内波动的幅度最小。在这个意义上说，等波纹线性相位滤波器是最优的。所以，等波纹线性相位滤波器设计法又称为等波纹最佳一致逼近设计法。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文本框 237569"/>
          <p:cNvSpPr txBox="1"/>
          <p:nvPr/>
        </p:nvSpPr>
        <p:spPr>
          <a:xfrm>
            <a:off x="533400" y="838200"/>
            <a:ext cx="62214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一个</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线性相位滤波器的频率响应可以写成 </a:t>
            </a:r>
            <a:endParaRPr lang="zh-CN" altLang="en-US" dirty="0">
              <a:latin typeface="Times New Roman" panose="02020603050405020304" pitchFamily="18" charset="0"/>
              <a:ea typeface="宋体" panose="02010600030101010101" pitchFamily="2" charset="-122"/>
            </a:endParaRPr>
          </a:p>
        </p:txBody>
      </p:sp>
      <p:graphicFrame>
        <p:nvGraphicFramePr>
          <p:cNvPr id="123906" name="对象 237570"/>
          <p:cNvGraphicFramePr/>
          <p:nvPr/>
        </p:nvGraphicFramePr>
        <p:xfrm>
          <a:off x="2727008" y="1600042"/>
          <a:ext cx="3264535" cy="576580"/>
        </p:xfrm>
        <a:graphic>
          <a:graphicData uri="http://schemas.openxmlformats.org/presentationml/2006/ole">
            <mc:AlternateContent xmlns:mc="http://schemas.openxmlformats.org/markup-compatibility/2006">
              <mc:Choice xmlns:v="urn:schemas-microsoft-com:vml" Requires="v">
                <p:oleObj spid="_x0000_s3233" name="" r:id="rId1" imgW="1295400" imgH="228600" progId="Equation.3">
                  <p:embed/>
                </p:oleObj>
              </mc:Choice>
              <mc:Fallback>
                <p:oleObj name="" r:id="rId1" imgW="1295400" imgH="228600" progId="Equation.3">
                  <p:embed/>
                  <p:pic>
                    <p:nvPicPr>
                      <p:cNvPr id="0" name="图片 3232"/>
                      <p:cNvPicPr/>
                      <p:nvPr/>
                    </p:nvPicPr>
                    <p:blipFill>
                      <a:blip r:embed="rId2"/>
                      <a:stretch>
                        <a:fillRect/>
                      </a:stretch>
                    </p:blipFill>
                    <p:spPr>
                      <a:xfrm>
                        <a:off x="2727008" y="1600042"/>
                        <a:ext cx="3264535" cy="576580"/>
                      </a:xfrm>
                      <a:prstGeom prst="rect">
                        <a:avLst/>
                      </a:prstGeom>
                      <a:noFill/>
                      <a:ln w="38100">
                        <a:noFill/>
                        <a:miter/>
                      </a:ln>
                    </p:spPr>
                  </p:pic>
                </p:oleObj>
              </mc:Fallback>
            </mc:AlternateContent>
          </a:graphicData>
        </a:graphic>
      </p:graphicFrame>
      <p:sp>
        <p:nvSpPr>
          <p:cNvPr id="123907" name="文本框 237571"/>
          <p:cNvSpPr txBox="1"/>
          <p:nvPr/>
        </p:nvSpPr>
        <p:spPr>
          <a:xfrm>
            <a:off x="7391400" y="1676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6-74</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23908" name="文本框 237572"/>
          <p:cNvSpPr txBox="1"/>
          <p:nvPr/>
        </p:nvSpPr>
        <p:spPr>
          <a:xfrm>
            <a:off x="152400" y="2481263"/>
            <a:ext cx="8763000" cy="2343150"/>
          </a:xfrm>
          <a:prstGeom prst="rect">
            <a:avLst/>
          </a:prstGeom>
          <a:noFill/>
          <a:ln w="9525">
            <a:noFill/>
          </a:ln>
        </p:spPr>
        <p:txBody>
          <a:bodyPr anchor="t">
            <a:spAutoFit/>
          </a:bodyPr>
          <a:p>
            <a:pPr algn="just">
              <a:lnSpc>
                <a:spcPct val="170000"/>
              </a:lnSpc>
              <a:spcBef>
                <a:spcPct val="50000"/>
              </a:spcBef>
            </a:pPr>
            <a:r>
              <a:rPr lang="zh-CN" altLang="en-US" dirty="0">
                <a:latin typeface="Times New Roman" panose="02020603050405020304" pitchFamily="18" charset="0"/>
                <a:ea typeface="宋体" panose="02010600030101010101" pitchFamily="2" charset="-122"/>
              </a:rPr>
              <a:t>式中，幅度</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的实值函数。对于</a:t>
            </a:r>
            <a:r>
              <a:rPr lang="zh-CN" altLang="en-US" b="1" dirty="0">
                <a:solidFill>
                  <a:srgbClr val="FF0000"/>
                </a:solidFill>
                <a:latin typeface="Times New Roman" panose="02020603050405020304" pitchFamily="18" charset="0"/>
                <a:ea typeface="宋体" panose="02010600030101010101" pitchFamily="2" charset="-122"/>
              </a:rPr>
              <a:t>第一类线性相位滤波器</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ctr">
              <a:lnSpc>
                <a:spcPct val="170000"/>
              </a:lnSpc>
              <a:spcBef>
                <a:spcPct val="50000"/>
              </a:spcBef>
            </a:pP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gn="just">
              <a:lnSpc>
                <a:spcPct val="170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是奇数。利用</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的对称性可以将频率相应表示为 </a:t>
            </a:r>
            <a:endParaRPr lang="zh-CN" altLang="en-US" dirty="0">
              <a:latin typeface="Times New Roman" panose="02020603050405020304" pitchFamily="18" charset="0"/>
              <a:ea typeface="宋体" panose="02010600030101010101" pitchFamily="2" charset="-122"/>
            </a:endParaRPr>
          </a:p>
        </p:txBody>
      </p:sp>
      <p:graphicFrame>
        <p:nvGraphicFramePr>
          <p:cNvPr id="123909" name="对象 237573"/>
          <p:cNvGraphicFramePr/>
          <p:nvPr/>
        </p:nvGraphicFramePr>
        <p:xfrm>
          <a:off x="3048000" y="5105400"/>
          <a:ext cx="3276600" cy="928688"/>
        </p:xfrm>
        <a:graphic>
          <a:graphicData uri="http://schemas.openxmlformats.org/presentationml/2006/ole">
            <mc:AlternateContent xmlns:mc="http://schemas.openxmlformats.org/markup-compatibility/2006">
              <mc:Choice xmlns:v="urn:schemas-microsoft-com:vml" Requires="v">
                <p:oleObj spid="_x0000_s3235" name="" r:id="rId3" imgW="1523365" imgH="431800" progId="Equation.3">
                  <p:embed/>
                </p:oleObj>
              </mc:Choice>
              <mc:Fallback>
                <p:oleObj name="" r:id="rId3" imgW="1523365" imgH="431800" progId="Equation.3">
                  <p:embed/>
                  <p:pic>
                    <p:nvPicPr>
                      <p:cNvPr id="0" name="图片 3234"/>
                      <p:cNvPicPr/>
                      <p:nvPr/>
                    </p:nvPicPr>
                    <p:blipFill>
                      <a:blip r:embed="rId4"/>
                      <a:stretch>
                        <a:fillRect/>
                      </a:stretch>
                    </p:blipFill>
                    <p:spPr>
                      <a:xfrm>
                        <a:off x="3048000" y="5105400"/>
                        <a:ext cx="3276600" cy="928688"/>
                      </a:xfrm>
                      <a:prstGeom prst="rect">
                        <a:avLst/>
                      </a:prstGeom>
                      <a:solidFill>
                        <a:schemeClr val="accent1"/>
                      </a:solidFill>
                      <a:ln w="38100">
                        <a:noFill/>
                        <a:miter/>
                      </a:ln>
                    </p:spPr>
                  </p:pic>
                </p:oleObj>
              </mc:Fallback>
            </mc:AlternateContent>
          </a:graphicData>
        </a:graphic>
      </p:graphicFrame>
      <p:sp>
        <p:nvSpPr>
          <p:cNvPr id="123910" name="文本框 237575"/>
          <p:cNvSpPr txBox="1"/>
          <p:nvPr/>
        </p:nvSpPr>
        <p:spPr>
          <a:xfrm>
            <a:off x="7543800" y="54102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6-75</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文本框 238593"/>
          <p:cNvSpPr txBox="1"/>
          <p:nvPr/>
        </p:nvSpPr>
        <p:spPr>
          <a:xfrm>
            <a:off x="365125" y="727075"/>
            <a:ext cx="36322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，且有： </a:t>
            </a:r>
            <a:endParaRPr lang="zh-CN" altLang="en-US" dirty="0">
              <a:latin typeface="Times New Roman" panose="02020603050405020304" pitchFamily="18" charset="0"/>
              <a:ea typeface="宋体" panose="02010600030101010101" pitchFamily="2" charset="-122"/>
            </a:endParaRPr>
          </a:p>
        </p:txBody>
      </p:sp>
      <p:graphicFrame>
        <p:nvGraphicFramePr>
          <p:cNvPr id="124930" name="对象 238594"/>
          <p:cNvGraphicFramePr/>
          <p:nvPr/>
        </p:nvGraphicFramePr>
        <p:xfrm>
          <a:off x="2514600" y="1295400"/>
          <a:ext cx="2590800" cy="1968500"/>
        </p:xfrm>
        <a:graphic>
          <a:graphicData uri="http://schemas.openxmlformats.org/presentationml/2006/ole">
            <mc:AlternateContent xmlns:mc="http://schemas.openxmlformats.org/markup-compatibility/2006">
              <mc:Choice xmlns:v="urn:schemas-microsoft-com:vml" Requires="v">
                <p:oleObj spid="_x0000_s3237" name="" r:id="rId1" imgW="1269365" imgH="964565" progId="Equation.3">
                  <p:embed/>
                </p:oleObj>
              </mc:Choice>
              <mc:Fallback>
                <p:oleObj name="" r:id="rId1" imgW="1269365" imgH="964565" progId="Equation.3">
                  <p:embed/>
                  <p:pic>
                    <p:nvPicPr>
                      <p:cNvPr id="0" name="图片 3236"/>
                      <p:cNvPicPr/>
                      <p:nvPr/>
                    </p:nvPicPr>
                    <p:blipFill>
                      <a:blip r:embed="rId2"/>
                      <a:stretch>
                        <a:fillRect/>
                      </a:stretch>
                    </p:blipFill>
                    <p:spPr>
                      <a:xfrm>
                        <a:off x="2514600" y="1295400"/>
                        <a:ext cx="2590800" cy="1968500"/>
                      </a:xfrm>
                      <a:prstGeom prst="rect">
                        <a:avLst/>
                      </a:prstGeom>
                      <a:noFill/>
                      <a:ln w="38100">
                        <a:noFill/>
                        <a:miter/>
                      </a:ln>
                    </p:spPr>
                  </p:pic>
                </p:oleObj>
              </mc:Fallback>
            </mc:AlternateContent>
          </a:graphicData>
        </a:graphic>
      </p:graphicFrame>
      <p:graphicFrame>
        <p:nvGraphicFramePr>
          <p:cNvPr id="124931" name="对象 238595"/>
          <p:cNvGraphicFramePr/>
          <p:nvPr/>
        </p:nvGraphicFramePr>
        <p:xfrm>
          <a:off x="5562600" y="2362200"/>
          <a:ext cx="2362200" cy="892175"/>
        </p:xfrm>
        <a:graphic>
          <a:graphicData uri="http://schemas.openxmlformats.org/presentationml/2006/ole">
            <mc:AlternateContent xmlns:mc="http://schemas.openxmlformats.org/markup-compatibility/2006">
              <mc:Choice xmlns:v="urn:schemas-microsoft-com:vml" Requires="v">
                <p:oleObj spid="_x0000_s3238" name="" r:id="rId3" imgW="1040765" imgH="393700" progId="Equation.3">
                  <p:embed/>
                </p:oleObj>
              </mc:Choice>
              <mc:Fallback>
                <p:oleObj name="" r:id="rId3" imgW="1040765" imgH="393700" progId="Equation.3">
                  <p:embed/>
                  <p:pic>
                    <p:nvPicPr>
                      <p:cNvPr id="0" name="图片 3237"/>
                      <p:cNvPicPr/>
                      <p:nvPr/>
                    </p:nvPicPr>
                    <p:blipFill>
                      <a:blip r:embed="rId4"/>
                      <a:stretch>
                        <a:fillRect/>
                      </a:stretch>
                    </p:blipFill>
                    <p:spPr>
                      <a:xfrm>
                        <a:off x="5562600" y="2362200"/>
                        <a:ext cx="2362200" cy="892175"/>
                      </a:xfrm>
                      <a:prstGeom prst="rect">
                        <a:avLst/>
                      </a:prstGeom>
                      <a:noFill/>
                      <a:ln w="38100">
                        <a:noFill/>
                        <a:miter/>
                      </a:ln>
                    </p:spPr>
                  </p:pic>
                </p:oleObj>
              </mc:Fallback>
            </mc:AlternateContent>
          </a:graphicData>
        </a:graphic>
      </p:graphicFrame>
      <p:sp>
        <p:nvSpPr>
          <p:cNvPr id="124932" name="文本框 238596"/>
          <p:cNvSpPr txBox="1"/>
          <p:nvPr/>
        </p:nvSpPr>
        <p:spPr>
          <a:xfrm>
            <a:off x="152400" y="3371850"/>
            <a:ext cx="8839200" cy="2673350"/>
          </a:xfrm>
          <a:prstGeom prst="rect">
            <a:avLst/>
          </a:prstGeom>
          <a:noFill/>
          <a:ln w="9525">
            <a:noFill/>
          </a:ln>
        </p:spPr>
        <p:txBody>
          <a:bodyPr anchor="t">
            <a:spAutoFit/>
          </a:bodyPr>
          <a:p>
            <a:pPr algn="just">
              <a:lnSpc>
                <a:spcPct val="130000"/>
              </a:lnSpc>
              <a:spcBef>
                <a:spcPct val="50000"/>
              </a:spcBef>
            </a:pP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是期望的幅度</a:t>
            </a:r>
            <a:r>
              <a:rPr lang="en-US" altLang="zh-CN" dirty="0">
                <a:latin typeface="Times New Roman" panose="02020603050405020304" pitchFamily="18" charset="0"/>
                <a:ea typeface="宋体" panose="02010600030101010101" pitchFamily="2" charset="-122"/>
              </a:rPr>
              <a:t>; </a:t>
            </a:r>
            <a:r>
              <a:rPr lang="en-US" altLang="zh-CN" b="1" i="1" dirty="0">
                <a:solidFill>
                  <a:srgbClr val="FF0000"/>
                </a:solidFill>
                <a:latin typeface="Times New Roman" panose="02020603050405020304" pitchFamily="18" charset="0"/>
                <a:ea typeface="宋体" panose="02010600030101010101" pitchFamily="2" charset="-122"/>
              </a:rPr>
              <a:t>W</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是一个正的误差加权函数</a:t>
            </a:r>
            <a:r>
              <a:rPr lang="zh-CN" altLang="en-US" dirty="0">
                <a:latin typeface="Times New Roman" panose="02020603050405020304" pitchFamily="18" charset="0"/>
                <a:ea typeface="宋体" panose="02010600030101010101" pitchFamily="2" charset="-122"/>
              </a:rPr>
              <a:t>， 它是为在通带或阻带要求不同的逼近精度而设计的。一般地，在要求逼近精度高的频带， </a:t>
            </a:r>
            <a:r>
              <a:rPr lang="en-US" altLang="zh-CN" dirty="0">
                <a:latin typeface="Times New Roman" panose="02020603050405020304" pitchFamily="18" charset="0"/>
                <a:ea typeface="宋体" panose="02010600030101010101" pitchFamily="2" charset="-122"/>
              </a:rPr>
              <a:t>W(ω)</a:t>
            </a:r>
            <a:r>
              <a:rPr lang="zh-CN" altLang="en-US" dirty="0">
                <a:latin typeface="Times New Roman" panose="02020603050405020304" pitchFamily="18" charset="0"/>
                <a:ea typeface="宋体" panose="02010600030101010101" pitchFamily="2" charset="-122"/>
              </a:rPr>
              <a:t>取值大</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要求逼近精度低的频带</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的取值小。设计过程中</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为已知函数。设</a:t>
            </a:r>
            <a:endParaRPr lang="zh-CN" altLang="en-US" dirty="0">
              <a:latin typeface="Times New Roman" panose="02020603050405020304" pitchFamily="18" charset="0"/>
              <a:ea typeface="宋体" panose="02010600030101010101" pitchFamily="2" charset="-122"/>
            </a:endParaRPr>
          </a:p>
          <a:p>
            <a:pPr algn="ctr">
              <a:lnSpc>
                <a:spcPct val="130000"/>
              </a:lnSpc>
              <a:spcBef>
                <a:spcPct val="50000"/>
              </a:spcBef>
            </a:pPr>
            <a:r>
              <a:rPr lang="en-US" altLang="zh-CN" b="1" i="1" dirty="0">
                <a:solidFill>
                  <a:srgbClr val="FF0000"/>
                </a:solidFill>
                <a:latin typeface="Times New Roman" panose="02020603050405020304" pitchFamily="18" charset="0"/>
                <a:ea typeface="宋体" panose="02010600030101010101" pitchFamily="2" charset="-122"/>
              </a:rPr>
              <a:t>E</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W</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baseline="-25000" dirty="0">
                <a:solidFill>
                  <a:srgbClr val="FF0000"/>
                </a:solidFill>
                <a:latin typeface="Times New Roman" panose="02020603050405020304" pitchFamily="18" charset="0"/>
                <a:ea typeface="宋体" panose="02010600030101010101" pitchFamily="2" charset="-122"/>
              </a:rPr>
              <a:t>d</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H</a:t>
            </a:r>
            <a:r>
              <a:rPr lang="en-US" altLang="zh-CN" b="1" dirty="0">
                <a:solidFill>
                  <a:srgbClr val="FF0000"/>
                </a:solidFill>
                <a:latin typeface="Times New Roman" panose="02020603050405020304" pitchFamily="18" charset="0"/>
                <a:ea typeface="宋体" panose="02010600030101010101" pitchFamily="2" charset="-122"/>
              </a:rPr>
              <a:t>(</a:t>
            </a:r>
            <a:r>
              <a:rPr lang="en-US" altLang="zh-CN" b="1" i="1" dirty="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文本框 239617"/>
          <p:cNvSpPr txBox="1"/>
          <p:nvPr/>
        </p:nvSpPr>
        <p:spPr>
          <a:xfrm>
            <a:off x="228600" y="488950"/>
            <a:ext cx="8686800" cy="1187450"/>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是一个加权逼近误差。等波纹滤波器设计问题就是求系数</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要求在一组频率</a:t>
            </a:r>
            <a:r>
              <a:rPr lang="en-US" altLang="zh-CN" b="1"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上使</a:t>
            </a:r>
            <a:r>
              <a:rPr lang="en-US" altLang="zh-CN" i="1" dirty="0">
                <a:latin typeface="Times New Roman" panose="02020603050405020304" pitchFamily="18" charset="0"/>
                <a:ea typeface="宋体" panose="02010600030101010101" pitchFamily="2" charset="-122"/>
              </a:rPr>
              <a:t>E</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的最大绝对值最小， </a:t>
            </a:r>
            <a:endParaRPr lang="zh-CN" altLang="en-US" dirty="0">
              <a:latin typeface="Times New Roman" panose="02020603050405020304" pitchFamily="18" charset="0"/>
              <a:ea typeface="宋体" panose="02010600030101010101" pitchFamily="2" charset="-122"/>
            </a:endParaRPr>
          </a:p>
        </p:txBody>
      </p:sp>
      <p:graphicFrame>
        <p:nvGraphicFramePr>
          <p:cNvPr id="125954" name="对象 239618"/>
          <p:cNvGraphicFramePr/>
          <p:nvPr/>
        </p:nvGraphicFramePr>
        <p:xfrm>
          <a:off x="3048000" y="2133600"/>
          <a:ext cx="2933700" cy="749300"/>
        </p:xfrm>
        <a:graphic>
          <a:graphicData uri="http://schemas.openxmlformats.org/presentationml/2006/ole">
            <mc:AlternateContent xmlns:mc="http://schemas.openxmlformats.org/markup-compatibility/2006">
              <mc:Choice xmlns:v="urn:schemas-microsoft-com:vml" Requires="v">
                <p:oleObj spid="_x0000_s3240" name="" r:id="rId1" imgW="1142365" imgH="292100" progId="Equation.3">
                  <p:embed/>
                </p:oleObj>
              </mc:Choice>
              <mc:Fallback>
                <p:oleObj name="" r:id="rId1" imgW="1142365" imgH="292100" progId="Equation.3">
                  <p:embed/>
                  <p:pic>
                    <p:nvPicPr>
                      <p:cNvPr id="0" name="图片 3239"/>
                      <p:cNvPicPr/>
                      <p:nvPr/>
                    </p:nvPicPr>
                    <p:blipFill>
                      <a:blip r:embed="rId2"/>
                      <a:stretch>
                        <a:fillRect/>
                      </a:stretch>
                    </p:blipFill>
                    <p:spPr>
                      <a:xfrm>
                        <a:off x="3048000" y="2133600"/>
                        <a:ext cx="2933700" cy="749300"/>
                      </a:xfrm>
                      <a:prstGeom prst="rect">
                        <a:avLst/>
                      </a:prstGeom>
                      <a:noFill/>
                      <a:ln w="38100">
                        <a:noFill/>
                        <a:miter/>
                      </a:ln>
                    </p:spPr>
                  </p:pic>
                </p:oleObj>
              </mc:Fallback>
            </mc:AlternateContent>
          </a:graphicData>
        </a:graphic>
      </p:graphicFrame>
      <p:sp>
        <p:nvSpPr>
          <p:cNvPr id="125955" name="文本框 239619"/>
          <p:cNvSpPr txBox="1"/>
          <p:nvPr/>
        </p:nvSpPr>
        <p:spPr>
          <a:xfrm>
            <a:off x="304800" y="3241675"/>
            <a:ext cx="8610600" cy="279463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例如，为了设计一个低通滤波器，频率组</a:t>
            </a:r>
            <a:r>
              <a:rPr lang="en-US" altLang="zh-CN" b="1"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可以是</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通带［</a:t>
            </a:r>
            <a:r>
              <a:rPr lang="en-US" altLang="zh-CN" dirty="0">
                <a:latin typeface="Times New Roman" panose="02020603050405020304" pitchFamily="18" charset="0"/>
                <a:ea typeface="宋体" panose="02010600030101010101" pitchFamily="2" charset="-122"/>
              </a:rPr>
              <a:t>0, ω</a:t>
            </a:r>
            <a:r>
              <a:rPr lang="en-US" altLang="zh-CN" baseline="-25000"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］和阻带［</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 π</a:t>
            </a:r>
            <a:r>
              <a:rPr lang="zh-CN" altLang="en-US" dirty="0">
                <a:latin typeface="Times New Roman" panose="02020603050405020304" pitchFamily="18" charset="0"/>
                <a:ea typeface="宋体" panose="02010600030101010101" pitchFamily="2" charset="-122"/>
              </a:rPr>
              <a:t>］内的频率，如图</a:t>
            </a:r>
            <a:r>
              <a:rPr lang="en-US" altLang="zh-CN" dirty="0">
                <a:latin typeface="Times New Roman" panose="02020603050405020304" pitchFamily="18" charset="0"/>
                <a:ea typeface="宋体" panose="02010600030101010101" pitchFamily="2" charset="-122"/>
              </a:rPr>
              <a:t>6-18</a:t>
            </a:r>
            <a:r>
              <a:rPr lang="zh-CN" altLang="en-US" dirty="0">
                <a:latin typeface="Times New Roman" panose="02020603050405020304" pitchFamily="18" charset="0"/>
                <a:ea typeface="宋体" panose="02010600030101010101" pitchFamily="2" charset="-122"/>
              </a:rPr>
              <a:t>所示。</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过渡带［</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 ω</a:t>
            </a:r>
            <a:r>
              <a:rPr lang="en-US" altLang="zh-CN" baseline="-25000"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］是不关心的区域，求加权误差最小时不作考虑，此时可以采用交错定理求这个最优化问题。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文本框 240641"/>
          <p:cNvSpPr txBox="1"/>
          <p:nvPr/>
        </p:nvSpPr>
        <p:spPr>
          <a:xfrm>
            <a:off x="1116013" y="5464175"/>
            <a:ext cx="7272337" cy="701675"/>
          </a:xfrm>
          <a:prstGeom prst="rect">
            <a:avLst/>
          </a:prstGeom>
          <a:noFill/>
          <a:ln w="9525">
            <a:noFill/>
          </a:ln>
        </p:spPr>
        <p:txBody>
          <a:bodyPr wrap="none" anchor="t">
            <a:spAutoFit/>
          </a:bodyPr>
          <a:p>
            <a:pPr algn="ct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6-19 </a:t>
            </a:r>
            <a:r>
              <a:rPr lang="zh-CN" altLang="en-US" sz="2000" dirty="0">
                <a:latin typeface="Times New Roman" panose="02020603050405020304" pitchFamily="18" charset="0"/>
                <a:ea typeface="宋体" panose="02010600030101010101" pitchFamily="2" charset="-122"/>
              </a:rPr>
              <a:t>等波纹滤波器设计中的频率组， 包括通带［</a:t>
            </a:r>
            <a:r>
              <a:rPr lang="en-US" altLang="zh-CN" sz="2000" dirty="0">
                <a:latin typeface="Times New Roman" panose="02020603050405020304" pitchFamily="18" charset="0"/>
                <a:ea typeface="宋体" panose="02010600030101010101" pitchFamily="2" charset="-122"/>
              </a:rPr>
              <a:t>0, </a:t>
            </a:r>
            <a:r>
              <a:rPr lang="en-US" altLang="zh-CN" sz="2000" i="1" dirty="0">
                <a:latin typeface="Times New Roman" panose="02020603050405020304" pitchFamily="18" charset="0"/>
                <a:ea typeface="宋体" panose="02010600030101010101" pitchFamily="2" charset="-122"/>
              </a:rPr>
              <a:t>ω</a:t>
            </a:r>
            <a:r>
              <a:rPr lang="en-US" altLang="zh-CN" sz="2000" baseline="-25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］和阻</a:t>
            </a:r>
            <a:endParaRPr lang="zh-CN" altLang="en-US" sz="2000" dirty="0">
              <a:latin typeface="Times New Roman" panose="02020603050405020304" pitchFamily="18" charset="0"/>
              <a:ea typeface="宋体" panose="02010600030101010101" pitchFamily="2" charset="-122"/>
            </a:endParaRPr>
          </a:p>
          <a:p>
            <a:pPr algn="ctr"/>
            <a:r>
              <a:rPr lang="zh-CN" altLang="en-US" sz="2000" dirty="0">
                <a:latin typeface="Times New Roman" panose="02020603050405020304" pitchFamily="18" charset="0"/>
                <a:ea typeface="宋体" panose="02010600030101010101" pitchFamily="2" charset="-122"/>
              </a:rPr>
              <a:t>带［</a:t>
            </a:r>
            <a:r>
              <a:rPr lang="en-US" altLang="zh-CN" sz="2000" i="1" dirty="0">
                <a:latin typeface="Times New Roman" panose="02020603050405020304" pitchFamily="18" charset="0"/>
                <a:ea typeface="宋体" panose="02010600030101010101" pitchFamily="2" charset="-122"/>
              </a:rPr>
              <a:t>ω</a:t>
            </a:r>
            <a:r>
              <a:rPr lang="en-US" altLang="zh-CN" sz="2000" baseline="-25000" dirty="0">
                <a:latin typeface="Times New Roman" panose="02020603050405020304" pitchFamily="18" charset="0"/>
                <a:ea typeface="宋体" panose="02010600030101010101" pitchFamily="2" charset="-122"/>
              </a:rPr>
              <a:t>s</a:t>
            </a:r>
            <a:r>
              <a:rPr lang="en-US" altLang="zh-CN" sz="2000" dirty="0">
                <a:latin typeface="Times New Roman" panose="02020603050405020304" pitchFamily="18" charset="0"/>
                <a:ea typeface="宋体" panose="02010600030101010101" pitchFamily="2" charset="-122"/>
              </a:rPr>
              <a:t>, π</a:t>
            </a:r>
            <a:r>
              <a:rPr lang="zh-CN" altLang="en-US" sz="2000" dirty="0">
                <a:latin typeface="Times New Roman" panose="02020603050405020304" pitchFamily="18" charset="0"/>
                <a:ea typeface="宋体" panose="02010600030101010101" pitchFamily="2" charset="-122"/>
              </a:rPr>
              <a:t>］ 过渡带［</a:t>
            </a:r>
            <a:r>
              <a:rPr lang="en-US" altLang="zh-CN" sz="2000" i="1" dirty="0">
                <a:latin typeface="Times New Roman" panose="02020603050405020304" pitchFamily="18" charset="0"/>
                <a:ea typeface="宋体" panose="02010600030101010101" pitchFamily="2" charset="-122"/>
              </a:rPr>
              <a:t>ω</a:t>
            </a:r>
            <a:r>
              <a:rPr lang="en-US" altLang="zh-CN" sz="2000" baseline="-25000" dirty="0">
                <a:latin typeface="Times New Roman" panose="02020603050405020304" pitchFamily="18" charset="0"/>
                <a:ea typeface="宋体" panose="02010600030101010101" pitchFamily="2" charset="-122"/>
              </a:rPr>
              <a:t>p</a:t>
            </a:r>
            <a:r>
              <a:rPr lang="en-US" altLang="zh-CN"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ω</a:t>
            </a:r>
            <a:r>
              <a:rPr lang="en-US" altLang="zh-CN" sz="2000" baseline="-25000" dirty="0">
                <a:latin typeface="Times New Roman" panose="02020603050405020304" pitchFamily="18" charset="0"/>
                <a:ea typeface="宋体" panose="02010600030101010101" pitchFamily="2" charset="-122"/>
              </a:rPr>
              <a:t>s</a:t>
            </a:r>
            <a:r>
              <a:rPr lang="zh-CN" altLang="en-US" sz="2000" dirty="0">
                <a:latin typeface="Times New Roman" panose="02020603050405020304" pitchFamily="18" charset="0"/>
                <a:ea typeface="宋体" panose="02010600030101010101" pitchFamily="2" charset="-122"/>
              </a:rPr>
              <a:t>］是不关心的区域</a:t>
            </a:r>
            <a:endParaRPr lang="zh-CN" altLang="en-US" sz="2000" dirty="0">
              <a:latin typeface="Times New Roman" panose="02020603050405020304" pitchFamily="18" charset="0"/>
              <a:ea typeface="宋体" panose="02010600030101010101" pitchFamily="2" charset="-122"/>
            </a:endParaRPr>
          </a:p>
        </p:txBody>
      </p:sp>
      <p:pic>
        <p:nvPicPr>
          <p:cNvPr id="126978" name="图片 240644" descr="6-19"/>
          <p:cNvPicPr>
            <a:picLocks noChangeAspect="1"/>
          </p:cNvPicPr>
          <p:nvPr/>
        </p:nvPicPr>
        <p:blipFill>
          <a:blip r:embed="rId1"/>
          <a:stretch>
            <a:fillRect/>
          </a:stretch>
        </p:blipFill>
        <p:spPr>
          <a:xfrm>
            <a:off x="1619250" y="1150938"/>
            <a:ext cx="6386513" cy="3863975"/>
          </a:xfrm>
          <a:prstGeom prst="rect">
            <a:avLst/>
          </a:prstGeom>
          <a:noFill/>
          <a:ln w="9525">
            <a:noFill/>
          </a:ln>
        </p:spPr>
      </p:pic>
    </p:spTree>
  </p:cSld>
  <p:clrMapOvr>
    <a:masterClrMapping/>
  </p:clrMapOvr>
  <p:transition>
    <p:zoom dir="in"/>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文本框 241665"/>
          <p:cNvSpPr txBox="1"/>
          <p:nvPr/>
        </p:nvSpPr>
        <p:spPr>
          <a:xfrm>
            <a:off x="228600" y="68580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交错定理：设</a:t>
            </a:r>
            <a:r>
              <a:rPr lang="en-US" altLang="zh-CN"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是［</a:t>
            </a:r>
            <a:r>
              <a:rPr lang="en-US" altLang="zh-CN" dirty="0">
                <a:latin typeface="Times New Roman" panose="02020603050405020304" pitchFamily="18" charset="0"/>
                <a:ea typeface="宋体" panose="02010600030101010101" pitchFamily="2" charset="-122"/>
              </a:rPr>
              <a:t>0, π</a:t>
            </a:r>
            <a:r>
              <a:rPr lang="zh-CN" altLang="en-US" dirty="0">
                <a:latin typeface="Times New Roman" panose="02020603050405020304" pitchFamily="18" charset="0"/>
                <a:ea typeface="宋体" panose="02010600030101010101" pitchFamily="2" charset="-122"/>
              </a:rPr>
              <a:t>］区间内封闭子集的并集，对于一个正的加权函数</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128002" name="对象 241666"/>
          <p:cNvGraphicFramePr/>
          <p:nvPr/>
        </p:nvGraphicFramePr>
        <p:xfrm>
          <a:off x="2971800" y="1828800"/>
          <a:ext cx="3352800" cy="1008063"/>
        </p:xfrm>
        <a:graphic>
          <a:graphicData uri="http://schemas.openxmlformats.org/presentationml/2006/ole">
            <mc:AlternateContent xmlns:mc="http://schemas.openxmlformats.org/markup-compatibility/2006">
              <mc:Choice xmlns:v="urn:schemas-microsoft-com:vml" Requires="v">
                <p:oleObj spid="_x0000_s3243" name="" r:id="rId1" imgW="1434465" imgH="431800" progId="Equation.3">
                  <p:embed/>
                </p:oleObj>
              </mc:Choice>
              <mc:Fallback>
                <p:oleObj name="" r:id="rId1" imgW="1434465" imgH="431800" progId="Equation.3">
                  <p:embed/>
                  <p:pic>
                    <p:nvPicPr>
                      <p:cNvPr id="0" name="图片 3242"/>
                      <p:cNvPicPr/>
                      <p:nvPr/>
                    </p:nvPicPr>
                    <p:blipFill>
                      <a:blip r:embed="rId2"/>
                      <a:stretch>
                        <a:fillRect/>
                      </a:stretch>
                    </p:blipFill>
                    <p:spPr>
                      <a:xfrm>
                        <a:off x="2971800" y="1828800"/>
                        <a:ext cx="3352800" cy="1008063"/>
                      </a:xfrm>
                      <a:prstGeom prst="rect">
                        <a:avLst/>
                      </a:prstGeom>
                      <a:noFill/>
                      <a:ln w="38100">
                        <a:noFill/>
                        <a:miter/>
                      </a:ln>
                    </p:spPr>
                  </p:pic>
                </p:oleObj>
              </mc:Fallback>
            </mc:AlternateContent>
          </a:graphicData>
        </a:graphic>
      </p:graphicFrame>
      <p:sp>
        <p:nvSpPr>
          <p:cNvPr id="128003" name="文本框 241667"/>
          <p:cNvSpPr txBox="1"/>
          <p:nvPr/>
        </p:nvSpPr>
        <p:spPr>
          <a:xfrm>
            <a:off x="228600" y="2971800"/>
            <a:ext cx="8686800" cy="1735138"/>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在</a:t>
            </a:r>
            <a:r>
              <a:rPr lang="en-US" altLang="zh-CN" b="1"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上，</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能成为惟一使加权误差</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E</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最大值最小的函数。 其充要条件是：在</a:t>
            </a:r>
            <a:r>
              <a:rPr lang="en-US" altLang="zh-CN"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上</a:t>
            </a:r>
            <a:r>
              <a:rPr lang="en-US" altLang="zh-CN" i="1" dirty="0">
                <a:latin typeface="Times New Roman" panose="02020603050405020304" pitchFamily="18" charset="0"/>
                <a:ea typeface="宋体" panose="02010600030101010101" pitchFamily="2" charset="-122"/>
              </a:rPr>
              <a:t>E</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至少有</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个交错值。也就是说，在</a:t>
            </a:r>
            <a:r>
              <a:rPr lang="en-US" altLang="zh-CN" b="1"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上必须至少有</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个极值频率， </a:t>
            </a:r>
            <a:endParaRPr lang="zh-CN" altLang="en-US" dirty="0">
              <a:latin typeface="Times New Roman" panose="02020603050405020304" pitchFamily="18" charset="0"/>
              <a:ea typeface="宋体" panose="02010600030101010101" pitchFamily="2" charset="-122"/>
            </a:endParaRPr>
          </a:p>
        </p:txBody>
      </p:sp>
      <p:sp>
        <p:nvSpPr>
          <p:cNvPr id="128004" name="文本框 241669"/>
          <p:cNvSpPr txBox="1"/>
          <p:nvPr/>
        </p:nvSpPr>
        <p:spPr>
          <a:xfrm>
            <a:off x="2971800" y="5181600"/>
            <a:ext cx="3352800" cy="522288"/>
          </a:xfrm>
          <a:prstGeom prst="rect">
            <a:avLst/>
          </a:prstGeom>
          <a:noFill/>
          <a:ln w="9525">
            <a:noFill/>
          </a:ln>
        </p:spPr>
        <p:txBody>
          <a:bodyPr anchor="t">
            <a:spAutoFit/>
          </a:bodyPr>
          <a:p>
            <a:r>
              <a:rPr lang="en-US" altLang="zh-CN" sz="2800" b="1" i="1" dirty="0">
                <a:latin typeface="Times New Roman" panose="02020603050405020304" pitchFamily="18" charset="0"/>
                <a:ea typeface="宋体" panose="02010600030101010101" pitchFamily="2" charset="-122"/>
              </a:rPr>
              <a:t>ω</a:t>
            </a:r>
            <a:r>
              <a:rPr lang="en-US" altLang="zh-CN" sz="2800" b="1" baseline="-25000" dirty="0">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&lt;</a:t>
            </a:r>
            <a:r>
              <a:rPr lang="en-US" altLang="zh-CN" sz="2800" b="1" i="1" dirty="0">
                <a:latin typeface="Times New Roman" panose="02020603050405020304" pitchFamily="18" charset="0"/>
                <a:ea typeface="宋体" panose="02010600030101010101" pitchFamily="2" charset="-122"/>
              </a:rPr>
              <a:t>ω</a:t>
            </a:r>
            <a:r>
              <a:rPr lang="en-US" altLang="zh-CN" sz="2800" b="1" baseline="-25000" dirty="0">
                <a:latin typeface="Times New Roman" panose="02020603050405020304" pitchFamily="18" charset="0"/>
                <a:ea typeface="宋体" panose="02010600030101010101" pitchFamily="2" charset="-122"/>
              </a:rPr>
              <a:t>1</a:t>
            </a:r>
            <a:r>
              <a:rPr lang="en-US" altLang="zh-CN" sz="2800" b="1" dirty="0">
                <a:latin typeface="Times New Roman" panose="02020603050405020304" pitchFamily="18" charset="0"/>
                <a:ea typeface="宋体" panose="02010600030101010101" pitchFamily="2" charset="-122"/>
              </a:rPr>
              <a:t>&lt;…&lt;</a:t>
            </a:r>
            <a:r>
              <a:rPr lang="en-US" altLang="zh-CN" sz="2800" b="1" i="1" dirty="0">
                <a:latin typeface="Times New Roman" panose="02020603050405020304" pitchFamily="18" charset="0"/>
                <a:ea typeface="宋体" panose="02010600030101010101" pitchFamily="2" charset="-122"/>
              </a:rPr>
              <a:t>ω</a:t>
            </a:r>
            <a:r>
              <a:rPr lang="en-US" altLang="zh-CN" sz="2800" b="1" i="1" baseline="-25000" dirty="0">
                <a:latin typeface="Times New Roman" panose="02020603050405020304" pitchFamily="18" charset="0"/>
                <a:ea typeface="宋体" panose="02010600030101010101" pitchFamily="2" charset="-122"/>
              </a:rPr>
              <a:t>L</a:t>
            </a:r>
            <a:r>
              <a:rPr lang="en-US" altLang="zh-CN" sz="2800" b="1" baseline="-25000"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文本框 242689"/>
          <p:cNvSpPr txBox="1"/>
          <p:nvPr/>
        </p:nvSpPr>
        <p:spPr>
          <a:xfrm>
            <a:off x="381000" y="609600"/>
            <a:ext cx="8382000" cy="1568450"/>
          </a:xfrm>
          <a:prstGeom prst="rect">
            <a:avLst/>
          </a:prstGeom>
          <a:noFill/>
          <a:ln w="9525">
            <a:noFill/>
          </a:ln>
        </p:spPr>
        <p:txBody>
          <a:bodyPr anchor="t">
            <a:spAutoFit/>
          </a:bodyPr>
          <a:p>
            <a:pPr algn="just">
              <a:spcBef>
                <a:spcPct val="50000"/>
              </a:spcBef>
            </a:pPr>
            <a:r>
              <a:rPr lang="zh-CN" altLang="en-US" dirty="0">
                <a:latin typeface="Times New Roman" panose="02020603050405020304" pitchFamily="18" charset="0"/>
                <a:ea typeface="宋体" panose="02010600030101010101" pitchFamily="2" charset="-122"/>
              </a:rPr>
              <a:t>这样</a:t>
            </a:r>
            <a:endParaRPr lang="zh-CN" altLang="en-US" dirty="0">
              <a:latin typeface="Times New Roman" panose="02020603050405020304" pitchFamily="18" charset="0"/>
              <a:ea typeface="宋体" panose="02010600030101010101" pitchFamily="2" charset="-122"/>
            </a:endParaRPr>
          </a:p>
          <a:p>
            <a:pPr algn="ctr">
              <a:spcBef>
                <a:spcPct val="50000"/>
              </a:spcBef>
            </a:pPr>
            <a:r>
              <a:rPr lang="en-US" altLang="zh-CN" i="1" dirty="0">
                <a:latin typeface="Times New Roman" panose="02020603050405020304" pitchFamily="18" charset="0"/>
                <a:ea typeface="宋体" panose="02010600030101010101" pitchFamily="2" charset="-122"/>
              </a:rPr>
              <a:t>E</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E</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i="1" baseline="-25000"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 </a:t>
            </a:r>
            <a:r>
              <a:rPr lang="en-US" altLang="zh-CN" dirty="0">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L</a:t>
            </a:r>
            <a:endParaRPr lang="zh-CN" altLang="en-US" dirty="0">
              <a:latin typeface="Times New Roman" panose="02020603050405020304" pitchFamily="18" charset="0"/>
              <a:ea typeface="宋体" panose="02010600030101010101" pitchFamily="2" charset="-122"/>
            </a:endParaRPr>
          </a:p>
          <a:p>
            <a:pPr>
              <a:spcBef>
                <a:spcPct val="50000"/>
              </a:spcBef>
            </a:pPr>
            <a:r>
              <a:rPr lang="zh-CN" altLang="en-US" dirty="0">
                <a:latin typeface="Times New Roman" panose="02020603050405020304" pitchFamily="18" charset="0"/>
                <a:ea typeface="宋体" panose="02010600030101010101" pitchFamily="2" charset="-122"/>
              </a:rPr>
              <a:t>且 </a:t>
            </a:r>
            <a:endParaRPr lang="zh-CN" altLang="en-US" dirty="0">
              <a:latin typeface="Times New Roman" panose="02020603050405020304" pitchFamily="18" charset="0"/>
              <a:ea typeface="宋体" panose="02010600030101010101" pitchFamily="2" charset="-122"/>
            </a:endParaRPr>
          </a:p>
        </p:txBody>
      </p:sp>
      <p:graphicFrame>
        <p:nvGraphicFramePr>
          <p:cNvPr id="129026" name="对象 242690"/>
          <p:cNvGraphicFramePr/>
          <p:nvPr/>
        </p:nvGraphicFramePr>
        <p:xfrm>
          <a:off x="1981200" y="2438400"/>
          <a:ext cx="2978150" cy="601663"/>
        </p:xfrm>
        <a:graphic>
          <a:graphicData uri="http://schemas.openxmlformats.org/presentationml/2006/ole">
            <mc:AlternateContent xmlns:mc="http://schemas.openxmlformats.org/markup-compatibility/2006">
              <mc:Choice xmlns:v="urn:schemas-microsoft-com:vml" Requires="v">
                <p:oleObj spid="_x0000_s3239" name="" r:id="rId1" imgW="1384300" imgH="279400" progId="Equation.3">
                  <p:embed/>
                </p:oleObj>
              </mc:Choice>
              <mc:Fallback>
                <p:oleObj name="" r:id="rId1" imgW="1384300" imgH="279400" progId="Equation.3">
                  <p:embed/>
                  <p:pic>
                    <p:nvPicPr>
                      <p:cNvPr id="0" name="图片 3238"/>
                      <p:cNvPicPr/>
                      <p:nvPr/>
                    </p:nvPicPr>
                    <p:blipFill>
                      <a:blip r:embed="rId2"/>
                      <a:stretch>
                        <a:fillRect/>
                      </a:stretch>
                    </p:blipFill>
                    <p:spPr>
                      <a:xfrm>
                        <a:off x="1981200" y="2438400"/>
                        <a:ext cx="2978150" cy="601663"/>
                      </a:xfrm>
                      <a:prstGeom prst="rect">
                        <a:avLst/>
                      </a:prstGeom>
                      <a:noFill/>
                      <a:ln w="38100">
                        <a:noFill/>
                        <a:miter/>
                      </a:ln>
                    </p:spPr>
                  </p:pic>
                </p:oleObj>
              </mc:Fallback>
            </mc:AlternateContent>
          </a:graphicData>
        </a:graphic>
      </p:graphicFrame>
      <p:sp>
        <p:nvSpPr>
          <p:cNvPr id="129027" name="文本框 242691"/>
          <p:cNvSpPr txBox="1"/>
          <p:nvPr/>
        </p:nvSpPr>
        <p:spPr>
          <a:xfrm>
            <a:off x="5470525" y="2424113"/>
            <a:ext cx="1963738" cy="457200"/>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 </a:t>
            </a:r>
            <a:r>
              <a:rPr lang="en-US" altLang="zh-CN" dirty="0">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129028" name="文本框 242692"/>
          <p:cNvSpPr txBox="1"/>
          <p:nvPr/>
        </p:nvSpPr>
        <p:spPr>
          <a:xfrm>
            <a:off x="228600" y="3317875"/>
            <a:ext cx="8686800" cy="239712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交错定理说明最优滤波器是等波纹的。虽然交错定理确定了最优滤波器必须有的极值频率（或波动）最少数目，但是可以有更多的数目。例如，一个低通滤波器可以有</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个或</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个极值频率，有</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个极值频率的低通滤波器称作超波纹滤波器。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文本框 243713"/>
          <p:cNvSpPr txBox="1"/>
          <p:nvPr/>
        </p:nvSpPr>
        <p:spPr>
          <a:xfrm>
            <a:off x="533400" y="457200"/>
            <a:ext cx="3308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由交错定理可以得到： </a:t>
            </a:r>
            <a:endParaRPr lang="zh-CN" altLang="en-US" dirty="0">
              <a:latin typeface="Times New Roman" panose="02020603050405020304" pitchFamily="18" charset="0"/>
              <a:ea typeface="宋体" panose="02010600030101010101" pitchFamily="2" charset="-122"/>
            </a:endParaRPr>
          </a:p>
        </p:txBody>
      </p:sp>
      <p:sp>
        <p:nvSpPr>
          <p:cNvPr id="130050" name="文本框 243714"/>
          <p:cNvSpPr txBox="1"/>
          <p:nvPr/>
        </p:nvSpPr>
        <p:spPr>
          <a:xfrm>
            <a:off x="1295400" y="914400"/>
            <a:ext cx="7064375" cy="457200"/>
          </a:xfrm>
          <a:prstGeom prst="rect">
            <a:avLst/>
          </a:prstGeom>
          <a:noFill/>
          <a:ln w="9525">
            <a:noFill/>
          </a:ln>
        </p:spPr>
        <p:txBody>
          <a:bodyPr wrap="none" anchor="t">
            <a:spAutoFit/>
          </a:bodyPr>
          <a:p>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en-US" altLang="zh-CN" i="1" baseline="30000" dirty="0">
                <a:latin typeface="Times New Roman" panose="02020603050405020304" pitchFamily="18" charset="0"/>
                <a:ea typeface="宋体" panose="02010600030101010101" pitchFamily="2" charset="-122"/>
              </a:rPr>
              <a:t>k</a:t>
            </a:r>
            <a:r>
              <a:rPr lang="en-US" altLang="zh-CN" i="1" dirty="0">
                <a:latin typeface="Times New Roman" panose="02020603050405020304" pitchFamily="18" charset="0"/>
                <a:ea typeface="宋体" panose="02010600030101010101" pitchFamily="2" charset="-122"/>
              </a:rPr>
              <a:t>ε      </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 …, </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+1 </a:t>
            </a:r>
            <a:endParaRPr lang="en-US" altLang="zh-CN" dirty="0">
              <a:latin typeface="Times New Roman" panose="02020603050405020304" pitchFamily="18" charset="0"/>
              <a:ea typeface="宋体" panose="02010600030101010101" pitchFamily="2" charset="-122"/>
            </a:endParaRPr>
          </a:p>
        </p:txBody>
      </p:sp>
      <p:sp>
        <p:nvSpPr>
          <p:cNvPr id="130051" name="文本框 243715"/>
          <p:cNvSpPr txBox="1"/>
          <p:nvPr/>
        </p:nvSpPr>
        <p:spPr>
          <a:xfrm>
            <a:off x="609600" y="1524000"/>
            <a:ext cx="117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dirty="0">
              <a:latin typeface="Times New Roman" panose="02020603050405020304" pitchFamily="18" charset="0"/>
              <a:ea typeface="宋体" panose="02010600030101010101" pitchFamily="2" charset="-122"/>
            </a:endParaRPr>
          </a:p>
        </p:txBody>
      </p:sp>
      <p:graphicFrame>
        <p:nvGraphicFramePr>
          <p:cNvPr id="130052" name="对象 243716"/>
          <p:cNvGraphicFramePr/>
          <p:nvPr/>
        </p:nvGraphicFramePr>
        <p:xfrm>
          <a:off x="3276600" y="1676400"/>
          <a:ext cx="2819400" cy="704850"/>
        </p:xfrm>
        <a:graphic>
          <a:graphicData uri="http://schemas.openxmlformats.org/presentationml/2006/ole">
            <mc:AlternateContent xmlns:mc="http://schemas.openxmlformats.org/markup-compatibility/2006">
              <mc:Choice xmlns:v="urn:schemas-microsoft-com:vml" Requires="v">
                <p:oleObj spid="_x0000_s3241" name="" r:id="rId1" imgW="1117600" imgH="279400" progId="Equation.3">
                  <p:embed/>
                </p:oleObj>
              </mc:Choice>
              <mc:Fallback>
                <p:oleObj name="" r:id="rId1" imgW="1117600" imgH="279400" progId="Equation.3">
                  <p:embed/>
                  <p:pic>
                    <p:nvPicPr>
                      <p:cNvPr id="0" name="图片 3240"/>
                      <p:cNvPicPr/>
                      <p:nvPr/>
                    </p:nvPicPr>
                    <p:blipFill>
                      <a:blip r:embed="rId2"/>
                      <a:stretch>
                        <a:fillRect/>
                      </a:stretch>
                    </p:blipFill>
                    <p:spPr>
                      <a:xfrm>
                        <a:off x="3276600" y="1676400"/>
                        <a:ext cx="2819400" cy="704850"/>
                      </a:xfrm>
                      <a:prstGeom prst="rect">
                        <a:avLst/>
                      </a:prstGeom>
                      <a:noFill/>
                      <a:ln w="38100">
                        <a:noFill/>
                        <a:miter/>
                      </a:ln>
                    </p:spPr>
                  </p:pic>
                </p:oleObj>
              </mc:Fallback>
            </mc:AlternateContent>
          </a:graphicData>
        </a:graphic>
      </p:graphicFrame>
      <p:sp>
        <p:nvSpPr>
          <p:cNvPr id="130053" name="文本框 243717"/>
          <p:cNvSpPr txBox="1"/>
          <p:nvPr/>
        </p:nvSpPr>
        <p:spPr>
          <a:xfrm>
            <a:off x="228600" y="2209800"/>
            <a:ext cx="8686800" cy="1041400"/>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是最大的加权误差绝对值，这些关于未知数</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 </a:t>
            </a:r>
            <a:r>
              <a:rPr lang="en-US" altLang="zh-CN" dirty="0">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以及</a:t>
            </a:r>
            <a:r>
              <a:rPr lang="en-US" altLang="zh-CN" i="1" dirty="0">
                <a:latin typeface="Times New Roman" panose="02020603050405020304" pitchFamily="18" charset="0"/>
                <a:ea typeface="宋体" panose="02010600030101010101" pitchFamily="2" charset="-122"/>
              </a:rPr>
              <a:t>ε</a:t>
            </a:r>
            <a:r>
              <a:rPr lang="zh-CN" altLang="en-US" dirty="0">
                <a:latin typeface="Times New Roman" panose="02020603050405020304" pitchFamily="18" charset="0"/>
                <a:ea typeface="宋体" panose="02010600030101010101" pitchFamily="2" charset="-122"/>
              </a:rPr>
              <a:t>的方程可以写成下面矩阵的形式： </a:t>
            </a:r>
            <a:endParaRPr lang="zh-CN" altLang="en-US" dirty="0">
              <a:latin typeface="Times New Roman" panose="02020603050405020304" pitchFamily="18" charset="0"/>
              <a:ea typeface="宋体" panose="02010600030101010101" pitchFamily="2" charset="-122"/>
            </a:endParaRPr>
          </a:p>
        </p:txBody>
      </p:sp>
      <p:graphicFrame>
        <p:nvGraphicFramePr>
          <p:cNvPr id="130054" name="对象 243718"/>
          <p:cNvGraphicFramePr/>
          <p:nvPr/>
        </p:nvGraphicFramePr>
        <p:xfrm>
          <a:off x="228600" y="3251200"/>
          <a:ext cx="8786813" cy="3187700"/>
        </p:xfrm>
        <a:graphic>
          <a:graphicData uri="http://schemas.openxmlformats.org/presentationml/2006/ole">
            <mc:AlternateContent xmlns:mc="http://schemas.openxmlformats.org/markup-compatibility/2006">
              <mc:Choice xmlns:v="urn:schemas-microsoft-com:vml" Requires="v">
                <p:oleObj spid="_x0000_s3242" name="" r:id="rId3" imgW="4622800" imgH="1676400" progId="Equation.3">
                  <p:embed/>
                </p:oleObj>
              </mc:Choice>
              <mc:Fallback>
                <p:oleObj name="" r:id="rId3" imgW="4622800" imgH="1676400" progId="Equation.3">
                  <p:embed/>
                  <p:pic>
                    <p:nvPicPr>
                      <p:cNvPr id="0" name="图片 3241"/>
                      <p:cNvPicPr/>
                      <p:nvPr/>
                    </p:nvPicPr>
                    <p:blipFill>
                      <a:blip r:embed="rId4"/>
                      <a:stretch>
                        <a:fillRect/>
                      </a:stretch>
                    </p:blipFill>
                    <p:spPr>
                      <a:xfrm>
                        <a:off x="228600" y="3251200"/>
                        <a:ext cx="8786813" cy="3187700"/>
                      </a:xfrm>
                      <a:prstGeom prst="rect">
                        <a:avLst/>
                      </a:prstGeom>
                      <a:noFill/>
                      <a:ln w="38100">
                        <a:noFill/>
                        <a:miter/>
                      </a:ln>
                    </p:spPr>
                  </p:pic>
                </p:oleObj>
              </mc:Fallback>
            </mc:AlternateContent>
          </a:graphicData>
        </a:graphic>
      </p:graphicFrame>
    </p:spTree>
  </p:cSld>
  <p:clrMapOvr>
    <a:masterClrMapping/>
  </p:clrMapOvr>
  <p:transition>
    <p:zoom dir="in"/>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文本框 244738"/>
          <p:cNvSpPr txBox="1"/>
          <p:nvPr/>
        </p:nvSpPr>
        <p:spPr>
          <a:xfrm>
            <a:off x="152400" y="533400"/>
            <a:ext cx="8763000" cy="396240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给定了极值频率，就可以解关于</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 </a:t>
            </a:r>
            <a:r>
              <a:rPr lang="en-US" altLang="zh-CN" dirty="0">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以及</a:t>
            </a:r>
            <a:r>
              <a:rPr lang="en-US" altLang="zh-CN" i="1" dirty="0">
                <a:latin typeface="Times New Roman" panose="02020603050405020304" pitchFamily="18" charset="0"/>
                <a:ea typeface="宋体" panose="02010600030101010101" pitchFamily="2" charset="-122"/>
              </a:rPr>
              <a:t>ε</a:t>
            </a:r>
            <a:r>
              <a:rPr lang="zh-CN" altLang="en-US" dirty="0">
                <a:latin typeface="Times New Roman" panose="02020603050405020304" pitchFamily="18" charset="0"/>
                <a:ea typeface="宋体" panose="02010600030101010101" pitchFamily="2" charset="-122"/>
              </a:rPr>
              <a:t>的方程。 为了求极值频率，可以采用一种高效的迭代过程，称作帕克斯</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麦克莱伦（</a:t>
            </a:r>
            <a:r>
              <a:rPr lang="en-US" altLang="zh-CN" dirty="0">
                <a:latin typeface="Times New Roman" panose="02020603050405020304" pitchFamily="18" charset="0"/>
                <a:ea typeface="宋体" panose="02010600030101010101" pitchFamily="2" charset="-122"/>
              </a:rPr>
              <a:t>Parks</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McClellan</a:t>
            </a:r>
            <a:r>
              <a:rPr lang="zh-CN" altLang="en-US" dirty="0">
                <a:latin typeface="Times New Roman" panose="02020603050405020304" pitchFamily="18" charset="0"/>
                <a:ea typeface="宋体" panose="02010600030101010101" pitchFamily="2" charset="-122"/>
              </a:rPr>
              <a:t>）算法。（更详细的内容，可参考文献［</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具体步骤如下：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① </a:t>
            </a:r>
            <a:r>
              <a:rPr lang="zh-CN" altLang="en-US" dirty="0">
                <a:latin typeface="Times New Roman" panose="02020603050405020304" pitchFamily="18" charset="0"/>
                <a:ea typeface="宋体" panose="02010600030101010101" pitchFamily="2" charset="-122"/>
              </a:rPr>
              <a:t>估计一组初始极值频率（可任选）。 </a:t>
            </a:r>
            <a:endParaRPr lang="zh-CN" altLang="en-US" dirty="0">
              <a:latin typeface="Times New Roman" panose="02020603050405020304" pitchFamily="18" charset="0"/>
              <a:ea typeface="宋体" panose="02010600030101010101" pitchFamily="2" charset="-122"/>
            </a:endParaRPr>
          </a:p>
          <a:p>
            <a:pPr>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② </a:t>
            </a:r>
            <a:r>
              <a:rPr lang="zh-CN" altLang="en-US" dirty="0">
                <a:latin typeface="Times New Roman" panose="02020603050405020304" pitchFamily="18" charset="0"/>
                <a:ea typeface="宋体" panose="02010600030101010101" pitchFamily="2" charset="-122"/>
              </a:rPr>
              <a:t>解方程（</a:t>
            </a:r>
            <a:r>
              <a:rPr lang="en-US" altLang="zh-CN" dirty="0">
                <a:latin typeface="Times New Roman" panose="02020603050405020304" pitchFamily="18" charset="0"/>
                <a:ea typeface="宋体" panose="02010600030101010101" pitchFamily="2" charset="-122"/>
              </a:rPr>
              <a:t>6-76</a:t>
            </a:r>
            <a:r>
              <a:rPr lang="zh-CN" altLang="en-US" dirty="0">
                <a:latin typeface="Times New Roman" panose="02020603050405020304" pitchFamily="18" charset="0"/>
                <a:ea typeface="宋体" panose="02010600030101010101" pitchFamily="2" charset="-122"/>
              </a:rPr>
              <a:t>）求</a:t>
            </a:r>
            <a:r>
              <a:rPr lang="en-US" altLang="zh-CN" i="1" dirty="0">
                <a:latin typeface="Times New Roman" panose="02020603050405020304" pitchFamily="18" charset="0"/>
                <a:ea typeface="宋体" panose="02010600030101010101" pitchFamily="2" charset="-122"/>
              </a:rPr>
              <a:t>ε</a:t>
            </a:r>
            <a:r>
              <a:rPr lang="zh-CN" altLang="en-US" dirty="0">
                <a:latin typeface="Times New Roman" panose="02020603050405020304" pitchFamily="18" charset="0"/>
                <a:ea typeface="宋体" panose="02010600030101010101" pitchFamily="2" charset="-122"/>
              </a:rPr>
              <a:t>，可以证明</a:t>
            </a:r>
            <a:r>
              <a:rPr lang="en-US" altLang="zh-CN" i="1" dirty="0">
                <a:latin typeface="Times New Roman" panose="02020603050405020304" pitchFamily="18" charset="0"/>
                <a:ea typeface="宋体" panose="02010600030101010101" pitchFamily="2" charset="-122"/>
              </a:rPr>
              <a:t>ε</a:t>
            </a:r>
            <a:r>
              <a:rPr lang="zh-CN" altLang="en-US" dirty="0">
                <a:latin typeface="Times New Roman" panose="02020603050405020304" pitchFamily="18" charset="0"/>
                <a:ea typeface="宋体" panose="02010600030101010101" pitchFamily="2" charset="-122"/>
              </a:rPr>
              <a:t>的值为 </a:t>
            </a:r>
            <a:endParaRPr lang="zh-CN" altLang="en-US" dirty="0">
              <a:latin typeface="Times New Roman" panose="02020603050405020304" pitchFamily="18" charset="0"/>
              <a:ea typeface="宋体" panose="02010600030101010101" pitchFamily="2" charset="-122"/>
            </a:endParaRPr>
          </a:p>
        </p:txBody>
      </p:sp>
      <p:graphicFrame>
        <p:nvGraphicFramePr>
          <p:cNvPr id="131074" name="对象 244739"/>
          <p:cNvGraphicFramePr/>
          <p:nvPr/>
        </p:nvGraphicFramePr>
        <p:xfrm>
          <a:off x="3048000" y="4419600"/>
          <a:ext cx="3505200" cy="1865313"/>
        </p:xfrm>
        <a:graphic>
          <a:graphicData uri="http://schemas.openxmlformats.org/presentationml/2006/ole">
            <mc:AlternateContent xmlns:mc="http://schemas.openxmlformats.org/markup-compatibility/2006">
              <mc:Choice xmlns:v="urn:schemas-microsoft-com:vml" Requires="v">
                <p:oleObj spid="_x0000_s3245" name="" r:id="rId1" imgW="1574800" imgH="838200" progId="Equation.3">
                  <p:embed/>
                </p:oleObj>
              </mc:Choice>
              <mc:Fallback>
                <p:oleObj name="" r:id="rId1" imgW="1574800" imgH="838200" progId="Equation.3">
                  <p:embed/>
                  <p:pic>
                    <p:nvPicPr>
                      <p:cNvPr id="0" name="图片 3244"/>
                      <p:cNvPicPr/>
                      <p:nvPr/>
                    </p:nvPicPr>
                    <p:blipFill>
                      <a:blip r:embed="rId2"/>
                      <a:stretch>
                        <a:fillRect/>
                      </a:stretch>
                    </p:blipFill>
                    <p:spPr>
                      <a:xfrm>
                        <a:off x="3048000" y="4419600"/>
                        <a:ext cx="3505200" cy="1865313"/>
                      </a:xfrm>
                      <a:prstGeom prst="rect">
                        <a:avLst/>
                      </a:prstGeom>
                      <a:noFill/>
                      <a:ln w="38100">
                        <a:noFill/>
                        <a:miter/>
                      </a:ln>
                    </p:spPr>
                  </p:pic>
                </p:oleObj>
              </mc:Fallback>
            </mc:AlternateContent>
          </a:graphicData>
        </a:graphic>
      </p:graphicFrame>
    </p:spTree>
  </p:cSld>
  <p:clrMapOvr>
    <a:masterClrMapping/>
  </p:clrMapOvr>
  <p:transition>
    <p:zoom dir="in"/>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文本框 245761"/>
          <p:cNvSpPr txBox="1"/>
          <p:nvPr/>
        </p:nvSpPr>
        <p:spPr>
          <a:xfrm>
            <a:off x="609600" y="762000"/>
            <a:ext cx="117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dirty="0">
              <a:latin typeface="Times New Roman" panose="02020603050405020304" pitchFamily="18" charset="0"/>
              <a:ea typeface="宋体" panose="02010600030101010101" pitchFamily="2" charset="-122"/>
            </a:endParaRPr>
          </a:p>
        </p:txBody>
      </p:sp>
      <p:graphicFrame>
        <p:nvGraphicFramePr>
          <p:cNvPr id="132098" name="对象 245762"/>
          <p:cNvGraphicFramePr/>
          <p:nvPr/>
        </p:nvGraphicFramePr>
        <p:xfrm>
          <a:off x="2057400" y="1066800"/>
          <a:ext cx="5257800" cy="1235075"/>
        </p:xfrm>
        <a:graphic>
          <a:graphicData uri="http://schemas.openxmlformats.org/presentationml/2006/ole">
            <mc:AlternateContent xmlns:mc="http://schemas.openxmlformats.org/markup-compatibility/2006">
              <mc:Choice xmlns:v="urn:schemas-microsoft-com:vml" Requires="v">
                <p:oleObj spid="_x0000_s3247" name="" r:id="rId1" imgW="1891665" imgH="444500" progId="Equation.3">
                  <p:embed/>
                </p:oleObj>
              </mc:Choice>
              <mc:Fallback>
                <p:oleObj name="" r:id="rId1" imgW="1891665" imgH="444500" progId="Equation.3">
                  <p:embed/>
                  <p:pic>
                    <p:nvPicPr>
                      <p:cNvPr id="0" name="图片 3246"/>
                      <p:cNvPicPr/>
                      <p:nvPr/>
                    </p:nvPicPr>
                    <p:blipFill>
                      <a:blip r:embed="rId2"/>
                      <a:stretch>
                        <a:fillRect/>
                      </a:stretch>
                    </p:blipFill>
                    <p:spPr>
                      <a:xfrm>
                        <a:off x="2057400" y="1066800"/>
                        <a:ext cx="5257800" cy="1235075"/>
                      </a:xfrm>
                      <a:prstGeom prst="rect">
                        <a:avLst/>
                      </a:prstGeom>
                      <a:noFill/>
                      <a:ln w="38100">
                        <a:noFill/>
                        <a:miter/>
                      </a:ln>
                    </p:spPr>
                  </p:pic>
                </p:oleObj>
              </mc:Fallback>
            </mc:AlternateContent>
          </a:graphicData>
        </a:graphic>
      </p:graphicFrame>
      <p:sp>
        <p:nvSpPr>
          <p:cNvPr id="132099" name="文本框 245763"/>
          <p:cNvSpPr txBox="1"/>
          <p:nvPr/>
        </p:nvSpPr>
        <p:spPr>
          <a:xfrm>
            <a:off x="304800" y="2535238"/>
            <a:ext cx="8686800" cy="3598862"/>
          </a:xfrm>
          <a:prstGeom prst="rect">
            <a:avLst/>
          </a:prstGeom>
          <a:noFill/>
          <a:ln w="9525">
            <a:noFill/>
          </a:ln>
        </p:spPr>
        <p:txBody>
          <a:bodyPr anchor="t">
            <a:spAutoFit/>
          </a:bodyPr>
          <a:p>
            <a:pPr algn="just">
              <a:lnSpc>
                <a:spcPct val="170000"/>
              </a:lnSpc>
              <a:spcBef>
                <a:spcPct val="50000"/>
              </a:spcBef>
            </a:pPr>
            <a:r>
              <a:rPr lang="en-US" altLang="zh-CN" dirty="0">
                <a:latin typeface="Times New Roman" panose="02020603050405020304" pitchFamily="18" charset="0"/>
                <a:ea typeface="宋体" panose="02010600030101010101" pitchFamily="2" charset="-122"/>
              </a:rPr>
              <a:t>         ③ </a:t>
            </a:r>
            <a:r>
              <a:rPr lang="zh-CN" altLang="en-US" dirty="0">
                <a:latin typeface="Times New Roman" panose="02020603050405020304" pitchFamily="18" charset="0"/>
                <a:ea typeface="宋体" panose="02010600030101010101" pitchFamily="2" charset="-122"/>
              </a:rPr>
              <a:t>利用拉格朗日插值公式在极值频率之间插值，计算</a:t>
            </a:r>
            <a:r>
              <a:rPr lang="en-US" altLang="zh-CN"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上的加权误差函数。 </a:t>
            </a:r>
            <a:endParaRPr lang="zh-CN" altLang="en-US" dirty="0">
              <a:latin typeface="Times New Roman" panose="02020603050405020304" pitchFamily="18" charset="0"/>
              <a:ea typeface="宋体" panose="02010600030101010101" pitchFamily="2" charset="-122"/>
            </a:endParaRPr>
          </a:p>
          <a:p>
            <a:pPr algn="just">
              <a:lnSpc>
                <a:spcPct val="17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④ </a:t>
            </a:r>
            <a:r>
              <a:rPr lang="zh-CN" altLang="en-US" dirty="0">
                <a:latin typeface="Times New Roman" panose="02020603050405020304" pitchFamily="18" charset="0"/>
                <a:ea typeface="宋体" panose="02010600030101010101" pitchFamily="2" charset="-122"/>
              </a:rPr>
              <a:t>先选择使插值函数最大的</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个频率， 然后再选择一组新的极值频率。 </a:t>
            </a:r>
            <a:endParaRPr lang="zh-CN" altLang="en-US" dirty="0">
              <a:latin typeface="Times New Roman" panose="02020603050405020304" pitchFamily="18" charset="0"/>
              <a:ea typeface="宋体" panose="02010600030101010101" pitchFamily="2" charset="-122"/>
            </a:endParaRPr>
          </a:p>
          <a:p>
            <a:pPr>
              <a:lnSpc>
                <a:spcPct val="17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⑤ </a:t>
            </a:r>
            <a:r>
              <a:rPr lang="zh-CN" altLang="en-US" dirty="0">
                <a:latin typeface="Times New Roman" panose="02020603050405020304" pitchFamily="18" charset="0"/>
                <a:ea typeface="宋体" panose="02010600030101010101" pitchFamily="2" charset="-122"/>
              </a:rPr>
              <a:t>如果极值频率改变了，从步骤</a:t>
            </a:r>
            <a:r>
              <a:rPr lang="en-US" altLang="zh-CN" dirty="0">
                <a:latin typeface="Times New Roman" panose="02020603050405020304" pitchFamily="18" charset="0"/>
                <a:ea typeface="宋体" panose="02010600030101010101" pitchFamily="2" charset="-122"/>
              </a:rPr>
              <a:t>②</a:t>
            </a:r>
            <a:r>
              <a:rPr lang="zh-CN" altLang="en-US" dirty="0">
                <a:latin typeface="Times New Roman" panose="02020603050405020304" pitchFamily="18" charset="0"/>
                <a:ea typeface="宋体" panose="02010600030101010101" pitchFamily="2" charset="-122"/>
              </a:rPr>
              <a:t>开始重复迭代过程。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文本框 246785"/>
          <p:cNvSpPr txBox="1"/>
          <p:nvPr/>
        </p:nvSpPr>
        <p:spPr>
          <a:xfrm>
            <a:off x="228600" y="609600"/>
            <a:ext cx="8686800" cy="1820863"/>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一个设计公式可以用来计算一个低通滤波器的等波纹滤波器阶数， 过渡带宽度为</a:t>
            </a:r>
            <a:r>
              <a:rPr lang="en-US" altLang="zh-CN" dirty="0">
                <a:latin typeface="Times New Roman" panose="02020603050405020304" pitchFamily="18" charset="0"/>
                <a:ea typeface="宋体" panose="02010600030101010101" pitchFamily="2" charset="-122"/>
              </a:rPr>
              <a:t>Δ</a:t>
            </a:r>
            <a:r>
              <a:rPr lang="en-US" altLang="zh-CN" i="1"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，通带波动为</a:t>
            </a:r>
            <a:r>
              <a:rPr lang="en-US" altLang="zh-CN" i="1" dirty="0">
                <a:latin typeface="Times New Roman" panose="02020603050405020304" pitchFamily="18" charset="0"/>
                <a:ea typeface="宋体" panose="02010600030101010101" pitchFamily="2" charset="-122"/>
              </a:rPr>
              <a:t>δ</a:t>
            </a:r>
            <a:r>
              <a:rPr lang="en-US" altLang="zh-CN" baseline="-25000"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，阻带波动为</a:t>
            </a:r>
            <a:r>
              <a:rPr lang="en-US" altLang="zh-CN" i="1" dirty="0">
                <a:latin typeface="Times New Roman" panose="02020603050405020304" pitchFamily="18" charset="0"/>
                <a:ea typeface="宋体" panose="02010600030101010101" pitchFamily="2" charset="-122"/>
              </a:rPr>
              <a:t>δ</a:t>
            </a:r>
            <a:r>
              <a:rPr lang="en-US" altLang="zh-CN" baseline="-25000"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该公式为 </a:t>
            </a:r>
            <a:endParaRPr lang="zh-CN" altLang="en-US" dirty="0">
              <a:latin typeface="Times New Roman" panose="02020603050405020304" pitchFamily="18" charset="0"/>
              <a:ea typeface="宋体" panose="02010600030101010101" pitchFamily="2" charset="-122"/>
            </a:endParaRPr>
          </a:p>
        </p:txBody>
      </p:sp>
      <p:graphicFrame>
        <p:nvGraphicFramePr>
          <p:cNvPr id="133122" name="对象 246786"/>
          <p:cNvGraphicFramePr/>
          <p:nvPr/>
        </p:nvGraphicFramePr>
        <p:xfrm>
          <a:off x="2743200" y="2895600"/>
          <a:ext cx="3200400" cy="977900"/>
        </p:xfrm>
        <a:graphic>
          <a:graphicData uri="http://schemas.openxmlformats.org/presentationml/2006/ole">
            <mc:AlternateContent xmlns:mc="http://schemas.openxmlformats.org/markup-compatibility/2006">
              <mc:Choice xmlns:v="urn:schemas-microsoft-com:vml" Requires="v">
                <p:oleObj spid="_x0000_s3244" name="" r:id="rId1" imgW="1371600" imgH="419100" progId="Equation.3">
                  <p:embed/>
                </p:oleObj>
              </mc:Choice>
              <mc:Fallback>
                <p:oleObj name="" r:id="rId1" imgW="1371600" imgH="419100" progId="Equation.3">
                  <p:embed/>
                  <p:pic>
                    <p:nvPicPr>
                      <p:cNvPr id="0" name="图片 3243"/>
                      <p:cNvPicPr/>
                      <p:nvPr/>
                    </p:nvPicPr>
                    <p:blipFill>
                      <a:blip r:embed="rId2"/>
                      <a:stretch>
                        <a:fillRect/>
                      </a:stretch>
                    </p:blipFill>
                    <p:spPr>
                      <a:xfrm>
                        <a:off x="2743200" y="2895600"/>
                        <a:ext cx="3200400" cy="977900"/>
                      </a:xfrm>
                      <a:prstGeom prst="rect">
                        <a:avLst/>
                      </a:prstGeom>
                      <a:noFill/>
                      <a:ln w="38100">
                        <a:noFill/>
                        <a:miter/>
                      </a:ln>
                    </p:spPr>
                  </p:pic>
                </p:oleObj>
              </mc:Fallback>
            </mc:AlternateContent>
          </a:graphicData>
        </a:graphic>
      </p:graphicFrame>
      <p:sp>
        <p:nvSpPr>
          <p:cNvPr id="133123" name="文本框 246787"/>
          <p:cNvSpPr txBox="1"/>
          <p:nvPr/>
        </p:nvSpPr>
        <p:spPr>
          <a:xfrm>
            <a:off x="7467600" y="31242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(6-77)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文本框 247809"/>
          <p:cNvSpPr txBox="1"/>
          <p:nvPr/>
        </p:nvSpPr>
        <p:spPr>
          <a:xfrm>
            <a:off x="152400" y="381000"/>
            <a:ext cx="8839200" cy="18034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6-10]</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设计一个等波纹低通滤波器，通带截止频率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=0.3π</a:t>
            </a:r>
            <a:r>
              <a:rPr lang="zh-CN" altLang="en-US" dirty="0">
                <a:latin typeface="Times New Roman" panose="02020603050405020304" pitchFamily="18" charset="0"/>
                <a:ea typeface="宋体" panose="02010600030101010101" pitchFamily="2" charset="-122"/>
              </a:rPr>
              <a:t>，阻带截止频率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=0.3π</a:t>
            </a:r>
            <a:r>
              <a:rPr lang="zh-CN" altLang="en-US" dirty="0">
                <a:latin typeface="Times New Roman" panose="02020603050405020304" pitchFamily="18" charset="0"/>
                <a:ea typeface="宋体" panose="02010600030101010101" pitchFamily="2" charset="-122"/>
              </a:rPr>
              <a:t>，通带波动</a:t>
            </a:r>
            <a:r>
              <a:rPr lang="en-US" altLang="zh-CN" i="1" dirty="0">
                <a:latin typeface="Times New Roman" panose="02020603050405020304" pitchFamily="18" charset="0"/>
                <a:ea typeface="宋体" panose="02010600030101010101" pitchFamily="2" charset="-122"/>
              </a:rPr>
              <a:t>δ</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=0.01</a:t>
            </a:r>
            <a:r>
              <a:rPr lang="zh-CN" altLang="en-US" dirty="0">
                <a:latin typeface="Times New Roman" panose="02020603050405020304" pitchFamily="18" charset="0"/>
                <a:ea typeface="宋体" panose="02010600030101010101" pitchFamily="2" charset="-122"/>
              </a:rPr>
              <a:t>，阻带波动</a:t>
            </a:r>
            <a:r>
              <a:rPr lang="en-US" altLang="zh-CN" i="1" dirty="0">
                <a:latin typeface="Times New Roman" panose="02020603050405020304" pitchFamily="18" charset="0"/>
                <a:ea typeface="宋体" panose="02010600030101010101" pitchFamily="2" charset="-122"/>
              </a:rPr>
              <a:t>δ</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=0.001</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利用式（</a:t>
            </a:r>
            <a:r>
              <a:rPr lang="en-US" altLang="zh-CN" dirty="0">
                <a:latin typeface="Times New Roman" panose="02020603050405020304" pitchFamily="18" charset="0"/>
                <a:ea typeface="宋体" panose="02010600030101010101" pitchFamily="2" charset="-122"/>
              </a:rPr>
              <a:t>6-77</a:t>
            </a:r>
            <a:r>
              <a:rPr lang="zh-CN" altLang="en-US" dirty="0">
                <a:latin typeface="Times New Roman" panose="02020603050405020304" pitchFamily="18" charset="0"/>
                <a:ea typeface="宋体" panose="02010600030101010101" pitchFamily="2" charset="-122"/>
              </a:rPr>
              <a:t>）计算滤波器阶数，求 </a:t>
            </a:r>
            <a:endParaRPr lang="zh-CN" altLang="en-US" dirty="0">
              <a:latin typeface="Times New Roman" panose="02020603050405020304" pitchFamily="18" charset="0"/>
              <a:ea typeface="宋体" panose="02010600030101010101" pitchFamily="2" charset="-122"/>
            </a:endParaRPr>
          </a:p>
        </p:txBody>
      </p:sp>
      <p:graphicFrame>
        <p:nvGraphicFramePr>
          <p:cNvPr id="134146" name="对象 247810"/>
          <p:cNvGraphicFramePr/>
          <p:nvPr/>
        </p:nvGraphicFramePr>
        <p:xfrm>
          <a:off x="2362200" y="2819400"/>
          <a:ext cx="4156075" cy="1000125"/>
        </p:xfrm>
        <a:graphic>
          <a:graphicData uri="http://schemas.openxmlformats.org/presentationml/2006/ole">
            <mc:AlternateContent xmlns:mc="http://schemas.openxmlformats.org/markup-compatibility/2006">
              <mc:Choice xmlns:v="urn:schemas-microsoft-com:vml" Requires="v">
                <p:oleObj spid="_x0000_s3248" name="" r:id="rId1" imgW="1739900" imgH="419100" progId="Equation.3">
                  <p:embed/>
                </p:oleObj>
              </mc:Choice>
              <mc:Fallback>
                <p:oleObj name="" r:id="rId1" imgW="1739900" imgH="419100" progId="Equation.3">
                  <p:embed/>
                  <p:pic>
                    <p:nvPicPr>
                      <p:cNvPr id="0" name="图片 3247"/>
                      <p:cNvPicPr/>
                      <p:nvPr/>
                    </p:nvPicPr>
                    <p:blipFill>
                      <a:blip r:embed="rId2"/>
                      <a:stretch>
                        <a:fillRect/>
                      </a:stretch>
                    </p:blipFill>
                    <p:spPr>
                      <a:xfrm>
                        <a:off x="2362200" y="2819400"/>
                        <a:ext cx="4156075" cy="1000125"/>
                      </a:xfrm>
                      <a:prstGeom prst="rect">
                        <a:avLst/>
                      </a:prstGeom>
                      <a:noFill/>
                      <a:ln w="38100">
                        <a:noFill/>
                        <a:miter/>
                      </a:ln>
                    </p:spPr>
                  </p:pic>
                </p:oleObj>
              </mc:Fallback>
            </mc:AlternateContent>
          </a:graphicData>
        </a:graphic>
      </p:graphicFrame>
      <p:sp>
        <p:nvSpPr>
          <p:cNvPr id="134147" name="文本框 247811"/>
          <p:cNvSpPr txBox="1"/>
          <p:nvPr/>
        </p:nvSpPr>
        <p:spPr>
          <a:xfrm>
            <a:off x="0" y="3835400"/>
            <a:ext cx="8763000" cy="1041400"/>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由于我们希望阻带内的波动比通带内的波动小</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倍，所以必须采用加权函数对误差加权： </a:t>
            </a:r>
            <a:endParaRPr lang="zh-CN" altLang="en-US" dirty="0">
              <a:latin typeface="Times New Roman" panose="02020603050405020304" pitchFamily="18" charset="0"/>
              <a:ea typeface="宋体" panose="02010600030101010101" pitchFamily="2" charset="-122"/>
            </a:endParaRPr>
          </a:p>
        </p:txBody>
      </p:sp>
      <p:grpSp>
        <p:nvGrpSpPr>
          <p:cNvPr id="134148" name="组合 247815"/>
          <p:cNvGrpSpPr/>
          <p:nvPr/>
        </p:nvGrpSpPr>
        <p:grpSpPr>
          <a:xfrm>
            <a:off x="1981200" y="4841875"/>
            <a:ext cx="4953000" cy="1262063"/>
            <a:chOff x="1248" y="3050"/>
            <a:chExt cx="3120" cy="795"/>
          </a:xfrm>
        </p:grpSpPr>
        <p:graphicFrame>
          <p:nvGraphicFramePr>
            <p:cNvPr id="134149" name="对象 247812"/>
            <p:cNvGraphicFramePr/>
            <p:nvPr/>
          </p:nvGraphicFramePr>
          <p:xfrm>
            <a:off x="1248" y="3072"/>
            <a:ext cx="1104" cy="773"/>
          </p:xfrm>
          <a:graphic>
            <a:graphicData uri="http://schemas.openxmlformats.org/presentationml/2006/ole">
              <mc:AlternateContent xmlns:mc="http://schemas.openxmlformats.org/markup-compatibility/2006">
                <mc:Choice xmlns:v="urn:schemas-microsoft-com:vml" Requires="v">
                  <p:oleObj spid="_x0000_s3246" name="" r:id="rId3" imgW="761365" imgH="533400" progId="Equation.3">
                    <p:embed/>
                  </p:oleObj>
                </mc:Choice>
                <mc:Fallback>
                  <p:oleObj name="" r:id="rId3" imgW="761365" imgH="533400" progId="Equation.3">
                    <p:embed/>
                    <p:pic>
                      <p:nvPicPr>
                        <p:cNvPr id="0" name="图片 3245"/>
                        <p:cNvPicPr/>
                        <p:nvPr/>
                      </p:nvPicPr>
                      <p:blipFill>
                        <a:blip r:embed="rId4"/>
                        <a:stretch>
                          <a:fillRect/>
                        </a:stretch>
                      </p:blipFill>
                      <p:spPr>
                        <a:xfrm>
                          <a:off x="1248" y="3072"/>
                          <a:ext cx="1104" cy="773"/>
                        </a:xfrm>
                        <a:prstGeom prst="rect">
                          <a:avLst/>
                        </a:prstGeom>
                        <a:noFill/>
                        <a:ln w="38100">
                          <a:noFill/>
                          <a:miter/>
                        </a:ln>
                      </p:spPr>
                    </p:pic>
                  </p:oleObj>
                </mc:Fallback>
              </mc:AlternateContent>
            </a:graphicData>
          </a:graphic>
        </p:graphicFrame>
        <p:sp>
          <p:nvSpPr>
            <p:cNvPr id="134150" name="文本框 247813"/>
            <p:cNvSpPr txBox="1"/>
            <p:nvPr/>
          </p:nvSpPr>
          <p:spPr>
            <a:xfrm>
              <a:off x="2822" y="3050"/>
              <a:ext cx="1344"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|≤0.3π </a:t>
              </a:r>
              <a:endParaRPr lang="en-US" altLang="zh-CN" dirty="0">
                <a:latin typeface="Times New Roman" panose="02020603050405020304" pitchFamily="18" charset="0"/>
                <a:ea typeface="宋体" panose="02010600030101010101" pitchFamily="2" charset="-122"/>
              </a:endParaRPr>
            </a:p>
          </p:txBody>
        </p:sp>
        <p:sp>
          <p:nvSpPr>
            <p:cNvPr id="134151" name="文本框 247814"/>
            <p:cNvSpPr txBox="1"/>
            <p:nvPr/>
          </p:nvSpPr>
          <p:spPr>
            <a:xfrm>
              <a:off x="2832" y="3504"/>
              <a:ext cx="1536"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0.35π≤|</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 </a:t>
              </a:r>
              <a:endParaRPr lang="en-US" altLang="zh-CN" dirty="0">
                <a:latin typeface="Times New Roman" panose="02020603050405020304" pitchFamily="18" charset="0"/>
                <a:ea typeface="宋体" panose="02010600030101010101" pitchFamily="2" charset="-122"/>
              </a:endParaRPr>
            </a:p>
          </p:txBody>
        </p:sp>
      </p:grpSp>
    </p:spTree>
  </p:cSld>
  <p:clrMapOvr>
    <a:masterClrMapping/>
  </p:clrMapOvr>
  <p:transition>
    <p:zoom dir="in"/>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文本框 248833"/>
          <p:cNvSpPr txBox="1"/>
          <p:nvPr/>
        </p:nvSpPr>
        <p:spPr>
          <a:xfrm>
            <a:off x="4114800" y="4495800"/>
            <a:ext cx="1123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6-20</a:t>
            </a:r>
            <a:endParaRPr lang="en-US" altLang="zh-CN" dirty="0">
              <a:latin typeface="Times New Roman" panose="02020603050405020304" pitchFamily="18" charset="0"/>
              <a:ea typeface="宋体" panose="02010600030101010101" pitchFamily="2" charset="-122"/>
            </a:endParaRPr>
          </a:p>
        </p:txBody>
      </p:sp>
      <p:sp>
        <p:nvSpPr>
          <p:cNvPr id="135170" name="文本框 248834"/>
          <p:cNvSpPr txBox="1"/>
          <p:nvPr/>
        </p:nvSpPr>
        <p:spPr>
          <a:xfrm>
            <a:off x="304800" y="4799013"/>
            <a:ext cx="8610600" cy="1601787"/>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实际中，一般调用</a:t>
            </a:r>
            <a:r>
              <a:rPr lang="en-US" altLang="zh-CN" dirty="0">
                <a:latin typeface="Times New Roman" panose="02020603050405020304" pitchFamily="18" charset="0"/>
                <a:ea typeface="宋体" panose="02010600030101010101" pitchFamily="2" charset="-122"/>
              </a:rPr>
              <a:t>MATLAB</a:t>
            </a:r>
            <a:r>
              <a:rPr lang="zh-CN" altLang="en-US" dirty="0">
                <a:latin typeface="Times New Roman" panose="02020603050405020304" pitchFamily="18" charset="0"/>
                <a:ea typeface="宋体" panose="02010600030101010101" pitchFamily="2" charset="-122"/>
              </a:rPr>
              <a:t>信号处理工具箱函数</a:t>
            </a:r>
            <a:r>
              <a:rPr lang="en-US" altLang="zh-CN" dirty="0">
                <a:latin typeface="Times New Roman" panose="02020603050405020304" pitchFamily="18" charset="0"/>
                <a:ea typeface="宋体" panose="02010600030101010101" pitchFamily="2" charset="-122"/>
              </a:rPr>
              <a:t>remezord</a:t>
            </a:r>
            <a:r>
              <a:rPr lang="zh-CN" altLang="en-US" dirty="0">
                <a:latin typeface="Times New Roman" panose="02020603050405020304" pitchFamily="18" charset="0"/>
                <a:ea typeface="宋体" panose="02010600030101010101" pitchFamily="2" charset="-122"/>
              </a:rPr>
              <a:t>来计算等波纹滤波器阶数</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和加权函数</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，调用函数</a:t>
            </a:r>
            <a:r>
              <a:rPr lang="en-US" altLang="zh-CN" dirty="0">
                <a:latin typeface="Times New Roman" panose="02020603050405020304" pitchFamily="18" charset="0"/>
                <a:ea typeface="宋体" panose="02010600030101010101" pitchFamily="2" charset="-122"/>
              </a:rPr>
              <a:t>remezord</a:t>
            </a:r>
            <a:r>
              <a:rPr lang="zh-CN" altLang="en-US" dirty="0">
                <a:latin typeface="Times New Roman" panose="02020603050405020304" pitchFamily="18" charset="0"/>
                <a:ea typeface="宋体" panose="02010600030101010101" pitchFamily="2" charset="-122"/>
              </a:rPr>
              <a:t>直接求滤波器的单位脉冲响应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pic>
        <p:nvPicPr>
          <p:cNvPr id="135171" name="图片 248838" descr="6-20"/>
          <p:cNvPicPr>
            <a:picLocks noChangeAspect="1"/>
          </p:cNvPicPr>
          <p:nvPr/>
        </p:nvPicPr>
        <p:blipFill>
          <a:blip r:embed="rId1"/>
          <a:stretch>
            <a:fillRect/>
          </a:stretch>
        </p:blipFill>
        <p:spPr>
          <a:xfrm>
            <a:off x="1714500" y="549275"/>
            <a:ext cx="5715000" cy="3895725"/>
          </a:xfrm>
          <a:prstGeom prst="rect">
            <a:avLst/>
          </a:prstGeom>
          <a:noFill/>
          <a:ln w="9525">
            <a:noFill/>
          </a:ln>
        </p:spPr>
      </p:pic>
    </p:spTree>
  </p:cSld>
  <p:clrMapOvr>
    <a:masterClrMapping/>
  </p:clrMapOvr>
  <p:transition>
    <p:zoom dir="in"/>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文本框 249857"/>
          <p:cNvSpPr txBox="1"/>
          <p:nvPr/>
        </p:nvSpPr>
        <p:spPr>
          <a:xfrm>
            <a:off x="1676400" y="348298"/>
            <a:ext cx="6200775" cy="579437"/>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6.5 FIR</a:t>
            </a:r>
            <a:r>
              <a:rPr lang="zh-CN" altLang="en-US" sz="3200" b="1" dirty="0">
                <a:latin typeface="Times New Roman" panose="02020603050405020304" pitchFamily="18" charset="0"/>
                <a:ea typeface="宋体" panose="02010600030101010101" pitchFamily="2" charset="-122"/>
              </a:rPr>
              <a:t>滤波器和</a:t>
            </a:r>
            <a:r>
              <a:rPr lang="en-US" altLang="zh-CN" sz="3200" b="1" dirty="0">
                <a:latin typeface="Times New Roman" panose="02020603050405020304" pitchFamily="18" charset="0"/>
                <a:ea typeface="宋体" panose="02010600030101010101" pitchFamily="2" charset="-122"/>
              </a:rPr>
              <a:t>IIR</a:t>
            </a:r>
            <a:r>
              <a:rPr lang="zh-CN" altLang="en-US" sz="3200" b="1" dirty="0">
                <a:latin typeface="Times New Roman" panose="02020603050405020304" pitchFamily="18" charset="0"/>
                <a:ea typeface="宋体" panose="02010600030101010101" pitchFamily="2" charset="-122"/>
              </a:rPr>
              <a:t>滤波器的比较</a:t>
            </a:r>
            <a:endParaRPr lang="zh-CN" altLang="en-US" sz="3200" b="1" dirty="0">
              <a:latin typeface="Times New Roman" panose="02020603050405020304" pitchFamily="18" charset="0"/>
              <a:ea typeface="宋体" panose="02010600030101010101" pitchFamily="2" charset="-122"/>
            </a:endParaRPr>
          </a:p>
        </p:txBody>
      </p:sp>
      <p:sp>
        <p:nvSpPr>
          <p:cNvPr id="136194" name="文本框 249858"/>
          <p:cNvSpPr txBox="1"/>
          <p:nvPr/>
        </p:nvSpPr>
        <p:spPr>
          <a:xfrm>
            <a:off x="228600" y="693420"/>
            <a:ext cx="8686800" cy="6216015"/>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首先，</a:t>
            </a:r>
            <a:r>
              <a:rPr lang="zh-CN" altLang="en-US" b="1" u="sng" dirty="0">
                <a:solidFill>
                  <a:srgbClr val="FF0000"/>
                </a:solidFill>
                <a:latin typeface="Times New Roman" panose="02020603050405020304" pitchFamily="18" charset="0"/>
                <a:ea typeface="宋体" panose="02010600030101010101" pitchFamily="2" charset="-122"/>
              </a:rPr>
              <a:t>从性能上说</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滤波器可以用较少的阶数获得很高的选择特性，这样一来，所用存储单元少，运算次数少，较为经济而且效率高。但是这个高效率的代价是以相位的非线性得来的。 选择性越好，非线性越严重。</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相反，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滤波器可以得到严格的线性相位。 但是，如果需要获得一定的选择性，则要用较多的存储器和较多的运算，成本比较高， 信号延时也较大。然而，</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滤波器的这些缺点是相对于非线性相位的</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滤波器比较而言的。</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如果按相同的选择性和相同的相位线性要求的话， 那么，</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滤波器就必须加全通网络来进行相位校正，因此同样要大大增加滤波器的节数和复杂性。所以如果相位要求严格一点，那么采用</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滤波器不仅在性能上而且在经济上都将优于</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cxnSp>
        <p:nvCxnSpPr>
          <p:cNvPr id="2" name="直接连接符 1"/>
          <p:cNvCxnSpPr/>
          <p:nvPr/>
        </p:nvCxnSpPr>
        <p:spPr>
          <a:xfrm flipV="1">
            <a:off x="4398645" y="1628775"/>
            <a:ext cx="3478530" cy="33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1"/>
            </p:custDataLst>
          </p:nvPr>
        </p:nvCxnSpPr>
        <p:spPr>
          <a:xfrm flipV="1">
            <a:off x="1907540" y="5805170"/>
            <a:ext cx="3888740" cy="33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2"/>
            </p:custDataLst>
          </p:nvPr>
        </p:nvCxnSpPr>
        <p:spPr>
          <a:xfrm flipV="1">
            <a:off x="4478020" y="2132330"/>
            <a:ext cx="3478530" cy="3365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文本框 250881"/>
          <p:cNvSpPr txBox="1"/>
          <p:nvPr/>
        </p:nvSpPr>
        <p:spPr>
          <a:xfrm>
            <a:off x="304800" y="838200"/>
            <a:ext cx="8610600" cy="4746625"/>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从</a:t>
            </a:r>
            <a:r>
              <a:rPr lang="zh-CN" altLang="en-US" b="1" u="sng" dirty="0">
                <a:solidFill>
                  <a:srgbClr val="FF0000"/>
                </a:solidFill>
                <a:latin typeface="Times New Roman" panose="02020603050405020304" pitchFamily="18" charset="0"/>
                <a:ea typeface="宋体" panose="02010600030101010101" pitchFamily="2" charset="-122"/>
              </a:rPr>
              <a:t>结构上</a:t>
            </a:r>
            <a:r>
              <a:rPr lang="zh-CN" altLang="en-US" dirty="0">
                <a:latin typeface="Times New Roman" panose="02020603050405020304" pitchFamily="18" charset="0"/>
                <a:ea typeface="宋体" panose="02010600030101010101" pitchFamily="2" charset="-122"/>
              </a:rPr>
              <a:t>看，</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必须采用递归型结构， 极点位置必须在单位圆内</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否则</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系统将不稳定。此外，在这种结构中，由于运算过程中对序列的四舍五入处理， 有时会引起微弱的寄生振荡。相反，</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滤波器主要采用非递归结构，不论在理论上还是在实际的有限精度运算中都不存在稳定性问题，运算误差也较小。 此外，</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滤波器可以采用快速傅里叶变换算法，在相同阶数的条件下，运算速度可以快得多。 </a:t>
            </a:r>
            <a:endParaRPr lang="zh-CN" altLang="en-US" dirty="0">
              <a:latin typeface="Times New Roman" panose="02020603050405020304" pitchFamily="18" charset="0"/>
              <a:ea typeface="宋体" panose="02010600030101010101" pitchFamily="2" charset="-122"/>
            </a:endParaRPr>
          </a:p>
        </p:txBody>
      </p:sp>
      <p:cxnSp>
        <p:nvCxnSpPr>
          <p:cNvPr id="2" name="直接连接符 1"/>
          <p:cNvCxnSpPr/>
          <p:nvPr>
            <p:custDataLst>
              <p:tags r:id="rId1"/>
            </p:custDataLst>
          </p:nvPr>
        </p:nvCxnSpPr>
        <p:spPr>
          <a:xfrm>
            <a:off x="2915920" y="1484630"/>
            <a:ext cx="30962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2"/>
            </p:custDataLst>
          </p:nvPr>
        </p:nvCxnSpPr>
        <p:spPr>
          <a:xfrm>
            <a:off x="1403350" y="3500755"/>
            <a:ext cx="396049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文本框 251905"/>
          <p:cNvSpPr txBox="1"/>
          <p:nvPr/>
        </p:nvSpPr>
        <p:spPr>
          <a:xfrm>
            <a:off x="228600" y="685800"/>
            <a:ext cx="8686800" cy="4746625"/>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从</a:t>
            </a:r>
            <a:r>
              <a:rPr lang="zh-CN" altLang="en-US" b="1" u="sng" dirty="0">
                <a:solidFill>
                  <a:srgbClr val="FF0000"/>
                </a:solidFill>
                <a:latin typeface="Times New Roman" panose="02020603050405020304" pitchFamily="18" charset="0"/>
                <a:ea typeface="宋体" panose="02010600030101010101" pitchFamily="2" charset="-122"/>
              </a:rPr>
              <a:t>设计工作</a:t>
            </a:r>
            <a:r>
              <a:rPr lang="zh-CN" altLang="en-US" dirty="0">
                <a:latin typeface="Times New Roman" panose="02020603050405020304" pitchFamily="18" charset="0"/>
                <a:ea typeface="宋体" panose="02010600030101010101" pitchFamily="2" charset="-122"/>
              </a:rPr>
              <a:t>看，</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滤波器可以借助模拟滤波器的成果，一般都有有效的封闭函数的设计公式可供准确的计算。又有许多数据和表格可查， 设计计算的工作量比较小， 对计算工具的要求不高。</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滤波器设计则一般没有封闭函数的设计公式。 窗口法虽然仅仅对窗口函数可以给出计算公式，但计算通阻带衰减等仍无显式表达式。 一般，</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滤波器设计只有计算程序可循， 因此对计算工具要求较高。 </a:t>
            </a:r>
            <a:endParaRPr lang="zh-CN" altLang="en-US" dirty="0">
              <a:latin typeface="Times New Roman" panose="02020603050405020304" pitchFamily="18" charset="0"/>
              <a:ea typeface="宋体" panose="02010600030101010101" pitchFamily="2" charset="-122"/>
            </a:endParaRPr>
          </a:p>
        </p:txBody>
      </p:sp>
      <p:cxnSp>
        <p:nvCxnSpPr>
          <p:cNvPr id="2" name="直接连接符 1"/>
          <p:cNvCxnSpPr/>
          <p:nvPr>
            <p:custDataLst>
              <p:tags r:id="rId1"/>
            </p:custDataLst>
          </p:nvPr>
        </p:nvCxnSpPr>
        <p:spPr>
          <a:xfrm flipV="1">
            <a:off x="4787900" y="1412240"/>
            <a:ext cx="3478530" cy="33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2"/>
            </p:custDataLst>
          </p:nvPr>
        </p:nvCxnSpPr>
        <p:spPr>
          <a:xfrm flipV="1">
            <a:off x="5076190" y="4580890"/>
            <a:ext cx="3478530" cy="3365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文本框 252929"/>
          <p:cNvSpPr txBox="1"/>
          <p:nvPr/>
        </p:nvSpPr>
        <p:spPr>
          <a:xfrm>
            <a:off x="228600" y="838200"/>
            <a:ext cx="8610600" cy="4035425"/>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此外，还应看到，</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滤波器虽然设计简单， 但主要是用于设计具有片段常数特性的滤波器，如低、 高、带通及带阻等， 往往脱离不了模拟滤波器的格局。而</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滤波器则要灵活的多， 尤其是频率采样设计法更容易适应各种幅度特性和相位特性的要求， 可以设计出理想的正交变换、理想微分、线性调频等各种重要网络。 因而有更大适应性和更广阔的天地。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文本框 253953"/>
          <p:cNvSpPr txBox="1"/>
          <p:nvPr/>
        </p:nvSpPr>
        <p:spPr>
          <a:xfrm>
            <a:off x="228600" y="762000"/>
            <a:ext cx="8686800" cy="4746625"/>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从以上简单比较我们可以看到</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滤波器与</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滤波器各有所长，在实际应用时要从多方面考虑来加以选择。从使用要求来看， 如</a:t>
            </a:r>
            <a:r>
              <a:rPr lang="zh-CN" altLang="en-US" b="1" u="sng" dirty="0">
                <a:solidFill>
                  <a:srgbClr val="FF0000"/>
                </a:solidFill>
                <a:latin typeface="Times New Roman" panose="02020603050405020304" pitchFamily="18" charset="0"/>
                <a:ea typeface="宋体" panose="02010600030101010101" pitchFamily="2" charset="-122"/>
              </a:rPr>
              <a:t>对相位要求不敏感的语言通讯</a:t>
            </a:r>
            <a:r>
              <a:rPr lang="zh-CN" altLang="en-US" dirty="0">
                <a:latin typeface="Times New Roman" panose="02020603050405020304" pitchFamily="18" charset="0"/>
                <a:ea typeface="宋体" panose="02010600030101010101" pitchFamily="2" charset="-122"/>
              </a:rPr>
              <a:t>等</a:t>
            </a:r>
            <a:r>
              <a:rPr lang="zh-CN" altLang="en-US" b="1" u="sng" dirty="0">
                <a:solidFill>
                  <a:srgbClr val="FF0000"/>
                </a:solidFill>
                <a:latin typeface="Times New Roman" panose="02020603050405020304" pitchFamily="18" charset="0"/>
                <a:ea typeface="宋体" panose="02010600030101010101" pitchFamily="2" charset="-122"/>
              </a:rPr>
              <a:t>， 选用</a:t>
            </a:r>
            <a:r>
              <a:rPr lang="en-US" altLang="zh-CN" b="1" u="sng" dirty="0">
                <a:solidFill>
                  <a:srgbClr val="FF0000"/>
                </a:solidFill>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较为合适。而</a:t>
            </a:r>
            <a:r>
              <a:rPr lang="zh-CN" altLang="en-US" b="1" u="sng" dirty="0">
                <a:solidFill>
                  <a:schemeClr val="accent2"/>
                </a:solidFill>
                <a:latin typeface="Times New Roman" panose="02020603050405020304" pitchFamily="18" charset="0"/>
                <a:ea typeface="宋体" panose="02010600030101010101" pitchFamily="2" charset="-122"/>
              </a:rPr>
              <a:t>对图像信号处理、数据传输等以波形携带信息的系</a:t>
            </a:r>
            <a:r>
              <a:rPr lang="zh-CN" altLang="en-US" dirty="0">
                <a:latin typeface="Times New Roman" panose="02020603050405020304" pitchFamily="18" charset="0"/>
                <a:ea typeface="宋体" panose="02010600030101010101" pitchFamily="2" charset="-122"/>
              </a:rPr>
              <a:t>统，一般对线性相位要求较高，这时</a:t>
            </a:r>
            <a:r>
              <a:rPr lang="zh-CN" altLang="en-US" b="1" u="sng" dirty="0">
                <a:solidFill>
                  <a:schemeClr val="accent2"/>
                </a:solidFill>
                <a:latin typeface="Times New Roman" panose="02020603050405020304" pitchFamily="18" charset="0"/>
                <a:ea typeface="宋体" panose="02010600030101010101" pitchFamily="2" charset="-122"/>
              </a:rPr>
              <a:t>采用</a:t>
            </a:r>
            <a:r>
              <a:rPr lang="en-US" altLang="zh-CN" b="1" u="sng" dirty="0">
                <a:solidFill>
                  <a:schemeClr val="accent2"/>
                </a:solidFill>
                <a:latin typeface="Times New Roman" panose="02020603050405020304" pitchFamily="18" charset="0"/>
                <a:ea typeface="宋体" panose="02010600030101010101" pitchFamily="2" charset="-122"/>
              </a:rPr>
              <a:t>FIR</a:t>
            </a:r>
            <a:r>
              <a:rPr lang="zh-CN" altLang="en-US" b="1" u="sng" dirty="0">
                <a:solidFill>
                  <a:schemeClr val="accent2"/>
                </a:solidFill>
                <a:latin typeface="Times New Roman" panose="02020603050405020304" pitchFamily="18" charset="0"/>
                <a:ea typeface="宋体" panose="02010600030101010101" pitchFamily="2" charset="-122"/>
              </a:rPr>
              <a:t>滤波器</a:t>
            </a:r>
            <a:r>
              <a:rPr lang="zh-CN" altLang="en-US" dirty="0">
                <a:latin typeface="Times New Roman" panose="02020603050405020304" pitchFamily="18" charset="0"/>
                <a:ea typeface="宋体" panose="02010600030101010101" pitchFamily="2" charset="-122"/>
              </a:rPr>
              <a:t>较好。当然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在实际设计中</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还应综合考虑经济上的要求以及计算工具的条件等多方面的因素。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文本框 254977"/>
          <p:cNvSpPr txBox="1"/>
          <p:nvPr/>
        </p:nvSpPr>
        <p:spPr>
          <a:xfrm>
            <a:off x="2700338" y="617538"/>
            <a:ext cx="4159250" cy="579437"/>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6.6 </a:t>
            </a:r>
            <a:r>
              <a:rPr lang="zh-CN" altLang="en-US" sz="3200" b="1" dirty="0">
                <a:latin typeface="Times New Roman" panose="02020603050405020304" pitchFamily="18" charset="0"/>
                <a:ea typeface="宋体" panose="02010600030101010101" pitchFamily="2" charset="-122"/>
              </a:rPr>
              <a:t>数字滤波器的应用 </a:t>
            </a:r>
            <a:endParaRPr lang="zh-CN" altLang="en-US" sz="3200" b="1" dirty="0">
              <a:latin typeface="Times New Roman" panose="02020603050405020304" pitchFamily="18" charset="0"/>
              <a:ea typeface="宋体" panose="02010600030101010101" pitchFamily="2" charset="-122"/>
            </a:endParaRPr>
          </a:p>
        </p:txBody>
      </p:sp>
      <p:sp>
        <p:nvSpPr>
          <p:cNvPr id="141314" name="文本框 254978"/>
          <p:cNvSpPr txBox="1"/>
          <p:nvPr/>
        </p:nvSpPr>
        <p:spPr>
          <a:xfrm>
            <a:off x="446088" y="1179513"/>
            <a:ext cx="8447087" cy="5042535"/>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6.6.1 </a:t>
            </a:r>
            <a:r>
              <a:rPr lang="zh-CN" altLang="en-US" b="1" dirty="0">
                <a:latin typeface="Times New Roman" panose="02020603050405020304" pitchFamily="18" charset="0"/>
                <a:ea typeface="宋体" panose="02010600030101010101" pitchFamily="2" charset="-122"/>
              </a:rPr>
              <a:t>信号消噪</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滤波技术是信号消噪的基本方法。</a:t>
            </a:r>
            <a:r>
              <a:rPr lang="zh-CN" altLang="en-US" dirty="0">
                <a:latin typeface="Times New Roman" panose="02020603050405020304" pitchFamily="18" charset="0"/>
                <a:ea typeface="宋体" panose="02010600030101010101" pitchFamily="2" charset="-122"/>
              </a:rPr>
              <a:t>根据噪声频率分量的不同， 可选用具有不同滤波特性的滤波器。当噪声的频率高于信号的频率时， 应选用低通滤波器； 反之，选用高通滤波器。当噪声的频率低于和高于信号的频率时，应选用带通滤波器。 当噪声的频率处于信号的频率范围时， 应选用带阻滤波器。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对</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滤波器，滤波器设计的结果是它的单位脉冲响应</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由第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章 </a:t>
            </a:r>
            <a:r>
              <a:rPr lang="en-US" altLang="zh-CN" dirty="0">
                <a:latin typeface="Times New Roman" panose="02020603050405020304" pitchFamily="18" charset="0"/>
                <a:ea typeface="宋体" panose="02010600030101010101" pitchFamily="2" charset="-122"/>
              </a:rPr>
              <a:t>1.3 </a:t>
            </a:r>
            <a:r>
              <a:rPr lang="zh-CN" altLang="en-US" dirty="0">
                <a:latin typeface="Times New Roman" panose="02020603050405020304" pitchFamily="18" charset="0"/>
                <a:ea typeface="宋体" panose="02010600030101010101" pitchFamily="2" charset="-122"/>
              </a:rPr>
              <a:t>节可知，含噪信号</a:t>
            </a:r>
            <a:r>
              <a:rPr lang="en-US" altLang="zh-CN" dirty="0">
                <a:latin typeface="Times New Roman" panose="02020603050405020304" pitchFamily="18" charset="0"/>
                <a:ea typeface="宋体" panose="02010600030101010101" pitchFamily="2" charset="-122"/>
              </a:rPr>
              <a:t>x(n)</a:t>
            </a:r>
            <a:r>
              <a:rPr lang="zh-CN" altLang="en-US" dirty="0">
                <a:latin typeface="Times New Roman" panose="02020603050405020304" pitchFamily="18" charset="0"/>
                <a:ea typeface="宋体" panose="02010600030101010101" pitchFamily="2" charset="-122"/>
              </a:rPr>
              <a:t>经过滤波器的输出</a:t>
            </a:r>
            <a:r>
              <a:rPr lang="en-US" altLang="zh-CN" i="1" dirty="0">
                <a:latin typeface="Times New Roman" panose="02020603050405020304" pitchFamily="18" charset="0"/>
                <a:ea typeface="宋体" panose="02010600030101010101" pitchFamily="2" charset="-122"/>
              </a:rPr>
              <a:t>y</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dirty="0">
              <a:latin typeface="Times New Roman" panose="02020603050405020304" pitchFamily="18" charset="0"/>
              <a:ea typeface="宋体" panose="02010600030101010101" pitchFamily="2" charset="-122"/>
            </a:endParaRPr>
          </a:p>
        </p:txBody>
      </p:sp>
      <p:graphicFrame>
        <p:nvGraphicFramePr>
          <p:cNvPr id="142337" name="对象 256001"/>
          <p:cNvGraphicFramePr/>
          <p:nvPr>
            <p:custDataLst>
              <p:tags r:id="rId1"/>
            </p:custDataLst>
          </p:nvPr>
        </p:nvGraphicFramePr>
        <p:xfrm>
          <a:off x="1475740" y="5732780"/>
          <a:ext cx="5041900" cy="941388"/>
        </p:xfrm>
        <a:graphic>
          <a:graphicData uri="http://schemas.openxmlformats.org/presentationml/2006/ole">
            <mc:AlternateContent xmlns:mc="http://schemas.openxmlformats.org/markup-compatibility/2006">
              <mc:Choice xmlns:v="urn:schemas-microsoft-com:vml" Requires="v">
                <p:oleObj spid="_x0000_s3249" name="" r:id="rId2" imgW="2310130" imgH="431800" progId="Equation.3">
                  <p:embed/>
                </p:oleObj>
              </mc:Choice>
              <mc:Fallback>
                <p:oleObj name="" r:id="rId2" imgW="2310130" imgH="431800" progId="Equation.3">
                  <p:embed/>
                  <p:pic>
                    <p:nvPicPr>
                      <p:cNvPr id="0" name="图片 3248"/>
                      <p:cNvPicPr/>
                      <p:nvPr/>
                    </p:nvPicPr>
                    <p:blipFill>
                      <a:blip r:embed="rId3"/>
                      <a:stretch>
                        <a:fillRect/>
                      </a:stretch>
                    </p:blipFill>
                    <p:spPr>
                      <a:xfrm>
                        <a:off x="1475740" y="5732780"/>
                        <a:ext cx="5041900" cy="941388"/>
                      </a:xfrm>
                      <a:prstGeom prst="rect">
                        <a:avLst/>
                      </a:prstGeom>
                      <a:solidFill>
                        <a:schemeClr val="accent1"/>
                      </a:solidFill>
                      <a:ln w="38100">
                        <a:noFill/>
                        <a:miter/>
                      </a:ln>
                    </p:spPr>
                  </p:pic>
                </p:oleObj>
              </mc:Fallback>
            </mc:AlternateContent>
          </a:graphicData>
        </a:graphic>
      </p:graphicFrame>
      <p:sp>
        <p:nvSpPr>
          <p:cNvPr id="142338" name="文本框 256002"/>
          <p:cNvSpPr txBox="1"/>
          <p:nvPr>
            <p:custDataLst>
              <p:tags r:id="rId4"/>
            </p:custDataLst>
          </p:nvPr>
        </p:nvSpPr>
        <p:spPr>
          <a:xfrm>
            <a:off x="7403465" y="6002655"/>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(6-78)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9" name="文本框 256003"/>
          <p:cNvSpPr txBox="1"/>
          <p:nvPr/>
        </p:nvSpPr>
        <p:spPr>
          <a:xfrm>
            <a:off x="260350" y="980440"/>
            <a:ext cx="8686800" cy="1735138"/>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滤波器，滤波器设计的结果是它的系统函数</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（即它的分子、分母多项式的系数</a:t>
            </a:r>
            <a:r>
              <a:rPr lang="en-US" altLang="zh-CN" i="1" dirty="0">
                <a:latin typeface="Times New Roman" panose="02020603050405020304" pitchFamily="18" charset="0"/>
                <a:ea typeface="宋体" panose="02010600030101010101" pitchFamily="2" charset="-122"/>
              </a:rPr>
              <a:t>b, a</a:t>
            </a:r>
            <a:r>
              <a:rPr lang="zh-CN" altLang="en-US" dirty="0">
                <a:latin typeface="Times New Roman" panose="02020603050405020304" pitchFamily="18" charset="0"/>
                <a:ea typeface="宋体" panose="02010600030101010101" pitchFamily="2" charset="-122"/>
              </a:rPr>
              <a:t>）。由第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章可知， 含噪信号</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经过滤波器的输出</a:t>
            </a:r>
            <a:r>
              <a:rPr lang="en-US" altLang="zh-CN" i="1" dirty="0">
                <a:latin typeface="Times New Roman" panose="02020603050405020304" pitchFamily="18" charset="0"/>
                <a:ea typeface="宋体" panose="02010600030101010101" pitchFamily="2" charset="-122"/>
              </a:rPr>
              <a:t>y</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a:t>
            </a:r>
            <a:r>
              <a:rPr lang="en-US" altLang="zh-CN" i="1" dirty="0">
                <a:latin typeface="Times New Roman" panose="02020603050405020304" pitchFamily="18" charset="0"/>
                <a:ea typeface="宋体" panose="02010600030101010101" pitchFamily="2" charset="-122"/>
              </a:rPr>
              <a:t>H</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对应的差分方程的解。即 </a:t>
            </a:r>
            <a:endParaRPr lang="zh-CN" altLang="en-US" dirty="0">
              <a:latin typeface="Times New Roman" panose="02020603050405020304" pitchFamily="18" charset="0"/>
              <a:ea typeface="宋体" panose="02010600030101010101" pitchFamily="2" charset="-122"/>
            </a:endParaRPr>
          </a:p>
        </p:txBody>
      </p:sp>
      <p:graphicFrame>
        <p:nvGraphicFramePr>
          <p:cNvPr id="142340" name="对象 256004"/>
          <p:cNvGraphicFramePr/>
          <p:nvPr/>
        </p:nvGraphicFramePr>
        <p:xfrm>
          <a:off x="1835468" y="3212465"/>
          <a:ext cx="4848225" cy="941388"/>
        </p:xfrm>
        <a:graphic>
          <a:graphicData uri="http://schemas.openxmlformats.org/presentationml/2006/ole">
            <mc:AlternateContent xmlns:mc="http://schemas.openxmlformats.org/markup-compatibility/2006">
              <mc:Choice xmlns:v="urn:schemas-microsoft-com:vml" Requires="v">
                <p:oleObj spid="_x0000_s3250" name="" r:id="rId1" imgW="2221230" imgH="431800" progId="Equation.3">
                  <p:embed/>
                </p:oleObj>
              </mc:Choice>
              <mc:Fallback>
                <p:oleObj name="" r:id="rId1" imgW="2221230" imgH="431800" progId="Equation.3">
                  <p:embed/>
                  <p:pic>
                    <p:nvPicPr>
                      <p:cNvPr id="0" name="图片 3249"/>
                      <p:cNvPicPr/>
                      <p:nvPr/>
                    </p:nvPicPr>
                    <p:blipFill>
                      <a:blip r:embed="rId2"/>
                      <a:stretch>
                        <a:fillRect/>
                      </a:stretch>
                    </p:blipFill>
                    <p:spPr>
                      <a:xfrm>
                        <a:off x="1835468" y="3212465"/>
                        <a:ext cx="4848225" cy="941388"/>
                      </a:xfrm>
                      <a:prstGeom prst="rect">
                        <a:avLst/>
                      </a:prstGeom>
                      <a:solidFill>
                        <a:schemeClr val="accent1"/>
                      </a:solidFill>
                      <a:ln w="38100">
                        <a:noFill/>
                        <a:miter/>
                      </a:ln>
                    </p:spPr>
                  </p:pic>
                </p:oleObj>
              </mc:Fallback>
            </mc:AlternateContent>
          </a:graphicData>
        </a:graphic>
      </p:graphicFrame>
      <p:sp>
        <p:nvSpPr>
          <p:cNvPr id="142341" name="文本框 256005"/>
          <p:cNvSpPr txBox="1"/>
          <p:nvPr/>
        </p:nvSpPr>
        <p:spPr>
          <a:xfrm>
            <a:off x="7740650" y="335661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(6-79) </a:t>
            </a:r>
            <a:endParaRPr lang="en-US" altLang="zh-CN" dirty="0">
              <a:latin typeface="Times New Roman" panose="02020603050405020304" pitchFamily="18" charset="0"/>
              <a:ea typeface="宋体" panose="02010600030101010101" pitchFamily="2" charset="-122"/>
            </a:endParaRPr>
          </a:p>
        </p:txBody>
      </p:sp>
      <p:sp>
        <p:nvSpPr>
          <p:cNvPr id="142342" name="文本框 256006"/>
          <p:cNvSpPr txBox="1"/>
          <p:nvPr/>
        </p:nvSpPr>
        <p:spPr>
          <a:xfrm>
            <a:off x="228600" y="4652645"/>
            <a:ext cx="8686800" cy="1187450"/>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上面两式是利用滤波器在时域中消噪，而例</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是利用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在频域中消噪。下面利用滤波器时域滤波重做这个例子。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文本框 257025"/>
          <p:cNvSpPr txBox="1"/>
          <p:nvPr/>
        </p:nvSpPr>
        <p:spPr>
          <a:xfrm>
            <a:off x="228600" y="371475"/>
            <a:ext cx="8686800" cy="6216650"/>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6-11]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在例</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中，语音信号含有强烈噪声，如图</a:t>
            </a:r>
            <a:r>
              <a:rPr lang="en-US" altLang="zh-CN" dirty="0">
                <a:latin typeface="Times New Roman" panose="02020603050405020304" pitchFamily="18" charset="0"/>
                <a:ea typeface="宋体" panose="02010600030101010101" pitchFamily="2" charset="-122"/>
              </a:rPr>
              <a:t>6-20(a)</a:t>
            </a:r>
            <a:r>
              <a:rPr lang="zh-CN" altLang="en-US" dirty="0">
                <a:latin typeface="Times New Roman" panose="02020603050405020304" pitchFamily="18" charset="0"/>
                <a:ea typeface="宋体" panose="02010600030101010101" pitchFamily="2" charset="-122"/>
              </a:rPr>
              <a:t>， 试设计</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滤波器消噪。</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已知噪声的频率高于信号的频率，故选用低通滤波器。取样频率为 </a:t>
            </a:r>
            <a:r>
              <a:rPr lang="en-US" altLang="zh-CN" dirty="0">
                <a:latin typeface="Times New Roman" panose="02020603050405020304" pitchFamily="18" charset="0"/>
                <a:ea typeface="宋体" panose="02010600030101010101" pitchFamily="2" charset="-122"/>
              </a:rPr>
              <a:t>8kHz</a:t>
            </a:r>
            <a:r>
              <a:rPr lang="zh-CN" altLang="en-US" dirty="0">
                <a:latin typeface="Times New Roman" panose="02020603050405020304" pitchFamily="18" charset="0"/>
                <a:ea typeface="宋体" panose="02010600030101010101" pitchFamily="2" charset="-122"/>
              </a:rPr>
              <a:t>，取通带边缘频率</a:t>
            </a:r>
            <a:r>
              <a:rPr lang="en-US" altLang="zh-CN" i="1" dirty="0">
                <a:latin typeface="Times New Roman" panose="02020603050405020304" pitchFamily="18" charset="0"/>
                <a:ea typeface="宋体" panose="02010600030101010101" pitchFamily="2" charset="-122"/>
              </a:rPr>
              <a:t>f</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=1k</a:t>
            </a:r>
            <a:r>
              <a:rPr lang="zh-CN" altLang="en-US" dirty="0">
                <a:latin typeface="Times New Roman" panose="02020603050405020304" pitchFamily="18" charset="0"/>
                <a:ea typeface="宋体" panose="02010600030101010101" pitchFamily="2" charset="-122"/>
              </a:rPr>
              <a:t>Ｈ</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对应数字频率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f</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/8=0.25π</a:t>
            </a:r>
            <a:r>
              <a:rPr lang="zh-CN" altLang="en-US" dirty="0">
                <a:latin typeface="Times New Roman" panose="02020603050405020304" pitchFamily="18" charset="0"/>
                <a:ea typeface="宋体" panose="02010600030101010101" pitchFamily="2" charset="-122"/>
              </a:rPr>
              <a:t>，取阻带边缘频率</a:t>
            </a:r>
            <a:r>
              <a:rPr lang="en-US" altLang="zh-CN" i="1" dirty="0">
                <a:latin typeface="Times New Roman" panose="02020603050405020304" pitchFamily="18" charset="0"/>
                <a:ea typeface="宋体" panose="02010600030101010101" pitchFamily="2" charset="-122"/>
              </a:rPr>
              <a:t>f</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=2 kHz</a:t>
            </a:r>
            <a:r>
              <a:rPr lang="zh-CN" altLang="en-US" dirty="0">
                <a:latin typeface="Times New Roman" panose="02020603050405020304" pitchFamily="18" charset="0"/>
                <a:ea typeface="宋体" panose="02010600030101010101" pitchFamily="2" charset="-122"/>
              </a:rPr>
              <a:t>（注意不要和取样频率的符号混淆），对应数字频率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=0.5π</a:t>
            </a:r>
            <a:r>
              <a:rPr lang="zh-CN" altLang="en-US" dirty="0">
                <a:latin typeface="Times New Roman" panose="02020603050405020304" pitchFamily="18" charset="0"/>
                <a:ea typeface="宋体" panose="02010600030101010101" pitchFamily="2" charset="-122"/>
              </a:rPr>
              <a:t>，通带允许波动</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=1dB</a:t>
            </a:r>
            <a:r>
              <a:rPr lang="zh-CN" altLang="en-US" dirty="0">
                <a:latin typeface="Times New Roman" panose="02020603050405020304" pitchFamily="18" charset="0"/>
                <a:ea typeface="宋体" panose="02010600030101010101" pitchFamily="2" charset="-122"/>
              </a:rPr>
              <a:t>，阻带最小衰减</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=50 dB</a:t>
            </a:r>
            <a:r>
              <a:rPr lang="zh-CN" altLang="en-US" dirty="0">
                <a:latin typeface="Times New Roman" panose="02020603050405020304" pitchFamily="18" charset="0"/>
                <a:ea typeface="宋体" panose="02010600030101010101" pitchFamily="2" charset="-122"/>
              </a:rPr>
              <a:t>，分别利用窗函数法和双线性变换法设计</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（类似例</a:t>
            </a:r>
            <a:r>
              <a:rPr lang="en-US" altLang="zh-CN" dirty="0">
                <a:latin typeface="Times New Roman" panose="02020603050405020304" pitchFamily="18" charset="0"/>
                <a:ea typeface="宋体" panose="02010600030101010101" pitchFamily="2" charset="-122"/>
              </a:rPr>
              <a:t>6-7</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滤波器，如图</a:t>
            </a:r>
            <a:r>
              <a:rPr lang="en-US" altLang="zh-CN" dirty="0">
                <a:latin typeface="Times New Roman" panose="02020603050405020304" pitchFamily="18" charset="0"/>
                <a:ea typeface="宋体" panose="02010600030101010101" pitchFamily="2" charset="-122"/>
              </a:rPr>
              <a:t>6-20(b)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在分别经过式（</a:t>
            </a:r>
            <a:r>
              <a:rPr lang="en-US" altLang="zh-CN" dirty="0">
                <a:latin typeface="Times New Roman" panose="02020603050405020304" pitchFamily="18" charset="0"/>
                <a:ea typeface="宋体" panose="02010600030101010101" pitchFamily="2" charset="-122"/>
              </a:rPr>
              <a:t>6-78</a:t>
            </a:r>
            <a:r>
              <a:rPr lang="zh-CN" altLang="en-US" dirty="0">
                <a:latin typeface="Times New Roman" panose="02020603050405020304" pitchFamily="18" charset="0"/>
                <a:ea typeface="宋体" panose="02010600030101010101" pitchFamily="2" charset="-122"/>
              </a:rPr>
              <a:t>）、 式（</a:t>
            </a:r>
            <a:r>
              <a:rPr lang="en-US" altLang="zh-CN" dirty="0">
                <a:latin typeface="Times New Roman" panose="02020603050405020304" pitchFamily="18" charset="0"/>
                <a:ea typeface="宋体" panose="02010600030101010101" pitchFamily="2" charset="-122"/>
              </a:rPr>
              <a:t>6-79</a:t>
            </a:r>
            <a:r>
              <a:rPr lang="zh-CN" altLang="en-US" dirty="0">
                <a:latin typeface="Times New Roman" panose="02020603050405020304" pitchFamily="18" charset="0"/>
                <a:ea typeface="宋体" panose="02010600030101010101" pitchFamily="2" charset="-122"/>
              </a:rPr>
              <a:t>）程序滤波处理得到图</a:t>
            </a:r>
            <a:r>
              <a:rPr lang="en-US" altLang="zh-CN" dirty="0">
                <a:latin typeface="Times New Roman" panose="02020603050405020304" pitchFamily="18" charset="0"/>
                <a:ea typeface="宋体" panose="02010600030101010101" pitchFamily="2" charset="-122"/>
              </a:rPr>
              <a:t>6-20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 可见消噪效果明显。</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如选用海明窗，则</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滤波器的长度</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=8π/(0.5π-0.25π)=32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滤波器的长度</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=18</a:t>
            </a:r>
            <a:r>
              <a:rPr lang="zh-CN" altLang="en-US" dirty="0">
                <a:latin typeface="Times New Roman" panose="02020603050405020304" pitchFamily="18" charset="0"/>
                <a:ea typeface="宋体" panose="02010600030101010101" pitchFamily="2" charset="-122"/>
              </a:rPr>
              <a:t>，相差</a:t>
            </a:r>
            <a:r>
              <a:rPr lang="en-US" altLang="zh-CN" dirty="0">
                <a:latin typeface="Times New Roman" panose="02020603050405020304" pitchFamily="18" charset="0"/>
                <a:ea typeface="宋体" panose="02010600030101010101" pitchFamily="2" charset="-122"/>
              </a:rPr>
              <a:t>1.8</a:t>
            </a:r>
            <a:r>
              <a:rPr lang="zh-CN" altLang="en-US" dirty="0">
                <a:latin typeface="Times New Roman" panose="02020603050405020304" pitchFamily="18" charset="0"/>
                <a:ea typeface="宋体" panose="02010600030101010101" pitchFamily="2" charset="-122"/>
              </a:rPr>
              <a:t>倍。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文本框 258049"/>
          <p:cNvSpPr txBox="1"/>
          <p:nvPr/>
        </p:nvSpPr>
        <p:spPr>
          <a:xfrm>
            <a:off x="3132138" y="5876925"/>
            <a:ext cx="3105150" cy="457200"/>
          </a:xfrm>
          <a:prstGeom prst="rect">
            <a:avLst/>
          </a:prstGeom>
          <a:solidFill>
            <a:schemeClr val="bg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6-21 </a:t>
            </a:r>
            <a:r>
              <a:rPr lang="zh-CN" altLang="en-US" dirty="0">
                <a:latin typeface="Times New Roman" panose="02020603050405020304" pitchFamily="18" charset="0"/>
                <a:ea typeface="宋体" panose="02010600030101010101" pitchFamily="2" charset="-122"/>
              </a:rPr>
              <a:t>语音信号消噪 </a:t>
            </a:r>
            <a:endParaRPr lang="zh-CN" altLang="en-US" dirty="0">
              <a:latin typeface="Times New Roman" panose="02020603050405020304" pitchFamily="18" charset="0"/>
              <a:ea typeface="宋体" panose="02010600030101010101" pitchFamily="2" charset="-122"/>
            </a:endParaRPr>
          </a:p>
        </p:txBody>
      </p:sp>
      <p:pic>
        <p:nvPicPr>
          <p:cNvPr id="144386" name="图片 258052" descr="6-21"/>
          <p:cNvPicPr>
            <a:picLocks noChangeAspect="1"/>
          </p:cNvPicPr>
          <p:nvPr/>
        </p:nvPicPr>
        <p:blipFill>
          <a:blip r:embed="rId1"/>
          <a:stretch>
            <a:fillRect/>
          </a:stretch>
        </p:blipFill>
        <p:spPr>
          <a:xfrm>
            <a:off x="2411413" y="836613"/>
            <a:ext cx="4560887" cy="4718050"/>
          </a:xfrm>
          <a:prstGeom prst="rect">
            <a:avLst/>
          </a:prstGeom>
          <a:noFill/>
          <a:ln w="9525">
            <a:noFill/>
          </a:ln>
        </p:spPr>
      </p:pic>
    </p:spTree>
  </p:cSld>
  <p:clrMapOvr>
    <a:masterClrMapping/>
  </p:clrMapOvr>
  <p:transition>
    <p:zoom dir="in"/>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文本框 259073"/>
          <p:cNvSpPr txBox="1"/>
          <p:nvPr/>
        </p:nvSpPr>
        <p:spPr>
          <a:xfrm>
            <a:off x="228600" y="533400"/>
            <a:ext cx="8763000" cy="5737225"/>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6.6.2 </a:t>
            </a:r>
            <a:r>
              <a:rPr lang="zh-CN" altLang="en-US" b="1" dirty="0">
                <a:latin typeface="Times New Roman" panose="02020603050405020304" pitchFamily="18" charset="0"/>
                <a:ea typeface="宋体" panose="02010600030101010101" pitchFamily="2" charset="-122"/>
              </a:rPr>
              <a:t>不同频带信号的分离</a:t>
            </a:r>
            <a:endParaRPr lang="zh-CN" altLang="en-US" b="1"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在信号处理中，常遇到需要分离信号的不同频带分量， 这可以利用滤波器来完成。 例如，通讯中的子带编码， </a:t>
            </a:r>
            <a:r>
              <a:rPr lang="zh-CN" altLang="en-US" dirty="0">
                <a:latin typeface="Courier New" panose="02070309020205020404" pitchFamily="49"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子带</a:t>
            </a:r>
            <a:r>
              <a:rPr lang="zh-CN" altLang="en-US" dirty="0">
                <a:latin typeface="Courier New" panose="02070309020205020404" pitchFamily="49"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就是指不同频带。 子带编码首先需要将信号按不同频带分离， 然后根据不同频带分量特点设置比特数。 </a:t>
            </a:r>
            <a:r>
              <a:rPr lang="en-US" altLang="zh-CN" dirty="0">
                <a:latin typeface="Courier New" panose="02070309020205020404" pitchFamily="49"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6-12</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设信号</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是两个不同频率（</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400Hz</a:t>
            </a:r>
            <a:r>
              <a:rPr lang="zh-CN" altLang="en-US" dirty="0">
                <a:latin typeface="Times New Roman" panose="02020603050405020304" pitchFamily="18" charset="0"/>
                <a:ea typeface="宋体" panose="02010600030101010101" pitchFamily="2" charset="-122"/>
              </a:rPr>
              <a:t>）的正弦波叠加，如图</a:t>
            </a:r>
            <a:r>
              <a:rPr lang="en-US" altLang="zh-CN" dirty="0">
                <a:latin typeface="Times New Roman" panose="02020603050405020304" pitchFamily="18" charset="0"/>
                <a:ea typeface="宋体" panose="02010600030101010101" pitchFamily="2" charset="-122"/>
              </a:rPr>
              <a:t>6-21</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）。试将两分量分离。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利用双线性变换法设计</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型低通、高通滤波器，如图</a:t>
            </a:r>
            <a:r>
              <a:rPr lang="en-US" altLang="zh-CN" dirty="0">
                <a:latin typeface="Times New Roman" panose="02020603050405020304" pitchFamily="18" charset="0"/>
                <a:ea typeface="宋体" panose="02010600030101010101" pitchFamily="2" charset="-122"/>
              </a:rPr>
              <a:t>6-21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 信号</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分别经过低通、高通滤波器输出如图</a:t>
            </a:r>
            <a:r>
              <a:rPr lang="en-US" altLang="zh-CN" dirty="0">
                <a:latin typeface="Times New Roman" panose="02020603050405020304" pitchFamily="18" charset="0"/>
                <a:ea typeface="宋体" panose="02010600030101010101" pitchFamily="2" charset="-122"/>
              </a:rPr>
              <a:t>6-21(d)</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 可见两个不同频率的正弦波已完全分离。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文本框 260097"/>
          <p:cNvSpPr txBox="1"/>
          <p:nvPr/>
        </p:nvSpPr>
        <p:spPr>
          <a:xfrm>
            <a:off x="3492500" y="5661025"/>
            <a:ext cx="2495550" cy="457200"/>
          </a:xfrm>
          <a:prstGeom prst="rect">
            <a:avLst/>
          </a:prstGeom>
          <a:solidFill>
            <a:schemeClr val="bg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6-22 </a:t>
            </a:r>
            <a:r>
              <a:rPr lang="zh-CN" altLang="en-US" dirty="0">
                <a:latin typeface="Times New Roman" panose="02020603050405020304" pitchFamily="18" charset="0"/>
                <a:ea typeface="宋体" panose="02010600030101010101" pitchFamily="2" charset="-122"/>
              </a:rPr>
              <a:t>信号分离 </a:t>
            </a:r>
            <a:endParaRPr lang="zh-CN" altLang="en-US" dirty="0">
              <a:latin typeface="Times New Roman" panose="02020603050405020304" pitchFamily="18" charset="0"/>
              <a:ea typeface="宋体" panose="02010600030101010101" pitchFamily="2" charset="-122"/>
            </a:endParaRPr>
          </a:p>
        </p:txBody>
      </p:sp>
      <p:pic>
        <p:nvPicPr>
          <p:cNvPr id="146434" name="图片 260101" descr="6-22"/>
          <p:cNvPicPr>
            <a:picLocks noChangeAspect="1"/>
          </p:cNvPicPr>
          <p:nvPr/>
        </p:nvPicPr>
        <p:blipFill>
          <a:blip r:embed="rId1"/>
          <a:stretch>
            <a:fillRect/>
          </a:stretch>
        </p:blipFill>
        <p:spPr>
          <a:xfrm>
            <a:off x="1763713" y="765175"/>
            <a:ext cx="5472112" cy="4568825"/>
          </a:xfrm>
          <a:prstGeom prst="rect">
            <a:avLst/>
          </a:prstGeom>
          <a:noFill/>
          <a:ln w="9525">
            <a:noFill/>
          </a:ln>
        </p:spPr>
      </p:pic>
    </p:spTree>
  </p:cSld>
  <p:clrMapOvr>
    <a:masterClrMapping/>
  </p:clrMapOvr>
  <p:transition>
    <p:zoom dir="in"/>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7457" name="对象 1"/>
          <p:cNvGraphicFramePr>
            <a:graphicFrameLocks noChangeAspect="1"/>
          </p:cNvGraphicFramePr>
          <p:nvPr/>
        </p:nvGraphicFramePr>
        <p:xfrm>
          <a:off x="179388" y="1006475"/>
          <a:ext cx="1371600" cy="238125"/>
        </p:xfrm>
        <a:graphic>
          <a:graphicData uri="http://schemas.openxmlformats.org/presentationml/2006/ole">
            <mc:AlternateContent xmlns:mc="http://schemas.openxmlformats.org/markup-compatibility/2006">
              <mc:Choice xmlns:v="urn:schemas-microsoft-com:vml" Requires="v">
                <p:oleObj spid="_x0000_s3251" name="" r:id="rId1" imgW="1282700" imgH="203200" progId="Equation.3">
                  <p:embed/>
                </p:oleObj>
              </mc:Choice>
              <mc:Fallback>
                <p:oleObj name="" r:id="rId1" imgW="1282700" imgH="203200" progId="Equation.3">
                  <p:embed/>
                  <p:pic>
                    <p:nvPicPr>
                      <p:cNvPr id="0" name="图片 3250"/>
                      <p:cNvPicPr/>
                      <p:nvPr/>
                    </p:nvPicPr>
                    <p:blipFill>
                      <a:blip r:embed="rId2"/>
                      <a:stretch>
                        <a:fillRect/>
                      </a:stretch>
                    </p:blipFill>
                    <p:spPr>
                      <a:xfrm>
                        <a:off x="179388" y="1006475"/>
                        <a:ext cx="1371600" cy="238125"/>
                      </a:xfrm>
                      <a:prstGeom prst="rect">
                        <a:avLst/>
                      </a:prstGeom>
                      <a:noFill/>
                      <a:ln w="38100">
                        <a:noFill/>
                        <a:miter/>
                      </a:ln>
                    </p:spPr>
                  </p:pic>
                </p:oleObj>
              </mc:Fallback>
            </mc:AlternateContent>
          </a:graphicData>
        </a:graphic>
      </p:graphicFrame>
      <p:graphicFrame>
        <p:nvGraphicFramePr>
          <p:cNvPr id="147458" name="对象 2"/>
          <p:cNvGraphicFramePr>
            <a:graphicFrameLocks noChangeAspect="1"/>
          </p:cNvGraphicFramePr>
          <p:nvPr/>
        </p:nvGraphicFramePr>
        <p:xfrm>
          <a:off x="1903413" y="1003300"/>
          <a:ext cx="1419225" cy="238125"/>
        </p:xfrm>
        <a:graphic>
          <a:graphicData uri="http://schemas.openxmlformats.org/presentationml/2006/ole">
            <mc:AlternateContent xmlns:mc="http://schemas.openxmlformats.org/markup-compatibility/2006">
              <mc:Choice xmlns:v="urn:schemas-microsoft-com:vml" Requires="v">
                <p:oleObj spid="_x0000_s3259" name="" r:id="rId3" imgW="1333500" imgH="203200" progId="Equation.3">
                  <p:embed/>
                </p:oleObj>
              </mc:Choice>
              <mc:Fallback>
                <p:oleObj name="" r:id="rId3" imgW="1333500" imgH="203200" progId="Equation.3">
                  <p:embed/>
                  <p:pic>
                    <p:nvPicPr>
                      <p:cNvPr id="0" name="图片 3258"/>
                      <p:cNvPicPr/>
                      <p:nvPr/>
                    </p:nvPicPr>
                    <p:blipFill>
                      <a:blip r:embed="rId4"/>
                      <a:stretch>
                        <a:fillRect/>
                      </a:stretch>
                    </p:blipFill>
                    <p:spPr>
                      <a:xfrm>
                        <a:off x="1903413" y="1003300"/>
                        <a:ext cx="1419225" cy="238125"/>
                      </a:xfrm>
                      <a:prstGeom prst="rect">
                        <a:avLst/>
                      </a:prstGeom>
                      <a:noFill/>
                      <a:ln w="38100">
                        <a:noFill/>
                        <a:miter/>
                      </a:ln>
                    </p:spPr>
                  </p:pic>
                </p:oleObj>
              </mc:Fallback>
            </mc:AlternateContent>
          </a:graphicData>
        </a:graphic>
      </p:graphicFrame>
      <p:graphicFrame>
        <p:nvGraphicFramePr>
          <p:cNvPr id="147459" name="对象 3"/>
          <p:cNvGraphicFramePr>
            <a:graphicFrameLocks noChangeAspect="1"/>
          </p:cNvGraphicFramePr>
          <p:nvPr/>
        </p:nvGraphicFramePr>
        <p:xfrm>
          <a:off x="3519488" y="1004888"/>
          <a:ext cx="1381125" cy="238125"/>
        </p:xfrm>
        <a:graphic>
          <a:graphicData uri="http://schemas.openxmlformats.org/presentationml/2006/ole">
            <mc:AlternateContent xmlns:mc="http://schemas.openxmlformats.org/markup-compatibility/2006">
              <mc:Choice xmlns:v="urn:schemas-microsoft-com:vml" Requires="v">
                <p:oleObj spid="_x0000_s3255" name="" r:id="rId5" imgW="1295400" imgH="203200" progId="Equation.3">
                  <p:embed/>
                </p:oleObj>
              </mc:Choice>
              <mc:Fallback>
                <p:oleObj name="" r:id="rId5" imgW="1295400" imgH="203200" progId="Equation.3">
                  <p:embed/>
                  <p:pic>
                    <p:nvPicPr>
                      <p:cNvPr id="0" name="图片 3254"/>
                      <p:cNvPicPr/>
                      <p:nvPr/>
                    </p:nvPicPr>
                    <p:blipFill>
                      <a:blip r:embed="rId6"/>
                      <a:stretch>
                        <a:fillRect/>
                      </a:stretch>
                    </p:blipFill>
                    <p:spPr>
                      <a:xfrm>
                        <a:off x="3519488" y="1004888"/>
                        <a:ext cx="1381125" cy="238125"/>
                      </a:xfrm>
                      <a:prstGeom prst="rect">
                        <a:avLst/>
                      </a:prstGeom>
                      <a:noFill/>
                      <a:ln w="38100">
                        <a:noFill/>
                        <a:miter/>
                      </a:ln>
                    </p:spPr>
                  </p:pic>
                </p:oleObj>
              </mc:Fallback>
            </mc:AlternateContent>
          </a:graphicData>
        </a:graphic>
      </p:graphicFrame>
      <p:graphicFrame>
        <p:nvGraphicFramePr>
          <p:cNvPr id="147460" name="对象 4"/>
          <p:cNvGraphicFramePr>
            <a:graphicFrameLocks noChangeAspect="1"/>
          </p:cNvGraphicFramePr>
          <p:nvPr/>
        </p:nvGraphicFramePr>
        <p:xfrm>
          <a:off x="5072063" y="1003300"/>
          <a:ext cx="1514475" cy="238125"/>
        </p:xfrm>
        <a:graphic>
          <a:graphicData uri="http://schemas.openxmlformats.org/presentationml/2006/ole">
            <mc:AlternateContent xmlns:mc="http://schemas.openxmlformats.org/markup-compatibility/2006">
              <mc:Choice xmlns:v="urn:schemas-microsoft-com:vml" Requires="v">
                <p:oleObj spid="_x0000_s3256" name="" r:id="rId7" imgW="1422400" imgH="203200" progId="Equation.3">
                  <p:embed/>
                </p:oleObj>
              </mc:Choice>
              <mc:Fallback>
                <p:oleObj name="" r:id="rId7" imgW="1422400" imgH="203200" progId="Equation.3">
                  <p:embed/>
                  <p:pic>
                    <p:nvPicPr>
                      <p:cNvPr id="0" name="图片 3255"/>
                      <p:cNvPicPr/>
                      <p:nvPr/>
                    </p:nvPicPr>
                    <p:blipFill>
                      <a:blip r:embed="rId8"/>
                      <a:stretch>
                        <a:fillRect/>
                      </a:stretch>
                    </p:blipFill>
                    <p:spPr>
                      <a:xfrm>
                        <a:off x="5072063" y="1003300"/>
                        <a:ext cx="1514475" cy="238125"/>
                      </a:xfrm>
                      <a:prstGeom prst="rect">
                        <a:avLst/>
                      </a:prstGeom>
                      <a:noFill/>
                      <a:ln w="38100">
                        <a:noFill/>
                        <a:miter/>
                      </a:ln>
                    </p:spPr>
                  </p:pic>
                </p:oleObj>
              </mc:Fallback>
            </mc:AlternateContent>
          </a:graphicData>
        </a:graphic>
      </p:graphicFrame>
      <p:graphicFrame>
        <p:nvGraphicFramePr>
          <p:cNvPr id="147461" name="对象 5"/>
          <p:cNvGraphicFramePr>
            <a:graphicFrameLocks noChangeAspect="1"/>
          </p:cNvGraphicFramePr>
          <p:nvPr/>
        </p:nvGraphicFramePr>
        <p:xfrm>
          <a:off x="6757988" y="989013"/>
          <a:ext cx="1724025" cy="238125"/>
        </p:xfrm>
        <a:graphic>
          <a:graphicData uri="http://schemas.openxmlformats.org/presentationml/2006/ole">
            <mc:AlternateContent xmlns:mc="http://schemas.openxmlformats.org/markup-compatibility/2006">
              <mc:Choice xmlns:v="urn:schemas-microsoft-com:vml" Requires="v">
                <p:oleObj spid="_x0000_s3258" name="" r:id="rId9" imgW="1612900" imgH="203200" progId="Equation.3">
                  <p:embed/>
                </p:oleObj>
              </mc:Choice>
              <mc:Fallback>
                <p:oleObj name="" r:id="rId9" imgW="1612900" imgH="203200" progId="Equation.3">
                  <p:embed/>
                  <p:pic>
                    <p:nvPicPr>
                      <p:cNvPr id="0" name="图片 3257"/>
                      <p:cNvPicPr/>
                      <p:nvPr/>
                    </p:nvPicPr>
                    <p:blipFill>
                      <a:blip r:embed="rId10"/>
                      <a:stretch>
                        <a:fillRect/>
                      </a:stretch>
                    </p:blipFill>
                    <p:spPr>
                      <a:xfrm>
                        <a:off x="6757988" y="989013"/>
                        <a:ext cx="1724025" cy="238125"/>
                      </a:xfrm>
                      <a:prstGeom prst="rect">
                        <a:avLst/>
                      </a:prstGeom>
                      <a:noFill/>
                      <a:ln w="38100">
                        <a:noFill/>
                        <a:miter/>
                      </a:ln>
                    </p:spPr>
                  </p:pic>
                </p:oleObj>
              </mc:Fallback>
            </mc:AlternateContent>
          </a:graphicData>
        </a:graphic>
      </p:graphicFrame>
      <p:graphicFrame>
        <p:nvGraphicFramePr>
          <p:cNvPr id="147462" name="对象 6"/>
          <p:cNvGraphicFramePr>
            <a:graphicFrameLocks noChangeAspect="1"/>
          </p:cNvGraphicFramePr>
          <p:nvPr/>
        </p:nvGraphicFramePr>
        <p:xfrm>
          <a:off x="179388" y="1428750"/>
          <a:ext cx="1514475" cy="238125"/>
        </p:xfrm>
        <a:graphic>
          <a:graphicData uri="http://schemas.openxmlformats.org/presentationml/2006/ole">
            <mc:AlternateContent xmlns:mc="http://schemas.openxmlformats.org/markup-compatibility/2006">
              <mc:Choice xmlns:v="urn:schemas-microsoft-com:vml" Requires="v">
                <p:oleObj spid="_x0000_s3252" name="" r:id="rId11" imgW="1422400" imgH="203200" progId="Equation.3">
                  <p:embed/>
                </p:oleObj>
              </mc:Choice>
              <mc:Fallback>
                <p:oleObj name="" r:id="rId11" imgW="1422400" imgH="203200" progId="Equation.3">
                  <p:embed/>
                  <p:pic>
                    <p:nvPicPr>
                      <p:cNvPr id="0" name="图片 3251"/>
                      <p:cNvPicPr/>
                      <p:nvPr/>
                    </p:nvPicPr>
                    <p:blipFill>
                      <a:blip r:embed="rId12"/>
                      <a:stretch>
                        <a:fillRect/>
                      </a:stretch>
                    </p:blipFill>
                    <p:spPr>
                      <a:xfrm>
                        <a:off x="179388" y="1428750"/>
                        <a:ext cx="1514475" cy="238125"/>
                      </a:xfrm>
                      <a:prstGeom prst="rect">
                        <a:avLst/>
                      </a:prstGeom>
                      <a:noFill/>
                      <a:ln w="38100">
                        <a:noFill/>
                        <a:miter/>
                      </a:ln>
                    </p:spPr>
                  </p:pic>
                </p:oleObj>
              </mc:Fallback>
            </mc:AlternateContent>
          </a:graphicData>
        </a:graphic>
      </p:graphicFrame>
      <p:sp>
        <p:nvSpPr>
          <p:cNvPr id="147463" name="Rectangle 7"/>
          <p:cNvSpPr/>
          <p:nvPr/>
        </p:nvSpPr>
        <p:spPr>
          <a:xfrm>
            <a:off x="179388" y="571500"/>
            <a:ext cx="4711700" cy="368300"/>
          </a:xfrm>
          <a:prstGeom prst="rect">
            <a:avLst/>
          </a:prstGeom>
          <a:noFill/>
          <a:ln w="9525">
            <a:noFill/>
          </a:ln>
        </p:spPr>
        <p:txBody>
          <a:bodyPr wrap="none" anchor="ctr">
            <a:spAutoFit/>
          </a:bodyPr>
          <a:p>
            <a:pPr eaLnBrk="0" hangingPunct="0"/>
            <a:r>
              <a:rPr lang="zh-CN" altLang="en-US" sz="1800" b="1" dirty="0">
                <a:latin typeface="Times New Roman" panose="02020603050405020304" pitchFamily="18" charset="0"/>
                <a:ea typeface="宋体" panose="02010600030101010101" pitchFamily="2" charset="-122"/>
              </a:rPr>
              <a:t>习题一、</a:t>
            </a:r>
            <a:r>
              <a:rPr lang="en-US" altLang="zh-CN" sz="1800" b="1" dirty="0">
                <a:latin typeface="Times New Roman" panose="02020603050405020304" pitchFamily="18" charset="0"/>
                <a:ea typeface="宋体" panose="02010600030101010101" pitchFamily="2" charset="-122"/>
              </a:rPr>
              <a:t>FIR</a:t>
            </a:r>
            <a:r>
              <a:rPr lang="zh-CN" altLang="en-US" sz="1800" b="1" dirty="0">
                <a:latin typeface="Times New Roman" panose="02020603050405020304" pitchFamily="18" charset="0"/>
                <a:ea typeface="宋体" panose="02010600030101010101" pitchFamily="2" charset="-122"/>
              </a:rPr>
              <a:t>滤波器的单位脉冲响应</a:t>
            </a:r>
            <a:r>
              <a:rPr lang="en-US" altLang="zh-CN" sz="1800" b="1" dirty="0">
                <a:latin typeface="Times New Roman" panose="02020603050405020304" pitchFamily="18" charset="0"/>
                <a:ea typeface="宋体" panose="02010600030101010101" pitchFamily="2" charset="-122"/>
              </a:rPr>
              <a:t>h(n)</a:t>
            </a:r>
            <a:r>
              <a:rPr lang="zh-CN" altLang="en-US" sz="1800" b="1" dirty="0">
                <a:latin typeface="Times New Roman" panose="02020603050405020304" pitchFamily="18" charset="0"/>
                <a:ea typeface="宋体" panose="02010600030101010101" pitchFamily="2" charset="-122"/>
              </a:rPr>
              <a:t>为：</a:t>
            </a:r>
            <a:endParaRPr lang="zh-CN" altLang="en-US" sz="1800" dirty="0">
              <a:latin typeface="Times New Roman" panose="02020603050405020304" pitchFamily="18" charset="0"/>
              <a:ea typeface="宋体" panose="02010600030101010101" pitchFamily="2" charset="-122"/>
            </a:endParaRPr>
          </a:p>
        </p:txBody>
      </p:sp>
      <p:sp>
        <p:nvSpPr>
          <p:cNvPr id="147464" name="Rectangle 8"/>
          <p:cNvSpPr/>
          <p:nvPr/>
        </p:nvSpPr>
        <p:spPr>
          <a:xfrm>
            <a:off x="179388" y="1244600"/>
            <a:ext cx="9144000" cy="0"/>
          </a:xfrm>
          <a:prstGeom prst="rect">
            <a:avLst/>
          </a:prstGeom>
          <a:no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47465" name="Rectangle 10"/>
          <p:cNvSpPr/>
          <p:nvPr/>
        </p:nvSpPr>
        <p:spPr>
          <a:xfrm>
            <a:off x="179388" y="1720850"/>
            <a:ext cx="9144000" cy="0"/>
          </a:xfrm>
          <a:prstGeom prst="rect">
            <a:avLst/>
          </a:prstGeom>
          <a:no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47466" name="Rectangle 12"/>
          <p:cNvSpPr/>
          <p:nvPr/>
        </p:nvSpPr>
        <p:spPr>
          <a:xfrm>
            <a:off x="179388" y="2654300"/>
            <a:ext cx="9144000" cy="0"/>
          </a:xfrm>
          <a:prstGeom prst="rect">
            <a:avLst/>
          </a:prstGeom>
          <a:no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47467" name="Rectangle 13"/>
          <p:cNvSpPr/>
          <p:nvPr/>
        </p:nvSpPr>
        <p:spPr>
          <a:xfrm>
            <a:off x="50800" y="1735138"/>
            <a:ext cx="7775575" cy="339725"/>
          </a:xfrm>
          <a:prstGeom prst="rect">
            <a:avLst/>
          </a:prstGeom>
          <a:noFill/>
          <a:ln w="9525">
            <a:noFill/>
          </a:ln>
        </p:spPr>
        <p:txBody>
          <a:bodyPr wrap="none" anchor="ctr">
            <a:spAutoFit/>
          </a:bodyPr>
          <a:p>
            <a:pPr eaLnBrk="0" hangingPunct="0"/>
            <a:r>
              <a:rPr lang="zh-CN" altLang="zh-CN" sz="1600" b="1" dirty="0">
                <a:latin typeface="Times New Roman" panose="02020603050405020304" pitchFamily="18" charset="0"/>
                <a:ea typeface="宋体" panose="02010600030101010101" pitchFamily="2" charset="-122"/>
              </a:rPr>
              <a:t>判断以上系统是否为线性相位</a:t>
            </a:r>
            <a:r>
              <a:rPr lang="en-US" altLang="zh-CN" sz="1600" b="1" dirty="0">
                <a:latin typeface="Times New Roman" panose="02020603050405020304" pitchFamily="18" charset="0"/>
                <a:ea typeface="宋体" panose="02010600030101010101" pitchFamily="2" charset="-122"/>
              </a:rPr>
              <a:t>FIR</a:t>
            </a:r>
            <a:r>
              <a:rPr lang="zh-CN" altLang="en-US" sz="1600" b="1" dirty="0">
                <a:latin typeface="Times New Roman" panose="02020603050405020304" pitchFamily="18" charset="0"/>
                <a:ea typeface="宋体" panose="02010600030101010101" pitchFamily="2" charset="-122"/>
              </a:rPr>
              <a:t>滤波器，若是，第几类？并写出响应的相位函数。</a:t>
            </a:r>
            <a:endParaRPr lang="zh-CN" altLang="en-US" sz="1600" dirty="0">
              <a:latin typeface="Times New Roman" panose="02020603050405020304" pitchFamily="18" charset="0"/>
              <a:ea typeface="宋体" panose="02010600030101010101" pitchFamily="2" charset="-122"/>
            </a:endParaRPr>
          </a:p>
        </p:txBody>
      </p:sp>
      <p:graphicFrame>
        <p:nvGraphicFramePr>
          <p:cNvPr id="16" name="对象 15"/>
          <p:cNvGraphicFramePr>
            <a:graphicFrameLocks noChangeAspect="1"/>
          </p:cNvGraphicFramePr>
          <p:nvPr/>
        </p:nvGraphicFramePr>
        <p:xfrm>
          <a:off x="366713" y="2863850"/>
          <a:ext cx="1571625" cy="419100"/>
        </p:xfrm>
        <a:graphic>
          <a:graphicData uri="http://schemas.openxmlformats.org/presentationml/2006/ole">
            <mc:AlternateContent xmlns:mc="http://schemas.openxmlformats.org/markup-compatibility/2006">
              <mc:Choice xmlns:v="urn:schemas-microsoft-com:vml" Requires="v">
                <p:oleObj spid="_x0000_s3253" name="" r:id="rId13" imgW="1625600" imgH="393700" progId="Equation.3">
                  <p:embed/>
                </p:oleObj>
              </mc:Choice>
              <mc:Fallback>
                <p:oleObj name="" r:id="rId13" imgW="1625600" imgH="393700" progId="Equation.3">
                  <p:embed/>
                  <p:pic>
                    <p:nvPicPr>
                      <p:cNvPr id="0" name="图片 3252"/>
                      <p:cNvPicPr/>
                      <p:nvPr/>
                    </p:nvPicPr>
                    <p:blipFill>
                      <a:blip r:embed="rId14"/>
                      <a:stretch>
                        <a:fillRect/>
                      </a:stretch>
                    </p:blipFill>
                    <p:spPr>
                      <a:xfrm>
                        <a:off x="366713" y="2863850"/>
                        <a:ext cx="1571625" cy="419100"/>
                      </a:xfrm>
                      <a:prstGeom prst="rect">
                        <a:avLst/>
                      </a:prstGeom>
                      <a:solidFill>
                        <a:schemeClr val="accent1"/>
                      </a:solidFill>
                      <a:ln w="38100">
                        <a:noFill/>
                        <a:miter/>
                      </a:ln>
                    </p:spPr>
                  </p:pic>
                </p:oleObj>
              </mc:Fallback>
            </mc:AlternateContent>
          </a:graphicData>
        </a:graphic>
      </p:graphicFrame>
      <p:graphicFrame>
        <p:nvGraphicFramePr>
          <p:cNvPr id="19" name="对象 18"/>
          <p:cNvGraphicFramePr>
            <a:graphicFrameLocks noChangeAspect="1"/>
          </p:cNvGraphicFramePr>
          <p:nvPr/>
        </p:nvGraphicFramePr>
        <p:xfrm>
          <a:off x="6627813" y="2617788"/>
          <a:ext cx="1952625" cy="381000"/>
        </p:xfrm>
        <a:graphic>
          <a:graphicData uri="http://schemas.openxmlformats.org/presentationml/2006/ole">
            <mc:AlternateContent xmlns:mc="http://schemas.openxmlformats.org/markup-compatibility/2006">
              <mc:Choice xmlns:v="urn:schemas-microsoft-com:vml" Requires="v">
                <p:oleObj spid="_x0000_s3257" name="" r:id="rId15" imgW="2209800" imgH="393700" progId="Equation.3">
                  <p:embed/>
                </p:oleObj>
              </mc:Choice>
              <mc:Fallback>
                <p:oleObj name="" r:id="rId15" imgW="2209800" imgH="393700" progId="Equation.3">
                  <p:embed/>
                  <p:pic>
                    <p:nvPicPr>
                      <p:cNvPr id="0" name="图片 3256"/>
                      <p:cNvPicPr/>
                      <p:nvPr/>
                    </p:nvPicPr>
                    <p:blipFill>
                      <a:blip r:embed="rId16"/>
                      <a:stretch>
                        <a:fillRect/>
                      </a:stretch>
                    </p:blipFill>
                    <p:spPr>
                      <a:xfrm>
                        <a:off x="6627813" y="2617788"/>
                        <a:ext cx="1952625" cy="381000"/>
                      </a:xfrm>
                      <a:prstGeom prst="rect">
                        <a:avLst/>
                      </a:prstGeom>
                      <a:solidFill>
                        <a:srgbClr val="00B0F0"/>
                      </a:solidFill>
                      <a:ln w="38100">
                        <a:noFill/>
                        <a:miter/>
                      </a:ln>
                    </p:spPr>
                  </p:pic>
                </p:oleObj>
              </mc:Fallback>
            </mc:AlternateContent>
          </a:graphicData>
        </a:graphic>
      </p:graphicFrame>
      <p:graphicFrame>
        <p:nvGraphicFramePr>
          <p:cNvPr id="22" name="对象 21"/>
          <p:cNvGraphicFramePr>
            <a:graphicFrameLocks noChangeAspect="1"/>
          </p:cNvGraphicFramePr>
          <p:nvPr/>
        </p:nvGraphicFramePr>
        <p:xfrm>
          <a:off x="3322638" y="3948113"/>
          <a:ext cx="1952625" cy="381000"/>
        </p:xfrm>
        <a:graphic>
          <a:graphicData uri="http://schemas.openxmlformats.org/presentationml/2006/ole">
            <mc:AlternateContent xmlns:mc="http://schemas.openxmlformats.org/markup-compatibility/2006">
              <mc:Choice xmlns:v="urn:schemas-microsoft-com:vml" Requires="v">
                <p:oleObj spid="_x0000_s3254" name="" r:id="rId17" imgW="2209800" imgH="393700" progId="Equation.3">
                  <p:embed/>
                </p:oleObj>
              </mc:Choice>
              <mc:Fallback>
                <p:oleObj name="" r:id="rId17" imgW="2209800" imgH="393700" progId="Equation.3">
                  <p:embed/>
                  <p:pic>
                    <p:nvPicPr>
                      <p:cNvPr id="0" name="图片 3253"/>
                      <p:cNvPicPr/>
                      <p:nvPr/>
                    </p:nvPicPr>
                    <p:blipFill>
                      <a:blip r:embed="rId18"/>
                      <a:stretch>
                        <a:fillRect/>
                      </a:stretch>
                    </p:blipFill>
                    <p:spPr>
                      <a:xfrm>
                        <a:off x="3322638" y="3948113"/>
                        <a:ext cx="1952625" cy="381000"/>
                      </a:xfrm>
                      <a:prstGeom prst="rect">
                        <a:avLst/>
                      </a:prstGeom>
                      <a:solidFill>
                        <a:srgbClr val="FFFF00"/>
                      </a:solidFill>
                      <a:ln w="38100">
                        <a:noFill/>
                        <a:miter/>
                      </a:ln>
                    </p:spPr>
                  </p:pic>
                </p:oleObj>
              </mc:Fallback>
            </mc:AlternateContent>
          </a:graphicData>
        </a:graphic>
      </p:graphicFrame>
      <p:graphicFrame>
        <p:nvGraphicFramePr>
          <p:cNvPr id="24" name="对象 23"/>
          <p:cNvGraphicFramePr>
            <a:graphicFrameLocks noChangeAspect="1"/>
          </p:cNvGraphicFramePr>
          <p:nvPr/>
        </p:nvGraphicFramePr>
        <p:xfrm>
          <a:off x="6516688" y="3883025"/>
          <a:ext cx="1638300" cy="419100"/>
        </p:xfrm>
        <a:graphic>
          <a:graphicData uri="http://schemas.openxmlformats.org/presentationml/2006/ole">
            <mc:AlternateContent xmlns:mc="http://schemas.openxmlformats.org/markup-compatibility/2006">
              <mc:Choice xmlns:v="urn:schemas-microsoft-com:vml" Requires="v">
                <p:oleObj spid="_x0000_s3260" name="" r:id="rId19" imgW="1688465" imgH="393700" progId="Equation.3">
                  <p:embed/>
                </p:oleObj>
              </mc:Choice>
              <mc:Fallback>
                <p:oleObj name="" r:id="rId19" imgW="1688465" imgH="393700" progId="Equation.3">
                  <p:embed/>
                  <p:pic>
                    <p:nvPicPr>
                      <p:cNvPr id="0" name="图片 3259"/>
                      <p:cNvPicPr/>
                      <p:nvPr/>
                    </p:nvPicPr>
                    <p:blipFill>
                      <a:blip r:embed="rId20"/>
                      <a:stretch>
                        <a:fillRect/>
                      </a:stretch>
                    </p:blipFill>
                    <p:spPr>
                      <a:xfrm>
                        <a:off x="6516688" y="3883025"/>
                        <a:ext cx="1638300" cy="419100"/>
                      </a:xfrm>
                      <a:prstGeom prst="rect">
                        <a:avLst/>
                      </a:prstGeom>
                      <a:solidFill>
                        <a:srgbClr val="AAE2CA"/>
                      </a:solidFill>
                      <a:ln w="38100">
                        <a:noFill/>
                        <a:miter/>
                      </a:ln>
                    </p:spPr>
                  </p:pic>
                </p:oleObj>
              </mc:Fallback>
            </mc:AlternateContent>
          </a:graphicData>
        </a:graphic>
      </p:graphicFrame>
      <p:sp>
        <p:nvSpPr>
          <p:cNvPr id="26" name="Rectangle 25"/>
          <p:cNvSpPr/>
          <p:nvPr/>
        </p:nvSpPr>
        <p:spPr>
          <a:xfrm>
            <a:off x="0" y="2246313"/>
            <a:ext cx="3059113" cy="307975"/>
          </a:xfrm>
          <a:prstGeom prst="rect">
            <a:avLst/>
          </a:prstGeom>
          <a:solidFill>
            <a:schemeClr val="accent1"/>
          </a:solidFill>
          <a:ln w="9525">
            <a:noFill/>
          </a:ln>
        </p:spPr>
        <p:txBody>
          <a:bodyPr anchor="ctr">
            <a:spAutoFit/>
          </a:bodyPr>
          <a:p>
            <a:pPr eaLnBrk="0" hangingPunct="0"/>
            <a:r>
              <a:rPr lang="en-US" altLang="zh-CN" sz="14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1</a:t>
            </a:r>
            <a:r>
              <a:rPr lang="zh-CN" altLang="en-US" sz="1400" dirty="0">
                <a:latin typeface="Times New Roman" panose="02020603050405020304" pitchFamily="18" charset="0"/>
                <a:ea typeface="宋体" panose="02010600030101010101" pitchFamily="2" charset="-122"/>
              </a:rPr>
              <a:t>）偶对称 </a:t>
            </a:r>
            <a:r>
              <a:rPr lang="en-US" altLang="zh-CN" sz="1400" dirty="0">
                <a:latin typeface="Times New Roman" panose="02020603050405020304" pitchFamily="18" charset="0"/>
                <a:ea typeface="宋体" panose="02010600030101010101" pitchFamily="2" charset="-122"/>
              </a:rPr>
              <a:t>N=5 </a:t>
            </a:r>
            <a:r>
              <a:rPr lang="zh-CN" altLang="en-US" sz="1400" dirty="0">
                <a:latin typeface="Times New Roman" panose="02020603050405020304" pitchFamily="18" charset="0"/>
                <a:ea typeface="宋体" panose="02010600030101010101" pitchFamily="2" charset="-122"/>
              </a:rPr>
              <a:t>是一类线性相位。 </a:t>
            </a:r>
            <a:endParaRPr lang="zh-CN" altLang="en-US" sz="1400" dirty="0">
              <a:latin typeface="Times New Roman" panose="02020603050405020304" pitchFamily="18" charset="0"/>
              <a:ea typeface="宋体" panose="02010600030101010101" pitchFamily="2" charset="-122"/>
            </a:endParaRPr>
          </a:p>
        </p:txBody>
      </p:sp>
      <p:sp>
        <p:nvSpPr>
          <p:cNvPr id="147473" name="Rectangle 26"/>
          <p:cNvSpPr/>
          <p:nvPr/>
        </p:nvSpPr>
        <p:spPr>
          <a:xfrm>
            <a:off x="160338" y="3097213"/>
            <a:ext cx="9144000" cy="457200"/>
          </a:xfrm>
          <a:prstGeom prst="rect">
            <a:avLst/>
          </a:prstGeom>
          <a:no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28" name="Rectangle 27"/>
          <p:cNvSpPr/>
          <p:nvPr/>
        </p:nvSpPr>
        <p:spPr>
          <a:xfrm>
            <a:off x="3186113" y="2238375"/>
            <a:ext cx="3186112" cy="461963"/>
          </a:xfrm>
          <a:prstGeom prst="rect">
            <a:avLst/>
          </a:prstGeom>
          <a:solidFill>
            <a:srgbClr val="FFC000"/>
          </a:solidFill>
          <a:ln w="9525">
            <a:noFill/>
          </a:ln>
        </p:spPr>
        <p:txBody>
          <a:bodyPr anchor="ctr">
            <a:spAutoFit/>
          </a:bodyPr>
          <a:p>
            <a:pPr eaLnBrk="0" hangingPunct="0"/>
            <a:r>
              <a:rPr lang="zh-CN" altLang="en-US" sz="1000" dirty="0">
                <a:latin typeface="Times New Roman" panose="02020603050405020304" pitchFamily="18" charset="0"/>
                <a:ea typeface="宋体" panose="02010600030101010101" pitchFamily="2" charset="-122"/>
              </a:rPr>
              <a:t>（</a:t>
            </a:r>
            <a:r>
              <a:rPr lang="en-US" altLang="zh-CN" sz="1000" dirty="0">
                <a:latin typeface="Times New Roman" panose="02020603050405020304" pitchFamily="18" charset="0"/>
                <a:ea typeface="宋体" panose="02010600030101010101" pitchFamily="2" charset="-122"/>
              </a:rPr>
              <a:t>2</a:t>
            </a:r>
            <a:r>
              <a:rPr lang="zh-CN" altLang="en-US" sz="1000" dirty="0">
                <a:latin typeface="Times New Roman" panose="02020603050405020304" pitchFamily="18" charset="0"/>
                <a:ea typeface="宋体" panose="02010600030101010101" pitchFamily="2" charset="-122"/>
              </a:rPr>
              <a:t>）</a:t>
            </a:r>
            <a:r>
              <a:rPr lang="zh-CN" altLang="zh-CN" sz="1400" dirty="0">
                <a:latin typeface="Times New Roman" panose="02020603050405020304" pitchFamily="18" charset="0"/>
                <a:ea typeface="宋体" panose="02010600030101010101" pitchFamily="2" charset="-122"/>
              </a:rPr>
              <a:t>非对称，不是性相位</a:t>
            </a:r>
            <a:r>
              <a:rPr lang="en-US" altLang="zh-CN" sz="1400" dirty="0">
                <a:latin typeface="Times New Roman" panose="02020603050405020304" pitchFamily="18" charset="0"/>
                <a:ea typeface="宋体" panose="02010600030101010101" pitchFamily="2" charset="-122"/>
              </a:rPr>
              <a:t>FIR</a:t>
            </a:r>
            <a:r>
              <a:rPr lang="zh-CN" altLang="en-US" sz="1400" dirty="0">
                <a:latin typeface="Times New Roman" panose="02020603050405020304" pitchFamily="18" charset="0"/>
                <a:ea typeface="宋体" panose="02010600030101010101" pitchFamily="2" charset="-122"/>
              </a:rPr>
              <a:t>滤波器。</a:t>
            </a:r>
            <a:endParaRPr lang="zh-CN" altLang="en-US" sz="1400" dirty="0">
              <a:latin typeface="Times New Roman" panose="02020603050405020304" pitchFamily="18" charset="0"/>
              <a:ea typeface="宋体" panose="02010600030101010101" pitchFamily="2" charset="-122"/>
            </a:endParaRPr>
          </a:p>
          <a:p>
            <a:pPr eaLnBrk="0" hangingPunct="0"/>
            <a:r>
              <a:rPr lang="zh-CN" altLang="en-US" sz="1000"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9" name="Rectangle 28"/>
          <p:cNvSpPr/>
          <p:nvPr/>
        </p:nvSpPr>
        <p:spPr>
          <a:xfrm>
            <a:off x="6410325" y="2246313"/>
            <a:ext cx="2968625" cy="307975"/>
          </a:xfrm>
          <a:prstGeom prst="rect">
            <a:avLst/>
          </a:prstGeom>
          <a:solidFill>
            <a:srgbClr val="00B0F0"/>
          </a:solid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r>
              <a:rPr lang="zh-CN" altLang="en-US" sz="1000" dirty="0">
                <a:latin typeface="Times New Roman" panose="02020603050405020304" pitchFamily="18" charset="0"/>
                <a:ea typeface="宋体" panose="02010600030101010101" pitchFamily="2" charset="-122"/>
              </a:rPr>
              <a:t>（</a:t>
            </a:r>
            <a:r>
              <a:rPr lang="en-US" altLang="zh-CN" sz="1000" dirty="0">
                <a:latin typeface="Times New Roman" panose="02020603050405020304" pitchFamily="18" charset="0"/>
                <a:ea typeface="宋体" panose="02010600030101010101" pitchFamily="2" charset="-122"/>
              </a:rPr>
              <a:t>3</a:t>
            </a:r>
            <a:r>
              <a:rPr lang="zh-CN" altLang="en-US" sz="1000" dirty="0">
                <a:latin typeface="Times New Roman" panose="02020603050405020304" pitchFamily="18" charset="0"/>
                <a:ea typeface="宋体" panose="02010600030101010101" pitchFamily="2" charset="-122"/>
              </a:rPr>
              <a:t>）</a:t>
            </a:r>
            <a:r>
              <a:rPr lang="zh-CN" altLang="en-US" sz="1400" dirty="0">
                <a:latin typeface="Times New Roman" panose="02020603050405020304" pitchFamily="18" charset="0"/>
                <a:ea typeface="宋体" panose="02010600030101010101" pitchFamily="2" charset="-122"/>
              </a:rPr>
              <a:t>奇对称 </a:t>
            </a:r>
            <a:r>
              <a:rPr lang="en-US" altLang="zh-CN" sz="1400" dirty="0">
                <a:latin typeface="Times New Roman" panose="02020603050405020304" pitchFamily="18" charset="0"/>
                <a:ea typeface="宋体" panose="02010600030101010101" pitchFamily="2" charset="-122"/>
              </a:rPr>
              <a:t>N=4 </a:t>
            </a:r>
            <a:r>
              <a:rPr lang="zh-CN" altLang="en-US" sz="1400" dirty="0">
                <a:latin typeface="Times New Roman" panose="02020603050405020304" pitchFamily="18" charset="0"/>
                <a:ea typeface="宋体" panose="02010600030101010101" pitchFamily="2" charset="-122"/>
              </a:rPr>
              <a:t>是第四线性相位。 </a:t>
            </a:r>
            <a:endParaRPr lang="zh-CN" altLang="en-US" sz="1400" dirty="0">
              <a:latin typeface="Times New Roman" panose="02020603050405020304" pitchFamily="18" charset="0"/>
              <a:ea typeface="宋体" panose="02010600030101010101" pitchFamily="2" charset="-122"/>
            </a:endParaRPr>
          </a:p>
        </p:txBody>
      </p:sp>
      <p:sp>
        <p:nvSpPr>
          <p:cNvPr id="31" name="Rectangle 30"/>
          <p:cNvSpPr/>
          <p:nvPr/>
        </p:nvSpPr>
        <p:spPr>
          <a:xfrm>
            <a:off x="-131762" y="3502025"/>
            <a:ext cx="3149600" cy="461963"/>
          </a:xfrm>
          <a:prstGeom prst="rect">
            <a:avLst/>
          </a:prstGeom>
          <a:solidFill>
            <a:srgbClr val="FFC000"/>
          </a:solid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r>
              <a:rPr lang="zh-CN" altLang="en-US" sz="1000" dirty="0">
                <a:latin typeface="Times New Roman" panose="02020603050405020304" pitchFamily="18" charset="0"/>
                <a:ea typeface="宋体" panose="02010600030101010101" pitchFamily="2" charset="-122"/>
              </a:rPr>
              <a:t>（</a:t>
            </a:r>
            <a:r>
              <a:rPr lang="en-US" altLang="zh-CN" sz="1000" dirty="0">
                <a:latin typeface="Times New Roman" panose="02020603050405020304" pitchFamily="18" charset="0"/>
                <a:ea typeface="宋体" panose="02010600030101010101" pitchFamily="2" charset="-122"/>
              </a:rPr>
              <a:t>4</a:t>
            </a:r>
            <a:r>
              <a:rPr lang="zh-CN" altLang="en-US" sz="1000" dirty="0">
                <a:latin typeface="Times New Roman" panose="02020603050405020304" pitchFamily="18" charset="0"/>
                <a:ea typeface="宋体" panose="02010600030101010101" pitchFamily="2" charset="-122"/>
              </a:rPr>
              <a:t>）</a:t>
            </a:r>
            <a:r>
              <a:rPr lang="zh-CN" altLang="en-US" sz="1400" dirty="0">
                <a:latin typeface="Times New Roman" panose="02020603050405020304" pitchFamily="18" charset="0"/>
                <a:ea typeface="宋体" panose="02010600030101010101" pitchFamily="2" charset="-122"/>
              </a:rPr>
              <a:t>非对称，不是线相位</a:t>
            </a:r>
            <a:r>
              <a:rPr lang="en-US" altLang="zh-CN" sz="1400" dirty="0">
                <a:latin typeface="Times New Roman" panose="02020603050405020304" pitchFamily="18" charset="0"/>
                <a:ea typeface="宋体" panose="02010600030101010101" pitchFamily="2" charset="-122"/>
              </a:rPr>
              <a:t>FIR</a:t>
            </a:r>
            <a:r>
              <a:rPr lang="zh-CN" altLang="en-US" sz="1400" dirty="0">
                <a:latin typeface="Times New Roman" panose="02020603050405020304" pitchFamily="18" charset="0"/>
                <a:ea typeface="宋体" panose="02010600030101010101" pitchFamily="2" charset="-122"/>
              </a:rPr>
              <a:t>滤波器。</a:t>
            </a:r>
            <a:endParaRPr lang="zh-CN" altLang="en-US" sz="1400" dirty="0">
              <a:latin typeface="Times New Roman" panose="02020603050405020304" pitchFamily="18" charset="0"/>
              <a:ea typeface="宋体" panose="02010600030101010101" pitchFamily="2" charset="-122"/>
            </a:endParaRPr>
          </a:p>
          <a:p>
            <a:pPr eaLnBrk="0" hangingPunct="0"/>
            <a:r>
              <a:rPr lang="zh-CN" altLang="en-US" sz="1000"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32" name="Rectangle 31"/>
          <p:cNvSpPr/>
          <p:nvPr/>
        </p:nvSpPr>
        <p:spPr>
          <a:xfrm>
            <a:off x="3046413" y="3421063"/>
            <a:ext cx="3100387" cy="307975"/>
          </a:xfrm>
          <a:prstGeom prst="rect">
            <a:avLst/>
          </a:prstGeom>
          <a:solidFill>
            <a:srgbClr val="FFFF00"/>
          </a:solid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5</a:t>
            </a:r>
            <a:r>
              <a:rPr lang="zh-CN" altLang="en-US" sz="1400" dirty="0">
                <a:latin typeface="Times New Roman" panose="02020603050405020304" pitchFamily="18" charset="0"/>
                <a:ea typeface="宋体" panose="02010600030101010101" pitchFamily="2" charset="-122"/>
              </a:rPr>
              <a:t>）奇对称 </a:t>
            </a:r>
            <a:r>
              <a:rPr lang="en-US" altLang="zh-CN" sz="1400" dirty="0">
                <a:latin typeface="Times New Roman" panose="02020603050405020304" pitchFamily="18" charset="0"/>
                <a:ea typeface="宋体" panose="02010600030101010101" pitchFamily="2" charset="-122"/>
              </a:rPr>
              <a:t>=6 </a:t>
            </a:r>
            <a:r>
              <a:rPr lang="zh-CN" altLang="en-US" sz="1400" dirty="0">
                <a:latin typeface="Times New Roman" panose="02020603050405020304" pitchFamily="18" charset="0"/>
                <a:ea typeface="宋体" panose="02010600030101010101" pitchFamily="2" charset="-122"/>
              </a:rPr>
              <a:t>是第四类线性相位。</a:t>
            </a:r>
            <a:endParaRPr lang="zh-CN" altLang="en-US" sz="1400" dirty="0">
              <a:latin typeface="Times New Roman" panose="02020603050405020304" pitchFamily="18" charset="0"/>
              <a:ea typeface="宋体" panose="02010600030101010101" pitchFamily="2" charset="-122"/>
            </a:endParaRPr>
          </a:p>
        </p:txBody>
      </p:sp>
      <p:sp>
        <p:nvSpPr>
          <p:cNvPr id="147478" name="Rectangle 32"/>
          <p:cNvSpPr/>
          <p:nvPr/>
        </p:nvSpPr>
        <p:spPr>
          <a:xfrm>
            <a:off x="160338" y="5726113"/>
            <a:ext cx="9144000" cy="457200"/>
          </a:xfrm>
          <a:prstGeom prst="rect">
            <a:avLst/>
          </a:prstGeom>
          <a:no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34" name="Rectangle 33"/>
          <p:cNvSpPr>
            <a:spLocks noChangeArrowheads="1"/>
          </p:cNvSpPr>
          <p:nvPr/>
        </p:nvSpPr>
        <p:spPr bwMode="auto">
          <a:xfrm>
            <a:off x="6211888" y="3421063"/>
            <a:ext cx="3017838" cy="307975"/>
          </a:xfrm>
          <a:prstGeom prst="rect">
            <a:avLst/>
          </a:prstGeom>
          <a:solidFill>
            <a:schemeClr val="accent5"/>
          </a:solidFill>
          <a:ln>
            <a:noFill/>
          </a:ln>
          <a:effec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r>
              <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6</a:t>
            </a:r>
            <a:r>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r>
              <a:rPr kumimoji="0" lang="zh-CN"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偶对称</a:t>
            </a:r>
            <a:r>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 </a:t>
            </a:r>
            <a:r>
              <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N=6 </a:t>
            </a:r>
            <a:r>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是二类线性相位。</a:t>
            </a:r>
            <a:endPar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1000"/>
                                        <p:tgtEl>
                                          <p:spTgt spid="29"/>
                                        </p:tgtEl>
                                      </p:cBhvr>
                                    </p:animEffect>
                                    <p:anim calcmode="lin" valueType="num">
                                      <p:cBhvr>
                                        <p:cTn id="26" dur="1000" fill="hold"/>
                                        <p:tgtEl>
                                          <p:spTgt spid="29"/>
                                        </p:tgtEl>
                                        <p:attrNameLst>
                                          <p:attrName>ppt_x</p:attrName>
                                        </p:attrNameLst>
                                      </p:cBhvr>
                                      <p:tavLst>
                                        <p:tav tm="0">
                                          <p:val>
                                            <p:strVal val="#ppt_x"/>
                                          </p:val>
                                        </p:tav>
                                        <p:tav tm="100000">
                                          <p:val>
                                            <p:strVal val="#ppt_x"/>
                                          </p:val>
                                        </p:tav>
                                      </p:tavLst>
                                    </p:anim>
                                    <p:anim calcmode="lin" valueType="num">
                                      <p:cBhvr>
                                        <p:cTn id="2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 calcmode="lin" valueType="num">
                                      <p:cBhvr additive="base">
                                        <p:cTn id="39" dur="500" fill="hold"/>
                                        <p:tgtEl>
                                          <p:spTgt spid="31"/>
                                        </p:tgtEl>
                                        <p:attrNameLst>
                                          <p:attrName>ppt_x</p:attrName>
                                        </p:attrNameLst>
                                      </p:cBhvr>
                                      <p:tavLst>
                                        <p:tav tm="0">
                                          <p:val>
                                            <p:strVal val="#ppt_x"/>
                                          </p:val>
                                        </p:tav>
                                        <p:tav tm="100000">
                                          <p:val>
                                            <p:strVal val="#ppt_x"/>
                                          </p:val>
                                        </p:tav>
                                      </p:tavLst>
                                    </p:anim>
                                    <p:anim calcmode="lin" valueType="num">
                                      <p:cBhvr additive="base">
                                        <p:cTn id="4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ppt_x"/>
                                          </p:val>
                                        </p:tav>
                                        <p:tav tm="100000">
                                          <p:val>
                                            <p:strVal val="#ppt_x"/>
                                          </p:val>
                                        </p:tav>
                                      </p:tavLst>
                                    </p:anim>
                                    <p:anim calcmode="lin" valueType="num">
                                      <p:cBhvr additive="base">
                                        <p:cTn id="5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anim calcmode="lin" valueType="num">
                                      <p:cBhvr additive="base">
                                        <p:cTn id="57" dur="500" fill="hold"/>
                                        <p:tgtEl>
                                          <p:spTgt spid="34"/>
                                        </p:tgtEl>
                                        <p:attrNameLst>
                                          <p:attrName>ppt_x</p:attrName>
                                        </p:attrNameLst>
                                      </p:cBhvr>
                                      <p:tavLst>
                                        <p:tav tm="0">
                                          <p:val>
                                            <p:strVal val="#ppt_x"/>
                                          </p:val>
                                        </p:tav>
                                        <p:tav tm="100000">
                                          <p:val>
                                            <p:strVal val="#ppt_x"/>
                                          </p:val>
                                        </p:tav>
                                      </p:tavLst>
                                    </p:anim>
                                    <p:anim calcmode="lin" valueType="num">
                                      <p:cBhvr additive="base">
                                        <p:cTn id="5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 calcmode="lin" valueType="num">
                                      <p:cBhvr additive="base">
                                        <p:cTn id="63" dur="500" fill="hold"/>
                                        <p:tgtEl>
                                          <p:spTgt spid="24"/>
                                        </p:tgtEl>
                                        <p:attrNameLst>
                                          <p:attrName>ppt_x</p:attrName>
                                        </p:attrNameLst>
                                      </p:cBhvr>
                                      <p:tavLst>
                                        <p:tav tm="0">
                                          <p:val>
                                            <p:strVal val="#ppt_x"/>
                                          </p:val>
                                        </p:tav>
                                        <p:tav tm="100000">
                                          <p:val>
                                            <p:strVal val="#ppt_x"/>
                                          </p:val>
                                        </p:tav>
                                      </p:tavLst>
                                    </p:anim>
                                    <p:anim calcmode="lin" valueType="num">
                                      <p:cBhvr additive="base">
                                        <p:cTn id="6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29" grpId="0" animBg="1"/>
      <p:bldP spid="31" grpId="0" animBg="1"/>
      <p:bldP spid="32" grpId="0" animBg="1"/>
      <p:bldP spid="34"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8481" name="对象 1"/>
          <p:cNvGraphicFramePr>
            <a:graphicFrameLocks noChangeAspect="1"/>
          </p:cNvGraphicFramePr>
          <p:nvPr/>
        </p:nvGraphicFramePr>
        <p:xfrm>
          <a:off x="2478088" y="842963"/>
          <a:ext cx="1358900" cy="285750"/>
        </p:xfrm>
        <a:graphic>
          <a:graphicData uri="http://schemas.openxmlformats.org/presentationml/2006/ole">
            <mc:AlternateContent xmlns:mc="http://schemas.openxmlformats.org/markup-compatibility/2006">
              <mc:Choice xmlns:v="urn:schemas-microsoft-com:vml" Requires="v">
                <p:oleObj spid="_x0000_s3271" name="" r:id="rId1" imgW="1052830" imgH="215900" progId="Equation.3">
                  <p:embed/>
                </p:oleObj>
              </mc:Choice>
              <mc:Fallback>
                <p:oleObj name="" r:id="rId1" imgW="1052830" imgH="215900" progId="Equation.3">
                  <p:embed/>
                  <p:pic>
                    <p:nvPicPr>
                      <p:cNvPr id="0" name="图片 3270"/>
                      <p:cNvPicPr/>
                      <p:nvPr/>
                    </p:nvPicPr>
                    <p:blipFill>
                      <a:blip r:embed="rId2"/>
                      <a:stretch>
                        <a:fillRect/>
                      </a:stretch>
                    </p:blipFill>
                    <p:spPr>
                      <a:xfrm>
                        <a:off x="2478088" y="842963"/>
                        <a:ext cx="1358900" cy="285750"/>
                      </a:xfrm>
                      <a:prstGeom prst="rect">
                        <a:avLst/>
                      </a:prstGeom>
                      <a:noFill/>
                      <a:ln w="38100">
                        <a:noFill/>
                        <a:miter/>
                      </a:ln>
                    </p:spPr>
                  </p:pic>
                </p:oleObj>
              </mc:Fallback>
            </mc:AlternateContent>
          </a:graphicData>
        </a:graphic>
      </p:graphicFrame>
      <p:graphicFrame>
        <p:nvGraphicFramePr>
          <p:cNvPr id="148482" name="对象 2"/>
          <p:cNvGraphicFramePr>
            <a:graphicFrameLocks noChangeAspect="1"/>
          </p:cNvGraphicFramePr>
          <p:nvPr/>
        </p:nvGraphicFramePr>
        <p:xfrm>
          <a:off x="1693863" y="1052513"/>
          <a:ext cx="428625" cy="200025"/>
        </p:xfrm>
        <a:graphic>
          <a:graphicData uri="http://schemas.openxmlformats.org/presentationml/2006/ole">
            <mc:AlternateContent xmlns:mc="http://schemas.openxmlformats.org/markup-compatibility/2006">
              <mc:Choice xmlns:v="urn:schemas-microsoft-com:vml" Requires="v">
                <p:oleObj spid="_x0000_s3267" name="" r:id="rId3" imgW="432435" imgH="203835" progId="Equation.3">
                  <p:embed/>
                </p:oleObj>
              </mc:Choice>
              <mc:Fallback>
                <p:oleObj name="" r:id="rId3" imgW="432435" imgH="203835" progId="Equation.3">
                  <p:embed/>
                  <p:pic>
                    <p:nvPicPr>
                      <p:cNvPr id="0" name="图片 3266"/>
                      <p:cNvPicPr/>
                      <p:nvPr/>
                    </p:nvPicPr>
                    <p:blipFill>
                      <a:blip r:embed="rId4"/>
                      <a:stretch>
                        <a:fillRect/>
                      </a:stretch>
                    </p:blipFill>
                    <p:spPr>
                      <a:xfrm>
                        <a:off x="1693863" y="1052513"/>
                        <a:ext cx="428625" cy="200025"/>
                      </a:xfrm>
                      <a:prstGeom prst="rect">
                        <a:avLst/>
                      </a:prstGeom>
                      <a:noFill/>
                      <a:ln w="38100">
                        <a:noFill/>
                        <a:miter/>
                      </a:ln>
                    </p:spPr>
                  </p:pic>
                </p:oleObj>
              </mc:Fallback>
            </mc:AlternateContent>
          </a:graphicData>
        </a:graphic>
      </p:graphicFrame>
      <p:sp>
        <p:nvSpPr>
          <p:cNvPr id="148483" name="AutoShape 94"/>
          <p:cNvSpPr/>
          <p:nvPr/>
        </p:nvSpPr>
        <p:spPr>
          <a:xfrm>
            <a:off x="2195513" y="939800"/>
            <a:ext cx="104775" cy="428625"/>
          </a:xfrm>
          <a:prstGeom prst="leftBrace">
            <a:avLst>
              <a:gd name="adj1" fmla="val 34071"/>
              <a:gd name="adj2" fmla="val 50000"/>
            </a:avLst>
          </a:prstGeom>
          <a:noFill/>
          <a:ln w="9525" cap="flat" cmpd="sng">
            <a:solidFill>
              <a:srgbClr val="000000"/>
            </a:solidFill>
            <a:prstDash val="solid"/>
            <a:round/>
            <a:headEnd type="none" w="med" len="med"/>
            <a:tailEnd type="none" w="med" len="med"/>
          </a:ln>
        </p:spPr>
        <p:txBody>
          <a:bodyPr lIns="0" tIns="0" rIns="0" bIns="0" anchor="t"/>
          <a:p>
            <a:pPr eaLnBrk="0" hangingPunct="0"/>
            <a:endParaRPr lang="zh-CN" altLang="en-US" dirty="0">
              <a:latin typeface="Times New Roman" panose="02020603050405020304" pitchFamily="18" charset="0"/>
              <a:ea typeface="宋体" panose="02010600030101010101" pitchFamily="2" charset="-122"/>
            </a:endParaRPr>
          </a:p>
        </p:txBody>
      </p:sp>
      <p:sp>
        <p:nvSpPr>
          <p:cNvPr id="148484" name="Rectangle 6"/>
          <p:cNvSpPr/>
          <p:nvPr/>
        </p:nvSpPr>
        <p:spPr>
          <a:xfrm>
            <a:off x="250825" y="882650"/>
            <a:ext cx="666750" cy="246063"/>
          </a:xfrm>
          <a:prstGeom prst="rect">
            <a:avLst/>
          </a:prstGeom>
          <a:no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48485" name="矩形 8"/>
          <p:cNvSpPr/>
          <p:nvPr/>
        </p:nvSpPr>
        <p:spPr>
          <a:xfrm>
            <a:off x="2425700" y="1276350"/>
            <a:ext cx="1233488" cy="246063"/>
          </a:xfrm>
          <a:prstGeom prst="rect">
            <a:avLst/>
          </a:prstGeom>
          <a:noFill/>
          <a:ln w="9525">
            <a:noFill/>
          </a:ln>
        </p:spPr>
        <p:txBody>
          <a:bodyPr anchor="t">
            <a:spAutoFit/>
          </a:bodyPr>
          <a:p>
            <a:pPr defTabSz="0" eaLnBrk="0" hangingPunct="0">
              <a:tabLst>
                <a:tab pos="1104900" algn="l"/>
              </a:tabLst>
            </a:pPr>
            <a:r>
              <a:rPr lang="en-US" altLang="zh-CN" sz="1000" dirty="0">
                <a:latin typeface="Times New Roman" panose="02020603050405020304" pitchFamily="18" charset="0"/>
                <a:ea typeface="宋体" panose="02010600030101010101" pitchFamily="2" charset="-122"/>
              </a:rPr>
              <a:t>0           </a:t>
            </a:r>
            <a:r>
              <a:rPr lang="zh-CN" altLang="en-US" sz="1000" dirty="0">
                <a:latin typeface="Times New Roman" panose="02020603050405020304" pitchFamily="18" charset="0"/>
                <a:ea typeface="宋体" panose="02010600030101010101" pitchFamily="2" charset="-122"/>
              </a:rPr>
              <a:t>其他</a:t>
            </a:r>
            <a:r>
              <a:rPr lang="en-US" altLang="zh-CN" sz="1000" dirty="0">
                <a:latin typeface="Times New Roman" panose="02020603050405020304" pitchFamily="18" charset="0"/>
                <a:ea typeface="宋体" panose="02010600030101010101" pitchFamily="2" charset="-122"/>
              </a:rPr>
              <a:t>n  </a:t>
            </a:r>
            <a:endParaRPr lang="en-US" altLang="zh-CN" sz="1000" dirty="0">
              <a:latin typeface="Times New Roman" panose="02020603050405020304" pitchFamily="18" charset="0"/>
              <a:ea typeface="宋体" panose="02010600030101010101" pitchFamily="2" charset="-122"/>
            </a:endParaRPr>
          </a:p>
        </p:txBody>
      </p:sp>
      <p:sp>
        <p:nvSpPr>
          <p:cNvPr id="148486" name="Rectangle 14"/>
          <p:cNvSpPr/>
          <p:nvPr/>
        </p:nvSpPr>
        <p:spPr>
          <a:xfrm>
            <a:off x="279400" y="469900"/>
            <a:ext cx="3438525" cy="369888"/>
          </a:xfrm>
          <a:prstGeom prst="rect">
            <a:avLst/>
          </a:prstGeom>
          <a:noFill/>
          <a:ln w="9525">
            <a:noFill/>
          </a:ln>
        </p:spPr>
        <p:txBody>
          <a:bodyPr anchor="ctr">
            <a:spAutoFit/>
          </a:bodyPr>
          <a:p>
            <a:pPr eaLnBrk="0" hangingPunct="0"/>
            <a:r>
              <a:rPr lang="zh-CN" altLang="en-US" sz="1800" b="1" dirty="0">
                <a:latin typeface="Times New Roman" panose="02020603050405020304" pitchFamily="18" charset="0"/>
                <a:ea typeface="宋体" panose="02010600030101010101" pitchFamily="2" charset="-122"/>
              </a:rPr>
              <a:t>习题</a:t>
            </a:r>
            <a:r>
              <a:rPr lang="en-US" altLang="zh-CN" sz="1800" b="1" dirty="0">
                <a:latin typeface="Times New Roman" panose="02020603050405020304" pitchFamily="18" charset="0"/>
                <a:ea typeface="宋体" panose="02010600030101010101" pitchFamily="2" charset="-122"/>
              </a:rPr>
              <a:t>2</a:t>
            </a:r>
            <a:r>
              <a:rPr lang="zh-CN" altLang="en-US" sz="1800" b="1" dirty="0">
                <a:latin typeface="Times New Roman" panose="02020603050405020304" pitchFamily="18" charset="0"/>
                <a:ea typeface="宋体" panose="02010600030101010101" pitchFamily="2" charset="-122"/>
              </a:rPr>
              <a:t>：</a:t>
            </a:r>
            <a:r>
              <a:rPr lang="zh-CN" altLang="zh-CN" sz="1800" b="1" dirty="0">
                <a:latin typeface="Times New Roman" panose="02020603050405020304" pitchFamily="18" charset="0"/>
                <a:ea typeface="宋体" panose="02010600030101010101" pitchFamily="2" charset="-122"/>
              </a:rPr>
              <a:t>系统的单位脉冲相应为</a:t>
            </a:r>
            <a:endParaRPr lang="zh-CN" altLang="zh-CN" sz="1800" dirty="0">
              <a:latin typeface="Times New Roman" panose="02020603050405020304" pitchFamily="18" charset="0"/>
              <a:ea typeface="宋体" panose="02010600030101010101" pitchFamily="2" charset="-122"/>
            </a:endParaRPr>
          </a:p>
        </p:txBody>
      </p:sp>
      <p:sp>
        <p:nvSpPr>
          <p:cNvPr id="16" name="Rectangle 18"/>
          <p:cNvSpPr>
            <a:spLocks noChangeArrowheads="1"/>
          </p:cNvSpPr>
          <p:nvPr/>
        </p:nvSpPr>
        <p:spPr bwMode="auto">
          <a:xfrm>
            <a:off x="250825" y="1512888"/>
            <a:ext cx="61404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276225">
              <a:tabLst>
                <a:tab pos="1104900" algn="l"/>
              </a:tabLst>
              <a:defRPr sz="2400">
                <a:solidFill>
                  <a:schemeClr val="tx1"/>
                </a:solidFill>
                <a:latin typeface="Times New Roman" panose="02020603050405020304" pitchFamily="18" charset="0"/>
                <a:ea typeface="宋体" panose="02010600030101010101" pitchFamily="2" charset="-122"/>
              </a:defRPr>
            </a:lvl1pPr>
            <a:lvl2pPr>
              <a:tabLst>
                <a:tab pos="1104900" algn="l"/>
              </a:tabLst>
              <a:defRPr sz="2400">
                <a:solidFill>
                  <a:schemeClr val="tx1"/>
                </a:solidFill>
                <a:latin typeface="Times New Roman" panose="02020603050405020304" pitchFamily="18" charset="0"/>
                <a:ea typeface="宋体" panose="02010600030101010101" pitchFamily="2" charset="-122"/>
              </a:defRPr>
            </a:lvl2pPr>
            <a:lvl3pPr>
              <a:tabLst>
                <a:tab pos="1104900" algn="l"/>
              </a:tabLst>
              <a:defRPr sz="2400">
                <a:solidFill>
                  <a:schemeClr val="tx1"/>
                </a:solidFill>
                <a:latin typeface="Times New Roman" panose="02020603050405020304" pitchFamily="18" charset="0"/>
                <a:ea typeface="宋体" panose="02010600030101010101" pitchFamily="2" charset="-122"/>
              </a:defRPr>
            </a:lvl3pPr>
            <a:lvl4pPr>
              <a:tabLst>
                <a:tab pos="1104900" algn="l"/>
              </a:tabLst>
              <a:defRPr sz="2400">
                <a:solidFill>
                  <a:schemeClr val="tx1"/>
                </a:solidFill>
                <a:latin typeface="Times New Roman" panose="02020603050405020304" pitchFamily="18" charset="0"/>
                <a:ea typeface="宋体" panose="02010600030101010101" pitchFamily="2" charset="-122"/>
              </a:defRPr>
            </a:lvl4pPr>
            <a:lvl5pPr>
              <a:tabLst>
                <a:tab pos="1104900" algn="l"/>
              </a:tabLst>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tabLst>
                <a:tab pos="1104900" algn="l"/>
              </a:tabLst>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tabLst>
                <a:tab pos="1104900" algn="l"/>
              </a:tabLst>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tabLst>
                <a:tab pos="1104900" algn="l"/>
              </a:tabLst>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tabLst>
                <a:tab pos="1104900" algn="l"/>
              </a:tabLst>
              <a:defRPr sz="2400">
                <a:solidFill>
                  <a:schemeClr val="tx1"/>
                </a:solidFill>
                <a:latin typeface="Times New Roman" panose="02020603050405020304" pitchFamily="18" charset="0"/>
                <a:ea typeface="宋体" panose="02010600030101010101" pitchFamily="2" charset="-122"/>
              </a:defRPr>
            </a:lvl9pPr>
          </a:lstStyle>
          <a:p>
            <a:pPr marL="0" marR="0" lvl="0" indent="266700" algn="l" defTabSz="914400" rtl="0" eaLnBrk="0" fontAlgn="base" latinLnBrk="0" hangingPunct="0">
              <a:lnSpc>
                <a:spcPct val="100000"/>
              </a:lnSpc>
              <a:spcBef>
                <a:spcPct val="0"/>
              </a:spcBef>
              <a:spcAft>
                <a:spcPct val="0"/>
              </a:spcAft>
              <a:buClrTx/>
              <a:buSzTx/>
              <a:buFontTx/>
              <a:buNone/>
              <a:tabLst>
                <a:tab pos="1104900" algn="l"/>
              </a:tabLst>
              <a:defRPr/>
            </a:pPr>
            <a:r>
              <a:rPr kumimoji="0" lang="zh-CN" altLang="en-US" sz="16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求（</a:t>
            </a:r>
            <a:r>
              <a:rPr kumimoji="0" lang="en-US" altLang="zh-CN" sz="16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1</a:t>
            </a:r>
            <a:r>
              <a:rPr kumimoji="0" lang="zh-CN" altLang="en-US" sz="16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）判断其是否为线性相位？如是，问是哪一类线性相位？</a:t>
            </a:r>
            <a:endParaRPr kumimoji="0" lang="zh-CN" altLang="en-US" sz="16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a:p>
            <a:pPr marL="0" marR="0" lvl="0" indent="276225" algn="l" defTabSz="914400" rtl="0" eaLnBrk="0" fontAlgn="base" latinLnBrk="0" hangingPunct="0">
              <a:lnSpc>
                <a:spcPct val="100000"/>
              </a:lnSpc>
              <a:spcBef>
                <a:spcPct val="0"/>
              </a:spcBef>
              <a:spcAft>
                <a:spcPct val="0"/>
              </a:spcAft>
              <a:buClrTx/>
              <a:buSzTx/>
              <a:buFontTx/>
              <a:buNone/>
              <a:tabLst>
                <a:tab pos="1104900" algn="l"/>
              </a:tabLst>
              <a:defRPr/>
            </a:pPr>
            <a:r>
              <a:rPr kumimoji="0" lang="zh-CN" altLang="en-US" sz="16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   （</a:t>
            </a:r>
            <a:r>
              <a:rPr kumimoji="0" lang="en-US" altLang="zh-CN" sz="16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2</a:t>
            </a:r>
            <a:r>
              <a:rPr kumimoji="0" lang="zh-CN" altLang="en-US" sz="16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）系统的频响，画出系统的振幅、相位分布图。</a:t>
            </a:r>
            <a:endParaRPr kumimoji="0" lang="zh-CN" altLang="en-US" sz="16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48488" name="Rectangle 123"/>
          <p:cNvSpPr/>
          <p:nvPr/>
        </p:nvSpPr>
        <p:spPr>
          <a:xfrm>
            <a:off x="917575" y="2565400"/>
            <a:ext cx="9144000" cy="0"/>
          </a:xfrm>
          <a:prstGeom prst="rect">
            <a:avLst/>
          </a:prstGeom>
          <a:noFill/>
          <a:ln w="9525">
            <a:noFill/>
          </a:ln>
        </p:spPr>
        <p:txBody>
          <a:bodyPr wrap="none" anchor="ctr">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113" name="对象 112"/>
          <p:cNvGraphicFramePr>
            <a:graphicFrameLocks noChangeAspect="1"/>
          </p:cNvGraphicFramePr>
          <p:nvPr/>
        </p:nvGraphicFramePr>
        <p:xfrm>
          <a:off x="1870075" y="2474913"/>
          <a:ext cx="3695700" cy="742950"/>
        </p:xfrm>
        <a:graphic>
          <a:graphicData uri="http://schemas.openxmlformats.org/presentationml/2006/ole">
            <mc:AlternateContent xmlns:mc="http://schemas.openxmlformats.org/markup-compatibility/2006">
              <mc:Choice xmlns:v="urn:schemas-microsoft-com:vml" Requires="v">
                <p:oleObj spid="_x0000_s3272" name="" r:id="rId5" imgW="3300730" imgH="673100" progId="Equation.3">
                  <p:embed/>
                </p:oleObj>
              </mc:Choice>
              <mc:Fallback>
                <p:oleObj name="" r:id="rId5" imgW="3300730" imgH="673100" progId="Equation.3">
                  <p:embed/>
                  <p:pic>
                    <p:nvPicPr>
                      <p:cNvPr id="0" name="图片 3271"/>
                      <p:cNvPicPr/>
                      <p:nvPr/>
                    </p:nvPicPr>
                    <p:blipFill>
                      <a:blip r:embed="rId6"/>
                      <a:stretch>
                        <a:fillRect/>
                      </a:stretch>
                    </p:blipFill>
                    <p:spPr>
                      <a:xfrm>
                        <a:off x="1870075" y="2474913"/>
                        <a:ext cx="3695700" cy="742950"/>
                      </a:xfrm>
                      <a:prstGeom prst="rect">
                        <a:avLst/>
                      </a:prstGeom>
                      <a:noFill/>
                      <a:ln w="38100">
                        <a:noFill/>
                        <a:miter/>
                      </a:ln>
                    </p:spPr>
                  </p:pic>
                </p:oleObj>
              </mc:Fallback>
            </mc:AlternateContent>
          </a:graphicData>
        </a:graphic>
      </p:graphicFrame>
      <p:sp>
        <p:nvSpPr>
          <p:cNvPr id="114" name="矩形 113"/>
          <p:cNvSpPr/>
          <p:nvPr/>
        </p:nvSpPr>
        <p:spPr>
          <a:xfrm>
            <a:off x="0" y="2143125"/>
            <a:ext cx="7056438" cy="338138"/>
          </a:xfrm>
          <a:prstGeom prst="rect">
            <a:avLst/>
          </a:prstGeom>
        </p:spPr>
        <p:txBody>
          <a:bodyPr wrap="square">
            <a:spAutoFit/>
          </a:bodyPr>
          <a:lstStyle/>
          <a:p>
            <a:pPr marL="0" marR="0" lvl="0" indent="133350" algn="just" defTabSz="914400" rtl="0" eaLnBrk="0" fontAlgn="base" latinLnBrk="0" hangingPunct="0">
              <a:lnSpc>
                <a:spcPct val="100000"/>
              </a:lnSpc>
              <a:spcBef>
                <a:spcPct val="0"/>
              </a:spcBef>
              <a:spcAft>
                <a:spcPts val="0"/>
              </a:spcAft>
              <a:buClrTx/>
              <a:buSzTx/>
              <a:buFontTx/>
              <a:buNone/>
              <a:defRPr/>
            </a:pPr>
            <a:r>
              <a:rPr kumimoji="0" lang="zh-CN" altLang="zh-CN" sz="1600" b="0" i="0" u="none" strike="noStrike" kern="1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答：</a:t>
            </a:r>
            <a:r>
              <a:rPr kumimoji="0" lang="en-US" altLang="zh-CN" sz="1600" b="0" i="0" u="none" strike="noStrike" kern="1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N=3  </a:t>
            </a:r>
            <a:r>
              <a:rPr kumimoji="0" lang="zh-CN" altLang="zh-CN" sz="1600" b="0" i="0" u="none" strike="noStrike" kern="1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偶对称</a:t>
            </a:r>
            <a:r>
              <a:rPr kumimoji="0" lang="en-US" altLang="zh-CN" sz="1600" b="0" i="0" u="none" strike="noStrike" kern="1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  </a:t>
            </a:r>
            <a:r>
              <a:rPr kumimoji="0" lang="zh-CN" altLang="zh-CN" sz="1600" b="0" i="0" u="none" strike="noStrike" kern="1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为第一类线性相位</a:t>
            </a:r>
            <a:endParaRPr kumimoji="0" lang="zh-CN" altLang="zh-CN" sz="1600" b="0" i="0" u="none" strike="noStrike" kern="1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pic>
        <p:nvPicPr>
          <p:cNvPr id="115" name="图片 114"/>
          <p:cNvPicPr>
            <a:picLocks noChangeAspect="1"/>
          </p:cNvPicPr>
          <p:nvPr/>
        </p:nvPicPr>
        <p:blipFill>
          <a:blip r:embed="rId7"/>
          <a:stretch>
            <a:fillRect/>
          </a:stretch>
        </p:blipFill>
        <p:spPr>
          <a:xfrm>
            <a:off x="2689225" y="3302000"/>
            <a:ext cx="2876550" cy="1074738"/>
          </a:xfrm>
          <a:prstGeom prst="rect">
            <a:avLst/>
          </a:prstGeom>
          <a:noFill/>
          <a:ln w="9525">
            <a:noFill/>
          </a:ln>
        </p:spPr>
      </p:pic>
      <p:pic>
        <p:nvPicPr>
          <p:cNvPr id="116" name="图片 115"/>
          <p:cNvPicPr>
            <a:picLocks noChangeAspect="1"/>
          </p:cNvPicPr>
          <p:nvPr/>
        </p:nvPicPr>
        <p:blipFill>
          <a:blip r:embed="rId8"/>
          <a:stretch>
            <a:fillRect/>
          </a:stretch>
        </p:blipFill>
        <p:spPr>
          <a:xfrm>
            <a:off x="2725738" y="4652963"/>
            <a:ext cx="2590800" cy="1524000"/>
          </a:xfrm>
          <a:prstGeom prst="rect">
            <a:avLst/>
          </a:prstGeom>
          <a:noFill/>
          <a:ln w="9525">
            <a:noFill/>
          </a:ln>
        </p:spPr>
      </p:pic>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anim calcmode="lin" valueType="num">
                                      <p:cBhvr additive="base">
                                        <p:cTn id="7" dur="500" fill="hold"/>
                                        <p:tgtEl>
                                          <p:spTgt spid="114"/>
                                        </p:tgtEl>
                                        <p:attrNameLst>
                                          <p:attrName>ppt_x</p:attrName>
                                        </p:attrNameLst>
                                      </p:cBhvr>
                                      <p:tavLst>
                                        <p:tav tm="0">
                                          <p:val>
                                            <p:strVal val="#ppt_x"/>
                                          </p:val>
                                        </p:tav>
                                        <p:tav tm="100000">
                                          <p:val>
                                            <p:strVal val="#ppt_x"/>
                                          </p:val>
                                        </p:tav>
                                      </p:tavLst>
                                    </p:anim>
                                    <p:anim calcmode="lin" valueType="num">
                                      <p:cBhvr additive="base">
                                        <p:cTn id="8" dur="500" fill="hold"/>
                                        <p:tgtEl>
                                          <p:spTgt spid="1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3"/>
                                        </p:tgtEl>
                                        <p:attrNameLst>
                                          <p:attrName>style.visibility</p:attrName>
                                        </p:attrNameLst>
                                      </p:cBhvr>
                                      <p:to>
                                        <p:strVal val="visible"/>
                                      </p:to>
                                    </p:set>
                                    <p:anim calcmode="lin" valueType="num">
                                      <p:cBhvr additive="base">
                                        <p:cTn id="13" dur="500" fill="hold"/>
                                        <p:tgtEl>
                                          <p:spTgt spid="113"/>
                                        </p:tgtEl>
                                        <p:attrNameLst>
                                          <p:attrName>ppt_x</p:attrName>
                                        </p:attrNameLst>
                                      </p:cBhvr>
                                      <p:tavLst>
                                        <p:tav tm="0">
                                          <p:val>
                                            <p:strVal val="#ppt_x"/>
                                          </p:val>
                                        </p:tav>
                                        <p:tav tm="100000">
                                          <p:val>
                                            <p:strVal val="#ppt_x"/>
                                          </p:val>
                                        </p:tav>
                                      </p:tavLst>
                                    </p:anim>
                                    <p:anim calcmode="lin" valueType="num">
                                      <p:cBhvr additive="base">
                                        <p:cTn id="14"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500" fill="hold"/>
                                        <p:tgtEl>
                                          <p:spTgt spid="115"/>
                                        </p:tgtEl>
                                        <p:attrNameLst>
                                          <p:attrName>ppt_x</p:attrName>
                                        </p:attrNameLst>
                                      </p:cBhvr>
                                      <p:tavLst>
                                        <p:tav tm="0">
                                          <p:val>
                                            <p:strVal val="#ppt_x"/>
                                          </p:val>
                                        </p:tav>
                                        <p:tav tm="100000">
                                          <p:val>
                                            <p:strVal val="#ppt_x"/>
                                          </p:val>
                                        </p:tav>
                                      </p:tavLst>
                                    </p:anim>
                                    <p:anim calcmode="lin" valueType="num">
                                      <p:cBhvr additive="base">
                                        <p:cTn id="20"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6"/>
                                        </p:tgtEl>
                                        <p:attrNameLst>
                                          <p:attrName>style.visibility</p:attrName>
                                        </p:attrNameLst>
                                      </p:cBhvr>
                                      <p:to>
                                        <p:strVal val="visible"/>
                                      </p:to>
                                    </p:set>
                                    <p:anim calcmode="lin" valueType="num">
                                      <p:cBhvr additive="base">
                                        <p:cTn id="25" dur="500" fill="hold"/>
                                        <p:tgtEl>
                                          <p:spTgt spid="116"/>
                                        </p:tgtEl>
                                        <p:attrNameLst>
                                          <p:attrName>ppt_x</p:attrName>
                                        </p:attrNameLst>
                                      </p:cBhvr>
                                      <p:tavLst>
                                        <p:tav tm="0">
                                          <p:val>
                                            <p:strVal val="#ppt_x"/>
                                          </p:val>
                                        </p:tav>
                                        <p:tav tm="100000">
                                          <p:val>
                                            <p:strVal val="#ppt_x"/>
                                          </p:val>
                                        </p:tav>
                                      </p:tavLst>
                                    </p:anim>
                                    <p:anim calcmode="lin" valueType="num">
                                      <p:cBhvr additive="base">
                                        <p:cTn id="26"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9505" name="对象 1"/>
          <p:cNvGraphicFramePr>
            <a:graphicFrameLocks noChangeAspect="1"/>
          </p:cNvGraphicFramePr>
          <p:nvPr/>
        </p:nvGraphicFramePr>
        <p:xfrm>
          <a:off x="1619250" y="1208088"/>
          <a:ext cx="1098550" cy="414337"/>
        </p:xfrm>
        <a:graphic>
          <a:graphicData uri="http://schemas.openxmlformats.org/presentationml/2006/ole">
            <mc:AlternateContent xmlns:mc="http://schemas.openxmlformats.org/markup-compatibility/2006">
              <mc:Choice xmlns:v="urn:schemas-microsoft-com:vml" Requires="v">
                <p:oleObj spid="_x0000_s3268" name="" r:id="rId1" imgW="508635" imgH="190500" progId="Equation.3">
                  <p:embed/>
                </p:oleObj>
              </mc:Choice>
              <mc:Fallback>
                <p:oleObj name="" r:id="rId1" imgW="508635" imgH="190500" progId="Equation.3">
                  <p:embed/>
                  <p:pic>
                    <p:nvPicPr>
                      <p:cNvPr id="0" name="图片 3267"/>
                      <p:cNvPicPr/>
                      <p:nvPr/>
                    </p:nvPicPr>
                    <p:blipFill>
                      <a:blip r:embed="rId2"/>
                      <a:stretch>
                        <a:fillRect/>
                      </a:stretch>
                    </p:blipFill>
                    <p:spPr>
                      <a:xfrm>
                        <a:off x="1619250" y="1208088"/>
                        <a:ext cx="1098550" cy="414337"/>
                      </a:xfrm>
                      <a:prstGeom prst="rect">
                        <a:avLst/>
                      </a:prstGeom>
                      <a:noFill/>
                      <a:ln w="38100">
                        <a:noFill/>
                        <a:miter/>
                      </a:ln>
                    </p:spPr>
                  </p:pic>
                </p:oleObj>
              </mc:Fallback>
            </mc:AlternateContent>
          </a:graphicData>
        </a:graphic>
      </p:graphicFrame>
      <p:graphicFrame>
        <p:nvGraphicFramePr>
          <p:cNvPr id="149506" name="对象 2"/>
          <p:cNvGraphicFramePr>
            <a:graphicFrameLocks noChangeAspect="1"/>
          </p:cNvGraphicFramePr>
          <p:nvPr/>
        </p:nvGraphicFramePr>
        <p:xfrm>
          <a:off x="3082925" y="1247775"/>
          <a:ext cx="981075" cy="358775"/>
        </p:xfrm>
        <a:graphic>
          <a:graphicData uri="http://schemas.openxmlformats.org/presentationml/2006/ole">
            <mc:AlternateContent xmlns:mc="http://schemas.openxmlformats.org/markup-compatibility/2006">
              <mc:Choice xmlns:v="urn:schemas-microsoft-com:vml" Requires="v">
                <p:oleObj spid="_x0000_s3262" name="" r:id="rId3" imgW="495300" imgH="177800" progId="Equation.3">
                  <p:embed/>
                </p:oleObj>
              </mc:Choice>
              <mc:Fallback>
                <p:oleObj name="" r:id="rId3" imgW="495300" imgH="177800" progId="Equation.3">
                  <p:embed/>
                  <p:pic>
                    <p:nvPicPr>
                      <p:cNvPr id="0" name="图片 3261"/>
                      <p:cNvPicPr/>
                      <p:nvPr/>
                    </p:nvPicPr>
                    <p:blipFill>
                      <a:blip r:embed="rId4"/>
                      <a:stretch>
                        <a:fillRect/>
                      </a:stretch>
                    </p:blipFill>
                    <p:spPr>
                      <a:xfrm>
                        <a:off x="3082925" y="1247775"/>
                        <a:ext cx="981075" cy="358775"/>
                      </a:xfrm>
                      <a:prstGeom prst="rect">
                        <a:avLst/>
                      </a:prstGeom>
                      <a:noFill/>
                      <a:ln w="38100">
                        <a:noFill/>
                        <a:miter/>
                      </a:ln>
                    </p:spPr>
                  </p:pic>
                </p:oleObj>
              </mc:Fallback>
            </mc:AlternateContent>
          </a:graphicData>
        </a:graphic>
      </p:graphicFrame>
      <p:graphicFrame>
        <p:nvGraphicFramePr>
          <p:cNvPr id="149507" name="对象 3"/>
          <p:cNvGraphicFramePr>
            <a:graphicFrameLocks noChangeAspect="1"/>
          </p:cNvGraphicFramePr>
          <p:nvPr/>
        </p:nvGraphicFramePr>
        <p:xfrm>
          <a:off x="4592638" y="1262063"/>
          <a:ext cx="987425" cy="273050"/>
        </p:xfrm>
        <a:graphic>
          <a:graphicData uri="http://schemas.openxmlformats.org/presentationml/2006/ole">
            <mc:AlternateContent xmlns:mc="http://schemas.openxmlformats.org/markup-compatibility/2006">
              <mc:Choice xmlns:v="urn:schemas-microsoft-com:vml" Requires="v">
                <p:oleObj spid="_x0000_s3269" name="" r:id="rId5" imgW="660400" imgH="177800" progId="Equation.3">
                  <p:embed/>
                </p:oleObj>
              </mc:Choice>
              <mc:Fallback>
                <p:oleObj name="" r:id="rId5" imgW="660400" imgH="177800" progId="Equation.3">
                  <p:embed/>
                  <p:pic>
                    <p:nvPicPr>
                      <p:cNvPr id="0" name="图片 3268"/>
                      <p:cNvPicPr/>
                      <p:nvPr/>
                    </p:nvPicPr>
                    <p:blipFill>
                      <a:blip r:embed="rId6"/>
                      <a:stretch>
                        <a:fillRect/>
                      </a:stretch>
                    </p:blipFill>
                    <p:spPr>
                      <a:xfrm>
                        <a:off x="4592638" y="1262063"/>
                        <a:ext cx="987425" cy="273050"/>
                      </a:xfrm>
                      <a:prstGeom prst="rect">
                        <a:avLst/>
                      </a:prstGeom>
                      <a:noFill/>
                      <a:ln w="38100">
                        <a:noFill/>
                        <a:miter/>
                      </a:ln>
                    </p:spPr>
                  </p:pic>
                </p:oleObj>
              </mc:Fallback>
            </mc:AlternateContent>
          </a:graphicData>
        </a:graphic>
      </p:graphicFrame>
      <p:graphicFrame>
        <p:nvGraphicFramePr>
          <p:cNvPr id="149508" name="对象 4"/>
          <p:cNvGraphicFramePr>
            <a:graphicFrameLocks noChangeAspect="1"/>
          </p:cNvGraphicFramePr>
          <p:nvPr/>
        </p:nvGraphicFramePr>
        <p:xfrm>
          <a:off x="6103938" y="1233488"/>
          <a:ext cx="901700" cy="301625"/>
        </p:xfrm>
        <a:graphic>
          <a:graphicData uri="http://schemas.openxmlformats.org/presentationml/2006/ole">
            <mc:AlternateContent xmlns:mc="http://schemas.openxmlformats.org/markup-compatibility/2006">
              <mc:Choice xmlns:v="urn:schemas-microsoft-com:vml" Requires="v">
                <p:oleObj spid="_x0000_s3270" name="" r:id="rId7" imgW="685800" imgH="228600" progId="Equation.3">
                  <p:embed/>
                </p:oleObj>
              </mc:Choice>
              <mc:Fallback>
                <p:oleObj name="" r:id="rId7" imgW="685800" imgH="228600" progId="Equation.3">
                  <p:embed/>
                  <p:pic>
                    <p:nvPicPr>
                      <p:cNvPr id="0" name="图片 3269"/>
                      <p:cNvPicPr/>
                      <p:nvPr/>
                    </p:nvPicPr>
                    <p:blipFill>
                      <a:blip r:embed="rId8"/>
                      <a:stretch>
                        <a:fillRect/>
                      </a:stretch>
                    </p:blipFill>
                    <p:spPr>
                      <a:xfrm>
                        <a:off x="6103938" y="1233488"/>
                        <a:ext cx="901700" cy="301625"/>
                      </a:xfrm>
                      <a:prstGeom prst="rect">
                        <a:avLst/>
                      </a:prstGeom>
                      <a:noFill/>
                      <a:ln w="38100">
                        <a:noFill/>
                        <a:miter/>
                      </a:ln>
                    </p:spPr>
                  </p:pic>
                </p:oleObj>
              </mc:Fallback>
            </mc:AlternateContent>
          </a:graphicData>
        </a:graphic>
      </p:graphicFrame>
      <p:sp>
        <p:nvSpPr>
          <p:cNvPr id="149509" name="Rectangle 5"/>
          <p:cNvSpPr/>
          <p:nvPr/>
        </p:nvSpPr>
        <p:spPr>
          <a:xfrm>
            <a:off x="198438" y="655638"/>
            <a:ext cx="6173787" cy="400050"/>
          </a:xfrm>
          <a:prstGeom prst="rect">
            <a:avLst/>
          </a:prstGeom>
          <a:solidFill>
            <a:srgbClr val="FF0000"/>
          </a:solidFill>
          <a:ln w="9525">
            <a:noFill/>
          </a:ln>
        </p:spPr>
        <p:txBody>
          <a:bodyPr wrap="none" anchor="ctr">
            <a:spAutoFit/>
          </a:bodyPr>
          <a:p>
            <a:pPr eaLnBrk="0" hangingPunct="0"/>
            <a:r>
              <a:rPr lang="zh-CN" altLang="en-US" sz="2000" b="1" dirty="0">
                <a:latin typeface="Times New Roman" panose="02020603050405020304" pitchFamily="18" charset="0"/>
                <a:ea typeface="宋体" panose="02010600030101010101" pitchFamily="2" charset="-122"/>
              </a:rPr>
              <a:t>习题</a:t>
            </a:r>
            <a:r>
              <a:rPr lang="en-US" altLang="zh-CN" sz="2000" b="1" dirty="0">
                <a:latin typeface="Times New Roman" panose="02020603050405020304" pitchFamily="18" charset="0"/>
                <a:ea typeface="宋体" panose="02010600030101010101" pitchFamily="2" charset="-122"/>
              </a:rPr>
              <a:t>3</a:t>
            </a:r>
            <a:r>
              <a:rPr lang="zh-CN" altLang="en-US" sz="2000" b="1" dirty="0">
                <a:latin typeface="Times New Roman" panose="02020603050405020304" pitchFamily="18" charset="0"/>
                <a:ea typeface="宋体" panose="02010600030101010101" pitchFamily="2" charset="-122"/>
              </a:rPr>
              <a:t>：</a:t>
            </a:r>
            <a:r>
              <a:rPr lang="zh-CN" altLang="zh-CN" sz="2000" b="1" dirty="0">
                <a:latin typeface="Times New Roman" panose="02020603050405020304" pitchFamily="18" charset="0"/>
                <a:ea typeface="宋体" panose="02010600030101010101" pitchFamily="2" charset="-122"/>
              </a:rPr>
              <a:t>根据下列技术指标设计一个</a:t>
            </a:r>
            <a:r>
              <a:rPr lang="en-US" altLang="zh-CN" sz="2000" b="1" dirty="0">
                <a:latin typeface="Times New Roman" panose="02020603050405020304" pitchFamily="18" charset="0"/>
                <a:ea typeface="宋体" panose="02010600030101010101" pitchFamily="2" charset="-122"/>
              </a:rPr>
              <a:t>FIR</a:t>
            </a:r>
            <a:r>
              <a:rPr lang="zh-CN" altLang="en-US" sz="2000" b="1" dirty="0">
                <a:latin typeface="Times New Roman" panose="02020603050405020304" pitchFamily="18" charset="0"/>
                <a:ea typeface="宋体" panose="02010600030101010101" pitchFamily="2" charset="-122"/>
              </a:rPr>
              <a:t>低通滤波器：</a:t>
            </a:r>
            <a:endParaRPr lang="zh-CN" altLang="en-US" sz="2000" dirty="0">
              <a:latin typeface="Times New Roman" panose="02020603050405020304" pitchFamily="18" charset="0"/>
              <a:ea typeface="宋体" panose="02010600030101010101" pitchFamily="2" charset="-122"/>
            </a:endParaRPr>
          </a:p>
        </p:txBody>
      </p:sp>
      <p:sp>
        <p:nvSpPr>
          <p:cNvPr id="149510" name="Rectangle 6"/>
          <p:cNvSpPr/>
          <p:nvPr/>
        </p:nvSpPr>
        <p:spPr>
          <a:xfrm>
            <a:off x="395288" y="1268413"/>
            <a:ext cx="9144000" cy="0"/>
          </a:xfrm>
          <a:prstGeom prst="rect">
            <a:avLst/>
          </a:prstGeom>
          <a:noFill/>
          <a:ln w="9525">
            <a:noFill/>
          </a:ln>
        </p:spPr>
        <p:txBody>
          <a:bodyPr wrap="none" anchor="ctr">
            <a:spAutoFit/>
          </a:bodyPr>
          <a:p>
            <a:pPr eaLnBrk="0" hangingPunct="0"/>
            <a:r>
              <a:rPr lang="en-US" altLang="zh-CN" sz="1000" b="1"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49511" name="Rectangle 7"/>
          <p:cNvSpPr/>
          <p:nvPr/>
        </p:nvSpPr>
        <p:spPr>
          <a:xfrm>
            <a:off x="395288" y="1449388"/>
            <a:ext cx="9144000" cy="0"/>
          </a:xfrm>
          <a:prstGeom prst="rect">
            <a:avLst/>
          </a:prstGeom>
          <a:noFill/>
          <a:ln w="9525">
            <a:noFill/>
          </a:ln>
        </p:spPr>
        <p:txBody>
          <a:bodyPr wrap="none" anchor="ctr">
            <a:spAutoFit/>
          </a:bodyPr>
          <a:p>
            <a:pPr eaLnBrk="0" hangingPunct="0"/>
            <a:r>
              <a:rPr lang="en-US" altLang="zh-CN" sz="1000" b="1"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49512" name="Rectangle 8"/>
          <p:cNvSpPr/>
          <p:nvPr/>
        </p:nvSpPr>
        <p:spPr>
          <a:xfrm>
            <a:off x="395288" y="1630363"/>
            <a:ext cx="9144000" cy="0"/>
          </a:xfrm>
          <a:prstGeom prst="rect">
            <a:avLst/>
          </a:prstGeom>
          <a:noFill/>
          <a:ln w="9525">
            <a:noFill/>
          </a:ln>
        </p:spPr>
        <p:txBody>
          <a:bodyPr wrap="none" anchor="ctr">
            <a:spAutoFit/>
          </a:bodyPr>
          <a:p>
            <a:pPr eaLnBrk="0" hangingPunct="0"/>
            <a:r>
              <a:rPr lang="en-US" altLang="zh-CN" sz="10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graphicFrame>
        <p:nvGraphicFramePr>
          <p:cNvPr id="11" name="对象 10"/>
          <p:cNvGraphicFramePr>
            <a:graphicFrameLocks noChangeAspect="1"/>
          </p:cNvGraphicFramePr>
          <p:nvPr/>
        </p:nvGraphicFramePr>
        <p:xfrm>
          <a:off x="2249488" y="1693863"/>
          <a:ext cx="1044575" cy="357187"/>
        </p:xfrm>
        <a:graphic>
          <a:graphicData uri="http://schemas.openxmlformats.org/presentationml/2006/ole">
            <mc:AlternateContent xmlns:mc="http://schemas.openxmlformats.org/markup-compatibility/2006">
              <mc:Choice xmlns:v="urn:schemas-microsoft-com:vml" Requires="v">
                <p:oleObj spid="_x0000_s3261" name="" r:id="rId9" imgW="648335" imgH="190500" progId="Equation.3">
                  <p:embed/>
                </p:oleObj>
              </mc:Choice>
              <mc:Fallback>
                <p:oleObj name="" r:id="rId9" imgW="648335" imgH="190500" progId="Equation.3">
                  <p:embed/>
                  <p:pic>
                    <p:nvPicPr>
                      <p:cNvPr id="0" name="图片 3260"/>
                      <p:cNvPicPr/>
                      <p:nvPr/>
                    </p:nvPicPr>
                    <p:blipFill>
                      <a:blip r:embed="rId10"/>
                      <a:stretch>
                        <a:fillRect/>
                      </a:stretch>
                    </p:blipFill>
                    <p:spPr>
                      <a:xfrm>
                        <a:off x="2249488" y="1693863"/>
                        <a:ext cx="1044575" cy="357187"/>
                      </a:xfrm>
                      <a:prstGeom prst="rect">
                        <a:avLst/>
                      </a:prstGeom>
                      <a:solidFill>
                        <a:schemeClr val="accent1"/>
                      </a:solidFill>
                      <a:ln w="38100">
                        <a:noFill/>
                        <a:miter/>
                      </a:ln>
                    </p:spPr>
                  </p:pic>
                </p:oleObj>
              </mc:Fallback>
            </mc:AlternateContent>
          </a:graphicData>
        </a:graphic>
      </p:graphicFrame>
      <p:graphicFrame>
        <p:nvGraphicFramePr>
          <p:cNvPr id="13" name="对象 12"/>
          <p:cNvGraphicFramePr>
            <a:graphicFrameLocks noChangeAspect="1"/>
          </p:cNvGraphicFramePr>
          <p:nvPr/>
        </p:nvGraphicFramePr>
        <p:xfrm>
          <a:off x="1047750" y="2286000"/>
          <a:ext cx="893763" cy="550863"/>
        </p:xfrm>
        <a:graphic>
          <a:graphicData uri="http://schemas.openxmlformats.org/presentationml/2006/ole">
            <mc:AlternateContent xmlns:mc="http://schemas.openxmlformats.org/markup-compatibility/2006">
              <mc:Choice xmlns:v="urn:schemas-microsoft-com:vml" Requires="v">
                <p:oleObj spid="_x0000_s3264" name="" r:id="rId11" imgW="483870" imgH="292735" progId="Equation.3">
                  <p:embed/>
                </p:oleObj>
              </mc:Choice>
              <mc:Fallback>
                <p:oleObj name="" r:id="rId11" imgW="483870" imgH="292735" progId="Equation.3">
                  <p:embed/>
                  <p:pic>
                    <p:nvPicPr>
                      <p:cNvPr id="0" name="图片 3263"/>
                      <p:cNvPicPr/>
                      <p:nvPr/>
                    </p:nvPicPr>
                    <p:blipFill>
                      <a:blip r:embed="rId12"/>
                      <a:stretch>
                        <a:fillRect/>
                      </a:stretch>
                    </p:blipFill>
                    <p:spPr>
                      <a:xfrm>
                        <a:off x="1047750" y="2286000"/>
                        <a:ext cx="893763" cy="550863"/>
                      </a:xfrm>
                      <a:prstGeom prst="rect">
                        <a:avLst/>
                      </a:prstGeom>
                      <a:solidFill>
                        <a:schemeClr val="accent1"/>
                      </a:solidFill>
                      <a:ln w="38100">
                        <a:noFill/>
                        <a:miter/>
                      </a:ln>
                    </p:spPr>
                  </p:pic>
                </p:oleObj>
              </mc:Fallback>
            </mc:AlternateContent>
          </a:graphicData>
        </a:graphic>
      </p:graphicFrame>
      <p:graphicFrame>
        <p:nvGraphicFramePr>
          <p:cNvPr id="14" name="对象 13"/>
          <p:cNvGraphicFramePr>
            <a:graphicFrameLocks noChangeAspect="1"/>
          </p:cNvGraphicFramePr>
          <p:nvPr/>
        </p:nvGraphicFramePr>
        <p:xfrm>
          <a:off x="4025900" y="2130425"/>
          <a:ext cx="1185863" cy="755650"/>
        </p:xfrm>
        <a:graphic>
          <a:graphicData uri="http://schemas.openxmlformats.org/presentationml/2006/ole">
            <mc:AlternateContent xmlns:mc="http://schemas.openxmlformats.org/markup-compatibility/2006">
              <mc:Choice xmlns:v="urn:schemas-microsoft-com:vml" Requires="v">
                <p:oleObj spid="_x0000_s3263" name="" r:id="rId13" imgW="457200" imgH="292100" progId="Equation.3">
                  <p:embed/>
                </p:oleObj>
              </mc:Choice>
              <mc:Fallback>
                <p:oleObj name="" r:id="rId13" imgW="457200" imgH="292100" progId="Equation.3">
                  <p:embed/>
                  <p:pic>
                    <p:nvPicPr>
                      <p:cNvPr id="0" name="图片 3262"/>
                      <p:cNvPicPr/>
                      <p:nvPr/>
                    </p:nvPicPr>
                    <p:blipFill>
                      <a:blip r:embed="rId14"/>
                      <a:stretch>
                        <a:fillRect/>
                      </a:stretch>
                    </p:blipFill>
                    <p:spPr>
                      <a:xfrm>
                        <a:off x="4025900" y="2130425"/>
                        <a:ext cx="1185863" cy="755650"/>
                      </a:xfrm>
                      <a:prstGeom prst="rect">
                        <a:avLst/>
                      </a:prstGeom>
                      <a:solidFill>
                        <a:schemeClr val="accent1"/>
                      </a:solidFill>
                      <a:ln w="38100">
                        <a:noFill/>
                        <a:miter/>
                      </a:ln>
                    </p:spPr>
                  </p:pic>
                </p:oleObj>
              </mc:Fallback>
            </mc:AlternateContent>
          </a:graphicData>
        </a:graphic>
      </p:graphicFrame>
      <p:graphicFrame>
        <p:nvGraphicFramePr>
          <p:cNvPr id="15" name="对象 14"/>
          <p:cNvGraphicFramePr>
            <a:graphicFrameLocks noChangeAspect="1"/>
          </p:cNvGraphicFramePr>
          <p:nvPr/>
        </p:nvGraphicFramePr>
        <p:xfrm>
          <a:off x="2089150" y="3001963"/>
          <a:ext cx="2895600" cy="771525"/>
        </p:xfrm>
        <a:graphic>
          <a:graphicData uri="http://schemas.openxmlformats.org/presentationml/2006/ole">
            <mc:AlternateContent xmlns:mc="http://schemas.openxmlformats.org/markup-compatibility/2006">
              <mc:Choice xmlns:v="urn:schemas-microsoft-com:vml" Requires="v">
                <p:oleObj spid="_x0000_s3265" name="" r:id="rId15" imgW="1638300" imgH="419100" progId="Equation.3">
                  <p:embed/>
                </p:oleObj>
              </mc:Choice>
              <mc:Fallback>
                <p:oleObj name="" r:id="rId15" imgW="1638300" imgH="419100" progId="Equation.3">
                  <p:embed/>
                  <p:pic>
                    <p:nvPicPr>
                      <p:cNvPr id="0" name="图片 3264"/>
                      <p:cNvPicPr/>
                      <p:nvPr/>
                    </p:nvPicPr>
                    <p:blipFill>
                      <a:blip r:embed="rId16"/>
                      <a:stretch>
                        <a:fillRect/>
                      </a:stretch>
                    </p:blipFill>
                    <p:spPr>
                      <a:xfrm>
                        <a:off x="2089150" y="3001963"/>
                        <a:ext cx="2895600" cy="771525"/>
                      </a:xfrm>
                      <a:prstGeom prst="rect">
                        <a:avLst/>
                      </a:prstGeom>
                      <a:solidFill>
                        <a:schemeClr val="accent1"/>
                      </a:solidFill>
                      <a:ln w="38100">
                        <a:noFill/>
                        <a:miter/>
                      </a:ln>
                    </p:spPr>
                  </p:pic>
                </p:oleObj>
              </mc:Fallback>
            </mc:AlternateContent>
          </a:graphicData>
        </a:graphic>
      </p:graphicFrame>
      <p:graphicFrame>
        <p:nvGraphicFramePr>
          <p:cNvPr id="16" name="对象 15"/>
          <p:cNvGraphicFramePr>
            <a:graphicFrameLocks noChangeAspect="1"/>
          </p:cNvGraphicFramePr>
          <p:nvPr/>
        </p:nvGraphicFramePr>
        <p:xfrm>
          <a:off x="2244725" y="4568825"/>
          <a:ext cx="2111375" cy="600075"/>
        </p:xfrm>
        <a:graphic>
          <a:graphicData uri="http://schemas.openxmlformats.org/presentationml/2006/ole">
            <mc:AlternateContent xmlns:mc="http://schemas.openxmlformats.org/markup-compatibility/2006">
              <mc:Choice xmlns:v="urn:schemas-microsoft-com:vml" Requires="v">
                <p:oleObj spid="_x0000_s3266" name="" r:id="rId17" imgW="1169035" imgH="317500" progId="Equation.3">
                  <p:embed/>
                </p:oleObj>
              </mc:Choice>
              <mc:Fallback>
                <p:oleObj name="" r:id="rId17" imgW="1169035" imgH="317500" progId="Equation.3">
                  <p:embed/>
                  <p:pic>
                    <p:nvPicPr>
                      <p:cNvPr id="0" name="图片 3265"/>
                      <p:cNvPicPr/>
                      <p:nvPr/>
                    </p:nvPicPr>
                    <p:blipFill>
                      <a:blip r:embed="rId18"/>
                      <a:stretch>
                        <a:fillRect/>
                      </a:stretch>
                    </p:blipFill>
                    <p:spPr>
                      <a:xfrm>
                        <a:off x="2244725" y="4568825"/>
                        <a:ext cx="2111375" cy="600075"/>
                      </a:xfrm>
                      <a:prstGeom prst="rect">
                        <a:avLst/>
                      </a:prstGeom>
                      <a:noFill/>
                      <a:ln w="38100">
                        <a:noFill/>
                        <a:miter/>
                      </a:ln>
                    </p:spPr>
                  </p:pic>
                </p:oleObj>
              </mc:Fallback>
            </mc:AlternateContent>
          </a:graphicData>
        </a:graphic>
      </p:graphicFrame>
      <p:graphicFrame>
        <p:nvGraphicFramePr>
          <p:cNvPr id="17" name="对象 16"/>
          <p:cNvGraphicFramePr>
            <a:graphicFrameLocks noChangeAspect="1"/>
          </p:cNvGraphicFramePr>
          <p:nvPr/>
        </p:nvGraphicFramePr>
        <p:xfrm>
          <a:off x="2124075" y="5413375"/>
          <a:ext cx="2063750" cy="631825"/>
        </p:xfrm>
        <a:graphic>
          <a:graphicData uri="http://schemas.openxmlformats.org/presentationml/2006/ole">
            <mc:AlternateContent xmlns:mc="http://schemas.openxmlformats.org/markup-compatibility/2006">
              <mc:Choice xmlns:v="urn:schemas-microsoft-com:vml" Requires="v">
                <p:oleObj spid="_x0000_s3274" name="" r:id="rId19" imgW="1053465" imgH="330200" progId="Equation.3">
                  <p:embed/>
                </p:oleObj>
              </mc:Choice>
              <mc:Fallback>
                <p:oleObj name="" r:id="rId19" imgW="1053465" imgH="330200" progId="Equation.3">
                  <p:embed/>
                  <p:pic>
                    <p:nvPicPr>
                      <p:cNvPr id="0" name="图片 3273"/>
                      <p:cNvPicPr/>
                      <p:nvPr/>
                    </p:nvPicPr>
                    <p:blipFill>
                      <a:blip r:embed="rId20"/>
                      <a:stretch>
                        <a:fillRect/>
                      </a:stretch>
                    </p:blipFill>
                    <p:spPr>
                      <a:xfrm>
                        <a:off x="2124075" y="5413375"/>
                        <a:ext cx="2063750" cy="631825"/>
                      </a:xfrm>
                      <a:prstGeom prst="rect">
                        <a:avLst/>
                      </a:prstGeom>
                      <a:noFill/>
                      <a:ln w="38100">
                        <a:noFill/>
                        <a:miter/>
                      </a:ln>
                    </p:spPr>
                  </p:pic>
                </p:oleObj>
              </mc:Fallback>
            </mc:AlternateContent>
          </a:graphicData>
        </a:graphic>
      </p:graphicFrame>
      <p:sp>
        <p:nvSpPr>
          <p:cNvPr id="18" name="Rectangle 17"/>
          <p:cNvSpPr/>
          <p:nvPr/>
        </p:nvSpPr>
        <p:spPr>
          <a:xfrm>
            <a:off x="261938" y="1698625"/>
            <a:ext cx="1857375" cy="369888"/>
          </a:xfrm>
          <a:prstGeom prst="rect">
            <a:avLst/>
          </a:prstGeom>
          <a:noFill/>
          <a:ln w="9525">
            <a:noFill/>
          </a:ln>
        </p:spPr>
        <p:txBody>
          <a:bodyPr wrap="none" anchor="ctr">
            <a:spAutoFit/>
          </a:bodyPr>
          <a:p>
            <a:pPr eaLnBrk="0" hangingPunct="0"/>
            <a:r>
              <a:rPr lang="zh-CN" altLang="zh-CN" sz="1800" dirty="0">
                <a:latin typeface="Times New Roman" panose="02020603050405020304" pitchFamily="18" charset="0"/>
                <a:ea typeface="宋体" panose="02010600030101010101" pitchFamily="2" charset="-122"/>
              </a:rPr>
              <a:t> 答：过渡带宽度</a:t>
            </a:r>
            <a:endParaRPr lang="en-US" altLang="zh-CN" sz="1800" dirty="0">
              <a:latin typeface="Times New Roman" panose="02020603050405020304" pitchFamily="18" charset="0"/>
              <a:ea typeface="宋体" panose="02010600030101010101" pitchFamily="2" charset="-122"/>
            </a:endParaRPr>
          </a:p>
        </p:txBody>
      </p:sp>
      <p:sp>
        <p:nvSpPr>
          <p:cNvPr id="149520" name="Rectangle 18"/>
          <p:cNvSpPr/>
          <p:nvPr/>
        </p:nvSpPr>
        <p:spPr>
          <a:xfrm>
            <a:off x="3435350" y="1687513"/>
            <a:ext cx="5337175" cy="368300"/>
          </a:xfrm>
          <a:prstGeom prst="rect">
            <a:avLst/>
          </a:prstGeom>
          <a:solidFill>
            <a:schemeClr val="accent1"/>
          </a:solidFill>
          <a:ln w="9525">
            <a:noFill/>
          </a:ln>
        </p:spPr>
        <p:txBody>
          <a:bodyPr anchor="ctr">
            <a:spAutoFit/>
          </a:bodyPr>
          <a:p>
            <a:pPr indent="266700" eaLnBrk="0" hangingPunct="0"/>
            <a:r>
              <a:rPr lang="zh-CN" altLang="en-US" sz="1800" dirty="0">
                <a:latin typeface="Times New Roman" panose="02020603050405020304" pitchFamily="18" charset="0"/>
                <a:ea typeface="宋体" panose="02010600030101010101" pitchFamily="2" charset="-122"/>
              </a:rPr>
              <a:t>由于阻带最小衰减为</a:t>
            </a:r>
            <a:r>
              <a:rPr lang="en-US" altLang="zh-CN" sz="1800" dirty="0">
                <a:latin typeface="Times New Roman" panose="02020603050405020304" pitchFamily="18" charset="0"/>
                <a:ea typeface="宋体" panose="02010600030101010101" pitchFamily="2" charset="-122"/>
              </a:rPr>
              <a:t>20dB    </a:t>
            </a:r>
            <a:r>
              <a:rPr lang="zh-CN" altLang="en-US" sz="1800" dirty="0">
                <a:latin typeface="Times New Roman" panose="02020603050405020304" pitchFamily="18" charset="0"/>
                <a:ea typeface="宋体" panose="02010600030101010101" pitchFamily="2" charset="-122"/>
              </a:rPr>
              <a:t>所以窗函数为</a:t>
            </a:r>
            <a:r>
              <a:rPr lang="zh-CN" altLang="en-US" sz="1800" b="1" u="sng" dirty="0">
                <a:solidFill>
                  <a:srgbClr val="FF0000"/>
                </a:solidFill>
                <a:latin typeface="Times New Roman" panose="02020603050405020304" pitchFamily="18" charset="0"/>
                <a:ea typeface="宋体" panose="02010600030101010101" pitchFamily="2" charset="-122"/>
              </a:rPr>
              <a:t>矩形窗</a:t>
            </a:r>
            <a:endParaRPr lang="zh-CN" altLang="en-US" sz="1800" b="1" u="sng" dirty="0">
              <a:solidFill>
                <a:srgbClr val="FF0000"/>
              </a:solidFill>
              <a:latin typeface="Times New Roman" panose="02020603050405020304" pitchFamily="18" charset="0"/>
              <a:ea typeface="宋体" panose="02010600030101010101" pitchFamily="2" charset="-122"/>
            </a:endParaRPr>
          </a:p>
        </p:txBody>
      </p:sp>
      <p:sp>
        <p:nvSpPr>
          <p:cNvPr id="21" name="Rectangle 20"/>
          <p:cNvSpPr/>
          <p:nvPr/>
        </p:nvSpPr>
        <p:spPr>
          <a:xfrm>
            <a:off x="2670175" y="2286000"/>
            <a:ext cx="823913" cy="523875"/>
          </a:xfrm>
          <a:prstGeom prst="rect">
            <a:avLst/>
          </a:prstGeom>
          <a:solidFill>
            <a:schemeClr val="accent1"/>
          </a:solidFill>
          <a:ln w="9525">
            <a:noFill/>
          </a:ln>
        </p:spPr>
        <p:txBody>
          <a:bodyPr anchor="ctr">
            <a:spAutoFit/>
          </a:bodyPr>
          <a:p>
            <a:pPr indent="333375" eaLnBrk="0" hangingPunct="0"/>
            <a:r>
              <a:rPr lang="en-US" altLang="zh-CN" sz="1200" baseline="-30000" dirty="0">
                <a:latin typeface="Times New Roman" panose="02020603050405020304" pitchFamily="18" charset="0"/>
                <a:ea typeface="宋体" panose="02010600030101010101" pitchFamily="2" charset="-122"/>
              </a:rPr>
              <a:t> </a:t>
            </a:r>
            <a:r>
              <a:rPr lang="en-US" altLang="zh-CN" sz="2000" baseline="-30000" dirty="0">
                <a:latin typeface="Times New Roman" panose="02020603050405020304" pitchFamily="18" charset="0"/>
                <a:ea typeface="宋体" panose="02010600030101010101" pitchFamily="2" charset="-122"/>
              </a:rPr>
              <a:t>N=40  </a:t>
            </a:r>
            <a:endParaRPr lang="en-US" altLang="zh-CN" sz="2000" dirty="0">
              <a:latin typeface="Times New Roman" panose="02020603050405020304" pitchFamily="18" charset="0"/>
              <a:ea typeface="宋体" panose="02010600030101010101" pitchFamily="2" charset="-122"/>
            </a:endParaRPr>
          </a:p>
        </p:txBody>
      </p:sp>
      <p:sp>
        <p:nvSpPr>
          <p:cNvPr id="149522" name="Rectangle 21"/>
          <p:cNvSpPr/>
          <p:nvPr/>
        </p:nvSpPr>
        <p:spPr>
          <a:xfrm>
            <a:off x="846138" y="3092450"/>
            <a:ext cx="1352550" cy="400050"/>
          </a:xfrm>
          <a:prstGeom prst="rect">
            <a:avLst/>
          </a:prstGeom>
          <a:noFill/>
          <a:ln w="9525">
            <a:noFill/>
          </a:ln>
        </p:spPr>
        <p:txBody>
          <a:bodyPr anchor="ctr">
            <a:spAutoFit/>
          </a:bodyPr>
          <a:p>
            <a:pPr eaLnBrk="0" hangingPunct="0"/>
            <a:r>
              <a:rPr lang="zh-CN" altLang="en-US" sz="2000" dirty="0">
                <a:latin typeface="Times New Roman" panose="02020603050405020304" pitchFamily="18" charset="0"/>
                <a:ea typeface="宋体" panose="02010600030101010101" pitchFamily="2" charset="-122"/>
              </a:rPr>
              <a:t>标准函数</a:t>
            </a:r>
            <a:endParaRPr lang="zh-CN" altLang="en-US" sz="2000" dirty="0">
              <a:latin typeface="Times New Roman" panose="02020603050405020304" pitchFamily="18" charset="0"/>
              <a:ea typeface="宋体" panose="02010600030101010101" pitchFamily="2" charset="-122"/>
            </a:endParaRPr>
          </a:p>
        </p:txBody>
      </p:sp>
      <p:sp>
        <p:nvSpPr>
          <p:cNvPr id="149523" name="Rectangle 22"/>
          <p:cNvSpPr/>
          <p:nvPr/>
        </p:nvSpPr>
        <p:spPr>
          <a:xfrm>
            <a:off x="377825" y="4010025"/>
            <a:ext cx="2538413" cy="400050"/>
          </a:xfrm>
          <a:prstGeom prst="rect">
            <a:avLst/>
          </a:prstGeom>
          <a:noFill/>
          <a:ln w="9525">
            <a:noFill/>
          </a:ln>
        </p:spPr>
        <p:txBody>
          <a:bodyPr anchor="ctr">
            <a:spAutoFit/>
          </a:bodyPr>
          <a:p>
            <a:pPr eaLnBrk="0" hangingPunct="0"/>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系统单位脉冲响应</a:t>
            </a:r>
            <a:endParaRPr lang="zh-CN" altLang="en-US" sz="2000" dirty="0">
              <a:latin typeface="Times New Roman" panose="02020603050405020304" pitchFamily="18" charset="0"/>
              <a:ea typeface="宋体" panose="02010600030101010101" pitchFamily="2" charset="-122"/>
            </a:endParaRPr>
          </a:p>
        </p:txBody>
      </p:sp>
      <p:sp>
        <p:nvSpPr>
          <p:cNvPr id="149524" name="Rectangle 23"/>
          <p:cNvSpPr/>
          <p:nvPr/>
        </p:nvSpPr>
        <p:spPr>
          <a:xfrm>
            <a:off x="438150" y="5172075"/>
            <a:ext cx="1274763" cy="400050"/>
          </a:xfrm>
          <a:prstGeom prst="rect">
            <a:avLst/>
          </a:prstGeom>
          <a:noFill/>
          <a:ln w="9525">
            <a:noFill/>
          </a:ln>
        </p:spPr>
        <p:txBody>
          <a:bodyPr wrap="none" anchor="ctr">
            <a:spAutoFit/>
          </a:bodyPr>
          <a:p>
            <a:pPr eaLnBrk="0" hangingPunct="0"/>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系统频响</a:t>
            </a:r>
            <a:endParaRPr lang="zh-CN" altLang="en-US" sz="2000" dirty="0">
              <a:latin typeface="Times New Roman" panose="02020603050405020304" pitchFamily="18" charset="0"/>
              <a:ea typeface="宋体" panose="02010600030101010101" pitchFamily="2" charset="-122"/>
            </a:endParaRPr>
          </a:p>
        </p:txBody>
      </p:sp>
      <p:sp>
        <p:nvSpPr>
          <p:cNvPr id="149525" name="Rectangle 36"/>
          <p:cNvSpPr/>
          <p:nvPr/>
        </p:nvSpPr>
        <p:spPr>
          <a:xfrm>
            <a:off x="0" y="0"/>
            <a:ext cx="9144000" cy="457200"/>
          </a:xfrm>
          <a:prstGeom prst="rect">
            <a:avLst/>
          </a:prstGeom>
          <a:noFill/>
          <a:ln w="9525">
            <a:noFill/>
          </a:ln>
        </p:spPr>
        <p:txBody>
          <a:bodyPr wrap="none" anchor="ctr">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26" name="对象 25"/>
          <p:cNvGraphicFramePr>
            <a:graphicFrameLocks noChangeAspect="1"/>
          </p:cNvGraphicFramePr>
          <p:nvPr/>
        </p:nvGraphicFramePr>
        <p:xfrm>
          <a:off x="6732588" y="685800"/>
          <a:ext cx="1671637" cy="312738"/>
        </p:xfrm>
        <a:graphic>
          <a:graphicData uri="http://schemas.openxmlformats.org/presentationml/2006/ole">
            <mc:AlternateContent xmlns:mc="http://schemas.openxmlformats.org/markup-compatibility/2006">
              <mc:Choice xmlns:v="urn:schemas-microsoft-com:vml" Requires="v">
                <p:oleObj spid="_x0000_s3283" name="" r:id="rId21" imgW="1219200" imgH="228600" progId="Equation.3">
                  <p:embed/>
                </p:oleObj>
              </mc:Choice>
              <mc:Fallback>
                <p:oleObj name="" r:id="rId21" imgW="1219200" imgH="228600" progId="Equation.3">
                  <p:embed/>
                  <p:pic>
                    <p:nvPicPr>
                      <p:cNvPr id="0" name="图片 3282"/>
                      <p:cNvPicPr/>
                      <p:nvPr/>
                    </p:nvPicPr>
                    <p:blipFill>
                      <a:blip r:embed="rId22"/>
                      <a:stretch>
                        <a:fillRect/>
                      </a:stretch>
                    </p:blipFill>
                    <p:spPr>
                      <a:xfrm>
                        <a:off x="6732588" y="685800"/>
                        <a:ext cx="1671637" cy="312738"/>
                      </a:xfrm>
                      <a:prstGeom prst="rect">
                        <a:avLst/>
                      </a:prstGeom>
                      <a:solidFill>
                        <a:srgbClr val="FF0000"/>
                      </a:solidFill>
                      <a:ln w="38100">
                        <a:noFill/>
                        <a:miter/>
                      </a:ln>
                    </p:spPr>
                  </p:pic>
                </p:oleObj>
              </mc:Fallback>
            </mc:AlternateContent>
          </a:graphicData>
        </a:graphic>
      </p:graphicFrame>
      <p:graphicFrame>
        <p:nvGraphicFramePr>
          <p:cNvPr id="28" name="对象 27"/>
          <p:cNvGraphicFramePr>
            <a:graphicFrameLocks noChangeAspect="1"/>
          </p:cNvGraphicFramePr>
          <p:nvPr/>
        </p:nvGraphicFramePr>
        <p:xfrm>
          <a:off x="962025" y="1114425"/>
          <a:ext cx="7799388" cy="527050"/>
        </p:xfrm>
        <a:graphic>
          <a:graphicData uri="http://schemas.openxmlformats.org/presentationml/2006/ole">
            <mc:AlternateContent xmlns:mc="http://schemas.openxmlformats.org/markup-compatibility/2006">
              <mc:Choice xmlns:v="urn:schemas-microsoft-com:vml" Requires="v">
                <p:oleObj spid="_x0000_s3273" name="" r:id="rId23" imgW="6464300" imgH="419100" progId="Equation.3">
                  <p:embed/>
                </p:oleObj>
              </mc:Choice>
              <mc:Fallback>
                <p:oleObj name="" r:id="rId23" imgW="6464300" imgH="419100" progId="Equation.3">
                  <p:embed/>
                  <p:pic>
                    <p:nvPicPr>
                      <p:cNvPr id="0" name="图片 3272"/>
                      <p:cNvPicPr/>
                      <p:nvPr/>
                    </p:nvPicPr>
                    <p:blipFill>
                      <a:blip r:embed="rId24"/>
                      <a:stretch>
                        <a:fillRect/>
                      </a:stretch>
                    </p:blipFill>
                    <p:spPr>
                      <a:xfrm>
                        <a:off x="962025" y="1114425"/>
                        <a:ext cx="7799388" cy="527050"/>
                      </a:xfrm>
                      <a:prstGeom prst="rect">
                        <a:avLst/>
                      </a:prstGeom>
                      <a:solidFill>
                        <a:srgbClr val="FF0000"/>
                      </a:solidFill>
                      <a:ln w="38100">
                        <a:noFill/>
                        <a:miter/>
                      </a:ln>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0529" name="对象 1"/>
          <p:cNvGraphicFramePr>
            <a:graphicFrameLocks noChangeAspect="1"/>
          </p:cNvGraphicFramePr>
          <p:nvPr/>
        </p:nvGraphicFramePr>
        <p:xfrm>
          <a:off x="7313613" y="347663"/>
          <a:ext cx="873125" cy="473075"/>
        </p:xfrm>
        <a:graphic>
          <a:graphicData uri="http://schemas.openxmlformats.org/presentationml/2006/ole">
            <mc:AlternateContent xmlns:mc="http://schemas.openxmlformats.org/markup-compatibility/2006">
              <mc:Choice xmlns:v="urn:schemas-microsoft-com:vml" Requires="v">
                <p:oleObj spid="_x0000_s3279" name="" r:id="rId1" imgW="558800" imgH="304800" progId="Equation.3">
                  <p:embed/>
                </p:oleObj>
              </mc:Choice>
              <mc:Fallback>
                <p:oleObj name="" r:id="rId1" imgW="558800" imgH="304800" progId="Equation.3">
                  <p:embed/>
                  <p:pic>
                    <p:nvPicPr>
                      <p:cNvPr id="0" name="图片 3278"/>
                      <p:cNvPicPr/>
                      <p:nvPr/>
                    </p:nvPicPr>
                    <p:blipFill>
                      <a:blip r:embed="rId2"/>
                      <a:stretch>
                        <a:fillRect/>
                      </a:stretch>
                    </p:blipFill>
                    <p:spPr>
                      <a:xfrm>
                        <a:off x="7313613" y="347663"/>
                        <a:ext cx="873125" cy="473075"/>
                      </a:xfrm>
                      <a:prstGeom prst="rect">
                        <a:avLst/>
                      </a:prstGeom>
                      <a:noFill/>
                      <a:ln w="38100">
                        <a:noFill/>
                        <a:miter/>
                      </a:ln>
                    </p:spPr>
                  </p:pic>
                </p:oleObj>
              </mc:Fallback>
            </mc:AlternateContent>
          </a:graphicData>
        </a:graphic>
      </p:graphicFrame>
      <p:graphicFrame>
        <p:nvGraphicFramePr>
          <p:cNvPr id="150530" name="对象 2"/>
          <p:cNvGraphicFramePr>
            <a:graphicFrameLocks noChangeAspect="1"/>
          </p:cNvGraphicFramePr>
          <p:nvPr/>
        </p:nvGraphicFramePr>
        <p:xfrm>
          <a:off x="3995738" y="1290638"/>
          <a:ext cx="354012" cy="338137"/>
        </p:xfrm>
        <a:graphic>
          <a:graphicData uri="http://schemas.openxmlformats.org/presentationml/2006/ole">
            <mc:AlternateContent xmlns:mc="http://schemas.openxmlformats.org/markup-compatibility/2006">
              <mc:Choice xmlns:v="urn:schemas-microsoft-com:vml" Requires="v">
                <p:oleObj spid="_x0000_s3281" name="" r:id="rId3" imgW="228600" imgH="215900" progId="Equation.3">
                  <p:embed/>
                </p:oleObj>
              </mc:Choice>
              <mc:Fallback>
                <p:oleObj name="" r:id="rId3" imgW="228600" imgH="215900" progId="Equation.3">
                  <p:embed/>
                  <p:pic>
                    <p:nvPicPr>
                      <p:cNvPr id="0" name="图片 3280"/>
                      <p:cNvPicPr/>
                      <p:nvPr/>
                    </p:nvPicPr>
                    <p:blipFill>
                      <a:blip r:embed="rId4"/>
                      <a:stretch>
                        <a:fillRect/>
                      </a:stretch>
                    </p:blipFill>
                    <p:spPr>
                      <a:xfrm>
                        <a:off x="3995738" y="1290638"/>
                        <a:ext cx="354012" cy="338137"/>
                      </a:xfrm>
                      <a:prstGeom prst="rect">
                        <a:avLst/>
                      </a:prstGeom>
                      <a:noFill/>
                      <a:ln w="38100">
                        <a:noFill/>
                        <a:miter/>
                      </a:ln>
                    </p:spPr>
                  </p:pic>
                </p:oleObj>
              </mc:Fallback>
            </mc:AlternateContent>
          </a:graphicData>
        </a:graphic>
      </p:graphicFrame>
      <p:graphicFrame>
        <p:nvGraphicFramePr>
          <p:cNvPr id="150531" name="对象 3"/>
          <p:cNvGraphicFramePr>
            <a:graphicFrameLocks noChangeAspect="1"/>
          </p:cNvGraphicFramePr>
          <p:nvPr/>
        </p:nvGraphicFramePr>
        <p:xfrm>
          <a:off x="5256213" y="1290638"/>
          <a:ext cx="336550" cy="407987"/>
        </p:xfrm>
        <a:graphic>
          <a:graphicData uri="http://schemas.openxmlformats.org/presentationml/2006/ole">
            <mc:AlternateContent xmlns:mc="http://schemas.openxmlformats.org/markup-compatibility/2006">
              <mc:Choice xmlns:v="urn:schemas-microsoft-com:vml" Requires="v">
                <p:oleObj spid="_x0000_s3275" name="" r:id="rId5" imgW="177165" imgH="215900" progId="Equation.3">
                  <p:embed/>
                </p:oleObj>
              </mc:Choice>
              <mc:Fallback>
                <p:oleObj name="" r:id="rId5" imgW="177165" imgH="215900" progId="Equation.3">
                  <p:embed/>
                  <p:pic>
                    <p:nvPicPr>
                      <p:cNvPr id="0" name="图片 3274"/>
                      <p:cNvPicPr/>
                      <p:nvPr/>
                    </p:nvPicPr>
                    <p:blipFill>
                      <a:blip r:embed="rId6"/>
                      <a:stretch>
                        <a:fillRect/>
                      </a:stretch>
                    </p:blipFill>
                    <p:spPr>
                      <a:xfrm>
                        <a:off x="5256213" y="1290638"/>
                        <a:ext cx="336550" cy="407987"/>
                      </a:xfrm>
                      <a:prstGeom prst="rect">
                        <a:avLst/>
                      </a:prstGeom>
                      <a:noFill/>
                      <a:ln w="38100">
                        <a:noFill/>
                        <a:miter/>
                      </a:ln>
                    </p:spPr>
                  </p:pic>
                </p:oleObj>
              </mc:Fallback>
            </mc:AlternateContent>
          </a:graphicData>
        </a:graphic>
      </p:graphicFrame>
      <p:graphicFrame>
        <p:nvGraphicFramePr>
          <p:cNvPr id="150532" name="对象 4"/>
          <p:cNvGraphicFramePr>
            <a:graphicFrameLocks noChangeAspect="1"/>
          </p:cNvGraphicFramePr>
          <p:nvPr/>
        </p:nvGraphicFramePr>
        <p:xfrm>
          <a:off x="2062163" y="1698625"/>
          <a:ext cx="565150" cy="320675"/>
        </p:xfrm>
        <a:graphic>
          <a:graphicData uri="http://schemas.openxmlformats.org/presentationml/2006/ole">
            <mc:AlternateContent xmlns:mc="http://schemas.openxmlformats.org/markup-compatibility/2006">
              <mc:Choice xmlns:v="urn:schemas-microsoft-com:vml" Requires="v">
                <p:oleObj spid="_x0000_s3284" name="" r:id="rId7" imgW="355600" imgH="203200" progId="Equation.3">
                  <p:embed/>
                </p:oleObj>
              </mc:Choice>
              <mc:Fallback>
                <p:oleObj name="" r:id="rId7" imgW="355600" imgH="203200" progId="Equation.3">
                  <p:embed/>
                  <p:pic>
                    <p:nvPicPr>
                      <p:cNvPr id="0" name="图片 3283"/>
                      <p:cNvPicPr/>
                      <p:nvPr/>
                    </p:nvPicPr>
                    <p:blipFill>
                      <a:blip r:embed="rId8"/>
                      <a:stretch>
                        <a:fillRect/>
                      </a:stretch>
                    </p:blipFill>
                    <p:spPr>
                      <a:xfrm>
                        <a:off x="2062163" y="1698625"/>
                        <a:ext cx="565150" cy="320675"/>
                      </a:xfrm>
                      <a:prstGeom prst="rect">
                        <a:avLst/>
                      </a:prstGeom>
                      <a:noFill/>
                      <a:ln w="38100">
                        <a:noFill/>
                        <a:miter/>
                      </a:ln>
                    </p:spPr>
                  </p:pic>
                </p:oleObj>
              </mc:Fallback>
            </mc:AlternateContent>
          </a:graphicData>
        </a:graphic>
      </p:graphicFrame>
      <p:sp>
        <p:nvSpPr>
          <p:cNvPr id="150533" name="Rectangle 5"/>
          <p:cNvSpPr/>
          <p:nvPr/>
        </p:nvSpPr>
        <p:spPr>
          <a:xfrm>
            <a:off x="0" y="384175"/>
            <a:ext cx="7416800" cy="400050"/>
          </a:xfrm>
          <a:prstGeom prst="rect">
            <a:avLst/>
          </a:prstGeom>
          <a:noFill/>
          <a:ln w="9525">
            <a:noFill/>
          </a:ln>
        </p:spPr>
        <p:txBody>
          <a:bodyPr anchor="ctr">
            <a:spAutoFit/>
          </a:bodyPr>
          <a:p>
            <a:pPr eaLnBrk="0" hangingPunct="0"/>
            <a:r>
              <a:rPr lang="zh-CN" altLang="en-US" sz="2000" b="1" dirty="0">
                <a:latin typeface="Times New Roman" panose="02020603050405020304" pitchFamily="18" charset="0"/>
                <a:ea typeface="宋体" panose="02010600030101010101" pitchFamily="2" charset="-122"/>
              </a:rPr>
              <a:t>习题四：</a:t>
            </a:r>
            <a:r>
              <a:rPr lang="zh-CN" altLang="zh-CN" sz="2000" b="1" dirty="0">
                <a:latin typeface="Times New Roman" panose="02020603050405020304" pitchFamily="18" charset="0"/>
                <a:ea typeface="宋体" panose="02010600030101010101" pitchFamily="2" charset="-122"/>
              </a:rPr>
              <a:t>用频率采样法设计一个线性相位低通滤波器，截止频率</a:t>
            </a:r>
            <a:endParaRPr lang="zh-CN" altLang="zh-CN" sz="2000" dirty="0">
              <a:latin typeface="Times New Roman" panose="02020603050405020304" pitchFamily="18" charset="0"/>
              <a:ea typeface="宋体" panose="02010600030101010101" pitchFamily="2" charset="-122"/>
            </a:endParaRPr>
          </a:p>
        </p:txBody>
      </p:sp>
      <p:sp>
        <p:nvSpPr>
          <p:cNvPr id="150534" name="Rectangle 6"/>
          <p:cNvSpPr/>
          <p:nvPr/>
        </p:nvSpPr>
        <p:spPr>
          <a:xfrm>
            <a:off x="107950" y="642938"/>
            <a:ext cx="4957763" cy="1016000"/>
          </a:xfrm>
          <a:prstGeom prst="rect">
            <a:avLst/>
          </a:prstGeom>
          <a:noFill/>
          <a:ln w="9525">
            <a:noFill/>
          </a:ln>
        </p:spPr>
        <p:txBody>
          <a:bodyPr wrap="none" anchor="ctr">
            <a:spAutoFit/>
          </a:bodyPr>
          <a:p>
            <a:pPr eaLnBrk="0" hangingPunct="0"/>
            <a:r>
              <a:rPr lang="zh-CN" altLang="zh-CN" sz="2000" b="1" dirty="0">
                <a:latin typeface="Times New Roman" panose="02020603050405020304" pitchFamily="18" charset="0"/>
                <a:ea typeface="宋体" panose="02010600030101010101" pitchFamily="2" charset="-122"/>
              </a:rPr>
              <a:t>边沿不放过渡点。</a:t>
            </a:r>
            <a:endParaRPr lang="en-US" altLang="zh-CN" sz="2000" b="1" dirty="0">
              <a:latin typeface="Times New Roman" panose="02020603050405020304" pitchFamily="18" charset="0"/>
              <a:ea typeface="宋体" panose="02010600030101010101" pitchFamily="2" charset="-122"/>
            </a:endParaRPr>
          </a:p>
          <a:p>
            <a:pPr eaLnBrk="0" hangingPunct="0"/>
            <a:r>
              <a:rPr lang="zh-CN" altLang="zh-CN"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1</a:t>
            </a:r>
            <a:r>
              <a:rPr lang="zh-CN" altLang="en-US" sz="2000" b="1" dirty="0">
                <a:latin typeface="Times New Roman" panose="02020603050405020304" pitchFamily="18" charset="0"/>
                <a:ea typeface="宋体" panose="02010600030101010101" pitchFamily="2" charset="-122"/>
              </a:rPr>
              <a:t>）请问有几种类型，并判断为第几类？</a:t>
            </a:r>
            <a:endParaRPr lang="en-US" altLang="zh-CN" sz="2000" b="1" dirty="0">
              <a:latin typeface="Times New Roman" panose="02020603050405020304" pitchFamily="18" charset="0"/>
              <a:ea typeface="宋体" panose="02010600030101010101" pitchFamily="2" charset="-122"/>
            </a:endParaRPr>
          </a:p>
          <a:p>
            <a:pPr eaLnBrk="0" hangingPunct="0"/>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2</a:t>
            </a:r>
            <a:r>
              <a:rPr lang="zh-CN" altLang="en-US" sz="2000" b="1" dirty="0">
                <a:latin typeface="Times New Roman" panose="02020603050405020304" pitchFamily="18" charset="0"/>
                <a:ea typeface="宋体" panose="02010600030101010101" pitchFamily="2" charset="-122"/>
              </a:rPr>
              <a:t>）当</a:t>
            </a:r>
            <a:r>
              <a:rPr lang="en-US" altLang="zh-CN" sz="2000" b="1" dirty="0">
                <a:latin typeface="Times New Roman" panose="02020603050405020304" pitchFamily="18" charset="0"/>
                <a:ea typeface="宋体" panose="02010600030101010101" pitchFamily="2" charset="-122"/>
              </a:rPr>
              <a:t>N=8</a:t>
            </a:r>
            <a:r>
              <a:rPr lang="zh-CN" altLang="en-US" sz="2000" b="1" dirty="0">
                <a:latin typeface="Times New Roman" panose="02020603050405020304" pitchFamily="18" charset="0"/>
                <a:ea typeface="宋体" panose="02010600030101010101" pitchFamily="2" charset="-122"/>
              </a:rPr>
              <a:t>，求各采样点的幅值</a:t>
            </a:r>
            <a:endParaRPr lang="zh-CN" altLang="en-US" sz="2000" dirty="0">
              <a:latin typeface="Times New Roman" panose="02020603050405020304" pitchFamily="18" charset="0"/>
              <a:ea typeface="宋体" panose="02010600030101010101" pitchFamily="2" charset="-122"/>
            </a:endParaRPr>
          </a:p>
        </p:txBody>
      </p:sp>
      <p:sp>
        <p:nvSpPr>
          <p:cNvPr id="150535" name="Rectangle 7"/>
          <p:cNvSpPr/>
          <p:nvPr/>
        </p:nvSpPr>
        <p:spPr>
          <a:xfrm>
            <a:off x="4343400" y="1266825"/>
            <a:ext cx="1081088" cy="400050"/>
          </a:xfrm>
          <a:prstGeom prst="rect">
            <a:avLst/>
          </a:prstGeom>
          <a:noFill/>
          <a:ln w="9525">
            <a:noFill/>
          </a:ln>
        </p:spPr>
        <p:txBody>
          <a:bodyPr anchor="ctr">
            <a:spAutoFit/>
          </a:bodyPr>
          <a:p>
            <a:pPr eaLnBrk="0" hangingPunct="0"/>
            <a:r>
              <a:rPr lang="zh-CN" altLang="zh-CN" sz="2000" b="1" dirty="0">
                <a:latin typeface="Times New Roman" panose="02020603050405020304" pitchFamily="18" charset="0"/>
                <a:ea typeface="宋体" panose="02010600030101010101" pitchFamily="2" charset="-122"/>
              </a:rPr>
              <a:t>和相位</a:t>
            </a:r>
            <a:endParaRPr lang="zh-CN" altLang="zh-CN" sz="2000" dirty="0">
              <a:latin typeface="Times New Roman" panose="02020603050405020304" pitchFamily="18" charset="0"/>
              <a:ea typeface="宋体" panose="02010600030101010101" pitchFamily="2" charset="-122"/>
            </a:endParaRPr>
          </a:p>
        </p:txBody>
      </p:sp>
      <p:sp>
        <p:nvSpPr>
          <p:cNvPr id="150536" name="Rectangle 8"/>
          <p:cNvSpPr/>
          <p:nvPr/>
        </p:nvSpPr>
        <p:spPr>
          <a:xfrm>
            <a:off x="92075" y="1624013"/>
            <a:ext cx="2063750" cy="400050"/>
          </a:xfrm>
          <a:prstGeom prst="rect">
            <a:avLst/>
          </a:prstGeom>
          <a:noFill/>
          <a:ln w="9525">
            <a:noFill/>
          </a:ln>
        </p:spPr>
        <p:txBody>
          <a:bodyPr wrap="none" anchor="ctr">
            <a:spAutoFit/>
          </a:bodyPr>
          <a:p>
            <a:pPr eaLnBrk="0" hangingPunct="0"/>
            <a:r>
              <a:rPr lang="zh-CN" altLang="zh-CN"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3</a:t>
            </a:r>
            <a:r>
              <a:rPr lang="zh-CN" altLang="en-US" sz="2000" b="1" dirty="0">
                <a:latin typeface="Times New Roman" panose="02020603050405020304" pitchFamily="18" charset="0"/>
                <a:ea typeface="宋体" panose="02010600030101010101" pitchFamily="2" charset="-122"/>
              </a:rPr>
              <a:t>）求</a:t>
            </a:r>
            <a:r>
              <a:rPr lang="en-US" altLang="zh-CN" sz="2000" b="1" dirty="0">
                <a:latin typeface="Times New Roman" panose="02020603050405020304" pitchFamily="18" charset="0"/>
                <a:ea typeface="宋体" panose="02010600030101010101" pitchFamily="2" charset="-122"/>
              </a:rPr>
              <a:t>N=8</a:t>
            </a:r>
            <a:r>
              <a:rPr lang="zh-CN" altLang="en-US" sz="2000" b="1" dirty="0">
                <a:latin typeface="Times New Roman" panose="02020603050405020304" pitchFamily="18" charset="0"/>
                <a:ea typeface="宋体" panose="02010600030101010101" pitchFamily="2" charset="-122"/>
              </a:rPr>
              <a:t>时的</a:t>
            </a:r>
            <a:endParaRPr lang="zh-CN" altLang="en-US" sz="2000" dirty="0">
              <a:latin typeface="Times New Roman" panose="02020603050405020304" pitchFamily="18" charset="0"/>
              <a:ea typeface="宋体" panose="02010600030101010101" pitchFamily="2" charset="-122"/>
            </a:endParaRPr>
          </a:p>
        </p:txBody>
      </p:sp>
      <p:graphicFrame>
        <p:nvGraphicFramePr>
          <p:cNvPr id="11" name="对象 10"/>
          <p:cNvGraphicFramePr>
            <a:graphicFrameLocks noChangeAspect="1"/>
          </p:cNvGraphicFramePr>
          <p:nvPr/>
        </p:nvGraphicFramePr>
        <p:xfrm>
          <a:off x="4708525" y="2424113"/>
          <a:ext cx="576263" cy="366712"/>
        </p:xfrm>
        <a:graphic>
          <a:graphicData uri="http://schemas.openxmlformats.org/presentationml/2006/ole">
            <mc:AlternateContent xmlns:mc="http://schemas.openxmlformats.org/markup-compatibility/2006">
              <mc:Choice xmlns:v="urn:schemas-microsoft-com:vml" Requires="v">
                <p:oleObj spid="_x0000_s3280" name="" r:id="rId9" imgW="316865" imgH="203200" progId="Equation.3">
                  <p:embed/>
                </p:oleObj>
              </mc:Choice>
              <mc:Fallback>
                <p:oleObj name="" r:id="rId9" imgW="316865" imgH="203200" progId="Equation.3">
                  <p:embed/>
                  <p:pic>
                    <p:nvPicPr>
                      <p:cNvPr id="0" name="图片 3279"/>
                      <p:cNvPicPr/>
                      <p:nvPr/>
                    </p:nvPicPr>
                    <p:blipFill>
                      <a:blip r:embed="rId10"/>
                      <a:stretch>
                        <a:fillRect/>
                      </a:stretch>
                    </p:blipFill>
                    <p:spPr>
                      <a:xfrm>
                        <a:off x="4708525" y="2424113"/>
                        <a:ext cx="576263" cy="366712"/>
                      </a:xfrm>
                      <a:prstGeom prst="rect">
                        <a:avLst/>
                      </a:prstGeom>
                      <a:noFill/>
                      <a:ln w="38100">
                        <a:noFill/>
                        <a:miter/>
                      </a:ln>
                    </p:spPr>
                  </p:pic>
                </p:oleObj>
              </mc:Fallback>
            </mc:AlternateContent>
          </a:graphicData>
        </a:graphic>
      </p:graphicFrame>
      <p:graphicFrame>
        <p:nvGraphicFramePr>
          <p:cNvPr id="12" name="对象 11"/>
          <p:cNvGraphicFramePr>
            <a:graphicFrameLocks noChangeAspect="1"/>
          </p:cNvGraphicFramePr>
          <p:nvPr/>
        </p:nvGraphicFramePr>
        <p:xfrm>
          <a:off x="1706563" y="2906713"/>
          <a:ext cx="4344987" cy="312737"/>
        </p:xfrm>
        <a:graphic>
          <a:graphicData uri="http://schemas.openxmlformats.org/presentationml/2006/ole">
            <mc:AlternateContent xmlns:mc="http://schemas.openxmlformats.org/markup-compatibility/2006">
              <mc:Choice xmlns:v="urn:schemas-microsoft-com:vml" Requires="v">
                <p:oleObj spid="_x0000_s3285" name="" r:id="rId11" imgW="3035300" imgH="215900" progId="Equation.3">
                  <p:embed/>
                </p:oleObj>
              </mc:Choice>
              <mc:Fallback>
                <p:oleObj name="" r:id="rId11" imgW="3035300" imgH="215900" progId="Equation.3">
                  <p:embed/>
                  <p:pic>
                    <p:nvPicPr>
                      <p:cNvPr id="0" name="图片 3284"/>
                      <p:cNvPicPr/>
                      <p:nvPr/>
                    </p:nvPicPr>
                    <p:blipFill>
                      <a:blip r:embed="rId12"/>
                      <a:stretch>
                        <a:fillRect/>
                      </a:stretch>
                    </p:blipFill>
                    <p:spPr>
                      <a:xfrm>
                        <a:off x="1706563" y="2906713"/>
                        <a:ext cx="4344987" cy="312737"/>
                      </a:xfrm>
                      <a:prstGeom prst="rect">
                        <a:avLst/>
                      </a:prstGeom>
                      <a:solidFill>
                        <a:schemeClr val="accent1"/>
                      </a:solidFill>
                      <a:ln w="38100">
                        <a:noFill/>
                        <a:miter/>
                      </a:ln>
                    </p:spPr>
                  </p:pic>
                </p:oleObj>
              </mc:Fallback>
            </mc:AlternateContent>
          </a:graphicData>
        </a:graphic>
      </p:graphicFrame>
      <p:graphicFrame>
        <p:nvGraphicFramePr>
          <p:cNvPr id="13" name="对象 12"/>
          <p:cNvGraphicFramePr>
            <a:graphicFrameLocks noChangeAspect="1"/>
          </p:cNvGraphicFramePr>
          <p:nvPr/>
        </p:nvGraphicFramePr>
        <p:xfrm>
          <a:off x="1908175" y="3282950"/>
          <a:ext cx="2740025" cy="581025"/>
        </p:xfrm>
        <a:graphic>
          <a:graphicData uri="http://schemas.openxmlformats.org/presentationml/2006/ole">
            <mc:AlternateContent xmlns:mc="http://schemas.openxmlformats.org/markup-compatibility/2006">
              <mc:Choice xmlns:v="urn:schemas-microsoft-com:vml" Requires="v">
                <p:oleObj spid="_x0000_s3276" name="" r:id="rId13" imgW="1841500" imgH="393700" progId="Equation.3">
                  <p:embed/>
                </p:oleObj>
              </mc:Choice>
              <mc:Fallback>
                <p:oleObj name="" r:id="rId13" imgW="1841500" imgH="393700" progId="Equation.3">
                  <p:embed/>
                  <p:pic>
                    <p:nvPicPr>
                      <p:cNvPr id="0" name="图片 3275"/>
                      <p:cNvPicPr/>
                      <p:nvPr/>
                    </p:nvPicPr>
                    <p:blipFill>
                      <a:blip r:embed="rId14"/>
                      <a:stretch>
                        <a:fillRect/>
                      </a:stretch>
                    </p:blipFill>
                    <p:spPr>
                      <a:xfrm>
                        <a:off x="1908175" y="3282950"/>
                        <a:ext cx="2740025" cy="581025"/>
                      </a:xfrm>
                      <a:prstGeom prst="rect">
                        <a:avLst/>
                      </a:prstGeom>
                      <a:solidFill>
                        <a:schemeClr val="accent1"/>
                      </a:solidFill>
                      <a:ln w="38100">
                        <a:noFill/>
                        <a:miter/>
                      </a:ln>
                    </p:spPr>
                  </p:pic>
                </p:oleObj>
              </mc:Fallback>
            </mc:AlternateContent>
          </a:graphicData>
        </a:graphic>
      </p:graphicFrame>
      <p:graphicFrame>
        <p:nvGraphicFramePr>
          <p:cNvPr id="14" name="对象 13"/>
          <p:cNvGraphicFramePr>
            <a:graphicFrameLocks noChangeAspect="1"/>
          </p:cNvGraphicFramePr>
          <p:nvPr/>
        </p:nvGraphicFramePr>
        <p:xfrm>
          <a:off x="1989138" y="3933825"/>
          <a:ext cx="846137" cy="458788"/>
        </p:xfrm>
        <a:graphic>
          <a:graphicData uri="http://schemas.openxmlformats.org/presentationml/2006/ole">
            <mc:AlternateContent xmlns:mc="http://schemas.openxmlformats.org/markup-compatibility/2006">
              <mc:Choice xmlns:v="urn:schemas-microsoft-com:vml" Requires="v">
                <p:oleObj spid="_x0000_s3282" name="" r:id="rId15" imgW="558800" imgH="304800" progId="Equation.3">
                  <p:embed/>
                </p:oleObj>
              </mc:Choice>
              <mc:Fallback>
                <p:oleObj name="" r:id="rId15" imgW="558800" imgH="304800" progId="Equation.3">
                  <p:embed/>
                  <p:pic>
                    <p:nvPicPr>
                      <p:cNvPr id="0" name="图片 3281"/>
                      <p:cNvPicPr/>
                      <p:nvPr/>
                    </p:nvPicPr>
                    <p:blipFill>
                      <a:blip r:embed="rId2"/>
                      <a:stretch>
                        <a:fillRect/>
                      </a:stretch>
                    </p:blipFill>
                    <p:spPr>
                      <a:xfrm>
                        <a:off x="1989138" y="3933825"/>
                        <a:ext cx="846137" cy="458788"/>
                      </a:xfrm>
                      <a:prstGeom prst="rect">
                        <a:avLst/>
                      </a:prstGeom>
                      <a:noFill/>
                      <a:ln w="38100">
                        <a:noFill/>
                        <a:miter/>
                      </a:ln>
                    </p:spPr>
                  </p:pic>
                </p:oleObj>
              </mc:Fallback>
            </mc:AlternateContent>
          </a:graphicData>
        </a:graphic>
      </p:graphicFrame>
      <p:graphicFrame>
        <p:nvGraphicFramePr>
          <p:cNvPr id="15" name="对象 14"/>
          <p:cNvGraphicFramePr>
            <a:graphicFrameLocks noChangeAspect="1"/>
          </p:cNvGraphicFramePr>
          <p:nvPr/>
        </p:nvGraphicFramePr>
        <p:xfrm>
          <a:off x="3395663" y="4222750"/>
          <a:ext cx="1200150" cy="1065213"/>
        </p:xfrm>
        <a:graphic>
          <a:graphicData uri="http://schemas.openxmlformats.org/presentationml/2006/ole">
            <mc:AlternateContent xmlns:mc="http://schemas.openxmlformats.org/markup-compatibility/2006">
              <mc:Choice xmlns:v="urn:schemas-microsoft-com:vml" Requires="v">
                <p:oleObj spid="_x0000_s3277" name="" r:id="rId16" imgW="711200" imgH="635000" progId="Equation.3">
                  <p:embed/>
                </p:oleObj>
              </mc:Choice>
              <mc:Fallback>
                <p:oleObj name="" r:id="rId16" imgW="711200" imgH="635000" progId="Equation.3">
                  <p:embed/>
                  <p:pic>
                    <p:nvPicPr>
                      <p:cNvPr id="0" name="图片 3276"/>
                      <p:cNvPicPr/>
                      <p:nvPr/>
                    </p:nvPicPr>
                    <p:blipFill>
                      <a:blip r:embed="rId17"/>
                      <a:stretch>
                        <a:fillRect/>
                      </a:stretch>
                    </p:blipFill>
                    <p:spPr>
                      <a:xfrm>
                        <a:off x="3395663" y="4222750"/>
                        <a:ext cx="1200150" cy="1065213"/>
                      </a:xfrm>
                      <a:prstGeom prst="rect">
                        <a:avLst/>
                      </a:prstGeom>
                      <a:solidFill>
                        <a:schemeClr val="accent1"/>
                      </a:solidFill>
                      <a:ln w="38100">
                        <a:noFill/>
                        <a:miter/>
                      </a:ln>
                    </p:spPr>
                  </p:pic>
                </p:oleObj>
              </mc:Fallback>
            </mc:AlternateContent>
          </a:graphicData>
        </a:graphic>
      </p:graphicFrame>
      <p:graphicFrame>
        <p:nvGraphicFramePr>
          <p:cNvPr id="16" name="对象 15"/>
          <p:cNvGraphicFramePr>
            <a:graphicFrameLocks noChangeAspect="1"/>
          </p:cNvGraphicFramePr>
          <p:nvPr/>
        </p:nvGraphicFramePr>
        <p:xfrm>
          <a:off x="4343400" y="3430588"/>
          <a:ext cx="4856163" cy="1147762"/>
        </p:xfrm>
        <a:graphic>
          <a:graphicData uri="http://schemas.openxmlformats.org/presentationml/2006/ole">
            <mc:AlternateContent xmlns:mc="http://schemas.openxmlformats.org/markup-compatibility/2006">
              <mc:Choice xmlns:v="urn:schemas-microsoft-com:vml" Requires="v">
                <p:oleObj spid="_x0000_s3278" name="" r:id="rId18" imgW="3124200" imgH="736600" progId="Equation.3">
                  <p:embed/>
                </p:oleObj>
              </mc:Choice>
              <mc:Fallback>
                <p:oleObj name="" r:id="rId18" imgW="3124200" imgH="736600" progId="Equation.3">
                  <p:embed/>
                  <p:pic>
                    <p:nvPicPr>
                      <p:cNvPr id="0" name="图片 3277"/>
                      <p:cNvPicPr/>
                      <p:nvPr/>
                    </p:nvPicPr>
                    <p:blipFill>
                      <a:blip r:embed="rId19"/>
                      <a:stretch>
                        <a:fillRect/>
                      </a:stretch>
                    </p:blipFill>
                    <p:spPr>
                      <a:xfrm>
                        <a:off x="4343400" y="3430588"/>
                        <a:ext cx="4856163" cy="1147762"/>
                      </a:xfrm>
                      <a:prstGeom prst="rect">
                        <a:avLst/>
                      </a:prstGeom>
                      <a:solidFill>
                        <a:srgbClr val="C00000"/>
                      </a:solidFill>
                      <a:ln w="38100">
                        <a:noFill/>
                        <a:miter/>
                      </a:ln>
                    </p:spPr>
                  </p:pic>
                </p:oleObj>
              </mc:Fallback>
            </mc:AlternateContent>
          </a:graphicData>
        </a:graphic>
      </p:graphicFrame>
      <p:sp>
        <p:nvSpPr>
          <p:cNvPr id="18" name="Rectangle 17"/>
          <p:cNvSpPr/>
          <p:nvPr/>
        </p:nvSpPr>
        <p:spPr>
          <a:xfrm>
            <a:off x="-107950" y="1960563"/>
            <a:ext cx="9251950" cy="400050"/>
          </a:xfrm>
          <a:prstGeom prst="rect">
            <a:avLst/>
          </a:prstGeom>
          <a:solidFill>
            <a:schemeClr val="accent1"/>
          </a:solidFill>
          <a:ln w="9525">
            <a:noFill/>
          </a:ln>
        </p:spPr>
        <p:txBody>
          <a:bodyPr anchor="ctr">
            <a:spAutoFit/>
          </a:bodyPr>
          <a:p>
            <a:pPr eaLnBrk="0" hangingPunct="0"/>
            <a:r>
              <a:rPr lang="zh-CN" altLang="zh-CN" sz="2000" b="1" dirty="0">
                <a:latin typeface="Times New Roman" panose="02020603050405020304" pitchFamily="18" charset="0"/>
                <a:ea typeface="宋体" panose="02010600030101010101" pitchFamily="2" charset="-122"/>
              </a:rPr>
              <a:t>答：</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）线性相位低通滤波器，适合设计低通滤波器的有第一、二类线性相位，</a:t>
            </a:r>
            <a:r>
              <a:rPr lang="en-US" altLang="zh-CN"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19" name="Rectangle 18"/>
          <p:cNvSpPr/>
          <p:nvPr/>
        </p:nvSpPr>
        <p:spPr>
          <a:xfrm>
            <a:off x="5256213" y="2379663"/>
            <a:ext cx="1209675" cy="400050"/>
          </a:xfrm>
          <a:prstGeom prst="rect">
            <a:avLst/>
          </a:prstGeom>
          <a:noFill/>
          <a:ln w="9525">
            <a:noFill/>
          </a:ln>
        </p:spPr>
        <p:txBody>
          <a:bodyPr wrap="none" anchor="ctr">
            <a:spAutoFit/>
          </a:bodyPr>
          <a:p>
            <a:pPr eaLnBrk="0" hangingPunct="0"/>
            <a:r>
              <a:rPr lang="zh-CN" altLang="zh-CN" sz="2000" dirty="0">
                <a:latin typeface="Times New Roman" panose="02020603050405020304" pitchFamily="18" charset="0"/>
                <a:ea typeface="宋体" panose="02010600030101010101" pitchFamily="2" charset="-122"/>
              </a:rPr>
              <a:t>偶</a:t>
            </a:r>
            <a:r>
              <a:rPr lang="zh-CN" altLang="en-US" sz="2000" dirty="0">
                <a:latin typeface="Times New Roman" panose="02020603050405020304" pitchFamily="18" charset="0"/>
                <a:ea typeface="宋体" panose="02010600030101010101" pitchFamily="2" charset="-122"/>
              </a:rPr>
              <a:t>对</a:t>
            </a:r>
            <a:r>
              <a:rPr lang="zh-CN" altLang="zh-CN" sz="2000" dirty="0">
                <a:latin typeface="Times New Roman" panose="02020603050405020304" pitchFamily="18" charset="0"/>
                <a:ea typeface="宋体" panose="02010600030101010101" pitchFamily="2" charset="-122"/>
              </a:rPr>
              <a:t>称，</a:t>
            </a:r>
            <a:endParaRPr lang="zh-CN" altLang="zh-CN" sz="2000" dirty="0">
              <a:latin typeface="Times New Roman" panose="02020603050405020304" pitchFamily="18" charset="0"/>
              <a:ea typeface="宋体" panose="02010600030101010101" pitchFamily="2" charset="-122"/>
            </a:endParaRPr>
          </a:p>
        </p:txBody>
      </p:sp>
      <p:sp>
        <p:nvSpPr>
          <p:cNvPr id="150545" name="Rectangle 20"/>
          <p:cNvSpPr/>
          <p:nvPr/>
        </p:nvSpPr>
        <p:spPr>
          <a:xfrm>
            <a:off x="885825" y="3778250"/>
            <a:ext cx="1022350" cy="400050"/>
          </a:xfrm>
          <a:prstGeom prst="rect">
            <a:avLst/>
          </a:prstGeom>
          <a:noFill/>
          <a:ln w="9525">
            <a:noFill/>
          </a:ln>
        </p:spPr>
        <p:txBody>
          <a:bodyPr anchor="ctr">
            <a:spAutoFit/>
          </a:bodyPr>
          <a:p>
            <a:pPr indent="266700" eaLnBrk="0" hangingPunct="0"/>
            <a:r>
              <a:rPr lang="zh-CN" altLang="zh-CN" sz="2000" dirty="0">
                <a:latin typeface="Times New Roman" panose="02020603050405020304" pitchFamily="18" charset="0"/>
                <a:ea typeface="宋体" panose="02010600030101010101" pitchFamily="2" charset="-122"/>
              </a:rPr>
              <a:t>因为</a:t>
            </a:r>
            <a:endParaRPr lang="zh-CN" altLang="zh-CN" sz="2000" dirty="0">
              <a:latin typeface="Times New Roman" panose="02020603050405020304" pitchFamily="18" charset="0"/>
              <a:ea typeface="宋体" panose="02010600030101010101" pitchFamily="2" charset="-122"/>
            </a:endParaRPr>
          </a:p>
        </p:txBody>
      </p:sp>
      <p:sp>
        <p:nvSpPr>
          <p:cNvPr id="150546" name="Rectangle 21"/>
          <p:cNvSpPr/>
          <p:nvPr/>
        </p:nvSpPr>
        <p:spPr>
          <a:xfrm>
            <a:off x="323850" y="4497388"/>
            <a:ext cx="3168650" cy="400050"/>
          </a:xfrm>
          <a:prstGeom prst="rect">
            <a:avLst/>
          </a:prstGeom>
          <a:noFill/>
          <a:ln w="9525">
            <a:noFill/>
          </a:ln>
        </p:spPr>
        <p:txBody>
          <a:bodyPr anchor="ctr">
            <a:spAutoFit/>
          </a:bodyPr>
          <a:p>
            <a:pPr indent="266700" eaLnBrk="0" hangingPunct="0"/>
            <a:r>
              <a:rPr lang="zh-CN" altLang="zh-CN" sz="2000" dirty="0">
                <a:latin typeface="Times New Roman" panose="02020603050405020304" pitchFamily="18" charset="0"/>
                <a:ea typeface="宋体" panose="02010600030101010101" pitchFamily="2" charset="-122"/>
              </a:rPr>
              <a:t>所以通带内采样点数</a:t>
            </a:r>
            <a:r>
              <a:rPr lang="en-US" altLang="zh-CN" sz="2000" dirty="0">
                <a:latin typeface="Times New Roman" panose="02020603050405020304" pitchFamily="18" charset="0"/>
                <a:ea typeface="宋体" panose="02010600030101010101" pitchFamily="2" charset="-122"/>
              </a:rPr>
              <a:t>m</a:t>
            </a:r>
            <a:r>
              <a:rPr lang="en-US" altLang="zh-CN" sz="1000"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50547" name="Rectangle 23"/>
          <p:cNvSpPr/>
          <p:nvPr/>
        </p:nvSpPr>
        <p:spPr>
          <a:xfrm>
            <a:off x="323850" y="6754813"/>
            <a:ext cx="9144000" cy="457200"/>
          </a:xfrm>
          <a:prstGeom prst="rect">
            <a:avLst/>
          </a:prstGeom>
          <a:noFill/>
          <a:ln w="9525">
            <a:noFill/>
          </a:ln>
        </p:spPr>
        <p:txBody>
          <a:bodyPr wrap="none" anchor="ctr">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50548" name="Rectangle 36"/>
          <p:cNvSpPr/>
          <p:nvPr/>
        </p:nvSpPr>
        <p:spPr>
          <a:xfrm>
            <a:off x="1450975" y="4924425"/>
            <a:ext cx="9144000" cy="457200"/>
          </a:xfrm>
          <a:prstGeom prst="rect">
            <a:avLst/>
          </a:prstGeom>
          <a:noFill/>
          <a:ln w="9525">
            <a:noFill/>
          </a:ln>
        </p:spPr>
        <p:txBody>
          <a:bodyPr wrap="none" anchor="ctr">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26" name="对象 25"/>
          <p:cNvGraphicFramePr>
            <a:graphicFrameLocks noChangeAspect="1"/>
          </p:cNvGraphicFramePr>
          <p:nvPr/>
        </p:nvGraphicFramePr>
        <p:xfrm>
          <a:off x="1450975" y="5305425"/>
          <a:ext cx="6911975" cy="1173163"/>
        </p:xfrm>
        <a:graphic>
          <a:graphicData uri="http://schemas.openxmlformats.org/presentationml/2006/ole">
            <mc:AlternateContent xmlns:mc="http://schemas.openxmlformats.org/markup-compatibility/2006">
              <mc:Choice xmlns:v="urn:schemas-microsoft-com:vml" Requires="v">
                <p:oleObj spid="_x0000_s3292" name="" r:id="rId20" imgW="4660265" imgH="787400" progId="Equation.3">
                  <p:embed/>
                </p:oleObj>
              </mc:Choice>
              <mc:Fallback>
                <p:oleObj name="" r:id="rId20" imgW="4660265" imgH="787400" progId="Equation.3">
                  <p:embed/>
                  <p:pic>
                    <p:nvPicPr>
                      <p:cNvPr id="0" name="图片 3291"/>
                      <p:cNvPicPr/>
                      <p:nvPr/>
                    </p:nvPicPr>
                    <p:blipFill>
                      <a:blip r:embed="rId21"/>
                      <a:stretch>
                        <a:fillRect/>
                      </a:stretch>
                    </p:blipFill>
                    <p:spPr>
                      <a:xfrm>
                        <a:off x="1450975" y="5305425"/>
                        <a:ext cx="6911975" cy="1173163"/>
                      </a:xfrm>
                      <a:prstGeom prst="rect">
                        <a:avLst/>
                      </a:prstGeom>
                      <a:solidFill>
                        <a:schemeClr val="accent1"/>
                      </a:solidFill>
                      <a:ln w="38100">
                        <a:noFill/>
                        <a:miter/>
                      </a:ln>
                    </p:spPr>
                  </p:pic>
                </p:oleObj>
              </mc:Fallback>
            </mc:AlternateContent>
          </a:graphicData>
        </a:graphic>
      </p:graphicFrame>
      <p:sp>
        <p:nvSpPr>
          <p:cNvPr id="150550" name="矩形 26"/>
          <p:cNvSpPr/>
          <p:nvPr/>
        </p:nvSpPr>
        <p:spPr>
          <a:xfrm>
            <a:off x="512763" y="4978400"/>
            <a:ext cx="1108075" cy="461963"/>
          </a:xfrm>
          <a:prstGeom prst="rect">
            <a:avLst/>
          </a:prstGeom>
          <a:noFill/>
          <a:ln w="9525">
            <a:noFill/>
          </a:ln>
        </p:spPr>
        <p:txBody>
          <a:bodyPr wrap="none" anchor="t">
            <a:spAutoFit/>
          </a:bodyPr>
          <a:p>
            <a:pPr eaLnBrk="0" hangingPunct="0"/>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8" name="矩形 27"/>
          <p:cNvSpPr/>
          <p:nvPr/>
        </p:nvSpPr>
        <p:spPr>
          <a:xfrm>
            <a:off x="323850" y="2376488"/>
            <a:ext cx="4351338" cy="461962"/>
          </a:xfrm>
          <a:prstGeom prst="rect">
            <a:avLst/>
          </a:prstGeom>
          <a:solidFill>
            <a:schemeClr val="accent1"/>
          </a:solidFill>
          <a:ln w="9525">
            <a:noFill/>
          </a:ln>
        </p:spPr>
        <p:txBody>
          <a:bodyPr wrap="none" anchor="t">
            <a:spAutoFit/>
          </a:bodyPr>
          <a:p>
            <a:pPr eaLnBrk="0" hangingPunct="0"/>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N=8</a:t>
            </a:r>
            <a:r>
              <a:rPr lang="zh-CN" altLang="en-US" dirty="0">
                <a:latin typeface="Times New Roman" panose="02020603050405020304" pitchFamily="18" charset="0"/>
                <a:ea typeface="宋体" panose="02010600030101010101" pitchFamily="2" charset="-122"/>
              </a:rPr>
              <a:t>，第</a:t>
            </a:r>
            <a:r>
              <a:rPr lang="zh-CN" altLang="en-US" b="1" u="sng" dirty="0">
                <a:solidFill>
                  <a:srgbClr val="FF0000"/>
                </a:solidFill>
                <a:latin typeface="Times New Roman" panose="02020603050405020304" pitchFamily="18" charset="0"/>
                <a:ea typeface="宋体" panose="02010600030101010101" pitchFamily="2" charset="-122"/>
              </a:rPr>
              <a:t>二类</a:t>
            </a:r>
            <a:r>
              <a:rPr lang="zh-CN" altLang="en-US" dirty="0">
                <a:latin typeface="Times New Roman" panose="02020603050405020304" pitchFamily="18" charset="0"/>
                <a:ea typeface="宋体" panose="02010600030101010101" pitchFamily="2" charset="-122"/>
              </a:rPr>
              <a:t>线性相位，</a:t>
            </a:r>
            <a:endParaRPr lang="zh-CN" altLang="en-US" dirty="0">
              <a:latin typeface="Times New Roman" panose="02020603050405020304" pitchFamily="18" charset="0"/>
              <a:ea typeface="宋体" panose="02010600030101010101" pitchFamily="2" charset="-122"/>
            </a:endParaRPr>
          </a:p>
        </p:txBody>
      </p:sp>
      <p:cxnSp>
        <p:nvCxnSpPr>
          <p:cNvPr id="29" name="直接连接符 28"/>
          <p:cNvCxnSpPr/>
          <p:nvPr/>
        </p:nvCxnSpPr>
        <p:spPr>
          <a:xfrm>
            <a:off x="1939925" y="3770313"/>
            <a:ext cx="895350"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ppt_x"/>
                                          </p:val>
                                        </p:tav>
                                        <p:tav tm="100000">
                                          <p:val>
                                            <p:strVal val="#ppt_x"/>
                                          </p:val>
                                        </p:tav>
                                      </p:tavLst>
                                    </p:anim>
                                    <p:anim calcmode="lin" valueType="num">
                                      <p:cBhvr additive="base">
                                        <p:cTn id="6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8"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1553" name="对象 1"/>
          <p:cNvGraphicFramePr>
            <a:graphicFrameLocks noChangeAspect="1"/>
          </p:cNvGraphicFramePr>
          <p:nvPr/>
        </p:nvGraphicFramePr>
        <p:xfrm>
          <a:off x="569913" y="762000"/>
          <a:ext cx="944562" cy="465138"/>
        </p:xfrm>
        <a:graphic>
          <a:graphicData uri="http://schemas.openxmlformats.org/presentationml/2006/ole">
            <mc:AlternateContent xmlns:mc="http://schemas.openxmlformats.org/markup-compatibility/2006">
              <mc:Choice xmlns:v="urn:schemas-microsoft-com:vml" Requires="v">
                <p:oleObj spid="_x0000_s3299" name="" r:id="rId1" imgW="622300" imgH="304800" progId="Equation.3">
                  <p:embed/>
                </p:oleObj>
              </mc:Choice>
              <mc:Fallback>
                <p:oleObj name="" r:id="rId1" imgW="622300" imgH="304800" progId="Equation.3">
                  <p:embed/>
                  <p:pic>
                    <p:nvPicPr>
                      <p:cNvPr id="0" name="图片 3298"/>
                      <p:cNvPicPr/>
                      <p:nvPr/>
                    </p:nvPicPr>
                    <p:blipFill>
                      <a:blip r:embed="rId2"/>
                      <a:stretch>
                        <a:fillRect/>
                      </a:stretch>
                    </p:blipFill>
                    <p:spPr>
                      <a:xfrm>
                        <a:off x="569913" y="762000"/>
                        <a:ext cx="944562" cy="465138"/>
                      </a:xfrm>
                      <a:prstGeom prst="rect">
                        <a:avLst/>
                      </a:prstGeom>
                      <a:noFill/>
                      <a:ln w="38100">
                        <a:noFill/>
                        <a:miter/>
                      </a:ln>
                    </p:spPr>
                  </p:pic>
                </p:oleObj>
              </mc:Fallback>
            </mc:AlternateContent>
          </a:graphicData>
        </a:graphic>
      </p:graphicFrame>
      <p:graphicFrame>
        <p:nvGraphicFramePr>
          <p:cNvPr id="151554" name="对象 2"/>
          <p:cNvGraphicFramePr>
            <a:graphicFrameLocks noChangeAspect="1"/>
          </p:cNvGraphicFramePr>
          <p:nvPr/>
        </p:nvGraphicFramePr>
        <p:xfrm>
          <a:off x="3694113" y="815975"/>
          <a:ext cx="977900" cy="325438"/>
        </p:xfrm>
        <a:graphic>
          <a:graphicData uri="http://schemas.openxmlformats.org/presentationml/2006/ole">
            <mc:AlternateContent xmlns:mc="http://schemas.openxmlformats.org/markup-compatibility/2006">
              <mc:Choice xmlns:v="urn:schemas-microsoft-com:vml" Requires="v">
                <p:oleObj spid="_x0000_s3286" name="" r:id="rId3" imgW="660400" imgH="215900" progId="Equation.3">
                  <p:embed/>
                </p:oleObj>
              </mc:Choice>
              <mc:Fallback>
                <p:oleObj name="" r:id="rId3" imgW="660400" imgH="215900" progId="Equation.3">
                  <p:embed/>
                  <p:pic>
                    <p:nvPicPr>
                      <p:cNvPr id="0" name="图片 3285"/>
                      <p:cNvPicPr/>
                      <p:nvPr/>
                    </p:nvPicPr>
                    <p:blipFill>
                      <a:blip r:embed="rId4"/>
                      <a:stretch>
                        <a:fillRect/>
                      </a:stretch>
                    </p:blipFill>
                    <p:spPr>
                      <a:xfrm>
                        <a:off x="3694113" y="815975"/>
                        <a:ext cx="977900" cy="325438"/>
                      </a:xfrm>
                      <a:prstGeom prst="rect">
                        <a:avLst/>
                      </a:prstGeom>
                      <a:noFill/>
                      <a:ln w="38100">
                        <a:noFill/>
                        <a:miter/>
                      </a:ln>
                    </p:spPr>
                  </p:pic>
                </p:oleObj>
              </mc:Fallback>
            </mc:AlternateContent>
          </a:graphicData>
        </a:graphic>
      </p:graphicFrame>
      <p:graphicFrame>
        <p:nvGraphicFramePr>
          <p:cNvPr id="151555" name="对象 3"/>
          <p:cNvGraphicFramePr>
            <a:graphicFrameLocks noChangeAspect="1"/>
          </p:cNvGraphicFramePr>
          <p:nvPr/>
        </p:nvGraphicFramePr>
        <p:xfrm>
          <a:off x="5940425" y="833438"/>
          <a:ext cx="573088" cy="307975"/>
        </p:xfrm>
        <a:graphic>
          <a:graphicData uri="http://schemas.openxmlformats.org/presentationml/2006/ole">
            <mc:AlternateContent xmlns:mc="http://schemas.openxmlformats.org/markup-compatibility/2006">
              <mc:Choice xmlns:v="urn:schemas-microsoft-com:vml" Requires="v">
                <p:oleObj spid="_x0000_s3296" name="" r:id="rId5" imgW="368300" imgH="203200" progId="Equation.3">
                  <p:embed/>
                </p:oleObj>
              </mc:Choice>
              <mc:Fallback>
                <p:oleObj name="" r:id="rId5" imgW="368300" imgH="203200" progId="Equation.3">
                  <p:embed/>
                  <p:pic>
                    <p:nvPicPr>
                      <p:cNvPr id="0" name="图片 3295"/>
                      <p:cNvPicPr/>
                      <p:nvPr/>
                    </p:nvPicPr>
                    <p:blipFill>
                      <a:blip r:embed="rId6"/>
                      <a:stretch>
                        <a:fillRect/>
                      </a:stretch>
                    </p:blipFill>
                    <p:spPr>
                      <a:xfrm>
                        <a:off x="5940425" y="833438"/>
                        <a:ext cx="573088" cy="307975"/>
                      </a:xfrm>
                      <a:prstGeom prst="rect">
                        <a:avLst/>
                      </a:prstGeom>
                      <a:noFill/>
                      <a:ln w="38100">
                        <a:noFill/>
                        <a:miter/>
                      </a:ln>
                    </p:spPr>
                  </p:pic>
                </p:oleObj>
              </mc:Fallback>
            </mc:AlternateContent>
          </a:graphicData>
        </a:graphic>
      </p:graphicFrame>
      <p:sp>
        <p:nvSpPr>
          <p:cNvPr id="151556" name="Rectangle 4"/>
          <p:cNvSpPr/>
          <p:nvPr/>
        </p:nvSpPr>
        <p:spPr>
          <a:xfrm>
            <a:off x="323850" y="433388"/>
            <a:ext cx="7410450" cy="400050"/>
          </a:xfrm>
          <a:prstGeom prst="rect">
            <a:avLst/>
          </a:prstGeom>
          <a:noFill/>
          <a:ln w="9525">
            <a:noFill/>
          </a:ln>
        </p:spPr>
        <p:txBody>
          <a:bodyPr wrap="none" anchor="ctr">
            <a:spAutoFit/>
          </a:bodyPr>
          <a:p>
            <a:pPr eaLnBrk="0" hangingPunct="0"/>
            <a:r>
              <a:rPr lang="zh-CN" altLang="en-US" sz="2000" b="1" dirty="0">
                <a:latin typeface="Times New Roman" panose="02020603050405020304" pitchFamily="18" charset="0"/>
                <a:ea typeface="宋体" panose="02010600030101010101" pitchFamily="2" charset="-122"/>
              </a:rPr>
              <a:t>习题五、用频率采样法设计一个线性相位高通滤波器，截止频率</a:t>
            </a:r>
            <a:endParaRPr lang="zh-CN" altLang="en-US" sz="2000" dirty="0">
              <a:latin typeface="Times New Roman" panose="02020603050405020304" pitchFamily="18" charset="0"/>
              <a:ea typeface="宋体" panose="02010600030101010101" pitchFamily="2" charset="-122"/>
            </a:endParaRPr>
          </a:p>
        </p:txBody>
      </p:sp>
      <p:sp>
        <p:nvSpPr>
          <p:cNvPr id="151557" name="Rectangle 5"/>
          <p:cNvSpPr/>
          <p:nvPr/>
        </p:nvSpPr>
        <p:spPr>
          <a:xfrm>
            <a:off x="1477963" y="795338"/>
            <a:ext cx="2249487" cy="400050"/>
          </a:xfrm>
          <a:prstGeom prst="rect">
            <a:avLst/>
          </a:prstGeom>
          <a:noFill/>
          <a:ln w="9525">
            <a:noFill/>
          </a:ln>
        </p:spPr>
        <p:txBody>
          <a:bodyPr wrap="none" anchor="ctr">
            <a:spAutoFit/>
          </a:bodyPr>
          <a:p>
            <a:pPr eaLnBrk="0" hangingPunct="0"/>
            <a:r>
              <a:rPr lang="zh-CN" altLang="en-US" sz="2000" b="1" dirty="0">
                <a:latin typeface="Times New Roman" panose="02020603050405020304" pitchFamily="18" charset="0"/>
                <a:ea typeface="宋体" panose="02010600030101010101" pitchFamily="2" charset="-122"/>
              </a:rPr>
              <a:t>边沿放一个过渡点</a:t>
            </a:r>
            <a:endParaRPr lang="zh-CN" altLang="en-US" sz="2000" dirty="0">
              <a:latin typeface="Times New Roman" panose="02020603050405020304" pitchFamily="18" charset="0"/>
              <a:ea typeface="宋体" panose="02010600030101010101" pitchFamily="2" charset="-122"/>
            </a:endParaRPr>
          </a:p>
        </p:txBody>
      </p:sp>
      <p:sp>
        <p:nvSpPr>
          <p:cNvPr id="151558" name="Rectangle 6"/>
          <p:cNvSpPr/>
          <p:nvPr/>
        </p:nvSpPr>
        <p:spPr>
          <a:xfrm>
            <a:off x="4632325" y="747713"/>
            <a:ext cx="1419225" cy="400050"/>
          </a:xfrm>
          <a:prstGeom prst="rect">
            <a:avLst/>
          </a:prstGeom>
          <a:noFill/>
          <a:ln w="9525">
            <a:noFill/>
          </a:ln>
        </p:spPr>
        <p:txBody>
          <a:bodyPr wrap="none" anchor="ctr">
            <a:spAutoFit/>
          </a:bodyPr>
          <a:p>
            <a:pPr eaLnBrk="0" hangingPunct="0"/>
            <a:r>
              <a:rPr lang="zh-CN" altLang="en-US" sz="2000" b="1" dirty="0">
                <a:latin typeface="Times New Roman" panose="02020603050405020304" pitchFamily="18" charset="0"/>
                <a:ea typeface="宋体" panose="02010600030101010101" pitchFamily="2" charset="-122"/>
              </a:rPr>
              <a:t>求</a:t>
            </a:r>
            <a:r>
              <a:rPr lang="en-US" altLang="zh-CN" sz="2000" b="1" dirty="0">
                <a:latin typeface="Times New Roman" panose="02020603050405020304" pitchFamily="18" charset="0"/>
                <a:ea typeface="宋体" panose="02010600030101010101" pitchFamily="2" charset="-122"/>
              </a:rPr>
              <a:t>N=5</a:t>
            </a:r>
            <a:r>
              <a:rPr lang="zh-CN" altLang="en-US" sz="2000" b="1" dirty="0">
                <a:latin typeface="Times New Roman" panose="02020603050405020304" pitchFamily="18" charset="0"/>
                <a:ea typeface="宋体" panose="02010600030101010101" pitchFamily="2" charset="-122"/>
              </a:rPr>
              <a:t>时的</a:t>
            </a:r>
            <a:endParaRPr lang="zh-CN" altLang="en-US" sz="2000" dirty="0">
              <a:latin typeface="Times New Roman" panose="02020603050405020304" pitchFamily="18" charset="0"/>
              <a:ea typeface="宋体" panose="02010600030101010101" pitchFamily="2" charset="-122"/>
            </a:endParaRPr>
          </a:p>
        </p:txBody>
      </p:sp>
      <p:graphicFrame>
        <p:nvGraphicFramePr>
          <p:cNvPr id="9" name="对象 8"/>
          <p:cNvGraphicFramePr>
            <a:graphicFrameLocks noChangeAspect="1"/>
          </p:cNvGraphicFramePr>
          <p:nvPr/>
        </p:nvGraphicFramePr>
        <p:xfrm>
          <a:off x="1209675" y="1920875"/>
          <a:ext cx="1385888" cy="303213"/>
        </p:xfrm>
        <a:graphic>
          <a:graphicData uri="http://schemas.openxmlformats.org/presentationml/2006/ole">
            <mc:AlternateContent xmlns:mc="http://schemas.openxmlformats.org/markup-compatibility/2006">
              <mc:Choice xmlns:v="urn:schemas-microsoft-com:vml" Requires="v">
                <p:oleObj spid="_x0000_s3297" name="" r:id="rId7" imgW="926465" imgH="203200" progId="Equation.3">
                  <p:embed/>
                </p:oleObj>
              </mc:Choice>
              <mc:Fallback>
                <p:oleObj name="" r:id="rId7" imgW="926465" imgH="203200" progId="Equation.3">
                  <p:embed/>
                  <p:pic>
                    <p:nvPicPr>
                      <p:cNvPr id="0" name="图片 3296"/>
                      <p:cNvPicPr/>
                      <p:nvPr/>
                    </p:nvPicPr>
                    <p:blipFill>
                      <a:blip r:embed="rId8"/>
                      <a:stretch>
                        <a:fillRect/>
                      </a:stretch>
                    </p:blipFill>
                    <p:spPr>
                      <a:xfrm>
                        <a:off x="1209675" y="1920875"/>
                        <a:ext cx="1385888" cy="303213"/>
                      </a:xfrm>
                      <a:prstGeom prst="rect">
                        <a:avLst/>
                      </a:prstGeom>
                      <a:noFill/>
                      <a:ln w="38100">
                        <a:noFill/>
                        <a:miter/>
                      </a:ln>
                    </p:spPr>
                  </p:pic>
                </p:oleObj>
              </mc:Fallback>
            </mc:AlternateContent>
          </a:graphicData>
        </a:graphic>
      </p:graphicFrame>
      <p:graphicFrame>
        <p:nvGraphicFramePr>
          <p:cNvPr id="10" name="对象 9"/>
          <p:cNvGraphicFramePr>
            <a:graphicFrameLocks noChangeAspect="1"/>
          </p:cNvGraphicFramePr>
          <p:nvPr/>
        </p:nvGraphicFramePr>
        <p:xfrm>
          <a:off x="2843213" y="1930400"/>
          <a:ext cx="4059237" cy="301625"/>
        </p:xfrm>
        <a:graphic>
          <a:graphicData uri="http://schemas.openxmlformats.org/presentationml/2006/ole">
            <mc:AlternateContent xmlns:mc="http://schemas.openxmlformats.org/markup-compatibility/2006">
              <mc:Choice xmlns:v="urn:schemas-microsoft-com:vml" Requires="v">
                <p:oleObj spid="_x0000_s3294" name="" r:id="rId9" imgW="2946400" imgH="215900" progId="Equation.3">
                  <p:embed/>
                </p:oleObj>
              </mc:Choice>
              <mc:Fallback>
                <p:oleObj name="" r:id="rId9" imgW="2946400" imgH="215900" progId="Equation.3">
                  <p:embed/>
                  <p:pic>
                    <p:nvPicPr>
                      <p:cNvPr id="0" name="图片 3293"/>
                      <p:cNvPicPr/>
                      <p:nvPr/>
                    </p:nvPicPr>
                    <p:blipFill>
                      <a:blip r:embed="rId10"/>
                      <a:stretch>
                        <a:fillRect/>
                      </a:stretch>
                    </p:blipFill>
                    <p:spPr>
                      <a:xfrm>
                        <a:off x="2843213" y="1930400"/>
                        <a:ext cx="4059237" cy="301625"/>
                      </a:xfrm>
                      <a:prstGeom prst="rect">
                        <a:avLst/>
                      </a:prstGeom>
                      <a:solidFill>
                        <a:schemeClr val="accent1"/>
                      </a:solidFill>
                      <a:ln w="38100">
                        <a:noFill/>
                        <a:miter/>
                      </a:ln>
                    </p:spPr>
                  </p:pic>
                </p:oleObj>
              </mc:Fallback>
            </mc:AlternateContent>
          </a:graphicData>
        </a:graphic>
      </p:graphicFrame>
      <p:graphicFrame>
        <p:nvGraphicFramePr>
          <p:cNvPr id="11" name="对象 10"/>
          <p:cNvGraphicFramePr>
            <a:graphicFrameLocks noChangeAspect="1"/>
          </p:cNvGraphicFramePr>
          <p:nvPr/>
        </p:nvGraphicFramePr>
        <p:xfrm>
          <a:off x="1116013" y="2347913"/>
          <a:ext cx="3913187" cy="555625"/>
        </p:xfrm>
        <a:graphic>
          <a:graphicData uri="http://schemas.openxmlformats.org/presentationml/2006/ole">
            <mc:AlternateContent xmlns:mc="http://schemas.openxmlformats.org/markup-compatibility/2006">
              <mc:Choice xmlns:v="urn:schemas-microsoft-com:vml" Requires="v">
                <p:oleObj spid="_x0000_s3298" name="" r:id="rId11" imgW="2743200" imgH="393700" progId="Equation.3">
                  <p:embed/>
                </p:oleObj>
              </mc:Choice>
              <mc:Fallback>
                <p:oleObj name="" r:id="rId11" imgW="2743200" imgH="393700" progId="Equation.3">
                  <p:embed/>
                  <p:pic>
                    <p:nvPicPr>
                      <p:cNvPr id="0" name="图片 3297"/>
                      <p:cNvPicPr/>
                      <p:nvPr/>
                    </p:nvPicPr>
                    <p:blipFill>
                      <a:blip r:embed="rId12"/>
                      <a:stretch>
                        <a:fillRect/>
                      </a:stretch>
                    </p:blipFill>
                    <p:spPr>
                      <a:xfrm>
                        <a:off x="1116013" y="2347913"/>
                        <a:ext cx="3913187" cy="555625"/>
                      </a:xfrm>
                      <a:prstGeom prst="rect">
                        <a:avLst/>
                      </a:prstGeom>
                      <a:solidFill>
                        <a:schemeClr val="accent1"/>
                      </a:solidFill>
                      <a:ln w="38100">
                        <a:noFill/>
                        <a:miter/>
                      </a:ln>
                    </p:spPr>
                  </p:pic>
                </p:oleObj>
              </mc:Fallback>
            </mc:AlternateContent>
          </a:graphicData>
        </a:graphic>
      </p:graphicFrame>
      <p:graphicFrame>
        <p:nvGraphicFramePr>
          <p:cNvPr id="12" name="对象 11"/>
          <p:cNvGraphicFramePr>
            <a:graphicFrameLocks noChangeAspect="1"/>
          </p:cNvGraphicFramePr>
          <p:nvPr/>
        </p:nvGraphicFramePr>
        <p:xfrm>
          <a:off x="1763713" y="2949575"/>
          <a:ext cx="936625" cy="460375"/>
        </p:xfrm>
        <a:graphic>
          <a:graphicData uri="http://schemas.openxmlformats.org/presentationml/2006/ole">
            <mc:AlternateContent xmlns:mc="http://schemas.openxmlformats.org/markup-compatibility/2006">
              <mc:Choice xmlns:v="urn:schemas-microsoft-com:vml" Requires="v">
                <p:oleObj spid="_x0000_s3295" name="" r:id="rId13" imgW="622300" imgH="304800" progId="Equation.3">
                  <p:embed/>
                </p:oleObj>
              </mc:Choice>
              <mc:Fallback>
                <p:oleObj name="" r:id="rId13" imgW="622300" imgH="304800" progId="Equation.3">
                  <p:embed/>
                  <p:pic>
                    <p:nvPicPr>
                      <p:cNvPr id="0" name="图片 3294"/>
                      <p:cNvPicPr/>
                      <p:nvPr/>
                    </p:nvPicPr>
                    <p:blipFill>
                      <a:blip r:embed="rId14"/>
                      <a:stretch>
                        <a:fillRect/>
                      </a:stretch>
                    </p:blipFill>
                    <p:spPr>
                      <a:xfrm>
                        <a:off x="1763713" y="2949575"/>
                        <a:ext cx="936625" cy="460375"/>
                      </a:xfrm>
                      <a:prstGeom prst="rect">
                        <a:avLst/>
                      </a:prstGeom>
                      <a:noFill/>
                      <a:ln w="38100">
                        <a:noFill/>
                        <a:miter/>
                      </a:ln>
                    </p:spPr>
                  </p:pic>
                </p:oleObj>
              </mc:Fallback>
            </mc:AlternateContent>
          </a:graphicData>
        </a:graphic>
      </p:graphicFrame>
      <p:graphicFrame>
        <p:nvGraphicFramePr>
          <p:cNvPr id="13" name="对象 12"/>
          <p:cNvGraphicFramePr>
            <a:graphicFrameLocks noChangeAspect="1"/>
          </p:cNvGraphicFramePr>
          <p:nvPr/>
        </p:nvGraphicFramePr>
        <p:xfrm>
          <a:off x="3379788" y="3333750"/>
          <a:ext cx="1608137" cy="936625"/>
        </p:xfrm>
        <a:graphic>
          <a:graphicData uri="http://schemas.openxmlformats.org/presentationml/2006/ole">
            <mc:AlternateContent xmlns:mc="http://schemas.openxmlformats.org/markup-compatibility/2006">
              <mc:Choice xmlns:v="urn:schemas-microsoft-com:vml" Requires="v">
                <p:oleObj spid="_x0000_s3290" name="" r:id="rId15" imgW="1078865" imgH="635000" progId="Equation.3">
                  <p:embed/>
                </p:oleObj>
              </mc:Choice>
              <mc:Fallback>
                <p:oleObj name="" r:id="rId15" imgW="1078865" imgH="635000" progId="Equation.3">
                  <p:embed/>
                  <p:pic>
                    <p:nvPicPr>
                      <p:cNvPr id="0" name="图片 3289"/>
                      <p:cNvPicPr/>
                      <p:nvPr/>
                    </p:nvPicPr>
                    <p:blipFill>
                      <a:blip r:embed="rId16"/>
                      <a:stretch>
                        <a:fillRect/>
                      </a:stretch>
                    </p:blipFill>
                    <p:spPr>
                      <a:xfrm>
                        <a:off x="3379788" y="3333750"/>
                        <a:ext cx="1608137" cy="936625"/>
                      </a:xfrm>
                      <a:prstGeom prst="rect">
                        <a:avLst/>
                      </a:prstGeom>
                      <a:noFill/>
                      <a:ln w="38100">
                        <a:noFill/>
                        <a:miter/>
                      </a:ln>
                    </p:spPr>
                  </p:pic>
                </p:oleObj>
              </mc:Fallback>
            </mc:AlternateContent>
          </a:graphicData>
        </a:graphic>
      </p:graphicFrame>
      <p:graphicFrame>
        <p:nvGraphicFramePr>
          <p:cNvPr id="151564" name="对象 13"/>
          <p:cNvGraphicFramePr>
            <a:graphicFrameLocks noChangeAspect="1"/>
          </p:cNvGraphicFramePr>
          <p:nvPr/>
        </p:nvGraphicFramePr>
        <p:xfrm>
          <a:off x="1420813" y="5232400"/>
          <a:ext cx="1279525" cy="427038"/>
        </p:xfrm>
        <a:graphic>
          <a:graphicData uri="http://schemas.openxmlformats.org/presentationml/2006/ole">
            <mc:AlternateContent xmlns:mc="http://schemas.openxmlformats.org/markup-compatibility/2006">
              <mc:Choice xmlns:v="urn:schemas-microsoft-com:vml" Requires="v">
                <p:oleObj spid="_x0000_s3293" name="" r:id="rId17" imgW="660400" imgH="215900" progId="Equation.3">
                  <p:embed/>
                </p:oleObj>
              </mc:Choice>
              <mc:Fallback>
                <p:oleObj name="" r:id="rId17" imgW="660400" imgH="215900" progId="Equation.3">
                  <p:embed/>
                  <p:pic>
                    <p:nvPicPr>
                      <p:cNvPr id="0" name="图片 3292"/>
                      <p:cNvPicPr/>
                      <p:nvPr/>
                    </p:nvPicPr>
                    <p:blipFill>
                      <a:blip r:embed="rId18"/>
                      <a:stretch>
                        <a:fillRect/>
                      </a:stretch>
                    </p:blipFill>
                    <p:spPr>
                      <a:xfrm>
                        <a:off x="1420813" y="5232400"/>
                        <a:ext cx="1279525" cy="427038"/>
                      </a:xfrm>
                      <a:prstGeom prst="rect">
                        <a:avLst/>
                      </a:prstGeom>
                      <a:noFill/>
                      <a:ln w="38100">
                        <a:noFill/>
                        <a:miter/>
                      </a:ln>
                    </p:spPr>
                  </p:pic>
                </p:oleObj>
              </mc:Fallback>
            </mc:AlternateContent>
          </a:graphicData>
        </a:graphic>
      </p:graphicFrame>
      <p:graphicFrame>
        <p:nvGraphicFramePr>
          <p:cNvPr id="15" name="对象 14"/>
          <p:cNvGraphicFramePr>
            <a:graphicFrameLocks noChangeAspect="1"/>
          </p:cNvGraphicFramePr>
          <p:nvPr/>
        </p:nvGraphicFramePr>
        <p:xfrm>
          <a:off x="3509963" y="4700588"/>
          <a:ext cx="5391150" cy="1744662"/>
        </p:xfrm>
        <a:graphic>
          <a:graphicData uri="http://schemas.openxmlformats.org/presentationml/2006/ole">
            <mc:AlternateContent xmlns:mc="http://schemas.openxmlformats.org/markup-compatibility/2006">
              <mc:Choice xmlns:v="urn:schemas-microsoft-com:vml" Requires="v">
                <p:oleObj spid="_x0000_s3291" name="" r:id="rId19" imgW="3389630" imgH="1091565" progId="Equation.3">
                  <p:embed/>
                </p:oleObj>
              </mc:Choice>
              <mc:Fallback>
                <p:oleObj name="" r:id="rId19" imgW="3389630" imgH="1091565" progId="Equation.3">
                  <p:embed/>
                  <p:pic>
                    <p:nvPicPr>
                      <p:cNvPr id="0" name="图片 3290"/>
                      <p:cNvPicPr/>
                      <p:nvPr/>
                    </p:nvPicPr>
                    <p:blipFill>
                      <a:blip r:embed="rId20"/>
                      <a:stretch>
                        <a:fillRect/>
                      </a:stretch>
                    </p:blipFill>
                    <p:spPr>
                      <a:xfrm>
                        <a:off x="3509963" y="4700588"/>
                        <a:ext cx="5391150" cy="1744662"/>
                      </a:xfrm>
                      <a:prstGeom prst="rect">
                        <a:avLst/>
                      </a:prstGeom>
                      <a:solidFill>
                        <a:schemeClr val="accent1"/>
                      </a:solidFill>
                      <a:ln w="38100">
                        <a:noFill/>
                        <a:miter/>
                      </a:ln>
                    </p:spPr>
                  </p:pic>
                </p:oleObj>
              </mc:Fallback>
            </mc:AlternateContent>
          </a:graphicData>
        </a:graphic>
      </p:graphicFrame>
      <p:sp>
        <p:nvSpPr>
          <p:cNvPr id="16" name="Rectangle 15"/>
          <p:cNvSpPr/>
          <p:nvPr/>
        </p:nvSpPr>
        <p:spPr>
          <a:xfrm>
            <a:off x="273050" y="1155700"/>
            <a:ext cx="8651875" cy="708025"/>
          </a:xfrm>
          <a:prstGeom prst="rect">
            <a:avLst/>
          </a:prstGeom>
          <a:noFill/>
          <a:ln w="9525">
            <a:noFill/>
          </a:ln>
        </p:spPr>
        <p:txBody>
          <a:bodyPr wrap="none" anchor="ctr">
            <a:spAutoFit/>
          </a:bodyPr>
          <a:p>
            <a:pPr eaLnBrk="0" hangingPunct="0"/>
            <a:r>
              <a:rPr lang="zh-CN" altLang="zh-CN" sz="2000" b="1" dirty="0">
                <a:latin typeface="Times New Roman" panose="02020603050405020304" pitchFamily="18" charset="0"/>
                <a:ea typeface="宋体" panose="02010600030101010101" pitchFamily="2" charset="-122"/>
              </a:rPr>
              <a:t>答：</a:t>
            </a:r>
            <a:r>
              <a:rPr lang="zh-CN" altLang="zh-CN" sz="2000" dirty="0">
                <a:latin typeface="Times New Roman" panose="02020603050405020304" pitchFamily="18" charset="0"/>
                <a:ea typeface="宋体" panose="02010600030101010101" pitchFamily="2" charset="-122"/>
              </a:rPr>
              <a:t>线性相位高通滤波器，适合设计低通滤波器的有第一、四类线性相位，</a:t>
            </a:r>
            <a:endParaRPr lang="en-US" altLang="zh-CN" sz="2000" dirty="0">
              <a:latin typeface="Times New Roman" panose="02020603050405020304" pitchFamily="18" charset="0"/>
              <a:ea typeface="宋体" panose="02010600030101010101" pitchFamily="2" charset="-122"/>
            </a:endParaRPr>
          </a:p>
          <a:p>
            <a:pPr eaLnBrk="0" hangingPunct="0"/>
            <a:r>
              <a:rPr lang="en-US" altLang="zh-CN" sz="2000" dirty="0">
                <a:latin typeface="Times New Roman" panose="02020603050405020304" pitchFamily="18" charset="0"/>
                <a:ea typeface="宋体" panose="02010600030101010101" pitchFamily="2" charset="-122"/>
              </a:rPr>
              <a:t>        N=5</a:t>
            </a:r>
            <a:r>
              <a:rPr lang="zh-CN" altLang="en-US" sz="2000" dirty="0">
                <a:latin typeface="Times New Roman" panose="02020603050405020304" pitchFamily="18" charset="0"/>
                <a:ea typeface="宋体" panose="02010600030101010101" pitchFamily="2" charset="-122"/>
              </a:rPr>
              <a:t>，</a:t>
            </a:r>
            <a:r>
              <a:rPr lang="zh-CN" altLang="en-US" sz="2000" b="1" u="sng" dirty="0">
                <a:solidFill>
                  <a:srgbClr val="FF0000"/>
                </a:solidFill>
                <a:latin typeface="Times New Roman" panose="02020603050405020304" pitchFamily="18" charset="0"/>
                <a:ea typeface="宋体" panose="02010600030101010101" pitchFamily="2" charset="-122"/>
              </a:rPr>
              <a:t>第一类线性相位</a:t>
            </a:r>
            <a:r>
              <a:rPr lang="zh-CN" altLang="en-US" sz="2000" dirty="0">
                <a:latin typeface="Times New Roman" panose="02020603050405020304" pitchFamily="18" charset="0"/>
                <a:ea typeface="宋体" panose="02010600030101010101" pitchFamily="2" charset="-122"/>
              </a:rPr>
              <a:t>，</a:t>
            </a:r>
            <a:endParaRPr lang="zh-CN" altLang="en-US" sz="2000" dirty="0">
              <a:latin typeface="Times New Roman" panose="02020603050405020304" pitchFamily="18" charset="0"/>
              <a:ea typeface="宋体" panose="02010600030101010101" pitchFamily="2" charset="-122"/>
            </a:endParaRPr>
          </a:p>
        </p:txBody>
      </p:sp>
      <p:sp>
        <p:nvSpPr>
          <p:cNvPr id="151567" name="Rectangle 18"/>
          <p:cNvSpPr/>
          <p:nvPr/>
        </p:nvSpPr>
        <p:spPr>
          <a:xfrm>
            <a:off x="452438" y="2843213"/>
            <a:ext cx="966787" cy="400050"/>
          </a:xfrm>
          <a:prstGeom prst="rect">
            <a:avLst/>
          </a:prstGeom>
          <a:noFill/>
          <a:ln w="9525">
            <a:noFill/>
          </a:ln>
        </p:spPr>
        <p:txBody>
          <a:bodyPr wrap="none" anchor="ctr">
            <a:spAutoFit/>
          </a:bodyPr>
          <a:p>
            <a:pPr indent="266700" eaLnBrk="0" hangingPunct="0"/>
            <a:r>
              <a:rPr lang="zh-CN" altLang="zh-CN" sz="2000" dirty="0">
                <a:latin typeface="Times New Roman" panose="02020603050405020304" pitchFamily="18" charset="0"/>
                <a:ea typeface="宋体" panose="02010600030101010101" pitchFamily="2" charset="-122"/>
              </a:rPr>
              <a:t>因为</a:t>
            </a:r>
            <a:endParaRPr lang="zh-CN" altLang="zh-CN" sz="2000" dirty="0">
              <a:latin typeface="Times New Roman" panose="02020603050405020304" pitchFamily="18" charset="0"/>
              <a:ea typeface="宋体" panose="02010600030101010101" pitchFamily="2" charset="-122"/>
            </a:endParaRPr>
          </a:p>
        </p:txBody>
      </p:sp>
      <p:sp>
        <p:nvSpPr>
          <p:cNvPr id="151568" name="Rectangle 19"/>
          <p:cNvSpPr/>
          <p:nvPr/>
        </p:nvSpPr>
        <p:spPr>
          <a:xfrm>
            <a:off x="277813" y="3646488"/>
            <a:ext cx="2925762" cy="400050"/>
          </a:xfrm>
          <a:prstGeom prst="rect">
            <a:avLst/>
          </a:prstGeom>
          <a:noFill/>
          <a:ln w="9525">
            <a:noFill/>
          </a:ln>
        </p:spPr>
        <p:txBody>
          <a:bodyPr anchor="ctr">
            <a:spAutoFit/>
          </a:bodyPr>
          <a:p>
            <a:pPr indent="266700" eaLnBrk="0" hangingPunct="0"/>
            <a:r>
              <a:rPr lang="en-US" altLang="zh-CN" sz="2000" b="1"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所以阻带内采样点数  </a:t>
            </a:r>
            <a:endParaRPr lang="zh-CN" altLang="en-US" sz="2000" dirty="0">
              <a:latin typeface="Times New Roman" panose="02020603050405020304" pitchFamily="18" charset="0"/>
              <a:ea typeface="宋体" panose="02010600030101010101" pitchFamily="2" charset="-122"/>
            </a:endParaRPr>
          </a:p>
        </p:txBody>
      </p:sp>
      <p:sp>
        <p:nvSpPr>
          <p:cNvPr id="151569" name="Rectangle 20"/>
          <p:cNvSpPr/>
          <p:nvPr/>
        </p:nvSpPr>
        <p:spPr>
          <a:xfrm>
            <a:off x="273050" y="4618038"/>
            <a:ext cx="2535238" cy="401637"/>
          </a:xfrm>
          <a:prstGeom prst="rect">
            <a:avLst/>
          </a:prstGeom>
          <a:noFill/>
          <a:ln w="9525">
            <a:noFill/>
          </a:ln>
        </p:spPr>
        <p:txBody>
          <a:bodyPr anchor="ctr">
            <a:spAutoFit/>
          </a:bodyPr>
          <a:p>
            <a:pPr indent="266700" eaLnBrk="0" hangingPunct="0"/>
            <a:r>
              <a:rPr lang="zh-CN" altLang="zh-CN" sz="2000" b="1" dirty="0">
                <a:latin typeface="Times New Roman" panose="02020603050405020304" pitchFamily="18" charset="0"/>
                <a:ea typeface="宋体" panose="02010600030101010101" pitchFamily="2" charset="-122"/>
              </a:rPr>
              <a:t>边沿放一个过渡点</a:t>
            </a:r>
            <a:endParaRPr lang="zh-CN" altLang="zh-CN" sz="2000" dirty="0">
              <a:latin typeface="Times New Roman" panose="02020603050405020304" pitchFamily="18" charset="0"/>
              <a:ea typeface="宋体" panose="02010600030101010101" pitchFamily="2" charset="-122"/>
            </a:endParaRPr>
          </a:p>
        </p:txBody>
      </p:sp>
      <p:cxnSp>
        <p:nvCxnSpPr>
          <p:cNvPr id="24" name="直接连接符 23"/>
          <p:cNvCxnSpPr/>
          <p:nvPr/>
        </p:nvCxnSpPr>
        <p:spPr>
          <a:xfrm>
            <a:off x="2484438" y="2835275"/>
            <a:ext cx="895350"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2577" name="对象 1"/>
          <p:cNvGraphicFramePr>
            <a:graphicFrameLocks noChangeAspect="1"/>
          </p:cNvGraphicFramePr>
          <p:nvPr/>
        </p:nvGraphicFramePr>
        <p:xfrm>
          <a:off x="1042988" y="846138"/>
          <a:ext cx="835025" cy="452437"/>
        </p:xfrm>
        <a:graphic>
          <a:graphicData uri="http://schemas.openxmlformats.org/presentationml/2006/ole">
            <mc:AlternateContent xmlns:mc="http://schemas.openxmlformats.org/markup-compatibility/2006">
              <mc:Choice xmlns:v="urn:schemas-microsoft-com:vml" Requires="v">
                <p:oleObj spid="_x0000_s3287" name="" r:id="rId1" imgW="558800" imgH="304800" progId="Equation.3">
                  <p:embed/>
                </p:oleObj>
              </mc:Choice>
              <mc:Fallback>
                <p:oleObj name="" r:id="rId1" imgW="558800" imgH="304800" progId="Equation.3">
                  <p:embed/>
                  <p:pic>
                    <p:nvPicPr>
                      <p:cNvPr id="0" name="图片 3286"/>
                      <p:cNvPicPr/>
                      <p:nvPr/>
                    </p:nvPicPr>
                    <p:blipFill>
                      <a:blip r:embed="rId2"/>
                      <a:stretch>
                        <a:fillRect/>
                      </a:stretch>
                    </p:blipFill>
                    <p:spPr>
                      <a:xfrm>
                        <a:off x="1042988" y="846138"/>
                        <a:ext cx="835025" cy="452437"/>
                      </a:xfrm>
                      <a:prstGeom prst="rect">
                        <a:avLst/>
                      </a:prstGeom>
                      <a:noFill/>
                      <a:ln w="38100">
                        <a:noFill/>
                        <a:miter/>
                      </a:ln>
                    </p:spPr>
                  </p:pic>
                </p:oleObj>
              </mc:Fallback>
            </mc:AlternateContent>
          </a:graphicData>
        </a:graphic>
      </p:graphicFrame>
      <p:graphicFrame>
        <p:nvGraphicFramePr>
          <p:cNvPr id="152578" name="对象 2"/>
          <p:cNvGraphicFramePr>
            <a:graphicFrameLocks noChangeAspect="1"/>
          </p:cNvGraphicFramePr>
          <p:nvPr/>
        </p:nvGraphicFramePr>
        <p:xfrm>
          <a:off x="4356100" y="925513"/>
          <a:ext cx="1220788" cy="317500"/>
        </p:xfrm>
        <a:graphic>
          <a:graphicData uri="http://schemas.openxmlformats.org/presentationml/2006/ole">
            <mc:AlternateContent xmlns:mc="http://schemas.openxmlformats.org/markup-compatibility/2006">
              <mc:Choice xmlns:v="urn:schemas-microsoft-com:vml" Requires="v">
                <p:oleObj spid="_x0000_s3288" name="" r:id="rId3" imgW="774065" imgH="203200" progId="Equation.3">
                  <p:embed/>
                </p:oleObj>
              </mc:Choice>
              <mc:Fallback>
                <p:oleObj name="" r:id="rId3" imgW="774065" imgH="203200" progId="Equation.3">
                  <p:embed/>
                  <p:pic>
                    <p:nvPicPr>
                      <p:cNvPr id="0" name="图片 3287"/>
                      <p:cNvPicPr/>
                      <p:nvPr/>
                    </p:nvPicPr>
                    <p:blipFill>
                      <a:blip r:embed="rId4"/>
                      <a:stretch>
                        <a:fillRect/>
                      </a:stretch>
                    </p:blipFill>
                    <p:spPr>
                      <a:xfrm>
                        <a:off x="4356100" y="925513"/>
                        <a:ext cx="1220788" cy="317500"/>
                      </a:xfrm>
                      <a:prstGeom prst="rect">
                        <a:avLst/>
                      </a:prstGeom>
                      <a:noFill/>
                      <a:ln w="38100">
                        <a:noFill/>
                        <a:miter/>
                      </a:ln>
                    </p:spPr>
                  </p:pic>
                </p:oleObj>
              </mc:Fallback>
            </mc:AlternateContent>
          </a:graphicData>
        </a:graphic>
      </p:graphicFrame>
      <p:graphicFrame>
        <p:nvGraphicFramePr>
          <p:cNvPr id="152579" name="对象 3"/>
          <p:cNvGraphicFramePr>
            <a:graphicFrameLocks noChangeAspect="1"/>
          </p:cNvGraphicFramePr>
          <p:nvPr/>
        </p:nvGraphicFramePr>
        <p:xfrm>
          <a:off x="1692275" y="1341438"/>
          <a:ext cx="360363" cy="344487"/>
        </p:xfrm>
        <a:graphic>
          <a:graphicData uri="http://schemas.openxmlformats.org/presentationml/2006/ole">
            <mc:AlternateContent xmlns:mc="http://schemas.openxmlformats.org/markup-compatibility/2006">
              <mc:Choice xmlns:v="urn:schemas-microsoft-com:vml" Requires="v">
                <p:oleObj spid="_x0000_s3289" name="" r:id="rId5" imgW="228600" imgH="215900" progId="Equation.3">
                  <p:embed/>
                </p:oleObj>
              </mc:Choice>
              <mc:Fallback>
                <p:oleObj name="" r:id="rId5" imgW="228600" imgH="215900" progId="Equation.3">
                  <p:embed/>
                  <p:pic>
                    <p:nvPicPr>
                      <p:cNvPr id="0" name="图片 3288"/>
                      <p:cNvPicPr/>
                      <p:nvPr/>
                    </p:nvPicPr>
                    <p:blipFill>
                      <a:blip r:embed="rId6"/>
                      <a:stretch>
                        <a:fillRect/>
                      </a:stretch>
                    </p:blipFill>
                    <p:spPr>
                      <a:xfrm>
                        <a:off x="1692275" y="1341438"/>
                        <a:ext cx="360363" cy="344487"/>
                      </a:xfrm>
                      <a:prstGeom prst="rect">
                        <a:avLst/>
                      </a:prstGeom>
                      <a:noFill/>
                      <a:ln w="38100">
                        <a:noFill/>
                        <a:miter/>
                      </a:ln>
                    </p:spPr>
                  </p:pic>
                </p:oleObj>
              </mc:Fallback>
            </mc:AlternateContent>
          </a:graphicData>
        </a:graphic>
      </p:graphicFrame>
      <p:graphicFrame>
        <p:nvGraphicFramePr>
          <p:cNvPr id="152580" name="对象 4"/>
          <p:cNvGraphicFramePr>
            <a:graphicFrameLocks noChangeAspect="1"/>
          </p:cNvGraphicFramePr>
          <p:nvPr/>
        </p:nvGraphicFramePr>
        <p:xfrm>
          <a:off x="2987675" y="1325563"/>
          <a:ext cx="306388" cy="371475"/>
        </p:xfrm>
        <a:graphic>
          <a:graphicData uri="http://schemas.openxmlformats.org/presentationml/2006/ole">
            <mc:AlternateContent xmlns:mc="http://schemas.openxmlformats.org/markup-compatibility/2006">
              <mc:Choice xmlns:v="urn:schemas-microsoft-com:vml" Requires="v">
                <p:oleObj spid="_x0000_s3307" name="" r:id="rId7" imgW="177165" imgH="215900" progId="Equation.3">
                  <p:embed/>
                </p:oleObj>
              </mc:Choice>
              <mc:Fallback>
                <p:oleObj name="" r:id="rId7" imgW="177165" imgH="215900" progId="Equation.3">
                  <p:embed/>
                  <p:pic>
                    <p:nvPicPr>
                      <p:cNvPr id="0" name="图片 3306"/>
                      <p:cNvPicPr/>
                      <p:nvPr/>
                    </p:nvPicPr>
                    <p:blipFill>
                      <a:blip r:embed="rId8"/>
                      <a:stretch>
                        <a:fillRect/>
                      </a:stretch>
                    </p:blipFill>
                    <p:spPr>
                      <a:xfrm>
                        <a:off x="2987675" y="1325563"/>
                        <a:ext cx="306388" cy="371475"/>
                      </a:xfrm>
                      <a:prstGeom prst="rect">
                        <a:avLst/>
                      </a:prstGeom>
                      <a:noFill/>
                      <a:ln w="38100">
                        <a:noFill/>
                        <a:miter/>
                      </a:ln>
                    </p:spPr>
                  </p:pic>
                </p:oleObj>
              </mc:Fallback>
            </mc:AlternateContent>
          </a:graphicData>
        </a:graphic>
      </p:graphicFrame>
      <p:graphicFrame>
        <p:nvGraphicFramePr>
          <p:cNvPr id="152581" name="对象 5"/>
          <p:cNvGraphicFramePr>
            <a:graphicFrameLocks noChangeAspect="1"/>
          </p:cNvGraphicFramePr>
          <p:nvPr/>
        </p:nvGraphicFramePr>
        <p:xfrm>
          <a:off x="3529013" y="1363663"/>
          <a:ext cx="523875" cy="333375"/>
        </p:xfrm>
        <a:graphic>
          <a:graphicData uri="http://schemas.openxmlformats.org/presentationml/2006/ole">
            <mc:AlternateContent xmlns:mc="http://schemas.openxmlformats.org/markup-compatibility/2006">
              <mc:Choice xmlns:v="urn:schemas-microsoft-com:vml" Requires="v">
                <p:oleObj spid="_x0000_s3305" name="" r:id="rId9" imgW="316865" imgH="203200" progId="Equation.3">
                  <p:embed/>
                </p:oleObj>
              </mc:Choice>
              <mc:Fallback>
                <p:oleObj name="" r:id="rId9" imgW="316865" imgH="203200" progId="Equation.3">
                  <p:embed/>
                  <p:pic>
                    <p:nvPicPr>
                      <p:cNvPr id="0" name="图片 3304"/>
                      <p:cNvPicPr/>
                      <p:nvPr/>
                    </p:nvPicPr>
                    <p:blipFill>
                      <a:blip r:embed="rId10"/>
                      <a:stretch>
                        <a:fillRect/>
                      </a:stretch>
                    </p:blipFill>
                    <p:spPr>
                      <a:xfrm>
                        <a:off x="3529013" y="1363663"/>
                        <a:ext cx="523875" cy="333375"/>
                      </a:xfrm>
                      <a:prstGeom prst="rect">
                        <a:avLst/>
                      </a:prstGeom>
                      <a:noFill/>
                      <a:ln w="38100">
                        <a:noFill/>
                        <a:miter/>
                      </a:ln>
                    </p:spPr>
                  </p:pic>
                </p:oleObj>
              </mc:Fallback>
            </mc:AlternateContent>
          </a:graphicData>
        </a:graphic>
      </p:graphicFrame>
      <p:sp>
        <p:nvSpPr>
          <p:cNvPr id="152582" name="Rectangle 6"/>
          <p:cNvSpPr/>
          <p:nvPr/>
        </p:nvSpPr>
        <p:spPr>
          <a:xfrm>
            <a:off x="36513" y="504825"/>
            <a:ext cx="8256587" cy="400050"/>
          </a:xfrm>
          <a:prstGeom prst="rect">
            <a:avLst/>
          </a:prstGeom>
          <a:noFill/>
          <a:ln w="9525">
            <a:noFill/>
          </a:ln>
        </p:spPr>
        <p:txBody>
          <a:bodyPr wrap="none" anchor="ctr">
            <a:spAutoFit/>
          </a:bodyPr>
          <a:p>
            <a:pPr eaLnBrk="0" hangingPunct="0"/>
            <a:r>
              <a:rPr lang="zh-CN" altLang="en-US" sz="2000" b="1" dirty="0">
                <a:latin typeface="Times New Roman" panose="02020603050405020304" pitchFamily="18" charset="0"/>
                <a:ea typeface="宋体" panose="02010600030101010101" pitchFamily="2" charset="-122"/>
              </a:rPr>
              <a:t>习题六：</a:t>
            </a:r>
            <a:r>
              <a:rPr lang="zh-CN" altLang="zh-CN" sz="2000" b="1" dirty="0">
                <a:latin typeface="Times New Roman" panose="02020603050405020304" pitchFamily="18" charset="0"/>
                <a:ea typeface="宋体" panose="02010600030101010101" pitchFamily="2" charset="-122"/>
              </a:rPr>
              <a:t>用频率采样法设计一个线性相位低通滤波器，</a:t>
            </a:r>
            <a:r>
              <a:rPr lang="en-US" altLang="zh-CN" sz="2000" b="1" dirty="0">
                <a:latin typeface="Times New Roman" panose="02020603050405020304" pitchFamily="18" charset="0"/>
                <a:ea typeface="宋体" panose="02010600030101010101" pitchFamily="2" charset="-122"/>
              </a:rPr>
              <a:t>N=15</a:t>
            </a:r>
            <a:r>
              <a:rPr lang="zh-CN" altLang="en-US" sz="2000" b="1" dirty="0">
                <a:latin typeface="Times New Roman" panose="02020603050405020304" pitchFamily="18" charset="0"/>
                <a:ea typeface="宋体" panose="02010600030101010101" pitchFamily="2" charset="-122"/>
              </a:rPr>
              <a:t>，截止频率</a:t>
            </a:r>
            <a:endParaRPr lang="zh-CN" altLang="en-US" sz="2000" dirty="0">
              <a:latin typeface="Times New Roman" panose="02020603050405020304" pitchFamily="18" charset="0"/>
              <a:ea typeface="宋体" panose="02010600030101010101" pitchFamily="2" charset="-122"/>
            </a:endParaRPr>
          </a:p>
        </p:txBody>
      </p:sp>
      <p:sp>
        <p:nvSpPr>
          <p:cNvPr id="152583" name="Rectangle 7"/>
          <p:cNvSpPr/>
          <p:nvPr/>
        </p:nvSpPr>
        <p:spPr>
          <a:xfrm>
            <a:off x="1882775" y="874713"/>
            <a:ext cx="2976563" cy="400050"/>
          </a:xfrm>
          <a:prstGeom prst="rect">
            <a:avLst/>
          </a:prstGeom>
          <a:noFill/>
          <a:ln w="9525">
            <a:noFill/>
          </a:ln>
        </p:spPr>
        <p:txBody>
          <a:bodyPr anchor="ctr">
            <a:spAutoFit/>
          </a:bodyPr>
          <a:p>
            <a:pPr eaLnBrk="0" hangingPunct="0"/>
            <a:r>
              <a:rPr lang="zh-CN" altLang="zh-CN" sz="2000" b="1" dirty="0">
                <a:latin typeface="Times New Roman" panose="02020603050405020304" pitchFamily="18" charset="0"/>
                <a:ea typeface="宋体" panose="02010600030101010101" pitchFamily="2" charset="-122"/>
              </a:rPr>
              <a:t>，边沿放一个过渡点</a:t>
            </a:r>
            <a:endParaRPr lang="zh-CN" altLang="zh-CN" sz="2000" dirty="0">
              <a:latin typeface="Times New Roman" panose="02020603050405020304" pitchFamily="18" charset="0"/>
              <a:ea typeface="宋体" panose="02010600030101010101" pitchFamily="2" charset="-122"/>
            </a:endParaRPr>
          </a:p>
        </p:txBody>
      </p:sp>
      <p:sp>
        <p:nvSpPr>
          <p:cNvPr id="152584" name="Rectangle 8"/>
          <p:cNvSpPr/>
          <p:nvPr/>
        </p:nvSpPr>
        <p:spPr>
          <a:xfrm>
            <a:off x="990600" y="1317625"/>
            <a:ext cx="701675" cy="400050"/>
          </a:xfrm>
          <a:prstGeom prst="rect">
            <a:avLst/>
          </a:prstGeom>
          <a:noFill/>
          <a:ln w="9525">
            <a:noFill/>
          </a:ln>
        </p:spPr>
        <p:txBody>
          <a:bodyPr wrap="none" anchor="ctr">
            <a:spAutoFit/>
          </a:bodyPr>
          <a:p>
            <a:pPr eaLnBrk="0" hangingPunct="0"/>
            <a:r>
              <a:rPr lang="zh-CN" altLang="zh-CN" sz="2000" b="1" dirty="0">
                <a:latin typeface="Times New Roman" panose="02020603050405020304" pitchFamily="18" charset="0"/>
                <a:ea typeface="宋体" panose="02010600030101010101" pitchFamily="2" charset="-122"/>
              </a:rPr>
              <a:t>求值</a:t>
            </a:r>
            <a:endParaRPr lang="zh-CN" altLang="zh-CN" sz="2000" dirty="0">
              <a:latin typeface="Times New Roman" panose="02020603050405020304" pitchFamily="18" charset="0"/>
              <a:ea typeface="宋体" panose="02010600030101010101" pitchFamily="2" charset="-122"/>
            </a:endParaRPr>
          </a:p>
        </p:txBody>
      </p:sp>
      <p:sp>
        <p:nvSpPr>
          <p:cNvPr id="152585" name="Rectangle 9"/>
          <p:cNvSpPr/>
          <p:nvPr/>
        </p:nvSpPr>
        <p:spPr>
          <a:xfrm>
            <a:off x="2028825" y="1296988"/>
            <a:ext cx="1030288" cy="400050"/>
          </a:xfrm>
          <a:prstGeom prst="rect">
            <a:avLst/>
          </a:prstGeom>
          <a:noFill/>
          <a:ln w="9525">
            <a:noFill/>
          </a:ln>
        </p:spPr>
        <p:txBody>
          <a:bodyPr anchor="ctr">
            <a:spAutoFit/>
          </a:bodyPr>
          <a:p>
            <a:pPr eaLnBrk="0" hangingPunct="0"/>
            <a:r>
              <a:rPr lang="zh-CN" altLang="zh-CN" sz="2000" b="1" dirty="0">
                <a:latin typeface="Times New Roman" panose="02020603050405020304" pitchFamily="18" charset="0"/>
                <a:ea typeface="宋体" panose="02010600030101010101" pitchFamily="2" charset="-122"/>
              </a:rPr>
              <a:t>和相位</a:t>
            </a:r>
            <a:endParaRPr lang="zh-CN" altLang="zh-CN" sz="2000" dirty="0">
              <a:latin typeface="Times New Roman" panose="02020603050405020304" pitchFamily="18" charset="0"/>
              <a:ea typeface="宋体" panose="02010600030101010101" pitchFamily="2" charset="-122"/>
            </a:endParaRPr>
          </a:p>
        </p:txBody>
      </p:sp>
      <p:sp>
        <p:nvSpPr>
          <p:cNvPr id="152586" name="Rectangle 9"/>
          <p:cNvSpPr/>
          <p:nvPr/>
        </p:nvSpPr>
        <p:spPr>
          <a:xfrm>
            <a:off x="3165475" y="1323975"/>
            <a:ext cx="1030288" cy="400050"/>
          </a:xfrm>
          <a:prstGeom prst="rect">
            <a:avLst/>
          </a:prstGeom>
          <a:noFill/>
          <a:ln w="9525">
            <a:noFill/>
          </a:ln>
        </p:spPr>
        <p:txBody>
          <a:bodyPr anchor="ctr">
            <a:spAutoFit/>
          </a:bodyPr>
          <a:p>
            <a:pPr eaLnBrk="0" hangingPunct="0"/>
            <a:r>
              <a:rPr lang="zh-CN" altLang="en-US" sz="2000" dirty="0">
                <a:latin typeface="Times New Roman" panose="02020603050405020304" pitchFamily="18" charset="0"/>
                <a:ea typeface="宋体" panose="02010600030101010101" pitchFamily="2" charset="-122"/>
              </a:rPr>
              <a:t>及</a:t>
            </a:r>
            <a:endParaRPr lang="zh-CN" altLang="zh-CN" sz="2000" dirty="0">
              <a:latin typeface="Times New Roman" panose="02020603050405020304" pitchFamily="18" charset="0"/>
              <a:ea typeface="宋体" panose="02010600030101010101" pitchFamily="2" charset="-122"/>
            </a:endParaRPr>
          </a:p>
        </p:txBody>
      </p:sp>
      <p:graphicFrame>
        <p:nvGraphicFramePr>
          <p:cNvPr id="15" name="对象 14"/>
          <p:cNvGraphicFramePr>
            <a:graphicFrameLocks noChangeAspect="1"/>
          </p:cNvGraphicFramePr>
          <p:nvPr/>
        </p:nvGraphicFramePr>
        <p:xfrm>
          <a:off x="1476375" y="2614613"/>
          <a:ext cx="4937125" cy="366712"/>
        </p:xfrm>
        <a:graphic>
          <a:graphicData uri="http://schemas.openxmlformats.org/presentationml/2006/ole">
            <mc:AlternateContent xmlns:mc="http://schemas.openxmlformats.org/markup-compatibility/2006">
              <mc:Choice xmlns:v="urn:schemas-microsoft-com:vml" Requires="v">
                <p:oleObj spid="_x0000_s3303" name="" r:id="rId11" imgW="2946400" imgH="215900" progId="Equation.3">
                  <p:embed/>
                </p:oleObj>
              </mc:Choice>
              <mc:Fallback>
                <p:oleObj name="" r:id="rId11" imgW="2946400" imgH="215900" progId="Equation.3">
                  <p:embed/>
                  <p:pic>
                    <p:nvPicPr>
                      <p:cNvPr id="0" name="图片 3302"/>
                      <p:cNvPicPr/>
                      <p:nvPr/>
                    </p:nvPicPr>
                    <p:blipFill>
                      <a:blip r:embed="rId12"/>
                      <a:stretch>
                        <a:fillRect/>
                      </a:stretch>
                    </p:blipFill>
                    <p:spPr>
                      <a:xfrm>
                        <a:off x="1476375" y="2614613"/>
                        <a:ext cx="4937125" cy="366712"/>
                      </a:xfrm>
                      <a:prstGeom prst="rect">
                        <a:avLst/>
                      </a:prstGeom>
                      <a:noFill/>
                      <a:ln w="38100">
                        <a:noFill/>
                        <a:miter/>
                      </a:ln>
                    </p:spPr>
                  </p:pic>
                </p:oleObj>
              </mc:Fallback>
            </mc:AlternateContent>
          </a:graphicData>
        </a:graphic>
      </p:graphicFrame>
      <p:graphicFrame>
        <p:nvGraphicFramePr>
          <p:cNvPr id="16" name="对象 15"/>
          <p:cNvGraphicFramePr>
            <a:graphicFrameLocks noChangeAspect="1"/>
          </p:cNvGraphicFramePr>
          <p:nvPr/>
        </p:nvGraphicFramePr>
        <p:xfrm>
          <a:off x="2886075" y="2987675"/>
          <a:ext cx="2162175" cy="471488"/>
        </p:xfrm>
        <a:graphic>
          <a:graphicData uri="http://schemas.openxmlformats.org/presentationml/2006/ole">
            <mc:AlternateContent xmlns:mc="http://schemas.openxmlformats.org/markup-compatibility/2006">
              <mc:Choice xmlns:v="urn:schemas-microsoft-com:vml" Requires="v">
                <p:oleObj spid="_x0000_s3306" name="" r:id="rId13" imgW="1790700" imgH="393700" progId="Equation.3">
                  <p:embed/>
                </p:oleObj>
              </mc:Choice>
              <mc:Fallback>
                <p:oleObj name="" r:id="rId13" imgW="1790700" imgH="393700" progId="Equation.3">
                  <p:embed/>
                  <p:pic>
                    <p:nvPicPr>
                      <p:cNvPr id="0" name="图片 3305"/>
                      <p:cNvPicPr/>
                      <p:nvPr/>
                    </p:nvPicPr>
                    <p:blipFill>
                      <a:blip r:embed="rId14"/>
                      <a:stretch>
                        <a:fillRect/>
                      </a:stretch>
                    </p:blipFill>
                    <p:spPr>
                      <a:xfrm>
                        <a:off x="2886075" y="2987675"/>
                        <a:ext cx="2162175" cy="471488"/>
                      </a:xfrm>
                      <a:prstGeom prst="rect">
                        <a:avLst/>
                      </a:prstGeom>
                      <a:solidFill>
                        <a:schemeClr val="accent1"/>
                      </a:solidFill>
                      <a:ln w="38100">
                        <a:noFill/>
                        <a:miter/>
                      </a:ln>
                    </p:spPr>
                  </p:pic>
                </p:oleObj>
              </mc:Fallback>
            </mc:AlternateContent>
          </a:graphicData>
        </a:graphic>
      </p:graphicFrame>
      <p:graphicFrame>
        <p:nvGraphicFramePr>
          <p:cNvPr id="17" name="对象 16"/>
          <p:cNvGraphicFramePr>
            <a:graphicFrameLocks noChangeAspect="1"/>
          </p:cNvGraphicFramePr>
          <p:nvPr/>
        </p:nvGraphicFramePr>
        <p:xfrm>
          <a:off x="1331913" y="3327400"/>
          <a:ext cx="815975" cy="442913"/>
        </p:xfrm>
        <a:graphic>
          <a:graphicData uri="http://schemas.openxmlformats.org/presentationml/2006/ole">
            <mc:AlternateContent xmlns:mc="http://schemas.openxmlformats.org/markup-compatibility/2006">
              <mc:Choice xmlns:v="urn:schemas-microsoft-com:vml" Requires="v">
                <p:oleObj spid="_x0000_s3304" name="" r:id="rId15" imgW="558800" imgH="304800" progId="Equation.3">
                  <p:embed/>
                </p:oleObj>
              </mc:Choice>
              <mc:Fallback>
                <p:oleObj name="" r:id="rId15" imgW="558800" imgH="304800" progId="Equation.3">
                  <p:embed/>
                  <p:pic>
                    <p:nvPicPr>
                      <p:cNvPr id="0" name="图片 3303"/>
                      <p:cNvPicPr/>
                      <p:nvPr/>
                    </p:nvPicPr>
                    <p:blipFill>
                      <a:blip r:embed="rId16"/>
                      <a:stretch>
                        <a:fillRect/>
                      </a:stretch>
                    </p:blipFill>
                    <p:spPr>
                      <a:xfrm>
                        <a:off x="1331913" y="3327400"/>
                        <a:ext cx="815975" cy="442913"/>
                      </a:xfrm>
                      <a:prstGeom prst="rect">
                        <a:avLst/>
                      </a:prstGeom>
                      <a:noFill/>
                      <a:ln w="38100">
                        <a:noFill/>
                        <a:miter/>
                      </a:ln>
                    </p:spPr>
                  </p:pic>
                </p:oleObj>
              </mc:Fallback>
            </mc:AlternateContent>
          </a:graphicData>
        </a:graphic>
      </p:graphicFrame>
      <p:graphicFrame>
        <p:nvGraphicFramePr>
          <p:cNvPr id="18" name="对象 17"/>
          <p:cNvGraphicFramePr>
            <a:graphicFrameLocks noChangeAspect="1"/>
          </p:cNvGraphicFramePr>
          <p:nvPr/>
        </p:nvGraphicFramePr>
        <p:xfrm>
          <a:off x="3214688" y="3868738"/>
          <a:ext cx="1128712" cy="717550"/>
        </p:xfrm>
        <a:graphic>
          <a:graphicData uri="http://schemas.openxmlformats.org/presentationml/2006/ole">
            <mc:AlternateContent xmlns:mc="http://schemas.openxmlformats.org/markup-compatibility/2006">
              <mc:Choice xmlns:v="urn:schemas-microsoft-com:vml" Requires="v">
                <p:oleObj spid="_x0000_s3302" name="" r:id="rId17" imgW="914400" imgH="584200" progId="Equation.3">
                  <p:embed/>
                </p:oleObj>
              </mc:Choice>
              <mc:Fallback>
                <p:oleObj name="" r:id="rId17" imgW="914400" imgH="584200" progId="Equation.3">
                  <p:embed/>
                  <p:pic>
                    <p:nvPicPr>
                      <p:cNvPr id="0" name="图片 3301"/>
                      <p:cNvPicPr/>
                      <p:nvPr/>
                    </p:nvPicPr>
                    <p:blipFill>
                      <a:blip r:embed="rId18"/>
                      <a:stretch>
                        <a:fillRect/>
                      </a:stretch>
                    </p:blipFill>
                    <p:spPr>
                      <a:xfrm>
                        <a:off x="3214688" y="3868738"/>
                        <a:ext cx="1128712" cy="717550"/>
                      </a:xfrm>
                      <a:prstGeom prst="rect">
                        <a:avLst/>
                      </a:prstGeom>
                      <a:noFill/>
                      <a:ln w="38100">
                        <a:noFill/>
                        <a:miter/>
                      </a:ln>
                    </p:spPr>
                  </p:pic>
                </p:oleObj>
              </mc:Fallback>
            </mc:AlternateContent>
          </a:graphicData>
        </a:graphic>
      </p:graphicFrame>
      <p:graphicFrame>
        <p:nvGraphicFramePr>
          <p:cNvPr id="19" name="对象 18"/>
          <p:cNvGraphicFramePr>
            <a:graphicFrameLocks noChangeAspect="1"/>
          </p:cNvGraphicFramePr>
          <p:nvPr/>
        </p:nvGraphicFramePr>
        <p:xfrm>
          <a:off x="3059113" y="4675188"/>
          <a:ext cx="865187" cy="325437"/>
        </p:xfrm>
        <a:graphic>
          <a:graphicData uri="http://schemas.openxmlformats.org/presentationml/2006/ole">
            <mc:AlternateContent xmlns:mc="http://schemas.openxmlformats.org/markup-compatibility/2006">
              <mc:Choice xmlns:v="urn:schemas-microsoft-com:vml" Requires="v">
                <p:oleObj spid="_x0000_s3308" name="" r:id="rId19" imgW="584200" imgH="215900" progId="Equation.3">
                  <p:embed/>
                </p:oleObj>
              </mc:Choice>
              <mc:Fallback>
                <p:oleObj name="" r:id="rId19" imgW="584200" imgH="215900" progId="Equation.3">
                  <p:embed/>
                  <p:pic>
                    <p:nvPicPr>
                      <p:cNvPr id="0" name="图片 3307"/>
                      <p:cNvPicPr/>
                      <p:nvPr/>
                    </p:nvPicPr>
                    <p:blipFill>
                      <a:blip r:embed="rId20"/>
                      <a:stretch>
                        <a:fillRect/>
                      </a:stretch>
                    </p:blipFill>
                    <p:spPr>
                      <a:xfrm>
                        <a:off x="3059113" y="4675188"/>
                        <a:ext cx="865187" cy="325437"/>
                      </a:xfrm>
                      <a:prstGeom prst="rect">
                        <a:avLst/>
                      </a:prstGeom>
                      <a:noFill/>
                      <a:ln w="38100">
                        <a:noFill/>
                        <a:miter/>
                      </a:ln>
                    </p:spPr>
                  </p:pic>
                </p:oleObj>
              </mc:Fallback>
            </mc:AlternateContent>
          </a:graphicData>
        </a:graphic>
      </p:graphicFrame>
      <p:graphicFrame>
        <p:nvGraphicFramePr>
          <p:cNvPr id="20" name="对象 19"/>
          <p:cNvGraphicFramePr>
            <a:graphicFrameLocks noChangeAspect="1"/>
          </p:cNvGraphicFramePr>
          <p:nvPr/>
        </p:nvGraphicFramePr>
        <p:xfrm>
          <a:off x="3371850" y="3673475"/>
          <a:ext cx="5753100" cy="1173163"/>
        </p:xfrm>
        <a:graphic>
          <a:graphicData uri="http://schemas.openxmlformats.org/presentationml/2006/ole">
            <mc:AlternateContent xmlns:mc="http://schemas.openxmlformats.org/markup-compatibility/2006">
              <mc:Choice xmlns:v="urn:schemas-microsoft-com:vml" Requires="v">
                <p:oleObj spid="_x0000_s3301" name="" r:id="rId21" imgW="3632200" imgH="736600" progId="Equation.3">
                  <p:embed/>
                </p:oleObj>
              </mc:Choice>
              <mc:Fallback>
                <p:oleObj name="" r:id="rId21" imgW="3632200" imgH="736600" progId="Equation.3">
                  <p:embed/>
                  <p:pic>
                    <p:nvPicPr>
                      <p:cNvPr id="0" name="图片 3300"/>
                      <p:cNvPicPr/>
                      <p:nvPr/>
                    </p:nvPicPr>
                    <p:blipFill>
                      <a:blip r:embed="rId22"/>
                      <a:stretch>
                        <a:fillRect/>
                      </a:stretch>
                    </p:blipFill>
                    <p:spPr>
                      <a:xfrm>
                        <a:off x="3371850" y="3673475"/>
                        <a:ext cx="5753100" cy="1173163"/>
                      </a:xfrm>
                      <a:prstGeom prst="rect">
                        <a:avLst/>
                      </a:prstGeom>
                      <a:solidFill>
                        <a:schemeClr val="accent1"/>
                      </a:solidFill>
                      <a:ln w="38100">
                        <a:noFill/>
                        <a:miter/>
                      </a:ln>
                    </p:spPr>
                  </p:pic>
                </p:oleObj>
              </mc:Fallback>
            </mc:AlternateContent>
          </a:graphicData>
        </a:graphic>
      </p:graphicFrame>
      <p:graphicFrame>
        <p:nvGraphicFramePr>
          <p:cNvPr id="21" name="对象 20"/>
          <p:cNvGraphicFramePr>
            <a:graphicFrameLocks noChangeAspect="1"/>
          </p:cNvGraphicFramePr>
          <p:nvPr/>
        </p:nvGraphicFramePr>
        <p:xfrm>
          <a:off x="617538" y="4986338"/>
          <a:ext cx="5870575" cy="1871662"/>
        </p:xfrm>
        <a:graphic>
          <a:graphicData uri="http://schemas.openxmlformats.org/presentationml/2006/ole">
            <mc:AlternateContent xmlns:mc="http://schemas.openxmlformats.org/markup-compatibility/2006">
              <mc:Choice xmlns:v="urn:schemas-microsoft-com:vml" Requires="v">
                <p:oleObj spid="_x0000_s3300" name="" r:id="rId23" imgW="4622800" imgH="1473200" progId="Equation.3">
                  <p:embed/>
                </p:oleObj>
              </mc:Choice>
              <mc:Fallback>
                <p:oleObj name="" r:id="rId23" imgW="4622800" imgH="1473200" progId="Equation.3">
                  <p:embed/>
                  <p:pic>
                    <p:nvPicPr>
                      <p:cNvPr id="0" name="图片 3299"/>
                      <p:cNvPicPr/>
                      <p:nvPr/>
                    </p:nvPicPr>
                    <p:blipFill>
                      <a:blip r:embed="rId24"/>
                      <a:stretch>
                        <a:fillRect/>
                      </a:stretch>
                    </p:blipFill>
                    <p:spPr>
                      <a:xfrm>
                        <a:off x="617538" y="4986338"/>
                        <a:ext cx="5870575" cy="1871662"/>
                      </a:xfrm>
                      <a:prstGeom prst="rect">
                        <a:avLst/>
                      </a:prstGeom>
                      <a:solidFill>
                        <a:schemeClr val="accent1"/>
                      </a:solidFill>
                      <a:ln w="38100">
                        <a:noFill/>
                        <a:miter/>
                      </a:ln>
                    </p:spPr>
                  </p:pic>
                </p:oleObj>
              </mc:Fallback>
            </mc:AlternateContent>
          </a:graphicData>
        </a:graphic>
      </p:graphicFrame>
      <p:sp>
        <p:nvSpPr>
          <p:cNvPr id="22" name="Rectangle 20"/>
          <p:cNvSpPr/>
          <p:nvPr/>
        </p:nvSpPr>
        <p:spPr>
          <a:xfrm>
            <a:off x="44450" y="1822450"/>
            <a:ext cx="9045575" cy="400050"/>
          </a:xfrm>
          <a:prstGeom prst="rect">
            <a:avLst/>
          </a:prstGeom>
          <a:noFill/>
          <a:ln w="9525">
            <a:noFill/>
          </a:ln>
        </p:spPr>
        <p:txBody>
          <a:bodyPr anchor="ctr">
            <a:spAutoFit/>
          </a:bodyPr>
          <a:p>
            <a:pPr eaLnBrk="0" hangingPunct="0"/>
            <a:r>
              <a:rPr lang="zh-CN" altLang="zh-CN" sz="2000" b="1" dirty="0">
                <a:latin typeface="Times New Roman" panose="02020603050405020304" pitchFamily="18" charset="0"/>
                <a:ea typeface="宋体" panose="02010600030101010101" pitchFamily="2" charset="-122"/>
              </a:rPr>
              <a:t>答： </a:t>
            </a:r>
            <a:r>
              <a:rPr lang="zh-CN" altLang="zh-CN" sz="2000" dirty="0">
                <a:latin typeface="Times New Roman" panose="02020603050405020304" pitchFamily="18" charset="0"/>
                <a:ea typeface="宋体" panose="02010600030101010101" pitchFamily="2" charset="-122"/>
              </a:rPr>
              <a:t>线性相位低通滤波器，适合设计低通滤波器的有第一、二类线性相位，</a:t>
            </a:r>
            <a:endParaRPr lang="zh-CN" altLang="en-US" sz="2000" dirty="0">
              <a:latin typeface="Times New Roman" panose="02020603050405020304" pitchFamily="18" charset="0"/>
              <a:ea typeface="宋体" panose="02010600030101010101" pitchFamily="2" charset="-122"/>
            </a:endParaRPr>
          </a:p>
        </p:txBody>
      </p:sp>
      <p:sp>
        <p:nvSpPr>
          <p:cNvPr id="152595" name="Rectangle 22"/>
          <p:cNvSpPr/>
          <p:nvPr/>
        </p:nvSpPr>
        <p:spPr>
          <a:xfrm>
            <a:off x="261938" y="2565400"/>
            <a:ext cx="1304925" cy="400050"/>
          </a:xfrm>
          <a:prstGeom prst="rect">
            <a:avLst/>
          </a:prstGeom>
          <a:noFill/>
          <a:ln w="9525">
            <a:noFill/>
          </a:ln>
        </p:spPr>
        <p:txBody>
          <a:bodyPr anchor="ctr">
            <a:spAutoFit/>
          </a:bodyPr>
          <a:p>
            <a:pPr indent="266700" eaLnBrk="0" hangingPunct="0"/>
            <a:r>
              <a:rPr lang="zh-CN" altLang="zh-CN" sz="2000" dirty="0">
                <a:latin typeface="Times New Roman" panose="02020603050405020304" pitchFamily="18" charset="0"/>
                <a:ea typeface="宋体" panose="02010600030101010101" pitchFamily="2" charset="-122"/>
              </a:rPr>
              <a:t>所以，</a:t>
            </a:r>
            <a:endParaRPr lang="zh-CN" altLang="zh-CN" sz="2000" dirty="0">
              <a:latin typeface="Times New Roman" panose="02020603050405020304" pitchFamily="18" charset="0"/>
              <a:ea typeface="宋体" panose="02010600030101010101" pitchFamily="2" charset="-122"/>
            </a:endParaRPr>
          </a:p>
        </p:txBody>
      </p:sp>
      <p:sp>
        <p:nvSpPr>
          <p:cNvPr id="152596" name="Rectangle 23"/>
          <p:cNvSpPr/>
          <p:nvPr/>
        </p:nvSpPr>
        <p:spPr>
          <a:xfrm>
            <a:off x="261938" y="3197225"/>
            <a:ext cx="966787" cy="400050"/>
          </a:xfrm>
          <a:prstGeom prst="rect">
            <a:avLst/>
          </a:prstGeom>
          <a:noFill/>
          <a:ln w="9525">
            <a:noFill/>
          </a:ln>
        </p:spPr>
        <p:txBody>
          <a:bodyPr wrap="none" anchor="ctr">
            <a:spAutoFit/>
          </a:bodyPr>
          <a:p>
            <a:pPr indent="266700" eaLnBrk="0" hangingPunct="0"/>
            <a:r>
              <a:rPr lang="zh-CN" altLang="zh-CN" sz="2000" dirty="0">
                <a:latin typeface="Times New Roman" panose="02020603050405020304" pitchFamily="18" charset="0"/>
                <a:ea typeface="宋体" panose="02010600030101010101" pitchFamily="2" charset="-122"/>
              </a:rPr>
              <a:t>因为</a:t>
            </a:r>
            <a:endParaRPr lang="zh-CN" altLang="zh-CN" sz="2000" dirty="0">
              <a:latin typeface="Times New Roman" panose="02020603050405020304" pitchFamily="18" charset="0"/>
              <a:ea typeface="宋体" panose="02010600030101010101" pitchFamily="2" charset="-122"/>
            </a:endParaRPr>
          </a:p>
        </p:txBody>
      </p:sp>
      <p:sp>
        <p:nvSpPr>
          <p:cNvPr id="152597" name="Rectangle 24"/>
          <p:cNvSpPr/>
          <p:nvPr/>
        </p:nvSpPr>
        <p:spPr>
          <a:xfrm>
            <a:off x="187325" y="4022725"/>
            <a:ext cx="2960688" cy="400050"/>
          </a:xfrm>
          <a:prstGeom prst="rect">
            <a:avLst/>
          </a:prstGeom>
          <a:noFill/>
          <a:ln w="9525">
            <a:noFill/>
          </a:ln>
        </p:spPr>
        <p:txBody>
          <a:bodyPr wrap="none" anchor="ctr">
            <a:spAutoFit/>
          </a:bodyPr>
          <a:p>
            <a:pPr indent="266700" eaLnBrk="0" hangingPunct="0"/>
            <a:r>
              <a:rPr lang="zh-CN" altLang="zh-CN" sz="2000" dirty="0">
                <a:latin typeface="Times New Roman" panose="02020603050405020304" pitchFamily="18" charset="0"/>
                <a:ea typeface="宋体" panose="02010600030101010101" pitchFamily="2" charset="-122"/>
              </a:rPr>
              <a:t>所以通带内采样点数</a:t>
            </a:r>
            <a:r>
              <a:rPr lang="en-US" altLang="zh-CN" sz="2000" dirty="0">
                <a:latin typeface="Times New Roman" panose="02020603050405020304" pitchFamily="18" charset="0"/>
                <a:ea typeface="宋体" panose="02010600030101010101" pitchFamily="2" charset="-122"/>
              </a:rPr>
              <a:t>m</a:t>
            </a:r>
            <a:endParaRPr lang="en-US" altLang="zh-CN" sz="2000" dirty="0">
              <a:latin typeface="Times New Roman" panose="02020603050405020304" pitchFamily="18" charset="0"/>
              <a:ea typeface="宋体" panose="02010600030101010101" pitchFamily="2" charset="-122"/>
            </a:endParaRPr>
          </a:p>
        </p:txBody>
      </p:sp>
      <p:sp>
        <p:nvSpPr>
          <p:cNvPr id="152598" name="Rectangle 25"/>
          <p:cNvSpPr/>
          <p:nvPr/>
        </p:nvSpPr>
        <p:spPr>
          <a:xfrm>
            <a:off x="404813" y="4643438"/>
            <a:ext cx="2538412" cy="400050"/>
          </a:xfrm>
          <a:prstGeom prst="rect">
            <a:avLst/>
          </a:prstGeom>
          <a:noFill/>
          <a:ln w="9525">
            <a:noFill/>
          </a:ln>
        </p:spPr>
        <p:txBody>
          <a:bodyPr anchor="ctr">
            <a:spAutoFit/>
          </a:bodyPr>
          <a:p>
            <a:pPr indent="266700" eaLnBrk="0" hangingPunct="0"/>
            <a:r>
              <a:rPr lang="zh-CN" altLang="zh-CN" sz="2000" dirty="0">
                <a:latin typeface="Times New Roman" panose="02020603050405020304" pitchFamily="18" charset="0"/>
                <a:ea typeface="宋体" panose="02010600030101010101" pitchFamily="2" charset="-122"/>
              </a:rPr>
              <a:t>边沿放一个过渡点</a:t>
            </a:r>
            <a:endParaRPr lang="zh-CN" altLang="zh-CN" sz="2000" dirty="0">
              <a:latin typeface="Times New Roman" panose="02020603050405020304" pitchFamily="18" charset="0"/>
              <a:ea typeface="宋体" panose="02010600030101010101" pitchFamily="2" charset="-122"/>
            </a:endParaRPr>
          </a:p>
        </p:txBody>
      </p:sp>
      <p:sp>
        <p:nvSpPr>
          <p:cNvPr id="30" name="矩形 29"/>
          <p:cNvSpPr/>
          <p:nvPr/>
        </p:nvSpPr>
        <p:spPr>
          <a:xfrm>
            <a:off x="676275" y="2217738"/>
            <a:ext cx="3351213" cy="461962"/>
          </a:xfrm>
          <a:prstGeom prst="rect">
            <a:avLst/>
          </a:prstGeom>
          <a:noFill/>
          <a:ln w="9525">
            <a:noFill/>
          </a:ln>
        </p:spPr>
        <p:txBody>
          <a:bodyPr wrap="none" anchor="t">
            <a:spAutoFit/>
          </a:bodyPr>
          <a:p>
            <a:pPr eaLnBrk="0" hangingPunct="0"/>
            <a:r>
              <a:rPr lang="en-US" altLang="zh-CN" dirty="0">
                <a:latin typeface="Times New Roman" panose="02020603050405020304" pitchFamily="18" charset="0"/>
                <a:ea typeface="宋体" panose="02010600030101010101" pitchFamily="2" charset="-122"/>
              </a:rPr>
              <a:t>N=15</a:t>
            </a:r>
            <a:r>
              <a:rPr lang="zh-CN" altLang="en-US" dirty="0">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第一类</a:t>
            </a:r>
            <a:r>
              <a:rPr lang="zh-CN" altLang="en-US" dirty="0">
                <a:latin typeface="Times New Roman" panose="02020603050405020304" pitchFamily="18" charset="0"/>
                <a:ea typeface="宋体" panose="02010600030101010101" pitchFamily="2" charset="-122"/>
              </a:rPr>
              <a:t>线性相位</a:t>
            </a:r>
            <a:endParaRPr lang="zh-CN" altLang="en-US" dirty="0">
              <a:latin typeface="Times New Roman" panose="02020603050405020304" pitchFamily="18" charset="0"/>
              <a:ea typeface="宋体" panose="02010600030101010101" pitchFamily="2" charset="-122"/>
            </a:endParaRPr>
          </a:p>
        </p:txBody>
      </p:sp>
      <p:cxnSp>
        <p:nvCxnSpPr>
          <p:cNvPr id="31" name="直接连接符 30"/>
          <p:cNvCxnSpPr/>
          <p:nvPr/>
        </p:nvCxnSpPr>
        <p:spPr>
          <a:xfrm>
            <a:off x="2846388" y="3452813"/>
            <a:ext cx="895350"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ppt_x"/>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0"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commondata" val="eyJoZGlkIjoiMjA4MDExMDM5Mzg5MGQ5Yjc5MGQ1MzE5Y2I4NmVhOTU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0000"/>
      </a:hlink>
      <a:folHlink>
        <a:srgbClr val="CC6600"/>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19983</Words>
  <Application>WPS 演示</Application>
  <PresentationFormat>全屏显示(4:3)</PresentationFormat>
  <Paragraphs>1113</Paragraphs>
  <Slides>154</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250</vt:i4>
      </vt:variant>
      <vt:variant>
        <vt:lpstr>幻灯片标题</vt:lpstr>
      </vt:variant>
      <vt:variant>
        <vt:i4>154</vt:i4>
      </vt:variant>
    </vt:vector>
  </HeadingPairs>
  <TitlesOfParts>
    <vt:vector size="414" baseType="lpstr">
      <vt:lpstr>Arial</vt:lpstr>
      <vt:lpstr>宋体</vt:lpstr>
      <vt:lpstr>Wingdings</vt:lpstr>
      <vt:lpstr>Times New Roman</vt:lpstr>
      <vt:lpstr>华文行楷</vt:lpstr>
      <vt:lpstr>微软雅黑</vt:lpstr>
      <vt:lpstr>Arial Unicode MS</vt:lpstr>
      <vt:lpstr>Calibri</vt:lpstr>
      <vt:lpstr>Courier New</vt:lpstr>
      <vt:lpstr>默认设计模板</vt:lpstr>
      <vt:lpstr>Equation.3</vt:lpstr>
      <vt:lpstr>Equation.3</vt:lpstr>
      <vt:lpstr>Equation.3</vt:lpstr>
      <vt:lpstr>Equation.3</vt:lpstr>
      <vt:lpstr>Equation.KSEE3</vt:lpstr>
      <vt:lpstr>Equation.3</vt:lpstr>
      <vt:lpstr>Equation.3</vt:lpstr>
      <vt:lpstr>Equation.3</vt:lpstr>
      <vt:lpstr>Equation.3</vt:lpstr>
      <vt:lpstr>Equation.3</vt:lpstr>
      <vt:lpstr>Equation.KSEE3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Equation.DSMT4</vt:lpstr>
      <vt:lpstr>Equation.DSMT4</vt:lpstr>
      <vt:lpstr>Equation.3</vt:lpstr>
      <vt:lpstr>Equation.3</vt:lpstr>
      <vt:lpstr>Equation.DSMT4</vt:lpstr>
      <vt:lpstr>Equation.3</vt:lpstr>
      <vt:lpstr>Photoshop.Image.6</vt:lpstr>
      <vt:lpstr>Equation.3</vt:lpstr>
      <vt:lpstr>Equation.3</vt:lpstr>
      <vt:lpstr>Equation.3</vt:lpstr>
      <vt:lpstr>Equation.3</vt:lpstr>
      <vt:lpstr>Photoshop.Image.6</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Equation.KSEE3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Equation.3</vt:lpstr>
      <vt:lpstr>Equation.3</vt:lpstr>
      <vt:lpstr>Equation.3</vt:lpstr>
      <vt:lpstr>Equation.3</vt:lpstr>
      <vt:lpstr>Paint.Picture</vt:lpstr>
      <vt:lpstr>Equation.KSEE3</vt:lpstr>
      <vt:lpstr>Equation.3</vt:lpstr>
      <vt:lpstr>Equation.KSEE3</vt:lpstr>
      <vt:lpstr>Equation.KSEE3</vt:lpstr>
      <vt:lpstr>Equation.KSEE3</vt:lpstr>
      <vt:lpstr>Equation.KSEE3</vt:lpstr>
      <vt:lpstr>Equation.KSEE3</vt:lpstr>
      <vt:lpstr>Equation.KSEE3</vt:lpstr>
      <vt:lpstr>Equation.KSEE3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Equation.3</vt:lpstr>
      <vt:lpstr>Equation.KSEE3</vt:lpstr>
      <vt:lpstr>Equation.3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西安火炬电脑公司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淑玉刘</cp:lastModifiedBy>
  <cp:revision>121</cp:revision>
  <dcterms:created xsi:type="dcterms:W3CDTF">2003-07-29T00:56:00Z</dcterms:created>
  <dcterms:modified xsi:type="dcterms:W3CDTF">2023-11-20T13:56:11Z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C95E86227EBA4392A7D3680060C1A06C_12</vt:lpwstr>
  </property>
</Properties>
</file>