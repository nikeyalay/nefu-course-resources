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gif" ContentType="image/gif"/>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96" r:id="rId7"/>
    <p:sldId id="260" r:id="rId8"/>
    <p:sldId id="261" r:id="rId9"/>
    <p:sldId id="262" r:id="rId10"/>
    <p:sldId id="263" r:id="rId11"/>
    <p:sldId id="264" r:id="rId12"/>
    <p:sldId id="265" r:id="rId13"/>
    <p:sldId id="266" r:id="rId14"/>
    <p:sldId id="267" r:id="rId15"/>
    <p:sldId id="268" r:id="rId16"/>
    <p:sldId id="269" r:id="rId17"/>
    <p:sldId id="297" r:id="rId18"/>
    <p:sldId id="298" r:id="rId19"/>
    <p:sldId id="299" r:id="rId20"/>
    <p:sldId id="300" r:id="rId21"/>
    <p:sldId id="271" r:id="rId22"/>
    <p:sldId id="270" r:id="rId23"/>
    <p:sldId id="272" r:id="rId24"/>
    <p:sldId id="274" r:id="rId25"/>
    <p:sldId id="301" r:id="rId26"/>
    <p:sldId id="302" r:id="rId27"/>
    <p:sldId id="303" r:id="rId28"/>
    <p:sldId id="304" r:id="rId29"/>
    <p:sldId id="305" r:id="rId30"/>
    <p:sldId id="306" r:id="rId31"/>
    <p:sldId id="307" r:id="rId32"/>
    <p:sldId id="308" r:id="rId33"/>
    <p:sldId id="273" r:id="rId34"/>
    <p:sldId id="276" r:id="rId35"/>
    <p:sldId id="275" r:id="rId36"/>
    <p:sldId id="309" r:id="rId37"/>
    <p:sldId id="310" r:id="rId38"/>
    <p:sldId id="278" r:id="rId39"/>
    <p:sldId id="277" r:id="rId40"/>
    <p:sldId id="280" r:id="rId41"/>
    <p:sldId id="312" r:id="rId42"/>
    <p:sldId id="279" r:id="rId43"/>
    <p:sldId id="282" r:id="rId44"/>
    <p:sldId id="281" r:id="rId45"/>
    <p:sldId id="284" r:id="rId46"/>
    <p:sldId id="283" r:id="rId47"/>
    <p:sldId id="286" r:id="rId48"/>
    <p:sldId id="285" r:id="rId49"/>
    <p:sldId id="288" r:id="rId50"/>
    <p:sldId id="287" r:id="rId51"/>
    <p:sldId id="295" r:id="rId52"/>
    <p:sldId id="290" r:id="rId53"/>
    <p:sldId id="289" r:id="rId54"/>
    <p:sldId id="292" r:id="rId55"/>
    <p:sldId id="315" r:id="rId56"/>
    <p:sldId id="316" r:id="rId57"/>
    <p:sldId id="317" r:id="rId58"/>
    <p:sldId id="318" r:id="rId59"/>
    <p:sldId id="319" r:id="rId60"/>
    <p:sldId id="320" r:id="rId61"/>
    <p:sldId id="321" r:id="rId62"/>
    <p:sldId id="322" r:id="rId63"/>
    <p:sldId id="323" r:id="rId64"/>
    <p:sldId id="324" r:id="rId65"/>
    <p:sldId id="291" r:id="rId66"/>
    <p:sldId id="294" r:id="rId67"/>
  </p:sldIdLst>
  <p:sldSz cx="9144000" cy="6858000" type="screen4x3"/>
  <p:notesSz cx="6858000" cy="9144000"/>
  <p:custDataLst>
    <p:tags r:id="rId71"/>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showGuides="1">
      <p:cViewPr varScale="1">
        <p:scale>
          <a:sx n="68" d="100"/>
          <a:sy n="68" d="100"/>
        </p:scale>
        <p:origin x="-82" y="-446"/>
      </p:cViewPr>
      <p:guideLst>
        <p:guide orient="horz" pos="2143"/>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1" Type="http://schemas.openxmlformats.org/officeDocument/2006/relationships/tags" Target="tags/tag7.xml"/><Relationship Id="rId70" Type="http://schemas.openxmlformats.org/officeDocument/2006/relationships/tableStyles" Target="tableStyles.xml"/><Relationship Id="rId7" Type="http://schemas.openxmlformats.org/officeDocument/2006/relationships/slide" Target="slides/slide5.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39.wmf"/><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36.wmf"/><Relationship Id="rId1" Type="http://schemas.openxmlformats.org/officeDocument/2006/relationships/image" Target="../media/image49.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26.vml.rels><?xml version="1.0" encoding="UTF-8" standalone="yes"?>
<Relationships xmlns="http://schemas.openxmlformats.org/package/2006/relationships"><Relationship Id="rId4" Type="http://schemas.openxmlformats.org/officeDocument/2006/relationships/image" Target="../media/image62.wmf"/><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36.vml.rels><?xml version="1.0" encoding="UTF-8" standalone="yes"?>
<Relationships xmlns="http://schemas.openxmlformats.org/package/2006/relationships"><Relationship Id="rId4" Type="http://schemas.openxmlformats.org/officeDocument/2006/relationships/image" Target="../media/image87.wmf"/><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39.vml.rels><?xml version="1.0" encoding="UTF-8" standalone="yes"?>
<Relationships xmlns="http://schemas.openxmlformats.org/package/2006/relationships"><Relationship Id="rId4" Type="http://schemas.openxmlformats.org/officeDocument/2006/relationships/image" Target="../media/image98.wmf"/><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s>
</file>

<file path=ppt/drawings/_rels/vmlDrawing40.vml.rels><?xml version="1.0" encoding="UTF-8" standalone="yes"?>
<Relationships xmlns="http://schemas.openxmlformats.org/package/2006/relationships"><Relationship Id="rId4" Type="http://schemas.openxmlformats.org/officeDocument/2006/relationships/image" Target="../media/image102.wmf"/><Relationship Id="rId3" Type="http://schemas.openxmlformats.org/officeDocument/2006/relationships/image" Target="../media/image101.emf"/><Relationship Id="rId2" Type="http://schemas.openxmlformats.org/officeDocument/2006/relationships/image" Target="../media/image100.wmf"/><Relationship Id="rId1" Type="http://schemas.openxmlformats.org/officeDocument/2006/relationships/image" Target="../media/image99.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emf"/><Relationship Id="rId1" Type="http://schemas.openxmlformats.org/officeDocument/2006/relationships/image" Target="../media/image103.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08.emf"/><Relationship Id="rId1" Type="http://schemas.openxmlformats.org/officeDocument/2006/relationships/image" Target="../media/image107.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0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11.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1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9724"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8" name="页脚占位符 7"/>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4" name="页脚占位符 3"/>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3" name="页脚占位符 2"/>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716657"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jpeg"/><Relationship Id="rId14" Type="http://schemas.openxmlformats.org/officeDocument/2006/relationships/image" Target="../media/image3.jpeg"/><Relationship Id="rId13" Type="http://schemas.openxmlformats.org/officeDocument/2006/relationships/image" Target="../media/image2.GIF"/><Relationship Id="rId12" Type="http://schemas.openxmlformats.org/officeDocument/2006/relationships/image" Target="../media/image1.GIF"/><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685800" y="609600"/>
            <a:ext cx="77724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文本占位符 1026"/>
          <p:cNvSpPr>
            <a:spLocks noGrp="1"/>
          </p:cNvSpPr>
          <p:nvPr>
            <p:ph type="body"/>
          </p:nvPr>
        </p:nvSpPr>
        <p:spPr>
          <a:xfrm>
            <a:off x="685800" y="1981200"/>
            <a:ext cx="7772400" cy="4114800"/>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日期占位符 1027"/>
          <p:cNvSpPr>
            <a:spLocks noGrp="1"/>
          </p:cNvSpPr>
          <p:nvPr>
            <p:ph type="dt" sz="half" idx="2"/>
          </p:nvPr>
        </p:nvSpPr>
        <p:spPr>
          <a:xfrm>
            <a:off x="685800" y="6248400"/>
            <a:ext cx="1905000" cy="457200"/>
          </a:xfrm>
          <a:prstGeom prst="rect">
            <a:avLst/>
          </a:prstGeom>
          <a:noFill/>
          <a:ln w="9525">
            <a:noFill/>
          </a:ln>
        </p:spPr>
        <p:txBody>
          <a:bodyPr/>
          <a:lstStyle>
            <a:lvl1pPr>
              <a:defRPr sz="1400"/>
            </a:lvl1pPr>
          </a:lstStyle>
          <a:p>
            <a:pPr lvl="0" fontAlgn="base"/>
            <a:endParaRPr lang="zh-CN" altLang="en-US" strike="noStrike" noProof="1" dirty="0">
              <a:latin typeface="Times New Roman" panose="02020603050405020304" pitchFamily="18" charset="0"/>
            </a:endParaRPr>
          </a:p>
        </p:txBody>
      </p:sp>
      <p:sp>
        <p:nvSpPr>
          <p:cNvPr id="1029"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lgn="ctr">
              <a:defRPr sz="1400"/>
            </a:lvl1pPr>
          </a:lstStyle>
          <a:p>
            <a:pPr lvl="0" fontAlgn="base"/>
            <a:endParaRPr lang="zh-CN" altLang="en-US" strike="noStrike" noProof="1" dirty="0">
              <a:latin typeface="Times New Roman" panose="02020603050405020304" pitchFamily="18" charset="0"/>
            </a:endParaRPr>
          </a:p>
        </p:txBody>
      </p:sp>
      <p:sp>
        <p:nvSpPr>
          <p:cNvPr id="1030"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pic>
        <p:nvPicPr>
          <p:cNvPr id="1031" name="图片 1030" descr="GIF-396"/>
          <p:cNvPicPr>
            <a:picLocks noChangeAspect="1"/>
          </p:cNvPicPr>
          <p:nvPr userDrawn="1"/>
        </p:nvPicPr>
        <p:blipFill>
          <a:blip r:embed="rId12"/>
          <a:stretch>
            <a:fillRect/>
          </a:stretch>
        </p:blipFill>
        <p:spPr>
          <a:xfrm>
            <a:off x="0" y="457200"/>
            <a:ext cx="4572000" cy="76200"/>
          </a:xfrm>
          <a:prstGeom prst="rect">
            <a:avLst/>
          </a:prstGeom>
          <a:noFill/>
          <a:ln w="9525">
            <a:noFill/>
          </a:ln>
        </p:spPr>
      </p:pic>
      <p:pic>
        <p:nvPicPr>
          <p:cNvPr id="1032" name="图片 1031" descr="GIF-452"/>
          <p:cNvPicPr>
            <a:picLocks noChangeAspect="1"/>
          </p:cNvPicPr>
          <p:nvPr userDrawn="1"/>
        </p:nvPicPr>
        <p:blipFill>
          <a:blip r:embed="rId13"/>
          <a:stretch>
            <a:fillRect/>
          </a:stretch>
        </p:blipFill>
        <p:spPr>
          <a:xfrm>
            <a:off x="7848600" y="0"/>
            <a:ext cx="1295400" cy="461963"/>
          </a:xfrm>
          <a:prstGeom prst="rect">
            <a:avLst/>
          </a:prstGeom>
          <a:noFill/>
          <a:ln w="9525">
            <a:noFill/>
          </a:ln>
        </p:spPr>
      </p:pic>
      <p:pic>
        <p:nvPicPr>
          <p:cNvPr id="1033" name="图片 1032" descr="BJ2006"/>
          <p:cNvPicPr>
            <a:picLocks noChangeAspect="1"/>
          </p:cNvPicPr>
          <p:nvPr userDrawn="1"/>
        </p:nvPicPr>
        <p:blipFill>
          <a:blip r:embed="rId14"/>
          <a:stretch>
            <a:fillRect/>
          </a:stretch>
        </p:blipFill>
        <p:spPr>
          <a:xfrm>
            <a:off x="0" y="6248400"/>
            <a:ext cx="9144000" cy="609600"/>
          </a:xfrm>
          <a:prstGeom prst="rect">
            <a:avLst/>
          </a:prstGeom>
          <a:noFill/>
          <a:ln w="9525">
            <a:noFill/>
          </a:ln>
        </p:spPr>
      </p:pic>
      <p:pic>
        <p:nvPicPr>
          <p:cNvPr id="1034" name="图片 1033" descr="CJ3261"/>
          <p:cNvPicPr>
            <a:picLocks noChangeAspect="1"/>
          </p:cNvPicPr>
          <p:nvPr userDrawn="1"/>
        </p:nvPicPr>
        <p:blipFill>
          <a:blip r:embed="rId15"/>
          <a:stretch>
            <a:fillRect/>
          </a:stretch>
        </p:blipFill>
        <p:spPr>
          <a:xfrm>
            <a:off x="0" y="0"/>
            <a:ext cx="533400" cy="477838"/>
          </a:xfrm>
          <a:prstGeom prst="rect">
            <a:avLst/>
          </a:prstGeom>
          <a:noFill/>
          <a:ln w="9525">
            <a:noFill/>
          </a:ln>
        </p:spPr>
      </p:pic>
      <p:sp>
        <p:nvSpPr>
          <p:cNvPr id="1035" name="文本框 1034"/>
          <p:cNvSpPr txBox="1"/>
          <p:nvPr userDrawn="1"/>
        </p:nvSpPr>
        <p:spPr>
          <a:xfrm>
            <a:off x="457200" y="76200"/>
            <a:ext cx="4121150" cy="457200"/>
          </a:xfrm>
          <a:prstGeom prst="rect">
            <a:avLst/>
          </a:prstGeom>
          <a:noFill/>
          <a:ln w="9525">
            <a:noFill/>
          </a:ln>
        </p:spPr>
        <p:txBody>
          <a:bodyPr wrap="none" anchor="t">
            <a:spAutoFit/>
          </a:bodyPr>
          <a:p>
            <a:pPr lvl="0"/>
            <a:r>
              <a:rPr lang="zh-CN" altLang="en-US" dirty="0">
                <a:latin typeface="华文行楷" pitchFamily="2" charset="-122"/>
                <a:ea typeface="华文行楷" pitchFamily="2" charset="-122"/>
              </a:rPr>
              <a:t>第</a:t>
            </a:r>
            <a:r>
              <a:rPr lang="en-US" altLang="zh-CN" dirty="0">
                <a:latin typeface="华文行楷" pitchFamily="2" charset="-122"/>
                <a:ea typeface="华文行楷" pitchFamily="2" charset="-122"/>
              </a:rPr>
              <a:t>4</a:t>
            </a:r>
            <a:r>
              <a:rPr lang="zh-CN" altLang="en-US" dirty="0">
                <a:latin typeface="华文行楷" pitchFamily="2" charset="-122"/>
                <a:ea typeface="华文行楷" pitchFamily="2" charset="-122"/>
              </a:rPr>
              <a:t>章 数字滤波器的基本结构 </a:t>
            </a:r>
            <a:endParaRPr lang="zh-CN" altLang="en-US">
              <a:latin typeface="华文行楷" pitchFamily="2" charset="-122"/>
              <a:ea typeface="华文行楷"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blinds dir="vert"/>
  </p:transition>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 Target="slide37.xml"/><Relationship Id="rId1" Type="http://schemas.openxmlformats.org/officeDocument/2006/relationships/slide" Target="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6.wmf"/><Relationship Id="rId3" Type="http://schemas.openxmlformats.org/officeDocument/2006/relationships/oleObject" Target="../embeddings/oleObject2.bin"/><Relationship Id="rId2" Type="http://schemas.openxmlformats.org/officeDocument/2006/relationships/image" Target="../media/image5.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8.emf"/><Relationship Id="rId1"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0.wmf"/><Relationship Id="rId1"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12.wmf"/><Relationship Id="rId3" Type="http://schemas.openxmlformats.org/officeDocument/2006/relationships/oleObject" Target="../embeddings/oleObject7.bin"/><Relationship Id="rId2" Type="http://schemas.openxmlformats.org/officeDocument/2006/relationships/image" Target="../media/image11.wmf"/><Relationship Id="rId1"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7.xml"/><Relationship Id="rId4" Type="http://schemas.openxmlformats.org/officeDocument/2006/relationships/image" Target="../media/image10.wmf"/><Relationship Id="rId3" Type="http://schemas.openxmlformats.org/officeDocument/2006/relationships/oleObject" Target="../embeddings/oleObject8.bin"/><Relationship Id="rId2" Type="http://schemas.openxmlformats.org/officeDocument/2006/relationships/tags" Target="../tags/tag1.xml"/><Relationship Id="rId1" Type="http://schemas.openxmlformats.org/officeDocument/2006/relationships/image" Target="../media/image13.jpeg"/></Relationships>
</file>

<file path=ppt/slides/_rels/slide10.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7.xml"/><Relationship Id="rId5" Type="http://schemas.openxmlformats.org/officeDocument/2006/relationships/image" Target="../media/image10.wmf"/><Relationship Id="rId4" Type="http://schemas.openxmlformats.org/officeDocument/2006/relationships/oleObject" Target="../embeddings/oleObject10.bin"/><Relationship Id="rId3" Type="http://schemas.openxmlformats.org/officeDocument/2006/relationships/tags" Target="../tags/tag2.xml"/><Relationship Id="rId2" Type="http://schemas.openxmlformats.org/officeDocument/2006/relationships/image" Target="../media/image14.wmf"/><Relationship Id="rId1"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9" Type="http://schemas.openxmlformats.org/officeDocument/2006/relationships/image" Target="../media/image18.wmf"/><Relationship Id="rId8" Type="http://schemas.openxmlformats.org/officeDocument/2006/relationships/oleObject" Target="../embeddings/oleObject14.bin"/><Relationship Id="rId7" Type="http://schemas.openxmlformats.org/officeDocument/2006/relationships/tags" Target="../tags/tag3.xml"/><Relationship Id="rId6" Type="http://schemas.openxmlformats.org/officeDocument/2006/relationships/image" Target="../media/image17.wmf"/><Relationship Id="rId5" Type="http://schemas.openxmlformats.org/officeDocument/2006/relationships/oleObject" Target="../embeddings/oleObject13.bin"/><Relationship Id="rId4" Type="http://schemas.openxmlformats.org/officeDocument/2006/relationships/image" Target="../media/image16.wmf"/><Relationship Id="rId3" Type="http://schemas.openxmlformats.org/officeDocument/2006/relationships/oleObject" Target="../embeddings/oleObject12.bin"/><Relationship Id="rId2" Type="http://schemas.openxmlformats.org/officeDocument/2006/relationships/image" Target="../media/image15.wmf"/><Relationship Id="rId11" Type="http://schemas.openxmlformats.org/officeDocument/2006/relationships/vmlDrawing" Target="../drawings/vmlDrawing8.vml"/><Relationship Id="rId10" Type="http://schemas.openxmlformats.org/officeDocument/2006/relationships/slideLayout" Target="../slideLayouts/slideLayout7.xml"/><Relationship Id="rId1"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7.xml"/><Relationship Id="rId6" Type="http://schemas.openxmlformats.org/officeDocument/2006/relationships/image" Target="../media/image21.wmf"/><Relationship Id="rId5" Type="http://schemas.openxmlformats.org/officeDocument/2006/relationships/oleObject" Target="../embeddings/oleObject17.bin"/><Relationship Id="rId4" Type="http://schemas.openxmlformats.org/officeDocument/2006/relationships/image" Target="../media/image20.wmf"/><Relationship Id="rId3" Type="http://schemas.openxmlformats.org/officeDocument/2006/relationships/oleObject" Target="../embeddings/oleObject16.bin"/><Relationship Id="rId2" Type="http://schemas.openxmlformats.org/officeDocument/2006/relationships/image" Target="../media/image19.wmf"/><Relationship Id="rId1" Type="http://schemas.openxmlformats.org/officeDocument/2006/relationships/oleObject" Target="../embeddings/oleObject15.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7.xml"/><Relationship Id="rId4" Type="http://schemas.openxmlformats.org/officeDocument/2006/relationships/image" Target="../media/image23.wmf"/><Relationship Id="rId3" Type="http://schemas.openxmlformats.org/officeDocument/2006/relationships/control" Target="../activeX/activeX1.xml"/><Relationship Id="rId2" Type="http://schemas.openxmlformats.org/officeDocument/2006/relationships/image" Target="../media/image22.wmf"/><Relationship Id="rId1" Type="http://schemas.openxmlformats.org/officeDocument/2006/relationships/oleObject" Target="../embeddings/oleObject18.bin"/></Relationships>
</file>

<file path=ppt/slides/_rels/slide15.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7.xml"/><Relationship Id="rId3" Type="http://schemas.openxmlformats.org/officeDocument/2006/relationships/image" Target="../media/image25.wmf"/><Relationship Id="rId2" Type="http://schemas.openxmlformats.org/officeDocument/2006/relationships/oleObject" Target="../embeddings/oleObject19.bin"/><Relationship Id="rId1" Type="http://schemas.openxmlformats.org/officeDocument/2006/relationships/image" Target="../media/image24.jpeg"/></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7.xml"/><Relationship Id="rId4" Type="http://schemas.openxmlformats.org/officeDocument/2006/relationships/image" Target="../media/image27.wmf"/><Relationship Id="rId3" Type="http://schemas.openxmlformats.org/officeDocument/2006/relationships/oleObject" Target="../embeddings/oleObject21.bin"/><Relationship Id="rId2" Type="http://schemas.openxmlformats.org/officeDocument/2006/relationships/image" Target="../media/image26.wmf"/><Relationship Id="rId1" Type="http://schemas.openxmlformats.org/officeDocument/2006/relationships/oleObject" Target="../embeddings/oleObject20.bin"/></Relationships>
</file>

<file path=ppt/slides/_rels/slide17.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7.xml"/><Relationship Id="rId3" Type="http://schemas.openxmlformats.org/officeDocument/2006/relationships/image" Target="../media/image29.wmf"/><Relationship Id="rId2" Type="http://schemas.openxmlformats.org/officeDocument/2006/relationships/oleObject" Target="../embeddings/oleObject22.bin"/><Relationship Id="rId1" Type="http://schemas.openxmlformats.org/officeDocument/2006/relationships/image" Target="../media/image28.jpeg"/></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14.vml"/><Relationship Id="rId4" Type="http://schemas.openxmlformats.org/officeDocument/2006/relationships/slideLayout" Target="../slideLayouts/slideLayout7.xml"/><Relationship Id="rId3" Type="http://schemas.openxmlformats.org/officeDocument/2006/relationships/image" Target="../media/image29.wmf"/><Relationship Id="rId2" Type="http://schemas.openxmlformats.org/officeDocument/2006/relationships/oleObject" Target="../embeddings/oleObject23.bin"/><Relationship Id="rId1" Type="http://schemas.openxmlformats.org/officeDocument/2006/relationships/image" Target="../media/image30.jpeg"/></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31.emf"/><Relationship Id="rId1" Type="http://schemas.openxmlformats.org/officeDocument/2006/relationships/oleObject" Target="../embeddings/oleObject24.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32.wmf"/><Relationship Id="rId1" Type="http://schemas.openxmlformats.org/officeDocument/2006/relationships/oleObject" Target="../embeddings/oleObject25.bin"/></Relationships>
</file>

<file path=ppt/slides/_rels/slide21.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7.xml"/><Relationship Id="rId4" Type="http://schemas.openxmlformats.org/officeDocument/2006/relationships/image" Target="../media/image34.wmf"/><Relationship Id="rId3" Type="http://schemas.openxmlformats.org/officeDocument/2006/relationships/oleObject" Target="../embeddings/oleObject27.bin"/><Relationship Id="rId2" Type="http://schemas.openxmlformats.org/officeDocument/2006/relationships/image" Target="../media/image33.wmf"/><Relationship Id="rId1" Type="http://schemas.openxmlformats.org/officeDocument/2006/relationships/oleObject" Target="../embeddings/oleObject26.bin"/></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9.wmf"/><Relationship Id="rId7" Type="http://schemas.openxmlformats.org/officeDocument/2006/relationships/oleObject" Target="../embeddings/oleObject31.bin"/><Relationship Id="rId6" Type="http://schemas.openxmlformats.org/officeDocument/2006/relationships/image" Target="../media/image38.wmf"/><Relationship Id="rId5" Type="http://schemas.openxmlformats.org/officeDocument/2006/relationships/oleObject" Target="../embeddings/oleObject30.bin"/><Relationship Id="rId4" Type="http://schemas.openxmlformats.org/officeDocument/2006/relationships/image" Target="../media/image37.wmf"/><Relationship Id="rId3" Type="http://schemas.openxmlformats.org/officeDocument/2006/relationships/oleObject" Target="../embeddings/oleObject29.bin"/><Relationship Id="rId2" Type="http://schemas.openxmlformats.org/officeDocument/2006/relationships/image" Target="../media/image36.wmf"/><Relationship Id="rId10" Type="http://schemas.openxmlformats.org/officeDocument/2006/relationships/vmlDrawing" Target="../drawings/vmlDrawing18.vml"/><Relationship Id="rId1" Type="http://schemas.openxmlformats.org/officeDocument/2006/relationships/oleObject" Target="../embeddings/oleObject28.bin"/></Relationships>
</file>

<file path=ppt/slides/_rels/slide25.xml.rels><?xml version="1.0" encoding="UTF-8" standalone="yes"?>
<Relationships xmlns="http://schemas.openxmlformats.org/package/2006/relationships"><Relationship Id="rId8" Type="http://schemas.openxmlformats.org/officeDocument/2006/relationships/vmlDrawing" Target="../drawings/vmlDrawing19.vml"/><Relationship Id="rId7"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tags" Target="../tags/tag4.xml"/><Relationship Id="rId4" Type="http://schemas.openxmlformats.org/officeDocument/2006/relationships/image" Target="../media/image42.png"/><Relationship Id="rId3" Type="http://schemas.openxmlformats.org/officeDocument/2006/relationships/image" Target="../media/image41.wmf"/><Relationship Id="rId2" Type="http://schemas.openxmlformats.org/officeDocument/2006/relationships/oleObject" Target="../embeddings/oleObject32.bin"/><Relationship Id="rId1" Type="http://schemas.openxmlformats.org/officeDocument/2006/relationships/image" Target="../media/image40.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20.vml"/><Relationship Id="rId5" Type="http://schemas.openxmlformats.org/officeDocument/2006/relationships/slideLayout" Target="../slideLayouts/slideLayout7.xml"/><Relationship Id="rId4" Type="http://schemas.openxmlformats.org/officeDocument/2006/relationships/image" Target="../media/image45.wmf"/><Relationship Id="rId3" Type="http://schemas.openxmlformats.org/officeDocument/2006/relationships/oleObject" Target="../embeddings/oleObject34.bin"/><Relationship Id="rId2" Type="http://schemas.openxmlformats.org/officeDocument/2006/relationships/image" Target="../media/image44.emf"/><Relationship Id="rId1" Type="http://schemas.openxmlformats.org/officeDocument/2006/relationships/oleObject" Target="../embeddings/oleObject33.bin"/></Relationships>
</file>

<file path=ppt/slides/_rels/slide29.xml.rels><?xml version="1.0" encoding="UTF-8" standalone="yes"?>
<Relationships xmlns="http://schemas.openxmlformats.org/package/2006/relationships"><Relationship Id="rId8" Type="http://schemas.openxmlformats.org/officeDocument/2006/relationships/vmlDrawing" Target="../drawings/vmlDrawing21.vml"/><Relationship Id="rId7" Type="http://schemas.openxmlformats.org/officeDocument/2006/relationships/slideLayout" Target="../slideLayouts/slideLayout7.xml"/><Relationship Id="rId6" Type="http://schemas.openxmlformats.org/officeDocument/2006/relationships/image" Target="../media/image48.wmf"/><Relationship Id="rId5" Type="http://schemas.openxmlformats.org/officeDocument/2006/relationships/oleObject" Target="../embeddings/oleObject37.bin"/><Relationship Id="rId4" Type="http://schemas.openxmlformats.org/officeDocument/2006/relationships/image" Target="../media/image47.wmf"/><Relationship Id="rId3" Type="http://schemas.openxmlformats.org/officeDocument/2006/relationships/oleObject" Target="../embeddings/oleObject36.bin"/><Relationship Id="rId2" Type="http://schemas.openxmlformats.org/officeDocument/2006/relationships/image" Target="../media/image46.wmf"/><Relationship Id="rId1" Type="http://schemas.openxmlformats.org/officeDocument/2006/relationships/oleObject" Target="../embeddings/oleObject35.bin"/></Relationships>
</file>

<file path=ppt/slides/_rels/slide30.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7.xml"/><Relationship Id="rId6" Type="http://schemas.openxmlformats.org/officeDocument/2006/relationships/image" Target="../media/image50.wmf"/><Relationship Id="rId5" Type="http://schemas.openxmlformats.org/officeDocument/2006/relationships/oleObject" Target="../embeddings/oleObject40.bin"/><Relationship Id="rId4" Type="http://schemas.openxmlformats.org/officeDocument/2006/relationships/image" Target="../media/image36.wmf"/><Relationship Id="rId3" Type="http://schemas.openxmlformats.org/officeDocument/2006/relationships/oleObject" Target="../embeddings/oleObject39.bin"/><Relationship Id="rId2" Type="http://schemas.openxmlformats.org/officeDocument/2006/relationships/image" Target="../media/image49.emf"/><Relationship Id="rId1" Type="http://schemas.openxmlformats.org/officeDocument/2006/relationships/oleObject" Target="../embeddings/oleObject38.bin"/></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7.xml"/><Relationship Id="rId2" Type="http://schemas.openxmlformats.org/officeDocument/2006/relationships/image" Target="../media/image51.wmf"/><Relationship Id="rId1" Type="http://schemas.openxmlformats.org/officeDocument/2006/relationships/oleObject" Target="../embeddings/oleObject41.bin"/></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7.xml"/><Relationship Id="rId4" Type="http://schemas.openxmlformats.org/officeDocument/2006/relationships/image" Target="../media/image53.wmf"/><Relationship Id="rId3" Type="http://schemas.openxmlformats.org/officeDocument/2006/relationships/oleObject" Target="../embeddings/oleObject43.bin"/><Relationship Id="rId2" Type="http://schemas.openxmlformats.org/officeDocument/2006/relationships/image" Target="../media/image52.wmf"/><Relationship Id="rId1" Type="http://schemas.openxmlformats.org/officeDocument/2006/relationships/oleObject" Target="../embeddings/oleObject42.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jpeg"/></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25.vml"/><Relationship Id="rId7" Type="http://schemas.openxmlformats.org/officeDocument/2006/relationships/slideLayout" Target="../slideLayouts/slideLayout7.xml"/><Relationship Id="rId6" Type="http://schemas.openxmlformats.org/officeDocument/2006/relationships/image" Target="../media/image57.wmf"/><Relationship Id="rId5" Type="http://schemas.openxmlformats.org/officeDocument/2006/relationships/oleObject" Target="../embeddings/oleObject46.bin"/><Relationship Id="rId4" Type="http://schemas.openxmlformats.org/officeDocument/2006/relationships/image" Target="../media/image56.wmf"/><Relationship Id="rId3" Type="http://schemas.openxmlformats.org/officeDocument/2006/relationships/oleObject" Target="../embeddings/oleObject45.bin"/><Relationship Id="rId2" Type="http://schemas.openxmlformats.org/officeDocument/2006/relationships/image" Target="../media/image55.wmf"/><Relationship Id="rId1" Type="http://schemas.openxmlformats.org/officeDocument/2006/relationships/oleObject" Target="../embeddings/oleObject44.bin"/></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8.jpeg"/></Relationships>
</file>

<file path=ppt/slides/_rels/slide37.xml.rels><?xml version="1.0" encoding="UTF-8" standalone="yes"?>
<Relationships xmlns="http://schemas.openxmlformats.org/package/2006/relationships"><Relationship Id="rId9" Type="http://schemas.openxmlformats.org/officeDocument/2006/relationships/image" Target="../media/image62.wmf"/><Relationship Id="rId8" Type="http://schemas.openxmlformats.org/officeDocument/2006/relationships/oleObject" Target="../embeddings/oleObject50.bin"/><Relationship Id="rId7" Type="http://schemas.openxmlformats.org/officeDocument/2006/relationships/tags" Target="../tags/tag5.xml"/><Relationship Id="rId6" Type="http://schemas.openxmlformats.org/officeDocument/2006/relationships/image" Target="../media/image61.wmf"/><Relationship Id="rId5" Type="http://schemas.openxmlformats.org/officeDocument/2006/relationships/oleObject" Target="../embeddings/oleObject49.bin"/><Relationship Id="rId4" Type="http://schemas.openxmlformats.org/officeDocument/2006/relationships/image" Target="../media/image60.wmf"/><Relationship Id="rId3" Type="http://schemas.openxmlformats.org/officeDocument/2006/relationships/oleObject" Target="../embeddings/oleObject48.bin"/><Relationship Id="rId2" Type="http://schemas.openxmlformats.org/officeDocument/2006/relationships/image" Target="../media/image59.wmf"/><Relationship Id="rId11" Type="http://schemas.openxmlformats.org/officeDocument/2006/relationships/vmlDrawing" Target="../drawings/vmlDrawing26.vml"/><Relationship Id="rId10" Type="http://schemas.openxmlformats.org/officeDocument/2006/relationships/slideLayout" Target="../slideLayouts/slideLayout7.xml"/><Relationship Id="rId1" Type="http://schemas.openxmlformats.org/officeDocument/2006/relationships/oleObject" Target="../embeddings/oleObject47.bin"/></Relationships>
</file>

<file path=ppt/slides/_rels/slide38.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7.xml"/><Relationship Id="rId4" Type="http://schemas.openxmlformats.org/officeDocument/2006/relationships/image" Target="../media/image61.wmf"/><Relationship Id="rId3" Type="http://schemas.openxmlformats.org/officeDocument/2006/relationships/oleObject" Target="../embeddings/oleObject51.bin"/><Relationship Id="rId2" Type="http://schemas.openxmlformats.org/officeDocument/2006/relationships/tags" Target="../tags/tag6.xml"/><Relationship Id="rId1" Type="http://schemas.openxmlformats.org/officeDocument/2006/relationships/image" Target="../media/image63.jpeg"/></Relationships>
</file>

<file path=ppt/slides/_rels/slide39.xml.rels><?xml version="1.0" encoding="UTF-8" standalone="yes"?>
<Relationships xmlns="http://schemas.openxmlformats.org/package/2006/relationships"><Relationship Id="rId5" Type="http://schemas.openxmlformats.org/officeDocument/2006/relationships/vmlDrawing" Target="../drawings/vmlDrawing28.vml"/><Relationship Id="rId4" Type="http://schemas.openxmlformats.org/officeDocument/2006/relationships/slideLayout" Target="../slideLayouts/slideLayout7.xml"/><Relationship Id="rId3" Type="http://schemas.openxmlformats.org/officeDocument/2006/relationships/image" Target="../media/image65.jpeg"/><Relationship Id="rId2" Type="http://schemas.openxmlformats.org/officeDocument/2006/relationships/image" Target="../media/image64.wmf"/><Relationship Id="rId1" Type="http://schemas.openxmlformats.org/officeDocument/2006/relationships/oleObject" Target="../embeddings/oleObject52.bin"/></Relationships>
</file>

<file path=ppt/slides/_rels/slide40.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7.xml"/><Relationship Id="rId4" Type="http://schemas.openxmlformats.org/officeDocument/2006/relationships/image" Target="../media/image68.jpeg"/><Relationship Id="rId3" Type="http://schemas.openxmlformats.org/officeDocument/2006/relationships/image" Target="../media/image67.jpeg"/><Relationship Id="rId2" Type="http://schemas.openxmlformats.org/officeDocument/2006/relationships/image" Target="../media/image66.emf"/><Relationship Id="rId1" Type="http://schemas.openxmlformats.org/officeDocument/2006/relationships/oleObject" Target="../embeddings/oleObject53.bin"/></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30.vml"/><Relationship Id="rId5" Type="http://schemas.openxmlformats.org/officeDocument/2006/relationships/slideLayout" Target="../slideLayouts/slideLayout7.xml"/><Relationship Id="rId4" Type="http://schemas.openxmlformats.org/officeDocument/2006/relationships/image" Target="../media/image70.wmf"/><Relationship Id="rId3" Type="http://schemas.openxmlformats.org/officeDocument/2006/relationships/oleObject" Target="../embeddings/oleObject55.bin"/><Relationship Id="rId2" Type="http://schemas.openxmlformats.org/officeDocument/2006/relationships/image" Target="../media/image69.wmf"/><Relationship Id="rId1" Type="http://schemas.openxmlformats.org/officeDocument/2006/relationships/oleObject" Target="../embeddings/oleObject54.bin"/></Relationships>
</file>

<file path=ppt/slides/_rels/slide42.xml.rels><?xml version="1.0" encoding="UTF-8" standalone="yes"?>
<Relationships xmlns="http://schemas.openxmlformats.org/package/2006/relationships"><Relationship Id="rId8" Type="http://schemas.openxmlformats.org/officeDocument/2006/relationships/vmlDrawing" Target="../drawings/vmlDrawing31.vml"/><Relationship Id="rId7" Type="http://schemas.openxmlformats.org/officeDocument/2006/relationships/slideLayout" Target="../slideLayouts/slideLayout7.xml"/><Relationship Id="rId6" Type="http://schemas.openxmlformats.org/officeDocument/2006/relationships/image" Target="../media/image73.wmf"/><Relationship Id="rId5" Type="http://schemas.openxmlformats.org/officeDocument/2006/relationships/oleObject" Target="../embeddings/oleObject58.bin"/><Relationship Id="rId4" Type="http://schemas.openxmlformats.org/officeDocument/2006/relationships/image" Target="../media/image72.wmf"/><Relationship Id="rId3" Type="http://schemas.openxmlformats.org/officeDocument/2006/relationships/oleObject" Target="../embeddings/oleObject57.bin"/><Relationship Id="rId2" Type="http://schemas.openxmlformats.org/officeDocument/2006/relationships/image" Target="../media/image71.wmf"/><Relationship Id="rId1" Type="http://schemas.openxmlformats.org/officeDocument/2006/relationships/oleObject" Target="../embeddings/oleObject56.bin"/></Relationships>
</file>

<file path=ppt/slides/_rels/slide43.xml.rels><?xml version="1.0" encoding="UTF-8" standalone="yes"?>
<Relationships xmlns="http://schemas.openxmlformats.org/package/2006/relationships"><Relationship Id="rId8" Type="http://schemas.openxmlformats.org/officeDocument/2006/relationships/vmlDrawing" Target="../drawings/vmlDrawing32.vml"/><Relationship Id="rId7" Type="http://schemas.openxmlformats.org/officeDocument/2006/relationships/slideLayout" Target="../slideLayouts/slideLayout7.xml"/><Relationship Id="rId6" Type="http://schemas.openxmlformats.org/officeDocument/2006/relationships/image" Target="../media/image76.wmf"/><Relationship Id="rId5" Type="http://schemas.openxmlformats.org/officeDocument/2006/relationships/oleObject" Target="../embeddings/oleObject61.bin"/><Relationship Id="rId4" Type="http://schemas.openxmlformats.org/officeDocument/2006/relationships/image" Target="../media/image75.wmf"/><Relationship Id="rId3" Type="http://schemas.openxmlformats.org/officeDocument/2006/relationships/oleObject" Target="../embeddings/oleObject60.bin"/><Relationship Id="rId2" Type="http://schemas.openxmlformats.org/officeDocument/2006/relationships/image" Target="../media/image74.wmf"/><Relationship Id="rId1" Type="http://schemas.openxmlformats.org/officeDocument/2006/relationships/oleObject" Target="../embeddings/oleObject59.bin"/></Relationships>
</file>

<file path=ppt/slides/_rels/slide44.xml.rels><?xml version="1.0" encoding="UTF-8" standalone="yes"?>
<Relationships xmlns="http://schemas.openxmlformats.org/package/2006/relationships"><Relationship Id="rId8" Type="http://schemas.openxmlformats.org/officeDocument/2006/relationships/vmlDrawing" Target="../drawings/vmlDrawing33.vml"/><Relationship Id="rId7" Type="http://schemas.openxmlformats.org/officeDocument/2006/relationships/slideLayout" Target="../slideLayouts/slideLayout7.xml"/><Relationship Id="rId6" Type="http://schemas.openxmlformats.org/officeDocument/2006/relationships/image" Target="../media/image79.wmf"/><Relationship Id="rId5" Type="http://schemas.openxmlformats.org/officeDocument/2006/relationships/oleObject" Target="../embeddings/oleObject64.bin"/><Relationship Id="rId4" Type="http://schemas.openxmlformats.org/officeDocument/2006/relationships/image" Target="../media/image78.wmf"/><Relationship Id="rId3" Type="http://schemas.openxmlformats.org/officeDocument/2006/relationships/oleObject" Target="../embeddings/oleObject63.bin"/><Relationship Id="rId2" Type="http://schemas.openxmlformats.org/officeDocument/2006/relationships/image" Target="../media/image77.wmf"/><Relationship Id="rId1" Type="http://schemas.openxmlformats.org/officeDocument/2006/relationships/oleObject" Target="../embeddings/oleObject62.bin"/></Relationships>
</file>

<file path=ppt/slides/_rels/slide45.xml.rels><?xml version="1.0" encoding="UTF-8" standalone="yes"?>
<Relationships xmlns="http://schemas.openxmlformats.org/package/2006/relationships"><Relationship Id="rId5" Type="http://schemas.openxmlformats.org/officeDocument/2006/relationships/vmlDrawing" Target="../drawings/vmlDrawing34.vml"/><Relationship Id="rId4" Type="http://schemas.openxmlformats.org/officeDocument/2006/relationships/slideLayout" Target="../slideLayouts/slideLayout7.xml"/><Relationship Id="rId3" Type="http://schemas.openxmlformats.org/officeDocument/2006/relationships/image" Target="../media/image81.wmf"/><Relationship Id="rId2" Type="http://schemas.openxmlformats.org/officeDocument/2006/relationships/oleObject" Target="../embeddings/oleObject65.bin"/><Relationship Id="rId1" Type="http://schemas.openxmlformats.org/officeDocument/2006/relationships/image" Target="../media/image80.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6" Type="http://schemas.openxmlformats.org/officeDocument/2006/relationships/vmlDrawing" Target="../drawings/vmlDrawing35.vml"/><Relationship Id="rId5" Type="http://schemas.openxmlformats.org/officeDocument/2006/relationships/slideLayout" Target="../slideLayouts/slideLayout7.xml"/><Relationship Id="rId4" Type="http://schemas.openxmlformats.org/officeDocument/2006/relationships/image" Target="../media/image83.wmf"/><Relationship Id="rId3" Type="http://schemas.openxmlformats.org/officeDocument/2006/relationships/oleObject" Target="../embeddings/oleObject67.bin"/><Relationship Id="rId2" Type="http://schemas.openxmlformats.org/officeDocument/2006/relationships/image" Target="../media/image82.wmf"/><Relationship Id="rId1" Type="http://schemas.openxmlformats.org/officeDocument/2006/relationships/oleObject" Target="../embeddings/oleObject66.bin"/></Relationships>
</file>

<file path=ppt/slides/_rels/slide4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7.wmf"/><Relationship Id="rId7" Type="http://schemas.openxmlformats.org/officeDocument/2006/relationships/oleObject" Target="../embeddings/oleObject71.bin"/><Relationship Id="rId6" Type="http://schemas.openxmlformats.org/officeDocument/2006/relationships/image" Target="../media/image86.wmf"/><Relationship Id="rId5" Type="http://schemas.openxmlformats.org/officeDocument/2006/relationships/oleObject" Target="../embeddings/oleObject70.bin"/><Relationship Id="rId4" Type="http://schemas.openxmlformats.org/officeDocument/2006/relationships/image" Target="../media/image85.wmf"/><Relationship Id="rId3" Type="http://schemas.openxmlformats.org/officeDocument/2006/relationships/oleObject" Target="../embeddings/oleObject69.bin"/><Relationship Id="rId2" Type="http://schemas.openxmlformats.org/officeDocument/2006/relationships/image" Target="../media/image84.wmf"/><Relationship Id="rId10" Type="http://schemas.openxmlformats.org/officeDocument/2006/relationships/vmlDrawing" Target="../drawings/vmlDrawing36.vml"/><Relationship Id="rId1" Type="http://schemas.openxmlformats.org/officeDocument/2006/relationships/oleObject" Target="../embeddings/oleObject68.bin"/></Relationships>
</file>

<file path=ppt/slides/_rels/slide49.xml.rels><?xml version="1.0" encoding="UTF-8" standalone="yes"?>
<Relationships xmlns="http://schemas.openxmlformats.org/package/2006/relationships"><Relationship Id="rId8" Type="http://schemas.openxmlformats.org/officeDocument/2006/relationships/vmlDrawing" Target="../drawings/vmlDrawing37.vml"/><Relationship Id="rId7" Type="http://schemas.openxmlformats.org/officeDocument/2006/relationships/slideLayout" Target="../slideLayouts/slideLayout7.xml"/><Relationship Id="rId6" Type="http://schemas.openxmlformats.org/officeDocument/2006/relationships/image" Target="../media/image90.wmf"/><Relationship Id="rId5" Type="http://schemas.openxmlformats.org/officeDocument/2006/relationships/oleObject" Target="../embeddings/oleObject74.bin"/><Relationship Id="rId4" Type="http://schemas.openxmlformats.org/officeDocument/2006/relationships/image" Target="../media/image89.wmf"/><Relationship Id="rId3" Type="http://schemas.openxmlformats.org/officeDocument/2006/relationships/oleObject" Target="../embeddings/oleObject73.bin"/><Relationship Id="rId2" Type="http://schemas.openxmlformats.org/officeDocument/2006/relationships/image" Target="../media/image88.wmf"/><Relationship Id="rId1" Type="http://schemas.openxmlformats.org/officeDocument/2006/relationships/oleObject" Target="../embeddings/oleObject72.bin"/></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1.jpeg"/></Relationships>
</file>

<file path=ppt/slides/_rels/slide51.xml.rels><?xml version="1.0" encoding="UTF-8" standalone="yes"?>
<Relationships xmlns="http://schemas.openxmlformats.org/package/2006/relationships"><Relationship Id="rId6" Type="http://schemas.openxmlformats.org/officeDocument/2006/relationships/vmlDrawing" Target="../drawings/vmlDrawing38.vml"/><Relationship Id="rId5" Type="http://schemas.openxmlformats.org/officeDocument/2006/relationships/slideLayout" Target="../slideLayouts/slideLayout7.xml"/><Relationship Id="rId4" Type="http://schemas.openxmlformats.org/officeDocument/2006/relationships/image" Target="../media/image93.wmf"/><Relationship Id="rId3" Type="http://schemas.openxmlformats.org/officeDocument/2006/relationships/oleObject" Target="../embeddings/oleObject76.bin"/><Relationship Id="rId2" Type="http://schemas.openxmlformats.org/officeDocument/2006/relationships/image" Target="../media/image92.wmf"/><Relationship Id="rId1" Type="http://schemas.openxmlformats.org/officeDocument/2006/relationships/oleObject" Target="../embeddings/oleObject75.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4.jpeg"/></Relationships>
</file>

<file path=ppt/slides/_rels/slide5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8.wmf"/><Relationship Id="rId7" Type="http://schemas.openxmlformats.org/officeDocument/2006/relationships/oleObject" Target="../embeddings/oleObject80.bin"/><Relationship Id="rId6" Type="http://schemas.openxmlformats.org/officeDocument/2006/relationships/image" Target="../media/image97.wmf"/><Relationship Id="rId5" Type="http://schemas.openxmlformats.org/officeDocument/2006/relationships/oleObject" Target="../embeddings/oleObject79.bin"/><Relationship Id="rId4" Type="http://schemas.openxmlformats.org/officeDocument/2006/relationships/image" Target="../media/image96.wmf"/><Relationship Id="rId3" Type="http://schemas.openxmlformats.org/officeDocument/2006/relationships/oleObject" Target="../embeddings/oleObject78.bin"/><Relationship Id="rId2" Type="http://schemas.openxmlformats.org/officeDocument/2006/relationships/image" Target="../media/image95.wmf"/><Relationship Id="rId10" Type="http://schemas.openxmlformats.org/officeDocument/2006/relationships/vmlDrawing" Target="../drawings/vmlDrawing39.vml"/><Relationship Id="rId1" Type="http://schemas.openxmlformats.org/officeDocument/2006/relationships/oleObject" Target="../embeddings/oleObject77.bin"/></Relationships>
</file>

<file path=ppt/slides/_rels/slide5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02.wmf"/><Relationship Id="rId7" Type="http://schemas.openxmlformats.org/officeDocument/2006/relationships/oleObject" Target="../embeddings/oleObject84.bin"/><Relationship Id="rId6" Type="http://schemas.openxmlformats.org/officeDocument/2006/relationships/image" Target="../media/image101.emf"/><Relationship Id="rId5" Type="http://schemas.openxmlformats.org/officeDocument/2006/relationships/oleObject" Target="../embeddings/oleObject83.bin"/><Relationship Id="rId4" Type="http://schemas.openxmlformats.org/officeDocument/2006/relationships/image" Target="../media/image100.wmf"/><Relationship Id="rId3" Type="http://schemas.openxmlformats.org/officeDocument/2006/relationships/oleObject" Target="../embeddings/oleObject82.bin"/><Relationship Id="rId2" Type="http://schemas.openxmlformats.org/officeDocument/2006/relationships/image" Target="../media/image99.wmf"/><Relationship Id="rId10" Type="http://schemas.openxmlformats.org/officeDocument/2006/relationships/vmlDrawing" Target="../drawings/vmlDrawing40.vml"/><Relationship Id="rId1" Type="http://schemas.openxmlformats.org/officeDocument/2006/relationships/oleObject" Target="../embeddings/oleObject81.bin"/></Relationships>
</file>

<file path=ppt/slides/_rels/slide56.xml.rels><?xml version="1.0" encoding="UTF-8" standalone="yes"?>
<Relationships xmlns="http://schemas.openxmlformats.org/package/2006/relationships"><Relationship Id="rId8" Type="http://schemas.openxmlformats.org/officeDocument/2006/relationships/vmlDrawing" Target="../drawings/vmlDrawing41.vml"/><Relationship Id="rId7" Type="http://schemas.openxmlformats.org/officeDocument/2006/relationships/slideLayout" Target="../slideLayouts/slideLayout7.xml"/><Relationship Id="rId6" Type="http://schemas.openxmlformats.org/officeDocument/2006/relationships/image" Target="../media/image105.wmf"/><Relationship Id="rId5" Type="http://schemas.openxmlformats.org/officeDocument/2006/relationships/oleObject" Target="../embeddings/oleObject87.bin"/><Relationship Id="rId4" Type="http://schemas.openxmlformats.org/officeDocument/2006/relationships/image" Target="../media/image104.emf"/><Relationship Id="rId3" Type="http://schemas.openxmlformats.org/officeDocument/2006/relationships/oleObject" Target="../embeddings/oleObject86.bin"/><Relationship Id="rId2" Type="http://schemas.openxmlformats.org/officeDocument/2006/relationships/image" Target="../media/image103.wmf"/><Relationship Id="rId1" Type="http://schemas.openxmlformats.org/officeDocument/2006/relationships/oleObject" Target="../embeddings/oleObject85.bin"/></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6.jpeg"/></Relationships>
</file>

<file path=ppt/slides/_rels/slide58.xml.rels><?xml version="1.0" encoding="UTF-8" standalone="yes"?>
<Relationships xmlns="http://schemas.openxmlformats.org/package/2006/relationships"><Relationship Id="rId6" Type="http://schemas.openxmlformats.org/officeDocument/2006/relationships/vmlDrawing" Target="../drawings/vmlDrawing42.vml"/><Relationship Id="rId5" Type="http://schemas.openxmlformats.org/officeDocument/2006/relationships/slideLayout" Target="../slideLayouts/slideLayout7.xml"/><Relationship Id="rId4" Type="http://schemas.openxmlformats.org/officeDocument/2006/relationships/image" Target="../media/image108.emf"/><Relationship Id="rId3" Type="http://schemas.openxmlformats.org/officeDocument/2006/relationships/oleObject" Target="../embeddings/oleObject89.bin"/><Relationship Id="rId2" Type="http://schemas.openxmlformats.org/officeDocument/2006/relationships/image" Target="../media/image107.wmf"/><Relationship Id="rId1" Type="http://schemas.openxmlformats.org/officeDocument/2006/relationships/oleObject" Target="../embeddings/oleObject88.bin"/></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43.vml"/><Relationship Id="rId3" Type="http://schemas.openxmlformats.org/officeDocument/2006/relationships/slideLayout" Target="../slideLayouts/slideLayout7.xml"/><Relationship Id="rId2" Type="http://schemas.openxmlformats.org/officeDocument/2006/relationships/image" Target="../media/image109.emf"/><Relationship Id="rId1" Type="http://schemas.openxmlformats.org/officeDocument/2006/relationships/oleObject" Target="../embeddings/oleObject90.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7.xml"/><Relationship Id="rId2" Type="http://schemas.openxmlformats.org/officeDocument/2006/relationships/image" Target="../media/image110.wmf"/><Relationship Id="rId1" Type="http://schemas.openxmlformats.org/officeDocument/2006/relationships/oleObject" Target="../embeddings/oleObject91.bin"/></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7.xml"/><Relationship Id="rId2" Type="http://schemas.openxmlformats.org/officeDocument/2006/relationships/image" Target="../media/image111.emf"/><Relationship Id="rId1" Type="http://schemas.openxmlformats.org/officeDocument/2006/relationships/oleObject" Target="../embeddings/oleObject92.bin"/></Relationships>
</file>

<file path=ppt/slides/_rels/slide63.xml.rels><?xml version="1.0" encoding="UTF-8" standalone="yes"?>
<Relationships xmlns="http://schemas.openxmlformats.org/package/2006/relationships"><Relationship Id="rId5" Type="http://schemas.openxmlformats.org/officeDocument/2006/relationships/vmlDrawing" Target="../drawings/vmlDrawing46.vml"/><Relationship Id="rId4" Type="http://schemas.openxmlformats.org/officeDocument/2006/relationships/slideLayout" Target="../slideLayouts/slideLayout7.xml"/><Relationship Id="rId3" Type="http://schemas.openxmlformats.org/officeDocument/2006/relationships/image" Target="../media/image113.jpeg"/><Relationship Id="rId2" Type="http://schemas.openxmlformats.org/officeDocument/2006/relationships/image" Target="../media/image112.wmf"/><Relationship Id="rId1" Type="http://schemas.openxmlformats.org/officeDocument/2006/relationships/oleObject" Target="../embeddings/oleObject93.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9" name="文本框 2051"/>
          <p:cNvSpPr txBox="1"/>
          <p:nvPr/>
        </p:nvSpPr>
        <p:spPr>
          <a:xfrm>
            <a:off x="1600200" y="1066800"/>
            <a:ext cx="6088063" cy="641350"/>
          </a:xfrm>
          <a:prstGeom prst="rect">
            <a:avLst/>
          </a:prstGeom>
          <a:noFill/>
          <a:ln w="9525">
            <a:noFill/>
          </a:ln>
        </p:spPr>
        <p:txBody>
          <a:bodyPr wrap="none" anchor="t">
            <a:spAutoFit/>
          </a:bodyPr>
          <a:p>
            <a:r>
              <a:rPr lang="zh-CN" altLang="en-US" sz="3600" dirty="0">
                <a:latin typeface="华文行楷" pitchFamily="2" charset="-122"/>
                <a:ea typeface="华文行楷" pitchFamily="2" charset="-122"/>
              </a:rPr>
              <a:t>第</a:t>
            </a:r>
            <a:r>
              <a:rPr lang="en-US" altLang="zh-CN" sz="3600" dirty="0">
                <a:latin typeface="华文行楷" pitchFamily="2" charset="-122"/>
                <a:ea typeface="华文行楷" pitchFamily="2" charset="-122"/>
              </a:rPr>
              <a:t>4</a:t>
            </a:r>
            <a:r>
              <a:rPr lang="zh-CN" altLang="en-US" sz="3600" dirty="0">
                <a:latin typeface="华文行楷" pitchFamily="2" charset="-122"/>
                <a:ea typeface="华文行楷" pitchFamily="2" charset="-122"/>
              </a:rPr>
              <a:t>章 数字滤波器的基本结构 </a:t>
            </a:r>
            <a:endParaRPr lang="zh-CN" altLang="en-US" sz="3600">
              <a:latin typeface="华文行楷" pitchFamily="2" charset="-122"/>
              <a:ea typeface="华文行楷" pitchFamily="2" charset="-122"/>
            </a:endParaRPr>
          </a:p>
        </p:txBody>
      </p:sp>
      <p:sp>
        <p:nvSpPr>
          <p:cNvPr id="2050" name="文本框 2052"/>
          <p:cNvSpPr txBox="1"/>
          <p:nvPr/>
        </p:nvSpPr>
        <p:spPr>
          <a:xfrm>
            <a:off x="2057400" y="2212975"/>
            <a:ext cx="5254625" cy="2282825"/>
          </a:xfrm>
          <a:prstGeom prst="rect">
            <a:avLst/>
          </a:prstGeom>
          <a:noFill/>
          <a:ln w="9525">
            <a:noFill/>
          </a:ln>
        </p:spPr>
        <p:txBody>
          <a:bodyPr wrap="none" anchor="t">
            <a:spAutoFit/>
          </a:bodyPr>
          <a:p>
            <a:pPr>
              <a:lnSpc>
                <a:spcPct val="200000"/>
              </a:lnSpc>
            </a:pPr>
            <a:r>
              <a:rPr lang="en-US" altLang="zh-CN" b="1" dirty="0">
                <a:latin typeface="Times New Roman" panose="02020603050405020304" pitchFamily="18" charset="0"/>
                <a:ea typeface="宋体" panose="02010600030101010101" pitchFamily="2" charset="-122"/>
                <a:hlinkClick r:id="rId1" action="ppaction://hlinksldjump"/>
              </a:rPr>
              <a:t>4.1 </a:t>
            </a:r>
            <a:r>
              <a:rPr lang="zh-CN" altLang="en-US" b="1" dirty="0">
                <a:latin typeface="Times New Roman" panose="02020603050405020304" pitchFamily="18" charset="0"/>
                <a:ea typeface="宋体" panose="02010600030101010101" pitchFamily="2" charset="-122"/>
                <a:hlinkClick r:id="rId1" action="ppaction://hlinksldjump"/>
              </a:rPr>
              <a:t>数字滤波器的结构特点与表示方法</a:t>
            </a:r>
            <a:endParaRPr lang="zh-CN" altLang="en-US" b="1">
              <a:latin typeface="Times New Roman" panose="02020603050405020304" pitchFamily="18" charset="0"/>
              <a:ea typeface="宋体" panose="02010600030101010101" pitchFamily="2" charset="-122"/>
            </a:endParaRPr>
          </a:p>
          <a:p>
            <a:pPr>
              <a:lnSpc>
                <a:spcPct val="200000"/>
              </a:lnSpc>
            </a:pPr>
            <a:r>
              <a:rPr lang="en-US" altLang="zh-CN" b="1" dirty="0">
                <a:latin typeface="Times New Roman" panose="02020603050405020304" pitchFamily="18" charset="0"/>
                <a:ea typeface="宋体" panose="02010600030101010101" pitchFamily="2" charset="-122"/>
                <a:hlinkClick r:id="rId1" action="ppaction://hlinksldjump"/>
              </a:rPr>
              <a:t>4.2 IIR</a:t>
            </a:r>
            <a:r>
              <a:rPr lang="zh-CN" altLang="en-US" b="1" dirty="0">
                <a:latin typeface="Times New Roman" panose="02020603050405020304" pitchFamily="18" charset="0"/>
                <a:ea typeface="宋体" panose="02010600030101010101" pitchFamily="2" charset="-122"/>
                <a:hlinkClick r:id="rId1" action="ppaction://hlinksldjump"/>
              </a:rPr>
              <a:t>滤波器的结构 </a:t>
            </a:r>
            <a:endParaRPr lang="zh-CN" altLang="en-US" b="1">
              <a:latin typeface="Times New Roman" panose="02020603050405020304" pitchFamily="18" charset="0"/>
              <a:ea typeface="宋体" panose="02010600030101010101" pitchFamily="2" charset="-122"/>
            </a:endParaRPr>
          </a:p>
          <a:p>
            <a:pPr>
              <a:lnSpc>
                <a:spcPct val="200000"/>
              </a:lnSpc>
            </a:pPr>
            <a:r>
              <a:rPr lang="en-US" altLang="zh-CN" b="1" dirty="0">
                <a:latin typeface="Times New Roman" panose="02020603050405020304" pitchFamily="18" charset="0"/>
                <a:ea typeface="宋体" panose="02010600030101010101" pitchFamily="2" charset="-122"/>
                <a:hlinkClick r:id="rId2" action="ppaction://hlinksldjump"/>
              </a:rPr>
              <a:t>4.3 FIR</a:t>
            </a:r>
            <a:r>
              <a:rPr lang="zh-CN" altLang="en-US" b="1" dirty="0">
                <a:latin typeface="Times New Roman" panose="02020603050405020304" pitchFamily="18" charset="0"/>
                <a:ea typeface="宋体" panose="02010600030101010101" pitchFamily="2" charset="-122"/>
                <a:hlinkClick r:id="rId2" action="ppaction://hlinksldjump"/>
              </a:rPr>
              <a:t>滤波器的结构 </a:t>
            </a:r>
            <a:endParaRPr lang="zh-CN" altLang="en-US" b="1">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文本框 3075"/>
          <p:cNvSpPr txBox="1"/>
          <p:nvPr/>
        </p:nvSpPr>
        <p:spPr>
          <a:xfrm>
            <a:off x="1066800" y="914400"/>
            <a:ext cx="7038975"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4.1 </a:t>
            </a:r>
            <a:r>
              <a:rPr lang="zh-CN" altLang="en-US" sz="3200" b="1" dirty="0">
                <a:latin typeface="Times New Roman" panose="02020603050405020304" pitchFamily="18" charset="0"/>
                <a:ea typeface="宋体" panose="02010600030101010101" pitchFamily="2" charset="-122"/>
              </a:rPr>
              <a:t>数字滤波器的结构特点与表示方法 </a:t>
            </a:r>
            <a:endParaRPr lang="zh-CN" altLang="en-US" sz="3200" b="1">
              <a:latin typeface="Times New Roman" panose="02020603050405020304" pitchFamily="18" charset="0"/>
              <a:ea typeface="宋体" panose="02010600030101010101" pitchFamily="2" charset="-122"/>
            </a:endParaRPr>
          </a:p>
        </p:txBody>
      </p:sp>
      <p:sp>
        <p:nvSpPr>
          <p:cNvPr id="3074" name="文本框 3076"/>
          <p:cNvSpPr txBox="1"/>
          <p:nvPr/>
        </p:nvSpPr>
        <p:spPr>
          <a:xfrm>
            <a:off x="368300" y="1622425"/>
            <a:ext cx="8451850" cy="4522788"/>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数字滤波器是数字信号处理的一个重要组成部分。数字滤波实际上是一种</a:t>
            </a:r>
            <a:r>
              <a:rPr lang="zh-CN" altLang="en-US" b="1" dirty="0">
                <a:solidFill>
                  <a:srgbClr val="FF0000"/>
                </a:solidFill>
                <a:latin typeface="Times New Roman" panose="02020603050405020304" pitchFamily="18" charset="0"/>
                <a:ea typeface="宋体" panose="02010600030101010101" pitchFamily="2" charset="-122"/>
              </a:rPr>
              <a:t>运算过程</a:t>
            </a:r>
            <a:r>
              <a:rPr lang="zh-CN" altLang="en-US" dirty="0">
                <a:latin typeface="Times New Roman" panose="02020603050405020304" pitchFamily="18" charset="0"/>
                <a:ea typeface="宋体" panose="02010600030101010101" pitchFamily="2" charset="-122"/>
              </a:rPr>
              <a:t>，其功能是将一组输入的数字序列通过一定的运算后转变为另一组输出的数字序列，因此它本身就是一台数字式的处理设备。数字滤波器一般可以用两种方法实现：一种是根据描述数字滤波器的</a:t>
            </a:r>
            <a:r>
              <a:rPr lang="zh-CN" altLang="en-US" b="1" u="sng" dirty="0">
                <a:solidFill>
                  <a:srgbClr val="FF0000"/>
                </a:solidFill>
                <a:latin typeface="Times New Roman" panose="02020603050405020304" pitchFamily="18" charset="0"/>
                <a:ea typeface="宋体" panose="02010600030101010101" pitchFamily="2" charset="-122"/>
              </a:rPr>
              <a:t>数学模型或信号流图</a:t>
            </a:r>
            <a:r>
              <a:rPr lang="zh-CN" altLang="en-US" dirty="0">
                <a:latin typeface="Times New Roman" panose="02020603050405020304" pitchFamily="18" charset="0"/>
                <a:ea typeface="宋体" panose="02010600030101010101" pitchFamily="2" charset="-122"/>
              </a:rPr>
              <a:t>，用数字硬件装配成一台专门的设备，构成专用的信号处理机；另一种方法就是</a:t>
            </a:r>
            <a:r>
              <a:rPr lang="zh-CN" altLang="en-US" b="1" u="sng" dirty="0">
                <a:solidFill>
                  <a:srgbClr val="FF0000"/>
                </a:solidFill>
                <a:latin typeface="Times New Roman" panose="02020603050405020304" pitchFamily="18" charset="0"/>
                <a:ea typeface="宋体" panose="02010600030101010101" pitchFamily="2" charset="-122"/>
              </a:rPr>
              <a:t>直接利用通用计算机</a:t>
            </a:r>
            <a:r>
              <a:rPr lang="zh-CN" altLang="en-US" dirty="0">
                <a:latin typeface="Times New Roman" panose="02020603050405020304" pitchFamily="18" charset="0"/>
                <a:ea typeface="宋体" panose="02010600030101010101" pitchFamily="2" charset="-122"/>
              </a:rPr>
              <a:t>，将所需要的运算编成程序让计算机来执行， 这也就是用</a:t>
            </a:r>
            <a:r>
              <a:rPr lang="zh-CN" altLang="en-US" dirty="0">
                <a:latin typeface="Times New Roman" panose="02020603050405020304" pitchFamily="18" charset="0"/>
                <a:ea typeface="宋体" panose="02010600030101010101" pitchFamily="2" charset="-122"/>
              </a:rPr>
              <a:t>软件来实现数字滤波器。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4099"/>
          <p:cNvSpPr txBox="1"/>
          <p:nvPr/>
        </p:nvSpPr>
        <p:spPr>
          <a:xfrm>
            <a:off x="152400" y="609600"/>
            <a:ext cx="8763000" cy="1735138"/>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数字滤波器是离散时间系统，所处理的信号是离散时间信号。 一般时域离散系统或网络可以用差分方程、单位脉冲响应以及系统函数进行描述。如果系统输入、输出服从</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阶差分方</a:t>
            </a:r>
            <a:r>
              <a:rPr lang="zh-CN" altLang="en-US" dirty="0">
                <a:latin typeface="Times New Roman" panose="02020603050405020304" pitchFamily="18" charset="0"/>
                <a:ea typeface="宋体" panose="02010600030101010101" pitchFamily="2" charset="-122"/>
              </a:rPr>
              <a:t>程 </a:t>
            </a:r>
            <a:endParaRPr lang="zh-CN" altLang="en-US">
              <a:latin typeface="Times New Roman" panose="02020603050405020304" pitchFamily="18" charset="0"/>
              <a:ea typeface="宋体" panose="02010600030101010101" pitchFamily="2" charset="-122"/>
            </a:endParaRPr>
          </a:p>
        </p:txBody>
      </p:sp>
      <p:graphicFrame>
        <p:nvGraphicFramePr>
          <p:cNvPr id="4098" name="对象 4100"/>
          <p:cNvGraphicFramePr/>
          <p:nvPr/>
        </p:nvGraphicFramePr>
        <p:xfrm>
          <a:off x="2051050" y="2492375"/>
          <a:ext cx="5043488" cy="1033463"/>
        </p:xfrm>
        <a:graphic>
          <a:graphicData uri="http://schemas.openxmlformats.org/presentationml/2006/ole">
            <mc:AlternateContent xmlns:mc="http://schemas.openxmlformats.org/markup-compatibility/2006">
              <mc:Choice xmlns:v="urn:schemas-microsoft-com:vml" Requires="v">
                <p:oleObj spid="_x0000_s3076" name="" r:id="rId1" imgW="2107565" imgH="431800" progId="Equation.3">
                  <p:embed/>
                </p:oleObj>
              </mc:Choice>
              <mc:Fallback>
                <p:oleObj name="" r:id="rId1" imgW="2107565" imgH="431800" progId="Equation.3">
                  <p:embed/>
                  <p:pic>
                    <p:nvPicPr>
                      <p:cNvPr id="0" name="图片 3075"/>
                      <p:cNvPicPr/>
                      <p:nvPr/>
                    </p:nvPicPr>
                    <p:blipFill>
                      <a:blip r:embed="rId2"/>
                      <a:stretch>
                        <a:fillRect/>
                      </a:stretch>
                    </p:blipFill>
                    <p:spPr>
                      <a:xfrm>
                        <a:off x="2051050" y="2492375"/>
                        <a:ext cx="5043488" cy="1033463"/>
                      </a:xfrm>
                      <a:prstGeom prst="rect">
                        <a:avLst/>
                      </a:prstGeom>
                      <a:noFill/>
                      <a:ln w="38100">
                        <a:noFill/>
                        <a:miter/>
                      </a:ln>
                    </p:spPr>
                  </p:pic>
                </p:oleObj>
              </mc:Fallback>
            </mc:AlternateContent>
          </a:graphicData>
        </a:graphic>
      </p:graphicFrame>
      <p:sp>
        <p:nvSpPr>
          <p:cNvPr id="4099" name="文本框 4101"/>
          <p:cNvSpPr txBox="1"/>
          <p:nvPr/>
        </p:nvSpPr>
        <p:spPr>
          <a:xfrm>
            <a:off x="7696200" y="2819400"/>
            <a:ext cx="8699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(4-1) </a:t>
            </a:r>
            <a:endParaRPr lang="en-US" altLang="zh-CN">
              <a:latin typeface="Times New Roman" panose="02020603050405020304" pitchFamily="18" charset="0"/>
              <a:ea typeface="宋体" panose="02010600030101010101" pitchFamily="2" charset="-122"/>
            </a:endParaRPr>
          </a:p>
        </p:txBody>
      </p:sp>
      <p:sp>
        <p:nvSpPr>
          <p:cNvPr id="4100" name="文本框 4102"/>
          <p:cNvSpPr txBox="1"/>
          <p:nvPr/>
        </p:nvSpPr>
        <p:spPr>
          <a:xfrm>
            <a:off x="152400" y="3733800"/>
            <a:ext cx="5441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则其系统函数，即滤波器的传递函数为 </a:t>
            </a:r>
            <a:endParaRPr lang="zh-CN" altLang="en-US">
              <a:latin typeface="Times New Roman" panose="02020603050405020304" pitchFamily="18" charset="0"/>
              <a:ea typeface="宋体" panose="02010600030101010101" pitchFamily="2" charset="-122"/>
            </a:endParaRPr>
          </a:p>
        </p:txBody>
      </p:sp>
      <p:graphicFrame>
        <p:nvGraphicFramePr>
          <p:cNvPr id="4101" name="对象 4103"/>
          <p:cNvGraphicFramePr/>
          <p:nvPr/>
        </p:nvGraphicFramePr>
        <p:xfrm>
          <a:off x="2971800" y="4267200"/>
          <a:ext cx="2971800" cy="2087563"/>
        </p:xfrm>
        <a:graphic>
          <a:graphicData uri="http://schemas.openxmlformats.org/presentationml/2006/ole">
            <mc:AlternateContent xmlns:mc="http://schemas.openxmlformats.org/markup-compatibility/2006">
              <mc:Choice xmlns:v="urn:schemas-microsoft-com:vml" Requires="v">
                <p:oleObj spid="_x0000_s3078" name="" r:id="rId3" imgW="1193800" imgH="838200" progId="Equation.3">
                  <p:embed/>
                </p:oleObj>
              </mc:Choice>
              <mc:Fallback>
                <p:oleObj name="" r:id="rId3" imgW="1193800" imgH="838200" progId="Equation.3">
                  <p:embed/>
                  <p:pic>
                    <p:nvPicPr>
                      <p:cNvPr id="0" name="图片 3077"/>
                      <p:cNvPicPr/>
                      <p:nvPr/>
                    </p:nvPicPr>
                    <p:blipFill>
                      <a:blip r:embed="rId4"/>
                      <a:stretch>
                        <a:fillRect/>
                      </a:stretch>
                    </p:blipFill>
                    <p:spPr>
                      <a:xfrm>
                        <a:off x="2971800" y="4267200"/>
                        <a:ext cx="2971800" cy="2087563"/>
                      </a:xfrm>
                      <a:prstGeom prst="rect">
                        <a:avLst/>
                      </a:prstGeom>
                      <a:noFill/>
                      <a:ln w="38100">
                        <a:noFill/>
                        <a:miter/>
                      </a:ln>
                    </p:spPr>
                  </p:pic>
                </p:oleObj>
              </mc:Fallback>
            </mc:AlternateContent>
          </a:graphicData>
        </a:graphic>
      </p:graphicFrame>
      <p:sp>
        <p:nvSpPr>
          <p:cNvPr id="4102" name="文本框 4104"/>
          <p:cNvSpPr txBox="1"/>
          <p:nvPr/>
        </p:nvSpPr>
        <p:spPr>
          <a:xfrm>
            <a:off x="7772400" y="5105400"/>
            <a:ext cx="8699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(4-2) </a:t>
            </a:r>
            <a:endParaRPr lang="en-US" altLang="zh-CN">
              <a:latin typeface="Times New Roman" panose="02020603050405020304" pitchFamily="18" charset="0"/>
              <a:ea typeface="宋体" panose="02010600030101010101" pitchFamily="2" charset="-122"/>
            </a:endParaRPr>
          </a:p>
        </p:txBody>
      </p:sp>
      <p:sp>
        <p:nvSpPr>
          <p:cNvPr id="6" name="矩形 5"/>
          <p:cNvSpPr/>
          <p:nvPr/>
        </p:nvSpPr>
        <p:spPr>
          <a:xfrm>
            <a:off x="7094538" y="2344738"/>
            <a:ext cx="1746250" cy="555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zh-CN" altLang="en-US" b="1" strike="noStrike" noProof="1">
                <a:solidFill>
                  <a:srgbClr val="FF0000"/>
                </a:solidFill>
              </a:rPr>
              <a:t>递归结构</a:t>
            </a:r>
            <a:endParaRPr lang="zh-CN" altLang="en-US" b="1" strike="noStrike" noProof="1">
              <a:solidFill>
                <a:srgbClr val="FF0000"/>
              </a:solidFill>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5123"/>
          <p:cNvSpPr txBox="1"/>
          <p:nvPr/>
        </p:nvSpPr>
        <p:spPr>
          <a:xfrm>
            <a:off x="228600" y="533400"/>
            <a:ext cx="8686800" cy="2282825"/>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为了用专用硬件或软件实现对输入信号的处理，需要把式（</a:t>
            </a:r>
            <a:r>
              <a:rPr lang="en-US" altLang="zh-CN" dirty="0">
                <a:latin typeface="Times New Roman" panose="02020603050405020304" pitchFamily="18" charset="0"/>
                <a:ea typeface="宋体" panose="02010600030101010101" pitchFamily="2" charset="-122"/>
              </a:rPr>
              <a:t>4-1</a:t>
            </a:r>
            <a:r>
              <a:rPr lang="zh-CN" altLang="en-US" dirty="0">
                <a:latin typeface="Times New Roman" panose="02020603050405020304" pitchFamily="18" charset="0"/>
                <a:ea typeface="宋体" panose="02010600030101010101" pitchFamily="2" charset="-122"/>
              </a:rPr>
              <a:t>）或式</a:t>
            </a:r>
            <a:r>
              <a:rPr lang="en-US" altLang="zh-CN" dirty="0">
                <a:latin typeface="Times New Roman" panose="02020603050405020304" pitchFamily="18" charset="0"/>
                <a:ea typeface="宋体" panose="02010600030101010101" pitchFamily="2" charset="-122"/>
              </a:rPr>
              <a:t>(4-2)</a:t>
            </a:r>
            <a:r>
              <a:rPr lang="zh-CN" altLang="en-US" dirty="0">
                <a:latin typeface="Times New Roman" panose="02020603050405020304" pitchFamily="18" charset="0"/>
                <a:ea typeface="宋体" panose="02010600030101010101" pitchFamily="2" charset="-122"/>
              </a:rPr>
              <a:t>变换成一种算法。对于同一个系统函数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对输入信号的处理可实现的算法有很多种，每一种算法对</a:t>
            </a:r>
            <a:r>
              <a:rPr lang="zh-CN" altLang="en-US" dirty="0">
                <a:latin typeface="Times New Roman" panose="02020603050405020304" pitchFamily="18" charset="0"/>
                <a:ea typeface="宋体" panose="02010600030101010101" pitchFamily="2" charset="-122"/>
              </a:rPr>
              <a:t>应于一种不同的运算结构（网络结构）。例如： </a:t>
            </a:r>
            <a:endParaRPr lang="zh-CN" altLang="en-US">
              <a:latin typeface="Times New Roman" panose="02020603050405020304" pitchFamily="18" charset="0"/>
              <a:ea typeface="宋体" panose="02010600030101010101" pitchFamily="2" charset="-122"/>
            </a:endParaRPr>
          </a:p>
        </p:txBody>
      </p:sp>
      <p:graphicFrame>
        <p:nvGraphicFramePr>
          <p:cNvPr id="5122" name="对象 5124"/>
          <p:cNvGraphicFramePr/>
          <p:nvPr/>
        </p:nvGraphicFramePr>
        <p:xfrm>
          <a:off x="1692275" y="2852738"/>
          <a:ext cx="5867400" cy="2043112"/>
        </p:xfrm>
        <a:graphic>
          <a:graphicData uri="http://schemas.openxmlformats.org/presentationml/2006/ole">
            <mc:AlternateContent xmlns:mc="http://schemas.openxmlformats.org/markup-compatibility/2006">
              <mc:Choice xmlns:v="urn:schemas-microsoft-com:vml" Requires="v">
                <p:oleObj spid="_x0000_s3077" name="" r:id="rId1" imgW="2552700" imgH="889000" progId="Equation.3">
                  <p:embed/>
                </p:oleObj>
              </mc:Choice>
              <mc:Fallback>
                <p:oleObj name="" r:id="rId1" imgW="2552700" imgH="889000" progId="Equation.3">
                  <p:embed/>
                  <p:pic>
                    <p:nvPicPr>
                      <p:cNvPr id="0" name="图片 3076"/>
                      <p:cNvPicPr/>
                      <p:nvPr/>
                    </p:nvPicPr>
                    <p:blipFill>
                      <a:blip r:embed="rId2"/>
                      <a:stretch>
                        <a:fillRect/>
                      </a:stretch>
                    </p:blipFill>
                    <p:spPr>
                      <a:xfrm>
                        <a:off x="1692275" y="2852738"/>
                        <a:ext cx="5867400" cy="2043112"/>
                      </a:xfrm>
                      <a:prstGeom prst="rect">
                        <a:avLst/>
                      </a:prstGeom>
                      <a:noFill/>
                      <a:ln w="38100">
                        <a:noFill/>
                        <a:miter/>
                      </a:ln>
                    </p:spPr>
                  </p:pic>
                </p:oleObj>
              </mc:Fallback>
            </mc:AlternateContent>
          </a:graphicData>
        </a:graphic>
      </p:graphicFrame>
      <p:sp>
        <p:nvSpPr>
          <p:cNvPr id="5123" name="文本框 5125"/>
          <p:cNvSpPr txBox="1"/>
          <p:nvPr/>
        </p:nvSpPr>
        <p:spPr>
          <a:xfrm>
            <a:off x="7596188" y="4076700"/>
            <a:ext cx="9461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(4-3) </a:t>
            </a:r>
            <a:endParaRPr lang="en-US" altLang="zh-CN">
              <a:latin typeface="Times New Roman" panose="02020603050405020304" pitchFamily="18" charset="0"/>
              <a:ea typeface="宋体" panose="02010600030101010101" pitchFamily="2" charset="-122"/>
            </a:endParaRPr>
          </a:p>
        </p:txBody>
      </p:sp>
      <p:sp>
        <p:nvSpPr>
          <p:cNvPr id="5124" name="文本框 5126"/>
          <p:cNvSpPr txBox="1"/>
          <p:nvPr/>
        </p:nvSpPr>
        <p:spPr>
          <a:xfrm>
            <a:off x="152400" y="4953000"/>
            <a:ext cx="8839200" cy="1516063"/>
          </a:xfrm>
          <a:prstGeom prst="rect">
            <a:avLst/>
          </a:prstGeom>
          <a:noFill/>
          <a:ln w="9525">
            <a:noFill/>
          </a:ln>
        </p:spPr>
        <p:txBody>
          <a:bodyPr anchor="t">
            <a:spAutoFit/>
          </a:bodyPr>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观察式</a:t>
            </a:r>
            <a:r>
              <a:rPr lang="en-US" altLang="zh-CN" dirty="0">
                <a:latin typeface="Times New Roman" panose="02020603050405020304" pitchFamily="18" charset="0"/>
                <a:ea typeface="宋体" panose="02010600030101010101" pitchFamily="2" charset="-122"/>
              </a:rPr>
              <a:t>(4-3)</a:t>
            </a:r>
            <a:r>
              <a:rPr lang="zh-CN" altLang="en-US" dirty="0">
                <a:latin typeface="Times New Roman" panose="02020603050405020304" pitchFamily="18" charset="0"/>
                <a:ea typeface="宋体" panose="02010600030101010101" pitchFamily="2" charset="-122"/>
              </a:rPr>
              <a:t>可知，对应于每一种不同的运算结构，我们都可以用三种基本的运算单元：乘法器、加法器和单位延时器来实现。这三种基本运算单元的常用流图表示方法如图</a:t>
            </a:r>
            <a:r>
              <a:rPr lang="en-US" altLang="zh-CN">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所示。 </a:t>
            </a:r>
            <a:endParaRPr lang="zh-CN" altLang="en-US">
              <a:latin typeface="Times New Roman" panose="02020603050405020304" pitchFamily="18" charset="0"/>
              <a:ea typeface="宋体" panose="02010600030101010101" pitchFamily="2" charset="-122"/>
            </a:endParaRPr>
          </a:p>
        </p:txBody>
      </p:sp>
      <p:sp>
        <p:nvSpPr>
          <p:cNvPr id="2" name="云形 1"/>
          <p:cNvSpPr/>
          <p:nvPr/>
        </p:nvSpPr>
        <p:spPr>
          <a:xfrm>
            <a:off x="1873250" y="2187575"/>
            <a:ext cx="2986088" cy="936625"/>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zh-CN" altLang="en-US" b="1" strike="noStrike" noProof="1">
                <a:solidFill>
                  <a:schemeClr val="tx1"/>
                </a:solidFill>
              </a:rPr>
              <a:t>分子分母多项式</a:t>
            </a:r>
            <a:endParaRPr lang="zh-CN" altLang="en-US" b="1" strike="noStrike" noProof="1">
              <a:solidFill>
                <a:schemeClr val="tx1"/>
              </a:solidFill>
            </a:endParaRPr>
          </a:p>
        </p:txBody>
      </p:sp>
      <p:sp>
        <p:nvSpPr>
          <p:cNvPr id="3" name="云形 2"/>
          <p:cNvSpPr/>
          <p:nvPr/>
        </p:nvSpPr>
        <p:spPr>
          <a:xfrm>
            <a:off x="6161088" y="2187575"/>
            <a:ext cx="2987675" cy="936625"/>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zh-CN" altLang="en-US" b="1" strike="noStrike" noProof="1">
                <a:solidFill>
                  <a:schemeClr val="tx1"/>
                </a:solidFill>
              </a:rPr>
              <a:t>因式分解</a:t>
            </a:r>
            <a:endParaRPr lang="zh-CN" altLang="en-US" b="1" strike="noStrike" noProof="1">
              <a:solidFill>
                <a:schemeClr val="tx1"/>
              </a:solidFill>
            </a:endParaRPr>
          </a:p>
          <a:p>
            <a:pPr algn="ctr" fontAlgn="base"/>
            <a:r>
              <a:rPr lang="zh-CN" altLang="en-US" sz="2800" b="1" strike="noStrike" noProof="1">
                <a:solidFill>
                  <a:srgbClr val="FF0000"/>
                </a:solidFill>
              </a:rPr>
              <a:t>和</a:t>
            </a:r>
            <a:r>
              <a:rPr lang="zh-CN" altLang="en-US" b="1" strike="noStrike" noProof="1">
                <a:solidFill>
                  <a:schemeClr val="tx1"/>
                </a:solidFill>
              </a:rPr>
              <a:t>的形式</a:t>
            </a:r>
            <a:endParaRPr lang="zh-CN" altLang="en-US" b="1" strike="noStrike" noProof="1">
              <a:solidFill>
                <a:schemeClr val="tx1"/>
              </a:solidFill>
            </a:endParaRPr>
          </a:p>
        </p:txBody>
      </p:sp>
      <p:sp>
        <p:nvSpPr>
          <p:cNvPr id="4" name="云形 3"/>
          <p:cNvSpPr/>
          <p:nvPr/>
        </p:nvSpPr>
        <p:spPr>
          <a:xfrm>
            <a:off x="4972050" y="3959225"/>
            <a:ext cx="2987675" cy="936625"/>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zh-CN" altLang="en-US" b="1" strike="noStrike" noProof="1">
                <a:solidFill>
                  <a:schemeClr val="tx1"/>
                </a:solidFill>
              </a:rPr>
              <a:t>因式分解</a:t>
            </a:r>
            <a:endParaRPr lang="zh-CN" altLang="en-US" b="1" strike="noStrike" noProof="1">
              <a:solidFill>
                <a:schemeClr val="tx1"/>
              </a:solidFill>
            </a:endParaRPr>
          </a:p>
          <a:p>
            <a:pPr algn="ctr" fontAlgn="base"/>
            <a:r>
              <a:rPr lang="zh-CN" altLang="en-US" sz="2800" b="1" strike="noStrike" noProof="1">
                <a:solidFill>
                  <a:srgbClr val="FF0000"/>
                </a:solidFill>
              </a:rPr>
              <a:t>乘积</a:t>
            </a:r>
            <a:r>
              <a:rPr lang="zh-CN" altLang="en-US" b="1" strike="noStrike" noProof="1">
                <a:solidFill>
                  <a:schemeClr val="tx1"/>
                </a:solidFill>
              </a:rPr>
              <a:t>的形式</a:t>
            </a:r>
            <a:endParaRPr lang="zh-CN" altLang="en-US" b="1" strike="noStrike" noProof="1">
              <a:solidFill>
                <a:schemeClr val="tx1"/>
              </a:solidFill>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145" name="对象 413703"/>
          <p:cNvGraphicFramePr/>
          <p:nvPr/>
        </p:nvGraphicFramePr>
        <p:xfrm>
          <a:off x="107950" y="692150"/>
          <a:ext cx="8893175" cy="4649788"/>
        </p:xfrm>
        <a:graphic>
          <a:graphicData uri="http://schemas.openxmlformats.org/presentationml/2006/ole">
            <mc:AlternateContent xmlns:mc="http://schemas.openxmlformats.org/markup-compatibility/2006">
              <mc:Choice xmlns:v="urn:schemas-microsoft-com:vml" Requires="v">
                <p:oleObj spid="_x0000_s3079" name="" r:id="rId1" imgW="4594860" imgH="2404745" progId="Word.Document.8">
                  <p:embed/>
                </p:oleObj>
              </mc:Choice>
              <mc:Fallback>
                <p:oleObj name="" r:id="rId1" imgW="4594860" imgH="2404745" progId="Word.Document.8">
                  <p:embed/>
                  <p:pic>
                    <p:nvPicPr>
                      <p:cNvPr id="0" name="图片 3078"/>
                      <p:cNvPicPr/>
                      <p:nvPr/>
                    </p:nvPicPr>
                    <p:blipFill>
                      <a:blip r:embed="rId2"/>
                      <a:stretch>
                        <a:fillRect/>
                      </a:stretch>
                    </p:blipFill>
                    <p:spPr>
                      <a:xfrm>
                        <a:off x="107950" y="692150"/>
                        <a:ext cx="8893175" cy="4649788"/>
                      </a:xfrm>
                      <a:prstGeom prst="rect">
                        <a:avLst/>
                      </a:prstGeom>
                      <a:noFill/>
                      <a:ln w="38100">
                        <a:noFill/>
                        <a:miter/>
                      </a:ln>
                    </p:spPr>
                  </p:pic>
                </p:oleObj>
              </mc:Fallback>
            </mc:AlternateContent>
          </a:graphicData>
        </a:graphic>
      </p:graphicFrame>
      <p:cxnSp>
        <p:nvCxnSpPr>
          <p:cNvPr id="2" name="直接连接符 1"/>
          <p:cNvCxnSpPr/>
          <p:nvPr/>
        </p:nvCxnSpPr>
        <p:spPr>
          <a:xfrm flipV="1">
            <a:off x="561975" y="1700213"/>
            <a:ext cx="1489075" cy="33338"/>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561975" y="2206625"/>
            <a:ext cx="1489075" cy="3175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V="1">
            <a:off x="561975" y="3000375"/>
            <a:ext cx="1489075" cy="33338"/>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V="1">
            <a:off x="561975" y="3938588"/>
            <a:ext cx="1489075" cy="3175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561975" y="4737100"/>
            <a:ext cx="1489075" cy="3175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561975" y="5419725"/>
            <a:ext cx="1489075" cy="3175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7613650" y="3644900"/>
            <a:ext cx="1531620" cy="11836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69" name="文本框 6147"/>
          <p:cNvSpPr txBox="1"/>
          <p:nvPr/>
        </p:nvSpPr>
        <p:spPr>
          <a:xfrm>
            <a:off x="2700338" y="5734050"/>
            <a:ext cx="3561080"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4-1 </a:t>
            </a:r>
            <a:r>
              <a:rPr lang="zh-CN" altLang="en-US" dirty="0">
                <a:latin typeface="Times New Roman" panose="02020603050405020304" pitchFamily="18" charset="0"/>
                <a:ea typeface="宋体" panose="02010600030101010101" pitchFamily="2" charset="-122"/>
              </a:rPr>
              <a:t>三种基本运算的图 </a:t>
            </a:r>
            <a:endParaRPr lang="zh-CN" altLang="en-US">
              <a:latin typeface="Times New Roman" panose="02020603050405020304" pitchFamily="18" charset="0"/>
              <a:ea typeface="宋体" panose="02010600030101010101" pitchFamily="2" charset="-122"/>
            </a:endParaRPr>
          </a:p>
        </p:txBody>
      </p:sp>
      <p:pic>
        <p:nvPicPr>
          <p:cNvPr id="7170" name="图片 6151" descr="4-1"/>
          <p:cNvPicPr>
            <a:picLocks noChangeAspect="1"/>
          </p:cNvPicPr>
          <p:nvPr/>
        </p:nvPicPr>
        <p:blipFill>
          <a:blip r:embed="rId1"/>
          <a:stretch>
            <a:fillRect/>
          </a:stretch>
        </p:blipFill>
        <p:spPr>
          <a:xfrm>
            <a:off x="1835785" y="1772920"/>
            <a:ext cx="5715000" cy="3257550"/>
          </a:xfrm>
          <a:prstGeom prst="rect">
            <a:avLst/>
          </a:prstGeom>
          <a:noFill/>
          <a:ln w="9525">
            <a:noFill/>
          </a:ln>
        </p:spPr>
      </p:pic>
      <p:sp>
        <p:nvSpPr>
          <p:cNvPr id="2" name="文本框 1"/>
          <p:cNvSpPr txBox="1"/>
          <p:nvPr/>
        </p:nvSpPr>
        <p:spPr>
          <a:xfrm>
            <a:off x="2268220" y="836295"/>
            <a:ext cx="1560195" cy="645160"/>
          </a:xfrm>
          <a:prstGeom prst="rect">
            <a:avLst/>
          </a:prstGeom>
          <a:noFill/>
        </p:spPr>
        <p:txBody>
          <a:bodyPr wrap="none" rtlCol="0" anchor="t">
            <a:spAutoFit/>
          </a:bodyPr>
          <a:p>
            <a:pPr algn="l"/>
            <a:r>
              <a:rPr lang="zh-CN" altLang="en-US" sz="3600" b="1" dirty="0">
                <a:solidFill>
                  <a:srgbClr val="FF0000"/>
                </a:solidFill>
                <a:sym typeface="+mn-ea"/>
              </a:rPr>
              <a:t>方框图</a:t>
            </a:r>
            <a:endParaRPr lang="zh-CN" altLang="en-US" sz="3600" b="1" dirty="0">
              <a:solidFill>
                <a:srgbClr val="FF0000"/>
              </a:solidFill>
              <a:sym typeface="+mn-ea"/>
            </a:endParaRPr>
          </a:p>
        </p:txBody>
      </p:sp>
      <p:sp>
        <p:nvSpPr>
          <p:cNvPr id="3" name="文本框 2"/>
          <p:cNvSpPr txBox="1"/>
          <p:nvPr/>
        </p:nvSpPr>
        <p:spPr>
          <a:xfrm>
            <a:off x="5868670" y="836295"/>
            <a:ext cx="1177290" cy="645160"/>
          </a:xfrm>
          <a:prstGeom prst="rect">
            <a:avLst/>
          </a:prstGeom>
          <a:noFill/>
        </p:spPr>
        <p:txBody>
          <a:bodyPr wrap="none" rtlCol="0" anchor="t">
            <a:spAutoFit/>
          </a:bodyPr>
          <a:p>
            <a:r>
              <a:rPr lang="zh-CN" altLang="en-US" sz="3600" b="1" dirty="0">
                <a:solidFill>
                  <a:srgbClr val="FF0000"/>
                </a:solidFill>
                <a:sym typeface="+mn-ea"/>
              </a:rPr>
              <a:t>流图</a:t>
            </a:r>
            <a:r>
              <a:rPr lang="zh-CN" altLang="en-US" dirty="0">
                <a:sym typeface="+mn-ea"/>
              </a:rPr>
              <a:t> </a:t>
            </a:r>
            <a:endParaRPr lang="zh-CN" altLang="en-US"/>
          </a:p>
        </p:txBody>
      </p:sp>
      <p:grpSp>
        <p:nvGrpSpPr>
          <p:cNvPr id="4" name="组合 3"/>
          <p:cNvGrpSpPr/>
          <p:nvPr/>
        </p:nvGrpSpPr>
        <p:grpSpPr>
          <a:xfrm>
            <a:off x="7813675" y="3698240"/>
            <a:ext cx="1191895" cy="1039495"/>
            <a:chOff x="10550" y="6178"/>
            <a:chExt cx="1770" cy="1052"/>
          </a:xfrm>
          <a:solidFill>
            <a:schemeClr val="accent1"/>
          </a:solidFill>
        </p:grpSpPr>
        <p:sp>
          <p:nvSpPr>
            <p:cNvPr id="5137" name="直接连接符 147473"/>
            <p:cNvSpPr/>
            <p:nvPr/>
          </p:nvSpPr>
          <p:spPr>
            <a:xfrm>
              <a:off x="10550" y="6255"/>
              <a:ext cx="840" cy="0"/>
            </a:xfrm>
            <a:prstGeom prst="line">
              <a:avLst/>
            </a:prstGeom>
            <a:grpFill/>
            <a:ln w="9525" cap="flat" cmpd="sng">
              <a:solidFill>
                <a:schemeClr val="tx1"/>
              </a:solidFill>
              <a:prstDash val="solid"/>
              <a:round/>
              <a:headEnd type="none" w="med" len="med"/>
              <a:tailEnd type="triangle" w="med" len="med"/>
            </a:ln>
          </p:spPr>
        </p:sp>
        <p:sp>
          <p:nvSpPr>
            <p:cNvPr id="5138" name="直接连接符 147474"/>
            <p:cNvSpPr/>
            <p:nvPr/>
          </p:nvSpPr>
          <p:spPr>
            <a:xfrm>
              <a:off x="11390" y="6255"/>
              <a:ext cx="840" cy="0"/>
            </a:xfrm>
            <a:prstGeom prst="line">
              <a:avLst/>
            </a:prstGeom>
            <a:grpFill/>
            <a:ln w="9525" cap="flat" cmpd="sng">
              <a:solidFill>
                <a:schemeClr val="tx1"/>
              </a:solidFill>
              <a:prstDash val="solid"/>
              <a:round/>
              <a:headEnd type="none" w="med" len="med"/>
              <a:tailEnd type="none" w="med" len="med"/>
            </a:ln>
          </p:spPr>
        </p:sp>
        <p:sp>
          <p:nvSpPr>
            <p:cNvPr id="5140" name="直接连接符 147476"/>
            <p:cNvSpPr/>
            <p:nvPr/>
          </p:nvSpPr>
          <p:spPr>
            <a:xfrm rot="10800000" flipV="1">
              <a:off x="10550" y="6270"/>
              <a:ext cx="1680" cy="960"/>
            </a:xfrm>
            <a:prstGeom prst="line">
              <a:avLst/>
            </a:prstGeom>
            <a:grpFill/>
            <a:ln w="9525" cap="flat" cmpd="sng">
              <a:solidFill>
                <a:schemeClr val="tx1"/>
              </a:solidFill>
              <a:prstDash val="solid"/>
              <a:round/>
              <a:headEnd type="triangle" w="med" len="med"/>
              <a:tailEnd type="none" w="med" len="med"/>
            </a:ln>
          </p:spPr>
        </p:sp>
        <p:sp>
          <p:nvSpPr>
            <p:cNvPr id="5143" name="椭圆 147479"/>
            <p:cNvSpPr/>
            <p:nvPr/>
          </p:nvSpPr>
          <p:spPr>
            <a:xfrm>
              <a:off x="12200" y="6178"/>
              <a:ext cx="120" cy="120"/>
            </a:xfrm>
            <a:prstGeom prst="ellipse">
              <a:avLst/>
            </a:prstGeom>
            <a:solidFill>
              <a:srgbClr val="FF0000"/>
            </a:solidFill>
            <a:ln w="9525" cap="flat" cmpd="sng">
              <a:solidFill>
                <a:schemeClr val="tx1"/>
              </a:solidFill>
              <a:prstDash val="solid"/>
              <a:round/>
              <a:headEnd type="none" w="med" len="med"/>
              <a:tailEnd type="none" w="med" len="med"/>
            </a:ln>
          </p:spPr>
          <p:txBody>
            <a:bodyPr anchor="t" anchorCtr="0"/>
            <a:p>
              <a:endParaRPr lang="zh-CN" altLang="en-US">
                <a:latin typeface="Times New Roman" panose="02020603050405020304" pitchFamily="18" charset="0"/>
                <a:ea typeface="宋体" panose="02010600030101010101" pitchFamily="2" charset="-122"/>
              </a:endParaRPr>
            </a:p>
          </p:txBody>
        </p:sp>
      </p:grpSp>
      <p:sp>
        <p:nvSpPr>
          <p:cNvPr id="6" name="文本框 5"/>
          <p:cNvSpPr txBox="1"/>
          <p:nvPr/>
        </p:nvSpPr>
        <p:spPr>
          <a:xfrm>
            <a:off x="0" y="1700530"/>
            <a:ext cx="1789430" cy="460375"/>
          </a:xfrm>
          <a:prstGeom prst="rect">
            <a:avLst/>
          </a:prstGeom>
          <a:solidFill>
            <a:schemeClr val="accent1"/>
          </a:solidFill>
        </p:spPr>
        <p:txBody>
          <a:bodyPr wrap="none" rtlCol="0" anchor="t">
            <a:spAutoFit/>
          </a:bodyPr>
          <a:p>
            <a:r>
              <a:rPr lang="zh-CN" altLang="en-US" b="1" dirty="0">
                <a:sym typeface="+mn-ea"/>
              </a:rPr>
              <a:t>信号的延时</a:t>
            </a:r>
            <a:r>
              <a:rPr lang="zh-CN" altLang="en-US" dirty="0">
                <a:sym typeface="+mn-ea"/>
              </a:rPr>
              <a:t> </a:t>
            </a:r>
            <a:endParaRPr lang="zh-CN" altLang="en-US"/>
          </a:p>
        </p:txBody>
      </p:sp>
      <p:sp>
        <p:nvSpPr>
          <p:cNvPr id="7" name="文本框 6"/>
          <p:cNvSpPr txBox="1"/>
          <p:nvPr/>
        </p:nvSpPr>
        <p:spPr>
          <a:xfrm>
            <a:off x="-36195" y="2636520"/>
            <a:ext cx="1789430" cy="460375"/>
          </a:xfrm>
          <a:prstGeom prst="rect">
            <a:avLst/>
          </a:prstGeom>
          <a:solidFill>
            <a:schemeClr val="accent1"/>
          </a:solidFill>
        </p:spPr>
        <p:txBody>
          <a:bodyPr wrap="none" rtlCol="0" anchor="t">
            <a:spAutoFit/>
          </a:bodyPr>
          <a:p>
            <a:r>
              <a:rPr lang="zh-CN" altLang="en-US" b="1" dirty="0">
                <a:sym typeface="+mn-ea"/>
              </a:rPr>
              <a:t>信号的相乘</a:t>
            </a:r>
            <a:r>
              <a:rPr lang="zh-CN" altLang="en-US" dirty="0">
                <a:sym typeface="+mn-ea"/>
              </a:rPr>
              <a:t> </a:t>
            </a:r>
            <a:endParaRPr lang="zh-CN" altLang="en-US"/>
          </a:p>
        </p:txBody>
      </p:sp>
      <p:sp>
        <p:nvSpPr>
          <p:cNvPr id="8" name="文本框 7"/>
          <p:cNvSpPr txBox="1"/>
          <p:nvPr/>
        </p:nvSpPr>
        <p:spPr>
          <a:xfrm>
            <a:off x="-3810" y="3789045"/>
            <a:ext cx="1789430" cy="460375"/>
          </a:xfrm>
          <a:prstGeom prst="rect">
            <a:avLst/>
          </a:prstGeom>
          <a:solidFill>
            <a:schemeClr val="accent1"/>
          </a:solidFill>
        </p:spPr>
        <p:txBody>
          <a:bodyPr wrap="none" rtlCol="0" anchor="t">
            <a:spAutoFit/>
          </a:bodyPr>
          <a:p>
            <a:r>
              <a:rPr lang="zh-CN" altLang="en-US" b="1" dirty="0">
                <a:sym typeface="+mn-ea"/>
              </a:rPr>
              <a:t>信号的相加</a:t>
            </a:r>
            <a:r>
              <a:rPr lang="zh-CN" altLang="en-US" dirty="0">
                <a:sym typeface="+mn-ea"/>
              </a:rPr>
              <a:t> </a:t>
            </a: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文本框 7171"/>
          <p:cNvSpPr txBox="1"/>
          <p:nvPr/>
        </p:nvSpPr>
        <p:spPr>
          <a:xfrm>
            <a:off x="2743200" y="990600"/>
            <a:ext cx="4065588"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4.2  IIR</a:t>
            </a:r>
            <a:r>
              <a:rPr lang="zh-CN" altLang="en-US" sz="3200" b="1" dirty="0">
                <a:latin typeface="Times New Roman" panose="02020603050405020304" pitchFamily="18" charset="0"/>
                <a:ea typeface="宋体" panose="02010600030101010101" pitchFamily="2" charset="-122"/>
              </a:rPr>
              <a:t>滤波器的结构 </a:t>
            </a:r>
            <a:endParaRPr lang="zh-CN" altLang="en-US" sz="3200" b="1">
              <a:latin typeface="Times New Roman" panose="02020603050405020304" pitchFamily="18" charset="0"/>
              <a:ea typeface="宋体" panose="02010600030101010101" pitchFamily="2" charset="-122"/>
            </a:endParaRPr>
          </a:p>
        </p:txBody>
      </p:sp>
      <p:sp>
        <p:nvSpPr>
          <p:cNvPr id="8194" name="文本框 7172"/>
          <p:cNvSpPr txBox="1"/>
          <p:nvPr/>
        </p:nvSpPr>
        <p:spPr>
          <a:xfrm>
            <a:off x="0" y="1981200"/>
            <a:ext cx="8839200" cy="1784350"/>
          </a:xfrm>
          <a:prstGeom prst="rect">
            <a:avLst/>
          </a:prstGeom>
          <a:noFill/>
          <a:ln w="9525">
            <a:noFill/>
          </a:ln>
        </p:spPr>
        <p:txBody>
          <a:bodyPr anchor="t">
            <a:spAutoFit/>
          </a:bodyPr>
          <a:p>
            <a:pPr algn="just">
              <a:lnSpc>
                <a:spcPct val="138000"/>
              </a:lnSpc>
              <a:spcBef>
                <a:spcPct val="50000"/>
              </a:spcBef>
            </a:pPr>
            <a:r>
              <a:rPr lang="en-US" altLang="zh-CN" b="1" dirty="0">
                <a:solidFill>
                  <a:srgbClr val="FF0000"/>
                </a:solidFill>
                <a:latin typeface="Times New Roman" panose="02020603050405020304" pitchFamily="18" charset="0"/>
                <a:ea typeface="宋体" panose="02010600030101010101" pitchFamily="2" charset="-122"/>
              </a:rPr>
              <a:t>4.2.1 </a:t>
            </a:r>
            <a:r>
              <a:rPr lang="zh-CN" altLang="en-US" b="1" dirty="0">
                <a:solidFill>
                  <a:srgbClr val="FF0000"/>
                </a:solidFill>
                <a:latin typeface="Times New Roman" panose="02020603050405020304" pitchFamily="18" charset="0"/>
                <a:ea typeface="宋体" panose="02010600030101010101" pitchFamily="2" charset="-122"/>
              </a:rPr>
              <a:t>直接型（</a:t>
            </a:r>
            <a:r>
              <a:rPr lang="en-US" altLang="zh-CN" b="1" dirty="0">
                <a:solidFill>
                  <a:srgbClr val="FF0000"/>
                </a:solidFill>
                <a:latin typeface="Times New Roman" panose="02020603050405020304" pitchFamily="18" charset="0"/>
                <a:ea typeface="宋体" panose="02010600030101010101" pitchFamily="2" charset="-122"/>
              </a:rPr>
              <a:t>Ⅰ</a:t>
            </a:r>
            <a:r>
              <a:rPr lang="zh-CN" altLang="en-US" b="1" dirty="0">
                <a:solidFill>
                  <a:srgbClr val="FF0000"/>
                </a:solidFill>
                <a:latin typeface="Times New Roman" panose="02020603050405020304" pitchFamily="18" charset="0"/>
                <a:ea typeface="宋体" panose="02010600030101010101" pitchFamily="2" charset="-122"/>
              </a:rPr>
              <a:t>型）</a:t>
            </a:r>
            <a:endParaRPr lang="zh-CN" altLang="en-US" b="1">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一个</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阶的</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滤波器的输入输出关系可以用如式（</a:t>
            </a:r>
            <a:r>
              <a:rPr lang="en-US" altLang="zh-CN" dirty="0">
                <a:latin typeface="Times New Roman" panose="02020603050405020304" pitchFamily="18" charset="0"/>
                <a:ea typeface="宋体" panose="02010600030101010101" pitchFamily="2" charset="-122"/>
              </a:rPr>
              <a:t>4-1</a:t>
            </a:r>
            <a:r>
              <a:rPr lang="zh-CN" altLang="en-US" dirty="0">
                <a:latin typeface="Times New Roman" panose="02020603050405020304" pitchFamily="18" charset="0"/>
                <a:ea typeface="宋体" panose="02010600030101010101" pitchFamily="2" charset="-122"/>
              </a:rPr>
              <a:t>）所示的</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阶的差分方程</a:t>
            </a:r>
            <a:r>
              <a:rPr lang="zh-CN" altLang="en-US" dirty="0">
                <a:latin typeface="Times New Roman" panose="02020603050405020304" pitchFamily="18" charset="0"/>
                <a:ea typeface="宋体" panose="02010600030101010101" pitchFamily="2" charset="-122"/>
              </a:rPr>
              <a:t>来描述。 把式（</a:t>
            </a:r>
            <a:r>
              <a:rPr lang="en-US" altLang="zh-CN" dirty="0">
                <a:latin typeface="Times New Roman" panose="02020603050405020304" pitchFamily="18" charset="0"/>
                <a:ea typeface="宋体" panose="02010600030101010101" pitchFamily="2" charset="-122"/>
              </a:rPr>
              <a:t>4-1</a:t>
            </a:r>
            <a:r>
              <a:rPr lang="zh-CN" altLang="en-US" dirty="0">
                <a:latin typeface="Times New Roman" panose="02020603050405020304" pitchFamily="18" charset="0"/>
                <a:ea typeface="宋体" panose="02010600030101010101" pitchFamily="2" charset="-122"/>
              </a:rPr>
              <a:t>）重写如下： </a:t>
            </a:r>
            <a:endParaRPr lang="zh-CN" altLang="en-US">
              <a:latin typeface="Times New Roman" panose="02020603050405020304" pitchFamily="18" charset="0"/>
              <a:ea typeface="宋体" panose="02010600030101010101" pitchFamily="2" charset="-122"/>
            </a:endParaRPr>
          </a:p>
        </p:txBody>
      </p:sp>
      <p:graphicFrame>
        <p:nvGraphicFramePr>
          <p:cNvPr id="8195" name="对象 7173"/>
          <p:cNvGraphicFramePr/>
          <p:nvPr/>
        </p:nvGraphicFramePr>
        <p:xfrm>
          <a:off x="1907540" y="4796632"/>
          <a:ext cx="4940300" cy="1036955"/>
        </p:xfrm>
        <a:graphic>
          <a:graphicData uri="http://schemas.openxmlformats.org/presentationml/2006/ole">
            <mc:AlternateContent xmlns:mc="http://schemas.openxmlformats.org/markup-compatibility/2006">
              <mc:Choice xmlns:v="urn:schemas-microsoft-com:vml" Requires="v">
                <p:oleObj spid="_x0000_s3080" name="" r:id="rId1" imgW="2057400" imgH="431800" progId="Equation.3">
                  <p:embed/>
                </p:oleObj>
              </mc:Choice>
              <mc:Fallback>
                <p:oleObj name="" r:id="rId1" imgW="2057400" imgH="431800" progId="Equation.3">
                  <p:embed/>
                  <p:pic>
                    <p:nvPicPr>
                      <p:cNvPr id="0" name="图片 3079"/>
                      <p:cNvPicPr/>
                      <p:nvPr/>
                    </p:nvPicPr>
                    <p:blipFill>
                      <a:blip r:embed="rId2"/>
                      <a:stretch>
                        <a:fillRect/>
                      </a:stretch>
                    </p:blipFill>
                    <p:spPr>
                      <a:xfrm>
                        <a:off x="1907540" y="4796632"/>
                        <a:ext cx="4940300" cy="1036955"/>
                      </a:xfrm>
                      <a:prstGeom prst="rect">
                        <a:avLst/>
                      </a:prstGeom>
                      <a:solidFill>
                        <a:schemeClr val="accent1"/>
                      </a:solidFill>
                      <a:ln w="38100">
                        <a:noFill/>
                        <a:miter/>
                      </a:ln>
                    </p:spPr>
                  </p:pic>
                </p:oleObj>
              </mc:Fallback>
            </mc:AlternateContent>
          </a:graphicData>
        </a:graphic>
      </p:graphicFrame>
      <p:sp>
        <p:nvSpPr>
          <p:cNvPr id="2" name="云形 1"/>
          <p:cNvSpPr/>
          <p:nvPr/>
        </p:nvSpPr>
        <p:spPr>
          <a:xfrm rot="21240000">
            <a:off x="6125210" y="3707130"/>
            <a:ext cx="2986088" cy="936625"/>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zh-CN" altLang="en-US" b="1" strike="noStrike" noProof="1">
                <a:solidFill>
                  <a:schemeClr val="tx1"/>
                </a:solidFill>
              </a:rPr>
              <a:t>递归型结构</a:t>
            </a:r>
            <a:endParaRPr lang="zh-CN" altLang="en-US" b="1" strike="noStrike" noProof="1">
              <a:solidFill>
                <a:schemeClr val="tx1"/>
              </a:solidFill>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217" name="组合 8198"/>
          <p:cNvGrpSpPr/>
          <p:nvPr/>
        </p:nvGrpSpPr>
        <p:grpSpPr>
          <a:xfrm>
            <a:off x="152400" y="793750"/>
            <a:ext cx="8763000" cy="4741863"/>
            <a:chOff x="96" y="500"/>
            <a:chExt cx="5520" cy="2987"/>
          </a:xfrm>
        </p:grpSpPr>
        <p:sp>
          <p:nvSpPr>
            <p:cNvPr id="9218" name="文本框 8195"/>
            <p:cNvSpPr txBox="1"/>
            <p:nvPr/>
          </p:nvSpPr>
          <p:spPr>
            <a:xfrm>
              <a:off x="96" y="500"/>
              <a:ext cx="5520" cy="2987"/>
            </a:xfrm>
            <a:prstGeom prst="rect">
              <a:avLst/>
            </a:prstGeom>
            <a:noFill/>
            <a:ln w="9525">
              <a:noFill/>
            </a:ln>
          </p:spPr>
          <p:txBody>
            <a:bodyPr anchor="t">
              <a:spAutoFit/>
            </a:bodyPr>
            <a:p>
              <a:pPr algn="just">
                <a:lnSpc>
                  <a:spcPct val="18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从这个差分方程表达式可以看出，系统的输出</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由两部分构成：第一部分		   是一个对输入</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的</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阶延时链结构，每阶延时抽头后加权相加，构成一个横向结构网络。第二部分		        是一个对输出</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的</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阶延时链的横向结构网络，是由输出到输入的反馈网络。 由这两部分相加构成输出，取</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可得其结构图如图</a:t>
              </a:r>
              <a:r>
                <a:rPr lang="en-US" altLang="zh-CN" dirty="0">
                  <a:latin typeface="Times New Roman" panose="02020603050405020304" pitchFamily="18" charset="0"/>
                  <a:ea typeface="宋体" panose="02010600030101010101" pitchFamily="2" charset="-122"/>
                </a:rPr>
                <a:t>4-2</a:t>
              </a:r>
              <a:r>
                <a:rPr lang="zh-CN" altLang="en-US" dirty="0">
                  <a:latin typeface="Times New Roman" panose="02020603050405020304" pitchFamily="18" charset="0"/>
                  <a:ea typeface="宋体" panose="02010600030101010101" pitchFamily="2" charset="-122"/>
                </a:rPr>
                <a:t>。从图上可以看出，直接</a:t>
              </a:r>
              <a:r>
                <a:rPr lang="en-US" altLang="zh-CN" i="1">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型结构需要</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个延时器和</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a:t>
              </a:r>
              <a:r>
                <a:rPr lang="zh-CN" altLang="en-US" dirty="0">
                  <a:latin typeface="Times New Roman" panose="02020603050405020304" pitchFamily="18" charset="0"/>
                  <a:ea typeface="宋体" panose="02010600030101010101" pitchFamily="2" charset="-122"/>
                </a:rPr>
                <a:t>乘法器。 </a:t>
              </a:r>
              <a:endParaRPr lang="zh-CN" altLang="en-US">
                <a:latin typeface="Times New Roman" panose="02020603050405020304" pitchFamily="18" charset="0"/>
                <a:ea typeface="宋体" panose="02010600030101010101" pitchFamily="2" charset="-122"/>
              </a:endParaRPr>
            </a:p>
          </p:txBody>
        </p:sp>
        <p:graphicFrame>
          <p:nvGraphicFramePr>
            <p:cNvPr id="9219" name="对象 8196"/>
            <p:cNvGraphicFramePr/>
            <p:nvPr/>
          </p:nvGraphicFramePr>
          <p:xfrm>
            <a:off x="1584" y="912"/>
            <a:ext cx="1056" cy="589"/>
          </p:xfrm>
          <a:graphic>
            <a:graphicData uri="http://schemas.openxmlformats.org/presentationml/2006/ole">
              <mc:AlternateContent xmlns:mc="http://schemas.openxmlformats.org/markup-compatibility/2006">
                <mc:Choice xmlns:v="urn:schemas-microsoft-com:vml" Requires="v">
                  <p:oleObj spid="_x0000_s3082" name="" r:id="rId1" imgW="774065" imgH="431800" progId="Equation.3">
                    <p:embed/>
                  </p:oleObj>
                </mc:Choice>
                <mc:Fallback>
                  <p:oleObj name="" r:id="rId1" imgW="774065" imgH="431800" progId="Equation.3">
                    <p:embed/>
                    <p:pic>
                      <p:nvPicPr>
                        <p:cNvPr id="0" name="图片 3081"/>
                        <p:cNvPicPr/>
                        <p:nvPr/>
                      </p:nvPicPr>
                      <p:blipFill>
                        <a:blip r:embed="rId2"/>
                        <a:stretch>
                          <a:fillRect/>
                        </a:stretch>
                      </p:blipFill>
                      <p:spPr>
                        <a:xfrm>
                          <a:off x="1584" y="912"/>
                          <a:ext cx="1056" cy="589"/>
                        </a:xfrm>
                        <a:prstGeom prst="rect">
                          <a:avLst/>
                        </a:prstGeom>
                        <a:noFill/>
                        <a:ln w="38100">
                          <a:noFill/>
                          <a:miter/>
                        </a:ln>
                      </p:spPr>
                    </p:pic>
                  </p:oleObj>
                </mc:Fallback>
              </mc:AlternateContent>
            </a:graphicData>
          </a:graphic>
        </p:graphicFrame>
        <p:graphicFrame>
          <p:nvGraphicFramePr>
            <p:cNvPr id="9220" name="对象 8197"/>
            <p:cNvGraphicFramePr/>
            <p:nvPr/>
          </p:nvGraphicFramePr>
          <p:xfrm>
            <a:off x="607" y="1728"/>
            <a:ext cx="1091" cy="589"/>
          </p:xfrm>
          <a:graphic>
            <a:graphicData uri="http://schemas.openxmlformats.org/presentationml/2006/ole">
              <mc:AlternateContent xmlns:mc="http://schemas.openxmlformats.org/markup-compatibility/2006">
                <mc:Choice xmlns:v="urn:schemas-microsoft-com:vml" Requires="v">
                  <p:oleObj spid="_x0000_s3083" name="" r:id="rId3" imgW="799465" imgH="431800" progId="Equation.3">
                    <p:embed/>
                  </p:oleObj>
                </mc:Choice>
                <mc:Fallback>
                  <p:oleObj name="" r:id="rId3" imgW="799465" imgH="431800" progId="Equation.3">
                    <p:embed/>
                    <p:pic>
                      <p:nvPicPr>
                        <p:cNvPr id="0" name="图片 3082"/>
                        <p:cNvPicPr/>
                        <p:nvPr/>
                      </p:nvPicPr>
                      <p:blipFill>
                        <a:blip r:embed="rId4"/>
                        <a:stretch>
                          <a:fillRect/>
                        </a:stretch>
                      </p:blipFill>
                      <p:spPr>
                        <a:xfrm>
                          <a:off x="607" y="1728"/>
                          <a:ext cx="1091" cy="589"/>
                        </a:xfrm>
                        <a:prstGeom prst="rect">
                          <a:avLst/>
                        </a:prstGeom>
                        <a:noFill/>
                        <a:ln w="38100">
                          <a:noFill/>
                          <a:miter/>
                        </a:ln>
                      </p:spPr>
                    </p:pic>
                  </p:oleObj>
                </mc:Fallback>
              </mc:AlternateContent>
            </a:graphicData>
          </a:graphic>
        </p:graphicFrame>
      </p:grpSp>
    </p:spTree>
  </p:cSld>
  <p:clrMapOvr>
    <a:masterClrMapping/>
  </p:clrMapOvr>
  <p:transition>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文本框 9219"/>
          <p:cNvSpPr txBox="1"/>
          <p:nvPr/>
        </p:nvSpPr>
        <p:spPr>
          <a:xfrm>
            <a:off x="3048000" y="5638800"/>
            <a:ext cx="29972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4-2  </a:t>
            </a:r>
            <a:r>
              <a:rPr lang="zh-CN" altLang="en-US" dirty="0">
                <a:latin typeface="Times New Roman" panose="02020603050405020304" pitchFamily="18" charset="0"/>
                <a:ea typeface="宋体" panose="02010600030101010101" pitchFamily="2" charset="-122"/>
              </a:rPr>
              <a:t>直接</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型结构 </a:t>
            </a:r>
            <a:endParaRPr lang="zh-CN" altLang="en-US">
              <a:latin typeface="Times New Roman" panose="02020603050405020304" pitchFamily="18" charset="0"/>
              <a:ea typeface="宋体" panose="02010600030101010101" pitchFamily="2" charset="-122"/>
            </a:endParaRPr>
          </a:p>
        </p:txBody>
      </p:sp>
      <p:pic>
        <p:nvPicPr>
          <p:cNvPr id="10242" name="图片 9222" descr="4-2"/>
          <p:cNvPicPr>
            <a:picLocks noChangeAspect="1"/>
          </p:cNvPicPr>
          <p:nvPr/>
        </p:nvPicPr>
        <p:blipFill>
          <a:blip r:embed="rId1"/>
          <a:stretch>
            <a:fillRect/>
          </a:stretch>
        </p:blipFill>
        <p:spPr>
          <a:xfrm>
            <a:off x="1714500" y="2143125"/>
            <a:ext cx="5715000" cy="2571750"/>
          </a:xfrm>
          <a:prstGeom prst="rect">
            <a:avLst/>
          </a:prstGeom>
          <a:noFill/>
          <a:ln w="9525">
            <a:noFill/>
          </a:ln>
        </p:spPr>
      </p:pic>
      <p:sp>
        <p:nvSpPr>
          <p:cNvPr id="2" name="文本框 1"/>
          <p:cNvSpPr txBox="1"/>
          <p:nvPr/>
        </p:nvSpPr>
        <p:spPr>
          <a:xfrm>
            <a:off x="7020560" y="1052830"/>
            <a:ext cx="792480" cy="460375"/>
          </a:xfrm>
          <a:prstGeom prst="rect">
            <a:avLst/>
          </a:prstGeom>
          <a:solidFill>
            <a:schemeClr val="accent1"/>
          </a:solidFill>
        </p:spPr>
        <p:txBody>
          <a:bodyPr wrap="none" rtlCol="0" anchor="t">
            <a:spAutoFit/>
          </a:bodyPr>
          <a:p>
            <a:r>
              <a:rPr lang="zh-CN" dirty="0">
                <a:sym typeface="+mn-ea"/>
              </a:rPr>
              <a:t>时域</a:t>
            </a:r>
            <a:endParaRPr lang="zh-CN"/>
          </a:p>
        </p:txBody>
      </p:sp>
      <p:graphicFrame>
        <p:nvGraphicFramePr>
          <p:cNvPr id="8195" name="对象 7173"/>
          <p:cNvGraphicFramePr/>
          <p:nvPr>
            <p:custDataLst>
              <p:tags r:id="rId2"/>
            </p:custDataLst>
          </p:nvPr>
        </p:nvGraphicFramePr>
        <p:xfrm>
          <a:off x="1714500" y="548640"/>
          <a:ext cx="5067300" cy="1211580"/>
        </p:xfrm>
        <a:graphic>
          <a:graphicData uri="http://schemas.openxmlformats.org/presentationml/2006/ole">
            <mc:AlternateContent xmlns:mc="http://schemas.openxmlformats.org/markup-compatibility/2006">
              <mc:Choice xmlns:v="urn:schemas-microsoft-com:vml" Requires="v">
                <p:oleObj spid="_x0000_s3080" name="" r:id="rId3" imgW="2057400" imgH="431800" progId="Equation.3">
                  <p:embed/>
                </p:oleObj>
              </mc:Choice>
              <mc:Fallback>
                <p:oleObj name="" r:id="rId3" imgW="2057400" imgH="431800" progId="Equation.3">
                  <p:embed/>
                  <p:pic>
                    <p:nvPicPr>
                      <p:cNvPr id="0" name="图片 3079"/>
                      <p:cNvPicPr/>
                      <p:nvPr/>
                    </p:nvPicPr>
                    <p:blipFill>
                      <a:blip r:embed="rId4"/>
                      <a:stretch>
                        <a:fillRect/>
                      </a:stretch>
                    </p:blipFill>
                    <p:spPr>
                      <a:xfrm>
                        <a:off x="1714500" y="548640"/>
                        <a:ext cx="5067300" cy="1211580"/>
                      </a:xfrm>
                      <a:prstGeom prst="rect">
                        <a:avLst/>
                      </a:prstGeom>
                      <a:solidFill>
                        <a:schemeClr val="accent1"/>
                      </a:solidFill>
                      <a:ln w="38100">
                        <a:noFill/>
                        <a:miter/>
                      </a:ln>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文本框 10243"/>
          <p:cNvSpPr txBox="1"/>
          <p:nvPr/>
        </p:nvSpPr>
        <p:spPr>
          <a:xfrm>
            <a:off x="228600" y="533400"/>
            <a:ext cx="8686800" cy="2790825"/>
          </a:xfrm>
          <a:prstGeom prst="rect">
            <a:avLst/>
          </a:prstGeom>
          <a:noFill/>
          <a:ln w="9525">
            <a:noFill/>
          </a:ln>
        </p:spPr>
        <p:txBody>
          <a:bodyPr anchor="t">
            <a:spAutoFit/>
          </a:bodyPr>
          <a:p>
            <a:pPr algn="just">
              <a:lnSpc>
                <a:spcPct val="138000"/>
              </a:lnSpc>
              <a:spcBef>
                <a:spcPct val="50000"/>
              </a:spcBef>
            </a:pPr>
            <a:r>
              <a:rPr lang="en-US" altLang="zh-CN" b="1" dirty="0">
                <a:solidFill>
                  <a:srgbClr val="FF0000"/>
                </a:solidFill>
                <a:latin typeface="Times New Roman" panose="02020603050405020304" pitchFamily="18" charset="0"/>
                <a:ea typeface="宋体" panose="02010600030101010101" pitchFamily="2" charset="-122"/>
              </a:rPr>
              <a:t>4.2.2 </a:t>
            </a:r>
            <a:r>
              <a:rPr lang="zh-CN" altLang="en-US" b="1" dirty="0">
                <a:solidFill>
                  <a:srgbClr val="FF0000"/>
                </a:solidFill>
                <a:latin typeface="Times New Roman" panose="02020603050405020304" pitchFamily="18" charset="0"/>
                <a:ea typeface="宋体" panose="02010600030101010101" pitchFamily="2" charset="-122"/>
              </a:rPr>
              <a:t>直接</a:t>
            </a:r>
            <a:r>
              <a:rPr lang="en-US" altLang="zh-CN" b="1" dirty="0">
                <a:solidFill>
                  <a:srgbClr val="FF0000"/>
                </a:solidFill>
                <a:latin typeface="Times New Roman" panose="02020603050405020304" pitchFamily="18" charset="0"/>
                <a:ea typeface="宋体" panose="02010600030101010101" pitchFamily="2" charset="-122"/>
              </a:rPr>
              <a:t>Ⅱ</a:t>
            </a:r>
            <a:r>
              <a:rPr lang="zh-CN" altLang="en-US" b="1" dirty="0">
                <a:solidFill>
                  <a:srgbClr val="FF0000"/>
                </a:solidFill>
                <a:latin typeface="Times New Roman" panose="02020603050405020304" pitchFamily="18" charset="0"/>
                <a:ea typeface="宋体" panose="02010600030101010101" pitchFamily="2" charset="-122"/>
              </a:rPr>
              <a:t>型</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直接</a:t>
            </a:r>
            <a:r>
              <a:rPr lang="en-US" altLang="zh-CN" dirty="0">
                <a:latin typeface="Times New Roman" panose="02020603050405020304" pitchFamily="18" charset="0"/>
                <a:ea typeface="宋体" panose="02010600030101010101" pitchFamily="2" charset="-122"/>
              </a:rPr>
              <a:t>Ⅱ</a:t>
            </a:r>
            <a:r>
              <a:rPr lang="zh-CN" altLang="en-US" dirty="0">
                <a:latin typeface="Times New Roman" panose="02020603050405020304" pitchFamily="18" charset="0"/>
                <a:ea typeface="宋体" panose="02010600030101010101" pitchFamily="2" charset="-122"/>
              </a:rPr>
              <a:t>型结构又称为正准型结构。由图</a:t>
            </a:r>
            <a:r>
              <a:rPr lang="en-US" altLang="zh-CN" dirty="0">
                <a:latin typeface="Times New Roman" panose="02020603050405020304" pitchFamily="18" charset="0"/>
                <a:ea typeface="宋体" panose="02010600030101010101" pitchFamily="2" charset="-122"/>
              </a:rPr>
              <a:t>4-2</a:t>
            </a:r>
            <a:r>
              <a:rPr lang="zh-CN" altLang="en-US" dirty="0">
                <a:latin typeface="Times New Roman" panose="02020603050405020304" pitchFamily="18" charset="0"/>
                <a:ea typeface="宋体" panose="02010600030101010101" pitchFamily="2" charset="-122"/>
              </a:rPr>
              <a:t>，直接</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型结构的系统函数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也可以看成是两个独立的系统函数的乘积。输入信号</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先通过系统</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，得到中间输出变量</a:t>
            </a:r>
            <a:r>
              <a:rPr lang="en-US" altLang="zh-CN" i="1">
                <a:latin typeface="Times New Roman" panose="02020603050405020304" pitchFamily="18" charset="0"/>
                <a:ea typeface="宋体" panose="02010600030101010101" pitchFamily="2" charset="-122"/>
              </a:rPr>
              <a:t>y</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然后再把</a:t>
            </a:r>
            <a:r>
              <a:rPr lang="en-US" altLang="zh-CN" i="1">
                <a:latin typeface="Times New Roman" panose="02020603050405020304" pitchFamily="18" charset="0"/>
                <a:ea typeface="宋体" panose="02010600030101010101" pitchFamily="2" charset="-122"/>
              </a:rPr>
              <a:t>y</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通过系统</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得到输出信号</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即 </a:t>
            </a:r>
            <a:endParaRPr lang="zh-CN" altLang="en-US">
              <a:latin typeface="Times New Roman" panose="02020603050405020304" pitchFamily="18" charset="0"/>
              <a:ea typeface="宋体" panose="02010600030101010101" pitchFamily="2" charset="-122"/>
            </a:endParaRPr>
          </a:p>
        </p:txBody>
      </p:sp>
      <p:graphicFrame>
        <p:nvGraphicFramePr>
          <p:cNvPr id="11266" name="对象 10244"/>
          <p:cNvGraphicFramePr/>
          <p:nvPr/>
        </p:nvGraphicFramePr>
        <p:xfrm>
          <a:off x="2944495" y="3450432"/>
          <a:ext cx="3102610" cy="2743200"/>
        </p:xfrm>
        <a:graphic>
          <a:graphicData uri="http://schemas.openxmlformats.org/presentationml/2006/ole">
            <mc:AlternateContent xmlns:mc="http://schemas.openxmlformats.org/markup-compatibility/2006">
              <mc:Choice xmlns:v="urn:schemas-microsoft-com:vml" Requires="v">
                <p:oleObj spid="_x0000_s3081" name="" r:id="rId1" imgW="1206500" imgH="1066800" progId="Equation.3">
                  <p:embed/>
                </p:oleObj>
              </mc:Choice>
              <mc:Fallback>
                <p:oleObj name="" r:id="rId1" imgW="1206500" imgH="1066800" progId="Equation.3">
                  <p:embed/>
                  <p:pic>
                    <p:nvPicPr>
                      <p:cNvPr id="0" name="图片 3080"/>
                      <p:cNvPicPr/>
                      <p:nvPr/>
                    </p:nvPicPr>
                    <p:blipFill>
                      <a:blip r:embed="rId2"/>
                      <a:stretch>
                        <a:fillRect/>
                      </a:stretch>
                    </p:blipFill>
                    <p:spPr>
                      <a:xfrm>
                        <a:off x="2944495" y="3450432"/>
                        <a:ext cx="3102610" cy="2743200"/>
                      </a:xfrm>
                      <a:prstGeom prst="rect">
                        <a:avLst/>
                      </a:prstGeom>
                      <a:noFill/>
                      <a:ln w="38100">
                        <a:noFill/>
                        <a:miter/>
                      </a:ln>
                    </p:spPr>
                  </p:pic>
                </p:oleObj>
              </mc:Fallback>
            </mc:AlternateContent>
          </a:graphicData>
        </a:graphic>
      </p:graphicFrame>
      <p:graphicFrame>
        <p:nvGraphicFramePr>
          <p:cNvPr id="8195" name="对象 7173"/>
          <p:cNvGraphicFramePr/>
          <p:nvPr>
            <p:custDataLst>
              <p:tags r:id="rId3"/>
            </p:custDataLst>
          </p:nvPr>
        </p:nvGraphicFramePr>
        <p:xfrm>
          <a:off x="3636010" y="260827"/>
          <a:ext cx="4940300" cy="1036955"/>
        </p:xfrm>
        <a:graphic>
          <a:graphicData uri="http://schemas.openxmlformats.org/presentationml/2006/ole">
            <mc:AlternateContent xmlns:mc="http://schemas.openxmlformats.org/markup-compatibility/2006">
              <mc:Choice xmlns:v="urn:schemas-microsoft-com:vml" Requires="v">
                <p:oleObj spid="_x0000_s3080" name="" r:id="rId4" imgW="2057400" imgH="431800" progId="Equation.3">
                  <p:embed/>
                </p:oleObj>
              </mc:Choice>
              <mc:Fallback>
                <p:oleObj name="" r:id="rId4" imgW="2057400" imgH="431800" progId="Equation.3">
                  <p:embed/>
                  <p:pic>
                    <p:nvPicPr>
                      <p:cNvPr id="0" name="图片 3079"/>
                      <p:cNvPicPr/>
                      <p:nvPr/>
                    </p:nvPicPr>
                    <p:blipFill>
                      <a:blip r:embed="rId5"/>
                      <a:stretch>
                        <a:fillRect/>
                      </a:stretch>
                    </p:blipFill>
                    <p:spPr>
                      <a:xfrm>
                        <a:off x="3636010" y="260827"/>
                        <a:ext cx="4940300" cy="1036955"/>
                      </a:xfrm>
                      <a:prstGeom prst="rect">
                        <a:avLst/>
                      </a:prstGeom>
                      <a:solidFill>
                        <a:schemeClr val="accent1"/>
                      </a:solidFill>
                      <a:ln w="38100">
                        <a:noFill/>
                        <a:miter/>
                      </a:ln>
                    </p:spPr>
                  </p:pic>
                </p:oleObj>
              </mc:Fallback>
            </mc:AlternateContent>
          </a:graphicData>
        </a:graphic>
      </p:graphicFrame>
    </p:spTree>
  </p:cSld>
  <p:clrMapOvr>
    <a:masterClrMapping/>
  </p:clrMapOvr>
  <p:transition>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6812915" y="2132965"/>
            <a:ext cx="2295525" cy="11468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289" name="文本框 11267"/>
          <p:cNvSpPr txBox="1"/>
          <p:nvPr/>
        </p:nvSpPr>
        <p:spPr>
          <a:xfrm>
            <a:off x="441325" y="727075"/>
            <a:ext cx="946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12290" name="对象 11268"/>
          <p:cNvGraphicFramePr/>
          <p:nvPr/>
        </p:nvGraphicFramePr>
        <p:xfrm>
          <a:off x="3200400" y="685800"/>
          <a:ext cx="2438400" cy="1049338"/>
        </p:xfrm>
        <a:graphic>
          <a:graphicData uri="http://schemas.openxmlformats.org/presentationml/2006/ole">
            <mc:AlternateContent xmlns:mc="http://schemas.openxmlformats.org/markup-compatibility/2006">
              <mc:Choice xmlns:v="urn:schemas-microsoft-com:vml" Requires="v">
                <p:oleObj spid="_x0000_s3093" name="" r:id="rId1" imgW="1002665" imgH="431800" progId="Equation.3">
                  <p:embed/>
                </p:oleObj>
              </mc:Choice>
              <mc:Fallback>
                <p:oleObj name="" r:id="rId1" imgW="1002665" imgH="431800" progId="Equation.3">
                  <p:embed/>
                  <p:pic>
                    <p:nvPicPr>
                      <p:cNvPr id="0" name="图片 3092"/>
                      <p:cNvPicPr/>
                      <p:nvPr/>
                    </p:nvPicPr>
                    <p:blipFill>
                      <a:blip r:embed="rId2"/>
                      <a:stretch>
                        <a:fillRect/>
                      </a:stretch>
                    </p:blipFill>
                    <p:spPr>
                      <a:xfrm>
                        <a:off x="3200400" y="685800"/>
                        <a:ext cx="2438400" cy="1049338"/>
                      </a:xfrm>
                      <a:prstGeom prst="rect">
                        <a:avLst/>
                      </a:prstGeom>
                      <a:noFill/>
                      <a:ln w="38100">
                        <a:noFill/>
                        <a:miter/>
                      </a:ln>
                    </p:spPr>
                  </p:pic>
                </p:oleObj>
              </mc:Fallback>
            </mc:AlternateContent>
          </a:graphicData>
        </a:graphic>
      </p:graphicFrame>
      <p:sp>
        <p:nvSpPr>
          <p:cNvPr id="12291" name="文本框 11269"/>
          <p:cNvSpPr txBox="1"/>
          <p:nvPr/>
        </p:nvSpPr>
        <p:spPr>
          <a:xfrm>
            <a:off x="417513" y="1793875"/>
            <a:ext cx="2706687"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对应的差分方程为</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graphicFrame>
        <p:nvGraphicFramePr>
          <p:cNvPr id="12292" name="对象 11270"/>
          <p:cNvGraphicFramePr/>
          <p:nvPr/>
        </p:nvGraphicFramePr>
        <p:xfrm>
          <a:off x="3048000" y="2133600"/>
          <a:ext cx="2971800" cy="2701925"/>
        </p:xfrm>
        <a:graphic>
          <a:graphicData uri="http://schemas.openxmlformats.org/presentationml/2006/ole">
            <mc:AlternateContent xmlns:mc="http://schemas.openxmlformats.org/markup-compatibility/2006">
              <mc:Choice xmlns:v="urn:schemas-microsoft-com:vml" Requires="v">
                <p:oleObj spid="_x0000_s3094" name="" r:id="rId3" imgW="1257300" imgH="1143000" progId="Equation.3">
                  <p:embed/>
                </p:oleObj>
              </mc:Choice>
              <mc:Fallback>
                <p:oleObj name="" r:id="rId3" imgW="1257300" imgH="1143000" progId="Equation.3">
                  <p:embed/>
                  <p:pic>
                    <p:nvPicPr>
                      <p:cNvPr id="0" name="图片 3093"/>
                      <p:cNvPicPr/>
                      <p:nvPr/>
                    </p:nvPicPr>
                    <p:blipFill>
                      <a:blip r:embed="rId4"/>
                      <a:stretch>
                        <a:fillRect/>
                      </a:stretch>
                    </p:blipFill>
                    <p:spPr>
                      <a:xfrm>
                        <a:off x="3048000" y="2133600"/>
                        <a:ext cx="2971800" cy="2701925"/>
                      </a:xfrm>
                      <a:prstGeom prst="rect">
                        <a:avLst/>
                      </a:prstGeom>
                      <a:noFill/>
                      <a:ln w="38100">
                        <a:noFill/>
                        <a:miter/>
                      </a:ln>
                    </p:spPr>
                  </p:pic>
                </p:oleObj>
              </mc:Fallback>
            </mc:AlternateContent>
          </a:graphicData>
        </a:graphic>
      </p:graphicFrame>
      <p:sp>
        <p:nvSpPr>
          <p:cNvPr id="12293" name="文本框 11271"/>
          <p:cNvSpPr txBox="1"/>
          <p:nvPr/>
        </p:nvSpPr>
        <p:spPr>
          <a:xfrm>
            <a:off x="533400" y="4800600"/>
            <a:ext cx="269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对应的差分方程为 </a:t>
            </a:r>
            <a:endParaRPr lang="zh-CN" altLang="en-US">
              <a:latin typeface="Times New Roman" panose="02020603050405020304" pitchFamily="18" charset="0"/>
              <a:ea typeface="宋体" panose="02010600030101010101" pitchFamily="2" charset="-122"/>
            </a:endParaRPr>
          </a:p>
        </p:txBody>
      </p:sp>
      <p:graphicFrame>
        <p:nvGraphicFramePr>
          <p:cNvPr id="12294" name="对象 11272"/>
          <p:cNvGraphicFramePr/>
          <p:nvPr/>
        </p:nvGraphicFramePr>
        <p:xfrm>
          <a:off x="2590800" y="5257800"/>
          <a:ext cx="4267200" cy="1082675"/>
        </p:xfrm>
        <a:graphic>
          <a:graphicData uri="http://schemas.openxmlformats.org/presentationml/2006/ole">
            <mc:AlternateContent xmlns:mc="http://schemas.openxmlformats.org/markup-compatibility/2006">
              <mc:Choice xmlns:v="urn:schemas-microsoft-com:vml" Requires="v">
                <p:oleObj spid="_x0000_s3095" name="" r:id="rId5" imgW="1701165" imgH="431800" progId="Equation.3">
                  <p:embed/>
                </p:oleObj>
              </mc:Choice>
              <mc:Fallback>
                <p:oleObj name="" r:id="rId5" imgW="1701165" imgH="431800" progId="Equation.3">
                  <p:embed/>
                  <p:pic>
                    <p:nvPicPr>
                      <p:cNvPr id="0" name="图片 3094"/>
                      <p:cNvPicPr/>
                      <p:nvPr/>
                    </p:nvPicPr>
                    <p:blipFill>
                      <a:blip r:embed="rId6"/>
                      <a:stretch>
                        <a:fillRect/>
                      </a:stretch>
                    </p:blipFill>
                    <p:spPr>
                      <a:xfrm>
                        <a:off x="2590800" y="5257800"/>
                        <a:ext cx="4267200" cy="1082675"/>
                      </a:xfrm>
                      <a:prstGeom prst="rect">
                        <a:avLst/>
                      </a:prstGeom>
                      <a:noFill/>
                      <a:ln w="38100">
                        <a:noFill/>
                        <a:miter/>
                      </a:ln>
                    </p:spPr>
                  </p:pic>
                </p:oleObj>
              </mc:Fallback>
            </mc:AlternateContent>
          </a:graphicData>
        </a:graphic>
      </p:graphicFrame>
      <p:sp>
        <p:nvSpPr>
          <p:cNvPr id="2" name="椭圆 1"/>
          <p:cNvSpPr/>
          <p:nvPr/>
        </p:nvSpPr>
        <p:spPr>
          <a:xfrm>
            <a:off x="4140200" y="4005263"/>
            <a:ext cx="431800" cy="576263"/>
          </a:xfrm>
          <a:prstGeom prst="ellipse">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graphicFrame>
        <p:nvGraphicFramePr>
          <p:cNvPr id="11266" name="对象 10244"/>
          <p:cNvGraphicFramePr/>
          <p:nvPr>
            <p:custDataLst>
              <p:tags r:id="rId7"/>
            </p:custDataLst>
          </p:nvPr>
        </p:nvGraphicFramePr>
        <p:xfrm>
          <a:off x="5909628" y="-99535"/>
          <a:ext cx="3234055" cy="3331845"/>
        </p:xfrm>
        <a:graphic>
          <a:graphicData uri="http://schemas.openxmlformats.org/presentationml/2006/ole">
            <mc:AlternateContent xmlns:mc="http://schemas.openxmlformats.org/markup-compatibility/2006">
              <mc:Choice xmlns:v="urn:schemas-microsoft-com:vml" Requires="v">
                <p:oleObj spid="_x0000_s3081" name="" r:id="rId8" imgW="1257300" imgH="1295400" progId="Equation.3">
                  <p:embed/>
                </p:oleObj>
              </mc:Choice>
              <mc:Fallback>
                <p:oleObj name="" r:id="rId8" imgW="1257300" imgH="1295400" progId="Equation.3">
                  <p:embed/>
                  <p:pic>
                    <p:nvPicPr>
                      <p:cNvPr id="0" name="图片 3080"/>
                      <p:cNvPicPr/>
                      <p:nvPr/>
                    </p:nvPicPr>
                    <p:blipFill>
                      <a:blip r:embed="rId9"/>
                      <a:stretch>
                        <a:fillRect/>
                      </a:stretch>
                    </p:blipFill>
                    <p:spPr>
                      <a:xfrm>
                        <a:off x="5909628" y="-99535"/>
                        <a:ext cx="3234055" cy="3331845"/>
                      </a:xfrm>
                      <a:prstGeom prst="rect">
                        <a:avLst/>
                      </a:prstGeom>
                      <a:noFill/>
                      <a:ln w="38100">
                        <a:noFill/>
                        <a:miter/>
                      </a:ln>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文本框 12291"/>
          <p:cNvSpPr txBox="1"/>
          <p:nvPr/>
        </p:nvSpPr>
        <p:spPr>
          <a:xfrm>
            <a:off x="228600" y="533400"/>
            <a:ext cx="8686800" cy="1103313"/>
          </a:xfrm>
          <a:prstGeom prst="rect">
            <a:avLst/>
          </a:prstGeom>
          <a:noFill/>
          <a:ln w="9525">
            <a:noFill/>
          </a:ln>
        </p:spPr>
        <p:txBody>
          <a:bodyPr anchor="t">
            <a:spAutoFit/>
          </a:bodyPr>
          <a:p>
            <a:pPr algn="just">
              <a:lnSpc>
                <a:spcPct val="137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假设所讨论的</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数字滤波器是线性时不变系统，显然交换</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的级联次序不会影响系统的传输效果，即 </a:t>
            </a:r>
            <a:endParaRPr lang="zh-CN" altLang="en-US">
              <a:latin typeface="Times New Roman" panose="02020603050405020304" pitchFamily="18" charset="0"/>
              <a:ea typeface="宋体" panose="02010600030101010101" pitchFamily="2" charset="-122"/>
            </a:endParaRPr>
          </a:p>
        </p:txBody>
      </p:sp>
      <p:graphicFrame>
        <p:nvGraphicFramePr>
          <p:cNvPr id="13314" name="对象 12292"/>
          <p:cNvGraphicFramePr/>
          <p:nvPr/>
        </p:nvGraphicFramePr>
        <p:xfrm>
          <a:off x="2209800" y="1676400"/>
          <a:ext cx="5029200" cy="511175"/>
        </p:xfrm>
        <a:graphic>
          <a:graphicData uri="http://schemas.openxmlformats.org/presentationml/2006/ole">
            <mc:AlternateContent xmlns:mc="http://schemas.openxmlformats.org/markup-compatibility/2006">
              <mc:Choice xmlns:v="urn:schemas-microsoft-com:vml" Requires="v">
                <p:oleObj spid="_x0000_s3096" name="" r:id="rId1" imgW="2118360" imgH="215900" progId="Equation.3">
                  <p:embed/>
                </p:oleObj>
              </mc:Choice>
              <mc:Fallback>
                <p:oleObj name="" r:id="rId1" imgW="2118360" imgH="215900" progId="Equation.3">
                  <p:embed/>
                  <p:pic>
                    <p:nvPicPr>
                      <p:cNvPr id="0" name="图片 3095"/>
                      <p:cNvPicPr/>
                      <p:nvPr/>
                    </p:nvPicPr>
                    <p:blipFill>
                      <a:blip r:embed="rId2"/>
                      <a:stretch>
                        <a:fillRect/>
                      </a:stretch>
                    </p:blipFill>
                    <p:spPr>
                      <a:xfrm>
                        <a:off x="2209800" y="1676400"/>
                        <a:ext cx="5029200" cy="511175"/>
                      </a:xfrm>
                      <a:prstGeom prst="rect">
                        <a:avLst/>
                      </a:prstGeom>
                      <a:noFill/>
                      <a:ln w="38100">
                        <a:noFill/>
                        <a:miter/>
                      </a:ln>
                    </p:spPr>
                  </p:pic>
                </p:oleObj>
              </mc:Fallback>
            </mc:AlternateContent>
          </a:graphicData>
        </a:graphic>
      </p:graphicFrame>
      <p:sp>
        <p:nvSpPr>
          <p:cNvPr id="13315" name="文本框 12293"/>
          <p:cNvSpPr txBox="1"/>
          <p:nvPr/>
        </p:nvSpPr>
        <p:spPr>
          <a:xfrm>
            <a:off x="228600" y="2209800"/>
            <a:ext cx="8763000" cy="180340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若系统函数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的分子阶数和分母阶数相等，即</a:t>
            </a:r>
            <a:r>
              <a:rPr lang="en-US" altLang="zh-CN" i="1">
                <a:latin typeface="Times New Roman" panose="02020603050405020304" pitchFamily="18" charset="0"/>
                <a:ea typeface="宋体" panose="02010600030101010101" pitchFamily="2" charset="-122"/>
              </a:rPr>
              <a:t>M=N</a:t>
            </a:r>
            <a:r>
              <a:rPr lang="zh-CN" altLang="en-US" dirty="0">
                <a:latin typeface="Times New Roman" panose="02020603050405020304" pitchFamily="18" charset="0"/>
                <a:ea typeface="宋体" panose="02010600030101010101" pitchFamily="2" charset="-122"/>
              </a:rPr>
              <a:t>时，其结构如图</a:t>
            </a:r>
            <a:r>
              <a:rPr lang="en-US" altLang="zh-CN" dirty="0">
                <a:latin typeface="Times New Roman" panose="02020603050405020304" pitchFamily="18" charset="0"/>
                <a:ea typeface="宋体" panose="02010600030101010101" pitchFamily="2" charset="-122"/>
              </a:rPr>
              <a:t>4-3</a:t>
            </a:r>
            <a:r>
              <a:rPr lang="zh-CN" altLang="en-US" dirty="0">
                <a:latin typeface="Times New Roman" panose="02020603050405020304" pitchFamily="18" charset="0"/>
                <a:ea typeface="宋体" panose="02010600030101010101" pitchFamily="2" charset="-122"/>
              </a:rPr>
              <a:t>所示。 </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输入信号</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先经过反馈网络</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，得到中间输出变量 </a:t>
            </a:r>
            <a:endParaRPr lang="zh-CN" altLang="en-US">
              <a:latin typeface="Times New Roman" panose="02020603050405020304" pitchFamily="18" charset="0"/>
              <a:ea typeface="宋体" panose="02010600030101010101" pitchFamily="2" charset="-122"/>
            </a:endParaRPr>
          </a:p>
        </p:txBody>
      </p:sp>
      <p:graphicFrame>
        <p:nvGraphicFramePr>
          <p:cNvPr id="13316" name="对象 12294"/>
          <p:cNvGraphicFramePr/>
          <p:nvPr/>
        </p:nvGraphicFramePr>
        <p:xfrm>
          <a:off x="2667000" y="3962400"/>
          <a:ext cx="4267200" cy="1042988"/>
        </p:xfrm>
        <a:graphic>
          <a:graphicData uri="http://schemas.openxmlformats.org/presentationml/2006/ole">
            <mc:AlternateContent xmlns:mc="http://schemas.openxmlformats.org/markup-compatibility/2006">
              <mc:Choice xmlns:v="urn:schemas-microsoft-com:vml" Requires="v">
                <p:oleObj spid="_x0000_s3097" name="" r:id="rId3" imgW="1764665" imgH="431800" progId="Equation.3">
                  <p:embed/>
                </p:oleObj>
              </mc:Choice>
              <mc:Fallback>
                <p:oleObj name="" r:id="rId3" imgW="1764665" imgH="431800" progId="Equation.3">
                  <p:embed/>
                  <p:pic>
                    <p:nvPicPr>
                      <p:cNvPr id="0" name="图片 3096"/>
                      <p:cNvPicPr/>
                      <p:nvPr/>
                    </p:nvPicPr>
                    <p:blipFill>
                      <a:blip r:embed="rId4"/>
                      <a:stretch>
                        <a:fillRect/>
                      </a:stretch>
                    </p:blipFill>
                    <p:spPr>
                      <a:xfrm>
                        <a:off x="2667000" y="3962400"/>
                        <a:ext cx="4267200" cy="1042988"/>
                      </a:xfrm>
                      <a:prstGeom prst="rect">
                        <a:avLst/>
                      </a:prstGeom>
                      <a:noFill/>
                      <a:ln w="38100">
                        <a:noFill/>
                        <a:miter/>
                      </a:ln>
                    </p:spPr>
                  </p:pic>
                </p:oleObj>
              </mc:Fallback>
            </mc:AlternateContent>
          </a:graphicData>
        </a:graphic>
      </p:graphicFrame>
      <p:sp>
        <p:nvSpPr>
          <p:cNvPr id="13317" name="文本框 12295"/>
          <p:cNvSpPr txBox="1"/>
          <p:nvPr/>
        </p:nvSpPr>
        <p:spPr>
          <a:xfrm>
            <a:off x="365125" y="4953000"/>
            <a:ext cx="6864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然后，将</a:t>
            </a:r>
            <a:r>
              <a:rPr lang="en-US" altLang="zh-CN" i="1">
                <a:latin typeface="Times New Roman" panose="02020603050405020304" pitchFamily="18" charset="0"/>
                <a:ea typeface="宋体" panose="02010600030101010101" pitchFamily="2" charset="-122"/>
              </a:rPr>
              <a:t>y</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通过系统</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，得到系统的输出</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13318" name="对象 12296"/>
          <p:cNvGraphicFramePr/>
          <p:nvPr/>
        </p:nvGraphicFramePr>
        <p:xfrm>
          <a:off x="3325813" y="5410200"/>
          <a:ext cx="3100387" cy="1042988"/>
        </p:xfrm>
        <a:graphic>
          <a:graphicData uri="http://schemas.openxmlformats.org/presentationml/2006/ole">
            <mc:AlternateContent xmlns:mc="http://schemas.openxmlformats.org/markup-compatibility/2006">
              <mc:Choice xmlns:v="urn:schemas-microsoft-com:vml" Requires="v">
                <p:oleObj spid="_x0000_s3098" name="" r:id="rId5" imgW="1282065" imgH="431800" progId="Equation.3">
                  <p:embed/>
                </p:oleObj>
              </mc:Choice>
              <mc:Fallback>
                <p:oleObj name="" r:id="rId5" imgW="1282065" imgH="431800" progId="Equation.3">
                  <p:embed/>
                  <p:pic>
                    <p:nvPicPr>
                      <p:cNvPr id="0" name="图片 3097"/>
                      <p:cNvPicPr/>
                      <p:nvPr/>
                    </p:nvPicPr>
                    <p:blipFill>
                      <a:blip r:embed="rId6"/>
                      <a:stretch>
                        <a:fillRect/>
                      </a:stretch>
                    </p:blipFill>
                    <p:spPr>
                      <a:xfrm>
                        <a:off x="3325813" y="5410200"/>
                        <a:ext cx="3100387" cy="1042988"/>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文本框 13315"/>
          <p:cNvSpPr txBox="1"/>
          <p:nvPr/>
        </p:nvSpPr>
        <p:spPr>
          <a:xfrm>
            <a:off x="228600" y="762000"/>
            <a:ext cx="8763000" cy="4819650"/>
          </a:xfrm>
          <a:prstGeom prst="rect">
            <a:avLst/>
          </a:prstGeom>
          <a:noFill/>
          <a:ln w="9525">
            <a:noFill/>
          </a:ln>
        </p:spPr>
        <p:txBody>
          <a:bodyPr anchor="t">
            <a:spAutoFit/>
          </a:bodyPr>
          <a:p>
            <a:pPr algn="just">
              <a:lnSpc>
                <a:spcPct val="17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结构图</a:t>
            </a:r>
            <a:r>
              <a:rPr lang="en-US" altLang="zh-CN" dirty="0">
                <a:latin typeface="Times New Roman" panose="02020603050405020304" pitchFamily="18" charset="0"/>
                <a:ea typeface="宋体" panose="02010600030101010101" pitchFamily="2" charset="-122"/>
              </a:rPr>
              <a:t>4-3</a:t>
            </a:r>
            <a:r>
              <a:rPr lang="zh-CN" altLang="en-US" dirty="0">
                <a:latin typeface="Times New Roman" panose="02020603050405020304" pitchFamily="18" charset="0"/>
                <a:ea typeface="宋体" panose="02010600030101010101" pitchFamily="2" charset="-122"/>
              </a:rPr>
              <a:t>中有两条完全相同的对中间变量</a:t>
            </a:r>
            <a:r>
              <a:rPr lang="en-US" altLang="zh-CN" i="1">
                <a:latin typeface="Times New Roman" panose="02020603050405020304" pitchFamily="18" charset="0"/>
                <a:ea typeface="宋体" panose="02010600030101010101" pitchFamily="2" charset="-122"/>
              </a:rPr>
              <a:t>y</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进行延迟的延时链，我们</a:t>
            </a:r>
            <a:r>
              <a:rPr lang="zh-CN" altLang="en-US" dirty="0">
                <a:latin typeface="Times New Roman" panose="02020603050405020304" pitchFamily="18" charset="0"/>
                <a:ea typeface="宋体" panose="02010600030101010101" pitchFamily="2" charset="-122"/>
              </a:rPr>
              <a:t>可以合并这两条延时链，得到如图</a:t>
            </a:r>
            <a:r>
              <a:rPr lang="en-US" altLang="zh-CN" dirty="0">
                <a:latin typeface="Times New Roman" panose="02020603050405020304" pitchFamily="18" charset="0"/>
                <a:ea typeface="宋体" panose="02010600030101010101" pitchFamily="2" charset="-122"/>
              </a:rPr>
              <a:t>4-4</a:t>
            </a:r>
            <a:r>
              <a:rPr lang="zh-CN" altLang="en-US" dirty="0">
                <a:latin typeface="Times New Roman" panose="02020603050405020304" pitchFamily="18" charset="0"/>
                <a:ea typeface="宋体" panose="02010600030101010101" pitchFamily="2" charset="-122"/>
              </a:rPr>
              <a:t>所示的直接</a:t>
            </a:r>
            <a:r>
              <a:rPr lang="en-US" altLang="zh-CN" dirty="0">
                <a:latin typeface="Times New Roman" panose="02020603050405020304" pitchFamily="18" charset="0"/>
                <a:ea typeface="宋体" panose="02010600030101010101" pitchFamily="2" charset="-122"/>
              </a:rPr>
              <a:t>Ⅱ</a:t>
            </a:r>
            <a:r>
              <a:rPr lang="zh-CN" altLang="en-US" dirty="0">
                <a:latin typeface="Times New Roman" panose="02020603050405020304" pitchFamily="18" charset="0"/>
                <a:ea typeface="宋体" panose="02010600030101010101" pitchFamily="2" charset="-122"/>
              </a:rPr>
              <a:t>型结构（图中取</a:t>
            </a:r>
            <a:r>
              <a:rPr lang="en-US" altLang="zh-CN" i="1">
                <a:latin typeface="Times New Roman" panose="02020603050405020304" pitchFamily="18" charset="0"/>
                <a:ea typeface="宋体" panose="02010600030101010101" pitchFamily="2" charset="-122"/>
              </a:rPr>
              <a:t>M=N</a:t>
            </a:r>
            <a:r>
              <a:rPr lang="zh-CN" altLang="en-US">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algn="just">
              <a:lnSpc>
                <a:spcPct val="178000"/>
              </a:lnSpc>
              <a:spcBef>
                <a:spcPct val="50000"/>
              </a:spcBef>
            </a:pPr>
            <a:r>
              <a:rPr lang="zh-CN" altLang="en-US" dirty="0">
                <a:latin typeface="Times New Roman" panose="02020603050405020304" pitchFamily="18" charset="0"/>
                <a:ea typeface="宋体" panose="02010600030101010101" pitchFamily="2" charset="-122"/>
              </a:rPr>
              <a:t>         比较图</a:t>
            </a:r>
            <a:r>
              <a:rPr lang="en-US" altLang="zh-CN" dirty="0">
                <a:latin typeface="Times New Roman" panose="02020603050405020304" pitchFamily="18" charset="0"/>
                <a:ea typeface="宋体" panose="02010600030101010101" pitchFamily="2" charset="-122"/>
              </a:rPr>
              <a:t>4-2</a:t>
            </a:r>
            <a:r>
              <a:rPr lang="zh-CN" altLang="en-US" dirty="0">
                <a:latin typeface="Times New Roman" panose="02020603050405020304" pitchFamily="18" charset="0"/>
                <a:ea typeface="宋体" panose="02010600030101010101" pitchFamily="2" charset="-122"/>
              </a:rPr>
              <a:t>和图</a:t>
            </a:r>
            <a:r>
              <a:rPr lang="en-US" altLang="zh-CN" dirty="0">
                <a:latin typeface="Times New Roman" panose="02020603050405020304" pitchFamily="18" charset="0"/>
                <a:ea typeface="宋体" panose="02010600030101010101" pitchFamily="2" charset="-122"/>
              </a:rPr>
              <a:t>4-4</a:t>
            </a:r>
            <a:r>
              <a:rPr lang="zh-CN" altLang="en-US" dirty="0">
                <a:latin typeface="Times New Roman" panose="02020603050405020304" pitchFamily="18" charset="0"/>
                <a:ea typeface="宋体" panose="02010600030101010101" pitchFamily="2" charset="-122"/>
              </a:rPr>
              <a:t>可知</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直接</a:t>
            </a:r>
            <a:r>
              <a:rPr lang="en-US" altLang="zh-CN" dirty="0">
                <a:latin typeface="Times New Roman" panose="02020603050405020304" pitchFamily="18" charset="0"/>
                <a:ea typeface="宋体" panose="02010600030101010101" pitchFamily="2" charset="-122"/>
              </a:rPr>
              <a:t>Ⅱ</a:t>
            </a:r>
            <a:r>
              <a:rPr lang="zh-CN" altLang="en-US" dirty="0">
                <a:latin typeface="Times New Roman" panose="02020603050405020304" pitchFamily="18" charset="0"/>
                <a:ea typeface="宋体" panose="02010600030101010101" pitchFamily="2" charset="-122"/>
              </a:rPr>
              <a:t>型比直接</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型结构延时单元少，用硬件实现可以节省寄存器，比直接</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型经济；若用软件实现则可节省存储单元。但对于高阶系统直接型结构都存在</a:t>
            </a:r>
            <a:r>
              <a:rPr lang="zh-CN" altLang="en-US" dirty="0">
                <a:latin typeface="Times New Roman" panose="02020603050405020304" pitchFamily="18" charset="0"/>
                <a:ea typeface="宋体" panose="02010600030101010101" pitchFamily="2" charset="-122"/>
              </a:rPr>
              <a:t>调整零、 极点困难，对系数量化效应敏感度高等缺点。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框 14339"/>
          <p:cNvSpPr txBox="1"/>
          <p:nvPr/>
        </p:nvSpPr>
        <p:spPr>
          <a:xfrm>
            <a:off x="2771775" y="6021070"/>
            <a:ext cx="3867150" cy="457200"/>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4-3 </a:t>
            </a:r>
            <a:r>
              <a:rPr lang="zh-CN" altLang="en-US" dirty="0">
                <a:latin typeface="Times New Roman" panose="02020603050405020304" pitchFamily="18" charset="0"/>
                <a:ea typeface="宋体" panose="02010600030101010101" pitchFamily="2" charset="-122"/>
              </a:rPr>
              <a:t>直接</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型的变形结构 </a:t>
            </a:r>
            <a:endParaRPr lang="zh-CN" altLang="en-US">
              <a:latin typeface="Times New Roman" panose="02020603050405020304" pitchFamily="18" charset="0"/>
              <a:ea typeface="宋体" panose="02010600030101010101" pitchFamily="2" charset="-122"/>
            </a:endParaRPr>
          </a:p>
        </p:txBody>
      </p:sp>
      <p:sp>
        <p:nvSpPr>
          <p:cNvPr id="2" name="文本框 1"/>
          <p:cNvSpPr txBox="1"/>
          <p:nvPr/>
        </p:nvSpPr>
        <p:spPr>
          <a:xfrm>
            <a:off x="7612380" y="836295"/>
            <a:ext cx="802005" cy="460375"/>
          </a:xfrm>
          <a:prstGeom prst="rect">
            <a:avLst/>
          </a:prstGeom>
          <a:solidFill>
            <a:schemeClr val="accent1"/>
          </a:solidFill>
        </p:spPr>
        <p:txBody>
          <a:bodyPr wrap="square" rtlCol="0" anchor="t">
            <a:spAutoFit/>
          </a:bodyPr>
          <a:p>
            <a:r>
              <a:rPr lang="en-US" dirty="0">
                <a:sym typeface="+mn-ea"/>
              </a:rPr>
              <a:t>Z</a:t>
            </a:r>
            <a:r>
              <a:rPr lang="zh-CN" altLang="en-US" dirty="0">
                <a:sym typeface="+mn-ea"/>
              </a:rPr>
              <a:t>域</a:t>
            </a:r>
            <a:endParaRPr lang="zh-CN" altLang="en-US" dirty="0">
              <a:sym typeface="+mn-ea"/>
            </a:endParaRPr>
          </a:p>
        </p:txBody>
      </p:sp>
      <p:graphicFrame>
        <p:nvGraphicFramePr>
          <p:cNvPr id="3" name="对象 2"/>
          <p:cNvGraphicFramePr/>
          <p:nvPr/>
        </p:nvGraphicFramePr>
        <p:xfrm>
          <a:off x="2051685" y="2204720"/>
          <a:ext cx="5655945" cy="3621405"/>
        </p:xfrm>
        <a:graphic>
          <a:graphicData uri="http://schemas.openxmlformats.org/presentationml/2006/ole">
            <mc:AlternateContent xmlns:mc="http://schemas.openxmlformats.org/markup-compatibility/2006">
              <mc:Choice xmlns:v="urn:schemas-microsoft-com:vml" Requires="v">
                <p:oleObj spid="_x0000_s4" name="" r:id="rId1" imgW="4505325" imgH="2752725" progId="Paint.Picture">
                  <p:embed/>
                </p:oleObj>
              </mc:Choice>
              <mc:Fallback>
                <p:oleObj name="" r:id="rId1" imgW="4505325" imgH="2752725" progId="Paint.Picture">
                  <p:embed/>
                  <p:pic>
                    <p:nvPicPr>
                      <p:cNvPr id="0" name="图片 3"/>
                      <p:cNvPicPr/>
                      <p:nvPr/>
                    </p:nvPicPr>
                    <p:blipFill>
                      <a:blip r:embed="rId2"/>
                      <a:stretch>
                        <a:fillRect/>
                      </a:stretch>
                    </p:blipFill>
                    <p:spPr>
                      <a:xfrm>
                        <a:off x="2051685" y="2204720"/>
                        <a:ext cx="5655945" cy="3621405"/>
                      </a:xfrm>
                      <a:prstGeom prst="rect">
                        <a:avLst/>
                      </a:prstGeom>
                      <a:solidFill>
                        <a:schemeClr val="accent1"/>
                      </a:solidFill>
                    </p:spPr>
                  </p:pic>
                </p:oleObj>
              </mc:Fallback>
            </mc:AlternateContent>
          </a:graphicData>
        </a:graphic>
      </p:graphicFrame>
    </p:spTree>
    <p:controls>
      <mc:AlternateContent xmlns:mc="http://schemas.openxmlformats.org/markup-compatibility/2006">
        <mc:Choice xmlns:v="urn:schemas-microsoft-com:vml" Requires="v">
          <p:control spid="1027" name="ShockwaveFlash2" r:id="rId3" imgW="7806690" imgH="5182870"/>
        </mc:Choice>
        <mc:Fallback>
          <p:control name="ShockwaveFlash2" r:id="rId3" imgW="7806690" imgH="5182870">
            <p:pic>
              <p:nvPicPr>
                <p:cNvPr id="0" name="ShockwaveFlash2"/>
                <p:cNvPicPr/>
                <p:nvPr/>
              </p:nvPicPr>
              <p:blipFill>
                <a:blip r:embed="rId4"/>
                <a:stretch>
                  <a:fillRect/>
                </a:stretch>
              </p:blipFill>
              <p:spPr>
                <a:xfrm>
                  <a:off x="828040" y="620395"/>
                  <a:ext cx="7806690" cy="5182870"/>
                </a:xfrm>
                <a:prstGeom prst="rect">
                  <a:avLst/>
                </a:prstGeom>
                <a:noFill/>
                <a:ln w="9525">
                  <a:noFill/>
                </a:ln>
              </p:spPr>
            </p:pic>
          </p:control>
        </mc:Fallback>
      </mc:AlternateContent>
    </p:controls>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文本框 15363"/>
          <p:cNvSpPr txBox="1"/>
          <p:nvPr/>
        </p:nvSpPr>
        <p:spPr>
          <a:xfrm>
            <a:off x="1907540" y="5445125"/>
            <a:ext cx="2952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4-4 </a:t>
            </a:r>
            <a:r>
              <a:rPr lang="zh-CN" altLang="en-US" dirty="0">
                <a:latin typeface="Times New Roman" panose="02020603050405020304" pitchFamily="18" charset="0"/>
                <a:ea typeface="宋体" panose="02010600030101010101" pitchFamily="2" charset="-122"/>
              </a:rPr>
              <a:t>直接</a:t>
            </a:r>
            <a:r>
              <a:rPr lang="en-US" altLang="zh-CN" dirty="0">
                <a:latin typeface="Times New Roman" panose="02020603050405020304" pitchFamily="18" charset="0"/>
                <a:ea typeface="宋体" panose="02010600030101010101" pitchFamily="2" charset="-122"/>
              </a:rPr>
              <a:t>Ⅱ</a:t>
            </a:r>
            <a:r>
              <a:rPr lang="zh-CN" altLang="en-US" dirty="0">
                <a:latin typeface="Times New Roman" panose="02020603050405020304" pitchFamily="18" charset="0"/>
                <a:ea typeface="宋体" panose="02010600030101010101" pitchFamily="2" charset="-122"/>
              </a:rPr>
              <a:t>型结构 </a:t>
            </a:r>
            <a:endParaRPr lang="zh-CN" altLang="en-US">
              <a:latin typeface="Times New Roman" panose="02020603050405020304" pitchFamily="18" charset="0"/>
              <a:ea typeface="宋体" panose="02010600030101010101" pitchFamily="2" charset="-122"/>
            </a:endParaRPr>
          </a:p>
        </p:txBody>
      </p:sp>
      <p:pic>
        <p:nvPicPr>
          <p:cNvPr id="16386" name="图片 15366" descr="4-4"/>
          <p:cNvPicPr>
            <a:picLocks noChangeAspect="1"/>
          </p:cNvPicPr>
          <p:nvPr/>
        </p:nvPicPr>
        <p:blipFill>
          <a:blip r:embed="rId1"/>
          <a:stretch>
            <a:fillRect/>
          </a:stretch>
        </p:blipFill>
        <p:spPr>
          <a:xfrm>
            <a:off x="683895" y="1628775"/>
            <a:ext cx="5715000" cy="2990850"/>
          </a:xfrm>
          <a:prstGeom prst="rect">
            <a:avLst/>
          </a:prstGeom>
          <a:noFill/>
          <a:ln w="9525">
            <a:noFill/>
          </a:ln>
        </p:spPr>
      </p:pic>
      <p:graphicFrame>
        <p:nvGraphicFramePr>
          <p:cNvPr id="11266" name="对象 10244"/>
          <p:cNvGraphicFramePr/>
          <p:nvPr/>
        </p:nvGraphicFramePr>
        <p:xfrm>
          <a:off x="6073458" y="2463959"/>
          <a:ext cx="3070225" cy="2155825"/>
        </p:xfrm>
        <a:graphic>
          <a:graphicData uri="http://schemas.openxmlformats.org/presentationml/2006/ole">
            <mc:AlternateContent xmlns:mc="http://schemas.openxmlformats.org/markup-compatibility/2006">
              <mc:Choice xmlns:v="urn:schemas-microsoft-com:vml" Requires="v">
                <p:oleObj spid="_x0000_s3081" name="" r:id="rId2" imgW="1193800" imgH="838200" progId="Equation.3">
                  <p:embed/>
                </p:oleObj>
              </mc:Choice>
              <mc:Fallback>
                <p:oleObj name="" r:id="rId2" imgW="1193800" imgH="838200" progId="Equation.3">
                  <p:embed/>
                  <p:pic>
                    <p:nvPicPr>
                      <p:cNvPr id="0" name="图片 3080"/>
                      <p:cNvPicPr/>
                      <p:nvPr/>
                    </p:nvPicPr>
                    <p:blipFill>
                      <a:blip r:embed="rId3"/>
                      <a:stretch>
                        <a:fillRect/>
                      </a:stretch>
                    </p:blipFill>
                    <p:spPr>
                      <a:xfrm>
                        <a:off x="6073458" y="2463959"/>
                        <a:ext cx="3070225" cy="2155825"/>
                      </a:xfrm>
                      <a:prstGeom prst="rect">
                        <a:avLst/>
                      </a:prstGeom>
                      <a:solidFill>
                        <a:schemeClr val="accent1"/>
                      </a:solidFill>
                      <a:ln w="38100">
                        <a:noFill/>
                        <a:miter/>
                      </a:ln>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文本框 416771"/>
          <p:cNvSpPr txBox="1"/>
          <p:nvPr/>
        </p:nvSpPr>
        <p:spPr>
          <a:xfrm>
            <a:off x="735013" y="712788"/>
            <a:ext cx="7504112"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［例</a:t>
            </a:r>
            <a:r>
              <a:rPr lang="en-US" altLang="zh-CN" b="1" dirty="0">
                <a:latin typeface="Times New Roman" panose="02020603050405020304" pitchFamily="18" charset="0"/>
                <a:ea typeface="宋体" panose="02010600030101010101" pitchFamily="2" charset="-122"/>
              </a:rPr>
              <a:t>4</a:t>
            </a:r>
            <a:r>
              <a:rPr lang="zh-CN" altLang="en-US" b="1" dirty="0">
                <a:latin typeface="Times New Roman" panose="02020603050405020304" pitchFamily="18" charset="0"/>
                <a:ea typeface="宋体" panose="02010600030101010101" pitchFamily="2" charset="-122"/>
              </a:rPr>
              <a:t>－</a:t>
            </a:r>
            <a:r>
              <a:rPr lang="en-US" altLang="zh-CN" b="1">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］用直接</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型和直接</a:t>
            </a:r>
            <a:r>
              <a:rPr lang="en-US" altLang="zh-CN" dirty="0">
                <a:latin typeface="Times New Roman" panose="02020603050405020304" pitchFamily="18" charset="0"/>
                <a:ea typeface="宋体" panose="02010600030101010101" pitchFamily="2" charset="-122"/>
              </a:rPr>
              <a:t>Ⅱ</a:t>
            </a:r>
            <a:r>
              <a:rPr lang="zh-CN" altLang="en-US" dirty="0">
                <a:latin typeface="Times New Roman" panose="02020603050405020304" pitchFamily="18" charset="0"/>
                <a:ea typeface="宋体" panose="02010600030101010101" pitchFamily="2" charset="-122"/>
              </a:rPr>
              <a:t>型结构实现系统函数：</a:t>
            </a:r>
            <a:endParaRPr lang="zh-CN" altLang="en-US" dirty="0">
              <a:latin typeface="Times New Roman" panose="02020603050405020304" pitchFamily="18" charset="0"/>
              <a:ea typeface="宋体" panose="02010600030101010101" pitchFamily="2" charset="-122"/>
            </a:endParaRPr>
          </a:p>
        </p:txBody>
      </p:sp>
      <p:graphicFrame>
        <p:nvGraphicFramePr>
          <p:cNvPr id="17410" name="对象 416772"/>
          <p:cNvGraphicFramePr/>
          <p:nvPr/>
        </p:nvGraphicFramePr>
        <p:xfrm>
          <a:off x="2339975" y="1268413"/>
          <a:ext cx="4464050" cy="1109662"/>
        </p:xfrm>
        <a:graphic>
          <a:graphicData uri="http://schemas.openxmlformats.org/presentationml/2006/ole">
            <mc:AlternateContent xmlns:mc="http://schemas.openxmlformats.org/markup-compatibility/2006">
              <mc:Choice xmlns:v="urn:schemas-microsoft-com:vml" Requires="v">
                <p:oleObj spid="_x0000_s3099" name="" r:id="rId1" imgW="1689100" imgH="419100" progId="Equation.DSMT4">
                  <p:embed/>
                </p:oleObj>
              </mc:Choice>
              <mc:Fallback>
                <p:oleObj name="" r:id="rId1" imgW="1689100" imgH="419100" progId="Equation.DSMT4">
                  <p:embed/>
                  <p:pic>
                    <p:nvPicPr>
                      <p:cNvPr id="0" name="图片 3098"/>
                      <p:cNvPicPr/>
                      <p:nvPr/>
                    </p:nvPicPr>
                    <p:blipFill>
                      <a:blip r:embed="rId2"/>
                      <a:stretch>
                        <a:fillRect/>
                      </a:stretch>
                    </p:blipFill>
                    <p:spPr>
                      <a:xfrm>
                        <a:off x="2339975" y="1268413"/>
                        <a:ext cx="4464050" cy="1109662"/>
                      </a:xfrm>
                      <a:prstGeom prst="rect">
                        <a:avLst/>
                      </a:prstGeom>
                      <a:solidFill>
                        <a:schemeClr val="accent1"/>
                      </a:solidFill>
                      <a:ln w="38100">
                        <a:noFill/>
                        <a:miter/>
                      </a:ln>
                    </p:spPr>
                  </p:pic>
                </p:oleObj>
              </mc:Fallback>
            </mc:AlternateContent>
          </a:graphicData>
        </a:graphic>
      </p:graphicFrame>
      <p:sp>
        <p:nvSpPr>
          <p:cNvPr id="17411" name="文本框 416774"/>
          <p:cNvSpPr txBox="1"/>
          <p:nvPr/>
        </p:nvSpPr>
        <p:spPr>
          <a:xfrm>
            <a:off x="376238" y="2611438"/>
            <a:ext cx="4833620" cy="460375"/>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分母首系数归一化后，可得： </a:t>
            </a:r>
            <a:endParaRPr lang="zh-CN" altLang="en-US" dirty="0">
              <a:latin typeface="Times New Roman" panose="02020603050405020304" pitchFamily="18" charset="0"/>
              <a:ea typeface="宋体" panose="02010600030101010101" pitchFamily="2" charset="-122"/>
            </a:endParaRPr>
          </a:p>
        </p:txBody>
      </p:sp>
      <p:graphicFrame>
        <p:nvGraphicFramePr>
          <p:cNvPr id="17412" name="对象 416775"/>
          <p:cNvGraphicFramePr/>
          <p:nvPr/>
        </p:nvGraphicFramePr>
        <p:xfrm>
          <a:off x="611505" y="3302318"/>
          <a:ext cx="8064500" cy="1128712"/>
        </p:xfrm>
        <a:graphic>
          <a:graphicData uri="http://schemas.openxmlformats.org/presentationml/2006/ole">
            <mc:AlternateContent xmlns:mc="http://schemas.openxmlformats.org/markup-compatibility/2006">
              <mc:Choice xmlns:v="urn:schemas-microsoft-com:vml" Requires="v">
                <p:oleObj spid="_x0000_s3100" name="" r:id="rId3" imgW="3263900" imgH="457200" progId="Equation.DSMT4">
                  <p:embed/>
                </p:oleObj>
              </mc:Choice>
              <mc:Fallback>
                <p:oleObj name="" r:id="rId3" imgW="3263900" imgH="457200" progId="Equation.DSMT4">
                  <p:embed/>
                  <p:pic>
                    <p:nvPicPr>
                      <p:cNvPr id="0" name="图片 3099"/>
                      <p:cNvPicPr/>
                      <p:nvPr/>
                    </p:nvPicPr>
                    <p:blipFill>
                      <a:blip r:embed="rId4"/>
                      <a:stretch>
                        <a:fillRect/>
                      </a:stretch>
                    </p:blipFill>
                    <p:spPr>
                      <a:xfrm>
                        <a:off x="611505" y="3302318"/>
                        <a:ext cx="8064500" cy="1128712"/>
                      </a:xfrm>
                      <a:prstGeom prst="rect">
                        <a:avLst/>
                      </a:prstGeom>
                      <a:solidFill>
                        <a:schemeClr val="accent1"/>
                      </a:solidFill>
                      <a:ln w="38100">
                        <a:noFill/>
                        <a:miter/>
                      </a:ln>
                    </p:spPr>
                  </p:pic>
                </p:oleObj>
              </mc:Fallback>
            </mc:AlternateContent>
          </a:graphicData>
        </a:graphic>
      </p:graphicFrame>
      <p:sp>
        <p:nvSpPr>
          <p:cNvPr id="17413" name="文本框 416777"/>
          <p:cNvSpPr txBox="1"/>
          <p:nvPr/>
        </p:nvSpPr>
        <p:spPr>
          <a:xfrm>
            <a:off x="376238" y="4745038"/>
            <a:ext cx="3943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直接</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型结构如图</a:t>
            </a:r>
            <a:r>
              <a:rPr lang="en-US" altLang="zh-CN" dirty="0">
                <a:latin typeface="Times New Roman" panose="02020603050405020304" pitchFamily="18" charset="0"/>
                <a:ea typeface="宋体" panose="02010600030101010101" pitchFamily="2" charset="-122"/>
              </a:rPr>
              <a:t>4-5</a:t>
            </a:r>
            <a:r>
              <a:rPr lang="zh-CN" altLang="en-US" dirty="0">
                <a:latin typeface="Times New Roman" panose="02020603050405020304" pitchFamily="18" charset="0"/>
                <a:ea typeface="宋体" panose="02010600030101010101" pitchFamily="2" charset="-122"/>
              </a:rPr>
              <a:t>所示。</a:t>
            </a:r>
            <a:endParaRPr lang="zh-CN" altLang="en-US" dirty="0">
              <a:latin typeface="Times New Roman" panose="02020603050405020304" pitchFamily="18" charset="0"/>
              <a:ea typeface="宋体" panose="02010600030101010101" pitchFamily="2" charset="-122"/>
            </a:endParaRPr>
          </a:p>
        </p:txBody>
      </p:sp>
      <p:sp>
        <p:nvSpPr>
          <p:cNvPr id="2" name="十字星 1"/>
          <p:cNvSpPr/>
          <p:nvPr/>
        </p:nvSpPr>
        <p:spPr>
          <a:xfrm>
            <a:off x="376238" y="522288"/>
            <a:ext cx="576263" cy="647700"/>
          </a:xfrm>
          <a:prstGeom prst="star4">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椭圆 2"/>
          <p:cNvSpPr/>
          <p:nvPr/>
        </p:nvSpPr>
        <p:spPr>
          <a:xfrm flipH="1">
            <a:off x="1054100" y="2552700"/>
            <a:ext cx="2917825" cy="576263"/>
          </a:xfrm>
          <a:prstGeom prst="ellipse">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100000">
                                          <p:val>
                                            <p:strVal val="#ppt_x"/>
                                          </p:val>
                                        </p:tav>
                                      </p:tavLst>
                                    </p:anim>
                                    <p:anim calcmode="lin" valueType="num">
                                      <p:cBhvr>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1"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框 417795"/>
          <p:cNvSpPr txBox="1"/>
          <p:nvPr/>
        </p:nvSpPr>
        <p:spPr>
          <a:xfrm>
            <a:off x="2268538" y="5589588"/>
            <a:ext cx="5137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4-5   </a:t>
            </a: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4-1 IIR</a:t>
            </a:r>
            <a:r>
              <a:rPr lang="zh-CN" altLang="en-US" dirty="0">
                <a:latin typeface="Times New Roman" panose="02020603050405020304" pitchFamily="18" charset="0"/>
                <a:ea typeface="宋体" panose="02010600030101010101" pitchFamily="2" charset="-122"/>
              </a:rPr>
              <a:t>系统的直接</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型结构 </a:t>
            </a:r>
            <a:endParaRPr lang="zh-CN" altLang="en-US" dirty="0">
              <a:latin typeface="Times New Roman" panose="02020603050405020304" pitchFamily="18" charset="0"/>
              <a:ea typeface="宋体" panose="02010600030101010101" pitchFamily="2" charset="-122"/>
            </a:endParaRPr>
          </a:p>
        </p:txBody>
      </p:sp>
      <p:pic>
        <p:nvPicPr>
          <p:cNvPr id="18434" name="图片 417797" descr="4-5"/>
          <p:cNvPicPr>
            <a:picLocks noChangeAspect="1"/>
          </p:cNvPicPr>
          <p:nvPr/>
        </p:nvPicPr>
        <p:blipFill>
          <a:blip r:embed="rId1"/>
          <a:stretch>
            <a:fillRect/>
          </a:stretch>
        </p:blipFill>
        <p:spPr>
          <a:xfrm>
            <a:off x="1714500" y="2266950"/>
            <a:ext cx="5715000" cy="2324100"/>
          </a:xfrm>
          <a:prstGeom prst="rect">
            <a:avLst/>
          </a:prstGeom>
          <a:noFill/>
          <a:ln w="9525">
            <a:noFill/>
          </a:ln>
        </p:spPr>
      </p:pic>
      <p:graphicFrame>
        <p:nvGraphicFramePr>
          <p:cNvPr id="2" name="对象 1"/>
          <p:cNvGraphicFramePr/>
          <p:nvPr/>
        </p:nvGraphicFramePr>
        <p:xfrm>
          <a:off x="2961005" y="893445"/>
          <a:ext cx="3146425" cy="814705"/>
        </p:xfrm>
        <a:graphic>
          <a:graphicData uri="http://schemas.openxmlformats.org/presentationml/2006/ole">
            <mc:AlternateContent xmlns:mc="http://schemas.openxmlformats.org/markup-compatibility/2006">
              <mc:Choice xmlns:v="urn:schemas-microsoft-com:vml" Requires="v">
                <p:oleObj spid="_x0000_s3" name="" r:id="rId2" imgW="4352925" imgH="990600" progId="Paint.Picture">
                  <p:embed/>
                </p:oleObj>
              </mc:Choice>
              <mc:Fallback>
                <p:oleObj name="" r:id="rId2" imgW="4352925" imgH="990600" progId="Paint.Picture">
                  <p:embed/>
                  <p:pic>
                    <p:nvPicPr>
                      <p:cNvPr id="0" name="图片 2"/>
                      <p:cNvPicPr/>
                      <p:nvPr/>
                    </p:nvPicPr>
                    <p:blipFill>
                      <a:blip r:embed="rId3"/>
                      <a:stretch>
                        <a:fillRect/>
                      </a:stretch>
                    </p:blipFill>
                    <p:spPr>
                      <a:xfrm>
                        <a:off x="2961005" y="893445"/>
                        <a:ext cx="3146425" cy="814705"/>
                      </a:xfrm>
                      <a:prstGeom prst="rect">
                        <a:avLst/>
                      </a:prstGeom>
                    </p:spPr>
                  </p:pic>
                </p:oleObj>
              </mc:Fallback>
            </mc:AlternateContent>
          </a:graphicData>
        </a:graphic>
      </p:graphicFrame>
    </p:spTree>
  </p:cSld>
  <p:clrMapOvr>
    <a:masterClrMapping/>
  </p:clrMapOvr>
  <p:transition>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文本框 418819"/>
          <p:cNvSpPr txBox="1"/>
          <p:nvPr/>
        </p:nvSpPr>
        <p:spPr>
          <a:xfrm>
            <a:off x="755650" y="692150"/>
            <a:ext cx="2393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直接</a:t>
            </a:r>
            <a:r>
              <a:rPr lang="en-US" altLang="zh-CN" dirty="0">
                <a:latin typeface="Times New Roman" panose="02020603050405020304" pitchFamily="18" charset="0"/>
                <a:ea typeface="宋体" panose="02010600030101010101" pitchFamily="2" charset="-122"/>
              </a:rPr>
              <a:t>Ⅱ</a:t>
            </a:r>
            <a:r>
              <a:rPr lang="zh-CN" altLang="en-US" dirty="0">
                <a:latin typeface="Times New Roman" panose="02020603050405020304" pitchFamily="18" charset="0"/>
                <a:ea typeface="宋体" panose="02010600030101010101" pitchFamily="2" charset="-122"/>
              </a:rPr>
              <a:t>型结构： </a:t>
            </a:r>
            <a:endParaRPr lang="zh-CN" altLang="en-US" dirty="0">
              <a:latin typeface="Times New Roman" panose="02020603050405020304" pitchFamily="18" charset="0"/>
              <a:ea typeface="宋体" panose="02010600030101010101" pitchFamily="2" charset="-122"/>
            </a:endParaRPr>
          </a:p>
        </p:txBody>
      </p:sp>
      <p:sp>
        <p:nvSpPr>
          <p:cNvPr id="19458" name="文本框 418820"/>
          <p:cNvSpPr txBox="1"/>
          <p:nvPr/>
        </p:nvSpPr>
        <p:spPr>
          <a:xfrm>
            <a:off x="2484438" y="5805488"/>
            <a:ext cx="5137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4-6   </a:t>
            </a: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4-1 IIR</a:t>
            </a:r>
            <a:r>
              <a:rPr lang="zh-CN" altLang="en-US" dirty="0">
                <a:latin typeface="Times New Roman" panose="02020603050405020304" pitchFamily="18" charset="0"/>
                <a:ea typeface="宋体" panose="02010600030101010101" pitchFamily="2" charset="-122"/>
              </a:rPr>
              <a:t>系统的直接</a:t>
            </a:r>
            <a:r>
              <a:rPr lang="en-US" altLang="zh-CN" dirty="0">
                <a:latin typeface="Times New Roman" panose="02020603050405020304" pitchFamily="18" charset="0"/>
                <a:ea typeface="宋体" panose="02010600030101010101" pitchFamily="2" charset="-122"/>
              </a:rPr>
              <a:t>Ⅱ</a:t>
            </a:r>
            <a:r>
              <a:rPr lang="zh-CN" altLang="en-US" dirty="0">
                <a:latin typeface="Times New Roman" panose="02020603050405020304" pitchFamily="18" charset="0"/>
                <a:ea typeface="宋体" panose="02010600030101010101" pitchFamily="2" charset="-122"/>
              </a:rPr>
              <a:t>型结构 </a:t>
            </a:r>
            <a:endParaRPr lang="zh-CN" altLang="en-US" dirty="0">
              <a:latin typeface="Times New Roman" panose="02020603050405020304" pitchFamily="18" charset="0"/>
              <a:ea typeface="宋体" panose="02010600030101010101" pitchFamily="2" charset="-122"/>
            </a:endParaRPr>
          </a:p>
        </p:txBody>
      </p:sp>
      <p:pic>
        <p:nvPicPr>
          <p:cNvPr id="19459" name="图片 418822" descr="4-6"/>
          <p:cNvPicPr>
            <a:picLocks noChangeAspect="1"/>
          </p:cNvPicPr>
          <p:nvPr/>
        </p:nvPicPr>
        <p:blipFill>
          <a:blip r:embed="rId1"/>
          <a:stretch>
            <a:fillRect/>
          </a:stretch>
        </p:blipFill>
        <p:spPr>
          <a:xfrm>
            <a:off x="1691640" y="2564448"/>
            <a:ext cx="5715000" cy="2105025"/>
          </a:xfrm>
          <a:prstGeom prst="rect">
            <a:avLst/>
          </a:prstGeom>
          <a:noFill/>
          <a:ln w="9525">
            <a:noFill/>
          </a:ln>
        </p:spPr>
      </p:pic>
      <p:graphicFrame>
        <p:nvGraphicFramePr>
          <p:cNvPr id="2" name="对象 1"/>
          <p:cNvGraphicFramePr/>
          <p:nvPr/>
        </p:nvGraphicFramePr>
        <p:xfrm>
          <a:off x="2741295" y="1268730"/>
          <a:ext cx="3615690" cy="790575"/>
        </p:xfrm>
        <a:graphic>
          <a:graphicData uri="http://schemas.openxmlformats.org/presentationml/2006/ole">
            <mc:AlternateContent xmlns:mc="http://schemas.openxmlformats.org/markup-compatibility/2006">
              <mc:Choice xmlns:v="urn:schemas-microsoft-com:vml" Requires="v">
                <p:oleObj spid="_x0000_s3" name="" r:id="rId2" imgW="4352925" imgH="990600" progId="Paint.Picture">
                  <p:embed/>
                </p:oleObj>
              </mc:Choice>
              <mc:Fallback>
                <p:oleObj name="" r:id="rId2" imgW="4352925" imgH="990600" progId="Paint.Picture">
                  <p:embed/>
                  <p:pic>
                    <p:nvPicPr>
                      <p:cNvPr id="0" name="图片 2"/>
                      <p:cNvPicPr/>
                      <p:nvPr/>
                    </p:nvPicPr>
                    <p:blipFill>
                      <a:blip r:embed="rId3"/>
                      <a:stretch>
                        <a:fillRect/>
                      </a:stretch>
                    </p:blipFill>
                    <p:spPr>
                      <a:xfrm>
                        <a:off x="2741295" y="1268730"/>
                        <a:ext cx="3615690" cy="790575"/>
                      </a:xfrm>
                      <a:prstGeom prst="rect">
                        <a:avLst/>
                      </a:prstGeom>
                    </p:spPr>
                  </p:pic>
                </p:oleObj>
              </mc:Fallback>
            </mc:AlternateContent>
          </a:graphicData>
        </a:graphic>
      </p:graphicFrame>
    </p:spTree>
  </p:cSld>
  <p:clrMapOvr>
    <a:masterClrMapping/>
  </p:clrMapOvr>
  <p:transition>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481" name="对象 419844"/>
          <p:cNvGraphicFramePr/>
          <p:nvPr/>
        </p:nvGraphicFramePr>
        <p:xfrm>
          <a:off x="468313" y="981075"/>
          <a:ext cx="8207375" cy="4216400"/>
        </p:xfrm>
        <a:graphic>
          <a:graphicData uri="http://schemas.openxmlformats.org/presentationml/2006/ole">
            <mc:AlternateContent xmlns:mc="http://schemas.openxmlformats.org/markup-compatibility/2006">
              <mc:Choice xmlns:v="urn:schemas-microsoft-com:vml" Requires="v">
                <p:oleObj spid="_x0000_s3103" name="" r:id="rId1" imgW="3510915" imgH="1805940" progId="Word.Document.8">
                  <p:embed/>
                </p:oleObj>
              </mc:Choice>
              <mc:Fallback>
                <p:oleObj name="" r:id="rId1" imgW="3510915" imgH="1805940" progId="Word.Document.8">
                  <p:embed/>
                  <p:pic>
                    <p:nvPicPr>
                      <p:cNvPr id="0" name="图片 3102"/>
                      <p:cNvPicPr/>
                      <p:nvPr/>
                    </p:nvPicPr>
                    <p:blipFill>
                      <a:blip r:embed="rId2"/>
                      <a:stretch>
                        <a:fillRect/>
                      </a:stretch>
                    </p:blipFill>
                    <p:spPr>
                      <a:xfrm>
                        <a:off x="468313" y="981075"/>
                        <a:ext cx="8207375" cy="42164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文本框 17411"/>
          <p:cNvSpPr txBox="1"/>
          <p:nvPr/>
        </p:nvSpPr>
        <p:spPr>
          <a:xfrm>
            <a:off x="152400" y="434975"/>
            <a:ext cx="8763000" cy="1713865"/>
          </a:xfrm>
          <a:prstGeom prst="rect">
            <a:avLst/>
          </a:prstGeom>
          <a:noFill/>
          <a:ln w="9525">
            <a:noFill/>
          </a:ln>
        </p:spPr>
        <p:txBody>
          <a:bodyPr anchor="t">
            <a:spAutoFit/>
          </a:bodyPr>
          <a:p>
            <a:pPr algn="just">
              <a:lnSpc>
                <a:spcPct val="130000"/>
              </a:lnSpc>
              <a:spcBef>
                <a:spcPct val="50000"/>
              </a:spcBef>
            </a:pPr>
            <a:r>
              <a:rPr lang="en-US" altLang="zh-CN" b="1" dirty="0">
                <a:solidFill>
                  <a:srgbClr val="FF0000"/>
                </a:solidFill>
                <a:latin typeface="Times New Roman" panose="02020603050405020304" pitchFamily="18" charset="0"/>
                <a:ea typeface="宋体" panose="02010600030101010101" pitchFamily="2" charset="-122"/>
              </a:rPr>
              <a:t>4.2.3 </a:t>
            </a:r>
            <a:r>
              <a:rPr lang="zh-CN" altLang="en-US" b="1" dirty="0">
                <a:solidFill>
                  <a:srgbClr val="FF0000"/>
                </a:solidFill>
                <a:latin typeface="Times New Roman" panose="02020603050405020304" pitchFamily="18" charset="0"/>
                <a:ea typeface="宋体" panose="02010600030101010101" pitchFamily="2" charset="-122"/>
              </a:rPr>
              <a:t>级联型 </a:t>
            </a:r>
            <a:endParaRPr lang="zh-CN" altLang="en-US">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若把式</a:t>
            </a:r>
            <a:r>
              <a:rPr lang="en-US" altLang="zh-CN" dirty="0">
                <a:latin typeface="Times New Roman" panose="02020603050405020304" pitchFamily="18" charset="0"/>
                <a:ea typeface="宋体" panose="02010600030101010101" pitchFamily="2" charset="-122"/>
              </a:rPr>
              <a:t>(4-2)</a:t>
            </a:r>
            <a:r>
              <a:rPr lang="zh-CN" altLang="en-US" dirty="0">
                <a:latin typeface="Times New Roman" panose="02020603050405020304" pitchFamily="18" charset="0"/>
                <a:ea typeface="宋体" panose="02010600030101010101" pitchFamily="2" charset="-122"/>
              </a:rPr>
              <a:t>描述的</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阶</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滤波器的系统函数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的分子和分母分别进行因式分解，得到多个</a:t>
            </a:r>
            <a:r>
              <a:rPr lang="zh-CN" altLang="en-US" b="1" u="sng" dirty="0">
                <a:solidFill>
                  <a:srgbClr val="FF0000"/>
                </a:solidFill>
                <a:latin typeface="Times New Roman" panose="02020603050405020304" pitchFamily="18" charset="0"/>
                <a:ea typeface="宋体" panose="02010600030101010101" pitchFamily="2" charset="-122"/>
              </a:rPr>
              <a:t>因式</a:t>
            </a:r>
            <a:r>
              <a:rPr lang="zh-CN" altLang="en-US" dirty="0">
                <a:latin typeface="Times New Roman" panose="02020603050405020304" pitchFamily="18" charset="0"/>
                <a:ea typeface="宋体" panose="02010600030101010101" pitchFamily="2" charset="-122"/>
              </a:rPr>
              <a:t>    </a:t>
            </a:r>
            <a:r>
              <a:rPr lang="zh-CN" altLang="en-US" b="1" u="sng" dirty="0">
                <a:solidFill>
                  <a:srgbClr val="FF0000"/>
                </a:solidFill>
                <a:latin typeface="Times New Roman" panose="02020603050405020304" pitchFamily="18" charset="0"/>
                <a:ea typeface="宋体" panose="02010600030101010101" pitchFamily="2" charset="-122"/>
              </a:rPr>
              <a:t>连乘</a:t>
            </a:r>
            <a:r>
              <a:rPr lang="zh-CN" altLang="en-US" dirty="0">
                <a:latin typeface="Times New Roman" panose="02020603050405020304" pitchFamily="18" charset="0"/>
                <a:ea typeface="宋体" panose="02010600030101010101" pitchFamily="2" charset="-122"/>
              </a:rPr>
              <a:t>   </a:t>
            </a:r>
            <a:r>
              <a:rPr lang="zh-CN" altLang="en-US" b="1" u="sng" dirty="0">
                <a:solidFill>
                  <a:srgbClr val="FF0000"/>
                </a:solidFill>
                <a:latin typeface="Times New Roman" panose="02020603050405020304" pitchFamily="18" charset="0"/>
                <a:ea typeface="宋体" panose="02010600030101010101" pitchFamily="2" charset="-122"/>
              </a:rPr>
              <a:t>积</a:t>
            </a:r>
            <a:r>
              <a:rPr lang="zh-CN" altLang="en-US" dirty="0">
                <a:latin typeface="Times New Roman" panose="02020603050405020304" pitchFamily="18" charset="0"/>
                <a:ea typeface="宋体" panose="02010600030101010101" pitchFamily="2" charset="-122"/>
              </a:rPr>
              <a:t>的形式 </a:t>
            </a:r>
            <a:endParaRPr lang="zh-CN" altLang="en-US">
              <a:latin typeface="Times New Roman" panose="02020603050405020304" pitchFamily="18" charset="0"/>
              <a:ea typeface="宋体" panose="02010600030101010101" pitchFamily="2" charset="-122"/>
            </a:endParaRPr>
          </a:p>
        </p:txBody>
      </p:sp>
      <p:graphicFrame>
        <p:nvGraphicFramePr>
          <p:cNvPr id="21506" name="对象 17412"/>
          <p:cNvGraphicFramePr/>
          <p:nvPr/>
        </p:nvGraphicFramePr>
        <p:xfrm>
          <a:off x="1979930" y="2060575"/>
          <a:ext cx="4648200" cy="1704975"/>
        </p:xfrm>
        <a:graphic>
          <a:graphicData uri="http://schemas.openxmlformats.org/presentationml/2006/ole">
            <mc:AlternateContent xmlns:mc="http://schemas.openxmlformats.org/markup-compatibility/2006">
              <mc:Choice xmlns:v="urn:schemas-microsoft-com:vml" Requires="v">
                <p:oleObj spid="_x0000_s3104" name="" r:id="rId1" imgW="2286000" imgH="838200" progId="Equation.3">
                  <p:embed/>
                </p:oleObj>
              </mc:Choice>
              <mc:Fallback>
                <p:oleObj name="" r:id="rId1" imgW="2286000" imgH="838200" progId="Equation.3">
                  <p:embed/>
                  <p:pic>
                    <p:nvPicPr>
                      <p:cNvPr id="0" name="图片 3103"/>
                      <p:cNvPicPr/>
                      <p:nvPr/>
                    </p:nvPicPr>
                    <p:blipFill>
                      <a:blip r:embed="rId2"/>
                      <a:stretch>
                        <a:fillRect/>
                      </a:stretch>
                    </p:blipFill>
                    <p:spPr>
                      <a:xfrm>
                        <a:off x="1979930" y="2060575"/>
                        <a:ext cx="4648200" cy="1704975"/>
                      </a:xfrm>
                      <a:prstGeom prst="rect">
                        <a:avLst/>
                      </a:prstGeom>
                      <a:solidFill>
                        <a:schemeClr val="accent1"/>
                      </a:solidFill>
                      <a:ln w="38100">
                        <a:noFill/>
                        <a:miter/>
                      </a:ln>
                    </p:spPr>
                  </p:pic>
                </p:oleObj>
              </mc:Fallback>
            </mc:AlternateContent>
          </a:graphicData>
        </a:graphic>
      </p:graphicFrame>
      <p:sp>
        <p:nvSpPr>
          <p:cNvPr id="21507" name="文本框 17413"/>
          <p:cNvSpPr txBox="1"/>
          <p:nvPr/>
        </p:nvSpPr>
        <p:spPr>
          <a:xfrm>
            <a:off x="7696200" y="2636838"/>
            <a:ext cx="8699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(4-4) </a:t>
            </a:r>
            <a:endParaRPr lang="en-US" altLang="zh-CN">
              <a:latin typeface="Times New Roman" panose="02020603050405020304" pitchFamily="18" charset="0"/>
              <a:ea typeface="宋体" panose="02010600030101010101" pitchFamily="2" charset="-122"/>
            </a:endParaRPr>
          </a:p>
        </p:txBody>
      </p:sp>
      <p:sp>
        <p:nvSpPr>
          <p:cNvPr id="21508" name="文本框 17414"/>
          <p:cNvSpPr txBox="1"/>
          <p:nvPr/>
        </p:nvSpPr>
        <p:spPr>
          <a:xfrm>
            <a:off x="152400" y="3644900"/>
            <a:ext cx="8839200" cy="2940050"/>
          </a:xfrm>
          <a:prstGeom prst="rect">
            <a:avLst/>
          </a:prstGeom>
          <a:noFill/>
          <a:ln w="9525">
            <a:noFill/>
          </a:ln>
        </p:spPr>
        <p:txBody>
          <a:bodyPr anchor="t">
            <a:spAutoFit/>
          </a:bodyPr>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为常数，</a:t>
            </a:r>
            <a:r>
              <a:rPr lang="en-US" altLang="zh-CN" i="1" err="1">
                <a:latin typeface="Times New Roman" panose="02020603050405020304" pitchFamily="18" charset="0"/>
                <a:ea typeface="宋体" panose="02010600030101010101" pitchFamily="2" charset="-122"/>
              </a:rPr>
              <a:t>c</a:t>
            </a:r>
            <a:r>
              <a:rPr lang="en-US" altLang="zh-CN" i="1" baseline="-25000" err="1">
                <a:latin typeface="Times New Roman" panose="02020603050405020304" pitchFamily="18" charset="0"/>
                <a:ea typeface="宋体" panose="02010600030101010101" pitchFamily="2" charset="-122"/>
              </a:rPr>
              <a:t>i</a:t>
            </a:r>
            <a:r>
              <a:rPr lang="zh-CN" altLang="en-US">
                <a:latin typeface="Times New Roman" panose="02020603050405020304" pitchFamily="18" charset="0"/>
                <a:ea typeface="宋体" panose="02010600030101010101" pitchFamily="2" charset="-122"/>
              </a:rPr>
              <a:t>和</a:t>
            </a:r>
            <a:r>
              <a:rPr lang="en-US" altLang="zh-CN" i="1" err="1">
                <a:latin typeface="Times New Roman" panose="02020603050405020304" pitchFamily="18" charset="0"/>
                <a:ea typeface="宋体" panose="02010600030101010101" pitchFamily="2" charset="-122"/>
              </a:rPr>
              <a:t>d</a:t>
            </a:r>
            <a:r>
              <a:rPr lang="en-US" altLang="zh-CN" i="1" baseline="-25000" err="1">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分别表示</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的零点和极点。由于</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分子和分母都是实系数多项式，而实系数多项式的根只有实根和共轭复根两种情况。将每一对共轭零点（极点）合并起来构成一个实系数的二阶因子，并把单个的实根因子看成是二次项系数等于零的二阶因子，则可以把</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表示成多个实系数的二阶数字网络</a:t>
            </a:r>
            <a:r>
              <a:rPr lang="en-US" altLang="zh-CN" i="1" err="1">
                <a:latin typeface="Times New Roman" panose="02020603050405020304" pitchFamily="18" charset="0"/>
                <a:ea typeface="宋体" panose="02010600030101010101" pitchFamily="2" charset="-122"/>
              </a:rPr>
              <a:t>H</a:t>
            </a:r>
            <a:r>
              <a:rPr lang="en-US" altLang="zh-CN" i="1" baseline="-25000" err="1">
                <a:latin typeface="Times New Roman" panose="02020603050405020304" pitchFamily="18" charset="0"/>
                <a:ea typeface="宋体" panose="02010600030101010101" pitchFamily="2" charset="-122"/>
              </a:rPr>
              <a:t>j</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的连乘积形式， 如式</a:t>
            </a:r>
            <a:r>
              <a:rPr lang="en-US" altLang="zh-CN" dirty="0">
                <a:latin typeface="Times New Roman" panose="02020603050405020304" pitchFamily="18" charset="0"/>
                <a:ea typeface="宋体" panose="02010600030101010101" pitchFamily="2" charset="-122"/>
              </a:rPr>
              <a:t>(4-5)</a:t>
            </a:r>
            <a:r>
              <a:rPr lang="zh-CN" altLang="en-US" dirty="0">
                <a:latin typeface="Times New Roman" panose="02020603050405020304" pitchFamily="18" charset="0"/>
                <a:ea typeface="宋体" panose="02010600030101010101" pitchFamily="2" charset="-122"/>
              </a:rPr>
              <a:t>所示</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2529" name="对象 16387"/>
          <p:cNvGraphicFramePr/>
          <p:nvPr/>
        </p:nvGraphicFramePr>
        <p:xfrm>
          <a:off x="2590800" y="762000"/>
          <a:ext cx="3048000" cy="1123950"/>
        </p:xfrm>
        <a:graphic>
          <a:graphicData uri="http://schemas.openxmlformats.org/presentationml/2006/ole">
            <mc:AlternateContent xmlns:mc="http://schemas.openxmlformats.org/markup-compatibility/2006">
              <mc:Choice xmlns:v="urn:schemas-microsoft-com:vml" Requires="v">
                <p:oleObj spid="_x0000_s3102" name="" r:id="rId1" imgW="1205865" imgH="444500" progId="Equation.3">
                  <p:embed/>
                </p:oleObj>
              </mc:Choice>
              <mc:Fallback>
                <p:oleObj name="" r:id="rId1" imgW="1205865" imgH="444500" progId="Equation.3">
                  <p:embed/>
                  <p:pic>
                    <p:nvPicPr>
                      <p:cNvPr id="0" name="图片 3101"/>
                      <p:cNvPicPr/>
                      <p:nvPr/>
                    </p:nvPicPr>
                    <p:blipFill>
                      <a:blip r:embed="rId2"/>
                      <a:stretch>
                        <a:fillRect/>
                      </a:stretch>
                    </p:blipFill>
                    <p:spPr>
                      <a:xfrm>
                        <a:off x="2590800" y="762000"/>
                        <a:ext cx="3048000" cy="1123950"/>
                      </a:xfrm>
                      <a:prstGeom prst="rect">
                        <a:avLst/>
                      </a:prstGeom>
                      <a:solidFill>
                        <a:schemeClr val="accent1"/>
                      </a:solidFill>
                      <a:ln w="38100">
                        <a:noFill/>
                        <a:miter/>
                      </a:ln>
                    </p:spPr>
                  </p:pic>
                </p:oleObj>
              </mc:Fallback>
            </mc:AlternateContent>
          </a:graphicData>
        </a:graphic>
      </p:graphicFrame>
      <p:sp>
        <p:nvSpPr>
          <p:cNvPr id="22530" name="文本框 16388"/>
          <p:cNvSpPr txBox="1"/>
          <p:nvPr/>
        </p:nvSpPr>
        <p:spPr>
          <a:xfrm>
            <a:off x="7467600" y="1066800"/>
            <a:ext cx="8699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(4-5) </a:t>
            </a:r>
            <a:endParaRPr lang="en-US" altLang="zh-CN">
              <a:latin typeface="Times New Roman" panose="02020603050405020304" pitchFamily="18" charset="0"/>
              <a:ea typeface="宋体" panose="02010600030101010101" pitchFamily="2" charset="-122"/>
            </a:endParaRPr>
          </a:p>
        </p:txBody>
      </p:sp>
      <p:sp>
        <p:nvSpPr>
          <p:cNvPr id="22531" name="文本框 16389"/>
          <p:cNvSpPr txBox="1"/>
          <p:nvPr/>
        </p:nvSpPr>
        <p:spPr>
          <a:xfrm>
            <a:off x="304800" y="1828800"/>
            <a:ext cx="1184275"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式中： </a:t>
            </a:r>
            <a:endParaRPr lang="zh-CN" altLang="en-US" b="1">
              <a:latin typeface="Times New Roman" panose="02020603050405020304" pitchFamily="18" charset="0"/>
              <a:ea typeface="宋体" panose="02010600030101010101" pitchFamily="2" charset="-122"/>
            </a:endParaRPr>
          </a:p>
        </p:txBody>
      </p:sp>
      <p:graphicFrame>
        <p:nvGraphicFramePr>
          <p:cNvPr id="22532" name="对象 16390"/>
          <p:cNvGraphicFramePr/>
          <p:nvPr/>
        </p:nvGraphicFramePr>
        <p:xfrm>
          <a:off x="2051050" y="2420938"/>
          <a:ext cx="4619625" cy="1220787"/>
        </p:xfrm>
        <a:graphic>
          <a:graphicData uri="http://schemas.openxmlformats.org/presentationml/2006/ole">
            <mc:AlternateContent xmlns:mc="http://schemas.openxmlformats.org/markup-compatibility/2006">
              <mc:Choice xmlns:v="urn:schemas-microsoft-com:vml" Requires="v">
                <p:oleObj spid="_x0000_s3101" name="" r:id="rId3" imgW="1828165" imgH="482600" progId="Equation.3">
                  <p:embed/>
                </p:oleObj>
              </mc:Choice>
              <mc:Fallback>
                <p:oleObj name="" r:id="rId3" imgW="1828165" imgH="482600" progId="Equation.3">
                  <p:embed/>
                  <p:pic>
                    <p:nvPicPr>
                      <p:cNvPr id="0" name="图片 3100"/>
                      <p:cNvPicPr/>
                      <p:nvPr/>
                    </p:nvPicPr>
                    <p:blipFill>
                      <a:blip r:embed="rId4"/>
                      <a:stretch>
                        <a:fillRect/>
                      </a:stretch>
                    </p:blipFill>
                    <p:spPr>
                      <a:xfrm>
                        <a:off x="2051050" y="2420938"/>
                        <a:ext cx="4619625" cy="1220787"/>
                      </a:xfrm>
                      <a:prstGeom prst="rect">
                        <a:avLst/>
                      </a:prstGeom>
                      <a:solidFill>
                        <a:schemeClr val="accent1"/>
                      </a:solidFill>
                      <a:ln w="38100">
                        <a:noFill/>
                        <a:miter/>
                      </a:ln>
                    </p:spPr>
                  </p:pic>
                </p:oleObj>
              </mc:Fallback>
            </mc:AlternateContent>
          </a:graphicData>
        </a:graphic>
      </p:graphicFrame>
      <p:sp>
        <p:nvSpPr>
          <p:cNvPr id="22533" name="文本框 16391"/>
          <p:cNvSpPr txBox="1"/>
          <p:nvPr/>
        </p:nvSpPr>
        <p:spPr>
          <a:xfrm>
            <a:off x="304800" y="3937000"/>
            <a:ext cx="8610600" cy="1930400"/>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若每一个实系数的二阶数字网络的系统函数</a:t>
            </a:r>
            <a:r>
              <a:rPr lang="en-US" altLang="zh-CN" i="1" err="1">
                <a:latin typeface="Times New Roman" panose="02020603050405020304" pitchFamily="18" charset="0"/>
                <a:ea typeface="宋体" panose="02010600030101010101" pitchFamily="2" charset="-122"/>
              </a:rPr>
              <a:t>H</a:t>
            </a:r>
            <a:r>
              <a:rPr lang="en-US" altLang="zh-CN" i="1" baseline="-25000" err="1">
                <a:latin typeface="Times New Roman" panose="02020603050405020304" pitchFamily="18" charset="0"/>
                <a:ea typeface="宋体" panose="02010600030101010101" pitchFamily="2" charset="-122"/>
              </a:rPr>
              <a:t>j</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的网络结构均采用前面介绍的直</a:t>
            </a:r>
            <a:r>
              <a:rPr lang="zh-CN" altLang="en-US" dirty="0">
                <a:latin typeface="Times New Roman" panose="02020603050405020304" pitchFamily="18" charset="0"/>
                <a:ea typeface="宋体" panose="02010600030101010101" pitchFamily="2" charset="-122"/>
              </a:rPr>
              <a:t>接</a:t>
            </a:r>
            <a:r>
              <a:rPr lang="en-US" altLang="zh-CN" dirty="0">
                <a:latin typeface="Times New Roman" panose="02020603050405020304" pitchFamily="18" charset="0"/>
                <a:ea typeface="宋体" panose="02010600030101010101" pitchFamily="2" charset="-122"/>
              </a:rPr>
              <a:t>Ⅱ</a:t>
            </a:r>
            <a:r>
              <a:rPr lang="zh-CN" altLang="en-US" dirty="0">
                <a:latin typeface="Times New Roman" panose="02020603050405020304" pitchFamily="18" charset="0"/>
                <a:ea typeface="宋体" panose="02010600030101010101" pitchFamily="2" charset="-122"/>
              </a:rPr>
              <a:t>型结构，则可以得到系统函数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的级联型结构，如图</a:t>
            </a:r>
            <a:r>
              <a:rPr lang="en-US" altLang="zh-CN" dirty="0">
                <a:latin typeface="Times New Roman" panose="02020603050405020304" pitchFamily="18" charset="0"/>
                <a:ea typeface="宋体" panose="02010600030101010101" pitchFamily="2" charset="-122"/>
              </a:rPr>
              <a:t>4-7</a:t>
            </a:r>
            <a:r>
              <a:rPr lang="zh-CN" altLang="en-US" dirty="0">
                <a:latin typeface="Times New Roman" panose="02020603050405020304" pitchFamily="18" charset="0"/>
                <a:ea typeface="宋体" panose="02010600030101010101" pitchFamily="2" charset="-122"/>
              </a:rPr>
              <a:t>所示。 </a:t>
            </a:r>
            <a:endParaRPr lang="zh-CN" altLang="en-US">
              <a:latin typeface="Times New Roman" panose="02020603050405020304" pitchFamily="18" charset="0"/>
              <a:ea typeface="宋体" panose="02010600030101010101" pitchFamily="2" charset="-122"/>
            </a:endParaRPr>
          </a:p>
        </p:txBody>
      </p:sp>
      <p:sp>
        <p:nvSpPr>
          <p:cNvPr id="2" name="云形 1"/>
          <p:cNvSpPr/>
          <p:nvPr/>
        </p:nvSpPr>
        <p:spPr>
          <a:xfrm>
            <a:off x="6235700" y="2781300"/>
            <a:ext cx="2914650" cy="1295400"/>
          </a:xfrm>
          <a:prstGeom prst="cloud">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zh-CN" altLang="en-US" sz="3200" b="1" strike="noStrike" noProof="1">
                <a:solidFill>
                  <a:srgbClr val="C00000"/>
                </a:solidFill>
              </a:rPr>
              <a:t>复数极点</a:t>
            </a:r>
            <a:endParaRPr lang="zh-CN" altLang="en-US" sz="3200" b="1" strike="noStrike" noProof="1">
              <a:solidFill>
                <a:srgbClr val="C00000"/>
              </a:solidFill>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文本框 18435"/>
          <p:cNvSpPr txBox="1"/>
          <p:nvPr/>
        </p:nvSpPr>
        <p:spPr>
          <a:xfrm>
            <a:off x="3429000" y="5715000"/>
            <a:ext cx="2647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4-7 </a:t>
            </a:r>
            <a:r>
              <a:rPr lang="zh-CN" altLang="en-US" dirty="0">
                <a:latin typeface="Times New Roman" panose="02020603050405020304" pitchFamily="18" charset="0"/>
                <a:ea typeface="宋体" panose="02010600030101010101" pitchFamily="2" charset="-122"/>
              </a:rPr>
              <a:t>级联型结构 </a:t>
            </a:r>
            <a:endParaRPr lang="zh-CN" altLang="en-US">
              <a:latin typeface="Times New Roman" panose="02020603050405020304" pitchFamily="18" charset="0"/>
              <a:ea typeface="宋体" panose="02010600030101010101" pitchFamily="2" charset="-122"/>
            </a:endParaRPr>
          </a:p>
        </p:txBody>
      </p:sp>
      <p:pic>
        <p:nvPicPr>
          <p:cNvPr id="23554" name="图片 18438" descr="4-7"/>
          <p:cNvPicPr>
            <a:picLocks noChangeAspect="1"/>
          </p:cNvPicPr>
          <p:nvPr/>
        </p:nvPicPr>
        <p:blipFill>
          <a:blip r:embed="rId1"/>
          <a:stretch>
            <a:fillRect/>
          </a:stretch>
        </p:blipFill>
        <p:spPr>
          <a:xfrm>
            <a:off x="1714500" y="2509838"/>
            <a:ext cx="5715000" cy="1838325"/>
          </a:xfrm>
          <a:prstGeom prst="rect">
            <a:avLst/>
          </a:prstGeom>
          <a:noFill/>
          <a:ln w="9525">
            <a:noFill/>
          </a:ln>
        </p:spPr>
      </p:pic>
    </p:spTree>
  </p:cSld>
  <p:clrMapOvr>
    <a:masterClrMapping/>
  </p:clrMapOvr>
  <p:transition>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文本框 20483"/>
          <p:cNvSpPr txBox="1"/>
          <p:nvPr/>
        </p:nvSpPr>
        <p:spPr>
          <a:xfrm>
            <a:off x="271780" y="609600"/>
            <a:ext cx="8562340" cy="5349240"/>
          </a:xfrm>
          <a:prstGeom prst="rect">
            <a:avLst/>
          </a:prstGeom>
          <a:noFill/>
          <a:ln w="9525">
            <a:noFill/>
          </a:ln>
        </p:spPr>
        <p:txBody>
          <a:bodyPr wrap="square" anchor="t">
            <a:spAutoFit/>
          </a:bodyPr>
          <a:p>
            <a:pPr algn="just">
              <a:lnSpc>
                <a:spcPct val="17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在级联型结构中，每一个一阶网络只关系到滤波器的一个零点、一个极点；每个二阶网络只关系到滤波器的一对共轭零点和一对共轭极点。调整系数</a:t>
            </a:r>
            <a:r>
              <a:rPr lang="en-US" altLang="zh-CN" i="1">
                <a:latin typeface="Times New Roman" panose="02020603050405020304" pitchFamily="18" charset="0"/>
                <a:ea typeface="宋体" panose="02010600030101010101" pitchFamily="2" charset="-122"/>
              </a:rPr>
              <a:t>β</a:t>
            </a:r>
            <a:r>
              <a:rPr lang="en-US" altLang="zh-CN" baseline="-25000">
                <a:latin typeface="Times New Roman" panose="02020603050405020304" pitchFamily="18" charset="0"/>
                <a:ea typeface="宋体" panose="02010600030101010101" pitchFamily="2" charset="-122"/>
              </a:rPr>
              <a:t>0j</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β</a:t>
            </a:r>
            <a:r>
              <a:rPr lang="en-US" altLang="zh-CN" baseline="-25000">
                <a:latin typeface="Times New Roman" panose="02020603050405020304" pitchFamily="18" charset="0"/>
                <a:ea typeface="宋体" panose="02010600030101010101" pitchFamily="2" charset="-122"/>
              </a:rPr>
              <a:t>1j</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β</a:t>
            </a:r>
            <a:r>
              <a:rPr lang="en-US" altLang="zh-CN" baseline="-25000">
                <a:latin typeface="Times New Roman" panose="02020603050405020304" pitchFamily="18" charset="0"/>
                <a:ea typeface="宋体" panose="02010600030101010101" pitchFamily="2" charset="-122"/>
              </a:rPr>
              <a:t>2j</a:t>
            </a:r>
            <a:r>
              <a:rPr lang="zh-CN" altLang="en-US" dirty="0">
                <a:latin typeface="Times New Roman" panose="02020603050405020304" pitchFamily="18" charset="0"/>
                <a:ea typeface="宋体" panose="02010600030101010101" pitchFamily="2" charset="-122"/>
              </a:rPr>
              <a:t>只会影响滤波器的第</a:t>
            </a:r>
            <a:r>
              <a:rPr lang="en-US" altLang="zh-CN" i="1">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对零点，对其他零点并无影响；同样</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调整分母多项式的系数</a:t>
            </a:r>
            <a:r>
              <a:rPr lang="en-US" altLang="zh-CN" i="1">
                <a:latin typeface="Times New Roman" panose="02020603050405020304" pitchFamily="18" charset="0"/>
                <a:ea typeface="宋体" panose="02010600030101010101" pitchFamily="2" charset="-122"/>
              </a:rPr>
              <a:t>α</a:t>
            </a:r>
            <a:r>
              <a:rPr lang="en-US" altLang="zh-CN" baseline="-25000">
                <a:latin typeface="Times New Roman" panose="02020603050405020304" pitchFamily="18" charset="0"/>
                <a:ea typeface="宋体" panose="02010600030101010101" pitchFamily="2" charset="-122"/>
              </a:rPr>
              <a:t>1</a:t>
            </a:r>
            <a:r>
              <a:rPr lang="en-US" altLang="zh-CN" i="1" baseline="-25000">
                <a:latin typeface="Times New Roman" panose="02020603050405020304" pitchFamily="18" charset="0"/>
                <a:ea typeface="宋体" panose="02010600030101010101" pitchFamily="2" charset="-122"/>
              </a:rPr>
              <a:t>j</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α</a:t>
            </a:r>
            <a:r>
              <a:rPr lang="en-US" altLang="zh-CN" baseline="-25000">
                <a:latin typeface="Times New Roman" panose="02020603050405020304" pitchFamily="18" charset="0"/>
                <a:ea typeface="宋体" panose="02010600030101010101" pitchFamily="2" charset="-122"/>
              </a:rPr>
              <a:t>2</a:t>
            </a:r>
            <a:r>
              <a:rPr lang="en-US" altLang="zh-CN" i="1" baseline="-25000">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也只单独调整了第</a:t>
            </a:r>
            <a:r>
              <a:rPr lang="en-US" altLang="zh-CN" dirty="0">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对极点。因此，与直接型结构相比， </a:t>
            </a:r>
            <a:r>
              <a:rPr lang="zh-CN" altLang="en-US" b="1" u="sng" dirty="0">
                <a:solidFill>
                  <a:srgbClr val="FF0000"/>
                </a:solidFill>
                <a:latin typeface="Times New Roman" panose="02020603050405020304" pitchFamily="18" charset="0"/>
                <a:ea typeface="宋体" panose="02010600030101010101" pitchFamily="2" charset="-122"/>
              </a:rPr>
              <a:t>级联型</a:t>
            </a:r>
            <a:r>
              <a:rPr lang="zh-CN" altLang="en-US" dirty="0">
                <a:latin typeface="Times New Roman" panose="02020603050405020304" pitchFamily="18" charset="0"/>
                <a:ea typeface="宋体" panose="02010600030101010101" pitchFamily="2" charset="-122"/>
              </a:rPr>
              <a:t>结构便于准确地实现滤波器</a:t>
            </a:r>
            <a:r>
              <a:rPr lang="zh-CN" altLang="en-US" b="1" u="sng" dirty="0">
                <a:solidFill>
                  <a:srgbClr val="FF0000"/>
                </a:solidFill>
                <a:latin typeface="Times New Roman" panose="02020603050405020304" pitchFamily="18" charset="0"/>
                <a:ea typeface="宋体" panose="02010600030101010101" pitchFamily="2" charset="-122"/>
              </a:rPr>
              <a:t>零、极点的调整</a:t>
            </a:r>
            <a:r>
              <a:rPr lang="zh-CN" altLang="en-US" dirty="0">
                <a:latin typeface="Times New Roman" panose="02020603050405020304" pitchFamily="18" charset="0"/>
                <a:ea typeface="宋体" panose="02010600030101010101" pitchFamily="2" charset="-122"/>
              </a:rPr>
              <a:t>。此外，因为在级联结</a:t>
            </a:r>
            <a:r>
              <a:rPr lang="zh-CN" altLang="en-US" dirty="0">
                <a:latin typeface="Times New Roman" panose="02020603050405020304" pitchFamily="18" charset="0"/>
                <a:ea typeface="宋体" panose="02010600030101010101" pitchFamily="2" charset="-122"/>
              </a:rPr>
              <a:t>构中，后面的网络的输出不会流到前面，所以其运算误差也比直接型小。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5018405" y="2493010"/>
            <a:ext cx="3585845" cy="10077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601" name="文本框 420867"/>
          <p:cNvSpPr txBox="1"/>
          <p:nvPr/>
        </p:nvSpPr>
        <p:spPr>
          <a:xfrm>
            <a:off x="950913" y="620713"/>
            <a:ext cx="4986337" cy="457200"/>
          </a:xfrm>
          <a:prstGeom prst="rect">
            <a:avLst/>
          </a:prstGeom>
          <a:solidFill>
            <a:schemeClr val="accent1"/>
          </a:solidFill>
          <a:ln w="9525">
            <a:noFill/>
          </a:ln>
        </p:spPr>
        <p:txBody>
          <a:bodyPr wrap="none" anchor="t">
            <a:spAutoFit/>
          </a:bodyPr>
          <a:p>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例</a:t>
            </a:r>
            <a:r>
              <a:rPr lang="en-US" altLang="zh-CN" b="1">
                <a:latin typeface="Times New Roman" panose="02020603050405020304" pitchFamily="18" charset="0"/>
                <a:ea typeface="宋体" panose="02010600030101010101" pitchFamily="2" charset="-122"/>
              </a:rPr>
              <a:t>4-2</a:t>
            </a:r>
            <a:r>
              <a:rPr lang="en-US" altLang="zh-CN" dirty="0">
                <a:latin typeface="Times New Roman" panose="02020603050405020304" pitchFamily="18" charset="0"/>
                <a:ea typeface="宋体" panose="02010600030101010101" pitchFamily="2" charset="-122"/>
              </a:rPr>
              <a:t> ] </a:t>
            </a:r>
            <a:r>
              <a:rPr lang="zh-CN" altLang="en-US" dirty="0">
                <a:latin typeface="Times New Roman" panose="02020603050405020304" pitchFamily="18" charset="0"/>
                <a:ea typeface="宋体" panose="02010600030101010101" pitchFamily="2" charset="-122"/>
              </a:rPr>
              <a:t>用级联型结构实现系统函数 </a:t>
            </a:r>
            <a:endParaRPr lang="zh-CN" altLang="en-US" dirty="0">
              <a:latin typeface="Times New Roman" panose="02020603050405020304" pitchFamily="18" charset="0"/>
              <a:ea typeface="宋体" panose="02010600030101010101" pitchFamily="2" charset="-122"/>
            </a:endParaRPr>
          </a:p>
        </p:txBody>
      </p:sp>
      <p:graphicFrame>
        <p:nvGraphicFramePr>
          <p:cNvPr id="25602" name="对象 420868"/>
          <p:cNvGraphicFramePr/>
          <p:nvPr/>
        </p:nvGraphicFramePr>
        <p:xfrm>
          <a:off x="2197100" y="1196975"/>
          <a:ext cx="4895850" cy="996950"/>
        </p:xfrm>
        <a:graphic>
          <a:graphicData uri="http://schemas.openxmlformats.org/presentationml/2006/ole">
            <mc:AlternateContent xmlns:mc="http://schemas.openxmlformats.org/markup-compatibility/2006">
              <mc:Choice xmlns:v="urn:schemas-microsoft-com:vml" Requires="v">
                <p:oleObj spid="_x0000_s3109" name="" r:id="rId1" imgW="2057400" imgH="419100" progId="Equation.DSMT4">
                  <p:embed/>
                </p:oleObj>
              </mc:Choice>
              <mc:Fallback>
                <p:oleObj name="" r:id="rId1" imgW="2057400" imgH="419100" progId="Equation.DSMT4">
                  <p:embed/>
                  <p:pic>
                    <p:nvPicPr>
                      <p:cNvPr id="0" name="图片 3108"/>
                      <p:cNvPicPr/>
                      <p:nvPr/>
                    </p:nvPicPr>
                    <p:blipFill>
                      <a:blip r:embed="rId2"/>
                      <a:stretch>
                        <a:fillRect/>
                      </a:stretch>
                    </p:blipFill>
                    <p:spPr>
                      <a:xfrm>
                        <a:off x="2197100" y="1196975"/>
                        <a:ext cx="4895850" cy="996950"/>
                      </a:xfrm>
                      <a:prstGeom prst="rect">
                        <a:avLst/>
                      </a:prstGeom>
                      <a:noFill/>
                      <a:ln w="38100">
                        <a:noFill/>
                        <a:miter/>
                      </a:ln>
                    </p:spPr>
                  </p:pic>
                </p:oleObj>
              </mc:Fallback>
            </mc:AlternateContent>
          </a:graphicData>
        </a:graphic>
      </p:graphicFrame>
      <p:sp>
        <p:nvSpPr>
          <p:cNvPr id="25603" name="文本框 420870"/>
          <p:cNvSpPr txBox="1"/>
          <p:nvPr/>
        </p:nvSpPr>
        <p:spPr>
          <a:xfrm>
            <a:off x="592138" y="2081213"/>
            <a:ext cx="873125"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解： </a:t>
            </a:r>
            <a:endParaRPr lang="zh-CN" altLang="en-US" b="1" dirty="0">
              <a:latin typeface="Times New Roman" panose="02020603050405020304" pitchFamily="18" charset="0"/>
              <a:ea typeface="宋体" panose="02010600030101010101" pitchFamily="2" charset="-122"/>
            </a:endParaRPr>
          </a:p>
        </p:txBody>
      </p:sp>
      <p:graphicFrame>
        <p:nvGraphicFramePr>
          <p:cNvPr id="25604" name="对象 420871"/>
          <p:cNvGraphicFramePr/>
          <p:nvPr/>
        </p:nvGraphicFramePr>
        <p:xfrm>
          <a:off x="611188" y="2527300"/>
          <a:ext cx="8035925" cy="3349625"/>
        </p:xfrm>
        <a:graphic>
          <a:graphicData uri="http://schemas.openxmlformats.org/presentationml/2006/ole">
            <mc:AlternateContent xmlns:mc="http://schemas.openxmlformats.org/markup-compatibility/2006">
              <mc:Choice xmlns:v="urn:schemas-microsoft-com:vml" Requires="v">
                <p:oleObj spid="_x0000_s3108" name="" r:id="rId3" imgW="3746500" imgH="1562100" progId="Equation.DSMT4">
                  <p:embed/>
                </p:oleObj>
              </mc:Choice>
              <mc:Fallback>
                <p:oleObj name="" r:id="rId3" imgW="3746500" imgH="1562100" progId="Equation.DSMT4">
                  <p:embed/>
                  <p:pic>
                    <p:nvPicPr>
                      <p:cNvPr id="0" name="图片 3107"/>
                      <p:cNvPicPr/>
                      <p:nvPr/>
                    </p:nvPicPr>
                    <p:blipFill>
                      <a:blip r:embed="rId4"/>
                      <a:stretch>
                        <a:fillRect/>
                      </a:stretch>
                    </p:blipFill>
                    <p:spPr>
                      <a:xfrm>
                        <a:off x="611188" y="2527300"/>
                        <a:ext cx="8035925" cy="3349625"/>
                      </a:xfrm>
                      <a:prstGeom prst="rect">
                        <a:avLst/>
                      </a:prstGeom>
                      <a:noFill/>
                      <a:ln w="38100">
                        <a:noFill/>
                        <a:miter/>
                      </a:ln>
                    </p:spPr>
                  </p:pic>
                </p:oleObj>
              </mc:Fallback>
            </mc:AlternateContent>
          </a:graphicData>
        </a:graphic>
      </p:graphicFrame>
      <p:sp>
        <p:nvSpPr>
          <p:cNvPr id="2" name="十字星 1"/>
          <p:cNvSpPr/>
          <p:nvPr/>
        </p:nvSpPr>
        <p:spPr>
          <a:xfrm>
            <a:off x="374650" y="620713"/>
            <a:ext cx="576263" cy="649288"/>
          </a:xfrm>
          <a:prstGeom prst="star4">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graphicFrame>
        <p:nvGraphicFramePr>
          <p:cNvPr id="3" name="对象 2">
            <a:hlinkClick r:id="" action="ppaction://ole?verb="/>
          </p:cNvPr>
          <p:cNvGraphicFramePr>
            <a:graphicFrameLocks noChangeAspect="1"/>
          </p:cNvGraphicFramePr>
          <p:nvPr/>
        </p:nvGraphicFramePr>
        <p:xfrm>
          <a:off x="5081588" y="4040188"/>
          <a:ext cx="3940175" cy="838200"/>
        </p:xfrm>
        <a:graphic>
          <a:graphicData uri="http://schemas.openxmlformats.org/presentationml/2006/ole">
            <mc:AlternateContent xmlns:mc="http://schemas.openxmlformats.org/markup-compatibility/2006">
              <mc:Choice xmlns:v="urn:schemas-microsoft-com:vml" Requires="v">
                <p:oleObj spid="_x0000_s3105" name="" r:id="rId5" imgW="1968500" imgH="419100" progId="Equation.KSEE3">
                  <p:embed/>
                </p:oleObj>
              </mc:Choice>
              <mc:Fallback>
                <p:oleObj name="" r:id="rId5" imgW="1968500" imgH="419100" progId="Equation.KSEE3">
                  <p:embed/>
                  <p:pic>
                    <p:nvPicPr>
                      <p:cNvPr id="0" name="图片 3104"/>
                      <p:cNvPicPr/>
                      <p:nvPr/>
                    </p:nvPicPr>
                    <p:blipFill>
                      <a:blip r:embed="rId6"/>
                      <a:stretch>
                        <a:fillRect/>
                      </a:stretch>
                    </p:blipFill>
                    <p:spPr>
                      <a:xfrm>
                        <a:off x="5081588" y="4040188"/>
                        <a:ext cx="3940175" cy="838200"/>
                      </a:xfrm>
                      <a:prstGeom prst="rect">
                        <a:avLst/>
                      </a:prstGeom>
                      <a:solidFill>
                        <a:schemeClr val="accent1"/>
                      </a:solidFill>
                      <a:ln w="38100">
                        <a:noFill/>
                        <a:miter/>
                      </a:ln>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6012180" y="5327015"/>
          <a:ext cx="1971040" cy="549910"/>
        </p:xfrm>
        <a:graphic>
          <a:graphicData uri="http://schemas.openxmlformats.org/presentationml/2006/ole">
            <mc:AlternateContent xmlns:mc="http://schemas.openxmlformats.org/markup-compatibility/2006">
              <mc:Choice xmlns:v="urn:schemas-microsoft-com:vml" Requires="v">
                <p:oleObj spid="_x0000_s2049" name="" r:id="rId7" imgW="774065" imgH="215900" progId="Equation.KSEE3">
                  <p:embed/>
                </p:oleObj>
              </mc:Choice>
              <mc:Fallback>
                <p:oleObj name="" r:id="rId7" imgW="774065" imgH="215900" progId="Equation.KSEE3">
                  <p:embed/>
                  <p:pic>
                    <p:nvPicPr>
                      <p:cNvPr id="0" name="图片 2048"/>
                      <p:cNvPicPr/>
                      <p:nvPr/>
                    </p:nvPicPr>
                    <p:blipFill>
                      <a:blip r:embed="rId8"/>
                      <a:stretch>
                        <a:fillRect/>
                      </a:stretch>
                    </p:blipFill>
                    <p:spPr>
                      <a:xfrm>
                        <a:off x="6012180" y="5327015"/>
                        <a:ext cx="1971040" cy="549910"/>
                      </a:xfrm>
                      <a:prstGeom prst="rect">
                        <a:avLst/>
                      </a:prstGeom>
                      <a:solidFill>
                        <a:schemeClr val="accent1"/>
                      </a:solidFill>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文本框 421891"/>
          <p:cNvSpPr txBox="1"/>
          <p:nvPr/>
        </p:nvSpPr>
        <p:spPr>
          <a:xfrm>
            <a:off x="755650" y="620713"/>
            <a:ext cx="2012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级联型结构：</a:t>
            </a:r>
            <a:endParaRPr lang="zh-CN" altLang="en-US" dirty="0">
              <a:latin typeface="Times New Roman" panose="02020603050405020304" pitchFamily="18" charset="0"/>
              <a:ea typeface="宋体" panose="02010600030101010101" pitchFamily="2" charset="-122"/>
            </a:endParaRPr>
          </a:p>
        </p:txBody>
      </p:sp>
      <p:sp>
        <p:nvSpPr>
          <p:cNvPr id="26626" name="文本框 421892"/>
          <p:cNvSpPr txBox="1"/>
          <p:nvPr/>
        </p:nvSpPr>
        <p:spPr>
          <a:xfrm>
            <a:off x="2267903" y="5372735"/>
            <a:ext cx="4832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4-8   </a:t>
            </a: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4-2 IIR</a:t>
            </a:r>
            <a:r>
              <a:rPr lang="zh-CN" altLang="en-US" dirty="0">
                <a:latin typeface="Times New Roman" panose="02020603050405020304" pitchFamily="18" charset="0"/>
                <a:ea typeface="宋体" panose="02010600030101010101" pitchFamily="2" charset="-122"/>
              </a:rPr>
              <a:t>系统的级联型结构 </a:t>
            </a:r>
            <a:endParaRPr lang="zh-CN" altLang="en-US" dirty="0">
              <a:latin typeface="Times New Roman" panose="02020603050405020304" pitchFamily="18" charset="0"/>
              <a:ea typeface="宋体" panose="02010600030101010101" pitchFamily="2" charset="-122"/>
            </a:endParaRPr>
          </a:p>
        </p:txBody>
      </p:sp>
      <p:pic>
        <p:nvPicPr>
          <p:cNvPr id="26627" name="图片 421894" descr="4-8"/>
          <p:cNvPicPr>
            <a:picLocks noChangeAspect="1"/>
          </p:cNvPicPr>
          <p:nvPr/>
        </p:nvPicPr>
        <p:blipFill>
          <a:blip r:embed="rId1"/>
          <a:stretch>
            <a:fillRect/>
          </a:stretch>
        </p:blipFill>
        <p:spPr>
          <a:xfrm>
            <a:off x="1691640" y="3563938"/>
            <a:ext cx="5715000" cy="1247775"/>
          </a:xfrm>
          <a:prstGeom prst="rect">
            <a:avLst/>
          </a:prstGeom>
          <a:noFill/>
          <a:ln w="9525">
            <a:noFill/>
          </a:ln>
        </p:spPr>
      </p:pic>
      <p:graphicFrame>
        <p:nvGraphicFramePr>
          <p:cNvPr id="2" name="对象 1"/>
          <p:cNvGraphicFramePr/>
          <p:nvPr/>
        </p:nvGraphicFramePr>
        <p:xfrm>
          <a:off x="1578610" y="1124585"/>
          <a:ext cx="5986780" cy="2068195"/>
        </p:xfrm>
        <a:graphic>
          <a:graphicData uri="http://schemas.openxmlformats.org/presentationml/2006/ole">
            <mc:AlternateContent xmlns:mc="http://schemas.openxmlformats.org/markup-compatibility/2006">
              <mc:Choice xmlns:v="urn:schemas-microsoft-com:vml" Requires="v">
                <p:oleObj spid="_x0000_s3" name="" r:id="rId2" imgW="5981700" imgH="2066925" progId="Paint.Picture">
                  <p:embed/>
                </p:oleObj>
              </mc:Choice>
              <mc:Fallback>
                <p:oleObj name="" r:id="rId2" imgW="5981700" imgH="2066925" progId="Paint.Picture">
                  <p:embed/>
                  <p:pic>
                    <p:nvPicPr>
                      <p:cNvPr id="0" name="图片 2"/>
                      <p:cNvPicPr/>
                      <p:nvPr/>
                    </p:nvPicPr>
                    <p:blipFill>
                      <a:blip r:embed="rId3"/>
                      <a:stretch>
                        <a:fillRect/>
                      </a:stretch>
                    </p:blipFill>
                    <p:spPr>
                      <a:xfrm>
                        <a:off x="1578610" y="1124585"/>
                        <a:ext cx="5986780" cy="2068195"/>
                      </a:xfrm>
                      <a:prstGeom prst="rect">
                        <a:avLst/>
                      </a:prstGeom>
                    </p:spPr>
                  </p:pic>
                </p:oleObj>
              </mc:Fallback>
            </mc:AlternateContent>
          </a:graphicData>
        </a:graphic>
      </p:graphicFrame>
      <p:pic>
        <p:nvPicPr>
          <p:cNvPr id="4" name="图片 3"/>
          <p:cNvPicPr>
            <a:picLocks noChangeAspect="1"/>
          </p:cNvPicPr>
          <p:nvPr/>
        </p:nvPicPr>
        <p:blipFill>
          <a:blip r:embed="rId4"/>
          <a:stretch>
            <a:fillRect/>
          </a:stretch>
        </p:blipFill>
        <p:spPr>
          <a:xfrm>
            <a:off x="3420110" y="476885"/>
            <a:ext cx="3676650" cy="1038225"/>
          </a:xfrm>
          <a:prstGeom prst="rect">
            <a:avLst/>
          </a:prstGeom>
        </p:spPr>
      </p:pic>
      <p:pic>
        <p:nvPicPr>
          <p:cNvPr id="5" name="图片 4"/>
          <p:cNvPicPr>
            <a:picLocks noChangeAspect="1"/>
          </p:cNvPicPr>
          <p:nvPr>
            <p:custDataLst>
              <p:tags r:id="rId5"/>
            </p:custDataLst>
          </p:nvPr>
        </p:nvPicPr>
        <p:blipFill>
          <a:blip r:embed="rId6"/>
          <a:stretch>
            <a:fillRect/>
          </a:stretch>
        </p:blipFill>
        <p:spPr>
          <a:xfrm>
            <a:off x="5220335" y="4364990"/>
            <a:ext cx="3638550" cy="1057275"/>
          </a:xfrm>
          <a:prstGeom prst="rect">
            <a:avLst/>
          </a:prstGeom>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422915"/>
          <p:cNvSpPr txBox="1"/>
          <p:nvPr/>
        </p:nvSpPr>
        <p:spPr>
          <a:xfrm>
            <a:off x="611188" y="836613"/>
            <a:ext cx="7993062" cy="2136775"/>
          </a:xfrm>
          <a:prstGeom prst="rect">
            <a:avLst/>
          </a:prstGeom>
          <a:noFill/>
          <a:ln w="9525">
            <a:noFill/>
          </a:ln>
        </p:spPr>
        <p:txBody>
          <a:bodyPr anchor="t">
            <a:spAutoFit/>
          </a:bodyPr>
          <a:p>
            <a:pPr>
              <a:lnSpc>
                <a:spcPct val="140000"/>
              </a:lnSpc>
              <a:spcBef>
                <a:spcPct val="50000"/>
              </a:spcBef>
            </a:pPr>
            <a:r>
              <a:rPr lang="zh-CN" altLang="en-US" dirty="0">
                <a:latin typeface="Times New Roman" panose="02020603050405020304" pitchFamily="18" charset="0"/>
                <a:ea typeface="宋体" panose="02010600030101010101" pitchFamily="2" charset="-122"/>
              </a:rPr>
              <a:t>　　当然将上式中的因式进行不同的组合，我们还可以得到不同的网络结构。一般来说，我们通常把阶数相同的零极点放到同一个子滤波器中，这样可以减少单位延迟的数目。显然一个系统的级联型结构网络并不是唯一的。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1043940" y="3933190"/>
            <a:ext cx="791845" cy="647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673" name="文本框 423939"/>
          <p:cNvSpPr txBox="1"/>
          <p:nvPr/>
        </p:nvSpPr>
        <p:spPr>
          <a:xfrm>
            <a:off x="684213" y="836613"/>
            <a:ext cx="7777162" cy="4225925"/>
          </a:xfrm>
          <a:prstGeom prst="rect">
            <a:avLst/>
          </a:prstGeom>
          <a:noFill/>
          <a:ln w="9525">
            <a:noFill/>
          </a:ln>
        </p:spPr>
        <p:txBody>
          <a:bodyPr anchor="t">
            <a:spAutoFit/>
          </a:bodyPr>
          <a:p>
            <a:pPr>
              <a:lnSpc>
                <a:spcPct val="140000"/>
              </a:lnSpc>
            </a:pPr>
            <a:r>
              <a:rPr lang="zh-CN" altLang="en-US" b="1" dirty="0">
                <a:latin typeface="Times New Roman" panose="02020603050405020304" pitchFamily="18" charset="0"/>
                <a:ea typeface="宋体" panose="02010600030101010101" pitchFamily="2" charset="-122"/>
              </a:rPr>
              <a:t>　　级联型网络结构的</a:t>
            </a:r>
            <a:r>
              <a:rPr lang="en-US" altLang="zh-CN" b="1" dirty="0">
                <a:latin typeface="Times New Roman" panose="02020603050405020304" pitchFamily="18" charset="0"/>
                <a:ea typeface="宋体" panose="02010600030101010101" pitchFamily="2" charset="-122"/>
              </a:rPr>
              <a:t>MATLAB</a:t>
            </a:r>
            <a:r>
              <a:rPr lang="zh-CN" altLang="en-US" b="1" dirty="0">
                <a:latin typeface="Times New Roman" panose="02020603050405020304" pitchFamily="18" charset="0"/>
                <a:ea typeface="宋体" panose="02010600030101010101" pitchFamily="2" charset="-122"/>
              </a:rPr>
              <a:t>实现：</a:t>
            </a:r>
            <a:endParaRPr lang="zh-CN" altLang="en-US" dirty="0">
              <a:latin typeface="Times New Roman" panose="02020603050405020304" pitchFamily="18" charset="0"/>
              <a:ea typeface="宋体" panose="02010600030101010101" pitchFamily="2" charset="-122"/>
            </a:endParaRPr>
          </a:p>
          <a:p>
            <a:pPr>
              <a:lnSpc>
                <a:spcPct val="140000"/>
              </a:lnSpc>
            </a:pPr>
            <a:r>
              <a:rPr lang="zh-CN" altLang="en-US" dirty="0">
                <a:latin typeface="Times New Roman" panose="02020603050405020304" pitchFamily="18" charset="0"/>
                <a:ea typeface="宋体" panose="02010600030101010101" pitchFamily="2" charset="-122"/>
              </a:rPr>
              <a:t>　　若已知数字滤波器的直接型结构，要把直接型转换为级联型就必须将系统函数的分子、分母进行因式分解。随着系统阶数的增大，因式分解的难度增加，实际上当阶数大于</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时，手工进行因式分解已经比较困难，必须借助</a:t>
            </a:r>
            <a:r>
              <a:rPr lang="en-US" altLang="zh-CN" dirty="0">
                <a:latin typeface="Times New Roman" panose="02020603050405020304" pitchFamily="18" charset="0"/>
                <a:ea typeface="宋体" panose="02010600030101010101" pitchFamily="2" charset="-122"/>
              </a:rPr>
              <a:t>MATLAB</a:t>
            </a:r>
            <a:r>
              <a:rPr lang="zh-CN" altLang="en-US" dirty="0">
                <a:latin typeface="Times New Roman" panose="02020603050405020304" pitchFamily="18" charset="0"/>
                <a:ea typeface="宋体" panose="02010600030101010101" pitchFamily="2" charset="-122"/>
              </a:rPr>
              <a:t>语言编程计算。信号处理工具箱中提供了函数</a:t>
            </a:r>
            <a:r>
              <a:rPr lang="en-US" altLang="zh-CN" b="1" u="sng" dirty="0">
                <a:solidFill>
                  <a:srgbClr val="FF0000"/>
                </a:solidFill>
                <a:latin typeface="Times New Roman" panose="02020603050405020304" pitchFamily="18" charset="0"/>
                <a:ea typeface="宋体" panose="02010600030101010101" pitchFamily="2" charset="-122"/>
              </a:rPr>
              <a:t>tf2sos</a:t>
            </a:r>
            <a:r>
              <a:rPr lang="en-US" altLang="zh-CN" dirty="0">
                <a:latin typeface="Times New Roman" panose="02020603050405020304" pitchFamily="18" charset="0"/>
                <a:ea typeface="宋体" panose="02010600030101010101" pitchFamily="2" charset="-122"/>
              </a:rPr>
              <a:t>(transfer function to second-order-section)</a:t>
            </a:r>
            <a:r>
              <a:rPr lang="zh-CN" altLang="en-US" dirty="0">
                <a:latin typeface="Times New Roman" panose="02020603050405020304" pitchFamily="18" charset="0"/>
                <a:ea typeface="宋体" panose="02010600030101010101" pitchFamily="2" charset="-122"/>
              </a:rPr>
              <a:t>，该函数可以实现由系统函数转换为多个二阶网络的级联型式。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9697" name="对象 424963"/>
          <p:cNvGraphicFramePr/>
          <p:nvPr/>
        </p:nvGraphicFramePr>
        <p:xfrm>
          <a:off x="0" y="981075"/>
          <a:ext cx="9070975" cy="3862388"/>
        </p:xfrm>
        <a:graphic>
          <a:graphicData uri="http://schemas.openxmlformats.org/presentationml/2006/ole">
            <mc:AlternateContent xmlns:mc="http://schemas.openxmlformats.org/markup-compatibility/2006">
              <mc:Choice xmlns:v="urn:schemas-microsoft-com:vml" Requires="v">
                <p:oleObj spid="_x0000_s3110" name="" r:id="rId1" imgW="4233545" imgH="1805940" progId="Word.Document.8">
                  <p:embed/>
                </p:oleObj>
              </mc:Choice>
              <mc:Fallback>
                <p:oleObj name="" r:id="rId1" imgW="4233545" imgH="1805940" progId="Word.Document.8">
                  <p:embed/>
                  <p:pic>
                    <p:nvPicPr>
                      <p:cNvPr id="0" name="图片 3109"/>
                      <p:cNvPicPr/>
                      <p:nvPr/>
                    </p:nvPicPr>
                    <p:blipFill>
                      <a:blip r:embed="rId2"/>
                      <a:stretch>
                        <a:fillRect/>
                      </a:stretch>
                    </p:blipFill>
                    <p:spPr>
                      <a:xfrm>
                        <a:off x="0" y="981075"/>
                        <a:ext cx="9070975" cy="3862388"/>
                      </a:xfrm>
                      <a:prstGeom prst="rect">
                        <a:avLst/>
                      </a:prstGeom>
                      <a:noFill/>
                      <a:ln w="38100">
                        <a:noFill/>
                        <a:miter/>
                      </a:ln>
                    </p:spPr>
                  </p:pic>
                </p:oleObj>
              </mc:Fallback>
            </mc:AlternateContent>
          </a:graphicData>
        </a:graphic>
      </p:graphicFrame>
      <p:graphicFrame>
        <p:nvGraphicFramePr>
          <p:cNvPr id="2" name="对象 1">
            <a:hlinkClick r:id="" action="ppaction://ole?verb="/>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1025" name="" r:id="rId3" imgW="914400" imgH="215900" progId="Equation.KSEE3">
                  <p:embed/>
                </p:oleObj>
              </mc:Choice>
              <mc:Fallback>
                <p:oleObj name="" r:id="rId3" imgW="914400" imgH="215900" progId="Equation.KSEE3">
                  <p:embed/>
                  <p:pic>
                    <p:nvPicPr>
                      <p:cNvPr id="0" name="图片 1024"/>
                      <p:cNvPicPr/>
                      <p:nvPr/>
                    </p:nvPicPr>
                    <p:blipFill>
                      <a:blip r:embed="rId4"/>
                      <a:stretch>
                        <a:fillRect/>
                      </a:stretch>
                    </p:blipFill>
                    <p:spPr>
                      <a:xfrm>
                        <a:off x="4114800" y="3321050"/>
                        <a:ext cx="914400" cy="215900"/>
                      </a:xfrm>
                      <a:prstGeom prst="rect">
                        <a:avLst/>
                      </a:prstGeom>
                    </p:spPr>
                  </p:pic>
                </p:oleObj>
              </mc:Fallback>
            </mc:AlternateContent>
          </a:graphicData>
        </a:graphic>
      </p:graphicFrame>
    </p:spTree>
  </p:cSld>
  <p:clrMapOvr>
    <a:masterClrMapping/>
  </p:clrMapOvr>
  <p:transition>
    <p:blinds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文本框 425987"/>
          <p:cNvSpPr txBox="1"/>
          <p:nvPr/>
        </p:nvSpPr>
        <p:spPr>
          <a:xfrm>
            <a:off x="684213" y="765175"/>
            <a:ext cx="7920037" cy="1041400"/>
          </a:xfrm>
          <a:prstGeom prst="rect">
            <a:avLst/>
          </a:prstGeom>
          <a:noFill/>
          <a:ln w="9525">
            <a:noFill/>
          </a:ln>
        </p:spPr>
        <p:txBody>
          <a:bodyPr anchor="t">
            <a:spAutoFit/>
          </a:bodyPr>
          <a:p>
            <a:pPr>
              <a:lnSpc>
                <a:spcPct val="130000"/>
              </a:lnSpc>
              <a:spcBef>
                <a:spcPct val="50000"/>
              </a:spcBef>
            </a:pPr>
            <a:r>
              <a:rPr lang="zh-CN" altLang="en-US" dirty="0">
                <a:latin typeface="Times New Roman" panose="02020603050405020304" pitchFamily="18" charset="0"/>
                <a:ea typeface="宋体" panose="02010600030101010101" pitchFamily="2" charset="-122"/>
              </a:rPr>
              <a:t>　　矩阵中每一行代表一个二阶网络，前三项是分子系数，后三项为分母系数。二阶网络为： </a:t>
            </a:r>
            <a:endParaRPr lang="zh-CN" altLang="en-US" dirty="0">
              <a:latin typeface="Times New Roman" panose="02020603050405020304" pitchFamily="18" charset="0"/>
              <a:ea typeface="宋体" panose="02010600030101010101" pitchFamily="2" charset="-122"/>
            </a:endParaRPr>
          </a:p>
        </p:txBody>
      </p:sp>
      <p:graphicFrame>
        <p:nvGraphicFramePr>
          <p:cNvPr id="30722" name="对象 425988"/>
          <p:cNvGraphicFramePr/>
          <p:nvPr/>
        </p:nvGraphicFramePr>
        <p:xfrm>
          <a:off x="1908175" y="1989138"/>
          <a:ext cx="4895850" cy="1223962"/>
        </p:xfrm>
        <a:graphic>
          <a:graphicData uri="http://schemas.openxmlformats.org/presentationml/2006/ole">
            <mc:AlternateContent xmlns:mc="http://schemas.openxmlformats.org/markup-compatibility/2006">
              <mc:Choice xmlns:v="urn:schemas-microsoft-com:vml" Requires="v">
                <p:oleObj spid="_x0000_s3111" name="" r:id="rId1" imgW="1828800" imgH="457200" progId="Equation.DSMT4">
                  <p:embed/>
                </p:oleObj>
              </mc:Choice>
              <mc:Fallback>
                <p:oleObj name="" r:id="rId1" imgW="1828800" imgH="457200" progId="Equation.DSMT4">
                  <p:embed/>
                  <p:pic>
                    <p:nvPicPr>
                      <p:cNvPr id="0" name="图片 3110"/>
                      <p:cNvPicPr/>
                      <p:nvPr/>
                    </p:nvPicPr>
                    <p:blipFill>
                      <a:blip r:embed="rId2"/>
                      <a:stretch>
                        <a:fillRect/>
                      </a:stretch>
                    </p:blipFill>
                    <p:spPr>
                      <a:xfrm>
                        <a:off x="1908175" y="1989138"/>
                        <a:ext cx="4895850" cy="1223962"/>
                      </a:xfrm>
                      <a:prstGeom prst="rect">
                        <a:avLst/>
                      </a:prstGeom>
                      <a:noFill/>
                      <a:ln w="38100">
                        <a:noFill/>
                        <a:miter/>
                      </a:ln>
                    </p:spPr>
                  </p:pic>
                </p:oleObj>
              </mc:Fallback>
            </mc:AlternateContent>
          </a:graphicData>
        </a:graphic>
      </p:graphicFrame>
      <p:graphicFrame>
        <p:nvGraphicFramePr>
          <p:cNvPr id="30723" name="对象 425990"/>
          <p:cNvGraphicFramePr/>
          <p:nvPr/>
        </p:nvGraphicFramePr>
        <p:xfrm>
          <a:off x="5724525" y="3357563"/>
          <a:ext cx="1800225" cy="547687"/>
        </p:xfrm>
        <a:graphic>
          <a:graphicData uri="http://schemas.openxmlformats.org/presentationml/2006/ole">
            <mc:AlternateContent xmlns:mc="http://schemas.openxmlformats.org/markup-compatibility/2006">
              <mc:Choice xmlns:v="urn:schemas-microsoft-com:vml" Requires="v">
                <p:oleObj spid="_x0000_s3106" name="" r:id="rId3" imgW="660400" imgH="203200" progId="Equation.DSMT4">
                  <p:embed/>
                </p:oleObj>
              </mc:Choice>
              <mc:Fallback>
                <p:oleObj name="" r:id="rId3" imgW="660400" imgH="203200" progId="Equation.DSMT4">
                  <p:embed/>
                  <p:pic>
                    <p:nvPicPr>
                      <p:cNvPr id="0" name="图片 3105"/>
                      <p:cNvPicPr/>
                      <p:nvPr/>
                    </p:nvPicPr>
                    <p:blipFill>
                      <a:blip r:embed="rId4"/>
                      <a:stretch>
                        <a:fillRect/>
                      </a:stretch>
                    </p:blipFill>
                    <p:spPr>
                      <a:xfrm>
                        <a:off x="5724525" y="3357563"/>
                        <a:ext cx="1800225" cy="547687"/>
                      </a:xfrm>
                      <a:prstGeom prst="rect">
                        <a:avLst/>
                      </a:prstGeom>
                      <a:noFill/>
                      <a:ln w="38100">
                        <a:noFill/>
                        <a:miter/>
                      </a:ln>
                    </p:spPr>
                  </p:pic>
                </p:oleObj>
              </mc:Fallback>
            </mc:AlternateContent>
          </a:graphicData>
        </a:graphic>
      </p:graphicFrame>
      <p:sp>
        <p:nvSpPr>
          <p:cNvPr id="30724" name="文本框 425992"/>
          <p:cNvSpPr txBox="1"/>
          <p:nvPr/>
        </p:nvSpPr>
        <p:spPr>
          <a:xfrm>
            <a:off x="539750" y="3860800"/>
            <a:ext cx="3613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最后得到的级联型形式： </a:t>
            </a:r>
            <a:endParaRPr lang="zh-CN" altLang="en-US" dirty="0">
              <a:latin typeface="Times New Roman" panose="02020603050405020304" pitchFamily="18" charset="0"/>
              <a:ea typeface="宋体" panose="02010600030101010101" pitchFamily="2" charset="-122"/>
            </a:endParaRPr>
          </a:p>
        </p:txBody>
      </p:sp>
      <p:graphicFrame>
        <p:nvGraphicFramePr>
          <p:cNvPr id="30725" name="对象 425993"/>
          <p:cNvGraphicFramePr/>
          <p:nvPr/>
        </p:nvGraphicFramePr>
        <p:xfrm>
          <a:off x="1908175" y="4868863"/>
          <a:ext cx="5400675" cy="644525"/>
        </p:xfrm>
        <a:graphic>
          <a:graphicData uri="http://schemas.openxmlformats.org/presentationml/2006/ole">
            <mc:AlternateContent xmlns:mc="http://schemas.openxmlformats.org/markup-compatibility/2006">
              <mc:Choice xmlns:v="urn:schemas-microsoft-com:vml" Requires="v">
                <p:oleObj spid="_x0000_s3107" name="" r:id="rId5" imgW="1917700" imgH="228600" progId="Equation.DSMT4">
                  <p:embed/>
                </p:oleObj>
              </mc:Choice>
              <mc:Fallback>
                <p:oleObj name="" r:id="rId5" imgW="1917700" imgH="228600" progId="Equation.DSMT4">
                  <p:embed/>
                  <p:pic>
                    <p:nvPicPr>
                      <p:cNvPr id="0" name="图片 3106"/>
                      <p:cNvPicPr/>
                      <p:nvPr/>
                    </p:nvPicPr>
                    <p:blipFill>
                      <a:blip r:embed="rId6"/>
                      <a:stretch>
                        <a:fillRect/>
                      </a:stretch>
                    </p:blipFill>
                    <p:spPr>
                      <a:xfrm>
                        <a:off x="1908175" y="4868863"/>
                        <a:ext cx="5400675" cy="644525"/>
                      </a:xfrm>
                      <a:prstGeom prst="rect">
                        <a:avLst/>
                      </a:prstGeom>
                      <a:noFill/>
                      <a:ln w="38100">
                        <a:noFill/>
                        <a:miter/>
                      </a:ln>
                    </p:spPr>
                  </p:pic>
                </p:oleObj>
              </mc:Fallback>
            </mc:AlternateContent>
          </a:graphicData>
        </a:graphic>
      </p:graphicFrame>
    </p:spTree>
  </p:cSld>
  <p:clrMapOvr>
    <a:masterClrMapping/>
  </p:clrMapOvr>
  <p:transition>
    <p:blinds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1745" name="对象 427012"/>
          <p:cNvGraphicFramePr/>
          <p:nvPr/>
        </p:nvGraphicFramePr>
        <p:xfrm>
          <a:off x="34290" y="475933"/>
          <a:ext cx="9074785" cy="6523990"/>
        </p:xfrm>
        <a:graphic>
          <a:graphicData uri="http://schemas.openxmlformats.org/presentationml/2006/ole">
            <mc:AlternateContent xmlns:mc="http://schemas.openxmlformats.org/markup-compatibility/2006">
              <mc:Choice xmlns:v="urn:schemas-microsoft-com:vml" Requires="v">
                <p:oleObj spid="_x0000_s3114" name="" r:id="rId1" imgW="3876675" imgH="2790825" progId="Word.Document.8">
                  <p:embed/>
                </p:oleObj>
              </mc:Choice>
              <mc:Fallback>
                <p:oleObj name="" r:id="rId1" imgW="3876675" imgH="2790825" progId="Word.Document.8">
                  <p:embed/>
                  <p:pic>
                    <p:nvPicPr>
                      <p:cNvPr id="0" name="图片 3113"/>
                      <p:cNvPicPr/>
                      <p:nvPr/>
                    </p:nvPicPr>
                    <p:blipFill>
                      <a:blip r:embed="rId2"/>
                      <a:stretch>
                        <a:fillRect/>
                      </a:stretch>
                    </p:blipFill>
                    <p:spPr>
                      <a:xfrm>
                        <a:off x="34290" y="475933"/>
                        <a:ext cx="9074785" cy="6523990"/>
                      </a:xfrm>
                      <a:prstGeom prst="rect">
                        <a:avLst/>
                      </a:prstGeom>
                      <a:noFill/>
                      <a:ln w="38100">
                        <a:noFill/>
                        <a:miter/>
                      </a:ln>
                    </p:spPr>
                  </p:pic>
                </p:oleObj>
              </mc:Fallback>
            </mc:AlternateContent>
          </a:graphicData>
        </a:graphic>
      </p:graphicFrame>
      <p:graphicFrame>
        <p:nvGraphicFramePr>
          <p:cNvPr id="25602" name="对象 420868"/>
          <p:cNvGraphicFramePr/>
          <p:nvPr/>
        </p:nvGraphicFramePr>
        <p:xfrm>
          <a:off x="4627245" y="1052830"/>
          <a:ext cx="4516755" cy="789940"/>
        </p:xfrm>
        <a:graphic>
          <a:graphicData uri="http://schemas.openxmlformats.org/presentationml/2006/ole">
            <mc:AlternateContent xmlns:mc="http://schemas.openxmlformats.org/markup-compatibility/2006">
              <mc:Choice xmlns:v="urn:schemas-microsoft-com:vml" Requires="v">
                <p:oleObj spid="_x0000_s3109" name="" r:id="rId3" imgW="2057400" imgH="419100" progId="Equation.DSMT4">
                  <p:embed/>
                </p:oleObj>
              </mc:Choice>
              <mc:Fallback>
                <p:oleObj name="" r:id="rId3" imgW="2057400" imgH="419100" progId="Equation.DSMT4">
                  <p:embed/>
                  <p:pic>
                    <p:nvPicPr>
                      <p:cNvPr id="0" name="图片 3108"/>
                      <p:cNvPicPr/>
                      <p:nvPr/>
                    </p:nvPicPr>
                    <p:blipFill>
                      <a:blip r:embed="rId4"/>
                      <a:stretch>
                        <a:fillRect/>
                      </a:stretch>
                    </p:blipFill>
                    <p:spPr>
                      <a:xfrm>
                        <a:off x="4627245" y="1052830"/>
                        <a:ext cx="4516755" cy="789940"/>
                      </a:xfrm>
                      <a:prstGeom prst="rect">
                        <a:avLst/>
                      </a:prstGeom>
                      <a:solidFill>
                        <a:schemeClr val="accent1"/>
                      </a:solidFill>
                      <a:ln w="38100">
                        <a:noFill/>
                        <a:miter/>
                      </a:ln>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5194935" y="4653280"/>
          <a:ext cx="3949065" cy="720090"/>
        </p:xfrm>
        <a:graphic>
          <a:graphicData uri="http://schemas.openxmlformats.org/presentationml/2006/ole">
            <mc:AlternateContent xmlns:mc="http://schemas.openxmlformats.org/markup-compatibility/2006">
              <mc:Choice xmlns:v="urn:schemas-microsoft-com:vml" Requires="v">
                <p:oleObj spid="_x0000_s1026" name="" r:id="rId5" imgW="2438400" imgH="444500" progId="Equation.KSEE3">
                  <p:embed/>
                </p:oleObj>
              </mc:Choice>
              <mc:Fallback>
                <p:oleObj name="" r:id="rId5" imgW="2438400" imgH="444500" progId="Equation.KSEE3">
                  <p:embed/>
                  <p:pic>
                    <p:nvPicPr>
                      <p:cNvPr id="0" name="图片 1025"/>
                      <p:cNvPicPr/>
                      <p:nvPr/>
                    </p:nvPicPr>
                    <p:blipFill>
                      <a:blip r:embed="rId6"/>
                      <a:stretch>
                        <a:fillRect/>
                      </a:stretch>
                    </p:blipFill>
                    <p:spPr>
                      <a:xfrm>
                        <a:off x="5194935" y="4653280"/>
                        <a:ext cx="3949065" cy="720090"/>
                      </a:xfrm>
                      <a:prstGeom prst="rect">
                        <a:avLst/>
                      </a:prstGeom>
                      <a:solidFill>
                        <a:schemeClr val="accent1"/>
                      </a:solidFill>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文本框 428035"/>
          <p:cNvSpPr txBox="1"/>
          <p:nvPr/>
        </p:nvSpPr>
        <p:spPr>
          <a:xfrm>
            <a:off x="663575" y="836613"/>
            <a:ext cx="117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所以： </a:t>
            </a:r>
            <a:endParaRPr lang="zh-CN" altLang="en-US" dirty="0">
              <a:latin typeface="Times New Roman" panose="02020603050405020304" pitchFamily="18" charset="0"/>
              <a:ea typeface="宋体" panose="02010600030101010101" pitchFamily="2" charset="-122"/>
            </a:endParaRPr>
          </a:p>
        </p:txBody>
      </p:sp>
      <p:graphicFrame>
        <p:nvGraphicFramePr>
          <p:cNvPr id="32770" name="对象 428036"/>
          <p:cNvGraphicFramePr/>
          <p:nvPr/>
        </p:nvGraphicFramePr>
        <p:xfrm>
          <a:off x="-2212975" y="1557655"/>
          <a:ext cx="10801350" cy="1760220"/>
        </p:xfrm>
        <a:graphic>
          <a:graphicData uri="http://schemas.openxmlformats.org/presentationml/2006/ole">
            <mc:AlternateContent xmlns:mc="http://schemas.openxmlformats.org/markup-compatibility/2006">
              <mc:Choice xmlns:v="urn:schemas-microsoft-com:vml" Requires="v">
                <p:oleObj spid="_x0000_s3115" name="" r:id="rId1" imgW="5791200" imgH="914400" progId="Equation.DSMT4">
                  <p:embed/>
                </p:oleObj>
              </mc:Choice>
              <mc:Fallback>
                <p:oleObj name="" r:id="rId1" imgW="5791200" imgH="914400" progId="Equation.DSMT4">
                  <p:embed/>
                  <p:pic>
                    <p:nvPicPr>
                      <p:cNvPr id="0" name="图片 3114"/>
                      <p:cNvPicPr/>
                      <p:nvPr/>
                    </p:nvPicPr>
                    <p:blipFill>
                      <a:blip r:embed="rId2"/>
                      <a:stretch>
                        <a:fillRect/>
                      </a:stretch>
                    </p:blipFill>
                    <p:spPr>
                      <a:xfrm>
                        <a:off x="-2212975" y="1557655"/>
                        <a:ext cx="10801350" cy="1760220"/>
                      </a:xfrm>
                      <a:prstGeom prst="rect">
                        <a:avLst/>
                      </a:prstGeom>
                      <a:noFill/>
                      <a:ln w="38100">
                        <a:noFill/>
                        <a:miter/>
                      </a:ln>
                    </p:spPr>
                  </p:pic>
                </p:oleObj>
              </mc:Fallback>
            </mc:AlternateContent>
          </a:graphicData>
        </a:graphic>
      </p:graphicFrame>
      <p:sp>
        <p:nvSpPr>
          <p:cNvPr id="32771" name="文本框 428038"/>
          <p:cNvSpPr txBox="1"/>
          <p:nvPr/>
        </p:nvSpPr>
        <p:spPr>
          <a:xfrm>
            <a:off x="611188" y="3952875"/>
            <a:ext cx="3613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和例</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计算结果相同。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文本框 19459"/>
          <p:cNvSpPr txBox="1"/>
          <p:nvPr/>
        </p:nvSpPr>
        <p:spPr>
          <a:xfrm>
            <a:off x="381000" y="533400"/>
            <a:ext cx="8534400" cy="1784350"/>
          </a:xfrm>
          <a:prstGeom prst="rect">
            <a:avLst/>
          </a:prstGeom>
          <a:noFill/>
          <a:ln w="9525">
            <a:noFill/>
          </a:ln>
        </p:spPr>
        <p:txBody>
          <a:bodyPr anchor="t">
            <a:spAutoFit/>
          </a:bodyPr>
          <a:p>
            <a:pPr algn="just">
              <a:lnSpc>
                <a:spcPct val="138000"/>
              </a:lnSpc>
              <a:spcBef>
                <a:spcPct val="50000"/>
              </a:spcBef>
            </a:pPr>
            <a:r>
              <a:rPr lang="en-US" altLang="zh-CN" b="1" dirty="0">
                <a:solidFill>
                  <a:srgbClr val="FF0000"/>
                </a:solidFill>
                <a:latin typeface="Times New Roman" panose="02020603050405020304" pitchFamily="18" charset="0"/>
                <a:ea typeface="宋体" panose="02010600030101010101" pitchFamily="2" charset="-122"/>
              </a:rPr>
              <a:t>4.2.4 </a:t>
            </a:r>
            <a:r>
              <a:rPr lang="zh-CN" altLang="en-US" b="1" dirty="0">
                <a:solidFill>
                  <a:srgbClr val="FF0000"/>
                </a:solidFill>
                <a:latin typeface="Times New Roman" panose="02020603050405020304" pitchFamily="18" charset="0"/>
                <a:ea typeface="宋体" panose="02010600030101010101" pitchFamily="2" charset="-122"/>
              </a:rPr>
              <a:t>并联型</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把传递函数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展开成部分分式之和的形式，就可以得到滤波器的并联型结构。 当</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宋体" panose="02010600030101010101" pitchFamily="2" charset="-122"/>
              </a:rPr>
              <a:t>时</a:t>
            </a:r>
            <a:r>
              <a:rPr lang="zh-CN" altLang="en-US" dirty="0">
                <a:latin typeface="Times New Roman" panose="02020603050405020304" pitchFamily="18" charset="0"/>
                <a:ea typeface="宋体" panose="02010600030101010101" pitchFamily="2" charset="-122"/>
              </a:rPr>
              <a:t>，展开式为 </a:t>
            </a:r>
            <a:endParaRPr lang="zh-CN" altLang="en-US">
              <a:latin typeface="Times New Roman" panose="02020603050405020304" pitchFamily="18" charset="0"/>
              <a:ea typeface="宋体" panose="02010600030101010101" pitchFamily="2" charset="-122"/>
            </a:endParaRPr>
          </a:p>
        </p:txBody>
      </p:sp>
      <p:graphicFrame>
        <p:nvGraphicFramePr>
          <p:cNvPr id="33794" name="对象 19460"/>
          <p:cNvGraphicFramePr/>
          <p:nvPr/>
        </p:nvGraphicFramePr>
        <p:xfrm>
          <a:off x="1905000" y="2438400"/>
          <a:ext cx="5562600" cy="1703388"/>
        </p:xfrm>
        <a:graphic>
          <a:graphicData uri="http://schemas.openxmlformats.org/presentationml/2006/ole">
            <mc:AlternateContent xmlns:mc="http://schemas.openxmlformats.org/markup-compatibility/2006">
              <mc:Choice xmlns:v="urn:schemas-microsoft-com:vml" Requires="v">
                <p:oleObj spid="_x0000_s3113" name="" r:id="rId1" imgW="2487930" imgH="761365" progId="Equation.3">
                  <p:embed/>
                </p:oleObj>
              </mc:Choice>
              <mc:Fallback>
                <p:oleObj name="" r:id="rId1" imgW="2487930" imgH="761365" progId="Equation.3">
                  <p:embed/>
                  <p:pic>
                    <p:nvPicPr>
                      <p:cNvPr id="0" name="图片 3112"/>
                      <p:cNvPicPr/>
                      <p:nvPr/>
                    </p:nvPicPr>
                    <p:blipFill>
                      <a:blip r:embed="rId2"/>
                      <a:stretch>
                        <a:fillRect/>
                      </a:stretch>
                    </p:blipFill>
                    <p:spPr>
                      <a:xfrm>
                        <a:off x="1905000" y="2438400"/>
                        <a:ext cx="5562600" cy="1703388"/>
                      </a:xfrm>
                      <a:prstGeom prst="rect">
                        <a:avLst/>
                      </a:prstGeom>
                      <a:solidFill>
                        <a:schemeClr val="accent1"/>
                      </a:solidFill>
                      <a:ln w="38100">
                        <a:noFill/>
                        <a:miter/>
                      </a:ln>
                    </p:spPr>
                  </p:pic>
                </p:oleObj>
              </mc:Fallback>
            </mc:AlternateContent>
          </a:graphicData>
        </a:graphic>
      </p:graphicFrame>
      <p:sp>
        <p:nvSpPr>
          <p:cNvPr id="33795" name="文本框 19461"/>
          <p:cNvSpPr txBox="1"/>
          <p:nvPr/>
        </p:nvSpPr>
        <p:spPr>
          <a:xfrm>
            <a:off x="304800" y="4013200"/>
            <a:ext cx="8610600" cy="1244600"/>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和级联型结构的方法类似，将上式中的共轭复根部分两两合并得到实系数的二阶网</a:t>
            </a:r>
            <a:r>
              <a:rPr lang="zh-CN" altLang="en-US" dirty="0">
                <a:latin typeface="Times New Roman" panose="02020603050405020304" pitchFamily="18" charset="0"/>
                <a:ea typeface="宋体" panose="02010600030101010101" pitchFamily="2" charset="-122"/>
              </a:rPr>
              <a:t>络，则有         </a:t>
            </a:r>
            <a:endParaRPr lang="zh-CN" altLang="en-US">
              <a:latin typeface="Times New Roman" panose="02020603050405020304" pitchFamily="18" charset="0"/>
              <a:ea typeface="宋体" panose="02010600030101010101" pitchFamily="2" charset="-122"/>
            </a:endParaRPr>
          </a:p>
        </p:txBody>
      </p:sp>
      <p:graphicFrame>
        <p:nvGraphicFramePr>
          <p:cNvPr id="33796" name="对象 19462"/>
          <p:cNvGraphicFramePr/>
          <p:nvPr/>
        </p:nvGraphicFramePr>
        <p:xfrm>
          <a:off x="1651000" y="5257800"/>
          <a:ext cx="6386513" cy="1219200"/>
        </p:xfrm>
        <a:graphic>
          <a:graphicData uri="http://schemas.openxmlformats.org/presentationml/2006/ole">
            <mc:AlternateContent xmlns:mc="http://schemas.openxmlformats.org/markup-compatibility/2006">
              <mc:Choice xmlns:v="urn:schemas-microsoft-com:vml" Requires="v">
                <p:oleObj spid="_x0000_s3112" name="" r:id="rId3" imgW="2857500" imgH="457200" progId="Equation.3">
                  <p:embed/>
                </p:oleObj>
              </mc:Choice>
              <mc:Fallback>
                <p:oleObj name="" r:id="rId3" imgW="2857500" imgH="457200" progId="Equation.3">
                  <p:embed/>
                  <p:pic>
                    <p:nvPicPr>
                      <p:cNvPr id="0" name="图片 3111"/>
                      <p:cNvPicPr/>
                      <p:nvPr/>
                    </p:nvPicPr>
                    <p:blipFill>
                      <a:blip r:embed="rId4"/>
                      <a:stretch>
                        <a:fillRect/>
                      </a:stretch>
                    </p:blipFill>
                    <p:spPr>
                      <a:xfrm>
                        <a:off x="1651000" y="5257800"/>
                        <a:ext cx="6386513" cy="1219200"/>
                      </a:xfrm>
                      <a:prstGeom prst="rect">
                        <a:avLst/>
                      </a:prstGeom>
                      <a:solidFill>
                        <a:schemeClr val="accent1"/>
                      </a:solidFill>
                      <a:ln w="38100">
                        <a:noFill/>
                        <a:miter/>
                      </a:ln>
                    </p:spPr>
                  </p:pic>
                </p:oleObj>
              </mc:Fallback>
            </mc:AlternateContent>
          </a:graphicData>
        </a:graphic>
      </p:graphicFrame>
      <p:sp>
        <p:nvSpPr>
          <p:cNvPr id="33797" name="文本框 19463"/>
          <p:cNvSpPr txBox="1"/>
          <p:nvPr/>
        </p:nvSpPr>
        <p:spPr>
          <a:xfrm>
            <a:off x="8197850" y="5867400"/>
            <a:ext cx="9461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(4-6)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文本框 22531"/>
          <p:cNvSpPr txBox="1"/>
          <p:nvPr/>
        </p:nvSpPr>
        <p:spPr>
          <a:xfrm>
            <a:off x="587375" y="765175"/>
            <a:ext cx="8088313" cy="5127625"/>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a:latin typeface="Times New Roman" panose="02020603050405020304" pitchFamily="18" charset="0"/>
                <a:ea typeface="宋体" panose="02010600030101010101" pitchFamily="2" charset="-122"/>
              </a:rPr>
              <a:t>, N=E+2F</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由式（</a:t>
            </a:r>
            <a:r>
              <a:rPr lang="en-US" altLang="zh-CN" dirty="0">
                <a:latin typeface="Times New Roman" panose="02020603050405020304" pitchFamily="18" charset="0"/>
                <a:ea typeface="宋体" panose="02010600030101010101" pitchFamily="2" charset="-122"/>
              </a:rPr>
              <a:t>4-6</a:t>
            </a:r>
            <a:r>
              <a:rPr lang="zh-CN" altLang="en-US" dirty="0">
                <a:latin typeface="Times New Roman" panose="02020603050405020304" pitchFamily="18" charset="0"/>
                <a:ea typeface="宋体" panose="02010600030101010101" pitchFamily="2" charset="-122"/>
              </a:rPr>
              <a:t>）知，滤波器可由</a:t>
            </a:r>
            <a:r>
              <a:rPr lang="en-US" altLang="zh-CN" dirty="0">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ea typeface="宋体" panose="02010600030101010101" pitchFamily="2" charset="-122"/>
              </a:rPr>
              <a:t>个一阶网络、</a:t>
            </a:r>
            <a:r>
              <a:rPr lang="en-US" altLang="zh-CN" i="1">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个二阶网络和一个常数支路并联构成， 其结构如图</a:t>
            </a:r>
            <a:r>
              <a:rPr lang="en-US" altLang="zh-CN" dirty="0">
                <a:latin typeface="Times New Roman" panose="02020603050405020304" pitchFamily="18" charset="0"/>
                <a:ea typeface="宋体" panose="02010600030101010101" pitchFamily="2" charset="-122"/>
              </a:rPr>
              <a:t>4-9</a:t>
            </a:r>
            <a:r>
              <a:rPr lang="zh-CN" altLang="en-US" dirty="0">
                <a:latin typeface="Times New Roman" panose="02020603050405020304" pitchFamily="18" charset="0"/>
                <a:ea typeface="宋体" panose="02010600030101010101" pitchFamily="2" charset="-122"/>
              </a:rPr>
              <a:t>所示。</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并联型结构也可以单独调整极点位置，但对于零点的调整却不如级联型方便，而且当滤波器的阶数较高时，部分分式展开比较麻烦。在运算误差方面，由于各基本网络间的</a:t>
            </a:r>
            <a:r>
              <a:rPr lang="zh-CN" altLang="en-US" dirty="0">
                <a:latin typeface="Times New Roman" panose="02020603050405020304" pitchFamily="18" charset="0"/>
                <a:ea typeface="宋体" panose="02010600030101010101" pitchFamily="2" charset="-122"/>
              </a:rPr>
              <a:t>误差互不影响， 没有误差积累，因此比直接型和级联型误差稍小一点。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文本框 21507"/>
          <p:cNvSpPr txBox="1"/>
          <p:nvPr/>
        </p:nvSpPr>
        <p:spPr>
          <a:xfrm>
            <a:off x="3276600" y="6019800"/>
            <a:ext cx="2581275"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图</a:t>
            </a:r>
            <a:r>
              <a:rPr lang="en-US" altLang="zh-CN" b="1" dirty="0">
                <a:latin typeface="Times New Roman" panose="02020603050405020304" pitchFamily="18" charset="0"/>
                <a:ea typeface="宋体" panose="02010600030101010101" pitchFamily="2" charset="-122"/>
              </a:rPr>
              <a:t>4-9 </a:t>
            </a:r>
            <a:r>
              <a:rPr lang="zh-CN" altLang="en-US" b="1" dirty="0">
                <a:latin typeface="Times New Roman" panose="02020603050405020304" pitchFamily="18" charset="0"/>
                <a:ea typeface="宋体" panose="02010600030101010101" pitchFamily="2" charset="-122"/>
              </a:rPr>
              <a:t>并联型结构 </a:t>
            </a:r>
            <a:endParaRPr lang="zh-CN" altLang="en-US" b="1">
              <a:latin typeface="Times New Roman" panose="02020603050405020304" pitchFamily="18" charset="0"/>
              <a:ea typeface="宋体" panose="02010600030101010101" pitchFamily="2" charset="-122"/>
            </a:endParaRPr>
          </a:p>
        </p:txBody>
      </p:sp>
      <p:pic>
        <p:nvPicPr>
          <p:cNvPr id="35842" name="图片 21511" descr="4-9"/>
          <p:cNvPicPr>
            <a:picLocks noChangeAspect="1"/>
          </p:cNvPicPr>
          <p:nvPr/>
        </p:nvPicPr>
        <p:blipFill>
          <a:blip r:embed="rId1"/>
          <a:stretch>
            <a:fillRect/>
          </a:stretch>
        </p:blipFill>
        <p:spPr>
          <a:xfrm>
            <a:off x="2452688" y="1052513"/>
            <a:ext cx="4468812" cy="4519612"/>
          </a:xfrm>
          <a:prstGeom prst="rect">
            <a:avLst/>
          </a:prstGeom>
          <a:noFill/>
          <a:ln w="9525">
            <a:noFill/>
          </a:ln>
        </p:spPr>
      </p:pic>
    </p:spTree>
  </p:cSld>
  <p:clrMapOvr>
    <a:masterClrMapping/>
  </p:clrMapOvr>
  <p:transition>
    <p:blinds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文本框 430083"/>
          <p:cNvSpPr txBox="1"/>
          <p:nvPr/>
        </p:nvSpPr>
        <p:spPr>
          <a:xfrm>
            <a:off x="611188" y="620713"/>
            <a:ext cx="4986337" cy="457200"/>
          </a:xfrm>
          <a:prstGeom prst="rect">
            <a:avLst/>
          </a:prstGeom>
          <a:noFill/>
          <a:ln w="9525">
            <a:noFill/>
          </a:ln>
        </p:spPr>
        <p:txBody>
          <a:bodyPr wrap="none" anchor="t">
            <a:spAutoFit/>
          </a:bodyPr>
          <a:p>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例</a:t>
            </a:r>
            <a:r>
              <a:rPr lang="en-US" altLang="zh-CN" b="1">
                <a:latin typeface="Times New Roman" panose="02020603050405020304" pitchFamily="18" charset="0"/>
                <a:ea typeface="宋体" panose="02010600030101010101" pitchFamily="2" charset="-122"/>
              </a:rPr>
              <a:t>4-4]</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用并联型结构实现系统函数 </a:t>
            </a:r>
            <a:endParaRPr lang="zh-CN" altLang="en-US" dirty="0">
              <a:latin typeface="Times New Roman" panose="02020603050405020304" pitchFamily="18" charset="0"/>
              <a:ea typeface="宋体" panose="02010600030101010101" pitchFamily="2" charset="-122"/>
            </a:endParaRPr>
          </a:p>
        </p:txBody>
      </p:sp>
      <p:graphicFrame>
        <p:nvGraphicFramePr>
          <p:cNvPr id="36866" name="对象 430084"/>
          <p:cNvGraphicFramePr/>
          <p:nvPr/>
        </p:nvGraphicFramePr>
        <p:xfrm>
          <a:off x="1908175" y="1268413"/>
          <a:ext cx="5040313" cy="1027112"/>
        </p:xfrm>
        <a:graphic>
          <a:graphicData uri="http://schemas.openxmlformats.org/presentationml/2006/ole">
            <mc:AlternateContent xmlns:mc="http://schemas.openxmlformats.org/markup-compatibility/2006">
              <mc:Choice xmlns:v="urn:schemas-microsoft-com:vml" Requires="v">
                <p:oleObj spid="_x0000_s3118" name="" r:id="rId1" imgW="2057400" imgH="419100" progId="Equation.DSMT4">
                  <p:embed/>
                </p:oleObj>
              </mc:Choice>
              <mc:Fallback>
                <p:oleObj name="" r:id="rId1" imgW="2057400" imgH="419100" progId="Equation.DSMT4">
                  <p:embed/>
                  <p:pic>
                    <p:nvPicPr>
                      <p:cNvPr id="0" name="图片 3117"/>
                      <p:cNvPicPr/>
                      <p:nvPr/>
                    </p:nvPicPr>
                    <p:blipFill>
                      <a:blip r:embed="rId2"/>
                      <a:stretch>
                        <a:fillRect/>
                      </a:stretch>
                    </p:blipFill>
                    <p:spPr>
                      <a:xfrm>
                        <a:off x="1908175" y="1268413"/>
                        <a:ext cx="5040313" cy="1027112"/>
                      </a:xfrm>
                      <a:prstGeom prst="rect">
                        <a:avLst/>
                      </a:prstGeom>
                      <a:solidFill>
                        <a:schemeClr val="accent1"/>
                      </a:solidFill>
                      <a:ln w="38100">
                        <a:noFill/>
                        <a:miter/>
                      </a:ln>
                    </p:spPr>
                  </p:pic>
                </p:oleObj>
              </mc:Fallback>
            </mc:AlternateContent>
          </a:graphicData>
        </a:graphic>
      </p:graphicFrame>
      <p:sp>
        <p:nvSpPr>
          <p:cNvPr id="36867" name="文本框 430086"/>
          <p:cNvSpPr txBox="1"/>
          <p:nvPr/>
        </p:nvSpPr>
        <p:spPr>
          <a:xfrm>
            <a:off x="663575" y="2324100"/>
            <a:ext cx="873125"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解： </a:t>
            </a:r>
            <a:endParaRPr lang="zh-CN" altLang="en-US" b="1" dirty="0">
              <a:latin typeface="Times New Roman" panose="02020603050405020304" pitchFamily="18" charset="0"/>
              <a:ea typeface="宋体" panose="02010600030101010101" pitchFamily="2" charset="-122"/>
            </a:endParaRPr>
          </a:p>
        </p:txBody>
      </p:sp>
      <p:graphicFrame>
        <p:nvGraphicFramePr>
          <p:cNvPr id="36868" name="对象 430087"/>
          <p:cNvGraphicFramePr/>
          <p:nvPr/>
        </p:nvGraphicFramePr>
        <p:xfrm>
          <a:off x="971550" y="2781300"/>
          <a:ext cx="5545138" cy="1146175"/>
        </p:xfrm>
        <a:graphic>
          <a:graphicData uri="http://schemas.openxmlformats.org/presentationml/2006/ole">
            <mc:AlternateContent xmlns:mc="http://schemas.openxmlformats.org/markup-compatibility/2006">
              <mc:Choice xmlns:v="urn:schemas-microsoft-com:vml" Requires="v">
                <p:oleObj spid="_x0000_s3117" name="" r:id="rId3" imgW="2032000" imgH="419100" progId="Equation.DSMT4">
                  <p:embed/>
                </p:oleObj>
              </mc:Choice>
              <mc:Fallback>
                <p:oleObj name="" r:id="rId3" imgW="2032000" imgH="419100" progId="Equation.DSMT4">
                  <p:embed/>
                  <p:pic>
                    <p:nvPicPr>
                      <p:cNvPr id="0" name="图片 3116"/>
                      <p:cNvPicPr/>
                      <p:nvPr/>
                    </p:nvPicPr>
                    <p:blipFill>
                      <a:blip r:embed="rId4"/>
                      <a:stretch>
                        <a:fillRect/>
                      </a:stretch>
                    </p:blipFill>
                    <p:spPr>
                      <a:xfrm>
                        <a:off x="971550" y="2781300"/>
                        <a:ext cx="5545138" cy="1146175"/>
                      </a:xfrm>
                      <a:prstGeom prst="rect">
                        <a:avLst/>
                      </a:prstGeom>
                      <a:noFill/>
                      <a:ln w="38100">
                        <a:noFill/>
                        <a:miter/>
                      </a:ln>
                    </p:spPr>
                  </p:pic>
                </p:oleObj>
              </mc:Fallback>
            </mc:AlternateContent>
          </a:graphicData>
        </a:graphic>
      </p:graphicFrame>
      <p:graphicFrame>
        <p:nvGraphicFramePr>
          <p:cNvPr id="36869" name="对象 430089"/>
          <p:cNvGraphicFramePr/>
          <p:nvPr/>
        </p:nvGraphicFramePr>
        <p:xfrm>
          <a:off x="1908175" y="3927475"/>
          <a:ext cx="4751388" cy="2055813"/>
        </p:xfrm>
        <a:graphic>
          <a:graphicData uri="http://schemas.openxmlformats.org/presentationml/2006/ole">
            <mc:AlternateContent xmlns:mc="http://schemas.openxmlformats.org/markup-compatibility/2006">
              <mc:Choice xmlns:v="urn:schemas-microsoft-com:vml" Requires="v">
                <p:oleObj spid="_x0000_s3116" name="" r:id="rId5" imgW="2044700" imgH="889000" progId="Equation.DSMT4">
                  <p:embed/>
                </p:oleObj>
              </mc:Choice>
              <mc:Fallback>
                <p:oleObj name="" r:id="rId5" imgW="2044700" imgH="889000" progId="Equation.DSMT4">
                  <p:embed/>
                  <p:pic>
                    <p:nvPicPr>
                      <p:cNvPr id="0" name="图片 3115"/>
                      <p:cNvPicPr/>
                      <p:nvPr/>
                    </p:nvPicPr>
                    <p:blipFill>
                      <a:blip r:embed="rId6"/>
                      <a:stretch>
                        <a:fillRect/>
                      </a:stretch>
                    </p:blipFill>
                    <p:spPr>
                      <a:xfrm>
                        <a:off x="1908175" y="3927475"/>
                        <a:ext cx="4751388" cy="2055813"/>
                      </a:xfrm>
                      <a:prstGeom prst="rect">
                        <a:avLst/>
                      </a:prstGeom>
                      <a:noFill/>
                      <a:ln w="38100">
                        <a:noFill/>
                        <a:miter/>
                      </a:ln>
                    </p:spPr>
                  </p:pic>
                </p:oleObj>
              </mc:Fallback>
            </mc:AlternateContent>
          </a:graphicData>
        </a:graphic>
      </p:graphicFrame>
      <p:sp>
        <p:nvSpPr>
          <p:cNvPr id="2" name="十字星 1"/>
          <p:cNvSpPr/>
          <p:nvPr/>
        </p:nvSpPr>
        <p:spPr>
          <a:xfrm>
            <a:off x="222250" y="525463"/>
            <a:ext cx="576263" cy="647700"/>
          </a:xfrm>
          <a:prstGeom prst="star4">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云形标注 2"/>
          <p:cNvSpPr/>
          <p:nvPr/>
        </p:nvSpPr>
        <p:spPr>
          <a:xfrm>
            <a:off x="5929630" y="3438525"/>
            <a:ext cx="3076575" cy="1367155"/>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zh-CN" altLang="en-US" b="1" u="sng" strike="noStrike" noProof="1">
                <a:solidFill>
                  <a:srgbClr val="FF0000"/>
                </a:solidFill>
              </a:rPr>
              <a:t>先长除再因式分解</a:t>
            </a:r>
            <a:endParaRPr lang="zh-CN" altLang="en-US" b="1" u="sng" strike="noStrike" noProof="1">
              <a:solidFill>
                <a:srgbClr val="FF0000"/>
              </a:solidFill>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文本框 431108"/>
          <p:cNvSpPr txBox="1"/>
          <p:nvPr/>
        </p:nvSpPr>
        <p:spPr>
          <a:xfrm>
            <a:off x="2411413" y="5734050"/>
            <a:ext cx="498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4-10   </a:t>
            </a: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4-4 IIR</a:t>
            </a:r>
            <a:r>
              <a:rPr lang="zh-CN" altLang="en-US" dirty="0">
                <a:latin typeface="Times New Roman" panose="02020603050405020304" pitchFamily="18" charset="0"/>
                <a:ea typeface="宋体" panose="02010600030101010101" pitchFamily="2" charset="-122"/>
              </a:rPr>
              <a:t>系统的并联型结构 </a:t>
            </a:r>
            <a:endParaRPr lang="zh-CN" altLang="en-US" dirty="0">
              <a:latin typeface="Times New Roman" panose="02020603050405020304" pitchFamily="18" charset="0"/>
              <a:ea typeface="宋体" panose="02010600030101010101" pitchFamily="2" charset="-122"/>
            </a:endParaRPr>
          </a:p>
        </p:txBody>
      </p:sp>
      <p:pic>
        <p:nvPicPr>
          <p:cNvPr id="37890" name="图片 431110" descr="4-10"/>
          <p:cNvPicPr>
            <a:picLocks noChangeAspect="1"/>
          </p:cNvPicPr>
          <p:nvPr/>
        </p:nvPicPr>
        <p:blipFill>
          <a:blip r:embed="rId1"/>
          <a:stretch>
            <a:fillRect/>
          </a:stretch>
        </p:blipFill>
        <p:spPr>
          <a:xfrm>
            <a:off x="1862138" y="1052513"/>
            <a:ext cx="5419725" cy="4286250"/>
          </a:xfrm>
          <a:prstGeom prst="rect">
            <a:avLst/>
          </a:prstGeom>
          <a:noFill/>
          <a:ln w="9525">
            <a:noFill/>
          </a:ln>
        </p:spPr>
      </p:pic>
    </p:spTree>
  </p:cSld>
  <p:clrMapOvr>
    <a:masterClrMapping/>
  </p:clrMapOvr>
  <p:transition>
    <p:blinds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文本框 24579"/>
          <p:cNvSpPr txBox="1"/>
          <p:nvPr/>
        </p:nvSpPr>
        <p:spPr>
          <a:xfrm>
            <a:off x="2590800" y="914400"/>
            <a:ext cx="4052888"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4.3 FIR</a:t>
            </a:r>
            <a:r>
              <a:rPr lang="zh-CN" altLang="en-US" sz="3200" b="1" dirty="0">
                <a:latin typeface="Times New Roman" panose="02020603050405020304" pitchFamily="18" charset="0"/>
                <a:ea typeface="宋体" panose="02010600030101010101" pitchFamily="2" charset="-122"/>
              </a:rPr>
              <a:t>滤波器的结构 </a:t>
            </a:r>
            <a:endParaRPr lang="zh-CN" altLang="en-US" sz="3200" b="1">
              <a:latin typeface="Times New Roman" panose="02020603050405020304" pitchFamily="18" charset="0"/>
              <a:ea typeface="宋体" panose="02010600030101010101" pitchFamily="2" charset="-122"/>
            </a:endParaRPr>
          </a:p>
        </p:txBody>
      </p:sp>
      <p:sp>
        <p:nvSpPr>
          <p:cNvPr id="38914" name="文本框 24580"/>
          <p:cNvSpPr txBox="1"/>
          <p:nvPr/>
        </p:nvSpPr>
        <p:spPr>
          <a:xfrm>
            <a:off x="212725" y="1524000"/>
            <a:ext cx="8702675" cy="1951038"/>
          </a:xfrm>
          <a:prstGeom prst="rect">
            <a:avLst/>
          </a:prstGeom>
          <a:noFill/>
          <a:ln w="9525">
            <a:noFill/>
          </a:ln>
        </p:spPr>
        <p:txBody>
          <a:bodyPr anchor="t">
            <a:spAutoFit/>
          </a:bodyPr>
          <a:p>
            <a:pPr algn="just">
              <a:lnSpc>
                <a:spcPct val="168000"/>
              </a:lnSpc>
            </a:pPr>
            <a:r>
              <a:rPr lang="en-US" altLang="zh-CN" b="1" dirty="0">
                <a:latin typeface="Times New Roman" panose="02020603050405020304" pitchFamily="18" charset="0"/>
                <a:ea typeface="宋体" panose="02010600030101010101" pitchFamily="2" charset="-122"/>
              </a:rPr>
              <a:t>4.3.1 </a:t>
            </a:r>
            <a:r>
              <a:rPr lang="zh-CN" altLang="en-US" b="1" dirty="0">
                <a:latin typeface="Times New Roman" panose="02020603050405020304" pitchFamily="18" charset="0"/>
                <a:ea typeface="宋体" panose="02010600030101010101" pitchFamily="2" charset="-122"/>
              </a:rPr>
              <a:t>直接型</a:t>
            </a:r>
            <a:endParaRPr lang="zh-CN" altLang="en-US">
              <a:latin typeface="Times New Roman" panose="02020603050405020304" pitchFamily="18" charset="0"/>
              <a:ea typeface="宋体" panose="02010600030101010101" pitchFamily="2" charset="-122"/>
            </a:endParaRPr>
          </a:p>
          <a:p>
            <a:pPr>
              <a:lnSpc>
                <a:spcPct val="168000"/>
              </a:lnSpc>
            </a:pPr>
            <a:r>
              <a:rPr lang="zh-CN" altLang="en-US" dirty="0">
                <a:latin typeface="Times New Roman" panose="02020603050405020304" pitchFamily="18" charset="0"/>
                <a:ea typeface="宋体" panose="02010600030101010101" pitchFamily="2" charset="-122"/>
              </a:rPr>
              <a:t>        设</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数字滤波器的单位脉冲响应</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的长度为</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，其传递函数和差分方程分别为</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38915" name="对象 24581"/>
          <p:cNvGraphicFramePr/>
          <p:nvPr/>
        </p:nvGraphicFramePr>
        <p:xfrm>
          <a:off x="2819400" y="3429000"/>
          <a:ext cx="2895600" cy="1069975"/>
        </p:xfrm>
        <a:graphic>
          <a:graphicData uri="http://schemas.openxmlformats.org/presentationml/2006/ole">
            <mc:AlternateContent xmlns:mc="http://schemas.openxmlformats.org/markup-compatibility/2006">
              <mc:Choice xmlns:v="urn:schemas-microsoft-com:vml" Requires="v">
                <p:oleObj spid="_x0000_s3121" name="" r:id="rId1" imgW="1167765" imgH="431800" progId="Equation.3">
                  <p:embed/>
                </p:oleObj>
              </mc:Choice>
              <mc:Fallback>
                <p:oleObj name="" r:id="rId1" imgW="1167765" imgH="431800" progId="Equation.3">
                  <p:embed/>
                  <p:pic>
                    <p:nvPicPr>
                      <p:cNvPr id="0" name="图片 3120"/>
                      <p:cNvPicPr/>
                      <p:nvPr/>
                    </p:nvPicPr>
                    <p:blipFill>
                      <a:blip r:embed="rId2"/>
                      <a:stretch>
                        <a:fillRect/>
                      </a:stretch>
                    </p:blipFill>
                    <p:spPr>
                      <a:xfrm>
                        <a:off x="2819400" y="3429000"/>
                        <a:ext cx="2895600" cy="1069975"/>
                      </a:xfrm>
                      <a:prstGeom prst="rect">
                        <a:avLst/>
                      </a:prstGeom>
                      <a:solidFill>
                        <a:schemeClr val="accent1"/>
                      </a:solidFill>
                      <a:ln w="38100">
                        <a:noFill/>
                        <a:miter/>
                      </a:ln>
                    </p:spPr>
                  </p:pic>
                </p:oleObj>
              </mc:Fallback>
            </mc:AlternateContent>
          </a:graphicData>
        </a:graphic>
      </p:graphicFrame>
      <p:sp>
        <p:nvSpPr>
          <p:cNvPr id="38916" name="文本框 24582"/>
          <p:cNvSpPr txBox="1"/>
          <p:nvPr/>
        </p:nvSpPr>
        <p:spPr>
          <a:xfrm>
            <a:off x="6553200" y="3733800"/>
            <a:ext cx="8699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(4-7) </a:t>
            </a:r>
            <a:endParaRPr lang="en-US" altLang="zh-CN">
              <a:latin typeface="Times New Roman" panose="02020603050405020304" pitchFamily="18" charset="0"/>
              <a:ea typeface="宋体" panose="02010600030101010101" pitchFamily="2" charset="-122"/>
            </a:endParaRPr>
          </a:p>
        </p:txBody>
      </p:sp>
      <p:graphicFrame>
        <p:nvGraphicFramePr>
          <p:cNvPr id="38917" name="对象 24583"/>
          <p:cNvGraphicFramePr/>
          <p:nvPr/>
        </p:nvGraphicFramePr>
        <p:xfrm>
          <a:off x="2438400" y="5445125"/>
          <a:ext cx="3714750" cy="1069975"/>
        </p:xfrm>
        <a:graphic>
          <a:graphicData uri="http://schemas.openxmlformats.org/presentationml/2006/ole">
            <mc:AlternateContent xmlns:mc="http://schemas.openxmlformats.org/markup-compatibility/2006">
              <mc:Choice xmlns:v="urn:schemas-microsoft-com:vml" Requires="v">
                <p:oleObj spid="_x0000_s3119" name="" r:id="rId3" imgW="1497965" imgH="431800" progId="Equation.3">
                  <p:embed/>
                </p:oleObj>
              </mc:Choice>
              <mc:Fallback>
                <p:oleObj name="" r:id="rId3" imgW="1497965" imgH="431800" progId="Equation.3">
                  <p:embed/>
                  <p:pic>
                    <p:nvPicPr>
                      <p:cNvPr id="0" name="图片 3118"/>
                      <p:cNvPicPr/>
                      <p:nvPr/>
                    </p:nvPicPr>
                    <p:blipFill>
                      <a:blip r:embed="rId4"/>
                      <a:stretch>
                        <a:fillRect/>
                      </a:stretch>
                    </p:blipFill>
                    <p:spPr>
                      <a:xfrm>
                        <a:off x="2438400" y="5445125"/>
                        <a:ext cx="3714750" cy="1069975"/>
                      </a:xfrm>
                      <a:prstGeom prst="rect">
                        <a:avLst/>
                      </a:prstGeom>
                      <a:solidFill>
                        <a:schemeClr val="accent1"/>
                      </a:solidFill>
                      <a:ln w="38100">
                        <a:noFill/>
                        <a:miter/>
                      </a:ln>
                    </p:spPr>
                  </p:pic>
                </p:oleObj>
              </mc:Fallback>
            </mc:AlternateContent>
          </a:graphicData>
        </a:graphic>
      </p:graphicFrame>
      <p:sp>
        <p:nvSpPr>
          <p:cNvPr id="38918" name="文本框 24584"/>
          <p:cNvSpPr txBox="1"/>
          <p:nvPr/>
        </p:nvSpPr>
        <p:spPr>
          <a:xfrm>
            <a:off x="6660515" y="5877560"/>
            <a:ext cx="8699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(4-8) </a:t>
            </a:r>
            <a:endParaRPr lang="en-US" altLang="zh-CN">
              <a:latin typeface="Times New Roman" panose="02020603050405020304" pitchFamily="18" charset="0"/>
              <a:ea typeface="宋体" panose="02010600030101010101" pitchFamily="2" charset="-122"/>
            </a:endParaRPr>
          </a:p>
        </p:txBody>
      </p:sp>
      <p:graphicFrame>
        <p:nvGraphicFramePr>
          <p:cNvPr id="2" name="对象 24583"/>
          <p:cNvGraphicFramePr/>
          <p:nvPr/>
        </p:nvGraphicFramePr>
        <p:xfrm>
          <a:off x="78105" y="1628458"/>
          <a:ext cx="8378190" cy="504190"/>
        </p:xfrm>
        <a:graphic>
          <a:graphicData uri="http://schemas.openxmlformats.org/presentationml/2006/ole">
            <mc:AlternateContent xmlns:mc="http://schemas.openxmlformats.org/markup-compatibility/2006">
              <mc:Choice xmlns:v="urn:schemas-microsoft-com:vml" Requires="v">
                <p:oleObj spid="_x0000_s3" name="" r:id="rId5" imgW="3377565" imgH="203200" progId="Equation.3">
                  <p:embed/>
                </p:oleObj>
              </mc:Choice>
              <mc:Fallback>
                <p:oleObj name="" r:id="rId5" imgW="3377565" imgH="203200" progId="Equation.3">
                  <p:embed/>
                  <p:pic>
                    <p:nvPicPr>
                      <p:cNvPr id="0" name="图片 3118"/>
                      <p:cNvPicPr/>
                      <p:nvPr/>
                    </p:nvPicPr>
                    <p:blipFill>
                      <a:blip r:embed="rId6"/>
                      <a:stretch>
                        <a:fillRect/>
                      </a:stretch>
                    </p:blipFill>
                    <p:spPr>
                      <a:xfrm>
                        <a:off x="78105" y="1628458"/>
                        <a:ext cx="8378190" cy="504190"/>
                      </a:xfrm>
                      <a:prstGeom prst="rect">
                        <a:avLst/>
                      </a:prstGeom>
                      <a:solidFill>
                        <a:schemeClr val="accent1"/>
                      </a:solidFill>
                      <a:ln w="38100">
                        <a:noFill/>
                        <a:miter/>
                      </a:ln>
                    </p:spPr>
                  </p:pic>
                </p:oleObj>
              </mc:Fallback>
            </mc:AlternateContent>
          </a:graphicData>
        </a:graphic>
      </p:graphicFrame>
      <p:graphicFrame>
        <p:nvGraphicFramePr>
          <p:cNvPr id="4" name="对象 24583"/>
          <p:cNvGraphicFramePr/>
          <p:nvPr>
            <p:custDataLst>
              <p:tags r:id="rId7"/>
            </p:custDataLst>
          </p:nvPr>
        </p:nvGraphicFramePr>
        <p:xfrm>
          <a:off x="2195513" y="4652963"/>
          <a:ext cx="6143625" cy="567690"/>
        </p:xfrm>
        <a:graphic>
          <a:graphicData uri="http://schemas.openxmlformats.org/presentationml/2006/ole">
            <mc:AlternateContent xmlns:mc="http://schemas.openxmlformats.org/markup-compatibility/2006">
              <mc:Choice xmlns:v="urn:schemas-microsoft-com:vml" Requires="v">
                <p:oleObj spid="_x0000_s5" name="" r:id="rId8" imgW="2476500" imgH="228600" progId="Equation.3">
                  <p:embed/>
                </p:oleObj>
              </mc:Choice>
              <mc:Fallback>
                <p:oleObj name="" r:id="rId8" imgW="2476500" imgH="228600" progId="Equation.3">
                  <p:embed/>
                  <p:pic>
                    <p:nvPicPr>
                      <p:cNvPr id="0" name="图片 3118"/>
                      <p:cNvPicPr/>
                      <p:nvPr/>
                    </p:nvPicPr>
                    <p:blipFill>
                      <a:blip r:embed="rId9"/>
                      <a:stretch>
                        <a:fillRect/>
                      </a:stretch>
                    </p:blipFill>
                    <p:spPr>
                      <a:xfrm>
                        <a:off x="2195513" y="4652963"/>
                        <a:ext cx="6143625" cy="567690"/>
                      </a:xfrm>
                      <a:prstGeom prst="rect">
                        <a:avLst/>
                      </a:prstGeom>
                      <a:solidFill>
                        <a:schemeClr val="accent1"/>
                      </a:solidFill>
                      <a:ln w="38100">
                        <a:noFill/>
                        <a:miter/>
                      </a:ln>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588125" y="2060575"/>
            <a:ext cx="1800225" cy="647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9938" name="文本框 23555"/>
          <p:cNvSpPr txBox="1"/>
          <p:nvPr/>
        </p:nvSpPr>
        <p:spPr>
          <a:xfrm>
            <a:off x="395288" y="533400"/>
            <a:ext cx="8451850" cy="2105025"/>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根据式（</a:t>
            </a:r>
            <a:r>
              <a:rPr lang="en-US" altLang="zh-CN" dirty="0">
                <a:latin typeface="Times New Roman" panose="02020603050405020304" pitchFamily="18" charset="0"/>
                <a:ea typeface="宋体" panose="02010600030101010101" pitchFamily="2" charset="-122"/>
              </a:rPr>
              <a:t>4-7</a:t>
            </a:r>
            <a:r>
              <a:rPr lang="zh-CN" altLang="en-US" dirty="0">
                <a:latin typeface="Times New Roman" panose="02020603050405020304" pitchFamily="18" charset="0"/>
                <a:ea typeface="宋体" panose="02010600030101010101" pitchFamily="2" charset="-122"/>
              </a:rPr>
              <a:t>）或式（</a:t>
            </a:r>
            <a:r>
              <a:rPr lang="en-US" altLang="zh-CN" dirty="0">
                <a:latin typeface="Times New Roman" panose="02020603050405020304" pitchFamily="18" charset="0"/>
                <a:ea typeface="宋体" panose="02010600030101010101" pitchFamily="2" charset="-122"/>
              </a:rPr>
              <a:t>4-8</a:t>
            </a:r>
            <a:r>
              <a:rPr lang="zh-CN" altLang="en-US" dirty="0">
                <a:latin typeface="Times New Roman" panose="02020603050405020304" pitchFamily="18" charset="0"/>
                <a:ea typeface="宋体" panose="02010600030101010101" pitchFamily="2" charset="-122"/>
              </a:rPr>
              <a:t>）可直接画出如图</a:t>
            </a:r>
            <a:r>
              <a:rPr lang="en-US" altLang="zh-CN" dirty="0">
                <a:latin typeface="Times New Roman" panose="02020603050405020304" pitchFamily="18" charset="0"/>
                <a:ea typeface="宋体" panose="02010600030101010101" pitchFamily="2" charset="-122"/>
              </a:rPr>
              <a:t>4-11</a:t>
            </a:r>
            <a:r>
              <a:rPr lang="zh-CN" altLang="en-US" dirty="0">
                <a:latin typeface="Times New Roman" panose="02020603050405020304" pitchFamily="18" charset="0"/>
                <a:ea typeface="宋体" panose="02010600030101010101" pitchFamily="2" charset="-122"/>
              </a:rPr>
              <a:t>所示的</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滤波器的直接型结构。 由于该结构利用输入信号</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和滤波器单位脉冲响应</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的线性卷积来描述输出信号</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，所以</a:t>
            </a:r>
            <a:r>
              <a:rPr lang="en-US" altLang="zh-CN">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滤波器的直接型结构又称为卷积型结构， 有时也称为横截型结构。 </a:t>
            </a:r>
            <a:endParaRPr lang="zh-CN" altLang="en-US">
              <a:latin typeface="Times New Roman" panose="02020603050405020304" pitchFamily="18" charset="0"/>
              <a:ea typeface="宋体" panose="02010600030101010101" pitchFamily="2" charset="-122"/>
            </a:endParaRPr>
          </a:p>
        </p:txBody>
      </p:sp>
      <p:sp>
        <p:nvSpPr>
          <p:cNvPr id="39939" name="文本框 23556"/>
          <p:cNvSpPr txBox="1"/>
          <p:nvPr/>
        </p:nvSpPr>
        <p:spPr>
          <a:xfrm>
            <a:off x="2743200" y="5661025"/>
            <a:ext cx="3641725"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图 </a:t>
            </a:r>
            <a:r>
              <a:rPr lang="en-US" altLang="zh-CN" b="1" dirty="0">
                <a:latin typeface="Times New Roman" panose="02020603050405020304" pitchFamily="18" charset="0"/>
                <a:ea typeface="宋体" panose="02010600030101010101" pitchFamily="2" charset="-122"/>
              </a:rPr>
              <a:t>4-11 FIR</a:t>
            </a:r>
            <a:r>
              <a:rPr lang="zh-CN" altLang="en-US" b="1" dirty="0">
                <a:latin typeface="Times New Roman" panose="02020603050405020304" pitchFamily="18" charset="0"/>
                <a:ea typeface="宋体" panose="02010600030101010101" pitchFamily="2" charset="-122"/>
              </a:rPr>
              <a:t>的直接型结构 </a:t>
            </a:r>
            <a:endParaRPr lang="zh-CN" altLang="en-US" b="1">
              <a:latin typeface="Times New Roman" panose="02020603050405020304" pitchFamily="18" charset="0"/>
              <a:ea typeface="宋体" panose="02010600030101010101" pitchFamily="2" charset="-122"/>
            </a:endParaRPr>
          </a:p>
        </p:txBody>
      </p:sp>
      <p:pic>
        <p:nvPicPr>
          <p:cNvPr id="39940" name="图片 23559" descr="4-11"/>
          <p:cNvPicPr>
            <a:picLocks noChangeAspect="1"/>
          </p:cNvPicPr>
          <p:nvPr/>
        </p:nvPicPr>
        <p:blipFill>
          <a:blip r:embed="rId1"/>
          <a:stretch>
            <a:fillRect/>
          </a:stretch>
        </p:blipFill>
        <p:spPr>
          <a:xfrm>
            <a:off x="323215" y="3125470"/>
            <a:ext cx="5715000" cy="1400175"/>
          </a:xfrm>
          <a:prstGeom prst="rect">
            <a:avLst/>
          </a:prstGeom>
          <a:noFill/>
          <a:ln w="9525">
            <a:noFill/>
          </a:ln>
        </p:spPr>
      </p:pic>
      <p:graphicFrame>
        <p:nvGraphicFramePr>
          <p:cNvPr id="3" name="对象 24583"/>
          <p:cNvGraphicFramePr/>
          <p:nvPr>
            <p:custDataLst>
              <p:tags r:id="rId2"/>
            </p:custDataLst>
          </p:nvPr>
        </p:nvGraphicFramePr>
        <p:xfrm>
          <a:off x="287655" y="5013008"/>
          <a:ext cx="8378190" cy="504190"/>
        </p:xfrm>
        <a:graphic>
          <a:graphicData uri="http://schemas.openxmlformats.org/presentationml/2006/ole">
            <mc:AlternateContent xmlns:mc="http://schemas.openxmlformats.org/markup-compatibility/2006">
              <mc:Choice xmlns:v="urn:schemas-microsoft-com:vml" Requires="v">
                <p:oleObj spid="_x0000_s4" name="" r:id="rId3" imgW="3377565" imgH="203200" progId="Equation.3">
                  <p:embed/>
                </p:oleObj>
              </mc:Choice>
              <mc:Fallback>
                <p:oleObj name="" r:id="rId3" imgW="3377565" imgH="203200" progId="Equation.3">
                  <p:embed/>
                  <p:pic>
                    <p:nvPicPr>
                      <p:cNvPr id="0" name="图片 3118"/>
                      <p:cNvPicPr/>
                      <p:nvPr/>
                    </p:nvPicPr>
                    <p:blipFill>
                      <a:blip r:embed="rId4"/>
                      <a:stretch>
                        <a:fillRect/>
                      </a:stretch>
                    </p:blipFill>
                    <p:spPr>
                      <a:xfrm>
                        <a:off x="287655" y="5013008"/>
                        <a:ext cx="8378190" cy="504190"/>
                      </a:xfrm>
                      <a:prstGeom prst="rect">
                        <a:avLst/>
                      </a:prstGeom>
                      <a:solidFill>
                        <a:schemeClr val="accent1"/>
                      </a:solidFill>
                      <a:ln w="38100">
                        <a:noFill/>
                        <a:miter/>
                      </a:ln>
                    </p:spPr>
                  </p:pic>
                </p:oleObj>
              </mc:Fallback>
            </mc:AlternateContent>
          </a:graphicData>
        </a:graphic>
      </p:graphicFrame>
      <p:pic>
        <p:nvPicPr>
          <p:cNvPr id="5" name="图片 23559" descr="4-11"/>
          <p:cNvPicPr>
            <a:picLocks noChangeAspect="1"/>
          </p:cNvPicPr>
          <p:nvPr/>
        </p:nvPicPr>
        <p:blipFill>
          <a:blip r:embed="rId1"/>
          <a:stretch>
            <a:fillRect/>
          </a:stretch>
        </p:blipFill>
        <p:spPr>
          <a:xfrm rot="5400000">
            <a:off x="5294630" y="2994025"/>
            <a:ext cx="5715000" cy="1400175"/>
          </a:xfrm>
          <a:prstGeom prst="rect">
            <a:avLst/>
          </a:prstGeom>
          <a:noFill/>
          <a:ln w="9525">
            <a:noFill/>
          </a:ln>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文本框 26627"/>
          <p:cNvSpPr txBox="1"/>
          <p:nvPr/>
        </p:nvSpPr>
        <p:spPr>
          <a:xfrm>
            <a:off x="228600" y="609600"/>
            <a:ext cx="8763000" cy="1784350"/>
          </a:xfrm>
          <a:prstGeom prst="rect">
            <a:avLst/>
          </a:prstGeom>
          <a:noFill/>
          <a:ln w="9525">
            <a:noFill/>
          </a:ln>
        </p:spPr>
        <p:txBody>
          <a:bodyPr anchor="t">
            <a:spAutoFit/>
          </a:bodyPr>
          <a:p>
            <a:pPr algn="just">
              <a:lnSpc>
                <a:spcPct val="138000"/>
              </a:lnSpc>
              <a:spcBef>
                <a:spcPct val="50000"/>
              </a:spcBef>
            </a:pPr>
            <a:r>
              <a:rPr lang="en-US" altLang="zh-CN" b="1" dirty="0">
                <a:solidFill>
                  <a:srgbClr val="FF0000"/>
                </a:solidFill>
                <a:latin typeface="Times New Roman" panose="02020603050405020304" pitchFamily="18" charset="0"/>
                <a:ea typeface="宋体" panose="02010600030101010101" pitchFamily="2" charset="-122"/>
              </a:rPr>
              <a:t>4.3.2 </a:t>
            </a:r>
            <a:r>
              <a:rPr lang="zh-CN" altLang="en-US" b="1" dirty="0">
                <a:solidFill>
                  <a:srgbClr val="FF0000"/>
                </a:solidFill>
                <a:latin typeface="Times New Roman" panose="02020603050405020304" pitchFamily="18" charset="0"/>
                <a:ea typeface="宋体" panose="02010600030101010101" pitchFamily="2" charset="-122"/>
              </a:rPr>
              <a:t>级联型</a:t>
            </a:r>
            <a:endParaRPr lang="zh-CN" altLang="en-US" b="1"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当需要控制系统传输零点时，将传递函数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分解成二阶实系数因子的形式： </a:t>
            </a:r>
            <a:endParaRPr lang="zh-CN" altLang="en-US">
              <a:latin typeface="Times New Roman" panose="02020603050405020304" pitchFamily="18" charset="0"/>
              <a:ea typeface="宋体" panose="02010600030101010101" pitchFamily="2" charset="-122"/>
            </a:endParaRPr>
          </a:p>
        </p:txBody>
      </p:sp>
      <p:graphicFrame>
        <p:nvGraphicFramePr>
          <p:cNvPr id="40962" name="对象 26628"/>
          <p:cNvGraphicFramePr/>
          <p:nvPr/>
        </p:nvGraphicFramePr>
        <p:xfrm>
          <a:off x="1524000" y="2354263"/>
          <a:ext cx="6096000" cy="955675"/>
        </p:xfrm>
        <a:graphic>
          <a:graphicData uri="http://schemas.openxmlformats.org/presentationml/2006/ole">
            <mc:AlternateContent xmlns:mc="http://schemas.openxmlformats.org/markup-compatibility/2006">
              <mc:Choice xmlns:v="urn:schemas-microsoft-com:vml" Requires="v">
                <p:oleObj spid="_x0000_s3122" name="" r:id="rId1" imgW="2754630" imgH="431800" progId="Equation.3">
                  <p:embed/>
                </p:oleObj>
              </mc:Choice>
              <mc:Fallback>
                <p:oleObj name="" r:id="rId1" imgW="2754630" imgH="431800" progId="Equation.3">
                  <p:embed/>
                  <p:pic>
                    <p:nvPicPr>
                      <p:cNvPr id="0" name="图片 3121"/>
                      <p:cNvPicPr/>
                      <p:nvPr/>
                    </p:nvPicPr>
                    <p:blipFill>
                      <a:blip r:embed="rId2"/>
                      <a:stretch>
                        <a:fillRect/>
                      </a:stretch>
                    </p:blipFill>
                    <p:spPr>
                      <a:xfrm>
                        <a:off x="1524000" y="2354263"/>
                        <a:ext cx="6096000" cy="955675"/>
                      </a:xfrm>
                      <a:prstGeom prst="rect">
                        <a:avLst/>
                      </a:prstGeom>
                      <a:noFill/>
                      <a:ln w="38100">
                        <a:noFill/>
                        <a:miter/>
                      </a:ln>
                    </p:spPr>
                  </p:pic>
                </p:oleObj>
              </mc:Fallback>
            </mc:AlternateContent>
          </a:graphicData>
        </a:graphic>
      </p:graphicFrame>
      <p:sp>
        <p:nvSpPr>
          <p:cNvPr id="40963" name="文本框 26631"/>
          <p:cNvSpPr txBox="1"/>
          <p:nvPr/>
        </p:nvSpPr>
        <p:spPr>
          <a:xfrm>
            <a:off x="7956550" y="2852738"/>
            <a:ext cx="7937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(4-9)</a:t>
            </a:r>
            <a:endParaRPr lang="en-US" altLang="zh-CN">
              <a:latin typeface="Times New Roman" panose="02020603050405020304" pitchFamily="18" charset="0"/>
              <a:ea typeface="宋体" panose="02010600030101010101" pitchFamily="2" charset="-122"/>
            </a:endParaRPr>
          </a:p>
        </p:txBody>
      </p:sp>
      <p:pic>
        <p:nvPicPr>
          <p:cNvPr id="41986" name="图片 432133" descr="4-12"/>
          <p:cNvPicPr>
            <a:picLocks noChangeAspect="1"/>
          </p:cNvPicPr>
          <p:nvPr/>
        </p:nvPicPr>
        <p:blipFill>
          <a:blip r:embed="rId3"/>
          <a:stretch>
            <a:fillRect/>
          </a:stretch>
        </p:blipFill>
        <p:spPr>
          <a:xfrm>
            <a:off x="1714500" y="3429000"/>
            <a:ext cx="5715000" cy="1828800"/>
          </a:xfrm>
          <a:prstGeom prst="rect">
            <a:avLst/>
          </a:prstGeom>
          <a:noFill/>
          <a:ln w="9525">
            <a:noFill/>
          </a:ln>
        </p:spPr>
      </p:pic>
      <p:sp>
        <p:nvSpPr>
          <p:cNvPr id="41985" name="文本框 432131"/>
          <p:cNvSpPr txBox="1"/>
          <p:nvPr/>
        </p:nvSpPr>
        <p:spPr>
          <a:xfrm>
            <a:off x="2819400" y="5589588"/>
            <a:ext cx="3717925"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图 </a:t>
            </a:r>
            <a:r>
              <a:rPr lang="en-US" altLang="zh-CN" b="1" dirty="0">
                <a:latin typeface="Times New Roman" panose="02020603050405020304" pitchFamily="18" charset="0"/>
                <a:ea typeface="宋体" panose="02010600030101010101" pitchFamily="2" charset="-122"/>
              </a:rPr>
              <a:t>4-12  FIR</a:t>
            </a:r>
            <a:r>
              <a:rPr lang="zh-CN" altLang="en-US" b="1" dirty="0">
                <a:latin typeface="Times New Roman" panose="02020603050405020304" pitchFamily="18" charset="0"/>
                <a:ea typeface="宋体" panose="02010600030101010101" pitchFamily="2" charset="-122"/>
              </a:rPr>
              <a:t>的级联型结构 </a:t>
            </a:r>
            <a:endParaRPr lang="zh-CN" altLang="en-US" b="1">
              <a:latin typeface="Times New Roman" panose="02020603050405020304" pitchFamily="18" charset="0"/>
              <a:ea typeface="宋体" panose="02010600030101010101" pitchFamily="2"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3009" name="对象 433155"/>
          <p:cNvGraphicFramePr/>
          <p:nvPr/>
        </p:nvGraphicFramePr>
        <p:xfrm>
          <a:off x="694055" y="570230"/>
          <a:ext cx="6990715" cy="2552700"/>
        </p:xfrm>
        <a:graphic>
          <a:graphicData uri="http://schemas.openxmlformats.org/presentationml/2006/ole">
            <mc:AlternateContent xmlns:mc="http://schemas.openxmlformats.org/markup-compatibility/2006">
              <mc:Choice xmlns:v="urn:schemas-microsoft-com:vml" Requires="v">
                <p:oleObj spid="_x0000_s3120" name="" r:id="rId1" imgW="3259455" imgH="1772920" progId="Word.Document.8">
                  <p:embed/>
                </p:oleObj>
              </mc:Choice>
              <mc:Fallback>
                <p:oleObj name="" r:id="rId1" imgW="3259455" imgH="1772920" progId="Word.Document.8">
                  <p:embed/>
                  <p:pic>
                    <p:nvPicPr>
                      <p:cNvPr id="0" name="图片 3119"/>
                      <p:cNvPicPr/>
                      <p:nvPr/>
                    </p:nvPicPr>
                    <p:blipFill>
                      <a:blip r:embed="rId2"/>
                      <a:stretch>
                        <a:fillRect/>
                      </a:stretch>
                    </p:blipFill>
                    <p:spPr>
                      <a:xfrm>
                        <a:off x="694055" y="570230"/>
                        <a:ext cx="6990715" cy="2552700"/>
                      </a:xfrm>
                      <a:prstGeom prst="rect">
                        <a:avLst/>
                      </a:prstGeom>
                      <a:noFill/>
                      <a:ln w="38100">
                        <a:noFill/>
                        <a:miter/>
                      </a:ln>
                    </p:spPr>
                  </p:pic>
                </p:oleObj>
              </mc:Fallback>
            </mc:AlternateContent>
          </a:graphicData>
        </a:graphic>
      </p:graphicFrame>
      <p:sp>
        <p:nvSpPr>
          <p:cNvPr id="2" name="十字星 1"/>
          <p:cNvSpPr/>
          <p:nvPr/>
        </p:nvSpPr>
        <p:spPr>
          <a:xfrm>
            <a:off x="706438" y="571500"/>
            <a:ext cx="576263" cy="647700"/>
          </a:xfrm>
          <a:prstGeom prst="star4">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pic>
        <p:nvPicPr>
          <p:cNvPr id="43011" name="图片 434181" descr="4-13"/>
          <p:cNvPicPr>
            <a:picLocks noChangeAspect="1"/>
          </p:cNvPicPr>
          <p:nvPr/>
        </p:nvPicPr>
        <p:blipFill>
          <a:blip r:embed="rId3"/>
          <a:stretch>
            <a:fillRect/>
          </a:stretch>
        </p:blipFill>
        <p:spPr>
          <a:xfrm>
            <a:off x="1835150" y="4198938"/>
            <a:ext cx="5715000" cy="1190625"/>
          </a:xfrm>
          <a:prstGeom prst="rect">
            <a:avLst/>
          </a:prstGeom>
          <a:noFill/>
          <a:ln w="9525">
            <a:noFill/>
          </a:ln>
        </p:spPr>
      </p:pic>
      <p:sp>
        <p:nvSpPr>
          <p:cNvPr id="43012" name="文本框 2"/>
          <p:cNvSpPr txBox="1"/>
          <p:nvPr/>
        </p:nvSpPr>
        <p:spPr>
          <a:xfrm>
            <a:off x="1941513" y="5678488"/>
            <a:ext cx="4975225" cy="460375"/>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4-13  </a:t>
            </a: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4-5 FIR</a:t>
            </a:r>
            <a:r>
              <a:rPr lang="zh-CN" altLang="en-US" dirty="0">
                <a:latin typeface="Times New Roman" panose="02020603050405020304" pitchFamily="18" charset="0"/>
                <a:ea typeface="宋体" panose="02010600030101010101" pitchFamily="2" charset="-122"/>
              </a:rPr>
              <a:t>系统的直接型结构 </a:t>
            </a:r>
            <a:endParaRPr lang="zh-CN" altLang="en-US">
              <a:latin typeface="Times New Roman" panose="02020603050405020304" pitchFamily="18" charset="0"/>
              <a:ea typeface="宋体" panose="02010600030101010101" pitchFamily="2" charset="-122"/>
            </a:endParaRPr>
          </a:p>
        </p:txBody>
      </p:sp>
      <p:pic>
        <p:nvPicPr>
          <p:cNvPr id="435206" name="图片 435205" descr="4-14"/>
          <p:cNvPicPr>
            <a:picLocks noChangeAspect="1"/>
          </p:cNvPicPr>
          <p:nvPr/>
        </p:nvPicPr>
        <p:blipFill>
          <a:blip r:embed="rId4"/>
          <a:stretch>
            <a:fillRect/>
          </a:stretch>
        </p:blipFill>
        <p:spPr>
          <a:xfrm>
            <a:off x="1583055" y="3644900"/>
            <a:ext cx="5978525" cy="2402205"/>
          </a:xfrm>
          <a:prstGeom prst="rect">
            <a:avLst/>
          </a:prstGeom>
          <a:noFill/>
          <a:ln w="9525">
            <a:noFill/>
          </a:ln>
        </p:spPr>
      </p:pic>
      <p:sp>
        <p:nvSpPr>
          <p:cNvPr id="435204" name="文本框 435203"/>
          <p:cNvSpPr txBox="1"/>
          <p:nvPr/>
        </p:nvSpPr>
        <p:spPr>
          <a:xfrm>
            <a:off x="1979613" y="6381115"/>
            <a:ext cx="5053012" cy="457200"/>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4-14   </a:t>
            </a: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4-5 FIR</a:t>
            </a:r>
            <a:r>
              <a:rPr lang="zh-CN" altLang="en-US" dirty="0">
                <a:latin typeface="Times New Roman" panose="02020603050405020304" pitchFamily="18" charset="0"/>
                <a:ea typeface="宋体" panose="02010600030101010101" pitchFamily="2" charset="-122"/>
              </a:rPr>
              <a:t>系统的级联型结构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0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3520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5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animBg="1"/>
      <p:bldP spid="43520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文本框 25603"/>
          <p:cNvSpPr txBox="1"/>
          <p:nvPr/>
        </p:nvSpPr>
        <p:spPr>
          <a:xfrm>
            <a:off x="373063" y="549275"/>
            <a:ext cx="8375650" cy="3839210"/>
          </a:xfrm>
          <a:prstGeom prst="rect">
            <a:avLst/>
          </a:prstGeom>
          <a:noFill/>
          <a:ln w="9525">
            <a:noFill/>
          </a:ln>
        </p:spPr>
        <p:txBody>
          <a:bodyPr anchor="t">
            <a:spAutoFit/>
          </a:bodyPr>
          <a:p>
            <a:pPr algn="just">
              <a:lnSpc>
                <a:spcPct val="138000"/>
              </a:lnSpc>
              <a:spcBef>
                <a:spcPct val="50000"/>
              </a:spcBef>
            </a:pPr>
            <a:r>
              <a:rPr lang="en-US" altLang="zh-CN" b="1" dirty="0">
                <a:solidFill>
                  <a:srgbClr val="FF0000"/>
                </a:solidFill>
                <a:latin typeface="Times New Roman" panose="02020603050405020304" pitchFamily="18" charset="0"/>
                <a:ea typeface="宋体" panose="02010600030101010101" pitchFamily="2" charset="-122"/>
              </a:rPr>
              <a:t>4.3.3 </a:t>
            </a:r>
            <a:r>
              <a:rPr lang="zh-CN" altLang="en-US" b="1" dirty="0">
                <a:solidFill>
                  <a:srgbClr val="FF0000"/>
                </a:solidFill>
                <a:latin typeface="Times New Roman" panose="02020603050405020304" pitchFamily="18" charset="0"/>
                <a:ea typeface="宋体" panose="02010600030101010101" pitchFamily="2" charset="-122"/>
              </a:rPr>
              <a:t>频率采样型</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由</a:t>
            </a:r>
            <a:r>
              <a:rPr lang="zh-CN" altLang="en-US" b="1" u="sng" dirty="0">
                <a:solidFill>
                  <a:srgbClr val="FF0000"/>
                </a:solidFill>
                <a:highlight>
                  <a:srgbClr val="FFFF00"/>
                </a:highlight>
                <a:latin typeface="Times New Roman" panose="02020603050405020304" pitchFamily="18" charset="0"/>
                <a:ea typeface="宋体" panose="02010600030101010101" pitchFamily="2" charset="-122"/>
              </a:rPr>
              <a:t>频域采样定理</a:t>
            </a:r>
            <a:r>
              <a:rPr lang="zh-CN" altLang="en-US" dirty="0">
                <a:latin typeface="Times New Roman" panose="02020603050405020304" pitchFamily="18" charset="0"/>
                <a:ea typeface="宋体" panose="02010600030101010101" pitchFamily="2" charset="-122"/>
              </a:rPr>
              <a:t>可知，对有限长序列</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的</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变换</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在单位圆上做</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点的等间隔采样，</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a:t>
            </a:r>
            <a:r>
              <a:rPr lang="zh-CN" altLang="en-US" b="1" u="sng" dirty="0">
                <a:solidFill>
                  <a:srgbClr val="FF0000"/>
                </a:solidFill>
                <a:highlight>
                  <a:srgbClr val="FFFF00"/>
                </a:highlight>
                <a:latin typeface="Times New Roman" panose="02020603050405020304" pitchFamily="18" charset="0"/>
                <a:ea typeface="宋体" panose="02010600030101010101" pitchFamily="2" charset="-122"/>
              </a:rPr>
              <a:t>频率采样值</a:t>
            </a:r>
            <a:r>
              <a:rPr lang="zh-CN" altLang="en-US" dirty="0">
                <a:latin typeface="Times New Roman" panose="02020603050405020304" pitchFamily="18" charset="0"/>
                <a:ea typeface="宋体" panose="02010600030101010101" pitchFamily="2" charset="-122"/>
              </a:rPr>
              <a:t>的离散傅里叶反变换所对应的时域信号</a:t>
            </a:r>
            <a:r>
              <a:rPr lang="en-US" altLang="zh-CN" i="1" err="1">
                <a:latin typeface="Times New Roman" panose="02020603050405020304" pitchFamily="18" charset="0"/>
                <a:ea typeface="宋体" panose="02010600030101010101" pitchFamily="2" charset="-122"/>
              </a:rPr>
              <a:t>h</a:t>
            </a:r>
            <a:r>
              <a:rPr lang="en-US" altLang="zh-CN" i="1" baseline="-25000" err="1">
                <a:latin typeface="Times New Roman" panose="02020603050405020304" pitchFamily="18" charset="0"/>
                <a:ea typeface="宋体" panose="02010600030101010101" pitchFamily="2" charset="-122"/>
              </a:rPr>
              <a:t>N</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是原序列</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以采样点数</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为周期进行</a:t>
            </a:r>
            <a:r>
              <a:rPr lang="zh-CN" altLang="en-US" u="sng" dirty="0">
                <a:solidFill>
                  <a:srgbClr val="FF0000"/>
                </a:solidFill>
                <a:highlight>
                  <a:srgbClr val="FFFF00"/>
                </a:highlight>
                <a:latin typeface="Times New Roman" panose="02020603050405020304" pitchFamily="18" charset="0"/>
                <a:ea typeface="宋体" panose="02010600030101010101" pitchFamily="2" charset="-122"/>
              </a:rPr>
              <a:t>周期延拓</a:t>
            </a:r>
            <a:r>
              <a:rPr lang="zh-CN" altLang="en-US" dirty="0">
                <a:latin typeface="Times New Roman" panose="02020603050405020304" pitchFamily="18" charset="0"/>
                <a:ea typeface="宋体" panose="02010600030101010101" pitchFamily="2" charset="-122"/>
              </a:rPr>
              <a:t>的结果，当</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大于等于原序列</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长度</a:t>
            </a:r>
            <a:r>
              <a:rPr lang="en-US" altLang="zh-CN" i="1">
                <a:latin typeface="Times New Roman" panose="02020603050405020304" pitchFamily="18" charset="0"/>
                <a:ea typeface="宋体" panose="02010600030101010101" pitchFamily="2" charset="-122"/>
              </a:rPr>
              <a:t>M</a:t>
            </a:r>
            <a:r>
              <a:rPr lang="zh-CN" altLang="en-US">
                <a:latin typeface="Times New Roman" panose="02020603050405020304" pitchFamily="18" charset="0"/>
                <a:ea typeface="宋体" panose="02010600030101010101" pitchFamily="2" charset="-122"/>
              </a:rPr>
              <a:t>时</a:t>
            </a:r>
            <a:r>
              <a:rPr lang="en-US" altLang="zh-CN" i="1" err="1">
                <a:latin typeface="Times New Roman" panose="02020603050405020304" pitchFamily="18" charset="0"/>
                <a:ea typeface="宋体" panose="02010600030101010101" pitchFamily="2" charset="-122"/>
              </a:rPr>
              <a:t>h</a:t>
            </a:r>
            <a:r>
              <a:rPr lang="en-US" altLang="zh-CN" i="1" baseline="-25000" err="1">
                <a:latin typeface="Times New Roman" panose="02020603050405020304" pitchFamily="18" charset="0"/>
                <a:ea typeface="宋体" panose="02010600030101010101" pitchFamily="2" charset="-122"/>
              </a:rPr>
              <a:t>N</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，不会发生信号失真，此时</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可以用频</a:t>
            </a:r>
            <a:r>
              <a:rPr lang="zh-CN" altLang="en-US" dirty="0">
                <a:latin typeface="Times New Roman" panose="02020603050405020304" pitchFamily="18" charset="0"/>
                <a:ea typeface="宋体" panose="02010600030101010101" pitchFamily="2" charset="-122"/>
              </a:rPr>
              <a:t>域采样序列</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内插得到， 内插公式如下： </a:t>
            </a:r>
            <a:endParaRPr lang="zh-CN" altLang="en-US">
              <a:latin typeface="Times New Roman" panose="02020603050405020304" pitchFamily="18" charset="0"/>
              <a:ea typeface="宋体" panose="02010600030101010101" pitchFamily="2" charset="-122"/>
            </a:endParaRPr>
          </a:p>
        </p:txBody>
      </p:sp>
      <p:graphicFrame>
        <p:nvGraphicFramePr>
          <p:cNvPr id="44034" name="对象 25604"/>
          <p:cNvGraphicFramePr/>
          <p:nvPr/>
        </p:nvGraphicFramePr>
        <p:xfrm>
          <a:off x="2057400" y="4365625"/>
          <a:ext cx="4648200" cy="1011238"/>
        </p:xfrm>
        <a:graphic>
          <a:graphicData uri="http://schemas.openxmlformats.org/presentationml/2006/ole">
            <mc:AlternateContent xmlns:mc="http://schemas.openxmlformats.org/markup-compatibility/2006">
              <mc:Choice xmlns:v="urn:schemas-microsoft-com:vml" Requires="v">
                <p:oleObj spid="_x0000_s3125" name="" r:id="rId1" imgW="2044065" imgH="444500" progId="Equation.3">
                  <p:embed/>
                </p:oleObj>
              </mc:Choice>
              <mc:Fallback>
                <p:oleObj name="" r:id="rId1" imgW="2044065" imgH="444500" progId="Equation.3">
                  <p:embed/>
                  <p:pic>
                    <p:nvPicPr>
                      <p:cNvPr id="0" name="图片 3124"/>
                      <p:cNvPicPr/>
                      <p:nvPr/>
                    </p:nvPicPr>
                    <p:blipFill>
                      <a:blip r:embed="rId2"/>
                      <a:stretch>
                        <a:fillRect/>
                      </a:stretch>
                    </p:blipFill>
                    <p:spPr>
                      <a:xfrm>
                        <a:off x="2057400" y="4365625"/>
                        <a:ext cx="4648200" cy="1011238"/>
                      </a:xfrm>
                      <a:prstGeom prst="rect">
                        <a:avLst/>
                      </a:prstGeom>
                      <a:solidFill>
                        <a:schemeClr val="accent1"/>
                      </a:solidFill>
                      <a:ln w="38100">
                        <a:noFill/>
                        <a:miter/>
                      </a:ln>
                    </p:spPr>
                  </p:pic>
                </p:oleObj>
              </mc:Fallback>
            </mc:AlternateContent>
          </a:graphicData>
        </a:graphic>
      </p:graphicFrame>
      <p:sp>
        <p:nvSpPr>
          <p:cNvPr id="44035" name="文本框 25605"/>
          <p:cNvSpPr txBox="1"/>
          <p:nvPr/>
        </p:nvSpPr>
        <p:spPr>
          <a:xfrm>
            <a:off x="7885113" y="4700588"/>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(4-10) </a:t>
            </a:r>
            <a:endParaRPr lang="en-US" altLang="zh-CN">
              <a:latin typeface="Times New Roman" panose="02020603050405020304" pitchFamily="18" charset="0"/>
              <a:ea typeface="宋体" panose="02010600030101010101" pitchFamily="2" charset="-122"/>
            </a:endParaRPr>
          </a:p>
        </p:txBody>
      </p:sp>
      <p:sp>
        <p:nvSpPr>
          <p:cNvPr id="44036" name="文本框 25606"/>
          <p:cNvSpPr txBox="1"/>
          <p:nvPr/>
        </p:nvSpPr>
        <p:spPr>
          <a:xfrm>
            <a:off x="228600" y="5222875"/>
            <a:ext cx="117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 </a:t>
            </a:r>
            <a:endParaRPr lang="zh-CN" altLang="en-US">
              <a:latin typeface="Times New Roman" panose="02020603050405020304" pitchFamily="18" charset="0"/>
              <a:ea typeface="宋体" panose="02010600030101010101" pitchFamily="2" charset="-122"/>
            </a:endParaRPr>
          </a:p>
        </p:txBody>
      </p:sp>
      <p:graphicFrame>
        <p:nvGraphicFramePr>
          <p:cNvPr id="44037" name="对象 25607"/>
          <p:cNvGraphicFramePr/>
          <p:nvPr/>
        </p:nvGraphicFramePr>
        <p:xfrm>
          <a:off x="1981200" y="5715000"/>
          <a:ext cx="3048000" cy="655638"/>
        </p:xfrm>
        <a:graphic>
          <a:graphicData uri="http://schemas.openxmlformats.org/presentationml/2006/ole">
            <mc:AlternateContent xmlns:mc="http://schemas.openxmlformats.org/markup-compatibility/2006">
              <mc:Choice xmlns:v="urn:schemas-microsoft-com:vml" Requires="v">
                <p:oleObj spid="_x0000_s3128" name="" r:id="rId3" imgW="1179830" imgH="254000" progId="Equation.3">
                  <p:embed/>
                </p:oleObj>
              </mc:Choice>
              <mc:Fallback>
                <p:oleObj name="" r:id="rId3" imgW="1179830" imgH="254000" progId="Equation.3">
                  <p:embed/>
                  <p:pic>
                    <p:nvPicPr>
                      <p:cNvPr id="0" name="图片 3127"/>
                      <p:cNvPicPr/>
                      <p:nvPr/>
                    </p:nvPicPr>
                    <p:blipFill>
                      <a:blip r:embed="rId4"/>
                      <a:stretch>
                        <a:fillRect/>
                      </a:stretch>
                    </p:blipFill>
                    <p:spPr>
                      <a:xfrm>
                        <a:off x="1981200" y="5715000"/>
                        <a:ext cx="3048000" cy="655638"/>
                      </a:xfrm>
                      <a:prstGeom prst="rect">
                        <a:avLst/>
                      </a:prstGeom>
                      <a:solidFill>
                        <a:schemeClr val="accent1"/>
                      </a:solidFill>
                      <a:ln w="38100">
                        <a:noFill/>
                        <a:miter/>
                      </a:ln>
                    </p:spPr>
                  </p:pic>
                </p:oleObj>
              </mc:Fallback>
            </mc:AlternateContent>
          </a:graphicData>
        </a:graphic>
      </p:graphicFrame>
      <p:sp>
        <p:nvSpPr>
          <p:cNvPr id="44038" name="文本框 25608"/>
          <p:cNvSpPr txBox="1"/>
          <p:nvPr/>
        </p:nvSpPr>
        <p:spPr>
          <a:xfrm>
            <a:off x="5943600" y="5791200"/>
            <a:ext cx="2471738"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=0, 1, 2, …, </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文本框 28675"/>
          <p:cNvSpPr txBox="1"/>
          <p:nvPr/>
        </p:nvSpPr>
        <p:spPr>
          <a:xfrm>
            <a:off x="533400" y="609600"/>
            <a:ext cx="844073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(4-10)</a:t>
            </a:r>
            <a:r>
              <a:rPr lang="zh-CN" altLang="en-US" dirty="0">
                <a:latin typeface="Times New Roman" panose="02020603050405020304" pitchFamily="18" charset="0"/>
                <a:ea typeface="宋体" panose="02010600030101010101" pitchFamily="2" charset="-122"/>
              </a:rPr>
              <a:t>为实现</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系统提供了另一种结构。</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也可以重写为 </a:t>
            </a:r>
            <a:endParaRPr lang="zh-CN" altLang="en-US">
              <a:latin typeface="Times New Roman" panose="02020603050405020304" pitchFamily="18" charset="0"/>
              <a:ea typeface="宋体" panose="02010600030101010101" pitchFamily="2" charset="-122"/>
            </a:endParaRPr>
          </a:p>
        </p:txBody>
      </p:sp>
      <p:graphicFrame>
        <p:nvGraphicFramePr>
          <p:cNvPr id="45058" name="对象 28676"/>
          <p:cNvGraphicFramePr/>
          <p:nvPr/>
        </p:nvGraphicFramePr>
        <p:xfrm>
          <a:off x="2743200" y="1295400"/>
          <a:ext cx="3473450" cy="930275"/>
        </p:xfrm>
        <a:graphic>
          <a:graphicData uri="http://schemas.openxmlformats.org/presentationml/2006/ole">
            <mc:AlternateContent xmlns:mc="http://schemas.openxmlformats.org/markup-compatibility/2006">
              <mc:Choice xmlns:v="urn:schemas-microsoft-com:vml" Requires="v">
                <p:oleObj spid="_x0000_s3126" name="" r:id="rId1" imgW="1612265" imgH="431800" progId="Equation.3">
                  <p:embed/>
                </p:oleObj>
              </mc:Choice>
              <mc:Fallback>
                <p:oleObj name="" r:id="rId1" imgW="1612265" imgH="431800" progId="Equation.3">
                  <p:embed/>
                  <p:pic>
                    <p:nvPicPr>
                      <p:cNvPr id="0" name="图片 3125"/>
                      <p:cNvPicPr/>
                      <p:nvPr/>
                    </p:nvPicPr>
                    <p:blipFill>
                      <a:blip r:embed="rId2"/>
                      <a:stretch>
                        <a:fillRect/>
                      </a:stretch>
                    </p:blipFill>
                    <p:spPr>
                      <a:xfrm>
                        <a:off x="2743200" y="1295400"/>
                        <a:ext cx="3473450" cy="930275"/>
                      </a:xfrm>
                      <a:prstGeom prst="rect">
                        <a:avLst/>
                      </a:prstGeom>
                      <a:solidFill>
                        <a:schemeClr val="accent1"/>
                      </a:solidFill>
                      <a:ln w="38100">
                        <a:noFill/>
                        <a:miter/>
                      </a:ln>
                    </p:spPr>
                  </p:pic>
                </p:oleObj>
              </mc:Fallback>
            </mc:AlternateContent>
          </a:graphicData>
        </a:graphic>
      </p:graphicFrame>
      <p:sp>
        <p:nvSpPr>
          <p:cNvPr id="45059" name="文本框 28677"/>
          <p:cNvSpPr txBox="1"/>
          <p:nvPr/>
        </p:nvSpPr>
        <p:spPr>
          <a:xfrm>
            <a:off x="7620000" y="1524000"/>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(4-11) </a:t>
            </a:r>
            <a:endParaRPr lang="en-US" altLang="zh-CN">
              <a:latin typeface="Times New Roman" panose="02020603050405020304" pitchFamily="18" charset="0"/>
              <a:ea typeface="宋体" panose="02010600030101010101" pitchFamily="2" charset="-122"/>
            </a:endParaRPr>
          </a:p>
        </p:txBody>
      </p:sp>
      <p:sp>
        <p:nvSpPr>
          <p:cNvPr id="45060" name="文本框 28678"/>
          <p:cNvSpPr txBox="1"/>
          <p:nvPr/>
        </p:nvSpPr>
        <p:spPr>
          <a:xfrm>
            <a:off x="533400" y="2098675"/>
            <a:ext cx="117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 </a:t>
            </a:r>
            <a:endParaRPr lang="zh-CN" altLang="en-US">
              <a:latin typeface="Times New Roman" panose="02020603050405020304" pitchFamily="18" charset="0"/>
              <a:ea typeface="宋体" panose="02010600030101010101" pitchFamily="2" charset="-122"/>
            </a:endParaRPr>
          </a:p>
        </p:txBody>
      </p:sp>
      <p:graphicFrame>
        <p:nvGraphicFramePr>
          <p:cNvPr id="45061" name="对象 28679"/>
          <p:cNvGraphicFramePr/>
          <p:nvPr/>
        </p:nvGraphicFramePr>
        <p:xfrm>
          <a:off x="3047048" y="2607628"/>
          <a:ext cx="2973705" cy="1690370"/>
        </p:xfrm>
        <a:graphic>
          <a:graphicData uri="http://schemas.openxmlformats.org/presentationml/2006/ole">
            <mc:AlternateContent xmlns:mc="http://schemas.openxmlformats.org/markup-compatibility/2006">
              <mc:Choice xmlns:v="urn:schemas-microsoft-com:vml" Requires="v">
                <p:oleObj spid="_x0000_s3123" name="" r:id="rId3" imgW="1206500" imgH="685800" progId="Equation.3">
                  <p:embed/>
                </p:oleObj>
              </mc:Choice>
              <mc:Fallback>
                <p:oleObj name="" r:id="rId3" imgW="1206500" imgH="685800" progId="Equation.3">
                  <p:embed/>
                  <p:pic>
                    <p:nvPicPr>
                      <p:cNvPr id="0" name="图片 3122"/>
                      <p:cNvPicPr/>
                      <p:nvPr/>
                    </p:nvPicPr>
                    <p:blipFill>
                      <a:blip r:embed="rId4"/>
                      <a:stretch>
                        <a:fillRect/>
                      </a:stretch>
                    </p:blipFill>
                    <p:spPr>
                      <a:xfrm>
                        <a:off x="3047048" y="2607628"/>
                        <a:ext cx="2973705" cy="1690370"/>
                      </a:xfrm>
                      <a:prstGeom prst="rect">
                        <a:avLst/>
                      </a:prstGeom>
                      <a:noFill/>
                      <a:ln w="38100">
                        <a:noFill/>
                        <a:miter/>
                      </a:ln>
                    </p:spPr>
                  </p:pic>
                </p:oleObj>
              </mc:Fallback>
            </mc:AlternateContent>
          </a:graphicData>
        </a:graphic>
      </p:graphicFrame>
      <p:sp>
        <p:nvSpPr>
          <p:cNvPr id="45062" name="文本框 28680"/>
          <p:cNvSpPr txBox="1"/>
          <p:nvPr/>
        </p:nvSpPr>
        <p:spPr>
          <a:xfrm>
            <a:off x="304800" y="4235450"/>
            <a:ext cx="8610600" cy="1109345"/>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显然，</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的第一部分</a:t>
            </a:r>
            <a:r>
              <a:rPr lang="en-US" altLang="zh-CN" i="1" u="sng" err="1">
                <a:solidFill>
                  <a:srgbClr val="FF0000"/>
                </a:solidFill>
                <a:highlight>
                  <a:srgbClr val="FFFF00"/>
                </a:highlight>
                <a:latin typeface="Times New Roman" panose="02020603050405020304" pitchFamily="18" charset="0"/>
                <a:ea typeface="宋体" panose="02010600030101010101" pitchFamily="2" charset="-122"/>
              </a:rPr>
              <a:t>H</a:t>
            </a:r>
            <a:r>
              <a:rPr lang="en-US" altLang="zh-CN" u="sng" baseline="-25000" err="1">
                <a:solidFill>
                  <a:srgbClr val="FF0000"/>
                </a:solidFill>
                <a:highlight>
                  <a:srgbClr val="FFFF00"/>
                </a:highlight>
                <a:latin typeface="Times New Roman" panose="02020603050405020304" pitchFamily="18" charset="0"/>
                <a:ea typeface="宋体" panose="02010600030101010101" pitchFamily="2" charset="-122"/>
              </a:rPr>
              <a:t>c</a:t>
            </a:r>
            <a:r>
              <a:rPr lang="en-US" altLang="zh-CN" u="sng" err="1">
                <a:solidFill>
                  <a:srgbClr val="FF0000"/>
                </a:solidFill>
                <a:highlight>
                  <a:srgbClr val="FFFF00"/>
                </a:highlight>
                <a:latin typeface="Times New Roman" panose="02020603050405020304" pitchFamily="18" charset="0"/>
                <a:ea typeface="宋体" panose="02010600030101010101" pitchFamily="2" charset="-122"/>
              </a:rPr>
              <a:t>(</a:t>
            </a:r>
            <a:r>
              <a:rPr lang="en-US" altLang="zh-CN" i="1" u="sng" err="1">
                <a:solidFill>
                  <a:srgbClr val="FF0000"/>
                </a:solidFill>
                <a:highlight>
                  <a:srgbClr val="FFFF00"/>
                </a:highlight>
                <a:latin typeface="Times New Roman" panose="02020603050405020304" pitchFamily="18" charset="0"/>
                <a:ea typeface="宋体" panose="02010600030101010101" pitchFamily="2" charset="-122"/>
              </a:rPr>
              <a:t>z</a:t>
            </a:r>
            <a:r>
              <a:rPr lang="en-US" altLang="zh-CN" u="sng" dirty="0">
                <a:solidFill>
                  <a:srgbClr val="FF0000"/>
                </a:solidFill>
                <a:highlight>
                  <a:srgbClr val="FFFF00"/>
                </a:highlight>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是一个由</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阶延时单元组成的</a:t>
            </a:r>
            <a:r>
              <a:rPr lang="zh-CN" altLang="en-US" u="sng" dirty="0">
                <a:solidFill>
                  <a:srgbClr val="FF0000"/>
                </a:solidFill>
                <a:highlight>
                  <a:srgbClr val="FFFF00"/>
                </a:highlight>
                <a:latin typeface="Times New Roman" panose="02020603050405020304" pitchFamily="18" charset="0"/>
                <a:ea typeface="宋体" panose="02010600030101010101" pitchFamily="2" charset="-122"/>
              </a:rPr>
              <a:t>梳状滤波器</a:t>
            </a:r>
            <a:r>
              <a:rPr lang="zh-CN" altLang="en-US" dirty="0">
                <a:latin typeface="Times New Roman" panose="02020603050405020304" pitchFamily="18" charset="0"/>
                <a:ea typeface="宋体" panose="02010600030101010101" pitchFamily="2" charset="-122"/>
              </a:rPr>
              <a:t>，如</a:t>
            </a:r>
            <a:r>
              <a:rPr lang="zh-CN" altLang="zh-CN" dirty="0">
                <a:latin typeface="Times New Roman" panose="02020603050405020304" pitchFamily="18" charset="0"/>
                <a:ea typeface="宋体" panose="02010600030101010101" pitchFamily="2" charset="-122"/>
              </a:rPr>
              <a:t>下图</a:t>
            </a:r>
            <a:r>
              <a:rPr lang="zh-CN" altLang="en-US" dirty="0">
                <a:latin typeface="Times New Roman" panose="02020603050405020304" pitchFamily="18" charset="0"/>
                <a:ea typeface="宋体" panose="02010600030101010101" pitchFamily="2" charset="-122"/>
              </a:rPr>
              <a:t>所示。它在单位圆上有</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个等间隔的零点 </a:t>
            </a:r>
            <a:endParaRPr lang="zh-CN" altLang="en-US">
              <a:latin typeface="Times New Roman" panose="02020603050405020304" pitchFamily="18" charset="0"/>
              <a:ea typeface="宋体" panose="02010600030101010101" pitchFamily="2" charset="-122"/>
            </a:endParaRPr>
          </a:p>
        </p:txBody>
      </p:sp>
      <p:graphicFrame>
        <p:nvGraphicFramePr>
          <p:cNvPr id="45063" name="对象 28681"/>
          <p:cNvGraphicFramePr/>
          <p:nvPr/>
        </p:nvGraphicFramePr>
        <p:xfrm>
          <a:off x="1828800" y="5257800"/>
          <a:ext cx="2971800" cy="1041400"/>
        </p:xfrm>
        <a:graphic>
          <a:graphicData uri="http://schemas.openxmlformats.org/presentationml/2006/ole">
            <mc:AlternateContent xmlns:mc="http://schemas.openxmlformats.org/markup-compatibility/2006">
              <mc:Choice xmlns:v="urn:schemas-microsoft-com:vml" Requires="v">
                <p:oleObj spid="_x0000_s3127" name="" r:id="rId5" imgW="977265" imgH="342900" progId="Equation.3">
                  <p:embed/>
                </p:oleObj>
              </mc:Choice>
              <mc:Fallback>
                <p:oleObj name="" r:id="rId5" imgW="977265" imgH="342900" progId="Equation.3">
                  <p:embed/>
                  <p:pic>
                    <p:nvPicPr>
                      <p:cNvPr id="0" name="图片 3126"/>
                      <p:cNvPicPr/>
                      <p:nvPr/>
                    </p:nvPicPr>
                    <p:blipFill>
                      <a:blip r:embed="rId6"/>
                      <a:stretch>
                        <a:fillRect/>
                      </a:stretch>
                    </p:blipFill>
                    <p:spPr>
                      <a:xfrm>
                        <a:off x="1828800" y="5257800"/>
                        <a:ext cx="2971800" cy="1041400"/>
                      </a:xfrm>
                      <a:prstGeom prst="rect">
                        <a:avLst/>
                      </a:prstGeom>
                      <a:noFill/>
                      <a:ln w="38100">
                        <a:noFill/>
                        <a:miter/>
                      </a:ln>
                    </p:spPr>
                  </p:pic>
                </p:oleObj>
              </mc:Fallback>
            </mc:AlternateContent>
          </a:graphicData>
        </a:graphic>
      </p:graphicFrame>
      <p:sp>
        <p:nvSpPr>
          <p:cNvPr id="45064" name="文本框 28682"/>
          <p:cNvSpPr txBox="1"/>
          <p:nvPr/>
        </p:nvSpPr>
        <p:spPr>
          <a:xfrm>
            <a:off x="5275263" y="5680075"/>
            <a:ext cx="2573337" cy="457200"/>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=0, 1</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 …, </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文本框 27651"/>
          <p:cNvSpPr txBox="1"/>
          <p:nvPr/>
        </p:nvSpPr>
        <p:spPr>
          <a:xfrm>
            <a:off x="5076190" y="4940935"/>
            <a:ext cx="3129280" cy="460375"/>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4-15-b  </a:t>
            </a:r>
            <a:r>
              <a:rPr lang="zh-CN" altLang="en-US" dirty="0">
                <a:latin typeface="Times New Roman" panose="02020603050405020304" pitchFamily="18" charset="0"/>
                <a:ea typeface="宋体" panose="02010600030101010101" pitchFamily="2" charset="-122"/>
              </a:rPr>
              <a:t>梳状滤波器 </a:t>
            </a:r>
            <a:endParaRPr lang="zh-CN" altLang="en-US">
              <a:latin typeface="Times New Roman" panose="02020603050405020304" pitchFamily="18" charset="0"/>
              <a:ea typeface="宋体" panose="02010600030101010101" pitchFamily="2" charset="-122"/>
            </a:endParaRPr>
          </a:p>
        </p:txBody>
      </p:sp>
      <p:graphicFrame>
        <p:nvGraphicFramePr>
          <p:cNvPr id="45061" name="对象 28679"/>
          <p:cNvGraphicFramePr/>
          <p:nvPr/>
        </p:nvGraphicFramePr>
        <p:xfrm>
          <a:off x="683895" y="948690"/>
          <a:ext cx="7621270" cy="1470660"/>
        </p:xfrm>
        <a:graphic>
          <a:graphicData uri="http://schemas.openxmlformats.org/presentationml/2006/ole">
            <mc:AlternateContent xmlns:mc="http://schemas.openxmlformats.org/markup-compatibility/2006">
              <mc:Choice xmlns:v="urn:schemas-microsoft-com:vml" Requires="v">
                <p:oleObj spid="_x0000_s3123" name="" r:id="rId1" imgW="3340100" imgH="736600" progId="Equation.3">
                  <p:embed/>
                </p:oleObj>
              </mc:Choice>
              <mc:Fallback>
                <p:oleObj name="" r:id="rId1" imgW="3340100" imgH="736600" progId="Equation.3">
                  <p:embed/>
                  <p:pic>
                    <p:nvPicPr>
                      <p:cNvPr id="0" name="图片 3122"/>
                      <p:cNvPicPr/>
                      <p:nvPr/>
                    </p:nvPicPr>
                    <p:blipFill>
                      <a:blip r:embed="rId2"/>
                      <a:stretch>
                        <a:fillRect/>
                      </a:stretch>
                    </p:blipFill>
                    <p:spPr>
                      <a:xfrm>
                        <a:off x="683895" y="948690"/>
                        <a:ext cx="7621270" cy="1470660"/>
                      </a:xfrm>
                      <a:prstGeom prst="rect">
                        <a:avLst/>
                      </a:prstGeom>
                      <a:solidFill>
                        <a:schemeClr val="accent1"/>
                      </a:solidFill>
                      <a:ln w="38100">
                        <a:noFill/>
                        <a:miter/>
                      </a:ln>
                    </p:spPr>
                  </p:pic>
                </p:oleObj>
              </mc:Fallback>
            </mc:AlternateContent>
          </a:graphicData>
        </a:graphic>
      </p:graphicFrame>
      <p:graphicFrame>
        <p:nvGraphicFramePr>
          <p:cNvPr id="2" name="对象 1"/>
          <p:cNvGraphicFramePr/>
          <p:nvPr/>
        </p:nvGraphicFramePr>
        <p:xfrm>
          <a:off x="828040" y="3080385"/>
          <a:ext cx="3069590" cy="1172210"/>
        </p:xfrm>
        <a:graphic>
          <a:graphicData uri="http://schemas.openxmlformats.org/presentationml/2006/ole">
            <mc:AlternateContent xmlns:mc="http://schemas.openxmlformats.org/markup-compatibility/2006">
              <mc:Choice xmlns:v="urn:schemas-microsoft-com:vml" Requires="v">
                <p:oleObj spid="_x0000_s3" name="" r:id="rId3" imgW="3067050" imgH="1171575" progId="Paint.Picture">
                  <p:embed/>
                </p:oleObj>
              </mc:Choice>
              <mc:Fallback>
                <p:oleObj name="" r:id="rId3" imgW="3067050" imgH="1171575" progId="Paint.Picture">
                  <p:embed/>
                  <p:pic>
                    <p:nvPicPr>
                      <p:cNvPr id="0" name="图片 2"/>
                      <p:cNvPicPr/>
                      <p:nvPr/>
                    </p:nvPicPr>
                    <p:blipFill>
                      <a:blip r:embed="rId4"/>
                      <a:stretch>
                        <a:fillRect/>
                      </a:stretch>
                    </p:blipFill>
                    <p:spPr>
                      <a:xfrm>
                        <a:off x="828040" y="3080385"/>
                        <a:ext cx="3069590" cy="1172210"/>
                      </a:xfrm>
                      <a:prstGeom prst="rect">
                        <a:avLst/>
                      </a:prstGeom>
                    </p:spPr>
                  </p:pic>
                </p:oleObj>
              </mc:Fallback>
            </mc:AlternateContent>
          </a:graphicData>
        </a:graphic>
      </p:graphicFrame>
      <p:sp>
        <p:nvSpPr>
          <p:cNvPr id="6" name="文本框 27651"/>
          <p:cNvSpPr txBox="1"/>
          <p:nvPr/>
        </p:nvSpPr>
        <p:spPr>
          <a:xfrm>
            <a:off x="971550" y="4913630"/>
            <a:ext cx="2731135" cy="460375"/>
          </a:xfrm>
          <a:prstGeom prst="rect">
            <a:avLst/>
          </a:prstGeom>
          <a:solidFill>
            <a:schemeClr val="accent1"/>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4-15-a </a:t>
            </a:r>
            <a:r>
              <a:rPr lang="zh-CN" dirty="0">
                <a:latin typeface="Times New Roman" panose="02020603050405020304" pitchFamily="18" charset="0"/>
                <a:ea typeface="宋体" panose="02010600030101010101" pitchFamily="2" charset="-122"/>
              </a:rPr>
              <a:t>信号流图</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7" name="对象 6"/>
          <p:cNvGraphicFramePr/>
          <p:nvPr/>
        </p:nvGraphicFramePr>
        <p:xfrm>
          <a:off x="5076190" y="3068955"/>
          <a:ext cx="2736215" cy="1430020"/>
        </p:xfrm>
        <a:graphic>
          <a:graphicData uri="http://schemas.openxmlformats.org/presentationml/2006/ole">
            <mc:AlternateContent xmlns:mc="http://schemas.openxmlformats.org/markup-compatibility/2006">
              <mc:Choice xmlns:v="urn:schemas-microsoft-com:vml" Requires="v">
                <p:oleObj spid="_x0000_s8" name="" r:id="rId5" imgW="2733675" imgH="1428750" progId="Paint.Picture">
                  <p:embed/>
                </p:oleObj>
              </mc:Choice>
              <mc:Fallback>
                <p:oleObj name="" r:id="rId5" imgW="2733675" imgH="1428750" progId="Paint.Picture">
                  <p:embed/>
                  <p:pic>
                    <p:nvPicPr>
                      <p:cNvPr id="0" name="图片 7"/>
                      <p:cNvPicPr/>
                      <p:nvPr/>
                    </p:nvPicPr>
                    <p:blipFill>
                      <a:blip r:embed="rId6"/>
                      <a:stretch>
                        <a:fillRect/>
                      </a:stretch>
                    </p:blipFill>
                    <p:spPr>
                      <a:xfrm>
                        <a:off x="5076190" y="3068955"/>
                        <a:ext cx="2736215" cy="1430020"/>
                      </a:xfrm>
                      <a:prstGeom prst="rect">
                        <a:avLst/>
                      </a:prstGeom>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0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46081"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7105" name="对象 30724"/>
          <p:cNvGraphicFramePr/>
          <p:nvPr/>
        </p:nvGraphicFramePr>
        <p:xfrm>
          <a:off x="4966653" y="1916272"/>
          <a:ext cx="2991485" cy="960755"/>
        </p:xfrm>
        <a:graphic>
          <a:graphicData uri="http://schemas.openxmlformats.org/presentationml/2006/ole">
            <mc:AlternateContent xmlns:mc="http://schemas.openxmlformats.org/markup-compatibility/2006">
              <mc:Choice xmlns:v="urn:schemas-microsoft-com:vml" Requires="v">
                <p:oleObj spid="_x0000_s3129" name="" r:id="rId1" imgW="1066800" imgH="342900" progId="Equation.3">
                  <p:embed/>
                </p:oleObj>
              </mc:Choice>
              <mc:Fallback>
                <p:oleObj name="" r:id="rId1" imgW="1066800" imgH="342900" progId="Equation.3">
                  <p:embed/>
                  <p:pic>
                    <p:nvPicPr>
                      <p:cNvPr id="0" name="图片 3128"/>
                      <p:cNvPicPr/>
                      <p:nvPr/>
                    </p:nvPicPr>
                    <p:blipFill>
                      <a:blip r:embed="rId2"/>
                      <a:stretch>
                        <a:fillRect/>
                      </a:stretch>
                    </p:blipFill>
                    <p:spPr>
                      <a:xfrm>
                        <a:off x="4966653" y="1916272"/>
                        <a:ext cx="2991485" cy="960755"/>
                      </a:xfrm>
                      <a:prstGeom prst="rect">
                        <a:avLst/>
                      </a:prstGeom>
                      <a:solidFill>
                        <a:schemeClr val="accent1"/>
                      </a:solidFill>
                      <a:ln w="38100">
                        <a:noFill/>
                        <a:miter/>
                      </a:ln>
                    </p:spPr>
                  </p:pic>
                </p:oleObj>
              </mc:Fallback>
            </mc:AlternateContent>
          </a:graphicData>
        </a:graphic>
      </p:graphicFrame>
      <p:sp>
        <p:nvSpPr>
          <p:cNvPr id="47106" name="文本框 30725"/>
          <p:cNvSpPr txBox="1"/>
          <p:nvPr/>
        </p:nvSpPr>
        <p:spPr>
          <a:xfrm>
            <a:off x="228600" y="3317875"/>
            <a:ext cx="8686800" cy="2425065"/>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因此，</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的第二部分是一个有</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个极点的谐振网络。这些极点正好与第一部分</a:t>
            </a:r>
            <a:r>
              <a:rPr lang="zh-CN" altLang="en-US" u="sng" dirty="0">
                <a:solidFill>
                  <a:srgbClr val="FF0000"/>
                </a:solidFill>
                <a:highlight>
                  <a:srgbClr val="FFFF00"/>
                </a:highlight>
                <a:latin typeface="Times New Roman" panose="02020603050405020304" pitchFamily="18" charset="0"/>
                <a:ea typeface="宋体" panose="02010600030101010101" pitchFamily="2" charset="-122"/>
              </a:rPr>
              <a:t>梳状滤波器的</a:t>
            </a:r>
            <a:r>
              <a:rPr lang="en-US" altLang="zh-CN" i="1" u="sng">
                <a:solidFill>
                  <a:srgbClr val="FF0000"/>
                </a:solidFill>
                <a:highlight>
                  <a:srgbClr val="FFFF00"/>
                </a:highlight>
                <a:latin typeface="Times New Roman" panose="02020603050405020304" pitchFamily="18" charset="0"/>
                <a:ea typeface="宋体" panose="02010600030101010101" pitchFamily="2" charset="-122"/>
              </a:rPr>
              <a:t>N</a:t>
            </a:r>
            <a:r>
              <a:rPr lang="zh-CN" altLang="en-US" u="sng" dirty="0">
                <a:solidFill>
                  <a:srgbClr val="FF0000"/>
                </a:solidFill>
                <a:highlight>
                  <a:srgbClr val="FFFF00"/>
                </a:highlight>
                <a:latin typeface="Times New Roman" panose="02020603050405020304" pitchFamily="18" charset="0"/>
                <a:ea typeface="宋体" panose="02010600030101010101" pitchFamily="2" charset="-122"/>
              </a:rPr>
              <a:t>个零点相抵消</a:t>
            </a:r>
            <a:r>
              <a:rPr lang="zh-CN" altLang="en-US" dirty="0">
                <a:latin typeface="Times New Roman" panose="02020603050405020304" pitchFamily="18" charset="0"/>
                <a:ea typeface="宋体" panose="02010600030101010101" pitchFamily="2" charset="-122"/>
              </a:rPr>
              <a:t>，从而使</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在这些频率上的响应等于</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。把这两部分级联起来就可以构成</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滤波器的频率采样型结构，如图</a:t>
            </a:r>
            <a:r>
              <a:rPr lang="en-US" altLang="zh-CN" dirty="0">
                <a:latin typeface="Times New Roman" panose="02020603050405020304" pitchFamily="18" charset="0"/>
                <a:ea typeface="宋体" panose="02010600030101010101" pitchFamily="2" charset="-122"/>
              </a:rPr>
              <a:t>4-16</a:t>
            </a:r>
            <a:r>
              <a:rPr lang="zh-CN" altLang="en-US" dirty="0">
                <a:latin typeface="Times New Roman" panose="02020603050405020304" pitchFamily="18" charset="0"/>
                <a:ea typeface="宋体" panose="02010600030101010101" pitchFamily="2" charset="-122"/>
              </a:rPr>
              <a:t>所示。 </a:t>
            </a:r>
            <a:endParaRPr lang="zh-CN" altLang="en-US">
              <a:latin typeface="Times New Roman" panose="02020603050405020304" pitchFamily="18" charset="0"/>
              <a:ea typeface="宋体" panose="02010600030101010101" pitchFamily="2" charset="-122"/>
            </a:endParaRPr>
          </a:p>
        </p:txBody>
      </p:sp>
      <p:grpSp>
        <p:nvGrpSpPr>
          <p:cNvPr id="47107" name="组合 30727"/>
          <p:cNvGrpSpPr/>
          <p:nvPr/>
        </p:nvGrpSpPr>
        <p:grpSpPr>
          <a:xfrm>
            <a:off x="152400" y="609600"/>
            <a:ext cx="8763000" cy="1098550"/>
            <a:chOff x="96" y="384"/>
            <a:chExt cx="5520" cy="692"/>
          </a:xfrm>
        </p:grpSpPr>
        <p:sp>
          <p:nvSpPr>
            <p:cNvPr id="47108" name="文本框 30723"/>
            <p:cNvSpPr txBox="1"/>
            <p:nvPr/>
          </p:nvSpPr>
          <p:spPr>
            <a:xfrm>
              <a:off x="96" y="384"/>
              <a:ext cx="5520" cy="692"/>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第二部分是由</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个一阶网络         </a:t>
              </a:r>
              <a:r>
                <a:rPr lang="zh-CN" altLang="en-US" dirty="0">
                  <a:latin typeface="Times New Roman" panose="02020603050405020304" pitchFamily="18" charset="0"/>
                  <a:ea typeface="宋体" panose="02010600030101010101" pitchFamily="2" charset="-122"/>
                </a:rPr>
                <a:t>组成的并联结构，每个一阶网络在单位圆上有一个极点 </a:t>
              </a:r>
              <a:endParaRPr lang="zh-CN" altLang="en-US">
                <a:latin typeface="Times New Roman" panose="02020603050405020304" pitchFamily="18" charset="0"/>
                <a:ea typeface="宋体" panose="02010600030101010101" pitchFamily="2" charset="-122"/>
              </a:endParaRPr>
            </a:p>
          </p:txBody>
        </p:sp>
        <p:graphicFrame>
          <p:nvGraphicFramePr>
            <p:cNvPr id="47109" name="对象 30726"/>
            <p:cNvGraphicFramePr/>
            <p:nvPr/>
          </p:nvGraphicFramePr>
          <p:xfrm>
            <a:off x="2880" y="467"/>
            <a:ext cx="499" cy="287"/>
          </p:xfrm>
          <a:graphic>
            <a:graphicData uri="http://schemas.openxmlformats.org/presentationml/2006/ole">
              <mc:AlternateContent xmlns:mc="http://schemas.openxmlformats.org/markup-compatibility/2006">
                <mc:Choice xmlns:v="urn:schemas-microsoft-com:vml" Requires="v">
                  <p:oleObj spid="_x0000_s3124" name="" r:id="rId3" imgW="419100" imgH="241300" progId="Equation.3">
                    <p:embed/>
                  </p:oleObj>
                </mc:Choice>
                <mc:Fallback>
                  <p:oleObj name="" r:id="rId3" imgW="419100" imgH="241300" progId="Equation.3">
                    <p:embed/>
                    <p:pic>
                      <p:nvPicPr>
                        <p:cNvPr id="0" name="图片 3123"/>
                        <p:cNvPicPr/>
                        <p:nvPr/>
                      </p:nvPicPr>
                      <p:blipFill>
                        <a:blip r:embed="rId4"/>
                        <a:stretch>
                          <a:fillRect/>
                        </a:stretch>
                      </p:blipFill>
                      <p:spPr>
                        <a:xfrm>
                          <a:off x="2880" y="467"/>
                          <a:ext cx="499" cy="287"/>
                        </a:xfrm>
                        <a:prstGeom prst="rect">
                          <a:avLst/>
                        </a:prstGeom>
                        <a:noFill/>
                        <a:ln w="38100">
                          <a:noFill/>
                          <a:miter/>
                        </a:ln>
                      </p:spPr>
                    </p:pic>
                  </p:oleObj>
                </mc:Fallback>
              </mc:AlternateContent>
            </a:graphicData>
          </a:graphic>
        </p:graphicFrame>
      </p:grpSp>
      <p:graphicFrame>
        <p:nvGraphicFramePr>
          <p:cNvPr id="45061" name="对象 28679"/>
          <p:cNvGraphicFramePr/>
          <p:nvPr/>
        </p:nvGraphicFramePr>
        <p:xfrm>
          <a:off x="1042988" y="1844675"/>
          <a:ext cx="2973705" cy="1064895"/>
        </p:xfrm>
        <a:graphic>
          <a:graphicData uri="http://schemas.openxmlformats.org/presentationml/2006/ole">
            <mc:AlternateContent xmlns:mc="http://schemas.openxmlformats.org/markup-compatibility/2006">
              <mc:Choice xmlns:v="urn:schemas-microsoft-com:vml" Requires="v">
                <p:oleObj spid="_x0000_s3123" name="" r:id="rId5" imgW="1206500" imgH="431800" progId="Equation.3">
                  <p:embed/>
                </p:oleObj>
              </mc:Choice>
              <mc:Fallback>
                <p:oleObj name="" r:id="rId5" imgW="1206500" imgH="431800" progId="Equation.3">
                  <p:embed/>
                  <p:pic>
                    <p:nvPicPr>
                      <p:cNvPr id="0" name="图片 3122"/>
                      <p:cNvPicPr/>
                      <p:nvPr/>
                    </p:nvPicPr>
                    <p:blipFill>
                      <a:blip r:embed="rId6"/>
                      <a:stretch>
                        <a:fillRect/>
                      </a:stretch>
                    </p:blipFill>
                    <p:spPr>
                      <a:xfrm>
                        <a:off x="1042988" y="1844675"/>
                        <a:ext cx="2973705" cy="1064895"/>
                      </a:xfrm>
                      <a:prstGeom prst="rect">
                        <a:avLst/>
                      </a:prstGeom>
                      <a:solidFill>
                        <a:schemeClr val="accent1"/>
                      </a:solidFill>
                      <a:ln w="38100">
                        <a:noFill/>
                        <a:miter/>
                      </a:ln>
                    </p:spPr>
                  </p:pic>
                </p:oleObj>
              </mc:Fallback>
            </mc:AlternateContent>
          </a:graphicData>
        </a:graphic>
      </p:graphicFrame>
    </p:spTree>
  </p:cSld>
  <p:clrMapOvr>
    <a:masterClrMapping/>
  </p:clrMapOvr>
  <p:transition>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文本框 29699"/>
          <p:cNvSpPr txBox="1"/>
          <p:nvPr/>
        </p:nvSpPr>
        <p:spPr>
          <a:xfrm>
            <a:off x="2195830" y="5876925"/>
            <a:ext cx="518001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4-16  FIR</a:t>
            </a:r>
            <a:r>
              <a:rPr lang="zh-CN" altLang="en-US" dirty="0">
                <a:latin typeface="Times New Roman" panose="02020603050405020304" pitchFamily="18" charset="0"/>
                <a:ea typeface="宋体" panose="02010600030101010101" pitchFamily="2" charset="-122"/>
              </a:rPr>
              <a:t>滤波器的频率采样型结构 </a:t>
            </a:r>
            <a:endParaRPr lang="zh-CN" altLang="en-US">
              <a:latin typeface="Times New Roman" panose="02020603050405020304" pitchFamily="18" charset="0"/>
              <a:ea typeface="宋体" panose="02010600030101010101" pitchFamily="2" charset="-122"/>
            </a:endParaRPr>
          </a:p>
        </p:txBody>
      </p:sp>
      <p:pic>
        <p:nvPicPr>
          <p:cNvPr id="48130" name="图片 29702" descr="4-16"/>
          <p:cNvPicPr>
            <a:picLocks noChangeAspect="1"/>
          </p:cNvPicPr>
          <p:nvPr/>
        </p:nvPicPr>
        <p:blipFill>
          <a:blip r:embed="rId1"/>
          <a:stretch>
            <a:fillRect/>
          </a:stretch>
        </p:blipFill>
        <p:spPr>
          <a:xfrm>
            <a:off x="1764030" y="1916113"/>
            <a:ext cx="5715000" cy="3876675"/>
          </a:xfrm>
          <a:prstGeom prst="rect">
            <a:avLst/>
          </a:prstGeom>
          <a:noFill/>
          <a:ln w="9525">
            <a:noFill/>
          </a:ln>
        </p:spPr>
      </p:pic>
      <p:graphicFrame>
        <p:nvGraphicFramePr>
          <p:cNvPr id="44034" name="对象 25604"/>
          <p:cNvGraphicFramePr/>
          <p:nvPr/>
        </p:nvGraphicFramePr>
        <p:xfrm>
          <a:off x="624840" y="764381"/>
          <a:ext cx="6959600" cy="1011555"/>
        </p:xfrm>
        <a:graphic>
          <a:graphicData uri="http://schemas.openxmlformats.org/presentationml/2006/ole">
            <mc:AlternateContent xmlns:mc="http://schemas.openxmlformats.org/markup-compatibility/2006">
              <mc:Choice xmlns:v="urn:schemas-microsoft-com:vml" Requires="v">
                <p:oleObj spid="_x0000_s3125" name="" r:id="rId2" imgW="3060065" imgH="444500" progId="Equation.3">
                  <p:embed/>
                </p:oleObj>
              </mc:Choice>
              <mc:Fallback>
                <p:oleObj name="" r:id="rId2" imgW="3060065" imgH="444500" progId="Equation.3">
                  <p:embed/>
                  <p:pic>
                    <p:nvPicPr>
                      <p:cNvPr id="0" name="图片 3124"/>
                      <p:cNvPicPr/>
                      <p:nvPr/>
                    </p:nvPicPr>
                    <p:blipFill>
                      <a:blip r:embed="rId3"/>
                      <a:stretch>
                        <a:fillRect/>
                      </a:stretch>
                    </p:blipFill>
                    <p:spPr>
                      <a:xfrm>
                        <a:off x="624840" y="764381"/>
                        <a:ext cx="6959600" cy="1011555"/>
                      </a:xfrm>
                      <a:prstGeom prst="rect">
                        <a:avLst/>
                      </a:prstGeom>
                      <a:solidFill>
                        <a:schemeClr val="accent1"/>
                      </a:solidFill>
                      <a:ln w="38100">
                        <a:noFill/>
                        <a:miter/>
                      </a:ln>
                    </p:spPr>
                  </p:pic>
                </p:oleObj>
              </mc:Fallback>
            </mc:AlternateContent>
          </a:graphicData>
        </a:graphic>
      </p:graphicFrame>
      <p:sp>
        <p:nvSpPr>
          <p:cNvPr id="2" name="文本框 1"/>
          <p:cNvSpPr txBox="1"/>
          <p:nvPr/>
        </p:nvSpPr>
        <p:spPr>
          <a:xfrm>
            <a:off x="251460" y="4004945"/>
            <a:ext cx="3535680" cy="829945"/>
          </a:xfrm>
          <a:prstGeom prst="rect">
            <a:avLst/>
          </a:prstGeom>
          <a:solidFill>
            <a:schemeClr val="accent1"/>
          </a:solidFill>
        </p:spPr>
        <p:txBody>
          <a:bodyPr wrap="none" rtlCol="0" anchor="t">
            <a:spAutoFit/>
          </a:bodyPr>
          <a:p>
            <a:r>
              <a:rPr lang="en-US" altLang="zh-CN" dirty="0">
                <a:sym typeface="+mn-ea"/>
              </a:rPr>
              <a:t>        </a:t>
            </a:r>
            <a:r>
              <a:rPr lang="zh-CN" altLang="en-US" dirty="0">
                <a:sym typeface="+mn-ea"/>
              </a:rPr>
              <a:t>只要阶数相同，</a:t>
            </a:r>
            <a:endParaRPr lang="zh-CN" altLang="en-US" dirty="0">
              <a:sym typeface="+mn-ea"/>
            </a:endParaRPr>
          </a:p>
          <a:p>
            <a:r>
              <a:rPr lang="zh-CN" altLang="en-US" dirty="0">
                <a:sym typeface="+mn-ea"/>
              </a:rPr>
              <a:t>梳状滤波器结构完全相同</a:t>
            </a:r>
            <a:endParaRPr lang="zh-CN" altLang="en-US"/>
          </a:p>
        </p:txBody>
      </p:sp>
      <p:sp>
        <p:nvSpPr>
          <p:cNvPr id="3" name="文本框 2"/>
          <p:cNvSpPr txBox="1"/>
          <p:nvPr/>
        </p:nvSpPr>
        <p:spPr>
          <a:xfrm>
            <a:off x="4356100" y="4293235"/>
            <a:ext cx="1960880" cy="460375"/>
          </a:xfrm>
          <a:prstGeom prst="rect">
            <a:avLst/>
          </a:prstGeom>
          <a:solidFill>
            <a:schemeClr val="accent1"/>
          </a:solidFill>
        </p:spPr>
        <p:txBody>
          <a:bodyPr wrap="none" rtlCol="0" anchor="t">
            <a:spAutoFit/>
          </a:bodyPr>
          <a:p>
            <a:r>
              <a:rPr lang="zh-CN" altLang="en-US" dirty="0">
                <a:sym typeface="+mn-ea"/>
              </a:rPr>
              <a:t>增益</a:t>
            </a:r>
            <a:r>
              <a:rPr lang="en-US" altLang="zh-CN" i="1">
                <a:sym typeface="+mn-ea"/>
              </a:rPr>
              <a:t>H</a:t>
            </a:r>
            <a:r>
              <a:rPr lang="en-US" altLang="zh-CN">
                <a:sym typeface="+mn-ea"/>
              </a:rPr>
              <a:t>(</a:t>
            </a:r>
            <a:r>
              <a:rPr lang="en-US" altLang="zh-CN" i="1">
                <a:sym typeface="+mn-ea"/>
              </a:rPr>
              <a:t>k</a:t>
            </a:r>
            <a:r>
              <a:rPr lang="en-US" altLang="zh-CN" dirty="0">
                <a:sym typeface="+mn-ea"/>
              </a:rPr>
              <a:t>)</a:t>
            </a:r>
            <a:r>
              <a:rPr lang="zh-CN" altLang="en-US" dirty="0">
                <a:sym typeface="+mn-ea"/>
              </a:rPr>
              <a:t>不同</a:t>
            </a:r>
            <a:endParaRPr lang="zh-CN" altLang="en-US"/>
          </a:p>
        </p:txBody>
      </p:sp>
      <p:sp>
        <p:nvSpPr>
          <p:cNvPr id="4" name="文本框 3"/>
          <p:cNvSpPr txBox="1"/>
          <p:nvPr/>
        </p:nvSpPr>
        <p:spPr>
          <a:xfrm>
            <a:off x="6012180" y="5873750"/>
            <a:ext cx="2926080" cy="460375"/>
          </a:xfrm>
          <a:prstGeom prst="rect">
            <a:avLst/>
          </a:prstGeom>
          <a:solidFill>
            <a:schemeClr val="accent1"/>
          </a:solidFill>
        </p:spPr>
        <p:txBody>
          <a:bodyPr wrap="none" rtlCol="0" anchor="t">
            <a:spAutoFit/>
          </a:bodyPr>
          <a:p>
            <a:r>
              <a:rPr lang="zh-CN" dirty="0">
                <a:sym typeface="+mn-ea"/>
              </a:rPr>
              <a:t>易于标准化、规范化</a:t>
            </a:r>
            <a:endParaRPr lang="zh-CN"/>
          </a:p>
        </p:txBody>
      </p:sp>
      <p:sp>
        <p:nvSpPr>
          <p:cNvPr id="5" name="椭圆 4"/>
          <p:cNvSpPr/>
          <p:nvPr/>
        </p:nvSpPr>
        <p:spPr>
          <a:xfrm>
            <a:off x="4820920" y="671830"/>
            <a:ext cx="773430" cy="596900"/>
          </a:xfrm>
          <a:prstGeom prst="ellipse">
            <a:avLst/>
          </a:prstGeom>
          <a:noFill/>
          <a:ln w="28575" cmpd="sng">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椭圆 5"/>
          <p:cNvSpPr/>
          <p:nvPr/>
        </p:nvSpPr>
        <p:spPr>
          <a:xfrm>
            <a:off x="4875530" y="1268730"/>
            <a:ext cx="718820" cy="624840"/>
          </a:xfrm>
          <a:prstGeom prst="ellipse">
            <a:avLst/>
          </a:prstGeom>
          <a:noFill/>
          <a:ln w="28575" cmpd="sng">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ldLvl="0" animBg="1"/>
      <p:bldP spid="4" grpId="0" bldLvl="0" animBg="1"/>
      <p:bldP spid="5" grpId="0" bldLvl="0" animBg="1"/>
      <p:bldP spid="6"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3419475" y="1125538"/>
            <a:ext cx="1368425"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9154" name="文本框 32771"/>
          <p:cNvSpPr txBox="1"/>
          <p:nvPr/>
        </p:nvSpPr>
        <p:spPr>
          <a:xfrm>
            <a:off x="304800" y="569913"/>
            <a:ext cx="8610600" cy="5735320"/>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FIR</a:t>
            </a:r>
            <a:r>
              <a:rPr lang="zh-CN" altLang="en-US" dirty="0">
                <a:latin typeface="Times New Roman" panose="02020603050405020304" pitchFamily="18" charset="0"/>
                <a:ea typeface="宋体" panose="02010600030101010101" pitchFamily="2" charset="-122"/>
              </a:rPr>
              <a:t>滤波器的频率采样型结构的主要</a:t>
            </a:r>
            <a:r>
              <a:rPr lang="zh-CN" altLang="en-US" b="1" u="sng" dirty="0">
                <a:solidFill>
                  <a:srgbClr val="FF0000"/>
                </a:solidFill>
                <a:highlight>
                  <a:srgbClr val="FFFF00"/>
                </a:highlight>
                <a:latin typeface="Times New Roman" panose="02020603050405020304" pitchFamily="18" charset="0"/>
                <a:ea typeface="宋体" panose="02010600030101010101" pitchFamily="2" charset="-122"/>
              </a:rPr>
              <a:t>优点</a:t>
            </a:r>
            <a:r>
              <a:rPr lang="zh-CN" altLang="en-US" dirty="0">
                <a:latin typeface="Times New Roman" panose="02020603050405020304" pitchFamily="18" charset="0"/>
                <a:ea typeface="宋体" panose="02010600030101010101" pitchFamily="2" charset="-122"/>
              </a:rPr>
              <a:t>：首先，它的系数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直接就是滤波器在</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=2π</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处的响应值，因此可以直接控制滤波器的响应；此外，只要滤波器的阶数</a:t>
            </a:r>
            <a:r>
              <a:rPr lang="en-US" altLang="zh-CN" dirty="0">
                <a:sym typeface="+mn-ea"/>
              </a:rPr>
              <a:t>N</a:t>
            </a:r>
            <a:r>
              <a:rPr lang="zh-CN" altLang="en-US" dirty="0">
                <a:latin typeface="Times New Roman" panose="02020603050405020304" pitchFamily="18" charset="0"/>
                <a:ea typeface="宋体" panose="02010600030101010101" pitchFamily="2" charset="-122"/>
              </a:rPr>
              <a:t>相同，对于任何频响形状，其梳状滤波器部分的结构完全相同，</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个一阶网络部分的结构也完全相同，只是各支路的增益</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不同，因此频率采样型结构便于标准化、模块化。但是该结构也有两个</a:t>
            </a:r>
            <a:r>
              <a:rPr lang="zh-CN" altLang="en-US" b="1" u="sng" dirty="0">
                <a:solidFill>
                  <a:srgbClr val="FF0000"/>
                </a:solidFill>
                <a:highlight>
                  <a:srgbClr val="FFFF00"/>
                </a:highlight>
                <a:latin typeface="Times New Roman" panose="02020603050405020304" pitchFamily="18" charset="0"/>
                <a:ea typeface="宋体" panose="02010600030101010101" pitchFamily="2" charset="-122"/>
              </a:rPr>
              <a:t>缺点</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）该滤波器所有的系数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W</a:t>
            </a:r>
            <a:r>
              <a:rPr lang="en-US" altLang="zh-CN" i="1" baseline="-25000">
                <a:latin typeface="Times New Roman" panose="02020603050405020304" pitchFamily="18" charset="0"/>
                <a:ea typeface="宋体" panose="02010600030101010101" pitchFamily="2" charset="-122"/>
              </a:rPr>
              <a:t>N</a:t>
            </a:r>
            <a:r>
              <a:rPr lang="en-US" altLang="zh-CN" i="1" baseline="30000">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一般为复数，复数相乘运算实现起来</a:t>
            </a:r>
            <a:r>
              <a:rPr lang="zh-CN" altLang="en-US" dirty="0">
                <a:latin typeface="Times New Roman" panose="02020603050405020304" pitchFamily="18" charset="0"/>
                <a:ea typeface="宋体" panose="02010600030101010101" pitchFamily="2" charset="-122"/>
              </a:rPr>
              <a:t>较麻烦。</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）系统稳定是靠位于单位圆上的</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个零极点对消来保证的，如果滤波器的系数稍有误差</a:t>
            </a:r>
            <a:r>
              <a:rPr lang="zh-CN" altLang="en-US" dirty="0">
                <a:latin typeface="Times New Roman" panose="02020603050405020304" pitchFamily="18" charset="0"/>
                <a:ea typeface="宋体" panose="02010600030101010101" pitchFamily="2" charset="-122"/>
              </a:rPr>
              <a:t>，极点就可能移到单位圆外， 造成零极点不能完全对消，影响系统的稳定性。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文本框 31747"/>
          <p:cNvSpPr txBox="1"/>
          <p:nvPr/>
        </p:nvSpPr>
        <p:spPr>
          <a:xfrm>
            <a:off x="152400" y="501650"/>
            <a:ext cx="8839200" cy="180276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为了克服上述缺点， 对频率采样结构作以下</a:t>
            </a:r>
            <a:r>
              <a:rPr lang="zh-CN" altLang="en-US" b="1" u="sng" dirty="0">
                <a:solidFill>
                  <a:srgbClr val="FF0000"/>
                </a:solidFill>
                <a:highlight>
                  <a:srgbClr val="FFFF00"/>
                </a:highlight>
                <a:latin typeface="Times New Roman" panose="02020603050405020304" pitchFamily="18" charset="0"/>
                <a:ea typeface="宋体" panose="02010600030101010101" pitchFamily="2" charset="-122"/>
              </a:rPr>
              <a:t>修正</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首先，单位圆上的</a:t>
            </a:r>
            <a:r>
              <a:rPr lang="zh-CN" altLang="en-US" b="1" u="sng" dirty="0">
                <a:solidFill>
                  <a:srgbClr val="FF0000"/>
                </a:solidFill>
                <a:highlight>
                  <a:srgbClr val="FFFF00"/>
                </a:highlight>
                <a:latin typeface="Times New Roman" panose="02020603050405020304" pitchFamily="18" charset="0"/>
                <a:ea typeface="宋体" panose="02010600030101010101" pitchFamily="2" charset="-122"/>
              </a:rPr>
              <a:t>所有零、极点向内收缩到半径为</a:t>
            </a:r>
            <a:r>
              <a:rPr lang="en-US" altLang="zh-CN" b="1" i="1" u="sng">
                <a:solidFill>
                  <a:srgbClr val="FF0000"/>
                </a:solidFill>
                <a:highlight>
                  <a:srgbClr val="FFFF00"/>
                </a:highlight>
                <a:latin typeface="Times New Roman" panose="02020603050405020304" pitchFamily="18" charset="0"/>
                <a:ea typeface="宋体" panose="02010600030101010101" pitchFamily="2" charset="-122"/>
              </a:rPr>
              <a:t>r</a:t>
            </a:r>
            <a:r>
              <a:rPr lang="zh-CN" altLang="en-US" b="1" u="sng" dirty="0">
                <a:solidFill>
                  <a:srgbClr val="FF0000"/>
                </a:solidFill>
                <a:highlight>
                  <a:srgbClr val="FFFF00"/>
                </a:highlight>
                <a:latin typeface="Times New Roman" panose="02020603050405020304" pitchFamily="18" charset="0"/>
                <a:ea typeface="宋体" panose="02010600030101010101" pitchFamily="2" charset="-122"/>
              </a:rPr>
              <a:t>的圆</a:t>
            </a:r>
            <a:r>
              <a:rPr lang="zh-CN" altLang="en-US" dirty="0">
                <a:latin typeface="Times New Roman" panose="02020603050405020304" pitchFamily="18" charset="0"/>
                <a:ea typeface="宋体" panose="02010600030101010101" pitchFamily="2" charset="-122"/>
              </a:rPr>
              <a:t>上， 这里</a:t>
            </a:r>
            <a:r>
              <a:rPr lang="en-US" altLang="zh-CN" i="1">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稍小于</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。此时</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50178" name="对象 31748"/>
          <p:cNvGraphicFramePr/>
          <p:nvPr/>
        </p:nvGraphicFramePr>
        <p:xfrm>
          <a:off x="1619250" y="2420938"/>
          <a:ext cx="5791200" cy="1131887"/>
        </p:xfrm>
        <a:graphic>
          <a:graphicData uri="http://schemas.openxmlformats.org/presentationml/2006/ole">
            <mc:AlternateContent xmlns:mc="http://schemas.openxmlformats.org/markup-compatibility/2006">
              <mc:Choice xmlns:v="urn:schemas-microsoft-com:vml" Requires="v">
                <p:oleObj spid="_x0000_s3134" name="" r:id="rId1" imgW="2272030" imgH="444500" progId="Equation.3">
                  <p:embed/>
                </p:oleObj>
              </mc:Choice>
              <mc:Fallback>
                <p:oleObj name="" r:id="rId1" imgW="2272030" imgH="444500" progId="Equation.3">
                  <p:embed/>
                  <p:pic>
                    <p:nvPicPr>
                      <p:cNvPr id="0" name="图片 3133"/>
                      <p:cNvPicPr/>
                      <p:nvPr/>
                    </p:nvPicPr>
                    <p:blipFill>
                      <a:blip r:embed="rId2"/>
                      <a:stretch>
                        <a:fillRect/>
                      </a:stretch>
                    </p:blipFill>
                    <p:spPr>
                      <a:xfrm>
                        <a:off x="1619250" y="2420938"/>
                        <a:ext cx="5791200" cy="1131887"/>
                      </a:xfrm>
                      <a:prstGeom prst="rect">
                        <a:avLst/>
                      </a:prstGeom>
                      <a:solidFill>
                        <a:schemeClr val="accent1"/>
                      </a:solidFill>
                      <a:ln w="38100">
                        <a:noFill/>
                        <a:miter/>
                      </a:ln>
                    </p:spPr>
                  </p:pic>
                </p:oleObj>
              </mc:Fallback>
            </mc:AlternateContent>
          </a:graphicData>
        </a:graphic>
      </p:graphicFrame>
      <p:sp>
        <p:nvSpPr>
          <p:cNvPr id="50179" name="文本框 31749"/>
          <p:cNvSpPr txBox="1"/>
          <p:nvPr/>
        </p:nvSpPr>
        <p:spPr>
          <a:xfrm>
            <a:off x="7832725" y="2784475"/>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(4-12) </a:t>
            </a:r>
            <a:endParaRPr lang="en-US" altLang="zh-CN">
              <a:latin typeface="Times New Roman" panose="02020603050405020304" pitchFamily="18" charset="0"/>
              <a:ea typeface="宋体" panose="02010600030101010101" pitchFamily="2" charset="-122"/>
            </a:endParaRPr>
          </a:p>
        </p:txBody>
      </p:sp>
      <p:sp>
        <p:nvSpPr>
          <p:cNvPr id="50180" name="文本框 31750"/>
          <p:cNvSpPr txBox="1"/>
          <p:nvPr/>
        </p:nvSpPr>
        <p:spPr>
          <a:xfrm>
            <a:off x="228600" y="3549650"/>
            <a:ext cx="868680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H</a:t>
            </a:r>
            <a:r>
              <a:rPr lang="en-US" altLang="zh-CN" i="1" baseline="-25000">
                <a:latin typeface="Times New Roman" panose="02020603050405020304" pitchFamily="18" charset="0"/>
                <a:ea typeface="宋体" panose="02010600030101010101" pitchFamily="2" charset="-122"/>
              </a:rPr>
              <a:t>r</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是在</a:t>
            </a:r>
            <a:r>
              <a:rPr lang="en-US" altLang="zh-CN" i="1">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圆上对</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的</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点等间隔采样之值。由于</a:t>
            </a:r>
            <a:r>
              <a:rPr lang="en-US" altLang="zh-CN" i="1">
                <a:latin typeface="Times New Roman" panose="02020603050405020304" pitchFamily="18" charset="0"/>
                <a:ea typeface="宋体" panose="02010600030101010101" pitchFamily="2" charset="-122"/>
              </a:rPr>
              <a:t>r</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所以，可近似取</a:t>
            </a:r>
            <a:r>
              <a:rPr lang="en-US" altLang="zh-CN" i="1">
                <a:latin typeface="Times New Roman" panose="02020603050405020304" pitchFamily="18" charset="0"/>
                <a:ea typeface="宋体" panose="02010600030101010101" pitchFamily="2" charset="-122"/>
              </a:rPr>
              <a:t>H</a:t>
            </a:r>
            <a:r>
              <a:rPr lang="en-US" altLang="zh-CN" i="1" baseline="-25000">
                <a:latin typeface="Times New Roman" panose="02020603050405020304" pitchFamily="18" charset="0"/>
                <a:ea typeface="宋体" panose="02010600030101010101" pitchFamily="2" charset="-122"/>
              </a:rPr>
              <a:t>r</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因此 </a:t>
            </a:r>
            <a:endParaRPr lang="zh-CN" altLang="en-US">
              <a:latin typeface="Times New Roman" panose="02020603050405020304" pitchFamily="18" charset="0"/>
              <a:ea typeface="宋体" panose="02010600030101010101" pitchFamily="2" charset="-122"/>
            </a:endParaRPr>
          </a:p>
        </p:txBody>
      </p:sp>
      <p:graphicFrame>
        <p:nvGraphicFramePr>
          <p:cNvPr id="50181" name="对象 31751"/>
          <p:cNvGraphicFramePr/>
          <p:nvPr/>
        </p:nvGraphicFramePr>
        <p:xfrm>
          <a:off x="1692275" y="4868863"/>
          <a:ext cx="5791200" cy="1131887"/>
        </p:xfrm>
        <a:graphic>
          <a:graphicData uri="http://schemas.openxmlformats.org/presentationml/2006/ole">
            <mc:AlternateContent xmlns:mc="http://schemas.openxmlformats.org/markup-compatibility/2006">
              <mc:Choice xmlns:v="urn:schemas-microsoft-com:vml" Requires="v">
                <p:oleObj spid="_x0000_s3137" name="" r:id="rId3" imgW="2272030" imgH="444500" progId="Equation.3">
                  <p:embed/>
                </p:oleObj>
              </mc:Choice>
              <mc:Fallback>
                <p:oleObj name="" r:id="rId3" imgW="2272030" imgH="444500" progId="Equation.3">
                  <p:embed/>
                  <p:pic>
                    <p:nvPicPr>
                      <p:cNvPr id="0" name="图片 3136"/>
                      <p:cNvPicPr/>
                      <p:nvPr/>
                    </p:nvPicPr>
                    <p:blipFill>
                      <a:blip r:embed="rId4"/>
                      <a:stretch>
                        <a:fillRect/>
                      </a:stretch>
                    </p:blipFill>
                    <p:spPr>
                      <a:xfrm>
                        <a:off x="1692275" y="4868863"/>
                        <a:ext cx="5791200" cy="1131887"/>
                      </a:xfrm>
                      <a:prstGeom prst="rect">
                        <a:avLst/>
                      </a:prstGeom>
                      <a:solidFill>
                        <a:schemeClr val="accent1"/>
                      </a:solidFill>
                      <a:ln w="38100">
                        <a:noFill/>
                        <a:miter/>
                      </a:ln>
                    </p:spPr>
                  </p:pic>
                </p:oleObj>
              </mc:Fallback>
            </mc:AlternateContent>
          </a:graphicData>
        </a:graphic>
      </p:graphicFrame>
      <p:sp>
        <p:nvSpPr>
          <p:cNvPr id="50182" name="文本框 31752"/>
          <p:cNvSpPr txBox="1"/>
          <p:nvPr/>
        </p:nvSpPr>
        <p:spPr>
          <a:xfrm>
            <a:off x="7885113" y="5157788"/>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(4-13)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201" name="组合 34821"/>
          <p:cNvGrpSpPr/>
          <p:nvPr/>
        </p:nvGrpSpPr>
        <p:grpSpPr>
          <a:xfrm>
            <a:off x="152400" y="381000"/>
            <a:ext cx="8686800" cy="2397125"/>
            <a:chOff x="144" y="336"/>
            <a:chExt cx="5472" cy="1510"/>
          </a:xfrm>
        </p:grpSpPr>
        <p:sp>
          <p:nvSpPr>
            <p:cNvPr id="51202" name="文本框 34819"/>
            <p:cNvSpPr txBox="1"/>
            <p:nvPr/>
          </p:nvSpPr>
          <p:spPr>
            <a:xfrm>
              <a:off x="144" y="336"/>
              <a:ext cx="5472" cy="1510"/>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根据</a:t>
              </a:r>
              <a:r>
                <a:rPr lang="en-US" altLang="zh-CN" dirty="0">
                  <a:latin typeface="Times New Roman" panose="02020603050405020304" pitchFamily="18" charset="0"/>
                  <a:ea typeface="宋体" panose="02010600030101010101" pitchFamily="2" charset="-122"/>
                </a:rPr>
                <a:t>DFT</a:t>
              </a:r>
              <a:r>
                <a:rPr lang="zh-CN" altLang="en-US" dirty="0">
                  <a:latin typeface="Times New Roman" panose="02020603050405020304" pitchFamily="18" charset="0"/>
                  <a:ea typeface="宋体" panose="02010600030101010101" pitchFamily="2" charset="-122"/>
                </a:rPr>
                <a:t>的共轭对称性，如果</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是实序列，则其离散傅里叶变换</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关于</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点共轭对称，即</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N-k</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。又因为		  	    </a:t>
              </a:r>
              <a:r>
                <a:rPr lang="zh-CN" altLang="en-US" dirty="0">
                  <a:latin typeface="Times New Roman" panose="02020603050405020304" pitchFamily="18" charset="0"/>
                  <a:ea typeface="宋体" panose="02010600030101010101" pitchFamily="2" charset="-122"/>
                </a:rPr>
                <a:t>，为了得到实系数，我们将</a:t>
              </a:r>
              <a:r>
                <a:rPr lang="en-US" altLang="zh-CN" i="1" err="1">
                  <a:latin typeface="Times New Roman" panose="02020603050405020304" pitchFamily="18" charset="0"/>
                  <a:ea typeface="宋体" panose="02010600030101010101" pitchFamily="2" charset="-122"/>
                </a:rPr>
                <a:t>H</a:t>
              </a:r>
              <a:r>
                <a:rPr lang="en-US" altLang="zh-CN" i="1" baseline="-25000" err="1">
                  <a:latin typeface="Times New Roman" panose="02020603050405020304" pitchFamily="18" charset="0"/>
                  <a:ea typeface="宋体" panose="02010600030101010101" pitchFamily="2" charset="-122"/>
                </a:rPr>
                <a:t>k</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H</a:t>
              </a:r>
              <a:r>
                <a:rPr lang="en-US" altLang="zh-CN" i="1" baseline="-25000">
                  <a:latin typeface="Times New Roman" panose="02020603050405020304" pitchFamily="18" charset="0"/>
                  <a:ea typeface="宋体" panose="02010600030101010101" pitchFamily="2" charset="-122"/>
                </a:rPr>
                <a:t>N-k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合并为一个二阶网络， 记为</a:t>
              </a:r>
              <a:r>
                <a:rPr lang="en-US" altLang="zh-CN" i="1" err="1">
                  <a:latin typeface="Times New Roman" panose="02020603050405020304" pitchFamily="18" charset="0"/>
                  <a:ea typeface="宋体" panose="02010600030101010101" pitchFamily="2" charset="-122"/>
                </a:rPr>
                <a:t>H</a:t>
              </a:r>
              <a:r>
                <a:rPr lang="en-US" altLang="zh-CN" i="1" baseline="-25000" err="1">
                  <a:latin typeface="Times New Roman" panose="02020603050405020304" pitchFamily="18" charset="0"/>
                  <a:ea typeface="宋体" panose="02010600030101010101" pitchFamily="2" charset="-122"/>
                </a:rPr>
                <a:t>k</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graphicFrame>
          <p:nvGraphicFramePr>
            <p:cNvPr id="51203" name="对象 34820"/>
            <p:cNvGraphicFramePr/>
            <p:nvPr/>
          </p:nvGraphicFramePr>
          <p:xfrm>
            <a:off x="192" y="1200"/>
            <a:ext cx="1344" cy="304"/>
          </p:xfrm>
          <a:graphic>
            <a:graphicData uri="http://schemas.openxmlformats.org/presentationml/2006/ole">
              <mc:AlternateContent xmlns:mc="http://schemas.openxmlformats.org/markup-compatibility/2006">
                <mc:Choice xmlns:v="urn:schemas-microsoft-com:vml" Requires="v">
                  <p:oleObj spid="_x0000_s3132" name="" r:id="rId1" imgW="1066165" imgH="241300" progId="Equation.3">
                    <p:embed/>
                  </p:oleObj>
                </mc:Choice>
                <mc:Fallback>
                  <p:oleObj name="" r:id="rId1" imgW="1066165" imgH="241300" progId="Equation.3">
                    <p:embed/>
                    <p:pic>
                      <p:nvPicPr>
                        <p:cNvPr id="0" name="图片 3131"/>
                        <p:cNvPicPr/>
                        <p:nvPr/>
                      </p:nvPicPr>
                      <p:blipFill>
                        <a:blip r:embed="rId2"/>
                        <a:stretch>
                          <a:fillRect/>
                        </a:stretch>
                      </p:blipFill>
                      <p:spPr>
                        <a:xfrm>
                          <a:off x="192" y="1200"/>
                          <a:ext cx="1344" cy="304"/>
                        </a:xfrm>
                        <a:prstGeom prst="rect">
                          <a:avLst/>
                        </a:prstGeom>
                        <a:noFill/>
                        <a:ln w="38100">
                          <a:noFill/>
                          <a:miter/>
                        </a:ln>
                      </p:spPr>
                    </p:pic>
                  </p:oleObj>
                </mc:Fallback>
              </mc:AlternateContent>
            </a:graphicData>
          </a:graphic>
        </p:graphicFrame>
      </p:grpSp>
      <p:graphicFrame>
        <p:nvGraphicFramePr>
          <p:cNvPr id="51204" name="对象 34822"/>
          <p:cNvGraphicFramePr/>
          <p:nvPr/>
        </p:nvGraphicFramePr>
        <p:xfrm>
          <a:off x="1470025" y="2708910"/>
          <a:ext cx="5334000" cy="3802063"/>
        </p:xfrm>
        <a:graphic>
          <a:graphicData uri="http://schemas.openxmlformats.org/presentationml/2006/ole">
            <mc:AlternateContent xmlns:mc="http://schemas.openxmlformats.org/markup-compatibility/2006">
              <mc:Choice xmlns:v="urn:schemas-microsoft-com:vml" Requires="v">
                <p:oleObj spid="_x0000_s3136" name="" r:id="rId3" imgW="2387600" imgH="1701800" progId="Equation.3">
                  <p:embed/>
                </p:oleObj>
              </mc:Choice>
              <mc:Fallback>
                <p:oleObj name="" r:id="rId3" imgW="2387600" imgH="1701800" progId="Equation.3">
                  <p:embed/>
                  <p:pic>
                    <p:nvPicPr>
                      <p:cNvPr id="0" name="图片 3135"/>
                      <p:cNvPicPr/>
                      <p:nvPr/>
                    </p:nvPicPr>
                    <p:blipFill>
                      <a:blip r:embed="rId4"/>
                      <a:stretch>
                        <a:fillRect/>
                      </a:stretch>
                    </p:blipFill>
                    <p:spPr>
                      <a:xfrm>
                        <a:off x="1470025" y="2708910"/>
                        <a:ext cx="5334000" cy="3802063"/>
                      </a:xfrm>
                      <a:prstGeom prst="rect">
                        <a:avLst/>
                      </a:prstGeom>
                      <a:noFill/>
                      <a:ln w="38100">
                        <a:noFill/>
                        <a:miter/>
                      </a:ln>
                    </p:spPr>
                  </p:pic>
                </p:oleObj>
              </mc:Fallback>
            </mc:AlternateContent>
          </a:graphicData>
        </a:graphic>
      </p:graphicFrame>
      <p:graphicFrame>
        <p:nvGraphicFramePr>
          <p:cNvPr id="51205" name="对象 34823"/>
          <p:cNvGraphicFramePr/>
          <p:nvPr/>
        </p:nvGraphicFramePr>
        <p:xfrm>
          <a:off x="6804025" y="4940935"/>
          <a:ext cx="2057400" cy="777875"/>
        </p:xfrm>
        <a:graphic>
          <a:graphicData uri="http://schemas.openxmlformats.org/presentationml/2006/ole">
            <mc:AlternateContent xmlns:mc="http://schemas.openxmlformats.org/markup-compatibility/2006">
              <mc:Choice xmlns:v="urn:schemas-microsoft-com:vml" Requires="v">
                <p:oleObj spid="_x0000_s3133" name="" r:id="rId5" imgW="1040765" imgH="393700" progId="Equation.3">
                  <p:embed/>
                </p:oleObj>
              </mc:Choice>
              <mc:Fallback>
                <p:oleObj name="" r:id="rId5" imgW="1040765" imgH="393700" progId="Equation.3">
                  <p:embed/>
                  <p:pic>
                    <p:nvPicPr>
                      <p:cNvPr id="0" name="图片 3132"/>
                      <p:cNvPicPr/>
                      <p:nvPr/>
                    </p:nvPicPr>
                    <p:blipFill>
                      <a:blip r:embed="rId6"/>
                      <a:stretch>
                        <a:fillRect/>
                      </a:stretch>
                    </p:blipFill>
                    <p:spPr>
                      <a:xfrm>
                        <a:off x="6804025" y="4940935"/>
                        <a:ext cx="2057400" cy="777875"/>
                      </a:xfrm>
                      <a:prstGeom prst="rect">
                        <a:avLst/>
                      </a:prstGeom>
                      <a:solidFill>
                        <a:schemeClr val="accent1"/>
                      </a:solidFill>
                      <a:ln w="38100">
                        <a:noFill/>
                        <a:miter/>
                      </a:ln>
                    </p:spPr>
                  </p:pic>
                </p:oleObj>
              </mc:Fallback>
            </mc:AlternateContent>
          </a:graphicData>
        </a:graphic>
      </p:graphicFrame>
      <p:graphicFrame>
        <p:nvGraphicFramePr>
          <p:cNvPr id="44034" name="对象 25604"/>
          <p:cNvGraphicFramePr/>
          <p:nvPr/>
        </p:nvGraphicFramePr>
        <p:xfrm>
          <a:off x="1632585" y="620395"/>
          <a:ext cx="5415915" cy="1061720"/>
        </p:xfrm>
        <a:graphic>
          <a:graphicData uri="http://schemas.openxmlformats.org/presentationml/2006/ole">
            <mc:AlternateContent xmlns:mc="http://schemas.openxmlformats.org/markup-compatibility/2006">
              <mc:Choice xmlns:v="urn:schemas-microsoft-com:vml" Requires="v">
                <p:oleObj spid="_x0000_s3125" name="" r:id="rId7" imgW="2159000" imgH="444500" progId="Equation.3">
                  <p:embed/>
                </p:oleObj>
              </mc:Choice>
              <mc:Fallback>
                <p:oleObj name="" r:id="rId7" imgW="2159000" imgH="444500" progId="Equation.3">
                  <p:embed/>
                  <p:pic>
                    <p:nvPicPr>
                      <p:cNvPr id="0" name="图片 3124"/>
                      <p:cNvPicPr/>
                      <p:nvPr/>
                    </p:nvPicPr>
                    <p:blipFill>
                      <a:blip r:embed="rId8"/>
                      <a:stretch>
                        <a:fillRect/>
                      </a:stretch>
                    </p:blipFill>
                    <p:spPr>
                      <a:xfrm>
                        <a:off x="1632585" y="620395"/>
                        <a:ext cx="5415915" cy="1061720"/>
                      </a:xfrm>
                      <a:prstGeom prst="rect">
                        <a:avLst/>
                      </a:prstGeom>
                      <a:solidFill>
                        <a:schemeClr val="accent1"/>
                      </a:solidFill>
                      <a:ln w="38100">
                        <a:noFill/>
                        <a:miter/>
                      </a:ln>
                    </p:spPr>
                  </p:pic>
                </p:oleObj>
              </mc:Fallback>
            </mc:AlternateContent>
          </a:graphicData>
        </a:graphic>
      </p:graphicFrame>
      <p:sp>
        <p:nvSpPr>
          <p:cNvPr id="6" name="椭圆 5"/>
          <p:cNvSpPr/>
          <p:nvPr/>
        </p:nvSpPr>
        <p:spPr>
          <a:xfrm>
            <a:off x="5126355" y="495300"/>
            <a:ext cx="1918335" cy="1339850"/>
          </a:xfrm>
          <a:prstGeom prst="ellipse">
            <a:avLst/>
          </a:prstGeom>
          <a:noFill/>
          <a:ln w="28575" cmpd="sng">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034"/>
                                        </p:tgtEl>
                                        <p:attrNameLst>
                                          <p:attrName>style.visibility</p:attrName>
                                        </p:attrNameLst>
                                      </p:cBhvr>
                                      <p:to>
                                        <p:strVal val="visible"/>
                                      </p:to>
                                    </p:set>
                                    <p:anim calcmode="lin" valueType="num">
                                      <p:cBhvr additive="base">
                                        <p:cTn id="7" dur="500" fill="hold"/>
                                        <p:tgtEl>
                                          <p:spTgt spid="44034"/>
                                        </p:tgtEl>
                                        <p:attrNameLst>
                                          <p:attrName>ppt_x</p:attrName>
                                        </p:attrNameLst>
                                      </p:cBhvr>
                                      <p:tavLst>
                                        <p:tav tm="0">
                                          <p:val>
                                            <p:strVal val="#ppt_x"/>
                                          </p:val>
                                        </p:tav>
                                        <p:tav tm="100000">
                                          <p:val>
                                            <p:strVal val="#ppt_x"/>
                                          </p:val>
                                        </p:tav>
                                      </p:tavLst>
                                    </p:anim>
                                    <p:anim calcmode="lin" valueType="num">
                                      <p:cBhvr additive="base">
                                        <p:cTn id="8" dur="500" fill="hold"/>
                                        <p:tgtEl>
                                          <p:spTgt spid="440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文本框 33795"/>
          <p:cNvSpPr txBox="1"/>
          <p:nvPr/>
        </p:nvSpPr>
        <p:spPr>
          <a:xfrm>
            <a:off x="609600" y="762000"/>
            <a:ext cx="965200"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式中</a:t>
            </a:r>
            <a:r>
              <a:rPr lang="en-US" altLang="zh-CN" b="1">
                <a:latin typeface="Times New Roman" panose="02020603050405020304" pitchFamily="18" charset="0"/>
                <a:ea typeface="宋体" panose="02010600030101010101" pitchFamily="2" charset="-122"/>
              </a:rPr>
              <a:t>: </a:t>
            </a:r>
            <a:endParaRPr lang="en-US" altLang="zh-CN" b="1">
              <a:latin typeface="Times New Roman" panose="02020603050405020304" pitchFamily="18" charset="0"/>
              <a:ea typeface="宋体" panose="02010600030101010101" pitchFamily="2" charset="-122"/>
            </a:endParaRPr>
          </a:p>
        </p:txBody>
      </p:sp>
      <p:graphicFrame>
        <p:nvGraphicFramePr>
          <p:cNvPr id="52226" name="对象 33796"/>
          <p:cNvGraphicFramePr/>
          <p:nvPr/>
        </p:nvGraphicFramePr>
        <p:xfrm>
          <a:off x="2971800" y="914400"/>
          <a:ext cx="3352800" cy="1268413"/>
        </p:xfrm>
        <a:graphic>
          <a:graphicData uri="http://schemas.openxmlformats.org/presentationml/2006/ole">
            <mc:AlternateContent xmlns:mc="http://schemas.openxmlformats.org/markup-compatibility/2006">
              <mc:Choice xmlns:v="urn:schemas-microsoft-com:vml" Requires="v">
                <p:oleObj spid="_x0000_s3135" name="" r:id="rId1" imgW="1409065" imgH="533400" progId="Equation.3">
                  <p:embed/>
                </p:oleObj>
              </mc:Choice>
              <mc:Fallback>
                <p:oleObj name="" r:id="rId1" imgW="1409065" imgH="533400" progId="Equation.3">
                  <p:embed/>
                  <p:pic>
                    <p:nvPicPr>
                      <p:cNvPr id="0" name="图片 3134"/>
                      <p:cNvPicPr/>
                      <p:nvPr/>
                    </p:nvPicPr>
                    <p:blipFill>
                      <a:blip r:embed="rId2"/>
                      <a:stretch>
                        <a:fillRect/>
                      </a:stretch>
                    </p:blipFill>
                    <p:spPr>
                      <a:xfrm>
                        <a:off x="2971800" y="914400"/>
                        <a:ext cx="3352800" cy="1268413"/>
                      </a:xfrm>
                      <a:prstGeom prst="rect">
                        <a:avLst/>
                      </a:prstGeom>
                      <a:noFill/>
                      <a:ln w="38100">
                        <a:noFill/>
                        <a:miter/>
                      </a:ln>
                    </p:spPr>
                  </p:pic>
                </p:oleObj>
              </mc:Fallback>
            </mc:AlternateContent>
          </a:graphicData>
        </a:graphic>
      </p:graphicFrame>
      <p:sp>
        <p:nvSpPr>
          <p:cNvPr id="52227" name="文本框 33797"/>
          <p:cNvSpPr txBox="1"/>
          <p:nvPr/>
        </p:nvSpPr>
        <p:spPr>
          <a:xfrm>
            <a:off x="76200" y="2182813"/>
            <a:ext cx="8915400" cy="2465387"/>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该二阶网络是一个谐振频率为</a:t>
            </a:r>
            <a:r>
              <a:rPr lang="en-US" altLang="zh-CN" i="1">
                <a:latin typeface="Times New Roman" panose="02020603050405020304" pitchFamily="18" charset="0"/>
                <a:ea typeface="宋体" panose="02010600030101010101" pitchFamily="2" charset="-122"/>
              </a:rPr>
              <a:t>ω</a:t>
            </a:r>
            <a:r>
              <a:rPr lang="en-US" altLang="zh-CN" i="1" baseline="-25000">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=2π</a:t>
            </a:r>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的有限</a:t>
            </a:r>
            <a:r>
              <a:rPr lang="en-US" altLang="zh-CN" dirty="0">
                <a:latin typeface="Times New Roman" panose="02020603050405020304" pitchFamily="18" charset="0"/>
                <a:ea typeface="宋体" panose="02010600030101010101" pitchFamily="2" charset="-122"/>
              </a:rPr>
              <a:t>Q</a:t>
            </a:r>
            <a:r>
              <a:rPr lang="zh-CN" altLang="en-US" dirty="0">
                <a:latin typeface="Times New Roman" panose="02020603050405020304" pitchFamily="18" charset="0"/>
                <a:ea typeface="宋体" panose="02010600030101010101" pitchFamily="2" charset="-122"/>
              </a:rPr>
              <a:t>值的谐振器，其结构如图</a:t>
            </a:r>
            <a:r>
              <a:rPr lang="en-US" altLang="zh-CN" dirty="0">
                <a:latin typeface="Times New Roman" panose="02020603050405020304" pitchFamily="18" charset="0"/>
                <a:ea typeface="宋体" panose="02010600030101010101" pitchFamily="2" charset="-122"/>
              </a:rPr>
              <a:t>4-17 </a:t>
            </a:r>
            <a:r>
              <a:rPr lang="zh-CN" altLang="en-US" dirty="0">
                <a:latin typeface="Times New Roman" panose="02020603050405020304" pitchFamily="18" charset="0"/>
                <a:ea typeface="宋体" panose="02010600030101010101" pitchFamily="2" charset="-122"/>
              </a:rPr>
              <a:t>所示。</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除了共轭复根外</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还有实根。当</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为偶数时，有一对实根</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 除二阶网络外尚有两</a:t>
            </a:r>
            <a:r>
              <a:rPr lang="zh-CN" altLang="en-US" dirty="0">
                <a:latin typeface="Times New Roman" panose="02020603050405020304" pitchFamily="18" charset="0"/>
                <a:ea typeface="宋体" panose="02010600030101010101" pitchFamily="2" charset="-122"/>
              </a:rPr>
              <a:t>个对应的一阶网络</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52228" name="对象 33799"/>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3130" name="" r:id="rId3" imgW="114300" imgH="215265" progId="Equation.3">
                  <p:embed/>
                </p:oleObj>
              </mc:Choice>
              <mc:Fallback>
                <p:oleObj name="" r:id="rId3" imgW="114300" imgH="215265" progId="Equation.3">
                  <p:embed/>
                  <p:pic>
                    <p:nvPicPr>
                      <p:cNvPr id="0" name="图片 3129"/>
                      <p:cNvPicPr/>
                      <p:nvPr/>
                    </p:nvPicPr>
                    <p:blipFill>
                      <a:blip r:embed="rId4"/>
                      <a:stretch>
                        <a:fillRect/>
                      </a:stretch>
                    </p:blipFill>
                    <p:spPr>
                      <a:xfrm>
                        <a:off x="4514850" y="3321050"/>
                        <a:ext cx="114300" cy="215900"/>
                      </a:xfrm>
                      <a:prstGeom prst="rect">
                        <a:avLst/>
                      </a:prstGeom>
                      <a:noFill/>
                      <a:ln w="38100">
                        <a:noFill/>
                        <a:miter/>
                      </a:ln>
                    </p:spPr>
                  </p:pic>
                </p:oleObj>
              </mc:Fallback>
            </mc:AlternateContent>
          </a:graphicData>
        </a:graphic>
      </p:graphicFrame>
      <p:graphicFrame>
        <p:nvGraphicFramePr>
          <p:cNvPr id="52229" name="对象 33800"/>
          <p:cNvGraphicFramePr/>
          <p:nvPr/>
        </p:nvGraphicFramePr>
        <p:xfrm>
          <a:off x="3200400" y="4648200"/>
          <a:ext cx="2667000" cy="1831975"/>
        </p:xfrm>
        <a:graphic>
          <a:graphicData uri="http://schemas.openxmlformats.org/presentationml/2006/ole">
            <mc:AlternateContent xmlns:mc="http://schemas.openxmlformats.org/markup-compatibility/2006">
              <mc:Choice xmlns:v="urn:schemas-microsoft-com:vml" Requires="v">
                <p:oleObj spid="_x0000_s3138" name="" r:id="rId5" imgW="1256665" imgH="862965" progId="Equation.3">
                  <p:embed/>
                </p:oleObj>
              </mc:Choice>
              <mc:Fallback>
                <p:oleObj name="" r:id="rId5" imgW="1256665" imgH="862965" progId="Equation.3">
                  <p:embed/>
                  <p:pic>
                    <p:nvPicPr>
                      <p:cNvPr id="0" name="图片 3137"/>
                      <p:cNvPicPr/>
                      <p:nvPr/>
                    </p:nvPicPr>
                    <p:blipFill>
                      <a:blip r:embed="rId6"/>
                      <a:stretch>
                        <a:fillRect/>
                      </a:stretch>
                    </p:blipFill>
                    <p:spPr>
                      <a:xfrm>
                        <a:off x="3200400" y="4648200"/>
                        <a:ext cx="2667000" cy="183197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文本框 411651"/>
          <p:cNvSpPr txBox="1"/>
          <p:nvPr/>
        </p:nvSpPr>
        <p:spPr>
          <a:xfrm>
            <a:off x="3059113" y="5492750"/>
            <a:ext cx="3281362"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4-17 </a:t>
            </a:r>
            <a:r>
              <a:rPr lang="zh-CN" altLang="en-US" dirty="0">
                <a:latin typeface="Times New Roman" panose="02020603050405020304" pitchFamily="18" charset="0"/>
                <a:ea typeface="宋体" panose="02010600030101010101" pitchFamily="2" charset="-122"/>
              </a:rPr>
              <a:t>二阶谐振器</a:t>
            </a:r>
            <a:r>
              <a:rPr lang="en-US" altLang="zh-CN" i="1" err="1">
                <a:latin typeface="Times New Roman" panose="02020603050405020304" pitchFamily="18" charset="0"/>
                <a:ea typeface="宋体" panose="02010600030101010101" pitchFamily="2" charset="-122"/>
              </a:rPr>
              <a:t>H</a:t>
            </a:r>
            <a:r>
              <a:rPr lang="en-US" altLang="zh-CN" i="1" baseline="-25000" err="1">
                <a:latin typeface="Times New Roman" panose="02020603050405020304" pitchFamily="18" charset="0"/>
                <a:ea typeface="宋体" panose="02010600030101010101" pitchFamily="2" charset="-122"/>
              </a:rPr>
              <a:t>k</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pic>
        <p:nvPicPr>
          <p:cNvPr id="53250" name="图片 411653" descr="4-17"/>
          <p:cNvPicPr>
            <a:picLocks noChangeAspect="1"/>
          </p:cNvPicPr>
          <p:nvPr/>
        </p:nvPicPr>
        <p:blipFill>
          <a:blip r:embed="rId1"/>
          <a:stretch>
            <a:fillRect/>
          </a:stretch>
        </p:blipFill>
        <p:spPr>
          <a:xfrm>
            <a:off x="1714500" y="2162175"/>
            <a:ext cx="5715000" cy="2533650"/>
          </a:xfrm>
          <a:prstGeom prst="rect">
            <a:avLst/>
          </a:prstGeom>
          <a:noFill/>
          <a:ln w="9525">
            <a:noFill/>
          </a:ln>
        </p:spPr>
      </p:pic>
    </p:spTree>
  </p:cSld>
  <p:clrMapOvr>
    <a:masterClrMapping/>
  </p:clrMapOvr>
  <p:transition>
    <p:blinds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文本框 36867"/>
          <p:cNvSpPr txBox="1"/>
          <p:nvPr/>
        </p:nvSpPr>
        <p:spPr>
          <a:xfrm>
            <a:off x="228600" y="533400"/>
            <a:ext cx="8686800" cy="1041400"/>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这时的</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如式</a:t>
            </a:r>
            <a:r>
              <a:rPr lang="en-US" altLang="zh-CN" dirty="0">
                <a:latin typeface="Times New Roman" panose="02020603050405020304" pitchFamily="18" charset="0"/>
                <a:ea typeface="宋体" panose="02010600030101010101" pitchFamily="2" charset="-122"/>
              </a:rPr>
              <a:t>(4-14)</a:t>
            </a:r>
            <a:r>
              <a:rPr lang="zh-CN" altLang="en-US" dirty="0">
                <a:latin typeface="Times New Roman" panose="02020603050405020304" pitchFamily="18" charset="0"/>
                <a:ea typeface="宋体" panose="02010600030101010101" pitchFamily="2" charset="-122"/>
              </a:rPr>
              <a:t>，其结构如图</a:t>
            </a:r>
            <a:r>
              <a:rPr lang="en-US" altLang="zh-CN" dirty="0">
                <a:latin typeface="Times New Roman" panose="02020603050405020304" pitchFamily="18" charset="0"/>
                <a:ea typeface="宋体" panose="02010600030101010101" pitchFamily="2" charset="-122"/>
              </a:rPr>
              <a:t>4-18</a:t>
            </a:r>
            <a:r>
              <a:rPr lang="zh-CN" altLang="en-US" dirty="0">
                <a:latin typeface="Times New Roman" panose="02020603050405020304" pitchFamily="18" charset="0"/>
                <a:ea typeface="宋体" panose="02010600030101010101" pitchFamily="2" charset="-122"/>
              </a:rPr>
              <a:t>所示。图中</a:t>
            </a:r>
            <a:r>
              <a:rPr lang="en-US" altLang="zh-CN" i="1" err="1">
                <a:latin typeface="Times New Roman" panose="02020603050405020304" pitchFamily="18" charset="0"/>
                <a:ea typeface="宋体" panose="02010600030101010101" pitchFamily="2" charset="-122"/>
              </a:rPr>
              <a:t>H</a:t>
            </a:r>
            <a:r>
              <a:rPr lang="en-US" altLang="zh-CN" i="1" baseline="-25000" err="1">
                <a:latin typeface="Times New Roman" panose="02020603050405020304" pitchFamily="18" charset="0"/>
                <a:ea typeface="宋体" panose="02010600030101010101" pitchFamily="2" charset="-122"/>
              </a:rPr>
              <a:t>k</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=1, 2,</a:t>
            </a:r>
            <a:r>
              <a:rPr lang="en-US" altLang="zh-CN">
                <a:latin typeface="Times New Roman" panose="02020603050405020304" pitchFamily="18" charset="0"/>
                <a:ea typeface="宋体" panose="02010600030101010101" pitchFamily="2" charset="-122"/>
              </a:rPr>
              <a:t> …, </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/2-1 </a:t>
            </a:r>
            <a:r>
              <a:rPr lang="zh-CN" altLang="en-US" dirty="0">
                <a:latin typeface="Times New Roman" panose="02020603050405020304" pitchFamily="18" charset="0"/>
                <a:ea typeface="宋体" panose="02010600030101010101" pitchFamily="2" charset="-122"/>
              </a:rPr>
              <a:t>的结构如图 </a:t>
            </a:r>
            <a:r>
              <a:rPr lang="en-US" altLang="zh-CN" dirty="0">
                <a:latin typeface="Times New Roman" panose="02020603050405020304" pitchFamily="18" charset="0"/>
                <a:ea typeface="宋体" panose="02010600030101010101" pitchFamily="2" charset="-122"/>
              </a:rPr>
              <a:t>4.11 </a:t>
            </a:r>
            <a:r>
              <a:rPr lang="zh-CN" altLang="en-US" dirty="0">
                <a:latin typeface="Times New Roman" panose="02020603050405020304" pitchFamily="18" charset="0"/>
                <a:ea typeface="宋体" panose="02010600030101010101" pitchFamily="2" charset="-122"/>
              </a:rPr>
              <a:t>所示。 </a:t>
            </a:r>
            <a:endParaRPr lang="zh-CN" altLang="en-US">
              <a:latin typeface="Times New Roman" panose="02020603050405020304" pitchFamily="18" charset="0"/>
              <a:ea typeface="宋体" panose="02010600030101010101" pitchFamily="2" charset="-122"/>
            </a:endParaRPr>
          </a:p>
        </p:txBody>
      </p:sp>
      <p:graphicFrame>
        <p:nvGraphicFramePr>
          <p:cNvPr id="54274" name="对象 36868"/>
          <p:cNvGraphicFramePr/>
          <p:nvPr/>
        </p:nvGraphicFramePr>
        <p:xfrm>
          <a:off x="609600" y="1600200"/>
          <a:ext cx="7848600" cy="1104900"/>
        </p:xfrm>
        <a:graphic>
          <a:graphicData uri="http://schemas.openxmlformats.org/presentationml/2006/ole">
            <mc:AlternateContent xmlns:mc="http://schemas.openxmlformats.org/markup-compatibility/2006">
              <mc:Choice xmlns:v="urn:schemas-microsoft-com:vml" Requires="v">
                <p:oleObj spid="_x0000_s3131" name="" r:id="rId1" imgW="3251200" imgH="457200" progId="Equation.3">
                  <p:embed/>
                </p:oleObj>
              </mc:Choice>
              <mc:Fallback>
                <p:oleObj name="" r:id="rId1" imgW="3251200" imgH="457200" progId="Equation.3">
                  <p:embed/>
                  <p:pic>
                    <p:nvPicPr>
                      <p:cNvPr id="0" name="图片 3130"/>
                      <p:cNvPicPr/>
                      <p:nvPr/>
                    </p:nvPicPr>
                    <p:blipFill>
                      <a:blip r:embed="rId2"/>
                      <a:stretch>
                        <a:fillRect/>
                      </a:stretch>
                    </p:blipFill>
                    <p:spPr>
                      <a:xfrm>
                        <a:off x="609600" y="1600200"/>
                        <a:ext cx="7848600" cy="1104900"/>
                      </a:xfrm>
                      <a:prstGeom prst="rect">
                        <a:avLst/>
                      </a:prstGeom>
                      <a:noFill/>
                      <a:ln w="38100">
                        <a:noFill/>
                        <a:miter/>
                      </a:ln>
                    </p:spPr>
                  </p:pic>
                </p:oleObj>
              </mc:Fallback>
            </mc:AlternateContent>
          </a:graphicData>
        </a:graphic>
      </p:graphicFrame>
      <p:sp>
        <p:nvSpPr>
          <p:cNvPr id="54275" name="文本框 36869"/>
          <p:cNvSpPr txBox="1"/>
          <p:nvPr/>
        </p:nvSpPr>
        <p:spPr>
          <a:xfrm>
            <a:off x="8213725" y="2632075"/>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(4-14) </a:t>
            </a:r>
            <a:endParaRPr lang="en-US" altLang="zh-CN">
              <a:latin typeface="Times New Roman" panose="02020603050405020304" pitchFamily="18" charset="0"/>
              <a:ea typeface="宋体" panose="02010600030101010101" pitchFamily="2" charset="-122"/>
            </a:endParaRPr>
          </a:p>
        </p:txBody>
      </p:sp>
      <p:sp>
        <p:nvSpPr>
          <p:cNvPr id="54276" name="文本框 36870"/>
          <p:cNvSpPr txBox="1"/>
          <p:nvPr/>
        </p:nvSpPr>
        <p:spPr>
          <a:xfrm>
            <a:off x="212725" y="3063875"/>
            <a:ext cx="8931275" cy="1098550"/>
          </a:xfrm>
          <a:prstGeom prst="rect">
            <a:avLst/>
          </a:prstGeom>
          <a:noFill/>
          <a:ln w="9525">
            <a:noFill/>
          </a:ln>
        </p:spPr>
        <p:txBody>
          <a:bodyPr anchor="t">
            <a:spAutoFit/>
          </a:bodyPr>
          <a:p>
            <a:pPr>
              <a:lnSpc>
                <a:spcPct val="138000"/>
              </a:lnSpc>
            </a:pPr>
            <a:r>
              <a:rPr lang="zh-CN" altLang="en-US">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为奇数时，只有一个实根</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，对应于一个一阶网络</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。这时的</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54277" name="对象 36871"/>
          <p:cNvGraphicFramePr/>
          <p:nvPr/>
        </p:nvGraphicFramePr>
        <p:xfrm>
          <a:off x="1447800" y="4114800"/>
          <a:ext cx="6407150" cy="1104900"/>
        </p:xfrm>
        <a:graphic>
          <a:graphicData uri="http://schemas.openxmlformats.org/presentationml/2006/ole">
            <mc:AlternateContent xmlns:mc="http://schemas.openxmlformats.org/markup-compatibility/2006">
              <mc:Choice xmlns:v="urn:schemas-microsoft-com:vml" Requires="v">
                <p:oleObj spid="_x0000_s3082" name="" r:id="rId3" imgW="2654300" imgH="457200" progId="Equation.3">
                  <p:embed/>
                </p:oleObj>
              </mc:Choice>
              <mc:Fallback>
                <p:oleObj name="" r:id="rId3" imgW="2654300" imgH="457200" progId="Equation.3">
                  <p:embed/>
                  <p:pic>
                    <p:nvPicPr>
                      <p:cNvPr id="0" name="图片 3081"/>
                      <p:cNvPicPr/>
                      <p:nvPr/>
                    </p:nvPicPr>
                    <p:blipFill>
                      <a:blip r:embed="rId4"/>
                      <a:stretch>
                        <a:fillRect/>
                      </a:stretch>
                    </p:blipFill>
                    <p:spPr>
                      <a:xfrm>
                        <a:off x="1447800" y="4114800"/>
                        <a:ext cx="6407150" cy="1104900"/>
                      </a:xfrm>
                      <a:prstGeom prst="rect">
                        <a:avLst/>
                      </a:prstGeom>
                      <a:noFill/>
                      <a:ln w="38100">
                        <a:noFill/>
                        <a:miter/>
                      </a:ln>
                    </p:spPr>
                  </p:pic>
                </p:oleObj>
              </mc:Fallback>
            </mc:AlternateContent>
          </a:graphicData>
        </a:graphic>
      </p:graphicFrame>
      <p:sp>
        <p:nvSpPr>
          <p:cNvPr id="54278" name="文本框 36872"/>
          <p:cNvSpPr txBox="1"/>
          <p:nvPr/>
        </p:nvSpPr>
        <p:spPr>
          <a:xfrm>
            <a:off x="8121650" y="5029200"/>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(4-15) </a:t>
            </a:r>
            <a:endParaRPr lang="en-US" altLang="zh-CN">
              <a:latin typeface="Times New Roman" panose="02020603050405020304" pitchFamily="18" charset="0"/>
              <a:ea typeface="宋体" panose="02010600030101010101" pitchFamily="2" charset="-122"/>
            </a:endParaRPr>
          </a:p>
        </p:txBody>
      </p:sp>
      <p:sp>
        <p:nvSpPr>
          <p:cNvPr id="54279" name="文本框 36873"/>
          <p:cNvSpPr txBox="1"/>
          <p:nvPr/>
        </p:nvSpPr>
        <p:spPr>
          <a:xfrm>
            <a:off x="228600" y="5410200"/>
            <a:ext cx="8686800" cy="1079500"/>
          </a:xfrm>
          <a:prstGeom prst="rect">
            <a:avLst/>
          </a:prstGeom>
          <a:noFill/>
          <a:ln w="9525">
            <a:noFill/>
          </a:ln>
        </p:spPr>
        <p:txBody>
          <a:bodyPr anchor="t">
            <a:spAutoFit/>
          </a:bodyPr>
          <a:p>
            <a:pPr algn="just">
              <a:lnSpc>
                <a:spcPct val="135000"/>
              </a:lnSpc>
              <a:spcBef>
                <a:spcPct val="50000"/>
              </a:spcBef>
            </a:pPr>
            <a:r>
              <a:rPr lang="zh-CN" altLang="en-US" dirty="0">
                <a:latin typeface="Times New Roman" panose="02020603050405020304" pitchFamily="18" charset="0"/>
                <a:ea typeface="宋体" panose="02010600030101010101" pitchFamily="2" charset="-122"/>
              </a:rPr>
              <a:t>显然，</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等于奇数时的频率采样修正结构由一个一阶网络结构和</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个二阶网络结构组</a:t>
            </a:r>
            <a:r>
              <a:rPr lang="zh-CN" altLang="en-US" dirty="0">
                <a:latin typeface="Times New Roman" panose="02020603050405020304" pitchFamily="18" charset="0"/>
                <a:ea typeface="宋体" panose="02010600030101010101" pitchFamily="2" charset="-122"/>
              </a:rPr>
              <a:t>成。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文本框 35843"/>
          <p:cNvSpPr txBox="1"/>
          <p:nvPr/>
        </p:nvSpPr>
        <p:spPr>
          <a:xfrm>
            <a:off x="441325" y="558800"/>
            <a:ext cx="8307388" cy="5737225"/>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一般来说，当采样点数</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较大时，频率采样结构比较复杂， 所需的乘法器和延时器比较多。但在以下两种情况下，使用频率采样结构比较经济。 </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对于窄带滤波器，其多数采样值</a:t>
            </a:r>
            <a:r>
              <a:rPr lang="en-US" altLang="zh-CN" dirty="0">
                <a:latin typeface="Times New Roman" panose="02020603050405020304" pitchFamily="18" charset="0"/>
                <a:ea typeface="宋体" panose="02010600030101010101" pitchFamily="2" charset="-122"/>
              </a:rPr>
              <a:t>H(k)</a:t>
            </a:r>
            <a:r>
              <a:rPr lang="zh-CN" altLang="en-US" dirty="0">
                <a:latin typeface="Times New Roman" panose="02020603050405020304" pitchFamily="18" charset="0"/>
                <a:ea typeface="宋体" panose="02010600030101010101" pitchFamily="2" charset="-122"/>
              </a:rPr>
              <a:t>为零，谐振器柜中只剩下几个所需要的谐振器。这时采用频率采样结构比直接型结构所用的乘法器少，当然存储器还是要比直接型用得多一些。 </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）在需要同时使用很多并列的滤波器的情况下，这些并列的滤波器可以采用频率采样结构，并且可以大家共用梳状滤波器和谐振</a:t>
            </a:r>
            <a:r>
              <a:rPr lang="zh-CN" altLang="en-US" dirty="0">
                <a:latin typeface="Times New Roman" panose="02020603050405020304" pitchFamily="18" charset="0"/>
                <a:ea typeface="宋体" panose="02010600030101010101" pitchFamily="2" charset="-122"/>
              </a:rPr>
              <a:t>柜，只要将各谐振器的输出适当加权组合就能组成各个并列的滤波器。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文本框 38915"/>
          <p:cNvSpPr txBox="1"/>
          <p:nvPr/>
        </p:nvSpPr>
        <p:spPr>
          <a:xfrm>
            <a:off x="3017838" y="5589588"/>
            <a:ext cx="371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4-18  </a:t>
            </a:r>
            <a:r>
              <a:rPr lang="zh-CN" altLang="en-US" dirty="0">
                <a:latin typeface="Times New Roman" panose="02020603050405020304" pitchFamily="18" charset="0"/>
                <a:ea typeface="宋体" panose="02010600030101010101" pitchFamily="2" charset="-122"/>
              </a:rPr>
              <a:t>频率采样修正结构 </a:t>
            </a:r>
            <a:endParaRPr lang="zh-CN" altLang="en-US">
              <a:latin typeface="Times New Roman" panose="02020603050405020304" pitchFamily="18" charset="0"/>
              <a:ea typeface="宋体" panose="02010600030101010101" pitchFamily="2" charset="-122"/>
            </a:endParaRPr>
          </a:p>
        </p:txBody>
      </p:sp>
      <p:pic>
        <p:nvPicPr>
          <p:cNvPr id="56322" name="图片 38918" descr="4-18"/>
          <p:cNvPicPr>
            <a:picLocks noChangeAspect="1"/>
          </p:cNvPicPr>
          <p:nvPr/>
        </p:nvPicPr>
        <p:blipFill>
          <a:blip r:embed="rId1"/>
          <a:stretch>
            <a:fillRect/>
          </a:stretch>
        </p:blipFill>
        <p:spPr>
          <a:xfrm>
            <a:off x="1714500" y="1938338"/>
            <a:ext cx="5715000" cy="2981325"/>
          </a:xfrm>
          <a:prstGeom prst="rect">
            <a:avLst/>
          </a:prstGeom>
          <a:noFill/>
          <a:ln w="9525">
            <a:noFill/>
          </a:ln>
        </p:spPr>
      </p:pic>
    </p:spTree>
  </p:cSld>
  <p:clrMapOvr>
    <a:masterClrMapping/>
  </p:clrMapOvr>
  <p:transition>
    <p:blinds dir="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文本框 436227"/>
          <p:cNvSpPr txBox="1"/>
          <p:nvPr/>
        </p:nvSpPr>
        <p:spPr>
          <a:xfrm>
            <a:off x="808038" y="549275"/>
            <a:ext cx="6289675" cy="457200"/>
          </a:xfrm>
          <a:prstGeom prst="rect">
            <a:avLst/>
          </a:prstGeom>
          <a:noFill/>
          <a:ln w="9525">
            <a:noFill/>
          </a:ln>
        </p:spPr>
        <p:txBody>
          <a:bodyPr wrap="none" anchor="t">
            <a:spAutoFit/>
          </a:bodyPr>
          <a:p>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例</a:t>
            </a:r>
            <a:r>
              <a:rPr lang="en-US" altLang="zh-CN" b="1">
                <a:latin typeface="Times New Roman" panose="02020603050405020304" pitchFamily="18" charset="0"/>
                <a:ea typeface="宋体" panose="02010600030101010101" pitchFamily="2" charset="-122"/>
              </a:rPr>
              <a:t>4-6]  </a:t>
            </a:r>
            <a:r>
              <a:rPr lang="zh-CN" altLang="en-US" dirty="0">
                <a:latin typeface="Times New Roman" panose="02020603050405020304" pitchFamily="18" charset="0"/>
                <a:ea typeface="宋体" panose="02010600030101010101" pitchFamily="2" charset="-122"/>
              </a:rPr>
              <a:t>用频率采样型结构实现以下系统结构</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57346" name="对象 436228"/>
          <p:cNvGraphicFramePr/>
          <p:nvPr/>
        </p:nvGraphicFramePr>
        <p:xfrm>
          <a:off x="1331913" y="1198563"/>
          <a:ext cx="6769100" cy="600075"/>
        </p:xfrm>
        <a:graphic>
          <a:graphicData uri="http://schemas.openxmlformats.org/presentationml/2006/ole">
            <mc:AlternateContent xmlns:mc="http://schemas.openxmlformats.org/markup-compatibility/2006">
              <mc:Choice xmlns:v="urn:schemas-microsoft-com:vml" Requires="v">
                <p:oleObj spid="_x0000_s3086" name="" r:id="rId1" imgW="2578100" imgH="228600" progId="Equation.DSMT4">
                  <p:embed/>
                </p:oleObj>
              </mc:Choice>
              <mc:Fallback>
                <p:oleObj name="" r:id="rId1" imgW="2578100" imgH="228600" progId="Equation.DSMT4">
                  <p:embed/>
                  <p:pic>
                    <p:nvPicPr>
                      <p:cNvPr id="0" name="图片 3085"/>
                      <p:cNvPicPr/>
                      <p:nvPr/>
                    </p:nvPicPr>
                    <p:blipFill>
                      <a:blip r:embed="rId2"/>
                      <a:stretch>
                        <a:fillRect/>
                      </a:stretch>
                    </p:blipFill>
                    <p:spPr>
                      <a:xfrm>
                        <a:off x="1331913" y="1198563"/>
                        <a:ext cx="6769100" cy="600075"/>
                      </a:xfrm>
                      <a:prstGeom prst="rect">
                        <a:avLst/>
                      </a:prstGeom>
                      <a:noFill/>
                      <a:ln w="38100">
                        <a:noFill/>
                        <a:miter/>
                      </a:ln>
                    </p:spPr>
                  </p:pic>
                </p:oleObj>
              </mc:Fallback>
            </mc:AlternateContent>
          </a:graphicData>
        </a:graphic>
      </p:graphicFrame>
      <p:sp>
        <p:nvSpPr>
          <p:cNvPr id="57347" name="文本框 436230"/>
          <p:cNvSpPr txBox="1"/>
          <p:nvPr/>
        </p:nvSpPr>
        <p:spPr>
          <a:xfrm>
            <a:off x="519113" y="1679575"/>
            <a:ext cx="7221537" cy="1041400"/>
          </a:xfrm>
          <a:prstGeom prst="rect">
            <a:avLst/>
          </a:prstGeom>
          <a:noFill/>
          <a:ln w="9525">
            <a:noFill/>
          </a:ln>
        </p:spPr>
        <p:txBody>
          <a:bodyPr wrap="none" anchor="t">
            <a:spAutoFit/>
          </a:bodyPr>
          <a:p>
            <a:pPr>
              <a:lnSpc>
                <a:spcPct val="130000"/>
              </a:lnSpc>
            </a:pPr>
            <a:r>
              <a:rPr lang="zh-CN" altLang="en-US" dirty="0">
                <a:latin typeface="Times New Roman" panose="02020603050405020304" pitchFamily="18" charset="0"/>
                <a:ea typeface="宋体" panose="02010600030101010101" pitchFamily="2" charset="-122"/>
              </a:rPr>
              <a:t>采样点数，修正半径。</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：因为为偶数，所以根据公式（</a:t>
            </a:r>
            <a:r>
              <a:rPr lang="en-US" altLang="zh-CN" dirty="0">
                <a:latin typeface="Times New Roman" panose="02020603050405020304" pitchFamily="18" charset="0"/>
                <a:ea typeface="宋体" panose="02010600030101010101" pitchFamily="2" charset="-122"/>
              </a:rPr>
              <a:t>4-15</a:t>
            </a:r>
            <a:r>
              <a:rPr lang="zh-CN" altLang="en-US" dirty="0">
                <a:latin typeface="Times New Roman" panose="02020603050405020304" pitchFamily="18" charset="0"/>
                <a:ea typeface="宋体" panose="02010600030101010101" pitchFamily="2" charset="-122"/>
              </a:rPr>
              <a:t>）可得： </a:t>
            </a:r>
            <a:endParaRPr lang="zh-CN" altLang="en-US" dirty="0">
              <a:latin typeface="Times New Roman" panose="02020603050405020304" pitchFamily="18" charset="0"/>
              <a:ea typeface="宋体" panose="02010600030101010101" pitchFamily="2" charset="-122"/>
            </a:endParaRPr>
          </a:p>
        </p:txBody>
      </p:sp>
      <p:graphicFrame>
        <p:nvGraphicFramePr>
          <p:cNvPr id="57348" name="对象 436231"/>
          <p:cNvGraphicFramePr/>
          <p:nvPr/>
        </p:nvGraphicFramePr>
        <p:xfrm>
          <a:off x="1476375" y="2781300"/>
          <a:ext cx="6048375" cy="892175"/>
        </p:xfrm>
        <a:graphic>
          <a:graphicData uri="http://schemas.openxmlformats.org/presentationml/2006/ole">
            <mc:AlternateContent xmlns:mc="http://schemas.openxmlformats.org/markup-compatibility/2006">
              <mc:Choice xmlns:v="urn:schemas-microsoft-com:vml" Requires="v">
                <p:oleObj spid="_x0000_s3090" name="" r:id="rId3" imgW="2908300" imgH="431800" progId="Equation.DSMT4">
                  <p:embed/>
                </p:oleObj>
              </mc:Choice>
              <mc:Fallback>
                <p:oleObj name="" r:id="rId3" imgW="2908300" imgH="431800" progId="Equation.DSMT4">
                  <p:embed/>
                  <p:pic>
                    <p:nvPicPr>
                      <p:cNvPr id="0" name="图片 3089"/>
                      <p:cNvPicPr/>
                      <p:nvPr/>
                    </p:nvPicPr>
                    <p:blipFill>
                      <a:blip r:embed="rId4"/>
                      <a:stretch>
                        <a:fillRect/>
                      </a:stretch>
                    </p:blipFill>
                    <p:spPr>
                      <a:xfrm>
                        <a:off x="1476375" y="2781300"/>
                        <a:ext cx="6048375" cy="892175"/>
                      </a:xfrm>
                      <a:prstGeom prst="rect">
                        <a:avLst/>
                      </a:prstGeom>
                      <a:solidFill>
                        <a:schemeClr val="accent1"/>
                      </a:solidFill>
                      <a:ln w="38100">
                        <a:noFill/>
                        <a:miter/>
                      </a:ln>
                    </p:spPr>
                  </p:pic>
                </p:oleObj>
              </mc:Fallback>
            </mc:AlternateContent>
          </a:graphicData>
        </a:graphic>
      </p:graphicFrame>
      <p:graphicFrame>
        <p:nvGraphicFramePr>
          <p:cNvPr id="57349" name="对象 436233"/>
          <p:cNvGraphicFramePr/>
          <p:nvPr/>
        </p:nvGraphicFramePr>
        <p:xfrm>
          <a:off x="1547813" y="3933825"/>
          <a:ext cx="6192837" cy="1165225"/>
        </p:xfrm>
        <a:graphic>
          <a:graphicData uri="http://schemas.openxmlformats.org/presentationml/2006/ole">
            <mc:AlternateContent xmlns:mc="http://schemas.openxmlformats.org/markup-compatibility/2006">
              <mc:Choice xmlns:v="urn:schemas-microsoft-com:vml" Requires="v">
                <p:oleObj spid="_x0000_s3083" name="" r:id="rId5" imgW="2578100" imgH="482600" progId="Equation.DSMT4">
                  <p:embed/>
                </p:oleObj>
              </mc:Choice>
              <mc:Fallback>
                <p:oleObj name="" r:id="rId5" imgW="2578100" imgH="482600" progId="Equation.DSMT4">
                  <p:embed/>
                  <p:pic>
                    <p:nvPicPr>
                      <p:cNvPr id="0" name="图片 3082"/>
                      <p:cNvPicPr/>
                      <p:nvPr/>
                    </p:nvPicPr>
                    <p:blipFill>
                      <a:blip r:embed="rId6"/>
                      <a:stretch>
                        <a:fillRect/>
                      </a:stretch>
                    </p:blipFill>
                    <p:spPr>
                      <a:xfrm>
                        <a:off x="1547813" y="3933825"/>
                        <a:ext cx="6192837" cy="1165225"/>
                      </a:xfrm>
                      <a:prstGeom prst="rect">
                        <a:avLst/>
                      </a:prstGeom>
                      <a:noFill/>
                      <a:ln w="38100">
                        <a:noFill/>
                        <a:miter/>
                      </a:ln>
                    </p:spPr>
                  </p:pic>
                </p:oleObj>
              </mc:Fallback>
            </mc:AlternateContent>
          </a:graphicData>
        </a:graphic>
      </p:graphicFrame>
      <p:sp>
        <p:nvSpPr>
          <p:cNvPr id="57350" name="文本框 436235"/>
          <p:cNvSpPr txBox="1"/>
          <p:nvPr/>
        </p:nvSpPr>
        <p:spPr>
          <a:xfrm>
            <a:off x="682625" y="4799013"/>
            <a:ext cx="793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故：</a:t>
            </a:r>
            <a:endParaRPr lang="zh-CN" altLang="en-US" dirty="0">
              <a:latin typeface="Times New Roman" panose="02020603050405020304" pitchFamily="18" charset="0"/>
              <a:ea typeface="宋体" panose="02010600030101010101" pitchFamily="2" charset="-122"/>
            </a:endParaRPr>
          </a:p>
        </p:txBody>
      </p:sp>
      <p:graphicFrame>
        <p:nvGraphicFramePr>
          <p:cNvPr id="57351" name="对象 436236"/>
          <p:cNvGraphicFramePr/>
          <p:nvPr/>
        </p:nvGraphicFramePr>
        <p:xfrm>
          <a:off x="971550" y="5157788"/>
          <a:ext cx="7561263" cy="1217612"/>
        </p:xfrm>
        <a:graphic>
          <a:graphicData uri="http://schemas.openxmlformats.org/presentationml/2006/ole">
            <mc:AlternateContent xmlns:mc="http://schemas.openxmlformats.org/markup-compatibility/2006">
              <mc:Choice xmlns:v="urn:schemas-microsoft-com:vml" Requires="v">
                <p:oleObj spid="_x0000_s3084" name="" r:id="rId7" imgW="3136900" imgH="508000" progId="Equation.DSMT4">
                  <p:embed/>
                </p:oleObj>
              </mc:Choice>
              <mc:Fallback>
                <p:oleObj name="" r:id="rId7" imgW="3136900" imgH="508000" progId="Equation.DSMT4">
                  <p:embed/>
                  <p:pic>
                    <p:nvPicPr>
                      <p:cNvPr id="0" name="图片 3083"/>
                      <p:cNvPicPr/>
                      <p:nvPr/>
                    </p:nvPicPr>
                    <p:blipFill>
                      <a:blip r:embed="rId8"/>
                      <a:stretch>
                        <a:fillRect/>
                      </a:stretch>
                    </p:blipFill>
                    <p:spPr>
                      <a:xfrm>
                        <a:off x="971550" y="5157788"/>
                        <a:ext cx="7561263" cy="1217612"/>
                      </a:xfrm>
                      <a:prstGeom prst="rect">
                        <a:avLst/>
                      </a:prstGeom>
                      <a:noFill/>
                      <a:ln w="38100">
                        <a:noFill/>
                        <a:miter/>
                      </a:ln>
                    </p:spPr>
                  </p:pic>
                </p:oleObj>
              </mc:Fallback>
            </mc:AlternateContent>
          </a:graphicData>
        </a:graphic>
      </p:graphicFrame>
      <p:sp>
        <p:nvSpPr>
          <p:cNvPr id="2" name="十字星 1"/>
          <p:cNvSpPr/>
          <p:nvPr/>
        </p:nvSpPr>
        <p:spPr>
          <a:xfrm>
            <a:off x="231775" y="454025"/>
            <a:ext cx="576263" cy="647700"/>
          </a:xfrm>
          <a:prstGeom prst="star4">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dir="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文本框 437251"/>
          <p:cNvSpPr txBox="1"/>
          <p:nvPr/>
        </p:nvSpPr>
        <p:spPr>
          <a:xfrm>
            <a:off x="593725" y="692150"/>
            <a:ext cx="1098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因而：</a:t>
            </a:r>
            <a:endParaRPr lang="zh-CN" altLang="en-US" dirty="0">
              <a:latin typeface="Times New Roman" panose="02020603050405020304" pitchFamily="18" charset="0"/>
              <a:ea typeface="宋体" panose="02010600030101010101" pitchFamily="2" charset="-122"/>
            </a:endParaRPr>
          </a:p>
        </p:txBody>
      </p:sp>
      <p:graphicFrame>
        <p:nvGraphicFramePr>
          <p:cNvPr id="58370" name="对象 437252"/>
          <p:cNvGraphicFramePr/>
          <p:nvPr/>
        </p:nvGraphicFramePr>
        <p:xfrm>
          <a:off x="1908175" y="804863"/>
          <a:ext cx="5616575" cy="1111250"/>
        </p:xfrm>
        <a:graphic>
          <a:graphicData uri="http://schemas.openxmlformats.org/presentationml/2006/ole">
            <mc:AlternateContent xmlns:mc="http://schemas.openxmlformats.org/markup-compatibility/2006">
              <mc:Choice xmlns:v="urn:schemas-microsoft-com:vml" Requires="v">
                <p:oleObj spid="_x0000_s3085" name="" r:id="rId1" imgW="2552700" imgH="508000" progId="Equation.DSMT4">
                  <p:embed/>
                </p:oleObj>
              </mc:Choice>
              <mc:Fallback>
                <p:oleObj name="" r:id="rId1" imgW="2552700" imgH="508000" progId="Equation.DSMT4">
                  <p:embed/>
                  <p:pic>
                    <p:nvPicPr>
                      <p:cNvPr id="0" name="图片 3084"/>
                      <p:cNvPicPr/>
                      <p:nvPr/>
                    </p:nvPicPr>
                    <p:blipFill>
                      <a:blip r:embed="rId2"/>
                      <a:stretch>
                        <a:fillRect/>
                      </a:stretch>
                    </p:blipFill>
                    <p:spPr>
                      <a:xfrm>
                        <a:off x="1908175" y="804863"/>
                        <a:ext cx="5616575" cy="1111250"/>
                      </a:xfrm>
                      <a:prstGeom prst="rect">
                        <a:avLst/>
                      </a:prstGeom>
                      <a:noFill/>
                      <a:ln w="38100">
                        <a:noFill/>
                        <a:miter/>
                      </a:ln>
                    </p:spPr>
                  </p:pic>
                </p:oleObj>
              </mc:Fallback>
            </mc:AlternateContent>
          </a:graphicData>
        </a:graphic>
      </p:graphicFrame>
      <p:sp>
        <p:nvSpPr>
          <p:cNvPr id="58371" name="文本框 437254"/>
          <p:cNvSpPr txBox="1"/>
          <p:nvPr/>
        </p:nvSpPr>
        <p:spPr>
          <a:xfrm>
            <a:off x="611188" y="1916113"/>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 </a:t>
            </a:r>
            <a:endParaRPr lang="zh-CN" altLang="en-US" dirty="0">
              <a:latin typeface="Times New Roman" panose="02020603050405020304" pitchFamily="18" charset="0"/>
              <a:ea typeface="宋体" panose="02010600030101010101" pitchFamily="2" charset="-122"/>
            </a:endParaRPr>
          </a:p>
        </p:txBody>
      </p:sp>
      <p:graphicFrame>
        <p:nvGraphicFramePr>
          <p:cNvPr id="58372" name="对象 437255"/>
          <p:cNvGraphicFramePr/>
          <p:nvPr/>
        </p:nvGraphicFramePr>
        <p:xfrm>
          <a:off x="2555875" y="2205038"/>
          <a:ext cx="3744913" cy="1720850"/>
        </p:xfrm>
        <a:graphic>
          <a:graphicData uri="http://schemas.openxmlformats.org/presentationml/2006/ole">
            <mc:AlternateContent xmlns:mc="http://schemas.openxmlformats.org/markup-compatibility/2006">
              <mc:Choice xmlns:v="urn:schemas-microsoft-com:vml" Requires="v">
                <p:oleObj spid="_x0000_s3087" name="" r:id="rId3" imgW="1765300" imgH="812800" progId="Equation.DSMT4">
                  <p:embed/>
                </p:oleObj>
              </mc:Choice>
              <mc:Fallback>
                <p:oleObj name="" r:id="rId3" imgW="1765300" imgH="812800" progId="Equation.DSMT4">
                  <p:embed/>
                  <p:pic>
                    <p:nvPicPr>
                      <p:cNvPr id="0" name="图片 3086"/>
                      <p:cNvPicPr/>
                      <p:nvPr/>
                    </p:nvPicPr>
                    <p:blipFill>
                      <a:blip r:embed="rId4"/>
                      <a:stretch>
                        <a:fillRect/>
                      </a:stretch>
                    </p:blipFill>
                    <p:spPr>
                      <a:xfrm>
                        <a:off x="2555875" y="2205038"/>
                        <a:ext cx="3744913" cy="1720850"/>
                      </a:xfrm>
                      <a:prstGeom prst="rect">
                        <a:avLst/>
                      </a:prstGeom>
                      <a:noFill/>
                      <a:ln w="38100">
                        <a:noFill/>
                        <a:miter/>
                      </a:ln>
                    </p:spPr>
                  </p:pic>
                </p:oleObj>
              </mc:Fallback>
            </mc:AlternateContent>
          </a:graphicData>
        </a:graphic>
      </p:graphicFrame>
      <p:graphicFrame>
        <p:nvGraphicFramePr>
          <p:cNvPr id="58373" name="对象 437257"/>
          <p:cNvGraphicFramePr/>
          <p:nvPr/>
        </p:nvGraphicFramePr>
        <p:xfrm>
          <a:off x="684213" y="3860800"/>
          <a:ext cx="2592387" cy="790575"/>
        </p:xfrm>
        <a:graphic>
          <a:graphicData uri="http://schemas.openxmlformats.org/presentationml/2006/ole">
            <mc:AlternateContent xmlns:mc="http://schemas.openxmlformats.org/markup-compatibility/2006">
              <mc:Choice xmlns:v="urn:schemas-microsoft-com:vml" Requires="v">
                <p:oleObj spid="_x0000_s3088" name="" r:id="rId5" imgW="1343660" imgH="417830" progId="Word.Document.8">
                  <p:embed/>
                </p:oleObj>
              </mc:Choice>
              <mc:Fallback>
                <p:oleObj name="" r:id="rId5" imgW="1343660" imgH="417830" progId="Word.Document.8">
                  <p:embed/>
                  <p:pic>
                    <p:nvPicPr>
                      <p:cNvPr id="0" name="图片 3087"/>
                      <p:cNvPicPr/>
                      <p:nvPr/>
                    </p:nvPicPr>
                    <p:blipFill>
                      <a:blip r:embed="rId6"/>
                      <a:stretch>
                        <a:fillRect/>
                      </a:stretch>
                    </p:blipFill>
                    <p:spPr>
                      <a:xfrm>
                        <a:off x="684213" y="3860800"/>
                        <a:ext cx="2592387" cy="790575"/>
                      </a:xfrm>
                      <a:prstGeom prst="rect">
                        <a:avLst/>
                      </a:prstGeom>
                      <a:noFill/>
                      <a:ln w="38100">
                        <a:noFill/>
                        <a:miter/>
                      </a:ln>
                    </p:spPr>
                  </p:pic>
                </p:oleObj>
              </mc:Fallback>
            </mc:AlternateContent>
          </a:graphicData>
        </a:graphic>
      </p:graphicFrame>
      <p:graphicFrame>
        <p:nvGraphicFramePr>
          <p:cNvPr id="58374" name="对象 437258"/>
          <p:cNvGraphicFramePr/>
          <p:nvPr/>
        </p:nvGraphicFramePr>
        <p:xfrm>
          <a:off x="2484438" y="4581525"/>
          <a:ext cx="4608512" cy="1417638"/>
        </p:xfrm>
        <a:graphic>
          <a:graphicData uri="http://schemas.openxmlformats.org/presentationml/2006/ole">
            <mc:AlternateContent xmlns:mc="http://schemas.openxmlformats.org/markup-compatibility/2006">
              <mc:Choice xmlns:v="urn:schemas-microsoft-com:vml" Requires="v">
                <p:oleObj spid="_x0000_s3089" name="" r:id="rId7" imgW="1981200" imgH="609600" progId="Equation.DSMT4">
                  <p:embed/>
                </p:oleObj>
              </mc:Choice>
              <mc:Fallback>
                <p:oleObj name="" r:id="rId7" imgW="1981200" imgH="609600" progId="Equation.DSMT4">
                  <p:embed/>
                  <p:pic>
                    <p:nvPicPr>
                      <p:cNvPr id="0" name="图片 3088"/>
                      <p:cNvPicPr/>
                      <p:nvPr/>
                    </p:nvPicPr>
                    <p:blipFill>
                      <a:blip r:embed="rId8"/>
                      <a:stretch>
                        <a:fillRect/>
                      </a:stretch>
                    </p:blipFill>
                    <p:spPr>
                      <a:xfrm>
                        <a:off x="2484438" y="4581525"/>
                        <a:ext cx="4608512" cy="1417638"/>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9393" name="对象 438275"/>
          <p:cNvGraphicFramePr/>
          <p:nvPr/>
        </p:nvGraphicFramePr>
        <p:xfrm>
          <a:off x="1835150" y="692150"/>
          <a:ext cx="5689600" cy="2309813"/>
        </p:xfrm>
        <a:graphic>
          <a:graphicData uri="http://schemas.openxmlformats.org/presentationml/2006/ole">
            <mc:AlternateContent xmlns:mc="http://schemas.openxmlformats.org/markup-compatibility/2006">
              <mc:Choice xmlns:v="urn:schemas-microsoft-com:vml" Requires="v">
                <p:oleObj spid="_x0000_s3091" name="" r:id="rId1" imgW="2273300" imgH="927100" progId="Equation.DSMT4">
                  <p:embed/>
                </p:oleObj>
              </mc:Choice>
              <mc:Fallback>
                <p:oleObj name="" r:id="rId1" imgW="2273300" imgH="927100" progId="Equation.DSMT4">
                  <p:embed/>
                  <p:pic>
                    <p:nvPicPr>
                      <p:cNvPr id="0" name="图片 3090"/>
                      <p:cNvPicPr/>
                      <p:nvPr/>
                    </p:nvPicPr>
                    <p:blipFill>
                      <a:blip r:embed="rId2"/>
                      <a:stretch>
                        <a:fillRect/>
                      </a:stretch>
                    </p:blipFill>
                    <p:spPr>
                      <a:xfrm>
                        <a:off x="1835150" y="692150"/>
                        <a:ext cx="5689600" cy="2309813"/>
                      </a:xfrm>
                      <a:prstGeom prst="rect">
                        <a:avLst/>
                      </a:prstGeom>
                      <a:noFill/>
                      <a:ln w="38100">
                        <a:noFill/>
                        <a:miter/>
                      </a:ln>
                    </p:spPr>
                  </p:pic>
                </p:oleObj>
              </mc:Fallback>
            </mc:AlternateContent>
          </a:graphicData>
        </a:graphic>
      </p:graphicFrame>
      <p:graphicFrame>
        <p:nvGraphicFramePr>
          <p:cNvPr id="59394" name="对象 438278"/>
          <p:cNvGraphicFramePr/>
          <p:nvPr/>
        </p:nvGraphicFramePr>
        <p:xfrm>
          <a:off x="684213" y="3065463"/>
          <a:ext cx="1295400" cy="434975"/>
        </p:xfrm>
        <a:graphic>
          <a:graphicData uri="http://schemas.openxmlformats.org/presentationml/2006/ole">
            <mc:AlternateContent xmlns:mc="http://schemas.openxmlformats.org/markup-compatibility/2006">
              <mc:Choice xmlns:v="urn:schemas-microsoft-com:vml" Requires="v">
                <p:oleObj spid="_x0000_s3081" name="" r:id="rId3" imgW="621030" imgH="214630" progId="Word.Document.8">
                  <p:embed/>
                </p:oleObj>
              </mc:Choice>
              <mc:Fallback>
                <p:oleObj name="" r:id="rId3" imgW="621030" imgH="214630" progId="Word.Document.8">
                  <p:embed/>
                  <p:pic>
                    <p:nvPicPr>
                      <p:cNvPr id="0" name="图片 3080"/>
                      <p:cNvPicPr/>
                      <p:nvPr/>
                    </p:nvPicPr>
                    <p:blipFill>
                      <a:blip r:embed="rId4"/>
                      <a:stretch>
                        <a:fillRect/>
                      </a:stretch>
                    </p:blipFill>
                    <p:spPr>
                      <a:xfrm>
                        <a:off x="684213" y="3065463"/>
                        <a:ext cx="1295400" cy="434975"/>
                      </a:xfrm>
                      <a:prstGeom prst="rect">
                        <a:avLst/>
                      </a:prstGeom>
                      <a:noFill/>
                      <a:ln w="38100">
                        <a:noFill/>
                        <a:miter/>
                      </a:ln>
                    </p:spPr>
                  </p:pic>
                </p:oleObj>
              </mc:Fallback>
            </mc:AlternateContent>
          </a:graphicData>
        </a:graphic>
      </p:graphicFrame>
      <p:graphicFrame>
        <p:nvGraphicFramePr>
          <p:cNvPr id="59395" name="对象 438279"/>
          <p:cNvGraphicFramePr/>
          <p:nvPr/>
        </p:nvGraphicFramePr>
        <p:xfrm>
          <a:off x="3419475" y="3429000"/>
          <a:ext cx="2016125" cy="1138238"/>
        </p:xfrm>
        <a:graphic>
          <a:graphicData uri="http://schemas.openxmlformats.org/presentationml/2006/ole">
            <mc:AlternateContent xmlns:mc="http://schemas.openxmlformats.org/markup-compatibility/2006">
              <mc:Choice xmlns:v="urn:schemas-microsoft-com:vml" Requires="v">
                <p:oleObj spid="_x0000_s3092" name="" r:id="rId5" imgW="812165" imgH="457200" progId="Equation.DSMT4">
                  <p:embed/>
                </p:oleObj>
              </mc:Choice>
              <mc:Fallback>
                <p:oleObj name="" r:id="rId5" imgW="812165" imgH="457200" progId="Equation.DSMT4">
                  <p:embed/>
                  <p:pic>
                    <p:nvPicPr>
                      <p:cNvPr id="0" name="图片 3091"/>
                      <p:cNvPicPr/>
                      <p:nvPr/>
                    </p:nvPicPr>
                    <p:blipFill>
                      <a:blip r:embed="rId6"/>
                      <a:stretch>
                        <a:fillRect/>
                      </a:stretch>
                    </p:blipFill>
                    <p:spPr>
                      <a:xfrm>
                        <a:off x="3419475" y="3429000"/>
                        <a:ext cx="2016125" cy="1138238"/>
                      </a:xfrm>
                      <a:prstGeom prst="rect">
                        <a:avLst/>
                      </a:prstGeom>
                      <a:noFill/>
                      <a:ln w="38100">
                        <a:noFill/>
                        <a:miter/>
                      </a:ln>
                    </p:spPr>
                  </p:pic>
                </p:oleObj>
              </mc:Fallback>
            </mc:AlternateContent>
          </a:graphicData>
        </a:graphic>
      </p:graphicFrame>
      <p:sp>
        <p:nvSpPr>
          <p:cNvPr id="59396" name="文本框 438281"/>
          <p:cNvSpPr txBox="1"/>
          <p:nvPr/>
        </p:nvSpPr>
        <p:spPr>
          <a:xfrm>
            <a:off x="539750" y="4843463"/>
            <a:ext cx="4476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频率采样型结构如图</a:t>
            </a:r>
            <a:r>
              <a:rPr lang="en-US" altLang="zh-CN" dirty="0">
                <a:latin typeface="Times New Roman" panose="02020603050405020304" pitchFamily="18" charset="0"/>
                <a:ea typeface="宋体" panose="02010600030101010101" pitchFamily="2" charset="-122"/>
              </a:rPr>
              <a:t>4-19</a:t>
            </a:r>
            <a:r>
              <a:rPr lang="zh-CN" altLang="en-US" dirty="0">
                <a:latin typeface="Times New Roman" panose="02020603050405020304" pitchFamily="18" charset="0"/>
                <a:ea typeface="宋体" panose="02010600030101010101" pitchFamily="2" charset="-122"/>
              </a:rPr>
              <a:t>所示。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文本框 439299"/>
          <p:cNvSpPr txBox="1"/>
          <p:nvPr/>
        </p:nvSpPr>
        <p:spPr>
          <a:xfrm>
            <a:off x="2195513" y="5589588"/>
            <a:ext cx="4654550" cy="457200"/>
          </a:xfrm>
          <a:prstGeom prst="rect">
            <a:avLst/>
          </a:prstGeom>
          <a:solidFill>
            <a:schemeClr val="accent1"/>
          </a:solid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4-19   </a:t>
            </a: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4-6 </a:t>
            </a:r>
            <a:r>
              <a:rPr lang="zh-CN" altLang="en-US" dirty="0">
                <a:latin typeface="Times New Roman" panose="02020603050405020304" pitchFamily="18" charset="0"/>
                <a:ea typeface="宋体" panose="02010600030101010101" pitchFamily="2" charset="-122"/>
              </a:rPr>
              <a:t>的频率采样型结构 </a:t>
            </a:r>
            <a:endParaRPr lang="zh-CN" altLang="en-US" dirty="0">
              <a:latin typeface="Times New Roman" panose="02020603050405020304" pitchFamily="18" charset="0"/>
              <a:ea typeface="宋体" panose="02010600030101010101" pitchFamily="2" charset="-122"/>
            </a:endParaRPr>
          </a:p>
        </p:txBody>
      </p:sp>
      <p:pic>
        <p:nvPicPr>
          <p:cNvPr id="60418" name="图片 439301" descr="4-19"/>
          <p:cNvPicPr>
            <a:picLocks noChangeAspect="1"/>
          </p:cNvPicPr>
          <p:nvPr/>
        </p:nvPicPr>
        <p:blipFill>
          <a:blip r:embed="rId1"/>
          <a:stretch>
            <a:fillRect/>
          </a:stretch>
        </p:blipFill>
        <p:spPr>
          <a:xfrm>
            <a:off x="1714500" y="1773238"/>
            <a:ext cx="5715000" cy="3219450"/>
          </a:xfrm>
          <a:prstGeom prst="rect">
            <a:avLst/>
          </a:prstGeom>
          <a:noFill/>
          <a:ln w="9525">
            <a:noFill/>
          </a:ln>
        </p:spPr>
      </p:pic>
    </p:spTree>
  </p:cSld>
  <p:clrMapOvr>
    <a:masterClrMapping/>
  </p:clrMapOvr>
  <p:transition>
    <p:blinds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文本框 440323"/>
          <p:cNvSpPr txBox="1"/>
          <p:nvPr/>
        </p:nvSpPr>
        <p:spPr>
          <a:xfrm>
            <a:off x="663575" y="603250"/>
            <a:ext cx="5746750" cy="1041400"/>
          </a:xfrm>
          <a:prstGeom prst="rect">
            <a:avLst/>
          </a:prstGeom>
          <a:noFill/>
          <a:ln w="9525">
            <a:noFill/>
          </a:ln>
        </p:spPr>
        <p:txBody>
          <a:bodyPr wrap="none" anchor="t">
            <a:spAutoFit/>
          </a:bodyPr>
          <a:p>
            <a:pPr>
              <a:lnSpc>
                <a:spcPct val="130000"/>
              </a:lnSpc>
            </a:pPr>
            <a:r>
              <a:rPr lang="zh-CN" altLang="en-US" b="1" dirty="0">
                <a:latin typeface="Times New Roman" panose="02020603050405020304" pitchFamily="18" charset="0"/>
                <a:ea typeface="宋体" panose="02010600030101010101" pitchFamily="2" charset="-122"/>
              </a:rPr>
              <a:t>频率采样型结构的</a:t>
            </a:r>
            <a:r>
              <a:rPr lang="en-US" altLang="zh-CN" b="1" dirty="0">
                <a:latin typeface="Times New Roman" panose="02020603050405020304" pitchFamily="18" charset="0"/>
                <a:ea typeface="宋体" panose="02010600030101010101" pitchFamily="2" charset="-122"/>
              </a:rPr>
              <a:t>MATLAB</a:t>
            </a:r>
            <a:r>
              <a:rPr lang="zh-CN" altLang="en-US" b="1" dirty="0">
                <a:latin typeface="Times New Roman" panose="02020603050405020304" pitchFamily="18" charset="0"/>
                <a:ea typeface="宋体" panose="02010600030101010101" pitchFamily="2" charset="-122"/>
              </a:rPr>
              <a:t>实现</a:t>
            </a:r>
            <a:endParaRPr lang="zh-CN" altLang="en-US" dirty="0">
              <a:latin typeface="Times New Roman" panose="02020603050405020304" pitchFamily="18" charset="0"/>
              <a:ea typeface="宋体" panose="02010600030101010101" pitchFamily="2" charset="-122"/>
            </a:endParaRPr>
          </a:p>
          <a:p>
            <a:pPr>
              <a:lnSpc>
                <a:spcPct val="130000"/>
              </a:lnSpc>
            </a:pPr>
            <a:r>
              <a:rPr lang="zh-CN" altLang="en-US" dirty="0">
                <a:latin typeface="Times New Roman" panose="02020603050405020304" pitchFamily="18" charset="0"/>
                <a:ea typeface="宋体" panose="02010600030101010101" pitchFamily="2" charset="-122"/>
              </a:rPr>
              <a:t>由上面的分析可知的频率采样型结构为： </a:t>
            </a:r>
            <a:endParaRPr lang="zh-CN" altLang="en-US" dirty="0">
              <a:latin typeface="Times New Roman" panose="02020603050405020304" pitchFamily="18" charset="0"/>
              <a:ea typeface="宋体" panose="02010600030101010101" pitchFamily="2" charset="-122"/>
            </a:endParaRPr>
          </a:p>
        </p:txBody>
      </p:sp>
      <p:graphicFrame>
        <p:nvGraphicFramePr>
          <p:cNvPr id="61442" name="对象 440324"/>
          <p:cNvGraphicFramePr/>
          <p:nvPr/>
        </p:nvGraphicFramePr>
        <p:xfrm>
          <a:off x="539750" y="1773238"/>
          <a:ext cx="7848600" cy="1079500"/>
        </p:xfrm>
        <a:graphic>
          <a:graphicData uri="http://schemas.openxmlformats.org/presentationml/2006/ole">
            <mc:AlternateContent xmlns:mc="http://schemas.openxmlformats.org/markup-compatibility/2006">
              <mc:Choice xmlns:v="urn:schemas-microsoft-com:vml" Requires="v">
                <p:oleObj spid="_x0000_s3079" name="" r:id="rId1" imgW="4432300" imgH="609600" progId="Equation.DSMT4">
                  <p:embed/>
                </p:oleObj>
              </mc:Choice>
              <mc:Fallback>
                <p:oleObj name="" r:id="rId1" imgW="4432300" imgH="609600" progId="Equation.DSMT4">
                  <p:embed/>
                  <p:pic>
                    <p:nvPicPr>
                      <p:cNvPr id="0" name="图片 3078"/>
                      <p:cNvPicPr/>
                      <p:nvPr/>
                    </p:nvPicPr>
                    <p:blipFill>
                      <a:blip r:embed="rId2"/>
                      <a:stretch>
                        <a:fillRect/>
                      </a:stretch>
                    </p:blipFill>
                    <p:spPr>
                      <a:xfrm>
                        <a:off x="539750" y="1773238"/>
                        <a:ext cx="7848600" cy="1079500"/>
                      </a:xfrm>
                      <a:prstGeom prst="rect">
                        <a:avLst/>
                      </a:prstGeom>
                      <a:noFill/>
                      <a:ln w="38100">
                        <a:noFill/>
                        <a:miter/>
                      </a:ln>
                    </p:spPr>
                  </p:pic>
                </p:oleObj>
              </mc:Fallback>
            </mc:AlternateContent>
          </a:graphicData>
        </a:graphic>
      </p:graphicFrame>
      <p:sp>
        <p:nvSpPr>
          <p:cNvPr id="61443" name="文本框 440326"/>
          <p:cNvSpPr txBox="1"/>
          <p:nvPr/>
        </p:nvSpPr>
        <p:spPr>
          <a:xfrm>
            <a:off x="7451725" y="3141663"/>
            <a:ext cx="10223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(4-16) </a:t>
            </a:r>
            <a:endParaRPr lang="en-US" altLang="zh-CN">
              <a:latin typeface="Times New Roman" panose="02020603050405020304" pitchFamily="18" charset="0"/>
              <a:ea typeface="宋体" panose="02010600030101010101" pitchFamily="2" charset="-122"/>
            </a:endParaRPr>
          </a:p>
        </p:txBody>
      </p:sp>
      <p:graphicFrame>
        <p:nvGraphicFramePr>
          <p:cNvPr id="61444" name="对象 440327"/>
          <p:cNvGraphicFramePr/>
          <p:nvPr/>
        </p:nvGraphicFramePr>
        <p:xfrm>
          <a:off x="395288" y="3357563"/>
          <a:ext cx="8748712" cy="2898775"/>
        </p:xfrm>
        <a:graphic>
          <a:graphicData uri="http://schemas.openxmlformats.org/presentationml/2006/ole">
            <mc:AlternateContent xmlns:mc="http://schemas.openxmlformats.org/markup-compatibility/2006">
              <mc:Choice xmlns:v="urn:schemas-microsoft-com:vml" Requires="v">
                <p:oleObj spid="_x0000_s3078" name="" r:id="rId3" imgW="4233545" imgH="1410970" progId="Word.Document.8">
                  <p:embed/>
                </p:oleObj>
              </mc:Choice>
              <mc:Fallback>
                <p:oleObj name="" r:id="rId3" imgW="4233545" imgH="1410970" progId="Word.Document.8">
                  <p:embed/>
                  <p:pic>
                    <p:nvPicPr>
                      <p:cNvPr id="0" name="图片 3077"/>
                      <p:cNvPicPr/>
                      <p:nvPr/>
                    </p:nvPicPr>
                    <p:blipFill>
                      <a:blip r:embed="rId4"/>
                      <a:stretch>
                        <a:fillRect/>
                      </a:stretch>
                    </p:blipFill>
                    <p:spPr>
                      <a:xfrm>
                        <a:off x="395288" y="3357563"/>
                        <a:ext cx="8748712" cy="289877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2465" name="对象 441348"/>
          <p:cNvGraphicFramePr/>
          <p:nvPr/>
        </p:nvGraphicFramePr>
        <p:xfrm>
          <a:off x="1547813" y="438150"/>
          <a:ext cx="6840537" cy="6086475"/>
        </p:xfrm>
        <a:graphic>
          <a:graphicData uri="http://schemas.openxmlformats.org/presentationml/2006/ole">
            <mc:AlternateContent xmlns:mc="http://schemas.openxmlformats.org/markup-compatibility/2006">
              <mc:Choice xmlns:v="urn:schemas-microsoft-com:vml" Requires="v">
                <p:oleObj spid="_x0000_s3080" name="" r:id="rId1" imgW="3149600" imgH="2799715" progId="Word.Document.8">
                  <p:embed/>
                </p:oleObj>
              </mc:Choice>
              <mc:Fallback>
                <p:oleObj name="" r:id="rId1" imgW="3149600" imgH="2799715" progId="Word.Document.8">
                  <p:embed/>
                  <p:pic>
                    <p:nvPicPr>
                      <p:cNvPr id="0" name="图片 3079"/>
                      <p:cNvPicPr/>
                      <p:nvPr/>
                    </p:nvPicPr>
                    <p:blipFill>
                      <a:blip r:embed="rId2"/>
                      <a:stretch>
                        <a:fillRect/>
                      </a:stretch>
                    </p:blipFill>
                    <p:spPr>
                      <a:xfrm>
                        <a:off x="1547813" y="438150"/>
                        <a:ext cx="6840537" cy="6086475"/>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矩形 442371"/>
          <p:cNvSpPr/>
          <p:nvPr/>
        </p:nvSpPr>
        <p:spPr>
          <a:xfrm>
            <a:off x="684213" y="549275"/>
            <a:ext cx="7356475" cy="5568950"/>
          </a:xfrm>
          <a:prstGeom prst="rect">
            <a:avLst/>
          </a:prstGeom>
          <a:noFill/>
          <a:ln w="9525">
            <a:noFill/>
          </a:ln>
        </p:spPr>
        <p:txBody>
          <a:bodyPr wrap="none" anchor="ctr">
            <a:spAutoFit/>
          </a:bodyPr>
          <a:p>
            <a:pPr>
              <a:lnSpc>
                <a:spcPct val="150000"/>
              </a:lnSpc>
            </a:pPr>
            <a:r>
              <a:rPr lang="en-US" altLang="zh-CN"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end</a:t>
            </a:r>
            <a:endParaRPr lang="en-US" altLang="zh-CN">
              <a:latin typeface="Times New Roman" panose="02020603050405020304" pitchFamily="18" charset="0"/>
              <a:ea typeface="宋体" panose="02010600030101010101" pitchFamily="2" charset="-122"/>
            </a:endParaRPr>
          </a:p>
          <a:p>
            <a:pPr lvl="2" indent="0">
              <a:lnSpc>
                <a:spcPct val="150000"/>
              </a:lnSpc>
            </a:pPr>
            <a:r>
              <a:rPr lang="en-US" altLang="zh-CN">
                <a:latin typeface="Times New Roman" panose="02020603050405020304" pitchFamily="18" charset="0"/>
                <a:ea typeface="宋体" panose="02010600030101010101" pitchFamily="2" charset="-122"/>
              </a:rPr>
              <a:t>	k=[1:L]';</a:t>
            </a:r>
            <a:endParaRPr lang="en-US" altLang="zh-CN">
              <a:latin typeface="Times New Roman" panose="02020603050405020304" pitchFamily="18" charset="0"/>
              <a:ea typeface="宋体" panose="02010600030101010101" pitchFamily="2" charset="-122"/>
            </a:endParaRPr>
          </a:p>
          <a:p>
            <a:pPr lvl="2" indent="0">
              <a:lnSpc>
                <a:spcPct val="150000"/>
              </a:lnSpc>
            </a:pPr>
            <a:r>
              <a:rPr lang="en-US" altLang="zh-CN">
                <a:latin typeface="Times New Roman" panose="02020603050405020304" pitchFamily="18" charset="0"/>
                <a:ea typeface="宋体" panose="02010600030101010101" pitchFamily="2" charset="-122"/>
              </a:rPr>
              <a:t>	B=zeros(L,2);</a:t>
            </a:r>
            <a:endParaRPr lang="en-US" altLang="zh-CN">
              <a:latin typeface="Times New Roman" panose="02020603050405020304" pitchFamily="18" charset="0"/>
              <a:ea typeface="宋体" panose="02010600030101010101" pitchFamily="2" charset="-122"/>
            </a:endParaRPr>
          </a:p>
          <a:p>
            <a:pPr lvl="2" indent="0">
              <a:lnSpc>
                <a:spcPct val="150000"/>
              </a:lnSpc>
            </a:pPr>
            <a:r>
              <a:rPr lang="en-US" altLang="zh-CN">
                <a:latin typeface="Times New Roman" panose="02020603050405020304" pitchFamily="18" charset="0"/>
                <a:ea typeface="宋体" panose="02010600030101010101" pitchFamily="2" charset="-122"/>
              </a:rPr>
              <a:t>	A=ones(L,3);</a:t>
            </a:r>
            <a:endParaRPr lang="en-US" altLang="zh-CN">
              <a:latin typeface="Times New Roman" panose="02020603050405020304" pitchFamily="18" charset="0"/>
              <a:ea typeface="宋体" panose="02010600030101010101" pitchFamily="2" charset="-122"/>
            </a:endParaRPr>
          </a:p>
          <a:p>
            <a:pPr lvl="2" indent="0">
              <a:lnSpc>
                <a:spcPct val="150000"/>
              </a:lnSpc>
            </a:pPr>
            <a:r>
              <a:rPr lang="en-US" altLang="zh-CN">
                <a:latin typeface="Times New Roman" panose="02020603050405020304" pitchFamily="18" charset="0"/>
                <a:ea typeface="宋体" panose="02010600030101010101" pitchFamily="2" charset="-122"/>
              </a:rPr>
              <a:t>	A(1:L,2)=-2*r*cos(2*pi*k/N);</a:t>
            </a:r>
            <a:endParaRPr lang="en-US" altLang="zh-CN">
              <a:latin typeface="Times New Roman" panose="02020603050405020304" pitchFamily="18" charset="0"/>
              <a:ea typeface="宋体" panose="02010600030101010101" pitchFamily="2" charset="-122"/>
            </a:endParaRPr>
          </a:p>
          <a:p>
            <a:pPr lvl="2" indent="0">
              <a:lnSpc>
                <a:spcPct val="150000"/>
              </a:lnSpc>
            </a:pPr>
            <a:r>
              <a:rPr lang="en-US" altLang="zh-CN">
                <a:latin typeface="Times New Roman" panose="02020603050405020304" pitchFamily="18" charset="0"/>
                <a:ea typeface="宋体" panose="02010600030101010101" pitchFamily="2" charset="-122"/>
              </a:rPr>
              <a:t>	A(1:L,3)=r^2;</a:t>
            </a:r>
            <a:endParaRPr lang="en-US" altLang="zh-CN">
              <a:latin typeface="Times New Roman" panose="02020603050405020304" pitchFamily="18" charset="0"/>
              <a:ea typeface="宋体" panose="02010600030101010101" pitchFamily="2" charset="-122"/>
            </a:endParaRPr>
          </a:p>
          <a:p>
            <a:pPr lvl="2" indent="0">
              <a:lnSpc>
                <a:spcPct val="150000"/>
              </a:lnSpc>
            </a:pPr>
            <a:r>
              <a:rPr lang="en-US" altLang="zh-CN">
                <a:latin typeface="Times New Roman" panose="02020603050405020304" pitchFamily="18" charset="0"/>
                <a:ea typeface="宋体" panose="02010600030101010101" pitchFamily="2" charset="-122"/>
              </a:rPr>
              <a:t>	A=[A;A1];</a:t>
            </a:r>
            <a:endParaRPr lang="en-US" altLang="zh-CN">
              <a:latin typeface="Times New Roman" panose="02020603050405020304" pitchFamily="18" charset="0"/>
              <a:ea typeface="宋体" panose="02010600030101010101" pitchFamily="2" charset="-122"/>
            </a:endParaRPr>
          </a:p>
          <a:p>
            <a:pPr lvl="2" indent="0">
              <a:lnSpc>
                <a:spcPct val="150000"/>
              </a:lnSpc>
            </a:pPr>
            <a:r>
              <a:rPr lang="en-US" altLang="zh-CN">
                <a:latin typeface="Times New Roman" panose="02020603050405020304" pitchFamily="18" charset="0"/>
                <a:ea typeface="宋体" panose="02010600030101010101" pitchFamily="2" charset="-122"/>
              </a:rPr>
              <a:t>	B(1:L,1)=cos(phaH(2:L+1));</a:t>
            </a:r>
            <a:endParaRPr lang="en-US" altLang="zh-CN">
              <a:latin typeface="Times New Roman" panose="02020603050405020304" pitchFamily="18" charset="0"/>
              <a:ea typeface="宋体" panose="02010600030101010101" pitchFamily="2" charset="-122"/>
            </a:endParaRPr>
          </a:p>
          <a:p>
            <a:pPr lvl="2" indent="0">
              <a:lnSpc>
                <a:spcPct val="150000"/>
              </a:lnSpc>
            </a:pPr>
            <a:r>
              <a:rPr lang="en-US" altLang="zh-CN">
                <a:latin typeface="Times New Roman" panose="02020603050405020304" pitchFamily="18" charset="0"/>
                <a:ea typeface="宋体" panose="02010600030101010101" pitchFamily="2" charset="-122"/>
              </a:rPr>
              <a:t>	B(1:L,2)=-r*cos(phaH(2:L+1)-(2*pi*k/N));</a:t>
            </a:r>
            <a:endParaRPr lang="en-US" altLang="zh-CN">
              <a:latin typeface="Times New Roman" panose="02020603050405020304" pitchFamily="18" charset="0"/>
              <a:ea typeface="宋体" panose="02010600030101010101" pitchFamily="2" charset="-122"/>
            </a:endParaRPr>
          </a:p>
          <a:p>
            <a:pPr lvl="2" indent="0">
              <a:lnSpc>
                <a:spcPct val="150000"/>
              </a:lnSpc>
            </a:pPr>
            <a:r>
              <a:rPr lang="en-US" altLang="zh-CN">
                <a:latin typeface="Times New Roman" panose="02020603050405020304" pitchFamily="18" charset="0"/>
                <a:ea typeface="宋体" panose="02010600030101010101" pitchFamily="2" charset="-122"/>
              </a:rPr>
              <a:t>	C=[2*magH(2:L+1),C1]';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文本框 443395"/>
          <p:cNvSpPr txBox="1"/>
          <p:nvPr/>
        </p:nvSpPr>
        <p:spPr>
          <a:xfrm>
            <a:off x="663575" y="712788"/>
            <a:ext cx="5524500"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［例</a:t>
            </a:r>
            <a:r>
              <a:rPr lang="en-US" altLang="zh-CN" b="1" dirty="0">
                <a:latin typeface="Times New Roman" panose="02020603050405020304" pitchFamily="18" charset="0"/>
                <a:ea typeface="宋体" panose="02010600030101010101" pitchFamily="2" charset="-122"/>
              </a:rPr>
              <a:t>4</a:t>
            </a: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7</a:t>
            </a:r>
            <a:r>
              <a:rPr lang="zh-CN" altLang="en-US"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已知滤波器的单位脉冲响应 </a:t>
            </a:r>
            <a:endParaRPr lang="zh-CN" altLang="en-US" dirty="0">
              <a:latin typeface="Times New Roman" panose="02020603050405020304" pitchFamily="18" charset="0"/>
              <a:ea typeface="宋体" panose="02010600030101010101" pitchFamily="2" charset="-122"/>
            </a:endParaRPr>
          </a:p>
        </p:txBody>
      </p:sp>
      <p:graphicFrame>
        <p:nvGraphicFramePr>
          <p:cNvPr id="64514" name="对象 443396"/>
          <p:cNvGraphicFramePr/>
          <p:nvPr/>
        </p:nvGraphicFramePr>
        <p:xfrm>
          <a:off x="971550" y="1304925"/>
          <a:ext cx="7416800" cy="828675"/>
        </p:xfrm>
        <a:graphic>
          <a:graphicData uri="http://schemas.openxmlformats.org/presentationml/2006/ole">
            <mc:AlternateContent xmlns:mc="http://schemas.openxmlformats.org/markup-compatibility/2006">
              <mc:Choice xmlns:v="urn:schemas-microsoft-com:vml" Requires="v">
                <p:oleObj spid="_x0000_s3076" name="" r:id="rId1" imgW="3492500" imgH="393700" progId="Equation.DSMT4">
                  <p:embed/>
                </p:oleObj>
              </mc:Choice>
              <mc:Fallback>
                <p:oleObj name="" r:id="rId1" imgW="3492500" imgH="393700" progId="Equation.DSMT4">
                  <p:embed/>
                  <p:pic>
                    <p:nvPicPr>
                      <p:cNvPr id="0" name="图片 3075"/>
                      <p:cNvPicPr/>
                      <p:nvPr/>
                    </p:nvPicPr>
                    <p:blipFill>
                      <a:blip r:embed="rId2"/>
                      <a:stretch>
                        <a:fillRect/>
                      </a:stretch>
                    </p:blipFill>
                    <p:spPr>
                      <a:xfrm>
                        <a:off x="971550" y="1304925"/>
                        <a:ext cx="7416800" cy="828675"/>
                      </a:xfrm>
                      <a:prstGeom prst="rect">
                        <a:avLst/>
                      </a:prstGeom>
                      <a:noFill/>
                      <a:ln w="38100">
                        <a:noFill/>
                        <a:miter/>
                      </a:ln>
                    </p:spPr>
                  </p:pic>
                </p:oleObj>
              </mc:Fallback>
            </mc:AlternateContent>
          </a:graphicData>
        </a:graphic>
      </p:graphicFrame>
      <p:sp>
        <p:nvSpPr>
          <p:cNvPr id="64515" name="文本框 443398"/>
          <p:cNvSpPr txBox="1"/>
          <p:nvPr/>
        </p:nvSpPr>
        <p:spPr>
          <a:xfrm>
            <a:off x="663575" y="2251075"/>
            <a:ext cx="7721600" cy="2647950"/>
          </a:xfrm>
          <a:prstGeom prst="rect">
            <a:avLst/>
          </a:prstGeom>
          <a:noFill/>
          <a:ln w="9525">
            <a:noFill/>
          </a:ln>
        </p:spPr>
        <p:txBody>
          <a:bodyPr wrap="none" anchor="t">
            <a:spAutoFit/>
          </a:bodyPr>
          <a:p>
            <a:pPr>
              <a:lnSpc>
                <a:spcPct val="140000"/>
              </a:lnSpc>
            </a:pPr>
            <a:r>
              <a:rPr lang="zh-CN" altLang="en-US" dirty="0">
                <a:latin typeface="Times New Roman" panose="02020603050405020304" pitchFamily="18" charset="0"/>
                <a:ea typeface="宋体" panose="02010600030101010101" pitchFamily="2" charset="-122"/>
              </a:rPr>
              <a:t>用</a:t>
            </a:r>
            <a:r>
              <a:rPr lang="en-US" altLang="zh-CN" dirty="0">
                <a:latin typeface="Times New Roman" panose="02020603050405020304" pitchFamily="18" charset="0"/>
                <a:ea typeface="宋体" panose="02010600030101010101" pitchFamily="2" charset="-122"/>
              </a:rPr>
              <a:t>MATLAB</a:t>
            </a:r>
            <a:r>
              <a:rPr lang="zh-CN" altLang="en-US" dirty="0">
                <a:latin typeface="Times New Roman" panose="02020603050405020304" pitchFamily="18" charset="0"/>
                <a:ea typeface="宋体" panose="02010600030101010101" pitchFamily="2" charset="-122"/>
              </a:rPr>
              <a:t>编程求该滤波器的频率采样型结构。</a:t>
            </a:r>
            <a:endParaRPr lang="zh-CN" altLang="en-US" dirty="0">
              <a:latin typeface="Times New Roman" panose="02020603050405020304" pitchFamily="18" charset="0"/>
              <a:ea typeface="宋体" panose="02010600030101010101" pitchFamily="2" charset="-122"/>
            </a:endParaRPr>
          </a:p>
          <a:p>
            <a:pPr>
              <a:lnSpc>
                <a:spcPct val="140000"/>
              </a:lnSpc>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：利用前面介绍的函数编写</a:t>
            </a:r>
            <a:r>
              <a:rPr lang="en-US" altLang="zh-CN" dirty="0">
                <a:latin typeface="Times New Roman" panose="02020603050405020304" pitchFamily="18" charset="0"/>
                <a:ea typeface="宋体" panose="02010600030101010101" pitchFamily="2" charset="-122"/>
              </a:rPr>
              <a:t>MATLAB</a:t>
            </a:r>
            <a:r>
              <a:rPr lang="zh-CN" altLang="en-US" dirty="0">
                <a:latin typeface="Times New Roman" panose="02020603050405020304" pitchFamily="18" charset="0"/>
                <a:ea typeface="宋体" panose="02010600030101010101" pitchFamily="2" charset="-122"/>
              </a:rPr>
              <a:t>程序如下：</a:t>
            </a:r>
            <a:endParaRPr lang="zh-CN" altLang="en-US" dirty="0">
              <a:latin typeface="Times New Roman" panose="02020603050405020304" pitchFamily="18" charset="0"/>
              <a:ea typeface="宋体" panose="02010600030101010101" pitchFamily="2" charset="-122"/>
            </a:endParaRPr>
          </a:p>
          <a:p>
            <a:pPr lvl="2" indent="0">
              <a:lnSpc>
                <a:spcPct val="140000"/>
              </a:lnSpc>
            </a:pPr>
            <a:r>
              <a:rPr lang="zh-CN" altLang="en-US"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h=[1 2 3 2 1]/9;</a:t>
            </a:r>
            <a:endParaRPr lang="en-US" altLang="zh-CN">
              <a:latin typeface="Times New Roman" panose="02020603050405020304" pitchFamily="18" charset="0"/>
              <a:ea typeface="宋体" panose="02010600030101010101" pitchFamily="2" charset="-122"/>
            </a:endParaRPr>
          </a:p>
          <a:p>
            <a:pPr lvl="2" indent="0">
              <a:lnSpc>
                <a:spcPct val="140000"/>
              </a:lnSpc>
            </a:pPr>
            <a:r>
              <a:rPr lang="zh-CN" altLang="en-US"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r=1;</a:t>
            </a:r>
            <a:endParaRPr lang="en-US" altLang="zh-CN">
              <a:latin typeface="Times New Roman" panose="02020603050405020304" pitchFamily="18" charset="0"/>
              <a:ea typeface="宋体" panose="02010600030101010101" pitchFamily="2" charset="-122"/>
            </a:endParaRPr>
          </a:p>
          <a:p>
            <a:pPr lvl="2" indent="0">
              <a:lnSpc>
                <a:spcPct val="140000"/>
              </a:lnSpc>
            </a:pPr>
            <a:r>
              <a:rPr lang="zh-CN" altLang="en-US" dirty="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[C,B,A]=dir2fs(h,r) </a:t>
            </a:r>
            <a:endParaRPr lang="en-US" altLang="zh-CN">
              <a:latin typeface="Times New Roman" panose="02020603050405020304" pitchFamily="18" charset="0"/>
              <a:ea typeface="宋体" panose="02010600030101010101" pitchFamily="2" charset="-122"/>
            </a:endParaRPr>
          </a:p>
        </p:txBody>
      </p:sp>
      <p:sp>
        <p:nvSpPr>
          <p:cNvPr id="2" name="十字星 1"/>
          <p:cNvSpPr/>
          <p:nvPr/>
        </p:nvSpPr>
        <p:spPr>
          <a:xfrm>
            <a:off x="311150" y="617538"/>
            <a:ext cx="576263" cy="647700"/>
          </a:xfrm>
          <a:prstGeom prst="star4">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dir="ver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5537" name="对象 444419"/>
          <p:cNvGraphicFramePr/>
          <p:nvPr/>
        </p:nvGraphicFramePr>
        <p:xfrm>
          <a:off x="1476375" y="620713"/>
          <a:ext cx="5327650" cy="5278437"/>
        </p:xfrm>
        <a:graphic>
          <a:graphicData uri="http://schemas.openxmlformats.org/presentationml/2006/ole">
            <mc:AlternateContent xmlns:mc="http://schemas.openxmlformats.org/markup-compatibility/2006">
              <mc:Choice xmlns:v="urn:schemas-microsoft-com:vml" Requires="v">
                <p:oleObj spid="_x0000_s3077" name="" r:id="rId1" imgW="2426970" imgH="2404745" progId="Word.Document.8">
                  <p:embed/>
                </p:oleObj>
              </mc:Choice>
              <mc:Fallback>
                <p:oleObj name="" r:id="rId1" imgW="2426970" imgH="2404745" progId="Word.Document.8">
                  <p:embed/>
                  <p:pic>
                    <p:nvPicPr>
                      <p:cNvPr id="0" name="图片 3076"/>
                      <p:cNvPicPr/>
                      <p:nvPr/>
                    </p:nvPicPr>
                    <p:blipFill>
                      <a:blip r:embed="rId2"/>
                      <a:stretch>
                        <a:fillRect/>
                      </a:stretch>
                    </p:blipFill>
                    <p:spPr>
                      <a:xfrm>
                        <a:off x="1476375" y="620713"/>
                        <a:ext cx="5327650" cy="5278437"/>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文本框 445443"/>
          <p:cNvSpPr txBox="1"/>
          <p:nvPr/>
        </p:nvSpPr>
        <p:spPr>
          <a:xfrm>
            <a:off x="755650" y="546100"/>
            <a:ext cx="581501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，根据上面的运行结果可以得到： </a:t>
            </a:r>
            <a:endParaRPr lang="zh-CN" altLang="en-US" dirty="0">
              <a:latin typeface="Times New Roman" panose="02020603050405020304" pitchFamily="18" charset="0"/>
              <a:ea typeface="宋体" panose="02010600030101010101" pitchFamily="2" charset="-122"/>
            </a:endParaRPr>
          </a:p>
        </p:txBody>
      </p:sp>
      <p:graphicFrame>
        <p:nvGraphicFramePr>
          <p:cNvPr id="66562" name="对象 445444"/>
          <p:cNvGraphicFramePr/>
          <p:nvPr/>
        </p:nvGraphicFramePr>
        <p:xfrm>
          <a:off x="755650" y="1001713"/>
          <a:ext cx="7777163" cy="671512"/>
        </p:xfrm>
        <a:graphic>
          <a:graphicData uri="http://schemas.openxmlformats.org/presentationml/2006/ole">
            <mc:AlternateContent xmlns:mc="http://schemas.openxmlformats.org/markup-compatibility/2006">
              <mc:Choice xmlns:v="urn:schemas-microsoft-com:vml" Requires="v">
                <p:oleObj spid="_x0000_s3139" name="" r:id="rId1" imgW="4851400" imgH="419100" progId="Equation.DSMT4">
                  <p:embed/>
                </p:oleObj>
              </mc:Choice>
              <mc:Fallback>
                <p:oleObj name="" r:id="rId1" imgW="4851400" imgH="419100" progId="Equation.DSMT4">
                  <p:embed/>
                  <p:pic>
                    <p:nvPicPr>
                      <p:cNvPr id="0" name="图片 3138"/>
                      <p:cNvPicPr/>
                      <p:nvPr/>
                    </p:nvPicPr>
                    <p:blipFill>
                      <a:blip r:embed="rId2"/>
                      <a:stretch>
                        <a:fillRect/>
                      </a:stretch>
                    </p:blipFill>
                    <p:spPr>
                      <a:xfrm>
                        <a:off x="755650" y="1001713"/>
                        <a:ext cx="7777163" cy="671512"/>
                      </a:xfrm>
                      <a:prstGeom prst="rect">
                        <a:avLst/>
                      </a:prstGeom>
                      <a:noFill/>
                      <a:ln w="38100">
                        <a:noFill/>
                        <a:miter/>
                      </a:ln>
                    </p:spPr>
                  </p:pic>
                </p:oleObj>
              </mc:Fallback>
            </mc:AlternateContent>
          </a:graphicData>
        </a:graphic>
      </p:graphicFrame>
      <p:pic>
        <p:nvPicPr>
          <p:cNvPr id="446470" name="图片 446469" descr="4-20"/>
          <p:cNvPicPr>
            <a:picLocks noChangeAspect="1"/>
          </p:cNvPicPr>
          <p:nvPr/>
        </p:nvPicPr>
        <p:blipFill>
          <a:blip r:embed="rId3"/>
          <a:stretch>
            <a:fillRect/>
          </a:stretch>
        </p:blipFill>
        <p:spPr>
          <a:xfrm>
            <a:off x="304800" y="1673225"/>
            <a:ext cx="6386513" cy="4608513"/>
          </a:xfrm>
          <a:prstGeom prst="rect">
            <a:avLst/>
          </a:prstGeom>
          <a:noFill/>
          <a:ln w="9525">
            <a:noFill/>
          </a:ln>
        </p:spPr>
      </p:pic>
      <p:sp>
        <p:nvSpPr>
          <p:cNvPr id="446468" name="文本框 446467"/>
          <p:cNvSpPr txBox="1"/>
          <p:nvPr/>
        </p:nvSpPr>
        <p:spPr>
          <a:xfrm>
            <a:off x="4360863" y="6215063"/>
            <a:ext cx="4578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4-20   </a:t>
            </a: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4-7 </a:t>
            </a:r>
            <a:r>
              <a:rPr lang="zh-CN" altLang="en-US" dirty="0">
                <a:latin typeface="Times New Roman" panose="02020603050405020304" pitchFamily="18" charset="0"/>
                <a:ea typeface="宋体" panose="02010600030101010101" pitchFamily="2" charset="-122"/>
              </a:rPr>
              <a:t>的频率采样型结构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6470"/>
                                        </p:tgtEl>
                                        <p:attrNameLst>
                                          <p:attrName>style.visibility</p:attrName>
                                        </p:attrNameLst>
                                      </p:cBhvr>
                                      <p:to>
                                        <p:strVal val="visible"/>
                                      </p:to>
                                    </p:set>
                                    <p:anim calcmode="lin" valueType="num">
                                      <p:cBhvr additive="base">
                                        <p:cTn id="7" dur="500" fill="hold"/>
                                        <p:tgtEl>
                                          <p:spTgt spid="446470"/>
                                        </p:tgtEl>
                                        <p:attrNameLst>
                                          <p:attrName>ppt_x</p:attrName>
                                        </p:attrNameLst>
                                      </p:cBhvr>
                                      <p:tavLst>
                                        <p:tav tm="0">
                                          <p:val>
                                            <p:strVal val="#ppt_x"/>
                                          </p:val>
                                        </p:tav>
                                        <p:tav tm="100000">
                                          <p:val>
                                            <p:strVal val="#ppt_x"/>
                                          </p:val>
                                        </p:tav>
                                      </p:tavLst>
                                    </p:anim>
                                    <p:anim calcmode="lin" valueType="num">
                                      <p:cBhvr additive="base">
                                        <p:cTn id="8" dur="500" fill="hold"/>
                                        <p:tgtEl>
                                          <p:spTgt spid="4464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6468"/>
                                        </p:tgtEl>
                                        <p:attrNameLst>
                                          <p:attrName>style.visibility</p:attrName>
                                        </p:attrNameLst>
                                      </p:cBhvr>
                                      <p:to>
                                        <p:strVal val="visible"/>
                                      </p:to>
                                    </p:set>
                                    <p:anim calcmode="lin" valueType="num">
                                      <p:cBhvr additive="base">
                                        <p:cTn id="13" dur="500" fill="hold"/>
                                        <p:tgtEl>
                                          <p:spTgt spid="446468"/>
                                        </p:tgtEl>
                                        <p:attrNameLst>
                                          <p:attrName>ppt_x</p:attrName>
                                        </p:attrNameLst>
                                      </p:cBhvr>
                                      <p:tavLst>
                                        <p:tav tm="0">
                                          <p:val>
                                            <p:strVal val="#ppt_x"/>
                                          </p:val>
                                        </p:tav>
                                        <p:tav tm="100000">
                                          <p:val>
                                            <p:strVal val="#ppt_x"/>
                                          </p:val>
                                        </p:tav>
                                      </p:tavLst>
                                    </p:anim>
                                    <p:anim calcmode="lin" valueType="num">
                                      <p:cBhvr additive="base">
                                        <p:cTn id="14" dur="500" fill="hold"/>
                                        <p:tgtEl>
                                          <p:spTgt spid="446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文本框 37891"/>
          <p:cNvSpPr txBox="1"/>
          <p:nvPr/>
        </p:nvSpPr>
        <p:spPr>
          <a:xfrm>
            <a:off x="27305" y="533400"/>
            <a:ext cx="9158605" cy="5261610"/>
          </a:xfrm>
          <a:prstGeom prst="rect">
            <a:avLst/>
          </a:prstGeom>
          <a:noFill/>
          <a:ln w="9525">
            <a:noFill/>
          </a:ln>
        </p:spPr>
        <p:txBody>
          <a:bodyPr wrap="square" anchor="t">
            <a:spAutoFit/>
          </a:bodyPr>
          <a:p>
            <a:pPr algn="just">
              <a:lnSpc>
                <a:spcPct val="150000"/>
              </a:lnSpc>
              <a:spcBef>
                <a:spcPct val="50000"/>
              </a:spcBef>
            </a:pPr>
            <a:r>
              <a:rPr lang="en-US" altLang="zh-CN" b="1" dirty="0">
                <a:latin typeface="Times New Roman" panose="02020603050405020304" pitchFamily="18" charset="0"/>
                <a:ea typeface="宋体" panose="02010600030101010101" pitchFamily="2" charset="-122"/>
              </a:rPr>
              <a:t>4.3.4  </a:t>
            </a:r>
            <a:r>
              <a:rPr lang="zh-CN" altLang="en-US" b="1" dirty="0">
                <a:latin typeface="Times New Roman" panose="02020603050405020304" pitchFamily="18" charset="0"/>
                <a:ea typeface="宋体" panose="02010600030101010101" pitchFamily="2" charset="-122"/>
              </a:rPr>
              <a:t>快速卷积型</a:t>
            </a:r>
            <a:endParaRPr lang="zh-CN" altLang="en-US" b="1"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根据圆周卷积和线性卷积的关系，</a:t>
            </a:r>
            <a:r>
              <a:rPr lang="zh-CN" altLang="en-US" b="1" u="sng" dirty="0">
                <a:solidFill>
                  <a:srgbClr val="FF0000"/>
                </a:solidFill>
                <a:highlight>
                  <a:srgbClr val="FFFF00"/>
                </a:highlight>
                <a:latin typeface="Times New Roman" panose="02020603050405020304" pitchFamily="18" charset="0"/>
                <a:ea typeface="宋体" panose="02010600030101010101" pitchFamily="2" charset="-122"/>
              </a:rPr>
              <a:t>两个长度为</a:t>
            </a:r>
            <a:r>
              <a:rPr lang="en-US" altLang="zh-CN" b="1" u="sng" dirty="0">
                <a:solidFill>
                  <a:srgbClr val="FF0000"/>
                </a:solidFill>
                <a:highlight>
                  <a:srgbClr val="FFFF00"/>
                </a:highlight>
                <a:latin typeface="Times New Roman" panose="02020603050405020304" pitchFamily="18" charset="0"/>
                <a:ea typeface="宋体" panose="02010600030101010101" pitchFamily="2" charset="-122"/>
              </a:rPr>
              <a:t>N</a:t>
            </a:r>
            <a:r>
              <a:rPr lang="zh-CN" altLang="en-US" b="1" u="sng" dirty="0">
                <a:solidFill>
                  <a:srgbClr val="FF0000"/>
                </a:solidFill>
                <a:highlight>
                  <a:srgbClr val="FFFF00"/>
                </a:highlight>
                <a:latin typeface="Times New Roman" panose="02020603050405020304" pitchFamily="18" charset="0"/>
                <a:ea typeface="宋体" panose="02010600030101010101" pitchFamily="2" charset="-122"/>
              </a:rPr>
              <a:t>的序列的线性卷积</a:t>
            </a:r>
            <a:r>
              <a:rPr lang="zh-CN" altLang="en-US" dirty="0">
                <a:latin typeface="Times New Roman" panose="02020603050405020304" pitchFamily="18" charset="0"/>
                <a:ea typeface="宋体" panose="02010600030101010101" pitchFamily="2" charset="-122"/>
              </a:rPr>
              <a:t>，可以用这两个序列的</a:t>
            </a:r>
            <a:r>
              <a:rPr lang="en-US" altLang="zh-CN" b="1" u="sng">
                <a:solidFill>
                  <a:srgbClr val="FF0000"/>
                </a:solidFill>
                <a:highlight>
                  <a:srgbClr val="FFFF00"/>
                </a:highlight>
                <a:latin typeface="Times New Roman" panose="02020603050405020304" pitchFamily="18" charset="0"/>
                <a:ea typeface="宋体" panose="02010600030101010101" pitchFamily="2" charset="-122"/>
              </a:rPr>
              <a:t>2</a:t>
            </a:r>
            <a:r>
              <a:rPr lang="en-US" altLang="zh-CN" b="1" i="1" u="sng">
                <a:solidFill>
                  <a:srgbClr val="FF0000"/>
                </a:solidFill>
                <a:highlight>
                  <a:srgbClr val="FFFF00"/>
                </a:highlight>
                <a:latin typeface="Times New Roman" panose="02020603050405020304" pitchFamily="18" charset="0"/>
                <a:ea typeface="宋体" panose="02010600030101010101" pitchFamily="2" charset="-122"/>
              </a:rPr>
              <a:t>N</a:t>
            </a:r>
            <a:r>
              <a:rPr lang="en-US" altLang="zh-CN" b="1" u="sng" dirty="0">
                <a:solidFill>
                  <a:srgbClr val="FF0000"/>
                </a:solidFill>
                <a:highlight>
                  <a:srgbClr val="FFFF00"/>
                </a:highlight>
                <a:latin typeface="Times New Roman" panose="02020603050405020304" pitchFamily="18" charset="0"/>
                <a:ea typeface="宋体" panose="02010600030101010101" pitchFamily="2" charset="-122"/>
              </a:rPr>
              <a:t>-1 </a:t>
            </a:r>
            <a:r>
              <a:rPr lang="zh-CN" altLang="en-US" b="1" u="sng" dirty="0">
                <a:solidFill>
                  <a:srgbClr val="FF0000"/>
                </a:solidFill>
                <a:highlight>
                  <a:srgbClr val="FFFF00"/>
                </a:highlight>
                <a:latin typeface="Times New Roman" panose="02020603050405020304" pitchFamily="18" charset="0"/>
                <a:ea typeface="宋体" panose="02010600030101010101" pitchFamily="2" charset="-122"/>
              </a:rPr>
              <a:t>点的圆周卷积来实现</a:t>
            </a:r>
            <a:r>
              <a:rPr lang="zh-CN" altLang="en-US" dirty="0">
                <a:latin typeface="Times New Roman" panose="02020603050405020304" pitchFamily="18" charset="0"/>
                <a:ea typeface="宋体" panose="02010600030101010101" pitchFamily="2" charset="-122"/>
              </a:rPr>
              <a:t>。 由</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滤波器的直接型结构：滤波器的输出信号</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是输入信号</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和滤波器单位脉冲响应</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的线性卷积。所以，对有限长序列</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我们可以通过补零的方法延长</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序列，然后计算它们的圆周卷积，从而得到</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系统的输出</a:t>
            </a:r>
            <a:r>
              <a:rPr lang="en-US" altLang="zh-CN" i="1">
                <a:latin typeface="Times New Roman" panose="02020603050405020304" pitchFamily="18" charset="0"/>
                <a:ea typeface="宋体" panose="02010600030101010101" pitchFamily="2" charset="-122"/>
              </a:rPr>
              <a:t>y</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。利用圆周卷积定理，采用</a:t>
            </a:r>
            <a:r>
              <a:rPr lang="en-US" altLang="zh-CN" dirty="0">
                <a:latin typeface="Times New Roman" panose="02020603050405020304" pitchFamily="18" charset="0"/>
                <a:ea typeface="宋体" panose="02010600030101010101" pitchFamily="2" charset="-122"/>
              </a:rPr>
              <a:t>FFT</a:t>
            </a:r>
            <a:r>
              <a:rPr lang="zh-CN" altLang="en-US" dirty="0">
                <a:latin typeface="Times New Roman" panose="02020603050405020304" pitchFamily="18" charset="0"/>
                <a:ea typeface="宋体" panose="02010600030101010101" pitchFamily="2" charset="-122"/>
              </a:rPr>
              <a:t>实现有限长序列</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的线性卷积，则可得到</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滤波器的快速卷积结构， 如图</a:t>
            </a:r>
            <a:r>
              <a:rPr lang="en-US" altLang="zh-CN">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13</a:t>
            </a:r>
            <a:r>
              <a:rPr lang="zh-CN" altLang="en-US" dirty="0">
                <a:latin typeface="Times New Roman" panose="02020603050405020304" pitchFamily="18" charset="0"/>
                <a:ea typeface="宋体" panose="02010600030101010101" pitchFamily="2" charset="-122"/>
              </a:rPr>
              <a:t>所示。图中</a:t>
            </a:r>
            <a:r>
              <a:rPr lang="en-US" altLang="zh-CN" i="1">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-1, </a:t>
            </a:r>
            <a:r>
              <a:rPr lang="en-US" altLang="zh-CN" i="1">
                <a:latin typeface="Times New Roman" panose="02020603050405020304" pitchFamily="18" charset="0"/>
                <a:ea typeface="宋体" panose="02010600030101010101" pitchFamily="2" charset="-122"/>
              </a:rPr>
              <a:t>M</a:t>
            </a:r>
            <a:r>
              <a:rPr lang="zh-CN" altLang="en-US">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的长度。</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的长度。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文本框 40963"/>
          <p:cNvSpPr txBox="1"/>
          <p:nvPr/>
        </p:nvSpPr>
        <p:spPr>
          <a:xfrm>
            <a:off x="2700338" y="4365625"/>
            <a:ext cx="4189412"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4-21 FIR</a:t>
            </a:r>
            <a:r>
              <a:rPr lang="zh-CN" altLang="en-US" dirty="0">
                <a:latin typeface="Times New Roman" panose="02020603050405020304" pitchFamily="18" charset="0"/>
                <a:ea typeface="宋体" panose="02010600030101010101" pitchFamily="2" charset="-122"/>
              </a:rPr>
              <a:t>的快速卷积型结构 </a:t>
            </a:r>
            <a:endParaRPr lang="zh-CN" altLang="en-US">
              <a:latin typeface="Times New Roman" panose="02020603050405020304" pitchFamily="18" charset="0"/>
              <a:ea typeface="宋体" panose="02010600030101010101" pitchFamily="2" charset="-122"/>
            </a:endParaRPr>
          </a:p>
        </p:txBody>
      </p:sp>
      <p:sp>
        <p:nvSpPr>
          <p:cNvPr id="68610" name="文本框 40964"/>
          <p:cNvSpPr txBox="1"/>
          <p:nvPr/>
        </p:nvSpPr>
        <p:spPr>
          <a:xfrm>
            <a:off x="152400" y="4851400"/>
            <a:ext cx="8763000" cy="1244600"/>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为无限长的一般情况，可用重叠相加法或重叠保留法实现</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滤波器的快速卷积</a:t>
            </a:r>
            <a:r>
              <a:rPr lang="zh-CN" altLang="en-US" dirty="0">
                <a:latin typeface="Times New Roman" panose="02020603050405020304" pitchFamily="18" charset="0"/>
                <a:ea typeface="宋体" panose="02010600030101010101" pitchFamily="2" charset="-122"/>
              </a:rPr>
              <a:t>结构。 </a:t>
            </a:r>
            <a:endParaRPr lang="zh-CN" altLang="en-US">
              <a:latin typeface="Times New Roman" panose="02020603050405020304" pitchFamily="18" charset="0"/>
              <a:ea typeface="宋体" panose="02010600030101010101" pitchFamily="2" charset="-122"/>
            </a:endParaRPr>
          </a:p>
        </p:txBody>
      </p:sp>
      <p:sp>
        <p:nvSpPr>
          <p:cNvPr id="68611" name="动作按钮: 后退或前一项 40966">
            <a:hlinkClick r:id="" action="ppaction://hlinkshowjump?jump=firstslide"/>
          </p:cNvPr>
          <p:cNvSpPr/>
          <p:nvPr/>
        </p:nvSpPr>
        <p:spPr>
          <a:xfrm>
            <a:off x="8534400" y="6470650"/>
            <a:ext cx="609600" cy="3810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anchor="t"/>
          <a:p>
            <a:endParaRPr lang="zh-CN" altLang="en-US">
              <a:latin typeface="Times New Roman" panose="02020603050405020304" pitchFamily="18" charset="0"/>
              <a:ea typeface="宋体" panose="02010600030101010101" pitchFamily="2" charset="-122"/>
            </a:endParaRPr>
          </a:p>
        </p:txBody>
      </p:sp>
      <p:pic>
        <p:nvPicPr>
          <p:cNvPr id="68612" name="图片 40968" descr="4-21"/>
          <p:cNvPicPr>
            <a:picLocks noChangeAspect="1"/>
          </p:cNvPicPr>
          <p:nvPr/>
        </p:nvPicPr>
        <p:blipFill>
          <a:blip r:embed="rId1"/>
          <a:stretch>
            <a:fillRect/>
          </a:stretch>
        </p:blipFill>
        <p:spPr>
          <a:xfrm>
            <a:off x="1714500" y="1557338"/>
            <a:ext cx="5715000" cy="2286000"/>
          </a:xfrm>
          <a:prstGeom prst="rect">
            <a:avLst/>
          </a:prstGeom>
          <a:noFill/>
          <a:ln w="9525">
            <a:noFill/>
          </a:ln>
        </p:spPr>
      </p:pic>
    </p:spTree>
  </p:cSld>
  <p:clrMapOvr>
    <a:masterClrMapping/>
  </p:clrMapOvr>
  <p:transition>
    <p:blinds dir="vert"/>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commondata" val="eyJoZGlkIjoiMjhmMjRiOTAxY2VlODBkZjYwOTVmNDAxZjVmOThhNGM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FF0000"/>
      </a:hlink>
      <a:folHlink>
        <a:srgbClr val="FF0066"/>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6120</Words>
  <Application>WPS 演示</Application>
  <PresentationFormat>在屏幕上显示</PresentationFormat>
  <Paragraphs>305</Paragraphs>
  <Slides>65</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93</vt:i4>
      </vt:variant>
      <vt:variant>
        <vt:lpstr>幻灯片标题</vt:lpstr>
      </vt:variant>
      <vt:variant>
        <vt:i4>65</vt:i4>
      </vt:variant>
    </vt:vector>
  </HeadingPairs>
  <TitlesOfParts>
    <vt:vector size="167" baseType="lpstr">
      <vt:lpstr>Arial</vt:lpstr>
      <vt:lpstr>宋体</vt:lpstr>
      <vt:lpstr>Wingdings</vt:lpstr>
      <vt:lpstr>Times New Roman</vt:lpstr>
      <vt:lpstr>华文行楷</vt:lpstr>
      <vt:lpstr>微软雅黑</vt:lpstr>
      <vt:lpstr>Arial Unicode MS</vt:lpstr>
      <vt:lpstr>Calibri</vt:lpstr>
      <vt:lpstr>默认设计模板</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Equation.DSMT4</vt:lpstr>
      <vt:lpstr>Equation.DSMT4</vt:lpstr>
      <vt:lpstr>Paint.Picture</vt:lpstr>
      <vt:lpstr>Paint.Picture</vt:lpstr>
      <vt:lpstr>Word.Document.8</vt:lpstr>
      <vt:lpstr>Equation.3</vt:lpstr>
      <vt:lpstr>Equation.3</vt:lpstr>
      <vt:lpstr>Equation.3</vt:lpstr>
      <vt:lpstr>Equation.DSMT4</vt:lpstr>
      <vt:lpstr>Equation.DSMT4</vt:lpstr>
      <vt:lpstr>Equation.3</vt:lpstr>
      <vt:lpstr>Equation.KSEE3</vt:lpstr>
      <vt:lpstr>Equation.KSEE3</vt:lpstr>
      <vt:lpstr>Paint.Picture</vt:lpstr>
      <vt:lpstr>Word.Document.8</vt:lpstr>
      <vt:lpstr>Equation.KSEE3</vt:lpstr>
      <vt:lpstr>Equation.DSMT4</vt:lpstr>
      <vt:lpstr>Equation.DSMT4</vt:lpstr>
      <vt:lpstr>Equation.DSMT4</vt:lpstr>
      <vt:lpstr>Word.Document.8</vt:lpstr>
      <vt:lpstr>Equation.DSMT4</vt:lpstr>
      <vt:lpstr>Word.Document.8</vt:lpstr>
      <vt:lpstr>Equation.KSEE3</vt:lpstr>
      <vt:lpstr>Equation.DSMT4</vt:lpstr>
      <vt:lpstr>Equation.3</vt:lpstr>
      <vt:lpstr>Equation.3</vt:lpstr>
      <vt:lpstr>Equation.DSMT4</vt:lpstr>
      <vt:lpstr>Equation.DSMT4</vt:lpstr>
      <vt:lpstr>Equation.DSMT4</vt:lpstr>
      <vt:lpstr>Equation.3</vt:lpstr>
      <vt:lpstr>Equation.3</vt:lpstr>
      <vt:lpstr>Equation.3</vt:lpstr>
      <vt:lpstr>Equation.3</vt:lpstr>
      <vt:lpstr>Equation.3</vt:lpstr>
      <vt:lpstr>Equation.3</vt:lpstr>
      <vt:lpstr>Equation.3</vt:lpstr>
      <vt:lpstr>Word.Document.8</vt:lpstr>
      <vt:lpstr>Equation.3</vt:lpstr>
      <vt:lpstr>Equation.3</vt:lpstr>
      <vt:lpstr>Equation.3</vt:lpstr>
      <vt:lpstr>Equation.3</vt:lpstr>
      <vt:lpstr>Equation.3</vt:lpstr>
      <vt:lpstr>Equation.3</vt:lpstr>
      <vt:lpstr>Equation.3</vt:lpstr>
      <vt:lpstr>Paint.Picture</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Equation.DSMT4</vt:lpstr>
      <vt:lpstr>Equation.DSMT4</vt:lpstr>
      <vt:lpstr>Equation.DSMT4</vt:lpstr>
      <vt:lpstr>Word.Document.8</vt:lpstr>
      <vt:lpstr>Equation.DSMT4</vt:lpstr>
      <vt:lpstr>Equation.DSMT4</vt:lpstr>
      <vt:lpstr>Word.Document.8</vt:lpstr>
      <vt:lpstr>Equation.DSMT4</vt:lpstr>
      <vt:lpstr>Equation.DSMT4</vt:lpstr>
      <vt:lpstr>Word.Document.8</vt:lpstr>
      <vt:lpstr>Equation.3</vt:lpstr>
      <vt:lpstr>Word.Document.8</vt:lpstr>
      <vt:lpstr>Equation.DSMT4</vt:lpstr>
      <vt:lpstr>Word.Document.8</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西安火炬电脑公司</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mwz2</dc:creator>
  <cp:lastModifiedBy>淑玉刘</cp:lastModifiedBy>
  <cp:revision>30</cp:revision>
  <dcterms:created xsi:type="dcterms:W3CDTF">2003-07-29T00:50:00Z</dcterms:created>
  <dcterms:modified xsi:type="dcterms:W3CDTF">2023-10-19T04:46:32Z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97F93B6ED39C407CB78843AEA7EF9BC0</vt:lpwstr>
  </property>
</Properties>
</file>