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46" r:id="rId4"/>
    <p:sldId id="257" r:id="rId5"/>
    <p:sldId id="347" r:id="rId6"/>
    <p:sldId id="258" r:id="rId7"/>
    <p:sldId id="348" r:id="rId8"/>
    <p:sldId id="259" r:id="rId9"/>
    <p:sldId id="349" r:id="rId10"/>
    <p:sldId id="260" r:id="rId11"/>
    <p:sldId id="261" r:id="rId12"/>
    <p:sldId id="351" r:id="rId13"/>
    <p:sldId id="262" r:id="rId14"/>
    <p:sldId id="352" r:id="rId15"/>
    <p:sldId id="263" r:id="rId16"/>
    <p:sldId id="353" r:id="rId17"/>
    <p:sldId id="264" r:id="rId18"/>
    <p:sldId id="354" r:id="rId19"/>
    <p:sldId id="265" r:id="rId20"/>
    <p:sldId id="355" r:id="rId21"/>
    <p:sldId id="266" r:id="rId22"/>
    <p:sldId id="356" r:id="rId23"/>
    <p:sldId id="267" r:id="rId24"/>
    <p:sldId id="357" r:id="rId25"/>
    <p:sldId id="268" r:id="rId26"/>
    <p:sldId id="358" r:id="rId27"/>
    <p:sldId id="269" r:id="rId28"/>
    <p:sldId id="359" r:id="rId29"/>
    <p:sldId id="270" r:id="rId30"/>
    <p:sldId id="360" r:id="rId31"/>
    <p:sldId id="271" r:id="rId32"/>
    <p:sldId id="361" r:id="rId33"/>
    <p:sldId id="272" r:id="rId34"/>
    <p:sldId id="362" r:id="rId35"/>
    <p:sldId id="273" r:id="rId36"/>
    <p:sldId id="363" r:id="rId37"/>
    <p:sldId id="274" r:id="rId38"/>
    <p:sldId id="364" r:id="rId39"/>
    <p:sldId id="275" r:id="rId40"/>
    <p:sldId id="365" r:id="rId41"/>
    <p:sldId id="276" r:id="rId42"/>
    <p:sldId id="366" r:id="rId43"/>
    <p:sldId id="277" r:id="rId44"/>
    <p:sldId id="367" r:id="rId45"/>
    <p:sldId id="278" r:id="rId46"/>
    <p:sldId id="368" r:id="rId47"/>
    <p:sldId id="279" r:id="rId48"/>
    <p:sldId id="369" r:id="rId49"/>
    <p:sldId id="280" r:id="rId50"/>
    <p:sldId id="370" r:id="rId51"/>
    <p:sldId id="281" r:id="rId52"/>
    <p:sldId id="371" r:id="rId53"/>
    <p:sldId id="282" r:id="rId54"/>
    <p:sldId id="372" r:id="rId55"/>
    <p:sldId id="283" r:id="rId56"/>
    <p:sldId id="373" r:id="rId57"/>
    <p:sldId id="284" r:id="rId58"/>
    <p:sldId id="374" r:id="rId59"/>
    <p:sldId id="285" r:id="rId60"/>
    <p:sldId id="375" r:id="rId61"/>
    <p:sldId id="286" r:id="rId62"/>
    <p:sldId id="376" r:id="rId63"/>
    <p:sldId id="287" r:id="rId64"/>
    <p:sldId id="377" r:id="rId65"/>
    <p:sldId id="288" r:id="rId66"/>
    <p:sldId id="378" r:id="rId67"/>
    <p:sldId id="289" r:id="rId68"/>
    <p:sldId id="379" r:id="rId69"/>
    <p:sldId id="290" r:id="rId70"/>
    <p:sldId id="380" r:id="rId71"/>
    <p:sldId id="291" r:id="rId72"/>
    <p:sldId id="381" r:id="rId73"/>
    <p:sldId id="292" r:id="rId74"/>
    <p:sldId id="382" r:id="rId75"/>
    <p:sldId id="293" r:id="rId76"/>
    <p:sldId id="383" r:id="rId77"/>
    <p:sldId id="294" r:id="rId78"/>
    <p:sldId id="384" r:id="rId79"/>
    <p:sldId id="295" r:id="rId80"/>
    <p:sldId id="385" r:id="rId81"/>
    <p:sldId id="296" r:id="rId82"/>
    <p:sldId id="386" r:id="rId83"/>
    <p:sldId id="297" r:id="rId84"/>
    <p:sldId id="387" r:id="rId85"/>
    <p:sldId id="298" r:id="rId86"/>
    <p:sldId id="388" r:id="rId87"/>
    <p:sldId id="299" r:id="rId88"/>
    <p:sldId id="389" r:id="rId89"/>
    <p:sldId id="300" r:id="rId90"/>
    <p:sldId id="390" r:id="rId91"/>
    <p:sldId id="301" r:id="rId92"/>
    <p:sldId id="391" r:id="rId93"/>
    <p:sldId id="302" r:id="rId94"/>
    <p:sldId id="392" r:id="rId95"/>
    <p:sldId id="303" r:id="rId96"/>
    <p:sldId id="393" r:id="rId97"/>
    <p:sldId id="304" r:id="rId98"/>
    <p:sldId id="394" r:id="rId99"/>
    <p:sldId id="305" r:id="rId100"/>
    <p:sldId id="306" r:id="rId101"/>
    <p:sldId id="396" r:id="rId102"/>
    <p:sldId id="307" r:id="rId103"/>
    <p:sldId id="397" r:id="rId104"/>
    <p:sldId id="308" r:id="rId105"/>
    <p:sldId id="398" r:id="rId106"/>
    <p:sldId id="309" r:id="rId107"/>
    <p:sldId id="399" r:id="rId108"/>
    <p:sldId id="310" r:id="rId109"/>
    <p:sldId id="400" r:id="rId110"/>
    <p:sldId id="311" r:id="rId111"/>
    <p:sldId id="401" r:id="rId112"/>
    <p:sldId id="312" r:id="rId113"/>
    <p:sldId id="402" r:id="rId114"/>
    <p:sldId id="313" r:id="rId115"/>
    <p:sldId id="403" r:id="rId116"/>
    <p:sldId id="314" r:id="rId117"/>
    <p:sldId id="404" r:id="rId118"/>
    <p:sldId id="315" r:id="rId119"/>
    <p:sldId id="405" r:id="rId120"/>
    <p:sldId id="316" r:id="rId121"/>
    <p:sldId id="406" r:id="rId122"/>
    <p:sldId id="317" r:id="rId123"/>
    <p:sldId id="407" r:id="rId124"/>
    <p:sldId id="318" r:id="rId125"/>
    <p:sldId id="408" r:id="rId126"/>
    <p:sldId id="319" r:id="rId127"/>
    <p:sldId id="409" r:id="rId128"/>
    <p:sldId id="320" r:id="rId129"/>
    <p:sldId id="410" r:id="rId130"/>
    <p:sldId id="321" r:id="rId131"/>
    <p:sldId id="411" r:id="rId132"/>
    <p:sldId id="322" r:id="rId133"/>
    <p:sldId id="412" r:id="rId134"/>
    <p:sldId id="323" r:id="rId135"/>
    <p:sldId id="413" r:id="rId136"/>
    <p:sldId id="324" r:id="rId137"/>
    <p:sldId id="414" r:id="rId138"/>
    <p:sldId id="325" r:id="rId139"/>
    <p:sldId id="415" r:id="rId140"/>
    <p:sldId id="326" r:id="rId141"/>
    <p:sldId id="416" r:id="rId142"/>
    <p:sldId id="327" r:id="rId143"/>
    <p:sldId id="417" r:id="rId144"/>
    <p:sldId id="328" r:id="rId145"/>
    <p:sldId id="418" r:id="rId146"/>
    <p:sldId id="329" r:id="rId147"/>
    <p:sldId id="419" r:id="rId148"/>
    <p:sldId id="330" r:id="rId149"/>
    <p:sldId id="420" r:id="rId150"/>
    <p:sldId id="331" r:id="rId151"/>
    <p:sldId id="421" r:id="rId152"/>
    <p:sldId id="333" r:id="rId153"/>
    <p:sldId id="423" r:id="rId154"/>
    <p:sldId id="334" r:id="rId155"/>
    <p:sldId id="424" r:id="rId156"/>
    <p:sldId id="335" r:id="rId157"/>
    <p:sldId id="425" r:id="rId158"/>
    <p:sldId id="336" r:id="rId159"/>
    <p:sldId id="426" r:id="rId160"/>
    <p:sldId id="337" r:id="rId161"/>
    <p:sldId id="427" r:id="rId162"/>
    <p:sldId id="338" r:id="rId163"/>
    <p:sldId id="428" r:id="rId164"/>
    <p:sldId id="339" r:id="rId165"/>
    <p:sldId id="429" r:id="rId166"/>
    <p:sldId id="340" r:id="rId167"/>
    <p:sldId id="430" r:id="rId168"/>
    <p:sldId id="341" r:id="rId169"/>
    <p:sldId id="431" r:id="rId170"/>
    <p:sldId id="342" r:id="rId171"/>
    <p:sldId id="432" r:id="rId172"/>
    <p:sldId id="343" r:id="rId173"/>
    <p:sldId id="433" r:id="rId174"/>
    <p:sldId id="344" r:id="rId175"/>
    <p:sldId id="434" r:id="rId176"/>
    <p:sldId id="345" r:id="rId177"/>
    <p:sldId id="435" r:id="rId178"/>
  </p:sldIdLst>
  <p:sldSz cx="6045200" cy="3460750"/>
  <p:notesSz cx="6045200" cy="3460750"/>
  <p:custDataLst>
    <p:tags r:id="rId18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9" d="100"/>
          <a:sy n="129" d="100"/>
        </p:scale>
        <p:origin x="126" y="2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4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2" Type="http://schemas.openxmlformats.org/officeDocument/2006/relationships/tags" Target="tags/tag1.xml"/><Relationship Id="rId181" Type="http://schemas.openxmlformats.org/officeDocument/2006/relationships/tableStyles" Target="tableStyles.xml"/><Relationship Id="rId180" Type="http://schemas.openxmlformats.org/officeDocument/2006/relationships/viewProps" Target="viewProps.xml"/><Relationship Id="rId18" Type="http://schemas.openxmlformats.org/officeDocument/2006/relationships/slide" Target="slides/slide16.xml"/><Relationship Id="rId179" Type="http://schemas.openxmlformats.org/officeDocument/2006/relationships/presProps" Target="presProps.xml"/><Relationship Id="rId178" Type="http://schemas.openxmlformats.org/officeDocument/2006/relationships/slide" Target="slides/slide176.xml"/><Relationship Id="rId177" Type="http://schemas.openxmlformats.org/officeDocument/2006/relationships/slide" Target="slides/slide175.xml"/><Relationship Id="rId176" Type="http://schemas.openxmlformats.org/officeDocument/2006/relationships/slide" Target="slides/slide174.xml"/><Relationship Id="rId175" Type="http://schemas.openxmlformats.org/officeDocument/2006/relationships/slide" Target="slides/slide173.xml"/><Relationship Id="rId174" Type="http://schemas.openxmlformats.org/officeDocument/2006/relationships/slide" Target="slides/slide172.xml"/><Relationship Id="rId173" Type="http://schemas.openxmlformats.org/officeDocument/2006/relationships/slide" Target="slides/slide171.xml"/><Relationship Id="rId172" Type="http://schemas.openxmlformats.org/officeDocument/2006/relationships/slide" Target="slides/slide170.xml"/><Relationship Id="rId171" Type="http://schemas.openxmlformats.org/officeDocument/2006/relationships/slide" Target="slides/slide169.xml"/><Relationship Id="rId170" Type="http://schemas.openxmlformats.org/officeDocument/2006/relationships/slide" Target="slides/slide168.xml"/><Relationship Id="rId17" Type="http://schemas.openxmlformats.org/officeDocument/2006/relationships/slide" Target="slides/slide15.xml"/><Relationship Id="rId169" Type="http://schemas.openxmlformats.org/officeDocument/2006/relationships/slide" Target="slides/slide167.xml"/><Relationship Id="rId168" Type="http://schemas.openxmlformats.org/officeDocument/2006/relationships/slide" Target="slides/slide166.xml"/><Relationship Id="rId167" Type="http://schemas.openxmlformats.org/officeDocument/2006/relationships/slide" Target="slides/slide165.xml"/><Relationship Id="rId166" Type="http://schemas.openxmlformats.org/officeDocument/2006/relationships/slide" Target="slides/slide164.xml"/><Relationship Id="rId165" Type="http://schemas.openxmlformats.org/officeDocument/2006/relationships/slide" Target="slides/slide163.xml"/><Relationship Id="rId164" Type="http://schemas.openxmlformats.org/officeDocument/2006/relationships/slide" Target="slides/slide162.xml"/><Relationship Id="rId163" Type="http://schemas.openxmlformats.org/officeDocument/2006/relationships/slide" Target="slides/slide161.xml"/><Relationship Id="rId162" Type="http://schemas.openxmlformats.org/officeDocument/2006/relationships/slide" Target="slides/slide160.xml"/><Relationship Id="rId161" Type="http://schemas.openxmlformats.org/officeDocument/2006/relationships/slide" Target="slides/slide159.xml"/><Relationship Id="rId160" Type="http://schemas.openxmlformats.org/officeDocument/2006/relationships/slide" Target="slides/slide158.xml"/><Relationship Id="rId16" Type="http://schemas.openxmlformats.org/officeDocument/2006/relationships/slide" Target="slides/slide14.xml"/><Relationship Id="rId159" Type="http://schemas.openxmlformats.org/officeDocument/2006/relationships/slide" Target="slides/slide157.xml"/><Relationship Id="rId158" Type="http://schemas.openxmlformats.org/officeDocument/2006/relationships/slide" Target="slides/slide156.xml"/><Relationship Id="rId157" Type="http://schemas.openxmlformats.org/officeDocument/2006/relationships/slide" Target="slides/slide155.xml"/><Relationship Id="rId156" Type="http://schemas.openxmlformats.org/officeDocument/2006/relationships/slide" Target="slides/slide154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7003" y="138710"/>
            <a:ext cx="1417543" cy="32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49660" y="1919205"/>
            <a:ext cx="3352229" cy="46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2020/3/22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北京邮电大学计算机学院</a:t>
            </a:r>
            <a:r>
              <a:rPr spc="185" dirty="0"/>
              <a:t> </a:t>
            </a:r>
            <a:r>
              <a:rPr dirty="0"/>
              <a:t>鲁鹏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2020/3/22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北京邮电大学计算机学院</a:t>
            </a:r>
            <a:r>
              <a:rPr spc="185" dirty="0"/>
              <a:t> </a:t>
            </a:r>
            <a:r>
              <a:rPr dirty="0"/>
              <a:t>鲁鹏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2577" y="795972"/>
            <a:ext cx="2632424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16548" y="795972"/>
            <a:ext cx="2632424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2020/3/22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北京邮电大学计算机学院</a:t>
            </a:r>
            <a:r>
              <a:rPr spc="185" dirty="0"/>
              <a:t> </a:t>
            </a:r>
            <a:r>
              <a:rPr dirty="0"/>
              <a:t>鲁鹏</a:t>
            </a:r>
            <a:endParaRPr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2020/3/22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北京邮电大学计算机学院</a:t>
            </a:r>
            <a:r>
              <a:rPr spc="185" dirty="0"/>
              <a:t> </a:t>
            </a:r>
            <a:r>
              <a:rPr dirty="0"/>
              <a:t>鲁鹏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2020/3/22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北京邮电大学计算机学院</a:t>
            </a:r>
            <a:r>
              <a:rPr spc="185" dirty="0"/>
              <a:t> </a:t>
            </a:r>
            <a:r>
              <a:rPr dirty="0"/>
              <a:t>鲁鹏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3222285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0" y="0"/>
                </a:moveTo>
                <a:lnTo>
                  <a:pt x="6047999" y="0"/>
                </a:lnTo>
              </a:path>
            </a:pathLst>
          </a:custGeom>
          <a:ln w="6096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3446313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0" y="0"/>
                </a:moveTo>
                <a:lnTo>
                  <a:pt x="6047999" y="0"/>
                </a:lnTo>
              </a:path>
            </a:pathLst>
          </a:custGeom>
          <a:ln w="609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3225333"/>
            <a:ext cx="6048375" cy="218440"/>
          </a:xfrm>
          <a:custGeom>
            <a:avLst/>
            <a:gdLst/>
            <a:ahLst/>
            <a:cxnLst/>
            <a:rect l="l" t="t" r="r" b="b"/>
            <a:pathLst>
              <a:path w="6048375" h="218439">
                <a:moveTo>
                  <a:pt x="0" y="217931"/>
                </a:moveTo>
                <a:lnTo>
                  <a:pt x="0" y="0"/>
                </a:lnTo>
                <a:lnTo>
                  <a:pt x="6048000" y="0"/>
                </a:lnTo>
                <a:lnTo>
                  <a:pt x="6048000" y="217931"/>
                </a:lnTo>
                <a:lnTo>
                  <a:pt x="0" y="21793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0" y="3219237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0" y="343716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3448" y="138710"/>
            <a:ext cx="1664652" cy="32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3913" y="659390"/>
            <a:ext cx="3001645" cy="1188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8786" y="3277746"/>
            <a:ext cx="51943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2020/3/22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424041" y="3245615"/>
            <a:ext cx="1579879" cy="176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北京邮电大学计算机学院</a:t>
            </a:r>
            <a:r>
              <a:rPr spc="185" dirty="0"/>
              <a:t> </a:t>
            </a:r>
            <a:r>
              <a:rPr dirty="0"/>
              <a:t>鲁鹏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7116" y="3218497"/>
            <a:ext cx="1391856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36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36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57.png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57.png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57.pn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57.png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4.jpeg"/><Relationship Id="rId1" Type="http://schemas.openxmlformats.org/officeDocument/2006/relationships/image" Target="../media/image83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6.jpeg"/><Relationship Id="rId1" Type="http://schemas.openxmlformats.org/officeDocument/2006/relationships/image" Target="../media/image85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0.jpeg"/><Relationship Id="rId2" Type="http://schemas.openxmlformats.org/officeDocument/2006/relationships/image" Target="../media/image89.jpeg"/><Relationship Id="rId1" Type="http://schemas.openxmlformats.org/officeDocument/2006/relationships/image" Target="../media/image88.jpeg"/></Relationships>
</file>

<file path=ppt/slides/_rels/slide9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88.jpeg"/></Relationships>
</file>

<file path=ppt/slides/_rels/slide9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0.jpeg"/><Relationship Id="rId7" Type="http://schemas.openxmlformats.org/officeDocument/2006/relationships/image" Target="../media/image99.jpeg"/><Relationship Id="rId6" Type="http://schemas.openxmlformats.org/officeDocument/2006/relationships/image" Target="../media/image98.jpeg"/><Relationship Id="rId5" Type="http://schemas.openxmlformats.org/officeDocument/2006/relationships/image" Target="../media/image97.jpeg"/><Relationship Id="rId4" Type="http://schemas.openxmlformats.org/officeDocument/2006/relationships/image" Target="../media/image96.jpe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88.jpeg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0.jpeg"/><Relationship Id="rId7" Type="http://schemas.openxmlformats.org/officeDocument/2006/relationships/image" Target="../media/image99.jpeg"/><Relationship Id="rId6" Type="http://schemas.openxmlformats.org/officeDocument/2006/relationships/image" Target="../media/image98.jpeg"/><Relationship Id="rId5" Type="http://schemas.openxmlformats.org/officeDocument/2006/relationships/image" Target="../media/image97.jpeg"/><Relationship Id="rId4" Type="http://schemas.openxmlformats.org/officeDocument/2006/relationships/image" Target="../media/image96.jpeg"/><Relationship Id="rId3" Type="http://schemas.openxmlformats.org/officeDocument/2006/relationships/image" Target="../media/image91.png"/><Relationship Id="rId2" Type="http://schemas.openxmlformats.org/officeDocument/2006/relationships/image" Target="../media/image94.png"/><Relationship Id="rId1" Type="http://schemas.openxmlformats.org/officeDocument/2006/relationships/image" Target="../media/image88.jpe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5.jpeg"/></Relationships>
</file>

<file path=ppt/slides/_rels/slide10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7.jpeg"/><Relationship Id="rId2" Type="http://schemas.openxmlformats.org/officeDocument/2006/relationships/image" Target="../media/image106.jpeg"/><Relationship Id="rId1" Type="http://schemas.openxmlformats.org/officeDocument/2006/relationships/image" Target="../media/image105.jpeg"/></Relationships>
</file>

<file path=ppt/slides/_rels/slide10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8.jpeg"/><Relationship Id="rId2" Type="http://schemas.openxmlformats.org/officeDocument/2006/relationships/image" Target="../media/image106.jpeg"/><Relationship Id="rId1" Type="http://schemas.openxmlformats.org/officeDocument/2006/relationships/image" Target="../media/image105.jpeg"/></Relationships>
</file>

<file path=ppt/slides/_rels/slide1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7.jpeg"/><Relationship Id="rId2" Type="http://schemas.openxmlformats.org/officeDocument/2006/relationships/image" Target="../media/image106.jpeg"/><Relationship Id="rId1" Type="http://schemas.openxmlformats.org/officeDocument/2006/relationships/image" Target="../media/image105.jpe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0.jpeg"/><Relationship Id="rId1" Type="http://schemas.openxmlformats.org/officeDocument/2006/relationships/image" Target="../media/image109.jpe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2.jpeg"/><Relationship Id="rId1" Type="http://schemas.openxmlformats.org/officeDocument/2006/relationships/image" Target="../media/image111.jpe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5.png"/><Relationship Id="rId2" Type="http://schemas.openxmlformats.org/officeDocument/2006/relationships/image" Target="../media/image114.jpeg"/><Relationship Id="rId1" Type="http://schemas.openxmlformats.org/officeDocument/2006/relationships/image" Target="../media/image113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6.jpe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7.jpe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8.jpe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0.png"/><Relationship Id="rId1" Type="http://schemas.openxmlformats.org/officeDocument/2006/relationships/image" Target="../media/image121.png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png"/><Relationship Id="rId8" Type="http://schemas.openxmlformats.org/officeDocument/2006/relationships/image" Target="../media/image129.png"/><Relationship Id="rId7" Type="http://schemas.openxmlformats.org/officeDocument/2006/relationships/image" Target="../media/image128.png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39.png"/><Relationship Id="rId17" Type="http://schemas.openxmlformats.org/officeDocument/2006/relationships/image" Target="../media/image138.png"/><Relationship Id="rId16" Type="http://schemas.openxmlformats.org/officeDocument/2006/relationships/image" Target="../media/image137.png"/><Relationship Id="rId15" Type="http://schemas.openxmlformats.org/officeDocument/2006/relationships/image" Target="../media/image136.png"/><Relationship Id="rId14" Type="http://schemas.openxmlformats.org/officeDocument/2006/relationships/image" Target="../media/image135.png"/><Relationship Id="rId13" Type="http://schemas.openxmlformats.org/officeDocument/2006/relationships/image" Target="../media/image134.png"/><Relationship Id="rId12" Type="http://schemas.openxmlformats.org/officeDocument/2006/relationships/image" Target="../media/image133.png"/><Relationship Id="rId11" Type="http://schemas.openxmlformats.org/officeDocument/2006/relationships/image" Target="../media/image132.png"/><Relationship Id="rId10" Type="http://schemas.openxmlformats.org/officeDocument/2006/relationships/image" Target="../media/image131.png"/><Relationship Id="rId1" Type="http://schemas.openxmlformats.org/officeDocument/2006/relationships/image" Target="../media/image122.png"/></Relationships>
</file>

<file path=ppt/slides/_rels/slide15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image" Target="../media/image133.png"/><Relationship Id="rId7" Type="http://schemas.openxmlformats.org/officeDocument/2006/relationships/image" Target="../media/image132.png"/><Relationship Id="rId6" Type="http://schemas.openxmlformats.org/officeDocument/2006/relationships/image" Target="../media/image143.png"/><Relationship Id="rId5" Type="http://schemas.openxmlformats.org/officeDocument/2006/relationships/image" Target="../media/image130.png"/><Relationship Id="rId4" Type="http://schemas.openxmlformats.org/officeDocument/2006/relationships/image" Target="../media/image125.png"/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38.png"/><Relationship Id="rId13" Type="http://schemas.openxmlformats.org/officeDocument/2006/relationships/image" Target="../media/image139.png"/><Relationship Id="rId12" Type="http://schemas.openxmlformats.org/officeDocument/2006/relationships/image" Target="../media/image145.png"/><Relationship Id="rId11" Type="http://schemas.openxmlformats.org/officeDocument/2006/relationships/image" Target="../media/image135.png"/><Relationship Id="rId10" Type="http://schemas.openxmlformats.org/officeDocument/2006/relationships/image" Target="../media/image144.png"/><Relationship Id="rId1" Type="http://schemas.openxmlformats.org/officeDocument/2006/relationships/image" Target="../media/image140.png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4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46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46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4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46.png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png"/><Relationship Id="rId8" Type="http://schemas.openxmlformats.org/officeDocument/2006/relationships/image" Target="../media/image155.png"/><Relationship Id="rId7" Type="http://schemas.openxmlformats.org/officeDocument/2006/relationships/image" Target="../media/image154.png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59.png"/><Relationship Id="rId11" Type="http://schemas.openxmlformats.org/officeDocument/2006/relationships/image" Target="../media/image158.png"/><Relationship Id="rId10" Type="http://schemas.openxmlformats.org/officeDocument/2006/relationships/image" Target="../media/image157.png"/><Relationship Id="rId1" Type="http://schemas.openxmlformats.org/officeDocument/2006/relationships/image" Target="../media/image148.png"/></Relationships>
</file>

<file path=ppt/slides/_rels/slide17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7.png"/><Relationship Id="rId8" Type="http://schemas.openxmlformats.org/officeDocument/2006/relationships/image" Target="../media/image166.png"/><Relationship Id="rId7" Type="http://schemas.openxmlformats.org/officeDocument/2006/relationships/image" Target="../media/image165.png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Relationship Id="rId3" Type="http://schemas.openxmlformats.org/officeDocument/2006/relationships/image" Target="../media/image161.png"/><Relationship Id="rId2" Type="http://schemas.openxmlformats.org/officeDocument/2006/relationships/image" Target="../media/image159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76.png"/><Relationship Id="rId17" Type="http://schemas.openxmlformats.org/officeDocument/2006/relationships/image" Target="../media/image175.png"/><Relationship Id="rId16" Type="http://schemas.openxmlformats.org/officeDocument/2006/relationships/image" Target="../media/image174.png"/><Relationship Id="rId15" Type="http://schemas.openxmlformats.org/officeDocument/2006/relationships/image" Target="../media/image173.png"/><Relationship Id="rId14" Type="http://schemas.openxmlformats.org/officeDocument/2006/relationships/image" Target="../media/image172.png"/><Relationship Id="rId13" Type="http://schemas.openxmlformats.org/officeDocument/2006/relationships/image" Target="../media/image171.png"/><Relationship Id="rId12" Type="http://schemas.openxmlformats.org/officeDocument/2006/relationships/image" Target="../media/image170.png"/><Relationship Id="rId11" Type="http://schemas.openxmlformats.org/officeDocument/2006/relationships/image" Target="../media/image169.png"/><Relationship Id="rId10" Type="http://schemas.openxmlformats.org/officeDocument/2006/relationships/image" Target="../media/image168.png"/><Relationship Id="rId1" Type="http://schemas.openxmlformats.org/officeDocument/2006/relationships/image" Target="../media/image160.png"/></Relationships>
</file>

<file path=ppt/slides/_rels/slide17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5.png"/><Relationship Id="rId8" Type="http://schemas.openxmlformats.org/officeDocument/2006/relationships/image" Target="../media/image184.png"/><Relationship Id="rId7" Type="http://schemas.openxmlformats.org/officeDocument/2006/relationships/image" Target="../media/image183.png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87.png"/><Relationship Id="rId10" Type="http://schemas.openxmlformats.org/officeDocument/2006/relationships/image" Target="../media/image186.png"/><Relationship Id="rId1" Type="http://schemas.openxmlformats.org/officeDocument/2006/relationships/image" Target="../media/image177.png"/></Relationships>
</file>

<file path=ppt/slides/_rels/slide17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8.png"/><Relationship Id="rId8" Type="http://schemas.openxmlformats.org/officeDocument/2006/relationships/image" Target="../media/image186.png"/><Relationship Id="rId7" Type="http://schemas.openxmlformats.org/officeDocument/2006/relationships/image" Target="../media/image184.png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92.png"/><Relationship Id="rId12" Type="http://schemas.openxmlformats.org/officeDocument/2006/relationships/image" Target="../media/image191.png"/><Relationship Id="rId11" Type="http://schemas.openxmlformats.org/officeDocument/2006/relationships/image" Target="../media/image190.png"/><Relationship Id="rId10" Type="http://schemas.openxmlformats.org/officeDocument/2006/relationships/image" Target="../media/image189.png"/><Relationship Id="rId1" Type="http://schemas.openxmlformats.org/officeDocument/2006/relationships/image" Target="../media/image177.png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0815" y="1249972"/>
            <a:ext cx="1978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全连接神经网络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19609"/>
            <a:ext cx="6048375" cy="218440"/>
          </a:xfrm>
          <a:custGeom>
            <a:avLst/>
            <a:gdLst/>
            <a:ahLst/>
            <a:cxnLst/>
            <a:rect l="l" t="t" r="r" b="b"/>
            <a:pathLst>
              <a:path w="6048375" h="218439">
                <a:moveTo>
                  <a:pt x="0" y="217931"/>
                </a:moveTo>
                <a:lnTo>
                  <a:pt x="0" y="0"/>
                </a:lnTo>
                <a:lnTo>
                  <a:pt x="6048000" y="0"/>
                </a:lnTo>
                <a:lnTo>
                  <a:pt x="6048000" y="217931"/>
                </a:lnTo>
                <a:lnTo>
                  <a:pt x="0" y="21793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213513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3144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9013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612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72947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10725" y="32491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347" y="2224005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图像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2387" y="1711895"/>
            <a:ext cx="9734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5" dirty="0">
                <a:latin typeface="微软雅黑" panose="020B0503020204020204" charset="-122"/>
                <a:cs typeface="微软雅黑" panose="020B0503020204020204" charset="-122"/>
              </a:rPr>
              <a:t>将矩阵转成</a:t>
            </a:r>
            <a:r>
              <a:rPr sz="900" spc="20" dirty="0">
                <a:latin typeface="微软雅黑" panose="020B0503020204020204" charset="-122"/>
                <a:cs typeface="微软雅黑" panose="020B0503020204020204" charset="-122"/>
              </a:rPr>
              <a:t>列向</a:t>
            </a:r>
            <a:r>
              <a:rPr sz="900" spc="35" dirty="0">
                <a:latin typeface="微软雅黑" panose="020B0503020204020204" charset="-122"/>
                <a:cs typeface="微软雅黑" panose="020B0503020204020204" charset="-122"/>
              </a:rPr>
              <a:t>量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144" y="863073"/>
            <a:ext cx="3831590" cy="70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直接</a:t>
            </a:r>
            <a:r>
              <a:rPr sz="1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利用原始像素作为特征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展开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列向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量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400" spc="30" baseline="-5000" dirty="0">
                <a:latin typeface="Symbol" panose="05050102010706020507"/>
                <a:cs typeface="Symbol" panose="05050102010706020507"/>
              </a:rPr>
              <a:t>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76</a:t>
            </a:r>
            <a:r>
              <a:rPr sz="16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15" baseline="-5000" dirty="0">
                <a:latin typeface="Symbol" panose="05050102010706020507"/>
                <a:cs typeface="Symbol" panose="05050102010706020507"/>
              </a:rPr>
              <a:t></a:t>
            </a:r>
            <a:endParaRPr sz="2400" baseline="-5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9252" y="1510791"/>
            <a:ext cx="49212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15" dirty="0">
                <a:latin typeface="Symbol" panose="05050102010706020507"/>
                <a:cs typeface="Symbol" panose="05050102010706020507"/>
              </a:rPr>
              <a:t></a:t>
            </a:r>
            <a:r>
              <a:rPr sz="2400" spc="22" baseline="-26000" dirty="0">
                <a:latin typeface="Times New Roman" panose="02020603050405020304"/>
                <a:cs typeface="Times New Roman" panose="02020603050405020304"/>
              </a:rPr>
              <a:t>32</a:t>
            </a:r>
            <a:r>
              <a:rPr sz="2400" spc="442" baseline="-2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10" dirty="0">
                <a:latin typeface="Symbol" panose="05050102010706020507"/>
                <a:cs typeface="Symbol" panose="05050102010706020507"/>
              </a:rPr>
              <a:t></a:t>
            </a:r>
            <a:endParaRPr sz="1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6356" y="1708728"/>
            <a:ext cx="1054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10" dirty="0">
                <a:latin typeface="Symbol" panose="05050102010706020507"/>
                <a:cs typeface="Symbol" panose="05050102010706020507"/>
              </a:rPr>
              <a:t></a:t>
            </a:r>
            <a:endParaRPr sz="1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1465" y="1759093"/>
            <a:ext cx="4127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i="1" spc="10" dirty="0">
                <a:latin typeface="Times New Roman" panose="02020603050405020304"/>
                <a:cs typeface="Times New Roman" panose="02020603050405020304"/>
              </a:rPr>
              <a:t>x </a:t>
            </a:r>
            <a:r>
              <a:rPr sz="1600" spc="15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15" baseline="14000" dirty="0">
                <a:latin typeface="Symbol" panose="05050102010706020507"/>
                <a:cs typeface="Symbol" panose="05050102010706020507"/>
              </a:rPr>
              <a:t></a:t>
            </a:r>
            <a:endParaRPr sz="2400" baseline="14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9252" y="1917650"/>
            <a:ext cx="217804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120" baseline="2000" dirty="0">
                <a:latin typeface="Symbol" panose="05050102010706020507"/>
                <a:cs typeface="Symbol" panose="05050102010706020507"/>
              </a:rPr>
              <a:t>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4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6356" y="1908530"/>
            <a:ext cx="1054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10" dirty="0">
                <a:latin typeface="Symbol" panose="05050102010706020507"/>
                <a:cs typeface="Symbol" panose="05050102010706020507"/>
              </a:rPr>
              <a:t></a:t>
            </a:r>
            <a:endParaRPr sz="1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89252" y="2106675"/>
            <a:ext cx="49212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99415" algn="l"/>
              </a:tabLst>
            </a:pPr>
            <a:r>
              <a:rPr sz="1600" spc="10" dirty="0">
                <a:latin typeface="Symbol" panose="05050102010706020507"/>
                <a:cs typeface="Symbol" panose="05050102010706020507"/>
              </a:rPr>
              <a:t>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10" dirty="0">
                <a:latin typeface="Symbol" panose="05050102010706020507"/>
                <a:cs typeface="Symbol" panose="05050102010706020507"/>
              </a:rPr>
              <a:t></a:t>
            </a:r>
            <a:endParaRPr sz="1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9252" y="2228546"/>
            <a:ext cx="49212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150" baseline="-14000" dirty="0">
                <a:latin typeface="Symbol" panose="05050102010706020507"/>
                <a:cs typeface="Symbol" panose="05050102010706020507"/>
              </a:rPr>
              <a:t>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15</a:t>
            </a:r>
            <a:r>
              <a:rPr sz="1600" spc="95" dirty="0"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400" spc="15" baseline="-14000" dirty="0">
                <a:latin typeface="Symbol" panose="05050102010706020507"/>
                <a:cs typeface="Symbol" panose="05050102010706020507"/>
              </a:rPr>
              <a:t></a:t>
            </a:r>
            <a:endParaRPr sz="2400" baseline="-14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72316" y="2016030"/>
            <a:ext cx="50800" cy="8890"/>
          </a:xfrm>
          <a:custGeom>
            <a:avLst/>
            <a:gdLst/>
            <a:ahLst/>
            <a:cxnLst/>
            <a:rect l="l" t="t" r="r" b="b"/>
            <a:pathLst>
              <a:path w="50800" h="8889">
                <a:moveTo>
                  <a:pt x="0" y="8890"/>
                </a:moveTo>
                <a:lnTo>
                  <a:pt x="50291" y="8890"/>
                </a:lnTo>
                <a:lnTo>
                  <a:pt x="50291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12701" y="1629950"/>
            <a:ext cx="0" cy="386080"/>
          </a:xfrm>
          <a:custGeom>
            <a:avLst/>
            <a:gdLst/>
            <a:ahLst/>
            <a:cxnLst/>
            <a:rect l="l" t="t" r="r" b="b"/>
            <a:pathLst>
              <a:path h="386080">
                <a:moveTo>
                  <a:pt x="0" y="0"/>
                </a:moveTo>
                <a:lnTo>
                  <a:pt x="0" y="386079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72316" y="1621060"/>
            <a:ext cx="50800" cy="8890"/>
          </a:xfrm>
          <a:custGeom>
            <a:avLst/>
            <a:gdLst/>
            <a:ahLst/>
            <a:cxnLst/>
            <a:rect l="l" t="t" r="r" b="b"/>
            <a:pathLst>
              <a:path w="50800" h="8889">
                <a:moveTo>
                  <a:pt x="0" y="8890"/>
                </a:moveTo>
                <a:lnTo>
                  <a:pt x="50291" y="8890"/>
                </a:lnTo>
                <a:lnTo>
                  <a:pt x="50291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46308" y="2016030"/>
            <a:ext cx="50800" cy="8890"/>
          </a:xfrm>
          <a:custGeom>
            <a:avLst/>
            <a:gdLst/>
            <a:ahLst/>
            <a:cxnLst/>
            <a:rect l="l" t="t" r="r" b="b"/>
            <a:pathLst>
              <a:path w="50800" h="8889">
                <a:moveTo>
                  <a:pt x="0" y="8890"/>
                </a:moveTo>
                <a:lnTo>
                  <a:pt x="50292" y="8890"/>
                </a:lnTo>
                <a:lnTo>
                  <a:pt x="50292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56214" y="1629950"/>
            <a:ext cx="0" cy="386080"/>
          </a:xfrm>
          <a:custGeom>
            <a:avLst/>
            <a:gdLst/>
            <a:ahLst/>
            <a:cxnLst/>
            <a:rect l="l" t="t" r="r" b="b"/>
            <a:pathLst>
              <a:path h="386080">
                <a:moveTo>
                  <a:pt x="0" y="0"/>
                </a:moveTo>
                <a:lnTo>
                  <a:pt x="0" y="386079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46308" y="1621060"/>
            <a:ext cx="50800" cy="8890"/>
          </a:xfrm>
          <a:custGeom>
            <a:avLst/>
            <a:gdLst/>
            <a:ahLst/>
            <a:cxnLst/>
            <a:rect l="l" t="t" r="r" b="b"/>
            <a:pathLst>
              <a:path w="50800" h="8889">
                <a:moveTo>
                  <a:pt x="0" y="8890"/>
                </a:moveTo>
                <a:lnTo>
                  <a:pt x="50292" y="8890"/>
                </a:lnTo>
                <a:lnTo>
                  <a:pt x="50292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88436" y="1554929"/>
            <a:ext cx="791845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00"/>
              </a:lnSpc>
              <a:spcBef>
                <a:spcPts val="95"/>
              </a:spcBef>
              <a:tabLst>
                <a:tab pos="497205" algn="l"/>
              </a:tabLst>
            </a:pPr>
            <a:r>
              <a:rPr sz="1600" i="1" dirty="0">
                <a:latin typeface="Cambria Math" panose="02040503050406030204"/>
                <a:cs typeface="Cambria Math" panose="02040503050406030204"/>
              </a:rPr>
              <a:t>76	</a:t>
            </a:r>
            <a:r>
              <a:rPr sz="1600" i="1" spc="-5" dirty="0">
                <a:latin typeface="Cambria Math" panose="02040503050406030204"/>
                <a:cs typeface="Cambria Math" panose="02040503050406030204"/>
              </a:rPr>
              <a:t>32</a:t>
            </a:r>
            <a:endParaRPr sz="1600">
              <a:latin typeface="Cambria Math" panose="02040503050406030204"/>
              <a:cs typeface="Cambria Math" panose="02040503050406030204"/>
            </a:endParaRPr>
          </a:p>
          <a:p>
            <a:pPr marL="68580">
              <a:lnSpc>
                <a:spcPts val="1900"/>
              </a:lnSpc>
              <a:tabLst>
                <a:tab pos="440690" algn="l"/>
              </a:tabLst>
            </a:pPr>
            <a:r>
              <a:rPr sz="1600" i="1" spc="-5" dirty="0">
                <a:latin typeface="Cambria Math" panose="02040503050406030204"/>
                <a:cs typeface="Cambria Math" panose="02040503050406030204"/>
              </a:rPr>
              <a:t>4	1</a:t>
            </a:r>
            <a:r>
              <a:rPr sz="1600" i="1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1600" i="1" spc="-5" dirty="0">
                <a:latin typeface="Cambria Math" panose="02040503050406030204"/>
                <a:cs typeface="Cambria Math" panose="02040503050406030204"/>
              </a:rPr>
              <a:t>7</a:t>
            </a:r>
            <a:endParaRPr sz="1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44172" y="1907445"/>
            <a:ext cx="1264920" cy="38100"/>
          </a:xfrm>
          <a:custGeom>
            <a:avLst/>
            <a:gdLst/>
            <a:ahLst/>
            <a:cxnLst/>
            <a:rect l="l" t="t" r="r" b="b"/>
            <a:pathLst>
              <a:path w="1264920" h="38100">
                <a:moveTo>
                  <a:pt x="1226819" y="0"/>
                </a:moveTo>
                <a:lnTo>
                  <a:pt x="1226819" y="38100"/>
                </a:lnTo>
                <a:lnTo>
                  <a:pt x="1261744" y="21335"/>
                </a:lnTo>
                <a:lnTo>
                  <a:pt x="1232915" y="21335"/>
                </a:lnTo>
                <a:lnTo>
                  <a:pt x="1232915" y="16763"/>
                </a:lnTo>
                <a:lnTo>
                  <a:pt x="1259058" y="16763"/>
                </a:lnTo>
                <a:lnTo>
                  <a:pt x="1226819" y="0"/>
                </a:lnTo>
                <a:close/>
              </a:path>
              <a:path w="1264920" h="38100">
                <a:moveTo>
                  <a:pt x="1226819" y="16763"/>
                </a:moveTo>
                <a:lnTo>
                  <a:pt x="0" y="16763"/>
                </a:lnTo>
                <a:lnTo>
                  <a:pt x="0" y="21335"/>
                </a:lnTo>
                <a:lnTo>
                  <a:pt x="1226819" y="21335"/>
                </a:lnTo>
                <a:lnTo>
                  <a:pt x="1226819" y="16763"/>
                </a:lnTo>
                <a:close/>
              </a:path>
              <a:path w="1264920" h="38100">
                <a:moveTo>
                  <a:pt x="1259058" y="16763"/>
                </a:moveTo>
                <a:lnTo>
                  <a:pt x="1232915" y="16763"/>
                </a:lnTo>
                <a:lnTo>
                  <a:pt x="1232915" y="21335"/>
                </a:lnTo>
                <a:lnTo>
                  <a:pt x="1261744" y="21335"/>
                </a:lnTo>
                <a:lnTo>
                  <a:pt x="1264919" y="19811"/>
                </a:lnTo>
                <a:lnTo>
                  <a:pt x="1259058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56467" y="2825985"/>
            <a:ext cx="4043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cifar10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中每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图像可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表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示为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一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3072（32*32*3）</a:t>
            </a:r>
            <a:r>
              <a:rPr sz="1200" spc="-15" dirty="0">
                <a:latin typeface="微软雅黑" panose="020B0503020204020204" charset="-122"/>
                <a:cs typeface="微软雅黑" panose="020B0503020204020204" charset="-122"/>
              </a:rPr>
              <a:t>维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的向量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210643" y="186264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如何表示图像？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610725" y="3272021"/>
            <a:ext cx="838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9013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612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</a:t>
            </a:r>
            <a:r>
              <a:rPr sz="900" spc="5" dirty="0">
                <a:latin typeface="微软雅黑" panose="020B0503020204020204" charset="-122"/>
                <a:cs typeface="微软雅黑" panose="020B0503020204020204" charset="-122"/>
              </a:rPr>
              <a:t>F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72947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610725" y="3277746"/>
            <a:ext cx="838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4706" y="125316"/>
            <a:ext cx="1297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线性分类器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5320" y="884841"/>
            <a:ext cx="1580515" cy="26225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1587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25"/>
              </a:spcBef>
            </a:pPr>
            <a:r>
              <a:rPr sz="1400" i="1" spc="120" dirty="0">
                <a:latin typeface="Cambria Math" panose="02040503050406030204"/>
                <a:cs typeface="Cambria Math" panose="02040503050406030204"/>
              </a:rPr>
              <a:t>f(x, </a:t>
            </a:r>
            <a:r>
              <a:rPr sz="1400" i="1" spc="50" dirty="0">
                <a:latin typeface="Cambria Math" panose="02040503050406030204"/>
                <a:cs typeface="Cambria Math" panose="02040503050406030204"/>
              </a:rPr>
              <a:t>W) 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400" i="1" spc="105" dirty="0">
                <a:latin typeface="Cambria Math" panose="02040503050406030204"/>
                <a:cs typeface="Cambria Math" panose="02040503050406030204"/>
              </a:rPr>
              <a:t>Wx</a:t>
            </a:r>
            <a:r>
              <a:rPr sz="1400" i="1" spc="-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400" i="1" spc="85" dirty="0">
                <a:latin typeface="Cambria Math" panose="02040503050406030204"/>
                <a:cs typeface="Cambria Math" panose="02040503050406030204"/>
              </a:rPr>
              <a:t>b</a:t>
            </a:r>
            <a:endParaRPr sz="1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25300" y="2374170"/>
            <a:ext cx="27940" cy="3810"/>
          </a:xfrm>
          <a:custGeom>
            <a:avLst/>
            <a:gdLst/>
            <a:ahLst/>
            <a:cxnLst/>
            <a:rect l="l" t="t" r="r" b="b"/>
            <a:pathLst>
              <a:path w="27939" h="3810">
                <a:moveTo>
                  <a:pt x="0" y="3809"/>
                </a:moveTo>
                <a:lnTo>
                  <a:pt x="27431" y="3809"/>
                </a:lnTo>
                <a:lnTo>
                  <a:pt x="27431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48160" y="2266220"/>
            <a:ext cx="0" cy="107950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95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25300" y="2261140"/>
            <a:ext cx="27940" cy="5080"/>
          </a:xfrm>
          <a:custGeom>
            <a:avLst/>
            <a:gdLst/>
            <a:ahLst/>
            <a:cxnLst/>
            <a:rect l="l" t="t" r="r" b="b"/>
            <a:pathLst>
              <a:path w="27939" h="5080">
                <a:moveTo>
                  <a:pt x="0" y="5080"/>
                </a:moveTo>
                <a:lnTo>
                  <a:pt x="27431" y="5080"/>
                </a:lnTo>
                <a:lnTo>
                  <a:pt x="27431" y="0"/>
                </a:lnTo>
                <a:lnTo>
                  <a:pt x="0" y="0"/>
                </a:lnTo>
                <a:lnTo>
                  <a:pt x="0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18164" y="2374170"/>
            <a:ext cx="27940" cy="3810"/>
          </a:xfrm>
          <a:custGeom>
            <a:avLst/>
            <a:gdLst/>
            <a:ahLst/>
            <a:cxnLst/>
            <a:rect l="l" t="t" r="r" b="b"/>
            <a:pathLst>
              <a:path w="27940" h="3810">
                <a:moveTo>
                  <a:pt x="0" y="3809"/>
                </a:moveTo>
                <a:lnTo>
                  <a:pt x="27431" y="3809"/>
                </a:lnTo>
                <a:lnTo>
                  <a:pt x="27431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22736" y="2266220"/>
            <a:ext cx="0" cy="107950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95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18164" y="2261140"/>
            <a:ext cx="27940" cy="5080"/>
          </a:xfrm>
          <a:custGeom>
            <a:avLst/>
            <a:gdLst/>
            <a:ahLst/>
            <a:cxnLst/>
            <a:rect l="l" t="t" r="r" b="b"/>
            <a:pathLst>
              <a:path w="27940" h="5080">
                <a:moveTo>
                  <a:pt x="0" y="5080"/>
                </a:moveTo>
                <a:lnTo>
                  <a:pt x="27431" y="5080"/>
                </a:lnTo>
                <a:lnTo>
                  <a:pt x="27431" y="0"/>
                </a:lnTo>
                <a:lnTo>
                  <a:pt x="0" y="0"/>
                </a:lnTo>
                <a:lnTo>
                  <a:pt x="0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06500" y="2374170"/>
            <a:ext cx="27940" cy="3810"/>
          </a:xfrm>
          <a:custGeom>
            <a:avLst/>
            <a:gdLst/>
            <a:ahLst/>
            <a:cxnLst/>
            <a:rect l="l" t="t" r="r" b="b"/>
            <a:pathLst>
              <a:path w="27939" h="3810">
                <a:moveTo>
                  <a:pt x="0" y="3809"/>
                </a:moveTo>
                <a:lnTo>
                  <a:pt x="27432" y="3809"/>
                </a:lnTo>
                <a:lnTo>
                  <a:pt x="27432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29359" y="2266220"/>
            <a:ext cx="0" cy="107950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95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06500" y="2261140"/>
            <a:ext cx="27940" cy="5080"/>
          </a:xfrm>
          <a:custGeom>
            <a:avLst/>
            <a:gdLst/>
            <a:ahLst/>
            <a:cxnLst/>
            <a:rect l="l" t="t" r="r" b="b"/>
            <a:pathLst>
              <a:path w="27939" h="5080">
                <a:moveTo>
                  <a:pt x="0" y="5080"/>
                </a:moveTo>
                <a:lnTo>
                  <a:pt x="27432" y="5080"/>
                </a:lnTo>
                <a:lnTo>
                  <a:pt x="27432" y="0"/>
                </a:lnTo>
                <a:lnTo>
                  <a:pt x="0" y="0"/>
                </a:lnTo>
                <a:lnTo>
                  <a:pt x="0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90220" y="2374170"/>
            <a:ext cx="27940" cy="3810"/>
          </a:xfrm>
          <a:custGeom>
            <a:avLst/>
            <a:gdLst/>
            <a:ahLst/>
            <a:cxnLst/>
            <a:rect l="l" t="t" r="r" b="b"/>
            <a:pathLst>
              <a:path w="27939" h="3810">
                <a:moveTo>
                  <a:pt x="0" y="3809"/>
                </a:moveTo>
                <a:lnTo>
                  <a:pt x="27431" y="3809"/>
                </a:lnTo>
                <a:lnTo>
                  <a:pt x="27431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94791" y="2266220"/>
            <a:ext cx="0" cy="107950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95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90220" y="2261140"/>
            <a:ext cx="27940" cy="5080"/>
          </a:xfrm>
          <a:custGeom>
            <a:avLst/>
            <a:gdLst/>
            <a:ahLst/>
            <a:cxnLst/>
            <a:rect l="l" t="t" r="r" b="b"/>
            <a:pathLst>
              <a:path w="27939" h="5080">
                <a:moveTo>
                  <a:pt x="0" y="5080"/>
                </a:moveTo>
                <a:lnTo>
                  <a:pt x="27431" y="5080"/>
                </a:lnTo>
                <a:lnTo>
                  <a:pt x="27431" y="0"/>
                </a:lnTo>
                <a:lnTo>
                  <a:pt x="0" y="0"/>
                </a:lnTo>
                <a:lnTo>
                  <a:pt x="0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04904" y="2678970"/>
            <a:ext cx="27940" cy="3810"/>
          </a:xfrm>
          <a:custGeom>
            <a:avLst/>
            <a:gdLst/>
            <a:ahLst/>
            <a:cxnLst/>
            <a:rect l="l" t="t" r="r" b="b"/>
            <a:pathLst>
              <a:path w="27939" h="3810">
                <a:moveTo>
                  <a:pt x="0" y="3809"/>
                </a:moveTo>
                <a:lnTo>
                  <a:pt x="27431" y="3809"/>
                </a:lnTo>
                <a:lnTo>
                  <a:pt x="27431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27764" y="2571020"/>
            <a:ext cx="0" cy="107950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95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04904" y="2565940"/>
            <a:ext cx="27940" cy="5080"/>
          </a:xfrm>
          <a:custGeom>
            <a:avLst/>
            <a:gdLst/>
            <a:ahLst/>
            <a:cxnLst/>
            <a:rect l="l" t="t" r="r" b="b"/>
            <a:pathLst>
              <a:path w="27939" h="5080">
                <a:moveTo>
                  <a:pt x="0" y="5080"/>
                </a:moveTo>
                <a:lnTo>
                  <a:pt x="27431" y="5080"/>
                </a:lnTo>
                <a:lnTo>
                  <a:pt x="27431" y="0"/>
                </a:lnTo>
                <a:lnTo>
                  <a:pt x="0" y="0"/>
                </a:lnTo>
                <a:lnTo>
                  <a:pt x="0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69396" y="2678970"/>
            <a:ext cx="27940" cy="3810"/>
          </a:xfrm>
          <a:custGeom>
            <a:avLst/>
            <a:gdLst/>
            <a:ahLst/>
            <a:cxnLst/>
            <a:rect l="l" t="t" r="r" b="b"/>
            <a:pathLst>
              <a:path w="27940" h="3810">
                <a:moveTo>
                  <a:pt x="0" y="3809"/>
                </a:moveTo>
                <a:lnTo>
                  <a:pt x="27431" y="3809"/>
                </a:lnTo>
                <a:lnTo>
                  <a:pt x="27431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73967" y="2571020"/>
            <a:ext cx="0" cy="107950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95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69396" y="2565940"/>
            <a:ext cx="27940" cy="5080"/>
          </a:xfrm>
          <a:custGeom>
            <a:avLst/>
            <a:gdLst/>
            <a:ahLst/>
            <a:cxnLst/>
            <a:rect l="l" t="t" r="r" b="b"/>
            <a:pathLst>
              <a:path w="27940" h="5080">
                <a:moveTo>
                  <a:pt x="0" y="5080"/>
                </a:moveTo>
                <a:lnTo>
                  <a:pt x="27431" y="5080"/>
                </a:lnTo>
                <a:lnTo>
                  <a:pt x="27431" y="0"/>
                </a:lnTo>
                <a:lnTo>
                  <a:pt x="0" y="0"/>
                </a:lnTo>
                <a:lnTo>
                  <a:pt x="0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99152" y="1606698"/>
            <a:ext cx="451231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其中， </a:t>
            </a:r>
            <a:r>
              <a:rPr sz="1000" i="1" spc="9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代表输入图像，其维度为</a:t>
            </a:r>
            <a:r>
              <a:rPr sz="1000" spc="3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i="1" spc="20" dirty="0">
                <a:latin typeface="Cambria Math" panose="02040503050406030204"/>
                <a:cs typeface="Cambria Math" panose="02040503050406030204"/>
              </a:rPr>
              <a:t>d</a:t>
            </a:r>
            <a:r>
              <a:rPr sz="1000" i="1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；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48895">
              <a:lnSpc>
                <a:spcPct val="100000"/>
              </a:lnSpc>
            </a:pPr>
            <a:r>
              <a:rPr sz="1000" i="1" spc="254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0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为分数向量，其维度等于类别个数</a:t>
            </a:r>
            <a:r>
              <a:rPr sz="1000" spc="5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i="1" spc="15" dirty="0">
                <a:latin typeface="Cambria Math" panose="02040503050406030204"/>
                <a:cs typeface="Cambria Math" panose="02040503050406030204"/>
              </a:rPr>
              <a:t>c</a:t>
            </a:r>
            <a:endParaRPr sz="10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635635" algn="l"/>
                <a:tab pos="2577465" algn="l"/>
                <a:tab pos="2813050" algn="l"/>
              </a:tabLst>
            </a:pPr>
            <a:r>
              <a:rPr sz="1500" i="1" spc="82" baseline="3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500" i="1" spc="89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i="1" spc="-7" baseline="30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500" i="1" spc="300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i="1" spc="37" baseline="11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700" i="1" spc="25" dirty="0">
                <a:latin typeface="Cambria Math" panose="02040503050406030204"/>
                <a:cs typeface="Cambria Math" panose="02040503050406030204"/>
              </a:rPr>
              <a:t>1	</a:t>
            </a:r>
            <a:r>
              <a:rPr sz="1500" i="1" spc="-7" baseline="11000" dirty="0">
                <a:latin typeface="Cambria Math" panose="02040503050406030204"/>
                <a:cs typeface="Cambria Math" panose="02040503050406030204"/>
              </a:rPr>
              <a:t>⋯   </a:t>
            </a:r>
            <a:r>
              <a:rPr sz="1500" i="1" spc="202" baseline="1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i="1" spc="-22" baseline="11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700" i="1" spc="-15" dirty="0">
                <a:latin typeface="Cambria Math" panose="02040503050406030204"/>
                <a:cs typeface="Cambria Math" panose="02040503050406030204"/>
              </a:rPr>
              <a:t>C </a:t>
            </a:r>
            <a:r>
              <a:rPr sz="700" i="1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50" i="1" spc="44" baseline="32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1050" i="1" spc="-135" baseline="3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spc="-7" baseline="3000" dirty="0">
                <a:latin typeface="微软雅黑" panose="020B0503020204020204" charset="-122"/>
                <a:cs typeface="微软雅黑" panose="020B0503020204020204" charset="-122"/>
              </a:rPr>
              <a:t>为权值矩阵</a:t>
            </a:r>
            <a:r>
              <a:rPr sz="1500" spc="44" baseline="300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-7" baseline="3000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baseline="300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i="1" spc="60" baseline="3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i="1" spc="60" baseline="-12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1050" i="1" spc="262" baseline="-1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i="1" spc="-7" baseline="30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500" i="1" spc="307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i="1" spc="-22" baseline="11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700" i="1" spc="-15" dirty="0">
                <a:latin typeface="Cambria Math" panose="02040503050406030204"/>
                <a:cs typeface="Cambria Math" panose="02040503050406030204"/>
              </a:rPr>
              <a:t>i	</a:t>
            </a:r>
            <a:r>
              <a:rPr sz="1500" i="1" spc="-7" baseline="11000" dirty="0">
                <a:latin typeface="Cambria Math" panose="02040503050406030204"/>
                <a:cs typeface="Cambria Math" panose="02040503050406030204"/>
              </a:rPr>
              <a:t>⋯	</a:t>
            </a:r>
            <a:r>
              <a:rPr sz="1500" i="1" spc="22" baseline="11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700" i="1" spc="15" dirty="0">
                <a:latin typeface="Cambria Math" panose="02040503050406030204"/>
                <a:cs typeface="Cambria Math" panose="02040503050406030204"/>
              </a:rPr>
              <a:t>id</a:t>
            </a:r>
            <a:r>
              <a:rPr sz="7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50" i="1" spc="44" baseline="32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1050" i="1" spc="-142" baseline="3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spc="-7" baseline="3000" dirty="0">
                <a:latin typeface="微软雅黑" panose="020B0503020204020204" charset="-122"/>
                <a:cs typeface="微软雅黑" panose="020B0503020204020204" charset="-122"/>
              </a:rPr>
              <a:t>为第</a:t>
            </a:r>
            <a:r>
              <a:rPr sz="1500" spc="-22" baseline="300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i="1" spc="52" baseline="3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1500" i="1" spc="135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spc="-7" baseline="3000" dirty="0">
                <a:latin typeface="微软雅黑" panose="020B0503020204020204" charset="-122"/>
                <a:cs typeface="微软雅黑" panose="020B0503020204020204" charset="-122"/>
              </a:rPr>
              <a:t>个类别的权值向量</a:t>
            </a:r>
            <a:endParaRPr sz="1500" baseline="3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  <a:tabLst>
                <a:tab pos="547370" algn="l"/>
                <a:tab pos="783590" algn="l"/>
              </a:tabLst>
            </a:pPr>
            <a:r>
              <a:rPr sz="1000" i="1" spc="5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000" i="1" spc="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000" i="1" spc="1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i="1" spc="120" baseline="3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050" i="1" spc="120" baseline="-12000" dirty="0">
                <a:latin typeface="Cambria Math" panose="02040503050406030204"/>
                <a:cs typeface="Cambria Math" panose="02040503050406030204"/>
              </a:rPr>
              <a:t>l	</a:t>
            </a:r>
            <a:r>
              <a:rPr sz="1500" i="1" spc="-7" baseline="3000" dirty="0">
                <a:latin typeface="Cambria Math" panose="02040503050406030204"/>
                <a:cs typeface="Cambria Math" panose="02040503050406030204"/>
              </a:rPr>
              <a:t>⋯	</a:t>
            </a:r>
            <a:r>
              <a:rPr sz="1500" i="1" spc="-15" baseline="3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050" i="1" spc="-15" baseline="-12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050" i="1" spc="165" baseline="-1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50" i="1" spc="44" baseline="28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1050" i="1" spc="-13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为偏置向量</a:t>
            </a:r>
            <a:r>
              <a:rPr sz="1000" spc="1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,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i="1" spc="4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050" i="1" spc="60" baseline="-16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为第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i="1" spc="35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1000" i="1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个类别的偏置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610725" y="3272021"/>
            <a:ext cx="838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361" y="1482861"/>
            <a:ext cx="44697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全连接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络级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联多个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变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换来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实现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输入到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出的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映射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0059" y="147869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10725" y="3277746"/>
            <a:ext cx="838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6964" y="908793"/>
            <a:ext cx="2033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2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7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11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7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120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0059" y="142144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89649" y="2921408"/>
            <a:ext cx="32004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级联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个变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来实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映射。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0725" y="3272021"/>
            <a:ext cx="838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3604" y="9667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CD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76964" y="914517"/>
            <a:ext cx="2033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2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11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7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8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120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0059" y="147869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89649" y="2927128"/>
            <a:ext cx="32004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级联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个变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来实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映射。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0725" y="3277746"/>
            <a:ext cx="838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6820" y="913797"/>
            <a:ext cx="762000" cy="218440"/>
          </a:xfrm>
          <a:custGeom>
            <a:avLst/>
            <a:gdLst/>
            <a:ahLst/>
            <a:cxnLst/>
            <a:rect l="l" t="t" r="r" b="b"/>
            <a:pathLst>
              <a:path w="762000" h="218440">
                <a:moveTo>
                  <a:pt x="0" y="0"/>
                </a:moveTo>
                <a:lnTo>
                  <a:pt x="762000" y="0"/>
                </a:lnTo>
                <a:lnTo>
                  <a:pt x="762000" y="217931"/>
                </a:lnTo>
                <a:lnTo>
                  <a:pt x="0" y="217931"/>
                </a:lnTo>
                <a:lnTo>
                  <a:pt x="0" y="0"/>
                </a:lnTo>
                <a:close/>
              </a:path>
            </a:pathLst>
          </a:custGeom>
          <a:solidFill>
            <a:srgbClr val="FCD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76964" y="908793"/>
            <a:ext cx="2033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2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max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(0, </a:t>
            </a:r>
            <a:r>
              <a:rPr sz="1200" i="1" spc="7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11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7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120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0059" y="142144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89649" y="2921408"/>
            <a:ext cx="32004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级联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个变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来实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映射。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0725" y="3272021"/>
            <a:ext cx="838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316" y="914889"/>
            <a:ext cx="3290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747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	</a:t>
            </a:r>
            <a:r>
              <a:rPr sz="1800" i="1" spc="442" baseline="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00" i="1" spc="-187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800" i="1" spc="-60" baseline="2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60" baseline="-13000" dirty="0">
                <a:latin typeface="Cambria Math" panose="02040503050406030204"/>
                <a:cs typeface="Cambria Math" panose="02040503050406030204"/>
              </a:rPr>
              <a:t>2 </a:t>
            </a:r>
            <a:r>
              <a:rPr sz="1800" i="1" spc="37" baseline="200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800" i="1" spc="97" baseline="2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3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800" i="1" spc="97" baseline="20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800" i="1" spc="82" baseline="2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82" baseline="-13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800" spc="82" baseline="200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800" i="1" spc="82" baseline="2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82" baseline="-13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3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8628" y="1265841"/>
            <a:ext cx="4173220" cy="242570"/>
          </a:xfrm>
          <a:prstGeom prst="rect">
            <a:avLst/>
          </a:prstGeom>
          <a:ln w="12191">
            <a:solidFill>
              <a:srgbClr val="FF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15"/>
              </a:spcBef>
              <a:tabLst>
                <a:tab pos="138049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三层全连接网络	</a:t>
            </a:r>
            <a:r>
              <a:rPr sz="1800" i="1" spc="442" baseline="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00" i="1" spc="-37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800" i="1" spc="-60" baseline="2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60" baseline="-13000" dirty="0">
                <a:latin typeface="Cambria Math" panose="02040503050406030204"/>
                <a:cs typeface="Cambria Math" panose="02040503050406030204"/>
              </a:rPr>
              <a:t>3 </a:t>
            </a:r>
            <a:r>
              <a:rPr sz="1800" i="1" spc="37" baseline="200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800" i="1" spc="30" baseline="2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30" baseline="-13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800" i="1" spc="30" baseline="200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800" i="1" spc="89" baseline="2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89" baseline="-13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800" i="1" spc="89" baseline="20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3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800" spc="75" baseline="200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3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1800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0059" y="142144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89649" y="2921408"/>
            <a:ext cx="32004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级联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个变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来实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映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7339" y="914517"/>
            <a:ext cx="1955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-4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60" baseline="-16000" dirty="0">
                <a:latin typeface="Cambria Math" panose="02040503050406030204"/>
                <a:cs typeface="Cambria Math" panose="02040503050406030204"/>
              </a:rPr>
              <a:t>2 </a:t>
            </a:r>
            <a:r>
              <a:rPr sz="12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max</a:t>
            </a:r>
            <a:r>
              <a:rPr sz="1200" spc="25" dirty="0">
                <a:latin typeface="Cambria Math" panose="02040503050406030204"/>
                <a:cs typeface="Cambria Math" panose="02040503050406030204"/>
              </a:rPr>
              <a:t>(0, 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8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5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82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6672" y="1280277"/>
            <a:ext cx="2724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-4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60" baseline="-16000" dirty="0">
                <a:latin typeface="Cambria Math" panose="02040503050406030204"/>
                <a:cs typeface="Cambria Math" panose="02040503050406030204"/>
              </a:rPr>
              <a:t>3 </a:t>
            </a:r>
            <a:r>
              <a:rPr sz="12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max</a:t>
            </a:r>
            <a:r>
              <a:rPr sz="1200" spc="25" dirty="0">
                <a:latin typeface="Cambria Math" panose="02040503050406030204"/>
                <a:cs typeface="Cambria Math" panose="02040503050406030204"/>
              </a:rPr>
              <a:t>(0, </a:t>
            </a:r>
            <a:r>
              <a:rPr sz="1200" spc="2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30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max</a:t>
            </a:r>
            <a:r>
              <a:rPr sz="1200" spc="20" dirty="0">
                <a:latin typeface="Cambria Math" panose="02040503050406030204"/>
                <a:cs typeface="Cambria Math" panose="02040503050406030204"/>
              </a:rPr>
              <a:t>(0, </a:t>
            </a:r>
            <a:r>
              <a:rPr sz="1200" spc="6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89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648" y="128637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三层全连接网络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3351" y="1970649"/>
            <a:ext cx="2159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注意：非线性操作是不可以去掉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10059" y="147869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89649" y="2927128"/>
            <a:ext cx="32004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级联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个变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来实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映射。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680" y="1186593"/>
            <a:ext cx="5823204" cy="61569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720" y="1098201"/>
            <a:ext cx="5943600" cy="800100"/>
          </a:xfrm>
          <a:custGeom>
            <a:avLst/>
            <a:gdLst/>
            <a:ahLst/>
            <a:cxnLst/>
            <a:rect l="l" t="t" r="r" b="b"/>
            <a:pathLst>
              <a:path w="5943600" h="800100">
                <a:moveTo>
                  <a:pt x="0" y="0"/>
                </a:moveTo>
                <a:lnTo>
                  <a:pt x="5943599" y="0"/>
                </a:lnTo>
                <a:lnTo>
                  <a:pt x="5943599" y="800099"/>
                </a:lnTo>
                <a:lnTo>
                  <a:pt x="0" y="8000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4359" y="823881"/>
            <a:ext cx="134620" cy="243840"/>
          </a:xfrm>
          <a:custGeom>
            <a:avLst/>
            <a:gdLst/>
            <a:ahLst/>
            <a:cxnLst/>
            <a:rect l="l" t="t" r="r" b="b"/>
            <a:pathLst>
              <a:path w="134619" h="243840">
                <a:moveTo>
                  <a:pt x="0" y="178307"/>
                </a:moveTo>
                <a:lnTo>
                  <a:pt x="33527" y="178307"/>
                </a:lnTo>
                <a:lnTo>
                  <a:pt x="33527" y="0"/>
                </a:lnTo>
                <a:lnTo>
                  <a:pt x="100583" y="0"/>
                </a:lnTo>
                <a:lnTo>
                  <a:pt x="100583" y="178307"/>
                </a:lnTo>
                <a:lnTo>
                  <a:pt x="134111" y="178307"/>
                </a:lnTo>
                <a:lnTo>
                  <a:pt x="67055" y="243839"/>
                </a:lnTo>
                <a:lnTo>
                  <a:pt x="0" y="178307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06072" y="538893"/>
            <a:ext cx="170815" cy="230504"/>
          </a:xfrm>
          <a:custGeom>
            <a:avLst/>
            <a:gdLst/>
            <a:ahLst/>
            <a:cxnLst/>
            <a:rect l="l" t="t" r="r" b="b"/>
            <a:pathLst>
              <a:path w="170814" h="230504">
                <a:moveTo>
                  <a:pt x="0" y="0"/>
                </a:moveTo>
                <a:lnTo>
                  <a:pt x="170687" y="0"/>
                </a:lnTo>
                <a:lnTo>
                  <a:pt x="170687" y="230123"/>
                </a:lnTo>
                <a:lnTo>
                  <a:pt x="0" y="23012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08779" y="2272678"/>
            <a:ext cx="3503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线性分类器中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b="1" spc="-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000" i="1" spc="25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看作模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由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类别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数决定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220" y="142144"/>
            <a:ext cx="3582670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63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全连接神经网络的权值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线性分类器</a:t>
            </a:r>
            <a:r>
              <a:rPr sz="1200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f(x,</a:t>
            </a:r>
            <a:r>
              <a:rPr sz="1200" i="1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W)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90" dirty="0">
                <a:latin typeface="Cambria Math" panose="02040503050406030204"/>
                <a:cs typeface="Cambria Math" panose="02040503050406030204"/>
              </a:rPr>
              <a:t>Wx</a:t>
            </a:r>
            <a:r>
              <a:rPr sz="1200" i="1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34440" algn="ctr">
              <a:lnSpc>
                <a:spcPct val="100000"/>
              </a:lnSpc>
              <a:spcBef>
                <a:spcPts val="104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权值模板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680" y="1192317"/>
            <a:ext cx="5823204" cy="61569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720" y="1103925"/>
            <a:ext cx="5943600" cy="800100"/>
          </a:xfrm>
          <a:custGeom>
            <a:avLst/>
            <a:gdLst/>
            <a:ahLst/>
            <a:cxnLst/>
            <a:rect l="l" t="t" r="r" b="b"/>
            <a:pathLst>
              <a:path w="5943600" h="800100">
                <a:moveTo>
                  <a:pt x="0" y="0"/>
                </a:moveTo>
                <a:lnTo>
                  <a:pt x="5943599" y="0"/>
                </a:lnTo>
                <a:lnTo>
                  <a:pt x="5943599" y="800099"/>
                </a:lnTo>
                <a:lnTo>
                  <a:pt x="0" y="8000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6220" y="570093"/>
            <a:ext cx="2726055" cy="52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线性分类器</a:t>
            </a:r>
            <a:r>
              <a:rPr sz="12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f(x,</a:t>
            </a:r>
            <a:r>
              <a:rPr sz="1200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W)</a:t>
            </a:r>
            <a:r>
              <a:rPr sz="1200" spc="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90" dirty="0">
                <a:latin typeface="Cambria Math" panose="02040503050406030204"/>
                <a:cs typeface="Cambria Math" panose="02040503050406030204"/>
              </a:rPr>
              <a:t>Wx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R="5080" algn="r">
              <a:lnSpc>
                <a:spcPct val="100000"/>
              </a:lnSpc>
              <a:spcBef>
                <a:spcPts val="104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权值模板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4359" y="829605"/>
            <a:ext cx="134620" cy="243840"/>
          </a:xfrm>
          <a:custGeom>
            <a:avLst/>
            <a:gdLst/>
            <a:ahLst/>
            <a:cxnLst/>
            <a:rect l="l" t="t" r="r" b="b"/>
            <a:pathLst>
              <a:path w="134619" h="243840">
                <a:moveTo>
                  <a:pt x="0" y="178307"/>
                </a:moveTo>
                <a:lnTo>
                  <a:pt x="33527" y="178307"/>
                </a:lnTo>
                <a:lnTo>
                  <a:pt x="33527" y="0"/>
                </a:lnTo>
                <a:lnTo>
                  <a:pt x="100583" y="0"/>
                </a:lnTo>
                <a:lnTo>
                  <a:pt x="100583" y="178307"/>
                </a:lnTo>
                <a:lnTo>
                  <a:pt x="134111" y="178307"/>
                </a:lnTo>
                <a:lnTo>
                  <a:pt x="67055" y="243839"/>
                </a:lnTo>
                <a:lnTo>
                  <a:pt x="0" y="178307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06072" y="544617"/>
            <a:ext cx="170815" cy="230504"/>
          </a:xfrm>
          <a:custGeom>
            <a:avLst/>
            <a:gdLst/>
            <a:ahLst/>
            <a:cxnLst/>
            <a:rect l="l" t="t" r="r" b="b"/>
            <a:pathLst>
              <a:path w="170814" h="230504">
                <a:moveTo>
                  <a:pt x="0" y="0"/>
                </a:moveTo>
                <a:lnTo>
                  <a:pt x="170687" y="0"/>
                </a:lnTo>
                <a:lnTo>
                  <a:pt x="170687" y="230123"/>
                </a:lnTo>
                <a:lnTo>
                  <a:pt x="0" y="23012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824" y="2565441"/>
            <a:ext cx="2202180" cy="230504"/>
          </a:xfrm>
          <a:custGeom>
            <a:avLst/>
            <a:gdLst/>
            <a:ahLst/>
            <a:cxnLst/>
            <a:rect l="l" t="t" r="r" b="b"/>
            <a:pathLst>
              <a:path w="2202180" h="230505">
                <a:moveTo>
                  <a:pt x="0" y="0"/>
                </a:moveTo>
                <a:lnTo>
                  <a:pt x="2202180" y="0"/>
                </a:lnTo>
                <a:lnTo>
                  <a:pt x="2202180" y="230123"/>
                </a:lnTo>
                <a:lnTo>
                  <a:pt x="0" y="230123"/>
                </a:lnTo>
                <a:lnTo>
                  <a:pt x="0" y="0"/>
                </a:lnTo>
                <a:close/>
              </a:path>
            </a:pathLst>
          </a:custGeom>
          <a:solidFill>
            <a:srgbClr val="FCD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1824" y="2574153"/>
            <a:ext cx="2202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2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11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7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120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-1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268" y="2176389"/>
            <a:ext cx="1244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两层全连接网络：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28247" y="2591348"/>
            <a:ext cx="190500" cy="204470"/>
          </a:xfrm>
          <a:custGeom>
            <a:avLst/>
            <a:gdLst/>
            <a:ahLst/>
            <a:cxnLst/>
            <a:rect l="l" t="t" r="r" b="b"/>
            <a:pathLst>
              <a:path w="190500" h="204469">
                <a:moveTo>
                  <a:pt x="0" y="0"/>
                </a:moveTo>
                <a:lnTo>
                  <a:pt x="190499" y="0"/>
                </a:lnTo>
                <a:lnTo>
                  <a:pt x="190499" y="204215"/>
                </a:lnTo>
                <a:lnTo>
                  <a:pt x="0" y="204215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08779" y="2201617"/>
            <a:ext cx="3503295" cy="7118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7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线性分类器中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b="1" spc="-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00" spc="25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看作模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类别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数决定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全连接神经网络中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77520" lvl="1" indent="-236220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"/>
              <a:tabLst>
                <a:tab pos="478155" algn="l"/>
              </a:tabLst>
            </a:pPr>
            <a:r>
              <a:rPr sz="1000" spc="1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050" spc="23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050" spc="14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看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作模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为指定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67159" y="147869"/>
            <a:ext cx="2311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全连接神经网络的权值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680" y="1186593"/>
            <a:ext cx="5823204" cy="61569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720" y="1098201"/>
            <a:ext cx="5943600" cy="800100"/>
          </a:xfrm>
          <a:custGeom>
            <a:avLst/>
            <a:gdLst/>
            <a:ahLst/>
            <a:cxnLst/>
            <a:rect l="l" t="t" r="r" b="b"/>
            <a:pathLst>
              <a:path w="5943600" h="800100">
                <a:moveTo>
                  <a:pt x="0" y="0"/>
                </a:moveTo>
                <a:lnTo>
                  <a:pt x="5943599" y="0"/>
                </a:lnTo>
                <a:lnTo>
                  <a:pt x="5943599" y="800099"/>
                </a:lnTo>
                <a:lnTo>
                  <a:pt x="0" y="8000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6220" y="564369"/>
            <a:ext cx="2726055" cy="52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线性分类器</a:t>
            </a:r>
            <a:r>
              <a:rPr sz="12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f(x,</a:t>
            </a:r>
            <a:r>
              <a:rPr sz="1200" i="1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W)</a:t>
            </a:r>
            <a:r>
              <a:rPr sz="1200" i="1" spc="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90" dirty="0">
                <a:latin typeface="Cambria Math" panose="02040503050406030204"/>
                <a:cs typeface="Cambria Math" panose="02040503050406030204"/>
              </a:rPr>
              <a:t>Wx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R="5080" algn="r">
              <a:lnSpc>
                <a:spcPct val="100000"/>
              </a:lnSpc>
              <a:spcBef>
                <a:spcPts val="104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权值模板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4359" y="823881"/>
            <a:ext cx="134620" cy="243840"/>
          </a:xfrm>
          <a:custGeom>
            <a:avLst/>
            <a:gdLst/>
            <a:ahLst/>
            <a:cxnLst/>
            <a:rect l="l" t="t" r="r" b="b"/>
            <a:pathLst>
              <a:path w="134619" h="243840">
                <a:moveTo>
                  <a:pt x="0" y="178307"/>
                </a:moveTo>
                <a:lnTo>
                  <a:pt x="33527" y="178307"/>
                </a:lnTo>
                <a:lnTo>
                  <a:pt x="33527" y="0"/>
                </a:lnTo>
                <a:lnTo>
                  <a:pt x="100583" y="0"/>
                </a:lnTo>
                <a:lnTo>
                  <a:pt x="100583" y="178307"/>
                </a:lnTo>
                <a:lnTo>
                  <a:pt x="134111" y="178307"/>
                </a:lnTo>
                <a:lnTo>
                  <a:pt x="67055" y="243839"/>
                </a:lnTo>
                <a:lnTo>
                  <a:pt x="0" y="178307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06072" y="538893"/>
            <a:ext cx="170815" cy="230504"/>
          </a:xfrm>
          <a:custGeom>
            <a:avLst/>
            <a:gdLst/>
            <a:ahLst/>
            <a:cxnLst/>
            <a:rect l="l" t="t" r="r" b="b"/>
            <a:pathLst>
              <a:path w="170814" h="230504">
                <a:moveTo>
                  <a:pt x="0" y="0"/>
                </a:moveTo>
                <a:lnTo>
                  <a:pt x="170687" y="0"/>
                </a:lnTo>
                <a:lnTo>
                  <a:pt x="170687" y="230123"/>
                </a:lnTo>
                <a:lnTo>
                  <a:pt x="0" y="23012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824" y="2559717"/>
            <a:ext cx="2202180" cy="230504"/>
          </a:xfrm>
          <a:custGeom>
            <a:avLst/>
            <a:gdLst/>
            <a:ahLst/>
            <a:cxnLst/>
            <a:rect l="l" t="t" r="r" b="b"/>
            <a:pathLst>
              <a:path w="2202180" h="230505">
                <a:moveTo>
                  <a:pt x="0" y="0"/>
                </a:moveTo>
                <a:lnTo>
                  <a:pt x="2202180" y="0"/>
                </a:lnTo>
                <a:lnTo>
                  <a:pt x="2202180" y="230124"/>
                </a:lnTo>
                <a:lnTo>
                  <a:pt x="0" y="230124"/>
                </a:lnTo>
                <a:lnTo>
                  <a:pt x="0" y="0"/>
                </a:lnTo>
                <a:close/>
              </a:path>
            </a:pathLst>
          </a:custGeom>
          <a:solidFill>
            <a:srgbClr val="FCD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1824" y="2568429"/>
            <a:ext cx="2202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2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11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7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120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-1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268" y="2170665"/>
            <a:ext cx="1244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两层全连接网络：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28247" y="2585625"/>
            <a:ext cx="190500" cy="204470"/>
          </a:xfrm>
          <a:custGeom>
            <a:avLst/>
            <a:gdLst/>
            <a:ahLst/>
            <a:cxnLst/>
            <a:rect l="l" t="t" r="r" b="b"/>
            <a:pathLst>
              <a:path w="190500" h="204469">
                <a:moveTo>
                  <a:pt x="0" y="0"/>
                </a:moveTo>
                <a:lnTo>
                  <a:pt x="190499" y="0"/>
                </a:lnTo>
                <a:lnTo>
                  <a:pt x="190499" y="204215"/>
                </a:lnTo>
                <a:lnTo>
                  <a:pt x="0" y="204215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08779" y="2195897"/>
            <a:ext cx="3503295" cy="9404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7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线性分类器中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b="1" spc="-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i="1" spc="5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00" i="1" spc="25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看作模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类别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数决定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全连接神经网络中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77520" lvl="1" indent="-236220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"/>
              <a:tabLst>
                <a:tab pos="478155" algn="l"/>
              </a:tabLst>
            </a:pPr>
            <a:r>
              <a:rPr sz="1000" i="1" spc="5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i="1" spc="8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050" i="1" spc="14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作模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为指定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77520" lvl="1" indent="-236220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"/>
              <a:tabLst>
                <a:tab pos="478155" algn="l"/>
              </a:tabLst>
            </a:pPr>
            <a:r>
              <a:rPr sz="10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050" i="1" spc="6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050" i="1" spc="24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合这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版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来实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最终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别打分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67159" y="142144"/>
            <a:ext cx="2311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全连接神经网络的权值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680" y="1192317"/>
            <a:ext cx="5823204" cy="61569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720" y="1103925"/>
            <a:ext cx="5943600" cy="800100"/>
          </a:xfrm>
          <a:custGeom>
            <a:avLst/>
            <a:gdLst/>
            <a:ahLst/>
            <a:cxnLst/>
            <a:rect l="l" t="t" r="r" b="b"/>
            <a:pathLst>
              <a:path w="5943600" h="800100">
                <a:moveTo>
                  <a:pt x="0" y="0"/>
                </a:moveTo>
                <a:lnTo>
                  <a:pt x="5943599" y="0"/>
                </a:lnTo>
                <a:lnTo>
                  <a:pt x="5943599" y="800099"/>
                </a:lnTo>
                <a:lnTo>
                  <a:pt x="0" y="8000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4359" y="829605"/>
            <a:ext cx="134620" cy="243840"/>
          </a:xfrm>
          <a:custGeom>
            <a:avLst/>
            <a:gdLst/>
            <a:ahLst/>
            <a:cxnLst/>
            <a:rect l="l" t="t" r="r" b="b"/>
            <a:pathLst>
              <a:path w="134619" h="243840">
                <a:moveTo>
                  <a:pt x="0" y="178307"/>
                </a:moveTo>
                <a:lnTo>
                  <a:pt x="33527" y="178307"/>
                </a:lnTo>
                <a:lnTo>
                  <a:pt x="33527" y="0"/>
                </a:lnTo>
                <a:lnTo>
                  <a:pt x="100583" y="0"/>
                </a:lnTo>
                <a:lnTo>
                  <a:pt x="100583" y="178307"/>
                </a:lnTo>
                <a:lnTo>
                  <a:pt x="134111" y="178307"/>
                </a:lnTo>
                <a:lnTo>
                  <a:pt x="67055" y="243839"/>
                </a:lnTo>
                <a:lnTo>
                  <a:pt x="0" y="178307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06072" y="544617"/>
            <a:ext cx="170815" cy="230504"/>
          </a:xfrm>
          <a:custGeom>
            <a:avLst/>
            <a:gdLst/>
            <a:ahLst/>
            <a:cxnLst/>
            <a:rect l="l" t="t" r="r" b="b"/>
            <a:pathLst>
              <a:path w="170814" h="230504">
                <a:moveTo>
                  <a:pt x="0" y="0"/>
                </a:moveTo>
                <a:lnTo>
                  <a:pt x="170687" y="0"/>
                </a:lnTo>
                <a:lnTo>
                  <a:pt x="170687" y="230123"/>
                </a:lnTo>
                <a:lnTo>
                  <a:pt x="0" y="23012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37791" y="1794297"/>
            <a:ext cx="643255" cy="358140"/>
          </a:xfrm>
          <a:custGeom>
            <a:avLst/>
            <a:gdLst/>
            <a:ahLst/>
            <a:cxnLst/>
            <a:rect l="l" t="t" r="r" b="b"/>
            <a:pathLst>
              <a:path w="643254" h="358139">
                <a:moveTo>
                  <a:pt x="588450" y="339510"/>
                </a:moveTo>
                <a:lnTo>
                  <a:pt x="579120" y="356615"/>
                </a:lnTo>
                <a:lnTo>
                  <a:pt x="643128" y="358139"/>
                </a:lnTo>
                <a:lnTo>
                  <a:pt x="633446" y="344423"/>
                </a:lnTo>
                <a:lnTo>
                  <a:pt x="597408" y="344423"/>
                </a:lnTo>
                <a:lnTo>
                  <a:pt x="588450" y="339510"/>
                </a:lnTo>
                <a:close/>
              </a:path>
              <a:path w="643254" h="358139">
                <a:moveTo>
                  <a:pt x="597594" y="322746"/>
                </a:moveTo>
                <a:lnTo>
                  <a:pt x="588450" y="339510"/>
                </a:lnTo>
                <a:lnTo>
                  <a:pt x="597408" y="344423"/>
                </a:lnTo>
                <a:lnTo>
                  <a:pt x="606552" y="327659"/>
                </a:lnTo>
                <a:lnTo>
                  <a:pt x="597594" y="322746"/>
                </a:lnTo>
                <a:close/>
              </a:path>
              <a:path w="643254" h="358139">
                <a:moveTo>
                  <a:pt x="606552" y="306323"/>
                </a:moveTo>
                <a:lnTo>
                  <a:pt x="597594" y="322746"/>
                </a:lnTo>
                <a:lnTo>
                  <a:pt x="606552" y="327659"/>
                </a:lnTo>
                <a:lnTo>
                  <a:pt x="597408" y="344423"/>
                </a:lnTo>
                <a:lnTo>
                  <a:pt x="633446" y="344423"/>
                </a:lnTo>
                <a:lnTo>
                  <a:pt x="606552" y="306323"/>
                </a:lnTo>
                <a:close/>
              </a:path>
              <a:path w="643254" h="358139">
                <a:moveTo>
                  <a:pt x="9144" y="0"/>
                </a:moveTo>
                <a:lnTo>
                  <a:pt x="0" y="16763"/>
                </a:lnTo>
                <a:lnTo>
                  <a:pt x="588450" y="339510"/>
                </a:lnTo>
                <a:lnTo>
                  <a:pt x="597594" y="322746"/>
                </a:lnTo>
                <a:lnTo>
                  <a:pt x="914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34744" y="2146341"/>
            <a:ext cx="1289303" cy="1252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34744" y="2146341"/>
            <a:ext cx="1292860" cy="1254760"/>
          </a:xfrm>
          <a:custGeom>
            <a:avLst/>
            <a:gdLst/>
            <a:ahLst/>
            <a:cxnLst/>
            <a:rect l="l" t="t" r="r" b="b"/>
            <a:pathLst>
              <a:path w="1292860" h="1254760">
                <a:moveTo>
                  <a:pt x="0" y="0"/>
                </a:moveTo>
                <a:lnTo>
                  <a:pt x="1292351" y="0"/>
                </a:lnTo>
                <a:lnTo>
                  <a:pt x="1292351" y="1254251"/>
                </a:lnTo>
                <a:lnTo>
                  <a:pt x="0" y="1254251"/>
                </a:lnTo>
                <a:lnTo>
                  <a:pt x="0" y="0"/>
                </a:lnTo>
                <a:close/>
              </a:path>
            </a:pathLst>
          </a:custGeom>
          <a:ln w="137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816465" y="2462787"/>
            <a:ext cx="152400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两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 马 头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7744" y="147869"/>
            <a:ext cx="3582670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63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全连接神经网络的权值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线性分类器</a:t>
            </a:r>
            <a:r>
              <a:rPr sz="1200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f(x,</a:t>
            </a:r>
            <a:r>
              <a:rPr sz="1200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W)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90" dirty="0">
                <a:latin typeface="Cambria Math" panose="02040503050406030204"/>
                <a:cs typeface="Cambria Math" panose="02040503050406030204"/>
              </a:rPr>
              <a:t>Wx</a:t>
            </a:r>
            <a:r>
              <a:rPr sz="12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33805" algn="ctr">
              <a:lnSpc>
                <a:spcPct val="100000"/>
              </a:lnSpc>
              <a:spcBef>
                <a:spcPts val="103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权值模板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83294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680" y="1186593"/>
            <a:ext cx="5823204" cy="61569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720" y="1098201"/>
            <a:ext cx="5943600" cy="800100"/>
          </a:xfrm>
          <a:custGeom>
            <a:avLst/>
            <a:gdLst/>
            <a:ahLst/>
            <a:cxnLst/>
            <a:rect l="l" t="t" r="r" b="b"/>
            <a:pathLst>
              <a:path w="5943600" h="800100">
                <a:moveTo>
                  <a:pt x="0" y="0"/>
                </a:moveTo>
                <a:lnTo>
                  <a:pt x="5943599" y="0"/>
                </a:lnTo>
                <a:lnTo>
                  <a:pt x="5943599" y="800099"/>
                </a:lnTo>
                <a:lnTo>
                  <a:pt x="0" y="8000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4359" y="823881"/>
            <a:ext cx="134620" cy="243840"/>
          </a:xfrm>
          <a:custGeom>
            <a:avLst/>
            <a:gdLst/>
            <a:ahLst/>
            <a:cxnLst/>
            <a:rect l="l" t="t" r="r" b="b"/>
            <a:pathLst>
              <a:path w="134619" h="243840">
                <a:moveTo>
                  <a:pt x="0" y="178307"/>
                </a:moveTo>
                <a:lnTo>
                  <a:pt x="33527" y="178307"/>
                </a:lnTo>
                <a:lnTo>
                  <a:pt x="33527" y="0"/>
                </a:lnTo>
                <a:lnTo>
                  <a:pt x="100583" y="0"/>
                </a:lnTo>
                <a:lnTo>
                  <a:pt x="100583" y="178307"/>
                </a:lnTo>
                <a:lnTo>
                  <a:pt x="134111" y="178307"/>
                </a:lnTo>
                <a:lnTo>
                  <a:pt x="67055" y="243839"/>
                </a:lnTo>
                <a:lnTo>
                  <a:pt x="0" y="178307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06072" y="538893"/>
            <a:ext cx="170815" cy="230504"/>
          </a:xfrm>
          <a:custGeom>
            <a:avLst/>
            <a:gdLst/>
            <a:ahLst/>
            <a:cxnLst/>
            <a:rect l="l" t="t" r="r" b="b"/>
            <a:pathLst>
              <a:path w="170814" h="230504">
                <a:moveTo>
                  <a:pt x="0" y="0"/>
                </a:moveTo>
                <a:lnTo>
                  <a:pt x="170687" y="0"/>
                </a:lnTo>
                <a:lnTo>
                  <a:pt x="170687" y="230123"/>
                </a:lnTo>
                <a:lnTo>
                  <a:pt x="0" y="23012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37791" y="1788573"/>
            <a:ext cx="643255" cy="358140"/>
          </a:xfrm>
          <a:custGeom>
            <a:avLst/>
            <a:gdLst/>
            <a:ahLst/>
            <a:cxnLst/>
            <a:rect l="l" t="t" r="r" b="b"/>
            <a:pathLst>
              <a:path w="643254" h="358139">
                <a:moveTo>
                  <a:pt x="588450" y="339510"/>
                </a:moveTo>
                <a:lnTo>
                  <a:pt x="579120" y="356616"/>
                </a:lnTo>
                <a:lnTo>
                  <a:pt x="643128" y="358140"/>
                </a:lnTo>
                <a:lnTo>
                  <a:pt x="633446" y="344424"/>
                </a:lnTo>
                <a:lnTo>
                  <a:pt x="597408" y="344424"/>
                </a:lnTo>
                <a:lnTo>
                  <a:pt x="588450" y="339510"/>
                </a:lnTo>
                <a:close/>
              </a:path>
              <a:path w="643254" h="358139">
                <a:moveTo>
                  <a:pt x="597594" y="322746"/>
                </a:moveTo>
                <a:lnTo>
                  <a:pt x="588450" y="339510"/>
                </a:lnTo>
                <a:lnTo>
                  <a:pt x="597408" y="344424"/>
                </a:lnTo>
                <a:lnTo>
                  <a:pt x="606552" y="327659"/>
                </a:lnTo>
                <a:lnTo>
                  <a:pt x="597594" y="322746"/>
                </a:lnTo>
                <a:close/>
              </a:path>
              <a:path w="643254" h="358139">
                <a:moveTo>
                  <a:pt x="606552" y="306324"/>
                </a:moveTo>
                <a:lnTo>
                  <a:pt x="597594" y="322746"/>
                </a:lnTo>
                <a:lnTo>
                  <a:pt x="606552" y="327659"/>
                </a:lnTo>
                <a:lnTo>
                  <a:pt x="597408" y="344424"/>
                </a:lnTo>
                <a:lnTo>
                  <a:pt x="633446" y="344424"/>
                </a:lnTo>
                <a:lnTo>
                  <a:pt x="606552" y="306324"/>
                </a:lnTo>
                <a:close/>
              </a:path>
              <a:path w="643254" h="358139">
                <a:moveTo>
                  <a:pt x="9144" y="0"/>
                </a:moveTo>
                <a:lnTo>
                  <a:pt x="0" y="16763"/>
                </a:lnTo>
                <a:lnTo>
                  <a:pt x="588450" y="339510"/>
                </a:lnTo>
                <a:lnTo>
                  <a:pt x="597594" y="322746"/>
                </a:lnTo>
                <a:lnTo>
                  <a:pt x="914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34744" y="2140617"/>
            <a:ext cx="1289303" cy="1252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34744" y="2140617"/>
            <a:ext cx="1292860" cy="1254760"/>
          </a:xfrm>
          <a:custGeom>
            <a:avLst/>
            <a:gdLst/>
            <a:ahLst/>
            <a:cxnLst/>
            <a:rect l="l" t="t" r="r" b="b"/>
            <a:pathLst>
              <a:path w="1292860" h="1254760">
                <a:moveTo>
                  <a:pt x="0" y="0"/>
                </a:moveTo>
                <a:lnTo>
                  <a:pt x="1292351" y="0"/>
                </a:lnTo>
                <a:lnTo>
                  <a:pt x="1292351" y="1254251"/>
                </a:lnTo>
                <a:lnTo>
                  <a:pt x="0" y="1254251"/>
                </a:lnTo>
                <a:lnTo>
                  <a:pt x="0" y="0"/>
                </a:lnTo>
                <a:close/>
              </a:path>
            </a:pathLst>
          </a:custGeom>
          <a:ln w="137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3612" y="2568429"/>
            <a:ext cx="2033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2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11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7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120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-1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792" y="2170665"/>
            <a:ext cx="1244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两层全连接网络：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28247" y="2585625"/>
            <a:ext cx="190500" cy="204470"/>
          </a:xfrm>
          <a:custGeom>
            <a:avLst/>
            <a:gdLst/>
            <a:ahLst/>
            <a:cxnLst/>
            <a:rect l="l" t="t" r="r" b="b"/>
            <a:pathLst>
              <a:path w="190500" h="204469">
                <a:moveTo>
                  <a:pt x="0" y="0"/>
                </a:moveTo>
                <a:lnTo>
                  <a:pt x="190499" y="0"/>
                </a:lnTo>
                <a:lnTo>
                  <a:pt x="190499" y="204215"/>
                </a:lnTo>
                <a:lnTo>
                  <a:pt x="0" y="204215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816465" y="2457063"/>
            <a:ext cx="152400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两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 马 头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744" y="142144"/>
            <a:ext cx="3582670" cy="94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63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全连接神经网络的权值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线性分类器</a:t>
            </a:r>
            <a:r>
              <a:rPr sz="1200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f(x,</a:t>
            </a:r>
            <a:r>
              <a:rPr sz="1200" i="1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W)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90" dirty="0">
                <a:latin typeface="Cambria Math" panose="02040503050406030204"/>
                <a:cs typeface="Cambria Math" panose="02040503050406030204"/>
              </a:rPr>
              <a:t>Wx</a:t>
            </a:r>
            <a:r>
              <a:rPr sz="1200" i="1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33805" algn="ctr">
              <a:lnSpc>
                <a:spcPct val="100000"/>
              </a:lnSpc>
              <a:spcBef>
                <a:spcPts val="104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权值模板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583294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680" y="1192317"/>
            <a:ext cx="5823204" cy="61569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720" y="1103925"/>
            <a:ext cx="5943600" cy="800100"/>
          </a:xfrm>
          <a:custGeom>
            <a:avLst/>
            <a:gdLst/>
            <a:ahLst/>
            <a:cxnLst/>
            <a:rect l="l" t="t" r="r" b="b"/>
            <a:pathLst>
              <a:path w="5943600" h="800100">
                <a:moveTo>
                  <a:pt x="0" y="0"/>
                </a:moveTo>
                <a:lnTo>
                  <a:pt x="5943599" y="0"/>
                </a:lnTo>
                <a:lnTo>
                  <a:pt x="5943599" y="800099"/>
                </a:lnTo>
                <a:lnTo>
                  <a:pt x="0" y="8000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7744" y="571617"/>
            <a:ext cx="2726055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线性分类器</a:t>
            </a:r>
            <a:r>
              <a:rPr sz="1200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f(x,</a:t>
            </a:r>
            <a:r>
              <a:rPr sz="1200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W)</a:t>
            </a:r>
            <a:r>
              <a:rPr sz="1200" spc="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90" dirty="0">
                <a:latin typeface="Cambria Math" panose="02040503050406030204"/>
                <a:cs typeface="Cambria Math" panose="02040503050406030204"/>
              </a:rPr>
              <a:t>Wx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R="5080" algn="r">
              <a:lnSpc>
                <a:spcPct val="100000"/>
              </a:lnSpc>
              <a:spcBef>
                <a:spcPts val="103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权值模板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4359" y="829605"/>
            <a:ext cx="134620" cy="243840"/>
          </a:xfrm>
          <a:custGeom>
            <a:avLst/>
            <a:gdLst/>
            <a:ahLst/>
            <a:cxnLst/>
            <a:rect l="l" t="t" r="r" b="b"/>
            <a:pathLst>
              <a:path w="134619" h="243840">
                <a:moveTo>
                  <a:pt x="0" y="178307"/>
                </a:moveTo>
                <a:lnTo>
                  <a:pt x="33527" y="178307"/>
                </a:lnTo>
                <a:lnTo>
                  <a:pt x="33527" y="0"/>
                </a:lnTo>
                <a:lnTo>
                  <a:pt x="100583" y="0"/>
                </a:lnTo>
                <a:lnTo>
                  <a:pt x="100583" y="178307"/>
                </a:lnTo>
                <a:lnTo>
                  <a:pt x="134111" y="178307"/>
                </a:lnTo>
                <a:lnTo>
                  <a:pt x="67055" y="243839"/>
                </a:lnTo>
                <a:lnTo>
                  <a:pt x="0" y="178307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06072" y="544617"/>
            <a:ext cx="170815" cy="230504"/>
          </a:xfrm>
          <a:custGeom>
            <a:avLst/>
            <a:gdLst/>
            <a:ahLst/>
            <a:cxnLst/>
            <a:rect l="l" t="t" r="r" b="b"/>
            <a:pathLst>
              <a:path w="170814" h="230504">
                <a:moveTo>
                  <a:pt x="0" y="0"/>
                </a:moveTo>
                <a:lnTo>
                  <a:pt x="170687" y="0"/>
                </a:lnTo>
                <a:lnTo>
                  <a:pt x="170687" y="230123"/>
                </a:lnTo>
                <a:lnTo>
                  <a:pt x="0" y="23012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37791" y="1794297"/>
            <a:ext cx="643255" cy="358140"/>
          </a:xfrm>
          <a:custGeom>
            <a:avLst/>
            <a:gdLst/>
            <a:ahLst/>
            <a:cxnLst/>
            <a:rect l="l" t="t" r="r" b="b"/>
            <a:pathLst>
              <a:path w="643254" h="358139">
                <a:moveTo>
                  <a:pt x="588450" y="339510"/>
                </a:moveTo>
                <a:lnTo>
                  <a:pt x="579120" y="356615"/>
                </a:lnTo>
                <a:lnTo>
                  <a:pt x="643128" y="358139"/>
                </a:lnTo>
                <a:lnTo>
                  <a:pt x="633446" y="344423"/>
                </a:lnTo>
                <a:lnTo>
                  <a:pt x="597408" y="344423"/>
                </a:lnTo>
                <a:lnTo>
                  <a:pt x="588450" y="339510"/>
                </a:lnTo>
                <a:close/>
              </a:path>
              <a:path w="643254" h="358139">
                <a:moveTo>
                  <a:pt x="597594" y="322746"/>
                </a:moveTo>
                <a:lnTo>
                  <a:pt x="588450" y="339510"/>
                </a:lnTo>
                <a:lnTo>
                  <a:pt x="597408" y="344423"/>
                </a:lnTo>
                <a:lnTo>
                  <a:pt x="606552" y="327659"/>
                </a:lnTo>
                <a:lnTo>
                  <a:pt x="597594" y="322746"/>
                </a:lnTo>
                <a:close/>
              </a:path>
              <a:path w="643254" h="358139">
                <a:moveTo>
                  <a:pt x="606552" y="306323"/>
                </a:moveTo>
                <a:lnTo>
                  <a:pt x="597594" y="322746"/>
                </a:lnTo>
                <a:lnTo>
                  <a:pt x="606552" y="327659"/>
                </a:lnTo>
                <a:lnTo>
                  <a:pt x="597408" y="344423"/>
                </a:lnTo>
                <a:lnTo>
                  <a:pt x="633446" y="344423"/>
                </a:lnTo>
                <a:lnTo>
                  <a:pt x="606552" y="306323"/>
                </a:lnTo>
                <a:close/>
              </a:path>
              <a:path w="643254" h="358139">
                <a:moveTo>
                  <a:pt x="9144" y="0"/>
                </a:moveTo>
                <a:lnTo>
                  <a:pt x="0" y="16763"/>
                </a:lnTo>
                <a:lnTo>
                  <a:pt x="588450" y="339510"/>
                </a:lnTo>
                <a:lnTo>
                  <a:pt x="597594" y="322746"/>
                </a:lnTo>
                <a:lnTo>
                  <a:pt x="914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34744" y="2146341"/>
            <a:ext cx="1289303" cy="1252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34744" y="2146341"/>
            <a:ext cx="1292860" cy="1254760"/>
          </a:xfrm>
          <a:custGeom>
            <a:avLst/>
            <a:gdLst/>
            <a:ahLst/>
            <a:cxnLst/>
            <a:rect l="l" t="t" r="r" b="b"/>
            <a:pathLst>
              <a:path w="1292860" h="1254760">
                <a:moveTo>
                  <a:pt x="0" y="0"/>
                </a:moveTo>
                <a:lnTo>
                  <a:pt x="1292351" y="0"/>
                </a:lnTo>
                <a:lnTo>
                  <a:pt x="1292351" y="1254251"/>
                </a:lnTo>
                <a:lnTo>
                  <a:pt x="0" y="1254251"/>
                </a:lnTo>
                <a:lnTo>
                  <a:pt x="0" y="0"/>
                </a:lnTo>
                <a:close/>
              </a:path>
            </a:pathLst>
          </a:custGeom>
          <a:ln w="137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9792" y="2176389"/>
            <a:ext cx="1244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两层全连接网络：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28247" y="2591348"/>
            <a:ext cx="190500" cy="204470"/>
          </a:xfrm>
          <a:custGeom>
            <a:avLst/>
            <a:gdLst/>
            <a:ahLst/>
            <a:cxnLst/>
            <a:rect l="l" t="t" r="r" b="b"/>
            <a:pathLst>
              <a:path w="190500" h="204469">
                <a:moveTo>
                  <a:pt x="0" y="0"/>
                </a:moveTo>
                <a:lnTo>
                  <a:pt x="190499" y="0"/>
                </a:lnTo>
                <a:lnTo>
                  <a:pt x="190499" y="204215"/>
                </a:lnTo>
                <a:lnTo>
                  <a:pt x="0" y="204215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251867" y="2100622"/>
            <a:ext cx="172672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联接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的描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述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1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力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 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强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。因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调整</a:t>
            </a:r>
            <a:r>
              <a:rPr sz="1000" spc="-2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0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050" spc="75" baseline="-16000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050" spc="240" baseline="-16000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行数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等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3612" y="2574153"/>
            <a:ext cx="3861435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spc="3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2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max(0,</a:t>
            </a:r>
            <a:r>
              <a:rPr sz="1200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11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120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-10" smtClean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-15" baseline="-16000" smtClean="0">
                <a:latin typeface="Cambria Math" panose="02040503050406030204"/>
                <a:cs typeface="Cambria Math" panose="02040503050406030204"/>
              </a:rPr>
              <a:t>2</a:t>
            </a:r>
            <a:r>
              <a:rPr sz="1275" spc="30" baseline="-16000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spc="7" baseline="-1900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500" spc="-7" baseline="-1900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加模</a:t>
            </a:r>
            <a:r>
              <a:rPr sz="1500" spc="7" baseline="-1900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500" spc="-7" baseline="-1900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500" spc="7" baseline="-1900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500" spc="-22" baseline="-1900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1500" spc="-7" baseline="-1900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500" spc="7" baseline="-1900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1500" spc="-7" baseline="-1900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器有机会</a:t>
            </a:r>
            <a:endParaRPr sz="1500" baseline="-19000" smtClean="0">
              <a:latin typeface="黑体" panose="02010609060101010101" charset="-122"/>
              <a:cs typeface="黑体" panose="02010609060101010101" charset="-122"/>
            </a:endParaRPr>
          </a:p>
          <a:p>
            <a:pPr marL="2070100">
              <a:lnSpc>
                <a:spcPct val="100000"/>
              </a:lnSpc>
              <a:spcBef>
                <a:spcPts val="930"/>
              </a:spcBef>
            </a:pP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到两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不同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向的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马</a:t>
            </a:r>
            <a:r>
              <a:rPr sz="1000" spc="-10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板</a:t>
            </a:r>
            <a:r>
              <a:rPr sz="1000" spc="-5" smtClean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16465" y="2462787"/>
            <a:ext cx="152400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两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 马 头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768760" y="147869"/>
            <a:ext cx="2311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全连接神经网络的权值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583294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919" y="1645317"/>
            <a:ext cx="1318260" cy="230504"/>
          </a:xfrm>
          <a:prstGeom prst="rect">
            <a:avLst/>
          </a:prstGeom>
          <a:ln w="13715">
            <a:solidFill>
              <a:srgbClr val="FF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30"/>
              </a:spcBef>
            </a:pPr>
            <a:r>
              <a:rPr sz="1200" i="1" spc="45" dirty="0">
                <a:latin typeface="Cambria Math" panose="02040503050406030204"/>
                <a:cs typeface="Cambria Math" panose="02040503050406030204"/>
              </a:rPr>
              <a:t>f(x,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Wx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220" y="1647933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线性分类器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01344" y="1691037"/>
            <a:ext cx="1661160" cy="1485900"/>
          </a:xfrm>
          <a:custGeom>
            <a:avLst/>
            <a:gdLst/>
            <a:ahLst/>
            <a:cxnLst/>
            <a:rect l="l" t="t" r="r" b="b"/>
            <a:pathLst>
              <a:path w="1661160" h="1485900">
                <a:moveTo>
                  <a:pt x="0" y="0"/>
                </a:moveTo>
                <a:lnTo>
                  <a:pt x="1661159" y="0"/>
                </a:lnTo>
                <a:lnTo>
                  <a:pt x="1661159" y="1485899"/>
                </a:lnTo>
                <a:lnTo>
                  <a:pt x="0" y="14858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18691" y="2079657"/>
            <a:ext cx="208787" cy="2087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42720" y="2341785"/>
            <a:ext cx="208787" cy="208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50796" y="1974501"/>
            <a:ext cx="208787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64867" y="2706021"/>
            <a:ext cx="203200" cy="201295"/>
          </a:xfrm>
          <a:custGeom>
            <a:avLst/>
            <a:gdLst/>
            <a:ahLst/>
            <a:cxnLst/>
            <a:rect l="l" t="t" r="r" b="b"/>
            <a:pathLst>
              <a:path w="203200" h="201294">
                <a:moveTo>
                  <a:pt x="100584" y="0"/>
                </a:moveTo>
                <a:lnTo>
                  <a:pt x="61721" y="7786"/>
                </a:lnTo>
                <a:lnTo>
                  <a:pt x="29717" y="29146"/>
                </a:lnTo>
                <a:lnTo>
                  <a:pt x="8000" y="61079"/>
                </a:lnTo>
                <a:lnTo>
                  <a:pt x="0" y="100583"/>
                </a:lnTo>
                <a:lnTo>
                  <a:pt x="8001" y="140088"/>
                </a:lnTo>
                <a:lnTo>
                  <a:pt x="29718" y="172021"/>
                </a:lnTo>
                <a:lnTo>
                  <a:pt x="61722" y="193381"/>
                </a:lnTo>
                <a:lnTo>
                  <a:pt x="100584" y="201167"/>
                </a:lnTo>
                <a:lnTo>
                  <a:pt x="140327" y="193381"/>
                </a:lnTo>
                <a:lnTo>
                  <a:pt x="172783" y="172021"/>
                </a:lnTo>
                <a:lnTo>
                  <a:pt x="194667" y="140088"/>
                </a:lnTo>
                <a:lnTo>
                  <a:pt x="202692" y="100583"/>
                </a:lnTo>
                <a:lnTo>
                  <a:pt x="194667" y="61079"/>
                </a:lnTo>
                <a:lnTo>
                  <a:pt x="172783" y="29146"/>
                </a:lnTo>
                <a:lnTo>
                  <a:pt x="140327" y="7786"/>
                </a:lnTo>
                <a:lnTo>
                  <a:pt x="100584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64867" y="2706021"/>
            <a:ext cx="203200" cy="201295"/>
          </a:xfrm>
          <a:custGeom>
            <a:avLst/>
            <a:gdLst/>
            <a:ahLst/>
            <a:cxnLst/>
            <a:rect l="l" t="t" r="r" b="b"/>
            <a:pathLst>
              <a:path w="203200" h="201294">
                <a:moveTo>
                  <a:pt x="0" y="100583"/>
                </a:moveTo>
                <a:lnTo>
                  <a:pt x="8000" y="61079"/>
                </a:lnTo>
                <a:lnTo>
                  <a:pt x="29717" y="29146"/>
                </a:lnTo>
                <a:lnTo>
                  <a:pt x="61721" y="7786"/>
                </a:lnTo>
                <a:lnTo>
                  <a:pt x="100583" y="0"/>
                </a:lnTo>
                <a:lnTo>
                  <a:pt x="140327" y="7786"/>
                </a:lnTo>
                <a:lnTo>
                  <a:pt x="172783" y="29146"/>
                </a:lnTo>
                <a:lnTo>
                  <a:pt x="194667" y="61079"/>
                </a:lnTo>
                <a:lnTo>
                  <a:pt x="202691" y="100583"/>
                </a:lnTo>
                <a:lnTo>
                  <a:pt x="194667" y="140088"/>
                </a:lnTo>
                <a:lnTo>
                  <a:pt x="172783" y="172021"/>
                </a:lnTo>
                <a:lnTo>
                  <a:pt x="140327" y="193381"/>
                </a:lnTo>
                <a:lnTo>
                  <a:pt x="100583" y="201167"/>
                </a:lnTo>
                <a:lnTo>
                  <a:pt x="61721" y="193381"/>
                </a:lnTo>
                <a:lnTo>
                  <a:pt x="29717" y="172021"/>
                </a:lnTo>
                <a:lnTo>
                  <a:pt x="8000" y="140088"/>
                </a:lnTo>
                <a:lnTo>
                  <a:pt x="0" y="100583"/>
                </a:lnTo>
              </a:path>
            </a:pathLst>
          </a:custGeom>
          <a:ln w="12191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98267" y="2090325"/>
            <a:ext cx="208787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66747" y="288890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0584" y="0"/>
                </a:moveTo>
                <a:lnTo>
                  <a:pt x="61721" y="8024"/>
                </a:lnTo>
                <a:lnTo>
                  <a:pt x="29717" y="29908"/>
                </a:lnTo>
                <a:lnTo>
                  <a:pt x="8000" y="62364"/>
                </a:lnTo>
                <a:lnTo>
                  <a:pt x="0" y="102108"/>
                </a:lnTo>
                <a:lnTo>
                  <a:pt x="8001" y="140970"/>
                </a:lnTo>
                <a:lnTo>
                  <a:pt x="29718" y="172974"/>
                </a:lnTo>
                <a:lnTo>
                  <a:pt x="61722" y="194690"/>
                </a:lnTo>
                <a:lnTo>
                  <a:pt x="100584" y="202691"/>
                </a:lnTo>
                <a:lnTo>
                  <a:pt x="140327" y="194690"/>
                </a:lnTo>
                <a:lnTo>
                  <a:pt x="172783" y="172974"/>
                </a:lnTo>
                <a:lnTo>
                  <a:pt x="194667" y="140970"/>
                </a:lnTo>
                <a:lnTo>
                  <a:pt x="202691" y="102108"/>
                </a:lnTo>
                <a:lnTo>
                  <a:pt x="194667" y="62364"/>
                </a:lnTo>
                <a:lnTo>
                  <a:pt x="172783" y="29908"/>
                </a:lnTo>
                <a:lnTo>
                  <a:pt x="140327" y="8024"/>
                </a:lnTo>
                <a:lnTo>
                  <a:pt x="100584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66747" y="2888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2107"/>
                </a:moveTo>
                <a:lnTo>
                  <a:pt x="8000" y="62364"/>
                </a:lnTo>
                <a:lnTo>
                  <a:pt x="29717" y="29908"/>
                </a:lnTo>
                <a:lnTo>
                  <a:pt x="61721" y="8024"/>
                </a:lnTo>
                <a:lnTo>
                  <a:pt x="100583" y="0"/>
                </a:lnTo>
                <a:lnTo>
                  <a:pt x="140327" y="8024"/>
                </a:lnTo>
                <a:lnTo>
                  <a:pt x="172783" y="29908"/>
                </a:lnTo>
                <a:lnTo>
                  <a:pt x="194667" y="62364"/>
                </a:lnTo>
                <a:lnTo>
                  <a:pt x="202691" y="102107"/>
                </a:lnTo>
                <a:lnTo>
                  <a:pt x="194667" y="140969"/>
                </a:lnTo>
                <a:lnTo>
                  <a:pt x="172783" y="172973"/>
                </a:lnTo>
                <a:lnTo>
                  <a:pt x="140327" y="194690"/>
                </a:lnTo>
                <a:lnTo>
                  <a:pt x="100583" y="202691"/>
                </a:lnTo>
                <a:lnTo>
                  <a:pt x="61721" y="194690"/>
                </a:lnTo>
                <a:lnTo>
                  <a:pt x="29717" y="172973"/>
                </a:lnTo>
                <a:lnTo>
                  <a:pt x="8000" y="140969"/>
                </a:lnTo>
                <a:lnTo>
                  <a:pt x="0" y="102107"/>
                </a:lnTo>
              </a:path>
            </a:pathLst>
          </a:custGeom>
          <a:ln w="12191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34032" y="291328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0583" y="0"/>
                </a:moveTo>
                <a:lnTo>
                  <a:pt x="61721" y="8001"/>
                </a:lnTo>
                <a:lnTo>
                  <a:pt x="29717" y="29718"/>
                </a:lnTo>
                <a:lnTo>
                  <a:pt x="8000" y="61722"/>
                </a:lnTo>
                <a:lnTo>
                  <a:pt x="0" y="100584"/>
                </a:lnTo>
                <a:lnTo>
                  <a:pt x="8000" y="140327"/>
                </a:lnTo>
                <a:lnTo>
                  <a:pt x="29717" y="172783"/>
                </a:lnTo>
                <a:lnTo>
                  <a:pt x="61721" y="194667"/>
                </a:lnTo>
                <a:lnTo>
                  <a:pt x="100583" y="202691"/>
                </a:lnTo>
                <a:lnTo>
                  <a:pt x="140327" y="194667"/>
                </a:lnTo>
                <a:lnTo>
                  <a:pt x="172783" y="172783"/>
                </a:lnTo>
                <a:lnTo>
                  <a:pt x="194667" y="140327"/>
                </a:lnTo>
                <a:lnTo>
                  <a:pt x="202691" y="100584"/>
                </a:lnTo>
                <a:lnTo>
                  <a:pt x="194667" y="61722"/>
                </a:lnTo>
                <a:lnTo>
                  <a:pt x="172783" y="29718"/>
                </a:lnTo>
                <a:lnTo>
                  <a:pt x="140327" y="8001"/>
                </a:lnTo>
                <a:lnTo>
                  <a:pt x="100583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34032" y="291328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0583"/>
                </a:moveTo>
                <a:lnTo>
                  <a:pt x="8000" y="61721"/>
                </a:lnTo>
                <a:lnTo>
                  <a:pt x="29717" y="29717"/>
                </a:lnTo>
                <a:lnTo>
                  <a:pt x="61721" y="8000"/>
                </a:lnTo>
                <a:lnTo>
                  <a:pt x="100583" y="0"/>
                </a:lnTo>
                <a:lnTo>
                  <a:pt x="140327" y="8000"/>
                </a:lnTo>
                <a:lnTo>
                  <a:pt x="172783" y="29717"/>
                </a:lnTo>
                <a:lnTo>
                  <a:pt x="194667" y="61721"/>
                </a:lnTo>
                <a:lnTo>
                  <a:pt x="202691" y="100583"/>
                </a:lnTo>
                <a:lnTo>
                  <a:pt x="194667" y="140327"/>
                </a:lnTo>
                <a:lnTo>
                  <a:pt x="172783" y="172783"/>
                </a:lnTo>
                <a:lnTo>
                  <a:pt x="140327" y="194667"/>
                </a:lnTo>
                <a:lnTo>
                  <a:pt x="100583" y="202691"/>
                </a:lnTo>
                <a:lnTo>
                  <a:pt x="61721" y="194667"/>
                </a:lnTo>
                <a:lnTo>
                  <a:pt x="29717" y="172783"/>
                </a:lnTo>
                <a:lnTo>
                  <a:pt x="8000" y="140327"/>
                </a:lnTo>
                <a:lnTo>
                  <a:pt x="0" y="100583"/>
                </a:lnTo>
              </a:path>
            </a:pathLst>
          </a:custGeom>
          <a:ln w="12191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02316" y="914889"/>
            <a:ext cx="4469765" cy="69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747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	</a:t>
            </a:r>
            <a:r>
              <a:rPr sz="1800" baseline="20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800" spc="-7" baseline="2000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800" i="1" spc="-7" baseline="2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3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800" i="1" spc="-7" baseline="200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800" i="1" spc="97" baseline="2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3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800" i="1" spc="97" baseline="20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800" i="1" spc="-217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3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800" spc="75" baseline="200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3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30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线性可分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891" y="2412325"/>
            <a:ext cx="2185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至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少存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面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把两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样本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有错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424259" y="142144"/>
            <a:ext cx="299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全连接神经网络与线性不可分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7339" y="914517"/>
            <a:ext cx="1831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2919" y="1651041"/>
            <a:ext cx="1318260" cy="230504"/>
          </a:xfrm>
          <a:prstGeom prst="rect">
            <a:avLst/>
          </a:prstGeom>
          <a:ln w="13715">
            <a:solidFill>
              <a:srgbClr val="FF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30"/>
              </a:spcBef>
            </a:pPr>
            <a:r>
              <a:rPr sz="1200" spc="45" dirty="0">
                <a:latin typeface="Cambria Math" panose="02040503050406030204"/>
                <a:cs typeface="Cambria Math" panose="02040503050406030204"/>
              </a:rPr>
              <a:t>f(x, 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Wx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220" y="1653657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线性分类器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01344" y="1696761"/>
            <a:ext cx="1661160" cy="1485900"/>
          </a:xfrm>
          <a:custGeom>
            <a:avLst/>
            <a:gdLst/>
            <a:ahLst/>
            <a:cxnLst/>
            <a:rect l="l" t="t" r="r" b="b"/>
            <a:pathLst>
              <a:path w="1661160" h="1485900">
                <a:moveTo>
                  <a:pt x="0" y="0"/>
                </a:moveTo>
                <a:lnTo>
                  <a:pt x="1661159" y="0"/>
                </a:lnTo>
                <a:lnTo>
                  <a:pt x="1661159" y="1485899"/>
                </a:lnTo>
                <a:lnTo>
                  <a:pt x="0" y="14858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18691" y="2085381"/>
            <a:ext cx="208787" cy="2087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42720" y="2347509"/>
            <a:ext cx="208787" cy="208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50796" y="1980225"/>
            <a:ext cx="208787" cy="208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64867" y="2711745"/>
            <a:ext cx="203200" cy="201295"/>
          </a:xfrm>
          <a:custGeom>
            <a:avLst/>
            <a:gdLst/>
            <a:ahLst/>
            <a:cxnLst/>
            <a:rect l="l" t="t" r="r" b="b"/>
            <a:pathLst>
              <a:path w="203200" h="201294">
                <a:moveTo>
                  <a:pt x="100584" y="0"/>
                </a:moveTo>
                <a:lnTo>
                  <a:pt x="61721" y="7786"/>
                </a:lnTo>
                <a:lnTo>
                  <a:pt x="29717" y="29146"/>
                </a:lnTo>
                <a:lnTo>
                  <a:pt x="8000" y="61079"/>
                </a:lnTo>
                <a:lnTo>
                  <a:pt x="0" y="100584"/>
                </a:lnTo>
                <a:lnTo>
                  <a:pt x="8001" y="140088"/>
                </a:lnTo>
                <a:lnTo>
                  <a:pt x="29718" y="172021"/>
                </a:lnTo>
                <a:lnTo>
                  <a:pt x="61722" y="193381"/>
                </a:lnTo>
                <a:lnTo>
                  <a:pt x="100584" y="201168"/>
                </a:lnTo>
                <a:lnTo>
                  <a:pt x="140327" y="193381"/>
                </a:lnTo>
                <a:lnTo>
                  <a:pt x="172783" y="172021"/>
                </a:lnTo>
                <a:lnTo>
                  <a:pt x="194667" y="140088"/>
                </a:lnTo>
                <a:lnTo>
                  <a:pt x="202692" y="100584"/>
                </a:lnTo>
                <a:lnTo>
                  <a:pt x="194667" y="61079"/>
                </a:lnTo>
                <a:lnTo>
                  <a:pt x="172783" y="29146"/>
                </a:lnTo>
                <a:lnTo>
                  <a:pt x="140327" y="7786"/>
                </a:lnTo>
                <a:lnTo>
                  <a:pt x="100584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64867" y="2711745"/>
            <a:ext cx="203200" cy="201295"/>
          </a:xfrm>
          <a:custGeom>
            <a:avLst/>
            <a:gdLst/>
            <a:ahLst/>
            <a:cxnLst/>
            <a:rect l="l" t="t" r="r" b="b"/>
            <a:pathLst>
              <a:path w="203200" h="201294">
                <a:moveTo>
                  <a:pt x="0" y="100583"/>
                </a:moveTo>
                <a:lnTo>
                  <a:pt x="8000" y="61079"/>
                </a:lnTo>
                <a:lnTo>
                  <a:pt x="29717" y="29146"/>
                </a:lnTo>
                <a:lnTo>
                  <a:pt x="61721" y="7786"/>
                </a:lnTo>
                <a:lnTo>
                  <a:pt x="100583" y="0"/>
                </a:lnTo>
                <a:lnTo>
                  <a:pt x="140327" y="7786"/>
                </a:lnTo>
                <a:lnTo>
                  <a:pt x="172783" y="29146"/>
                </a:lnTo>
                <a:lnTo>
                  <a:pt x="194667" y="61079"/>
                </a:lnTo>
                <a:lnTo>
                  <a:pt x="202691" y="100583"/>
                </a:lnTo>
                <a:lnTo>
                  <a:pt x="194667" y="140088"/>
                </a:lnTo>
                <a:lnTo>
                  <a:pt x="172783" y="172021"/>
                </a:lnTo>
                <a:lnTo>
                  <a:pt x="140327" y="193381"/>
                </a:lnTo>
                <a:lnTo>
                  <a:pt x="100583" y="201167"/>
                </a:lnTo>
                <a:lnTo>
                  <a:pt x="61721" y="193381"/>
                </a:lnTo>
                <a:lnTo>
                  <a:pt x="29717" y="172021"/>
                </a:lnTo>
                <a:lnTo>
                  <a:pt x="8000" y="140088"/>
                </a:lnTo>
                <a:lnTo>
                  <a:pt x="0" y="100583"/>
                </a:lnTo>
              </a:path>
            </a:pathLst>
          </a:custGeom>
          <a:ln w="12191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98267" y="2096049"/>
            <a:ext cx="208787" cy="208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66747" y="289462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0584" y="0"/>
                </a:moveTo>
                <a:lnTo>
                  <a:pt x="61721" y="8024"/>
                </a:lnTo>
                <a:lnTo>
                  <a:pt x="29717" y="29908"/>
                </a:lnTo>
                <a:lnTo>
                  <a:pt x="8000" y="62364"/>
                </a:lnTo>
                <a:lnTo>
                  <a:pt x="0" y="102107"/>
                </a:lnTo>
                <a:lnTo>
                  <a:pt x="8001" y="140969"/>
                </a:lnTo>
                <a:lnTo>
                  <a:pt x="29718" y="172974"/>
                </a:lnTo>
                <a:lnTo>
                  <a:pt x="61722" y="194691"/>
                </a:lnTo>
                <a:lnTo>
                  <a:pt x="100584" y="202692"/>
                </a:lnTo>
                <a:lnTo>
                  <a:pt x="140327" y="194691"/>
                </a:lnTo>
                <a:lnTo>
                  <a:pt x="172783" y="172974"/>
                </a:lnTo>
                <a:lnTo>
                  <a:pt x="194667" y="140969"/>
                </a:lnTo>
                <a:lnTo>
                  <a:pt x="202691" y="102107"/>
                </a:lnTo>
                <a:lnTo>
                  <a:pt x="194667" y="62364"/>
                </a:lnTo>
                <a:lnTo>
                  <a:pt x="172783" y="29908"/>
                </a:lnTo>
                <a:lnTo>
                  <a:pt x="140327" y="8024"/>
                </a:lnTo>
                <a:lnTo>
                  <a:pt x="100584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66747" y="289462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2107"/>
                </a:moveTo>
                <a:lnTo>
                  <a:pt x="8000" y="62364"/>
                </a:lnTo>
                <a:lnTo>
                  <a:pt x="29717" y="29908"/>
                </a:lnTo>
                <a:lnTo>
                  <a:pt x="61721" y="8024"/>
                </a:lnTo>
                <a:lnTo>
                  <a:pt x="100583" y="0"/>
                </a:lnTo>
                <a:lnTo>
                  <a:pt x="140327" y="8024"/>
                </a:lnTo>
                <a:lnTo>
                  <a:pt x="172783" y="29908"/>
                </a:lnTo>
                <a:lnTo>
                  <a:pt x="194667" y="62364"/>
                </a:lnTo>
                <a:lnTo>
                  <a:pt x="202691" y="102107"/>
                </a:lnTo>
                <a:lnTo>
                  <a:pt x="194667" y="140969"/>
                </a:lnTo>
                <a:lnTo>
                  <a:pt x="172783" y="172973"/>
                </a:lnTo>
                <a:lnTo>
                  <a:pt x="140327" y="194690"/>
                </a:lnTo>
                <a:lnTo>
                  <a:pt x="100583" y="202691"/>
                </a:lnTo>
                <a:lnTo>
                  <a:pt x="61721" y="194690"/>
                </a:lnTo>
                <a:lnTo>
                  <a:pt x="29717" y="172973"/>
                </a:lnTo>
                <a:lnTo>
                  <a:pt x="8000" y="140969"/>
                </a:lnTo>
                <a:lnTo>
                  <a:pt x="0" y="102107"/>
                </a:lnTo>
              </a:path>
            </a:pathLst>
          </a:custGeom>
          <a:ln w="12191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34032" y="291900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0583" y="0"/>
                </a:moveTo>
                <a:lnTo>
                  <a:pt x="61721" y="8000"/>
                </a:lnTo>
                <a:lnTo>
                  <a:pt x="29717" y="29718"/>
                </a:lnTo>
                <a:lnTo>
                  <a:pt x="8000" y="61722"/>
                </a:lnTo>
                <a:lnTo>
                  <a:pt x="0" y="100584"/>
                </a:lnTo>
                <a:lnTo>
                  <a:pt x="8000" y="140327"/>
                </a:lnTo>
                <a:lnTo>
                  <a:pt x="29718" y="172783"/>
                </a:lnTo>
                <a:lnTo>
                  <a:pt x="61722" y="194667"/>
                </a:lnTo>
                <a:lnTo>
                  <a:pt x="100583" y="202692"/>
                </a:lnTo>
                <a:lnTo>
                  <a:pt x="140327" y="194667"/>
                </a:lnTo>
                <a:lnTo>
                  <a:pt x="172783" y="172783"/>
                </a:lnTo>
                <a:lnTo>
                  <a:pt x="194667" y="140327"/>
                </a:lnTo>
                <a:lnTo>
                  <a:pt x="202691" y="100584"/>
                </a:lnTo>
                <a:lnTo>
                  <a:pt x="194667" y="61722"/>
                </a:lnTo>
                <a:lnTo>
                  <a:pt x="172783" y="29718"/>
                </a:lnTo>
                <a:lnTo>
                  <a:pt x="140327" y="8000"/>
                </a:lnTo>
                <a:lnTo>
                  <a:pt x="100583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34032" y="291900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0583"/>
                </a:moveTo>
                <a:lnTo>
                  <a:pt x="8000" y="61721"/>
                </a:lnTo>
                <a:lnTo>
                  <a:pt x="29717" y="29717"/>
                </a:lnTo>
                <a:lnTo>
                  <a:pt x="61721" y="8000"/>
                </a:lnTo>
                <a:lnTo>
                  <a:pt x="100583" y="0"/>
                </a:lnTo>
                <a:lnTo>
                  <a:pt x="140327" y="8000"/>
                </a:lnTo>
                <a:lnTo>
                  <a:pt x="172783" y="29717"/>
                </a:lnTo>
                <a:lnTo>
                  <a:pt x="194667" y="61721"/>
                </a:lnTo>
                <a:lnTo>
                  <a:pt x="202691" y="100583"/>
                </a:lnTo>
                <a:lnTo>
                  <a:pt x="194667" y="140327"/>
                </a:lnTo>
                <a:lnTo>
                  <a:pt x="172783" y="172783"/>
                </a:lnTo>
                <a:lnTo>
                  <a:pt x="140327" y="194667"/>
                </a:lnTo>
                <a:lnTo>
                  <a:pt x="100583" y="202691"/>
                </a:lnTo>
                <a:lnTo>
                  <a:pt x="61721" y="194667"/>
                </a:lnTo>
                <a:lnTo>
                  <a:pt x="29717" y="172783"/>
                </a:lnTo>
                <a:lnTo>
                  <a:pt x="8000" y="140327"/>
                </a:lnTo>
                <a:lnTo>
                  <a:pt x="0" y="100583"/>
                </a:lnTo>
              </a:path>
            </a:pathLst>
          </a:custGeom>
          <a:ln w="12191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21739" y="2440473"/>
            <a:ext cx="1541145" cy="386080"/>
          </a:xfrm>
          <a:custGeom>
            <a:avLst/>
            <a:gdLst/>
            <a:ahLst/>
            <a:cxnLst/>
            <a:rect l="l" t="t" r="r" b="b"/>
            <a:pathLst>
              <a:path w="1541145" h="386080">
                <a:moveTo>
                  <a:pt x="0" y="385571"/>
                </a:moveTo>
                <a:lnTo>
                  <a:pt x="1540763" y="0"/>
                </a:lnTo>
              </a:path>
            </a:pathLst>
          </a:custGeom>
          <a:ln w="28955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66163" y="1870497"/>
            <a:ext cx="1038225" cy="1115695"/>
          </a:xfrm>
          <a:custGeom>
            <a:avLst/>
            <a:gdLst/>
            <a:ahLst/>
            <a:cxnLst/>
            <a:rect l="l" t="t" r="r" b="b"/>
            <a:pathLst>
              <a:path w="1038225" h="1115695">
                <a:moveTo>
                  <a:pt x="1037843" y="1115567"/>
                </a:moveTo>
                <a:lnTo>
                  <a:pt x="0" y="0"/>
                </a:lnTo>
              </a:path>
            </a:pathLst>
          </a:custGeom>
          <a:ln w="2895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96644" y="1728765"/>
            <a:ext cx="215265" cy="1393190"/>
          </a:xfrm>
          <a:custGeom>
            <a:avLst/>
            <a:gdLst/>
            <a:ahLst/>
            <a:cxnLst/>
            <a:rect l="l" t="t" r="r" b="b"/>
            <a:pathLst>
              <a:path w="215264" h="1393189">
                <a:moveTo>
                  <a:pt x="0" y="1392935"/>
                </a:moveTo>
                <a:lnTo>
                  <a:pt x="214883" y="0"/>
                </a:lnTo>
              </a:path>
            </a:pathLst>
          </a:custGeom>
          <a:ln w="2895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336700" y="1411341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线性可分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7891" y="2418045"/>
            <a:ext cx="2185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至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少存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面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把两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样本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有错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424259" y="147869"/>
            <a:ext cx="299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全连接神经网络与线性不可分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7339" y="908793"/>
            <a:ext cx="1831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4895" y="1649457"/>
            <a:ext cx="1193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45" dirty="0">
                <a:latin typeface="Cambria Math" panose="02040503050406030204"/>
                <a:cs typeface="Cambria Math" panose="02040503050406030204"/>
              </a:rPr>
              <a:t>f(x,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Wx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220" y="1647933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线性分类器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01344" y="1668177"/>
            <a:ext cx="1661160" cy="1487805"/>
          </a:xfrm>
          <a:custGeom>
            <a:avLst/>
            <a:gdLst/>
            <a:ahLst/>
            <a:cxnLst/>
            <a:rect l="l" t="t" r="r" b="b"/>
            <a:pathLst>
              <a:path w="1661160" h="1487805">
                <a:moveTo>
                  <a:pt x="0" y="0"/>
                </a:moveTo>
                <a:lnTo>
                  <a:pt x="1661159" y="0"/>
                </a:lnTo>
                <a:lnTo>
                  <a:pt x="1661159" y="1487423"/>
                </a:lnTo>
                <a:lnTo>
                  <a:pt x="0" y="148742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50696" y="1924209"/>
            <a:ext cx="207263" cy="2087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42135" y="2338737"/>
            <a:ext cx="207263" cy="208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96871" y="1805337"/>
            <a:ext cx="208787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10944" y="2387505"/>
            <a:ext cx="214883" cy="213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42235" y="2430177"/>
            <a:ext cx="207263" cy="2087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41551" y="2891949"/>
            <a:ext cx="214883" cy="2133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94407" y="2891949"/>
            <a:ext cx="214883" cy="2133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36700" y="1405617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可分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891" y="2412325"/>
            <a:ext cx="2185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性可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少存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性分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面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把两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样本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有错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03864" y="2449989"/>
            <a:ext cx="570230" cy="570230"/>
          </a:xfrm>
          <a:custGeom>
            <a:avLst/>
            <a:gdLst/>
            <a:ahLst/>
            <a:cxnLst/>
            <a:rect l="l" t="t" r="r" b="b"/>
            <a:pathLst>
              <a:path w="570230" h="570230">
                <a:moveTo>
                  <a:pt x="484327" y="387095"/>
                </a:moveTo>
                <a:lnTo>
                  <a:pt x="283463" y="387095"/>
                </a:lnTo>
                <a:lnTo>
                  <a:pt x="460248" y="569975"/>
                </a:lnTo>
                <a:lnTo>
                  <a:pt x="563880" y="469391"/>
                </a:lnTo>
                <a:lnTo>
                  <a:pt x="484327" y="387095"/>
                </a:lnTo>
                <a:close/>
              </a:path>
              <a:path w="570230" h="570230">
                <a:moveTo>
                  <a:pt x="109728" y="0"/>
                </a:moveTo>
                <a:lnTo>
                  <a:pt x="6096" y="99059"/>
                </a:lnTo>
                <a:lnTo>
                  <a:pt x="182880" y="281939"/>
                </a:lnTo>
                <a:lnTo>
                  <a:pt x="0" y="458723"/>
                </a:lnTo>
                <a:lnTo>
                  <a:pt x="100584" y="563879"/>
                </a:lnTo>
                <a:lnTo>
                  <a:pt x="283463" y="387095"/>
                </a:lnTo>
                <a:lnTo>
                  <a:pt x="484327" y="387095"/>
                </a:lnTo>
                <a:lnTo>
                  <a:pt x="387096" y="286511"/>
                </a:lnTo>
                <a:lnTo>
                  <a:pt x="494301" y="182879"/>
                </a:lnTo>
                <a:lnTo>
                  <a:pt x="286512" y="182879"/>
                </a:lnTo>
                <a:lnTo>
                  <a:pt x="109728" y="0"/>
                </a:lnTo>
                <a:close/>
              </a:path>
              <a:path w="570230" h="570230">
                <a:moveTo>
                  <a:pt x="469392" y="6095"/>
                </a:moveTo>
                <a:lnTo>
                  <a:pt x="286512" y="182879"/>
                </a:lnTo>
                <a:lnTo>
                  <a:pt x="494301" y="182879"/>
                </a:lnTo>
                <a:lnTo>
                  <a:pt x="569976" y="109727"/>
                </a:lnTo>
                <a:lnTo>
                  <a:pt x="469392" y="60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03864" y="2449989"/>
            <a:ext cx="570230" cy="570230"/>
          </a:xfrm>
          <a:custGeom>
            <a:avLst/>
            <a:gdLst/>
            <a:ahLst/>
            <a:cxnLst/>
            <a:rect l="l" t="t" r="r" b="b"/>
            <a:pathLst>
              <a:path w="570230" h="570230">
                <a:moveTo>
                  <a:pt x="109727" y="0"/>
                </a:moveTo>
                <a:lnTo>
                  <a:pt x="286511" y="182879"/>
                </a:lnTo>
                <a:lnTo>
                  <a:pt x="469391" y="6095"/>
                </a:lnTo>
                <a:lnTo>
                  <a:pt x="569975" y="109727"/>
                </a:lnTo>
                <a:lnTo>
                  <a:pt x="387095" y="286511"/>
                </a:lnTo>
                <a:lnTo>
                  <a:pt x="563879" y="469391"/>
                </a:lnTo>
                <a:lnTo>
                  <a:pt x="460247" y="569975"/>
                </a:lnTo>
                <a:lnTo>
                  <a:pt x="283463" y="387095"/>
                </a:lnTo>
                <a:lnTo>
                  <a:pt x="100583" y="563879"/>
                </a:lnTo>
                <a:lnTo>
                  <a:pt x="0" y="458723"/>
                </a:lnTo>
                <a:lnTo>
                  <a:pt x="182879" y="281939"/>
                </a:lnTo>
                <a:lnTo>
                  <a:pt x="6095" y="99059"/>
                </a:lnTo>
                <a:lnTo>
                  <a:pt x="109727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424259" y="142144"/>
            <a:ext cx="299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全连接神经网络与线性不可分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4319" y="905805"/>
            <a:ext cx="1911350" cy="231775"/>
          </a:xfrm>
          <a:prstGeom prst="rect">
            <a:avLst/>
          </a:prstGeom>
          <a:ln w="9143">
            <a:solidFill>
              <a:srgbClr val="FF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4895" y="1655181"/>
            <a:ext cx="1193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ambria Math" panose="02040503050406030204"/>
                <a:cs typeface="Cambria Math" panose="02040503050406030204"/>
              </a:rPr>
              <a:t>f(x, 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Wx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b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220" y="1653657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线性分类器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01344" y="1673901"/>
            <a:ext cx="1661160" cy="1487805"/>
          </a:xfrm>
          <a:custGeom>
            <a:avLst/>
            <a:gdLst/>
            <a:ahLst/>
            <a:cxnLst/>
            <a:rect l="l" t="t" r="r" b="b"/>
            <a:pathLst>
              <a:path w="1661160" h="1487805">
                <a:moveTo>
                  <a:pt x="0" y="0"/>
                </a:moveTo>
                <a:lnTo>
                  <a:pt x="1661159" y="0"/>
                </a:lnTo>
                <a:lnTo>
                  <a:pt x="1661159" y="1487423"/>
                </a:lnTo>
                <a:lnTo>
                  <a:pt x="0" y="148742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50696" y="1929933"/>
            <a:ext cx="207263" cy="2087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42135" y="2344461"/>
            <a:ext cx="207263" cy="208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96871" y="1811061"/>
            <a:ext cx="208787" cy="208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10944" y="2393229"/>
            <a:ext cx="214883" cy="213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42235" y="2435901"/>
            <a:ext cx="207263" cy="208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41551" y="2897673"/>
            <a:ext cx="214883" cy="2133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94407" y="2897673"/>
            <a:ext cx="214883" cy="2133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72488" y="1626657"/>
            <a:ext cx="1343025" cy="1073150"/>
          </a:xfrm>
          <a:custGeom>
            <a:avLst/>
            <a:gdLst/>
            <a:ahLst/>
            <a:cxnLst/>
            <a:rect l="l" t="t" r="r" b="b"/>
            <a:pathLst>
              <a:path w="1343025" h="1073150">
                <a:moveTo>
                  <a:pt x="0" y="0"/>
                </a:moveTo>
                <a:lnTo>
                  <a:pt x="8154" y="59806"/>
                </a:lnTo>
                <a:lnTo>
                  <a:pt x="16373" y="119449"/>
                </a:lnTo>
                <a:lnTo>
                  <a:pt x="24737" y="178766"/>
                </a:lnTo>
                <a:lnTo>
                  <a:pt x="33327" y="237594"/>
                </a:lnTo>
                <a:lnTo>
                  <a:pt x="42225" y="295770"/>
                </a:lnTo>
                <a:lnTo>
                  <a:pt x="51511" y="353130"/>
                </a:lnTo>
                <a:lnTo>
                  <a:pt x="61267" y="409511"/>
                </a:lnTo>
                <a:lnTo>
                  <a:pt x="71573" y="464751"/>
                </a:lnTo>
                <a:lnTo>
                  <a:pt x="82512" y="518687"/>
                </a:lnTo>
                <a:lnTo>
                  <a:pt x="94164" y="571154"/>
                </a:lnTo>
                <a:lnTo>
                  <a:pt x="106610" y="621991"/>
                </a:lnTo>
                <a:lnTo>
                  <a:pt x="119932" y="671034"/>
                </a:lnTo>
                <a:lnTo>
                  <a:pt x="134210" y="718120"/>
                </a:lnTo>
                <a:lnTo>
                  <a:pt x="149527" y="763085"/>
                </a:lnTo>
                <a:lnTo>
                  <a:pt x="165962" y="805768"/>
                </a:lnTo>
                <a:lnTo>
                  <a:pt x="183598" y="846004"/>
                </a:lnTo>
                <a:lnTo>
                  <a:pt x="202515" y="883631"/>
                </a:lnTo>
                <a:lnTo>
                  <a:pt x="222795" y="918486"/>
                </a:lnTo>
                <a:lnTo>
                  <a:pt x="244518" y="950405"/>
                </a:lnTo>
                <a:lnTo>
                  <a:pt x="292620" y="1004784"/>
                </a:lnTo>
                <a:lnTo>
                  <a:pt x="347471" y="1045463"/>
                </a:lnTo>
                <a:lnTo>
                  <a:pt x="416610" y="1068747"/>
                </a:lnTo>
                <a:lnTo>
                  <a:pt x="456606" y="1072625"/>
                </a:lnTo>
                <a:lnTo>
                  <a:pt x="499681" y="1071902"/>
                </a:lnTo>
                <a:lnTo>
                  <a:pt x="545435" y="1067008"/>
                </a:lnTo>
                <a:lnTo>
                  <a:pt x="593463" y="1058376"/>
                </a:lnTo>
                <a:lnTo>
                  <a:pt x="643363" y="1046435"/>
                </a:lnTo>
                <a:lnTo>
                  <a:pt x="694733" y="1031618"/>
                </a:lnTo>
                <a:lnTo>
                  <a:pt x="747169" y="1014355"/>
                </a:lnTo>
                <a:lnTo>
                  <a:pt x="800269" y="995078"/>
                </a:lnTo>
                <a:lnTo>
                  <a:pt x="853630" y="974216"/>
                </a:lnTo>
                <a:lnTo>
                  <a:pt x="906849" y="952203"/>
                </a:lnTo>
                <a:lnTo>
                  <a:pt x="959524" y="929468"/>
                </a:lnTo>
                <a:lnTo>
                  <a:pt x="1011252" y="906443"/>
                </a:lnTo>
                <a:lnTo>
                  <a:pt x="1061630" y="883559"/>
                </a:lnTo>
                <a:lnTo>
                  <a:pt x="1110255" y="861246"/>
                </a:lnTo>
                <a:lnTo>
                  <a:pt x="1156724" y="839937"/>
                </a:lnTo>
                <a:lnTo>
                  <a:pt x="1200636" y="820061"/>
                </a:lnTo>
                <a:lnTo>
                  <a:pt x="1241586" y="802051"/>
                </a:lnTo>
                <a:lnTo>
                  <a:pt x="1279172" y="786338"/>
                </a:lnTo>
                <a:lnTo>
                  <a:pt x="1312993" y="773351"/>
                </a:lnTo>
                <a:lnTo>
                  <a:pt x="1342643" y="763523"/>
                </a:lnTo>
              </a:path>
            </a:pathLst>
          </a:custGeom>
          <a:ln w="18287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72488" y="1626657"/>
            <a:ext cx="1343025" cy="1073150"/>
          </a:xfrm>
          <a:custGeom>
            <a:avLst/>
            <a:gdLst/>
            <a:ahLst/>
            <a:cxnLst/>
            <a:rect l="l" t="t" r="r" b="b"/>
            <a:pathLst>
              <a:path w="1343025" h="1073150">
                <a:moveTo>
                  <a:pt x="0" y="0"/>
                </a:moveTo>
                <a:lnTo>
                  <a:pt x="8154" y="59806"/>
                </a:lnTo>
                <a:lnTo>
                  <a:pt x="16373" y="119449"/>
                </a:lnTo>
                <a:lnTo>
                  <a:pt x="24737" y="178766"/>
                </a:lnTo>
                <a:lnTo>
                  <a:pt x="33327" y="237594"/>
                </a:lnTo>
                <a:lnTo>
                  <a:pt x="42225" y="295770"/>
                </a:lnTo>
                <a:lnTo>
                  <a:pt x="51511" y="353130"/>
                </a:lnTo>
                <a:lnTo>
                  <a:pt x="61267" y="409511"/>
                </a:lnTo>
                <a:lnTo>
                  <a:pt x="71573" y="464751"/>
                </a:lnTo>
                <a:lnTo>
                  <a:pt x="82512" y="518687"/>
                </a:lnTo>
                <a:lnTo>
                  <a:pt x="94164" y="571154"/>
                </a:lnTo>
                <a:lnTo>
                  <a:pt x="106610" y="621991"/>
                </a:lnTo>
                <a:lnTo>
                  <a:pt x="119932" y="671034"/>
                </a:lnTo>
                <a:lnTo>
                  <a:pt x="134210" y="718120"/>
                </a:lnTo>
                <a:lnTo>
                  <a:pt x="149527" y="763085"/>
                </a:lnTo>
                <a:lnTo>
                  <a:pt x="165962" y="805768"/>
                </a:lnTo>
                <a:lnTo>
                  <a:pt x="183598" y="846004"/>
                </a:lnTo>
                <a:lnTo>
                  <a:pt x="202515" y="883631"/>
                </a:lnTo>
                <a:lnTo>
                  <a:pt x="222795" y="918486"/>
                </a:lnTo>
                <a:lnTo>
                  <a:pt x="244518" y="950405"/>
                </a:lnTo>
                <a:lnTo>
                  <a:pt x="292620" y="1004784"/>
                </a:lnTo>
                <a:lnTo>
                  <a:pt x="347471" y="1045463"/>
                </a:lnTo>
                <a:lnTo>
                  <a:pt x="416610" y="1068747"/>
                </a:lnTo>
                <a:lnTo>
                  <a:pt x="456606" y="1072625"/>
                </a:lnTo>
                <a:lnTo>
                  <a:pt x="499681" y="1071902"/>
                </a:lnTo>
                <a:lnTo>
                  <a:pt x="545435" y="1067008"/>
                </a:lnTo>
                <a:lnTo>
                  <a:pt x="593463" y="1058376"/>
                </a:lnTo>
                <a:lnTo>
                  <a:pt x="643363" y="1046435"/>
                </a:lnTo>
                <a:lnTo>
                  <a:pt x="694733" y="1031618"/>
                </a:lnTo>
                <a:lnTo>
                  <a:pt x="747169" y="1014355"/>
                </a:lnTo>
                <a:lnTo>
                  <a:pt x="800269" y="995078"/>
                </a:lnTo>
                <a:lnTo>
                  <a:pt x="853630" y="974216"/>
                </a:lnTo>
                <a:lnTo>
                  <a:pt x="906849" y="952203"/>
                </a:lnTo>
                <a:lnTo>
                  <a:pt x="959524" y="929468"/>
                </a:lnTo>
                <a:lnTo>
                  <a:pt x="1011252" y="906443"/>
                </a:lnTo>
                <a:lnTo>
                  <a:pt x="1061630" y="883559"/>
                </a:lnTo>
                <a:lnTo>
                  <a:pt x="1110255" y="861246"/>
                </a:lnTo>
                <a:lnTo>
                  <a:pt x="1156724" y="839937"/>
                </a:lnTo>
                <a:lnTo>
                  <a:pt x="1200636" y="820061"/>
                </a:lnTo>
                <a:lnTo>
                  <a:pt x="1241586" y="802051"/>
                </a:lnTo>
                <a:lnTo>
                  <a:pt x="1279172" y="786338"/>
                </a:lnTo>
                <a:lnTo>
                  <a:pt x="1312993" y="773351"/>
                </a:lnTo>
                <a:lnTo>
                  <a:pt x="1342643" y="763523"/>
                </a:lnTo>
              </a:path>
            </a:pathLst>
          </a:custGeom>
          <a:ln w="18287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28903" y="1582461"/>
            <a:ext cx="956944" cy="985519"/>
          </a:xfrm>
          <a:custGeom>
            <a:avLst/>
            <a:gdLst/>
            <a:ahLst/>
            <a:cxnLst/>
            <a:rect l="l" t="t" r="r" b="b"/>
            <a:pathLst>
              <a:path w="956945" h="985519">
                <a:moveTo>
                  <a:pt x="0" y="781811"/>
                </a:moveTo>
                <a:lnTo>
                  <a:pt x="59629" y="803026"/>
                </a:lnTo>
                <a:lnTo>
                  <a:pt x="119050" y="824017"/>
                </a:lnTo>
                <a:lnTo>
                  <a:pt x="178052" y="844583"/>
                </a:lnTo>
                <a:lnTo>
                  <a:pt x="236427" y="864522"/>
                </a:lnTo>
                <a:lnTo>
                  <a:pt x="293965" y="883634"/>
                </a:lnTo>
                <a:lnTo>
                  <a:pt x="350457" y="901717"/>
                </a:lnTo>
                <a:lnTo>
                  <a:pt x="405694" y="918570"/>
                </a:lnTo>
                <a:lnTo>
                  <a:pt x="459467" y="933992"/>
                </a:lnTo>
                <a:lnTo>
                  <a:pt x="511567" y="947782"/>
                </a:lnTo>
                <a:lnTo>
                  <a:pt x="561784" y="959738"/>
                </a:lnTo>
                <a:lnTo>
                  <a:pt x="609909" y="969660"/>
                </a:lnTo>
                <a:lnTo>
                  <a:pt x="655734" y="977347"/>
                </a:lnTo>
                <a:lnTo>
                  <a:pt x="699049" y="982596"/>
                </a:lnTo>
                <a:lnTo>
                  <a:pt x="739644" y="985208"/>
                </a:lnTo>
                <a:lnTo>
                  <a:pt x="777311" y="984980"/>
                </a:lnTo>
                <a:lnTo>
                  <a:pt x="843023" y="975202"/>
                </a:lnTo>
                <a:lnTo>
                  <a:pt x="894512" y="951653"/>
                </a:lnTo>
                <a:lnTo>
                  <a:pt x="930402" y="912551"/>
                </a:lnTo>
                <a:lnTo>
                  <a:pt x="950699" y="857843"/>
                </a:lnTo>
                <a:lnTo>
                  <a:pt x="956786" y="789312"/>
                </a:lnTo>
                <a:lnTo>
                  <a:pt x="955026" y="750376"/>
                </a:lnTo>
                <a:lnTo>
                  <a:pt x="950345" y="708598"/>
                </a:lnTo>
                <a:lnTo>
                  <a:pt x="942953" y="664183"/>
                </a:lnTo>
                <a:lnTo>
                  <a:pt x="933060" y="617336"/>
                </a:lnTo>
                <a:lnTo>
                  <a:pt x="920876" y="568261"/>
                </a:lnTo>
                <a:lnTo>
                  <a:pt x="906613" y="517163"/>
                </a:lnTo>
                <a:lnTo>
                  <a:pt x="890479" y="464246"/>
                </a:lnTo>
                <a:lnTo>
                  <a:pt x="872685" y="409716"/>
                </a:lnTo>
                <a:lnTo>
                  <a:pt x="853443" y="353776"/>
                </a:lnTo>
                <a:lnTo>
                  <a:pt x="832961" y="296632"/>
                </a:lnTo>
                <a:lnTo>
                  <a:pt x="811450" y="238487"/>
                </a:lnTo>
                <a:lnTo>
                  <a:pt x="789121" y="179547"/>
                </a:lnTo>
                <a:lnTo>
                  <a:pt x="766184" y="120016"/>
                </a:lnTo>
                <a:lnTo>
                  <a:pt x="742850" y="60099"/>
                </a:lnTo>
                <a:lnTo>
                  <a:pt x="719327" y="0"/>
                </a:lnTo>
              </a:path>
            </a:pathLst>
          </a:custGeom>
          <a:ln w="18287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428903" y="1582461"/>
            <a:ext cx="956944" cy="985519"/>
          </a:xfrm>
          <a:custGeom>
            <a:avLst/>
            <a:gdLst/>
            <a:ahLst/>
            <a:cxnLst/>
            <a:rect l="l" t="t" r="r" b="b"/>
            <a:pathLst>
              <a:path w="956945" h="985519">
                <a:moveTo>
                  <a:pt x="0" y="781811"/>
                </a:moveTo>
                <a:lnTo>
                  <a:pt x="59629" y="803026"/>
                </a:lnTo>
                <a:lnTo>
                  <a:pt x="119050" y="824017"/>
                </a:lnTo>
                <a:lnTo>
                  <a:pt x="178052" y="844583"/>
                </a:lnTo>
                <a:lnTo>
                  <a:pt x="236427" y="864522"/>
                </a:lnTo>
                <a:lnTo>
                  <a:pt x="293965" y="883634"/>
                </a:lnTo>
                <a:lnTo>
                  <a:pt x="350457" y="901717"/>
                </a:lnTo>
                <a:lnTo>
                  <a:pt x="405694" y="918570"/>
                </a:lnTo>
                <a:lnTo>
                  <a:pt x="459467" y="933992"/>
                </a:lnTo>
                <a:lnTo>
                  <a:pt x="511567" y="947782"/>
                </a:lnTo>
                <a:lnTo>
                  <a:pt x="561784" y="959738"/>
                </a:lnTo>
                <a:lnTo>
                  <a:pt x="609909" y="969660"/>
                </a:lnTo>
                <a:lnTo>
                  <a:pt x="655734" y="977347"/>
                </a:lnTo>
                <a:lnTo>
                  <a:pt x="699049" y="982596"/>
                </a:lnTo>
                <a:lnTo>
                  <a:pt x="739644" y="985208"/>
                </a:lnTo>
                <a:lnTo>
                  <a:pt x="777311" y="984980"/>
                </a:lnTo>
                <a:lnTo>
                  <a:pt x="843023" y="975202"/>
                </a:lnTo>
                <a:lnTo>
                  <a:pt x="894512" y="951653"/>
                </a:lnTo>
                <a:lnTo>
                  <a:pt x="930402" y="912551"/>
                </a:lnTo>
                <a:lnTo>
                  <a:pt x="950699" y="857843"/>
                </a:lnTo>
                <a:lnTo>
                  <a:pt x="956786" y="789312"/>
                </a:lnTo>
                <a:lnTo>
                  <a:pt x="955026" y="750376"/>
                </a:lnTo>
                <a:lnTo>
                  <a:pt x="950345" y="708598"/>
                </a:lnTo>
                <a:lnTo>
                  <a:pt x="942953" y="664183"/>
                </a:lnTo>
                <a:lnTo>
                  <a:pt x="933060" y="617336"/>
                </a:lnTo>
                <a:lnTo>
                  <a:pt x="920876" y="568261"/>
                </a:lnTo>
                <a:lnTo>
                  <a:pt x="906613" y="517163"/>
                </a:lnTo>
                <a:lnTo>
                  <a:pt x="890479" y="464246"/>
                </a:lnTo>
                <a:lnTo>
                  <a:pt x="872685" y="409716"/>
                </a:lnTo>
                <a:lnTo>
                  <a:pt x="853443" y="353776"/>
                </a:lnTo>
                <a:lnTo>
                  <a:pt x="832961" y="296632"/>
                </a:lnTo>
                <a:lnTo>
                  <a:pt x="811450" y="238487"/>
                </a:lnTo>
                <a:lnTo>
                  <a:pt x="789121" y="179547"/>
                </a:lnTo>
                <a:lnTo>
                  <a:pt x="766184" y="120016"/>
                </a:lnTo>
                <a:lnTo>
                  <a:pt x="742850" y="60099"/>
                </a:lnTo>
                <a:lnTo>
                  <a:pt x="719327" y="0"/>
                </a:lnTo>
              </a:path>
            </a:pathLst>
          </a:custGeom>
          <a:ln w="18287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66291" y="2373417"/>
            <a:ext cx="1313815" cy="828040"/>
          </a:xfrm>
          <a:custGeom>
            <a:avLst/>
            <a:gdLst/>
            <a:ahLst/>
            <a:cxnLst/>
            <a:rect l="l" t="t" r="r" b="b"/>
            <a:pathLst>
              <a:path w="1313814" h="828039">
                <a:moveTo>
                  <a:pt x="1313687" y="784859"/>
                </a:moveTo>
                <a:lnTo>
                  <a:pt x="1288646" y="728297"/>
                </a:lnTo>
                <a:lnTo>
                  <a:pt x="1263575" y="671997"/>
                </a:lnTo>
                <a:lnTo>
                  <a:pt x="1238447" y="616220"/>
                </a:lnTo>
                <a:lnTo>
                  <a:pt x="1213233" y="561228"/>
                </a:lnTo>
                <a:lnTo>
                  <a:pt x="1187905" y="507282"/>
                </a:lnTo>
                <a:lnTo>
                  <a:pt x="1162434" y="454645"/>
                </a:lnTo>
                <a:lnTo>
                  <a:pt x="1136791" y="403577"/>
                </a:lnTo>
                <a:lnTo>
                  <a:pt x="1110947" y="354341"/>
                </a:lnTo>
                <a:lnTo>
                  <a:pt x="1084874" y="307199"/>
                </a:lnTo>
                <a:lnTo>
                  <a:pt x="1058544" y="262411"/>
                </a:lnTo>
                <a:lnTo>
                  <a:pt x="1031927" y="220240"/>
                </a:lnTo>
                <a:lnTo>
                  <a:pt x="1004995" y="180947"/>
                </a:lnTo>
                <a:lnTo>
                  <a:pt x="977720" y="144793"/>
                </a:lnTo>
                <a:lnTo>
                  <a:pt x="950072" y="112042"/>
                </a:lnTo>
                <a:lnTo>
                  <a:pt x="922024" y="82953"/>
                </a:lnTo>
                <a:lnTo>
                  <a:pt x="864610" y="36812"/>
                </a:lnTo>
                <a:lnTo>
                  <a:pt x="805249" y="8463"/>
                </a:lnTo>
                <a:lnTo>
                  <a:pt x="743711" y="0"/>
                </a:lnTo>
                <a:lnTo>
                  <a:pt x="716060" y="2843"/>
                </a:lnTo>
                <a:lnTo>
                  <a:pt x="659499" y="20493"/>
                </a:lnTo>
                <a:lnTo>
                  <a:pt x="601381" y="52915"/>
                </a:lnTo>
                <a:lnTo>
                  <a:pt x="541856" y="98695"/>
                </a:lnTo>
                <a:lnTo>
                  <a:pt x="511612" y="126153"/>
                </a:lnTo>
                <a:lnTo>
                  <a:pt x="481072" y="156421"/>
                </a:lnTo>
                <a:lnTo>
                  <a:pt x="450253" y="189322"/>
                </a:lnTo>
                <a:lnTo>
                  <a:pt x="419176" y="224680"/>
                </a:lnTo>
                <a:lnTo>
                  <a:pt x="387857" y="262318"/>
                </a:lnTo>
                <a:lnTo>
                  <a:pt x="356317" y="302059"/>
                </a:lnTo>
                <a:lnTo>
                  <a:pt x="324573" y="343728"/>
                </a:lnTo>
                <a:lnTo>
                  <a:pt x="292643" y="387146"/>
                </a:lnTo>
                <a:lnTo>
                  <a:pt x="260547" y="432138"/>
                </a:lnTo>
                <a:lnTo>
                  <a:pt x="228303" y="478527"/>
                </a:lnTo>
                <a:lnTo>
                  <a:pt x="195929" y="526137"/>
                </a:lnTo>
                <a:lnTo>
                  <a:pt x="163444" y="574790"/>
                </a:lnTo>
                <a:lnTo>
                  <a:pt x="130866" y="624310"/>
                </a:lnTo>
                <a:lnTo>
                  <a:pt x="98214" y="674521"/>
                </a:lnTo>
                <a:lnTo>
                  <a:pt x="65507" y="725246"/>
                </a:lnTo>
                <a:lnTo>
                  <a:pt x="32762" y="776308"/>
                </a:lnTo>
                <a:lnTo>
                  <a:pt x="0" y="827531"/>
                </a:lnTo>
              </a:path>
            </a:pathLst>
          </a:custGeom>
          <a:ln w="19811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66291" y="2373417"/>
            <a:ext cx="1313815" cy="828040"/>
          </a:xfrm>
          <a:custGeom>
            <a:avLst/>
            <a:gdLst/>
            <a:ahLst/>
            <a:cxnLst/>
            <a:rect l="l" t="t" r="r" b="b"/>
            <a:pathLst>
              <a:path w="1313814" h="828039">
                <a:moveTo>
                  <a:pt x="1313687" y="784859"/>
                </a:moveTo>
                <a:lnTo>
                  <a:pt x="1288646" y="728297"/>
                </a:lnTo>
                <a:lnTo>
                  <a:pt x="1263575" y="671997"/>
                </a:lnTo>
                <a:lnTo>
                  <a:pt x="1238447" y="616220"/>
                </a:lnTo>
                <a:lnTo>
                  <a:pt x="1213233" y="561228"/>
                </a:lnTo>
                <a:lnTo>
                  <a:pt x="1187905" y="507282"/>
                </a:lnTo>
                <a:lnTo>
                  <a:pt x="1162434" y="454645"/>
                </a:lnTo>
                <a:lnTo>
                  <a:pt x="1136791" y="403577"/>
                </a:lnTo>
                <a:lnTo>
                  <a:pt x="1110947" y="354341"/>
                </a:lnTo>
                <a:lnTo>
                  <a:pt x="1084874" y="307199"/>
                </a:lnTo>
                <a:lnTo>
                  <a:pt x="1058544" y="262411"/>
                </a:lnTo>
                <a:lnTo>
                  <a:pt x="1031927" y="220240"/>
                </a:lnTo>
                <a:lnTo>
                  <a:pt x="1004995" y="180947"/>
                </a:lnTo>
                <a:lnTo>
                  <a:pt x="977720" y="144793"/>
                </a:lnTo>
                <a:lnTo>
                  <a:pt x="950072" y="112042"/>
                </a:lnTo>
                <a:lnTo>
                  <a:pt x="922024" y="82953"/>
                </a:lnTo>
                <a:lnTo>
                  <a:pt x="864610" y="36812"/>
                </a:lnTo>
                <a:lnTo>
                  <a:pt x="805249" y="8463"/>
                </a:lnTo>
                <a:lnTo>
                  <a:pt x="743711" y="0"/>
                </a:lnTo>
                <a:lnTo>
                  <a:pt x="716060" y="2843"/>
                </a:lnTo>
                <a:lnTo>
                  <a:pt x="659499" y="20493"/>
                </a:lnTo>
                <a:lnTo>
                  <a:pt x="601381" y="52915"/>
                </a:lnTo>
                <a:lnTo>
                  <a:pt x="541856" y="98695"/>
                </a:lnTo>
                <a:lnTo>
                  <a:pt x="511612" y="126153"/>
                </a:lnTo>
                <a:lnTo>
                  <a:pt x="481072" y="156421"/>
                </a:lnTo>
                <a:lnTo>
                  <a:pt x="450253" y="189322"/>
                </a:lnTo>
                <a:lnTo>
                  <a:pt x="419176" y="224680"/>
                </a:lnTo>
                <a:lnTo>
                  <a:pt x="387857" y="262318"/>
                </a:lnTo>
                <a:lnTo>
                  <a:pt x="356317" y="302059"/>
                </a:lnTo>
                <a:lnTo>
                  <a:pt x="324573" y="343728"/>
                </a:lnTo>
                <a:lnTo>
                  <a:pt x="292643" y="387146"/>
                </a:lnTo>
                <a:lnTo>
                  <a:pt x="260547" y="432138"/>
                </a:lnTo>
                <a:lnTo>
                  <a:pt x="228303" y="478527"/>
                </a:lnTo>
                <a:lnTo>
                  <a:pt x="195929" y="526137"/>
                </a:lnTo>
                <a:lnTo>
                  <a:pt x="163444" y="574790"/>
                </a:lnTo>
                <a:lnTo>
                  <a:pt x="130866" y="624310"/>
                </a:lnTo>
                <a:lnTo>
                  <a:pt x="98214" y="674521"/>
                </a:lnTo>
                <a:lnTo>
                  <a:pt x="65507" y="725246"/>
                </a:lnTo>
                <a:lnTo>
                  <a:pt x="32762" y="776308"/>
                </a:lnTo>
                <a:lnTo>
                  <a:pt x="0" y="827531"/>
                </a:lnTo>
              </a:path>
            </a:pathLst>
          </a:custGeom>
          <a:ln w="19811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336700" y="1411341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可分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7891" y="2418045"/>
            <a:ext cx="2185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性可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少存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性分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面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把两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样本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有错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3864" y="2455713"/>
            <a:ext cx="570230" cy="570230"/>
          </a:xfrm>
          <a:custGeom>
            <a:avLst/>
            <a:gdLst/>
            <a:ahLst/>
            <a:cxnLst/>
            <a:rect l="l" t="t" r="r" b="b"/>
            <a:pathLst>
              <a:path w="570230" h="570230">
                <a:moveTo>
                  <a:pt x="484327" y="387095"/>
                </a:moveTo>
                <a:lnTo>
                  <a:pt x="283463" y="387095"/>
                </a:lnTo>
                <a:lnTo>
                  <a:pt x="460248" y="569976"/>
                </a:lnTo>
                <a:lnTo>
                  <a:pt x="563880" y="469392"/>
                </a:lnTo>
                <a:lnTo>
                  <a:pt x="484327" y="387095"/>
                </a:lnTo>
                <a:close/>
              </a:path>
              <a:path w="570230" h="570230">
                <a:moveTo>
                  <a:pt x="109728" y="0"/>
                </a:moveTo>
                <a:lnTo>
                  <a:pt x="6096" y="99060"/>
                </a:lnTo>
                <a:lnTo>
                  <a:pt x="182880" y="281939"/>
                </a:lnTo>
                <a:lnTo>
                  <a:pt x="0" y="458724"/>
                </a:lnTo>
                <a:lnTo>
                  <a:pt x="100584" y="563880"/>
                </a:lnTo>
                <a:lnTo>
                  <a:pt x="283463" y="387095"/>
                </a:lnTo>
                <a:lnTo>
                  <a:pt x="484327" y="387095"/>
                </a:lnTo>
                <a:lnTo>
                  <a:pt x="387096" y="286512"/>
                </a:lnTo>
                <a:lnTo>
                  <a:pt x="494301" y="182880"/>
                </a:lnTo>
                <a:lnTo>
                  <a:pt x="286512" y="182880"/>
                </a:lnTo>
                <a:lnTo>
                  <a:pt x="109728" y="0"/>
                </a:lnTo>
                <a:close/>
              </a:path>
              <a:path w="570230" h="570230">
                <a:moveTo>
                  <a:pt x="469392" y="6095"/>
                </a:moveTo>
                <a:lnTo>
                  <a:pt x="286512" y="182880"/>
                </a:lnTo>
                <a:lnTo>
                  <a:pt x="494301" y="182880"/>
                </a:lnTo>
                <a:lnTo>
                  <a:pt x="569976" y="109728"/>
                </a:lnTo>
                <a:lnTo>
                  <a:pt x="469392" y="60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03864" y="2455713"/>
            <a:ext cx="570230" cy="570230"/>
          </a:xfrm>
          <a:custGeom>
            <a:avLst/>
            <a:gdLst/>
            <a:ahLst/>
            <a:cxnLst/>
            <a:rect l="l" t="t" r="r" b="b"/>
            <a:pathLst>
              <a:path w="570230" h="570230">
                <a:moveTo>
                  <a:pt x="109727" y="0"/>
                </a:moveTo>
                <a:lnTo>
                  <a:pt x="286511" y="182879"/>
                </a:lnTo>
                <a:lnTo>
                  <a:pt x="469391" y="6095"/>
                </a:lnTo>
                <a:lnTo>
                  <a:pt x="569975" y="109727"/>
                </a:lnTo>
                <a:lnTo>
                  <a:pt x="387095" y="286511"/>
                </a:lnTo>
                <a:lnTo>
                  <a:pt x="563879" y="469391"/>
                </a:lnTo>
                <a:lnTo>
                  <a:pt x="460247" y="569975"/>
                </a:lnTo>
                <a:lnTo>
                  <a:pt x="283463" y="387095"/>
                </a:lnTo>
                <a:lnTo>
                  <a:pt x="100583" y="563879"/>
                </a:lnTo>
                <a:lnTo>
                  <a:pt x="0" y="458723"/>
                </a:lnTo>
                <a:lnTo>
                  <a:pt x="182879" y="281939"/>
                </a:lnTo>
                <a:lnTo>
                  <a:pt x="6095" y="99059"/>
                </a:lnTo>
                <a:lnTo>
                  <a:pt x="109727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424259" y="147869"/>
            <a:ext cx="299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全连接神经网络与线性不可分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4320" y="900081"/>
            <a:ext cx="1911350" cy="23177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8559" y="142144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1416" y="1794297"/>
            <a:ext cx="111760" cy="250190"/>
          </a:xfrm>
          <a:prstGeom prst="rect">
            <a:avLst/>
          </a:prstGeom>
          <a:solidFill>
            <a:srgbClr val="4F81BD"/>
          </a:solidFill>
          <a:ln w="12191">
            <a:solidFill>
              <a:srgbClr val="385D8A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900" spc="22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rPr>
              <a:t>f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6831" y="1504737"/>
            <a:ext cx="180340" cy="829310"/>
          </a:xfrm>
          <a:prstGeom prst="rect">
            <a:avLst/>
          </a:prstGeom>
          <a:solidFill>
            <a:srgbClr val="4F81BD"/>
          </a:solidFill>
          <a:ln w="12191">
            <a:solidFill>
              <a:srgbClr val="385D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28575">
              <a:lnSpc>
                <a:spcPct val="100000"/>
              </a:lnSpc>
              <a:spcBef>
                <a:spcPts val="640"/>
              </a:spcBef>
            </a:pPr>
            <a:r>
              <a:rPr sz="900" spc="4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6663" y="1504737"/>
            <a:ext cx="675640" cy="829310"/>
          </a:xfrm>
          <a:custGeom>
            <a:avLst/>
            <a:gdLst/>
            <a:ahLst/>
            <a:cxnLst/>
            <a:rect l="l" t="t" r="r" b="b"/>
            <a:pathLst>
              <a:path w="675640" h="829310">
                <a:moveTo>
                  <a:pt x="0" y="0"/>
                </a:moveTo>
                <a:lnTo>
                  <a:pt x="675131" y="169163"/>
                </a:lnTo>
                <a:lnTo>
                  <a:pt x="675131" y="659891"/>
                </a:lnTo>
                <a:lnTo>
                  <a:pt x="0" y="829055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3047" y="1672376"/>
            <a:ext cx="658495" cy="495300"/>
          </a:xfrm>
          <a:custGeom>
            <a:avLst/>
            <a:gdLst/>
            <a:ahLst/>
            <a:cxnLst/>
            <a:rect l="l" t="t" r="r" b="b"/>
            <a:pathLst>
              <a:path w="658494" h="495300">
                <a:moveTo>
                  <a:pt x="0" y="0"/>
                </a:moveTo>
                <a:lnTo>
                  <a:pt x="658367" y="123443"/>
                </a:lnTo>
                <a:lnTo>
                  <a:pt x="658367" y="371855"/>
                </a:lnTo>
                <a:lnTo>
                  <a:pt x="0" y="4952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91520" y="1850139"/>
            <a:ext cx="5416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5930" algn="l"/>
              </a:tabLst>
            </a:pPr>
            <a:r>
              <a:rPr sz="900" spc="10" dirty="0">
                <a:latin typeface="Cambria Math" panose="02040503050406030204"/>
                <a:cs typeface="Cambria Math" panose="02040503050406030204"/>
              </a:rPr>
              <a:t>W1	</a:t>
            </a:r>
            <a:r>
              <a:rPr sz="1350" baseline="30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h</a:t>
            </a:r>
            <a:endParaRPr sz="1350" baseline="3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0246" y="1834937"/>
            <a:ext cx="197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latin typeface="Cambria Math" panose="02040503050406030204"/>
                <a:cs typeface="Cambria Math" panose="02040503050406030204"/>
              </a:rPr>
              <a:t>W2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4320" y="905805"/>
            <a:ext cx="1911350" cy="23177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8559" y="147869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70991" y="1090581"/>
            <a:ext cx="2148839" cy="188823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00061" y="2388482"/>
            <a:ext cx="138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i="1" spc="89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3142" y="1385729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4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i="1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1541" y="1832299"/>
            <a:ext cx="1187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i="1" spc="30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7714" y="2572963"/>
            <a:ext cx="120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i="1" spc="44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19835" y="1885563"/>
            <a:ext cx="133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i="1" spc="30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07606" y="1501515"/>
            <a:ext cx="1308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i="1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3700" y="2130978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70055" y="2281827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35175" y="2167532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70978" y="1144899"/>
            <a:ext cx="140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W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1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41728" y="1131182"/>
            <a:ext cx="140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W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2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2589" y="1193705"/>
            <a:ext cx="135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i="1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22589" y="1577753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ℎ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86643" y="1631123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i="1" spc="20" dirty="0">
                <a:latin typeface="Cambria Math" panose="02040503050406030204"/>
                <a:cs typeface="Cambria Math" panose="02040503050406030204"/>
              </a:rPr>
              <a:t>2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25676" y="1996891"/>
            <a:ext cx="138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i="1" spc="30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24190" y="2656744"/>
            <a:ext cx="153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i="1" spc="82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88733" y="2717666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49438" y="3010275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71813" y="2959982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2316" y="914889"/>
            <a:ext cx="3166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747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	</a:t>
            </a:r>
            <a:r>
              <a:rPr sz="1800" baseline="20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800" spc="-7" baseline="2000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800" i="1" spc="-7" baseline="2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3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800" i="1" spc="-7" baseline="200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800" i="1" spc="97" baseline="2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3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800" i="1" spc="97" baseline="20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800" i="1" spc="-277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3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800" spc="75" baseline="200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3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3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91416" y="1788572"/>
            <a:ext cx="111760" cy="250190"/>
          </a:xfrm>
          <a:prstGeom prst="rect">
            <a:avLst/>
          </a:prstGeom>
          <a:solidFill>
            <a:srgbClr val="4F81BD"/>
          </a:solidFill>
          <a:ln w="12191">
            <a:solidFill>
              <a:srgbClr val="385D8A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900" i="1" spc="22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rPr>
              <a:t>f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6831" y="1499013"/>
            <a:ext cx="180340" cy="829310"/>
          </a:xfrm>
          <a:prstGeom prst="rect">
            <a:avLst/>
          </a:prstGeom>
          <a:solidFill>
            <a:srgbClr val="4F81BD"/>
          </a:solidFill>
          <a:ln w="12191">
            <a:solidFill>
              <a:srgbClr val="385D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28575">
              <a:lnSpc>
                <a:spcPct val="100000"/>
              </a:lnSpc>
              <a:spcBef>
                <a:spcPts val="640"/>
              </a:spcBef>
            </a:pPr>
            <a:r>
              <a:rPr sz="900" i="1" spc="4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46663" y="1499013"/>
            <a:ext cx="675640" cy="829310"/>
          </a:xfrm>
          <a:custGeom>
            <a:avLst/>
            <a:gdLst/>
            <a:ahLst/>
            <a:cxnLst/>
            <a:rect l="l" t="t" r="r" b="b"/>
            <a:pathLst>
              <a:path w="675640" h="829310">
                <a:moveTo>
                  <a:pt x="0" y="0"/>
                </a:moveTo>
                <a:lnTo>
                  <a:pt x="675131" y="169163"/>
                </a:lnTo>
                <a:lnTo>
                  <a:pt x="675131" y="659891"/>
                </a:lnTo>
                <a:lnTo>
                  <a:pt x="0" y="829055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33047" y="1666653"/>
            <a:ext cx="658495" cy="495300"/>
          </a:xfrm>
          <a:custGeom>
            <a:avLst/>
            <a:gdLst/>
            <a:ahLst/>
            <a:cxnLst/>
            <a:rect l="l" t="t" r="r" b="b"/>
            <a:pathLst>
              <a:path w="658494" h="495300">
                <a:moveTo>
                  <a:pt x="0" y="0"/>
                </a:moveTo>
                <a:lnTo>
                  <a:pt x="658367" y="123443"/>
                </a:lnTo>
                <a:lnTo>
                  <a:pt x="658367" y="371855"/>
                </a:lnTo>
                <a:lnTo>
                  <a:pt x="0" y="4952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91520" y="1844415"/>
            <a:ext cx="97599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5930" algn="l"/>
                <a:tab pos="791210" algn="l"/>
              </a:tabLst>
            </a:pPr>
            <a:r>
              <a:rPr sz="900" i="1" spc="10" dirty="0">
                <a:latin typeface="Cambria Math" panose="02040503050406030204"/>
                <a:cs typeface="Cambria Math" panose="02040503050406030204"/>
              </a:rPr>
              <a:t>W1	</a:t>
            </a:r>
            <a:r>
              <a:rPr sz="1350" spc="15" baseline="30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h	</a:t>
            </a:r>
            <a:r>
              <a:rPr sz="1350" i="1" spc="30" baseline="6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350" i="1" baseline="6000" dirty="0">
                <a:latin typeface="Cambria Math" panose="02040503050406030204"/>
                <a:cs typeface="Cambria Math" panose="02040503050406030204"/>
              </a:rPr>
              <a:t>2</a:t>
            </a:r>
            <a:endParaRPr sz="1350" baseline="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38559" y="142144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83895" y="916473"/>
            <a:ext cx="3061970" cy="2456815"/>
          </a:xfrm>
          <a:custGeom>
            <a:avLst/>
            <a:gdLst/>
            <a:ahLst/>
            <a:cxnLst/>
            <a:rect l="l" t="t" r="r" b="b"/>
            <a:pathLst>
              <a:path w="3061970" h="2456815">
                <a:moveTo>
                  <a:pt x="6095" y="1228344"/>
                </a:moveTo>
                <a:lnTo>
                  <a:pt x="0" y="1228344"/>
                </a:lnTo>
                <a:lnTo>
                  <a:pt x="1524" y="1258824"/>
                </a:lnTo>
                <a:lnTo>
                  <a:pt x="13715" y="1258824"/>
                </a:lnTo>
                <a:lnTo>
                  <a:pt x="13715" y="1234439"/>
                </a:lnTo>
                <a:lnTo>
                  <a:pt x="6095" y="1234439"/>
                </a:lnTo>
                <a:lnTo>
                  <a:pt x="6095" y="1228344"/>
                </a:lnTo>
                <a:close/>
              </a:path>
              <a:path w="3061970" h="2456815">
                <a:moveTo>
                  <a:pt x="13715" y="1222247"/>
                </a:moveTo>
                <a:lnTo>
                  <a:pt x="7619" y="1222247"/>
                </a:lnTo>
                <a:lnTo>
                  <a:pt x="6095" y="1223772"/>
                </a:lnTo>
                <a:lnTo>
                  <a:pt x="6095" y="1234439"/>
                </a:lnTo>
                <a:lnTo>
                  <a:pt x="10667" y="1234439"/>
                </a:lnTo>
                <a:lnTo>
                  <a:pt x="13715" y="1231391"/>
                </a:lnTo>
                <a:lnTo>
                  <a:pt x="13715" y="1222247"/>
                </a:lnTo>
                <a:close/>
              </a:path>
              <a:path w="3061970" h="2456815">
                <a:moveTo>
                  <a:pt x="13715" y="1231391"/>
                </a:moveTo>
                <a:lnTo>
                  <a:pt x="10667" y="1234439"/>
                </a:lnTo>
                <a:lnTo>
                  <a:pt x="13715" y="1234439"/>
                </a:lnTo>
                <a:lnTo>
                  <a:pt x="13715" y="1231391"/>
                </a:lnTo>
                <a:close/>
              </a:path>
              <a:path w="3061970" h="2456815">
                <a:moveTo>
                  <a:pt x="15239" y="1178052"/>
                </a:moveTo>
                <a:lnTo>
                  <a:pt x="1524" y="1178052"/>
                </a:lnTo>
                <a:lnTo>
                  <a:pt x="1524" y="1228344"/>
                </a:lnTo>
                <a:lnTo>
                  <a:pt x="6095" y="1223772"/>
                </a:lnTo>
                <a:lnTo>
                  <a:pt x="6095" y="1222247"/>
                </a:lnTo>
                <a:lnTo>
                  <a:pt x="13715" y="1222247"/>
                </a:lnTo>
                <a:lnTo>
                  <a:pt x="13715" y="1197864"/>
                </a:lnTo>
                <a:lnTo>
                  <a:pt x="15239" y="1178052"/>
                </a:lnTo>
                <a:close/>
              </a:path>
              <a:path w="3061970" h="2456815">
                <a:moveTo>
                  <a:pt x="7619" y="1222247"/>
                </a:moveTo>
                <a:lnTo>
                  <a:pt x="6095" y="1222247"/>
                </a:lnTo>
                <a:lnTo>
                  <a:pt x="6095" y="1223772"/>
                </a:lnTo>
                <a:lnTo>
                  <a:pt x="7619" y="1222247"/>
                </a:lnTo>
                <a:close/>
              </a:path>
              <a:path w="3061970" h="2456815">
                <a:moveTo>
                  <a:pt x="10667" y="1088135"/>
                </a:moveTo>
                <a:lnTo>
                  <a:pt x="6095" y="1133856"/>
                </a:lnTo>
                <a:lnTo>
                  <a:pt x="4571" y="1139952"/>
                </a:lnTo>
                <a:lnTo>
                  <a:pt x="18287" y="1139952"/>
                </a:lnTo>
                <a:lnTo>
                  <a:pt x="18287" y="1135379"/>
                </a:lnTo>
                <a:lnTo>
                  <a:pt x="21336" y="1104900"/>
                </a:lnTo>
                <a:lnTo>
                  <a:pt x="22859" y="1091183"/>
                </a:lnTo>
                <a:lnTo>
                  <a:pt x="10667" y="1088135"/>
                </a:lnTo>
                <a:close/>
              </a:path>
              <a:path w="3061970" h="2456815">
                <a:moveTo>
                  <a:pt x="27431" y="1001268"/>
                </a:moveTo>
                <a:lnTo>
                  <a:pt x="24383" y="1010412"/>
                </a:lnTo>
                <a:lnTo>
                  <a:pt x="18287" y="1040891"/>
                </a:lnTo>
                <a:lnTo>
                  <a:pt x="16763" y="1051559"/>
                </a:lnTo>
                <a:lnTo>
                  <a:pt x="28955" y="1053083"/>
                </a:lnTo>
                <a:lnTo>
                  <a:pt x="30479" y="1043939"/>
                </a:lnTo>
                <a:lnTo>
                  <a:pt x="36575" y="1013459"/>
                </a:lnTo>
                <a:lnTo>
                  <a:pt x="39624" y="1004315"/>
                </a:lnTo>
                <a:lnTo>
                  <a:pt x="27431" y="1001268"/>
                </a:lnTo>
                <a:close/>
              </a:path>
              <a:path w="3061970" h="2456815">
                <a:moveTo>
                  <a:pt x="51815" y="914400"/>
                </a:moveTo>
                <a:lnTo>
                  <a:pt x="48767" y="922019"/>
                </a:lnTo>
                <a:lnTo>
                  <a:pt x="39624" y="950976"/>
                </a:lnTo>
                <a:lnTo>
                  <a:pt x="36575" y="963168"/>
                </a:lnTo>
                <a:lnTo>
                  <a:pt x="48767" y="967739"/>
                </a:lnTo>
                <a:lnTo>
                  <a:pt x="51815" y="954024"/>
                </a:lnTo>
                <a:lnTo>
                  <a:pt x="60959" y="925068"/>
                </a:lnTo>
                <a:lnTo>
                  <a:pt x="64007" y="918971"/>
                </a:lnTo>
                <a:lnTo>
                  <a:pt x="51815" y="914400"/>
                </a:lnTo>
                <a:close/>
              </a:path>
              <a:path w="3061970" h="2456815">
                <a:moveTo>
                  <a:pt x="82295" y="830579"/>
                </a:moveTo>
                <a:lnTo>
                  <a:pt x="80771" y="835151"/>
                </a:lnTo>
                <a:lnTo>
                  <a:pt x="70103" y="862583"/>
                </a:lnTo>
                <a:lnTo>
                  <a:pt x="64007" y="879347"/>
                </a:lnTo>
                <a:lnTo>
                  <a:pt x="76200" y="882395"/>
                </a:lnTo>
                <a:lnTo>
                  <a:pt x="82295" y="867156"/>
                </a:lnTo>
                <a:lnTo>
                  <a:pt x="92963" y="839724"/>
                </a:lnTo>
                <a:lnTo>
                  <a:pt x="94487" y="836676"/>
                </a:lnTo>
                <a:lnTo>
                  <a:pt x="82295" y="830579"/>
                </a:lnTo>
                <a:close/>
              </a:path>
              <a:path w="3061970" h="2456815">
                <a:moveTo>
                  <a:pt x="120395" y="749807"/>
                </a:moveTo>
                <a:lnTo>
                  <a:pt x="106679" y="777239"/>
                </a:lnTo>
                <a:lnTo>
                  <a:pt x="99059" y="795527"/>
                </a:lnTo>
                <a:lnTo>
                  <a:pt x="109727" y="801624"/>
                </a:lnTo>
                <a:lnTo>
                  <a:pt x="132587" y="755903"/>
                </a:lnTo>
                <a:lnTo>
                  <a:pt x="120395" y="749807"/>
                </a:lnTo>
                <a:close/>
              </a:path>
              <a:path w="3061970" h="2456815">
                <a:moveTo>
                  <a:pt x="166115" y="673607"/>
                </a:moveTo>
                <a:lnTo>
                  <a:pt x="152400" y="696468"/>
                </a:lnTo>
                <a:lnTo>
                  <a:pt x="140207" y="716279"/>
                </a:lnTo>
                <a:lnTo>
                  <a:pt x="150875" y="723900"/>
                </a:lnTo>
                <a:lnTo>
                  <a:pt x="163067" y="702563"/>
                </a:lnTo>
                <a:lnTo>
                  <a:pt x="176783" y="679703"/>
                </a:lnTo>
                <a:lnTo>
                  <a:pt x="166115" y="673607"/>
                </a:lnTo>
                <a:close/>
              </a:path>
              <a:path w="3061970" h="2456815">
                <a:moveTo>
                  <a:pt x="216407" y="598932"/>
                </a:moveTo>
                <a:lnTo>
                  <a:pt x="204215" y="617219"/>
                </a:lnTo>
                <a:lnTo>
                  <a:pt x="187451" y="641603"/>
                </a:lnTo>
                <a:lnTo>
                  <a:pt x="198119" y="647700"/>
                </a:lnTo>
                <a:lnTo>
                  <a:pt x="214883" y="624839"/>
                </a:lnTo>
                <a:lnTo>
                  <a:pt x="227075" y="606551"/>
                </a:lnTo>
                <a:lnTo>
                  <a:pt x="216407" y="598932"/>
                </a:lnTo>
                <a:close/>
              </a:path>
              <a:path w="3061970" h="2456815">
                <a:moveTo>
                  <a:pt x="272795" y="530351"/>
                </a:moveTo>
                <a:lnTo>
                  <a:pt x="262127" y="541019"/>
                </a:lnTo>
                <a:lnTo>
                  <a:pt x="242315" y="566927"/>
                </a:lnTo>
                <a:lnTo>
                  <a:pt x="239267" y="568451"/>
                </a:lnTo>
                <a:lnTo>
                  <a:pt x="249936" y="577596"/>
                </a:lnTo>
                <a:lnTo>
                  <a:pt x="252983" y="574548"/>
                </a:lnTo>
                <a:lnTo>
                  <a:pt x="272795" y="550163"/>
                </a:lnTo>
                <a:lnTo>
                  <a:pt x="281939" y="537972"/>
                </a:lnTo>
                <a:lnTo>
                  <a:pt x="272795" y="530351"/>
                </a:lnTo>
                <a:close/>
              </a:path>
              <a:path w="3061970" h="2456815">
                <a:moveTo>
                  <a:pt x="333755" y="464819"/>
                </a:moveTo>
                <a:lnTo>
                  <a:pt x="327659" y="469391"/>
                </a:lnTo>
                <a:lnTo>
                  <a:pt x="304800" y="493775"/>
                </a:lnTo>
                <a:lnTo>
                  <a:pt x="298703" y="501396"/>
                </a:lnTo>
                <a:lnTo>
                  <a:pt x="307848" y="510539"/>
                </a:lnTo>
                <a:lnTo>
                  <a:pt x="313943" y="501396"/>
                </a:lnTo>
                <a:lnTo>
                  <a:pt x="336803" y="478536"/>
                </a:lnTo>
                <a:lnTo>
                  <a:pt x="342900" y="473963"/>
                </a:lnTo>
                <a:lnTo>
                  <a:pt x="333755" y="464819"/>
                </a:lnTo>
                <a:close/>
              </a:path>
              <a:path w="3061970" h="2456815">
                <a:moveTo>
                  <a:pt x="397763" y="402336"/>
                </a:moveTo>
                <a:lnTo>
                  <a:pt x="374903" y="425196"/>
                </a:lnTo>
                <a:lnTo>
                  <a:pt x="361188" y="437388"/>
                </a:lnTo>
                <a:lnTo>
                  <a:pt x="368807" y="446531"/>
                </a:lnTo>
                <a:lnTo>
                  <a:pt x="382524" y="434339"/>
                </a:lnTo>
                <a:lnTo>
                  <a:pt x="406907" y="413003"/>
                </a:lnTo>
                <a:lnTo>
                  <a:pt x="397763" y="402336"/>
                </a:lnTo>
                <a:close/>
              </a:path>
              <a:path w="3061970" h="2456815">
                <a:moveTo>
                  <a:pt x="466343" y="345948"/>
                </a:moveTo>
                <a:lnTo>
                  <a:pt x="449579" y="359663"/>
                </a:lnTo>
                <a:lnTo>
                  <a:pt x="426719" y="377951"/>
                </a:lnTo>
                <a:lnTo>
                  <a:pt x="435863" y="387096"/>
                </a:lnTo>
                <a:lnTo>
                  <a:pt x="457200" y="370331"/>
                </a:lnTo>
                <a:lnTo>
                  <a:pt x="475488" y="356615"/>
                </a:lnTo>
                <a:lnTo>
                  <a:pt x="466343" y="345948"/>
                </a:lnTo>
                <a:close/>
              </a:path>
              <a:path w="3061970" h="2456815">
                <a:moveTo>
                  <a:pt x="539495" y="294131"/>
                </a:moveTo>
                <a:lnTo>
                  <a:pt x="502919" y="318515"/>
                </a:lnTo>
                <a:lnTo>
                  <a:pt x="498348" y="323088"/>
                </a:lnTo>
                <a:lnTo>
                  <a:pt x="504443" y="333755"/>
                </a:lnTo>
                <a:lnTo>
                  <a:pt x="510539" y="329184"/>
                </a:lnTo>
                <a:lnTo>
                  <a:pt x="537971" y="309372"/>
                </a:lnTo>
                <a:lnTo>
                  <a:pt x="547115" y="303275"/>
                </a:lnTo>
                <a:lnTo>
                  <a:pt x="539495" y="294131"/>
                </a:lnTo>
                <a:close/>
              </a:path>
              <a:path w="3061970" h="2456815">
                <a:moveTo>
                  <a:pt x="614171" y="245363"/>
                </a:moveTo>
                <a:lnTo>
                  <a:pt x="571500" y="272796"/>
                </a:lnTo>
                <a:lnTo>
                  <a:pt x="577595" y="283463"/>
                </a:lnTo>
                <a:lnTo>
                  <a:pt x="620267" y="256031"/>
                </a:lnTo>
                <a:lnTo>
                  <a:pt x="614171" y="245363"/>
                </a:lnTo>
                <a:close/>
              </a:path>
              <a:path w="3061970" h="2456815">
                <a:moveTo>
                  <a:pt x="691895" y="201167"/>
                </a:moveTo>
                <a:lnTo>
                  <a:pt x="676655" y="210312"/>
                </a:lnTo>
                <a:lnTo>
                  <a:pt x="647700" y="225551"/>
                </a:lnTo>
                <a:lnTo>
                  <a:pt x="653795" y="237743"/>
                </a:lnTo>
                <a:lnTo>
                  <a:pt x="682751" y="220979"/>
                </a:lnTo>
                <a:lnTo>
                  <a:pt x="697991" y="213360"/>
                </a:lnTo>
                <a:lnTo>
                  <a:pt x="691895" y="201167"/>
                </a:lnTo>
                <a:close/>
              </a:path>
              <a:path w="3061970" h="2456815">
                <a:moveTo>
                  <a:pt x="772667" y="161543"/>
                </a:moveTo>
                <a:lnTo>
                  <a:pt x="769619" y="163067"/>
                </a:lnTo>
                <a:lnTo>
                  <a:pt x="737615" y="178307"/>
                </a:lnTo>
                <a:lnTo>
                  <a:pt x="725424" y="184403"/>
                </a:lnTo>
                <a:lnTo>
                  <a:pt x="731519" y="195072"/>
                </a:lnTo>
                <a:lnTo>
                  <a:pt x="743712" y="188975"/>
                </a:lnTo>
                <a:lnTo>
                  <a:pt x="775715" y="175260"/>
                </a:lnTo>
                <a:lnTo>
                  <a:pt x="777239" y="173736"/>
                </a:lnTo>
                <a:lnTo>
                  <a:pt x="772667" y="161543"/>
                </a:lnTo>
                <a:close/>
              </a:path>
              <a:path w="3061970" h="2456815">
                <a:moveTo>
                  <a:pt x="854963" y="126491"/>
                </a:moveTo>
                <a:lnTo>
                  <a:pt x="835151" y="134112"/>
                </a:lnTo>
                <a:lnTo>
                  <a:pt x="807719" y="146303"/>
                </a:lnTo>
                <a:lnTo>
                  <a:pt x="812291" y="158496"/>
                </a:lnTo>
                <a:lnTo>
                  <a:pt x="839724" y="146303"/>
                </a:lnTo>
                <a:lnTo>
                  <a:pt x="859536" y="138684"/>
                </a:lnTo>
                <a:lnTo>
                  <a:pt x="854963" y="126491"/>
                </a:lnTo>
                <a:close/>
              </a:path>
              <a:path w="3061970" h="2456815">
                <a:moveTo>
                  <a:pt x="937259" y="96012"/>
                </a:moveTo>
                <a:lnTo>
                  <a:pt x="935736" y="97536"/>
                </a:lnTo>
                <a:lnTo>
                  <a:pt x="902207" y="108203"/>
                </a:lnTo>
                <a:lnTo>
                  <a:pt x="890015" y="112775"/>
                </a:lnTo>
                <a:lnTo>
                  <a:pt x="894588" y="124967"/>
                </a:lnTo>
                <a:lnTo>
                  <a:pt x="906779" y="120396"/>
                </a:lnTo>
                <a:lnTo>
                  <a:pt x="940307" y="108203"/>
                </a:lnTo>
                <a:lnTo>
                  <a:pt x="941831" y="108203"/>
                </a:lnTo>
                <a:lnTo>
                  <a:pt x="937259" y="96012"/>
                </a:lnTo>
                <a:close/>
              </a:path>
              <a:path w="3061970" h="2456815">
                <a:moveTo>
                  <a:pt x="1022603" y="70103"/>
                </a:moveTo>
                <a:lnTo>
                  <a:pt x="1005839" y="74675"/>
                </a:lnTo>
                <a:lnTo>
                  <a:pt x="973836" y="83819"/>
                </a:lnTo>
                <a:lnTo>
                  <a:pt x="978407" y="96012"/>
                </a:lnTo>
                <a:lnTo>
                  <a:pt x="1008888" y="86867"/>
                </a:lnTo>
                <a:lnTo>
                  <a:pt x="1027176" y="82296"/>
                </a:lnTo>
                <a:lnTo>
                  <a:pt x="1022603" y="70103"/>
                </a:lnTo>
                <a:close/>
              </a:path>
              <a:path w="3061970" h="2456815">
                <a:moveTo>
                  <a:pt x="1109471" y="47243"/>
                </a:moveTo>
                <a:lnTo>
                  <a:pt x="1075943" y="56387"/>
                </a:lnTo>
                <a:lnTo>
                  <a:pt x="1060703" y="59436"/>
                </a:lnTo>
                <a:lnTo>
                  <a:pt x="1063752" y="71627"/>
                </a:lnTo>
                <a:lnTo>
                  <a:pt x="1078991" y="68579"/>
                </a:lnTo>
                <a:lnTo>
                  <a:pt x="1112519" y="59436"/>
                </a:lnTo>
                <a:lnTo>
                  <a:pt x="1109471" y="47243"/>
                </a:lnTo>
                <a:close/>
              </a:path>
              <a:path w="3061970" h="2456815">
                <a:moveTo>
                  <a:pt x="1196339" y="30479"/>
                </a:moveTo>
                <a:lnTo>
                  <a:pt x="1185671" y="32003"/>
                </a:lnTo>
                <a:lnTo>
                  <a:pt x="1149095" y="39624"/>
                </a:lnTo>
                <a:lnTo>
                  <a:pt x="1147571" y="39624"/>
                </a:lnTo>
                <a:lnTo>
                  <a:pt x="1149095" y="51815"/>
                </a:lnTo>
                <a:lnTo>
                  <a:pt x="1152143" y="51815"/>
                </a:lnTo>
                <a:lnTo>
                  <a:pt x="1188719" y="44196"/>
                </a:lnTo>
                <a:lnTo>
                  <a:pt x="1199388" y="42672"/>
                </a:lnTo>
                <a:lnTo>
                  <a:pt x="1196339" y="30479"/>
                </a:lnTo>
                <a:close/>
              </a:path>
              <a:path w="3061970" h="2456815">
                <a:moveTo>
                  <a:pt x="1284731" y="16763"/>
                </a:moveTo>
                <a:lnTo>
                  <a:pt x="1260348" y="19812"/>
                </a:lnTo>
                <a:lnTo>
                  <a:pt x="1234439" y="24384"/>
                </a:lnTo>
                <a:lnTo>
                  <a:pt x="1235964" y="36575"/>
                </a:lnTo>
                <a:lnTo>
                  <a:pt x="1261871" y="32003"/>
                </a:lnTo>
                <a:lnTo>
                  <a:pt x="1286255" y="28955"/>
                </a:lnTo>
                <a:lnTo>
                  <a:pt x="1284731" y="16763"/>
                </a:lnTo>
                <a:close/>
              </a:path>
              <a:path w="3061970" h="2456815">
                <a:moveTo>
                  <a:pt x="1373124" y="7619"/>
                </a:moveTo>
                <a:lnTo>
                  <a:pt x="1336548" y="10667"/>
                </a:lnTo>
                <a:lnTo>
                  <a:pt x="1322831" y="12191"/>
                </a:lnTo>
                <a:lnTo>
                  <a:pt x="1324355" y="24384"/>
                </a:lnTo>
                <a:lnTo>
                  <a:pt x="1338071" y="22860"/>
                </a:lnTo>
                <a:lnTo>
                  <a:pt x="1374648" y="19812"/>
                </a:lnTo>
                <a:lnTo>
                  <a:pt x="1373124" y="7619"/>
                </a:lnTo>
                <a:close/>
              </a:path>
              <a:path w="3061970" h="2456815">
                <a:moveTo>
                  <a:pt x="1463039" y="1524"/>
                </a:moveTo>
                <a:lnTo>
                  <a:pt x="1452371" y="1524"/>
                </a:lnTo>
                <a:lnTo>
                  <a:pt x="1412748" y="4572"/>
                </a:lnTo>
                <a:lnTo>
                  <a:pt x="1411224" y="4572"/>
                </a:lnTo>
                <a:lnTo>
                  <a:pt x="1412748" y="16763"/>
                </a:lnTo>
                <a:lnTo>
                  <a:pt x="1414271" y="16763"/>
                </a:lnTo>
                <a:lnTo>
                  <a:pt x="1452371" y="15239"/>
                </a:lnTo>
                <a:lnTo>
                  <a:pt x="1463039" y="15239"/>
                </a:lnTo>
                <a:lnTo>
                  <a:pt x="1463039" y="1524"/>
                </a:lnTo>
                <a:close/>
              </a:path>
              <a:path w="3061970" h="2456815">
                <a:moveTo>
                  <a:pt x="1531619" y="0"/>
                </a:moveTo>
                <a:lnTo>
                  <a:pt x="1501139" y="1524"/>
                </a:lnTo>
                <a:lnTo>
                  <a:pt x="1501139" y="13715"/>
                </a:lnTo>
                <a:lnTo>
                  <a:pt x="1551431" y="13715"/>
                </a:lnTo>
                <a:lnTo>
                  <a:pt x="1551431" y="1524"/>
                </a:lnTo>
                <a:lnTo>
                  <a:pt x="1531619" y="0"/>
                </a:lnTo>
                <a:close/>
              </a:path>
              <a:path w="3061970" h="2456815">
                <a:moveTo>
                  <a:pt x="1609343" y="1524"/>
                </a:moveTo>
                <a:lnTo>
                  <a:pt x="1591055" y="1524"/>
                </a:lnTo>
                <a:lnTo>
                  <a:pt x="1589531" y="13715"/>
                </a:lnTo>
                <a:lnTo>
                  <a:pt x="1609343" y="15239"/>
                </a:lnTo>
                <a:lnTo>
                  <a:pt x="1639824" y="16763"/>
                </a:lnTo>
                <a:lnTo>
                  <a:pt x="1641348" y="3048"/>
                </a:lnTo>
                <a:lnTo>
                  <a:pt x="1609343" y="1524"/>
                </a:lnTo>
                <a:close/>
              </a:path>
              <a:path w="3061970" h="2456815">
                <a:moveTo>
                  <a:pt x="1679448" y="6096"/>
                </a:moveTo>
                <a:lnTo>
                  <a:pt x="1677924" y="18287"/>
                </a:lnTo>
                <a:lnTo>
                  <a:pt x="1687067" y="19812"/>
                </a:lnTo>
                <a:lnTo>
                  <a:pt x="1725167" y="22860"/>
                </a:lnTo>
                <a:lnTo>
                  <a:pt x="1728215" y="22860"/>
                </a:lnTo>
                <a:lnTo>
                  <a:pt x="1729739" y="10667"/>
                </a:lnTo>
                <a:lnTo>
                  <a:pt x="1725167" y="10667"/>
                </a:lnTo>
                <a:lnTo>
                  <a:pt x="1687067" y="7619"/>
                </a:lnTo>
                <a:lnTo>
                  <a:pt x="1679448" y="6096"/>
                </a:lnTo>
                <a:close/>
              </a:path>
              <a:path w="3061970" h="2456815">
                <a:moveTo>
                  <a:pt x="1767839" y="15239"/>
                </a:moveTo>
                <a:lnTo>
                  <a:pt x="1766315" y="27431"/>
                </a:lnTo>
                <a:lnTo>
                  <a:pt x="1799843" y="32003"/>
                </a:lnTo>
                <a:lnTo>
                  <a:pt x="1816607" y="35051"/>
                </a:lnTo>
                <a:lnTo>
                  <a:pt x="1818131" y="22860"/>
                </a:lnTo>
                <a:lnTo>
                  <a:pt x="1801367" y="19812"/>
                </a:lnTo>
                <a:lnTo>
                  <a:pt x="1767839" y="15239"/>
                </a:lnTo>
                <a:close/>
              </a:path>
              <a:path w="3061970" h="2456815">
                <a:moveTo>
                  <a:pt x="1856231" y="28955"/>
                </a:moveTo>
                <a:lnTo>
                  <a:pt x="1854707" y="41148"/>
                </a:lnTo>
                <a:lnTo>
                  <a:pt x="1874519" y="44196"/>
                </a:lnTo>
                <a:lnTo>
                  <a:pt x="1903476" y="50291"/>
                </a:lnTo>
                <a:lnTo>
                  <a:pt x="1906524" y="38100"/>
                </a:lnTo>
                <a:lnTo>
                  <a:pt x="1876043" y="32003"/>
                </a:lnTo>
                <a:lnTo>
                  <a:pt x="1856231" y="28955"/>
                </a:lnTo>
                <a:close/>
              </a:path>
              <a:path w="3061970" h="2456815">
                <a:moveTo>
                  <a:pt x="1943100" y="45719"/>
                </a:moveTo>
                <a:lnTo>
                  <a:pt x="1941576" y="57912"/>
                </a:lnTo>
                <a:lnTo>
                  <a:pt x="1947671" y="59436"/>
                </a:lnTo>
                <a:lnTo>
                  <a:pt x="1982724" y="68579"/>
                </a:lnTo>
                <a:lnTo>
                  <a:pt x="1990343" y="70103"/>
                </a:lnTo>
                <a:lnTo>
                  <a:pt x="1993391" y="57912"/>
                </a:lnTo>
                <a:lnTo>
                  <a:pt x="1985771" y="56387"/>
                </a:lnTo>
                <a:lnTo>
                  <a:pt x="1943100" y="45719"/>
                </a:lnTo>
                <a:close/>
              </a:path>
              <a:path w="3061970" h="2456815">
                <a:moveTo>
                  <a:pt x="2029967" y="67055"/>
                </a:moveTo>
                <a:lnTo>
                  <a:pt x="2026919" y="79248"/>
                </a:lnTo>
                <a:lnTo>
                  <a:pt x="2052827" y="86867"/>
                </a:lnTo>
                <a:lnTo>
                  <a:pt x="2075688" y="94487"/>
                </a:lnTo>
                <a:lnTo>
                  <a:pt x="2078736" y="82296"/>
                </a:lnTo>
                <a:lnTo>
                  <a:pt x="2057400" y="74675"/>
                </a:lnTo>
                <a:lnTo>
                  <a:pt x="2029967" y="67055"/>
                </a:lnTo>
                <a:close/>
              </a:path>
              <a:path w="3061970" h="2456815">
                <a:moveTo>
                  <a:pt x="2115312" y="92963"/>
                </a:moveTo>
                <a:lnTo>
                  <a:pt x="2112264" y="105155"/>
                </a:lnTo>
                <a:lnTo>
                  <a:pt x="2122931" y="109727"/>
                </a:lnTo>
                <a:lnTo>
                  <a:pt x="2156459" y="120396"/>
                </a:lnTo>
                <a:lnTo>
                  <a:pt x="2159507" y="121919"/>
                </a:lnTo>
                <a:lnTo>
                  <a:pt x="2164079" y="109727"/>
                </a:lnTo>
                <a:lnTo>
                  <a:pt x="2161031" y="108203"/>
                </a:lnTo>
                <a:lnTo>
                  <a:pt x="2125979" y="97536"/>
                </a:lnTo>
                <a:lnTo>
                  <a:pt x="2115312" y="92963"/>
                </a:lnTo>
                <a:close/>
              </a:path>
              <a:path w="3061970" h="2456815">
                <a:moveTo>
                  <a:pt x="2199131" y="123443"/>
                </a:moveTo>
                <a:lnTo>
                  <a:pt x="2194559" y="135636"/>
                </a:lnTo>
                <a:lnTo>
                  <a:pt x="2241804" y="153924"/>
                </a:lnTo>
                <a:lnTo>
                  <a:pt x="2246376" y="143255"/>
                </a:lnTo>
                <a:lnTo>
                  <a:pt x="2228088" y="134112"/>
                </a:lnTo>
                <a:lnTo>
                  <a:pt x="2199131" y="123443"/>
                </a:lnTo>
                <a:close/>
              </a:path>
              <a:path w="3061970" h="2456815">
                <a:moveTo>
                  <a:pt x="2281428" y="158496"/>
                </a:moveTo>
                <a:lnTo>
                  <a:pt x="2276855" y="169163"/>
                </a:lnTo>
                <a:lnTo>
                  <a:pt x="2287524" y="175260"/>
                </a:lnTo>
                <a:lnTo>
                  <a:pt x="2318004" y="188975"/>
                </a:lnTo>
                <a:lnTo>
                  <a:pt x="2322576" y="192024"/>
                </a:lnTo>
                <a:lnTo>
                  <a:pt x="2328671" y="179831"/>
                </a:lnTo>
                <a:lnTo>
                  <a:pt x="2324100" y="178307"/>
                </a:lnTo>
                <a:lnTo>
                  <a:pt x="2292095" y="163067"/>
                </a:lnTo>
                <a:lnTo>
                  <a:pt x="2281428" y="158496"/>
                </a:lnTo>
                <a:close/>
              </a:path>
              <a:path w="3061970" h="2456815">
                <a:moveTo>
                  <a:pt x="2362200" y="196596"/>
                </a:moveTo>
                <a:lnTo>
                  <a:pt x="2356104" y="208787"/>
                </a:lnTo>
                <a:lnTo>
                  <a:pt x="2380488" y="220979"/>
                </a:lnTo>
                <a:lnTo>
                  <a:pt x="2400300" y="233172"/>
                </a:lnTo>
                <a:lnTo>
                  <a:pt x="2406395" y="222503"/>
                </a:lnTo>
                <a:lnTo>
                  <a:pt x="2386583" y="210312"/>
                </a:lnTo>
                <a:lnTo>
                  <a:pt x="2362200" y="196596"/>
                </a:lnTo>
                <a:close/>
              </a:path>
              <a:path w="3061970" h="2456815">
                <a:moveTo>
                  <a:pt x="2439924" y="240791"/>
                </a:moveTo>
                <a:lnTo>
                  <a:pt x="2433828" y="251460"/>
                </a:lnTo>
                <a:lnTo>
                  <a:pt x="2439924" y="254507"/>
                </a:lnTo>
                <a:lnTo>
                  <a:pt x="2476500" y="278891"/>
                </a:lnTo>
                <a:lnTo>
                  <a:pt x="2484119" y="268224"/>
                </a:lnTo>
                <a:lnTo>
                  <a:pt x="2446019" y="243839"/>
                </a:lnTo>
                <a:lnTo>
                  <a:pt x="2439924" y="240791"/>
                </a:lnTo>
                <a:close/>
              </a:path>
              <a:path w="3061970" h="2456815">
                <a:moveTo>
                  <a:pt x="2516124" y="288036"/>
                </a:moveTo>
                <a:lnTo>
                  <a:pt x="2508504" y="298703"/>
                </a:lnTo>
                <a:lnTo>
                  <a:pt x="2525267" y="309372"/>
                </a:lnTo>
                <a:lnTo>
                  <a:pt x="2549652" y="327660"/>
                </a:lnTo>
                <a:lnTo>
                  <a:pt x="2557271" y="316991"/>
                </a:lnTo>
                <a:lnTo>
                  <a:pt x="2531364" y="300227"/>
                </a:lnTo>
                <a:lnTo>
                  <a:pt x="2516124" y="288036"/>
                </a:lnTo>
                <a:close/>
              </a:path>
              <a:path w="3061970" h="2456815">
                <a:moveTo>
                  <a:pt x="2587752" y="339851"/>
                </a:moveTo>
                <a:lnTo>
                  <a:pt x="2580131" y="350519"/>
                </a:lnTo>
                <a:lnTo>
                  <a:pt x="2604516" y="370331"/>
                </a:lnTo>
                <a:lnTo>
                  <a:pt x="2619755" y="382524"/>
                </a:lnTo>
                <a:lnTo>
                  <a:pt x="2627376" y="371855"/>
                </a:lnTo>
                <a:lnTo>
                  <a:pt x="2612136" y="359663"/>
                </a:lnTo>
                <a:lnTo>
                  <a:pt x="2587752" y="339851"/>
                </a:lnTo>
                <a:close/>
              </a:path>
              <a:path w="3061970" h="2456815">
                <a:moveTo>
                  <a:pt x="2657855" y="396239"/>
                </a:moveTo>
                <a:lnTo>
                  <a:pt x="2648712" y="406907"/>
                </a:lnTo>
                <a:lnTo>
                  <a:pt x="2654807" y="411479"/>
                </a:lnTo>
                <a:lnTo>
                  <a:pt x="2679191" y="434339"/>
                </a:lnTo>
                <a:lnTo>
                  <a:pt x="2686812" y="440436"/>
                </a:lnTo>
                <a:lnTo>
                  <a:pt x="2694431" y="431291"/>
                </a:lnTo>
                <a:lnTo>
                  <a:pt x="2688336" y="423672"/>
                </a:lnTo>
                <a:lnTo>
                  <a:pt x="2663952" y="402336"/>
                </a:lnTo>
                <a:lnTo>
                  <a:pt x="2657855" y="396239"/>
                </a:lnTo>
                <a:close/>
              </a:path>
              <a:path w="3061970" h="2456815">
                <a:moveTo>
                  <a:pt x="2721864" y="457200"/>
                </a:moveTo>
                <a:lnTo>
                  <a:pt x="2714243" y="466343"/>
                </a:lnTo>
                <a:lnTo>
                  <a:pt x="2724912" y="478536"/>
                </a:lnTo>
                <a:lnTo>
                  <a:pt x="2749295" y="502919"/>
                </a:lnTo>
                <a:lnTo>
                  <a:pt x="2758440" y="493775"/>
                </a:lnTo>
                <a:lnTo>
                  <a:pt x="2756916" y="493775"/>
                </a:lnTo>
                <a:lnTo>
                  <a:pt x="2734055" y="469391"/>
                </a:lnTo>
                <a:lnTo>
                  <a:pt x="2721864" y="457200"/>
                </a:lnTo>
                <a:close/>
              </a:path>
              <a:path w="3061970" h="2456815">
                <a:moveTo>
                  <a:pt x="2784348" y="522731"/>
                </a:moveTo>
                <a:lnTo>
                  <a:pt x="2773679" y="531876"/>
                </a:lnTo>
                <a:lnTo>
                  <a:pt x="2790444" y="550163"/>
                </a:lnTo>
                <a:lnTo>
                  <a:pt x="2807207" y="569976"/>
                </a:lnTo>
                <a:lnTo>
                  <a:pt x="2816352" y="562355"/>
                </a:lnTo>
                <a:lnTo>
                  <a:pt x="2799587" y="541019"/>
                </a:lnTo>
                <a:lnTo>
                  <a:pt x="2784348" y="522731"/>
                </a:lnTo>
                <a:close/>
              </a:path>
              <a:path w="3061970" h="2456815">
                <a:moveTo>
                  <a:pt x="2840735" y="592835"/>
                </a:moveTo>
                <a:lnTo>
                  <a:pt x="2830068" y="600456"/>
                </a:lnTo>
                <a:lnTo>
                  <a:pt x="2848355" y="624839"/>
                </a:lnTo>
                <a:lnTo>
                  <a:pt x="2859024" y="640079"/>
                </a:lnTo>
                <a:lnTo>
                  <a:pt x="2869692" y="633983"/>
                </a:lnTo>
                <a:lnTo>
                  <a:pt x="2859024" y="617219"/>
                </a:lnTo>
                <a:lnTo>
                  <a:pt x="2840735" y="592835"/>
                </a:lnTo>
                <a:close/>
              </a:path>
              <a:path w="3061970" h="2456815">
                <a:moveTo>
                  <a:pt x="2891028" y="665988"/>
                </a:moveTo>
                <a:lnTo>
                  <a:pt x="2880359" y="672083"/>
                </a:lnTo>
                <a:lnTo>
                  <a:pt x="2883407" y="675132"/>
                </a:lnTo>
                <a:lnTo>
                  <a:pt x="2898648" y="702563"/>
                </a:lnTo>
                <a:lnTo>
                  <a:pt x="2907792" y="714756"/>
                </a:lnTo>
                <a:lnTo>
                  <a:pt x="2918459" y="708659"/>
                </a:lnTo>
                <a:lnTo>
                  <a:pt x="2910839" y="694944"/>
                </a:lnTo>
                <a:lnTo>
                  <a:pt x="2894076" y="669035"/>
                </a:lnTo>
                <a:lnTo>
                  <a:pt x="2891028" y="665988"/>
                </a:lnTo>
                <a:close/>
              </a:path>
              <a:path w="3061970" h="2456815">
                <a:moveTo>
                  <a:pt x="2936748" y="742188"/>
                </a:moveTo>
                <a:lnTo>
                  <a:pt x="2926079" y="748283"/>
                </a:lnTo>
                <a:lnTo>
                  <a:pt x="2929128" y="755903"/>
                </a:lnTo>
                <a:lnTo>
                  <a:pt x="2944368" y="783335"/>
                </a:lnTo>
                <a:lnTo>
                  <a:pt x="2948939" y="794003"/>
                </a:lnTo>
                <a:lnTo>
                  <a:pt x="2959607" y="787907"/>
                </a:lnTo>
                <a:lnTo>
                  <a:pt x="2955035" y="777239"/>
                </a:lnTo>
                <a:lnTo>
                  <a:pt x="2941320" y="749807"/>
                </a:lnTo>
                <a:lnTo>
                  <a:pt x="2936748" y="742188"/>
                </a:lnTo>
                <a:close/>
              </a:path>
              <a:path w="3061970" h="2456815">
                <a:moveTo>
                  <a:pt x="2976372" y="822959"/>
                </a:moveTo>
                <a:lnTo>
                  <a:pt x="2964179" y="827532"/>
                </a:lnTo>
                <a:lnTo>
                  <a:pt x="2968752" y="839724"/>
                </a:lnTo>
                <a:lnTo>
                  <a:pt x="2980944" y="867156"/>
                </a:lnTo>
                <a:lnTo>
                  <a:pt x="2982468" y="874776"/>
                </a:lnTo>
                <a:lnTo>
                  <a:pt x="2994659" y="870203"/>
                </a:lnTo>
                <a:lnTo>
                  <a:pt x="2991611" y="862583"/>
                </a:lnTo>
                <a:lnTo>
                  <a:pt x="2980944" y="833627"/>
                </a:lnTo>
                <a:lnTo>
                  <a:pt x="2976372" y="822959"/>
                </a:lnTo>
                <a:close/>
              </a:path>
              <a:path w="3061970" h="2456815">
                <a:moveTo>
                  <a:pt x="3008376" y="906779"/>
                </a:moveTo>
                <a:lnTo>
                  <a:pt x="2996183" y="909827"/>
                </a:lnTo>
                <a:lnTo>
                  <a:pt x="3000755" y="925068"/>
                </a:lnTo>
                <a:lnTo>
                  <a:pt x="3009900" y="954024"/>
                </a:lnTo>
                <a:lnTo>
                  <a:pt x="3011424" y="958595"/>
                </a:lnTo>
                <a:lnTo>
                  <a:pt x="3023615" y="955547"/>
                </a:lnTo>
                <a:lnTo>
                  <a:pt x="3022092" y="950976"/>
                </a:lnTo>
                <a:lnTo>
                  <a:pt x="3012948" y="920495"/>
                </a:lnTo>
                <a:lnTo>
                  <a:pt x="3008376" y="906779"/>
                </a:lnTo>
                <a:close/>
              </a:path>
              <a:path w="3061970" h="2456815">
                <a:moveTo>
                  <a:pt x="3032759" y="992124"/>
                </a:moveTo>
                <a:lnTo>
                  <a:pt x="3020568" y="995171"/>
                </a:lnTo>
                <a:lnTo>
                  <a:pt x="3025139" y="1013459"/>
                </a:lnTo>
                <a:lnTo>
                  <a:pt x="3031235" y="1043939"/>
                </a:lnTo>
                <a:lnTo>
                  <a:pt x="3043428" y="1042415"/>
                </a:lnTo>
                <a:lnTo>
                  <a:pt x="3043428" y="1040891"/>
                </a:lnTo>
                <a:lnTo>
                  <a:pt x="3037331" y="1010412"/>
                </a:lnTo>
                <a:lnTo>
                  <a:pt x="3032759" y="992124"/>
                </a:lnTo>
                <a:close/>
              </a:path>
              <a:path w="3061970" h="2456815">
                <a:moveTo>
                  <a:pt x="3049524" y="1080515"/>
                </a:moveTo>
                <a:lnTo>
                  <a:pt x="3037331" y="1082039"/>
                </a:lnTo>
                <a:lnTo>
                  <a:pt x="3040379" y="1104900"/>
                </a:lnTo>
                <a:lnTo>
                  <a:pt x="3043428" y="1132332"/>
                </a:lnTo>
                <a:lnTo>
                  <a:pt x="3057144" y="1130808"/>
                </a:lnTo>
                <a:lnTo>
                  <a:pt x="3052572" y="1101852"/>
                </a:lnTo>
                <a:lnTo>
                  <a:pt x="3049524" y="1080515"/>
                </a:lnTo>
                <a:close/>
              </a:path>
              <a:path w="3061970" h="2456815">
                <a:moveTo>
                  <a:pt x="3058668" y="1168908"/>
                </a:moveTo>
                <a:lnTo>
                  <a:pt x="3046476" y="1168908"/>
                </a:lnTo>
                <a:lnTo>
                  <a:pt x="3048000" y="1196339"/>
                </a:lnTo>
                <a:lnTo>
                  <a:pt x="3048000" y="1220724"/>
                </a:lnTo>
                <a:lnTo>
                  <a:pt x="3061715" y="1219200"/>
                </a:lnTo>
                <a:lnTo>
                  <a:pt x="3060192" y="1196339"/>
                </a:lnTo>
                <a:lnTo>
                  <a:pt x="3058668" y="1168908"/>
                </a:lnTo>
                <a:close/>
              </a:path>
              <a:path w="3061970" h="2456815">
                <a:moveTo>
                  <a:pt x="3061715" y="1257300"/>
                </a:moveTo>
                <a:lnTo>
                  <a:pt x="3048000" y="1257300"/>
                </a:lnTo>
                <a:lnTo>
                  <a:pt x="3048000" y="1260347"/>
                </a:lnTo>
                <a:lnTo>
                  <a:pt x="3046476" y="1290827"/>
                </a:lnTo>
                <a:lnTo>
                  <a:pt x="3044952" y="1307591"/>
                </a:lnTo>
                <a:lnTo>
                  <a:pt x="3058668" y="1309115"/>
                </a:lnTo>
                <a:lnTo>
                  <a:pt x="3060192" y="1292352"/>
                </a:lnTo>
                <a:lnTo>
                  <a:pt x="3061715" y="1260347"/>
                </a:lnTo>
                <a:lnTo>
                  <a:pt x="3061715" y="1257300"/>
                </a:lnTo>
                <a:close/>
              </a:path>
              <a:path w="3061970" h="2456815">
                <a:moveTo>
                  <a:pt x="3041904" y="1345691"/>
                </a:moveTo>
                <a:lnTo>
                  <a:pt x="3040379" y="1353312"/>
                </a:lnTo>
                <a:lnTo>
                  <a:pt x="3037331" y="1383791"/>
                </a:lnTo>
                <a:lnTo>
                  <a:pt x="3034283" y="1395983"/>
                </a:lnTo>
                <a:lnTo>
                  <a:pt x="3046476" y="1397508"/>
                </a:lnTo>
                <a:lnTo>
                  <a:pt x="3049524" y="1385315"/>
                </a:lnTo>
                <a:lnTo>
                  <a:pt x="3054096" y="1354835"/>
                </a:lnTo>
                <a:lnTo>
                  <a:pt x="3054096" y="1347215"/>
                </a:lnTo>
                <a:lnTo>
                  <a:pt x="3041904" y="1345691"/>
                </a:lnTo>
                <a:close/>
              </a:path>
              <a:path w="3061970" h="2456815">
                <a:moveTo>
                  <a:pt x="3026663" y="1432559"/>
                </a:moveTo>
                <a:lnTo>
                  <a:pt x="3025139" y="1443227"/>
                </a:lnTo>
                <a:lnTo>
                  <a:pt x="3017520" y="1473708"/>
                </a:lnTo>
                <a:lnTo>
                  <a:pt x="3015996" y="1481327"/>
                </a:lnTo>
                <a:lnTo>
                  <a:pt x="3028187" y="1485900"/>
                </a:lnTo>
                <a:lnTo>
                  <a:pt x="3029711" y="1476756"/>
                </a:lnTo>
                <a:lnTo>
                  <a:pt x="3037331" y="1446276"/>
                </a:lnTo>
                <a:lnTo>
                  <a:pt x="3040379" y="1435608"/>
                </a:lnTo>
                <a:lnTo>
                  <a:pt x="3026663" y="1432559"/>
                </a:lnTo>
                <a:close/>
              </a:path>
              <a:path w="3061970" h="2456815">
                <a:moveTo>
                  <a:pt x="3005328" y="1517903"/>
                </a:moveTo>
                <a:lnTo>
                  <a:pt x="3000755" y="1531620"/>
                </a:lnTo>
                <a:lnTo>
                  <a:pt x="2991611" y="1560576"/>
                </a:lnTo>
                <a:lnTo>
                  <a:pt x="2990087" y="1566671"/>
                </a:lnTo>
                <a:lnTo>
                  <a:pt x="3000755" y="1571244"/>
                </a:lnTo>
                <a:lnTo>
                  <a:pt x="3003804" y="1565147"/>
                </a:lnTo>
                <a:lnTo>
                  <a:pt x="3012948" y="1536191"/>
                </a:lnTo>
                <a:lnTo>
                  <a:pt x="3017520" y="1522476"/>
                </a:lnTo>
                <a:lnTo>
                  <a:pt x="3005328" y="1517903"/>
                </a:lnTo>
                <a:close/>
              </a:path>
              <a:path w="3061970" h="2456815">
                <a:moveTo>
                  <a:pt x="2976372" y="1601724"/>
                </a:moveTo>
                <a:lnTo>
                  <a:pt x="2968752" y="1618488"/>
                </a:lnTo>
                <a:lnTo>
                  <a:pt x="2956559" y="1645920"/>
                </a:lnTo>
                <a:lnTo>
                  <a:pt x="2956559" y="1647444"/>
                </a:lnTo>
                <a:lnTo>
                  <a:pt x="2967228" y="1653539"/>
                </a:lnTo>
                <a:lnTo>
                  <a:pt x="2968752" y="1650491"/>
                </a:lnTo>
                <a:lnTo>
                  <a:pt x="2980944" y="1623059"/>
                </a:lnTo>
                <a:lnTo>
                  <a:pt x="2987039" y="1606295"/>
                </a:lnTo>
                <a:lnTo>
                  <a:pt x="2976372" y="1601724"/>
                </a:lnTo>
                <a:close/>
              </a:path>
              <a:path w="3061970" h="2456815">
                <a:moveTo>
                  <a:pt x="2939796" y="1682495"/>
                </a:moveTo>
                <a:lnTo>
                  <a:pt x="2929128" y="1700783"/>
                </a:lnTo>
                <a:lnTo>
                  <a:pt x="2915411" y="1726691"/>
                </a:lnTo>
                <a:lnTo>
                  <a:pt x="2927604" y="1732788"/>
                </a:lnTo>
                <a:lnTo>
                  <a:pt x="2941320" y="1706879"/>
                </a:lnTo>
                <a:lnTo>
                  <a:pt x="2950463" y="1688591"/>
                </a:lnTo>
                <a:lnTo>
                  <a:pt x="2939796" y="1682495"/>
                </a:lnTo>
                <a:close/>
              </a:path>
              <a:path w="3061970" h="2456815">
                <a:moveTo>
                  <a:pt x="2897124" y="1760220"/>
                </a:moveTo>
                <a:lnTo>
                  <a:pt x="2869692" y="1802891"/>
                </a:lnTo>
                <a:lnTo>
                  <a:pt x="2880359" y="1808988"/>
                </a:lnTo>
                <a:lnTo>
                  <a:pt x="2907792" y="1766315"/>
                </a:lnTo>
                <a:lnTo>
                  <a:pt x="2897124" y="1760220"/>
                </a:lnTo>
                <a:close/>
              </a:path>
              <a:path w="3061970" h="2456815">
                <a:moveTo>
                  <a:pt x="2848355" y="1833371"/>
                </a:moveTo>
                <a:lnTo>
                  <a:pt x="2830068" y="1857756"/>
                </a:lnTo>
                <a:lnTo>
                  <a:pt x="2817876" y="1872995"/>
                </a:lnTo>
                <a:lnTo>
                  <a:pt x="2827020" y="1882139"/>
                </a:lnTo>
                <a:lnTo>
                  <a:pt x="2839211" y="1865376"/>
                </a:lnTo>
                <a:lnTo>
                  <a:pt x="2857500" y="1840991"/>
                </a:lnTo>
                <a:lnTo>
                  <a:pt x="2848355" y="1833371"/>
                </a:lnTo>
                <a:close/>
              </a:path>
              <a:path w="3061970" h="2456815">
                <a:moveTo>
                  <a:pt x="2793492" y="1903476"/>
                </a:moveTo>
                <a:lnTo>
                  <a:pt x="2790444" y="1908047"/>
                </a:lnTo>
                <a:lnTo>
                  <a:pt x="2769107" y="1930908"/>
                </a:lnTo>
                <a:lnTo>
                  <a:pt x="2759964" y="1941576"/>
                </a:lnTo>
                <a:lnTo>
                  <a:pt x="2769107" y="1949195"/>
                </a:lnTo>
                <a:lnTo>
                  <a:pt x="2778252" y="1940052"/>
                </a:lnTo>
                <a:lnTo>
                  <a:pt x="2799587" y="1915668"/>
                </a:lnTo>
                <a:lnTo>
                  <a:pt x="2804159" y="1911095"/>
                </a:lnTo>
                <a:lnTo>
                  <a:pt x="2793492" y="1903476"/>
                </a:lnTo>
                <a:close/>
              </a:path>
              <a:path w="3061970" h="2456815">
                <a:moveTo>
                  <a:pt x="2734055" y="1969008"/>
                </a:moveTo>
                <a:lnTo>
                  <a:pt x="2699004" y="2004059"/>
                </a:lnTo>
                <a:lnTo>
                  <a:pt x="2708148" y="2014727"/>
                </a:lnTo>
                <a:lnTo>
                  <a:pt x="2711195" y="2010156"/>
                </a:lnTo>
                <a:lnTo>
                  <a:pt x="2743200" y="1978152"/>
                </a:lnTo>
                <a:lnTo>
                  <a:pt x="2734055" y="1969008"/>
                </a:lnTo>
                <a:close/>
              </a:path>
              <a:path w="3061970" h="2456815">
                <a:moveTo>
                  <a:pt x="2671571" y="2029968"/>
                </a:moveTo>
                <a:lnTo>
                  <a:pt x="2654807" y="2045208"/>
                </a:lnTo>
                <a:lnTo>
                  <a:pt x="2633471" y="2063495"/>
                </a:lnTo>
                <a:lnTo>
                  <a:pt x="2641091" y="2074164"/>
                </a:lnTo>
                <a:lnTo>
                  <a:pt x="2663952" y="2054352"/>
                </a:lnTo>
                <a:lnTo>
                  <a:pt x="2679191" y="2040635"/>
                </a:lnTo>
                <a:lnTo>
                  <a:pt x="2671571" y="2029968"/>
                </a:lnTo>
                <a:close/>
              </a:path>
              <a:path w="3061970" h="2456815">
                <a:moveTo>
                  <a:pt x="2604516" y="2087879"/>
                </a:moveTo>
                <a:lnTo>
                  <a:pt x="2578607" y="2107691"/>
                </a:lnTo>
                <a:lnTo>
                  <a:pt x="2563367" y="2118360"/>
                </a:lnTo>
                <a:lnTo>
                  <a:pt x="2570988" y="2129028"/>
                </a:lnTo>
                <a:lnTo>
                  <a:pt x="2586228" y="2118360"/>
                </a:lnTo>
                <a:lnTo>
                  <a:pt x="2612136" y="2098547"/>
                </a:lnTo>
                <a:lnTo>
                  <a:pt x="2604516" y="2087879"/>
                </a:lnTo>
                <a:close/>
              </a:path>
              <a:path w="3061970" h="2456815">
                <a:moveTo>
                  <a:pt x="2532888" y="2141220"/>
                </a:moveTo>
                <a:lnTo>
                  <a:pt x="2525267" y="2147316"/>
                </a:lnTo>
                <a:lnTo>
                  <a:pt x="2496312" y="2165604"/>
                </a:lnTo>
                <a:lnTo>
                  <a:pt x="2491740" y="2170176"/>
                </a:lnTo>
                <a:lnTo>
                  <a:pt x="2497836" y="2180844"/>
                </a:lnTo>
                <a:lnTo>
                  <a:pt x="2503931" y="2176272"/>
                </a:lnTo>
                <a:lnTo>
                  <a:pt x="2532888" y="2157984"/>
                </a:lnTo>
                <a:lnTo>
                  <a:pt x="2540507" y="2151888"/>
                </a:lnTo>
                <a:lnTo>
                  <a:pt x="2532888" y="2141220"/>
                </a:lnTo>
                <a:close/>
              </a:path>
              <a:path w="3061970" h="2456815">
                <a:moveTo>
                  <a:pt x="2459736" y="2189988"/>
                </a:moveTo>
                <a:lnTo>
                  <a:pt x="2439924" y="2202179"/>
                </a:lnTo>
                <a:lnTo>
                  <a:pt x="2415540" y="2215896"/>
                </a:lnTo>
                <a:lnTo>
                  <a:pt x="2421636" y="2226564"/>
                </a:lnTo>
                <a:lnTo>
                  <a:pt x="2446019" y="2212848"/>
                </a:lnTo>
                <a:lnTo>
                  <a:pt x="2465831" y="2200656"/>
                </a:lnTo>
                <a:lnTo>
                  <a:pt x="2459736" y="2189988"/>
                </a:lnTo>
                <a:close/>
              </a:path>
              <a:path w="3061970" h="2456815">
                <a:moveTo>
                  <a:pt x="2382012" y="2234184"/>
                </a:moveTo>
                <a:lnTo>
                  <a:pt x="2380488" y="2235708"/>
                </a:lnTo>
                <a:lnTo>
                  <a:pt x="2350007" y="2252472"/>
                </a:lnTo>
                <a:lnTo>
                  <a:pt x="2337816" y="2258567"/>
                </a:lnTo>
                <a:lnTo>
                  <a:pt x="2343912" y="2269236"/>
                </a:lnTo>
                <a:lnTo>
                  <a:pt x="2389631" y="2246376"/>
                </a:lnTo>
                <a:lnTo>
                  <a:pt x="2382012" y="2234184"/>
                </a:lnTo>
                <a:close/>
              </a:path>
              <a:path w="3061970" h="2456815">
                <a:moveTo>
                  <a:pt x="2304288" y="2275332"/>
                </a:moveTo>
                <a:lnTo>
                  <a:pt x="2287524" y="2282952"/>
                </a:lnTo>
                <a:lnTo>
                  <a:pt x="2257043" y="2295143"/>
                </a:lnTo>
                <a:lnTo>
                  <a:pt x="2263140" y="2307336"/>
                </a:lnTo>
                <a:lnTo>
                  <a:pt x="2292095" y="2293620"/>
                </a:lnTo>
                <a:lnTo>
                  <a:pt x="2308859" y="2286000"/>
                </a:lnTo>
                <a:lnTo>
                  <a:pt x="2304288" y="2275332"/>
                </a:lnTo>
                <a:close/>
              </a:path>
              <a:path w="3061970" h="2456815">
                <a:moveTo>
                  <a:pt x="2223516" y="2310384"/>
                </a:moveTo>
                <a:lnTo>
                  <a:pt x="2221991" y="2310384"/>
                </a:lnTo>
                <a:lnTo>
                  <a:pt x="2189988" y="2324100"/>
                </a:lnTo>
                <a:lnTo>
                  <a:pt x="2176271" y="2328672"/>
                </a:lnTo>
                <a:lnTo>
                  <a:pt x="2180843" y="2340864"/>
                </a:lnTo>
                <a:lnTo>
                  <a:pt x="2194559" y="2336291"/>
                </a:lnTo>
                <a:lnTo>
                  <a:pt x="2228088" y="2322576"/>
                </a:lnTo>
                <a:lnTo>
                  <a:pt x="2223516" y="2310384"/>
                </a:lnTo>
                <a:close/>
              </a:path>
              <a:path w="3061970" h="2456815">
                <a:moveTo>
                  <a:pt x="2139695" y="2342388"/>
                </a:moveTo>
                <a:lnTo>
                  <a:pt x="2122931" y="2348484"/>
                </a:lnTo>
                <a:lnTo>
                  <a:pt x="2092452" y="2357628"/>
                </a:lnTo>
                <a:lnTo>
                  <a:pt x="2095500" y="2369820"/>
                </a:lnTo>
                <a:lnTo>
                  <a:pt x="2125979" y="2360676"/>
                </a:lnTo>
                <a:lnTo>
                  <a:pt x="2144267" y="2354579"/>
                </a:lnTo>
                <a:lnTo>
                  <a:pt x="2139695" y="2342388"/>
                </a:lnTo>
                <a:close/>
              </a:path>
              <a:path w="3061970" h="2456815">
                <a:moveTo>
                  <a:pt x="2055876" y="2369820"/>
                </a:moveTo>
                <a:lnTo>
                  <a:pt x="2052827" y="2369820"/>
                </a:lnTo>
                <a:lnTo>
                  <a:pt x="2017776" y="2380488"/>
                </a:lnTo>
                <a:lnTo>
                  <a:pt x="2007107" y="2383536"/>
                </a:lnTo>
                <a:lnTo>
                  <a:pt x="2010155" y="2395728"/>
                </a:lnTo>
                <a:lnTo>
                  <a:pt x="2022348" y="2392679"/>
                </a:lnTo>
                <a:lnTo>
                  <a:pt x="2057400" y="2382012"/>
                </a:lnTo>
                <a:lnTo>
                  <a:pt x="2058924" y="2382012"/>
                </a:lnTo>
                <a:lnTo>
                  <a:pt x="2055876" y="2369820"/>
                </a:lnTo>
                <a:close/>
              </a:path>
              <a:path w="3061970" h="2456815">
                <a:moveTo>
                  <a:pt x="1970531" y="2392679"/>
                </a:moveTo>
                <a:lnTo>
                  <a:pt x="1947671" y="2397252"/>
                </a:lnTo>
                <a:lnTo>
                  <a:pt x="1920239" y="2403348"/>
                </a:lnTo>
                <a:lnTo>
                  <a:pt x="1923288" y="2415540"/>
                </a:lnTo>
                <a:lnTo>
                  <a:pt x="1949195" y="2409443"/>
                </a:lnTo>
                <a:lnTo>
                  <a:pt x="1973579" y="2404872"/>
                </a:lnTo>
                <a:lnTo>
                  <a:pt x="1970531" y="2392679"/>
                </a:lnTo>
                <a:close/>
              </a:path>
              <a:path w="3061970" h="2456815">
                <a:moveTo>
                  <a:pt x="1883664" y="2410967"/>
                </a:moveTo>
                <a:lnTo>
                  <a:pt x="1837943" y="2418588"/>
                </a:lnTo>
                <a:lnTo>
                  <a:pt x="1833371" y="2420112"/>
                </a:lnTo>
                <a:lnTo>
                  <a:pt x="1836419" y="2432304"/>
                </a:lnTo>
                <a:lnTo>
                  <a:pt x="1839467" y="2432304"/>
                </a:lnTo>
                <a:lnTo>
                  <a:pt x="1876043" y="2424684"/>
                </a:lnTo>
                <a:lnTo>
                  <a:pt x="1886712" y="2423160"/>
                </a:lnTo>
                <a:lnTo>
                  <a:pt x="1883664" y="2410967"/>
                </a:lnTo>
                <a:close/>
              </a:path>
              <a:path w="3061970" h="2456815">
                <a:moveTo>
                  <a:pt x="1796795" y="2424684"/>
                </a:moveTo>
                <a:lnTo>
                  <a:pt x="1761743" y="2429255"/>
                </a:lnTo>
                <a:lnTo>
                  <a:pt x="1746503" y="2432304"/>
                </a:lnTo>
                <a:lnTo>
                  <a:pt x="1748027" y="2444496"/>
                </a:lnTo>
                <a:lnTo>
                  <a:pt x="1764791" y="2442972"/>
                </a:lnTo>
                <a:lnTo>
                  <a:pt x="1798319" y="2438400"/>
                </a:lnTo>
                <a:lnTo>
                  <a:pt x="1796795" y="2424684"/>
                </a:lnTo>
                <a:close/>
              </a:path>
              <a:path w="3061970" h="2456815">
                <a:moveTo>
                  <a:pt x="1708403" y="2435352"/>
                </a:moveTo>
                <a:lnTo>
                  <a:pt x="1687067" y="2438400"/>
                </a:lnTo>
                <a:lnTo>
                  <a:pt x="1658112" y="2439924"/>
                </a:lnTo>
                <a:lnTo>
                  <a:pt x="1658112" y="2452116"/>
                </a:lnTo>
                <a:lnTo>
                  <a:pt x="1687067" y="2450591"/>
                </a:lnTo>
                <a:lnTo>
                  <a:pt x="1709927" y="2447543"/>
                </a:lnTo>
                <a:lnTo>
                  <a:pt x="1708403" y="2435352"/>
                </a:lnTo>
                <a:close/>
              </a:path>
              <a:path w="3061970" h="2456815">
                <a:moveTo>
                  <a:pt x="1620012" y="2441448"/>
                </a:moveTo>
                <a:lnTo>
                  <a:pt x="1609343" y="2442972"/>
                </a:lnTo>
                <a:lnTo>
                  <a:pt x="1569719" y="2442972"/>
                </a:lnTo>
                <a:lnTo>
                  <a:pt x="1569719" y="2456688"/>
                </a:lnTo>
                <a:lnTo>
                  <a:pt x="1571243" y="2456688"/>
                </a:lnTo>
                <a:lnTo>
                  <a:pt x="1609343" y="2455164"/>
                </a:lnTo>
                <a:lnTo>
                  <a:pt x="1620012" y="2455164"/>
                </a:lnTo>
                <a:lnTo>
                  <a:pt x="1620012" y="2441448"/>
                </a:lnTo>
                <a:close/>
              </a:path>
              <a:path w="3061970" h="2456815">
                <a:moveTo>
                  <a:pt x="1491995" y="2442972"/>
                </a:moveTo>
                <a:lnTo>
                  <a:pt x="1481327" y="2442972"/>
                </a:lnTo>
                <a:lnTo>
                  <a:pt x="1479803" y="2455164"/>
                </a:lnTo>
                <a:lnTo>
                  <a:pt x="1491995" y="2456688"/>
                </a:lnTo>
                <a:lnTo>
                  <a:pt x="1531619" y="2456688"/>
                </a:lnTo>
                <a:lnTo>
                  <a:pt x="1531619" y="2444496"/>
                </a:lnTo>
                <a:lnTo>
                  <a:pt x="1491995" y="2442972"/>
                </a:lnTo>
                <a:close/>
              </a:path>
              <a:path w="3061970" h="2456815">
                <a:moveTo>
                  <a:pt x="1392936" y="2438400"/>
                </a:moveTo>
                <a:lnTo>
                  <a:pt x="1391412" y="2452116"/>
                </a:lnTo>
                <a:lnTo>
                  <a:pt x="1414271" y="2453640"/>
                </a:lnTo>
                <a:lnTo>
                  <a:pt x="1441703" y="2455164"/>
                </a:lnTo>
                <a:lnTo>
                  <a:pt x="1443227" y="2441448"/>
                </a:lnTo>
                <a:lnTo>
                  <a:pt x="1414271" y="2439924"/>
                </a:lnTo>
                <a:lnTo>
                  <a:pt x="1392936" y="2438400"/>
                </a:lnTo>
                <a:close/>
              </a:path>
              <a:path w="3061970" h="2456815">
                <a:moveTo>
                  <a:pt x="1304543" y="2430779"/>
                </a:moveTo>
                <a:lnTo>
                  <a:pt x="1303019" y="2442972"/>
                </a:lnTo>
                <a:lnTo>
                  <a:pt x="1336548" y="2446020"/>
                </a:lnTo>
                <a:lnTo>
                  <a:pt x="1353312" y="2449067"/>
                </a:lnTo>
                <a:lnTo>
                  <a:pt x="1354836" y="2435352"/>
                </a:lnTo>
                <a:lnTo>
                  <a:pt x="1304543" y="2430779"/>
                </a:lnTo>
                <a:close/>
              </a:path>
              <a:path w="3061970" h="2456815">
                <a:moveTo>
                  <a:pt x="1216152" y="2417064"/>
                </a:moveTo>
                <a:lnTo>
                  <a:pt x="1214627" y="2430779"/>
                </a:lnTo>
                <a:lnTo>
                  <a:pt x="1223771" y="2432304"/>
                </a:lnTo>
                <a:lnTo>
                  <a:pt x="1260348" y="2436876"/>
                </a:lnTo>
                <a:lnTo>
                  <a:pt x="1264919" y="2438400"/>
                </a:lnTo>
                <a:lnTo>
                  <a:pt x="1266443" y="2424684"/>
                </a:lnTo>
                <a:lnTo>
                  <a:pt x="1261871" y="2424684"/>
                </a:lnTo>
                <a:lnTo>
                  <a:pt x="1216152" y="2417064"/>
                </a:lnTo>
                <a:close/>
              </a:path>
              <a:path w="3061970" h="2456815">
                <a:moveTo>
                  <a:pt x="1129283" y="2400300"/>
                </a:moveTo>
                <a:lnTo>
                  <a:pt x="1126236" y="2412491"/>
                </a:lnTo>
                <a:lnTo>
                  <a:pt x="1149095" y="2418588"/>
                </a:lnTo>
                <a:lnTo>
                  <a:pt x="1176527" y="2423160"/>
                </a:lnTo>
                <a:lnTo>
                  <a:pt x="1179576" y="2410967"/>
                </a:lnTo>
                <a:lnTo>
                  <a:pt x="1152143" y="2404872"/>
                </a:lnTo>
                <a:lnTo>
                  <a:pt x="1129283" y="2400300"/>
                </a:lnTo>
                <a:close/>
              </a:path>
              <a:path w="3061970" h="2456815">
                <a:moveTo>
                  <a:pt x="1043939" y="2380488"/>
                </a:moveTo>
                <a:lnTo>
                  <a:pt x="1039367" y="2392679"/>
                </a:lnTo>
                <a:lnTo>
                  <a:pt x="1040891" y="2392679"/>
                </a:lnTo>
                <a:lnTo>
                  <a:pt x="1075943" y="2401824"/>
                </a:lnTo>
                <a:lnTo>
                  <a:pt x="1089659" y="2404872"/>
                </a:lnTo>
                <a:lnTo>
                  <a:pt x="1092707" y="2392679"/>
                </a:lnTo>
                <a:lnTo>
                  <a:pt x="1078991" y="2389632"/>
                </a:lnTo>
                <a:lnTo>
                  <a:pt x="1043939" y="2380488"/>
                </a:lnTo>
                <a:close/>
              </a:path>
              <a:path w="3061970" h="2456815">
                <a:moveTo>
                  <a:pt x="958595" y="2354579"/>
                </a:moveTo>
                <a:lnTo>
                  <a:pt x="954024" y="2366772"/>
                </a:lnTo>
                <a:lnTo>
                  <a:pt x="970788" y="2371343"/>
                </a:lnTo>
                <a:lnTo>
                  <a:pt x="1002791" y="2382012"/>
                </a:lnTo>
                <a:lnTo>
                  <a:pt x="1007363" y="2369820"/>
                </a:lnTo>
                <a:lnTo>
                  <a:pt x="973836" y="2359152"/>
                </a:lnTo>
                <a:lnTo>
                  <a:pt x="958595" y="2354579"/>
                </a:lnTo>
                <a:close/>
              </a:path>
              <a:path w="3061970" h="2456815">
                <a:moveTo>
                  <a:pt x="874776" y="2324100"/>
                </a:moveTo>
                <a:lnTo>
                  <a:pt x="870203" y="2336291"/>
                </a:lnTo>
                <a:lnTo>
                  <a:pt x="902207" y="2348484"/>
                </a:lnTo>
                <a:lnTo>
                  <a:pt x="918971" y="2354579"/>
                </a:lnTo>
                <a:lnTo>
                  <a:pt x="922019" y="2342388"/>
                </a:lnTo>
                <a:lnTo>
                  <a:pt x="906779" y="2336291"/>
                </a:lnTo>
                <a:lnTo>
                  <a:pt x="874776" y="2324100"/>
                </a:lnTo>
                <a:close/>
              </a:path>
              <a:path w="3061970" h="2456815">
                <a:moveTo>
                  <a:pt x="794003" y="2290572"/>
                </a:moveTo>
                <a:lnTo>
                  <a:pt x="787907" y="2302764"/>
                </a:lnTo>
                <a:lnTo>
                  <a:pt x="801624" y="2308860"/>
                </a:lnTo>
                <a:lnTo>
                  <a:pt x="835151" y="2322576"/>
                </a:lnTo>
                <a:lnTo>
                  <a:pt x="839724" y="2310384"/>
                </a:lnTo>
                <a:lnTo>
                  <a:pt x="807719" y="2296667"/>
                </a:lnTo>
                <a:lnTo>
                  <a:pt x="794003" y="2290572"/>
                </a:lnTo>
                <a:close/>
              </a:path>
              <a:path w="3061970" h="2456815">
                <a:moveTo>
                  <a:pt x="713231" y="2252472"/>
                </a:moveTo>
                <a:lnTo>
                  <a:pt x="707136" y="2263140"/>
                </a:lnTo>
                <a:lnTo>
                  <a:pt x="752855" y="2286000"/>
                </a:lnTo>
                <a:lnTo>
                  <a:pt x="758951" y="2275332"/>
                </a:lnTo>
                <a:lnTo>
                  <a:pt x="713231" y="2252472"/>
                </a:lnTo>
                <a:close/>
              </a:path>
              <a:path w="3061970" h="2456815">
                <a:moveTo>
                  <a:pt x="635507" y="2209800"/>
                </a:moveTo>
                <a:lnTo>
                  <a:pt x="629412" y="2220467"/>
                </a:lnTo>
                <a:lnTo>
                  <a:pt x="673607" y="2246376"/>
                </a:lnTo>
                <a:lnTo>
                  <a:pt x="679703" y="2234184"/>
                </a:lnTo>
                <a:lnTo>
                  <a:pt x="635507" y="2209800"/>
                </a:lnTo>
                <a:close/>
              </a:path>
              <a:path w="3061970" h="2456815">
                <a:moveTo>
                  <a:pt x="560831" y="2162556"/>
                </a:moveTo>
                <a:lnTo>
                  <a:pt x="553212" y="2173224"/>
                </a:lnTo>
                <a:lnTo>
                  <a:pt x="557783" y="2176272"/>
                </a:lnTo>
                <a:lnTo>
                  <a:pt x="597407" y="2200656"/>
                </a:lnTo>
                <a:lnTo>
                  <a:pt x="603503" y="2189988"/>
                </a:lnTo>
                <a:lnTo>
                  <a:pt x="565403" y="2165604"/>
                </a:lnTo>
                <a:lnTo>
                  <a:pt x="560831" y="2162556"/>
                </a:lnTo>
                <a:close/>
              </a:path>
              <a:path w="3061970" h="2456815">
                <a:moveTo>
                  <a:pt x="489203" y="2112264"/>
                </a:moveTo>
                <a:lnTo>
                  <a:pt x="481583" y="2121408"/>
                </a:lnTo>
                <a:lnTo>
                  <a:pt x="502919" y="2138172"/>
                </a:lnTo>
                <a:lnTo>
                  <a:pt x="522731" y="2151888"/>
                </a:lnTo>
                <a:lnTo>
                  <a:pt x="528827" y="2141220"/>
                </a:lnTo>
                <a:lnTo>
                  <a:pt x="510539" y="2127504"/>
                </a:lnTo>
                <a:lnTo>
                  <a:pt x="489203" y="2112264"/>
                </a:lnTo>
                <a:close/>
              </a:path>
              <a:path w="3061970" h="2456815">
                <a:moveTo>
                  <a:pt x="419100" y="2055876"/>
                </a:moveTo>
                <a:lnTo>
                  <a:pt x="411479" y="2065020"/>
                </a:lnTo>
                <a:lnTo>
                  <a:pt x="423671" y="2075688"/>
                </a:lnTo>
                <a:lnTo>
                  <a:pt x="449579" y="2097024"/>
                </a:lnTo>
                <a:lnTo>
                  <a:pt x="451103" y="2098547"/>
                </a:lnTo>
                <a:lnTo>
                  <a:pt x="458724" y="2087879"/>
                </a:lnTo>
                <a:lnTo>
                  <a:pt x="457200" y="2087879"/>
                </a:lnTo>
                <a:lnTo>
                  <a:pt x="431291" y="2066544"/>
                </a:lnTo>
                <a:lnTo>
                  <a:pt x="419100" y="2055876"/>
                </a:lnTo>
                <a:close/>
              </a:path>
              <a:path w="3061970" h="2456815">
                <a:moveTo>
                  <a:pt x="355091" y="1996439"/>
                </a:moveTo>
                <a:lnTo>
                  <a:pt x="345948" y="2005583"/>
                </a:lnTo>
                <a:lnTo>
                  <a:pt x="350519" y="2010156"/>
                </a:lnTo>
                <a:lnTo>
                  <a:pt x="374903" y="2033015"/>
                </a:lnTo>
                <a:lnTo>
                  <a:pt x="382524" y="2040635"/>
                </a:lnTo>
                <a:lnTo>
                  <a:pt x="391667" y="2031491"/>
                </a:lnTo>
                <a:lnTo>
                  <a:pt x="382524" y="2023871"/>
                </a:lnTo>
                <a:lnTo>
                  <a:pt x="355091" y="1996439"/>
                </a:lnTo>
                <a:close/>
              </a:path>
              <a:path w="3061970" h="2456815">
                <a:moveTo>
                  <a:pt x="294131" y="1932432"/>
                </a:moveTo>
                <a:lnTo>
                  <a:pt x="283463" y="1940052"/>
                </a:lnTo>
                <a:lnTo>
                  <a:pt x="304800" y="1964435"/>
                </a:lnTo>
                <a:lnTo>
                  <a:pt x="318515" y="1978152"/>
                </a:lnTo>
                <a:lnTo>
                  <a:pt x="327659" y="1969008"/>
                </a:lnTo>
                <a:lnTo>
                  <a:pt x="313943" y="1955291"/>
                </a:lnTo>
                <a:lnTo>
                  <a:pt x="294131" y="1932432"/>
                </a:lnTo>
                <a:close/>
              </a:path>
              <a:path w="3061970" h="2456815">
                <a:moveTo>
                  <a:pt x="237743" y="1863852"/>
                </a:moveTo>
                <a:lnTo>
                  <a:pt x="227075" y="1871471"/>
                </a:lnTo>
                <a:lnTo>
                  <a:pt x="242315" y="1891283"/>
                </a:lnTo>
                <a:lnTo>
                  <a:pt x="259079" y="1911095"/>
                </a:lnTo>
                <a:lnTo>
                  <a:pt x="268224" y="1903476"/>
                </a:lnTo>
                <a:lnTo>
                  <a:pt x="251459" y="1883664"/>
                </a:lnTo>
                <a:lnTo>
                  <a:pt x="237743" y="1863852"/>
                </a:lnTo>
                <a:close/>
              </a:path>
              <a:path w="3061970" h="2456815">
                <a:moveTo>
                  <a:pt x="185927" y="1792224"/>
                </a:moveTo>
                <a:lnTo>
                  <a:pt x="175259" y="1798320"/>
                </a:lnTo>
                <a:lnTo>
                  <a:pt x="185927" y="1815083"/>
                </a:lnTo>
                <a:lnTo>
                  <a:pt x="204215" y="1840991"/>
                </a:lnTo>
                <a:lnTo>
                  <a:pt x="214883" y="1833371"/>
                </a:lnTo>
                <a:lnTo>
                  <a:pt x="196595" y="1807464"/>
                </a:lnTo>
                <a:lnTo>
                  <a:pt x="185927" y="1792224"/>
                </a:lnTo>
                <a:close/>
              </a:path>
              <a:path w="3061970" h="2456815">
                <a:moveTo>
                  <a:pt x="140207" y="1716024"/>
                </a:moveTo>
                <a:lnTo>
                  <a:pt x="129539" y="1722120"/>
                </a:lnTo>
                <a:lnTo>
                  <a:pt x="135636" y="1734312"/>
                </a:lnTo>
                <a:lnTo>
                  <a:pt x="152400" y="1761744"/>
                </a:lnTo>
                <a:lnTo>
                  <a:pt x="155448" y="1766315"/>
                </a:lnTo>
                <a:lnTo>
                  <a:pt x="166115" y="1760220"/>
                </a:lnTo>
                <a:lnTo>
                  <a:pt x="163067" y="1755647"/>
                </a:lnTo>
                <a:lnTo>
                  <a:pt x="147827" y="1728215"/>
                </a:lnTo>
                <a:lnTo>
                  <a:pt x="140207" y="1716024"/>
                </a:lnTo>
                <a:close/>
              </a:path>
              <a:path w="3061970" h="2456815">
                <a:moveTo>
                  <a:pt x="102107" y="1636776"/>
                </a:moveTo>
                <a:lnTo>
                  <a:pt x="89915" y="1642871"/>
                </a:lnTo>
                <a:lnTo>
                  <a:pt x="94487" y="1652015"/>
                </a:lnTo>
                <a:lnTo>
                  <a:pt x="106679" y="1679447"/>
                </a:lnTo>
                <a:lnTo>
                  <a:pt x="111251" y="1688591"/>
                </a:lnTo>
                <a:lnTo>
                  <a:pt x="123443" y="1682495"/>
                </a:lnTo>
                <a:lnTo>
                  <a:pt x="105155" y="1645920"/>
                </a:lnTo>
                <a:lnTo>
                  <a:pt x="102107" y="1636776"/>
                </a:lnTo>
                <a:close/>
              </a:path>
              <a:path w="3061970" h="2456815">
                <a:moveTo>
                  <a:pt x="68579" y="1554479"/>
                </a:moveTo>
                <a:lnTo>
                  <a:pt x="56387" y="1559052"/>
                </a:lnTo>
                <a:lnTo>
                  <a:pt x="59436" y="1565147"/>
                </a:lnTo>
                <a:lnTo>
                  <a:pt x="70103" y="1594103"/>
                </a:lnTo>
                <a:lnTo>
                  <a:pt x="74675" y="1606295"/>
                </a:lnTo>
                <a:lnTo>
                  <a:pt x="86867" y="1601724"/>
                </a:lnTo>
                <a:lnTo>
                  <a:pt x="80771" y="1589532"/>
                </a:lnTo>
                <a:lnTo>
                  <a:pt x="70103" y="1560576"/>
                </a:lnTo>
                <a:lnTo>
                  <a:pt x="68579" y="1554479"/>
                </a:lnTo>
                <a:close/>
              </a:path>
              <a:path w="3061970" h="2456815">
                <a:moveTo>
                  <a:pt x="42671" y="1470659"/>
                </a:moveTo>
                <a:lnTo>
                  <a:pt x="30479" y="1473708"/>
                </a:lnTo>
                <a:lnTo>
                  <a:pt x="32003" y="1476756"/>
                </a:lnTo>
                <a:lnTo>
                  <a:pt x="39624" y="1505712"/>
                </a:lnTo>
                <a:lnTo>
                  <a:pt x="44195" y="1522476"/>
                </a:lnTo>
                <a:lnTo>
                  <a:pt x="56387" y="1519427"/>
                </a:lnTo>
                <a:lnTo>
                  <a:pt x="51815" y="1502664"/>
                </a:lnTo>
                <a:lnTo>
                  <a:pt x="44195" y="1473708"/>
                </a:lnTo>
                <a:lnTo>
                  <a:pt x="42671" y="1470659"/>
                </a:lnTo>
                <a:close/>
              </a:path>
              <a:path w="3061970" h="2456815">
                <a:moveTo>
                  <a:pt x="25907" y="1383791"/>
                </a:moveTo>
                <a:lnTo>
                  <a:pt x="13715" y="1385315"/>
                </a:lnTo>
                <a:lnTo>
                  <a:pt x="18287" y="1415795"/>
                </a:lnTo>
                <a:lnTo>
                  <a:pt x="22859" y="1435608"/>
                </a:lnTo>
                <a:lnTo>
                  <a:pt x="35051" y="1434083"/>
                </a:lnTo>
                <a:lnTo>
                  <a:pt x="30479" y="1412747"/>
                </a:lnTo>
                <a:lnTo>
                  <a:pt x="25907" y="1383791"/>
                </a:lnTo>
                <a:close/>
              </a:path>
              <a:path w="3061970" h="2456815">
                <a:moveTo>
                  <a:pt x="15239" y="1295400"/>
                </a:moveTo>
                <a:lnTo>
                  <a:pt x="3048" y="1296924"/>
                </a:lnTo>
                <a:lnTo>
                  <a:pt x="4571" y="1322832"/>
                </a:lnTo>
                <a:lnTo>
                  <a:pt x="7619" y="1347215"/>
                </a:lnTo>
                <a:lnTo>
                  <a:pt x="19812" y="1345691"/>
                </a:lnTo>
                <a:lnTo>
                  <a:pt x="18287" y="1321308"/>
                </a:lnTo>
                <a:lnTo>
                  <a:pt x="15239" y="1295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70991" y="1096305"/>
            <a:ext cx="2148839" cy="188823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00061" y="2394207"/>
            <a:ext cx="138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spc="89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3142" y="1391453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1541" y="1838023"/>
            <a:ext cx="1187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spc="30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7714" y="2578687"/>
            <a:ext cx="120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spc="44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9835" y="1891287"/>
            <a:ext cx="133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spc="30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07606" y="1507239"/>
            <a:ext cx="1308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3700" y="2136716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70055" y="2287565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35175" y="2173269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0978" y="1150623"/>
            <a:ext cx="140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W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1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41728" y="1136906"/>
            <a:ext cx="140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W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2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22589" y="1199429"/>
            <a:ext cx="135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22589" y="1583477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ℎ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6643" y="1636786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20" dirty="0">
                <a:latin typeface="Cambria Math" panose="02040503050406030204"/>
                <a:cs typeface="Cambria Math" panose="02040503050406030204"/>
              </a:rPr>
              <a:t>2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25676" y="2002615"/>
            <a:ext cx="138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spc="30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24190" y="2662469"/>
            <a:ext cx="153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spc="82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88733" y="272339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9438" y="3015999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71813" y="2965707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37339" y="914517"/>
            <a:ext cx="1831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91416" y="1794297"/>
            <a:ext cx="111760" cy="250190"/>
          </a:xfrm>
          <a:prstGeom prst="rect">
            <a:avLst/>
          </a:prstGeom>
          <a:solidFill>
            <a:srgbClr val="4F81BD"/>
          </a:solidFill>
          <a:ln w="12191">
            <a:solidFill>
              <a:srgbClr val="385D8A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900" spc="22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rPr>
              <a:t>f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6831" y="1504737"/>
            <a:ext cx="180340" cy="829310"/>
          </a:xfrm>
          <a:prstGeom prst="rect">
            <a:avLst/>
          </a:prstGeom>
          <a:solidFill>
            <a:srgbClr val="4F81BD"/>
          </a:solidFill>
          <a:ln w="12191">
            <a:solidFill>
              <a:srgbClr val="385D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28575">
              <a:lnSpc>
                <a:spcPct val="100000"/>
              </a:lnSpc>
              <a:spcBef>
                <a:spcPts val="640"/>
              </a:spcBef>
            </a:pPr>
            <a:r>
              <a:rPr sz="900" spc="4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6663" y="1504737"/>
            <a:ext cx="675640" cy="829310"/>
          </a:xfrm>
          <a:custGeom>
            <a:avLst/>
            <a:gdLst/>
            <a:ahLst/>
            <a:cxnLst/>
            <a:rect l="l" t="t" r="r" b="b"/>
            <a:pathLst>
              <a:path w="675640" h="829310">
                <a:moveTo>
                  <a:pt x="0" y="0"/>
                </a:moveTo>
                <a:lnTo>
                  <a:pt x="675131" y="169163"/>
                </a:lnTo>
                <a:lnTo>
                  <a:pt x="675131" y="659891"/>
                </a:lnTo>
                <a:lnTo>
                  <a:pt x="0" y="829055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33047" y="1672376"/>
            <a:ext cx="658495" cy="495300"/>
          </a:xfrm>
          <a:custGeom>
            <a:avLst/>
            <a:gdLst/>
            <a:ahLst/>
            <a:cxnLst/>
            <a:rect l="l" t="t" r="r" b="b"/>
            <a:pathLst>
              <a:path w="658494" h="495300">
                <a:moveTo>
                  <a:pt x="0" y="0"/>
                </a:moveTo>
                <a:lnTo>
                  <a:pt x="658367" y="123443"/>
                </a:lnTo>
                <a:lnTo>
                  <a:pt x="658367" y="371855"/>
                </a:lnTo>
                <a:lnTo>
                  <a:pt x="0" y="4952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91520" y="1850139"/>
            <a:ext cx="5416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5930" algn="l"/>
              </a:tabLst>
            </a:pPr>
            <a:r>
              <a:rPr sz="900" spc="10" dirty="0">
                <a:latin typeface="Cambria Math" panose="02040503050406030204"/>
                <a:cs typeface="Cambria Math" panose="02040503050406030204"/>
              </a:rPr>
              <a:t>W1	</a:t>
            </a:r>
            <a:r>
              <a:rPr sz="1350" baseline="30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h</a:t>
            </a:r>
            <a:endParaRPr sz="1350" baseline="3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70246" y="1834937"/>
            <a:ext cx="197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latin typeface="Cambria Math" panose="02040503050406030204"/>
                <a:cs typeface="Cambria Math" panose="02040503050406030204"/>
              </a:rPr>
              <a:t>W2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38559" y="147869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4716" y="1267365"/>
            <a:ext cx="1854707" cy="1630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4906" y="1525958"/>
            <a:ext cx="965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5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4906" y="1910021"/>
            <a:ext cx="977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447" y="1955720"/>
            <a:ext cx="1085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6343" y="1624957"/>
            <a:ext cx="106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612" y="2198002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5930" y="2327585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5776" y="2228498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6912" y="1315585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W1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5133" y="1303475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W2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1070" y="1359781"/>
            <a:ext cx="109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9567" y="1690544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2573" y="2053216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04320" y="900081"/>
            <a:ext cx="1911350" cy="23177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8559" y="142144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17150" y="2409630"/>
            <a:ext cx="1123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60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57911" y="2568117"/>
            <a:ext cx="996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30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2573" y="2641217"/>
            <a:ext cx="123189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60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7055" y="2685981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86313" y="2894763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64476" y="2938959"/>
            <a:ext cx="20256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4716" y="1273089"/>
            <a:ext cx="1854707" cy="1630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4906" y="1531643"/>
            <a:ext cx="965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5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4906" y="1915706"/>
            <a:ext cx="977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447" y="1961404"/>
            <a:ext cx="1085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6343" y="1630730"/>
            <a:ext cx="106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612" y="2203775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5930" y="2333269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5776" y="2234270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6912" y="1321358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W1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5133" y="1309160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W2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1070" y="1365554"/>
            <a:ext cx="109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9567" y="1696228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2573" y="2058989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04320" y="905805"/>
            <a:ext cx="1911350" cy="23177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8559" y="147869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17150" y="2415314"/>
            <a:ext cx="1123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spc="60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57911" y="2573801"/>
            <a:ext cx="996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spc="30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2573" y="2646990"/>
            <a:ext cx="123189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60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7055" y="2691666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86313" y="2900448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64476" y="2944644"/>
            <a:ext cx="20256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4716" y="1267365"/>
            <a:ext cx="1854707" cy="1630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4906" y="1525958"/>
            <a:ext cx="965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5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4906" y="1910021"/>
            <a:ext cx="977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447" y="1955720"/>
            <a:ext cx="1085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6343" y="1624957"/>
            <a:ext cx="106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612" y="2198002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5930" y="2327585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5776" y="2228498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6912" y="1315585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W1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5133" y="1303475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W2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1070" y="1359781"/>
            <a:ext cx="109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9567" y="1690544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2573" y="2053216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04320" y="900081"/>
            <a:ext cx="1911350" cy="23177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8559" y="142144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17150" y="2409630"/>
            <a:ext cx="1123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60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57911" y="2568117"/>
            <a:ext cx="996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30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2573" y="2641217"/>
            <a:ext cx="123189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60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7055" y="2685981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86313" y="2894763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64476" y="2938959"/>
            <a:ext cx="20256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4716" y="1273089"/>
            <a:ext cx="1854707" cy="1630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4906" y="1531643"/>
            <a:ext cx="965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5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4906" y="1915706"/>
            <a:ext cx="977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447" y="1961404"/>
            <a:ext cx="1085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6343" y="1630730"/>
            <a:ext cx="106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612" y="2203775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5930" y="2333269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5776" y="2234270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6912" y="1321358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W1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5133" y="1309160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W2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1070" y="1365554"/>
            <a:ext cx="109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9567" y="1696228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2573" y="2058989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04320" y="905805"/>
            <a:ext cx="1911350" cy="23177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8559" y="147869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17150" y="2415314"/>
            <a:ext cx="1123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spc="60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57911" y="2573801"/>
            <a:ext cx="996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spc="30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2573" y="2646990"/>
            <a:ext cx="123189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60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7055" y="2691666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86313" y="2900448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64476" y="2944644"/>
            <a:ext cx="20256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4716" y="1267365"/>
            <a:ext cx="1854707" cy="1630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4906" y="1525958"/>
            <a:ext cx="965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5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4906" y="1910021"/>
            <a:ext cx="977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447" y="1955720"/>
            <a:ext cx="1085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6343" y="1624957"/>
            <a:ext cx="106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612" y="2198002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5930" y="2327585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5776" y="2228498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6912" y="1315585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W1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5133" y="1303475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W2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1070" y="1359781"/>
            <a:ext cx="109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9567" y="1690544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2573" y="2053216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04320" y="900081"/>
            <a:ext cx="1911350" cy="23177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8559" y="142144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17150" y="2409630"/>
            <a:ext cx="1123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60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57911" y="2568117"/>
            <a:ext cx="996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30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2573" y="2641217"/>
            <a:ext cx="123189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60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7055" y="2685981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86313" y="2894763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64476" y="2938959"/>
            <a:ext cx="20256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4320" y="905805"/>
            <a:ext cx="1911350" cy="23177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24716" y="1273089"/>
            <a:ext cx="1854707" cy="1630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54906" y="1531643"/>
            <a:ext cx="74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170" dirty="0">
                <a:latin typeface="Cambria Math" panose="02040503050406030204"/>
                <a:cs typeface="Cambria Math" panose="02040503050406030204"/>
              </a:rPr>
              <a:t>f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8388" y="1574360"/>
            <a:ext cx="628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155" dirty="0">
                <a:latin typeface="Cambria Math" panose="02040503050406030204"/>
                <a:cs typeface="Cambria Math" panose="02040503050406030204"/>
              </a:rPr>
              <a:t>l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54906" y="1915706"/>
            <a:ext cx="977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5447" y="1961404"/>
            <a:ext cx="1085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6343" y="1630730"/>
            <a:ext cx="106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9612" y="2203775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35930" y="2333269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95776" y="2234270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6912" y="1321358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W1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5133" y="1309160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W2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1070" y="1365554"/>
            <a:ext cx="109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99567" y="1696228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02573" y="2058989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15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51831" y="1488977"/>
            <a:ext cx="1606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97" baseline="1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500" spc="1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ll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61024" y="1749617"/>
            <a:ext cx="1625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82" baseline="1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500" spc="8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2l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76227" y="1978190"/>
            <a:ext cx="1663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82" baseline="1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500" spc="9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dl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38559" y="147869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017150" y="2415314"/>
            <a:ext cx="1123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spc="60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57911" y="2573801"/>
            <a:ext cx="996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spc="30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02573" y="2646990"/>
            <a:ext cx="123189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spc="60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47055" y="2691666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86313" y="2900448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64476" y="2944644"/>
            <a:ext cx="20256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4320" y="900081"/>
            <a:ext cx="1911350" cy="231775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24716" y="1267365"/>
            <a:ext cx="1854707" cy="1630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54906" y="1525958"/>
            <a:ext cx="74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170" dirty="0">
                <a:latin typeface="Cambria Math" panose="02040503050406030204"/>
                <a:cs typeface="Cambria Math" panose="02040503050406030204"/>
              </a:rPr>
              <a:t>f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8388" y="1568627"/>
            <a:ext cx="628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i="1" spc="155" dirty="0">
                <a:latin typeface="Cambria Math" panose="02040503050406030204"/>
                <a:cs typeface="Cambria Math" panose="02040503050406030204"/>
              </a:rPr>
              <a:t>l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54906" y="1910021"/>
            <a:ext cx="977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5447" y="1955720"/>
            <a:ext cx="1085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6343" y="1624957"/>
            <a:ext cx="106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9612" y="2198002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35930" y="2327585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95776" y="2228498"/>
            <a:ext cx="114300" cy="1143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6912" y="1315585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W1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5133" y="1303475"/>
            <a:ext cx="1143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W2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1070" y="1359781"/>
            <a:ext cx="109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23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99567" y="1690544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02573" y="2053216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15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51831" y="1483243"/>
            <a:ext cx="1606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i="1" spc="-97" baseline="1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500" i="1" spc="1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ll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61024" y="1743884"/>
            <a:ext cx="1625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i="1" spc="-82" baseline="1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500" i="1" spc="8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2l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76227" y="1972456"/>
            <a:ext cx="1663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i="1" spc="-82" baseline="1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500" i="1" spc="9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dl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38559" y="142144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017150" y="2409630"/>
            <a:ext cx="1123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1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50" i="1" spc="60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57911" y="2568117"/>
            <a:ext cx="996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750" i="1" spc="30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02573" y="2641217"/>
            <a:ext cx="123189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750" i="1" spc="60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7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47055" y="2685981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86313" y="2894763"/>
            <a:ext cx="2908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64476" y="2938959"/>
            <a:ext cx="20256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12851" y="556809"/>
            <a:ext cx="2523744" cy="188975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43585" y="740484"/>
          <a:ext cx="1676400" cy="15697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/>
                <a:gridCol w="748030"/>
                <a:gridCol w="453390"/>
              </a:tblGrid>
              <a:tr h="20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955"/>
                        </a:lnSpc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1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29921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900" spc="100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975" spc="150" baseline="-17000" dirty="0">
                          <a:latin typeface="Cambria Math" panose="02040503050406030204"/>
                          <a:cs typeface="Cambria Math" panose="02040503050406030204"/>
                        </a:rPr>
                        <a:t>l</a:t>
                      </a:r>
                      <a:endParaRPr sz="975" baseline="-170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2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1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73025" marB="0"/>
                </a:tc>
              </a:tr>
              <a:tr h="292609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900" spc="25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975" spc="37" baseline="-17000" dirty="0">
                          <a:latin typeface="Cambria Math" panose="02040503050406030204"/>
                          <a:cs typeface="Cambria Math" panose="02040503050406030204"/>
                        </a:rPr>
                        <a:t>2</a:t>
                      </a:r>
                      <a:endParaRPr sz="975" baseline="-170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10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3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476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2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9215" marB="0"/>
                </a:tc>
              </a:tr>
              <a:tr h="28800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25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975" spc="37" baseline="-17000" dirty="0">
                          <a:latin typeface="Cambria Math" panose="02040503050406030204"/>
                          <a:cs typeface="Cambria Math" panose="02040503050406030204"/>
                        </a:rPr>
                        <a:t>3</a:t>
                      </a:r>
                      <a:endParaRPr sz="975" baseline="-170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4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28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3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7945" marB="0"/>
                </a:tc>
              </a:tr>
              <a:tr h="291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25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975" spc="37" baseline="-17000" dirty="0">
                          <a:latin typeface="Cambria Math" panose="02040503050406030204"/>
                          <a:cs typeface="Cambria Math" panose="02040503050406030204"/>
                        </a:rPr>
                        <a:t>4</a:t>
                      </a:r>
                      <a:endParaRPr sz="975" baseline="-170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53975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5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4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71120" marB="0"/>
                </a:tc>
              </a:tr>
              <a:tr h="196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925"/>
                        </a:lnSpc>
                        <a:spcBef>
                          <a:spcPts val="51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6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54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115464" y="121920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1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5464" y="1510325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2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5464" y="1801447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3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7009" y="1194857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7009" y="1485979"/>
            <a:ext cx="1187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spc="30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7009" y="1774015"/>
            <a:ext cx="1187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spc="30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8460" y="2502449"/>
            <a:ext cx="2219960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900" spc="-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975" spc="-15" baseline="-17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900" spc="-1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9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975" spc="-7" baseline="-1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9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900" spc="4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975" spc="60" baseline="-17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900" spc="4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975" spc="37" baseline="-17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900" spc="25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975" spc="37" baseline="-1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900" spc="-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900" spc="-1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975" spc="-15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“3层神</a:t>
            </a:r>
            <a:r>
              <a:rPr sz="12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网络”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232" y="978525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N层全连接神经网络——除输入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1232" y="1344285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层之外其他层的数量为N的网络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538559" y="147869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12851" y="551085"/>
            <a:ext cx="2523744" cy="188975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43585" y="734760"/>
          <a:ext cx="1676400" cy="15697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/>
                <a:gridCol w="748030"/>
                <a:gridCol w="453390"/>
              </a:tblGrid>
              <a:tr h="20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955"/>
                        </a:lnSpc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1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299199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900" i="1" spc="100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975" i="1" spc="150" baseline="-17000" dirty="0">
                          <a:latin typeface="Cambria Math" panose="02040503050406030204"/>
                          <a:cs typeface="Cambria Math" panose="02040503050406030204"/>
                        </a:rPr>
                        <a:t>l</a:t>
                      </a:r>
                      <a:endParaRPr sz="975" baseline="-170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2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1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73025" marB="0"/>
                </a:tc>
              </a:tr>
              <a:tr h="292609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900" i="1" spc="25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975" i="1" spc="37" baseline="-17000" dirty="0">
                          <a:latin typeface="Cambria Math" panose="02040503050406030204"/>
                          <a:cs typeface="Cambria Math" panose="02040503050406030204"/>
                        </a:rPr>
                        <a:t>2</a:t>
                      </a:r>
                      <a:endParaRPr sz="975" baseline="-170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10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3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476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2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9215" marB="0"/>
                </a:tc>
              </a:tr>
              <a:tr h="288051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i="1" spc="25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975" i="1" spc="37" baseline="-17000" dirty="0">
                          <a:latin typeface="Cambria Math" panose="02040503050406030204"/>
                          <a:cs typeface="Cambria Math" panose="02040503050406030204"/>
                        </a:rPr>
                        <a:t>3</a:t>
                      </a:r>
                      <a:endParaRPr sz="975" baseline="-170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4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28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3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7945" marB="0"/>
                </a:tc>
              </a:tr>
              <a:tr h="29182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i="1" spc="25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975" i="1" spc="37" baseline="-17000" dirty="0">
                          <a:latin typeface="Cambria Math" panose="02040503050406030204"/>
                          <a:cs typeface="Cambria Math" panose="02040503050406030204"/>
                        </a:rPr>
                        <a:t>4</a:t>
                      </a:r>
                      <a:endParaRPr sz="975" baseline="-170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53975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5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4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71120" marB="0"/>
                </a:tc>
              </a:tr>
              <a:tr h="1961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925"/>
                        </a:lnSpc>
                        <a:spcBef>
                          <a:spcPts val="515"/>
                        </a:spcBef>
                      </a:pPr>
                      <a:r>
                        <a:rPr sz="900" dirty="0">
                          <a:latin typeface="黑体" panose="02010609060101010101" charset="-122"/>
                          <a:cs typeface="黑体" panose="02010609060101010101" charset="-122"/>
                        </a:rPr>
                        <a:t>6</a:t>
                      </a:r>
                      <a:endParaRPr sz="9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654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115464" y="121347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1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5464" y="150460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2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5464" y="1795722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3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7009" y="1189132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4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i="1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7009" y="1480255"/>
            <a:ext cx="1187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i="1" spc="30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7009" y="1768291"/>
            <a:ext cx="1187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i="1" spc="30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5742" y="2496725"/>
            <a:ext cx="2172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900" i="1" spc="-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975" i="1" spc="-15" baseline="-17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900" i="1" spc="-1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9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975" i="1" spc="-7" baseline="-1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9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900" i="1" spc="4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975" i="1" spc="60" baseline="-17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900" i="1" spc="4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900" i="1" spc="2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975" i="1" spc="37" baseline="-17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900" spc="25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900" i="1" spc="2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975" i="1" spc="37" baseline="-1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900" i="1" spc="25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900" i="1" spc="-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900" i="1" spc="-1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975" i="1" spc="-15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78460" y="2885421"/>
            <a:ext cx="2905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“3层神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200" spc="-10" dirty="0">
                <a:latin typeface="黑体" panose="02010609060101010101" charset="-122"/>
                <a:cs typeface="黑体" panose="02010609060101010101" charset="-122"/>
              </a:rPr>
              <a:t>”,</a:t>
            </a:r>
            <a:r>
              <a:rPr sz="1200" spc="-14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或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者“2隐</a:t>
            </a:r>
            <a:r>
              <a:rPr sz="12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2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络”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1232" y="972801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N层全连接神经网络——除输入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1232" y="1338561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层之外其他层的数量为N的网络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1232" y="2070081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N个隐层的全连接神经网络——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1232" y="2435841"/>
            <a:ext cx="1778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网络隐层的数量为N的网络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538559" y="142144"/>
            <a:ext cx="276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全连接神经网络绘制与命名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9013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612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4097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72947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272" y="142144"/>
            <a:ext cx="307975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645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为什么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需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要非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操作？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三层全连接网络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756" y="948417"/>
            <a:ext cx="2943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15" baseline="-16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8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5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35" dirty="0">
                <a:latin typeface="Calibri" panose="020F0502020204030204"/>
                <a:cs typeface="Calibri" panose="020F0502020204030204"/>
              </a:rPr>
              <a:t>)+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-15" baseline="-16000" dirty="0">
                <a:latin typeface="Cambria Math" panose="02040503050406030204"/>
                <a:cs typeface="Cambria Math" panose="02040503050406030204"/>
              </a:rPr>
              <a:t>3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三层全连接网络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52020" y="712257"/>
            <a:ext cx="840105" cy="299085"/>
          </a:xfrm>
          <a:custGeom>
            <a:avLst/>
            <a:gdLst/>
            <a:ahLst/>
            <a:cxnLst/>
            <a:rect l="l" t="t" r="r" b="b"/>
            <a:pathLst>
              <a:path w="840104" h="299084">
                <a:moveTo>
                  <a:pt x="30480" y="262127"/>
                </a:moveTo>
                <a:lnTo>
                  <a:pt x="0" y="292607"/>
                </a:lnTo>
                <a:lnTo>
                  <a:pt x="42672" y="298703"/>
                </a:lnTo>
                <a:lnTo>
                  <a:pt x="38100" y="284988"/>
                </a:lnTo>
                <a:lnTo>
                  <a:pt x="32004" y="284988"/>
                </a:lnTo>
                <a:lnTo>
                  <a:pt x="30480" y="280415"/>
                </a:lnTo>
                <a:lnTo>
                  <a:pt x="35943" y="278519"/>
                </a:lnTo>
                <a:lnTo>
                  <a:pt x="30480" y="262127"/>
                </a:lnTo>
                <a:close/>
              </a:path>
              <a:path w="840104" h="299084">
                <a:moveTo>
                  <a:pt x="35943" y="278519"/>
                </a:moveTo>
                <a:lnTo>
                  <a:pt x="30480" y="280415"/>
                </a:lnTo>
                <a:lnTo>
                  <a:pt x="32004" y="284988"/>
                </a:lnTo>
                <a:lnTo>
                  <a:pt x="37467" y="283091"/>
                </a:lnTo>
                <a:lnTo>
                  <a:pt x="35943" y="278519"/>
                </a:lnTo>
                <a:close/>
              </a:path>
              <a:path w="840104" h="299084">
                <a:moveTo>
                  <a:pt x="37467" y="283091"/>
                </a:moveTo>
                <a:lnTo>
                  <a:pt x="32004" y="284988"/>
                </a:lnTo>
                <a:lnTo>
                  <a:pt x="38100" y="284988"/>
                </a:lnTo>
                <a:lnTo>
                  <a:pt x="37467" y="283091"/>
                </a:lnTo>
                <a:close/>
              </a:path>
              <a:path w="840104" h="299084">
                <a:moveTo>
                  <a:pt x="838200" y="0"/>
                </a:moveTo>
                <a:lnTo>
                  <a:pt x="35943" y="278519"/>
                </a:lnTo>
                <a:lnTo>
                  <a:pt x="37467" y="283091"/>
                </a:lnTo>
                <a:lnTo>
                  <a:pt x="839724" y="4571"/>
                </a:lnTo>
                <a:lnTo>
                  <a:pt x="838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36756" y="954141"/>
            <a:ext cx="2943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15" baseline="-16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12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max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(0, 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max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(0,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8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5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35" dirty="0">
                <a:latin typeface="Calibri" panose="020F0502020204030204"/>
                <a:cs typeface="Calibri" panose="020F0502020204030204"/>
              </a:rPr>
              <a:t>)+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-15" baseline="-16000" dirty="0">
                <a:latin typeface="Cambria Math" panose="02040503050406030204"/>
                <a:cs typeface="Cambria Math" panose="02040503050406030204"/>
              </a:rPr>
              <a:t>3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99720" y="712257"/>
            <a:ext cx="193675" cy="330835"/>
          </a:xfrm>
          <a:custGeom>
            <a:avLst/>
            <a:gdLst/>
            <a:ahLst/>
            <a:cxnLst/>
            <a:rect l="l" t="t" r="r" b="b"/>
            <a:pathLst>
              <a:path w="193675" h="330834">
                <a:moveTo>
                  <a:pt x="3047" y="289559"/>
                </a:moveTo>
                <a:lnTo>
                  <a:pt x="0" y="330707"/>
                </a:lnTo>
                <a:lnTo>
                  <a:pt x="36575" y="307847"/>
                </a:lnTo>
                <a:lnTo>
                  <a:pt x="30988" y="304800"/>
                </a:lnTo>
                <a:lnTo>
                  <a:pt x="18287" y="304800"/>
                </a:lnTo>
                <a:lnTo>
                  <a:pt x="15239" y="303275"/>
                </a:lnTo>
                <a:lnTo>
                  <a:pt x="18324" y="297892"/>
                </a:lnTo>
                <a:lnTo>
                  <a:pt x="3047" y="289559"/>
                </a:lnTo>
                <a:close/>
              </a:path>
              <a:path w="193675" h="330834">
                <a:moveTo>
                  <a:pt x="18324" y="297892"/>
                </a:moveTo>
                <a:lnTo>
                  <a:pt x="15239" y="303275"/>
                </a:lnTo>
                <a:lnTo>
                  <a:pt x="18287" y="304800"/>
                </a:lnTo>
                <a:lnTo>
                  <a:pt x="21343" y="299539"/>
                </a:lnTo>
                <a:lnTo>
                  <a:pt x="18324" y="297892"/>
                </a:lnTo>
                <a:close/>
              </a:path>
              <a:path w="193675" h="330834">
                <a:moveTo>
                  <a:pt x="21343" y="299539"/>
                </a:moveTo>
                <a:lnTo>
                  <a:pt x="18287" y="304800"/>
                </a:lnTo>
                <a:lnTo>
                  <a:pt x="30988" y="304800"/>
                </a:lnTo>
                <a:lnTo>
                  <a:pt x="21343" y="299539"/>
                </a:lnTo>
                <a:close/>
              </a:path>
              <a:path w="193675" h="330834">
                <a:moveTo>
                  <a:pt x="188975" y="0"/>
                </a:moveTo>
                <a:lnTo>
                  <a:pt x="18324" y="297892"/>
                </a:lnTo>
                <a:lnTo>
                  <a:pt x="21343" y="299539"/>
                </a:lnTo>
                <a:lnTo>
                  <a:pt x="193547" y="3047"/>
                </a:lnTo>
                <a:lnTo>
                  <a:pt x="1889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3272" y="630905"/>
            <a:ext cx="2154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为什么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需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要非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操作？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2959" y="147869"/>
            <a:ext cx="140335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882650">
              <a:lnSpc>
                <a:spcPct val="100000"/>
              </a:lnSpc>
              <a:spcBef>
                <a:spcPts val="161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活函数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316" y="914889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三层全连接网络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16" y="1750041"/>
            <a:ext cx="5054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答：如果网络中缺少了激活函数，全连接神经网络将变成一个线性分类器。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3189" y="622211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52020" y="706533"/>
            <a:ext cx="840105" cy="299085"/>
          </a:xfrm>
          <a:custGeom>
            <a:avLst/>
            <a:gdLst/>
            <a:ahLst/>
            <a:cxnLst/>
            <a:rect l="l" t="t" r="r" b="b"/>
            <a:pathLst>
              <a:path w="840104" h="299084">
                <a:moveTo>
                  <a:pt x="30480" y="262127"/>
                </a:moveTo>
                <a:lnTo>
                  <a:pt x="0" y="292608"/>
                </a:lnTo>
                <a:lnTo>
                  <a:pt x="42672" y="298703"/>
                </a:lnTo>
                <a:lnTo>
                  <a:pt x="38100" y="284988"/>
                </a:lnTo>
                <a:lnTo>
                  <a:pt x="32004" y="284988"/>
                </a:lnTo>
                <a:lnTo>
                  <a:pt x="30480" y="280416"/>
                </a:lnTo>
                <a:lnTo>
                  <a:pt x="35943" y="278519"/>
                </a:lnTo>
                <a:lnTo>
                  <a:pt x="30480" y="262127"/>
                </a:lnTo>
                <a:close/>
              </a:path>
              <a:path w="840104" h="299084">
                <a:moveTo>
                  <a:pt x="35943" y="278519"/>
                </a:moveTo>
                <a:lnTo>
                  <a:pt x="30480" y="280416"/>
                </a:lnTo>
                <a:lnTo>
                  <a:pt x="32004" y="284988"/>
                </a:lnTo>
                <a:lnTo>
                  <a:pt x="37467" y="283091"/>
                </a:lnTo>
                <a:lnTo>
                  <a:pt x="35943" y="278519"/>
                </a:lnTo>
                <a:close/>
              </a:path>
              <a:path w="840104" h="299084">
                <a:moveTo>
                  <a:pt x="37467" y="283091"/>
                </a:moveTo>
                <a:lnTo>
                  <a:pt x="32004" y="284988"/>
                </a:lnTo>
                <a:lnTo>
                  <a:pt x="38100" y="284988"/>
                </a:lnTo>
                <a:lnTo>
                  <a:pt x="37467" y="283091"/>
                </a:lnTo>
                <a:close/>
              </a:path>
              <a:path w="840104" h="299084">
                <a:moveTo>
                  <a:pt x="838200" y="0"/>
                </a:moveTo>
                <a:lnTo>
                  <a:pt x="35943" y="278519"/>
                </a:lnTo>
                <a:lnTo>
                  <a:pt x="37467" y="283091"/>
                </a:lnTo>
                <a:lnTo>
                  <a:pt x="839724" y="4572"/>
                </a:lnTo>
                <a:lnTo>
                  <a:pt x="838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36756" y="948417"/>
            <a:ext cx="2943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15" baseline="-16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8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5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35" dirty="0">
                <a:latin typeface="Calibri" panose="020F0502020204030204"/>
                <a:cs typeface="Calibri" panose="020F0502020204030204"/>
              </a:rPr>
              <a:t>)+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-15" baseline="-16000" dirty="0">
                <a:latin typeface="Cambria Math" panose="02040503050406030204"/>
                <a:cs typeface="Cambria Math" panose="02040503050406030204"/>
              </a:rPr>
              <a:t>3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9720" y="706533"/>
            <a:ext cx="193675" cy="330835"/>
          </a:xfrm>
          <a:custGeom>
            <a:avLst/>
            <a:gdLst/>
            <a:ahLst/>
            <a:cxnLst/>
            <a:rect l="l" t="t" r="r" b="b"/>
            <a:pathLst>
              <a:path w="193675" h="330834">
                <a:moveTo>
                  <a:pt x="3047" y="289560"/>
                </a:moveTo>
                <a:lnTo>
                  <a:pt x="0" y="330708"/>
                </a:lnTo>
                <a:lnTo>
                  <a:pt x="36575" y="307848"/>
                </a:lnTo>
                <a:lnTo>
                  <a:pt x="30987" y="304800"/>
                </a:lnTo>
                <a:lnTo>
                  <a:pt x="18287" y="304800"/>
                </a:lnTo>
                <a:lnTo>
                  <a:pt x="15239" y="303275"/>
                </a:lnTo>
                <a:lnTo>
                  <a:pt x="18324" y="297892"/>
                </a:lnTo>
                <a:lnTo>
                  <a:pt x="3047" y="289560"/>
                </a:lnTo>
                <a:close/>
              </a:path>
              <a:path w="193675" h="330834">
                <a:moveTo>
                  <a:pt x="18324" y="297892"/>
                </a:moveTo>
                <a:lnTo>
                  <a:pt x="15239" y="303275"/>
                </a:lnTo>
                <a:lnTo>
                  <a:pt x="18287" y="304800"/>
                </a:lnTo>
                <a:lnTo>
                  <a:pt x="21343" y="299539"/>
                </a:lnTo>
                <a:lnTo>
                  <a:pt x="18324" y="297892"/>
                </a:lnTo>
                <a:close/>
              </a:path>
              <a:path w="193675" h="330834">
                <a:moveTo>
                  <a:pt x="21343" y="299539"/>
                </a:moveTo>
                <a:lnTo>
                  <a:pt x="18287" y="304800"/>
                </a:lnTo>
                <a:lnTo>
                  <a:pt x="30987" y="304800"/>
                </a:lnTo>
                <a:lnTo>
                  <a:pt x="21343" y="299539"/>
                </a:lnTo>
                <a:close/>
              </a:path>
              <a:path w="193675" h="330834">
                <a:moveTo>
                  <a:pt x="188975" y="0"/>
                </a:moveTo>
                <a:lnTo>
                  <a:pt x="18324" y="297892"/>
                </a:lnTo>
                <a:lnTo>
                  <a:pt x="21343" y="299539"/>
                </a:lnTo>
                <a:lnTo>
                  <a:pt x="193547" y="3048"/>
                </a:lnTo>
                <a:lnTo>
                  <a:pt x="188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3272" y="625167"/>
            <a:ext cx="2155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为什么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需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要非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操作？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52959" y="142144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316" y="92061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三层全连接网络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3189" y="627930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52020" y="712257"/>
            <a:ext cx="840105" cy="299085"/>
          </a:xfrm>
          <a:custGeom>
            <a:avLst/>
            <a:gdLst/>
            <a:ahLst/>
            <a:cxnLst/>
            <a:rect l="l" t="t" r="r" b="b"/>
            <a:pathLst>
              <a:path w="840104" h="299084">
                <a:moveTo>
                  <a:pt x="30480" y="262127"/>
                </a:moveTo>
                <a:lnTo>
                  <a:pt x="0" y="292607"/>
                </a:lnTo>
                <a:lnTo>
                  <a:pt x="42672" y="298703"/>
                </a:lnTo>
                <a:lnTo>
                  <a:pt x="38100" y="284988"/>
                </a:lnTo>
                <a:lnTo>
                  <a:pt x="32004" y="284988"/>
                </a:lnTo>
                <a:lnTo>
                  <a:pt x="30480" y="280415"/>
                </a:lnTo>
                <a:lnTo>
                  <a:pt x="35943" y="278519"/>
                </a:lnTo>
                <a:lnTo>
                  <a:pt x="30480" y="262127"/>
                </a:lnTo>
                <a:close/>
              </a:path>
              <a:path w="840104" h="299084">
                <a:moveTo>
                  <a:pt x="35943" y="278519"/>
                </a:moveTo>
                <a:lnTo>
                  <a:pt x="30480" y="280415"/>
                </a:lnTo>
                <a:lnTo>
                  <a:pt x="32004" y="284988"/>
                </a:lnTo>
                <a:lnTo>
                  <a:pt x="37467" y="283091"/>
                </a:lnTo>
                <a:lnTo>
                  <a:pt x="35943" y="278519"/>
                </a:lnTo>
                <a:close/>
              </a:path>
              <a:path w="840104" h="299084">
                <a:moveTo>
                  <a:pt x="37467" y="283091"/>
                </a:moveTo>
                <a:lnTo>
                  <a:pt x="32004" y="284988"/>
                </a:lnTo>
                <a:lnTo>
                  <a:pt x="38100" y="284988"/>
                </a:lnTo>
                <a:lnTo>
                  <a:pt x="37467" y="283091"/>
                </a:lnTo>
                <a:close/>
              </a:path>
              <a:path w="840104" h="299084">
                <a:moveTo>
                  <a:pt x="838200" y="0"/>
                </a:moveTo>
                <a:lnTo>
                  <a:pt x="35943" y="278519"/>
                </a:lnTo>
                <a:lnTo>
                  <a:pt x="37467" y="283091"/>
                </a:lnTo>
                <a:lnTo>
                  <a:pt x="839724" y="4571"/>
                </a:lnTo>
                <a:lnTo>
                  <a:pt x="838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02316" y="1755765"/>
            <a:ext cx="5054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答：如果网络中缺少了激活函数，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全连接神经网络将变成一个线性分类器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6756" y="954141"/>
            <a:ext cx="2943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15" baseline="-16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8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52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35" dirty="0">
                <a:latin typeface="Calibri" panose="020F0502020204030204"/>
                <a:cs typeface="Calibri" panose="020F0502020204030204"/>
              </a:rPr>
              <a:t>)+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-15" baseline="-16000" dirty="0">
                <a:latin typeface="Cambria Math" panose="02040503050406030204"/>
                <a:cs typeface="Cambria Math" panose="02040503050406030204"/>
              </a:rPr>
              <a:t>3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9720" y="712257"/>
            <a:ext cx="193675" cy="330835"/>
          </a:xfrm>
          <a:custGeom>
            <a:avLst/>
            <a:gdLst/>
            <a:ahLst/>
            <a:cxnLst/>
            <a:rect l="l" t="t" r="r" b="b"/>
            <a:pathLst>
              <a:path w="193675" h="330834">
                <a:moveTo>
                  <a:pt x="3047" y="289559"/>
                </a:moveTo>
                <a:lnTo>
                  <a:pt x="0" y="330707"/>
                </a:lnTo>
                <a:lnTo>
                  <a:pt x="36575" y="307847"/>
                </a:lnTo>
                <a:lnTo>
                  <a:pt x="30988" y="304800"/>
                </a:lnTo>
                <a:lnTo>
                  <a:pt x="18287" y="304800"/>
                </a:lnTo>
                <a:lnTo>
                  <a:pt x="15239" y="303275"/>
                </a:lnTo>
                <a:lnTo>
                  <a:pt x="18324" y="297892"/>
                </a:lnTo>
                <a:lnTo>
                  <a:pt x="3047" y="289559"/>
                </a:lnTo>
                <a:close/>
              </a:path>
              <a:path w="193675" h="330834">
                <a:moveTo>
                  <a:pt x="18324" y="297892"/>
                </a:moveTo>
                <a:lnTo>
                  <a:pt x="15239" y="303275"/>
                </a:lnTo>
                <a:lnTo>
                  <a:pt x="18287" y="304800"/>
                </a:lnTo>
                <a:lnTo>
                  <a:pt x="21343" y="299539"/>
                </a:lnTo>
                <a:lnTo>
                  <a:pt x="18324" y="297892"/>
                </a:lnTo>
                <a:close/>
              </a:path>
              <a:path w="193675" h="330834">
                <a:moveTo>
                  <a:pt x="21343" y="299539"/>
                </a:moveTo>
                <a:lnTo>
                  <a:pt x="18287" y="304800"/>
                </a:lnTo>
                <a:lnTo>
                  <a:pt x="30988" y="304800"/>
                </a:lnTo>
                <a:lnTo>
                  <a:pt x="21343" y="299539"/>
                </a:lnTo>
                <a:close/>
              </a:path>
              <a:path w="193675" h="330834">
                <a:moveTo>
                  <a:pt x="188975" y="0"/>
                </a:moveTo>
                <a:lnTo>
                  <a:pt x="18324" y="297892"/>
                </a:lnTo>
                <a:lnTo>
                  <a:pt x="21343" y="299539"/>
                </a:lnTo>
                <a:lnTo>
                  <a:pt x="193547" y="3047"/>
                </a:lnTo>
                <a:lnTo>
                  <a:pt x="188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63832" y="2291617"/>
            <a:ext cx="2439035" cy="8356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200" spc="29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1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3</a:t>
            </a:r>
            <a:r>
              <a:rPr sz="12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(W</a:t>
            </a:r>
            <a:r>
              <a:rPr sz="1275" spc="1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(W</a:t>
            </a:r>
            <a:r>
              <a:rPr sz="1275" spc="1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5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)+</a:t>
            </a:r>
            <a:r>
              <a:rPr sz="12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5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-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3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2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3</a:t>
            </a:r>
            <a:r>
              <a:rPr sz="12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2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2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25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</a:t>
            </a:r>
            <a:r>
              <a:rPr sz="12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3</a:t>
            </a:r>
            <a:r>
              <a:rPr sz="12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2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3</a:t>
            </a:r>
            <a:r>
              <a:rPr sz="12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b</a:t>
            </a:r>
            <a:r>
              <a:rPr sz="127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3</a:t>
            </a:r>
            <a:r>
              <a:rPr sz="125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</a:t>
            </a:r>
            <a:endParaRPr sz="125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3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W′x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b′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524" y="2444613"/>
            <a:ext cx="939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去掉激活函数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272" y="630905"/>
            <a:ext cx="2154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为什么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需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要非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操作？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52959" y="147869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4878" y="105679"/>
            <a:ext cx="1978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常用的激活函数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7522" y="919051"/>
            <a:ext cx="3930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 panose="020F0502020204030204"/>
                <a:cs typeface="Calibri" panose="020F0502020204030204"/>
              </a:rPr>
              <a:t>R</a:t>
            </a:r>
            <a:r>
              <a:rPr sz="1400" dirty="0">
                <a:latin typeface="Calibri" panose="020F0502020204030204"/>
                <a:cs typeface="Calibri" panose="020F0502020204030204"/>
              </a:rPr>
              <a:t>e</a:t>
            </a:r>
            <a:r>
              <a:rPr sz="1400" spc="-45" dirty="0">
                <a:latin typeface="Calibri" panose="020F0502020204030204"/>
                <a:cs typeface="Calibri" panose="020F0502020204030204"/>
              </a:rPr>
              <a:t>L</a:t>
            </a:r>
            <a:r>
              <a:rPr sz="1400" dirty="0">
                <a:latin typeface="Calibri" panose="020F0502020204030204"/>
                <a:cs typeface="Calibri" panose="020F0502020204030204"/>
              </a:rPr>
              <a:t>U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75478" y="649551"/>
            <a:ext cx="998582" cy="69943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5471" y="1992182"/>
            <a:ext cx="1064948" cy="699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43627" y="849218"/>
            <a:ext cx="1064556" cy="7332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92438" y="2162845"/>
            <a:ext cx="1099239" cy="7319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97104" y="1278753"/>
            <a:ext cx="651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mbria Math" panose="02040503050406030204"/>
                <a:cs typeface="Cambria Math" panose="02040503050406030204"/>
              </a:rPr>
              <a:t>max(0,</a:t>
            </a:r>
            <a:r>
              <a:rPr sz="12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0256" y="2099093"/>
            <a:ext cx="890269" cy="556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67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Leaky</a:t>
            </a:r>
            <a:r>
              <a:rPr sz="1400" spc="-15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5" dirty="0">
                <a:latin typeface="Calibri" panose="020F0502020204030204"/>
                <a:cs typeface="Calibri" panose="020F0502020204030204"/>
              </a:rPr>
              <a:t>ReLU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200" spc="5" dirty="0">
                <a:latin typeface="Cambria Math" panose="02040503050406030204"/>
                <a:cs typeface="Cambria Math" panose="02040503050406030204"/>
              </a:rPr>
              <a:t>max(0.1x,</a:t>
            </a:r>
            <a:r>
              <a:rPr sz="1200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36273" y="111366"/>
            <a:ext cx="1978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常用的激活函数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93424" y="1152693"/>
            <a:ext cx="403860" cy="196850"/>
          </a:xfrm>
          <a:custGeom>
            <a:avLst/>
            <a:gdLst/>
            <a:ahLst/>
            <a:cxnLst/>
            <a:rect l="l" t="t" r="r" b="b"/>
            <a:pathLst>
              <a:path w="403860" h="196850">
                <a:moveTo>
                  <a:pt x="13715" y="140208"/>
                </a:moveTo>
                <a:lnTo>
                  <a:pt x="0" y="140208"/>
                </a:lnTo>
                <a:lnTo>
                  <a:pt x="0" y="190500"/>
                </a:lnTo>
                <a:lnTo>
                  <a:pt x="13715" y="190500"/>
                </a:lnTo>
                <a:lnTo>
                  <a:pt x="13715" y="140208"/>
                </a:lnTo>
                <a:close/>
              </a:path>
              <a:path w="403860" h="196850">
                <a:moveTo>
                  <a:pt x="13715" y="51816"/>
                </a:moveTo>
                <a:lnTo>
                  <a:pt x="0" y="51816"/>
                </a:lnTo>
                <a:lnTo>
                  <a:pt x="0" y="102108"/>
                </a:lnTo>
                <a:lnTo>
                  <a:pt x="13715" y="102108"/>
                </a:lnTo>
                <a:lnTo>
                  <a:pt x="13715" y="51816"/>
                </a:lnTo>
                <a:close/>
              </a:path>
              <a:path w="403860" h="196850">
                <a:moveTo>
                  <a:pt x="50292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13716"/>
                </a:lnTo>
                <a:lnTo>
                  <a:pt x="13715" y="13716"/>
                </a:lnTo>
                <a:lnTo>
                  <a:pt x="13715" y="12192"/>
                </a:lnTo>
                <a:lnTo>
                  <a:pt x="6095" y="12192"/>
                </a:lnTo>
                <a:lnTo>
                  <a:pt x="13715" y="6096"/>
                </a:lnTo>
                <a:lnTo>
                  <a:pt x="50292" y="6096"/>
                </a:lnTo>
                <a:lnTo>
                  <a:pt x="50292" y="0"/>
                </a:lnTo>
                <a:close/>
              </a:path>
              <a:path w="403860" h="196850">
                <a:moveTo>
                  <a:pt x="13715" y="6096"/>
                </a:moveTo>
                <a:lnTo>
                  <a:pt x="6095" y="12192"/>
                </a:lnTo>
                <a:lnTo>
                  <a:pt x="13715" y="12192"/>
                </a:lnTo>
                <a:lnTo>
                  <a:pt x="13715" y="6096"/>
                </a:lnTo>
                <a:close/>
              </a:path>
              <a:path w="403860" h="196850">
                <a:moveTo>
                  <a:pt x="50292" y="6096"/>
                </a:moveTo>
                <a:lnTo>
                  <a:pt x="13715" y="6096"/>
                </a:lnTo>
                <a:lnTo>
                  <a:pt x="13715" y="12192"/>
                </a:lnTo>
                <a:lnTo>
                  <a:pt x="50292" y="12192"/>
                </a:lnTo>
                <a:lnTo>
                  <a:pt x="50292" y="6096"/>
                </a:lnTo>
                <a:close/>
              </a:path>
              <a:path w="403860" h="196850">
                <a:moveTo>
                  <a:pt x="140207" y="0"/>
                </a:moveTo>
                <a:lnTo>
                  <a:pt x="88392" y="0"/>
                </a:lnTo>
                <a:lnTo>
                  <a:pt x="88392" y="12192"/>
                </a:lnTo>
                <a:lnTo>
                  <a:pt x="140207" y="12192"/>
                </a:lnTo>
                <a:lnTo>
                  <a:pt x="140207" y="0"/>
                </a:lnTo>
                <a:close/>
              </a:path>
              <a:path w="403860" h="196850">
                <a:moveTo>
                  <a:pt x="228600" y="0"/>
                </a:moveTo>
                <a:lnTo>
                  <a:pt x="178307" y="0"/>
                </a:lnTo>
                <a:lnTo>
                  <a:pt x="178307" y="12192"/>
                </a:lnTo>
                <a:lnTo>
                  <a:pt x="228600" y="12192"/>
                </a:lnTo>
                <a:lnTo>
                  <a:pt x="228600" y="0"/>
                </a:lnTo>
                <a:close/>
              </a:path>
              <a:path w="403860" h="196850">
                <a:moveTo>
                  <a:pt x="316992" y="0"/>
                </a:moveTo>
                <a:lnTo>
                  <a:pt x="266700" y="0"/>
                </a:lnTo>
                <a:lnTo>
                  <a:pt x="266700" y="12192"/>
                </a:lnTo>
                <a:lnTo>
                  <a:pt x="316992" y="12192"/>
                </a:lnTo>
                <a:lnTo>
                  <a:pt x="316992" y="0"/>
                </a:lnTo>
                <a:close/>
              </a:path>
              <a:path w="403860" h="196850">
                <a:moveTo>
                  <a:pt x="391668" y="6096"/>
                </a:moveTo>
                <a:lnTo>
                  <a:pt x="391668" y="15240"/>
                </a:lnTo>
                <a:lnTo>
                  <a:pt x="403859" y="15240"/>
                </a:lnTo>
                <a:lnTo>
                  <a:pt x="403859" y="12192"/>
                </a:lnTo>
                <a:lnTo>
                  <a:pt x="397763" y="12192"/>
                </a:lnTo>
                <a:lnTo>
                  <a:pt x="391668" y="6096"/>
                </a:lnTo>
                <a:close/>
              </a:path>
              <a:path w="403860" h="196850">
                <a:moveTo>
                  <a:pt x="400812" y="0"/>
                </a:moveTo>
                <a:lnTo>
                  <a:pt x="355092" y="0"/>
                </a:lnTo>
                <a:lnTo>
                  <a:pt x="355092" y="12192"/>
                </a:lnTo>
                <a:lnTo>
                  <a:pt x="391668" y="12192"/>
                </a:lnTo>
                <a:lnTo>
                  <a:pt x="391668" y="6096"/>
                </a:lnTo>
                <a:lnTo>
                  <a:pt x="403859" y="6096"/>
                </a:lnTo>
                <a:lnTo>
                  <a:pt x="403859" y="3048"/>
                </a:lnTo>
                <a:lnTo>
                  <a:pt x="400812" y="0"/>
                </a:lnTo>
                <a:close/>
              </a:path>
              <a:path w="403860" h="196850">
                <a:moveTo>
                  <a:pt x="403859" y="6096"/>
                </a:moveTo>
                <a:lnTo>
                  <a:pt x="391668" y="6096"/>
                </a:lnTo>
                <a:lnTo>
                  <a:pt x="397763" y="12192"/>
                </a:lnTo>
                <a:lnTo>
                  <a:pt x="403859" y="12192"/>
                </a:lnTo>
                <a:lnTo>
                  <a:pt x="403859" y="6096"/>
                </a:lnTo>
                <a:close/>
              </a:path>
              <a:path w="403860" h="196850">
                <a:moveTo>
                  <a:pt x="403859" y="53340"/>
                </a:moveTo>
                <a:lnTo>
                  <a:pt x="391668" y="53340"/>
                </a:lnTo>
                <a:lnTo>
                  <a:pt x="391668" y="105156"/>
                </a:lnTo>
                <a:lnTo>
                  <a:pt x="403859" y="105156"/>
                </a:lnTo>
                <a:lnTo>
                  <a:pt x="403859" y="53340"/>
                </a:lnTo>
                <a:close/>
              </a:path>
              <a:path w="403860" h="196850">
                <a:moveTo>
                  <a:pt x="403859" y="184404"/>
                </a:moveTo>
                <a:lnTo>
                  <a:pt x="397763" y="184404"/>
                </a:lnTo>
                <a:lnTo>
                  <a:pt x="394715" y="187452"/>
                </a:lnTo>
                <a:lnTo>
                  <a:pt x="394715" y="196596"/>
                </a:lnTo>
                <a:lnTo>
                  <a:pt x="400812" y="196596"/>
                </a:lnTo>
                <a:lnTo>
                  <a:pt x="403859" y="195072"/>
                </a:lnTo>
                <a:lnTo>
                  <a:pt x="403859" y="184404"/>
                </a:lnTo>
                <a:close/>
              </a:path>
              <a:path w="403860" h="196850">
                <a:moveTo>
                  <a:pt x="403859" y="143256"/>
                </a:moveTo>
                <a:lnTo>
                  <a:pt x="391668" y="143256"/>
                </a:lnTo>
                <a:lnTo>
                  <a:pt x="391668" y="190500"/>
                </a:lnTo>
                <a:lnTo>
                  <a:pt x="394715" y="187452"/>
                </a:lnTo>
                <a:lnTo>
                  <a:pt x="394715" y="184404"/>
                </a:lnTo>
                <a:lnTo>
                  <a:pt x="403859" y="184404"/>
                </a:lnTo>
                <a:lnTo>
                  <a:pt x="403859" y="143256"/>
                </a:lnTo>
                <a:close/>
              </a:path>
              <a:path w="403860" h="196850">
                <a:moveTo>
                  <a:pt x="397763" y="184404"/>
                </a:moveTo>
                <a:lnTo>
                  <a:pt x="394715" y="184404"/>
                </a:lnTo>
                <a:lnTo>
                  <a:pt x="394715" y="187452"/>
                </a:lnTo>
                <a:lnTo>
                  <a:pt x="397763" y="184404"/>
                </a:lnTo>
                <a:close/>
              </a:path>
              <a:path w="403860" h="196850">
                <a:moveTo>
                  <a:pt x="356615" y="184404"/>
                </a:moveTo>
                <a:lnTo>
                  <a:pt x="306324" y="184404"/>
                </a:lnTo>
                <a:lnTo>
                  <a:pt x="306324" y="196596"/>
                </a:lnTo>
                <a:lnTo>
                  <a:pt x="356615" y="196596"/>
                </a:lnTo>
                <a:lnTo>
                  <a:pt x="356615" y="184404"/>
                </a:lnTo>
                <a:close/>
              </a:path>
              <a:path w="403860" h="196850">
                <a:moveTo>
                  <a:pt x="268224" y="184404"/>
                </a:moveTo>
                <a:lnTo>
                  <a:pt x="216407" y="184404"/>
                </a:lnTo>
                <a:lnTo>
                  <a:pt x="216407" y="196596"/>
                </a:lnTo>
                <a:lnTo>
                  <a:pt x="268224" y="196596"/>
                </a:lnTo>
                <a:lnTo>
                  <a:pt x="268224" y="184404"/>
                </a:lnTo>
                <a:close/>
              </a:path>
              <a:path w="403860" h="196850">
                <a:moveTo>
                  <a:pt x="178307" y="184404"/>
                </a:moveTo>
                <a:lnTo>
                  <a:pt x="128015" y="184404"/>
                </a:lnTo>
                <a:lnTo>
                  <a:pt x="128015" y="196596"/>
                </a:lnTo>
                <a:lnTo>
                  <a:pt x="178307" y="196596"/>
                </a:lnTo>
                <a:lnTo>
                  <a:pt x="178307" y="184404"/>
                </a:lnTo>
                <a:close/>
              </a:path>
              <a:path w="403860" h="196850">
                <a:moveTo>
                  <a:pt x="89915" y="184404"/>
                </a:moveTo>
                <a:lnTo>
                  <a:pt x="39624" y="184404"/>
                </a:lnTo>
                <a:lnTo>
                  <a:pt x="39624" y="196596"/>
                </a:lnTo>
                <a:lnTo>
                  <a:pt x="89915" y="196596"/>
                </a:lnTo>
                <a:lnTo>
                  <a:pt x="89915" y="1844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26467" y="588813"/>
            <a:ext cx="402590" cy="198120"/>
          </a:xfrm>
          <a:custGeom>
            <a:avLst/>
            <a:gdLst/>
            <a:ahLst/>
            <a:cxnLst/>
            <a:rect l="l" t="t" r="r" b="b"/>
            <a:pathLst>
              <a:path w="402589" h="198120">
                <a:moveTo>
                  <a:pt x="12192" y="140208"/>
                </a:moveTo>
                <a:lnTo>
                  <a:pt x="0" y="140208"/>
                </a:lnTo>
                <a:lnTo>
                  <a:pt x="0" y="192024"/>
                </a:lnTo>
                <a:lnTo>
                  <a:pt x="12192" y="192024"/>
                </a:lnTo>
                <a:lnTo>
                  <a:pt x="12192" y="140208"/>
                </a:lnTo>
                <a:close/>
              </a:path>
              <a:path w="402589" h="198120">
                <a:moveTo>
                  <a:pt x="12192" y="51815"/>
                </a:moveTo>
                <a:lnTo>
                  <a:pt x="0" y="51815"/>
                </a:lnTo>
                <a:lnTo>
                  <a:pt x="0" y="102108"/>
                </a:lnTo>
                <a:lnTo>
                  <a:pt x="12192" y="102108"/>
                </a:lnTo>
                <a:lnTo>
                  <a:pt x="12192" y="51815"/>
                </a:lnTo>
                <a:close/>
              </a:path>
              <a:path w="402589" h="198120">
                <a:moveTo>
                  <a:pt x="50292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13715"/>
                </a:lnTo>
                <a:lnTo>
                  <a:pt x="6095" y="13715"/>
                </a:lnTo>
                <a:lnTo>
                  <a:pt x="12192" y="7620"/>
                </a:lnTo>
                <a:lnTo>
                  <a:pt x="50292" y="7620"/>
                </a:lnTo>
                <a:lnTo>
                  <a:pt x="50292" y="0"/>
                </a:lnTo>
                <a:close/>
              </a:path>
              <a:path w="402589" h="198120">
                <a:moveTo>
                  <a:pt x="12192" y="7620"/>
                </a:moveTo>
                <a:lnTo>
                  <a:pt x="6095" y="13715"/>
                </a:lnTo>
                <a:lnTo>
                  <a:pt x="12192" y="13715"/>
                </a:lnTo>
                <a:lnTo>
                  <a:pt x="12192" y="7620"/>
                </a:lnTo>
                <a:close/>
              </a:path>
              <a:path w="402589" h="198120">
                <a:moveTo>
                  <a:pt x="50292" y="7620"/>
                </a:moveTo>
                <a:lnTo>
                  <a:pt x="12192" y="7620"/>
                </a:lnTo>
                <a:lnTo>
                  <a:pt x="12192" y="13715"/>
                </a:lnTo>
                <a:lnTo>
                  <a:pt x="50292" y="13715"/>
                </a:lnTo>
                <a:lnTo>
                  <a:pt x="50292" y="7620"/>
                </a:lnTo>
                <a:close/>
              </a:path>
              <a:path w="402589" h="198120">
                <a:moveTo>
                  <a:pt x="138683" y="0"/>
                </a:moveTo>
                <a:lnTo>
                  <a:pt x="88392" y="0"/>
                </a:lnTo>
                <a:lnTo>
                  <a:pt x="88392" y="13715"/>
                </a:lnTo>
                <a:lnTo>
                  <a:pt x="138683" y="13715"/>
                </a:lnTo>
                <a:lnTo>
                  <a:pt x="138683" y="0"/>
                </a:lnTo>
                <a:close/>
              </a:path>
              <a:path w="402589" h="198120">
                <a:moveTo>
                  <a:pt x="228600" y="0"/>
                </a:moveTo>
                <a:lnTo>
                  <a:pt x="176783" y="0"/>
                </a:lnTo>
                <a:lnTo>
                  <a:pt x="176783" y="13715"/>
                </a:lnTo>
                <a:lnTo>
                  <a:pt x="228600" y="13715"/>
                </a:lnTo>
                <a:lnTo>
                  <a:pt x="228600" y="0"/>
                </a:lnTo>
                <a:close/>
              </a:path>
              <a:path w="402589" h="198120">
                <a:moveTo>
                  <a:pt x="316992" y="0"/>
                </a:moveTo>
                <a:lnTo>
                  <a:pt x="266700" y="0"/>
                </a:lnTo>
                <a:lnTo>
                  <a:pt x="266700" y="13715"/>
                </a:lnTo>
                <a:lnTo>
                  <a:pt x="316992" y="13715"/>
                </a:lnTo>
                <a:lnTo>
                  <a:pt x="316992" y="0"/>
                </a:lnTo>
                <a:close/>
              </a:path>
              <a:path w="402589" h="198120">
                <a:moveTo>
                  <a:pt x="390144" y="7620"/>
                </a:moveTo>
                <a:lnTo>
                  <a:pt x="390144" y="16763"/>
                </a:lnTo>
                <a:lnTo>
                  <a:pt x="402335" y="16763"/>
                </a:lnTo>
                <a:lnTo>
                  <a:pt x="402335" y="13715"/>
                </a:lnTo>
                <a:lnTo>
                  <a:pt x="396240" y="13715"/>
                </a:lnTo>
                <a:lnTo>
                  <a:pt x="390144" y="7620"/>
                </a:lnTo>
                <a:close/>
              </a:path>
              <a:path w="402589" h="198120">
                <a:moveTo>
                  <a:pt x="400811" y="0"/>
                </a:moveTo>
                <a:lnTo>
                  <a:pt x="355092" y="0"/>
                </a:lnTo>
                <a:lnTo>
                  <a:pt x="355092" y="13715"/>
                </a:lnTo>
                <a:lnTo>
                  <a:pt x="390144" y="13715"/>
                </a:lnTo>
                <a:lnTo>
                  <a:pt x="390144" y="7620"/>
                </a:lnTo>
                <a:lnTo>
                  <a:pt x="402335" y="7620"/>
                </a:lnTo>
                <a:lnTo>
                  <a:pt x="402335" y="3048"/>
                </a:lnTo>
                <a:lnTo>
                  <a:pt x="400811" y="0"/>
                </a:lnTo>
                <a:close/>
              </a:path>
              <a:path w="402589" h="198120">
                <a:moveTo>
                  <a:pt x="402335" y="7620"/>
                </a:moveTo>
                <a:lnTo>
                  <a:pt x="390144" y="7620"/>
                </a:lnTo>
                <a:lnTo>
                  <a:pt x="396240" y="13715"/>
                </a:lnTo>
                <a:lnTo>
                  <a:pt x="402335" y="13715"/>
                </a:lnTo>
                <a:lnTo>
                  <a:pt x="402335" y="7620"/>
                </a:lnTo>
                <a:close/>
              </a:path>
              <a:path w="402589" h="198120">
                <a:moveTo>
                  <a:pt x="402335" y="54863"/>
                </a:moveTo>
                <a:lnTo>
                  <a:pt x="390144" y="54863"/>
                </a:lnTo>
                <a:lnTo>
                  <a:pt x="390144" y="105156"/>
                </a:lnTo>
                <a:lnTo>
                  <a:pt x="402335" y="105156"/>
                </a:lnTo>
                <a:lnTo>
                  <a:pt x="402335" y="54863"/>
                </a:lnTo>
                <a:close/>
              </a:path>
              <a:path w="402589" h="198120">
                <a:moveTo>
                  <a:pt x="402335" y="184403"/>
                </a:moveTo>
                <a:lnTo>
                  <a:pt x="396240" y="184403"/>
                </a:lnTo>
                <a:lnTo>
                  <a:pt x="394716" y="186309"/>
                </a:lnTo>
                <a:lnTo>
                  <a:pt x="394716" y="198120"/>
                </a:lnTo>
                <a:lnTo>
                  <a:pt x="400811" y="198120"/>
                </a:lnTo>
                <a:lnTo>
                  <a:pt x="402335" y="195072"/>
                </a:lnTo>
                <a:lnTo>
                  <a:pt x="402335" y="184403"/>
                </a:lnTo>
                <a:close/>
              </a:path>
              <a:path w="402589" h="198120">
                <a:moveTo>
                  <a:pt x="402335" y="143256"/>
                </a:moveTo>
                <a:lnTo>
                  <a:pt x="390144" y="143256"/>
                </a:lnTo>
                <a:lnTo>
                  <a:pt x="390144" y="192024"/>
                </a:lnTo>
                <a:lnTo>
                  <a:pt x="394716" y="186309"/>
                </a:lnTo>
                <a:lnTo>
                  <a:pt x="394716" y="184403"/>
                </a:lnTo>
                <a:lnTo>
                  <a:pt x="402335" y="184403"/>
                </a:lnTo>
                <a:lnTo>
                  <a:pt x="402335" y="143256"/>
                </a:lnTo>
                <a:close/>
              </a:path>
              <a:path w="402589" h="198120">
                <a:moveTo>
                  <a:pt x="396240" y="184403"/>
                </a:moveTo>
                <a:lnTo>
                  <a:pt x="394716" y="184403"/>
                </a:lnTo>
                <a:lnTo>
                  <a:pt x="394716" y="186309"/>
                </a:lnTo>
                <a:lnTo>
                  <a:pt x="396240" y="184403"/>
                </a:lnTo>
                <a:close/>
              </a:path>
              <a:path w="402589" h="198120">
                <a:moveTo>
                  <a:pt x="356616" y="184403"/>
                </a:moveTo>
                <a:lnTo>
                  <a:pt x="304799" y="184403"/>
                </a:lnTo>
                <a:lnTo>
                  <a:pt x="304799" y="198120"/>
                </a:lnTo>
                <a:lnTo>
                  <a:pt x="356616" y="198120"/>
                </a:lnTo>
                <a:lnTo>
                  <a:pt x="356616" y="184403"/>
                </a:lnTo>
                <a:close/>
              </a:path>
              <a:path w="402589" h="198120">
                <a:moveTo>
                  <a:pt x="266700" y="184403"/>
                </a:moveTo>
                <a:lnTo>
                  <a:pt x="216407" y="184403"/>
                </a:lnTo>
                <a:lnTo>
                  <a:pt x="216407" y="198120"/>
                </a:lnTo>
                <a:lnTo>
                  <a:pt x="266700" y="198120"/>
                </a:lnTo>
                <a:lnTo>
                  <a:pt x="266700" y="184403"/>
                </a:lnTo>
                <a:close/>
              </a:path>
              <a:path w="402589" h="198120">
                <a:moveTo>
                  <a:pt x="178307" y="184403"/>
                </a:moveTo>
                <a:lnTo>
                  <a:pt x="128015" y="184403"/>
                </a:lnTo>
                <a:lnTo>
                  <a:pt x="128015" y="198120"/>
                </a:lnTo>
                <a:lnTo>
                  <a:pt x="178307" y="198120"/>
                </a:lnTo>
                <a:lnTo>
                  <a:pt x="178307" y="184403"/>
                </a:lnTo>
                <a:close/>
              </a:path>
              <a:path w="402589" h="198120">
                <a:moveTo>
                  <a:pt x="89915" y="184403"/>
                </a:moveTo>
                <a:lnTo>
                  <a:pt x="38100" y="184403"/>
                </a:lnTo>
                <a:lnTo>
                  <a:pt x="38100" y="198120"/>
                </a:lnTo>
                <a:lnTo>
                  <a:pt x="89915" y="198120"/>
                </a:lnTo>
                <a:lnTo>
                  <a:pt x="89915" y="1844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8963" y="511089"/>
            <a:ext cx="2766060" cy="1297305"/>
          </a:xfrm>
          <a:prstGeom prst="rect">
            <a:avLst/>
          </a:prstGeom>
          <a:ln w="18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6891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Sigmoid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351790">
              <a:lnSpc>
                <a:spcPct val="100000"/>
              </a:lnSpc>
              <a:spcBef>
                <a:spcPts val="1015"/>
              </a:spcBef>
            </a:pPr>
            <a:r>
              <a:rPr sz="1200" spc="-5" dirty="0">
                <a:latin typeface="Cambria Math" panose="02040503050406030204"/>
                <a:cs typeface="Cambria Math" panose="02040503050406030204"/>
              </a:rPr>
              <a:t>1/(1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4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217" baseline="29000" dirty="0">
                <a:latin typeface="Cambria Math" panose="02040503050406030204"/>
                <a:cs typeface="Cambria Math" panose="02040503050406030204"/>
              </a:rPr>
              <a:t>-x</a:t>
            </a:r>
            <a:r>
              <a:rPr sz="1200" spc="145" dirty="0">
                <a:latin typeface="Cambria Math" panose="02040503050406030204"/>
                <a:cs typeface="Cambria Math" panose="02040503050406030204"/>
              </a:rPr>
              <a:t>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54" y="2101590"/>
            <a:ext cx="69786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tanh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11125">
              <a:lnSpc>
                <a:spcPct val="100000"/>
              </a:lnSpc>
              <a:spcBef>
                <a:spcPts val="45"/>
              </a:spcBef>
            </a:pPr>
            <a:r>
              <a:rPr sz="1800" spc="150" baseline="-21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1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baseline="-21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800" spc="-52" baseline="-2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262" baseline="-21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175" dirty="0">
                <a:latin typeface="Cambria Math" panose="02040503050406030204"/>
                <a:cs typeface="Cambria Math" panose="02040503050406030204"/>
              </a:rPr>
              <a:t>-x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588" y="2549653"/>
            <a:ext cx="595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7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8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baseline="-16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800" spc="-2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262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175" dirty="0">
                <a:latin typeface="Cambria Math" panose="02040503050406030204"/>
                <a:cs typeface="Cambria Math" panose="02040503050406030204"/>
              </a:rPr>
              <a:t>-x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3764" y="2614971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369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583294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7522" y="913313"/>
            <a:ext cx="393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 panose="020F0502020204030204"/>
                <a:cs typeface="Calibri" panose="020F0502020204030204"/>
              </a:rPr>
              <a:t>R</a:t>
            </a:r>
            <a:r>
              <a:rPr sz="1400" dirty="0">
                <a:latin typeface="Calibri" panose="020F0502020204030204"/>
                <a:cs typeface="Calibri" panose="020F0502020204030204"/>
              </a:rPr>
              <a:t>e</a:t>
            </a:r>
            <a:r>
              <a:rPr sz="1400" spc="-45" dirty="0">
                <a:latin typeface="Calibri" panose="020F0502020204030204"/>
                <a:cs typeface="Calibri" panose="020F0502020204030204"/>
              </a:rPr>
              <a:t>L</a:t>
            </a:r>
            <a:r>
              <a:rPr sz="1400" dirty="0">
                <a:latin typeface="Calibri" panose="020F0502020204030204"/>
                <a:cs typeface="Calibri" panose="020F0502020204030204"/>
              </a:rPr>
              <a:t>U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75478" y="643827"/>
            <a:ext cx="998582" cy="69943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5471" y="1986458"/>
            <a:ext cx="1064948" cy="699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43627" y="843494"/>
            <a:ext cx="1064556" cy="7332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92438" y="2157121"/>
            <a:ext cx="1099239" cy="7319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47395" y="1273029"/>
            <a:ext cx="651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</a:t>
            </a:r>
            <a:r>
              <a:rPr sz="1200" i="1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0256" y="2096822"/>
            <a:ext cx="890269" cy="5537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66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Leaky</a:t>
            </a:r>
            <a:r>
              <a:rPr sz="1400" spc="-15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5" dirty="0">
                <a:latin typeface="Calibri" panose="020F0502020204030204"/>
                <a:cs typeface="Calibri" panose="020F0502020204030204"/>
              </a:rPr>
              <a:t>ReLU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00" i="1" spc="5" dirty="0">
                <a:latin typeface="Cambria Math" panose="02040503050406030204"/>
                <a:cs typeface="Cambria Math" panose="02040503050406030204"/>
              </a:rPr>
              <a:t>max(0.1x,</a:t>
            </a:r>
            <a:r>
              <a:rPr sz="1200" i="1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36273" y="105679"/>
            <a:ext cx="1978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常用的激活函数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501" y="867488"/>
            <a:ext cx="998855" cy="54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Sigmoid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94945">
              <a:lnSpc>
                <a:spcPct val="100000"/>
              </a:lnSpc>
              <a:spcBef>
                <a:spcPts val="1010"/>
              </a:spcBef>
            </a:pPr>
            <a:r>
              <a:rPr sz="1200" i="1" spc="-5" dirty="0">
                <a:latin typeface="Cambria Math" panose="02040503050406030204"/>
                <a:cs typeface="Cambria Math" panose="02040503050406030204"/>
              </a:rPr>
              <a:t>1/(1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4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217" baseline="29000" dirty="0">
                <a:latin typeface="Cambria Math" panose="02040503050406030204"/>
                <a:cs typeface="Cambria Math" panose="02040503050406030204"/>
              </a:rPr>
              <a:t>-x</a:t>
            </a:r>
            <a:r>
              <a:rPr sz="1200" i="1" spc="145" dirty="0">
                <a:latin typeface="Cambria Math" panose="02040503050406030204"/>
                <a:cs typeface="Cambria Math" panose="02040503050406030204"/>
              </a:rPr>
              <a:t>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963" y="1797717"/>
            <a:ext cx="2766060" cy="1297305"/>
          </a:xfrm>
          <a:prstGeom prst="rect">
            <a:avLst/>
          </a:prstGeom>
          <a:ln w="18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20574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tanh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304800">
              <a:lnSpc>
                <a:spcPct val="100000"/>
              </a:lnSpc>
              <a:spcBef>
                <a:spcPts val="45"/>
              </a:spcBef>
            </a:pPr>
            <a:r>
              <a:rPr sz="1800" i="1" spc="150" baseline="-21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1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-21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800" i="1" spc="-75" baseline="-2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262" baseline="-21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175" dirty="0">
                <a:latin typeface="Cambria Math" panose="02040503050406030204"/>
                <a:cs typeface="Cambria Math" panose="02040503050406030204"/>
              </a:rPr>
              <a:t>-x</a:t>
            </a:r>
            <a:endParaRPr sz="850">
              <a:latin typeface="Cambria Math" panose="02040503050406030204"/>
              <a:cs typeface="Cambria Math" panose="02040503050406030204"/>
            </a:endParaRPr>
          </a:p>
          <a:p>
            <a:pPr marL="306070">
              <a:lnSpc>
                <a:spcPct val="100000"/>
              </a:lnSpc>
              <a:spcBef>
                <a:spcPts val="360"/>
              </a:spcBef>
            </a:pPr>
            <a:r>
              <a:rPr sz="1800" i="1" spc="127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8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-16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800" i="1" spc="-3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262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175" dirty="0">
                <a:latin typeface="Cambria Math" panose="02040503050406030204"/>
                <a:cs typeface="Cambria Math" panose="02040503050406030204"/>
              </a:rPr>
              <a:t>-x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3764" y="2609247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3692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83294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5478" y="649551"/>
            <a:ext cx="998582" cy="69943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75471" y="1992182"/>
            <a:ext cx="1064948" cy="699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43627" y="849218"/>
            <a:ext cx="1064556" cy="7332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92438" y="2162845"/>
            <a:ext cx="1099239" cy="7319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47319" y="511089"/>
            <a:ext cx="2766060" cy="1297305"/>
          </a:xfrm>
          <a:prstGeom prst="rect">
            <a:avLst/>
          </a:prstGeom>
          <a:ln w="18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 panose="02020603050405020304"/>
              <a:cs typeface="Times New Roman" panose="02020603050405020304"/>
            </a:endParaRPr>
          </a:p>
          <a:p>
            <a:pPr marR="2025015" algn="ctr">
              <a:lnSpc>
                <a:spcPct val="100000"/>
              </a:lnSpc>
              <a:spcBef>
                <a:spcPts val="5"/>
              </a:spcBef>
            </a:pPr>
            <a:r>
              <a:rPr sz="1400" spc="-15" dirty="0">
                <a:latin typeface="Calibri" panose="020F0502020204030204"/>
                <a:cs typeface="Calibri" panose="020F0502020204030204"/>
              </a:rPr>
              <a:t>ReLU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R="1906905" algn="ctr">
              <a:lnSpc>
                <a:spcPct val="100000"/>
              </a:lnSpc>
              <a:spcBef>
                <a:spcPts val="1145"/>
              </a:spcBef>
            </a:pPr>
            <a:r>
              <a:rPr sz="1200" spc="-5" dirty="0">
                <a:latin typeface="Cambria Math" panose="02040503050406030204"/>
                <a:cs typeface="Cambria Math" panose="02040503050406030204"/>
              </a:rPr>
              <a:t>max(0,</a:t>
            </a:r>
            <a:r>
              <a:rPr sz="1200" spc="-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0256" y="2099093"/>
            <a:ext cx="890269" cy="556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67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Leaky</a:t>
            </a:r>
            <a:r>
              <a:rPr sz="1400" spc="-15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5" dirty="0">
                <a:latin typeface="Calibri" panose="020F0502020204030204"/>
                <a:cs typeface="Calibri" panose="020F0502020204030204"/>
              </a:rPr>
              <a:t>ReLU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200" spc="5" dirty="0">
                <a:latin typeface="Cambria Math" panose="02040503050406030204"/>
                <a:cs typeface="Cambria Math" panose="02040503050406030204"/>
              </a:rPr>
              <a:t>max(0.1x,</a:t>
            </a:r>
            <a:r>
              <a:rPr sz="1200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36273" y="111366"/>
            <a:ext cx="1978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常用的激活函数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22423" y="761025"/>
            <a:ext cx="690880" cy="822960"/>
          </a:xfrm>
          <a:custGeom>
            <a:avLst/>
            <a:gdLst/>
            <a:ahLst/>
            <a:cxnLst/>
            <a:rect l="l" t="t" r="r" b="b"/>
            <a:pathLst>
              <a:path w="690879" h="822960">
                <a:moveTo>
                  <a:pt x="13715" y="809244"/>
                </a:moveTo>
                <a:lnTo>
                  <a:pt x="6096" y="809244"/>
                </a:lnTo>
                <a:lnTo>
                  <a:pt x="6096" y="822960"/>
                </a:lnTo>
                <a:lnTo>
                  <a:pt x="47243" y="822960"/>
                </a:lnTo>
                <a:lnTo>
                  <a:pt x="47243" y="815339"/>
                </a:lnTo>
                <a:lnTo>
                  <a:pt x="13715" y="815339"/>
                </a:lnTo>
                <a:lnTo>
                  <a:pt x="13715" y="809244"/>
                </a:lnTo>
                <a:close/>
              </a:path>
              <a:path w="690879" h="822960">
                <a:moveTo>
                  <a:pt x="13715" y="765048"/>
                </a:moveTo>
                <a:lnTo>
                  <a:pt x="0" y="765048"/>
                </a:lnTo>
                <a:lnTo>
                  <a:pt x="0" y="815339"/>
                </a:lnTo>
                <a:lnTo>
                  <a:pt x="6096" y="815339"/>
                </a:lnTo>
                <a:lnTo>
                  <a:pt x="6096" y="809244"/>
                </a:lnTo>
                <a:lnTo>
                  <a:pt x="13715" y="809244"/>
                </a:lnTo>
                <a:lnTo>
                  <a:pt x="13715" y="765048"/>
                </a:lnTo>
                <a:close/>
              </a:path>
              <a:path w="690879" h="822960">
                <a:moveTo>
                  <a:pt x="47243" y="809244"/>
                </a:moveTo>
                <a:lnTo>
                  <a:pt x="13715" y="809244"/>
                </a:lnTo>
                <a:lnTo>
                  <a:pt x="13715" y="815339"/>
                </a:lnTo>
                <a:lnTo>
                  <a:pt x="47243" y="815339"/>
                </a:lnTo>
                <a:lnTo>
                  <a:pt x="47243" y="809244"/>
                </a:lnTo>
                <a:close/>
              </a:path>
              <a:path w="690879" h="822960">
                <a:moveTo>
                  <a:pt x="13715" y="676655"/>
                </a:moveTo>
                <a:lnTo>
                  <a:pt x="0" y="676655"/>
                </a:lnTo>
                <a:lnTo>
                  <a:pt x="0" y="726948"/>
                </a:lnTo>
                <a:lnTo>
                  <a:pt x="13715" y="726948"/>
                </a:lnTo>
                <a:lnTo>
                  <a:pt x="13715" y="676655"/>
                </a:lnTo>
                <a:close/>
              </a:path>
              <a:path w="690879" h="822960">
                <a:moveTo>
                  <a:pt x="13715" y="586739"/>
                </a:moveTo>
                <a:lnTo>
                  <a:pt x="0" y="586739"/>
                </a:lnTo>
                <a:lnTo>
                  <a:pt x="0" y="638555"/>
                </a:lnTo>
                <a:lnTo>
                  <a:pt x="13715" y="638555"/>
                </a:lnTo>
                <a:lnTo>
                  <a:pt x="13715" y="586739"/>
                </a:lnTo>
                <a:close/>
              </a:path>
              <a:path w="690879" h="822960">
                <a:moveTo>
                  <a:pt x="13715" y="498348"/>
                </a:moveTo>
                <a:lnTo>
                  <a:pt x="0" y="498348"/>
                </a:lnTo>
                <a:lnTo>
                  <a:pt x="0" y="548639"/>
                </a:lnTo>
                <a:lnTo>
                  <a:pt x="13715" y="548639"/>
                </a:lnTo>
                <a:lnTo>
                  <a:pt x="13715" y="498348"/>
                </a:lnTo>
                <a:close/>
              </a:path>
              <a:path w="690879" h="822960">
                <a:moveTo>
                  <a:pt x="13715" y="409955"/>
                </a:moveTo>
                <a:lnTo>
                  <a:pt x="0" y="409955"/>
                </a:lnTo>
                <a:lnTo>
                  <a:pt x="0" y="460248"/>
                </a:lnTo>
                <a:lnTo>
                  <a:pt x="13715" y="460248"/>
                </a:lnTo>
                <a:lnTo>
                  <a:pt x="13715" y="409955"/>
                </a:lnTo>
                <a:close/>
              </a:path>
              <a:path w="690879" h="822960">
                <a:moveTo>
                  <a:pt x="13715" y="320039"/>
                </a:moveTo>
                <a:lnTo>
                  <a:pt x="0" y="320039"/>
                </a:lnTo>
                <a:lnTo>
                  <a:pt x="0" y="371855"/>
                </a:lnTo>
                <a:lnTo>
                  <a:pt x="13715" y="371855"/>
                </a:lnTo>
                <a:lnTo>
                  <a:pt x="13715" y="320039"/>
                </a:lnTo>
                <a:close/>
              </a:path>
              <a:path w="690879" h="822960">
                <a:moveTo>
                  <a:pt x="13715" y="231648"/>
                </a:moveTo>
                <a:lnTo>
                  <a:pt x="0" y="231648"/>
                </a:lnTo>
                <a:lnTo>
                  <a:pt x="0" y="281939"/>
                </a:lnTo>
                <a:lnTo>
                  <a:pt x="13715" y="281939"/>
                </a:lnTo>
                <a:lnTo>
                  <a:pt x="13715" y="231648"/>
                </a:lnTo>
                <a:close/>
              </a:path>
              <a:path w="690879" h="822960">
                <a:moveTo>
                  <a:pt x="13715" y="143255"/>
                </a:moveTo>
                <a:lnTo>
                  <a:pt x="0" y="143255"/>
                </a:lnTo>
                <a:lnTo>
                  <a:pt x="0" y="193548"/>
                </a:lnTo>
                <a:lnTo>
                  <a:pt x="13715" y="193548"/>
                </a:lnTo>
                <a:lnTo>
                  <a:pt x="13715" y="143255"/>
                </a:lnTo>
                <a:close/>
              </a:path>
              <a:path w="690879" h="822960">
                <a:moveTo>
                  <a:pt x="13715" y="53339"/>
                </a:moveTo>
                <a:lnTo>
                  <a:pt x="0" y="53339"/>
                </a:lnTo>
                <a:lnTo>
                  <a:pt x="0" y="105155"/>
                </a:lnTo>
                <a:lnTo>
                  <a:pt x="13715" y="105155"/>
                </a:lnTo>
                <a:lnTo>
                  <a:pt x="13715" y="53339"/>
                </a:lnTo>
                <a:close/>
              </a:path>
              <a:path w="690879" h="822960">
                <a:moveTo>
                  <a:pt x="48767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15239"/>
                </a:lnTo>
                <a:lnTo>
                  <a:pt x="13715" y="15239"/>
                </a:lnTo>
                <a:lnTo>
                  <a:pt x="13715" y="12191"/>
                </a:lnTo>
                <a:lnTo>
                  <a:pt x="6096" y="12191"/>
                </a:lnTo>
                <a:lnTo>
                  <a:pt x="13715" y="6096"/>
                </a:lnTo>
                <a:lnTo>
                  <a:pt x="48767" y="6096"/>
                </a:lnTo>
                <a:lnTo>
                  <a:pt x="48767" y="0"/>
                </a:lnTo>
                <a:close/>
              </a:path>
              <a:path w="690879" h="822960">
                <a:moveTo>
                  <a:pt x="13715" y="6096"/>
                </a:moveTo>
                <a:lnTo>
                  <a:pt x="6096" y="12191"/>
                </a:lnTo>
                <a:lnTo>
                  <a:pt x="13715" y="12191"/>
                </a:lnTo>
                <a:lnTo>
                  <a:pt x="13715" y="6096"/>
                </a:lnTo>
                <a:close/>
              </a:path>
              <a:path w="690879" h="822960">
                <a:moveTo>
                  <a:pt x="48767" y="6096"/>
                </a:moveTo>
                <a:lnTo>
                  <a:pt x="13715" y="6096"/>
                </a:lnTo>
                <a:lnTo>
                  <a:pt x="13715" y="12191"/>
                </a:lnTo>
                <a:lnTo>
                  <a:pt x="48767" y="12191"/>
                </a:lnTo>
                <a:lnTo>
                  <a:pt x="48767" y="6096"/>
                </a:lnTo>
                <a:close/>
              </a:path>
              <a:path w="690879" h="822960">
                <a:moveTo>
                  <a:pt x="137160" y="0"/>
                </a:moveTo>
                <a:lnTo>
                  <a:pt x="86867" y="0"/>
                </a:lnTo>
                <a:lnTo>
                  <a:pt x="86867" y="12191"/>
                </a:lnTo>
                <a:lnTo>
                  <a:pt x="137160" y="12191"/>
                </a:lnTo>
                <a:lnTo>
                  <a:pt x="137160" y="0"/>
                </a:lnTo>
                <a:close/>
              </a:path>
              <a:path w="690879" h="822960">
                <a:moveTo>
                  <a:pt x="225551" y="0"/>
                </a:moveTo>
                <a:lnTo>
                  <a:pt x="175260" y="0"/>
                </a:lnTo>
                <a:lnTo>
                  <a:pt x="175260" y="12191"/>
                </a:lnTo>
                <a:lnTo>
                  <a:pt x="225551" y="12191"/>
                </a:lnTo>
                <a:lnTo>
                  <a:pt x="225551" y="0"/>
                </a:lnTo>
                <a:close/>
              </a:path>
              <a:path w="690879" h="822960">
                <a:moveTo>
                  <a:pt x="315467" y="0"/>
                </a:moveTo>
                <a:lnTo>
                  <a:pt x="263651" y="0"/>
                </a:lnTo>
                <a:lnTo>
                  <a:pt x="263651" y="12191"/>
                </a:lnTo>
                <a:lnTo>
                  <a:pt x="315467" y="12191"/>
                </a:lnTo>
                <a:lnTo>
                  <a:pt x="315467" y="0"/>
                </a:lnTo>
                <a:close/>
              </a:path>
              <a:path w="690879" h="822960">
                <a:moveTo>
                  <a:pt x="403860" y="0"/>
                </a:moveTo>
                <a:lnTo>
                  <a:pt x="353567" y="0"/>
                </a:lnTo>
                <a:lnTo>
                  <a:pt x="353567" y="12191"/>
                </a:lnTo>
                <a:lnTo>
                  <a:pt x="403860" y="12191"/>
                </a:lnTo>
                <a:lnTo>
                  <a:pt x="403860" y="0"/>
                </a:lnTo>
                <a:close/>
              </a:path>
              <a:path w="690879" h="822960">
                <a:moveTo>
                  <a:pt x="492251" y="0"/>
                </a:moveTo>
                <a:lnTo>
                  <a:pt x="441960" y="0"/>
                </a:lnTo>
                <a:lnTo>
                  <a:pt x="441960" y="12191"/>
                </a:lnTo>
                <a:lnTo>
                  <a:pt x="492251" y="12191"/>
                </a:lnTo>
                <a:lnTo>
                  <a:pt x="492251" y="0"/>
                </a:lnTo>
                <a:close/>
              </a:path>
              <a:path w="690879" h="822960">
                <a:moveTo>
                  <a:pt x="582167" y="0"/>
                </a:moveTo>
                <a:lnTo>
                  <a:pt x="530351" y="0"/>
                </a:lnTo>
                <a:lnTo>
                  <a:pt x="530351" y="12191"/>
                </a:lnTo>
                <a:lnTo>
                  <a:pt x="582167" y="12191"/>
                </a:lnTo>
                <a:lnTo>
                  <a:pt x="582167" y="0"/>
                </a:lnTo>
                <a:close/>
              </a:path>
              <a:path w="690879" h="822960">
                <a:moveTo>
                  <a:pt x="670560" y="0"/>
                </a:moveTo>
                <a:lnTo>
                  <a:pt x="620267" y="0"/>
                </a:lnTo>
                <a:lnTo>
                  <a:pt x="620267" y="12191"/>
                </a:lnTo>
                <a:lnTo>
                  <a:pt x="670560" y="12191"/>
                </a:lnTo>
                <a:lnTo>
                  <a:pt x="670560" y="0"/>
                </a:lnTo>
                <a:close/>
              </a:path>
              <a:path w="690879" h="822960">
                <a:moveTo>
                  <a:pt x="690372" y="30479"/>
                </a:moveTo>
                <a:lnTo>
                  <a:pt x="678179" y="30479"/>
                </a:lnTo>
                <a:lnTo>
                  <a:pt x="678179" y="80772"/>
                </a:lnTo>
                <a:lnTo>
                  <a:pt x="690372" y="80772"/>
                </a:lnTo>
                <a:lnTo>
                  <a:pt x="690372" y="30479"/>
                </a:lnTo>
                <a:close/>
              </a:path>
              <a:path w="690879" h="822960">
                <a:moveTo>
                  <a:pt x="690372" y="118872"/>
                </a:moveTo>
                <a:lnTo>
                  <a:pt x="678179" y="118872"/>
                </a:lnTo>
                <a:lnTo>
                  <a:pt x="678179" y="170687"/>
                </a:lnTo>
                <a:lnTo>
                  <a:pt x="690372" y="170687"/>
                </a:lnTo>
                <a:lnTo>
                  <a:pt x="690372" y="118872"/>
                </a:lnTo>
                <a:close/>
              </a:path>
              <a:path w="690879" h="822960">
                <a:moveTo>
                  <a:pt x="690372" y="208787"/>
                </a:moveTo>
                <a:lnTo>
                  <a:pt x="678179" y="208787"/>
                </a:lnTo>
                <a:lnTo>
                  <a:pt x="678179" y="259079"/>
                </a:lnTo>
                <a:lnTo>
                  <a:pt x="690372" y="259079"/>
                </a:lnTo>
                <a:lnTo>
                  <a:pt x="690372" y="208787"/>
                </a:lnTo>
                <a:close/>
              </a:path>
              <a:path w="690879" h="822960">
                <a:moveTo>
                  <a:pt x="690372" y="297179"/>
                </a:moveTo>
                <a:lnTo>
                  <a:pt x="678179" y="297179"/>
                </a:lnTo>
                <a:lnTo>
                  <a:pt x="678179" y="347472"/>
                </a:lnTo>
                <a:lnTo>
                  <a:pt x="690372" y="347472"/>
                </a:lnTo>
                <a:lnTo>
                  <a:pt x="690372" y="297179"/>
                </a:lnTo>
                <a:close/>
              </a:path>
              <a:path w="690879" h="822960">
                <a:moveTo>
                  <a:pt x="690372" y="385572"/>
                </a:moveTo>
                <a:lnTo>
                  <a:pt x="678179" y="385572"/>
                </a:lnTo>
                <a:lnTo>
                  <a:pt x="678179" y="437388"/>
                </a:lnTo>
                <a:lnTo>
                  <a:pt x="690372" y="437388"/>
                </a:lnTo>
                <a:lnTo>
                  <a:pt x="690372" y="385572"/>
                </a:lnTo>
                <a:close/>
              </a:path>
              <a:path w="690879" h="822960">
                <a:moveTo>
                  <a:pt x="690372" y="475488"/>
                </a:moveTo>
                <a:lnTo>
                  <a:pt x="678179" y="475488"/>
                </a:lnTo>
                <a:lnTo>
                  <a:pt x="678179" y="525779"/>
                </a:lnTo>
                <a:lnTo>
                  <a:pt x="690372" y="525779"/>
                </a:lnTo>
                <a:lnTo>
                  <a:pt x="690372" y="475488"/>
                </a:lnTo>
                <a:close/>
              </a:path>
              <a:path w="690879" h="822960">
                <a:moveTo>
                  <a:pt x="690372" y="563879"/>
                </a:moveTo>
                <a:lnTo>
                  <a:pt x="678179" y="563879"/>
                </a:lnTo>
                <a:lnTo>
                  <a:pt x="678179" y="614172"/>
                </a:lnTo>
                <a:lnTo>
                  <a:pt x="690372" y="614172"/>
                </a:lnTo>
                <a:lnTo>
                  <a:pt x="690372" y="563879"/>
                </a:lnTo>
                <a:close/>
              </a:path>
              <a:path w="690879" h="822960">
                <a:moveTo>
                  <a:pt x="690372" y="652272"/>
                </a:moveTo>
                <a:lnTo>
                  <a:pt x="678179" y="652272"/>
                </a:lnTo>
                <a:lnTo>
                  <a:pt x="678179" y="704088"/>
                </a:lnTo>
                <a:lnTo>
                  <a:pt x="690372" y="704088"/>
                </a:lnTo>
                <a:lnTo>
                  <a:pt x="690372" y="652272"/>
                </a:lnTo>
                <a:close/>
              </a:path>
              <a:path w="690879" h="822960">
                <a:moveTo>
                  <a:pt x="690372" y="742188"/>
                </a:moveTo>
                <a:lnTo>
                  <a:pt x="678179" y="742188"/>
                </a:lnTo>
                <a:lnTo>
                  <a:pt x="678179" y="792480"/>
                </a:lnTo>
                <a:lnTo>
                  <a:pt x="690372" y="792480"/>
                </a:lnTo>
                <a:lnTo>
                  <a:pt x="690372" y="742188"/>
                </a:lnTo>
                <a:close/>
              </a:path>
              <a:path w="690879" h="822960">
                <a:moveTo>
                  <a:pt x="669036" y="809244"/>
                </a:moveTo>
                <a:lnTo>
                  <a:pt x="618743" y="809244"/>
                </a:lnTo>
                <a:lnTo>
                  <a:pt x="618743" y="822960"/>
                </a:lnTo>
                <a:lnTo>
                  <a:pt x="669036" y="822960"/>
                </a:lnTo>
                <a:lnTo>
                  <a:pt x="669036" y="809244"/>
                </a:lnTo>
                <a:close/>
              </a:path>
              <a:path w="690879" h="822960">
                <a:moveTo>
                  <a:pt x="580643" y="809244"/>
                </a:moveTo>
                <a:lnTo>
                  <a:pt x="530351" y="809244"/>
                </a:lnTo>
                <a:lnTo>
                  <a:pt x="530351" y="822960"/>
                </a:lnTo>
                <a:lnTo>
                  <a:pt x="580643" y="822960"/>
                </a:lnTo>
                <a:lnTo>
                  <a:pt x="580643" y="809244"/>
                </a:lnTo>
                <a:close/>
              </a:path>
              <a:path w="690879" h="822960">
                <a:moveTo>
                  <a:pt x="492251" y="809244"/>
                </a:moveTo>
                <a:lnTo>
                  <a:pt x="440436" y="809244"/>
                </a:lnTo>
                <a:lnTo>
                  <a:pt x="440436" y="822960"/>
                </a:lnTo>
                <a:lnTo>
                  <a:pt x="492251" y="822960"/>
                </a:lnTo>
                <a:lnTo>
                  <a:pt x="492251" y="809244"/>
                </a:lnTo>
                <a:close/>
              </a:path>
              <a:path w="690879" h="822960">
                <a:moveTo>
                  <a:pt x="402336" y="809244"/>
                </a:moveTo>
                <a:lnTo>
                  <a:pt x="352043" y="809244"/>
                </a:lnTo>
                <a:lnTo>
                  <a:pt x="352043" y="822960"/>
                </a:lnTo>
                <a:lnTo>
                  <a:pt x="402336" y="822960"/>
                </a:lnTo>
                <a:lnTo>
                  <a:pt x="402336" y="809244"/>
                </a:lnTo>
                <a:close/>
              </a:path>
              <a:path w="690879" h="822960">
                <a:moveTo>
                  <a:pt x="313943" y="809244"/>
                </a:moveTo>
                <a:lnTo>
                  <a:pt x="263651" y="809244"/>
                </a:lnTo>
                <a:lnTo>
                  <a:pt x="263651" y="822960"/>
                </a:lnTo>
                <a:lnTo>
                  <a:pt x="313943" y="822960"/>
                </a:lnTo>
                <a:lnTo>
                  <a:pt x="313943" y="809244"/>
                </a:lnTo>
                <a:close/>
              </a:path>
              <a:path w="690879" h="822960">
                <a:moveTo>
                  <a:pt x="225551" y="809244"/>
                </a:moveTo>
                <a:lnTo>
                  <a:pt x="173736" y="809244"/>
                </a:lnTo>
                <a:lnTo>
                  <a:pt x="173736" y="822960"/>
                </a:lnTo>
                <a:lnTo>
                  <a:pt x="225551" y="822960"/>
                </a:lnTo>
                <a:lnTo>
                  <a:pt x="225551" y="809244"/>
                </a:lnTo>
                <a:close/>
              </a:path>
              <a:path w="690879" h="822960">
                <a:moveTo>
                  <a:pt x="135636" y="809244"/>
                </a:moveTo>
                <a:lnTo>
                  <a:pt x="85343" y="809244"/>
                </a:lnTo>
                <a:lnTo>
                  <a:pt x="85343" y="822960"/>
                </a:lnTo>
                <a:lnTo>
                  <a:pt x="135636" y="822960"/>
                </a:lnTo>
                <a:lnTo>
                  <a:pt x="135636" y="8092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03679" y="1439205"/>
            <a:ext cx="690880" cy="165100"/>
          </a:xfrm>
          <a:custGeom>
            <a:avLst/>
            <a:gdLst/>
            <a:ahLst/>
            <a:cxnLst/>
            <a:rect l="l" t="t" r="r" b="b"/>
            <a:pathLst>
              <a:path w="690879" h="165100">
                <a:moveTo>
                  <a:pt x="12192" y="106680"/>
                </a:moveTo>
                <a:lnTo>
                  <a:pt x="0" y="106680"/>
                </a:lnTo>
                <a:lnTo>
                  <a:pt x="0" y="158496"/>
                </a:lnTo>
                <a:lnTo>
                  <a:pt x="12192" y="158496"/>
                </a:lnTo>
                <a:lnTo>
                  <a:pt x="12192" y="106680"/>
                </a:lnTo>
                <a:close/>
              </a:path>
              <a:path w="690879" h="165100">
                <a:moveTo>
                  <a:pt x="12192" y="18287"/>
                </a:moveTo>
                <a:lnTo>
                  <a:pt x="0" y="18287"/>
                </a:lnTo>
                <a:lnTo>
                  <a:pt x="0" y="68580"/>
                </a:lnTo>
                <a:lnTo>
                  <a:pt x="12192" y="68580"/>
                </a:lnTo>
                <a:lnTo>
                  <a:pt x="12192" y="18287"/>
                </a:lnTo>
                <a:close/>
              </a:path>
              <a:path w="690879" h="165100">
                <a:moveTo>
                  <a:pt x="82296" y="0"/>
                </a:moveTo>
                <a:lnTo>
                  <a:pt x="32004" y="0"/>
                </a:lnTo>
                <a:lnTo>
                  <a:pt x="32004" y="12192"/>
                </a:lnTo>
                <a:lnTo>
                  <a:pt x="82296" y="12192"/>
                </a:lnTo>
                <a:lnTo>
                  <a:pt x="82296" y="0"/>
                </a:lnTo>
                <a:close/>
              </a:path>
              <a:path w="690879" h="165100">
                <a:moveTo>
                  <a:pt x="172212" y="0"/>
                </a:moveTo>
                <a:lnTo>
                  <a:pt x="120396" y="0"/>
                </a:lnTo>
                <a:lnTo>
                  <a:pt x="120396" y="12192"/>
                </a:lnTo>
                <a:lnTo>
                  <a:pt x="172212" y="12192"/>
                </a:lnTo>
                <a:lnTo>
                  <a:pt x="172212" y="0"/>
                </a:lnTo>
                <a:close/>
              </a:path>
              <a:path w="690879" h="165100">
                <a:moveTo>
                  <a:pt x="260604" y="0"/>
                </a:moveTo>
                <a:lnTo>
                  <a:pt x="210312" y="0"/>
                </a:lnTo>
                <a:lnTo>
                  <a:pt x="210312" y="12192"/>
                </a:lnTo>
                <a:lnTo>
                  <a:pt x="260604" y="12192"/>
                </a:lnTo>
                <a:lnTo>
                  <a:pt x="260604" y="0"/>
                </a:lnTo>
                <a:close/>
              </a:path>
              <a:path w="690879" h="165100">
                <a:moveTo>
                  <a:pt x="348996" y="0"/>
                </a:moveTo>
                <a:lnTo>
                  <a:pt x="298704" y="0"/>
                </a:lnTo>
                <a:lnTo>
                  <a:pt x="298704" y="12192"/>
                </a:lnTo>
                <a:lnTo>
                  <a:pt x="348996" y="12192"/>
                </a:lnTo>
                <a:lnTo>
                  <a:pt x="348996" y="0"/>
                </a:lnTo>
                <a:close/>
              </a:path>
              <a:path w="690879" h="165100">
                <a:moveTo>
                  <a:pt x="438912" y="0"/>
                </a:moveTo>
                <a:lnTo>
                  <a:pt x="387096" y="0"/>
                </a:lnTo>
                <a:lnTo>
                  <a:pt x="387096" y="12192"/>
                </a:lnTo>
                <a:lnTo>
                  <a:pt x="438912" y="12192"/>
                </a:lnTo>
                <a:lnTo>
                  <a:pt x="438912" y="0"/>
                </a:lnTo>
                <a:close/>
              </a:path>
              <a:path w="690879" h="165100">
                <a:moveTo>
                  <a:pt x="527304" y="0"/>
                </a:moveTo>
                <a:lnTo>
                  <a:pt x="477012" y="0"/>
                </a:lnTo>
                <a:lnTo>
                  <a:pt x="477012" y="12192"/>
                </a:lnTo>
                <a:lnTo>
                  <a:pt x="527304" y="12192"/>
                </a:lnTo>
                <a:lnTo>
                  <a:pt x="527304" y="0"/>
                </a:lnTo>
                <a:close/>
              </a:path>
              <a:path w="690879" h="165100">
                <a:moveTo>
                  <a:pt x="615696" y="0"/>
                </a:moveTo>
                <a:lnTo>
                  <a:pt x="565404" y="0"/>
                </a:lnTo>
                <a:lnTo>
                  <a:pt x="565404" y="12192"/>
                </a:lnTo>
                <a:lnTo>
                  <a:pt x="615696" y="12192"/>
                </a:lnTo>
                <a:lnTo>
                  <a:pt x="615696" y="0"/>
                </a:lnTo>
                <a:close/>
              </a:path>
              <a:path w="690879" h="165100">
                <a:moveTo>
                  <a:pt x="676656" y="6096"/>
                </a:moveTo>
                <a:lnTo>
                  <a:pt x="676656" y="27432"/>
                </a:lnTo>
                <a:lnTo>
                  <a:pt x="690372" y="27432"/>
                </a:lnTo>
                <a:lnTo>
                  <a:pt x="690372" y="12192"/>
                </a:lnTo>
                <a:lnTo>
                  <a:pt x="684276" y="12192"/>
                </a:lnTo>
                <a:lnTo>
                  <a:pt x="676656" y="6096"/>
                </a:lnTo>
                <a:close/>
              </a:path>
              <a:path w="690879" h="165100">
                <a:moveTo>
                  <a:pt x="687324" y="0"/>
                </a:moveTo>
                <a:lnTo>
                  <a:pt x="653796" y="0"/>
                </a:lnTo>
                <a:lnTo>
                  <a:pt x="653796" y="12192"/>
                </a:lnTo>
                <a:lnTo>
                  <a:pt x="676656" y="12192"/>
                </a:lnTo>
                <a:lnTo>
                  <a:pt x="676656" y="6096"/>
                </a:lnTo>
                <a:lnTo>
                  <a:pt x="690372" y="6096"/>
                </a:lnTo>
                <a:lnTo>
                  <a:pt x="690372" y="3048"/>
                </a:lnTo>
                <a:lnTo>
                  <a:pt x="687324" y="0"/>
                </a:lnTo>
                <a:close/>
              </a:path>
              <a:path w="690879" h="165100">
                <a:moveTo>
                  <a:pt x="690372" y="6096"/>
                </a:moveTo>
                <a:lnTo>
                  <a:pt x="676656" y="6096"/>
                </a:lnTo>
                <a:lnTo>
                  <a:pt x="684276" y="12192"/>
                </a:lnTo>
                <a:lnTo>
                  <a:pt x="690372" y="12192"/>
                </a:lnTo>
                <a:lnTo>
                  <a:pt x="690372" y="6096"/>
                </a:lnTo>
                <a:close/>
              </a:path>
              <a:path w="690879" h="165100">
                <a:moveTo>
                  <a:pt x="690372" y="65532"/>
                </a:moveTo>
                <a:lnTo>
                  <a:pt x="676656" y="65532"/>
                </a:lnTo>
                <a:lnTo>
                  <a:pt x="676656" y="115824"/>
                </a:lnTo>
                <a:lnTo>
                  <a:pt x="690372" y="115824"/>
                </a:lnTo>
                <a:lnTo>
                  <a:pt x="690372" y="65532"/>
                </a:lnTo>
                <a:close/>
              </a:path>
              <a:path w="690879" h="165100">
                <a:moveTo>
                  <a:pt x="684276" y="152400"/>
                </a:moveTo>
                <a:lnTo>
                  <a:pt x="637032" y="152400"/>
                </a:lnTo>
                <a:lnTo>
                  <a:pt x="637032" y="164592"/>
                </a:lnTo>
                <a:lnTo>
                  <a:pt x="687324" y="164592"/>
                </a:lnTo>
                <a:lnTo>
                  <a:pt x="690372" y="161544"/>
                </a:lnTo>
                <a:lnTo>
                  <a:pt x="690372" y="158496"/>
                </a:lnTo>
                <a:lnTo>
                  <a:pt x="676656" y="158496"/>
                </a:lnTo>
                <a:lnTo>
                  <a:pt x="676656" y="153924"/>
                </a:lnTo>
                <a:lnTo>
                  <a:pt x="682371" y="153924"/>
                </a:lnTo>
                <a:lnTo>
                  <a:pt x="684276" y="152400"/>
                </a:lnTo>
                <a:close/>
              </a:path>
              <a:path w="690879" h="165100">
                <a:moveTo>
                  <a:pt x="682371" y="153924"/>
                </a:moveTo>
                <a:lnTo>
                  <a:pt x="676656" y="153924"/>
                </a:lnTo>
                <a:lnTo>
                  <a:pt x="676656" y="158496"/>
                </a:lnTo>
                <a:lnTo>
                  <a:pt x="682371" y="153924"/>
                </a:lnTo>
                <a:close/>
              </a:path>
              <a:path w="690879" h="165100">
                <a:moveTo>
                  <a:pt x="690372" y="153924"/>
                </a:moveTo>
                <a:lnTo>
                  <a:pt x="682371" y="153924"/>
                </a:lnTo>
                <a:lnTo>
                  <a:pt x="676656" y="158496"/>
                </a:lnTo>
                <a:lnTo>
                  <a:pt x="690372" y="158496"/>
                </a:lnTo>
                <a:lnTo>
                  <a:pt x="690372" y="153924"/>
                </a:lnTo>
                <a:close/>
              </a:path>
              <a:path w="690879" h="165100">
                <a:moveTo>
                  <a:pt x="598932" y="152400"/>
                </a:moveTo>
                <a:lnTo>
                  <a:pt x="548640" y="152400"/>
                </a:lnTo>
                <a:lnTo>
                  <a:pt x="548640" y="164592"/>
                </a:lnTo>
                <a:lnTo>
                  <a:pt x="598932" y="164592"/>
                </a:lnTo>
                <a:lnTo>
                  <a:pt x="598932" y="152400"/>
                </a:lnTo>
                <a:close/>
              </a:path>
              <a:path w="690879" h="165100">
                <a:moveTo>
                  <a:pt x="510540" y="152400"/>
                </a:moveTo>
                <a:lnTo>
                  <a:pt x="458724" y="152400"/>
                </a:lnTo>
                <a:lnTo>
                  <a:pt x="458724" y="164592"/>
                </a:lnTo>
                <a:lnTo>
                  <a:pt x="510540" y="164592"/>
                </a:lnTo>
                <a:lnTo>
                  <a:pt x="510540" y="152400"/>
                </a:lnTo>
                <a:close/>
              </a:path>
              <a:path w="690879" h="165100">
                <a:moveTo>
                  <a:pt x="420624" y="152400"/>
                </a:moveTo>
                <a:lnTo>
                  <a:pt x="370332" y="152400"/>
                </a:lnTo>
                <a:lnTo>
                  <a:pt x="370332" y="164592"/>
                </a:lnTo>
                <a:lnTo>
                  <a:pt x="420624" y="164592"/>
                </a:lnTo>
                <a:lnTo>
                  <a:pt x="420624" y="152400"/>
                </a:lnTo>
                <a:close/>
              </a:path>
              <a:path w="690879" h="165100">
                <a:moveTo>
                  <a:pt x="332232" y="152400"/>
                </a:moveTo>
                <a:lnTo>
                  <a:pt x="281940" y="152400"/>
                </a:lnTo>
                <a:lnTo>
                  <a:pt x="281940" y="164592"/>
                </a:lnTo>
                <a:lnTo>
                  <a:pt x="332232" y="164592"/>
                </a:lnTo>
                <a:lnTo>
                  <a:pt x="332232" y="152400"/>
                </a:lnTo>
                <a:close/>
              </a:path>
              <a:path w="690879" h="165100">
                <a:moveTo>
                  <a:pt x="243840" y="152400"/>
                </a:moveTo>
                <a:lnTo>
                  <a:pt x="192024" y="152400"/>
                </a:lnTo>
                <a:lnTo>
                  <a:pt x="192024" y="164592"/>
                </a:lnTo>
                <a:lnTo>
                  <a:pt x="243840" y="164592"/>
                </a:lnTo>
                <a:lnTo>
                  <a:pt x="243840" y="152400"/>
                </a:lnTo>
                <a:close/>
              </a:path>
              <a:path w="690879" h="165100">
                <a:moveTo>
                  <a:pt x="153924" y="152400"/>
                </a:moveTo>
                <a:lnTo>
                  <a:pt x="103632" y="152400"/>
                </a:lnTo>
                <a:lnTo>
                  <a:pt x="103632" y="164592"/>
                </a:lnTo>
                <a:lnTo>
                  <a:pt x="153924" y="164592"/>
                </a:lnTo>
                <a:lnTo>
                  <a:pt x="153924" y="152400"/>
                </a:lnTo>
                <a:close/>
              </a:path>
              <a:path w="690879" h="165100">
                <a:moveTo>
                  <a:pt x="65532" y="152400"/>
                </a:moveTo>
                <a:lnTo>
                  <a:pt x="15240" y="152400"/>
                </a:lnTo>
                <a:lnTo>
                  <a:pt x="15240" y="164592"/>
                </a:lnTo>
                <a:lnTo>
                  <a:pt x="65532" y="164592"/>
                </a:lnTo>
                <a:lnTo>
                  <a:pt x="65532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55501" y="871799"/>
            <a:ext cx="998855" cy="551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Sigmoid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94945">
              <a:lnSpc>
                <a:spcPct val="100000"/>
              </a:lnSpc>
              <a:spcBef>
                <a:spcPts val="1015"/>
              </a:spcBef>
            </a:pPr>
            <a:r>
              <a:rPr sz="1200" spc="-5" dirty="0">
                <a:latin typeface="Cambria Math" panose="02040503050406030204"/>
                <a:cs typeface="Cambria Math" panose="02040503050406030204"/>
              </a:rPr>
              <a:t>1/(1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4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217" baseline="29000" dirty="0">
                <a:latin typeface="Cambria Math" panose="02040503050406030204"/>
                <a:cs typeface="Cambria Math" panose="02040503050406030204"/>
              </a:rPr>
              <a:t>-x</a:t>
            </a:r>
            <a:r>
              <a:rPr sz="1200" spc="145" dirty="0">
                <a:latin typeface="Cambria Math" panose="02040503050406030204"/>
                <a:cs typeface="Cambria Math" panose="02040503050406030204"/>
              </a:rPr>
              <a:t>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054" y="2101590"/>
            <a:ext cx="69786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tanh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11125">
              <a:lnSpc>
                <a:spcPct val="100000"/>
              </a:lnSpc>
              <a:spcBef>
                <a:spcPts val="45"/>
              </a:spcBef>
            </a:pPr>
            <a:r>
              <a:rPr sz="1800" spc="150" baseline="-21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1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baseline="-21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800" spc="-52" baseline="-2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262" baseline="-21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175" dirty="0">
                <a:latin typeface="Cambria Math" panose="02040503050406030204"/>
                <a:cs typeface="Cambria Math" panose="02040503050406030204"/>
              </a:rPr>
              <a:t>-x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2588" y="2549653"/>
            <a:ext cx="595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7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8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baseline="-16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800" spc="-2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262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175" dirty="0">
                <a:latin typeface="Cambria Math" panose="02040503050406030204"/>
                <a:cs typeface="Cambria Math" panose="02040503050406030204"/>
              </a:rPr>
              <a:t>-x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3764" y="2614971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369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83294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7522" y="913313"/>
            <a:ext cx="393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 panose="020F0502020204030204"/>
                <a:cs typeface="Calibri" panose="020F0502020204030204"/>
              </a:rPr>
              <a:t>R</a:t>
            </a:r>
            <a:r>
              <a:rPr sz="1400" dirty="0">
                <a:latin typeface="Calibri" panose="020F0502020204030204"/>
                <a:cs typeface="Calibri" panose="020F0502020204030204"/>
              </a:rPr>
              <a:t>e</a:t>
            </a:r>
            <a:r>
              <a:rPr sz="1400" spc="-45" dirty="0">
                <a:latin typeface="Calibri" panose="020F0502020204030204"/>
                <a:cs typeface="Calibri" panose="020F0502020204030204"/>
              </a:rPr>
              <a:t>L</a:t>
            </a:r>
            <a:r>
              <a:rPr sz="1400" dirty="0">
                <a:latin typeface="Calibri" panose="020F0502020204030204"/>
                <a:cs typeface="Calibri" panose="020F0502020204030204"/>
              </a:rPr>
              <a:t>U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75478" y="643827"/>
            <a:ext cx="998582" cy="69943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5471" y="1986458"/>
            <a:ext cx="1064948" cy="699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43627" y="843494"/>
            <a:ext cx="1064556" cy="7332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92438" y="2157121"/>
            <a:ext cx="1099239" cy="7319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5501" y="867488"/>
            <a:ext cx="998855" cy="54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Sigmoid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94945">
              <a:lnSpc>
                <a:spcPct val="100000"/>
              </a:lnSpc>
              <a:spcBef>
                <a:spcPts val="1010"/>
              </a:spcBef>
            </a:pPr>
            <a:r>
              <a:rPr sz="1200" i="1" spc="-5" dirty="0">
                <a:latin typeface="Cambria Math" panose="02040503050406030204"/>
                <a:cs typeface="Cambria Math" panose="02040503050406030204"/>
              </a:rPr>
              <a:t>1/(1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4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217" baseline="29000" dirty="0">
                <a:latin typeface="Cambria Math" panose="02040503050406030204"/>
                <a:cs typeface="Cambria Math" panose="02040503050406030204"/>
              </a:rPr>
              <a:t>-x</a:t>
            </a:r>
            <a:r>
              <a:rPr sz="1200" i="1" spc="145" dirty="0">
                <a:latin typeface="Cambria Math" panose="02040503050406030204"/>
                <a:cs typeface="Cambria Math" panose="02040503050406030204"/>
              </a:rPr>
              <a:t>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7104" y="1273029"/>
            <a:ext cx="651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</a:t>
            </a:r>
            <a:r>
              <a:rPr sz="1200" i="1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054" y="2095852"/>
            <a:ext cx="69786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tanh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11125">
              <a:lnSpc>
                <a:spcPct val="100000"/>
              </a:lnSpc>
              <a:spcBef>
                <a:spcPts val="45"/>
              </a:spcBef>
            </a:pPr>
            <a:r>
              <a:rPr sz="1800" i="1" spc="150" baseline="-21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1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-21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800" i="1" spc="-52" baseline="-2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262" baseline="-21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175" dirty="0">
                <a:latin typeface="Cambria Math" panose="02040503050406030204"/>
                <a:cs typeface="Cambria Math" panose="02040503050406030204"/>
              </a:rPr>
              <a:t>-x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588" y="2543987"/>
            <a:ext cx="595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127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8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-16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800" i="1" spc="-2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262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175" dirty="0">
                <a:latin typeface="Cambria Math" panose="02040503050406030204"/>
                <a:cs typeface="Cambria Math" panose="02040503050406030204"/>
              </a:rPr>
              <a:t>-x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3764" y="2609247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3692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47319" y="1860200"/>
            <a:ext cx="2766060" cy="1297305"/>
          </a:xfrm>
          <a:prstGeom prst="rect">
            <a:avLst/>
          </a:prstGeom>
          <a:ln w="18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93040">
              <a:lnSpc>
                <a:spcPct val="100000"/>
              </a:lnSpc>
              <a:spcBef>
                <a:spcPts val="91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Leaky</a:t>
            </a:r>
            <a:r>
              <a:rPr sz="1400" spc="-18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5" dirty="0">
                <a:latin typeface="Calibri" panose="020F0502020204030204"/>
                <a:cs typeface="Calibri" panose="020F0502020204030204"/>
              </a:rPr>
              <a:t>ReLU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85420">
              <a:lnSpc>
                <a:spcPct val="100000"/>
              </a:lnSpc>
              <a:spcBef>
                <a:spcPts val="475"/>
              </a:spcBef>
            </a:pPr>
            <a:r>
              <a:rPr sz="1200" i="1" spc="5" dirty="0">
                <a:latin typeface="Cambria Math" panose="02040503050406030204"/>
                <a:cs typeface="Cambria Math" panose="02040503050406030204"/>
              </a:rPr>
              <a:t>max(0.1x,</a:t>
            </a:r>
            <a:r>
              <a:rPr sz="1200" i="1" spc="-1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936273" y="105679"/>
            <a:ext cx="1978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常用的激活函数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03679" y="1433481"/>
            <a:ext cx="690880" cy="165100"/>
          </a:xfrm>
          <a:custGeom>
            <a:avLst/>
            <a:gdLst/>
            <a:ahLst/>
            <a:cxnLst/>
            <a:rect l="l" t="t" r="r" b="b"/>
            <a:pathLst>
              <a:path w="690879" h="165100">
                <a:moveTo>
                  <a:pt x="12192" y="106679"/>
                </a:moveTo>
                <a:lnTo>
                  <a:pt x="0" y="106679"/>
                </a:lnTo>
                <a:lnTo>
                  <a:pt x="0" y="158496"/>
                </a:lnTo>
                <a:lnTo>
                  <a:pt x="12192" y="158496"/>
                </a:lnTo>
                <a:lnTo>
                  <a:pt x="12192" y="106679"/>
                </a:lnTo>
                <a:close/>
              </a:path>
              <a:path w="690879" h="165100">
                <a:moveTo>
                  <a:pt x="12192" y="18288"/>
                </a:moveTo>
                <a:lnTo>
                  <a:pt x="0" y="18288"/>
                </a:lnTo>
                <a:lnTo>
                  <a:pt x="0" y="68579"/>
                </a:lnTo>
                <a:lnTo>
                  <a:pt x="12192" y="68579"/>
                </a:lnTo>
                <a:lnTo>
                  <a:pt x="12192" y="18288"/>
                </a:lnTo>
                <a:close/>
              </a:path>
              <a:path w="690879" h="165100">
                <a:moveTo>
                  <a:pt x="82296" y="0"/>
                </a:moveTo>
                <a:lnTo>
                  <a:pt x="32004" y="0"/>
                </a:lnTo>
                <a:lnTo>
                  <a:pt x="32004" y="12192"/>
                </a:lnTo>
                <a:lnTo>
                  <a:pt x="82296" y="12192"/>
                </a:lnTo>
                <a:lnTo>
                  <a:pt x="82296" y="0"/>
                </a:lnTo>
                <a:close/>
              </a:path>
              <a:path w="690879" h="165100">
                <a:moveTo>
                  <a:pt x="172212" y="0"/>
                </a:moveTo>
                <a:lnTo>
                  <a:pt x="120396" y="0"/>
                </a:lnTo>
                <a:lnTo>
                  <a:pt x="120396" y="12192"/>
                </a:lnTo>
                <a:lnTo>
                  <a:pt x="172212" y="12192"/>
                </a:lnTo>
                <a:lnTo>
                  <a:pt x="172212" y="0"/>
                </a:lnTo>
                <a:close/>
              </a:path>
              <a:path w="690879" h="165100">
                <a:moveTo>
                  <a:pt x="260604" y="0"/>
                </a:moveTo>
                <a:lnTo>
                  <a:pt x="210312" y="0"/>
                </a:lnTo>
                <a:lnTo>
                  <a:pt x="210312" y="12192"/>
                </a:lnTo>
                <a:lnTo>
                  <a:pt x="260604" y="12192"/>
                </a:lnTo>
                <a:lnTo>
                  <a:pt x="260604" y="0"/>
                </a:lnTo>
                <a:close/>
              </a:path>
              <a:path w="690879" h="165100">
                <a:moveTo>
                  <a:pt x="348996" y="0"/>
                </a:moveTo>
                <a:lnTo>
                  <a:pt x="298704" y="0"/>
                </a:lnTo>
                <a:lnTo>
                  <a:pt x="298704" y="12192"/>
                </a:lnTo>
                <a:lnTo>
                  <a:pt x="348996" y="12192"/>
                </a:lnTo>
                <a:lnTo>
                  <a:pt x="348996" y="0"/>
                </a:lnTo>
                <a:close/>
              </a:path>
              <a:path w="690879" h="165100">
                <a:moveTo>
                  <a:pt x="438912" y="0"/>
                </a:moveTo>
                <a:lnTo>
                  <a:pt x="387096" y="0"/>
                </a:lnTo>
                <a:lnTo>
                  <a:pt x="387096" y="12192"/>
                </a:lnTo>
                <a:lnTo>
                  <a:pt x="438912" y="12192"/>
                </a:lnTo>
                <a:lnTo>
                  <a:pt x="438912" y="0"/>
                </a:lnTo>
                <a:close/>
              </a:path>
              <a:path w="690879" h="165100">
                <a:moveTo>
                  <a:pt x="527304" y="0"/>
                </a:moveTo>
                <a:lnTo>
                  <a:pt x="477012" y="0"/>
                </a:lnTo>
                <a:lnTo>
                  <a:pt x="477012" y="12192"/>
                </a:lnTo>
                <a:lnTo>
                  <a:pt x="527304" y="12192"/>
                </a:lnTo>
                <a:lnTo>
                  <a:pt x="527304" y="0"/>
                </a:lnTo>
                <a:close/>
              </a:path>
              <a:path w="690879" h="165100">
                <a:moveTo>
                  <a:pt x="615696" y="0"/>
                </a:moveTo>
                <a:lnTo>
                  <a:pt x="565404" y="0"/>
                </a:lnTo>
                <a:lnTo>
                  <a:pt x="565404" y="12192"/>
                </a:lnTo>
                <a:lnTo>
                  <a:pt x="615696" y="12192"/>
                </a:lnTo>
                <a:lnTo>
                  <a:pt x="615696" y="0"/>
                </a:lnTo>
                <a:close/>
              </a:path>
              <a:path w="690879" h="165100">
                <a:moveTo>
                  <a:pt x="676656" y="6096"/>
                </a:moveTo>
                <a:lnTo>
                  <a:pt x="676656" y="27432"/>
                </a:lnTo>
                <a:lnTo>
                  <a:pt x="690372" y="27432"/>
                </a:lnTo>
                <a:lnTo>
                  <a:pt x="690372" y="12192"/>
                </a:lnTo>
                <a:lnTo>
                  <a:pt x="684276" y="12192"/>
                </a:lnTo>
                <a:lnTo>
                  <a:pt x="676656" y="6096"/>
                </a:lnTo>
                <a:close/>
              </a:path>
              <a:path w="690879" h="165100">
                <a:moveTo>
                  <a:pt x="687324" y="0"/>
                </a:moveTo>
                <a:lnTo>
                  <a:pt x="653796" y="0"/>
                </a:lnTo>
                <a:lnTo>
                  <a:pt x="653796" y="12192"/>
                </a:lnTo>
                <a:lnTo>
                  <a:pt x="676656" y="12192"/>
                </a:lnTo>
                <a:lnTo>
                  <a:pt x="676656" y="6096"/>
                </a:lnTo>
                <a:lnTo>
                  <a:pt x="690372" y="6096"/>
                </a:lnTo>
                <a:lnTo>
                  <a:pt x="690372" y="3048"/>
                </a:lnTo>
                <a:lnTo>
                  <a:pt x="687324" y="0"/>
                </a:lnTo>
                <a:close/>
              </a:path>
              <a:path w="690879" h="165100">
                <a:moveTo>
                  <a:pt x="690372" y="6096"/>
                </a:moveTo>
                <a:lnTo>
                  <a:pt x="676656" y="6096"/>
                </a:lnTo>
                <a:lnTo>
                  <a:pt x="684276" y="12192"/>
                </a:lnTo>
                <a:lnTo>
                  <a:pt x="690372" y="12192"/>
                </a:lnTo>
                <a:lnTo>
                  <a:pt x="690372" y="6096"/>
                </a:lnTo>
                <a:close/>
              </a:path>
              <a:path w="690879" h="165100">
                <a:moveTo>
                  <a:pt x="690372" y="65532"/>
                </a:moveTo>
                <a:lnTo>
                  <a:pt x="676656" y="65532"/>
                </a:lnTo>
                <a:lnTo>
                  <a:pt x="676656" y="115824"/>
                </a:lnTo>
                <a:lnTo>
                  <a:pt x="690372" y="115824"/>
                </a:lnTo>
                <a:lnTo>
                  <a:pt x="690372" y="65532"/>
                </a:lnTo>
                <a:close/>
              </a:path>
              <a:path w="690879" h="165100">
                <a:moveTo>
                  <a:pt x="684276" y="152400"/>
                </a:moveTo>
                <a:lnTo>
                  <a:pt x="637032" y="152400"/>
                </a:lnTo>
                <a:lnTo>
                  <a:pt x="637032" y="164592"/>
                </a:lnTo>
                <a:lnTo>
                  <a:pt x="687324" y="164592"/>
                </a:lnTo>
                <a:lnTo>
                  <a:pt x="690372" y="161544"/>
                </a:lnTo>
                <a:lnTo>
                  <a:pt x="690372" y="158496"/>
                </a:lnTo>
                <a:lnTo>
                  <a:pt x="676656" y="158496"/>
                </a:lnTo>
                <a:lnTo>
                  <a:pt x="676656" y="153924"/>
                </a:lnTo>
                <a:lnTo>
                  <a:pt x="682371" y="153924"/>
                </a:lnTo>
                <a:lnTo>
                  <a:pt x="684276" y="152400"/>
                </a:lnTo>
                <a:close/>
              </a:path>
              <a:path w="690879" h="165100">
                <a:moveTo>
                  <a:pt x="682371" y="153924"/>
                </a:moveTo>
                <a:lnTo>
                  <a:pt x="676656" y="153924"/>
                </a:lnTo>
                <a:lnTo>
                  <a:pt x="676656" y="158496"/>
                </a:lnTo>
                <a:lnTo>
                  <a:pt x="682371" y="153924"/>
                </a:lnTo>
                <a:close/>
              </a:path>
              <a:path w="690879" h="165100">
                <a:moveTo>
                  <a:pt x="690372" y="153924"/>
                </a:moveTo>
                <a:lnTo>
                  <a:pt x="682371" y="153924"/>
                </a:lnTo>
                <a:lnTo>
                  <a:pt x="676656" y="158496"/>
                </a:lnTo>
                <a:lnTo>
                  <a:pt x="690372" y="158496"/>
                </a:lnTo>
                <a:lnTo>
                  <a:pt x="690372" y="153924"/>
                </a:lnTo>
                <a:close/>
              </a:path>
              <a:path w="690879" h="165100">
                <a:moveTo>
                  <a:pt x="598932" y="152400"/>
                </a:moveTo>
                <a:lnTo>
                  <a:pt x="548640" y="152400"/>
                </a:lnTo>
                <a:lnTo>
                  <a:pt x="548640" y="164592"/>
                </a:lnTo>
                <a:lnTo>
                  <a:pt x="598932" y="164592"/>
                </a:lnTo>
                <a:lnTo>
                  <a:pt x="598932" y="152400"/>
                </a:lnTo>
                <a:close/>
              </a:path>
              <a:path w="690879" h="165100">
                <a:moveTo>
                  <a:pt x="510540" y="152400"/>
                </a:moveTo>
                <a:lnTo>
                  <a:pt x="458724" y="152400"/>
                </a:lnTo>
                <a:lnTo>
                  <a:pt x="458724" y="164592"/>
                </a:lnTo>
                <a:lnTo>
                  <a:pt x="510540" y="164592"/>
                </a:lnTo>
                <a:lnTo>
                  <a:pt x="510540" y="152400"/>
                </a:lnTo>
                <a:close/>
              </a:path>
              <a:path w="690879" h="165100">
                <a:moveTo>
                  <a:pt x="420624" y="152400"/>
                </a:moveTo>
                <a:lnTo>
                  <a:pt x="370332" y="152400"/>
                </a:lnTo>
                <a:lnTo>
                  <a:pt x="370332" y="164592"/>
                </a:lnTo>
                <a:lnTo>
                  <a:pt x="420624" y="164592"/>
                </a:lnTo>
                <a:lnTo>
                  <a:pt x="420624" y="152400"/>
                </a:lnTo>
                <a:close/>
              </a:path>
              <a:path w="690879" h="165100">
                <a:moveTo>
                  <a:pt x="332232" y="152400"/>
                </a:moveTo>
                <a:lnTo>
                  <a:pt x="281940" y="152400"/>
                </a:lnTo>
                <a:lnTo>
                  <a:pt x="281940" y="164592"/>
                </a:lnTo>
                <a:lnTo>
                  <a:pt x="332232" y="164592"/>
                </a:lnTo>
                <a:lnTo>
                  <a:pt x="332232" y="152400"/>
                </a:lnTo>
                <a:close/>
              </a:path>
              <a:path w="690879" h="165100">
                <a:moveTo>
                  <a:pt x="243840" y="152400"/>
                </a:moveTo>
                <a:lnTo>
                  <a:pt x="192024" y="152400"/>
                </a:lnTo>
                <a:lnTo>
                  <a:pt x="192024" y="164592"/>
                </a:lnTo>
                <a:lnTo>
                  <a:pt x="243840" y="164592"/>
                </a:lnTo>
                <a:lnTo>
                  <a:pt x="243840" y="152400"/>
                </a:lnTo>
                <a:close/>
              </a:path>
              <a:path w="690879" h="165100">
                <a:moveTo>
                  <a:pt x="153924" y="152400"/>
                </a:moveTo>
                <a:lnTo>
                  <a:pt x="103632" y="152400"/>
                </a:lnTo>
                <a:lnTo>
                  <a:pt x="103632" y="164592"/>
                </a:lnTo>
                <a:lnTo>
                  <a:pt x="153924" y="164592"/>
                </a:lnTo>
                <a:lnTo>
                  <a:pt x="153924" y="152400"/>
                </a:lnTo>
                <a:close/>
              </a:path>
              <a:path w="690879" h="165100">
                <a:moveTo>
                  <a:pt x="65532" y="152400"/>
                </a:moveTo>
                <a:lnTo>
                  <a:pt x="15240" y="152400"/>
                </a:lnTo>
                <a:lnTo>
                  <a:pt x="15240" y="164592"/>
                </a:lnTo>
                <a:lnTo>
                  <a:pt x="65532" y="164592"/>
                </a:lnTo>
                <a:lnTo>
                  <a:pt x="65532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60067" y="2707545"/>
            <a:ext cx="690880" cy="166370"/>
          </a:xfrm>
          <a:custGeom>
            <a:avLst/>
            <a:gdLst/>
            <a:ahLst/>
            <a:cxnLst/>
            <a:rect l="l" t="t" r="r" b="b"/>
            <a:pathLst>
              <a:path w="690879" h="166369">
                <a:moveTo>
                  <a:pt x="12192" y="108203"/>
                </a:moveTo>
                <a:lnTo>
                  <a:pt x="0" y="108203"/>
                </a:lnTo>
                <a:lnTo>
                  <a:pt x="0" y="158496"/>
                </a:lnTo>
                <a:lnTo>
                  <a:pt x="12192" y="158496"/>
                </a:lnTo>
                <a:lnTo>
                  <a:pt x="12192" y="108203"/>
                </a:lnTo>
                <a:close/>
              </a:path>
              <a:path w="690879" h="166369">
                <a:moveTo>
                  <a:pt x="12192" y="19811"/>
                </a:moveTo>
                <a:lnTo>
                  <a:pt x="0" y="19811"/>
                </a:lnTo>
                <a:lnTo>
                  <a:pt x="0" y="70103"/>
                </a:lnTo>
                <a:lnTo>
                  <a:pt x="12192" y="70103"/>
                </a:lnTo>
                <a:lnTo>
                  <a:pt x="12192" y="19811"/>
                </a:lnTo>
                <a:close/>
              </a:path>
              <a:path w="690879" h="166369">
                <a:moveTo>
                  <a:pt x="82296" y="0"/>
                </a:moveTo>
                <a:lnTo>
                  <a:pt x="32004" y="0"/>
                </a:lnTo>
                <a:lnTo>
                  <a:pt x="32004" y="13715"/>
                </a:lnTo>
                <a:lnTo>
                  <a:pt x="82296" y="13715"/>
                </a:lnTo>
                <a:lnTo>
                  <a:pt x="82296" y="0"/>
                </a:lnTo>
                <a:close/>
              </a:path>
              <a:path w="690879" h="166369">
                <a:moveTo>
                  <a:pt x="170687" y="0"/>
                </a:moveTo>
                <a:lnTo>
                  <a:pt x="120396" y="0"/>
                </a:lnTo>
                <a:lnTo>
                  <a:pt x="120396" y="13715"/>
                </a:lnTo>
                <a:lnTo>
                  <a:pt x="170687" y="13715"/>
                </a:lnTo>
                <a:lnTo>
                  <a:pt x="170687" y="0"/>
                </a:lnTo>
                <a:close/>
              </a:path>
              <a:path w="690879" h="166369">
                <a:moveTo>
                  <a:pt x="260604" y="0"/>
                </a:moveTo>
                <a:lnTo>
                  <a:pt x="208787" y="0"/>
                </a:lnTo>
                <a:lnTo>
                  <a:pt x="208787" y="13715"/>
                </a:lnTo>
                <a:lnTo>
                  <a:pt x="260604" y="13715"/>
                </a:lnTo>
                <a:lnTo>
                  <a:pt x="260604" y="0"/>
                </a:lnTo>
                <a:close/>
              </a:path>
              <a:path w="690879" h="166369">
                <a:moveTo>
                  <a:pt x="348996" y="0"/>
                </a:moveTo>
                <a:lnTo>
                  <a:pt x="298704" y="0"/>
                </a:lnTo>
                <a:lnTo>
                  <a:pt x="298704" y="13715"/>
                </a:lnTo>
                <a:lnTo>
                  <a:pt x="348996" y="13715"/>
                </a:lnTo>
                <a:lnTo>
                  <a:pt x="348996" y="0"/>
                </a:lnTo>
                <a:close/>
              </a:path>
              <a:path w="690879" h="166369">
                <a:moveTo>
                  <a:pt x="437388" y="0"/>
                </a:moveTo>
                <a:lnTo>
                  <a:pt x="387096" y="0"/>
                </a:lnTo>
                <a:lnTo>
                  <a:pt x="387096" y="13715"/>
                </a:lnTo>
                <a:lnTo>
                  <a:pt x="437388" y="13715"/>
                </a:lnTo>
                <a:lnTo>
                  <a:pt x="437388" y="0"/>
                </a:lnTo>
                <a:close/>
              </a:path>
              <a:path w="690879" h="166369">
                <a:moveTo>
                  <a:pt x="527304" y="0"/>
                </a:moveTo>
                <a:lnTo>
                  <a:pt x="475488" y="0"/>
                </a:lnTo>
                <a:lnTo>
                  <a:pt x="475488" y="13715"/>
                </a:lnTo>
                <a:lnTo>
                  <a:pt x="527304" y="13715"/>
                </a:lnTo>
                <a:lnTo>
                  <a:pt x="527304" y="0"/>
                </a:lnTo>
                <a:close/>
              </a:path>
              <a:path w="690879" h="166369">
                <a:moveTo>
                  <a:pt x="615696" y="0"/>
                </a:moveTo>
                <a:lnTo>
                  <a:pt x="565404" y="0"/>
                </a:lnTo>
                <a:lnTo>
                  <a:pt x="565404" y="13715"/>
                </a:lnTo>
                <a:lnTo>
                  <a:pt x="615696" y="13715"/>
                </a:lnTo>
                <a:lnTo>
                  <a:pt x="615696" y="0"/>
                </a:lnTo>
                <a:close/>
              </a:path>
              <a:path w="690879" h="166369">
                <a:moveTo>
                  <a:pt x="676656" y="6096"/>
                </a:moveTo>
                <a:lnTo>
                  <a:pt x="676656" y="27431"/>
                </a:lnTo>
                <a:lnTo>
                  <a:pt x="690372" y="27431"/>
                </a:lnTo>
                <a:lnTo>
                  <a:pt x="690372" y="13715"/>
                </a:lnTo>
                <a:lnTo>
                  <a:pt x="682752" y="13715"/>
                </a:lnTo>
                <a:lnTo>
                  <a:pt x="676656" y="6096"/>
                </a:lnTo>
                <a:close/>
              </a:path>
              <a:path w="690879" h="166369">
                <a:moveTo>
                  <a:pt x="687324" y="0"/>
                </a:moveTo>
                <a:lnTo>
                  <a:pt x="653796" y="0"/>
                </a:lnTo>
                <a:lnTo>
                  <a:pt x="653796" y="13715"/>
                </a:lnTo>
                <a:lnTo>
                  <a:pt x="676656" y="13715"/>
                </a:lnTo>
                <a:lnTo>
                  <a:pt x="676656" y="6096"/>
                </a:lnTo>
                <a:lnTo>
                  <a:pt x="690372" y="6096"/>
                </a:lnTo>
                <a:lnTo>
                  <a:pt x="690372" y="3048"/>
                </a:lnTo>
                <a:lnTo>
                  <a:pt x="687324" y="0"/>
                </a:lnTo>
                <a:close/>
              </a:path>
              <a:path w="690879" h="166369">
                <a:moveTo>
                  <a:pt x="690372" y="6096"/>
                </a:moveTo>
                <a:lnTo>
                  <a:pt x="676656" y="6096"/>
                </a:lnTo>
                <a:lnTo>
                  <a:pt x="682752" y="13715"/>
                </a:lnTo>
                <a:lnTo>
                  <a:pt x="690372" y="13715"/>
                </a:lnTo>
                <a:lnTo>
                  <a:pt x="690372" y="6096"/>
                </a:lnTo>
                <a:close/>
              </a:path>
              <a:path w="690879" h="166369">
                <a:moveTo>
                  <a:pt x="690372" y="65531"/>
                </a:moveTo>
                <a:lnTo>
                  <a:pt x="676656" y="65531"/>
                </a:lnTo>
                <a:lnTo>
                  <a:pt x="676656" y="117348"/>
                </a:lnTo>
                <a:lnTo>
                  <a:pt x="690372" y="117348"/>
                </a:lnTo>
                <a:lnTo>
                  <a:pt x="690372" y="65531"/>
                </a:lnTo>
                <a:close/>
              </a:path>
              <a:path w="690879" h="166369">
                <a:moveTo>
                  <a:pt x="682752" y="152400"/>
                </a:moveTo>
                <a:lnTo>
                  <a:pt x="637032" y="152400"/>
                </a:lnTo>
                <a:lnTo>
                  <a:pt x="637032" y="166115"/>
                </a:lnTo>
                <a:lnTo>
                  <a:pt x="687324" y="166115"/>
                </a:lnTo>
                <a:lnTo>
                  <a:pt x="690372" y="163068"/>
                </a:lnTo>
                <a:lnTo>
                  <a:pt x="690372" y="158496"/>
                </a:lnTo>
                <a:lnTo>
                  <a:pt x="676656" y="158496"/>
                </a:lnTo>
                <a:lnTo>
                  <a:pt x="676656" y="155448"/>
                </a:lnTo>
                <a:lnTo>
                  <a:pt x="679704" y="155448"/>
                </a:lnTo>
                <a:lnTo>
                  <a:pt x="682752" y="152400"/>
                </a:lnTo>
                <a:close/>
              </a:path>
              <a:path w="690879" h="166369">
                <a:moveTo>
                  <a:pt x="679704" y="155448"/>
                </a:moveTo>
                <a:lnTo>
                  <a:pt x="676656" y="155448"/>
                </a:lnTo>
                <a:lnTo>
                  <a:pt x="676656" y="158496"/>
                </a:lnTo>
                <a:lnTo>
                  <a:pt x="679704" y="155448"/>
                </a:lnTo>
                <a:close/>
              </a:path>
              <a:path w="690879" h="166369">
                <a:moveTo>
                  <a:pt x="690372" y="155448"/>
                </a:moveTo>
                <a:lnTo>
                  <a:pt x="679704" y="155448"/>
                </a:lnTo>
                <a:lnTo>
                  <a:pt x="676656" y="158496"/>
                </a:lnTo>
                <a:lnTo>
                  <a:pt x="690372" y="158496"/>
                </a:lnTo>
                <a:lnTo>
                  <a:pt x="690372" y="155448"/>
                </a:lnTo>
                <a:close/>
              </a:path>
              <a:path w="690879" h="166369">
                <a:moveTo>
                  <a:pt x="598932" y="152400"/>
                </a:moveTo>
                <a:lnTo>
                  <a:pt x="548640" y="152400"/>
                </a:lnTo>
                <a:lnTo>
                  <a:pt x="548640" y="166115"/>
                </a:lnTo>
                <a:lnTo>
                  <a:pt x="598932" y="166115"/>
                </a:lnTo>
                <a:lnTo>
                  <a:pt x="598932" y="152400"/>
                </a:lnTo>
                <a:close/>
              </a:path>
              <a:path w="690879" h="166369">
                <a:moveTo>
                  <a:pt x="510540" y="152400"/>
                </a:moveTo>
                <a:lnTo>
                  <a:pt x="458724" y="152400"/>
                </a:lnTo>
                <a:lnTo>
                  <a:pt x="458724" y="166115"/>
                </a:lnTo>
                <a:lnTo>
                  <a:pt x="510540" y="166115"/>
                </a:lnTo>
                <a:lnTo>
                  <a:pt x="510540" y="152400"/>
                </a:lnTo>
                <a:close/>
              </a:path>
              <a:path w="690879" h="166369">
                <a:moveTo>
                  <a:pt x="420624" y="152400"/>
                </a:moveTo>
                <a:lnTo>
                  <a:pt x="370332" y="152400"/>
                </a:lnTo>
                <a:lnTo>
                  <a:pt x="370332" y="166115"/>
                </a:lnTo>
                <a:lnTo>
                  <a:pt x="420624" y="166115"/>
                </a:lnTo>
                <a:lnTo>
                  <a:pt x="420624" y="152400"/>
                </a:lnTo>
                <a:close/>
              </a:path>
              <a:path w="690879" h="166369">
                <a:moveTo>
                  <a:pt x="332232" y="152400"/>
                </a:moveTo>
                <a:lnTo>
                  <a:pt x="281940" y="152400"/>
                </a:lnTo>
                <a:lnTo>
                  <a:pt x="281940" y="166115"/>
                </a:lnTo>
                <a:lnTo>
                  <a:pt x="332232" y="166115"/>
                </a:lnTo>
                <a:lnTo>
                  <a:pt x="332232" y="152400"/>
                </a:lnTo>
                <a:close/>
              </a:path>
              <a:path w="690879" h="166369">
                <a:moveTo>
                  <a:pt x="243840" y="152400"/>
                </a:moveTo>
                <a:lnTo>
                  <a:pt x="192024" y="152400"/>
                </a:lnTo>
                <a:lnTo>
                  <a:pt x="192024" y="166115"/>
                </a:lnTo>
                <a:lnTo>
                  <a:pt x="243840" y="166115"/>
                </a:lnTo>
                <a:lnTo>
                  <a:pt x="243840" y="152400"/>
                </a:lnTo>
                <a:close/>
              </a:path>
              <a:path w="690879" h="166369">
                <a:moveTo>
                  <a:pt x="153924" y="152400"/>
                </a:moveTo>
                <a:lnTo>
                  <a:pt x="103632" y="152400"/>
                </a:lnTo>
                <a:lnTo>
                  <a:pt x="103632" y="166115"/>
                </a:lnTo>
                <a:lnTo>
                  <a:pt x="153924" y="166115"/>
                </a:lnTo>
                <a:lnTo>
                  <a:pt x="153924" y="152400"/>
                </a:lnTo>
                <a:close/>
              </a:path>
              <a:path w="690879" h="166369">
                <a:moveTo>
                  <a:pt x="65532" y="152400"/>
                </a:moveTo>
                <a:lnTo>
                  <a:pt x="15240" y="152400"/>
                </a:lnTo>
                <a:lnTo>
                  <a:pt x="15240" y="166115"/>
                </a:lnTo>
                <a:lnTo>
                  <a:pt x="65532" y="166115"/>
                </a:lnTo>
                <a:lnTo>
                  <a:pt x="65532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583294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05"/>
              </a:spcBef>
            </a:pPr>
            <a:r>
              <a:rPr b="1" spc="5" dirty="0">
                <a:latin typeface="微软雅黑" panose="020B0503020204020204" charset="-122"/>
                <a:cs typeface="微软雅黑" panose="020B0503020204020204" charset="-122"/>
              </a:rPr>
              <a:t>网络结构设计</a:t>
            </a:r>
            <a:endParaRPr b="1" spc="5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1039" y="1053201"/>
            <a:ext cx="3703320" cy="132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85420" algn="l"/>
              </a:tabLst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用不用隐层，用一个还是用几个隐层？（深度设计）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΢"/>
              <a:buAutoNum type="arabicPeriod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buAutoNum type="arabicPeriod"/>
              <a:tabLst>
                <a:tab pos="185420" algn="l"/>
              </a:tabLst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每隐层设置多少个神经元比较合适？（宽度设计）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1343025">
              <a:lnSpc>
                <a:spcPct val="100000"/>
              </a:lnSpc>
            </a:pPr>
            <a:r>
              <a:rPr sz="16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没有统一的答案！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72664" y="3245615"/>
            <a:ext cx="159385" cy="17653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9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45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760" y="964089"/>
            <a:ext cx="4523365" cy="149711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4521" y="2498214"/>
            <a:ext cx="4596130" cy="552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95"/>
              </a:spcBef>
              <a:tabLst>
                <a:tab pos="1635125" algn="l"/>
                <a:tab pos="303403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3个隐层神经元	6个隐层神经元	20个隐层神经元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经元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数越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界面</a:t>
            </a:r>
            <a:r>
              <a:rPr sz="10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就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以越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复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杂，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集合上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分类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能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力就</a:t>
            </a:r>
            <a:r>
              <a:rPr sz="1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越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强。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4150" y="3246533"/>
            <a:ext cx="1593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46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05"/>
              </a:spcBef>
            </a:pPr>
            <a:r>
              <a:rPr b="1" spc="5" dirty="0">
                <a:latin typeface="微软雅黑" panose="020B0503020204020204" charset="-122"/>
                <a:cs typeface="微软雅黑" panose="020B0503020204020204" charset="-122"/>
              </a:rPr>
              <a:t>网络结构设计</a:t>
            </a:r>
            <a:endParaRPr b="1" spc="5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652" y="946521"/>
            <a:ext cx="444500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依据分类任务的难易程度来调整神经网络模型的复杂程度。分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200000"/>
              </a:lnSpc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类任务越难，我们设计的神经网络结构就应该越深、越宽。但是， 需要注意的是对训练集分类精度最高的全连接神经网络模型，在 真实场景下识别性能未必是最好的（过拟合）</a:t>
            </a: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05"/>
              </a:spcBef>
            </a:pPr>
            <a:r>
              <a:rPr b="1" spc="5" dirty="0">
                <a:latin typeface="微软雅黑" panose="020B0503020204020204" charset="-122"/>
                <a:cs typeface="微软雅黑" panose="020B0503020204020204" charset="-122"/>
              </a:rPr>
              <a:t>网络结构设计</a:t>
            </a:r>
            <a:endParaRPr b="1" spc="5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72664" y="3245615"/>
            <a:ext cx="159385" cy="17653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9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47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1459" y="142144"/>
            <a:ext cx="208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全连接神经网络小结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3501" y="1016866"/>
            <a:ext cx="388112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组成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出层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及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多个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隐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132715" indent="-172085">
              <a:lnSpc>
                <a:spcPct val="25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输出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元个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由任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决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而隐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及每个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人为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指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5080" indent="-172085">
              <a:lnSpc>
                <a:spcPct val="25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接神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重要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部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少了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将退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为线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分类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1808" y="3243446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9013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612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72947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37035" y="1265841"/>
            <a:ext cx="2148839" cy="188975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66106" y="2563819"/>
            <a:ext cx="138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i="1" spc="89" baseline="-17000" dirty="0">
                <a:latin typeface="Cambria Math" panose="02040503050406030204"/>
                <a:cs typeface="Cambria Math" panose="02040503050406030204"/>
              </a:rPr>
              <a:t>d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9186" y="1562551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4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i="1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9186" y="2007520"/>
            <a:ext cx="118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i="1" spc="30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5244" y="2748184"/>
            <a:ext cx="120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75" i="1" spc="44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7365" y="2060899"/>
            <a:ext cx="133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i="1" spc="30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5250" y="1678337"/>
            <a:ext cx="1308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i="1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9593" y="2306255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6127" y="2458709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1246" y="2344413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7022" y="1320234"/>
            <a:ext cx="139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W1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9257" y="1306519"/>
            <a:ext cx="140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W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2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88633" y="1368927"/>
            <a:ext cx="135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i="1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88633" y="1754575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ℎ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2664" y="1807900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i="1" spc="20" dirty="0">
                <a:latin typeface="Cambria Math" panose="02040503050406030204"/>
                <a:cs typeface="Cambria Math" panose="02040503050406030204"/>
              </a:rPr>
              <a:t>2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3205" y="2173599"/>
            <a:ext cx="138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i="1" spc="30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91720" y="2831967"/>
            <a:ext cx="153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i="1" spc="82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6378" y="2893003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37857" y="3054509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76176" y="647097"/>
            <a:ext cx="1910080" cy="230504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1772" y="632948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328144" y="142144"/>
            <a:ext cx="1191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SO</a:t>
            </a:r>
            <a:r>
              <a:rPr sz="1800" b="1" spc="25" dirty="0">
                <a:latin typeface="微软雅黑" panose="020B0503020204020204" charset="-122"/>
                <a:cs typeface="微软雅黑" panose="020B0503020204020204" charset="-122"/>
              </a:rPr>
              <a:t>F</a:t>
            </a: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TMAX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81808" y="3243446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0"/>
          <p:cNvSpPr txBox="1"/>
          <p:nvPr/>
        </p:nvSpPr>
        <p:spPr>
          <a:xfrm>
            <a:off x="2413000" y="3178175"/>
            <a:ext cx="3683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900" smtClean="0">
                <a:latin typeface="黑体" panose="02010609060101010101" charset="-122"/>
                <a:cs typeface="黑体" panose="02010609060101010101" charset="-122"/>
              </a:rPr>
              <a:t>隐</a:t>
            </a:r>
            <a:r>
              <a:rPr sz="900" smtClean="0">
                <a:latin typeface="黑体" panose="02010609060101010101" charset="-122"/>
                <a:cs typeface="黑体" panose="02010609060101010101" charset="-122"/>
              </a:rPr>
              <a:t>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37035" y="1271565"/>
            <a:ext cx="2148839" cy="188975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66106" y="2569543"/>
            <a:ext cx="86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0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5534" y="2622845"/>
            <a:ext cx="7937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60" dirty="0">
                <a:latin typeface="Cambria Math" panose="02040503050406030204"/>
                <a:cs typeface="Cambria Math" panose="02040503050406030204"/>
              </a:rPr>
              <a:t>d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9186" y="1568275"/>
            <a:ext cx="882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20" dirty="0">
                <a:latin typeface="Cambria Math" panose="02040503050406030204"/>
                <a:cs typeface="Cambria Math" panose="02040503050406030204"/>
              </a:rPr>
              <a:t>f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0280" y="1621615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204" dirty="0">
                <a:latin typeface="Cambria Math" panose="02040503050406030204"/>
                <a:cs typeface="Cambria Math" panose="02040503050406030204"/>
              </a:rPr>
              <a:t>l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9186" y="2013245"/>
            <a:ext cx="882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20" dirty="0">
                <a:latin typeface="Cambria Math" panose="02040503050406030204"/>
                <a:cs typeface="Cambria Math" panose="02040503050406030204"/>
              </a:rPr>
              <a:t>f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3382" y="2066615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20" dirty="0">
                <a:latin typeface="Cambria Math" panose="02040503050406030204"/>
                <a:cs typeface="Cambria Math" panose="02040503050406030204"/>
              </a:rPr>
              <a:t>2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5244" y="2753909"/>
            <a:ext cx="882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20" dirty="0">
                <a:latin typeface="Cambria Math" panose="02040503050406030204"/>
                <a:cs typeface="Cambria Math" panose="02040503050406030204"/>
              </a:rPr>
              <a:t>f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9417" y="2807249"/>
            <a:ext cx="7683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30" dirty="0">
                <a:latin typeface="Cambria Math" panose="02040503050406030204"/>
                <a:cs typeface="Cambria Math" panose="02040503050406030204"/>
              </a:rPr>
              <a:t>C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7365" y="2066623"/>
            <a:ext cx="133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spc="30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5250" y="1684061"/>
            <a:ext cx="1308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975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9593" y="2311993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36127" y="2464268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01246" y="2349973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…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37022" y="1325959"/>
            <a:ext cx="139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W1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09257" y="1312243"/>
            <a:ext cx="140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W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2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88633" y="1374651"/>
            <a:ext cx="135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spc="307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88633" y="1760299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ℎ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52664" y="1813563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20" dirty="0">
                <a:latin typeface="Cambria Math" panose="02040503050406030204"/>
                <a:cs typeface="Cambria Math" panose="02040503050406030204"/>
              </a:rPr>
              <a:t>2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93205" y="2179323"/>
            <a:ext cx="138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spc="30" baseline="-17000" dirty="0">
                <a:latin typeface="Cambria Math" panose="02040503050406030204"/>
                <a:cs typeface="Cambria Math" panose="02040503050406030204"/>
              </a:rPr>
              <a:t>3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91720" y="2837691"/>
            <a:ext cx="153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975" spc="82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56378" y="2898727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输入层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5481" y="3192821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隐层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81123" y="313487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输出层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76176" y="652821"/>
            <a:ext cx="1910080" cy="230504"/>
          </a:xfrm>
          <a:prstGeom prst="rect">
            <a:avLst/>
          </a:prstGeom>
          <a:solidFill>
            <a:srgbClr val="FCD5B5"/>
          </a:solidFill>
        </p:spPr>
        <p:txBody>
          <a:bodyPr vert="horz" wrap="square" lIns="0" tIns="2095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6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-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9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00" spc="5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200" spc="5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275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1772" y="638673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两层全连接网络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76732" y="1635801"/>
            <a:ext cx="436245" cy="38100"/>
          </a:xfrm>
          <a:custGeom>
            <a:avLst/>
            <a:gdLst/>
            <a:ahLst/>
            <a:cxnLst/>
            <a:rect l="l" t="t" r="r" b="b"/>
            <a:pathLst>
              <a:path w="436245" h="38100">
                <a:moveTo>
                  <a:pt x="397763" y="0"/>
                </a:moveTo>
                <a:lnTo>
                  <a:pt x="397763" y="38100"/>
                </a:lnTo>
                <a:lnTo>
                  <a:pt x="430002" y="21336"/>
                </a:lnTo>
                <a:lnTo>
                  <a:pt x="403859" y="21336"/>
                </a:lnTo>
                <a:lnTo>
                  <a:pt x="403859" y="16763"/>
                </a:lnTo>
                <a:lnTo>
                  <a:pt x="432688" y="16763"/>
                </a:lnTo>
                <a:lnTo>
                  <a:pt x="397763" y="0"/>
                </a:lnTo>
                <a:close/>
              </a:path>
              <a:path w="436245" h="38100">
                <a:moveTo>
                  <a:pt x="397763" y="16763"/>
                </a:moveTo>
                <a:lnTo>
                  <a:pt x="0" y="16763"/>
                </a:lnTo>
                <a:lnTo>
                  <a:pt x="0" y="21336"/>
                </a:lnTo>
                <a:lnTo>
                  <a:pt x="397763" y="21336"/>
                </a:lnTo>
                <a:lnTo>
                  <a:pt x="397763" y="16763"/>
                </a:lnTo>
                <a:close/>
              </a:path>
              <a:path w="436245" h="38100">
                <a:moveTo>
                  <a:pt x="432688" y="16763"/>
                </a:moveTo>
                <a:lnTo>
                  <a:pt x="403859" y="16763"/>
                </a:lnTo>
                <a:lnTo>
                  <a:pt x="403859" y="21336"/>
                </a:lnTo>
                <a:lnTo>
                  <a:pt x="430002" y="21336"/>
                </a:lnTo>
                <a:lnTo>
                  <a:pt x="435863" y="18287"/>
                </a:lnTo>
                <a:lnTo>
                  <a:pt x="432688" y="1676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63015" y="2068617"/>
            <a:ext cx="436245" cy="38100"/>
          </a:xfrm>
          <a:custGeom>
            <a:avLst/>
            <a:gdLst/>
            <a:ahLst/>
            <a:cxnLst/>
            <a:rect l="l" t="t" r="r" b="b"/>
            <a:pathLst>
              <a:path w="436245" h="38100">
                <a:moveTo>
                  <a:pt x="430002" y="16763"/>
                </a:moveTo>
                <a:lnTo>
                  <a:pt x="405384" y="16763"/>
                </a:lnTo>
                <a:lnTo>
                  <a:pt x="405384" y="21335"/>
                </a:lnTo>
                <a:lnTo>
                  <a:pt x="397763" y="21364"/>
                </a:lnTo>
                <a:lnTo>
                  <a:pt x="397763" y="38100"/>
                </a:lnTo>
                <a:lnTo>
                  <a:pt x="435863" y="19812"/>
                </a:lnTo>
                <a:lnTo>
                  <a:pt x="430002" y="16763"/>
                </a:lnTo>
                <a:close/>
              </a:path>
              <a:path w="436245" h="38100">
                <a:moveTo>
                  <a:pt x="397763" y="16792"/>
                </a:moveTo>
                <a:lnTo>
                  <a:pt x="0" y="18287"/>
                </a:lnTo>
                <a:lnTo>
                  <a:pt x="0" y="22859"/>
                </a:lnTo>
                <a:lnTo>
                  <a:pt x="397763" y="21364"/>
                </a:lnTo>
                <a:lnTo>
                  <a:pt x="397763" y="16792"/>
                </a:lnTo>
                <a:close/>
              </a:path>
              <a:path w="436245" h="38100">
                <a:moveTo>
                  <a:pt x="405384" y="16763"/>
                </a:moveTo>
                <a:lnTo>
                  <a:pt x="397763" y="16792"/>
                </a:lnTo>
                <a:lnTo>
                  <a:pt x="397763" y="21364"/>
                </a:lnTo>
                <a:lnTo>
                  <a:pt x="405384" y="21335"/>
                </a:lnTo>
                <a:lnTo>
                  <a:pt x="405384" y="16763"/>
                </a:lnTo>
                <a:close/>
              </a:path>
              <a:path w="436245" h="38100">
                <a:moveTo>
                  <a:pt x="397763" y="0"/>
                </a:moveTo>
                <a:lnTo>
                  <a:pt x="397763" y="16792"/>
                </a:lnTo>
                <a:lnTo>
                  <a:pt x="430002" y="16763"/>
                </a:lnTo>
                <a:lnTo>
                  <a:pt x="397763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63015" y="2816901"/>
            <a:ext cx="436245" cy="38100"/>
          </a:xfrm>
          <a:custGeom>
            <a:avLst/>
            <a:gdLst/>
            <a:ahLst/>
            <a:cxnLst/>
            <a:rect l="l" t="t" r="r" b="b"/>
            <a:pathLst>
              <a:path w="436245" h="38100">
                <a:moveTo>
                  <a:pt x="430002" y="16763"/>
                </a:moveTo>
                <a:lnTo>
                  <a:pt x="405384" y="16763"/>
                </a:lnTo>
                <a:lnTo>
                  <a:pt x="405384" y="21336"/>
                </a:lnTo>
                <a:lnTo>
                  <a:pt x="397763" y="21364"/>
                </a:lnTo>
                <a:lnTo>
                  <a:pt x="397763" y="38100"/>
                </a:lnTo>
                <a:lnTo>
                  <a:pt x="435863" y="19812"/>
                </a:lnTo>
                <a:lnTo>
                  <a:pt x="430002" y="16763"/>
                </a:lnTo>
                <a:close/>
              </a:path>
              <a:path w="436245" h="38100">
                <a:moveTo>
                  <a:pt x="397763" y="16792"/>
                </a:moveTo>
                <a:lnTo>
                  <a:pt x="0" y="18287"/>
                </a:lnTo>
                <a:lnTo>
                  <a:pt x="0" y="22860"/>
                </a:lnTo>
                <a:lnTo>
                  <a:pt x="397763" y="21364"/>
                </a:lnTo>
                <a:lnTo>
                  <a:pt x="397763" y="16792"/>
                </a:lnTo>
                <a:close/>
              </a:path>
              <a:path w="436245" h="38100">
                <a:moveTo>
                  <a:pt x="405384" y="16763"/>
                </a:moveTo>
                <a:lnTo>
                  <a:pt x="397763" y="16792"/>
                </a:lnTo>
                <a:lnTo>
                  <a:pt x="397763" y="21364"/>
                </a:lnTo>
                <a:lnTo>
                  <a:pt x="405384" y="21336"/>
                </a:lnTo>
                <a:lnTo>
                  <a:pt x="405384" y="16763"/>
                </a:lnTo>
                <a:close/>
              </a:path>
              <a:path w="436245" h="38100">
                <a:moveTo>
                  <a:pt x="397763" y="0"/>
                </a:moveTo>
                <a:lnTo>
                  <a:pt x="397763" y="16792"/>
                </a:lnTo>
                <a:lnTo>
                  <a:pt x="430002" y="16763"/>
                </a:lnTo>
                <a:lnTo>
                  <a:pt x="397763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696970" y="1501775"/>
            <a:ext cx="1638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7" baseline="-12000" smtClean="0">
                <a:latin typeface="Cambria Math" panose="02040503050406030204"/>
                <a:cs typeface="Cambria Math" panose="02040503050406030204"/>
              </a:rPr>
              <a:t>e</a:t>
            </a:r>
            <a:r>
              <a:rPr lang="en-US" altLang="zh-CN" sz="1200" spc="75" baseline="30000" smtClean="0">
                <a:latin typeface="Cambria Math" panose="02040503050406030204"/>
                <a:cs typeface="Cambria Math" panose="02040503050406030204"/>
              </a:rPr>
              <a:t>f</a:t>
            </a:r>
            <a:r>
              <a:rPr sz="550" spc="15" baseline="30000" smtClean="0">
                <a:latin typeface="Cambria Math" panose="02040503050406030204"/>
                <a:cs typeface="Cambria Math" panose="02040503050406030204"/>
              </a:rPr>
              <a:t>1</a:t>
            </a:r>
            <a:endParaRPr sz="550" spc="15" baseline="30000" smtClean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023263" y="152150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29539"/>
                </a:moveTo>
                <a:lnTo>
                  <a:pt x="10191" y="79081"/>
                </a:lnTo>
                <a:lnTo>
                  <a:pt x="38099" y="37909"/>
                </a:lnTo>
                <a:lnTo>
                  <a:pt x="79724" y="10167"/>
                </a:lnTo>
                <a:lnTo>
                  <a:pt x="131063" y="0"/>
                </a:lnTo>
                <a:lnTo>
                  <a:pt x="181522" y="10167"/>
                </a:lnTo>
                <a:lnTo>
                  <a:pt x="222694" y="37909"/>
                </a:lnTo>
                <a:lnTo>
                  <a:pt x="250436" y="79081"/>
                </a:lnTo>
                <a:lnTo>
                  <a:pt x="260603" y="129539"/>
                </a:lnTo>
                <a:lnTo>
                  <a:pt x="250436" y="180236"/>
                </a:lnTo>
                <a:lnTo>
                  <a:pt x="222694" y="221932"/>
                </a:lnTo>
                <a:lnTo>
                  <a:pt x="181522" y="250197"/>
                </a:lnTo>
                <a:lnTo>
                  <a:pt x="131063" y="260603"/>
                </a:lnTo>
                <a:lnTo>
                  <a:pt x="79724" y="250197"/>
                </a:lnTo>
                <a:lnTo>
                  <a:pt x="38099" y="221932"/>
                </a:lnTo>
                <a:lnTo>
                  <a:pt x="10191" y="180236"/>
                </a:lnTo>
                <a:lnTo>
                  <a:pt x="0" y="129539"/>
                </a:lnTo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092821" y="1562103"/>
            <a:ext cx="71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0" dirty="0">
                <a:latin typeface="Cambria Math" panose="02040503050406030204"/>
                <a:cs typeface="Cambria Math" panose="02040503050406030204"/>
              </a:rPr>
              <a:t>t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34015" y="1615496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204" dirty="0">
                <a:latin typeface="Cambria Math" panose="02040503050406030204"/>
                <a:cs typeface="Cambria Math" panose="02040503050406030204"/>
              </a:rPr>
              <a:t>l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998879" y="196346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1063"/>
                </a:moveTo>
                <a:lnTo>
                  <a:pt x="10406" y="80367"/>
                </a:lnTo>
                <a:lnTo>
                  <a:pt x="38671" y="38671"/>
                </a:lnTo>
                <a:lnTo>
                  <a:pt x="80367" y="10406"/>
                </a:lnTo>
                <a:lnTo>
                  <a:pt x="131063" y="0"/>
                </a:lnTo>
                <a:lnTo>
                  <a:pt x="181522" y="10406"/>
                </a:lnTo>
                <a:lnTo>
                  <a:pt x="222694" y="38671"/>
                </a:lnTo>
                <a:lnTo>
                  <a:pt x="250436" y="80367"/>
                </a:lnTo>
                <a:lnTo>
                  <a:pt x="260603" y="131063"/>
                </a:lnTo>
                <a:lnTo>
                  <a:pt x="250436" y="181522"/>
                </a:lnTo>
                <a:lnTo>
                  <a:pt x="222694" y="222694"/>
                </a:lnTo>
                <a:lnTo>
                  <a:pt x="181522" y="250436"/>
                </a:lnTo>
                <a:lnTo>
                  <a:pt x="131063" y="260603"/>
                </a:lnTo>
                <a:lnTo>
                  <a:pt x="80367" y="250436"/>
                </a:lnTo>
                <a:lnTo>
                  <a:pt x="38671" y="222694"/>
                </a:lnTo>
                <a:lnTo>
                  <a:pt x="10406" y="181522"/>
                </a:lnTo>
                <a:lnTo>
                  <a:pt x="0" y="131063"/>
                </a:lnTo>
              </a:path>
            </a:pathLst>
          </a:custGeom>
          <a:ln w="12191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068476" y="2004101"/>
            <a:ext cx="71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0" dirty="0">
                <a:latin typeface="Cambria Math" panose="02040503050406030204"/>
                <a:cs typeface="Cambria Math" panose="02040503050406030204"/>
              </a:rPr>
              <a:t>t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12641" y="2057479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20" dirty="0">
                <a:latin typeface="Cambria Math" panose="02040503050406030204"/>
                <a:cs typeface="Cambria Math" panose="02040503050406030204"/>
              </a:rPr>
              <a:t>2</a:t>
            </a:r>
            <a:endParaRPr sz="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014120" y="268888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1063"/>
                </a:moveTo>
                <a:lnTo>
                  <a:pt x="10167" y="80367"/>
                </a:lnTo>
                <a:lnTo>
                  <a:pt x="37909" y="38671"/>
                </a:lnTo>
                <a:lnTo>
                  <a:pt x="79081" y="10406"/>
                </a:lnTo>
                <a:lnTo>
                  <a:pt x="129539" y="0"/>
                </a:lnTo>
                <a:lnTo>
                  <a:pt x="180236" y="10406"/>
                </a:lnTo>
                <a:lnTo>
                  <a:pt x="221932" y="38671"/>
                </a:lnTo>
                <a:lnTo>
                  <a:pt x="250197" y="80367"/>
                </a:lnTo>
                <a:lnTo>
                  <a:pt x="260603" y="131063"/>
                </a:lnTo>
                <a:lnTo>
                  <a:pt x="250197" y="181522"/>
                </a:lnTo>
                <a:lnTo>
                  <a:pt x="221932" y="222694"/>
                </a:lnTo>
                <a:lnTo>
                  <a:pt x="180236" y="250436"/>
                </a:lnTo>
                <a:lnTo>
                  <a:pt x="129539" y="260603"/>
                </a:lnTo>
                <a:lnTo>
                  <a:pt x="79081" y="250436"/>
                </a:lnTo>
                <a:lnTo>
                  <a:pt x="37909" y="222694"/>
                </a:lnTo>
                <a:lnTo>
                  <a:pt x="10167" y="181522"/>
                </a:lnTo>
                <a:lnTo>
                  <a:pt x="0" y="131063"/>
                </a:lnTo>
              </a:path>
            </a:pathLst>
          </a:custGeom>
          <a:ln w="12191">
            <a:solidFill>
              <a:srgbClr val="4F81B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083677" y="2729563"/>
            <a:ext cx="1123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975" spc="67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267103" y="1631229"/>
            <a:ext cx="437515" cy="38100"/>
          </a:xfrm>
          <a:custGeom>
            <a:avLst/>
            <a:gdLst/>
            <a:ahLst/>
            <a:cxnLst/>
            <a:rect l="l" t="t" r="r" b="b"/>
            <a:pathLst>
              <a:path w="437514" h="38100">
                <a:moveTo>
                  <a:pt x="431526" y="16763"/>
                </a:moveTo>
                <a:lnTo>
                  <a:pt x="405384" y="16763"/>
                </a:lnTo>
                <a:lnTo>
                  <a:pt x="405384" y="21335"/>
                </a:lnTo>
                <a:lnTo>
                  <a:pt x="399288" y="21358"/>
                </a:lnTo>
                <a:lnTo>
                  <a:pt x="399288" y="38100"/>
                </a:lnTo>
                <a:lnTo>
                  <a:pt x="437388" y="19812"/>
                </a:lnTo>
                <a:lnTo>
                  <a:pt x="431526" y="16763"/>
                </a:lnTo>
                <a:close/>
              </a:path>
              <a:path w="437514" h="38100">
                <a:moveTo>
                  <a:pt x="399288" y="16786"/>
                </a:moveTo>
                <a:lnTo>
                  <a:pt x="0" y="18287"/>
                </a:lnTo>
                <a:lnTo>
                  <a:pt x="0" y="22859"/>
                </a:lnTo>
                <a:lnTo>
                  <a:pt x="399288" y="21358"/>
                </a:lnTo>
                <a:lnTo>
                  <a:pt x="399288" y="16786"/>
                </a:lnTo>
                <a:close/>
              </a:path>
              <a:path w="437514" h="38100">
                <a:moveTo>
                  <a:pt x="405384" y="16763"/>
                </a:moveTo>
                <a:lnTo>
                  <a:pt x="399288" y="16786"/>
                </a:lnTo>
                <a:lnTo>
                  <a:pt x="399288" y="21358"/>
                </a:lnTo>
                <a:lnTo>
                  <a:pt x="405384" y="21335"/>
                </a:lnTo>
                <a:lnTo>
                  <a:pt x="405384" y="16763"/>
                </a:lnTo>
                <a:close/>
              </a:path>
              <a:path w="437514" h="38100">
                <a:moveTo>
                  <a:pt x="399288" y="0"/>
                </a:moveTo>
                <a:lnTo>
                  <a:pt x="399288" y="16786"/>
                </a:lnTo>
                <a:lnTo>
                  <a:pt x="431526" y="16763"/>
                </a:lnTo>
                <a:lnTo>
                  <a:pt x="3992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701444" y="152302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29539"/>
                </a:moveTo>
                <a:lnTo>
                  <a:pt x="10191" y="79081"/>
                </a:lnTo>
                <a:lnTo>
                  <a:pt x="38099" y="37909"/>
                </a:lnTo>
                <a:lnTo>
                  <a:pt x="79724" y="10167"/>
                </a:lnTo>
                <a:lnTo>
                  <a:pt x="131063" y="0"/>
                </a:lnTo>
                <a:lnTo>
                  <a:pt x="181522" y="10167"/>
                </a:lnTo>
                <a:lnTo>
                  <a:pt x="222694" y="37909"/>
                </a:lnTo>
                <a:lnTo>
                  <a:pt x="250436" y="79081"/>
                </a:lnTo>
                <a:lnTo>
                  <a:pt x="260603" y="129539"/>
                </a:lnTo>
                <a:lnTo>
                  <a:pt x="250436" y="180879"/>
                </a:lnTo>
                <a:lnTo>
                  <a:pt x="222694" y="222503"/>
                </a:lnTo>
                <a:lnTo>
                  <a:pt x="181522" y="250412"/>
                </a:lnTo>
                <a:lnTo>
                  <a:pt x="131063" y="260603"/>
                </a:lnTo>
                <a:lnTo>
                  <a:pt x="79724" y="250412"/>
                </a:lnTo>
                <a:lnTo>
                  <a:pt x="38099" y="222503"/>
                </a:lnTo>
                <a:lnTo>
                  <a:pt x="10191" y="180879"/>
                </a:lnTo>
                <a:lnTo>
                  <a:pt x="0" y="129539"/>
                </a:lnTo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344281" y="1231547"/>
            <a:ext cx="240665" cy="3517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0480" algn="ctr">
              <a:lnSpc>
                <a:spcPct val="100000"/>
              </a:lnSpc>
              <a:spcBef>
                <a:spcPts val="300"/>
              </a:spcBef>
            </a:pPr>
            <a:r>
              <a:rPr sz="900" spc="11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975" spc="165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205"/>
              </a:spcBef>
            </a:pPr>
            <a:r>
              <a:rPr sz="1350" spc="97" baseline="3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975" spc="97" baseline="-21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975" spc="-52" baseline="-2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45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975" spc="67" baseline="-17000" dirty="0">
                <a:latin typeface="Cambria Math" panose="02040503050406030204"/>
                <a:cs typeface="Cambria Math" panose="02040503050406030204"/>
              </a:rPr>
              <a:t>j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357020" y="1439967"/>
            <a:ext cx="220979" cy="0"/>
          </a:xfrm>
          <a:custGeom>
            <a:avLst/>
            <a:gdLst/>
            <a:ahLst/>
            <a:cxnLst/>
            <a:rect l="l" t="t" r="r" b="b"/>
            <a:pathLst>
              <a:path w="220979">
                <a:moveTo>
                  <a:pt x="0" y="0"/>
                </a:moveTo>
                <a:lnTo>
                  <a:pt x="220979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241196" y="2073189"/>
            <a:ext cx="436245" cy="38100"/>
          </a:xfrm>
          <a:custGeom>
            <a:avLst/>
            <a:gdLst/>
            <a:ahLst/>
            <a:cxnLst/>
            <a:rect l="l" t="t" r="r" b="b"/>
            <a:pathLst>
              <a:path w="436245" h="38100">
                <a:moveTo>
                  <a:pt x="403859" y="15240"/>
                </a:moveTo>
                <a:lnTo>
                  <a:pt x="397763" y="15263"/>
                </a:lnTo>
                <a:lnTo>
                  <a:pt x="397763" y="38100"/>
                </a:lnTo>
                <a:lnTo>
                  <a:pt x="430002" y="21336"/>
                </a:lnTo>
                <a:lnTo>
                  <a:pt x="403859" y="21336"/>
                </a:lnTo>
                <a:lnTo>
                  <a:pt x="403859" y="15240"/>
                </a:lnTo>
                <a:close/>
              </a:path>
              <a:path w="436245" h="38100">
                <a:moveTo>
                  <a:pt x="397763" y="15263"/>
                </a:moveTo>
                <a:lnTo>
                  <a:pt x="0" y="16763"/>
                </a:lnTo>
                <a:lnTo>
                  <a:pt x="0" y="21336"/>
                </a:lnTo>
                <a:lnTo>
                  <a:pt x="397763" y="21336"/>
                </a:lnTo>
                <a:lnTo>
                  <a:pt x="397763" y="15263"/>
                </a:lnTo>
                <a:close/>
              </a:path>
              <a:path w="436245" h="38100">
                <a:moveTo>
                  <a:pt x="429514" y="15240"/>
                </a:moveTo>
                <a:lnTo>
                  <a:pt x="403859" y="15240"/>
                </a:lnTo>
                <a:lnTo>
                  <a:pt x="403859" y="21336"/>
                </a:lnTo>
                <a:lnTo>
                  <a:pt x="430002" y="21336"/>
                </a:lnTo>
                <a:lnTo>
                  <a:pt x="435863" y="18287"/>
                </a:lnTo>
                <a:lnTo>
                  <a:pt x="429514" y="15240"/>
                </a:lnTo>
                <a:close/>
              </a:path>
              <a:path w="436245" h="38100">
                <a:moveTo>
                  <a:pt x="397763" y="0"/>
                </a:moveTo>
                <a:lnTo>
                  <a:pt x="397763" y="15263"/>
                </a:lnTo>
                <a:lnTo>
                  <a:pt x="429514" y="15240"/>
                </a:lnTo>
                <a:lnTo>
                  <a:pt x="397763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707539" y="1963461"/>
            <a:ext cx="259079" cy="260985"/>
          </a:xfrm>
          <a:custGeom>
            <a:avLst/>
            <a:gdLst/>
            <a:ahLst/>
            <a:cxnLst/>
            <a:rect l="l" t="t" r="r" b="b"/>
            <a:pathLst>
              <a:path w="259079" h="260985">
                <a:moveTo>
                  <a:pt x="0" y="131063"/>
                </a:moveTo>
                <a:lnTo>
                  <a:pt x="10167" y="80367"/>
                </a:lnTo>
                <a:lnTo>
                  <a:pt x="37909" y="38671"/>
                </a:lnTo>
                <a:lnTo>
                  <a:pt x="79081" y="10406"/>
                </a:lnTo>
                <a:lnTo>
                  <a:pt x="129539" y="0"/>
                </a:lnTo>
                <a:lnTo>
                  <a:pt x="179998" y="10406"/>
                </a:lnTo>
                <a:lnTo>
                  <a:pt x="221170" y="38671"/>
                </a:lnTo>
                <a:lnTo>
                  <a:pt x="248912" y="80367"/>
                </a:lnTo>
                <a:lnTo>
                  <a:pt x="259079" y="131063"/>
                </a:lnTo>
                <a:lnTo>
                  <a:pt x="248912" y="181522"/>
                </a:lnTo>
                <a:lnTo>
                  <a:pt x="221170" y="222694"/>
                </a:lnTo>
                <a:lnTo>
                  <a:pt x="179998" y="250436"/>
                </a:lnTo>
                <a:lnTo>
                  <a:pt x="129539" y="260603"/>
                </a:lnTo>
                <a:lnTo>
                  <a:pt x="79081" y="250436"/>
                </a:lnTo>
                <a:lnTo>
                  <a:pt x="37909" y="222694"/>
                </a:lnTo>
                <a:lnTo>
                  <a:pt x="10167" y="181522"/>
                </a:lnTo>
                <a:lnTo>
                  <a:pt x="0" y="131063"/>
                </a:lnTo>
              </a:path>
            </a:pathLst>
          </a:custGeom>
          <a:ln w="12191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283867" y="2815377"/>
            <a:ext cx="436245" cy="38100"/>
          </a:xfrm>
          <a:custGeom>
            <a:avLst/>
            <a:gdLst/>
            <a:ahLst/>
            <a:cxnLst/>
            <a:rect l="l" t="t" r="r" b="b"/>
            <a:pathLst>
              <a:path w="436245" h="38100">
                <a:moveTo>
                  <a:pt x="430002" y="16764"/>
                </a:moveTo>
                <a:lnTo>
                  <a:pt x="403860" y="16764"/>
                </a:lnTo>
                <a:lnTo>
                  <a:pt x="403860" y="21336"/>
                </a:lnTo>
                <a:lnTo>
                  <a:pt x="397764" y="21359"/>
                </a:lnTo>
                <a:lnTo>
                  <a:pt x="397764" y="38100"/>
                </a:lnTo>
                <a:lnTo>
                  <a:pt x="435864" y="19812"/>
                </a:lnTo>
                <a:lnTo>
                  <a:pt x="430002" y="16764"/>
                </a:lnTo>
                <a:close/>
              </a:path>
              <a:path w="436245" h="38100">
                <a:moveTo>
                  <a:pt x="397764" y="16787"/>
                </a:moveTo>
                <a:lnTo>
                  <a:pt x="0" y="18287"/>
                </a:lnTo>
                <a:lnTo>
                  <a:pt x="0" y="22860"/>
                </a:lnTo>
                <a:lnTo>
                  <a:pt x="397764" y="21359"/>
                </a:lnTo>
                <a:lnTo>
                  <a:pt x="397764" y="16787"/>
                </a:lnTo>
                <a:close/>
              </a:path>
              <a:path w="436245" h="38100">
                <a:moveTo>
                  <a:pt x="403860" y="16764"/>
                </a:moveTo>
                <a:lnTo>
                  <a:pt x="397764" y="16787"/>
                </a:lnTo>
                <a:lnTo>
                  <a:pt x="397764" y="21359"/>
                </a:lnTo>
                <a:lnTo>
                  <a:pt x="403860" y="21336"/>
                </a:lnTo>
                <a:lnTo>
                  <a:pt x="403860" y="16764"/>
                </a:lnTo>
                <a:close/>
              </a:path>
              <a:path w="436245" h="38100">
                <a:moveTo>
                  <a:pt x="397764" y="0"/>
                </a:moveTo>
                <a:lnTo>
                  <a:pt x="397764" y="16787"/>
                </a:lnTo>
                <a:lnTo>
                  <a:pt x="430002" y="16764"/>
                </a:lnTo>
                <a:lnTo>
                  <a:pt x="397764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699920" y="268736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1063" y="0"/>
                </a:moveTo>
                <a:lnTo>
                  <a:pt x="80367" y="10191"/>
                </a:lnTo>
                <a:lnTo>
                  <a:pt x="38671" y="38100"/>
                </a:lnTo>
                <a:lnTo>
                  <a:pt x="10406" y="79724"/>
                </a:lnTo>
                <a:lnTo>
                  <a:pt x="0" y="131063"/>
                </a:lnTo>
                <a:lnTo>
                  <a:pt x="10406" y="181522"/>
                </a:lnTo>
                <a:lnTo>
                  <a:pt x="38671" y="222694"/>
                </a:lnTo>
                <a:lnTo>
                  <a:pt x="80367" y="250436"/>
                </a:lnTo>
                <a:lnTo>
                  <a:pt x="131063" y="260603"/>
                </a:lnTo>
                <a:lnTo>
                  <a:pt x="181522" y="250436"/>
                </a:lnTo>
                <a:lnTo>
                  <a:pt x="222694" y="222694"/>
                </a:lnTo>
                <a:lnTo>
                  <a:pt x="250436" y="181522"/>
                </a:lnTo>
                <a:lnTo>
                  <a:pt x="260603" y="131063"/>
                </a:lnTo>
                <a:lnTo>
                  <a:pt x="250436" y="79724"/>
                </a:lnTo>
                <a:lnTo>
                  <a:pt x="222694" y="38100"/>
                </a:lnTo>
                <a:lnTo>
                  <a:pt x="181522" y="10191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99919" y="268736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1063"/>
                </a:moveTo>
                <a:lnTo>
                  <a:pt x="10406" y="79724"/>
                </a:lnTo>
                <a:lnTo>
                  <a:pt x="38671" y="38099"/>
                </a:lnTo>
                <a:lnTo>
                  <a:pt x="80367" y="10191"/>
                </a:lnTo>
                <a:lnTo>
                  <a:pt x="131063" y="0"/>
                </a:lnTo>
                <a:lnTo>
                  <a:pt x="181522" y="10191"/>
                </a:lnTo>
                <a:lnTo>
                  <a:pt x="222694" y="38099"/>
                </a:lnTo>
                <a:lnTo>
                  <a:pt x="250436" y="79724"/>
                </a:lnTo>
                <a:lnTo>
                  <a:pt x="260603" y="131063"/>
                </a:lnTo>
                <a:lnTo>
                  <a:pt x="250436" y="181522"/>
                </a:lnTo>
                <a:lnTo>
                  <a:pt x="222694" y="222694"/>
                </a:lnTo>
                <a:lnTo>
                  <a:pt x="181522" y="250436"/>
                </a:lnTo>
                <a:lnTo>
                  <a:pt x="131063" y="260603"/>
                </a:lnTo>
                <a:lnTo>
                  <a:pt x="80367" y="250436"/>
                </a:lnTo>
                <a:lnTo>
                  <a:pt x="38671" y="222694"/>
                </a:lnTo>
                <a:lnTo>
                  <a:pt x="10406" y="181522"/>
                </a:lnTo>
                <a:lnTo>
                  <a:pt x="0" y="131063"/>
                </a:lnTo>
              </a:path>
            </a:pathLst>
          </a:custGeom>
          <a:ln w="12191">
            <a:solidFill>
              <a:srgbClr val="4F81B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629815" y="1367577"/>
            <a:ext cx="403860" cy="1647825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75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sz="975" spc="112" baseline="-17000" dirty="0">
                <a:latin typeface="Cambria Math" panose="02040503050406030204"/>
                <a:cs typeface="Cambria Math" panose="02040503050406030204"/>
              </a:rPr>
              <a:t>l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 panose="02020603050405020304"/>
              <a:cs typeface="Times New Roman" panose="02020603050405020304"/>
            </a:endParaRPr>
          </a:p>
          <a:p>
            <a:pPr marL="6985" algn="ctr">
              <a:lnSpc>
                <a:spcPct val="100000"/>
              </a:lnSpc>
              <a:spcBef>
                <a:spcPts val="5"/>
              </a:spcBef>
            </a:pPr>
            <a:r>
              <a:rPr sz="900" spc="-5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sz="975" spc="-7" baseline="-17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sz="975" spc="7" baseline="-17000" dirty="0">
                <a:latin typeface="Cambria Math" panose="02040503050406030204"/>
                <a:cs typeface="Cambria Math" panose="02040503050406030204"/>
              </a:rPr>
              <a:t>c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344320" y="1749555"/>
            <a:ext cx="24637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900" u="sng" spc="-7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u="sng" spc="3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t</a:t>
            </a:r>
            <a:r>
              <a:rPr sz="975" u="sng" spc="44" baseline="-17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2</a:t>
            </a:r>
            <a:r>
              <a:rPr sz="975" u="sng" spc="-30" baseline="-17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 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44281" y="1912661"/>
            <a:ext cx="2406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97" baseline="3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975" spc="97" baseline="-21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975" spc="-52" baseline="-2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45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975" spc="67" baseline="-17000" dirty="0">
                <a:latin typeface="Cambria Math" panose="02040503050406030204"/>
                <a:cs typeface="Cambria Math" panose="02040503050406030204"/>
              </a:rPr>
              <a:t>j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335176" y="2493305"/>
            <a:ext cx="24637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900" u="sng" spc="-7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u="sng" spc="4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t</a:t>
            </a:r>
            <a:r>
              <a:rPr sz="975" u="sng" spc="60" baseline="-17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c</a:t>
            </a:r>
            <a:r>
              <a:rPr sz="975" u="sng" spc="37" baseline="-17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 </a:t>
            </a:r>
            <a:endParaRPr sz="975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335138" y="2656411"/>
            <a:ext cx="212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aseline="3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350" spc="292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50" dirty="0">
                <a:latin typeface="Cambria Math" panose="02040503050406030204"/>
                <a:cs typeface="Cambria Math" panose="02040503050406030204"/>
              </a:rPr>
              <a:t>t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415986" y="2718819"/>
            <a:ext cx="15938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35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650" spc="20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75" spc="202" baseline="4000" dirty="0">
                <a:latin typeface="Cambria Math" panose="02040503050406030204"/>
                <a:cs typeface="Cambria Math" panose="02040503050406030204"/>
              </a:rPr>
              <a:t>j</a:t>
            </a:r>
            <a:endParaRPr sz="975" baseline="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169823" y="1227369"/>
            <a:ext cx="1923414" cy="1841500"/>
          </a:xfrm>
          <a:custGeom>
            <a:avLst/>
            <a:gdLst/>
            <a:ahLst/>
            <a:cxnLst/>
            <a:rect l="l" t="t" r="r" b="b"/>
            <a:pathLst>
              <a:path w="1923414" h="1841500">
                <a:moveTo>
                  <a:pt x="13715" y="1828799"/>
                </a:moveTo>
                <a:lnTo>
                  <a:pt x="6096" y="1828799"/>
                </a:lnTo>
                <a:lnTo>
                  <a:pt x="6096" y="1840991"/>
                </a:lnTo>
                <a:lnTo>
                  <a:pt x="16763" y="1840991"/>
                </a:lnTo>
                <a:lnTo>
                  <a:pt x="16763" y="1834895"/>
                </a:lnTo>
                <a:lnTo>
                  <a:pt x="13715" y="1834895"/>
                </a:lnTo>
                <a:lnTo>
                  <a:pt x="13715" y="1828799"/>
                </a:lnTo>
                <a:close/>
              </a:path>
              <a:path w="1923414" h="1841500">
                <a:moveTo>
                  <a:pt x="13715" y="1796795"/>
                </a:moveTo>
                <a:lnTo>
                  <a:pt x="0" y="1796795"/>
                </a:lnTo>
                <a:lnTo>
                  <a:pt x="0" y="1834895"/>
                </a:lnTo>
                <a:lnTo>
                  <a:pt x="6096" y="1834895"/>
                </a:lnTo>
                <a:lnTo>
                  <a:pt x="6096" y="1828799"/>
                </a:lnTo>
                <a:lnTo>
                  <a:pt x="13715" y="1828799"/>
                </a:lnTo>
                <a:lnTo>
                  <a:pt x="13715" y="1796795"/>
                </a:lnTo>
                <a:close/>
              </a:path>
              <a:path w="1923414" h="1841500">
                <a:moveTo>
                  <a:pt x="16763" y="1828799"/>
                </a:moveTo>
                <a:lnTo>
                  <a:pt x="13715" y="1828799"/>
                </a:lnTo>
                <a:lnTo>
                  <a:pt x="13715" y="1834895"/>
                </a:lnTo>
                <a:lnTo>
                  <a:pt x="16763" y="1834895"/>
                </a:lnTo>
                <a:lnTo>
                  <a:pt x="16763" y="1828799"/>
                </a:lnTo>
                <a:close/>
              </a:path>
              <a:path w="1923414" h="1841500">
                <a:moveTo>
                  <a:pt x="13715" y="1746503"/>
                </a:moveTo>
                <a:lnTo>
                  <a:pt x="0" y="1746503"/>
                </a:lnTo>
                <a:lnTo>
                  <a:pt x="0" y="1784603"/>
                </a:lnTo>
                <a:lnTo>
                  <a:pt x="13715" y="1784603"/>
                </a:lnTo>
                <a:lnTo>
                  <a:pt x="13715" y="1746503"/>
                </a:lnTo>
                <a:close/>
              </a:path>
              <a:path w="1923414" h="1841500">
                <a:moveTo>
                  <a:pt x="13715" y="1694687"/>
                </a:moveTo>
                <a:lnTo>
                  <a:pt x="0" y="1694687"/>
                </a:lnTo>
                <a:lnTo>
                  <a:pt x="0" y="1732787"/>
                </a:lnTo>
                <a:lnTo>
                  <a:pt x="13715" y="1732787"/>
                </a:lnTo>
                <a:lnTo>
                  <a:pt x="13715" y="1694687"/>
                </a:lnTo>
                <a:close/>
              </a:path>
              <a:path w="1923414" h="1841500">
                <a:moveTo>
                  <a:pt x="13715" y="1644395"/>
                </a:moveTo>
                <a:lnTo>
                  <a:pt x="0" y="1644395"/>
                </a:lnTo>
                <a:lnTo>
                  <a:pt x="0" y="1682495"/>
                </a:lnTo>
                <a:lnTo>
                  <a:pt x="13715" y="1682495"/>
                </a:lnTo>
                <a:lnTo>
                  <a:pt x="13715" y="1644395"/>
                </a:lnTo>
                <a:close/>
              </a:path>
              <a:path w="1923414" h="1841500">
                <a:moveTo>
                  <a:pt x="13715" y="1594103"/>
                </a:moveTo>
                <a:lnTo>
                  <a:pt x="0" y="1594103"/>
                </a:lnTo>
                <a:lnTo>
                  <a:pt x="0" y="1632203"/>
                </a:lnTo>
                <a:lnTo>
                  <a:pt x="13715" y="1632203"/>
                </a:lnTo>
                <a:lnTo>
                  <a:pt x="13715" y="1594103"/>
                </a:lnTo>
                <a:close/>
              </a:path>
              <a:path w="1923414" h="1841500">
                <a:moveTo>
                  <a:pt x="13715" y="1542287"/>
                </a:moveTo>
                <a:lnTo>
                  <a:pt x="0" y="1542287"/>
                </a:lnTo>
                <a:lnTo>
                  <a:pt x="0" y="1580387"/>
                </a:lnTo>
                <a:lnTo>
                  <a:pt x="13715" y="1580387"/>
                </a:lnTo>
                <a:lnTo>
                  <a:pt x="13715" y="1542287"/>
                </a:lnTo>
                <a:close/>
              </a:path>
              <a:path w="1923414" h="1841500">
                <a:moveTo>
                  <a:pt x="13715" y="1491995"/>
                </a:moveTo>
                <a:lnTo>
                  <a:pt x="0" y="1491995"/>
                </a:lnTo>
                <a:lnTo>
                  <a:pt x="0" y="1530095"/>
                </a:lnTo>
                <a:lnTo>
                  <a:pt x="13715" y="1530095"/>
                </a:lnTo>
                <a:lnTo>
                  <a:pt x="13715" y="1491995"/>
                </a:lnTo>
                <a:close/>
              </a:path>
              <a:path w="1923414" h="1841500">
                <a:moveTo>
                  <a:pt x="13715" y="1441703"/>
                </a:moveTo>
                <a:lnTo>
                  <a:pt x="0" y="1441703"/>
                </a:lnTo>
                <a:lnTo>
                  <a:pt x="0" y="1479803"/>
                </a:lnTo>
                <a:lnTo>
                  <a:pt x="13715" y="1479803"/>
                </a:lnTo>
                <a:lnTo>
                  <a:pt x="13715" y="1441703"/>
                </a:lnTo>
                <a:close/>
              </a:path>
              <a:path w="1923414" h="1841500">
                <a:moveTo>
                  <a:pt x="13715" y="1389887"/>
                </a:moveTo>
                <a:lnTo>
                  <a:pt x="0" y="1389887"/>
                </a:lnTo>
                <a:lnTo>
                  <a:pt x="0" y="1427987"/>
                </a:lnTo>
                <a:lnTo>
                  <a:pt x="13715" y="1427987"/>
                </a:lnTo>
                <a:lnTo>
                  <a:pt x="13715" y="1389887"/>
                </a:lnTo>
                <a:close/>
              </a:path>
              <a:path w="1923414" h="1841500">
                <a:moveTo>
                  <a:pt x="13715" y="1339595"/>
                </a:moveTo>
                <a:lnTo>
                  <a:pt x="0" y="1339595"/>
                </a:lnTo>
                <a:lnTo>
                  <a:pt x="0" y="1377695"/>
                </a:lnTo>
                <a:lnTo>
                  <a:pt x="13715" y="1377695"/>
                </a:lnTo>
                <a:lnTo>
                  <a:pt x="13715" y="1339595"/>
                </a:lnTo>
                <a:close/>
              </a:path>
              <a:path w="1923414" h="1841500">
                <a:moveTo>
                  <a:pt x="13715" y="1289303"/>
                </a:moveTo>
                <a:lnTo>
                  <a:pt x="0" y="1289303"/>
                </a:lnTo>
                <a:lnTo>
                  <a:pt x="0" y="1327403"/>
                </a:lnTo>
                <a:lnTo>
                  <a:pt x="13715" y="1327403"/>
                </a:lnTo>
                <a:lnTo>
                  <a:pt x="13715" y="1289303"/>
                </a:lnTo>
                <a:close/>
              </a:path>
              <a:path w="1923414" h="1841500">
                <a:moveTo>
                  <a:pt x="13715" y="1237487"/>
                </a:moveTo>
                <a:lnTo>
                  <a:pt x="0" y="1237487"/>
                </a:lnTo>
                <a:lnTo>
                  <a:pt x="0" y="1275587"/>
                </a:lnTo>
                <a:lnTo>
                  <a:pt x="13715" y="1275587"/>
                </a:lnTo>
                <a:lnTo>
                  <a:pt x="13715" y="1237487"/>
                </a:lnTo>
                <a:close/>
              </a:path>
              <a:path w="1923414" h="1841500">
                <a:moveTo>
                  <a:pt x="13715" y="1187195"/>
                </a:moveTo>
                <a:lnTo>
                  <a:pt x="0" y="1187195"/>
                </a:lnTo>
                <a:lnTo>
                  <a:pt x="0" y="1225295"/>
                </a:lnTo>
                <a:lnTo>
                  <a:pt x="13715" y="1225295"/>
                </a:lnTo>
                <a:lnTo>
                  <a:pt x="13715" y="1187195"/>
                </a:lnTo>
                <a:close/>
              </a:path>
              <a:path w="1923414" h="1841500">
                <a:moveTo>
                  <a:pt x="13715" y="1136903"/>
                </a:moveTo>
                <a:lnTo>
                  <a:pt x="0" y="1136903"/>
                </a:lnTo>
                <a:lnTo>
                  <a:pt x="0" y="1175003"/>
                </a:lnTo>
                <a:lnTo>
                  <a:pt x="13715" y="1175003"/>
                </a:lnTo>
                <a:lnTo>
                  <a:pt x="13715" y="1136903"/>
                </a:lnTo>
                <a:close/>
              </a:path>
              <a:path w="1923414" h="1841500">
                <a:moveTo>
                  <a:pt x="13715" y="1085087"/>
                </a:moveTo>
                <a:lnTo>
                  <a:pt x="0" y="1085087"/>
                </a:lnTo>
                <a:lnTo>
                  <a:pt x="0" y="1123187"/>
                </a:lnTo>
                <a:lnTo>
                  <a:pt x="13715" y="1123187"/>
                </a:lnTo>
                <a:lnTo>
                  <a:pt x="13715" y="1085087"/>
                </a:lnTo>
                <a:close/>
              </a:path>
              <a:path w="1923414" h="1841500">
                <a:moveTo>
                  <a:pt x="13715" y="1034795"/>
                </a:moveTo>
                <a:lnTo>
                  <a:pt x="0" y="1034795"/>
                </a:lnTo>
                <a:lnTo>
                  <a:pt x="0" y="1072895"/>
                </a:lnTo>
                <a:lnTo>
                  <a:pt x="13715" y="1072895"/>
                </a:lnTo>
                <a:lnTo>
                  <a:pt x="13715" y="1034795"/>
                </a:lnTo>
                <a:close/>
              </a:path>
              <a:path w="1923414" h="1841500">
                <a:moveTo>
                  <a:pt x="13715" y="984503"/>
                </a:moveTo>
                <a:lnTo>
                  <a:pt x="0" y="984503"/>
                </a:lnTo>
                <a:lnTo>
                  <a:pt x="0" y="1022603"/>
                </a:lnTo>
                <a:lnTo>
                  <a:pt x="13715" y="1022603"/>
                </a:lnTo>
                <a:lnTo>
                  <a:pt x="13715" y="984503"/>
                </a:lnTo>
                <a:close/>
              </a:path>
              <a:path w="1923414" h="1841500">
                <a:moveTo>
                  <a:pt x="13715" y="932687"/>
                </a:moveTo>
                <a:lnTo>
                  <a:pt x="0" y="932687"/>
                </a:lnTo>
                <a:lnTo>
                  <a:pt x="0" y="970787"/>
                </a:lnTo>
                <a:lnTo>
                  <a:pt x="13715" y="970787"/>
                </a:lnTo>
                <a:lnTo>
                  <a:pt x="13715" y="932687"/>
                </a:lnTo>
                <a:close/>
              </a:path>
              <a:path w="1923414" h="1841500">
                <a:moveTo>
                  <a:pt x="13715" y="882395"/>
                </a:moveTo>
                <a:lnTo>
                  <a:pt x="0" y="882395"/>
                </a:lnTo>
                <a:lnTo>
                  <a:pt x="0" y="920495"/>
                </a:lnTo>
                <a:lnTo>
                  <a:pt x="13715" y="920495"/>
                </a:lnTo>
                <a:lnTo>
                  <a:pt x="13715" y="882395"/>
                </a:lnTo>
                <a:close/>
              </a:path>
              <a:path w="1923414" h="1841500">
                <a:moveTo>
                  <a:pt x="13715" y="832103"/>
                </a:moveTo>
                <a:lnTo>
                  <a:pt x="0" y="832103"/>
                </a:lnTo>
                <a:lnTo>
                  <a:pt x="0" y="870203"/>
                </a:lnTo>
                <a:lnTo>
                  <a:pt x="13715" y="870203"/>
                </a:lnTo>
                <a:lnTo>
                  <a:pt x="13715" y="832103"/>
                </a:lnTo>
                <a:close/>
              </a:path>
              <a:path w="1923414" h="1841500">
                <a:moveTo>
                  <a:pt x="13715" y="780287"/>
                </a:moveTo>
                <a:lnTo>
                  <a:pt x="0" y="780287"/>
                </a:lnTo>
                <a:lnTo>
                  <a:pt x="0" y="818387"/>
                </a:lnTo>
                <a:lnTo>
                  <a:pt x="13715" y="818387"/>
                </a:lnTo>
                <a:lnTo>
                  <a:pt x="13715" y="780287"/>
                </a:lnTo>
                <a:close/>
              </a:path>
              <a:path w="1923414" h="1841500">
                <a:moveTo>
                  <a:pt x="13715" y="729995"/>
                </a:moveTo>
                <a:lnTo>
                  <a:pt x="0" y="729995"/>
                </a:lnTo>
                <a:lnTo>
                  <a:pt x="0" y="768095"/>
                </a:lnTo>
                <a:lnTo>
                  <a:pt x="13715" y="768095"/>
                </a:lnTo>
                <a:lnTo>
                  <a:pt x="13715" y="729995"/>
                </a:lnTo>
                <a:close/>
              </a:path>
              <a:path w="1923414" h="1841500">
                <a:moveTo>
                  <a:pt x="13715" y="679703"/>
                </a:moveTo>
                <a:lnTo>
                  <a:pt x="0" y="679703"/>
                </a:lnTo>
                <a:lnTo>
                  <a:pt x="0" y="717803"/>
                </a:lnTo>
                <a:lnTo>
                  <a:pt x="13715" y="717803"/>
                </a:lnTo>
                <a:lnTo>
                  <a:pt x="13715" y="679703"/>
                </a:lnTo>
                <a:close/>
              </a:path>
              <a:path w="1923414" h="1841500">
                <a:moveTo>
                  <a:pt x="13715" y="627887"/>
                </a:moveTo>
                <a:lnTo>
                  <a:pt x="0" y="627887"/>
                </a:lnTo>
                <a:lnTo>
                  <a:pt x="0" y="665987"/>
                </a:lnTo>
                <a:lnTo>
                  <a:pt x="13715" y="665987"/>
                </a:lnTo>
                <a:lnTo>
                  <a:pt x="13715" y="627887"/>
                </a:lnTo>
                <a:close/>
              </a:path>
              <a:path w="1923414" h="1841500">
                <a:moveTo>
                  <a:pt x="13715" y="577595"/>
                </a:moveTo>
                <a:lnTo>
                  <a:pt x="0" y="577595"/>
                </a:lnTo>
                <a:lnTo>
                  <a:pt x="0" y="615695"/>
                </a:lnTo>
                <a:lnTo>
                  <a:pt x="13715" y="615695"/>
                </a:lnTo>
                <a:lnTo>
                  <a:pt x="13715" y="577595"/>
                </a:lnTo>
                <a:close/>
              </a:path>
              <a:path w="1923414" h="1841500">
                <a:moveTo>
                  <a:pt x="13715" y="527303"/>
                </a:moveTo>
                <a:lnTo>
                  <a:pt x="0" y="527303"/>
                </a:lnTo>
                <a:lnTo>
                  <a:pt x="0" y="565403"/>
                </a:lnTo>
                <a:lnTo>
                  <a:pt x="13715" y="565403"/>
                </a:lnTo>
                <a:lnTo>
                  <a:pt x="13715" y="527303"/>
                </a:lnTo>
                <a:close/>
              </a:path>
              <a:path w="1923414" h="1841500">
                <a:moveTo>
                  <a:pt x="13715" y="475487"/>
                </a:moveTo>
                <a:lnTo>
                  <a:pt x="0" y="475487"/>
                </a:lnTo>
                <a:lnTo>
                  <a:pt x="0" y="513587"/>
                </a:lnTo>
                <a:lnTo>
                  <a:pt x="13715" y="513587"/>
                </a:lnTo>
                <a:lnTo>
                  <a:pt x="13715" y="475487"/>
                </a:lnTo>
                <a:close/>
              </a:path>
              <a:path w="1923414" h="1841500">
                <a:moveTo>
                  <a:pt x="13715" y="425195"/>
                </a:moveTo>
                <a:lnTo>
                  <a:pt x="0" y="425195"/>
                </a:lnTo>
                <a:lnTo>
                  <a:pt x="0" y="463295"/>
                </a:lnTo>
                <a:lnTo>
                  <a:pt x="13715" y="463295"/>
                </a:lnTo>
                <a:lnTo>
                  <a:pt x="13715" y="425195"/>
                </a:lnTo>
                <a:close/>
              </a:path>
              <a:path w="1923414" h="1841500">
                <a:moveTo>
                  <a:pt x="13715" y="374903"/>
                </a:moveTo>
                <a:lnTo>
                  <a:pt x="0" y="374903"/>
                </a:lnTo>
                <a:lnTo>
                  <a:pt x="0" y="413003"/>
                </a:lnTo>
                <a:lnTo>
                  <a:pt x="13715" y="413003"/>
                </a:lnTo>
                <a:lnTo>
                  <a:pt x="13715" y="374903"/>
                </a:lnTo>
                <a:close/>
              </a:path>
              <a:path w="1923414" h="1841500">
                <a:moveTo>
                  <a:pt x="13715" y="323087"/>
                </a:moveTo>
                <a:lnTo>
                  <a:pt x="0" y="323087"/>
                </a:lnTo>
                <a:lnTo>
                  <a:pt x="0" y="361187"/>
                </a:lnTo>
                <a:lnTo>
                  <a:pt x="13715" y="361187"/>
                </a:lnTo>
                <a:lnTo>
                  <a:pt x="13715" y="323087"/>
                </a:lnTo>
                <a:close/>
              </a:path>
              <a:path w="1923414" h="1841500">
                <a:moveTo>
                  <a:pt x="13715" y="272795"/>
                </a:moveTo>
                <a:lnTo>
                  <a:pt x="0" y="272795"/>
                </a:lnTo>
                <a:lnTo>
                  <a:pt x="0" y="310895"/>
                </a:lnTo>
                <a:lnTo>
                  <a:pt x="13715" y="310895"/>
                </a:lnTo>
                <a:lnTo>
                  <a:pt x="13715" y="272795"/>
                </a:lnTo>
                <a:close/>
              </a:path>
              <a:path w="1923414" h="1841500">
                <a:moveTo>
                  <a:pt x="13715" y="222503"/>
                </a:moveTo>
                <a:lnTo>
                  <a:pt x="0" y="222503"/>
                </a:lnTo>
                <a:lnTo>
                  <a:pt x="0" y="260603"/>
                </a:lnTo>
                <a:lnTo>
                  <a:pt x="13715" y="260603"/>
                </a:lnTo>
                <a:lnTo>
                  <a:pt x="13715" y="222503"/>
                </a:lnTo>
                <a:close/>
              </a:path>
              <a:path w="1923414" h="1841500">
                <a:moveTo>
                  <a:pt x="13715" y="170687"/>
                </a:moveTo>
                <a:lnTo>
                  <a:pt x="0" y="170687"/>
                </a:lnTo>
                <a:lnTo>
                  <a:pt x="0" y="208787"/>
                </a:lnTo>
                <a:lnTo>
                  <a:pt x="13715" y="208787"/>
                </a:lnTo>
                <a:lnTo>
                  <a:pt x="13715" y="170687"/>
                </a:lnTo>
                <a:close/>
              </a:path>
              <a:path w="1923414" h="1841500">
                <a:moveTo>
                  <a:pt x="13715" y="120395"/>
                </a:moveTo>
                <a:lnTo>
                  <a:pt x="0" y="120395"/>
                </a:lnTo>
                <a:lnTo>
                  <a:pt x="0" y="158495"/>
                </a:lnTo>
                <a:lnTo>
                  <a:pt x="13715" y="158495"/>
                </a:lnTo>
                <a:lnTo>
                  <a:pt x="13715" y="120395"/>
                </a:lnTo>
                <a:close/>
              </a:path>
              <a:path w="1923414" h="1841500">
                <a:moveTo>
                  <a:pt x="13715" y="70103"/>
                </a:moveTo>
                <a:lnTo>
                  <a:pt x="0" y="70103"/>
                </a:lnTo>
                <a:lnTo>
                  <a:pt x="0" y="108203"/>
                </a:lnTo>
                <a:lnTo>
                  <a:pt x="13715" y="108203"/>
                </a:lnTo>
                <a:lnTo>
                  <a:pt x="13715" y="70103"/>
                </a:lnTo>
                <a:close/>
              </a:path>
              <a:path w="1923414" h="1841500">
                <a:moveTo>
                  <a:pt x="13715" y="18287"/>
                </a:moveTo>
                <a:lnTo>
                  <a:pt x="0" y="18287"/>
                </a:lnTo>
                <a:lnTo>
                  <a:pt x="0" y="56387"/>
                </a:lnTo>
                <a:lnTo>
                  <a:pt x="13715" y="56387"/>
                </a:lnTo>
                <a:lnTo>
                  <a:pt x="13715" y="18287"/>
                </a:lnTo>
                <a:close/>
              </a:path>
              <a:path w="1923414" h="1841500">
                <a:moveTo>
                  <a:pt x="45720" y="0"/>
                </a:moveTo>
                <a:lnTo>
                  <a:pt x="7620" y="0"/>
                </a:lnTo>
                <a:lnTo>
                  <a:pt x="7620" y="13715"/>
                </a:lnTo>
                <a:lnTo>
                  <a:pt x="45720" y="13715"/>
                </a:lnTo>
                <a:lnTo>
                  <a:pt x="45720" y="0"/>
                </a:lnTo>
                <a:close/>
              </a:path>
              <a:path w="1923414" h="1841500">
                <a:moveTo>
                  <a:pt x="96012" y="0"/>
                </a:moveTo>
                <a:lnTo>
                  <a:pt x="57912" y="0"/>
                </a:lnTo>
                <a:lnTo>
                  <a:pt x="57912" y="13715"/>
                </a:lnTo>
                <a:lnTo>
                  <a:pt x="96012" y="13715"/>
                </a:lnTo>
                <a:lnTo>
                  <a:pt x="96012" y="0"/>
                </a:lnTo>
                <a:close/>
              </a:path>
              <a:path w="1923414" h="1841500">
                <a:moveTo>
                  <a:pt x="147827" y="0"/>
                </a:moveTo>
                <a:lnTo>
                  <a:pt x="109727" y="0"/>
                </a:lnTo>
                <a:lnTo>
                  <a:pt x="109727" y="13715"/>
                </a:lnTo>
                <a:lnTo>
                  <a:pt x="147827" y="13715"/>
                </a:lnTo>
                <a:lnTo>
                  <a:pt x="147827" y="0"/>
                </a:lnTo>
                <a:close/>
              </a:path>
              <a:path w="1923414" h="1841500">
                <a:moveTo>
                  <a:pt x="198120" y="0"/>
                </a:moveTo>
                <a:lnTo>
                  <a:pt x="160020" y="0"/>
                </a:lnTo>
                <a:lnTo>
                  <a:pt x="160020" y="13715"/>
                </a:lnTo>
                <a:lnTo>
                  <a:pt x="198120" y="13715"/>
                </a:lnTo>
                <a:lnTo>
                  <a:pt x="198120" y="0"/>
                </a:lnTo>
                <a:close/>
              </a:path>
              <a:path w="1923414" h="1841500">
                <a:moveTo>
                  <a:pt x="248412" y="0"/>
                </a:moveTo>
                <a:lnTo>
                  <a:pt x="210312" y="0"/>
                </a:lnTo>
                <a:lnTo>
                  <a:pt x="210312" y="13715"/>
                </a:lnTo>
                <a:lnTo>
                  <a:pt x="248412" y="13715"/>
                </a:lnTo>
                <a:lnTo>
                  <a:pt x="248412" y="0"/>
                </a:lnTo>
                <a:close/>
              </a:path>
              <a:path w="1923414" h="1841500">
                <a:moveTo>
                  <a:pt x="300227" y="0"/>
                </a:moveTo>
                <a:lnTo>
                  <a:pt x="262127" y="0"/>
                </a:lnTo>
                <a:lnTo>
                  <a:pt x="262127" y="13715"/>
                </a:lnTo>
                <a:lnTo>
                  <a:pt x="300227" y="13715"/>
                </a:lnTo>
                <a:lnTo>
                  <a:pt x="300227" y="0"/>
                </a:lnTo>
                <a:close/>
              </a:path>
              <a:path w="1923414" h="1841500">
                <a:moveTo>
                  <a:pt x="350520" y="0"/>
                </a:moveTo>
                <a:lnTo>
                  <a:pt x="312420" y="0"/>
                </a:lnTo>
                <a:lnTo>
                  <a:pt x="312420" y="13715"/>
                </a:lnTo>
                <a:lnTo>
                  <a:pt x="350520" y="13715"/>
                </a:lnTo>
                <a:lnTo>
                  <a:pt x="350520" y="0"/>
                </a:lnTo>
                <a:close/>
              </a:path>
              <a:path w="1923414" h="1841500">
                <a:moveTo>
                  <a:pt x="400812" y="0"/>
                </a:moveTo>
                <a:lnTo>
                  <a:pt x="362712" y="0"/>
                </a:lnTo>
                <a:lnTo>
                  <a:pt x="362712" y="13715"/>
                </a:lnTo>
                <a:lnTo>
                  <a:pt x="400812" y="13715"/>
                </a:lnTo>
                <a:lnTo>
                  <a:pt x="400812" y="0"/>
                </a:lnTo>
                <a:close/>
              </a:path>
              <a:path w="1923414" h="1841500">
                <a:moveTo>
                  <a:pt x="452627" y="0"/>
                </a:moveTo>
                <a:lnTo>
                  <a:pt x="414527" y="0"/>
                </a:lnTo>
                <a:lnTo>
                  <a:pt x="414527" y="13715"/>
                </a:lnTo>
                <a:lnTo>
                  <a:pt x="452627" y="13715"/>
                </a:lnTo>
                <a:lnTo>
                  <a:pt x="452627" y="0"/>
                </a:lnTo>
                <a:close/>
              </a:path>
              <a:path w="1923414" h="1841500">
                <a:moveTo>
                  <a:pt x="502920" y="0"/>
                </a:moveTo>
                <a:lnTo>
                  <a:pt x="464820" y="0"/>
                </a:lnTo>
                <a:lnTo>
                  <a:pt x="464820" y="13715"/>
                </a:lnTo>
                <a:lnTo>
                  <a:pt x="502920" y="13715"/>
                </a:lnTo>
                <a:lnTo>
                  <a:pt x="502920" y="0"/>
                </a:lnTo>
                <a:close/>
              </a:path>
              <a:path w="1923414" h="1841500">
                <a:moveTo>
                  <a:pt x="553212" y="0"/>
                </a:moveTo>
                <a:lnTo>
                  <a:pt x="515112" y="0"/>
                </a:lnTo>
                <a:lnTo>
                  <a:pt x="515112" y="13715"/>
                </a:lnTo>
                <a:lnTo>
                  <a:pt x="553212" y="13715"/>
                </a:lnTo>
                <a:lnTo>
                  <a:pt x="553212" y="0"/>
                </a:lnTo>
                <a:close/>
              </a:path>
              <a:path w="1923414" h="1841500">
                <a:moveTo>
                  <a:pt x="605027" y="0"/>
                </a:moveTo>
                <a:lnTo>
                  <a:pt x="566927" y="0"/>
                </a:lnTo>
                <a:lnTo>
                  <a:pt x="566927" y="13715"/>
                </a:lnTo>
                <a:lnTo>
                  <a:pt x="605027" y="13715"/>
                </a:lnTo>
                <a:lnTo>
                  <a:pt x="605027" y="0"/>
                </a:lnTo>
                <a:close/>
              </a:path>
              <a:path w="1923414" h="1841500">
                <a:moveTo>
                  <a:pt x="655320" y="0"/>
                </a:moveTo>
                <a:lnTo>
                  <a:pt x="617220" y="0"/>
                </a:lnTo>
                <a:lnTo>
                  <a:pt x="617220" y="13715"/>
                </a:lnTo>
                <a:lnTo>
                  <a:pt x="655320" y="13715"/>
                </a:lnTo>
                <a:lnTo>
                  <a:pt x="655320" y="0"/>
                </a:lnTo>
                <a:close/>
              </a:path>
              <a:path w="1923414" h="1841500">
                <a:moveTo>
                  <a:pt x="705612" y="0"/>
                </a:moveTo>
                <a:lnTo>
                  <a:pt x="667512" y="0"/>
                </a:lnTo>
                <a:lnTo>
                  <a:pt x="667512" y="13715"/>
                </a:lnTo>
                <a:lnTo>
                  <a:pt x="705612" y="13715"/>
                </a:lnTo>
                <a:lnTo>
                  <a:pt x="705612" y="0"/>
                </a:lnTo>
                <a:close/>
              </a:path>
              <a:path w="1923414" h="1841500">
                <a:moveTo>
                  <a:pt x="757427" y="0"/>
                </a:moveTo>
                <a:lnTo>
                  <a:pt x="719327" y="0"/>
                </a:lnTo>
                <a:lnTo>
                  <a:pt x="719327" y="13715"/>
                </a:lnTo>
                <a:lnTo>
                  <a:pt x="757427" y="13715"/>
                </a:lnTo>
                <a:lnTo>
                  <a:pt x="757427" y="0"/>
                </a:lnTo>
                <a:close/>
              </a:path>
              <a:path w="1923414" h="1841500">
                <a:moveTo>
                  <a:pt x="807720" y="0"/>
                </a:moveTo>
                <a:lnTo>
                  <a:pt x="769620" y="0"/>
                </a:lnTo>
                <a:lnTo>
                  <a:pt x="769620" y="13715"/>
                </a:lnTo>
                <a:lnTo>
                  <a:pt x="807720" y="13715"/>
                </a:lnTo>
                <a:lnTo>
                  <a:pt x="807720" y="0"/>
                </a:lnTo>
                <a:close/>
              </a:path>
              <a:path w="1923414" h="1841500">
                <a:moveTo>
                  <a:pt x="858012" y="0"/>
                </a:moveTo>
                <a:lnTo>
                  <a:pt x="819912" y="0"/>
                </a:lnTo>
                <a:lnTo>
                  <a:pt x="819912" y="13715"/>
                </a:lnTo>
                <a:lnTo>
                  <a:pt x="858012" y="13715"/>
                </a:lnTo>
                <a:lnTo>
                  <a:pt x="858012" y="0"/>
                </a:lnTo>
                <a:close/>
              </a:path>
              <a:path w="1923414" h="1841500">
                <a:moveTo>
                  <a:pt x="909827" y="0"/>
                </a:moveTo>
                <a:lnTo>
                  <a:pt x="871727" y="0"/>
                </a:lnTo>
                <a:lnTo>
                  <a:pt x="871727" y="13715"/>
                </a:lnTo>
                <a:lnTo>
                  <a:pt x="909827" y="13715"/>
                </a:lnTo>
                <a:lnTo>
                  <a:pt x="909827" y="0"/>
                </a:lnTo>
                <a:close/>
              </a:path>
              <a:path w="1923414" h="1841500">
                <a:moveTo>
                  <a:pt x="960120" y="0"/>
                </a:moveTo>
                <a:lnTo>
                  <a:pt x="922020" y="0"/>
                </a:lnTo>
                <a:lnTo>
                  <a:pt x="922020" y="13715"/>
                </a:lnTo>
                <a:lnTo>
                  <a:pt x="960120" y="13715"/>
                </a:lnTo>
                <a:lnTo>
                  <a:pt x="960120" y="0"/>
                </a:lnTo>
                <a:close/>
              </a:path>
              <a:path w="1923414" h="1841500">
                <a:moveTo>
                  <a:pt x="1010412" y="0"/>
                </a:moveTo>
                <a:lnTo>
                  <a:pt x="972312" y="0"/>
                </a:lnTo>
                <a:lnTo>
                  <a:pt x="972312" y="13715"/>
                </a:lnTo>
                <a:lnTo>
                  <a:pt x="1010412" y="13715"/>
                </a:lnTo>
                <a:lnTo>
                  <a:pt x="1010412" y="0"/>
                </a:lnTo>
                <a:close/>
              </a:path>
              <a:path w="1923414" h="1841500">
                <a:moveTo>
                  <a:pt x="1062227" y="0"/>
                </a:moveTo>
                <a:lnTo>
                  <a:pt x="1024127" y="0"/>
                </a:lnTo>
                <a:lnTo>
                  <a:pt x="1024127" y="13715"/>
                </a:lnTo>
                <a:lnTo>
                  <a:pt x="1062227" y="13715"/>
                </a:lnTo>
                <a:lnTo>
                  <a:pt x="1062227" y="0"/>
                </a:lnTo>
                <a:close/>
              </a:path>
              <a:path w="1923414" h="1841500">
                <a:moveTo>
                  <a:pt x="1112520" y="0"/>
                </a:moveTo>
                <a:lnTo>
                  <a:pt x="1074420" y="0"/>
                </a:lnTo>
                <a:lnTo>
                  <a:pt x="1074420" y="13715"/>
                </a:lnTo>
                <a:lnTo>
                  <a:pt x="1112520" y="13715"/>
                </a:lnTo>
                <a:lnTo>
                  <a:pt x="1112520" y="0"/>
                </a:lnTo>
                <a:close/>
              </a:path>
              <a:path w="1923414" h="1841500">
                <a:moveTo>
                  <a:pt x="1162812" y="0"/>
                </a:moveTo>
                <a:lnTo>
                  <a:pt x="1124712" y="0"/>
                </a:lnTo>
                <a:lnTo>
                  <a:pt x="1124712" y="13715"/>
                </a:lnTo>
                <a:lnTo>
                  <a:pt x="1162812" y="13715"/>
                </a:lnTo>
                <a:lnTo>
                  <a:pt x="1162812" y="0"/>
                </a:lnTo>
                <a:close/>
              </a:path>
              <a:path w="1923414" h="1841500">
                <a:moveTo>
                  <a:pt x="1214627" y="0"/>
                </a:moveTo>
                <a:lnTo>
                  <a:pt x="1176527" y="0"/>
                </a:lnTo>
                <a:lnTo>
                  <a:pt x="1176527" y="13715"/>
                </a:lnTo>
                <a:lnTo>
                  <a:pt x="1214627" y="13715"/>
                </a:lnTo>
                <a:lnTo>
                  <a:pt x="1214627" y="0"/>
                </a:lnTo>
                <a:close/>
              </a:path>
              <a:path w="1923414" h="1841500">
                <a:moveTo>
                  <a:pt x="1264920" y="0"/>
                </a:moveTo>
                <a:lnTo>
                  <a:pt x="1226820" y="0"/>
                </a:lnTo>
                <a:lnTo>
                  <a:pt x="1226820" y="13715"/>
                </a:lnTo>
                <a:lnTo>
                  <a:pt x="1264920" y="13715"/>
                </a:lnTo>
                <a:lnTo>
                  <a:pt x="1264920" y="0"/>
                </a:lnTo>
                <a:close/>
              </a:path>
              <a:path w="1923414" h="1841500">
                <a:moveTo>
                  <a:pt x="1315212" y="0"/>
                </a:moveTo>
                <a:lnTo>
                  <a:pt x="1277112" y="0"/>
                </a:lnTo>
                <a:lnTo>
                  <a:pt x="1277112" y="13715"/>
                </a:lnTo>
                <a:lnTo>
                  <a:pt x="1315212" y="13715"/>
                </a:lnTo>
                <a:lnTo>
                  <a:pt x="1315212" y="0"/>
                </a:lnTo>
                <a:close/>
              </a:path>
              <a:path w="1923414" h="1841500">
                <a:moveTo>
                  <a:pt x="1367027" y="0"/>
                </a:moveTo>
                <a:lnTo>
                  <a:pt x="1328927" y="0"/>
                </a:lnTo>
                <a:lnTo>
                  <a:pt x="1328927" y="13715"/>
                </a:lnTo>
                <a:lnTo>
                  <a:pt x="1367027" y="13715"/>
                </a:lnTo>
                <a:lnTo>
                  <a:pt x="1367027" y="0"/>
                </a:lnTo>
                <a:close/>
              </a:path>
              <a:path w="1923414" h="1841500">
                <a:moveTo>
                  <a:pt x="1417320" y="0"/>
                </a:moveTo>
                <a:lnTo>
                  <a:pt x="1379220" y="0"/>
                </a:lnTo>
                <a:lnTo>
                  <a:pt x="1379220" y="13715"/>
                </a:lnTo>
                <a:lnTo>
                  <a:pt x="1417320" y="13715"/>
                </a:lnTo>
                <a:lnTo>
                  <a:pt x="1417320" y="0"/>
                </a:lnTo>
                <a:close/>
              </a:path>
              <a:path w="1923414" h="1841500">
                <a:moveTo>
                  <a:pt x="1467612" y="0"/>
                </a:moveTo>
                <a:lnTo>
                  <a:pt x="1429512" y="0"/>
                </a:lnTo>
                <a:lnTo>
                  <a:pt x="1429512" y="13715"/>
                </a:lnTo>
                <a:lnTo>
                  <a:pt x="1467612" y="13715"/>
                </a:lnTo>
                <a:lnTo>
                  <a:pt x="1467612" y="0"/>
                </a:lnTo>
                <a:close/>
              </a:path>
              <a:path w="1923414" h="1841500">
                <a:moveTo>
                  <a:pt x="1519427" y="0"/>
                </a:moveTo>
                <a:lnTo>
                  <a:pt x="1481327" y="0"/>
                </a:lnTo>
                <a:lnTo>
                  <a:pt x="1481327" y="13715"/>
                </a:lnTo>
                <a:lnTo>
                  <a:pt x="1519427" y="13715"/>
                </a:lnTo>
                <a:lnTo>
                  <a:pt x="1519427" y="0"/>
                </a:lnTo>
                <a:close/>
              </a:path>
              <a:path w="1923414" h="1841500">
                <a:moveTo>
                  <a:pt x="1569720" y="0"/>
                </a:moveTo>
                <a:lnTo>
                  <a:pt x="1531620" y="0"/>
                </a:lnTo>
                <a:lnTo>
                  <a:pt x="1531620" y="13715"/>
                </a:lnTo>
                <a:lnTo>
                  <a:pt x="1569720" y="13715"/>
                </a:lnTo>
                <a:lnTo>
                  <a:pt x="1569720" y="0"/>
                </a:lnTo>
                <a:close/>
              </a:path>
              <a:path w="1923414" h="1841500">
                <a:moveTo>
                  <a:pt x="1620012" y="0"/>
                </a:moveTo>
                <a:lnTo>
                  <a:pt x="1581912" y="0"/>
                </a:lnTo>
                <a:lnTo>
                  <a:pt x="1581912" y="13715"/>
                </a:lnTo>
                <a:lnTo>
                  <a:pt x="1620012" y="13715"/>
                </a:lnTo>
                <a:lnTo>
                  <a:pt x="1620012" y="0"/>
                </a:lnTo>
                <a:close/>
              </a:path>
              <a:path w="1923414" h="1841500">
                <a:moveTo>
                  <a:pt x="1671827" y="0"/>
                </a:moveTo>
                <a:lnTo>
                  <a:pt x="1633727" y="0"/>
                </a:lnTo>
                <a:lnTo>
                  <a:pt x="1633727" y="13715"/>
                </a:lnTo>
                <a:lnTo>
                  <a:pt x="1671827" y="13715"/>
                </a:lnTo>
                <a:lnTo>
                  <a:pt x="1671827" y="0"/>
                </a:lnTo>
                <a:close/>
              </a:path>
              <a:path w="1923414" h="1841500">
                <a:moveTo>
                  <a:pt x="1722120" y="0"/>
                </a:moveTo>
                <a:lnTo>
                  <a:pt x="1684020" y="0"/>
                </a:lnTo>
                <a:lnTo>
                  <a:pt x="1684020" y="13715"/>
                </a:lnTo>
                <a:lnTo>
                  <a:pt x="1722120" y="13715"/>
                </a:lnTo>
                <a:lnTo>
                  <a:pt x="1722120" y="0"/>
                </a:lnTo>
                <a:close/>
              </a:path>
              <a:path w="1923414" h="1841500">
                <a:moveTo>
                  <a:pt x="1772412" y="0"/>
                </a:moveTo>
                <a:lnTo>
                  <a:pt x="1734312" y="0"/>
                </a:lnTo>
                <a:lnTo>
                  <a:pt x="1734312" y="13715"/>
                </a:lnTo>
                <a:lnTo>
                  <a:pt x="1772412" y="13715"/>
                </a:lnTo>
                <a:lnTo>
                  <a:pt x="1772412" y="0"/>
                </a:lnTo>
                <a:close/>
              </a:path>
              <a:path w="1923414" h="1841500">
                <a:moveTo>
                  <a:pt x="1824227" y="0"/>
                </a:moveTo>
                <a:lnTo>
                  <a:pt x="1786127" y="0"/>
                </a:lnTo>
                <a:lnTo>
                  <a:pt x="1786127" y="13715"/>
                </a:lnTo>
                <a:lnTo>
                  <a:pt x="1824227" y="13715"/>
                </a:lnTo>
                <a:lnTo>
                  <a:pt x="1824227" y="0"/>
                </a:lnTo>
                <a:close/>
              </a:path>
              <a:path w="1923414" h="1841500">
                <a:moveTo>
                  <a:pt x="1874520" y="0"/>
                </a:moveTo>
                <a:lnTo>
                  <a:pt x="1836420" y="0"/>
                </a:lnTo>
                <a:lnTo>
                  <a:pt x="1836420" y="13715"/>
                </a:lnTo>
                <a:lnTo>
                  <a:pt x="1874520" y="13715"/>
                </a:lnTo>
                <a:lnTo>
                  <a:pt x="1874520" y="0"/>
                </a:lnTo>
                <a:close/>
              </a:path>
              <a:path w="1923414" h="1841500">
                <a:moveTo>
                  <a:pt x="1911096" y="6095"/>
                </a:moveTo>
                <a:lnTo>
                  <a:pt x="1911096" y="15239"/>
                </a:lnTo>
                <a:lnTo>
                  <a:pt x="1923288" y="15239"/>
                </a:lnTo>
                <a:lnTo>
                  <a:pt x="1923288" y="13715"/>
                </a:lnTo>
                <a:lnTo>
                  <a:pt x="1917191" y="13715"/>
                </a:lnTo>
                <a:lnTo>
                  <a:pt x="1911096" y="6095"/>
                </a:lnTo>
                <a:close/>
              </a:path>
              <a:path w="1923414" h="1841500">
                <a:moveTo>
                  <a:pt x="1920239" y="0"/>
                </a:moveTo>
                <a:lnTo>
                  <a:pt x="1886712" y="0"/>
                </a:lnTo>
                <a:lnTo>
                  <a:pt x="1886712" y="13715"/>
                </a:lnTo>
                <a:lnTo>
                  <a:pt x="1911096" y="13715"/>
                </a:lnTo>
                <a:lnTo>
                  <a:pt x="1911096" y="6095"/>
                </a:lnTo>
                <a:lnTo>
                  <a:pt x="1923288" y="6095"/>
                </a:lnTo>
                <a:lnTo>
                  <a:pt x="1923288" y="3047"/>
                </a:lnTo>
                <a:lnTo>
                  <a:pt x="1920239" y="0"/>
                </a:lnTo>
                <a:close/>
              </a:path>
              <a:path w="1923414" h="1841500">
                <a:moveTo>
                  <a:pt x="1923288" y="6095"/>
                </a:moveTo>
                <a:lnTo>
                  <a:pt x="1911096" y="6095"/>
                </a:lnTo>
                <a:lnTo>
                  <a:pt x="1917191" y="13715"/>
                </a:lnTo>
                <a:lnTo>
                  <a:pt x="1923288" y="13715"/>
                </a:lnTo>
                <a:lnTo>
                  <a:pt x="1923288" y="6095"/>
                </a:lnTo>
                <a:close/>
              </a:path>
              <a:path w="1923414" h="1841500">
                <a:moveTo>
                  <a:pt x="1923288" y="27431"/>
                </a:moveTo>
                <a:lnTo>
                  <a:pt x="1911096" y="27431"/>
                </a:lnTo>
                <a:lnTo>
                  <a:pt x="1911096" y="65531"/>
                </a:lnTo>
                <a:lnTo>
                  <a:pt x="1923288" y="65531"/>
                </a:lnTo>
                <a:lnTo>
                  <a:pt x="1923288" y="27431"/>
                </a:lnTo>
                <a:close/>
              </a:path>
              <a:path w="1923414" h="1841500">
                <a:moveTo>
                  <a:pt x="1923288" y="77723"/>
                </a:moveTo>
                <a:lnTo>
                  <a:pt x="1911096" y="77723"/>
                </a:lnTo>
                <a:lnTo>
                  <a:pt x="1911096" y="115823"/>
                </a:lnTo>
                <a:lnTo>
                  <a:pt x="1923288" y="115823"/>
                </a:lnTo>
                <a:lnTo>
                  <a:pt x="1923288" y="77723"/>
                </a:lnTo>
                <a:close/>
              </a:path>
              <a:path w="1923414" h="1841500">
                <a:moveTo>
                  <a:pt x="1923288" y="129539"/>
                </a:moveTo>
                <a:lnTo>
                  <a:pt x="1911096" y="129539"/>
                </a:lnTo>
                <a:lnTo>
                  <a:pt x="1911096" y="167639"/>
                </a:lnTo>
                <a:lnTo>
                  <a:pt x="1923288" y="167639"/>
                </a:lnTo>
                <a:lnTo>
                  <a:pt x="1923288" y="129539"/>
                </a:lnTo>
                <a:close/>
              </a:path>
              <a:path w="1923414" h="1841500">
                <a:moveTo>
                  <a:pt x="1923288" y="179831"/>
                </a:moveTo>
                <a:lnTo>
                  <a:pt x="1911096" y="179831"/>
                </a:lnTo>
                <a:lnTo>
                  <a:pt x="1911096" y="217931"/>
                </a:lnTo>
                <a:lnTo>
                  <a:pt x="1923288" y="217931"/>
                </a:lnTo>
                <a:lnTo>
                  <a:pt x="1923288" y="179831"/>
                </a:lnTo>
                <a:close/>
              </a:path>
              <a:path w="1923414" h="1841500">
                <a:moveTo>
                  <a:pt x="1923288" y="230123"/>
                </a:moveTo>
                <a:lnTo>
                  <a:pt x="1911096" y="230123"/>
                </a:lnTo>
                <a:lnTo>
                  <a:pt x="1911096" y="268223"/>
                </a:lnTo>
                <a:lnTo>
                  <a:pt x="1923288" y="268223"/>
                </a:lnTo>
                <a:lnTo>
                  <a:pt x="1923288" y="230123"/>
                </a:lnTo>
                <a:close/>
              </a:path>
              <a:path w="1923414" h="1841500">
                <a:moveTo>
                  <a:pt x="1923288" y="281939"/>
                </a:moveTo>
                <a:lnTo>
                  <a:pt x="1911096" y="281939"/>
                </a:lnTo>
                <a:lnTo>
                  <a:pt x="1911096" y="320039"/>
                </a:lnTo>
                <a:lnTo>
                  <a:pt x="1923288" y="320039"/>
                </a:lnTo>
                <a:lnTo>
                  <a:pt x="1923288" y="281939"/>
                </a:lnTo>
                <a:close/>
              </a:path>
              <a:path w="1923414" h="1841500">
                <a:moveTo>
                  <a:pt x="1923288" y="332231"/>
                </a:moveTo>
                <a:lnTo>
                  <a:pt x="1911096" y="332231"/>
                </a:lnTo>
                <a:lnTo>
                  <a:pt x="1911096" y="370331"/>
                </a:lnTo>
                <a:lnTo>
                  <a:pt x="1923288" y="370331"/>
                </a:lnTo>
                <a:lnTo>
                  <a:pt x="1923288" y="332231"/>
                </a:lnTo>
                <a:close/>
              </a:path>
              <a:path w="1923414" h="1841500">
                <a:moveTo>
                  <a:pt x="1923288" y="382523"/>
                </a:moveTo>
                <a:lnTo>
                  <a:pt x="1911096" y="382523"/>
                </a:lnTo>
                <a:lnTo>
                  <a:pt x="1911096" y="420623"/>
                </a:lnTo>
                <a:lnTo>
                  <a:pt x="1923288" y="420623"/>
                </a:lnTo>
                <a:lnTo>
                  <a:pt x="1923288" y="382523"/>
                </a:lnTo>
                <a:close/>
              </a:path>
              <a:path w="1923414" h="1841500">
                <a:moveTo>
                  <a:pt x="1923288" y="434339"/>
                </a:moveTo>
                <a:lnTo>
                  <a:pt x="1911096" y="434339"/>
                </a:lnTo>
                <a:lnTo>
                  <a:pt x="1911096" y="472439"/>
                </a:lnTo>
                <a:lnTo>
                  <a:pt x="1923288" y="472439"/>
                </a:lnTo>
                <a:lnTo>
                  <a:pt x="1923288" y="434339"/>
                </a:lnTo>
                <a:close/>
              </a:path>
              <a:path w="1923414" h="1841500">
                <a:moveTo>
                  <a:pt x="1923288" y="484631"/>
                </a:moveTo>
                <a:lnTo>
                  <a:pt x="1911096" y="484631"/>
                </a:lnTo>
                <a:lnTo>
                  <a:pt x="1911096" y="522731"/>
                </a:lnTo>
                <a:lnTo>
                  <a:pt x="1923288" y="522731"/>
                </a:lnTo>
                <a:lnTo>
                  <a:pt x="1923288" y="484631"/>
                </a:lnTo>
                <a:close/>
              </a:path>
              <a:path w="1923414" h="1841500">
                <a:moveTo>
                  <a:pt x="1923288" y="534923"/>
                </a:moveTo>
                <a:lnTo>
                  <a:pt x="1911096" y="534923"/>
                </a:lnTo>
                <a:lnTo>
                  <a:pt x="1911096" y="573023"/>
                </a:lnTo>
                <a:lnTo>
                  <a:pt x="1923288" y="573023"/>
                </a:lnTo>
                <a:lnTo>
                  <a:pt x="1923288" y="534923"/>
                </a:lnTo>
                <a:close/>
              </a:path>
              <a:path w="1923414" h="1841500">
                <a:moveTo>
                  <a:pt x="1923288" y="586739"/>
                </a:moveTo>
                <a:lnTo>
                  <a:pt x="1911096" y="586739"/>
                </a:lnTo>
                <a:lnTo>
                  <a:pt x="1911096" y="624839"/>
                </a:lnTo>
                <a:lnTo>
                  <a:pt x="1923288" y="624839"/>
                </a:lnTo>
                <a:lnTo>
                  <a:pt x="1923288" y="586739"/>
                </a:lnTo>
                <a:close/>
              </a:path>
              <a:path w="1923414" h="1841500">
                <a:moveTo>
                  <a:pt x="1923288" y="637031"/>
                </a:moveTo>
                <a:lnTo>
                  <a:pt x="1911096" y="637031"/>
                </a:lnTo>
                <a:lnTo>
                  <a:pt x="1911096" y="675131"/>
                </a:lnTo>
                <a:lnTo>
                  <a:pt x="1923288" y="675131"/>
                </a:lnTo>
                <a:lnTo>
                  <a:pt x="1923288" y="637031"/>
                </a:lnTo>
                <a:close/>
              </a:path>
              <a:path w="1923414" h="1841500">
                <a:moveTo>
                  <a:pt x="1923288" y="687323"/>
                </a:moveTo>
                <a:lnTo>
                  <a:pt x="1911096" y="687323"/>
                </a:lnTo>
                <a:lnTo>
                  <a:pt x="1911096" y="725423"/>
                </a:lnTo>
                <a:lnTo>
                  <a:pt x="1923288" y="725423"/>
                </a:lnTo>
                <a:lnTo>
                  <a:pt x="1923288" y="687323"/>
                </a:lnTo>
                <a:close/>
              </a:path>
              <a:path w="1923414" h="1841500">
                <a:moveTo>
                  <a:pt x="1923288" y="739139"/>
                </a:moveTo>
                <a:lnTo>
                  <a:pt x="1911096" y="739139"/>
                </a:lnTo>
                <a:lnTo>
                  <a:pt x="1911096" y="777239"/>
                </a:lnTo>
                <a:lnTo>
                  <a:pt x="1923288" y="777239"/>
                </a:lnTo>
                <a:lnTo>
                  <a:pt x="1923288" y="739139"/>
                </a:lnTo>
                <a:close/>
              </a:path>
              <a:path w="1923414" h="1841500">
                <a:moveTo>
                  <a:pt x="1923288" y="789431"/>
                </a:moveTo>
                <a:lnTo>
                  <a:pt x="1911096" y="789431"/>
                </a:lnTo>
                <a:lnTo>
                  <a:pt x="1911096" y="827531"/>
                </a:lnTo>
                <a:lnTo>
                  <a:pt x="1923288" y="827531"/>
                </a:lnTo>
                <a:lnTo>
                  <a:pt x="1923288" y="789431"/>
                </a:lnTo>
                <a:close/>
              </a:path>
              <a:path w="1923414" h="1841500">
                <a:moveTo>
                  <a:pt x="1923288" y="839723"/>
                </a:moveTo>
                <a:lnTo>
                  <a:pt x="1911096" y="839723"/>
                </a:lnTo>
                <a:lnTo>
                  <a:pt x="1911096" y="877823"/>
                </a:lnTo>
                <a:lnTo>
                  <a:pt x="1923288" y="877823"/>
                </a:lnTo>
                <a:lnTo>
                  <a:pt x="1923288" y="839723"/>
                </a:lnTo>
                <a:close/>
              </a:path>
              <a:path w="1923414" h="1841500">
                <a:moveTo>
                  <a:pt x="1923288" y="891539"/>
                </a:moveTo>
                <a:lnTo>
                  <a:pt x="1911096" y="891539"/>
                </a:lnTo>
                <a:lnTo>
                  <a:pt x="1911096" y="929639"/>
                </a:lnTo>
                <a:lnTo>
                  <a:pt x="1923288" y="929639"/>
                </a:lnTo>
                <a:lnTo>
                  <a:pt x="1923288" y="891539"/>
                </a:lnTo>
                <a:close/>
              </a:path>
              <a:path w="1923414" h="1841500">
                <a:moveTo>
                  <a:pt x="1923288" y="941831"/>
                </a:moveTo>
                <a:lnTo>
                  <a:pt x="1911096" y="941831"/>
                </a:lnTo>
                <a:lnTo>
                  <a:pt x="1911096" y="979931"/>
                </a:lnTo>
                <a:lnTo>
                  <a:pt x="1923288" y="979931"/>
                </a:lnTo>
                <a:lnTo>
                  <a:pt x="1923288" y="941831"/>
                </a:lnTo>
                <a:close/>
              </a:path>
              <a:path w="1923414" h="1841500">
                <a:moveTo>
                  <a:pt x="1923288" y="992123"/>
                </a:moveTo>
                <a:lnTo>
                  <a:pt x="1911096" y="992123"/>
                </a:lnTo>
                <a:lnTo>
                  <a:pt x="1911096" y="1030223"/>
                </a:lnTo>
                <a:lnTo>
                  <a:pt x="1923288" y="1030223"/>
                </a:lnTo>
                <a:lnTo>
                  <a:pt x="1923288" y="992123"/>
                </a:lnTo>
                <a:close/>
              </a:path>
              <a:path w="1923414" h="1841500">
                <a:moveTo>
                  <a:pt x="1923288" y="1043939"/>
                </a:moveTo>
                <a:lnTo>
                  <a:pt x="1911096" y="1043939"/>
                </a:lnTo>
                <a:lnTo>
                  <a:pt x="1911096" y="1082039"/>
                </a:lnTo>
                <a:lnTo>
                  <a:pt x="1923288" y="1082039"/>
                </a:lnTo>
                <a:lnTo>
                  <a:pt x="1923288" y="1043939"/>
                </a:lnTo>
                <a:close/>
              </a:path>
              <a:path w="1923414" h="1841500">
                <a:moveTo>
                  <a:pt x="1923288" y="1094231"/>
                </a:moveTo>
                <a:lnTo>
                  <a:pt x="1911096" y="1094231"/>
                </a:lnTo>
                <a:lnTo>
                  <a:pt x="1911096" y="1132331"/>
                </a:lnTo>
                <a:lnTo>
                  <a:pt x="1923288" y="1132331"/>
                </a:lnTo>
                <a:lnTo>
                  <a:pt x="1923288" y="1094231"/>
                </a:lnTo>
                <a:close/>
              </a:path>
              <a:path w="1923414" h="1841500">
                <a:moveTo>
                  <a:pt x="1923288" y="1144523"/>
                </a:moveTo>
                <a:lnTo>
                  <a:pt x="1911096" y="1144523"/>
                </a:lnTo>
                <a:lnTo>
                  <a:pt x="1911096" y="1182623"/>
                </a:lnTo>
                <a:lnTo>
                  <a:pt x="1923288" y="1182623"/>
                </a:lnTo>
                <a:lnTo>
                  <a:pt x="1923288" y="1144523"/>
                </a:lnTo>
                <a:close/>
              </a:path>
              <a:path w="1923414" h="1841500">
                <a:moveTo>
                  <a:pt x="1923288" y="1196339"/>
                </a:moveTo>
                <a:lnTo>
                  <a:pt x="1911096" y="1196339"/>
                </a:lnTo>
                <a:lnTo>
                  <a:pt x="1911096" y="1234439"/>
                </a:lnTo>
                <a:lnTo>
                  <a:pt x="1923288" y="1234439"/>
                </a:lnTo>
                <a:lnTo>
                  <a:pt x="1923288" y="1196339"/>
                </a:lnTo>
                <a:close/>
              </a:path>
              <a:path w="1923414" h="1841500">
                <a:moveTo>
                  <a:pt x="1923288" y="1246631"/>
                </a:moveTo>
                <a:lnTo>
                  <a:pt x="1911096" y="1246631"/>
                </a:lnTo>
                <a:lnTo>
                  <a:pt x="1911096" y="1284731"/>
                </a:lnTo>
                <a:lnTo>
                  <a:pt x="1923288" y="1284731"/>
                </a:lnTo>
                <a:lnTo>
                  <a:pt x="1923288" y="1246631"/>
                </a:lnTo>
                <a:close/>
              </a:path>
              <a:path w="1923414" h="1841500">
                <a:moveTo>
                  <a:pt x="1923288" y="1296923"/>
                </a:moveTo>
                <a:lnTo>
                  <a:pt x="1911096" y="1296923"/>
                </a:lnTo>
                <a:lnTo>
                  <a:pt x="1911096" y="1335023"/>
                </a:lnTo>
                <a:lnTo>
                  <a:pt x="1923288" y="1335023"/>
                </a:lnTo>
                <a:lnTo>
                  <a:pt x="1923288" y="1296923"/>
                </a:lnTo>
                <a:close/>
              </a:path>
              <a:path w="1923414" h="1841500">
                <a:moveTo>
                  <a:pt x="1923288" y="1348739"/>
                </a:moveTo>
                <a:lnTo>
                  <a:pt x="1911096" y="1348739"/>
                </a:lnTo>
                <a:lnTo>
                  <a:pt x="1911096" y="1386839"/>
                </a:lnTo>
                <a:lnTo>
                  <a:pt x="1923288" y="1386839"/>
                </a:lnTo>
                <a:lnTo>
                  <a:pt x="1923288" y="1348739"/>
                </a:lnTo>
                <a:close/>
              </a:path>
              <a:path w="1923414" h="1841500">
                <a:moveTo>
                  <a:pt x="1923288" y="1399031"/>
                </a:moveTo>
                <a:lnTo>
                  <a:pt x="1911096" y="1399031"/>
                </a:lnTo>
                <a:lnTo>
                  <a:pt x="1911096" y="1437131"/>
                </a:lnTo>
                <a:lnTo>
                  <a:pt x="1923288" y="1437131"/>
                </a:lnTo>
                <a:lnTo>
                  <a:pt x="1923288" y="1399031"/>
                </a:lnTo>
                <a:close/>
              </a:path>
              <a:path w="1923414" h="1841500">
                <a:moveTo>
                  <a:pt x="1923288" y="1449323"/>
                </a:moveTo>
                <a:lnTo>
                  <a:pt x="1911096" y="1449323"/>
                </a:lnTo>
                <a:lnTo>
                  <a:pt x="1911096" y="1487423"/>
                </a:lnTo>
                <a:lnTo>
                  <a:pt x="1923288" y="1487423"/>
                </a:lnTo>
                <a:lnTo>
                  <a:pt x="1923288" y="1449323"/>
                </a:lnTo>
                <a:close/>
              </a:path>
              <a:path w="1923414" h="1841500">
                <a:moveTo>
                  <a:pt x="1923288" y="1501139"/>
                </a:moveTo>
                <a:lnTo>
                  <a:pt x="1911096" y="1501139"/>
                </a:lnTo>
                <a:lnTo>
                  <a:pt x="1911096" y="1539239"/>
                </a:lnTo>
                <a:lnTo>
                  <a:pt x="1923288" y="1539239"/>
                </a:lnTo>
                <a:lnTo>
                  <a:pt x="1923288" y="1501139"/>
                </a:lnTo>
                <a:close/>
              </a:path>
              <a:path w="1923414" h="1841500">
                <a:moveTo>
                  <a:pt x="1923288" y="1551431"/>
                </a:moveTo>
                <a:lnTo>
                  <a:pt x="1911096" y="1551431"/>
                </a:lnTo>
                <a:lnTo>
                  <a:pt x="1911096" y="1589531"/>
                </a:lnTo>
                <a:lnTo>
                  <a:pt x="1923288" y="1589531"/>
                </a:lnTo>
                <a:lnTo>
                  <a:pt x="1923288" y="1551431"/>
                </a:lnTo>
                <a:close/>
              </a:path>
              <a:path w="1923414" h="1841500">
                <a:moveTo>
                  <a:pt x="1923288" y="1601723"/>
                </a:moveTo>
                <a:lnTo>
                  <a:pt x="1911096" y="1601723"/>
                </a:lnTo>
                <a:lnTo>
                  <a:pt x="1911096" y="1639823"/>
                </a:lnTo>
                <a:lnTo>
                  <a:pt x="1923288" y="1639823"/>
                </a:lnTo>
                <a:lnTo>
                  <a:pt x="1923288" y="1601723"/>
                </a:lnTo>
                <a:close/>
              </a:path>
              <a:path w="1923414" h="1841500">
                <a:moveTo>
                  <a:pt x="1923288" y="1653539"/>
                </a:moveTo>
                <a:lnTo>
                  <a:pt x="1911096" y="1653539"/>
                </a:lnTo>
                <a:lnTo>
                  <a:pt x="1911096" y="1691639"/>
                </a:lnTo>
                <a:lnTo>
                  <a:pt x="1923288" y="1691639"/>
                </a:lnTo>
                <a:lnTo>
                  <a:pt x="1923288" y="1653539"/>
                </a:lnTo>
                <a:close/>
              </a:path>
              <a:path w="1923414" h="1841500">
                <a:moveTo>
                  <a:pt x="1923288" y="1703831"/>
                </a:moveTo>
                <a:lnTo>
                  <a:pt x="1911096" y="1703831"/>
                </a:lnTo>
                <a:lnTo>
                  <a:pt x="1911096" y="1741931"/>
                </a:lnTo>
                <a:lnTo>
                  <a:pt x="1923288" y="1741931"/>
                </a:lnTo>
                <a:lnTo>
                  <a:pt x="1923288" y="1703831"/>
                </a:lnTo>
                <a:close/>
              </a:path>
              <a:path w="1923414" h="1841500">
                <a:moveTo>
                  <a:pt x="1923288" y="1754123"/>
                </a:moveTo>
                <a:lnTo>
                  <a:pt x="1911096" y="1754123"/>
                </a:lnTo>
                <a:lnTo>
                  <a:pt x="1911096" y="1792223"/>
                </a:lnTo>
                <a:lnTo>
                  <a:pt x="1923288" y="1792223"/>
                </a:lnTo>
                <a:lnTo>
                  <a:pt x="1923288" y="1754123"/>
                </a:lnTo>
                <a:close/>
              </a:path>
              <a:path w="1923414" h="1841500">
                <a:moveTo>
                  <a:pt x="1911096" y="1828799"/>
                </a:moveTo>
                <a:lnTo>
                  <a:pt x="1909572" y="1828799"/>
                </a:lnTo>
                <a:lnTo>
                  <a:pt x="1909572" y="1840991"/>
                </a:lnTo>
                <a:lnTo>
                  <a:pt x="1920239" y="1840991"/>
                </a:lnTo>
                <a:lnTo>
                  <a:pt x="1923288" y="1837943"/>
                </a:lnTo>
                <a:lnTo>
                  <a:pt x="1923288" y="1834895"/>
                </a:lnTo>
                <a:lnTo>
                  <a:pt x="1911096" y="1834895"/>
                </a:lnTo>
                <a:lnTo>
                  <a:pt x="1911096" y="1828799"/>
                </a:lnTo>
                <a:close/>
              </a:path>
              <a:path w="1923414" h="1841500">
                <a:moveTo>
                  <a:pt x="1923288" y="1805939"/>
                </a:moveTo>
                <a:lnTo>
                  <a:pt x="1911096" y="1805939"/>
                </a:lnTo>
                <a:lnTo>
                  <a:pt x="1911096" y="1834895"/>
                </a:lnTo>
                <a:lnTo>
                  <a:pt x="1917191" y="1828799"/>
                </a:lnTo>
                <a:lnTo>
                  <a:pt x="1923288" y="1828799"/>
                </a:lnTo>
                <a:lnTo>
                  <a:pt x="1923288" y="1805939"/>
                </a:lnTo>
                <a:close/>
              </a:path>
              <a:path w="1923414" h="1841500">
                <a:moveTo>
                  <a:pt x="1923288" y="1828799"/>
                </a:moveTo>
                <a:lnTo>
                  <a:pt x="1917191" y="1828799"/>
                </a:lnTo>
                <a:lnTo>
                  <a:pt x="1911096" y="1834895"/>
                </a:lnTo>
                <a:lnTo>
                  <a:pt x="1923288" y="1834895"/>
                </a:lnTo>
                <a:lnTo>
                  <a:pt x="1923288" y="1828799"/>
                </a:lnTo>
                <a:close/>
              </a:path>
              <a:path w="1923414" h="1841500">
                <a:moveTo>
                  <a:pt x="1895855" y="1828799"/>
                </a:moveTo>
                <a:lnTo>
                  <a:pt x="1857755" y="1828799"/>
                </a:lnTo>
                <a:lnTo>
                  <a:pt x="1857755" y="1840991"/>
                </a:lnTo>
                <a:lnTo>
                  <a:pt x="1895855" y="1840991"/>
                </a:lnTo>
                <a:lnTo>
                  <a:pt x="1895855" y="1828799"/>
                </a:lnTo>
                <a:close/>
              </a:path>
              <a:path w="1923414" h="1841500">
                <a:moveTo>
                  <a:pt x="1845564" y="1828799"/>
                </a:moveTo>
                <a:lnTo>
                  <a:pt x="1807464" y="1828799"/>
                </a:lnTo>
                <a:lnTo>
                  <a:pt x="1807464" y="1840991"/>
                </a:lnTo>
                <a:lnTo>
                  <a:pt x="1845564" y="1840991"/>
                </a:lnTo>
                <a:lnTo>
                  <a:pt x="1845564" y="1828799"/>
                </a:lnTo>
                <a:close/>
              </a:path>
              <a:path w="1923414" h="1841500">
                <a:moveTo>
                  <a:pt x="1795272" y="1828799"/>
                </a:moveTo>
                <a:lnTo>
                  <a:pt x="1757172" y="1828799"/>
                </a:lnTo>
                <a:lnTo>
                  <a:pt x="1757172" y="1840991"/>
                </a:lnTo>
                <a:lnTo>
                  <a:pt x="1795272" y="1840991"/>
                </a:lnTo>
                <a:lnTo>
                  <a:pt x="1795272" y="1828799"/>
                </a:lnTo>
                <a:close/>
              </a:path>
              <a:path w="1923414" h="1841500">
                <a:moveTo>
                  <a:pt x="1743455" y="1828799"/>
                </a:moveTo>
                <a:lnTo>
                  <a:pt x="1705355" y="1828799"/>
                </a:lnTo>
                <a:lnTo>
                  <a:pt x="1705355" y="1840991"/>
                </a:lnTo>
                <a:lnTo>
                  <a:pt x="1743455" y="1840991"/>
                </a:lnTo>
                <a:lnTo>
                  <a:pt x="1743455" y="1828799"/>
                </a:lnTo>
                <a:close/>
              </a:path>
              <a:path w="1923414" h="1841500">
                <a:moveTo>
                  <a:pt x="1693164" y="1828799"/>
                </a:moveTo>
                <a:lnTo>
                  <a:pt x="1655064" y="1828799"/>
                </a:lnTo>
                <a:lnTo>
                  <a:pt x="1655064" y="1840991"/>
                </a:lnTo>
                <a:lnTo>
                  <a:pt x="1693164" y="1840991"/>
                </a:lnTo>
                <a:lnTo>
                  <a:pt x="1693164" y="1828799"/>
                </a:lnTo>
                <a:close/>
              </a:path>
              <a:path w="1923414" h="1841500">
                <a:moveTo>
                  <a:pt x="1642872" y="1828799"/>
                </a:moveTo>
                <a:lnTo>
                  <a:pt x="1604772" y="1828799"/>
                </a:lnTo>
                <a:lnTo>
                  <a:pt x="1604772" y="1840991"/>
                </a:lnTo>
                <a:lnTo>
                  <a:pt x="1642872" y="1840991"/>
                </a:lnTo>
                <a:lnTo>
                  <a:pt x="1642872" y="1828799"/>
                </a:lnTo>
                <a:close/>
              </a:path>
              <a:path w="1923414" h="1841500">
                <a:moveTo>
                  <a:pt x="1591055" y="1828799"/>
                </a:moveTo>
                <a:lnTo>
                  <a:pt x="1552955" y="1828799"/>
                </a:lnTo>
                <a:lnTo>
                  <a:pt x="1552955" y="1840991"/>
                </a:lnTo>
                <a:lnTo>
                  <a:pt x="1591055" y="1840991"/>
                </a:lnTo>
                <a:lnTo>
                  <a:pt x="1591055" y="1828799"/>
                </a:lnTo>
                <a:close/>
              </a:path>
              <a:path w="1923414" h="1841500">
                <a:moveTo>
                  <a:pt x="1540764" y="1828799"/>
                </a:moveTo>
                <a:lnTo>
                  <a:pt x="1502664" y="1828799"/>
                </a:lnTo>
                <a:lnTo>
                  <a:pt x="1502664" y="1840991"/>
                </a:lnTo>
                <a:lnTo>
                  <a:pt x="1540764" y="1840991"/>
                </a:lnTo>
                <a:lnTo>
                  <a:pt x="1540764" y="1828799"/>
                </a:lnTo>
                <a:close/>
              </a:path>
              <a:path w="1923414" h="1841500">
                <a:moveTo>
                  <a:pt x="1490472" y="1828799"/>
                </a:moveTo>
                <a:lnTo>
                  <a:pt x="1452372" y="1828799"/>
                </a:lnTo>
                <a:lnTo>
                  <a:pt x="1452372" y="1840991"/>
                </a:lnTo>
                <a:lnTo>
                  <a:pt x="1490472" y="1840991"/>
                </a:lnTo>
                <a:lnTo>
                  <a:pt x="1490472" y="1828799"/>
                </a:lnTo>
                <a:close/>
              </a:path>
              <a:path w="1923414" h="1841500">
                <a:moveTo>
                  <a:pt x="1438655" y="1828799"/>
                </a:moveTo>
                <a:lnTo>
                  <a:pt x="1400555" y="1828799"/>
                </a:lnTo>
                <a:lnTo>
                  <a:pt x="1400555" y="1840991"/>
                </a:lnTo>
                <a:lnTo>
                  <a:pt x="1438655" y="1840991"/>
                </a:lnTo>
                <a:lnTo>
                  <a:pt x="1438655" y="1828799"/>
                </a:lnTo>
                <a:close/>
              </a:path>
              <a:path w="1923414" h="1841500">
                <a:moveTo>
                  <a:pt x="1388364" y="1828799"/>
                </a:moveTo>
                <a:lnTo>
                  <a:pt x="1350264" y="1828799"/>
                </a:lnTo>
                <a:lnTo>
                  <a:pt x="1350264" y="1840991"/>
                </a:lnTo>
                <a:lnTo>
                  <a:pt x="1388364" y="1840991"/>
                </a:lnTo>
                <a:lnTo>
                  <a:pt x="1388364" y="1828799"/>
                </a:lnTo>
                <a:close/>
              </a:path>
              <a:path w="1923414" h="1841500">
                <a:moveTo>
                  <a:pt x="1338072" y="1828799"/>
                </a:moveTo>
                <a:lnTo>
                  <a:pt x="1299972" y="1828799"/>
                </a:lnTo>
                <a:lnTo>
                  <a:pt x="1299972" y="1840991"/>
                </a:lnTo>
                <a:lnTo>
                  <a:pt x="1338072" y="1840991"/>
                </a:lnTo>
                <a:lnTo>
                  <a:pt x="1338072" y="1828799"/>
                </a:lnTo>
                <a:close/>
              </a:path>
              <a:path w="1923414" h="1841500">
                <a:moveTo>
                  <a:pt x="1286255" y="1828799"/>
                </a:moveTo>
                <a:lnTo>
                  <a:pt x="1248155" y="1828799"/>
                </a:lnTo>
                <a:lnTo>
                  <a:pt x="1248155" y="1840991"/>
                </a:lnTo>
                <a:lnTo>
                  <a:pt x="1286255" y="1840991"/>
                </a:lnTo>
                <a:lnTo>
                  <a:pt x="1286255" y="1828799"/>
                </a:lnTo>
                <a:close/>
              </a:path>
              <a:path w="1923414" h="1841500">
                <a:moveTo>
                  <a:pt x="1235964" y="1828799"/>
                </a:moveTo>
                <a:lnTo>
                  <a:pt x="1197864" y="1828799"/>
                </a:lnTo>
                <a:lnTo>
                  <a:pt x="1197864" y="1840991"/>
                </a:lnTo>
                <a:lnTo>
                  <a:pt x="1235964" y="1840991"/>
                </a:lnTo>
                <a:lnTo>
                  <a:pt x="1235964" y="1828799"/>
                </a:lnTo>
                <a:close/>
              </a:path>
              <a:path w="1923414" h="1841500">
                <a:moveTo>
                  <a:pt x="1185672" y="1828799"/>
                </a:moveTo>
                <a:lnTo>
                  <a:pt x="1147572" y="1828799"/>
                </a:lnTo>
                <a:lnTo>
                  <a:pt x="1147572" y="1840991"/>
                </a:lnTo>
                <a:lnTo>
                  <a:pt x="1185672" y="1840991"/>
                </a:lnTo>
                <a:lnTo>
                  <a:pt x="1185672" y="1828799"/>
                </a:lnTo>
                <a:close/>
              </a:path>
              <a:path w="1923414" h="1841500">
                <a:moveTo>
                  <a:pt x="1133855" y="1828799"/>
                </a:moveTo>
                <a:lnTo>
                  <a:pt x="1095755" y="1828799"/>
                </a:lnTo>
                <a:lnTo>
                  <a:pt x="1095755" y="1840991"/>
                </a:lnTo>
                <a:lnTo>
                  <a:pt x="1133855" y="1840991"/>
                </a:lnTo>
                <a:lnTo>
                  <a:pt x="1133855" y="1828799"/>
                </a:lnTo>
                <a:close/>
              </a:path>
              <a:path w="1923414" h="1841500">
                <a:moveTo>
                  <a:pt x="1083564" y="1828799"/>
                </a:moveTo>
                <a:lnTo>
                  <a:pt x="1045463" y="1828799"/>
                </a:lnTo>
                <a:lnTo>
                  <a:pt x="1045463" y="1840991"/>
                </a:lnTo>
                <a:lnTo>
                  <a:pt x="1083564" y="1840991"/>
                </a:lnTo>
                <a:lnTo>
                  <a:pt x="1083564" y="1828799"/>
                </a:lnTo>
                <a:close/>
              </a:path>
              <a:path w="1923414" h="1841500">
                <a:moveTo>
                  <a:pt x="1033272" y="1828799"/>
                </a:moveTo>
                <a:lnTo>
                  <a:pt x="995172" y="1828799"/>
                </a:lnTo>
                <a:lnTo>
                  <a:pt x="995172" y="1840991"/>
                </a:lnTo>
                <a:lnTo>
                  <a:pt x="1033272" y="1840991"/>
                </a:lnTo>
                <a:lnTo>
                  <a:pt x="1033272" y="1828799"/>
                </a:lnTo>
                <a:close/>
              </a:path>
              <a:path w="1923414" h="1841500">
                <a:moveTo>
                  <a:pt x="981455" y="1828799"/>
                </a:moveTo>
                <a:lnTo>
                  <a:pt x="943355" y="1828799"/>
                </a:lnTo>
                <a:lnTo>
                  <a:pt x="943355" y="1840991"/>
                </a:lnTo>
                <a:lnTo>
                  <a:pt x="981455" y="1840991"/>
                </a:lnTo>
                <a:lnTo>
                  <a:pt x="981455" y="1828799"/>
                </a:lnTo>
                <a:close/>
              </a:path>
              <a:path w="1923414" h="1841500">
                <a:moveTo>
                  <a:pt x="931163" y="1828799"/>
                </a:moveTo>
                <a:lnTo>
                  <a:pt x="893063" y="1828799"/>
                </a:lnTo>
                <a:lnTo>
                  <a:pt x="893063" y="1840991"/>
                </a:lnTo>
                <a:lnTo>
                  <a:pt x="931163" y="1840991"/>
                </a:lnTo>
                <a:lnTo>
                  <a:pt x="931163" y="1828799"/>
                </a:lnTo>
                <a:close/>
              </a:path>
              <a:path w="1923414" h="1841500">
                <a:moveTo>
                  <a:pt x="880872" y="1828799"/>
                </a:moveTo>
                <a:lnTo>
                  <a:pt x="842772" y="1828799"/>
                </a:lnTo>
                <a:lnTo>
                  <a:pt x="842772" y="1840991"/>
                </a:lnTo>
                <a:lnTo>
                  <a:pt x="880872" y="1840991"/>
                </a:lnTo>
                <a:lnTo>
                  <a:pt x="880872" y="1828799"/>
                </a:lnTo>
                <a:close/>
              </a:path>
              <a:path w="1923414" h="1841500">
                <a:moveTo>
                  <a:pt x="829055" y="1828799"/>
                </a:moveTo>
                <a:lnTo>
                  <a:pt x="790955" y="1828799"/>
                </a:lnTo>
                <a:lnTo>
                  <a:pt x="790955" y="1840991"/>
                </a:lnTo>
                <a:lnTo>
                  <a:pt x="829055" y="1840991"/>
                </a:lnTo>
                <a:lnTo>
                  <a:pt x="829055" y="1828799"/>
                </a:lnTo>
                <a:close/>
              </a:path>
              <a:path w="1923414" h="1841500">
                <a:moveTo>
                  <a:pt x="778763" y="1828799"/>
                </a:moveTo>
                <a:lnTo>
                  <a:pt x="740663" y="1828799"/>
                </a:lnTo>
                <a:lnTo>
                  <a:pt x="740663" y="1840991"/>
                </a:lnTo>
                <a:lnTo>
                  <a:pt x="778763" y="1840991"/>
                </a:lnTo>
                <a:lnTo>
                  <a:pt x="778763" y="1828799"/>
                </a:lnTo>
                <a:close/>
              </a:path>
              <a:path w="1923414" h="1841500">
                <a:moveTo>
                  <a:pt x="728472" y="1828799"/>
                </a:moveTo>
                <a:lnTo>
                  <a:pt x="690372" y="1828799"/>
                </a:lnTo>
                <a:lnTo>
                  <a:pt x="690372" y="1840991"/>
                </a:lnTo>
                <a:lnTo>
                  <a:pt x="728472" y="1840991"/>
                </a:lnTo>
                <a:lnTo>
                  <a:pt x="728472" y="1828799"/>
                </a:lnTo>
                <a:close/>
              </a:path>
              <a:path w="1923414" h="1841500">
                <a:moveTo>
                  <a:pt x="676655" y="1828799"/>
                </a:moveTo>
                <a:lnTo>
                  <a:pt x="638555" y="1828799"/>
                </a:lnTo>
                <a:lnTo>
                  <a:pt x="638555" y="1840991"/>
                </a:lnTo>
                <a:lnTo>
                  <a:pt x="676655" y="1840991"/>
                </a:lnTo>
                <a:lnTo>
                  <a:pt x="676655" y="1828799"/>
                </a:lnTo>
                <a:close/>
              </a:path>
              <a:path w="1923414" h="1841500">
                <a:moveTo>
                  <a:pt x="626363" y="1828799"/>
                </a:moveTo>
                <a:lnTo>
                  <a:pt x="588263" y="1828799"/>
                </a:lnTo>
                <a:lnTo>
                  <a:pt x="588263" y="1840991"/>
                </a:lnTo>
                <a:lnTo>
                  <a:pt x="626363" y="1840991"/>
                </a:lnTo>
                <a:lnTo>
                  <a:pt x="626363" y="1828799"/>
                </a:lnTo>
                <a:close/>
              </a:path>
              <a:path w="1923414" h="1841500">
                <a:moveTo>
                  <a:pt x="576072" y="1828799"/>
                </a:moveTo>
                <a:lnTo>
                  <a:pt x="537972" y="1828799"/>
                </a:lnTo>
                <a:lnTo>
                  <a:pt x="537972" y="1840991"/>
                </a:lnTo>
                <a:lnTo>
                  <a:pt x="576072" y="1840991"/>
                </a:lnTo>
                <a:lnTo>
                  <a:pt x="576072" y="1828799"/>
                </a:lnTo>
                <a:close/>
              </a:path>
              <a:path w="1923414" h="1841500">
                <a:moveTo>
                  <a:pt x="524255" y="1828799"/>
                </a:moveTo>
                <a:lnTo>
                  <a:pt x="486155" y="1828799"/>
                </a:lnTo>
                <a:lnTo>
                  <a:pt x="486155" y="1840991"/>
                </a:lnTo>
                <a:lnTo>
                  <a:pt x="524255" y="1840991"/>
                </a:lnTo>
                <a:lnTo>
                  <a:pt x="524255" y="1828799"/>
                </a:lnTo>
                <a:close/>
              </a:path>
              <a:path w="1923414" h="1841500">
                <a:moveTo>
                  <a:pt x="473963" y="1828799"/>
                </a:moveTo>
                <a:lnTo>
                  <a:pt x="435863" y="1828799"/>
                </a:lnTo>
                <a:lnTo>
                  <a:pt x="435863" y="1840991"/>
                </a:lnTo>
                <a:lnTo>
                  <a:pt x="473963" y="1840991"/>
                </a:lnTo>
                <a:lnTo>
                  <a:pt x="473963" y="1828799"/>
                </a:lnTo>
                <a:close/>
              </a:path>
              <a:path w="1923414" h="1841500">
                <a:moveTo>
                  <a:pt x="423672" y="1828799"/>
                </a:moveTo>
                <a:lnTo>
                  <a:pt x="385572" y="1828799"/>
                </a:lnTo>
                <a:lnTo>
                  <a:pt x="385572" y="1840991"/>
                </a:lnTo>
                <a:lnTo>
                  <a:pt x="423672" y="1840991"/>
                </a:lnTo>
                <a:lnTo>
                  <a:pt x="423672" y="1828799"/>
                </a:lnTo>
                <a:close/>
              </a:path>
              <a:path w="1923414" h="1841500">
                <a:moveTo>
                  <a:pt x="371855" y="1828799"/>
                </a:moveTo>
                <a:lnTo>
                  <a:pt x="333755" y="1828799"/>
                </a:lnTo>
                <a:lnTo>
                  <a:pt x="333755" y="1840991"/>
                </a:lnTo>
                <a:lnTo>
                  <a:pt x="371855" y="1840991"/>
                </a:lnTo>
                <a:lnTo>
                  <a:pt x="371855" y="1828799"/>
                </a:lnTo>
                <a:close/>
              </a:path>
              <a:path w="1923414" h="1841500">
                <a:moveTo>
                  <a:pt x="321563" y="1828799"/>
                </a:moveTo>
                <a:lnTo>
                  <a:pt x="283463" y="1828799"/>
                </a:lnTo>
                <a:lnTo>
                  <a:pt x="283463" y="1840991"/>
                </a:lnTo>
                <a:lnTo>
                  <a:pt x="321563" y="1840991"/>
                </a:lnTo>
                <a:lnTo>
                  <a:pt x="321563" y="1828799"/>
                </a:lnTo>
                <a:close/>
              </a:path>
              <a:path w="1923414" h="1841500">
                <a:moveTo>
                  <a:pt x="271272" y="1828799"/>
                </a:moveTo>
                <a:lnTo>
                  <a:pt x="233172" y="1828799"/>
                </a:lnTo>
                <a:lnTo>
                  <a:pt x="233172" y="1840991"/>
                </a:lnTo>
                <a:lnTo>
                  <a:pt x="271272" y="1840991"/>
                </a:lnTo>
                <a:lnTo>
                  <a:pt x="271272" y="1828799"/>
                </a:lnTo>
                <a:close/>
              </a:path>
              <a:path w="1923414" h="1841500">
                <a:moveTo>
                  <a:pt x="219455" y="1828799"/>
                </a:moveTo>
                <a:lnTo>
                  <a:pt x="181355" y="1828799"/>
                </a:lnTo>
                <a:lnTo>
                  <a:pt x="181355" y="1840991"/>
                </a:lnTo>
                <a:lnTo>
                  <a:pt x="219455" y="1840991"/>
                </a:lnTo>
                <a:lnTo>
                  <a:pt x="219455" y="1828799"/>
                </a:lnTo>
                <a:close/>
              </a:path>
              <a:path w="1923414" h="1841500">
                <a:moveTo>
                  <a:pt x="169163" y="1828799"/>
                </a:moveTo>
                <a:lnTo>
                  <a:pt x="131063" y="1828799"/>
                </a:lnTo>
                <a:lnTo>
                  <a:pt x="131063" y="1840991"/>
                </a:lnTo>
                <a:lnTo>
                  <a:pt x="169163" y="1840991"/>
                </a:lnTo>
                <a:lnTo>
                  <a:pt x="169163" y="1828799"/>
                </a:lnTo>
                <a:close/>
              </a:path>
              <a:path w="1923414" h="1841500">
                <a:moveTo>
                  <a:pt x="118872" y="1828799"/>
                </a:moveTo>
                <a:lnTo>
                  <a:pt x="80772" y="1828799"/>
                </a:lnTo>
                <a:lnTo>
                  <a:pt x="80772" y="1840991"/>
                </a:lnTo>
                <a:lnTo>
                  <a:pt x="118872" y="1840991"/>
                </a:lnTo>
                <a:lnTo>
                  <a:pt x="118872" y="1828799"/>
                </a:lnTo>
                <a:close/>
              </a:path>
              <a:path w="1923414" h="1841500">
                <a:moveTo>
                  <a:pt x="67055" y="1828799"/>
                </a:moveTo>
                <a:lnTo>
                  <a:pt x="28955" y="1828799"/>
                </a:lnTo>
                <a:lnTo>
                  <a:pt x="28955" y="1840991"/>
                </a:lnTo>
                <a:lnTo>
                  <a:pt x="67055" y="1840991"/>
                </a:lnTo>
                <a:lnTo>
                  <a:pt x="67055" y="18287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3861211" y="937377"/>
            <a:ext cx="589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 panose="020B0604020202020204"/>
                <a:cs typeface="Arial" panose="020B0604020202020204"/>
              </a:rPr>
              <a:t>S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o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f</a:t>
            </a:r>
            <a:r>
              <a:rPr sz="1200" dirty="0">
                <a:latin typeface="Arial" panose="020B0604020202020204"/>
                <a:cs typeface="Arial" panose="020B0604020202020204"/>
              </a:rPr>
              <a:t>t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m</a:t>
            </a:r>
            <a:r>
              <a:rPr sz="1200" spc="-5" dirty="0">
                <a:latin typeface="Arial" panose="020B0604020202020204"/>
                <a:cs typeface="Arial" panose="020B0604020202020204"/>
              </a:rPr>
              <a:t>ax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2328144" y="147869"/>
            <a:ext cx="1191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SO</a:t>
            </a:r>
            <a:r>
              <a:rPr sz="1800" b="1" spc="25" dirty="0">
                <a:latin typeface="微软雅黑" panose="020B0503020204020204" charset="-122"/>
                <a:cs typeface="微软雅黑" panose="020B0503020204020204" charset="-122"/>
              </a:rPr>
              <a:t>F</a:t>
            </a: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TMAX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" name="object 32"/>
          <p:cNvSpPr txBox="1"/>
          <p:nvPr/>
        </p:nvSpPr>
        <p:spPr>
          <a:xfrm>
            <a:off x="3708400" y="1960052"/>
            <a:ext cx="1638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7" baseline="-12000" smtClean="0">
                <a:latin typeface="Cambria Math" panose="02040503050406030204"/>
                <a:cs typeface="Cambria Math" panose="02040503050406030204"/>
              </a:rPr>
              <a:t>e</a:t>
            </a:r>
            <a:r>
              <a:rPr lang="en-US" altLang="zh-CN" sz="1350" spc="75" baseline="30000" smtClean="0">
                <a:latin typeface="Cambria Math" panose="02040503050406030204"/>
                <a:cs typeface="Cambria Math" panose="02040503050406030204"/>
              </a:rPr>
              <a:t>f</a:t>
            </a:r>
            <a:r>
              <a:rPr lang="en-US" sz="550" spc="15" baseline="30000" smtClean="0">
                <a:latin typeface="Cambria Math" panose="02040503050406030204"/>
                <a:cs typeface="Cambria Math" panose="02040503050406030204"/>
              </a:rPr>
              <a:t>2</a:t>
            </a:r>
            <a:endParaRPr sz="550" baseline="30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6" name="object 32"/>
          <p:cNvSpPr txBox="1"/>
          <p:nvPr/>
        </p:nvSpPr>
        <p:spPr>
          <a:xfrm>
            <a:off x="3708400" y="2645852"/>
            <a:ext cx="1638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7" baseline="-12000" smtClean="0">
                <a:latin typeface="Cambria Math" panose="02040503050406030204"/>
                <a:cs typeface="Cambria Math" panose="02040503050406030204"/>
              </a:rPr>
              <a:t>e</a:t>
            </a:r>
            <a:r>
              <a:rPr lang="en-US" altLang="zh-CN" sz="1350" spc="75" baseline="30000" smtClean="0">
                <a:latin typeface="Cambria Math" panose="02040503050406030204"/>
                <a:cs typeface="Cambria Math" panose="02040503050406030204"/>
              </a:rPr>
              <a:t>f</a:t>
            </a:r>
            <a:r>
              <a:rPr lang="en-US" altLang="zh-CN" sz="550" spc="15" baseline="30000" smtClean="0">
                <a:latin typeface="Cambria Math" panose="02040503050406030204"/>
                <a:cs typeface="Cambria Math" panose="02040503050406030204"/>
              </a:rPr>
              <a:t>c</a:t>
            </a:r>
            <a:endParaRPr sz="550" baseline="30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310" y="724297"/>
            <a:ext cx="605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600" b="1" spc="-5" dirty="0">
                <a:latin typeface="黑体" panose="02010609060101010101" charset="-122"/>
                <a:cs typeface="黑体" panose="02010609060101010101" charset="-122"/>
              </a:rPr>
              <a:t>示</a:t>
            </a:r>
            <a:r>
              <a:rPr sz="1600" b="1" spc="-15" dirty="0">
                <a:latin typeface="黑体" panose="02010609060101010101" charset="-122"/>
                <a:cs typeface="黑体" panose="02010609060101010101" charset="-122"/>
              </a:rPr>
              <a:t>例</a:t>
            </a:r>
            <a:endParaRPr sz="1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68043" y="1358268"/>
            <a:ext cx="280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bir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d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8043" y="1605180"/>
            <a:ext cx="217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ca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t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8043" y="1852092"/>
            <a:ext cx="2152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a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r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5523" y="1340517"/>
            <a:ext cx="410209" cy="681355"/>
          </a:xfrm>
          <a:prstGeom prst="rect">
            <a:avLst/>
          </a:prstGeom>
          <a:ln w="9143">
            <a:solidFill>
              <a:srgbClr val="0000F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45"/>
              </a:spcBef>
            </a:pPr>
            <a:r>
              <a:rPr sz="1200" b="1" dirty="0">
                <a:latin typeface="Arial" panose="020B0604020202020204"/>
                <a:cs typeface="Arial" panose="020B0604020202020204"/>
              </a:rPr>
              <a:t>0.6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80645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Arial" panose="020B0604020202020204"/>
                <a:cs typeface="Arial" panose="020B0604020202020204"/>
              </a:rPr>
              <a:t>-2.3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9715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Arial" panose="020B0604020202020204"/>
                <a:cs typeface="Arial" panose="020B0604020202020204"/>
              </a:rPr>
              <a:t>1.9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16911" y="1367949"/>
            <a:ext cx="460375" cy="588645"/>
          </a:xfrm>
          <a:custGeom>
            <a:avLst/>
            <a:gdLst/>
            <a:ahLst/>
            <a:cxnLst/>
            <a:rect l="l" t="t" r="r" b="b"/>
            <a:pathLst>
              <a:path w="460375" h="588644">
                <a:moveTo>
                  <a:pt x="0" y="0"/>
                </a:moveTo>
                <a:lnTo>
                  <a:pt x="460247" y="0"/>
                </a:lnTo>
                <a:lnTo>
                  <a:pt x="460247" y="588263"/>
                </a:lnTo>
                <a:lnTo>
                  <a:pt x="0" y="588263"/>
                </a:lnTo>
                <a:lnTo>
                  <a:pt x="0" y="0"/>
                </a:lnTo>
                <a:close/>
              </a:path>
            </a:pathLst>
          </a:custGeom>
          <a:ln w="9143">
            <a:solidFill>
              <a:srgbClr val="3776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115454" y="1331831"/>
            <a:ext cx="280670" cy="6350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.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0.01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0.78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01927" y="1349661"/>
            <a:ext cx="407034" cy="683260"/>
          </a:xfrm>
          <a:prstGeom prst="rect">
            <a:avLst/>
          </a:prstGeom>
          <a:ln w="6095">
            <a:solidFill>
              <a:srgbClr val="C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55"/>
              </a:spcBef>
            </a:pPr>
            <a:r>
              <a:rPr sz="1200" b="1" spc="-5" dirty="0">
                <a:latin typeface="Arial" panose="020B0604020202020204"/>
                <a:cs typeface="Arial" panose="020B0604020202020204"/>
              </a:rPr>
              <a:t>1.81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60960">
              <a:lnSpc>
                <a:spcPct val="100000"/>
              </a:lnSpc>
              <a:spcBef>
                <a:spcPts val="410"/>
              </a:spcBef>
            </a:pPr>
            <a:r>
              <a:rPr sz="1200" spc="-5" dirty="0">
                <a:latin typeface="Arial" panose="020B0604020202020204"/>
                <a:cs typeface="Arial" panose="020B0604020202020204"/>
              </a:rPr>
              <a:t>0.10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53340">
              <a:lnSpc>
                <a:spcPct val="100000"/>
              </a:lnSpc>
              <a:spcBef>
                <a:spcPts val="395"/>
              </a:spcBef>
            </a:pPr>
            <a:r>
              <a:rPr sz="1200" spc="-5" dirty="0">
                <a:latin typeface="Arial" panose="020B0604020202020204"/>
                <a:cs typeface="Arial" panose="020B0604020202020204"/>
              </a:rPr>
              <a:t>6.69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404" y="1326801"/>
            <a:ext cx="726947" cy="66446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1065" y="2121773"/>
            <a:ext cx="28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像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47120" y="1662081"/>
            <a:ext cx="1708785" cy="38100"/>
          </a:xfrm>
          <a:custGeom>
            <a:avLst/>
            <a:gdLst/>
            <a:ahLst/>
            <a:cxnLst/>
            <a:rect l="l" t="t" r="r" b="b"/>
            <a:pathLst>
              <a:path w="1708785" h="38100">
                <a:moveTo>
                  <a:pt x="1670304" y="0"/>
                </a:moveTo>
                <a:lnTo>
                  <a:pt x="1670304" y="38100"/>
                </a:lnTo>
                <a:lnTo>
                  <a:pt x="1702542" y="21336"/>
                </a:lnTo>
                <a:lnTo>
                  <a:pt x="1676400" y="21336"/>
                </a:lnTo>
                <a:lnTo>
                  <a:pt x="1676400" y="16764"/>
                </a:lnTo>
                <a:lnTo>
                  <a:pt x="1705229" y="16764"/>
                </a:lnTo>
                <a:lnTo>
                  <a:pt x="1670304" y="0"/>
                </a:lnTo>
                <a:close/>
              </a:path>
              <a:path w="1708785" h="38100">
                <a:moveTo>
                  <a:pt x="1670304" y="16764"/>
                </a:moveTo>
                <a:lnTo>
                  <a:pt x="0" y="16764"/>
                </a:lnTo>
                <a:lnTo>
                  <a:pt x="0" y="21336"/>
                </a:lnTo>
                <a:lnTo>
                  <a:pt x="1670304" y="21336"/>
                </a:lnTo>
                <a:lnTo>
                  <a:pt x="1670304" y="16764"/>
                </a:lnTo>
                <a:close/>
              </a:path>
              <a:path w="1708785" h="38100">
                <a:moveTo>
                  <a:pt x="1705229" y="16764"/>
                </a:moveTo>
                <a:lnTo>
                  <a:pt x="1676400" y="16764"/>
                </a:lnTo>
                <a:lnTo>
                  <a:pt x="1676400" y="21336"/>
                </a:lnTo>
                <a:lnTo>
                  <a:pt x="1702542" y="21336"/>
                </a:lnTo>
                <a:lnTo>
                  <a:pt x="1708404" y="18288"/>
                </a:lnTo>
                <a:lnTo>
                  <a:pt x="1705229" y="16764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50240" y="1662081"/>
            <a:ext cx="551815" cy="38100"/>
          </a:xfrm>
          <a:custGeom>
            <a:avLst/>
            <a:gdLst/>
            <a:ahLst/>
            <a:cxnLst/>
            <a:rect l="l" t="t" r="r" b="b"/>
            <a:pathLst>
              <a:path w="551814" h="38100">
                <a:moveTo>
                  <a:pt x="513588" y="0"/>
                </a:moveTo>
                <a:lnTo>
                  <a:pt x="513588" y="38100"/>
                </a:lnTo>
                <a:lnTo>
                  <a:pt x="545826" y="21336"/>
                </a:lnTo>
                <a:lnTo>
                  <a:pt x="519684" y="21336"/>
                </a:lnTo>
                <a:lnTo>
                  <a:pt x="519684" y="16764"/>
                </a:lnTo>
                <a:lnTo>
                  <a:pt x="548513" y="16764"/>
                </a:lnTo>
                <a:lnTo>
                  <a:pt x="513588" y="0"/>
                </a:lnTo>
                <a:close/>
              </a:path>
              <a:path w="551814" h="38100">
                <a:moveTo>
                  <a:pt x="513588" y="16764"/>
                </a:moveTo>
                <a:lnTo>
                  <a:pt x="0" y="16764"/>
                </a:lnTo>
                <a:lnTo>
                  <a:pt x="0" y="21336"/>
                </a:lnTo>
                <a:lnTo>
                  <a:pt x="513588" y="21336"/>
                </a:lnTo>
                <a:lnTo>
                  <a:pt x="513588" y="16764"/>
                </a:lnTo>
                <a:close/>
              </a:path>
              <a:path w="551814" h="38100">
                <a:moveTo>
                  <a:pt x="548513" y="16764"/>
                </a:moveTo>
                <a:lnTo>
                  <a:pt x="519684" y="16764"/>
                </a:lnTo>
                <a:lnTo>
                  <a:pt x="519684" y="21336"/>
                </a:lnTo>
                <a:lnTo>
                  <a:pt x="545826" y="21336"/>
                </a:lnTo>
                <a:lnTo>
                  <a:pt x="551688" y="18288"/>
                </a:lnTo>
                <a:lnTo>
                  <a:pt x="548513" y="16764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48851" y="1510691"/>
            <a:ext cx="28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33220" y="1646841"/>
            <a:ext cx="551815" cy="38100"/>
          </a:xfrm>
          <a:custGeom>
            <a:avLst/>
            <a:gdLst/>
            <a:ahLst/>
            <a:cxnLst/>
            <a:rect l="l" t="t" r="r" b="b"/>
            <a:pathLst>
              <a:path w="551814" h="38100">
                <a:moveTo>
                  <a:pt x="513588" y="0"/>
                </a:moveTo>
                <a:lnTo>
                  <a:pt x="513588" y="38100"/>
                </a:lnTo>
                <a:lnTo>
                  <a:pt x="548513" y="21335"/>
                </a:lnTo>
                <a:lnTo>
                  <a:pt x="519683" y="21335"/>
                </a:lnTo>
                <a:lnTo>
                  <a:pt x="519683" y="16763"/>
                </a:lnTo>
                <a:lnTo>
                  <a:pt x="545826" y="16763"/>
                </a:lnTo>
                <a:lnTo>
                  <a:pt x="513588" y="0"/>
                </a:lnTo>
                <a:close/>
              </a:path>
              <a:path w="551814" h="38100">
                <a:moveTo>
                  <a:pt x="513588" y="16763"/>
                </a:moveTo>
                <a:lnTo>
                  <a:pt x="0" y="16763"/>
                </a:lnTo>
                <a:lnTo>
                  <a:pt x="0" y="21335"/>
                </a:lnTo>
                <a:lnTo>
                  <a:pt x="513588" y="21335"/>
                </a:lnTo>
                <a:lnTo>
                  <a:pt x="513588" y="16763"/>
                </a:lnTo>
                <a:close/>
              </a:path>
              <a:path w="551814" h="38100">
                <a:moveTo>
                  <a:pt x="545826" y="16763"/>
                </a:moveTo>
                <a:lnTo>
                  <a:pt x="519683" y="16763"/>
                </a:lnTo>
                <a:lnTo>
                  <a:pt x="519683" y="21335"/>
                </a:lnTo>
                <a:lnTo>
                  <a:pt x="548513" y="21335"/>
                </a:lnTo>
                <a:lnTo>
                  <a:pt x="551688" y="19811"/>
                </a:lnTo>
                <a:lnTo>
                  <a:pt x="545826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21069" y="1495512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归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一化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09924" y="2048661"/>
            <a:ext cx="28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36832" y="2047143"/>
            <a:ext cx="28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率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14956" y="1123102"/>
            <a:ext cx="1809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i="1" spc="89" baseline="-19000" smtClean="0">
                <a:latin typeface="Cambria Math" panose="02040503050406030204"/>
                <a:cs typeface="Cambria Math" panose="02040503050406030204"/>
              </a:rPr>
              <a:t>e</a:t>
            </a:r>
            <a:r>
              <a:rPr lang="en-US" altLang="zh-CN" sz="700" i="1" spc="-35" smtClean="0">
                <a:latin typeface="Cambria Math" panose="02040503050406030204"/>
                <a:cs typeface="Cambria Math" panose="02040503050406030204"/>
              </a:rPr>
              <a:t>f</a:t>
            </a:r>
            <a:r>
              <a:rPr sz="900" i="1" spc="-179" baseline="-14000" smtClean="0">
                <a:latin typeface="Cambria Math" panose="02040503050406030204"/>
                <a:cs typeface="Cambria Math" panose="02040503050406030204"/>
              </a:rPr>
              <a:t>i</a:t>
            </a:r>
            <a:endParaRPr sz="900" baseline="-1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41385" y="943121"/>
            <a:ext cx="266065" cy="3886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6670" algn="ctr">
              <a:lnSpc>
                <a:spcPct val="100000"/>
              </a:lnSpc>
              <a:spcBef>
                <a:spcPts val="330"/>
              </a:spcBef>
            </a:pPr>
            <a:r>
              <a:rPr sz="1000" i="1" spc="5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1050" i="1" spc="75" baseline="-16000" dirty="0">
                <a:latin typeface="Cambria Math" panose="02040503050406030204"/>
                <a:cs typeface="Cambria Math" panose="02040503050406030204"/>
              </a:rPr>
              <a:t>i</a:t>
            </a:r>
            <a:endParaRPr sz="1050" baseline="-160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500" i="1" spc="112" baseline="3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050" i="1" spc="112" baseline="-24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1050" i="1" spc="-30" baseline="-2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55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1050" i="1" spc="82" baseline="-16000" dirty="0">
                <a:latin typeface="Cambria Math" panose="02040503050406030204"/>
                <a:cs typeface="Cambria Math" panose="02040503050406030204"/>
              </a:rPr>
              <a:t>j</a:t>
            </a:r>
            <a:endParaRPr sz="105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154071" y="117211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887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51740" y="1468063"/>
            <a:ext cx="1516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f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i="1" spc="-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i="1" spc="-1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000" i="1" spc="-10" dirty="0">
                <a:latin typeface="Cambria Math" panose="02040503050406030204"/>
                <a:cs typeface="Cambria Math" panose="02040503050406030204"/>
              </a:rPr>
              <a:t>max(0, </a:t>
            </a:r>
            <a:r>
              <a:rPr sz="1000" i="1" spc="4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i="1" spc="67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000" i="1" spc="4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000" i="1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3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050" i="1" spc="44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000" spc="30" dirty="0"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000" i="1" spc="30" dirty="0">
                <a:latin typeface="Cambria Math" panose="02040503050406030204"/>
                <a:cs typeface="Cambria Math" panose="02040503050406030204"/>
              </a:rPr>
              <a:t>b</a:t>
            </a:r>
            <a:r>
              <a:rPr sz="1050" i="1" spc="44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05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404267" y="218268"/>
            <a:ext cx="1191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SO</a:t>
            </a:r>
            <a:r>
              <a:rPr sz="1800" b="1" spc="25" dirty="0">
                <a:latin typeface="微软雅黑" panose="020B0503020204020204" charset="-122"/>
                <a:cs typeface="微软雅黑" panose="020B0503020204020204" charset="-122"/>
              </a:rPr>
              <a:t>F</a:t>
            </a: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TMAX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0171" y="1248705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1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0.21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1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0.78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80" y="2052907"/>
            <a:ext cx="10560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分类器预测分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q(x)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13771" y="115828"/>
            <a:ext cx="1419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0171" y="1242981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1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0.21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1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0.78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80" y="2047183"/>
            <a:ext cx="10560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分类器预测分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q(x)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89891" y="1226217"/>
            <a:ext cx="460375" cy="681355"/>
          </a:xfrm>
          <a:custGeom>
            <a:avLst/>
            <a:gdLst/>
            <a:ahLst/>
            <a:cxnLst/>
            <a:rect l="l" t="t" r="r" b="b"/>
            <a:pathLst>
              <a:path w="460375" h="681355">
                <a:moveTo>
                  <a:pt x="0" y="0"/>
                </a:moveTo>
                <a:lnTo>
                  <a:pt x="460247" y="0"/>
                </a:lnTo>
                <a:lnTo>
                  <a:pt x="460247" y="681227"/>
                </a:lnTo>
                <a:lnTo>
                  <a:pt x="0" y="681227"/>
                </a:lnTo>
                <a:lnTo>
                  <a:pt x="0" y="0"/>
                </a:lnTo>
                <a:close/>
              </a:path>
            </a:pathLst>
          </a:custGeom>
          <a:ln w="9143">
            <a:solidFill>
              <a:srgbClr val="3776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88444" y="1190732"/>
            <a:ext cx="906780" cy="72644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588645" algn="l"/>
              </a:tabLst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1200" b="1" spc="5" dirty="0">
                <a:latin typeface="黑体" panose="02010609060101010101" charset="-122"/>
                <a:cs typeface="黑体" panose="02010609060101010101" charset="-122"/>
              </a:rPr>
              <a:t>.</a:t>
            </a: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00</a:t>
            </a:r>
            <a:r>
              <a:rPr sz="1200" b="1" dirty="0">
                <a:latin typeface="黑体" panose="02010609060101010101" charset="-122"/>
                <a:cs typeface="黑体" panose="02010609060101010101" charset="-122"/>
              </a:rPr>
              <a:t>	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bird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588645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	</a:t>
            </a:r>
            <a:r>
              <a:rPr sz="1800" baseline="2000" dirty="0">
                <a:latin typeface="黑体" panose="02010609060101010101" charset="-122"/>
                <a:cs typeface="黑体" panose="02010609060101010101" charset="-122"/>
              </a:rPr>
              <a:t>cat</a:t>
            </a:r>
            <a:endParaRPr sz="1800" baseline="2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410"/>
              </a:spcBef>
              <a:tabLst>
                <a:tab pos="588645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	</a:t>
            </a:r>
            <a:r>
              <a:rPr sz="1800" baseline="7000" dirty="0">
                <a:latin typeface="黑体" panose="02010609060101010101" charset="-122"/>
                <a:cs typeface="黑体" panose="02010609060101010101" charset="-122"/>
              </a:rPr>
              <a:t>car</a:t>
            </a:r>
            <a:endParaRPr sz="1800" baseline="7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3326" y="2077587"/>
            <a:ext cx="7124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真实分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p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(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64923" y="1069245"/>
            <a:ext cx="1233170" cy="1271270"/>
          </a:xfrm>
          <a:custGeom>
            <a:avLst/>
            <a:gdLst/>
            <a:ahLst/>
            <a:cxnLst/>
            <a:rect l="l" t="t" r="r" b="b"/>
            <a:pathLst>
              <a:path w="1233170" h="1271270">
                <a:moveTo>
                  <a:pt x="13715" y="1213103"/>
                </a:moveTo>
                <a:lnTo>
                  <a:pt x="0" y="1213103"/>
                </a:lnTo>
                <a:lnTo>
                  <a:pt x="0" y="1263396"/>
                </a:lnTo>
                <a:lnTo>
                  <a:pt x="13715" y="1263396"/>
                </a:lnTo>
                <a:lnTo>
                  <a:pt x="13715" y="1213103"/>
                </a:lnTo>
                <a:close/>
              </a:path>
              <a:path w="1233170" h="1271270">
                <a:moveTo>
                  <a:pt x="13715" y="1124711"/>
                </a:moveTo>
                <a:lnTo>
                  <a:pt x="0" y="1124711"/>
                </a:lnTo>
                <a:lnTo>
                  <a:pt x="0" y="1175003"/>
                </a:lnTo>
                <a:lnTo>
                  <a:pt x="13715" y="1175003"/>
                </a:lnTo>
                <a:lnTo>
                  <a:pt x="13715" y="1124711"/>
                </a:lnTo>
                <a:close/>
              </a:path>
              <a:path w="1233170" h="1271270">
                <a:moveTo>
                  <a:pt x="13715" y="1034796"/>
                </a:moveTo>
                <a:lnTo>
                  <a:pt x="0" y="1034796"/>
                </a:lnTo>
                <a:lnTo>
                  <a:pt x="0" y="1086611"/>
                </a:lnTo>
                <a:lnTo>
                  <a:pt x="13715" y="1086611"/>
                </a:lnTo>
                <a:lnTo>
                  <a:pt x="13715" y="1034796"/>
                </a:lnTo>
                <a:close/>
              </a:path>
              <a:path w="1233170" h="1271270">
                <a:moveTo>
                  <a:pt x="13715" y="946403"/>
                </a:moveTo>
                <a:lnTo>
                  <a:pt x="0" y="946403"/>
                </a:lnTo>
                <a:lnTo>
                  <a:pt x="0" y="996696"/>
                </a:lnTo>
                <a:lnTo>
                  <a:pt x="13715" y="996696"/>
                </a:lnTo>
                <a:lnTo>
                  <a:pt x="13715" y="946403"/>
                </a:lnTo>
                <a:close/>
              </a:path>
              <a:path w="1233170" h="1271270">
                <a:moveTo>
                  <a:pt x="13715" y="858011"/>
                </a:moveTo>
                <a:lnTo>
                  <a:pt x="0" y="858011"/>
                </a:lnTo>
                <a:lnTo>
                  <a:pt x="0" y="908303"/>
                </a:lnTo>
                <a:lnTo>
                  <a:pt x="13715" y="908303"/>
                </a:lnTo>
                <a:lnTo>
                  <a:pt x="13715" y="858011"/>
                </a:lnTo>
                <a:close/>
              </a:path>
              <a:path w="1233170" h="1271270">
                <a:moveTo>
                  <a:pt x="13715" y="768096"/>
                </a:moveTo>
                <a:lnTo>
                  <a:pt x="0" y="768096"/>
                </a:lnTo>
                <a:lnTo>
                  <a:pt x="0" y="819911"/>
                </a:lnTo>
                <a:lnTo>
                  <a:pt x="13715" y="819911"/>
                </a:lnTo>
                <a:lnTo>
                  <a:pt x="13715" y="768096"/>
                </a:lnTo>
                <a:close/>
              </a:path>
              <a:path w="1233170" h="1271270">
                <a:moveTo>
                  <a:pt x="13715" y="679703"/>
                </a:moveTo>
                <a:lnTo>
                  <a:pt x="0" y="679703"/>
                </a:lnTo>
                <a:lnTo>
                  <a:pt x="0" y="729996"/>
                </a:lnTo>
                <a:lnTo>
                  <a:pt x="13715" y="729996"/>
                </a:lnTo>
                <a:lnTo>
                  <a:pt x="13715" y="679703"/>
                </a:lnTo>
                <a:close/>
              </a:path>
              <a:path w="1233170" h="1271270">
                <a:moveTo>
                  <a:pt x="13715" y="591311"/>
                </a:moveTo>
                <a:lnTo>
                  <a:pt x="0" y="591311"/>
                </a:lnTo>
                <a:lnTo>
                  <a:pt x="0" y="641603"/>
                </a:lnTo>
                <a:lnTo>
                  <a:pt x="13715" y="641603"/>
                </a:lnTo>
                <a:lnTo>
                  <a:pt x="13715" y="591311"/>
                </a:lnTo>
                <a:close/>
              </a:path>
              <a:path w="1233170" h="1271270">
                <a:moveTo>
                  <a:pt x="13715" y="501396"/>
                </a:moveTo>
                <a:lnTo>
                  <a:pt x="0" y="501396"/>
                </a:lnTo>
                <a:lnTo>
                  <a:pt x="0" y="553211"/>
                </a:lnTo>
                <a:lnTo>
                  <a:pt x="13715" y="553211"/>
                </a:lnTo>
                <a:lnTo>
                  <a:pt x="13715" y="501396"/>
                </a:lnTo>
                <a:close/>
              </a:path>
              <a:path w="1233170" h="1271270">
                <a:moveTo>
                  <a:pt x="13715" y="413003"/>
                </a:moveTo>
                <a:lnTo>
                  <a:pt x="0" y="413003"/>
                </a:lnTo>
                <a:lnTo>
                  <a:pt x="0" y="463296"/>
                </a:lnTo>
                <a:lnTo>
                  <a:pt x="13715" y="463296"/>
                </a:lnTo>
                <a:lnTo>
                  <a:pt x="13715" y="413003"/>
                </a:lnTo>
                <a:close/>
              </a:path>
              <a:path w="1233170" h="1271270">
                <a:moveTo>
                  <a:pt x="13715" y="324611"/>
                </a:moveTo>
                <a:lnTo>
                  <a:pt x="0" y="324611"/>
                </a:lnTo>
                <a:lnTo>
                  <a:pt x="0" y="374903"/>
                </a:lnTo>
                <a:lnTo>
                  <a:pt x="13715" y="374903"/>
                </a:lnTo>
                <a:lnTo>
                  <a:pt x="13715" y="324611"/>
                </a:lnTo>
                <a:close/>
              </a:path>
              <a:path w="1233170" h="1271270">
                <a:moveTo>
                  <a:pt x="13715" y="234696"/>
                </a:moveTo>
                <a:lnTo>
                  <a:pt x="0" y="234696"/>
                </a:lnTo>
                <a:lnTo>
                  <a:pt x="0" y="286511"/>
                </a:lnTo>
                <a:lnTo>
                  <a:pt x="13715" y="286511"/>
                </a:lnTo>
                <a:lnTo>
                  <a:pt x="13715" y="234696"/>
                </a:lnTo>
                <a:close/>
              </a:path>
              <a:path w="1233170" h="1271270">
                <a:moveTo>
                  <a:pt x="13715" y="146303"/>
                </a:moveTo>
                <a:lnTo>
                  <a:pt x="0" y="146303"/>
                </a:lnTo>
                <a:lnTo>
                  <a:pt x="0" y="196596"/>
                </a:lnTo>
                <a:lnTo>
                  <a:pt x="13715" y="196596"/>
                </a:lnTo>
                <a:lnTo>
                  <a:pt x="13715" y="146303"/>
                </a:lnTo>
                <a:close/>
              </a:path>
              <a:path w="1233170" h="1271270">
                <a:moveTo>
                  <a:pt x="13715" y="57911"/>
                </a:moveTo>
                <a:lnTo>
                  <a:pt x="0" y="57911"/>
                </a:lnTo>
                <a:lnTo>
                  <a:pt x="0" y="108203"/>
                </a:lnTo>
                <a:lnTo>
                  <a:pt x="13715" y="108203"/>
                </a:lnTo>
                <a:lnTo>
                  <a:pt x="13715" y="57911"/>
                </a:lnTo>
                <a:close/>
              </a:path>
              <a:path w="1233170" h="1271270">
                <a:moveTo>
                  <a:pt x="44195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19811"/>
                </a:lnTo>
                <a:lnTo>
                  <a:pt x="13715" y="19811"/>
                </a:lnTo>
                <a:lnTo>
                  <a:pt x="13715" y="13715"/>
                </a:lnTo>
                <a:lnTo>
                  <a:pt x="6095" y="13715"/>
                </a:lnTo>
                <a:lnTo>
                  <a:pt x="13715" y="6096"/>
                </a:lnTo>
                <a:lnTo>
                  <a:pt x="44195" y="6096"/>
                </a:lnTo>
                <a:lnTo>
                  <a:pt x="44195" y="0"/>
                </a:lnTo>
                <a:close/>
              </a:path>
              <a:path w="1233170" h="1271270">
                <a:moveTo>
                  <a:pt x="13715" y="6096"/>
                </a:moveTo>
                <a:lnTo>
                  <a:pt x="6095" y="13715"/>
                </a:lnTo>
                <a:lnTo>
                  <a:pt x="13715" y="13715"/>
                </a:lnTo>
                <a:lnTo>
                  <a:pt x="13715" y="6096"/>
                </a:lnTo>
                <a:close/>
              </a:path>
              <a:path w="1233170" h="1271270">
                <a:moveTo>
                  <a:pt x="44195" y="6096"/>
                </a:moveTo>
                <a:lnTo>
                  <a:pt x="13715" y="6096"/>
                </a:lnTo>
                <a:lnTo>
                  <a:pt x="13715" y="13715"/>
                </a:lnTo>
                <a:lnTo>
                  <a:pt x="44195" y="13715"/>
                </a:lnTo>
                <a:lnTo>
                  <a:pt x="44195" y="6096"/>
                </a:lnTo>
                <a:close/>
              </a:path>
              <a:path w="1233170" h="1271270">
                <a:moveTo>
                  <a:pt x="134112" y="0"/>
                </a:moveTo>
                <a:lnTo>
                  <a:pt x="82295" y="0"/>
                </a:lnTo>
                <a:lnTo>
                  <a:pt x="82295" y="13715"/>
                </a:lnTo>
                <a:lnTo>
                  <a:pt x="134112" y="13715"/>
                </a:lnTo>
                <a:lnTo>
                  <a:pt x="134112" y="0"/>
                </a:lnTo>
                <a:close/>
              </a:path>
              <a:path w="1233170" h="1271270">
                <a:moveTo>
                  <a:pt x="222503" y="0"/>
                </a:moveTo>
                <a:lnTo>
                  <a:pt x="172212" y="0"/>
                </a:lnTo>
                <a:lnTo>
                  <a:pt x="172212" y="13715"/>
                </a:lnTo>
                <a:lnTo>
                  <a:pt x="222503" y="13715"/>
                </a:lnTo>
                <a:lnTo>
                  <a:pt x="222503" y="0"/>
                </a:lnTo>
                <a:close/>
              </a:path>
              <a:path w="1233170" h="1271270">
                <a:moveTo>
                  <a:pt x="310895" y="0"/>
                </a:moveTo>
                <a:lnTo>
                  <a:pt x="260603" y="0"/>
                </a:lnTo>
                <a:lnTo>
                  <a:pt x="260603" y="13715"/>
                </a:lnTo>
                <a:lnTo>
                  <a:pt x="310895" y="13715"/>
                </a:lnTo>
                <a:lnTo>
                  <a:pt x="310895" y="0"/>
                </a:lnTo>
                <a:close/>
              </a:path>
              <a:path w="1233170" h="1271270">
                <a:moveTo>
                  <a:pt x="400812" y="0"/>
                </a:moveTo>
                <a:lnTo>
                  <a:pt x="348995" y="0"/>
                </a:lnTo>
                <a:lnTo>
                  <a:pt x="348995" y="13715"/>
                </a:lnTo>
                <a:lnTo>
                  <a:pt x="400812" y="13715"/>
                </a:lnTo>
                <a:lnTo>
                  <a:pt x="400812" y="0"/>
                </a:lnTo>
                <a:close/>
              </a:path>
              <a:path w="1233170" h="1271270">
                <a:moveTo>
                  <a:pt x="489203" y="0"/>
                </a:moveTo>
                <a:lnTo>
                  <a:pt x="438912" y="0"/>
                </a:lnTo>
                <a:lnTo>
                  <a:pt x="438912" y="13715"/>
                </a:lnTo>
                <a:lnTo>
                  <a:pt x="489203" y="13715"/>
                </a:lnTo>
                <a:lnTo>
                  <a:pt x="489203" y="0"/>
                </a:lnTo>
                <a:close/>
              </a:path>
              <a:path w="1233170" h="1271270">
                <a:moveTo>
                  <a:pt x="577596" y="0"/>
                </a:moveTo>
                <a:lnTo>
                  <a:pt x="527303" y="0"/>
                </a:lnTo>
                <a:lnTo>
                  <a:pt x="527303" y="13715"/>
                </a:lnTo>
                <a:lnTo>
                  <a:pt x="577596" y="13715"/>
                </a:lnTo>
                <a:lnTo>
                  <a:pt x="577596" y="0"/>
                </a:lnTo>
                <a:close/>
              </a:path>
              <a:path w="1233170" h="1271270">
                <a:moveTo>
                  <a:pt x="667512" y="0"/>
                </a:moveTo>
                <a:lnTo>
                  <a:pt x="615696" y="0"/>
                </a:lnTo>
                <a:lnTo>
                  <a:pt x="615696" y="13715"/>
                </a:lnTo>
                <a:lnTo>
                  <a:pt x="667512" y="13715"/>
                </a:lnTo>
                <a:lnTo>
                  <a:pt x="667512" y="0"/>
                </a:lnTo>
                <a:close/>
              </a:path>
              <a:path w="1233170" h="1271270">
                <a:moveTo>
                  <a:pt x="755903" y="0"/>
                </a:moveTo>
                <a:lnTo>
                  <a:pt x="705612" y="0"/>
                </a:lnTo>
                <a:lnTo>
                  <a:pt x="705612" y="13715"/>
                </a:lnTo>
                <a:lnTo>
                  <a:pt x="755903" y="13715"/>
                </a:lnTo>
                <a:lnTo>
                  <a:pt x="755903" y="0"/>
                </a:lnTo>
                <a:close/>
              </a:path>
              <a:path w="1233170" h="1271270">
                <a:moveTo>
                  <a:pt x="844296" y="0"/>
                </a:moveTo>
                <a:lnTo>
                  <a:pt x="794003" y="0"/>
                </a:lnTo>
                <a:lnTo>
                  <a:pt x="794003" y="13715"/>
                </a:lnTo>
                <a:lnTo>
                  <a:pt x="844296" y="13715"/>
                </a:lnTo>
                <a:lnTo>
                  <a:pt x="844296" y="0"/>
                </a:lnTo>
                <a:close/>
              </a:path>
              <a:path w="1233170" h="1271270">
                <a:moveTo>
                  <a:pt x="934212" y="0"/>
                </a:moveTo>
                <a:lnTo>
                  <a:pt x="882396" y="0"/>
                </a:lnTo>
                <a:lnTo>
                  <a:pt x="882396" y="13715"/>
                </a:lnTo>
                <a:lnTo>
                  <a:pt x="934212" y="13715"/>
                </a:lnTo>
                <a:lnTo>
                  <a:pt x="934212" y="0"/>
                </a:lnTo>
                <a:close/>
              </a:path>
              <a:path w="1233170" h="1271270">
                <a:moveTo>
                  <a:pt x="1022603" y="0"/>
                </a:moveTo>
                <a:lnTo>
                  <a:pt x="972312" y="0"/>
                </a:lnTo>
                <a:lnTo>
                  <a:pt x="972312" y="13715"/>
                </a:lnTo>
                <a:lnTo>
                  <a:pt x="1022603" y="13715"/>
                </a:lnTo>
                <a:lnTo>
                  <a:pt x="1022603" y="0"/>
                </a:lnTo>
                <a:close/>
              </a:path>
              <a:path w="1233170" h="1271270">
                <a:moveTo>
                  <a:pt x="1110996" y="0"/>
                </a:moveTo>
                <a:lnTo>
                  <a:pt x="1060703" y="0"/>
                </a:lnTo>
                <a:lnTo>
                  <a:pt x="1060703" y="13715"/>
                </a:lnTo>
                <a:lnTo>
                  <a:pt x="1110996" y="13715"/>
                </a:lnTo>
                <a:lnTo>
                  <a:pt x="1110996" y="0"/>
                </a:lnTo>
                <a:close/>
              </a:path>
              <a:path w="1233170" h="1271270">
                <a:moveTo>
                  <a:pt x="1200912" y="0"/>
                </a:moveTo>
                <a:lnTo>
                  <a:pt x="1149096" y="0"/>
                </a:lnTo>
                <a:lnTo>
                  <a:pt x="1149096" y="13715"/>
                </a:lnTo>
                <a:lnTo>
                  <a:pt x="1200912" y="13715"/>
                </a:lnTo>
                <a:lnTo>
                  <a:pt x="1200912" y="0"/>
                </a:lnTo>
                <a:close/>
              </a:path>
              <a:path w="1233170" h="1271270">
                <a:moveTo>
                  <a:pt x="1232915" y="19811"/>
                </a:moveTo>
                <a:lnTo>
                  <a:pt x="1219200" y="19811"/>
                </a:lnTo>
                <a:lnTo>
                  <a:pt x="1219200" y="70103"/>
                </a:lnTo>
                <a:lnTo>
                  <a:pt x="1232915" y="70103"/>
                </a:lnTo>
                <a:lnTo>
                  <a:pt x="1232915" y="19811"/>
                </a:lnTo>
                <a:close/>
              </a:path>
              <a:path w="1233170" h="1271270">
                <a:moveTo>
                  <a:pt x="1232915" y="108203"/>
                </a:moveTo>
                <a:lnTo>
                  <a:pt x="1219200" y="108203"/>
                </a:lnTo>
                <a:lnTo>
                  <a:pt x="1219200" y="158496"/>
                </a:lnTo>
                <a:lnTo>
                  <a:pt x="1232915" y="158496"/>
                </a:lnTo>
                <a:lnTo>
                  <a:pt x="1232915" y="108203"/>
                </a:lnTo>
                <a:close/>
              </a:path>
              <a:path w="1233170" h="1271270">
                <a:moveTo>
                  <a:pt x="1232915" y="196596"/>
                </a:moveTo>
                <a:lnTo>
                  <a:pt x="1219200" y="196596"/>
                </a:lnTo>
                <a:lnTo>
                  <a:pt x="1219200" y="248411"/>
                </a:lnTo>
                <a:lnTo>
                  <a:pt x="1232915" y="248411"/>
                </a:lnTo>
                <a:lnTo>
                  <a:pt x="1232915" y="196596"/>
                </a:lnTo>
                <a:close/>
              </a:path>
              <a:path w="1233170" h="1271270">
                <a:moveTo>
                  <a:pt x="1232915" y="286511"/>
                </a:moveTo>
                <a:lnTo>
                  <a:pt x="1219200" y="286511"/>
                </a:lnTo>
                <a:lnTo>
                  <a:pt x="1219200" y="336803"/>
                </a:lnTo>
                <a:lnTo>
                  <a:pt x="1232915" y="336803"/>
                </a:lnTo>
                <a:lnTo>
                  <a:pt x="1232915" y="286511"/>
                </a:lnTo>
                <a:close/>
              </a:path>
              <a:path w="1233170" h="1271270">
                <a:moveTo>
                  <a:pt x="1232915" y="374903"/>
                </a:moveTo>
                <a:lnTo>
                  <a:pt x="1219200" y="374903"/>
                </a:lnTo>
                <a:lnTo>
                  <a:pt x="1219200" y="425196"/>
                </a:lnTo>
                <a:lnTo>
                  <a:pt x="1232915" y="425196"/>
                </a:lnTo>
                <a:lnTo>
                  <a:pt x="1232915" y="374903"/>
                </a:lnTo>
                <a:close/>
              </a:path>
              <a:path w="1233170" h="1271270">
                <a:moveTo>
                  <a:pt x="1232915" y="463296"/>
                </a:moveTo>
                <a:lnTo>
                  <a:pt x="1219200" y="463296"/>
                </a:lnTo>
                <a:lnTo>
                  <a:pt x="1219200" y="515111"/>
                </a:lnTo>
                <a:lnTo>
                  <a:pt x="1232915" y="515111"/>
                </a:lnTo>
                <a:lnTo>
                  <a:pt x="1232915" y="463296"/>
                </a:lnTo>
                <a:close/>
              </a:path>
              <a:path w="1233170" h="1271270">
                <a:moveTo>
                  <a:pt x="1232915" y="553211"/>
                </a:moveTo>
                <a:lnTo>
                  <a:pt x="1219200" y="553211"/>
                </a:lnTo>
                <a:lnTo>
                  <a:pt x="1219200" y="603503"/>
                </a:lnTo>
                <a:lnTo>
                  <a:pt x="1232915" y="603503"/>
                </a:lnTo>
                <a:lnTo>
                  <a:pt x="1232915" y="553211"/>
                </a:lnTo>
                <a:close/>
              </a:path>
              <a:path w="1233170" h="1271270">
                <a:moveTo>
                  <a:pt x="1232915" y="641603"/>
                </a:moveTo>
                <a:lnTo>
                  <a:pt x="1219200" y="641603"/>
                </a:lnTo>
                <a:lnTo>
                  <a:pt x="1219200" y="691896"/>
                </a:lnTo>
                <a:lnTo>
                  <a:pt x="1232915" y="691896"/>
                </a:lnTo>
                <a:lnTo>
                  <a:pt x="1232915" y="641603"/>
                </a:lnTo>
                <a:close/>
              </a:path>
              <a:path w="1233170" h="1271270">
                <a:moveTo>
                  <a:pt x="1232915" y="729996"/>
                </a:moveTo>
                <a:lnTo>
                  <a:pt x="1219200" y="729996"/>
                </a:lnTo>
                <a:lnTo>
                  <a:pt x="1219200" y="781811"/>
                </a:lnTo>
                <a:lnTo>
                  <a:pt x="1232915" y="781811"/>
                </a:lnTo>
                <a:lnTo>
                  <a:pt x="1232915" y="729996"/>
                </a:lnTo>
                <a:close/>
              </a:path>
              <a:path w="1233170" h="1271270">
                <a:moveTo>
                  <a:pt x="1232915" y="819911"/>
                </a:moveTo>
                <a:lnTo>
                  <a:pt x="1219200" y="819911"/>
                </a:lnTo>
                <a:lnTo>
                  <a:pt x="1219200" y="870203"/>
                </a:lnTo>
                <a:lnTo>
                  <a:pt x="1232915" y="870203"/>
                </a:lnTo>
                <a:lnTo>
                  <a:pt x="1232915" y="819911"/>
                </a:lnTo>
                <a:close/>
              </a:path>
              <a:path w="1233170" h="1271270">
                <a:moveTo>
                  <a:pt x="1232915" y="908303"/>
                </a:moveTo>
                <a:lnTo>
                  <a:pt x="1219200" y="908303"/>
                </a:lnTo>
                <a:lnTo>
                  <a:pt x="1219200" y="958596"/>
                </a:lnTo>
                <a:lnTo>
                  <a:pt x="1232915" y="958596"/>
                </a:lnTo>
                <a:lnTo>
                  <a:pt x="1232915" y="908303"/>
                </a:lnTo>
                <a:close/>
              </a:path>
              <a:path w="1233170" h="1271270">
                <a:moveTo>
                  <a:pt x="1232915" y="996696"/>
                </a:moveTo>
                <a:lnTo>
                  <a:pt x="1219200" y="996696"/>
                </a:lnTo>
                <a:lnTo>
                  <a:pt x="1219200" y="1048511"/>
                </a:lnTo>
                <a:lnTo>
                  <a:pt x="1232915" y="1048511"/>
                </a:lnTo>
                <a:lnTo>
                  <a:pt x="1232915" y="996696"/>
                </a:lnTo>
                <a:close/>
              </a:path>
              <a:path w="1233170" h="1271270">
                <a:moveTo>
                  <a:pt x="1232915" y="1086611"/>
                </a:moveTo>
                <a:lnTo>
                  <a:pt x="1219200" y="1086611"/>
                </a:lnTo>
                <a:lnTo>
                  <a:pt x="1219200" y="1136903"/>
                </a:lnTo>
                <a:lnTo>
                  <a:pt x="1232915" y="1136903"/>
                </a:lnTo>
                <a:lnTo>
                  <a:pt x="1232915" y="1086611"/>
                </a:lnTo>
                <a:close/>
              </a:path>
              <a:path w="1233170" h="1271270">
                <a:moveTo>
                  <a:pt x="1232915" y="1175003"/>
                </a:moveTo>
                <a:lnTo>
                  <a:pt x="1219200" y="1175003"/>
                </a:lnTo>
                <a:lnTo>
                  <a:pt x="1219200" y="1225296"/>
                </a:lnTo>
                <a:lnTo>
                  <a:pt x="1232915" y="1225296"/>
                </a:lnTo>
                <a:lnTo>
                  <a:pt x="1232915" y="1175003"/>
                </a:lnTo>
                <a:close/>
              </a:path>
              <a:path w="1233170" h="1271270">
                <a:moveTo>
                  <a:pt x="1225296" y="1257300"/>
                </a:moveTo>
                <a:lnTo>
                  <a:pt x="1175003" y="1257300"/>
                </a:lnTo>
                <a:lnTo>
                  <a:pt x="1175003" y="1271015"/>
                </a:lnTo>
                <a:lnTo>
                  <a:pt x="1225296" y="1271015"/>
                </a:lnTo>
                <a:lnTo>
                  <a:pt x="1225296" y="1257300"/>
                </a:lnTo>
                <a:close/>
              </a:path>
              <a:path w="1233170" h="1271270">
                <a:moveTo>
                  <a:pt x="1136903" y="1257300"/>
                </a:moveTo>
                <a:lnTo>
                  <a:pt x="1086612" y="1257300"/>
                </a:lnTo>
                <a:lnTo>
                  <a:pt x="1086612" y="1271015"/>
                </a:lnTo>
                <a:lnTo>
                  <a:pt x="1136903" y="1271015"/>
                </a:lnTo>
                <a:lnTo>
                  <a:pt x="1136903" y="1257300"/>
                </a:lnTo>
                <a:close/>
              </a:path>
              <a:path w="1233170" h="1271270">
                <a:moveTo>
                  <a:pt x="1048512" y="1257300"/>
                </a:moveTo>
                <a:lnTo>
                  <a:pt x="996696" y="1257300"/>
                </a:lnTo>
                <a:lnTo>
                  <a:pt x="996696" y="1271015"/>
                </a:lnTo>
                <a:lnTo>
                  <a:pt x="1048512" y="1271015"/>
                </a:lnTo>
                <a:lnTo>
                  <a:pt x="1048512" y="1257300"/>
                </a:lnTo>
                <a:close/>
              </a:path>
              <a:path w="1233170" h="1271270">
                <a:moveTo>
                  <a:pt x="958596" y="1257300"/>
                </a:moveTo>
                <a:lnTo>
                  <a:pt x="908303" y="1257300"/>
                </a:lnTo>
                <a:lnTo>
                  <a:pt x="908303" y="1271015"/>
                </a:lnTo>
                <a:lnTo>
                  <a:pt x="958596" y="1271015"/>
                </a:lnTo>
                <a:lnTo>
                  <a:pt x="958596" y="1257300"/>
                </a:lnTo>
                <a:close/>
              </a:path>
              <a:path w="1233170" h="1271270">
                <a:moveTo>
                  <a:pt x="870203" y="1257300"/>
                </a:moveTo>
                <a:lnTo>
                  <a:pt x="819912" y="1257300"/>
                </a:lnTo>
                <a:lnTo>
                  <a:pt x="819912" y="1271015"/>
                </a:lnTo>
                <a:lnTo>
                  <a:pt x="870203" y="1271015"/>
                </a:lnTo>
                <a:lnTo>
                  <a:pt x="870203" y="1257300"/>
                </a:lnTo>
                <a:close/>
              </a:path>
              <a:path w="1233170" h="1271270">
                <a:moveTo>
                  <a:pt x="781812" y="1257300"/>
                </a:moveTo>
                <a:lnTo>
                  <a:pt x="729996" y="1257300"/>
                </a:lnTo>
                <a:lnTo>
                  <a:pt x="729996" y="1271015"/>
                </a:lnTo>
                <a:lnTo>
                  <a:pt x="781812" y="1271015"/>
                </a:lnTo>
                <a:lnTo>
                  <a:pt x="781812" y="1257300"/>
                </a:lnTo>
                <a:close/>
              </a:path>
              <a:path w="1233170" h="1271270">
                <a:moveTo>
                  <a:pt x="691896" y="1257300"/>
                </a:moveTo>
                <a:lnTo>
                  <a:pt x="641603" y="1257300"/>
                </a:lnTo>
                <a:lnTo>
                  <a:pt x="641603" y="1271015"/>
                </a:lnTo>
                <a:lnTo>
                  <a:pt x="691896" y="1271015"/>
                </a:lnTo>
                <a:lnTo>
                  <a:pt x="691896" y="1257300"/>
                </a:lnTo>
                <a:close/>
              </a:path>
              <a:path w="1233170" h="1271270">
                <a:moveTo>
                  <a:pt x="603503" y="1257300"/>
                </a:moveTo>
                <a:lnTo>
                  <a:pt x="553212" y="1257300"/>
                </a:lnTo>
                <a:lnTo>
                  <a:pt x="553212" y="1271015"/>
                </a:lnTo>
                <a:lnTo>
                  <a:pt x="603503" y="1271015"/>
                </a:lnTo>
                <a:lnTo>
                  <a:pt x="603503" y="1257300"/>
                </a:lnTo>
                <a:close/>
              </a:path>
              <a:path w="1233170" h="1271270">
                <a:moveTo>
                  <a:pt x="515112" y="1257300"/>
                </a:moveTo>
                <a:lnTo>
                  <a:pt x="463296" y="1257300"/>
                </a:lnTo>
                <a:lnTo>
                  <a:pt x="463296" y="1271015"/>
                </a:lnTo>
                <a:lnTo>
                  <a:pt x="515112" y="1271015"/>
                </a:lnTo>
                <a:lnTo>
                  <a:pt x="515112" y="1257300"/>
                </a:lnTo>
                <a:close/>
              </a:path>
              <a:path w="1233170" h="1271270">
                <a:moveTo>
                  <a:pt x="425195" y="1257300"/>
                </a:moveTo>
                <a:lnTo>
                  <a:pt x="374903" y="1257300"/>
                </a:lnTo>
                <a:lnTo>
                  <a:pt x="374903" y="1271015"/>
                </a:lnTo>
                <a:lnTo>
                  <a:pt x="425195" y="1271015"/>
                </a:lnTo>
                <a:lnTo>
                  <a:pt x="425195" y="1257300"/>
                </a:lnTo>
                <a:close/>
              </a:path>
              <a:path w="1233170" h="1271270">
                <a:moveTo>
                  <a:pt x="336803" y="1257300"/>
                </a:moveTo>
                <a:lnTo>
                  <a:pt x="286512" y="1257300"/>
                </a:lnTo>
                <a:lnTo>
                  <a:pt x="286512" y="1271015"/>
                </a:lnTo>
                <a:lnTo>
                  <a:pt x="336803" y="1271015"/>
                </a:lnTo>
                <a:lnTo>
                  <a:pt x="336803" y="1257300"/>
                </a:lnTo>
                <a:close/>
              </a:path>
              <a:path w="1233170" h="1271270">
                <a:moveTo>
                  <a:pt x="248412" y="1257300"/>
                </a:moveTo>
                <a:lnTo>
                  <a:pt x="196595" y="1257300"/>
                </a:lnTo>
                <a:lnTo>
                  <a:pt x="196595" y="1271015"/>
                </a:lnTo>
                <a:lnTo>
                  <a:pt x="248412" y="1271015"/>
                </a:lnTo>
                <a:lnTo>
                  <a:pt x="248412" y="1257300"/>
                </a:lnTo>
                <a:close/>
              </a:path>
              <a:path w="1233170" h="1271270">
                <a:moveTo>
                  <a:pt x="158495" y="1257300"/>
                </a:moveTo>
                <a:lnTo>
                  <a:pt x="108203" y="1257300"/>
                </a:lnTo>
                <a:lnTo>
                  <a:pt x="108203" y="1271015"/>
                </a:lnTo>
                <a:lnTo>
                  <a:pt x="158495" y="1271015"/>
                </a:lnTo>
                <a:lnTo>
                  <a:pt x="158495" y="1257300"/>
                </a:lnTo>
                <a:close/>
              </a:path>
              <a:path w="1233170" h="1271270">
                <a:moveTo>
                  <a:pt x="70103" y="1257300"/>
                </a:moveTo>
                <a:lnTo>
                  <a:pt x="19812" y="1257300"/>
                </a:lnTo>
                <a:lnTo>
                  <a:pt x="19812" y="1271015"/>
                </a:lnTo>
                <a:lnTo>
                  <a:pt x="70103" y="1271015"/>
                </a:lnTo>
                <a:lnTo>
                  <a:pt x="70103" y="1257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13771" y="110140"/>
            <a:ext cx="1419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340" y="829173"/>
            <a:ext cx="3474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如何度量现在的分类器输出与预测值之间的距离?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0171" y="1248705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1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0.21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1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0.78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880" y="2052907"/>
            <a:ext cx="10560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分类器预测分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q(x)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4516" y="1204077"/>
            <a:ext cx="330200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bird  cat  car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9891" y="1231941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1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1.00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1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3326" y="2083311"/>
            <a:ext cx="7124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真实分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p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(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91088" y="1570269"/>
            <a:ext cx="1061085" cy="38100"/>
          </a:xfrm>
          <a:custGeom>
            <a:avLst/>
            <a:gdLst/>
            <a:ahLst/>
            <a:cxnLst/>
            <a:rect l="l" t="t" r="r" b="b"/>
            <a:pathLst>
              <a:path w="1061085" h="38100">
                <a:moveTo>
                  <a:pt x="38100" y="0"/>
                </a:moveTo>
                <a:lnTo>
                  <a:pt x="0" y="18287"/>
                </a:lnTo>
                <a:lnTo>
                  <a:pt x="38100" y="38100"/>
                </a:lnTo>
                <a:lnTo>
                  <a:pt x="38100" y="21336"/>
                </a:lnTo>
                <a:lnTo>
                  <a:pt x="32004" y="21336"/>
                </a:lnTo>
                <a:lnTo>
                  <a:pt x="32004" y="16763"/>
                </a:lnTo>
                <a:lnTo>
                  <a:pt x="38100" y="16763"/>
                </a:lnTo>
                <a:lnTo>
                  <a:pt x="38100" y="0"/>
                </a:lnTo>
                <a:close/>
              </a:path>
              <a:path w="1061085" h="38100">
                <a:moveTo>
                  <a:pt x="1022604" y="0"/>
                </a:moveTo>
                <a:lnTo>
                  <a:pt x="1022604" y="38100"/>
                </a:lnTo>
                <a:lnTo>
                  <a:pt x="1054842" y="21336"/>
                </a:lnTo>
                <a:lnTo>
                  <a:pt x="1028700" y="21336"/>
                </a:lnTo>
                <a:lnTo>
                  <a:pt x="1028700" y="16763"/>
                </a:lnTo>
                <a:lnTo>
                  <a:pt x="1057529" y="16763"/>
                </a:lnTo>
                <a:lnTo>
                  <a:pt x="1022604" y="0"/>
                </a:lnTo>
                <a:close/>
              </a:path>
              <a:path w="1061085" h="38100">
                <a:moveTo>
                  <a:pt x="38100" y="16763"/>
                </a:moveTo>
                <a:lnTo>
                  <a:pt x="32004" y="16763"/>
                </a:lnTo>
                <a:lnTo>
                  <a:pt x="32004" y="21336"/>
                </a:lnTo>
                <a:lnTo>
                  <a:pt x="38100" y="21336"/>
                </a:lnTo>
                <a:lnTo>
                  <a:pt x="38100" y="16763"/>
                </a:lnTo>
                <a:close/>
              </a:path>
              <a:path w="1061085" h="38100">
                <a:moveTo>
                  <a:pt x="1022604" y="16763"/>
                </a:moveTo>
                <a:lnTo>
                  <a:pt x="38100" y="16763"/>
                </a:lnTo>
                <a:lnTo>
                  <a:pt x="38100" y="21336"/>
                </a:lnTo>
                <a:lnTo>
                  <a:pt x="1022604" y="21336"/>
                </a:lnTo>
                <a:lnTo>
                  <a:pt x="1022604" y="16763"/>
                </a:lnTo>
                <a:close/>
              </a:path>
              <a:path w="1061085" h="38100">
                <a:moveTo>
                  <a:pt x="1057529" y="16763"/>
                </a:moveTo>
                <a:lnTo>
                  <a:pt x="1028700" y="16763"/>
                </a:lnTo>
                <a:lnTo>
                  <a:pt x="1028700" y="21336"/>
                </a:lnTo>
                <a:lnTo>
                  <a:pt x="1054842" y="21336"/>
                </a:lnTo>
                <a:lnTo>
                  <a:pt x="1060704" y="18287"/>
                </a:lnTo>
                <a:lnTo>
                  <a:pt x="1057529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95925" y="1406655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比较？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213771" y="115828"/>
            <a:ext cx="1419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1380" y="752253"/>
            <a:ext cx="187451" cy="14020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81104" y="752253"/>
            <a:ext cx="185927" cy="140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9540" y="700005"/>
            <a:ext cx="2322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sz="1200" dirty="0"/>
              <a:t>熵：	</a:t>
            </a:r>
            <a:r>
              <a:rPr sz="1200" i="1" spc="45" dirty="0">
                <a:latin typeface="Cambria Math" panose="02040503050406030204"/>
                <a:cs typeface="Cambria Math" panose="02040503050406030204"/>
              </a:rPr>
              <a:t>H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p = − 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>
                <a:latin typeface="Cambria Math" panose="02040503050406030204"/>
                <a:cs typeface="Cambria Math" panose="02040503050406030204"/>
              </a:rPr>
              <a:t>p </a:t>
            </a:r>
            <a:r>
              <a:rPr lang="en-US" sz="1200" i="1" smtClean="0">
                <a:latin typeface="Cambria Math" panose="02040503050406030204"/>
                <a:cs typeface="Cambria Math" panose="02040503050406030204"/>
              </a:rPr>
              <a:t>    </a:t>
            </a:r>
            <a:r>
              <a:rPr sz="1200" i="1" spc="55" smtClean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12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40" smtClean="0">
                <a:latin typeface="Cambria Math" panose="02040503050406030204"/>
                <a:cs typeface="Cambria Math" panose="02040503050406030204"/>
              </a:rPr>
              <a:t>logp(x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8708" y="1133253"/>
            <a:ext cx="329565" cy="140335"/>
          </a:xfrm>
          <a:custGeom>
            <a:avLst/>
            <a:gdLst/>
            <a:ahLst/>
            <a:cxnLst/>
            <a:rect l="l" t="t" r="r" b="b"/>
            <a:pathLst>
              <a:path w="329565" h="140334">
                <a:moveTo>
                  <a:pt x="284988" y="0"/>
                </a:moveTo>
                <a:lnTo>
                  <a:pt x="281940" y="4572"/>
                </a:lnTo>
                <a:lnTo>
                  <a:pt x="290488" y="8572"/>
                </a:lnTo>
                <a:lnTo>
                  <a:pt x="297751" y="13716"/>
                </a:lnTo>
                <a:lnTo>
                  <a:pt x="316420" y="56578"/>
                </a:lnTo>
                <a:lnTo>
                  <a:pt x="316992" y="68579"/>
                </a:lnTo>
                <a:lnTo>
                  <a:pt x="316420" y="81486"/>
                </a:lnTo>
                <a:lnTo>
                  <a:pt x="303609" y="120181"/>
                </a:lnTo>
                <a:lnTo>
                  <a:pt x="283464" y="134112"/>
                </a:lnTo>
                <a:lnTo>
                  <a:pt x="284988" y="140207"/>
                </a:lnTo>
                <a:lnTo>
                  <a:pt x="318516" y="115824"/>
                </a:lnTo>
                <a:lnTo>
                  <a:pt x="329184" y="70103"/>
                </a:lnTo>
                <a:lnTo>
                  <a:pt x="328588" y="56959"/>
                </a:lnTo>
                <a:lnTo>
                  <a:pt x="311991" y="15216"/>
                </a:lnTo>
                <a:lnTo>
                  <a:pt x="294941" y="3167"/>
                </a:lnTo>
                <a:lnTo>
                  <a:pt x="284988" y="0"/>
                </a:lnTo>
                <a:close/>
              </a:path>
              <a:path w="329565" h="140334">
                <a:moveTo>
                  <a:pt x="45719" y="0"/>
                </a:moveTo>
                <a:lnTo>
                  <a:pt x="12192" y="24383"/>
                </a:lnTo>
                <a:lnTo>
                  <a:pt x="0" y="70103"/>
                </a:lnTo>
                <a:lnTo>
                  <a:pt x="833" y="83248"/>
                </a:lnTo>
                <a:lnTo>
                  <a:pt x="18502" y="124348"/>
                </a:lnTo>
                <a:lnTo>
                  <a:pt x="45719" y="140207"/>
                </a:lnTo>
                <a:lnTo>
                  <a:pt x="47243" y="134112"/>
                </a:lnTo>
                <a:lnTo>
                  <a:pt x="39552" y="130992"/>
                </a:lnTo>
                <a:lnTo>
                  <a:pt x="32575" y="126301"/>
                </a:lnTo>
                <a:lnTo>
                  <a:pt x="14263" y="81486"/>
                </a:lnTo>
                <a:lnTo>
                  <a:pt x="13716" y="68579"/>
                </a:lnTo>
                <a:lnTo>
                  <a:pt x="14263" y="56578"/>
                </a:lnTo>
                <a:lnTo>
                  <a:pt x="26455" y="20002"/>
                </a:lnTo>
                <a:lnTo>
                  <a:pt x="47243" y="4572"/>
                </a:lnTo>
                <a:lnTo>
                  <a:pt x="45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80164" y="1133253"/>
            <a:ext cx="185928" cy="1402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6868" y="1081005"/>
            <a:ext cx="24663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交叉熵</a:t>
            </a:r>
            <a:r>
              <a:rPr sz="1200" spc="2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i="1" spc="20" dirty="0">
                <a:latin typeface="Cambria Math" panose="02040503050406030204"/>
                <a:cs typeface="Cambria Math" panose="02040503050406030204"/>
              </a:rPr>
              <a:t>H</a:t>
            </a:r>
            <a:r>
              <a:rPr sz="1200" i="1" spc="2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p,</a:t>
            </a:r>
            <a:r>
              <a:rPr sz="1200" i="1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q</a:t>
            </a:r>
            <a:r>
              <a:rPr sz="12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2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i="1" spc="30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>
                <a:latin typeface="Cambria Math" panose="02040503050406030204"/>
                <a:cs typeface="Cambria Math" panose="02040503050406030204"/>
              </a:rPr>
              <a:t>p</a:t>
            </a:r>
            <a:r>
              <a:rPr sz="1200" i="1" spc="245">
                <a:latin typeface="Cambria Math" panose="02040503050406030204"/>
                <a:cs typeface="Cambria Math" panose="02040503050406030204"/>
              </a:rPr>
              <a:t> </a:t>
            </a:r>
            <a:r>
              <a:rPr lang="en-US" sz="1200" i="1" spc="24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5" smtClean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260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logq(x)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40439" y="1541685"/>
            <a:ext cx="372110" cy="140335"/>
          </a:xfrm>
          <a:custGeom>
            <a:avLst/>
            <a:gdLst/>
            <a:ahLst/>
            <a:cxnLst/>
            <a:rect l="l" t="t" r="r" b="b"/>
            <a:pathLst>
              <a:path w="372109" h="140335">
                <a:moveTo>
                  <a:pt x="327660" y="0"/>
                </a:moveTo>
                <a:lnTo>
                  <a:pt x="324612" y="4572"/>
                </a:lnTo>
                <a:lnTo>
                  <a:pt x="333160" y="8572"/>
                </a:lnTo>
                <a:lnTo>
                  <a:pt x="340423" y="13716"/>
                </a:lnTo>
                <a:lnTo>
                  <a:pt x="359092" y="56578"/>
                </a:lnTo>
                <a:lnTo>
                  <a:pt x="359664" y="68580"/>
                </a:lnTo>
                <a:lnTo>
                  <a:pt x="359092" y="81486"/>
                </a:lnTo>
                <a:lnTo>
                  <a:pt x="346281" y="120181"/>
                </a:lnTo>
                <a:lnTo>
                  <a:pt x="326136" y="134112"/>
                </a:lnTo>
                <a:lnTo>
                  <a:pt x="327660" y="140208"/>
                </a:lnTo>
                <a:lnTo>
                  <a:pt x="361188" y="115824"/>
                </a:lnTo>
                <a:lnTo>
                  <a:pt x="371856" y="70104"/>
                </a:lnTo>
                <a:lnTo>
                  <a:pt x="371260" y="56959"/>
                </a:lnTo>
                <a:lnTo>
                  <a:pt x="354663" y="15859"/>
                </a:lnTo>
                <a:lnTo>
                  <a:pt x="337613" y="3381"/>
                </a:lnTo>
                <a:lnTo>
                  <a:pt x="327660" y="0"/>
                </a:lnTo>
                <a:close/>
              </a:path>
              <a:path w="372109" h="140335">
                <a:moveTo>
                  <a:pt x="45720" y="0"/>
                </a:moveTo>
                <a:lnTo>
                  <a:pt x="12192" y="24384"/>
                </a:lnTo>
                <a:lnTo>
                  <a:pt x="0" y="70104"/>
                </a:lnTo>
                <a:lnTo>
                  <a:pt x="833" y="83248"/>
                </a:lnTo>
                <a:lnTo>
                  <a:pt x="18502" y="124348"/>
                </a:lnTo>
                <a:lnTo>
                  <a:pt x="45720" y="140208"/>
                </a:lnTo>
                <a:lnTo>
                  <a:pt x="47243" y="134112"/>
                </a:lnTo>
                <a:lnTo>
                  <a:pt x="39552" y="130992"/>
                </a:lnTo>
                <a:lnTo>
                  <a:pt x="32575" y="126301"/>
                </a:lnTo>
                <a:lnTo>
                  <a:pt x="14263" y="81486"/>
                </a:lnTo>
                <a:lnTo>
                  <a:pt x="13716" y="68580"/>
                </a:lnTo>
                <a:lnTo>
                  <a:pt x="14263" y="56578"/>
                </a:lnTo>
                <a:lnTo>
                  <a:pt x="26455" y="20002"/>
                </a:lnTo>
                <a:lnTo>
                  <a:pt x="47243" y="4572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63044" y="1541685"/>
            <a:ext cx="185928" cy="140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6868" y="1489436"/>
            <a:ext cx="284086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相对熵：</a:t>
            </a:r>
            <a:r>
              <a:rPr sz="1200" spc="-34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KL</a:t>
            </a:r>
            <a:r>
              <a:rPr sz="1200" i="1" spc="2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p||q</a:t>
            </a:r>
            <a:r>
              <a:rPr sz="12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>
                <a:latin typeface="Cambria Math" panose="02040503050406030204"/>
                <a:cs typeface="Cambria Math" panose="02040503050406030204"/>
              </a:rPr>
              <a:t>−</a:t>
            </a:r>
            <a:r>
              <a:rPr sz="1200" i="1" spc="-6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baseline="2000" smtClean="0">
                <a:latin typeface="Cambria Math" panose="02040503050406030204"/>
                <a:cs typeface="Cambria Math" panose="02040503050406030204"/>
              </a:rPr>
              <a:t>∑</a:t>
            </a:r>
            <a:r>
              <a:rPr lang="en-US" sz="1800" i="1" baseline="2000" smtClean="0">
                <a:latin typeface="Cambria Math" panose="02040503050406030204"/>
                <a:cs typeface="Cambria Math" panose="02040503050406030204"/>
              </a:rPr>
              <a:t>   </a:t>
            </a:r>
            <a:r>
              <a:rPr sz="1800" i="1" spc="284" baseline="2000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lang="en-US" sz="1800" i="1" spc="284" baseline="2000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mtClean="0">
                <a:latin typeface="Cambria Math" panose="02040503050406030204"/>
                <a:cs typeface="Cambria Math" panose="02040503050406030204"/>
              </a:rPr>
              <a:t>p</a:t>
            </a:r>
            <a:r>
              <a:rPr sz="1200" i="1" spc="24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5" smtClean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260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log</a:t>
            </a:r>
            <a:r>
              <a:rPr sz="1200" i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75" i="1" spc="82" baseline="46000" dirty="0">
                <a:latin typeface="Cambria Math" panose="02040503050406030204"/>
                <a:cs typeface="Cambria Math" panose="02040503050406030204"/>
              </a:rPr>
              <a:t>q(x)</a:t>
            </a:r>
            <a:endParaRPr sz="1275" baseline="4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99914" y="1606674"/>
            <a:ext cx="2578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75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sz="850" i="1" spc="15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850" i="1" spc="12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850" i="1" spc="10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14148" y="1611027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>
                <a:moveTo>
                  <a:pt x="0" y="0"/>
                </a:moveTo>
                <a:lnTo>
                  <a:pt x="231648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056767" y="1560949"/>
            <a:ext cx="9144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105" dirty="0">
                <a:latin typeface="Cambria Math" panose="02040503050406030204"/>
                <a:cs typeface="Cambria Math" panose="02040503050406030204"/>
              </a:rPr>
              <a:t>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26795" y="647097"/>
            <a:ext cx="2482850" cy="1134110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3815">
              <a:lnSpc>
                <a:spcPct val="100000"/>
              </a:lnSpc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相对熵</a:t>
            </a:r>
            <a:r>
              <a:rPr sz="1000" spc="-10" dirty="0">
                <a:latin typeface="微软雅黑" panose="020B0503020204020204" charset="-122"/>
                <a:cs typeface="微软雅黑" panose="020B0503020204020204" charset="-122"/>
              </a:rPr>
              <a:t>（relative</a:t>
            </a:r>
            <a:r>
              <a:rPr sz="1000" spc="2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10" dirty="0">
                <a:latin typeface="微软雅黑" panose="020B0503020204020204" charset="-122"/>
                <a:cs typeface="微软雅黑" panose="020B0503020204020204" charset="-122"/>
              </a:rPr>
              <a:t>entropy）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也叫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KL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散度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  <a:p>
            <a:pPr marL="43815" marR="147320">
              <a:lnSpc>
                <a:spcPct val="250000"/>
              </a:lnSpc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（KL</a:t>
            </a:r>
            <a:r>
              <a:rPr sz="1000" spc="-6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divergence)；用来度量两个分布之 间的不相似性（dissimilarity）。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580" y="2303685"/>
            <a:ext cx="329565" cy="142240"/>
          </a:xfrm>
          <a:custGeom>
            <a:avLst/>
            <a:gdLst/>
            <a:ahLst/>
            <a:cxnLst/>
            <a:rect l="l" t="t" r="r" b="b"/>
            <a:pathLst>
              <a:path w="329565" h="142239">
                <a:moveTo>
                  <a:pt x="284988" y="0"/>
                </a:moveTo>
                <a:lnTo>
                  <a:pt x="281939" y="6096"/>
                </a:lnTo>
                <a:lnTo>
                  <a:pt x="290488" y="9239"/>
                </a:lnTo>
                <a:lnTo>
                  <a:pt x="297751" y="14097"/>
                </a:lnTo>
                <a:lnTo>
                  <a:pt x="316420" y="58102"/>
                </a:lnTo>
                <a:lnTo>
                  <a:pt x="316992" y="70104"/>
                </a:lnTo>
                <a:lnTo>
                  <a:pt x="316420" y="82343"/>
                </a:lnTo>
                <a:lnTo>
                  <a:pt x="303585" y="120848"/>
                </a:lnTo>
                <a:lnTo>
                  <a:pt x="281939" y="135636"/>
                </a:lnTo>
                <a:lnTo>
                  <a:pt x="284988" y="141732"/>
                </a:lnTo>
                <a:lnTo>
                  <a:pt x="318515" y="117348"/>
                </a:lnTo>
                <a:lnTo>
                  <a:pt x="329183" y="70104"/>
                </a:lnTo>
                <a:lnTo>
                  <a:pt x="328588" y="57816"/>
                </a:lnTo>
                <a:lnTo>
                  <a:pt x="311348" y="16073"/>
                </a:lnTo>
                <a:lnTo>
                  <a:pt x="294727" y="4024"/>
                </a:lnTo>
                <a:lnTo>
                  <a:pt x="284988" y="0"/>
                </a:lnTo>
                <a:close/>
              </a:path>
              <a:path w="329565" h="142239">
                <a:moveTo>
                  <a:pt x="45719" y="0"/>
                </a:moveTo>
                <a:lnTo>
                  <a:pt x="12191" y="24384"/>
                </a:lnTo>
                <a:lnTo>
                  <a:pt x="0" y="70104"/>
                </a:lnTo>
                <a:lnTo>
                  <a:pt x="833" y="83272"/>
                </a:lnTo>
                <a:lnTo>
                  <a:pt x="18502" y="125658"/>
                </a:lnTo>
                <a:lnTo>
                  <a:pt x="45719" y="141732"/>
                </a:lnTo>
                <a:lnTo>
                  <a:pt x="47243" y="135636"/>
                </a:lnTo>
                <a:lnTo>
                  <a:pt x="38909" y="131849"/>
                </a:lnTo>
                <a:lnTo>
                  <a:pt x="32003" y="127063"/>
                </a:lnTo>
                <a:lnTo>
                  <a:pt x="14263" y="82343"/>
                </a:lnTo>
                <a:lnTo>
                  <a:pt x="13715" y="70104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3" y="6096"/>
                </a:lnTo>
                <a:lnTo>
                  <a:pt x="45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18035" y="2303685"/>
            <a:ext cx="185927" cy="1417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13464" y="2670969"/>
            <a:ext cx="185928" cy="1417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60579" y="2670969"/>
            <a:ext cx="185928" cy="1417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43332" y="2670969"/>
            <a:ext cx="185927" cy="1417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254659" y="2528745"/>
            <a:ext cx="4800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7" baseline="-32000" dirty="0">
                <a:latin typeface="Cambria Math" panose="02040503050406030204"/>
                <a:cs typeface="Cambria Math" panose="02040503050406030204"/>
              </a:rPr>
              <a:t>log</a:t>
            </a:r>
            <a:r>
              <a:rPr sz="1800" i="1" spc="-179" baseline="-3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850" i="1" spc="55" dirty="0">
                <a:latin typeface="Cambria Math" panose="02040503050406030204"/>
                <a:cs typeface="Cambria Math" panose="02040503050406030204"/>
              </a:rPr>
              <a:t>q(x)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72159" y="2776125"/>
            <a:ext cx="140207" cy="1036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477121" y="2735992"/>
            <a:ext cx="208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75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sz="850" i="1" spc="105" dirty="0">
                <a:latin typeface="Cambria Math" panose="02040503050406030204"/>
                <a:cs typeface="Cambria Math" panose="02040503050406030204"/>
              </a:rPr>
              <a:t> 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89864" y="2741835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0" y="0"/>
                </a:moveTo>
                <a:lnTo>
                  <a:pt x="23317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36096" y="3009297"/>
            <a:ext cx="187452" cy="1417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203356" y="2618721"/>
            <a:ext cx="198437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 − 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275" i="1" spc="75" baseline="-16000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p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log </a:t>
            </a:r>
            <a:r>
              <a:rPr sz="1200" i="1">
                <a:latin typeface="Cambria Math" panose="02040503050406030204"/>
                <a:cs typeface="Cambria Math" panose="02040503050406030204"/>
              </a:rPr>
              <a:t>p </a:t>
            </a:r>
            <a:r>
              <a:rPr lang="en-US" sz="1200" i="1" smtClean="0">
                <a:latin typeface="Cambria Math" panose="02040503050406030204"/>
                <a:cs typeface="Cambria Math" panose="02040503050406030204"/>
              </a:rPr>
              <a:t>   </a:t>
            </a:r>
            <a:r>
              <a:rPr sz="1200" i="1" spc="55" smtClean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370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275" i="1" spc="75" baseline="-1600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smtClean="0">
                <a:latin typeface="Cambria Math" panose="02040503050406030204"/>
                <a:cs typeface="Cambria Math" panose="02040503050406030204"/>
              </a:rPr>
              <a:t>p</a:t>
            </a:r>
            <a:r>
              <a:rPr lang="en-US" sz="1200" i="1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1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47625">
              <a:lnSpc>
                <a:spcPct val="100000"/>
              </a:lnSpc>
              <a:spcBef>
                <a:spcPts val="122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45">
                <a:latin typeface="Cambria Math" panose="02040503050406030204"/>
                <a:cs typeface="Cambria Math" panose="02040503050406030204"/>
              </a:rPr>
              <a:t>H </a:t>
            </a:r>
            <a:r>
              <a:rPr lang="en-US" sz="1200" i="1" spc="4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mtClean="0">
                <a:latin typeface="Cambria Math" panose="02040503050406030204"/>
                <a:cs typeface="Cambria Math" panose="02040503050406030204"/>
              </a:rPr>
              <a:t>p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KL(p||q)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6304" y="1903966"/>
            <a:ext cx="2145030" cy="5562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三者之间关系：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301625">
              <a:lnSpc>
                <a:spcPct val="100000"/>
              </a:lnSpc>
              <a:spcBef>
                <a:spcPts val="650"/>
              </a:spcBef>
            </a:pPr>
            <a:r>
              <a:rPr sz="1200" i="1" spc="45" dirty="0">
                <a:latin typeface="Cambria Math" panose="02040503050406030204"/>
                <a:cs typeface="Cambria Math" panose="02040503050406030204"/>
              </a:rPr>
              <a:t>H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p,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q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− </a:t>
            </a:r>
            <a:r>
              <a:rPr sz="1800" i="1" spc="75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275" i="1" spc="75" baseline="-16000">
                <a:latin typeface="Cambria Math" panose="02040503050406030204"/>
                <a:cs typeface="Cambria Math" panose="02040503050406030204"/>
              </a:rPr>
              <a:t>x </a:t>
            </a:r>
            <a:r>
              <a:rPr sz="1200" i="1" smtClean="0">
                <a:latin typeface="Cambria Math" panose="02040503050406030204"/>
                <a:cs typeface="Cambria Math" panose="02040503050406030204"/>
              </a:rPr>
              <a:t>p</a:t>
            </a:r>
            <a:r>
              <a:rPr lang="en-US" sz="1200" i="1" smtClean="0">
                <a:latin typeface="Cambria Math" panose="02040503050406030204"/>
                <a:cs typeface="Cambria Math" panose="02040503050406030204"/>
              </a:rPr>
              <a:t>   </a:t>
            </a:r>
            <a:r>
              <a:rPr sz="1200" i="1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logq(x)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92663" y="110140"/>
            <a:ext cx="8623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交叉熵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340" y="829173"/>
            <a:ext cx="3474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如何度量现在的分类器输出与预测值之间的距离?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0171" y="1248705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1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0.21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1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0.78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880" y="2052907"/>
            <a:ext cx="10560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分类器预测分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q(x)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4516" y="1204077"/>
            <a:ext cx="330200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bird  cat  car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9891" y="1231941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1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1.00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1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3326" y="2083311"/>
            <a:ext cx="7124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真实分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p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(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91088" y="1570269"/>
            <a:ext cx="1061085" cy="38100"/>
          </a:xfrm>
          <a:custGeom>
            <a:avLst/>
            <a:gdLst/>
            <a:ahLst/>
            <a:cxnLst/>
            <a:rect l="l" t="t" r="r" b="b"/>
            <a:pathLst>
              <a:path w="1061085" h="38100">
                <a:moveTo>
                  <a:pt x="38100" y="0"/>
                </a:moveTo>
                <a:lnTo>
                  <a:pt x="0" y="18287"/>
                </a:lnTo>
                <a:lnTo>
                  <a:pt x="38100" y="38100"/>
                </a:lnTo>
                <a:lnTo>
                  <a:pt x="38100" y="21336"/>
                </a:lnTo>
                <a:lnTo>
                  <a:pt x="32004" y="21336"/>
                </a:lnTo>
                <a:lnTo>
                  <a:pt x="32004" y="16763"/>
                </a:lnTo>
                <a:lnTo>
                  <a:pt x="38100" y="16763"/>
                </a:lnTo>
                <a:lnTo>
                  <a:pt x="38100" y="0"/>
                </a:lnTo>
                <a:close/>
              </a:path>
              <a:path w="1061085" h="38100">
                <a:moveTo>
                  <a:pt x="1022604" y="0"/>
                </a:moveTo>
                <a:lnTo>
                  <a:pt x="1022604" y="38100"/>
                </a:lnTo>
                <a:lnTo>
                  <a:pt x="1054842" y="21336"/>
                </a:lnTo>
                <a:lnTo>
                  <a:pt x="1028700" y="21336"/>
                </a:lnTo>
                <a:lnTo>
                  <a:pt x="1028700" y="16763"/>
                </a:lnTo>
                <a:lnTo>
                  <a:pt x="1057529" y="16763"/>
                </a:lnTo>
                <a:lnTo>
                  <a:pt x="1022604" y="0"/>
                </a:lnTo>
                <a:close/>
              </a:path>
              <a:path w="1061085" h="38100">
                <a:moveTo>
                  <a:pt x="38100" y="16763"/>
                </a:moveTo>
                <a:lnTo>
                  <a:pt x="32004" y="16763"/>
                </a:lnTo>
                <a:lnTo>
                  <a:pt x="32004" y="21336"/>
                </a:lnTo>
                <a:lnTo>
                  <a:pt x="38100" y="21336"/>
                </a:lnTo>
                <a:lnTo>
                  <a:pt x="38100" y="16763"/>
                </a:lnTo>
                <a:close/>
              </a:path>
              <a:path w="1061085" h="38100">
                <a:moveTo>
                  <a:pt x="1022604" y="16763"/>
                </a:moveTo>
                <a:lnTo>
                  <a:pt x="38100" y="16763"/>
                </a:lnTo>
                <a:lnTo>
                  <a:pt x="38100" y="21336"/>
                </a:lnTo>
                <a:lnTo>
                  <a:pt x="1022604" y="21336"/>
                </a:lnTo>
                <a:lnTo>
                  <a:pt x="1022604" y="16763"/>
                </a:lnTo>
                <a:close/>
              </a:path>
              <a:path w="1061085" h="38100">
                <a:moveTo>
                  <a:pt x="1057529" y="16763"/>
                </a:moveTo>
                <a:lnTo>
                  <a:pt x="1028700" y="16763"/>
                </a:lnTo>
                <a:lnTo>
                  <a:pt x="1028700" y="21336"/>
                </a:lnTo>
                <a:lnTo>
                  <a:pt x="1054842" y="21336"/>
                </a:lnTo>
                <a:lnTo>
                  <a:pt x="1060704" y="18287"/>
                </a:lnTo>
                <a:lnTo>
                  <a:pt x="1057529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95925" y="1406655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比较？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11811" y="2757465"/>
            <a:ext cx="227075" cy="14173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64439" y="2736129"/>
            <a:ext cx="448309" cy="184785"/>
          </a:xfrm>
          <a:custGeom>
            <a:avLst/>
            <a:gdLst/>
            <a:ahLst/>
            <a:cxnLst/>
            <a:rect l="l" t="t" r="r" b="b"/>
            <a:pathLst>
              <a:path w="448310" h="184785">
                <a:moveTo>
                  <a:pt x="399288" y="0"/>
                </a:moveTo>
                <a:lnTo>
                  <a:pt x="397763" y="6095"/>
                </a:lnTo>
                <a:lnTo>
                  <a:pt x="406336" y="10406"/>
                </a:lnTo>
                <a:lnTo>
                  <a:pt x="413765" y="16573"/>
                </a:lnTo>
                <a:lnTo>
                  <a:pt x="432053" y="60959"/>
                </a:lnTo>
                <a:lnTo>
                  <a:pt x="434339" y="91439"/>
                </a:lnTo>
                <a:lnTo>
                  <a:pt x="433768" y="107751"/>
                </a:lnTo>
                <a:lnTo>
                  <a:pt x="425196" y="147827"/>
                </a:lnTo>
                <a:lnTo>
                  <a:pt x="397763" y="178307"/>
                </a:lnTo>
                <a:lnTo>
                  <a:pt x="399288" y="184403"/>
                </a:lnTo>
                <a:lnTo>
                  <a:pt x="435863" y="152400"/>
                </a:lnTo>
                <a:lnTo>
                  <a:pt x="447222" y="108894"/>
                </a:lnTo>
                <a:lnTo>
                  <a:pt x="448056" y="91439"/>
                </a:lnTo>
                <a:lnTo>
                  <a:pt x="447222" y="74866"/>
                </a:lnTo>
                <a:lnTo>
                  <a:pt x="435863" y="32003"/>
                </a:lnTo>
                <a:lnTo>
                  <a:pt x="410146" y="4571"/>
                </a:lnTo>
                <a:lnTo>
                  <a:pt x="399288" y="0"/>
                </a:lnTo>
                <a:close/>
              </a:path>
              <a:path w="448310" h="184785">
                <a:moveTo>
                  <a:pt x="47244" y="0"/>
                </a:moveTo>
                <a:lnTo>
                  <a:pt x="12192" y="32003"/>
                </a:lnTo>
                <a:lnTo>
                  <a:pt x="619" y="74866"/>
                </a:lnTo>
                <a:lnTo>
                  <a:pt x="0" y="91439"/>
                </a:lnTo>
                <a:lnTo>
                  <a:pt x="619" y="108894"/>
                </a:lnTo>
                <a:lnTo>
                  <a:pt x="12192" y="152400"/>
                </a:lnTo>
                <a:lnTo>
                  <a:pt x="47244" y="184403"/>
                </a:lnTo>
                <a:lnTo>
                  <a:pt x="48768" y="178307"/>
                </a:lnTo>
                <a:lnTo>
                  <a:pt x="41076" y="173759"/>
                </a:lnTo>
                <a:lnTo>
                  <a:pt x="34099" y="167068"/>
                </a:lnTo>
                <a:lnTo>
                  <a:pt x="15239" y="122491"/>
                </a:lnTo>
                <a:lnTo>
                  <a:pt x="12192" y="91439"/>
                </a:lnTo>
                <a:lnTo>
                  <a:pt x="13001" y="75771"/>
                </a:lnTo>
                <a:lnTo>
                  <a:pt x="22860" y="35051"/>
                </a:lnTo>
                <a:lnTo>
                  <a:pt x="48768" y="6095"/>
                </a:lnTo>
                <a:lnTo>
                  <a:pt x="4724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16839" y="2757465"/>
            <a:ext cx="225551" cy="1417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58120" y="2363841"/>
            <a:ext cx="2638425" cy="58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如何衡量两个随机分布的差异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ts val="1045"/>
              </a:lnSpc>
              <a:tabLst>
                <a:tab pos="1739900" algn="l"/>
              </a:tabLst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交叉熵</a:t>
            </a:r>
            <a:r>
              <a:rPr sz="12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H(p,</a:t>
            </a:r>
            <a:r>
              <a:rPr sz="1200" spc="-7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q)</a:t>
            </a:r>
            <a:r>
              <a:rPr sz="1200" spc="8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1200" spc="-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44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∑</a:t>
            </a:r>
            <a:r>
              <a:rPr sz="1275" spc="44" baseline="33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	</a:t>
            </a:r>
            <a:r>
              <a:rPr sz="120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 </a:t>
            </a:r>
            <a:r>
              <a:rPr sz="1200" spc="5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x</a:t>
            </a:r>
            <a:r>
              <a:rPr sz="1275" spc="82" baseline="-16000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i </a:t>
            </a:r>
            <a:r>
              <a:rPr sz="1200" spc="-5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log </a:t>
            </a:r>
            <a:r>
              <a:rPr lang="en-US" sz="1200" spc="-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  </a:t>
            </a:r>
            <a:r>
              <a:rPr sz="1200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q</a:t>
            </a:r>
            <a:r>
              <a:rPr sz="1200" spc="240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x</a:t>
            </a:r>
            <a:r>
              <a:rPr sz="1275" spc="8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i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  <a:p>
            <a:pPr marL="628650" algn="ctr">
              <a:lnSpc>
                <a:spcPts val="625"/>
              </a:lnSpc>
            </a:pPr>
            <a:r>
              <a:rPr sz="850" spc="1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i=l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213771" y="115828"/>
            <a:ext cx="1419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340" y="823448"/>
            <a:ext cx="3474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如何度量现在的分类器输出与预测值之间的距离?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0171" y="1242981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1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0.21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1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0.78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880" y="2047183"/>
            <a:ext cx="10560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分类器预测分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q(x)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4516" y="1198352"/>
            <a:ext cx="330200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bird  cat  car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9891" y="1226217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1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1.00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1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3326" y="2077587"/>
            <a:ext cx="7124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真实分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p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(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91088" y="1564545"/>
            <a:ext cx="1061085" cy="38100"/>
          </a:xfrm>
          <a:custGeom>
            <a:avLst/>
            <a:gdLst/>
            <a:ahLst/>
            <a:cxnLst/>
            <a:rect l="l" t="t" r="r" b="b"/>
            <a:pathLst>
              <a:path w="1061085" h="38100">
                <a:moveTo>
                  <a:pt x="38100" y="0"/>
                </a:moveTo>
                <a:lnTo>
                  <a:pt x="0" y="18287"/>
                </a:lnTo>
                <a:lnTo>
                  <a:pt x="38100" y="38100"/>
                </a:lnTo>
                <a:lnTo>
                  <a:pt x="38100" y="21335"/>
                </a:lnTo>
                <a:lnTo>
                  <a:pt x="32004" y="21335"/>
                </a:lnTo>
                <a:lnTo>
                  <a:pt x="32004" y="16763"/>
                </a:lnTo>
                <a:lnTo>
                  <a:pt x="38100" y="16763"/>
                </a:lnTo>
                <a:lnTo>
                  <a:pt x="38100" y="0"/>
                </a:lnTo>
                <a:close/>
              </a:path>
              <a:path w="1061085" h="38100">
                <a:moveTo>
                  <a:pt x="1022604" y="0"/>
                </a:moveTo>
                <a:lnTo>
                  <a:pt x="1022604" y="38100"/>
                </a:lnTo>
                <a:lnTo>
                  <a:pt x="1054842" y="21335"/>
                </a:lnTo>
                <a:lnTo>
                  <a:pt x="1028700" y="21335"/>
                </a:lnTo>
                <a:lnTo>
                  <a:pt x="1028700" y="16763"/>
                </a:lnTo>
                <a:lnTo>
                  <a:pt x="1057528" y="16763"/>
                </a:lnTo>
                <a:lnTo>
                  <a:pt x="1022604" y="0"/>
                </a:lnTo>
                <a:close/>
              </a:path>
              <a:path w="1061085" h="38100">
                <a:moveTo>
                  <a:pt x="38100" y="16763"/>
                </a:moveTo>
                <a:lnTo>
                  <a:pt x="32004" y="16763"/>
                </a:lnTo>
                <a:lnTo>
                  <a:pt x="32004" y="21335"/>
                </a:lnTo>
                <a:lnTo>
                  <a:pt x="38100" y="21335"/>
                </a:lnTo>
                <a:lnTo>
                  <a:pt x="38100" y="16763"/>
                </a:lnTo>
                <a:close/>
              </a:path>
              <a:path w="1061085" h="38100">
                <a:moveTo>
                  <a:pt x="1022604" y="16763"/>
                </a:moveTo>
                <a:lnTo>
                  <a:pt x="38100" y="16763"/>
                </a:lnTo>
                <a:lnTo>
                  <a:pt x="38100" y="21335"/>
                </a:lnTo>
                <a:lnTo>
                  <a:pt x="1022604" y="21335"/>
                </a:lnTo>
                <a:lnTo>
                  <a:pt x="1022604" y="16763"/>
                </a:lnTo>
                <a:close/>
              </a:path>
              <a:path w="1061085" h="38100">
                <a:moveTo>
                  <a:pt x="1057528" y="16763"/>
                </a:moveTo>
                <a:lnTo>
                  <a:pt x="1028700" y="16763"/>
                </a:lnTo>
                <a:lnTo>
                  <a:pt x="1028700" y="21335"/>
                </a:lnTo>
                <a:lnTo>
                  <a:pt x="1054842" y="21335"/>
                </a:lnTo>
                <a:lnTo>
                  <a:pt x="1060704" y="18287"/>
                </a:lnTo>
                <a:lnTo>
                  <a:pt x="1057528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95925" y="1400930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比较？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11811" y="2751741"/>
            <a:ext cx="227075" cy="14173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64439" y="2730405"/>
            <a:ext cx="448309" cy="184785"/>
          </a:xfrm>
          <a:custGeom>
            <a:avLst/>
            <a:gdLst/>
            <a:ahLst/>
            <a:cxnLst/>
            <a:rect l="l" t="t" r="r" b="b"/>
            <a:pathLst>
              <a:path w="448310" h="184785">
                <a:moveTo>
                  <a:pt x="399288" y="0"/>
                </a:moveTo>
                <a:lnTo>
                  <a:pt x="397763" y="6096"/>
                </a:lnTo>
                <a:lnTo>
                  <a:pt x="406336" y="10406"/>
                </a:lnTo>
                <a:lnTo>
                  <a:pt x="413765" y="16573"/>
                </a:lnTo>
                <a:lnTo>
                  <a:pt x="432053" y="60960"/>
                </a:lnTo>
                <a:lnTo>
                  <a:pt x="434339" y="91440"/>
                </a:lnTo>
                <a:lnTo>
                  <a:pt x="433768" y="107751"/>
                </a:lnTo>
                <a:lnTo>
                  <a:pt x="425196" y="147827"/>
                </a:lnTo>
                <a:lnTo>
                  <a:pt x="397763" y="178308"/>
                </a:lnTo>
                <a:lnTo>
                  <a:pt x="399288" y="184404"/>
                </a:lnTo>
                <a:lnTo>
                  <a:pt x="435863" y="152400"/>
                </a:lnTo>
                <a:lnTo>
                  <a:pt x="447222" y="108894"/>
                </a:lnTo>
                <a:lnTo>
                  <a:pt x="448056" y="91440"/>
                </a:lnTo>
                <a:lnTo>
                  <a:pt x="447222" y="74866"/>
                </a:lnTo>
                <a:lnTo>
                  <a:pt x="435863" y="32003"/>
                </a:lnTo>
                <a:lnTo>
                  <a:pt x="410146" y="4572"/>
                </a:lnTo>
                <a:lnTo>
                  <a:pt x="399288" y="0"/>
                </a:lnTo>
                <a:close/>
              </a:path>
              <a:path w="448310" h="184785">
                <a:moveTo>
                  <a:pt x="47244" y="0"/>
                </a:moveTo>
                <a:lnTo>
                  <a:pt x="12192" y="32003"/>
                </a:lnTo>
                <a:lnTo>
                  <a:pt x="619" y="74866"/>
                </a:lnTo>
                <a:lnTo>
                  <a:pt x="0" y="91440"/>
                </a:lnTo>
                <a:lnTo>
                  <a:pt x="619" y="108894"/>
                </a:lnTo>
                <a:lnTo>
                  <a:pt x="12192" y="152400"/>
                </a:lnTo>
                <a:lnTo>
                  <a:pt x="47244" y="184404"/>
                </a:lnTo>
                <a:lnTo>
                  <a:pt x="48768" y="178308"/>
                </a:lnTo>
                <a:lnTo>
                  <a:pt x="41076" y="173759"/>
                </a:lnTo>
                <a:lnTo>
                  <a:pt x="34099" y="167068"/>
                </a:lnTo>
                <a:lnTo>
                  <a:pt x="15239" y="122491"/>
                </a:lnTo>
                <a:lnTo>
                  <a:pt x="12192" y="91440"/>
                </a:lnTo>
                <a:lnTo>
                  <a:pt x="13001" y="75771"/>
                </a:lnTo>
                <a:lnTo>
                  <a:pt x="22860" y="35051"/>
                </a:lnTo>
                <a:lnTo>
                  <a:pt x="48768" y="6096"/>
                </a:lnTo>
                <a:lnTo>
                  <a:pt x="472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16839" y="2751741"/>
            <a:ext cx="225551" cy="141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58121" y="2358117"/>
            <a:ext cx="2684269" cy="577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如何衡量两个随机分布的差异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ts val="1045"/>
              </a:lnSpc>
              <a:tabLst>
                <a:tab pos="173990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交叉熵</a:t>
            </a:r>
            <a:r>
              <a:rPr sz="1200" spc="1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H(p,</a:t>
            </a:r>
            <a:r>
              <a:rPr sz="1200" i="1" spc="-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" dirty="0">
                <a:latin typeface="Cambria Math" panose="02040503050406030204"/>
                <a:cs typeface="Cambria Math" panose="02040503050406030204"/>
              </a:rPr>
              <a:t>q)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200" i="1" spc="-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15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275" i="1" spc="15" baseline="33000" dirty="0">
                <a:latin typeface="Cambria Math" panose="02040503050406030204"/>
                <a:cs typeface="Cambria Math" panose="02040503050406030204"/>
              </a:rPr>
              <a:t>e	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p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i="1" spc="82" baseline="-16000" dirty="0">
                <a:latin typeface="Cambria Math" panose="02040503050406030204"/>
                <a:cs typeface="Cambria Math" panose="02040503050406030204"/>
              </a:rPr>
              <a:t>i </a:t>
            </a:r>
            <a:r>
              <a:rPr sz="1200" i="1" spc="-5">
                <a:latin typeface="Cambria Math" panose="02040503050406030204"/>
                <a:cs typeface="Cambria Math" panose="02040503050406030204"/>
              </a:rPr>
              <a:t>log </a:t>
            </a:r>
            <a:r>
              <a:rPr lang="en-US" sz="1200" i="1" spc="-5" smtClean="0">
                <a:latin typeface="Cambria Math" panose="02040503050406030204"/>
                <a:cs typeface="Cambria Math" panose="02040503050406030204"/>
              </a:rPr>
              <a:t>   </a:t>
            </a:r>
            <a:r>
              <a:rPr sz="1200" i="1" smtClean="0">
                <a:latin typeface="Cambria Math" panose="02040503050406030204"/>
                <a:cs typeface="Cambria Math" panose="02040503050406030204"/>
              </a:rPr>
              <a:t>q</a:t>
            </a:r>
            <a:r>
              <a:rPr sz="1200" i="1" spc="240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i="1" spc="82" baseline="-16000" dirty="0">
                <a:latin typeface="Cambria Math" panose="02040503050406030204"/>
                <a:cs typeface="Cambria Math" panose="02040503050406030204"/>
              </a:rPr>
              <a:t>i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  <a:p>
            <a:pPr marL="628650" algn="ctr">
              <a:lnSpc>
                <a:spcPts val="625"/>
              </a:lnSpc>
            </a:pPr>
            <a:r>
              <a:rPr sz="850" i="1" spc="120" dirty="0">
                <a:latin typeface="Cambria Math" panose="02040503050406030204"/>
                <a:cs typeface="Cambria Math" panose="02040503050406030204"/>
              </a:rPr>
              <a:t>i=l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9145" y="1169289"/>
            <a:ext cx="1740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分布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one-hot形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时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69145" y="1480206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交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叉熵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失简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69145" y="1809464"/>
            <a:ext cx="17646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1050" i="1" spc="3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i</a:t>
            </a:r>
            <a:r>
              <a:rPr sz="1000" spc="2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=-log(</a:t>
            </a:r>
            <a:r>
              <a:rPr sz="10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q</a:t>
            </a:r>
            <a:r>
              <a:rPr sz="1050" i="1" spc="3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j</a:t>
            </a:r>
            <a:r>
              <a:rPr sz="10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</a:t>
            </a:r>
            <a:r>
              <a:rPr sz="1000" spc="2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其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j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实类别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213771" y="110140"/>
            <a:ext cx="1419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340" y="762117"/>
            <a:ext cx="3474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如何度量现在的分类器输出与预测值之间的距离?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0171" y="1181649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2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0.21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0.01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0.78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880" y="1985813"/>
            <a:ext cx="10560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分类器预测分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q(x)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4516" y="1137021"/>
            <a:ext cx="330200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bird  cat  car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9891" y="1164885"/>
            <a:ext cx="460375" cy="681355"/>
          </a:xfrm>
          <a:prstGeom prst="rect">
            <a:avLst/>
          </a:prstGeom>
          <a:ln w="9143">
            <a:solidFill>
              <a:srgbClr val="37761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25"/>
              </a:spcBef>
            </a:pP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1.00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11125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0.00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3326" y="2016331"/>
            <a:ext cx="7124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真实分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p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(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)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91088" y="1503213"/>
            <a:ext cx="1061085" cy="38100"/>
          </a:xfrm>
          <a:custGeom>
            <a:avLst/>
            <a:gdLst/>
            <a:ahLst/>
            <a:cxnLst/>
            <a:rect l="l" t="t" r="r" b="b"/>
            <a:pathLst>
              <a:path w="1061085" h="38100">
                <a:moveTo>
                  <a:pt x="38100" y="0"/>
                </a:moveTo>
                <a:lnTo>
                  <a:pt x="0" y="19812"/>
                </a:lnTo>
                <a:lnTo>
                  <a:pt x="38100" y="38100"/>
                </a:lnTo>
                <a:lnTo>
                  <a:pt x="38100" y="21336"/>
                </a:lnTo>
                <a:lnTo>
                  <a:pt x="32004" y="21336"/>
                </a:lnTo>
                <a:lnTo>
                  <a:pt x="32004" y="16763"/>
                </a:lnTo>
                <a:lnTo>
                  <a:pt x="38100" y="16763"/>
                </a:lnTo>
                <a:lnTo>
                  <a:pt x="38100" y="0"/>
                </a:lnTo>
                <a:close/>
              </a:path>
              <a:path w="1061085" h="38100">
                <a:moveTo>
                  <a:pt x="1022604" y="0"/>
                </a:moveTo>
                <a:lnTo>
                  <a:pt x="1022604" y="38100"/>
                </a:lnTo>
                <a:lnTo>
                  <a:pt x="1057529" y="21336"/>
                </a:lnTo>
                <a:lnTo>
                  <a:pt x="1028700" y="21336"/>
                </a:lnTo>
                <a:lnTo>
                  <a:pt x="1028700" y="16763"/>
                </a:lnTo>
                <a:lnTo>
                  <a:pt x="1054842" y="16763"/>
                </a:lnTo>
                <a:lnTo>
                  <a:pt x="1022604" y="0"/>
                </a:lnTo>
                <a:close/>
              </a:path>
              <a:path w="1061085" h="38100">
                <a:moveTo>
                  <a:pt x="38100" y="16763"/>
                </a:moveTo>
                <a:lnTo>
                  <a:pt x="32004" y="16763"/>
                </a:lnTo>
                <a:lnTo>
                  <a:pt x="32004" y="21336"/>
                </a:lnTo>
                <a:lnTo>
                  <a:pt x="38100" y="21336"/>
                </a:lnTo>
                <a:lnTo>
                  <a:pt x="38100" y="16763"/>
                </a:lnTo>
                <a:close/>
              </a:path>
              <a:path w="1061085" h="38100">
                <a:moveTo>
                  <a:pt x="1022604" y="16763"/>
                </a:moveTo>
                <a:lnTo>
                  <a:pt x="38100" y="16763"/>
                </a:lnTo>
                <a:lnTo>
                  <a:pt x="38100" y="21336"/>
                </a:lnTo>
                <a:lnTo>
                  <a:pt x="1022604" y="21336"/>
                </a:lnTo>
                <a:lnTo>
                  <a:pt x="1022604" y="16763"/>
                </a:lnTo>
                <a:close/>
              </a:path>
              <a:path w="1061085" h="38100">
                <a:moveTo>
                  <a:pt x="1054842" y="16763"/>
                </a:moveTo>
                <a:lnTo>
                  <a:pt x="1028700" y="16763"/>
                </a:lnTo>
                <a:lnTo>
                  <a:pt x="1028700" y="21336"/>
                </a:lnTo>
                <a:lnTo>
                  <a:pt x="1057529" y="21336"/>
                </a:lnTo>
                <a:lnTo>
                  <a:pt x="1060704" y="19812"/>
                </a:lnTo>
                <a:lnTo>
                  <a:pt x="1054842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95925" y="134116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比较？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4068" y="2296785"/>
            <a:ext cx="2006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如何衡量两个随机分布的差异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11811" y="2691933"/>
            <a:ext cx="227075" cy="14020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64439" y="2669073"/>
            <a:ext cx="448309" cy="184785"/>
          </a:xfrm>
          <a:custGeom>
            <a:avLst/>
            <a:gdLst/>
            <a:ahLst/>
            <a:cxnLst/>
            <a:rect l="l" t="t" r="r" b="b"/>
            <a:pathLst>
              <a:path w="448310" h="184785">
                <a:moveTo>
                  <a:pt x="399288" y="0"/>
                </a:moveTo>
                <a:lnTo>
                  <a:pt x="397763" y="6095"/>
                </a:lnTo>
                <a:lnTo>
                  <a:pt x="406336" y="10644"/>
                </a:lnTo>
                <a:lnTo>
                  <a:pt x="413765" y="17335"/>
                </a:lnTo>
                <a:lnTo>
                  <a:pt x="432053" y="61912"/>
                </a:lnTo>
                <a:lnTo>
                  <a:pt x="434339" y="92963"/>
                </a:lnTo>
                <a:lnTo>
                  <a:pt x="433768" y="108632"/>
                </a:lnTo>
                <a:lnTo>
                  <a:pt x="425196" y="149351"/>
                </a:lnTo>
                <a:lnTo>
                  <a:pt x="397763" y="178307"/>
                </a:lnTo>
                <a:lnTo>
                  <a:pt x="399288" y="184403"/>
                </a:lnTo>
                <a:lnTo>
                  <a:pt x="435863" y="152400"/>
                </a:lnTo>
                <a:lnTo>
                  <a:pt x="447222" y="109537"/>
                </a:lnTo>
                <a:lnTo>
                  <a:pt x="448056" y="92963"/>
                </a:lnTo>
                <a:lnTo>
                  <a:pt x="447222" y="75509"/>
                </a:lnTo>
                <a:lnTo>
                  <a:pt x="435863" y="32003"/>
                </a:lnTo>
                <a:lnTo>
                  <a:pt x="410146" y="4571"/>
                </a:lnTo>
                <a:lnTo>
                  <a:pt x="399288" y="0"/>
                </a:lnTo>
                <a:close/>
              </a:path>
              <a:path w="448310" h="184785">
                <a:moveTo>
                  <a:pt x="47244" y="0"/>
                </a:moveTo>
                <a:lnTo>
                  <a:pt x="12192" y="32003"/>
                </a:lnTo>
                <a:lnTo>
                  <a:pt x="619" y="75509"/>
                </a:lnTo>
                <a:lnTo>
                  <a:pt x="0" y="92963"/>
                </a:lnTo>
                <a:lnTo>
                  <a:pt x="619" y="109537"/>
                </a:lnTo>
                <a:lnTo>
                  <a:pt x="12192" y="152400"/>
                </a:lnTo>
                <a:lnTo>
                  <a:pt x="47244" y="184403"/>
                </a:lnTo>
                <a:lnTo>
                  <a:pt x="48768" y="178307"/>
                </a:lnTo>
                <a:lnTo>
                  <a:pt x="41076" y="173997"/>
                </a:lnTo>
                <a:lnTo>
                  <a:pt x="34099" y="167830"/>
                </a:lnTo>
                <a:lnTo>
                  <a:pt x="15239" y="123443"/>
                </a:lnTo>
                <a:lnTo>
                  <a:pt x="12192" y="92963"/>
                </a:lnTo>
                <a:lnTo>
                  <a:pt x="13001" y="76652"/>
                </a:lnTo>
                <a:lnTo>
                  <a:pt x="22860" y="36575"/>
                </a:lnTo>
                <a:lnTo>
                  <a:pt x="48768" y="6095"/>
                </a:lnTo>
                <a:lnTo>
                  <a:pt x="472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16839" y="2691933"/>
            <a:ext cx="225551" cy="140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58119" y="2639685"/>
            <a:ext cx="2872211" cy="218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45"/>
              </a:lnSpc>
              <a:spcBef>
                <a:spcPts val="100"/>
              </a:spcBef>
              <a:tabLst>
                <a:tab pos="175260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交叉熵</a:t>
            </a:r>
            <a:r>
              <a:rPr sz="1200" spc="1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H(p,</a:t>
            </a:r>
            <a:r>
              <a:rPr sz="1200" spc="-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" dirty="0">
                <a:latin typeface="Cambria Math" panose="02040503050406030204"/>
                <a:cs typeface="Cambria Math" panose="02040503050406030204"/>
              </a:rPr>
              <a:t>q)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200" spc="-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44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275" spc="44" baseline="33000" dirty="0">
                <a:latin typeface="Cambria Math" panose="02040503050406030204"/>
                <a:cs typeface="Cambria Math" panose="02040503050406030204"/>
              </a:rPr>
              <a:t>c	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p </a:t>
            </a:r>
            <a:r>
              <a:rPr sz="1200" spc="55">
                <a:latin typeface="Cambria Math" panose="02040503050406030204"/>
                <a:cs typeface="Cambria Math" panose="02040503050406030204"/>
              </a:rPr>
              <a:t>x </a:t>
            </a:r>
            <a:r>
              <a:rPr lang="en-US" sz="1200" spc="55" smtClean="0">
                <a:latin typeface="Cambria Math" panose="02040503050406030204"/>
                <a:cs typeface="Cambria Math" panose="02040503050406030204"/>
              </a:rPr>
              <a:t>  </a:t>
            </a:r>
            <a:r>
              <a:rPr sz="1200" spc="5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log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q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539240">
              <a:lnSpc>
                <a:spcPts val="625"/>
              </a:lnSpc>
              <a:tabLst>
                <a:tab pos="1981200" algn="l"/>
                <a:tab pos="2586355" algn="l"/>
              </a:tabLst>
            </a:pPr>
            <a:r>
              <a:rPr sz="850" spc="95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50" spc="-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850" spc="275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8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275" spc="104" baseline="3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1275" baseline="3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275" spc="104" baseline="3000" dirty="0">
                <a:latin typeface="Cambria Math" panose="02040503050406030204"/>
                <a:cs typeface="Cambria Math" panose="02040503050406030204"/>
              </a:rPr>
              <a:t>i</a:t>
            </a:r>
            <a:endParaRPr sz="1275" baseline="3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94408" y="2563917"/>
            <a:ext cx="228600" cy="141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47035" y="2542581"/>
            <a:ext cx="451484" cy="184785"/>
          </a:xfrm>
          <a:custGeom>
            <a:avLst/>
            <a:gdLst/>
            <a:ahLst/>
            <a:cxnLst/>
            <a:rect l="l" t="t" r="r" b="b"/>
            <a:pathLst>
              <a:path w="451485" h="184785">
                <a:moveTo>
                  <a:pt x="402336" y="0"/>
                </a:moveTo>
                <a:lnTo>
                  <a:pt x="400812" y="6095"/>
                </a:lnTo>
                <a:lnTo>
                  <a:pt x="409170" y="10406"/>
                </a:lnTo>
                <a:lnTo>
                  <a:pt x="416242" y="16573"/>
                </a:lnTo>
                <a:lnTo>
                  <a:pt x="435101" y="60388"/>
                </a:lnTo>
                <a:lnTo>
                  <a:pt x="437388" y="91439"/>
                </a:lnTo>
                <a:lnTo>
                  <a:pt x="436816" y="107751"/>
                </a:lnTo>
                <a:lnTo>
                  <a:pt x="428243" y="147827"/>
                </a:lnTo>
                <a:lnTo>
                  <a:pt x="400812" y="178307"/>
                </a:lnTo>
                <a:lnTo>
                  <a:pt x="402336" y="184404"/>
                </a:lnTo>
                <a:lnTo>
                  <a:pt x="437388" y="152400"/>
                </a:lnTo>
                <a:lnTo>
                  <a:pt x="450246" y="108251"/>
                </a:lnTo>
                <a:lnTo>
                  <a:pt x="451103" y="91439"/>
                </a:lnTo>
                <a:lnTo>
                  <a:pt x="450246" y="74842"/>
                </a:lnTo>
                <a:lnTo>
                  <a:pt x="437388" y="30480"/>
                </a:lnTo>
                <a:lnTo>
                  <a:pt x="413170" y="3690"/>
                </a:lnTo>
                <a:lnTo>
                  <a:pt x="402336" y="0"/>
                </a:lnTo>
                <a:close/>
              </a:path>
              <a:path w="451485" h="184785">
                <a:moveTo>
                  <a:pt x="48767" y="0"/>
                </a:moveTo>
                <a:lnTo>
                  <a:pt x="13715" y="30480"/>
                </a:lnTo>
                <a:lnTo>
                  <a:pt x="857" y="74842"/>
                </a:lnTo>
                <a:lnTo>
                  <a:pt x="0" y="91439"/>
                </a:lnTo>
                <a:lnTo>
                  <a:pt x="857" y="108251"/>
                </a:lnTo>
                <a:lnTo>
                  <a:pt x="13715" y="152400"/>
                </a:lnTo>
                <a:lnTo>
                  <a:pt x="48767" y="184404"/>
                </a:lnTo>
                <a:lnTo>
                  <a:pt x="50291" y="178307"/>
                </a:lnTo>
                <a:lnTo>
                  <a:pt x="41719" y="173759"/>
                </a:lnTo>
                <a:lnTo>
                  <a:pt x="34289" y="167068"/>
                </a:lnTo>
                <a:lnTo>
                  <a:pt x="16001" y="122491"/>
                </a:lnTo>
                <a:lnTo>
                  <a:pt x="13715" y="91439"/>
                </a:lnTo>
                <a:lnTo>
                  <a:pt x="14287" y="75128"/>
                </a:lnTo>
                <a:lnTo>
                  <a:pt x="22860" y="35051"/>
                </a:lnTo>
                <a:lnTo>
                  <a:pt x="50291" y="6095"/>
                </a:lnTo>
                <a:lnTo>
                  <a:pt x="487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399435" y="2563917"/>
            <a:ext cx="228600" cy="141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682647" y="2511669"/>
            <a:ext cx="8985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mbria Math" panose="02040503050406030204"/>
                <a:cs typeface="Cambria Math" panose="02040503050406030204"/>
              </a:rPr>
              <a:t>p </a:t>
            </a:r>
            <a:r>
              <a:rPr sz="1200" spc="55" smtClean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spc="82" baseline="-16000" smtClean="0">
                <a:latin typeface="Cambria Math" panose="02040503050406030204"/>
                <a:cs typeface="Cambria Math" panose="02040503050406030204"/>
              </a:rPr>
              <a:t>i</a:t>
            </a:r>
            <a:r>
              <a:rPr lang="en-US" sz="1275" spc="82" baseline="-16000" smtClean="0">
                <a:latin typeface="Cambria Math" panose="02040503050406030204"/>
                <a:cs typeface="Cambria Math" panose="02040503050406030204"/>
              </a:rPr>
              <a:t>   </a:t>
            </a:r>
            <a:r>
              <a:rPr sz="1275" spc="82" baseline="-16000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log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q</a:t>
            </a:r>
            <a:r>
              <a:rPr sz="1200" spc="2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spc="82" baseline="-16000" dirty="0">
                <a:latin typeface="Cambria Math" panose="02040503050406030204"/>
                <a:cs typeface="Cambria Math" panose="02040503050406030204"/>
              </a:rPr>
              <a:t>i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94740" y="2511669"/>
            <a:ext cx="656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75" spc="44" baseline="-16000" dirty="0">
                <a:latin typeface="Cambria Math" panose="02040503050406030204"/>
                <a:cs typeface="Cambria Math" panose="02040503050406030204"/>
              </a:rPr>
              <a:t>i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−</a:t>
            </a:r>
            <a:r>
              <a:rPr sz="12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44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275" spc="44" baseline="33000" dirty="0">
                <a:latin typeface="Cambria Math" panose="02040503050406030204"/>
                <a:cs typeface="Cambria Math" panose="02040503050406030204"/>
              </a:rPr>
              <a:t>c</a:t>
            </a:r>
            <a:endParaRPr sz="1275" baseline="33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69266" y="2590801"/>
            <a:ext cx="2133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95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50" spc="-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850" spc="275" dirty="0">
                <a:latin typeface="Cambria Math" panose="02040503050406030204"/>
                <a:cs typeface="Cambria Math" panose="02040503050406030204"/>
              </a:rPr>
              <a:t>l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9145" y="1109485"/>
            <a:ext cx="1740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分布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one-hot形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时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69145" y="1420403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交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叉熵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失简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42696" y="1749535"/>
            <a:ext cx="2209800" cy="429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95"/>
              </a:spcBef>
            </a:pPr>
            <a:r>
              <a:rPr sz="1000" spc="25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050" spc="37" baseline="-16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1000" spc="25" dirty="0">
                <a:latin typeface="黑体" panose="02010609060101010101" charset="-122"/>
                <a:cs typeface="黑体" panose="02010609060101010101" charset="-122"/>
              </a:rPr>
              <a:t>=-log(</a:t>
            </a:r>
            <a:r>
              <a:rPr sz="1000" spc="25" dirty="0">
                <a:latin typeface="Cambria Math" panose="02040503050406030204"/>
                <a:cs typeface="Cambria Math" panose="02040503050406030204"/>
              </a:rPr>
              <a:t>q</a:t>
            </a:r>
            <a:r>
              <a:rPr sz="1050" spc="37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1000" spc="25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1000" spc="2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其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j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实类别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  <a:tabLst>
                <a:tab pos="2196465" algn="l"/>
              </a:tabLst>
            </a:pPr>
            <a:r>
              <a:rPr sz="900" u="sng" dirty="0">
                <a:uFill>
                  <a:solidFill>
                    <a:srgbClr val="FF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endParaRPr sz="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94740" y="2258685"/>
            <a:ext cx="863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交叉熵损失: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24915" y="2944917"/>
            <a:ext cx="12700" cy="52069"/>
          </a:xfrm>
          <a:custGeom>
            <a:avLst/>
            <a:gdLst/>
            <a:ahLst/>
            <a:cxnLst/>
            <a:rect l="l" t="t" r="r" b="b"/>
            <a:pathLst>
              <a:path w="12700" h="52069">
                <a:moveTo>
                  <a:pt x="12192" y="0"/>
                </a:moveTo>
                <a:lnTo>
                  <a:pt x="0" y="0"/>
                </a:lnTo>
                <a:lnTo>
                  <a:pt x="0" y="51815"/>
                </a:lnTo>
                <a:lnTo>
                  <a:pt x="12192" y="51815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524915" y="285652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2" y="0"/>
                </a:moveTo>
                <a:lnTo>
                  <a:pt x="0" y="0"/>
                </a:lnTo>
                <a:lnTo>
                  <a:pt x="0" y="50292"/>
                </a:lnTo>
                <a:lnTo>
                  <a:pt x="12192" y="50292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24915" y="2768133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2" y="0"/>
                </a:moveTo>
                <a:lnTo>
                  <a:pt x="0" y="0"/>
                </a:lnTo>
                <a:lnTo>
                  <a:pt x="0" y="50292"/>
                </a:lnTo>
                <a:lnTo>
                  <a:pt x="12192" y="50292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24915" y="2678217"/>
            <a:ext cx="12700" cy="52069"/>
          </a:xfrm>
          <a:custGeom>
            <a:avLst/>
            <a:gdLst/>
            <a:ahLst/>
            <a:cxnLst/>
            <a:rect l="l" t="t" r="r" b="b"/>
            <a:pathLst>
              <a:path w="12700" h="52069">
                <a:moveTo>
                  <a:pt x="12192" y="0"/>
                </a:moveTo>
                <a:lnTo>
                  <a:pt x="0" y="0"/>
                </a:lnTo>
                <a:lnTo>
                  <a:pt x="0" y="51815"/>
                </a:lnTo>
                <a:lnTo>
                  <a:pt x="12192" y="51815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24915" y="258982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2" y="0"/>
                </a:moveTo>
                <a:lnTo>
                  <a:pt x="0" y="0"/>
                </a:lnTo>
                <a:lnTo>
                  <a:pt x="0" y="50292"/>
                </a:lnTo>
                <a:lnTo>
                  <a:pt x="12192" y="50292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24915" y="2501433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2" y="0"/>
                </a:moveTo>
                <a:lnTo>
                  <a:pt x="0" y="0"/>
                </a:lnTo>
                <a:lnTo>
                  <a:pt x="0" y="50292"/>
                </a:lnTo>
                <a:lnTo>
                  <a:pt x="12192" y="50292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24915" y="2411517"/>
            <a:ext cx="12700" cy="52069"/>
          </a:xfrm>
          <a:custGeom>
            <a:avLst/>
            <a:gdLst/>
            <a:ahLst/>
            <a:cxnLst/>
            <a:rect l="l" t="t" r="r" b="b"/>
            <a:pathLst>
              <a:path w="12700" h="52069">
                <a:moveTo>
                  <a:pt x="12192" y="0"/>
                </a:moveTo>
                <a:lnTo>
                  <a:pt x="0" y="0"/>
                </a:lnTo>
                <a:lnTo>
                  <a:pt x="0" y="51815"/>
                </a:lnTo>
                <a:lnTo>
                  <a:pt x="12192" y="51815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24915" y="232312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2" y="0"/>
                </a:moveTo>
                <a:lnTo>
                  <a:pt x="0" y="0"/>
                </a:lnTo>
                <a:lnTo>
                  <a:pt x="0" y="50292"/>
                </a:lnTo>
                <a:lnTo>
                  <a:pt x="12192" y="50292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24915" y="2234733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2" y="0"/>
                </a:moveTo>
                <a:lnTo>
                  <a:pt x="0" y="0"/>
                </a:lnTo>
                <a:lnTo>
                  <a:pt x="0" y="50292"/>
                </a:lnTo>
                <a:lnTo>
                  <a:pt x="12192" y="50292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524915" y="2144817"/>
            <a:ext cx="12700" cy="52069"/>
          </a:xfrm>
          <a:custGeom>
            <a:avLst/>
            <a:gdLst/>
            <a:ahLst/>
            <a:cxnLst/>
            <a:rect l="l" t="t" r="r" b="b"/>
            <a:pathLst>
              <a:path w="12700" h="52069">
                <a:moveTo>
                  <a:pt x="12192" y="0"/>
                </a:moveTo>
                <a:lnTo>
                  <a:pt x="0" y="0"/>
                </a:lnTo>
                <a:lnTo>
                  <a:pt x="0" y="51815"/>
                </a:lnTo>
                <a:lnTo>
                  <a:pt x="12192" y="51815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760623" y="2141769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70" h="50800">
                <a:moveTo>
                  <a:pt x="13716" y="0"/>
                </a:moveTo>
                <a:lnTo>
                  <a:pt x="0" y="0"/>
                </a:lnTo>
                <a:lnTo>
                  <a:pt x="0" y="50292"/>
                </a:lnTo>
                <a:lnTo>
                  <a:pt x="13716" y="50292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60623" y="2230161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70" h="50800">
                <a:moveTo>
                  <a:pt x="13716" y="0"/>
                </a:moveTo>
                <a:lnTo>
                  <a:pt x="0" y="0"/>
                </a:lnTo>
                <a:lnTo>
                  <a:pt x="0" y="50291"/>
                </a:lnTo>
                <a:lnTo>
                  <a:pt x="13716" y="50291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760623" y="2318553"/>
            <a:ext cx="13970" cy="52069"/>
          </a:xfrm>
          <a:custGeom>
            <a:avLst/>
            <a:gdLst/>
            <a:ahLst/>
            <a:cxnLst/>
            <a:rect l="l" t="t" r="r" b="b"/>
            <a:pathLst>
              <a:path w="13970" h="52069">
                <a:moveTo>
                  <a:pt x="13716" y="0"/>
                </a:moveTo>
                <a:lnTo>
                  <a:pt x="0" y="0"/>
                </a:lnTo>
                <a:lnTo>
                  <a:pt x="0" y="51816"/>
                </a:lnTo>
                <a:lnTo>
                  <a:pt x="13716" y="51816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760623" y="2408469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70" h="50800">
                <a:moveTo>
                  <a:pt x="13716" y="0"/>
                </a:moveTo>
                <a:lnTo>
                  <a:pt x="0" y="0"/>
                </a:lnTo>
                <a:lnTo>
                  <a:pt x="0" y="50292"/>
                </a:lnTo>
                <a:lnTo>
                  <a:pt x="13716" y="50292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60623" y="2496861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70" h="50800">
                <a:moveTo>
                  <a:pt x="13716" y="0"/>
                </a:moveTo>
                <a:lnTo>
                  <a:pt x="0" y="0"/>
                </a:lnTo>
                <a:lnTo>
                  <a:pt x="0" y="50291"/>
                </a:lnTo>
                <a:lnTo>
                  <a:pt x="13716" y="50291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760623" y="2585253"/>
            <a:ext cx="13970" cy="52069"/>
          </a:xfrm>
          <a:custGeom>
            <a:avLst/>
            <a:gdLst/>
            <a:ahLst/>
            <a:cxnLst/>
            <a:rect l="l" t="t" r="r" b="b"/>
            <a:pathLst>
              <a:path w="13970" h="52069">
                <a:moveTo>
                  <a:pt x="13716" y="0"/>
                </a:moveTo>
                <a:lnTo>
                  <a:pt x="0" y="0"/>
                </a:lnTo>
                <a:lnTo>
                  <a:pt x="0" y="51816"/>
                </a:lnTo>
                <a:lnTo>
                  <a:pt x="13716" y="51816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760623" y="2675169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70" h="50800">
                <a:moveTo>
                  <a:pt x="13716" y="0"/>
                </a:moveTo>
                <a:lnTo>
                  <a:pt x="0" y="0"/>
                </a:lnTo>
                <a:lnTo>
                  <a:pt x="0" y="50292"/>
                </a:lnTo>
                <a:lnTo>
                  <a:pt x="13716" y="50292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760623" y="2763561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70" h="50800">
                <a:moveTo>
                  <a:pt x="13716" y="0"/>
                </a:moveTo>
                <a:lnTo>
                  <a:pt x="0" y="0"/>
                </a:lnTo>
                <a:lnTo>
                  <a:pt x="0" y="50291"/>
                </a:lnTo>
                <a:lnTo>
                  <a:pt x="13716" y="50291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760623" y="2851953"/>
            <a:ext cx="13970" cy="52069"/>
          </a:xfrm>
          <a:custGeom>
            <a:avLst/>
            <a:gdLst/>
            <a:ahLst/>
            <a:cxnLst/>
            <a:rect l="l" t="t" r="r" b="b"/>
            <a:pathLst>
              <a:path w="13970" h="52069">
                <a:moveTo>
                  <a:pt x="13716" y="0"/>
                </a:moveTo>
                <a:lnTo>
                  <a:pt x="0" y="0"/>
                </a:lnTo>
                <a:lnTo>
                  <a:pt x="0" y="51816"/>
                </a:lnTo>
                <a:lnTo>
                  <a:pt x="13716" y="51816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760623" y="2941869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70" h="50800">
                <a:moveTo>
                  <a:pt x="13716" y="0"/>
                </a:moveTo>
                <a:lnTo>
                  <a:pt x="0" y="0"/>
                </a:lnTo>
                <a:lnTo>
                  <a:pt x="0" y="50292"/>
                </a:lnTo>
                <a:lnTo>
                  <a:pt x="13716" y="50292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682900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592984" y="299063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504591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416200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326284" y="299063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237891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49500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059584" y="299063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971191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882800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792884" y="299063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704491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616100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526184" y="299063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437791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349400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259484" y="299063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171091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082700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992784" y="299063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904391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816000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726084" y="299063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637691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549300" y="2990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>
            <a:spLocks noGrp="1"/>
          </p:cNvSpPr>
          <p:nvPr>
            <p:ph type="title"/>
          </p:nvPr>
        </p:nvSpPr>
        <p:spPr>
          <a:xfrm>
            <a:off x="2338659" y="147869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2125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3145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38356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i="1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i="1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314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35270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i="1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27000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69126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17073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59199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3609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6"/>
                </a:moveTo>
                <a:lnTo>
                  <a:pt x="0" y="280416"/>
                </a:lnTo>
                <a:lnTo>
                  <a:pt x="19812" y="318516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6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908" y="280416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39577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5"/>
                </a:moveTo>
                <a:lnTo>
                  <a:pt x="0" y="295655"/>
                </a:lnTo>
                <a:lnTo>
                  <a:pt x="28956" y="353568"/>
                </a:lnTo>
                <a:lnTo>
                  <a:pt x="52577" y="306324"/>
                </a:lnTo>
                <a:lnTo>
                  <a:pt x="19812" y="306324"/>
                </a:lnTo>
                <a:lnTo>
                  <a:pt x="19812" y="295655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5"/>
                </a:moveTo>
                <a:lnTo>
                  <a:pt x="38100" y="295655"/>
                </a:lnTo>
                <a:lnTo>
                  <a:pt x="38100" y="306324"/>
                </a:lnTo>
                <a:lnTo>
                  <a:pt x="52577" y="306324"/>
                </a:lnTo>
                <a:lnTo>
                  <a:pt x="57912" y="295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3081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4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3081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40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8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46001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8" y="333755"/>
                </a:lnTo>
                <a:lnTo>
                  <a:pt x="19812" y="333755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5"/>
                </a:lnTo>
                <a:lnTo>
                  <a:pt x="38100" y="333755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5"/>
                </a:lnTo>
                <a:lnTo>
                  <a:pt x="52578" y="333755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67693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8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76153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4"/>
                </a:moveTo>
                <a:lnTo>
                  <a:pt x="19812" y="47244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4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8"/>
                </a:lnTo>
                <a:lnTo>
                  <a:pt x="19812" y="56388"/>
                </a:lnTo>
                <a:lnTo>
                  <a:pt x="19812" y="47244"/>
                </a:lnTo>
                <a:lnTo>
                  <a:pt x="53216" y="47244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4"/>
                </a:moveTo>
                <a:lnTo>
                  <a:pt x="38100" y="47244"/>
                </a:lnTo>
                <a:lnTo>
                  <a:pt x="38100" y="56388"/>
                </a:lnTo>
                <a:lnTo>
                  <a:pt x="57912" y="56388"/>
                </a:lnTo>
                <a:lnTo>
                  <a:pt x="53216" y="47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05768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17657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27641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1"/>
                </a:lnTo>
                <a:lnTo>
                  <a:pt x="13716" y="286511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1"/>
                </a:lnTo>
                <a:lnTo>
                  <a:pt x="25907" y="286511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1"/>
                </a:lnTo>
                <a:lnTo>
                  <a:pt x="35173" y="286511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1017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3916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950" indent="-95250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950" indent="-95250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46157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58549"/>
            <a:ext cx="893444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3289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040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3307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0618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57494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67223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27641"/>
            <a:ext cx="891540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5656" y="872277"/>
            <a:ext cx="410209" cy="683260"/>
          </a:xfrm>
          <a:prstGeom prst="rect">
            <a:avLst/>
          </a:prstGeom>
          <a:ln w="9143">
            <a:solidFill>
              <a:srgbClr val="0000F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55"/>
              </a:spcBef>
            </a:pPr>
            <a:r>
              <a:rPr sz="1200" b="1" dirty="0">
                <a:latin typeface="Arial" panose="020B0604020202020204"/>
                <a:cs typeface="Arial" panose="020B0604020202020204"/>
              </a:rPr>
              <a:t>0.6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80645">
              <a:lnSpc>
                <a:spcPct val="100000"/>
              </a:lnSpc>
              <a:spcBef>
                <a:spcPts val="410"/>
              </a:spcBef>
            </a:pPr>
            <a:r>
              <a:rPr sz="1200" spc="-5" dirty="0">
                <a:latin typeface="Arial" panose="020B0604020202020204"/>
                <a:cs typeface="Arial" panose="020B0604020202020204"/>
              </a:rPr>
              <a:t>-2.3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9715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Arial" panose="020B0604020202020204"/>
                <a:cs typeface="Arial" panose="020B0604020202020204"/>
              </a:rPr>
              <a:t>1.9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4016" y="840273"/>
            <a:ext cx="726947" cy="6644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6868" y="153924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图像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60964" y="1195365"/>
            <a:ext cx="943610" cy="38100"/>
          </a:xfrm>
          <a:custGeom>
            <a:avLst/>
            <a:gdLst/>
            <a:ahLst/>
            <a:cxnLst/>
            <a:rect l="l" t="t" r="r" b="b"/>
            <a:pathLst>
              <a:path w="943610" h="38100">
                <a:moveTo>
                  <a:pt x="905256" y="0"/>
                </a:moveTo>
                <a:lnTo>
                  <a:pt x="905256" y="38100"/>
                </a:lnTo>
                <a:lnTo>
                  <a:pt x="937494" y="21336"/>
                </a:lnTo>
                <a:lnTo>
                  <a:pt x="912876" y="21336"/>
                </a:lnTo>
                <a:lnTo>
                  <a:pt x="912876" y="16763"/>
                </a:lnTo>
                <a:lnTo>
                  <a:pt x="940181" y="16763"/>
                </a:lnTo>
                <a:lnTo>
                  <a:pt x="905256" y="0"/>
                </a:lnTo>
                <a:close/>
              </a:path>
              <a:path w="943610" h="38100">
                <a:moveTo>
                  <a:pt x="905256" y="16763"/>
                </a:moveTo>
                <a:lnTo>
                  <a:pt x="0" y="16763"/>
                </a:lnTo>
                <a:lnTo>
                  <a:pt x="0" y="21336"/>
                </a:lnTo>
                <a:lnTo>
                  <a:pt x="905256" y="21336"/>
                </a:lnTo>
                <a:lnTo>
                  <a:pt x="905256" y="16763"/>
                </a:lnTo>
                <a:close/>
              </a:path>
              <a:path w="943610" h="38100">
                <a:moveTo>
                  <a:pt x="940181" y="16763"/>
                </a:moveTo>
                <a:lnTo>
                  <a:pt x="912876" y="16763"/>
                </a:lnTo>
                <a:lnTo>
                  <a:pt x="912876" y="21336"/>
                </a:lnTo>
                <a:lnTo>
                  <a:pt x="937494" y="21336"/>
                </a:lnTo>
                <a:lnTo>
                  <a:pt x="943356" y="18287"/>
                </a:lnTo>
                <a:lnTo>
                  <a:pt x="940181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5236" y="961743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类器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34088" y="1212129"/>
            <a:ext cx="386080" cy="152400"/>
          </a:xfrm>
          <a:custGeom>
            <a:avLst/>
            <a:gdLst/>
            <a:ahLst/>
            <a:cxnLst/>
            <a:rect l="l" t="t" r="r" b="b"/>
            <a:pathLst>
              <a:path w="386080" h="152400">
                <a:moveTo>
                  <a:pt x="348917" y="136352"/>
                </a:moveTo>
                <a:lnTo>
                  <a:pt x="342900" y="152400"/>
                </a:lnTo>
                <a:lnTo>
                  <a:pt x="385572" y="147828"/>
                </a:lnTo>
                <a:lnTo>
                  <a:pt x="377298" y="138684"/>
                </a:lnTo>
                <a:lnTo>
                  <a:pt x="355091" y="138684"/>
                </a:lnTo>
                <a:lnTo>
                  <a:pt x="348917" y="136352"/>
                </a:lnTo>
                <a:close/>
              </a:path>
              <a:path w="386080" h="152400">
                <a:moveTo>
                  <a:pt x="350608" y="131843"/>
                </a:moveTo>
                <a:lnTo>
                  <a:pt x="348917" y="136352"/>
                </a:lnTo>
                <a:lnTo>
                  <a:pt x="355091" y="138684"/>
                </a:lnTo>
                <a:lnTo>
                  <a:pt x="356615" y="134112"/>
                </a:lnTo>
                <a:lnTo>
                  <a:pt x="350608" y="131843"/>
                </a:lnTo>
                <a:close/>
              </a:path>
              <a:path w="386080" h="152400">
                <a:moveTo>
                  <a:pt x="356615" y="115824"/>
                </a:moveTo>
                <a:lnTo>
                  <a:pt x="350608" y="131843"/>
                </a:lnTo>
                <a:lnTo>
                  <a:pt x="356615" y="134112"/>
                </a:lnTo>
                <a:lnTo>
                  <a:pt x="355091" y="138684"/>
                </a:lnTo>
                <a:lnTo>
                  <a:pt x="377298" y="138684"/>
                </a:lnTo>
                <a:lnTo>
                  <a:pt x="356615" y="115824"/>
                </a:lnTo>
                <a:close/>
              </a:path>
              <a:path w="386080" h="152400">
                <a:moveTo>
                  <a:pt x="1524" y="0"/>
                </a:moveTo>
                <a:lnTo>
                  <a:pt x="0" y="4572"/>
                </a:lnTo>
                <a:lnTo>
                  <a:pt x="348917" y="136352"/>
                </a:lnTo>
                <a:lnTo>
                  <a:pt x="350608" y="131843"/>
                </a:lnTo>
                <a:lnTo>
                  <a:pt x="1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12039" y="922569"/>
            <a:ext cx="3301365" cy="875030"/>
          </a:xfrm>
          <a:custGeom>
            <a:avLst/>
            <a:gdLst/>
            <a:ahLst/>
            <a:cxnLst/>
            <a:rect l="l" t="t" r="r" b="b"/>
            <a:pathLst>
              <a:path w="3301365" h="875030">
                <a:moveTo>
                  <a:pt x="13715" y="862583"/>
                </a:moveTo>
                <a:lnTo>
                  <a:pt x="7620" y="862583"/>
                </a:lnTo>
                <a:lnTo>
                  <a:pt x="7620" y="874775"/>
                </a:lnTo>
                <a:lnTo>
                  <a:pt x="38100" y="874775"/>
                </a:lnTo>
                <a:lnTo>
                  <a:pt x="38100" y="868679"/>
                </a:lnTo>
                <a:lnTo>
                  <a:pt x="13715" y="868679"/>
                </a:lnTo>
                <a:lnTo>
                  <a:pt x="13715" y="862583"/>
                </a:lnTo>
                <a:close/>
              </a:path>
              <a:path w="3301365" h="875030">
                <a:moveTo>
                  <a:pt x="13715" y="816863"/>
                </a:moveTo>
                <a:lnTo>
                  <a:pt x="0" y="816863"/>
                </a:lnTo>
                <a:lnTo>
                  <a:pt x="0" y="868679"/>
                </a:lnTo>
                <a:lnTo>
                  <a:pt x="7620" y="868679"/>
                </a:lnTo>
                <a:lnTo>
                  <a:pt x="7620" y="862583"/>
                </a:lnTo>
                <a:lnTo>
                  <a:pt x="13715" y="862583"/>
                </a:lnTo>
                <a:lnTo>
                  <a:pt x="13715" y="816863"/>
                </a:lnTo>
                <a:close/>
              </a:path>
              <a:path w="3301365" h="875030">
                <a:moveTo>
                  <a:pt x="38100" y="862583"/>
                </a:moveTo>
                <a:lnTo>
                  <a:pt x="13715" y="862583"/>
                </a:lnTo>
                <a:lnTo>
                  <a:pt x="13715" y="868679"/>
                </a:lnTo>
                <a:lnTo>
                  <a:pt x="38100" y="868679"/>
                </a:lnTo>
                <a:lnTo>
                  <a:pt x="38100" y="862583"/>
                </a:lnTo>
                <a:close/>
              </a:path>
              <a:path w="3301365" h="875030">
                <a:moveTo>
                  <a:pt x="13715" y="728471"/>
                </a:moveTo>
                <a:lnTo>
                  <a:pt x="0" y="728471"/>
                </a:lnTo>
                <a:lnTo>
                  <a:pt x="0" y="778763"/>
                </a:lnTo>
                <a:lnTo>
                  <a:pt x="13715" y="778763"/>
                </a:lnTo>
                <a:lnTo>
                  <a:pt x="13715" y="728471"/>
                </a:lnTo>
                <a:close/>
              </a:path>
              <a:path w="3301365" h="875030">
                <a:moveTo>
                  <a:pt x="13715" y="640079"/>
                </a:moveTo>
                <a:lnTo>
                  <a:pt x="0" y="640079"/>
                </a:lnTo>
                <a:lnTo>
                  <a:pt x="0" y="690371"/>
                </a:lnTo>
                <a:lnTo>
                  <a:pt x="13715" y="690371"/>
                </a:lnTo>
                <a:lnTo>
                  <a:pt x="13715" y="640079"/>
                </a:lnTo>
                <a:close/>
              </a:path>
              <a:path w="3301365" h="875030">
                <a:moveTo>
                  <a:pt x="13715" y="550163"/>
                </a:moveTo>
                <a:lnTo>
                  <a:pt x="0" y="550163"/>
                </a:lnTo>
                <a:lnTo>
                  <a:pt x="0" y="601979"/>
                </a:lnTo>
                <a:lnTo>
                  <a:pt x="13715" y="601979"/>
                </a:lnTo>
                <a:lnTo>
                  <a:pt x="13715" y="550163"/>
                </a:lnTo>
                <a:close/>
              </a:path>
              <a:path w="3301365" h="875030">
                <a:moveTo>
                  <a:pt x="13715" y="461771"/>
                </a:moveTo>
                <a:lnTo>
                  <a:pt x="0" y="461771"/>
                </a:lnTo>
                <a:lnTo>
                  <a:pt x="0" y="512063"/>
                </a:lnTo>
                <a:lnTo>
                  <a:pt x="13715" y="512063"/>
                </a:lnTo>
                <a:lnTo>
                  <a:pt x="13715" y="461771"/>
                </a:lnTo>
                <a:close/>
              </a:path>
              <a:path w="3301365" h="875030">
                <a:moveTo>
                  <a:pt x="13715" y="373379"/>
                </a:moveTo>
                <a:lnTo>
                  <a:pt x="0" y="373379"/>
                </a:lnTo>
                <a:lnTo>
                  <a:pt x="0" y="423671"/>
                </a:lnTo>
                <a:lnTo>
                  <a:pt x="13715" y="423671"/>
                </a:lnTo>
                <a:lnTo>
                  <a:pt x="13715" y="373379"/>
                </a:lnTo>
                <a:close/>
              </a:path>
              <a:path w="3301365" h="875030">
                <a:moveTo>
                  <a:pt x="13715" y="283463"/>
                </a:moveTo>
                <a:lnTo>
                  <a:pt x="0" y="283463"/>
                </a:lnTo>
                <a:lnTo>
                  <a:pt x="0" y="335279"/>
                </a:lnTo>
                <a:lnTo>
                  <a:pt x="13715" y="335279"/>
                </a:lnTo>
                <a:lnTo>
                  <a:pt x="13715" y="283463"/>
                </a:lnTo>
                <a:close/>
              </a:path>
              <a:path w="3301365" h="875030">
                <a:moveTo>
                  <a:pt x="13715" y="195071"/>
                </a:moveTo>
                <a:lnTo>
                  <a:pt x="0" y="195071"/>
                </a:lnTo>
                <a:lnTo>
                  <a:pt x="0" y="245363"/>
                </a:lnTo>
                <a:lnTo>
                  <a:pt x="13715" y="245363"/>
                </a:lnTo>
                <a:lnTo>
                  <a:pt x="13715" y="195071"/>
                </a:lnTo>
                <a:close/>
              </a:path>
              <a:path w="3301365" h="875030">
                <a:moveTo>
                  <a:pt x="13715" y="106679"/>
                </a:moveTo>
                <a:lnTo>
                  <a:pt x="0" y="106679"/>
                </a:lnTo>
                <a:lnTo>
                  <a:pt x="0" y="156971"/>
                </a:lnTo>
                <a:lnTo>
                  <a:pt x="13715" y="156971"/>
                </a:lnTo>
                <a:lnTo>
                  <a:pt x="13715" y="106679"/>
                </a:lnTo>
                <a:close/>
              </a:path>
              <a:path w="3301365" h="875030">
                <a:moveTo>
                  <a:pt x="13715" y="16763"/>
                </a:moveTo>
                <a:lnTo>
                  <a:pt x="0" y="16763"/>
                </a:lnTo>
                <a:lnTo>
                  <a:pt x="0" y="68579"/>
                </a:lnTo>
                <a:lnTo>
                  <a:pt x="13715" y="68579"/>
                </a:lnTo>
                <a:lnTo>
                  <a:pt x="13715" y="16763"/>
                </a:lnTo>
                <a:close/>
              </a:path>
              <a:path w="3301365" h="875030">
                <a:moveTo>
                  <a:pt x="83820" y="0"/>
                </a:moveTo>
                <a:lnTo>
                  <a:pt x="33527" y="0"/>
                </a:lnTo>
                <a:lnTo>
                  <a:pt x="33527" y="12191"/>
                </a:lnTo>
                <a:lnTo>
                  <a:pt x="83820" y="12191"/>
                </a:lnTo>
                <a:lnTo>
                  <a:pt x="83820" y="0"/>
                </a:lnTo>
                <a:close/>
              </a:path>
              <a:path w="3301365" h="875030">
                <a:moveTo>
                  <a:pt x="173736" y="0"/>
                </a:moveTo>
                <a:lnTo>
                  <a:pt x="121920" y="0"/>
                </a:lnTo>
                <a:lnTo>
                  <a:pt x="121920" y="12191"/>
                </a:lnTo>
                <a:lnTo>
                  <a:pt x="173736" y="12191"/>
                </a:lnTo>
                <a:lnTo>
                  <a:pt x="173736" y="0"/>
                </a:lnTo>
                <a:close/>
              </a:path>
              <a:path w="3301365" h="875030">
                <a:moveTo>
                  <a:pt x="262127" y="0"/>
                </a:moveTo>
                <a:lnTo>
                  <a:pt x="211836" y="0"/>
                </a:lnTo>
                <a:lnTo>
                  <a:pt x="211836" y="12191"/>
                </a:lnTo>
                <a:lnTo>
                  <a:pt x="262127" y="12191"/>
                </a:lnTo>
                <a:lnTo>
                  <a:pt x="262127" y="0"/>
                </a:lnTo>
                <a:close/>
              </a:path>
              <a:path w="3301365" h="875030">
                <a:moveTo>
                  <a:pt x="350520" y="0"/>
                </a:moveTo>
                <a:lnTo>
                  <a:pt x="300227" y="0"/>
                </a:lnTo>
                <a:lnTo>
                  <a:pt x="300227" y="12191"/>
                </a:lnTo>
                <a:lnTo>
                  <a:pt x="350520" y="12191"/>
                </a:lnTo>
                <a:lnTo>
                  <a:pt x="350520" y="0"/>
                </a:lnTo>
                <a:close/>
              </a:path>
              <a:path w="3301365" h="875030">
                <a:moveTo>
                  <a:pt x="440436" y="0"/>
                </a:moveTo>
                <a:lnTo>
                  <a:pt x="388620" y="0"/>
                </a:lnTo>
                <a:lnTo>
                  <a:pt x="388620" y="12191"/>
                </a:lnTo>
                <a:lnTo>
                  <a:pt x="440436" y="12191"/>
                </a:lnTo>
                <a:lnTo>
                  <a:pt x="440436" y="0"/>
                </a:lnTo>
                <a:close/>
              </a:path>
              <a:path w="3301365" h="875030">
                <a:moveTo>
                  <a:pt x="528827" y="0"/>
                </a:moveTo>
                <a:lnTo>
                  <a:pt x="478536" y="0"/>
                </a:lnTo>
                <a:lnTo>
                  <a:pt x="478536" y="12191"/>
                </a:lnTo>
                <a:lnTo>
                  <a:pt x="528827" y="12191"/>
                </a:lnTo>
                <a:lnTo>
                  <a:pt x="528827" y="0"/>
                </a:lnTo>
                <a:close/>
              </a:path>
              <a:path w="3301365" h="875030">
                <a:moveTo>
                  <a:pt x="617220" y="0"/>
                </a:moveTo>
                <a:lnTo>
                  <a:pt x="566927" y="0"/>
                </a:lnTo>
                <a:lnTo>
                  <a:pt x="566927" y="12191"/>
                </a:lnTo>
                <a:lnTo>
                  <a:pt x="617220" y="12191"/>
                </a:lnTo>
                <a:lnTo>
                  <a:pt x="617220" y="0"/>
                </a:lnTo>
                <a:close/>
              </a:path>
              <a:path w="3301365" h="875030">
                <a:moveTo>
                  <a:pt x="707136" y="0"/>
                </a:moveTo>
                <a:lnTo>
                  <a:pt x="655320" y="0"/>
                </a:lnTo>
                <a:lnTo>
                  <a:pt x="655320" y="12191"/>
                </a:lnTo>
                <a:lnTo>
                  <a:pt x="707136" y="12191"/>
                </a:lnTo>
                <a:lnTo>
                  <a:pt x="707136" y="0"/>
                </a:lnTo>
                <a:close/>
              </a:path>
              <a:path w="3301365" h="875030">
                <a:moveTo>
                  <a:pt x="795527" y="0"/>
                </a:moveTo>
                <a:lnTo>
                  <a:pt x="745236" y="0"/>
                </a:lnTo>
                <a:lnTo>
                  <a:pt x="745236" y="12191"/>
                </a:lnTo>
                <a:lnTo>
                  <a:pt x="795527" y="12191"/>
                </a:lnTo>
                <a:lnTo>
                  <a:pt x="795527" y="0"/>
                </a:lnTo>
                <a:close/>
              </a:path>
              <a:path w="3301365" h="875030">
                <a:moveTo>
                  <a:pt x="883920" y="0"/>
                </a:moveTo>
                <a:lnTo>
                  <a:pt x="833627" y="0"/>
                </a:lnTo>
                <a:lnTo>
                  <a:pt x="833627" y="12191"/>
                </a:lnTo>
                <a:lnTo>
                  <a:pt x="883920" y="12191"/>
                </a:lnTo>
                <a:lnTo>
                  <a:pt x="883920" y="0"/>
                </a:lnTo>
                <a:close/>
              </a:path>
              <a:path w="3301365" h="875030">
                <a:moveTo>
                  <a:pt x="973836" y="0"/>
                </a:moveTo>
                <a:lnTo>
                  <a:pt x="922020" y="0"/>
                </a:lnTo>
                <a:lnTo>
                  <a:pt x="922020" y="12191"/>
                </a:lnTo>
                <a:lnTo>
                  <a:pt x="973836" y="12191"/>
                </a:lnTo>
                <a:lnTo>
                  <a:pt x="973836" y="0"/>
                </a:lnTo>
                <a:close/>
              </a:path>
              <a:path w="3301365" h="875030">
                <a:moveTo>
                  <a:pt x="1062227" y="0"/>
                </a:moveTo>
                <a:lnTo>
                  <a:pt x="1011936" y="0"/>
                </a:lnTo>
                <a:lnTo>
                  <a:pt x="1011936" y="12191"/>
                </a:lnTo>
                <a:lnTo>
                  <a:pt x="1062227" y="12191"/>
                </a:lnTo>
                <a:lnTo>
                  <a:pt x="1062227" y="0"/>
                </a:lnTo>
                <a:close/>
              </a:path>
              <a:path w="3301365" h="875030">
                <a:moveTo>
                  <a:pt x="1150620" y="0"/>
                </a:moveTo>
                <a:lnTo>
                  <a:pt x="1100327" y="0"/>
                </a:lnTo>
                <a:lnTo>
                  <a:pt x="1100327" y="12191"/>
                </a:lnTo>
                <a:lnTo>
                  <a:pt x="1150620" y="12191"/>
                </a:lnTo>
                <a:lnTo>
                  <a:pt x="1150620" y="0"/>
                </a:lnTo>
                <a:close/>
              </a:path>
              <a:path w="3301365" h="875030">
                <a:moveTo>
                  <a:pt x="1240536" y="0"/>
                </a:moveTo>
                <a:lnTo>
                  <a:pt x="1188720" y="0"/>
                </a:lnTo>
                <a:lnTo>
                  <a:pt x="1188720" y="12191"/>
                </a:lnTo>
                <a:lnTo>
                  <a:pt x="1240536" y="12191"/>
                </a:lnTo>
                <a:lnTo>
                  <a:pt x="1240536" y="0"/>
                </a:lnTo>
                <a:close/>
              </a:path>
              <a:path w="3301365" h="875030">
                <a:moveTo>
                  <a:pt x="1328927" y="0"/>
                </a:moveTo>
                <a:lnTo>
                  <a:pt x="1278636" y="0"/>
                </a:lnTo>
                <a:lnTo>
                  <a:pt x="1278636" y="12191"/>
                </a:lnTo>
                <a:lnTo>
                  <a:pt x="1328927" y="12191"/>
                </a:lnTo>
                <a:lnTo>
                  <a:pt x="1328927" y="0"/>
                </a:lnTo>
                <a:close/>
              </a:path>
              <a:path w="3301365" h="875030">
                <a:moveTo>
                  <a:pt x="1417320" y="0"/>
                </a:moveTo>
                <a:lnTo>
                  <a:pt x="1367027" y="0"/>
                </a:lnTo>
                <a:lnTo>
                  <a:pt x="1367027" y="12191"/>
                </a:lnTo>
                <a:lnTo>
                  <a:pt x="1417320" y="12191"/>
                </a:lnTo>
                <a:lnTo>
                  <a:pt x="1417320" y="0"/>
                </a:lnTo>
                <a:close/>
              </a:path>
              <a:path w="3301365" h="875030">
                <a:moveTo>
                  <a:pt x="1507236" y="0"/>
                </a:moveTo>
                <a:lnTo>
                  <a:pt x="1455420" y="0"/>
                </a:lnTo>
                <a:lnTo>
                  <a:pt x="1455420" y="12191"/>
                </a:lnTo>
                <a:lnTo>
                  <a:pt x="1507236" y="12191"/>
                </a:lnTo>
                <a:lnTo>
                  <a:pt x="1507236" y="0"/>
                </a:lnTo>
                <a:close/>
              </a:path>
              <a:path w="3301365" h="875030">
                <a:moveTo>
                  <a:pt x="1595627" y="0"/>
                </a:moveTo>
                <a:lnTo>
                  <a:pt x="1545336" y="0"/>
                </a:lnTo>
                <a:lnTo>
                  <a:pt x="1545336" y="12191"/>
                </a:lnTo>
                <a:lnTo>
                  <a:pt x="1595627" y="12191"/>
                </a:lnTo>
                <a:lnTo>
                  <a:pt x="1595627" y="0"/>
                </a:lnTo>
                <a:close/>
              </a:path>
              <a:path w="3301365" h="875030">
                <a:moveTo>
                  <a:pt x="1684020" y="0"/>
                </a:moveTo>
                <a:lnTo>
                  <a:pt x="1633727" y="0"/>
                </a:lnTo>
                <a:lnTo>
                  <a:pt x="1633727" y="12191"/>
                </a:lnTo>
                <a:lnTo>
                  <a:pt x="1684020" y="12191"/>
                </a:lnTo>
                <a:lnTo>
                  <a:pt x="1684020" y="0"/>
                </a:lnTo>
                <a:close/>
              </a:path>
              <a:path w="3301365" h="875030">
                <a:moveTo>
                  <a:pt x="1773936" y="0"/>
                </a:moveTo>
                <a:lnTo>
                  <a:pt x="1722120" y="0"/>
                </a:lnTo>
                <a:lnTo>
                  <a:pt x="1722120" y="12191"/>
                </a:lnTo>
                <a:lnTo>
                  <a:pt x="1773936" y="12191"/>
                </a:lnTo>
                <a:lnTo>
                  <a:pt x="1773936" y="0"/>
                </a:lnTo>
                <a:close/>
              </a:path>
              <a:path w="3301365" h="875030">
                <a:moveTo>
                  <a:pt x="1862327" y="0"/>
                </a:moveTo>
                <a:lnTo>
                  <a:pt x="1812036" y="0"/>
                </a:lnTo>
                <a:lnTo>
                  <a:pt x="1812036" y="12191"/>
                </a:lnTo>
                <a:lnTo>
                  <a:pt x="1862327" y="12191"/>
                </a:lnTo>
                <a:lnTo>
                  <a:pt x="1862327" y="0"/>
                </a:lnTo>
                <a:close/>
              </a:path>
              <a:path w="3301365" h="875030">
                <a:moveTo>
                  <a:pt x="1950720" y="0"/>
                </a:moveTo>
                <a:lnTo>
                  <a:pt x="1900427" y="0"/>
                </a:lnTo>
                <a:lnTo>
                  <a:pt x="1900427" y="12191"/>
                </a:lnTo>
                <a:lnTo>
                  <a:pt x="1950720" y="12191"/>
                </a:lnTo>
                <a:lnTo>
                  <a:pt x="1950720" y="0"/>
                </a:lnTo>
                <a:close/>
              </a:path>
              <a:path w="3301365" h="875030">
                <a:moveTo>
                  <a:pt x="2040636" y="0"/>
                </a:moveTo>
                <a:lnTo>
                  <a:pt x="1988820" y="0"/>
                </a:lnTo>
                <a:lnTo>
                  <a:pt x="1988820" y="12191"/>
                </a:lnTo>
                <a:lnTo>
                  <a:pt x="2040636" y="12191"/>
                </a:lnTo>
                <a:lnTo>
                  <a:pt x="2040636" y="0"/>
                </a:lnTo>
                <a:close/>
              </a:path>
              <a:path w="3301365" h="875030">
                <a:moveTo>
                  <a:pt x="2129028" y="0"/>
                </a:moveTo>
                <a:lnTo>
                  <a:pt x="2078736" y="0"/>
                </a:lnTo>
                <a:lnTo>
                  <a:pt x="2078736" y="12191"/>
                </a:lnTo>
                <a:lnTo>
                  <a:pt x="2129028" y="12191"/>
                </a:lnTo>
                <a:lnTo>
                  <a:pt x="2129028" y="0"/>
                </a:lnTo>
                <a:close/>
              </a:path>
              <a:path w="3301365" h="875030">
                <a:moveTo>
                  <a:pt x="2217420" y="0"/>
                </a:moveTo>
                <a:lnTo>
                  <a:pt x="2167128" y="0"/>
                </a:lnTo>
                <a:lnTo>
                  <a:pt x="2167128" y="12191"/>
                </a:lnTo>
                <a:lnTo>
                  <a:pt x="2217420" y="12191"/>
                </a:lnTo>
                <a:lnTo>
                  <a:pt x="2217420" y="0"/>
                </a:lnTo>
                <a:close/>
              </a:path>
              <a:path w="3301365" h="875030">
                <a:moveTo>
                  <a:pt x="2307336" y="0"/>
                </a:moveTo>
                <a:lnTo>
                  <a:pt x="2255520" y="0"/>
                </a:lnTo>
                <a:lnTo>
                  <a:pt x="2255520" y="12191"/>
                </a:lnTo>
                <a:lnTo>
                  <a:pt x="2307336" y="12191"/>
                </a:lnTo>
                <a:lnTo>
                  <a:pt x="2307336" y="0"/>
                </a:lnTo>
                <a:close/>
              </a:path>
              <a:path w="3301365" h="875030">
                <a:moveTo>
                  <a:pt x="2395728" y="0"/>
                </a:moveTo>
                <a:lnTo>
                  <a:pt x="2345436" y="0"/>
                </a:lnTo>
                <a:lnTo>
                  <a:pt x="2345436" y="12191"/>
                </a:lnTo>
                <a:lnTo>
                  <a:pt x="2395728" y="12191"/>
                </a:lnTo>
                <a:lnTo>
                  <a:pt x="2395728" y="0"/>
                </a:lnTo>
                <a:close/>
              </a:path>
              <a:path w="3301365" h="875030">
                <a:moveTo>
                  <a:pt x="2484120" y="0"/>
                </a:moveTo>
                <a:lnTo>
                  <a:pt x="2433828" y="0"/>
                </a:lnTo>
                <a:lnTo>
                  <a:pt x="2433828" y="12191"/>
                </a:lnTo>
                <a:lnTo>
                  <a:pt x="2484120" y="12191"/>
                </a:lnTo>
                <a:lnTo>
                  <a:pt x="2484120" y="0"/>
                </a:lnTo>
                <a:close/>
              </a:path>
              <a:path w="3301365" h="875030">
                <a:moveTo>
                  <a:pt x="2574036" y="0"/>
                </a:moveTo>
                <a:lnTo>
                  <a:pt x="2522220" y="0"/>
                </a:lnTo>
                <a:lnTo>
                  <a:pt x="2522220" y="12191"/>
                </a:lnTo>
                <a:lnTo>
                  <a:pt x="2574036" y="12191"/>
                </a:lnTo>
                <a:lnTo>
                  <a:pt x="2574036" y="0"/>
                </a:lnTo>
                <a:close/>
              </a:path>
              <a:path w="3301365" h="875030">
                <a:moveTo>
                  <a:pt x="2662428" y="0"/>
                </a:moveTo>
                <a:lnTo>
                  <a:pt x="2612136" y="0"/>
                </a:lnTo>
                <a:lnTo>
                  <a:pt x="2612136" y="12191"/>
                </a:lnTo>
                <a:lnTo>
                  <a:pt x="2662428" y="12191"/>
                </a:lnTo>
                <a:lnTo>
                  <a:pt x="2662428" y="0"/>
                </a:lnTo>
                <a:close/>
              </a:path>
              <a:path w="3301365" h="875030">
                <a:moveTo>
                  <a:pt x="2750820" y="0"/>
                </a:moveTo>
                <a:lnTo>
                  <a:pt x="2700528" y="0"/>
                </a:lnTo>
                <a:lnTo>
                  <a:pt x="2700528" y="12191"/>
                </a:lnTo>
                <a:lnTo>
                  <a:pt x="2750820" y="12191"/>
                </a:lnTo>
                <a:lnTo>
                  <a:pt x="2750820" y="0"/>
                </a:lnTo>
                <a:close/>
              </a:path>
              <a:path w="3301365" h="875030">
                <a:moveTo>
                  <a:pt x="2840736" y="0"/>
                </a:moveTo>
                <a:lnTo>
                  <a:pt x="2788920" y="0"/>
                </a:lnTo>
                <a:lnTo>
                  <a:pt x="2788920" y="12191"/>
                </a:lnTo>
                <a:lnTo>
                  <a:pt x="2840736" y="12191"/>
                </a:lnTo>
                <a:lnTo>
                  <a:pt x="2840736" y="0"/>
                </a:lnTo>
                <a:close/>
              </a:path>
              <a:path w="3301365" h="875030">
                <a:moveTo>
                  <a:pt x="2929128" y="0"/>
                </a:moveTo>
                <a:lnTo>
                  <a:pt x="2878836" y="0"/>
                </a:lnTo>
                <a:lnTo>
                  <a:pt x="2878836" y="12191"/>
                </a:lnTo>
                <a:lnTo>
                  <a:pt x="2929128" y="12191"/>
                </a:lnTo>
                <a:lnTo>
                  <a:pt x="2929128" y="0"/>
                </a:lnTo>
                <a:close/>
              </a:path>
              <a:path w="3301365" h="875030">
                <a:moveTo>
                  <a:pt x="3017520" y="0"/>
                </a:moveTo>
                <a:lnTo>
                  <a:pt x="2967228" y="0"/>
                </a:lnTo>
                <a:lnTo>
                  <a:pt x="2967228" y="12191"/>
                </a:lnTo>
                <a:lnTo>
                  <a:pt x="3017520" y="12191"/>
                </a:lnTo>
                <a:lnTo>
                  <a:pt x="3017520" y="0"/>
                </a:lnTo>
                <a:close/>
              </a:path>
              <a:path w="3301365" h="875030">
                <a:moveTo>
                  <a:pt x="3107436" y="0"/>
                </a:moveTo>
                <a:lnTo>
                  <a:pt x="3055620" y="0"/>
                </a:lnTo>
                <a:lnTo>
                  <a:pt x="3055620" y="12191"/>
                </a:lnTo>
                <a:lnTo>
                  <a:pt x="3107436" y="12191"/>
                </a:lnTo>
                <a:lnTo>
                  <a:pt x="3107436" y="0"/>
                </a:lnTo>
                <a:close/>
              </a:path>
              <a:path w="3301365" h="875030">
                <a:moveTo>
                  <a:pt x="3195828" y="0"/>
                </a:moveTo>
                <a:lnTo>
                  <a:pt x="3145536" y="0"/>
                </a:lnTo>
                <a:lnTo>
                  <a:pt x="3145536" y="12191"/>
                </a:lnTo>
                <a:lnTo>
                  <a:pt x="3195828" y="12191"/>
                </a:lnTo>
                <a:lnTo>
                  <a:pt x="3195828" y="0"/>
                </a:lnTo>
                <a:close/>
              </a:path>
              <a:path w="3301365" h="875030">
                <a:moveTo>
                  <a:pt x="3284219" y="0"/>
                </a:moveTo>
                <a:lnTo>
                  <a:pt x="3233928" y="0"/>
                </a:lnTo>
                <a:lnTo>
                  <a:pt x="3233928" y="12191"/>
                </a:lnTo>
                <a:lnTo>
                  <a:pt x="3284219" y="12191"/>
                </a:lnTo>
                <a:lnTo>
                  <a:pt x="3284219" y="0"/>
                </a:lnTo>
                <a:close/>
              </a:path>
              <a:path w="3301365" h="875030">
                <a:moveTo>
                  <a:pt x="3300984" y="35051"/>
                </a:moveTo>
                <a:lnTo>
                  <a:pt x="3287267" y="35051"/>
                </a:lnTo>
                <a:lnTo>
                  <a:pt x="3287267" y="85343"/>
                </a:lnTo>
                <a:lnTo>
                  <a:pt x="3300984" y="85343"/>
                </a:lnTo>
                <a:lnTo>
                  <a:pt x="3300984" y="35051"/>
                </a:lnTo>
                <a:close/>
              </a:path>
              <a:path w="3301365" h="875030">
                <a:moveTo>
                  <a:pt x="3300984" y="123443"/>
                </a:moveTo>
                <a:lnTo>
                  <a:pt x="3287267" y="123443"/>
                </a:lnTo>
                <a:lnTo>
                  <a:pt x="3287267" y="173735"/>
                </a:lnTo>
                <a:lnTo>
                  <a:pt x="3300984" y="173735"/>
                </a:lnTo>
                <a:lnTo>
                  <a:pt x="3300984" y="123443"/>
                </a:lnTo>
                <a:close/>
              </a:path>
              <a:path w="3301365" h="875030">
                <a:moveTo>
                  <a:pt x="3300984" y="211835"/>
                </a:moveTo>
                <a:lnTo>
                  <a:pt x="3287267" y="211835"/>
                </a:lnTo>
                <a:lnTo>
                  <a:pt x="3287267" y="263651"/>
                </a:lnTo>
                <a:lnTo>
                  <a:pt x="3300984" y="263651"/>
                </a:lnTo>
                <a:lnTo>
                  <a:pt x="3300984" y="211835"/>
                </a:lnTo>
                <a:close/>
              </a:path>
              <a:path w="3301365" h="875030">
                <a:moveTo>
                  <a:pt x="3300984" y="301751"/>
                </a:moveTo>
                <a:lnTo>
                  <a:pt x="3287267" y="301751"/>
                </a:lnTo>
                <a:lnTo>
                  <a:pt x="3287267" y="352043"/>
                </a:lnTo>
                <a:lnTo>
                  <a:pt x="3300984" y="352043"/>
                </a:lnTo>
                <a:lnTo>
                  <a:pt x="3300984" y="301751"/>
                </a:lnTo>
                <a:close/>
              </a:path>
              <a:path w="3301365" h="875030">
                <a:moveTo>
                  <a:pt x="3300984" y="390143"/>
                </a:moveTo>
                <a:lnTo>
                  <a:pt x="3287267" y="390143"/>
                </a:lnTo>
                <a:lnTo>
                  <a:pt x="3287267" y="440435"/>
                </a:lnTo>
                <a:lnTo>
                  <a:pt x="3300984" y="440435"/>
                </a:lnTo>
                <a:lnTo>
                  <a:pt x="3300984" y="390143"/>
                </a:lnTo>
                <a:close/>
              </a:path>
              <a:path w="3301365" h="875030">
                <a:moveTo>
                  <a:pt x="3300984" y="478535"/>
                </a:moveTo>
                <a:lnTo>
                  <a:pt x="3287267" y="478535"/>
                </a:lnTo>
                <a:lnTo>
                  <a:pt x="3287267" y="530351"/>
                </a:lnTo>
                <a:lnTo>
                  <a:pt x="3300984" y="530351"/>
                </a:lnTo>
                <a:lnTo>
                  <a:pt x="3300984" y="478535"/>
                </a:lnTo>
                <a:close/>
              </a:path>
              <a:path w="3301365" h="875030">
                <a:moveTo>
                  <a:pt x="3300984" y="568451"/>
                </a:moveTo>
                <a:lnTo>
                  <a:pt x="3287267" y="568451"/>
                </a:lnTo>
                <a:lnTo>
                  <a:pt x="3287267" y="618743"/>
                </a:lnTo>
                <a:lnTo>
                  <a:pt x="3300984" y="618743"/>
                </a:lnTo>
                <a:lnTo>
                  <a:pt x="3300984" y="568451"/>
                </a:lnTo>
                <a:close/>
              </a:path>
              <a:path w="3301365" h="875030">
                <a:moveTo>
                  <a:pt x="3300984" y="656843"/>
                </a:moveTo>
                <a:lnTo>
                  <a:pt x="3287267" y="656843"/>
                </a:lnTo>
                <a:lnTo>
                  <a:pt x="3287267" y="707135"/>
                </a:lnTo>
                <a:lnTo>
                  <a:pt x="3300984" y="707135"/>
                </a:lnTo>
                <a:lnTo>
                  <a:pt x="3300984" y="656843"/>
                </a:lnTo>
                <a:close/>
              </a:path>
              <a:path w="3301365" h="875030">
                <a:moveTo>
                  <a:pt x="3300984" y="745235"/>
                </a:moveTo>
                <a:lnTo>
                  <a:pt x="3287267" y="745235"/>
                </a:lnTo>
                <a:lnTo>
                  <a:pt x="3287267" y="797051"/>
                </a:lnTo>
                <a:lnTo>
                  <a:pt x="3300984" y="797051"/>
                </a:lnTo>
                <a:lnTo>
                  <a:pt x="3300984" y="745235"/>
                </a:lnTo>
                <a:close/>
              </a:path>
              <a:path w="3301365" h="875030">
                <a:moveTo>
                  <a:pt x="3287267" y="862583"/>
                </a:moveTo>
                <a:lnTo>
                  <a:pt x="3276600" y="862583"/>
                </a:lnTo>
                <a:lnTo>
                  <a:pt x="3276600" y="874775"/>
                </a:lnTo>
                <a:lnTo>
                  <a:pt x="3297936" y="874775"/>
                </a:lnTo>
                <a:lnTo>
                  <a:pt x="3300984" y="871727"/>
                </a:lnTo>
                <a:lnTo>
                  <a:pt x="3300984" y="868679"/>
                </a:lnTo>
                <a:lnTo>
                  <a:pt x="3287267" y="868679"/>
                </a:lnTo>
                <a:lnTo>
                  <a:pt x="3287267" y="862583"/>
                </a:lnTo>
                <a:close/>
              </a:path>
              <a:path w="3301365" h="875030">
                <a:moveTo>
                  <a:pt x="3300984" y="835151"/>
                </a:moveTo>
                <a:lnTo>
                  <a:pt x="3287267" y="835151"/>
                </a:lnTo>
                <a:lnTo>
                  <a:pt x="3287267" y="868679"/>
                </a:lnTo>
                <a:lnTo>
                  <a:pt x="3293364" y="862583"/>
                </a:lnTo>
                <a:lnTo>
                  <a:pt x="3300984" y="862583"/>
                </a:lnTo>
                <a:lnTo>
                  <a:pt x="3300984" y="835151"/>
                </a:lnTo>
                <a:close/>
              </a:path>
              <a:path w="3301365" h="875030">
                <a:moveTo>
                  <a:pt x="3300984" y="862583"/>
                </a:moveTo>
                <a:lnTo>
                  <a:pt x="3293364" y="862583"/>
                </a:lnTo>
                <a:lnTo>
                  <a:pt x="3287267" y="868679"/>
                </a:lnTo>
                <a:lnTo>
                  <a:pt x="3300984" y="868679"/>
                </a:lnTo>
                <a:lnTo>
                  <a:pt x="3300984" y="862583"/>
                </a:lnTo>
                <a:close/>
              </a:path>
              <a:path w="3301365" h="875030">
                <a:moveTo>
                  <a:pt x="3238500" y="862583"/>
                </a:moveTo>
                <a:lnTo>
                  <a:pt x="3188208" y="862583"/>
                </a:lnTo>
                <a:lnTo>
                  <a:pt x="3188208" y="874775"/>
                </a:lnTo>
                <a:lnTo>
                  <a:pt x="3238500" y="874775"/>
                </a:lnTo>
                <a:lnTo>
                  <a:pt x="3238500" y="862583"/>
                </a:lnTo>
                <a:close/>
              </a:path>
              <a:path w="3301365" h="875030">
                <a:moveTo>
                  <a:pt x="3150108" y="862583"/>
                </a:moveTo>
                <a:lnTo>
                  <a:pt x="3098292" y="862583"/>
                </a:lnTo>
                <a:lnTo>
                  <a:pt x="3098292" y="874775"/>
                </a:lnTo>
                <a:lnTo>
                  <a:pt x="3150108" y="874775"/>
                </a:lnTo>
                <a:lnTo>
                  <a:pt x="3150108" y="862583"/>
                </a:lnTo>
                <a:close/>
              </a:path>
              <a:path w="3301365" h="875030">
                <a:moveTo>
                  <a:pt x="3060192" y="862583"/>
                </a:moveTo>
                <a:lnTo>
                  <a:pt x="3009900" y="862583"/>
                </a:lnTo>
                <a:lnTo>
                  <a:pt x="3009900" y="874775"/>
                </a:lnTo>
                <a:lnTo>
                  <a:pt x="3060192" y="874775"/>
                </a:lnTo>
                <a:lnTo>
                  <a:pt x="3060192" y="862583"/>
                </a:lnTo>
                <a:close/>
              </a:path>
              <a:path w="3301365" h="875030">
                <a:moveTo>
                  <a:pt x="2971800" y="862583"/>
                </a:moveTo>
                <a:lnTo>
                  <a:pt x="2921508" y="862583"/>
                </a:lnTo>
                <a:lnTo>
                  <a:pt x="2921508" y="874775"/>
                </a:lnTo>
                <a:lnTo>
                  <a:pt x="2971800" y="874775"/>
                </a:lnTo>
                <a:lnTo>
                  <a:pt x="2971800" y="862583"/>
                </a:lnTo>
                <a:close/>
              </a:path>
              <a:path w="3301365" h="875030">
                <a:moveTo>
                  <a:pt x="2883408" y="862583"/>
                </a:moveTo>
                <a:lnTo>
                  <a:pt x="2831592" y="862583"/>
                </a:lnTo>
                <a:lnTo>
                  <a:pt x="2831592" y="874775"/>
                </a:lnTo>
                <a:lnTo>
                  <a:pt x="2883408" y="874775"/>
                </a:lnTo>
                <a:lnTo>
                  <a:pt x="2883408" y="862583"/>
                </a:lnTo>
                <a:close/>
              </a:path>
              <a:path w="3301365" h="875030">
                <a:moveTo>
                  <a:pt x="2793492" y="862583"/>
                </a:moveTo>
                <a:lnTo>
                  <a:pt x="2743200" y="862583"/>
                </a:lnTo>
                <a:lnTo>
                  <a:pt x="2743200" y="874775"/>
                </a:lnTo>
                <a:lnTo>
                  <a:pt x="2793492" y="874775"/>
                </a:lnTo>
                <a:lnTo>
                  <a:pt x="2793492" y="862583"/>
                </a:lnTo>
                <a:close/>
              </a:path>
              <a:path w="3301365" h="875030">
                <a:moveTo>
                  <a:pt x="2705100" y="862583"/>
                </a:moveTo>
                <a:lnTo>
                  <a:pt x="2654808" y="862583"/>
                </a:lnTo>
                <a:lnTo>
                  <a:pt x="2654808" y="874775"/>
                </a:lnTo>
                <a:lnTo>
                  <a:pt x="2705100" y="874775"/>
                </a:lnTo>
                <a:lnTo>
                  <a:pt x="2705100" y="862583"/>
                </a:lnTo>
                <a:close/>
              </a:path>
              <a:path w="3301365" h="875030">
                <a:moveTo>
                  <a:pt x="2616708" y="862583"/>
                </a:moveTo>
                <a:lnTo>
                  <a:pt x="2564892" y="862583"/>
                </a:lnTo>
                <a:lnTo>
                  <a:pt x="2564892" y="874775"/>
                </a:lnTo>
                <a:lnTo>
                  <a:pt x="2616708" y="874775"/>
                </a:lnTo>
                <a:lnTo>
                  <a:pt x="2616708" y="862583"/>
                </a:lnTo>
                <a:close/>
              </a:path>
              <a:path w="3301365" h="875030">
                <a:moveTo>
                  <a:pt x="2526792" y="862583"/>
                </a:moveTo>
                <a:lnTo>
                  <a:pt x="2476500" y="862583"/>
                </a:lnTo>
                <a:lnTo>
                  <a:pt x="2476500" y="874775"/>
                </a:lnTo>
                <a:lnTo>
                  <a:pt x="2526792" y="874775"/>
                </a:lnTo>
                <a:lnTo>
                  <a:pt x="2526792" y="862583"/>
                </a:lnTo>
                <a:close/>
              </a:path>
              <a:path w="3301365" h="875030">
                <a:moveTo>
                  <a:pt x="2438400" y="862583"/>
                </a:moveTo>
                <a:lnTo>
                  <a:pt x="2388108" y="862583"/>
                </a:lnTo>
                <a:lnTo>
                  <a:pt x="2388108" y="874775"/>
                </a:lnTo>
                <a:lnTo>
                  <a:pt x="2438400" y="874775"/>
                </a:lnTo>
                <a:lnTo>
                  <a:pt x="2438400" y="862583"/>
                </a:lnTo>
                <a:close/>
              </a:path>
              <a:path w="3301365" h="875030">
                <a:moveTo>
                  <a:pt x="2350008" y="862583"/>
                </a:moveTo>
                <a:lnTo>
                  <a:pt x="2298192" y="862583"/>
                </a:lnTo>
                <a:lnTo>
                  <a:pt x="2298192" y="874775"/>
                </a:lnTo>
                <a:lnTo>
                  <a:pt x="2350008" y="874775"/>
                </a:lnTo>
                <a:lnTo>
                  <a:pt x="2350008" y="862583"/>
                </a:lnTo>
                <a:close/>
              </a:path>
              <a:path w="3301365" h="875030">
                <a:moveTo>
                  <a:pt x="2260092" y="862583"/>
                </a:moveTo>
                <a:lnTo>
                  <a:pt x="2209800" y="862583"/>
                </a:lnTo>
                <a:lnTo>
                  <a:pt x="2209800" y="874775"/>
                </a:lnTo>
                <a:lnTo>
                  <a:pt x="2260092" y="874775"/>
                </a:lnTo>
                <a:lnTo>
                  <a:pt x="2260092" y="862583"/>
                </a:lnTo>
                <a:close/>
              </a:path>
              <a:path w="3301365" h="875030">
                <a:moveTo>
                  <a:pt x="2171700" y="862583"/>
                </a:moveTo>
                <a:lnTo>
                  <a:pt x="2121408" y="862583"/>
                </a:lnTo>
                <a:lnTo>
                  <a:pt x="2121408" y="874775"/>
                </a:lnTo>
                <a:lnTo>
                  <a:pt x="2171700" y="874775"/>
                </a:lnTo>
                <a:lnTo>
                  <a:pt x="2171700" y="862583"/>
                </a:lnTo>
                <a:close/>
              </a:path>
              <a:path w="3301365" h="875030">
                <a:moveTo>
                  <a:pt x="2083308" y="862583"/>
                </a:moveTo>
                <a:lnTo>
                  <a:pt x="2031492" y="862583"/>
                </a:lnTo>
                <a:lnTo>
                  <a:pt x="2031492" y="874775"/>
                </a:lnTo>
                <a:lnTo>
                  <a:pt x="2083308" y="874775"/>
                </a:lnTo>
                <a:lnTo>
                  <a:pt x="2083308" y="862583"/>
                </a:lnTo>
                <a:close/>
              </a:path>
              <a:path w="3301365" h="875030">
                <a:moveTo>
                  <a:pt x="1993392" y="862583"/>
                </a:moveTo>
                <a:lnTo>
                  <a:pt x="1943100" y="862583"/>
                </a:lnTo>
                <a:lnTo>
                  <a:pt x="1943100" y="874775"/>
                </a:lnTo>
                <a:lnTo>
                  <a:pt x="1993392" y="874775"/>
                </a:lnTo>
                <a:lnTo>
                  <a:pt x="1993392" y="862583"/>
                </a:lnTo>
                <a:close/>
              </a:path>
              <a:path w="3301365" h="875030">
                <a:moveTo>
                  <a:pt x="1905000" y="862583"/>
                </a:moveTo>
                <a:lnTo>
                  <a:pt x="1854708" y="862583"/>
                </a:lnTo>
                <a:lnTo>
                  <a:pt x="1854708" y="874775"/>
                </a:lnTo>
                <a:lnTo>
                  <a:pt x="1905000" y="874775"/>
                </a:lnTo>
                <a:lnTo>
                  <a:pt x="1905000" y="862583"/>
                </a:lnTo>
                <a:close/>
              </a:path>
              <a:path w="3301365" h="875030">
                <a:moveTo>
                  <a:pt x="1816608" y="862583"/>
                </a:moveTo>
                <a:lnTo>
                  <a:pt x="1764792" y="862583"/>
                </a:lnTo>
                <a:lnTo>
                  <a:pt x="1764792" y="874775"/>
                </a:lnTo>
                <a:lnTo>
                  <a:pt x="1816608" y="874775"/>
                </a:lnTo>
                <a:lnTo>
                  <a:pt x="1816608" y="862583"/>
                </a:lnTo>
                <a:close/>
              </a:path>
              <a:path w="3301365" h="875030">
                <a:moveTo>
                  <a:pt x="1726692" y="862583"/>
                </a:moveTo>
                <a:lnTo>
                  <a:pt x="1676400" y="862583"/>
                </a:lnTo>
                <a:lnTo>
                  <a:pt x="1676400" y="874775"/>
                </a:lnTo>
                <a:lnTo>
                  <a:pt x="1726692" y="874775"/>
                </a:lnTo>
                <a:lnTo>
                  <a:pt x="1726692" y="862583"/>
                </a:lnTo>
                <a:close/>
              </a:path>
              <a:path w="3301365" h="875030">
                <a:moveTo>
                  <a:pt x="1638300" y="862583"/>
                </a:moveTo>
                <a:lnTo>
                  <a:pt x="1588008" y="862583"/>
                </a:lnTo>
                <a:lnTo>
                  <a:pt x="1588008" y="874775"/>
                </a:lnTo>
                <a:lnTo>
                  <a:pt x="1638300" y="874775"/>
                </a:lnTo>
                <a:lnTo>
                  <a:pt x="1638300" y="862583"/>
                </a:lnTo>
                <a:close/>
              </a:path>
              <a:path w="3301365" h="875030">
                <a:moveTo>
                  <a:pt x="1549908" y="862583"/>
                </a:moveTo>
                <a:lnTo>
                  <a:pt x="1498092" y="862583"/>
                </a:lnTo>
                <a:lnTo>
                  <a:pt x="1498092" y="874775"/>
                </a:lnTo>
                <a:lnTo>
                  <a:pt x="1549908" y="874775"/>
                </a:lnTo>
                <a:lnTo>
                  <a:pt x="1549908" y="862583"/>
                </a:lnTo>
                <a:close/>
              </a:path>
              <a:path w="3301365" h="875030">
                <a:moveTo>
                  <a:pt x="1459992" y="862583"/>
                </a:moveTo>
                <a:lnTo>
                  <a:pt x="1409700" y="862583"/>
                </a:lnTo>
                <a:lnTo>
                  <a:pt x="1409700" y="874775"/>
                </a:lnTo>
                <a:lnTo>
                  <a:pt x="1459992" y="874775"/>
                </a:lnTo>
                <a:lnTo>
                  <a:pt x="1459992" y="862583"/>
                </a:lnTo>
                <a:close/>
              </a:path>
              <a:path w="3301365" h="875030">
                <a:moveTo>
                  <a:pt x="1371600" y="862583"/>
                </a:moveTo>
                <a:lnTo>
                  <a:pt x="1321308" y="862583"/>
                </a:lnTo>
                <a:lnTo>
                  <a:pt x="1321308" y="874775"/>
                </a:lnTo>
                <a:lnTo>
                  <a:pt x="1371600" y="874775"/>
                </a:lnTo>
                <a:lnTo>
                  <a:pt x="1371600" y="862583"/>
                </a:lnTo>
                <a:close/>
              </a:path>
              <a:path w="3301365" h="875030">
                <a:moveTo>
                  <a:pt x="1283208" y="862583"/>
                </a:moveTo>
                <a:lnTo>
                  <a:pt x="1231392" y="862583"/>
                </a:lnTo>
                <a:lnTo>
                  <a:pt x="1231392" y="874775"/>
                </a:lnTo>
                <a:lnTo>
                  <a:pt x="1283208" y="874775"/>
                </a:lnTo>
                <a:lnTo>
                  <a:pt x="1283208" y="862583"/>
                </a:lnTo>
                <a:close/>
              </a:path>
              <a:path w="3301365" h="875030">
                <a:moveTo>
                  <a:pt x="1193292" y="862583"/>
                </a:moveTo>
                <a:lnTo>
                  <a:pt x="1143000" y="862583"/>
                </a:lnTo>
                <a:lnTo>
                  <a:pt x="1143000" y="874775"/>
                </a:lnTo>
                <a:lnTo>
                  <a:pt x="1193292" y="874775"/>
                </a:lnTo>
                <a:lnTo>
                  <a:pt x="1193292" y="862583"/>
                </a:lnTo>
                <a:close/>
              </a:path>
              <a:path w="3301365" h="875030">
                <a:moveTo>
                  <a:pt x="1104900" y="862583"/>
                </a:moveTo>
                <a:lnTo>
                  <a:pt x="1054608" y="862583"/>
                </a:lnTo>
                <a:lnTo>
                  <a:pt x="1054608" y="874775"/>
                </a:lnTo>
                <a:lnTo>
                  <a:pt x="1104900" y="874775"/>
                </a:lnTo>
                <a:lnTo>
                  <a:pt x="1104900" y="862583"/>
                </a:lnTo>
                <a:close/>
              </a:path>
              <a:path w="3301365" h="875030">
                <a:moveTo>
                  <a:pt x="1016508" y="862583"/>
                </a:moveTo>
                <a:lnTo>
                  <a:pt x="964692" y="862583"/>
                </a:lnTo>
                <a:lnTo>
                  <a:pt x="964692" y="874775"/>
                </a:lnTo>
                <a:lnTo>
                  <a:pt x="1016508" y="874775"/>
                </a:lnTo>
                <a:lnTo>
                  <a:pt x="1016508" y="862583"/>
                </a:lnTo>
                <a:close/>
              </a:path>
              <a:path w="3301365" h="875030">
                <a:moveTo>
                  <a:pt x="926592" y="862583"/>
                </a:moveTo>
                <a:lnTo>
                  <a:pt x="876300" y="862583"/>
                </a:lnTo>
                <a:lnTo>
                  <a:pt x="876300" y="874775"/>
                </a:lnTo>
                <a:lnTo>
                  <a:pt x="926592" y="874775"/>
                </a:lnTo>
                <a:lnTo>
                  <a:pt x="926592" y="862583"/>
                </a:lnTo>
                <a:close/>
              </a:path>
              <a:path w="3301365" h="875030">
                <a:moveTo>
                  <a:pt x="838200" y="862583"/>
                </a:moveTo>
                <a:lnTo>
                  <a:pt x="787908" y="862583"/>
                </a:lnTo>
                <a:lnTo>
                  <a:pt x="787908" y="874775"/>
                </a:lnTo>
                <a:lnTo>
                  <a:pt x="838200" y="874775"/>
                </a:lnTo>
                <a:lnTo>
                  <a:pt x="838200" y="862583"/>
                </a:lnTo>
                <a:close/>
              </a:path>
              <a:path w="3301365" h="875030">
                <a:moveTo>
                  <a:pt x="749808" y="862583"/>
                </a:moveTo>
                <a:lnTo>
                  <a:pt x="697992" y="862583"/>
                </a:lnTo>
                <a:lnTo>
                  <a:pt x="697992" y="874775"/>
                </a:lnTo>
                <a:lnTo>
                  <a:pt x="749808" y="874775"/>
                </a:lnTo>
                <a:lnTo>
                  <a:pt x="749808" y="862583"/>
                </a:lnTo>
                <a:close/>
              </a:path>
              <a:path w="3301365" h="875030">
                <a:moveTo>
                  <a:pt x="659892" y="862583"/>
                </a:moveTo>
                <a:lnTo>
                  <a:pt x="609600" y="862583"/>
                </a:lnTo>
                <a:lnTo>
                  <a:pt x="609600" y="874775"/>
                </a:lnTo>
                <a:lnTo>
                  <a:pt x="659892" y="874775"/>
                </a:lnTo>
                <a:lnTo>
                  <a:pt x="659892" y="862583"/>
                </a:lnTo>
                <a:close/>
              </a:path>
              <a:path w="3301365" h="875030">
                <a:moveTo>
                  <a:pt x="571500" y="862583"/>
                </a:moveTo>
                <a:lnTo>
                  <a:pt x="521208" y="862583"/>
                </a:lnTo>
                <a:lnTo>
                  <a:pt x="521208" y="874775"/>
                </a:lnTo>
                <a:lnTo>
                  <a:pt x="571500" y="874775"/>
                </a:lnTo>
                <a:lnTo>
                  <a:pt x="571500" y="862583"/>
                </a:lnTo>
                <a:close/>
              </a:path>
              <a:path w="3301365" h="875030">
                <a:moveTo>
                  <a:pt x="483108" y="862583"/>
                </a:moveTo>
                <a:lnTo>
                  <a:pt x="431292" y="862583"/>
                </a:lnTo>
                <a:lnTo>
                  <a:pt x="431292" y="874775"/>
                </a:lnTo>
                <a:lnTo>
                  <a:pt x="483108" y="874775"/>
                </a:lnTo>
                <a:lnTo>
                  <a:pt x="483108" y="862583"/>
                </a:lnTo>
                <a:close/>
              </a:path>
              <a:path w="3301365" h="875030">
                <a:moveTo>
                  <a:pt x="393192" y="862583"/>
                </a:moveTo>
                <a:lnTo>
                  <a:pt x="342900" y="862583"/>
                </a:lnTo>
                <a:lnTo>
                  <a:pt x="342900" y="874775"/>
                </a:lnTo>
                <a:lnTo>
                  <a:pt x="393192" y="874775"/>
                </a:lnTo>
                <a:lnTo>
                  <a:pt x="393192" y="862583"/>
                </a:lnTo>
                <a:close/>
              </a:path>
              <a:path w="3301365" h="875030">
                <a:moveTo>
                  <a:pt x="304800" y="862583"/>
                </a:moveTo>
                <a:lnTo>
                  <a:pt x="254508" y="862583"/>
                </a:lnTo>
                <a:lnTo>
                  <a:pt x="254508" y="874775"/>
                </a:lnTo>
                <a:lnTo>
                  <a:pt x="304800" y="874775"/>
                </a:lnTo>
                <a:lnTo>
                  <a:pt x="304800" y="862583"/>
                </a:lnTo>
                <a:close/>
              </a:path>
              <a:path w="3301365" h="875030">
                <a:moveTo>
                  <a:pt x="216408" y="862583"/>
                </a:moveTo>
                <a:lnTo>
                  <a:pt x="164592" y="862583"/>
                </a:lnTo>
                <a:lnTo>
                  <a:pt x="164592" y="874775"/>
                </a:lnTo>
                <a:lnTo>
                  <a:pt x="216408" y="874775"/>
                </a:lnTo>
                <a:lnTo>
                  <a:pt x="216408" y="862583"/>
                </a:lnTo>
                <a:close/>
              </a:path>
              <a:path w="3301365" h="875030">
                <a:moveTo>
                  <a:pt x="126492" y="862583"/>
                </a:moveTo>
                <a:lnTo>
                  <a:pt x="76200" y="862583"/>
                </a:lnTo>
                <a:lnTo>
                  <a:pt x="76200" y="874775"/>
                </a:lnTo>
                <a:lnTo>
                  <a:pt x="126492" y="874775"/>
                </a:lnTo>
                <a:lnTo>
                  <a:pt x="126492" y="8625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67716" y="1425489"/>
            <a:ext cx="1199515" cy="142240"/>
          </a:xfrm>
          <a:custGeom>
            <a:avLst/>
            <a:gdLst/>
            <a:ahLst/>
            <a:cxnLst/>
            <a:rect l="l" t="t" r="r" b="b"/>
            <a:pathLst>
              <a:path w="1199514" h="142240">
                <a:moveTo>
                  <a:pt x="1153668" y="0"/>
                </a:moveTo>
                <a:lnTo>
                  <a:pt x="1152144" y="6096"/>
                </a:lnTo>
                <a:lnTo>
                  <a:pt x="1159835" y="10096"/>
                </a:lnTo>
                <a:lnTo>
                  <a:pt x="1166812" y="15239"/>
                </a:lnTo>
                <a:lnTo>
                  <a:pt x="1185124" y="58102"/>
                </a:lnTo>
                <a:lnTo>
                  <a:pt x="1185672" y="70103"/>
                </a:lnTo>
                <a:lnTo>
                  <a:pt x="1185124" y="82986"/>
                </a:lnTo>
                <a:lnTo>
                  <a:pt x="1172932" y="121062"/>
                </a:lnTo>
                <a:lnTo>
                  <a:pt x="1152144" y="135636"/>
                </a:lnTo>
                <a:lnTo>
                  <a:pt x="1153668" y="141731"/>
                </a:lnTo>
                <a:lnTo>
                  <a:pt x="1187196" y="117348"/>
                </a:lnTo>
                <a:lnTo>
                  <a:pt x="1199388" y="71627"/>
                </a:lnTo>
                <a:lnTo>
                  <a:pt x="1198554" y="58483"/>
                </a:lnTo>
                <a:lnTo>
                  <a:pt x="1180885" y="16716"/>
                </a:lnTo>
                <a:lnTo>
                  <a:pt x="1164264" y="4048"/>
                </a:lnTo>
                <a:lnTo>
                  <a:pt x="1153668" y="0"/>
                </a:lnTo>
                <a:close/>
              </a:path>
              <a:path w="1199514" h="142240">
                <a:moveTo>
                  <a:pt x="44196" y="0"/>
                </a:moveTo>
                <a:lnTo>
                  <a:pt x="10668" y="25908"/>
                </a:lnTo>
                <a:lnTo>
                  <a:pt x="0" y="71627"/>
                </a:lnTo>
                <a:lnTo>
                  <a:pt x="595" y="84772"/>
                </a:lnTo>
                <a:lnTo>
                  <a:pt x="17192" y="125872"/>
                </a:lnTo>
                <a:lnTo>
                  <a:pt x="44196" y="141731"/>
                </a:lnTo>
                <a:lnTo>
                  <a:pt x="45720" y="135636"/>
                </a:lnTo>
                <a:lnTo>
                  <a:pt x="38052" y="132492"/>
                </a:lnTo>
                <a:lnTo>
                  <a:pt x="31242" y="127635"/>
                </a:lnTo>
                <a:lnTo>
                  <a:pt x="12763" y="82986"/>
                </a:lnTo>
                <a:lnTo>
                  <a:pt x="12192" y="70103"/>
                </a:lnTo>
                <a:lnTo>
                  <a:pt x="12763" y="58102"/>
                </a:lnTo>
                <a:lnTo>
                  <a:pt x="25598" y="21526"/>
                </a:lnTo>
                <a:lnTo>
                  <a:pt x="47244" y="6096"/>
                </a:lnTo>
                <a:lnTo>
                  <a:pt x="44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50211" y="1425489"/>
            <a:ext cx="1085215" cy="142240"/>
          </a:xfrm>
          <a:custGeom>
            <a:avLst/>
            <a:gdLst/>
            <a:ahLst/>
            <a:cxnLst/>
            <a:rect l="l" t="t" r="r" b="b"/>
            <a:pathLst>
              <a:path w="1085214" h="142240">
                <a:moveTo>
                  <a:pt x="1039367" y="0"/>
                </a:moveTo>
                <a:lnTo>
                  <a:pt x="1037843" y="6096"/>
                </a:lnTo>
                <a:lnTo>
                  <a:pt x="1045535" y="10096"/>
                </a:lnTo>
                <a:lnTo>
                  <a:pt x="1052512" y="15239"/>
                </a:lnTo>
                <a:lnTo>
                  <a:pt x="1070824" y="58102"/>
                </a:lnTo>
                <a:lnTo>
                  <a:pt x="1071371" y="70103"/>
                </a:lnTo>
                <a:lnTo>
                  <a:pt x="1070824" y="82986"/>
                </a:lnTo>
                <a:lnTo>
                  <a:pt x="1058632" y="121062"/>
                </a:lnTo>
                <a:lnTo>
                  <a:pt x="1037843" y="135636"/>
                </a:lnTo>
                <a:lnTo>
                  <a:pt x="1039367" y="141731"/>
                </a:lnTo>
                <a:lnTo>
                  <a:pt x="1072895" y="117348"/>
                </a:lnTo>
                <a:lnTo>
                  <a:pt x="1085088" y="71627"/>
                </a:lnTo>
                <a:lnTo>
                  <a:pt x="1084254" y="58483"/>
                </a:lnTo>
                <a:lnTo>
                  <a:pt x="1066585" y="16716"/>
                </a:lnTo>
                <a:lnTo>
                  <a:pt x="1049964" y="4048"/>
                </a:lnTo>
                <a:lnTo>
                  <a:pt x="1039367" y="0"/>
                </a:lnTo>
                <a:close/>
              </a:path>
              <a:path w="1085214" h="142240">
                <a:moveTo>
                  <a:pt x="44196" y="0"/>
                </a:moveTo>
                <a:lnTo>
                  <a:pt x="10667" y="25908"/>
                </a:lnTo>
                <a:lnTo>
                  <a:pt x="0" y="71627"/>
                </a:lnTo>
                <a:lnTo>
                  <a:pt x="595" y="84772"/>
                </a:lnTo>
                <a:lnTo>
                  <a:pt x="17192" y="125872"/>
                </a:lnTo>
                <a:lnTo>
                  <a:pt x="44196" y="141731"/>
                </a:lnTo>
                <a:lnTo>
                  <a:pt x="45720" y="135636"/>
                </a:lnTo>
                <a:lnTo>
                  <a:pt x="38052" y="132492"/>
                </a:lnTo>
                <a:lnTo>
                  <a:pt x="31242" y="127635"/>
                </a:lnTo>
                <a:lnTo>
                  <a:pt x="12763" y="82986"/>
                </a:lnTo>
                <a:lnTo>
                  <a:pt x="12191" y="70103"/>
                </a:lnTo>
                <a:lnTo>
                  <a:pt x="12763" y="58102"/>
                </a:lnTo>
                <a:lnTo>
                  <a:pt x="25598" y="21526"/>
                </a:lnTo>
                <a:lnTo>
                  <a:pt x="47243" y="6096"/>
                </a:lnTo>
                <a:lnTo>
                  <a:pt x="44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2"/>
              <p:cNvSpPr txBox="1"/>
              <p:nvPr/>
            </p:nvSpPr>
            <p:spPr>
              <a:xfrm>
                <a:off x="2675308" y="955165"/>
                <a:ext cx="3142615" cy="809837"/>
              </a:xfrm>
              <a:prstGeom prst="rect">
                <a:avLst/>
              </a:prstGeom>
            </p:spPr>
            <p:txBody>
              <a:bodyPr vert="horz" wrap="square" lIns="0" tIns="85725" rIns="0" bIns="0" rtlCol="0">
                <a:spAutoFit/>
              </a:bodyPr>
              <a:lstStyle/>
              <a:p>
                <a:pPr marL="12700">
                  <a:lnSpc>
                    <a:spcPts val="1415"/>
                  </a:lnSpc>
                </a:pPr>
                <a:r>
                  <a:rPr lang="en-US" altLang="zh-CN" sz="1200" spc="25">
                    <a:latin typeface="Cambria Math" panose="02040503050406030204"/>
                    <a:cs typeface="Cambria Math" panose="02040503050406030204"/>
                  </a:rPr>
                  <a:t>L</a:t>
                </a:r>
                <a:r>
                  <a:rPr lang="en-US" altLang="zh-CN" sz="1400" spc="37" baseline="-16000">
                    <a:latin typeface="Cambria Math" panose="02040503050406030204"/>
                    <a:cs typeface="Cambria Math" panose="02040503050406030204"/>
                  </a:rPr>
                  <a:t>i </a:t>
                </a:r>
                <a:r>
                  <a:rPr lang="en-US" altLang="zh-CN" sz="1200" spc="-5" dirty="0">
                    <a:latin typeface="Cambria Math" panose="02040503050406030204"/>
                    <a:cs typeface="Cambria Math" panose="02040503050406030204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zh-CN" altLang="ar-AE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𝑦𝑖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ar-AE" altLang="zh-CN" sz="1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200" smtClean="0">
                  <a:latin typeface="Calibri" panose="020F0502020204030204"/>
                  <a:cs typeface="Calibri" panose="020F0502020204030204"/>
                </a:endParaRPr>
              </a:p>
              <a:p>
                <a:pPr marL="12700">
                  <a:lnSpc>
                    <a:spcPts val="1415"/>
                  </a:lnSpc>
                </a:pPr>
                <a:endParaRPr lang="en-US" sz="1200">
                  <a:latin typeface="Calibri" panose="020F0502020204030204"/>
                  <a:cs typeface="Calibri" panose="020F0502020204030204"/>
                </a:endParaRPr>
              </a:p>
              <a:p>
                <a:pPr marL="12700">
                  <a:lnSpc>
                    <a:spcPts val="1415"/>
                  </a:lnSpc>
                </a:pPr>
                <a:r>
                  <a:rPr sz="1200" smtClean="0">
                    <a:latin typeface="Calibri" panose="020F0502020204030204"/>
                    <a:cs typeface="Calibri" panose="020F0502020204030204"/>
                  </a:rPr>
                  <a:t>= </a:t>
                </a:r>
                <a:r>
                  <a:rPr sz="1200" smtClean="0">
                    <a:latin typeface="Cambria Math" panose="02040503050406030204"/>
                    <a:cs typeface="Cambria Math" panose="02040503050406030204"/>
                  </a:rPr>
                  <a:t>max −2.3 − 0.6 + 1, 0 </a:t>
                </a:r>
                <a:r>
                  <a:rPr lang="en-US" sz="1200" smtClean="0">
                    <a:latin typeface="Cambria Math" panose="02040503050406030204"/>
                    <a:cs typeface="Cambria Math" panose="02040503050406030204"/>
                  </a:rPr>
                  <a:t>  </a:t>
                </a:r>
                <a:r>
                  <a:rPr sz="1200" smtClean="0">
                    <a:latin typeface="Cambria Math" panose="02040503050406030204"/>
                    <a:cs typeface="Cambria Math" panose="02040503050406030204"/>
                  </a:rPr>
                  <a:t>+ max 1.9 − 0.6 + </a:t>
                </a:r>
                <a:r>
                  <a:rPr sz="1200" spc="-5" smtClean="0">
                    <a:latin typeface="Cambria Math" panose="02040503050406030204"/>
                    <a:cs typeface="Cambria Math" panose="02040503050406030204"/>
                  </a:rPr>
                  <a:t>1,</a:t>
                </a:r>
                <a:r>
                  <a:rPr sz="1200" spc="-110" smtClean="0">
                    <a:latin typeface="Cambria Math" panose="02040503050406030204"/>
                    <a:cs typeface="Cambria Math" panose="02040503050406030204"/>
                  </a:rPr>
                  <a:t> </a:t>
                </a:r>
                <a:r>
                  <a:rPr sz="1200" smtClean="0">
                    <a:latin typeface="Cambria Math" panose="02040503050406030204"/>
                    <a:cs typeface="Cambria Math" panose="02040503050406030204"/>
                  </a:rPr>
                  <a:t>0</a:t>
                </a:r>
                <a:endParaRPr sz="1200" smtClean="0">
                  <a:latin typeface="Cambria Math" panose="02040503050406030204"/>
                  <a:cs typeface="Cambria Math" panose="02040503050406030204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1200" smtClean="0">
                    <a:latin typeface="Cambria Math" panose="02040503050406030204"/>
                    <a:cs typeface="Cambria Math" panose="02040503050406030204"/>
                  </a:rPr>
                  <a:t>=</a:t>
                </a:r>
                <a:r>
                  <a:rPr sz="1200" spc="55" smtClean="0">
                    <a:latin typeface="Cambria Math" panose="02040503050406030204"/>
                    <a:cs typeface="Cambria Math" panose="02040503050406030204"/>
                  </a:rPr>
                  <a:t> </a:t>
                </a:r>
                <a:r>
                  <a:rPr sz="1200" dirty="0">
                    <a:latin typeface="Cambria Math" panose="02040503050406030204"/>
                    <a:cs typeface="Cambria Math" panose="02040503050406030204"/>
                  </a:rPr>
                  <a:t>2.3</a:t>
                </a:r>
                <a:endParaRPr sz="1200">
                  <a:latin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308" y="955165"/>
                <a:ext cx="3142615" cy="809837"/>
              </a:xfrm>
              <a:prstGeom prst="rect">
                <a:avLst/>
              </a:prstGeom>
              <a:blipFill rotWithShape="1">
                <a:blip r:embed="rId2"/>
                <a:stretch>
                  <a:fillRect l="-2" t="-15" r="2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1813001" y="1598756"/>
            <a:ext cx="4140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254" dirty="0">
                <a:latin typeface="Cambria Math" panose="02040503050406030204"/>
                <a:cs typeface="Cambria Math" panose="02040503050406030204"/>
              </a:rPr>
              <a:t>f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0037" y="669040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损失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19536" y="147869"/>
            <a:ext cx="360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r>
              <a:rPr sz="1800" b="1" spc="-4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vs</a:t>
            </a:r>
            <a:r>
              <a:rPr sz="1800" b="1" spc="-5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多类支撑向量机损失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5656" y="866553"/>
            <a:ext cx="410209" cy="683260"/>
          </a:xfrm>
          <a:prstGeom prst="rect">
            <a:avLst/>
          </a:prstGeom>
          <a:ln w="9143">
            <a:solidFill>
              <a:srgbClr val="0000F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55"/>
              </a:spcBef>
            </a:pPr>
            <a:r>
              <a:rPr sz="1200" b="1" dirty="0">
                <a:latin typeface="Arial" panose="020B0604020202020204"/>
                <a:cs typeface="Arial" panose="020B0604020202020204"/>
              </a:rPr>
              <a:t>0.6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80645">
              <a:lnSpc>
                <a:spcPct val="100000"/>
              </a:lnSpc>
              <a:spcBef>
                <a:spcPts val="410"/>
              </a:spcBef>
            </a:pPr>
            <a:r>
              <a:rPr sz="1200" spc="-5" dirty="0">
                <a:latin typeface="Arial" panose="020B0604020202020204"/>
                <a:cs typeface="Arial" panose="020B0604020202020204"/>
              </a:rPr>
              <a:t>-2.3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97155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Arial" panose="020B0604020202020204"/>
                <a:cs typeface="Arial" panose="020B0604020202020204"/>
              </a:rPr>
              <a:t>1.9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4016" y="834549"/>
            <a:ext cx="726947" cy="66446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6868" y="1533518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图像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60964" y="1189641"/>
            <a:ext cx="943610" cy="38100"/>
          </a:xfrm>
          <a:custGeom>
            <a:avLst/>
            <a:gdLst/>
            <a:ahLst/>
            <a:cxnLst/>
            <a:rect l="l" t="t" r="r" b="b"/>
            <a:pathLst>
              <a:path w="943610" h="38100">
                <a:moveTo>
                  <a:pt x="905256" y="0"/>
                </a:moveTo>
                <a:lnTo>
                  <a:pt x="905256" y="38100"/>
                </a:lnTo>
                <a:lnTo>
                  <a:pt x="937494" y="21335"/>
                </a:lnTo>
                <a:lnTo>
                  <a:pt x="912876" y="21335"/>
                </a:lnTo>
                <a:lnTo>
                  <a:pt x="912876" y="16763"/>
                </a:lnTo>
                <a:lnTo>
                  <a:pt x="940180" y="16763"/>
                </a:lnTo>
                <a:lnTo>
                  <a:pt x="905256" y="0"/>
                </a:lnTo>
                <a:close/>
              </a:path>
              <a:path w="943610" h="38100">
                <a:moveTo>
                  <a:pt x="905256" y="16763"/>
                </a:moveTo>
                <a:lnTo>
                  <a:pt x="0" y="16763"/>
                </a:lnTo>
                <a:lnTo>
                  <a:pt x="0" y="21335"/>
                </a:lnTo>
                <a:lnTo>
                  <a:pt x="905256" y="21335"/>
                </a:lnTo>
                <a:lnTo>
                  <a:pt x="905256" y="16763"/>
                </a:lnTo>
                <a:close/>
              </a:path>
              <a:path w="943610" h="38100">
                <a:moveTo>
                  <a:pt x="940180" y="16763"/>
                </a:moveTo>
                <a:lnTo>
                  <a:pt x="912876" y="16763"/>
                </a:lnTo>
                <a:lnTo>
                  <a:pt x="912876" y="21335"/>
                </a:lnTo>
                <a:lnTo>
                  <a:pt x="937494" y="21335"/>
                </a:lnTo>
                <a:lnTo>
                  <a:pt x="943356" y="18287"/>
                </a:lnTo>
                <a:lnTo>
                  <a:pt x="940180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5236" y="956023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类器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34088" y="1206405"/>
            <a:ext cx="386080" cy="152400"/>
          </a:xfrm>
          <a:custGeom>
            <a:avLst/>
            <a:gdLst/>
            <a:ahLst/>
            <a:cxnLst/>
            <a:rect l="l" t="t" r="r" b="b"/>
            <a:pathLst>
              <a:path w="386080" h="152400">
                <a:moveTo>
                  <a:pt x="348917" y="136352"/>
                </a:moveTo>
                <a:lnTo>
                  <a:pt x="342900" y="152400"/>
                </a:lnTo>
                <a:lnTo>
                  <a:pt x="385572" y="147827"/>
                </a:lnTo>
                <a:lnTo>
                  <a:pt x="377298" y="138684"/>
                </a:lnTo>
                <a:lnTo>
                  <a:pt x="355091" y="138684"/>
                </a:lnTo>
                <a:lnTo>
                  <a:pt x="348917" y="136352"/>
                </a:lnTo>
                <a:close/>
              </a:path>
              <a:path w="386080" h="152400">
                <a:moveTo>
                  <a:pt x="350608" y="131843"/>
                </a:moveTo>
                <a:lnTo>
                  <a:pt x="348917" y="136352"/>
                </a:lnTo>
                <a:lnTo>
                  <a:pt x="355091" y="138684"/>
                </a:lnTo>
                <a:lnTo>
                  <a:pt x="356615" y="134112"/>
                </a:lnTo>
                <a:lnTo>
                  <a:pt x="350608" y="131843"/>
                </a:lnTo>
                <a:close/>
              </a:path>
              <a:path w="386080" h="152400">
                <a:moveTo>
                  <a:pt x="356615" y="115824"/>
                </a:moveTo>
                <a:lnTo>
                  <a:pt x="350608" y="131843"/>
                </a:lnTo>
                <a:lnTo>
                  <a:pt x="356615" y="134112"/>
                </a:lnTo>
                <a:lnTo>
                  <a:pt x="355091" y="138684"/>
                </a:lnTo>
                <a:lnTo>
                  <a:pt x="377298" y="138684"/>
                </a:lnTo>
                <a:lnTo>
                  <a:pt x="356615" y="115824"/>
                </a:lnTo>
                <a:close/>
              </a:path>
              <a:path w="386080" h="152400">
                <a:moveTo>
                  <a:pt x="1524" y="0"/>
                </a:moveTo>
                <a:lnTo>
                  <a:pt x="0" y="4572"/>
                </a:lnTo>
                <a:lnTo>
                  <a:pt x="348917" y="136352"/>
                </a:lnTo>
                <a:lnTo>
                  <a:pt x="350608" y="131843"/>
                </a:lnTo>
                <a:lnTo>
                  <a:pt x="1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12039" y="916845"/>
            <a:ext cx="3301365" cy="875030"/>
          </a:xfrm>
          <a:custGeom>
            <a:avLst/>
            <a:gdLst/>
            <a:ahLst/>
            <a:cxnLst/>
            <a:rect l="l" t="t" r="r" b="b"/>
            <a:pathLst>
              <a:path w="3301365" h="875030">
                <a:moveTo>
                  <a:pt x="13715" y="862583"/>
                </a:moveTo>
                <a:lnTo>
                  <a:pt x="7620" y="862583"/>
                </a:lnTo>
                <a:lnTo>
                  <a:pt x="7620" y="874776"/>
                </a:lnTo>
                <a:lnTo>
                  <a:pt x="38100" y="874776"/>
                </a:lnTo>
                <a:lnTo>
                  <a:pt x="38100" y="868679"/>
                </a:lnTo>
                <a:lnTo>
                  <a:pt x="13715" y="868679"/>
                </a:lnTo>
                <a:lnTo>
                  <a:pt x="13715" y="862583"/>
                </a:lnTo>
                <a:close/>
              </a:path>
              <a:path w="3301365" h="875030">
                <a:moveTo>
                  <a:pt x="13715" y="816863"/>
                </a:moveTo>
                <a:lnTo>
                  <a:pt x="0" y="816863"/>
                </a:lnTo>
                <a:lnTo>
                  <a:pt x="0" y="868679"/>
                </a:lnTo>
                <a:lnTo>
                  <a:pt x="7620" y="868679"/>
                </a:lnTo>
                <a:lnTo>
                  <a:pt x="7620" y="862583"/>
                </a:lnTo>
                <a:lnTo>
                  <a:pt x="13715" y="862583"/>
                </a:lnTo>
                <a:lnTo>
                  <a:pt x="13715" y="816863"/>
                </a:lnTo>
                <a:close/>
              </a:path>
              <a:path w="3301365" h="875030">
                <a:moveTo>
                  <a:pt x="38100" y="862583"/>
                </a:moveTo>
                <a:lnTo>
                  <a:pt x="13715" y="862583"/>
                </a:lnTo>
                <a:lnTo>
                  <a:pt x="13715" y="868679"/>
                </a:lnTo>
                <a:lnTo>
                  <a:pt x="38100" y="868679"/>
                </a:lnTo>
                <a:lnTo>
                  <a:pt x="38100" y="862583"/>
                </a:lnTo>
                <a:close/>
              </a:path>
              <a:path w="3301365" h="875030">
                <a:moveTo>
                  <a:pt x="13715" y="728472"/>
                </a:moveTo>
                <a:lnTo>
                  <a:pt x="0" y="728472"/>
                </a:lnTo>
                <a:lnTo>
                  <a:pt x="0" y="778763"/>
                </a:lnTo>
                <a:lnTo>
                  <a:pt x="13715" y="778763"/>
                </a:lnTo>
                <a:lnTo>
                  <a:pt x="13715" y="728472"/>
                </a:lnTo>
                <a:close/>
              </a:path>
              <a:path w="3301365" h="875030">
                <a:moveTo>
                  <a:pt x="13715" y="640079"/>
                </a:moveTo>
                <a:lnTo>
                  <a:pt x="0" y="640079"/>
                </a:lnTo>
                <a:lnTo>
                  <a:pt x="0" y="690372"/>
                </a:lnTo>
                <a:lnTo>
                  <a:pt x="13715" y="690372"/>
                </a:lnTo>
                <a:lnTo>
                  <a:pt x="13715" y="640079"/>
                </a:lnTo>
                <a:close/>
              </a:path>
              <a:path w="3301365" h="875030">
                <a:moveTo>
                  <a:pt x="13715" y="550163"/>
                </a:moveTo>
                <a:lnTo>
                  <a:pt x="0" y="550163"/>
                </a:lnTo>
                <a:lnTo>
                  <a:pt x="0" y="601979"/>
                </a:lnTo>
                <a:lnTo>
                  <a:pt x="13715" y="601979"/>
                </a:lnTo>
                <a:lnTo>
                  <a:pt x="13715" y="550163"/>
                </a:lnTo>
                <a:close/>
              </a:path>
              <a:path w="3301365" h="875030">
                <a:moveTo>
                  <a:pt x="13715" y="461772"/>
                </a:moveTo>
                <a:lnTo>
                  <a:pt x="0" y="461772"/>
                </a:lnTo>
                <a:lnTo>
                  <a:pt x="0" y="512063"/>
                </a:lnTo>
                <a:lnTo>
                  <a:pt x="13715" y="512063"/>
                </a:lnTo>
                <a:lnTo>
                  <a:pt x="13715" y="461772"/>
                </a:lnTo>
                <a:close/>
              </a:path>
              <a:path w="3301365" h="875030">
                <a:moveTo>
                  <a:pt x="13715" y="373379"/>
                </a:moveTo>
                <a:lnTo>
                  <a:pt x="0" y="373379"/>
                </a:lnTo>
                <a:lnTo>
                  <a:pt x="0" y="423672"/>
                </a:lnTo>
                <a:lnTo>
                  <a:pt x="13715" y="423672"/>
                </a:lnTo>
                <a:lnTo>
                  <a:pt x="13715" y="373379"/>
                </a:lnTo>
                <a:close/>
              </a:path>
              <a:path w="3301365" h="875030">
                <a:moveTo>
                  <a:pt x="13715" y="283463"/>
                </a:moveTo>
                <a:lnTo>
                  <a:pt x="0" y="283463"/>
                </a:lnTo>
                <a:lnTo>
                  <a:pt x="0" y="335279"/>
                </a:lnTo>
                <a:lnTo>
                  <a:pt x="13715" y="335279"/>
                </a:lnTo>
                <a:lnTo>
                  <a:pt x="13715" y="283463"/>
                </a:lnTo>
                <a:close/>
              </a:path>
              <a:path w="3301365" h="875030">
                <a:moveTo>
                  <a:pt x="13715" y="195072"/>
                </a:moveTo>
                <a:lnTo>
                  <a:pt x="0" y="195072"/>
                </a:lnTo>
                <a:lnTo>
                  <a:pt x="0" y="245363"/>
                </a:lnTo>
                <a:lnTo>
                  <a:pt x="13715" y="245363"/>
                </a:lnTo>
                <a:lnTo>
                  <a:pt x="13715" y="195072"/>
                </a:lnTo>
                <a:close/>
              </a:path>
              <a:path w="3301365" h="875030">
                <a:moveTo>
                  <a:pt x="13715" y="106679"/>
                </a:moveTo>
                <a:lnTo>
                  <a:pt x="0" y="106679"/>
                </a:lnTo>
                <a:lnTo>
                  <a:pt x="0" y="156972"/>
                </a:lnTo>
                <a:lnTo>
                  <a:pt x="13715" y="156972"/>
                </a:lnTo>
                <a:lnTo>
                  <a:pt x="13715" y="106679"/>
                </a:lnTo>
                <a:close/>
              </a:path>
              <a:path w="3301365" h="875030">
                <a:moveTo>
                  <a:pt x="13715" y="16763"/>
                </a:moveTo>
                <a:lnTo>
                  <a:pt x="0" y="16763"/>
                </a:lnTo>
                <a:lnTo>
                  <a:pt x="0" y="68579"/>
                </a:lnTo>
                <a:lnTo>
                  <a:pt x="13715" y="68579"/>
                </a:lnTo>
                <a:lnTo>
                  <a:pt x="13715" y="16763"/>
                </a:lnTo>
                <a:close/>
              </a:path>
              <a:path w="3301365" h="875030">
                <a:moveTo>
                  <a:pt x="83820" y="0"/>
                </a:moveTo>
                <a:lnTo>
                  <a:pt x="33527" y="0"/>
                </a:lnTo>
                <a:lnTo>
                  <a:pt x="33527" y="12191"/>
                </a:lnTo>
                <a:lnTo>
                  <a:pt x="83820" y="12191"/>
                </a:lnTo>
                <a:lnTo>
                  <a:pt x="83820" y="0"/>
                </a:lnTo>
                <a:close/>
              </a:path>
              <a:path w="3301365" h="875030">
                <a:moveTo>
                  <a:pt x="173736" y="0"/>
                </a:moveTo>
                <a:lnTo>
                  <a:pt x="121920" y="0"/>
                </a:lnTo>
                <a:lnTo>
                  <a:pt x="121920" y="12191"/>
                </a:lnTo>
                <a:lnTo>
                  <a:pt x="173736" y="12191"/>
                </a:lnTo>
                <a:lnTo>
                  <a:pt x="173736" y="0"/>
                </a:lnTo>
                <a:close/>
              </a:path>
              <a:path w="3301365" h="875030">
                <a:moveTo>
                  <a:pt x="262127" y="0"/>
                </a:moveTo>
                <a:lnTo>
                  <a:pt x="211836" y="0"/>
                </a:lnTo>
                <a:lnTo>
                  <a:pt x="211836" y="12191"/>
                </a:lnTo>
                <a:lnTo>
                  <a:pt x="262127" y="12191"/>
                </a:lnTo>
                <a:lnTo>
                  <a:pt x="262127" y="0"/>
                </a:lnTo>
                <a:close/>
              </a:path>
              <a:path w="3301365" h="875030">
                <a:moveTo>
                  <a:pt x="350520" y="0"/>
                </a:moveTo>
                <a:lnTo>
                  <a:pt x="300227" y="0"/>
                </a:lnTo>
                <a:lnTo>
                  <a:pt x="300227" y="12191"/>
                </a:lnTo>
                <a:lnTo>
                  <a:pt x="350520" y="12191"/>
                </a:lnTo>
                <a:lnTo>
                  <a:pt x="350520" y="0"/>
                </a:lnTo>
                <a:close/>
              </a:path>
              <a:path w="3301365" h="875030">
                <a:moveTo>
                  <a:pt x="440436" y="0"/>
                </a:moveTo>
                <a:lnTo>
                  <a:pt x="388620" y="0"/>
                </a:lnTo>
                <a:lnTo>
                  <a:pt x="388620" y="12191"/>
                </a:lnTo>
                <a:lnTo>
                  <a:pt x="440436" y="12191"/>
                </a:lnTo>
                <a:lnTo>
                  <a:pt x="440436" y="0"/>
                </a:lnTo>
                <a:close/>
              </a:path>
              <a:path w="3301365" h="875030">
                <a:moveTo>
                  <a:pt x="528827" y="0"/>
                </a:moveTo>
                <a:lnTo>
                  <a:pt x="478536" y="0"/>
                </a:lnTo>
                <a:lnTo>
                  <a:pt x="478536" y="12191"/>
                </a:lnTo>
                <a:lnTo>
                  <a:pt x="528827" y="12191"/>
                </a:lnTo>
                <a:lnTo>
                  <a:pt x="528827" y="0"/>
                </a:lnTo>
                <a:close/>
              </a:path>
              <a:path w="3301365" h="875030">
                <a:moveTo>
                  <a:pt x="617220" y="0"/>
                </a:moveTo>
                <a:lnTo>
                  <a:pt x="566927" y="0"/>
                </a:lnTo>
                <a:lnTo>
                  <a:pt x="566927" y="12191"/>
                </a:lnTo>
                <a:lnTo>
                  <a:pt x="617220" y="12191"/>
                </a:lnTo>
                <a:lnTo>
                  <a:pt x="617220" y="0"/>
                </a:lnTo>
                <a:close/>
              </a:path>
              <a:path w="3301365" h="875030">
                <a:moveTo>
                  <a:pt x="707136" y="0"/>
                </a:moveTo>
                <a:lnTo>
                  <a:pt x="655320" y="0"/>
                </a:lnTo>
                <a:lnTo>
                  <a:pt x="655320" y="12191"/>
                </a:lnTo>
                <a:lnTo>
                  <a:pt x="707136" y="12191"/>
                </a:lnTo>
                <a:lnTo>
                  <a:pt x="707136" y="0"/>
                </a:lnTo>
                <a:close/>
              </a:path>
              <a:path w="3301365" h="875030">
                <a:moveTo>
                  <a:pt x="795527" y="0"/>
                </a:moveTo>
                <a:lnTo>
                  <a:pt x="745236" y="0"/>
                </a:lnTo>
                <a:lnTo>
                  <a:pt x="745236" y="12191"/>
                </a:lnTo>
                <a:lnTo>
                  <a:pt x="795527" y="12191"/>
                </a:lnTo>
                <a:lnTo>
                  <a:pt x="795527" y="0"/>
                </a:lnTo>
                <a:close/>
              </a:path>
              <a:path w="3301365" h="875030">
                <a:moveTo>
                  <a:pt x="883920" y="0"/>
                </a:moveTo>
                <a:lnTo>
                  <a:pt x="833627" y="0"/>
                </a:lnTo>
                <a:lnTo>
                  <a:pt x="833627" y="12191"/>
                </a:lnTo>
                <a:lnTo>
                  <a:pt x="883920" y="12191"/>
                </a:lnTo>
                <a:lnTo>
                  <a:pt x="883920" y="0"/>
                </a:lnTo>
                <a:close/>
              </a:path>
              <a:path w="3301365" h="875030">
                <a:moveTo>
                  <a:pt x="973836" y="0"/>
                </a:moveTo>
                <a:lnTo>
                  <a:pt x="922020" y="0"/>
                </a:lnTo>
                <a:lnTo>
                  <a:pt x="922020" y="12191"/>
                </a:lnTo>
                <a:lnTo>
                  <a:pt x="973836" y="12191"/>
                </a:lnTo>
                <a:lnTo>
                  <a:pt x="973836" y="0"/>
                </a:lnTo>
                <a:close/>
              </a:path>
              <a:path w="3301365" h="875030">
                <a:moveTo>
                  <a:pt x="1062227" y="0"/>
                </a:moveTo>
                <a:lnTo>
                  <a:pt x="1011936" y="0"/>
                </a:lnTo>
                <a:lnTo>
                  <a:pt x="1011936" y="12191"/>
                </a:lnTo>
                <a:lnTo>
                  <a:pt x="1062227" y="12191"/>
                </a:lnTo>
                <a:lnTo>
                  <a:pt x="1062227" y="0"/>
                </a:lnTo>
                <a:close/>
              </a:path>
              <a:path w="3301365" h="875030">
                <a:moveTo>
                  <a:pt x="1150620" y="0"/>
                </a:moveTo>
                <a:lnTo>
                  <a:pt x="1100327" y="0"/>
                </a:lnTo>
                <a:lnTo>
                  <a:pt x="1100327" y="12191"/>
                </a:lnTo>
                <a:lnTo>
                  <a:pt x="1150620" y="12191"/>
                </a:lnTo>
                <a:lnTo>
                  <a:pt x="1150620" y="0"/>
                </a:lnTo>
                <a:close/>
              </a:path>
              <a:path w="3301365" h="875030">
                <a:moveTo>
                  <a:pt x="1240536" y="0"/>
                </a:moveTo>
                <a:lnTo>
                  <a:pt x="1188720" y="0"/>
                </a:lnTo>
                <a:lnTo>
                  <a:pt x="1188720" y="12191"/>
                </a:lnTo>
                <a:lnTo>
                  <a:pt x="1240536" y="12191"/>
                </a:lnTo>
                <a:lnTo>
                  <a:pt x="1240536" y="0"/>
                </a:lnTo>
                <a:close/>
              </a:path>
              <a:path w="3301365" h="875030">
                <a:moveTo>
                  <a:pt x="1328927" y="0"/>
                </a:moveTo>
                <a:lnTo>
                  <a:pt x="1278636" y="0"/>
                </a:lnTo>
                <a:lnTo>
                  <a:pt x="1278636" y="12191"/>
                </a:lnTo>
                <a:lnTo>
                  <a:pt x="1328927" y="12191"/>
                </a:lnTo>
                <a:lnTo>
                  <a:pt x="1328927" y="0"/>
                </a:lnTo>
                <a:close/>
              </a:path>
              <a:path w="3301365" h="875030">
                <a:moveTo>
                  <a:pt x="1417320" y="0"/>
                </a:moveTo>
                <a:lnTo>
                  <a:pt x="1367027" y="0"/>
                </a:lnTo>
                <a:lnTo>
                  <a:pt x="1367027" y="12191"/>
                </a:lnTo>
                <a:lnTo>
                  <a:pt x="1417320" y="12191"/>
                </a:lnTo>
                <a:lnTo>
                  <a:pt x="1417320" y="0"/>
                </a:lnTo>
                <a:close/>
              </a:path>
              <a:path w="3301365" h="875030">
                <a:moveTo>
                  <a:pt x="1507236" y="0"/>
                </a:moveTo>
                <a:lnTo>
                  <a:pt x="1455420" y="0"/>
                </a:lnTo>
                <a:lnTo>
                  <a:pt x="1455420" y="12191"/>
                </a:lnTo>
                <a:lnTo>
                  <a:pt x="1507236" y="12191"/>
                </a:lnTo>
                <a:lnTo>
                  <a:pt x="1507236" y="0"/>
                </a:lnTo>
                <a:close/>
              </a:path>
              <a:path w="3301365" h="875030">
                <a:moveTo>
                  <a:pt x="1595627" y="0"/>
                </a:moveTo>
                <a:lnTo>
                  <a:pt x="1545336" y="0"/>
                </a:lnTo>
                <a:lnTo>
                  <a:pt x="1545336" y="12191"/>
                </a:lnTo>
                <a:lnTo>
                  <a:pt x="1595627" y="12191"/>
                </a:lnTo>
                <a:lnTo>
                  <a:pt x="1595627" y="0"/>
                </a:lnTo>
                <a:close/>
              </a:path>
              <a:path w="3301365" h="875030">
                <a:moveTo>
                  <a:pt x="1684020" y="0"/>
                </a:moveTo>
                <a:lnTo>
                  <a:pt x="1633727" y="0"/>
                </a:lnTo>
                <a:lnTo>
                  <a:pt x="1633727" y="12191"/>
                </a:lnTo>
                <a:lnTo>
                  <a:pt x="1684020" y="12191"/>
                </a:lnTo>
                <a:lnTo>
                  <a:pt x="1684020" y="0"/>
                </a:lnTo>
                <a:close/>
              </a:path>
              <a:path w="3301365" h="875030">
                <a:moveTo>
                  <a:pt x="1773936" y="0"/>
                </a:moveTo>
                <a:lnTo>
                  <a:pt x="1722120" y="0"/>
                </a:lnTo>
                <a:lnTo>
                  <a:pt x="1722120" y="12191"/>
                </a:lnTo>
                <a:lnTo>
                  <a:pt x="1773936" y="12191"/>
                </a:lnTo>
                <a:lnTo>
                  <a:pt x="1773936" y="0"/>
                </a:lnTo>
                <a:close/>
              </a:path>
              <a:path w="3301365" h="875030">
                <a:moveTo>
                  <a:pt x="1862327" y="0"/>
                </a:moveTo>
                <a:lnTo>
                  <a:pt x="1812036" y="0"/>
                </a:lnTo>
                <a:lnTo>
                  <a:pt x="1812036" y="12191"/>
                </a:lnTo>
                <a:lnTo>
                  <a:pt x="1862327" y="12191"/>
                </a:lnTo>
                <a:lnTo>
                  <a:pt x="1862327" y="0"/>
                </a:lnTo>
                <a:close/>
              </a:path>
              <a:path w="3301365" h="875030">
                <a:moveTo>
                  <a:pt x="1950720" y="0"/>
                </a:moveTo>
                <a:lnTo>
                  <a:pt x="1900427" y="0"/>
                </a:lnTo>
                <a:lnTo>
                  <a:pt x="1900427" y="12191"/>
                </a:lnTo>
                <a:lnTo>
                  <a:pt x="1950720" y="12191"/>
                </a:lnTo>
                <a:lnTo>
                  <a:pt x="1950720" y="0"/>
                </a:lnTo>
                <a:close/>
              </a:path>
              <a:path w="3301365" h="875030">
                <a:moveTo>
                  <a:pt x="2040636" y="0"/>
                </a:moveTo>
                <a:lnTo>
                  <a:pt x="1988820" y="0"/>
                </a:lnTo>
                <a:lnTo>
                  <a:pt x="1988820" y="12191"/>
                </a:lnTo>
                <a:lnTo>
                  <a:pt x="2040636" y="12191"/>
                </a:lnTo>
                <a:lnTo>
                  <a:pt x="2040636" y="0"/>
                </a:lnTo>
                <a:close/>
              </a:path>
              <a:path w="3301365" h="875030">
                <a:moveTo>
                  <a:pt x="2129028" y="0"/>
                </a:moveTo>
                <a:lnTo>
                  <a:pt x="2078736" y="0"/>
                </a:lnTo>
                <a:lnTo>
                  <a:pt x="2078736" y="12191"/>
                </a:lnTo>
                <a:lnTo>
                  <a:pt x="2129028" y="12191"/>
                </a:lnTo>
                <a:lnTo>
                  <a:pt x="2129028" y="0"/>
                </a:lnTo>
                <a:close/>
              </a:path>
              <a:path w="3301365" h="875030">
                <a:moveTo>
                  <a:pt x="2217420" y="0"/>
                </a:moveTo>
                <a:lnTo>
                  <a:pt x="2167128" y="0"/>
                </a:lnTo>
                <a:lnTo>
                  <a:pt x="2167128" y="12191"/>
                </a:lnTo>
                <a:lnTo>
                  <a:pt x="2217420" y="12191"/>
                </a:lnTo>
                <a:lnTo>
                  <a:pt x="2217420" y="0"/>
                </a:lnTo>
                <a:close/>
              </a:path>
              <a:path w="3301365" h="875030">
                <a:moveTo>
                  <a:pt x="2307336" y="0"/>
                </a:moveTo>
                <a:lnTo>
                  <a:pt x="2255520" y="0"/>
                </a:lnTo>
                <a:lnTo>
                  <a:pt x="2255520" y="12191"/>
                </a:lnTo>
                <a:lnTo>
                  <a:pt x="2307336" y="12191"/>
                </a:lnTo>
                <a:lnTo>
                  <a:pt x="2307336" y="0"/>
                </a:lnTo>
                <a:close/>
              </a:path>
              <a:path w="3301365" h="875030">
                <a:moveTo>
                  <a:pt x="2395728" y="0"/>
                </a:moveTo>
                <a:lnTo>
                  <a:pt x="2345436" y="0"/>
                </a:lnTo>
                <a:lnTo>
                  <a:pt x="2345436" y="12191"/>
                </a:lnTo>
                <a:lnTo>
                  <a:pt x="2395728" y="12191"/>
                </a:lnTo>
                <a:lnTo>
                  <a:pt x="2395728" y="0"/>
                </a:lnTo>
                <a:close/>
              </a:path>
              <a:path w="3301365" h="875030">
                <a:moveTo>
                  <a:pt x="2484120" y="0"/>
                </a:moveTo>
                <a:lnTo>
                  <a:pt x="2433828" y="0"/>
                </a:lnTo>
                <a:lnTo>
                  <a:pt x="2433828" y="12191"/>
                </a:lnTo>
                <a:lnTo>
                  <a:pt x="2484120" y="12191"/>
                </a:lnTo>
                <a:lnTo>
                  <a:pt x="2484120" y="0"/>
                </a:lnTo>
                <a:close/>
              </a:path>
              <a:path w="3301365" h="875030">
                <a:moveTo>
                  <a:pt x="2574036" y="0"/>
                </a:moveTo>
                <a:lnTo>
                  <a:pt x="2522220" y="0"/>
                </a:lnTo>
                <a:lnTo>
                  <a:pt x="2522220" y="12191"/>
                </a:lnTo>
                <a:lnTo>
                  <a:pt x="2574036" y="12191"/>
                </a:lnTo>
                <a:lnTo>
                  <a:pt x="2574036" y="0"/>
                </a:lnTo>
                <a:close/>
              </a:path>
              <a:path w="3301365" h="875030">
                <a:moveTo>
                  <a:pt x="2662428" y="0"/>
                </a:moveTo>
                <a:lnTo>
                  <a:pt x="2612136" y="0"/>
                </a:lnTo>
                <a:lnTo>
                  <a:pt x="2612136" y="12191"/>
                </a:lnTo>
                <a:lnTo>
                  <a:pt x="2662428" y="12191"/>
                </a:lnTo>
                <a:lnTo>
                  <a:pt x="2662428" y="0"/>
                </a:lnTo>
                <a:close/>
              </a:path>
              <a:path w="3301365" h="875030">
                <a:moveTo>
                  <a:pt x="2750820" y="0"/>
                </a:moveTo>
                <a:lnTo>
                  <a:pt x="2700528" y="0"/>
                </a:lnTo>
                <a:lnTo>
                  <a:pt x="2700528" y="12191"/>
                </a:lnTo>
                <a:lnTo>
                  <a:pt x="2750820" y="12191"/>
                </a:lnTo>
                <a:lnTo>
                  <a:pt x="2750820" y="0"/>
                </a:lnTo>
                <a:close/>
              </a:path>
              <a:path w="3301365" h="875030">
                <a:moveTo>
                  <a:pt x="2840736" y="0"/>
                </a:moveTo>
                <a:lnTo>
                  <a:pt x="2788920" y="0"/>
                </a:lnTo>
                <a:lnTo>
                  <a:pt x="2788920" y="12191"/>
                </a:lnTo>
                <a:lnTo>
                  <a:pt x="2840736" y="12191"/>
                </a:lnTo>
                <a:lnTo>
                  <a:pt x="2840736" y="0"/>
                </a:lnTo>
                <a:close/>
              </a:path>
              <a:path w="3301365" h="875030">
                <a:moveTo>
                  <a:pt x="2929128" y="0"/>
                </a:moveTo>
                <a:lnTo>
                  <a:pt x="2878836" y="0"/>
                </a:lnTo>
                <a:lnTo>
                  <a:pt x="2878836" y="12191"/>
                </a:lnTo>
                <a:lnTo>
                  <a:pt x="2929128" y="12191"/>
                </a:lnTo>
                <a:lnTo>
                  <a:pt x="2929128" y="0"/>
                </a:lnTo>
                <a:close/>
              </a:path>
              <a:path w="3301365" h="875030">
                <a:moveTo>
                  <a:pt x="3017520" y="0"/>
                </a:moveTo>
                <a:lnTo>
                  <a:pt x="2967228" y="0"/>
                </a:lnTo>
                <a:lnTo>
                  <a:pt x="2967228" y="12191"/>
                </a:lnTo>
                <a:lnTo>
                  <a:pt x="3017520" y="12191"/>
                </a:lnTo>
                <a:lnTo>
                  <a:pt x="3017520" y="0"/>
                </a:lnTo>
                <a:close/>
              </a:path>
              <a:path w="3301365" h="875030">
                <a:moveTo>
                  <a:pt x="3107436" y="0"/>
                </a:moveTo>
                <a:lnTo>
                  <a:pt x="3055620" y="0"/>
                </a:lnTo>
                <a:lnTo>
                  <a:pt x="3055620" y="12191"/>
                </a:lnTo>
                <a:lnTo>
                  <a:pt x="3107436" y="12191"/>
                </a:lnTo>
                <a:lnTo>
                  <a:pt x="3107436" y="0"/>
                </a:lnTo>
                <a:close/>
              </a:path>
              <a:path w="3301365" h="875030">
                <a:moveTo>
                  <a:pt x="3195828" y="0"/>
                </a:moveTo>
                <a:lnTo>
                  <a:pt x="3145536" y="0"/>
                </a:lnTo>
                <a:lnTo>
                  <a:pt x="3145536" y="12191"/>
                </a:lnTo>
                <a:lnTo>
                  <a:pt x="3195828" y="12191"/>
                </a:lnTo>
                <a:lnTo>
                  <a:pt x="3195828" y="0"/>
                </a:lnTo>
                <a:close/>
              </a:path>
              <a:path w="3301365" h="875030">
                <a:moveTo>
                  <a:pt x="3284219" y="0"/>
                </a:moveTo>
                <a:lnTo>
                  <a:pt x="3233928" y="0"/>
                </a:lnTo>
                <a:lnTo>
                  <a:pt x="3233928" y="12191"/>
                </a:lnTo>
                <a:lnTo>
                  <a:pt x="3284219" y="12191"/>
                </a:lnTo>
                <a:lnTo>
                  <a:pt x="3284219" y="0"/>
                </a:lnTo>
                <a:close/>
              </a:path>
              <a:path w="3301365" h="875030">
                <a:moveTo>
                  <a:pt x="3300984" y="35051"/>
                </a:moveTo>
                <a:lnTo>
                  <a:pt x="3287267" y="35051"/>
                </a:lnTo>
                <a:lnTo>
                  <a:pt x="3287267" y="85344"/>
                </a:lnTo>
                <a:lnTo>
                  <a:pt x="3300984" y="85344"/>
                </a:lnTo>
                <a:lnTo>
                  <a:pt x="3300984" y="35051"/>
                </a:lnTo>
                <a:close/>
              </a:path>
              <a:path w="3301365" h="875030">
                <a:moveTo>
                  <a:pt x="3300984" y="123444"/>
                </a:moveTo>
                <a:lnTo>
                  <a:pt x="3287267" y="123444"/>
                </a:lnTo>
                <a:lnTo>
                  <a:pt x="3287267" y="173735"/>
                </a:lnTo>
                <a:lnTo>
                  <a:pt x="3300984" y="173735"/>
                </a:lnTo>
                <a:lnTo>
                  <a:pt x="3300984" y="123444"/>
                </a:lnTo>
                <a:close/>
              </a:path>
              <a:path w="3301365" h="875030">
                <a:moveTo>
                  <a:pt x="3300984" y="211835"/>
                </a:moveTo>
                <a:lnTo>
                  <a:pt x="3287267" y="211835"/>
                </a:lnTo>
                <a:lnTo>
                  <a:pt x="3287267" y="263651"/>
                </a:lnTo>
                <a:lnTo>
                  <a:pt x="3300984" y="263651"/>
                </a:lnTo>
                <a:lnTo>
                  <a:pt x="3300984" y="211835"/>
                </a:lnTo>
                <a:close/>
              </a:path>
              <a:path w="3301365" h="875030">
                <a:moveTo>
                  <a:pt x="3300984" y="301751"/>
                </a:moveTo>
                <a:lnTo>
                  <a:pt x="3287267" y="301751"/>
                </a:lnTo>
                <a:lnTo>
                  <a:pt x="3287267" y="352044"/>
                </a:lnTo>
                <a:lnTo>
                  <a:pt x="3300984" y="352044"/>
                </a:lnTo>
                <a:lnTo>
                  <a:pt x="3300984" y="301751"/>
                </a:lnTo>
                <a:close/>
              </a:path>
              <a:path w="3301365" h="875030">
                <a:moveTo>
                  <a:pt x="3300984" y="390144"/>
                </a:moveTo>
                <a:lnTo>
                  <a:pt x="3287267" y="390144"/>
                </a:lnTo>
                <a:lnTo>
                  <a:pt x="3287267" y="440435"/>
                </a:lnTo>
                <a:lnTo>
                  <a:pt x="3300984" y="440435"/>
                </a:lnTo>
                <a:lnTo>
                  <a:pt x="3300984" y="390144"/>
                </a:lnTo>
                <a:close/>
              </a:path>
              <a:path w="3301365" h="875030">
                <a:moveTo>
                  <a:pt x="3300984" y="478535"/>
                </a:moveTo>
                <a:lnTo>
                  <a:pt x="3287267" y="478535"/>
                </a:lnTo>
                <a:lnTo>
                  <a:pt x="3287267" y="530351"/>
                </a:lnTo>
                <a:lnTo>
                  <a:pt x="3300984" y="530351"/>
                </a:lnTo>
                <a:lnTo>
                  <a:pt x="3300984" y="478535"/>
                </a:lnTo>
                <a:close/>
              </a:path>
              <a:path w="3301365" h="875030">
                <a:moveTo>
                  <a:pt x="3300984" y="568451"/>
                </a:moveTo>
                <a:lnTo>
                  <a:pt x="3287267" y="568451"/>
                </a:lnTo>
                <a:lnTo>
                  <a:pt x="3287267" y="618744"/>
                </a:lnTo>
                <a:lnTo>
                  <a:pt x="3300984" y="618744"/>
                </a:lnTo>
                <a:lnTo>
                  <a:pt x="3300984" y="568451"/>
                </a:lnTo>
                <a:close/>
              </a:path>
              <a:path w="3301365" h="875030">
                <a:moveTo>
                  <a:pt x="3300984" y="656844"/>
                </a:moveTo>
                <a:lnTo>
                  <a:pt x="3287267" y="656844"/>
                </a:lnTo>
                <a:lnTo>
                  <a:pt x="3287267" y="707135"/>
                </a:lnTo>
                <a:lnTo>
                  <a:pt x="3300984" y="707135"/>
                </a:lnTo>
                <a:lnTo>
                  <a:pt x="3300984" y="656844"/>
                </a:lnTo>
                <a:close/>
              </a:path>
              <a:path w="3301365" h="875030">
                <a:moveTo>
                  <a:pt x="3300984" y="745235"/>
                </a:moveTo>
                <a:lnTo>
                  <a:pt x="3287267" y="745235"/>
                </a:lnTo>
                <a:lnTo>
                  <a:pt x="3287267" y="797051"/>
                </a:lnTo>
                <a:lnTo>
                  <a:pt x="3300984" y="797051"/>
                </a:lnTo>
                <a:lnTo>
                  <a:pt x="3300984" y="745235"/>
                </a:lnTo>
                <a:close/>
              </a:path>
              <a:path w="3301365" h="875030">
                <a:moveTo>
                  <a:pt x="3287267" y="862583"/>
                </a:moveTo>
                <a:lnTo>
                  <a:pt x="3276600" y="862583"/>
                </a:lnTo>
                <a:lnTo>
                  <a:pt x="3276600" y="874776"/>
                </a:lnTo>
                <a:lnTo>
                  <a:pt x="3297936" y="874776"/>
                </a:lnTo>
                <a:lnTo>
                  <a:pt x="3300984" y="871727"/>
                </a:lnTo>
                <a:lnTo>
                  <a:pt x="3300984" y="868679"/>
                </a:lnTo>
                <a:lnTo>
                  <a:pt x="3287267" y="868679"/>
                </a:lnTo>
                <a:lnTo>
                  <a:pt x="3287267" y="862583"/>
                </a:lnTo>
                <a:close/>
              </a:path>
              <a:path w="3301365" h="875030">
                <a:moveTo>
                  <a:pt x="3300984" y="835151"/>
                </a:moveTo>
                <a:lnTo>
                  <a:pt x="3287267" y="835151"/>
                </a:lnTo>
                <a:lnTo>
                  <a:pt x="3287267" y="868679"/>
                </a:lnTo>
                <a:lnTo>
                  <a:pt x="3293364" y="862583"/>
                </a:lnTo>
                <a:lnTo>
                  <a:pt x="3300984" y="862583"/>
                </a:lnTo>
                <a:lnTo>
                  <a:pt x="3300984" y="835151"/>
                </a:lnTo>
                <a:close/>
              </a:path>
              <a:path w="3301365" h="875030">
                <a:moveTo>
                  <a:pt x="3300984" y="862583"/>
                </a:moveTo>
                <a:lnTo>
                  <a:pt x="3293364" y="862583"/>
                </a:lnTo>
                <a:lnTo>
                  <a:pt x="3287267" y="868679"/>
                </a:lnTo>
                <a:lnTo>
                  <a:pt x="3300984" y="868679"/>
                </a:lnTo>
                <a:lnTo>
                  <a:pt x="3300984" y="862583"/>
                </a:lnTo>
                <a:close/>
              </a:path>
              <a:path w="3301365" h="875030">
                <a:moveTo>
                  <a:pt x="3238500" y="862583"/>
                </a:moveTo>
                <a:lnTo>
                  <a:pt x="3188208" y="862583"/>
                </a:lnTo>
                <a:lnTo>
                  <a:pt x="3188208" y="874776"/>
                </a:lnTo>
                <a:lnTo>
                  <a:pt x="3238500" y="874776"/>
                </a:lnTo>
                <a:lnTo>
                  <a:pt x="3238500" y="862583"/>
                </a:lnTo>
                <a:close/>
              </a:path>
              <a:path w="3301365" h="875030">
                <a:moveTo>
                  <a:pt x="3150108" y="862583"/>
                </a:moveTo>
                <a:lnTo>
                  <a:pt x="3098292" y="862583"/>
                </a:lnTo>
                <a:lnTo>
                  <a:pt x="3098292" y="874776"/>
                </a:lnTo>
                <a:lnTo>
                  <a:pt x="3150108" y="874776"/>
                </a:lnTo>
                <a:lnTo>
                  <a:pt x="3150108" y="862583"/>
                </a:lnTo>
                <a:close/>
              </a:path>
              <a:path w="3301365" h="875030">
                <a:moveTo>
                  <a:pt x="3060192" y="862583"/>
                </a:moveTo>
                <a:lnTo>
                  <a:pt x="3009900" y="862583"/>
                </a:lnTo>
                <a:lnTo>
                  <a:pt x="3009900" y="874776"/>
                </a:lnTo>
                <a:lnTo>
                  <a:pt x="3060192" y="874776"/>
                </a:lnTo>
                <a:lnTo>
                  <a:pt x="3060192" y="862583"/>
                </a:lnTo>
                <a:close/>
              </a:path>
              <a:path w="3301365" h="875030">
                <a:moveTo>
                  <a:pt x="2971800" y="862583"/>
                </a:moveTo>
                <a:lnTo>
                  <a:pt x="2921508" y="862583"/>
                </a:lnTo>
                <a:lnTo>
                  <a:pt x="2921508" y="874776"/>
                </a:lnTo>
                <a:lnTo>
                  <a:pt x="2971800" y="874776"/>
                </a:lnTo>
                <a:lnTo>
                  <a:pt x="2971800" y="862583"/>
                </a:lnTo>
                <a:close/>
              </a:path>
              <a:path w="3301365" h="875030">
                <a:moveTo>
                  <a:pt x="2883408" y="862583"/>
                </a:moveTo>
                <a:lnTo>
                  <a:pt x="2831592" y="862583"/>
                </a:lnTo>
                <a:lnTo>
                  <a:pt x="2831592" y="874776"/>
                </a:lnTo>
                <a:lnTo>
                  <a:pt x="2883408" y="874776"/>
                </a:lnTo>
                <a:lnTo>
                  <a:pt x="2883408" y="862583"/>
                </a:lnTo>
                <a:close/>
              </a:path>
              <a:path w="3301365" h="875030">
                <a:moveTo>
                  <a:pt x="2793492" y="862583"/>
                </a:moveTo>
                <a:lnTo>
                  <a:pt x="2743200" y="862583"/>
                </a:lnTo>
                <a:lnTo>
                  <a:pt x="2743200" y="874776"/>
                </a:lnTo>
                <a:lnTo>
                  <a:pt x="2793492" y="874776"/>
                </a:lnTo>
                <a:lnTo>
                  <a:pt x="2793492" y="862583"/>
                </a:lnTo>
                <a:close/>
              </a:path>
              <a:path w="3301365" h="875030">
                <a:moveTo>
                  <a:pt x="2705100" y="862583"/>
                </a:moveTo>
                <a:lnTo>
                  <a:pt x="2654808" y="862583"/>
                </a:lnTo>
                <a:lnTo>
                  <a:pt x="2654808" y="874776"/>
                </a:lnTo>
                <a:lnTo>
                  <a:pt x="2705100" y="874776"/>
                </a:lnTo>
                <a:lnTo>
                  <a:pt x="2705100" y="862583"/>
                </a:lnTo>
                <a:close/>
              </a:path>
              <a:path w="3301365" h="875030">
                <a:moveTo>
                  <a:pt x="2616708" y="862583"/>
                </a:moveTo>
                <a:lnTo>
                  <a:pt x="2564892" y="862583"/>
                </a:lnTo>
                <a:lnTo>
                  <a:pt x="2564892" y="874776"/>
                </a:lnTo>
                <a:lnTo>
                  <a:pt x="2616708" y="874776"/>
                </a:lnTo>
                <a:lnTo>
                  <a:pt x="2616708" y="862583"/>
                </a:lnTo>
                <a:close/>
              </a:path>
              <a:path w="3301365" h="875030">
                <a:moveTo>
                  <a:pt x="2526792" y="862583"/>
                </a:moveTo>
                <a:lnTo>
                  <a:pt x="2476500" y="862583"/>
                </a:lnTo>
                <a:lnTo>
                  <a:pt x="2476500" y="874776"/>
                </a:lnTo>
                <a:lnTo>
                  <a:pt x="2526792" y="874776"/>
                </a:lnTo>
                <a:lnTo>
                  <a:pt x="2526792" y="862583"/>
                </a:lnTo>
                <a:close/>
              </a:path>
              <a:path w="3301365" h="875030">
                <a:moveTo>
                  <a:pt x="2438400" y="862583"/>
                </a:moveTo>
                <a:lnTo>
                  <a:pt x="2388108" y="862583"/>
                </a:lnTo>
                <a:lnTo>
                  <a:pt x="2388108" y="874776"/>
                </a:lnTo>
                <a:lnTo>
                  <a:pt x="2438400" y="874776"/>
                </a:lnTo>
                <a:lnTo>
                  <a:pt x="2438400" y="862583"/>
                </a:lnTo>
                <a:close/>
              </a:path>
              <a:path w="3301365" h="875030">
                <a:moveTo>
                  <a:pt x="2350008" y="862583"/>
                </a:moveTo>
                <a:lnTo>
                  <a:pt x="2298192" y="862583"/>
                </a:lnTo>
                <a:lnTo>
                  <a:pt x="2298192" y="874776"/>
                </a:lnTo>
                <a:lnTo>
                  <a:pt x="2350008" y="874776"/>
                </a:lnTo>
                <a:lnTo>
                  <a:pt x="2350008" y="862583"/>
                </a:lnTo>
                <a:close/>
              </a:path>
              <a:path w="3301365" h="875030">
                <a:moveTo>
                  <a:pt x="2260092" y="862583"/>
                </a:moveTo>
                <a:lnTo>
                  <a:pt x="2209800" y="862583"/>
                </a:lnTo>
                <a:lnTo>
                  <a:pt x="2209800" y="874776"/>
                </a:lnTo>
                <a:lnTo>
                  <a:pt x="2260092" y="874776"/>
                </a:lnTo>
                <a:lnTo>
                  <a:pt x="2260092" y="862583"/>
                </a:lnTo>
                <a:close/>
              </a:path>
              <a:path w="3301365" h="875030">
                <a:moveTo>
                  <a:pt x="2171700" y="862583"/>
                </a:moveTo>
                <a:lnTo>
                  <a:pt x="2121408" y="862583"/>
                </a:lnTo>
                <a:lnTo>
                  <a:pt x="2121408" y="874776"/>
                </a:lnTo>
                <a:lnTo>
                  <a:pt x="2171700" y="874776"/>
                </a:lnTo>
                <a:lnTo>
                  <a:pt x="2171700" y="862583"/>
                </a:lnTo>
                <a:close/>
              </a:path>
              <a:path w="3301365" h="875030">
                <a:moveTo>
                  <a:pt x="2083308" y="862583"/>
                </a:moveTo>
                <a:lnTo>
                  <a:pt x="2031492" y="862583"/>
                </a:lnTo>
                <a:lnTo>
                  <a:pt x="2031492" y="874776"/>
                </a:lnTo>
                <a:lnTo>
                  <a:pt x="2083308" y="874776"/>
                </a:lnTo>
                <a:lnTo>
                  <a:pt x="2083308" y="862583"/>
                </a:lnTo>
                <a:close/>
              </a:path>
              <a:path w="3301365" h="875030">
                <a:moveTo>
                  <a:pt x="1993392" y="862583"/>
                </a:moveTo>
                <a:lnTo>
                  <a:pt x="1943100" y="862583"/>
                </a:lnTo>
                <a:lnTo>
                  <a:pt x="1943100" y="874776"/>
                </a:lnTo>
                <a:lnTo>
                  <a:pt x="1993392" y="874776"/>
                </a:lnTo>
                <a:lnTo>
                  <a:pt x="1993392" y="862583"/>
                </a:lnTo>
                <a:close/>
              </a:path>
              <a:path w="3301365" h="875030">
                <a:moveTo>
                  <a:pt x="1905000" y="862583"/>
                </a:moveTo>
                <a:lnTo>
                  <a:pt x="1854708" y="862583"/>
                </a:lnTo>
                <a:lnTo>
                  <a:pt x="1854708" y="874776"/>
                </a:lnTo>
                <a:lnTo>
                  <a:pt x="1905000" y="874776"/>
                </a:lnTo>
                <a:lnTo>
                  <a:pt x="1905000" y="862583"/>
                </a:lnTo>
                <a:close/>
              </a:path>
              <a:path w="3301365" h="875030">
                <a:moveTo>
                  <a:pt x="1816608" y="862583"/>
                </a:moveTo>
                <a:lnTo>
                  <a:pt x="1764792" y="862583"/>
                </a:lnTo>
                <a:lnTo>
                  <a:pt x="1764792" y="874776"/>
                </a:lnTo>
                <a:lnTo>
                  <a:pt x="1816608" y="874776"/>
                </a:lnTo>
                <a:lnTo>
                  <a:pt x="1816608" y="862583"/>
                </a:lnTo>
                <a:close/>
              </a:path>
              <a:path w="3301365" h="875030">
                <a:moveTo>
                  <a:pt x="1726692" y="862583"/>
                </a:moveTo>
                <a:lnTo>
                  <a:pt x="1676400" y="862583"/>
                </a:lnTo>
                <a:lnTo>
                  <a:pt x="1676400" y="874776"/>
                </a:lnTo>
                <a:lnTo>
                  <a:pt x="1726692" y="874776"/>
                </a:lnTo>
                <a:lnTo>
                  <a:pt x="1726692" y="862583"/>
                </a:lnTo>
                <a:close/>
              </a:path>
              <a:path w="3301365" h="875030">
                <a:moveTo>
                  <a:pt x="1638300" y="862583"/>
                </a:moveTo>
                <a:lnTo>
                  <a:pt x="1588008" y="862583"/>
                </a:lnTo>
                <a:lnTo>
                  <a:pt x="1588008" y="874776"/>
                </a:lnTo>
                <a:lnTo>
                  <a:pt x="1638300" y="874776"/>
                </a:lnTo>
                <a:lnTo>
                  <a:pt x="1638300" y="862583"/>
                </a:lnTo>
                <a:close/>
              </a:path>
              <a:path w="3301365" h="875030">
                <a:moveTo>
                  <a:pt x="1549908" y="862583"/>
                </a:moveTo>
                <a:lnTo>
                  <a:pt x="1498092" y="862583"/>
                </a:lnTo>
                <a:lnTo>
                  <a:pt x="1498092" y="874776"/>
                </a:lnTo>
                <a:lnTo>
                  <a:pt x="1549908" y="874776"/>
                </a:lnTo>
                <a:lnTo>
                  <a:pt x="1549908" y="862583"/>
                </a:lnTo>
                <a:close/>
              </a:path>
              <a:path w="3301365" h="875030">
                <a:moveTo>
                  <a:pt x="1459992" y="862583"/>
                </a:moveTo>
                <a:lnTo>
                  <a:pt x="1409700" y="862583"/>
                </a:lnTo>
                <a:lnTo>
                  <a:pt x="1409700" y="874776"/>
                </a:lnTo>
                <a:lnTo>
                  <a:pt x="1459992" y="874776"/>
                </a:lnTo>
                <a:lnTo>
                  <a:pt x="1459992" y="862583"/>
                </a:lnTo>
                <a:close/>
              </a:path>
              <a:path w="3301365" h="875030">
                <a:moveTo>
                  <a:pt x="1371600" y="862583"/>
                </a:moveTo>
                <a:lnTo>
                  <a:pt x="1321308" y="862583"/>
                </a:lnTo>
                <a:lnTo>
                  <a:pt x="1321308" y="874776"/>
                </a:lnTo>
                <a:lnTo>
                  <a:pt x="1371600" y="874776"/>
                </a:lnTo>
                <a:lnTo>
                  <a:pt x="1371600" y="862583"/>
                </a:lnTo>
                <a:close/>
              </a:path>
              <a:path w="3301365" h="875030">
                <a:moveTo>
                  <a:pt x="1283208" y="862583"/>
                </a:moveTo>
                <a:lnTo>
                  <a:pt x="1231392" y="862583"/>
                </a:lnTo>
                <a:lnTo>
                  <a:pt x="1231392" y="874776"/>
                </a:lnTo>
                <a:lnTo>
                  <a:pt x="1283208" y="874776"/>
                </a:lnTo>
                <a:lnTo>
                  <a:pt x="1283208" y="862583"/>
                </a:lnTo>
                <a:close/>
              </a:path>
              <a:path w="3301365" h="875030">
                <a:moveTo>
                  <a:pt x="1193292" y="862583"/>
                </a:moveTo>
                <a:lnTo>
                  <a:pt x="1143000" y="862583"/>
                </a:lnTo>
                <a:lnTo>
                  <a:pt x="1143000" y="874776"/>
                </a:lnTo>
                <a:lnTo>
                  <a:pt x="1193292" y="874776"/>
                </a:lnTo>
                <a:lnTo>
                  <a:pt x="1193292" y="862583"/>
                </a:lnTo>
                <a:close/>
              </a:path>
              <a:path w="3301365" h="875030">
                <a:moveTo>
                  <a:pt x="1104900" y="862583"/>
                </a:moveTo>
                <a:lnTo>
                  <a:pt x="1054608" y="862583"/>
                </a:lnTo>
                <a:lnTo>
                  <a:pt x="1054608" y="874776"/>
                </a:lnTo>
                <a:lnTo>
                  <a:pt x="1104900" y="874776"/>
                </a:lnTo>
                <a:lnTo>
                  <a:pt x="1104900" y="862583"/>
                </a:lnTo>
                <a:close/>
              </a:path>
              <a:path w="3301365" h="875030">
                <a:moveTo>
                  <a:pt x="1016508" y="862583"/>
                </a:moveTo>
                <a:lnTo>
                  <a:pt x="964692" y="862583"/>
                </a:lnTo>
                <a:lnTo>
                  <a:pt x="964692" y="874776"/>
                </a:lnTo>
                <a:lnTo>
                  <a:pt x="1016508" y="874776"/>
                </a:lnTo>
                <a:lnTo>
                  <a:pt x="1016508" y="862583"/>
                </a:lnTo>
                <a:close/>
              </a:path>
              <a:path w="3301365" h="875030">
                <a:moveTo>
                  <a:pt x="926592" y="862583"/>
                </a:moveTo>
                <a:lnTo>
                  <a:pt x="876300" y="862583"/>
                </a:lnTo>
                <a:lnTo>
                  <a:pt x="876300" y="874776"/>
                </a:lnTo>
                <a:lnTo>
                  <a:pt x="926592" y="874776"/>
                </a:lnTo>
                <a:lnTo>
                  <a:pt x="926592" y="862583"/>
                </a:lnTo>
                <a:close/>
              </a:path>
              <a:path w="3301365" h="875030">
                <a:moveTo>
                  <a:pt x="838200" y="862583"/>
                </a:moveTo>
                <a:lnTo>
                  <a:pt x="787908" y="862583"/>
                </a:lnTo>
                <a:lnTo>
                  <a:pt x="787908" y="874776"/>
                </a:lnTo>
                <a:lnTo>
                  <a:pt x="838200" y="874776"/>
                </a:lnTo>
                <a:lnTo>
                  <a:pt x="838200" y="862583"/>
                </a:lnTo>
                <a:close/>
              </a:path>
              <a:path w="3301365" h="875030">
                <a:moveTo>
                  <a:pt x="749808" y="862583"/>
                </a:moveTo>
                <a:lnTo>
                  <a:pt x="697992" y="862583"/>
                </a:lnTo>
                <a:lnTo>
                  <a:pt x="697992" y="874776"/>
                </a:lnTo>
                <a:lnTo>
                  <a:pt x="749808" y="874776"/>
                </a:lnTo>
                <a:lnTo>
                  <a:pt x="749808" y="862583"/>
                </a:lnTo>
                <a:close/>
              </a:path>
              <a:path w="3301365" h="875030">
                <a:moveTo>
                  <a:pt x="659892" y="862583"/>
                </a:moveTo>
                <a:lnTo>
                  <a:pt x="609600" y="862583"/>
                </a:lnTo>
                <a:lnTo>
                  <a:pt x="609600" y="874776"/>
                </a:lnTo>
                <a:lnTo>
                  <a:pt x="659892" y="874776"/>
                </a:lnTo>
                <a:lnTo>
                  <a:pt x="659892" y="862583"/>
                </a:lnTo>
                <a:close/>
              </a:path>
              <a:path w="3301365" h="875030">
                <a:moveTo>
                  <a:pt x="571500" y="862583"/>
                </a:moveTo>
                <a:lnTo>
                  <a:pt x="521208" y="862583"/>
                </a:lnTo>
                <a:lnTo>
                  <a:pt x="521208" y="874776"/>
                </a:lnTo>
                <a:lnTo>
                  <a:pt x="571500" y="874776"/>
                </a:lnTo>
                <a:lnTo>
                  <a:pt x="571500" y="862583"/>
                </a:lnTo>
                <a:close/>
              </a:path>
              <a:path w="3301365" h="875030">
                <a:moveTo>
                  <a:pt x="483108" y="862583"/>
                </a:moveTo>
                <a:lnTo>
                  <a:pt x="431292" y="862583"/>
                </a:lnTo>
                <a:lnTo>
                  <a:pt x="431292" y="874776"/>
                </a:lnTo>
                <a:lnTo>
                  <a:pt x="483108" y="874776"/>
                </a:lnTo>
                <a:lnTo>
                  <a:pt x="483108" y="862583"/>
                </a:lnTo>
                <a:close/>
              </a:path>
              <a:path w="3301365" h="875030">
                <a:moveTo>
                  <a:pt x="393192" y="862583"/>
                </a:moveTo>
                <a:lnTo>
                  <a:pt x="342900" y="862583"/>
                </a:lnTo>
                <a:lnTo>
                  <a:pt x="342900" y="874776"/>
                </a:lnTo>
                <a:lnTo>
                  <a:pt x="393192" y="874776"/>
                </a:lnTo>
                <a:lnTo>
                  <a:pt x="393192" y="862583"/>
                </a:lnTo>
                <a:close/>
              </a:path>
              <a:path w="3301365" h="875030">
                <a:moveTo>
                  <a:pt x="304800" y="862583"/>
                </a:moveTo>
                <a:lnTo>
                  <a:pt x="254508" y="862583"/>
                </a:lnTo>
                <a:lnTo>
                  <a:pt x="254508" y="874776"/>
                </a:lnTo>
                <a:lnTo>
                  <a:pt x="304800" y="874776"/>
                </a:lnTo>
                <a:lnTo>
                  <a:pt x="304800" y="862583"/>
                </a:lnTo>
                <a:close/>
              </a:path>
              <a:path w="3301365" h="875030">
                <a:moveTo>
                  <a:pt x="216408" y="862583"/>
                </a:moveTo>
                <a:lnTo>
                  <a:pt x="164592" y="862583"/>
                </a:lnTo>
                <a:lnTo>
                  <a:pt x="164592" y="874776"/>
                </a:lnTo>
                <a:lnTo>
                  <a:pt x="216408" y="874776"/>
                </a:lnTo>
                <a:lnTo>
                  <a:pt x="216408" y="862583"/>
                </a:lnTo>
                <a:close/>
              </a:path>
              <a:path w="3301365" h="875030">
                <a:moveTo>
                  <a:pt x="126492" y="862583"/>
                </a:moveTo>
                <a:lnTo>
                  <a:pt x="76200" y="862583"/>
                </a:lnTo>
                <a:lnTo>
                  <a:pt x="76200" y="874776"/>
                </a:lnTo>
                <a:lnTo>
                  <a:pt x="126492" y="874776"/>
                </a:lnTo>
                <a:lnTo>
                  <a:pt x="126492" y="8625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47092" y="3123597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69" h="50800">
                <a:moveTo>
                  <a:pt x="13716" y="0"/>
                </a:moveTo>
                <a:lnTo>
                  <a:pt x="0" y="0"/>
                </a:lnTo>
                <a:lnTo>
                  <a:pt x="0" y="50291"/>
                </a:lnTo>
                <a:lnTo>
                  <a:pt x="13716" y="50291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47092" y="3033681"/>
            <a:ext cx="13970" cy="52069"/>
          </a:xfrm>
          <a:custGeom>
            <a:avLst/>
            <a:gdLst/>
            <a:ahLst/>
            <a:cxnLst/>
            <a:rect l="l" t="t" r="r" b="b"/>
            <a:pathLst>
              <a:path w="13969" h="52069">
                <a:moveTo>
                  <a:pt x="13716" y="0"/>
                </a:moveTo>
                <a:lnTo>
                  <a:pt x="0" y="0"/>
                </a:lnTo>
                <a:lnTo>
                  <a:pt x="0" y="51816"/>
                </a:lnTo>
                <a:lnTo>
                  <a:pt x="13716" y="51816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47092" y="2945289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69" h="50800">
                <a:moveTo>
                  <a:pt x="13716" y="0"/>
                </a:moveTo>
                <a:lnTo>
                  <a:pt x="0" y="0"/>
                </a:lnTo>
                <a:lnTo>
                  <a:pt x="0" y="50291"/>
                </a:lnTo>
                <a:lnTo>
                  <a:pt x="13716" y="50291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47092" y="2856897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69" h="50800">
                <a:moveTo>
                  <a:pt x="13716" y="0"/>
                </a:moveTo>
                <a:lnTo>
                  <a:pt x="0" y="0"/>
                </a:lnTo>
                <a:lnTo>
                  <a:pt x="0" y="50291"/>
                </a:lnTo>
                <a:lnTo>
                  <a:pt x="13716" y="50291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47092" y="2766981"/>
            <a:ext cx="13970" cy="52069"/>
          </a:xfrm>
          <a:custGeom>
            <a:avLst/>
            <a:gdLst/>
            <a:ahLst/>
            <a:cxnLst/>
            <a:rect l="l" t="t" r="r" b="b"/>
            <a:pathLst>
              <a:path w="13969" h="52069">
                <a:moveTo>
                  <a:pt x="13716" y="0"/>
                </a:moveTo>
                <a:lnTo>
                  <a:pt x="0" y="0"/>
                </a:lnTo>
                <a:lnTo>
                  <a:pt x="0" y="51816"/>
                </a:lnTo>
                <a:lnTo>
                  <a:pt x="13716" y="51816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47092" y="2678589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69" h="50800">
                <a:moveTo>
                  <a:pt x="13716" y="0"/>
                </a:moveTo>
                <a:lnTo>
                  <a:pt x="0" y="0"/>
                </a:lnTo>
                <a:lnTo>
                  <a:pt x="0" y="50291"/>
                </a:lnTo>
                <a:lnTo>
                  <a:pt x="13716" y="50291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47092" y="2590197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69" h="50800">
                <a:moveTo>
                  <a:pt x="13716" y="0"/>
                </a:moveTo>
                <a:lnTo>
                  <a:pt x="0" y="0"/>
                </a:lnTo>
                <a:lnTo>
                  <a:pt x="0" y="50292"/>
                </a:lnTo>
                <a:lnTo>
                  <a:pt x="13716" y="50292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47092" y="2500281"/>
            <a:ext cx="13970" cy="52069"/>
          </a:xfrm>
          <a:custGeom>
            <a:avLst/>
            <a:gdLst/>
            <a:ahLst/>
            <a:cxnLst/>
            <a:rect l="l" t="t" r="r" b="b"/>
            <a:pathLst>
              <a:path w="13969" h="52069">
                <a:moveTo>
                  <a:pt x="13716" y="0"/>
                </a:moveTo>
                <a:lnTo>
                  <a:pt x="0" y="0"/>
                </a:lnTo>
                <a:lnTo>
                  <a:pt x="0" y="51816"/>
                </a:lnTo>
                <a:lnTo>
                  <a:pt x="13716" y="51816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47092" y="2411889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69" h="50800">
                <a:moveTo>
                  <a:pt x="13716" y="0"/>
                </a:moveTo>
                <a:lnTo>
                  <a:pt x="0" y="0"/>
                </a:lnTo>
                <a:lnTo>
                  <a:pt x="0" y="50291"/>
                </a:lnTo>
                <a:lnTo>
                  <a:pt x="13716" y="50291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47092" y="2323497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69" h="50800">
                <a:moveTo>
                  <a:pt x="13716" y="0"/>
                </a:moveTo>
                <a:lnTo>
                  <a:pt x="0" y="0"/>
                </a:lnTo>
                <a:lnTo>
                  <a:pt x="0" y="50292"/>
                </a:lnTo>
                <a:lnTo>
                  <a:pt x="13716" y="50292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47092" y="2233581"/>
            <a:ext cx="13970" cy="52069"/>
          </a:xfrm>
          <a:custGeom>
            <a:avLst/>
            <a:gdLst/>
            <a:ahLst/>
            <a:cxnLst/>
            <a:rect l="l" t="t" r="r" b="b"/>
            <a:pathLst>
              <a:path w="13969" h="52069">
                <a:moveTo>
                  <a:pt x="13716" y="0"/>
                </a:moveTo>
                <a:lnTo>
                  <a:pt x="0" y="0"/>
                </a:lnTo>
                <a:lnTo>
                  <a:pt x="0" y="51816"/>
                </a:lnTo>
                <a:lnTo>
                  <a:pt x="13716" y="51816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47092" y="2145189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69" h="50800">
                <a:moveTo>
                  <a:pt x="13716" y="0"/>
                </a:moveTo>
                <a:lnTo>
                  <a:pt x="0" y="0"/>
                </a:lnTo>
                <a:lnTo>
                  <a:pt x="0" y="50291"/>
                </a:lnTo>
                <a:lnTo>
                  <a:pt x="13716" y="50291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47092" y="2056797"/>
            <a:ext cx="13970" cy="50800"/>
          </a:xfrm>
          <a:custGeom>
            <a:avLst/>
            <a:gdLst/>
            <a:ahLst/>
            <a:cxnLst/>
            <a:rect l="l" t="t" r="r" b="b"/>
            <a:pathLst>
              <a:path w="13969" h="50800">
                <a:moveTo>
                  <a:pt x="13716" y="0"/>
                </a:moveTo>
                <a:lnTo>
                  <a:pt x="0" y="0"/>
                </a:lnTo>
                <a:lnTo>
                  <a:pt x="0" y="50292"/>
                </a:lnTo>
                <a:lnTo>
                  <a:pt x="13716" y="50292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47092" y="1966881"/>
            <a:ext cx="13970" cy="52069"/>
          </a:xfrm>
          <a:custGeom>
            <a:avLst/>
            <a:gdLst/>
            <a:ahLst/>
            <a:cxnLst/>
            <a:rect l="l" t="t" r="r" b="b"/>
            <a:pathLst>
              <a:path w="13969" h="52069">
                <a:moveTo>
                  <a:pt x="13716" y="0"/>
                </a:moveTo>
                <a:lnTo>
                  <a:pt x="0" y="0"/>
                </a:lnTo>
                <a:lnTo>
                  <a:pt x="0" y="51816"/>
                </a:lnTo>
                <a:lnTo>
                  <a:pt x="13716" y="51816"/>
                </a:lnTo>
                <a:lnTo>
                  <a:pt x="137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623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507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69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40639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290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174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69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07339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957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2841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3740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4624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508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407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291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8175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9074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9958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842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1741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2625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3509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4408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5292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6176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7075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7959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8843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9742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0626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510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2409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3293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4177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5076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596032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684423" y="19318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774340" y="19318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853588" y="1940973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2"/>
                </a:lnTo>
                <a:lnTo>
                  <a:pt x="12191" y="50292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853588" y="202936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1"/>
                </a:lnTo>
                <a:lnTo>
                  <a:pt x="12191" y="50291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853588" y="2117757"/>
            <a:ext cx="12700" cy="52069"/>
          </a:xfrm>
          <a:custGeom>
            <a:avLst/>
            <a:gdLst/>
            <a:ahLst/>
            <a:cxnLst/>
            <a:rect l="l" t="t" r="r" b="b"/>
            <a:pathLst>
              <a:path w="12700" h="52069">
                <a:moveTo>
                  <a:pt x="12191" y="0"/>
                </a:moveTo>
                <a:lnTo>
                  <a:pt x="0" y="0"/>
                </a:lnTo>
                <a:lnTo>
                  <a:pt x="0" y="51816"/>
                </a:lnTo>
                <a:lnTo>
                  <a:pt x="12191" y="51816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853588" y="2207673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2"/>
                </a:lnTo>
                <a:lnTo>
                  <a:pt x="12191" y="50292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853588" y="229606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1"/>
                </a:lnTo>
                <a:lnTo>
                  <a:pt x="12191" y="50291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853588" y="2384457"/>
            <a:ext cx="12700" cy="52069"/>
          </a:xfrm>
          <a:custGeom>
            <a:avLst/>
            <a:gdLst/>
            <a:ahLst/>
            <a:cxnLst/>
            <a:rect l="l" t="t" r="r" b="b"/>
            <a:pathLst>
              <a:path w="12700" h="52069">
                <a:moveTo>
                  <a:pt x="12191" y="0"/>
                </a:moveTo>
                <a:lnTo>
                  <a:pt x="0" y="0"/>
                </a:lnTo>
                <a:lnTo>
                  <a:pt x="0" y="51816"/>
                </a:lnTo>
                <a:lnTo>
                  <a:pt x="12191" y="51816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853588" y="2474373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2"/>
                </a:lnTo>
                <a:lnTo>
                  <a:pt x="12191" y="50292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853588" y="256276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1"/>
                </a:lnTo>
                <a:lnTo>
                  <a:pt x="12191" y="50291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853588" y="2651157"/>
            <a:ext cx="12700" cy="52069"/>
          </a:xfrm>
          <a:custGeom>
            <a:avLst/>
            <a:gdLst/>
            <a:ahLst/>
            <a:cxnLst/>
            <a:rect l="l" t="t" r="r" b="b"/>
            <a:pathLst>
              <a:path w="12700" h="52069">
                <a:moveTo>
                  <a:pt x="12191" y="0"/>
                </a:moveTo>
                <a:lnTo>
                  <a:pt x="0" y="0"/>
                </a:lnTo>
                <a:lnTo>
                  <a:pt x="0" y="51816"/>
                </a:lnTo>
                <a:lnTo>
                  <a:pt x="12191" y="51816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853588" y="2741073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2"/>
                </a:lnTo>
                <a:lnTo>
                  <a:pt x="12191" y="50292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853588" y="282946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1"/>
                </a:lnTo>
                <a:lnTo>
                  <a:pt x="12191" y="50291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853588" y="2917857"/>
            <a:ext cx="12700" cy="52069"/>
          </a:xfrm>
          <a:custGeom>
            <a:avLst/>
            <a:gdLst/>
            <a:ahLst/>
            <a:cxnLst/>
            <a:rect l="l" t="t" r="r" b="b"/>
            <a:pathLst>
              <a:path w="12700" h="52069">
                <a:moveTo>
                  <a:pt x="12191" y="0"/>
                </a:moveTo>
                <a:lnTo>
                  <a:pt x="0" y="0"/>
                </a:lnTo>
                <a:lnTo>
                  <a:pt x="0" y="51815"/>
                </a:lnTo>
                <a:lnTo>
                  <a:pt x="12191" y="51815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853588" y="3007773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1"/>
                </a:lnTo>
                <a:lnTo>
                  <a:pt x="12191" y="50291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853588" y="309616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191" y="0"/>
                </a:moveTo>
                <a:lnTo>
                  <a:pt x="0" y="0"/>
                </a:lnTo>
                <a:lnTo>
                  <a:pt x="0" y="50292"/>
                </a:lnTo>
                <a:lnTo>
                  <a:pt x="12191" y="50292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7972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6" y="0"/>
                </a:moveTo>
                <a:lnTo>
                  <a:pt x="0" y="0"/>
                </a:lnTo>
                <a:lnTo>
                  <a:pt x="0" y="12192"/>
                </a:lnTo>
                <a:lnTo>
                  <a:pt x="51816" y="12192"/>
                </a:lnTo>
                <a:lnTo>
                  <a:pt x="51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7088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620415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5305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4421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353715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2638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1754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087015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9971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9087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820315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7304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6420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553615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4637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3753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286915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1970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1086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020215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9303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8419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753515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6636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5752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486815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3969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308508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220116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1302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69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041807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953416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863500" y="316779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69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775107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686716" y="316779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3067716" y="1419765"/>
            <a:ext cx="1199515" cy="142240"/>
          </a:xfrm>
          <a:custGeom>
            <a:avLst/>
            <a:gdLst/>
            <a:ahLst/>
            <a:cxnLst/>
            <a:rect l="l" t="t" r="r" b="b"/>
            <a:pathLst>
              <a:path w="1199514" h="142240">
                <a:moveTo>
                  <a:pt x="1153668" y="0"/>
                </a:moveTo>
                <a:lnTo>
                  <a:pt x="1152144" y="6095"/>
                </a:lnTo>
                <a:lnTo>
                  <a:pt x="1159835" y="10096"/>
                </a:lnTo>
                <a:lnTo>
                  <a:pt x="1166812" y="15239"/>
                </a:lnTo>
                <a:lnTo>
                  <a:pt x="1185124" y="58102"/>
                </a:lnTo>
                <a:lnTo>
                  <a:pt x="1185672" y="70103"/>
                </a:lnTo>
                <a:lnTo>
                  <a:pt x="1185124" y="82986"/>
                </a:lnTo>
                <a:lnTo>
                  <a:pt x="1172932" y="121062"/>
                </a:lnTo>
                <a:lnTo>
                  <a:pt x="1152144" y="135635"/>
                </a:lnTo>
                <a:lnTo>
                  <a:pt x="1153668" y="141731"/>
                </a:lnTo>
                <a:lnTo>
                  <a:pt x="1187196" y="117348"/>
                </a:lnTo>
                <a:lnTo>
                  <a:pt x="1199388" y="71627"/>
                </a:lnTo>
                <a:lnTo>
                  <a:pt x="1198554" y="58483"/>
                </a:lnTo>
                <a:lnTo>
                  <a:pt x="1180885" y="16716"/>
                </a:lnTo>
                <a:lnTo>
                  <a:pt x="1164264" y="4048"/>
                </a:lnTo>
                <a:lnTo>
                  <a:pt x="1153668" y="0"/>
                </a:lnTo>
                <a:close/>
              </a:path>
              <a:path w="1199514" h="142240">
                <a:moveTo>
                  <a:pt x="44196" y="0"/>
                </a:moveTo>
                <a:lnTo>
                  <a:pt x="10668" y="25907"/>
                </a:lnTo>
                <a:lnTo>
                  <a:pt x="0" y="71627"/>
                </a:lnTo>
                <a:lnTo>
                  <a:pt x="595" y="84772"/>
                </a:lnTo>
                <a:lnTo>
                  <a:pt x="17192" y="125872"/>
                </a:lnTo>
                <a:lnTo>
                  <a:pt x="44196" y="141731"/>
                </a:lnTo>
                <a:lnTo>
                  <a:pt x="45720" y="135635"/>
                </a:lnTo>
                <a:lnTo>
                  <a:pt x="38052" y="132492"/>
                </a:lnTo>
                <a:lnTo>
                  <a:pt x="31242" y="127634"/>
                </a:lnTo>
                <a:lnTo>
                  <a:pt x="12763" y="82986"/>
                </a:lnTo>
                <a:lnTo>
                  <a:pt x="12192" y="70103"/>
                </a:lnTo>
                <a:lnTo>
                  <a:pt x="12763" y="58102"/>
                </a:lnTo>
                <a:lnTo>
                  <a:pt x="25598" y="21526"/>
                </a:lnTo>
                <a:lnTo>
                  <a:pt x="47244" y="6095"/>
                </a:lnTo>
                <a:lnTo>
                  <a:pt x="44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750211" y="1419765"/>
            <a:ext cx="1085215" cy="142240"/>
          </a:xfrm>
          <a:custGeom>
            <a:avLst/>
            <a:gdLst/>
            <a:ahLst/>
            <a:cxnLst/>
            <a:rect l="l" t="t" r="r" b="b"/>
            <a:pathLst>
              <a:path w="1085214" h="142240">
                <a:moveTo>
                  <a:pt x="1039367" y="0"/>
                </a:moveTo>
                <a:lnTo>
                  <a:pt x="1037843" y="6095"/>
                </a:lnTo>
                <a:lnTo>
                  <a:pt x="1045535" y="10096"/>
                </a:lnTo>
                <a:lnTo>
                  <a:pt x="1052512" y="15239"/>
                </a:lnTo>
                <a:lnTo>
                  <a:pt x="1070824" y="58102"/>
                </a:lnTo>
                <a:lnTo>
                  <a:pt x="1071371" y="70103"/>
                </a:lnTo>
                <a:lnTo>
                  <a:pt x="1070824" y="82986"/>
                </a:lnTo>
                <a:lnTo>
                  <a:pt x="1058632" y="121062"/>
                </a:lnTo>
                <a:lnTo>
                  <a:pt x="1037843" y="135635"/>
                </a:lnTo>
                <a:lnTo>
                  <a:pt x="1039367" y="141731"/>
                </a:lnTo>
                <a:lnTo>
                  <a:pt x="1072895" y="117348"/>
                </a:lnTo>
                <a:lnTo>
                  <a:pt x="1085088" y="71627"/>
                </a:lnTo>
                <a:lnTo>
                  <a:pt x="1084254" y="58483"/>
                </a:lnTo>
                <a:lnTo>
                  <a:pt x="1066585" y="16716"/>
                </a:lnTo>
                <a:lnTo>
                  <a:pt x="1049964" y="4048"/>
                </a:lnTo>
                <a:lnTo>
                  <a:pt x="1039367" y="0"/>
                </a:lnTo>
                <a:close/>
              </a:path>
              <a:path w="1085214" h="142240">
                <a:moveTo>
                  <a:pt x="44196" y="0"/>
                </a:moveTo>
                <a:lnTo>
                  <a:pt x="10667" y="25907"/>
                </a:lnTo>
                <a:lnTo>
                  <a:pt x="0" y="71627"/>
                </a:lnTo>
                <a:lnTo>
                  <a:pt x="595" y="84772"/>
                </a:lnTo>
                <a:lnTo>
                  <a:pt x="17192" y="125872"/>
                </a:lnTo>
                <a:lnTo>
                  <a:pt x="44196" y="141731"/>
                </a:lnTo>
                <a:lnTo>
                  <a:pt x="45720" y="135635"/>
                </a:lnTo>
                <a:lnTo>
                  <a:pt x="38052" y="132492"/>
                </a:lnTo>
                <a:lnTo>
                  <a:pt x="31242" y="127634"/>
                </a:lnTo>
                <a:lnTo>
                  <a:pt x="12763" y="82986"/>
                </a:lnTo>
                <a:lnTo>
                  <a:pt x="12191" y="70103"/>
                </a:lnTo>
                <a:lnTo>
                  <a:pt x="12763" y="58102"/>
                </a:lnTo>
                <a:lnTo>
                  <a:pt x="25598" y="21526"/>
                </a:lnTo>
                <a:lnTo>
                  <a:pt x="47243" y="6095"/>
                </a:lnTo>
                <a:lnTo>
                  <a:pt x="44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 txBox="1"/>
          <p:nvPr/>
        </p:nvSpPr>
        <p:spPr>
          <a:xfrm>
            <a:off x="4300123" y="1369041"/>
            <a:ext cx="1496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+ max 1.9 − 0.6 +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1,</a:t>
            </a:r>
            <a:r>
              <a:rPr sz="12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0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645140" y="1327034"/>
            <a:ext cx="1574800" cy="45076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00" smtClean="0">
                <a:latin typeface="Calibri" panose="020F0502020204030204"/>
                <a:cs typeface="Calibri" panose="020F0502020204030204"/>
              </a:rPr>
              <a:t>=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max −2.3 − 0.6 + 1,</a:t>
            </a:r>
            <a:r>
              <a:rPr sz="12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0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2.3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5279040" y="2238153"/>
            <a:ext cx="536575" cy="388620"/>
          </a:xfrm>
          <a:custGeom>
            <a:avLst/>
            <a:gdLst/>
            <a:ahLst/>
            <a:cxnLst/>
            <a:rect l="l" t="t" r="r" b="b"/>
            <a:pathLst>
              <a:path w="536575" h="388619">
                <a:moveTo>
                  <a:pt x="469391" y="0"/>
                </a:moveTo>
                <a:lnTo>
                  <a:pt x="466344" y="6096"/>
                </a:lnTo>
                <a:lnTo>
                  <a:pt x="478321" y="21002"/>
                </a:lnTo>
                <a:lnTo>
                  <a:pt x="489013" y="38480"/>
                </a:lnTo>
                <a:lnTo>
                  <a:pt x="505967" y="82296"/>
                </a:lnTo>
                <a:lnTo>
                  <a:pt x="517588" y="135826"/>
                </a:lnTo>
                <a:lnTo>
                  <a:pt x="521208" y="195072"/>
                </a:lnTo>
                <a:lnTo>
                  <a:pt x="520326" y="224242"/>
                </a:lnTo>
                <a:lnTo>
                  <a:pt x="512849" y="279725"/>
                </a:lnTo>
                <a:lnTo>
                  <a:pt x="498276" y="330041"/>
                </a:lnTo>
                <a:lnTo>
                  <a:pt x="478321" y="368903"/>
                </a:lnTo>
                <a:lnTo>
                  <a:pt x="466344" y="384048"/>
                </a:lnTo>
                <a:lnTo>
                  <a:pt x="469391" y="388620"/>
                </a:lnTo>
                <a:lnTo>
                  <a:pt x="496633" y="356615"/>
                </a:lnTo>
                <a:lnTo>
                  <a:pt x="518160" y="310896"/>
                </a:lnTo>
                <a:lnTo>
                  <a:pt x="531876" y="254698"/>
                </a:lnTo>
                <a:lnTo>
                  <a:pt x="536448" y="195072"/>
                </a:lnTo>
                <a:lnTo>
                  <a:pt x="535305" y="163663"/>
                </a:lnTo>
                <a:lnTo>
                  <a:pt x="526161" y="104846"/>
                </a:lnTo>
                <a:lnTo>
                  <a:pt x="508182" y="54006"/>
                </a:lnTo>
                <a:lnTo>
                  <a:pt x="483655" y="15144"/>
                </a:lnTo>
                <a:lnTo>
                  <a:pt x="469391" y="0"/>
                </a:lnTo>
                <a:close/>
              </a:path>
              <a:path w="536575" h="388619">
                <a:moveTo>
                  <a:pt x="65532" y="0"/>
                </a:moveTo>
                <a:lnTo>
                  <a:pt x="38481" y="33147"/>
                </a:lnTo>
                <a:lnTo>
                  <a:pt x="18287" y="77724"/>
                </a:lnTo>
                <a:lnTo>
                  <a:pt x="4571" y="133540"/>
                </a:lnTo>
                <a:lnTo>
                  <a:pt x="0" y="195072"/>
                </a:lnTo>
                <a:lnTo>
                  <a:pt x="1143" y="225385"/>
                </a:lnTo>
                <a:lnTo>
                  <a:pt x="10287" y="283154"/>
                </a:lnTo>
                <a:lnTo>
                  <a:pt x="27384" y="335470"/>
                </a:lnTo>
                <a:lnTo>
                  <a:pt x="51292" y="374332"/>
                </a:lnTo>
                <a:lnTo>
                  <a:pt x="65532" y="388620"/>
                </a:lnTo>
                <a:lnTo>
                  <a:pt x="70104" y="384048"/>
                </a:lnTo>
                <a:lnTo>
                  <a:pt x="57245" y="368903"/>
                </a:lnTo>
                <a:lnTo>
                  <a:pt x="46100" y="350900"/>
                </a:lnTo>
                <a:lnTo>
                  <a:pt x="28956" y="306324"/>
                </a:lnTo>
                <a:lnTo>
                  <a:pt x="18668" y="252412"/>
                </a:lnTo>
                <a:lnTo>
                  <a:pt x="15239" y="195072"/>
                </a:lnTo>
                <a:lnTo>
                  <a:pt x="16097" y="164806"/>
                </a:lnTo>
                <a:lnTo>
                  <a:pt x="22955" y="108275"/>
                </a:lnTo>
                <a:lnTo>
                  <a:pt x="36671" y="58816"/>
                </a:lnTo>
                <a:lnTo>
                  <a:pt x="57245" y="21002"/>
                </a:lnTo>
                <a:lnTo>
                  <a:pt x="70104" y="6096"/>
                </a:lnTo>
                <a:lnTo>
                  <a:pt x="655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>
            <a:off x="5403500" y="2138584"/>
            <a:ext cx="273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142" baseline="-21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s</a:t>
            </a:r>
            <a:r>
              <a:rPr sz="850" i="1" spc="12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i</a:t>
            </a:r>
            <a:endParaRPr sz="105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341015" y="2412981"/>
            <a:ext cx="290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800" i="1" spc="22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" dirty="0">
                <a:latin typeface="Cambria Math" panose="02040503050406030204"/>
                <a:cs typeface="Cambria Math" panose="02040503050406030204"/>
              </a:rPr>
              <a:t>e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616831" y="2393114"/>
            <a:ext cx="7937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55" dirty="0">
                <a:latin typeface="Cambria Math" panose="02040503050406030204"/>
                <a:cs typeface="Cambria Math" panose="02040503050406030204"/>
              </a:rPr>
              <a:t>s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670230" y="2437335"/>
            <a:ext cx="7048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i="1" spc="165" dirty="0">
                <a:latin typeface="Cambria Math" panose="02040503050406030204"/>
                <a:cs typeface="Cambria Math" panose="02040503050406030204"/>
              </a:rPr>
              <a:t>j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5449174" y="2496690"/>
            <a:ext cx="7810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180" dirty="0">
                <a:latin typeface="Cambria Math" panose="02040503050406030204"/>
                <a:cs typeface="Cambria Math" panose="02040503050406030204"/>
              </a:rPr>
              <a:t>j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5355240" y="2432463"/>
            <a:ext cx="386080" cy="0"/>
          </a:xfrm>
          <a:custGeom>
            <a:avLst/>
            <a:gdLst/>
            <a:ahLst/>
            <a:cxnLst/>
            <a:rect l="l" t="t" r="r" b="b"/>
            <a:pathLst>
              <a:path w="386079">
                <a:moveTo>
                  <a:pt x="0" y="0"/>
                </a:moveTo>
                <a:lnTo>
                  <a:pt x="38557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 txBox="1"/>
          <p:nvPr/>
        </p:nvSpPr>
        <p:spPr>
          <a:xfrm>
            <a:off x="4550059" y="2310873"/>
            <a:ext cx="70294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200" i="1" spc="3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75" i="1" spc="44" baseline="-16000" dirty="0">
                <a:latin typeface="Cambria Math" panose="02040503050406030204"/>
                <a:cs typeface="Cambria Math" panose="02040503050406030204"/>
              </a:rPr>
              <a:t>i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−log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=0.</a:t>
            </a:r>
            <a:r>
              <a:rPr lang="en-US" sz="1200" spc="-5" dirty="0">
                <a:latin typeface="Calibri" panose="020F0502020204030204"/>
                <a:cs typeface="Calibri" panose="020F0502020204030204"/>
              </a:rPr>
              <a:t>68</a:t>
            </a:r>
            <a:endParaRPr lang="en-US" sz="1200" spc="-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2232564" y="1206405"/>
            <a:ext cx="647700" cy="1426845"/>
          </a:xfrm>
          <a:custGeom>
            <a:avLst/>
            <a:gdLst/>
            <a:ahLst/>
            <a:cxnLst/>
            <a:rect l="l" t="t" r="r" b="b"/>
            <a:pathLst>
              <a:path w="647700" h="1426845">
                <a:moveTo>
                  <a:pt x="628078" y="1392710"/>
                </a:moveTo>
                <a:lnTo>
                  <a:pt x="614172" y="1399031"/>
                </a:lnTo>
                <a:lnTo>
                  <a:pt x="646176" y="1426464"/>
                </a:lnTo>
                <a:lnTo>
                  <a:pt x="647155" y="1399031"/>
                </a:lnTo>
                <a:lnTo>
                  <a:pt x="630936" y="1399031"/>
                </a:lnTo>
                <a:lnTo>
                  <a:pt x="628078" y="1392710"/>
                </a:lnTo>
                <a:close/>
              </a:path>
              <a:path w="647700" h="1426845">
                <a:moveTo>
                  <a:pt x="633014" y="1390467"/>
                </a:moveTo>
                <a:lnTo>
                  <a:pt x="628078" y="1392710"/>
                </a:lnTo>
                <a:lnTo>
                  <a:pt x="630936" y="1399031"/>
                </a:lnTo>
                <a:lnTo>
                  <a:pt x="635508" y="1395984"/>
                </a:lnTo>
                <a:lnTo>
                  <a:pt x="633014" y="1390467"/>
                </a:lnTo>
                <a:close/>
              </a:path>
              <a:path w="647700" h="1426845">
                <a:moveTo>
                  <a:pt x="647700" y="1383792"/>
                </a:moveTo>
                <a:lnTo>
                  <a:pt x="633014" y="1390467"/>
                </a:lnTo>
                <a:lnTo>
                  <a:pt x="635508" y="1395984"/>
                </a:lnTo>
                <a:lnTo>
                  <a:pt x="630936" y="1399031"/>
                </a:lnTo>
                <a:lnTo>
                  <a:pt x="647155" y="1399031"/>
                </a:lnTo>
                <a:lnTo>
                  <a:pt x="647700" y="1383792"/>
                </a:lnTo>
                <a:close/>
              </a:path>
              <a:path w="647700" h="1426845">
                <a:moveTo>
                  <a:pt x="4572" y="0"/>
                </a:moveTo>
                <a:lnTo>
                  <a:pt x="0" y="3048"/>
                </a:lnTo>
                <a:lnTo>
                  <a:pt x="628078" y="1392710"/>
                </a:lnTo>
                <a:lnTo>
                  <a:pt x="633014" y="1390467"/>
                </a:lnTo>
                <a:lnTo>
                  <a:pt x="4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893723" y="2308256"/>
            <a:ext cx="462280" cy="589915"/>
          </a:xfrm>
          <a:custGeom>
            <a:avLst/>
            <a:gdLst/>
            <a:ahLst/>
            <a:cxnLst/>
            <a:rect l="l" t="t" r="r" b="b"/>
            <a:pathLst>
              <a:path w="462279" h="589914">
                <a:moveTo>
                  <a:pt x="0" y="0"/>
                </a:moveTo>
                <a:lnTo>
                  <a:pt x="461771" y="0"/>
                </a:lnTo>
                <a:lnTo>
                  <a:pt x="461771" y="589787"/>
                </a:lnTo>
                <a:lnTo>
                  <a:pt x="0" y="589787"/>
                </a:lnTo>
                <a:lnTo>
                  <a:pt x="0" y="0"/>
                </a:lnTo>
                <a:close/>
              </a:path>
            </a:pathLst>
          </a:custGeom>
          <a:ln w="9143">
            <a:solidFill>
              <a:srgbClr val="3776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 txBox="1"/>
          <p:nvPr/>
        </p:nvSpPr>
        <p:spPr>
          <a:xfrm>
            <a:off x="3993850" y="2273690"/>
            <a:ext cx="280670" cy="6350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.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.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.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7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878739" y="2291493"/>
            <a:ext cx="408940" cy="683260"/>
          </a:xfrm>
          <a:prstGeom prst="rect">
            <a:avLst/>
          </a:prstGeom>
          <a:ln w="6095">
            <a:solidFill>
              <a:srgbClr val="C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55"/>
              </a:spcBef>
            </a:pPr>
            <a:r>
              <a:rPr sz="1200" b="1" spc="-5" dirty="0">
                <a:latin typeface="Arial" panose="020B0604020202020204"/>
                <a:cs typeface="Arial" panose="020B0604020202020204"/>
              </a:rPr>
              <a:t>1.81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62230">
              <a:lnSpc>
                <a:spcPct val="100000"/>
              </a:lnSpc>
              <a:spcBef>
                <a:spcPts val="410"/>
              </a:spcBef>
            </a:pPr>
            <a:r>
              <a:rPr sz="1200" spc="-5" dirty="0">
                <a:latin typeface="Arial" panose="020B0604020202020204"/>
                <a:cs typeface="Arial" panose="020B0604020202020204"/>
              </a:rPr>
              <a:t>0.10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54610">
              <a:lnSpc>
                <a:spcPct val="100000"/>
              </a:lnSpc>
              <a:spcBef>
                <a:spcPts val="395"/>
              </a:spcBef>
            </a:pPr>
            <a:r>
              <a:rPr sz="1200" spc="-5" dirty="0">
                <a:latin typeface="Arial" panose="020B0604020202020204"/>
                <a:cs typeface="Arial" panose="020B0604020202020204"/>
              </a:rPr>
              <a:t>6.69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901085" y="2987484"/>
            <a:ext cx="28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3311556" y="2588673"/>
            <a:ext cx="550545" cy="38100"/>
          </a:xfrm>
          <a:custGeom>
            <a:avLst/>
            <a:gdLst/>
            <a:ahLst/>
            <a:cxnLst/>
            <a:rect l="l" t="t" r="r" b="b"/>
            <a:pathLst>
              <a:path w="550545" h="38100">
                <a:moveTo>
                  <a:pt x="512064" y="0"/>
                </a:moveTo>
                <a:lnTo>
                  <a:pt x="512064" y="38100"/>
                </a:lnTo>
                <a:lnTo>
                  <a:pt x="546989" y="21335"/>
                </a:lnTo>
                <a:lnTo>
                  <a:pt x="518160" y="21335"/>
                </a:lnTo>
                <a:lnTo>
                  <a:pt x="518160" y="16763"/>
                </a:lnTo>
                <a:lnTo>
                  <a:pt x="544302" y="16763"/>
                </a:lnTo>
                <a:lnTo>
                  <a:pt x="512064" y="0"/>
                </a:lnTo>
                <a:close/>
              </a:path>
              <a:path w="550545" h="38100">
                <a:moveTo>
                  <a:pt x="512064" y="16763"/>
                </a:moveTo>
                <a:lnTo>
                  <a:pt x="0" y="16763"/>
                </a:lnTo>
                <a:lnTo>
                  <a:pt x="0" y="21335"/>
                </a:lnTo>
                <a:lnTo>
                  <a:pt x="512064" y="21335"/>
                </a:lnTo>
                <a:lnTo>
                  <a:pt x="512064" y="16763"/>
                </a:lnTo>
                <a:close/>
              </a:path>
              <a:path w="550545" h="38100">
                <a:moveTo>
                  <a:pt x="544302" y="16763"/>
                </a:moveTo>
                <a:lnTo>
                  <a:pt x="518160" y="16763"/>
                </a:lnTo>
                <a:lnTo>
                  <a:pt x="518160" y="21335"/>
                </a:lnTo>
                <a:lnTo>
                  <a:pt x="546989" y="21335"/>
                </a:lnTo>
                <a:lnTo>
                  <a:pt x="550164" y="19811"/>
                </a:lnTo>
                <a:lnTo>
                  <a:pt x="544302" y="1676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 txBox="1"/>
          <p:nvPr/>
        </p:nvSpPr>
        <p:spPr>
          <a:xfrm>
            <a:off x="3397946" y="2437245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归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一化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813001" y="1593037"/>
            <a:ext cx="4140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i="1" spc="254" dirty="0">
                <a:latin typeface="Cambria Math" panose="02040503050406030204"/>
                <a:cs typeface="Cambria Math" panose="02040503050406030204"/>
              </a:rPr>
              <a:t>f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4013582" y="2987484"/>
            <a:ext cx="28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率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013916" y="2031925"/>
            <a:ext cx="1809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i="1" spc="89" baseline="-19000" smtClean="0">
                <a:latin typeface="Cambria Math" panose="02040503050406030204"/>
                <a:cs typeface="Cambria Math" panose="02040503050406030204"/>
              </a:rPr>
              <a:t>e</a:t>
            </a:r>
            <a:r>
              <a:rPr lang="en-US" altLang="zh-CN" sz="700" i="1" spc="-35" smtClean="0">
                <a:latin typeface="Cambria Math" panose="02040503050406030204"/>
                <a:cs typeface="Cambria Math" panose="02040503050406030204"/>
              </a:rPr>
              <a:t>f</a:t>
            </a:r>
            <a:r>
              <a:rPr sz="900" i="1" spc="-179" baseline="-14000" smtClean="0">
                <a:latin typeface="Cambria Math" panose="02040503050406030204"/>
                <a:cs typeface="Cambria Math" panose="02040503050406030204"/>
              </a:rPr>
              <a:t>i</a:t>
            </a:r>
            <a:endParaRPr sz="900" baseline="-1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4112626" y="1913061"/>
            <a:ext cx="1073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4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1050" i="1" spc="89" baseline="-16000" dirty="0">
                <a:latin typeface="Cambria Math" panose="02040503050406030204"/>
                <a:cs typeface="Cambria Math" panose="02040503050406030204"/>
              </a:rPr>
              <a:t>i</a:t>
            </a:r>
            <a:endParaRPr sz="105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019654" y="2094451"/>
            <a:ext cx="2660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i="1" spc="-7" baseline="3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500" i="1" spc="37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55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1050" i="1" spc="82" baseline="-16000" dirty="0">
                <a:latin typeface="Cambria Math" panose="02040503050406030204"/>
                <a:cs typeface="Cambria Math" panose="02040503050406030204"/>
              </a:rPr>
              <a:t>j</a:t>
            </a:r>
            <a:endParaRPr sz="105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4109585" y="2162971"/>
            <a:ext cx="6921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i="1" spc="155" dirty="0">
                <a:latin typeface="Cambria Math" panose="02040503050406030204"/>
                <a:cs typeface="Cambria Math" panose="02040503050406030204"/>
              </a:rPr>
              <a:t>j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4032408" y="211394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887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3660037" y="663321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类支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向量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损失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373740" y="2137079"/>
            <a:ext cx="152400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交 叉 熵 损 失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9" name="object 139"/>
          <p:cNvSpPr txBox="1">
            <a:spLocks noGrp="1"/>
          </p:cNvSpPr>
          <p:nvPr>
            <p:ph type="title"/>
          </p:nvPr>
        </p:nvSpPr>
        <p:spPr>
          <a:xfrm>
            <a:off x="1119536" y="142144"/>
            <a:ext cx="360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r>
              <a:rPr sz="1800" b="1" spc="-4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vs</a:t>
            </a:r>
            <a:r>
              <a:rPr sz="1800" b="1" spc="-5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多类支撑向量机损失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矩形 141"/>
              <p:cNvSpPr/>
              <p:nvPr/>
            </p:nvSpPr>
            <p:spPr>
              <a:xfrm>
                <a:off x="2648108" y="1054640"/>
                <a:ext cx="3022600" cy="35941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zh-CN" sz="1400" spc="25">
                    <a:latin typeface="Cambria Math" panose="02040503050406030204"/>
                    <a:cs typeface="Cambria Math" panose="02040503050406030204"/>
                  </a:rPr>
                  <a:t>L</a:t>
                </a:r>
                <a:r>
                  <a:rPr lang="en-US" altLang="zh-CN" sz="1400" spc="37" baseline="-16000">
                    <a:latin typeface="Cambria Math" panose="02040503050406030204"/>
                    <a:cs typeface="Cambria Math" panose="02040503050406030204"/>
                  </a:rPr>
                  <a:t>i </a:t>
                </a:r>
                <a:r>
                  <a:rPr lang="en-US" altLang="zh-CN" sz="1400" spc="-5" dirty="0">
                    <a:latin typeface="Cambria Math" panose="02040503050406030204"/>
                    <a:cs typeface="Cambria Math" panose="02040503050406030204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ar-AE" altLang="zh-CN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zh-CN" altLang="ar-AE" sz="1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ar-AE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140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sz="1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ar-AE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sz="1400" i="1">
                                <a:latin typeface="Cambria Math" panose="02040503050406030204" pitchFamily="18" charset="0"/>
                              </a:rPr>
                              <m:t>𝑦𝑖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ar-AE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ar-AE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ar-A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1400"/>
              </a:p>
            </p:txBody>
          </p:sp>
        </mc:Choice>
        <mc:Fallback>
          <p:sp>
            <p:nvSpPr>
              <p:cNvPr id="142" name="矩形 1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108" y="1054640"/>
                <a:ext cx="3022600" cy="359410"/>
              </a:xfrm>
              <a:prstGeom prst="rect">
                <a:avLst/>
              </a:prstGeom>
              <a:blipFill rotWithShape="1">
                <a:blip r:embed="rId2"/>
                <a:stretch>
                  <a:fillRect l="-5" t="-150" r="5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583" y="1547712"/>
            <a:ext cx="1299845" cy="112331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600" dirty="0">
                <a:solidFill>
                  <a:srgbClr val="37761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-2,</a:t>
            </a:r>
            <a:r>
              <a:rPr sz="16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3]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600" dirty="0">
                <a:solidFill>
                  <a:srgbClr val="37761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9,</a:t>
            </a:r>
            <a:r>
              <a:rPr sz="16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9]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600" dirty="0">
                <a:solidFill>
                  <a:srgbClr val="37761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, -100,</a:t>
            </a:r>
            <a:r>
              <a:rPr sz="1600" spc="-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-100]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492545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0" y="0"/>
                </a:moveTo>
                <a:lnTo>
                  <a:pt x="6048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66879" y="1077585"/>
            <a:ext cx="666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75" spc="44" baseline="-16000" dirty="0">
                <a:latin typeface="Cambria Math" panose="02040503050406030204"/>
                <a:cs typeface="Cambria Math" panose="02040503050406030204"/>
              </a:rPr>
              <a:t>i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−log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59283" y="1006389"/>
            <a:ext cx="535305" cy="388620"/>
          </a:xfrm>
          <a:custGeom>
            <a:avLst/>
            <a:gdLst/>
            <a:ahLst/>
            <a:cxnLst/>
            <a:rect l="l" t="t" r="r" b="b"/>
            <a:pathLst>
              <a:path w="535305" h="388619">
                <a:moveTo>
                  <a:pt x="467867" y="0"/>
                </a:moveTo>
                <a:lnTo>
                  <a:pt x="464819" y="4572"/>
                </a:lnTo>
                <a:lnTo>
                  <a:pt x="476797" y="19716"/>
                </a:lnTo>
                <a:lnTo>
                  <a:pt x="487489" y="37719"/>
                </a:lnTo>
                <a:lnTo>
                  <a:pt x="504443" y="82296"/>
                </a:lnTo>
                <a:lnTo>
                  <a:pt x="516064" y="135064"/>
                </a:lnTo>
                <a:lnTo>
                  <a:pt x="519683" y="193548"/>
                </a:lnTo>
                <a:lnTo>
                  <a:pt x="518802" y="222932"/>
                </a:lnTo>
                <a:lnTo>
                  <a:pt x="511325" y="278844"/>
                </a:lnTo>
                <a:lnTo>
                  <a:pt x="496752" y="328517"/>
                </a:lnTo>
                <a:lnTo>
                  <a:pt x="476797" y="367379"/>
                </a:lnTo>
                <a:lnTo>
                  <a:pt x="464819" y="382524"/>
                </a:lnTo>
                <a:lnTo>
                  <a:pt x="467867" y="388620"/>
                </a:lnTo>
                <a:lnTo>
                  <a:pt x="495109" y="355282"/>
                </a:lnTo>
                <a:lnTo>
                  <a:pt x="516636" y="309372"/>
                </a:lnTo>
                <a:lnTo>
                  <a:pt x="530352" y="253746"/>
                </a:lnTo>
                <a:lnTo>
                  <a:pt x="534924" y="193548"/>
                </a:lnTo>
                <a:lnTo>
                  <a:pt x="533780" y="162377"/>
                </a:lnTo>
                <a:lnTo>
                  <a:pt x="524637" y="104608"/>
                </a:lnTo>
                <a:lnTo>
                  <a:pt x="506658" y="53149"/>
                </a:lnTo>
                <a:lnTo>
                  <a:pt x="482131" y="14287"/>
                </a:lnTo>
                <a:lnTo>
                  <a:pt x="467867" y="0"/>
                </a:lnTo>
                <a:close/>
              </a:path>
              <a:path w="535305" h="388619">
                <a:moveTo>
                  <a:pt x="65531" y="0"/>
                </a:moveTo>
                <a:lnTo>
                  <a:pt x="38290" y="32003"/>
                </a:lnTo>
                <a:lnTo>
                  <a:pt x="16763" y="77724"/>
                </a:lnTo>
                <a:lnTo>
                  <a:pt x="4381" y="132778"/>
                </a:lnTo>
                <a:lnTo>
                  <a:pt x="0" y="193548"/>
                </a:lnTo>
                <a:lnTo>
                  <a:pt x="1119" y="224075"/>
                </a:lnTo>
                <a:lnTo>
                  <a:pt x="9644" y="282273"/>
                </a:lnTo>
                <a:lnTo>
                  <a:pt x="26741" y="333970"/>
                </a:lnTo>
                <a:lnTo>
                  <a:pt x="51268" y="373451"/>
                </a:lnTo>
                <a:lnTo>
                  <a:pt x="65531" y="388620"/>
                </a:lnTo>
                <a:lnTo>
                  <a:pt x="70103" y="382524"/>
                </a:lnTo>
                <a:lnTo>
                  <a:pt x="57245" y="367379"/>
                </a:lnTo>
                <a:lnTo>
                  <a:pt x="46100" y="349376"/>
                </a:lnTo>
                <a:lnTo>
                  <a:pt x="28955" y="304800"/>
                </a:lnTo>
                <a:lnTo>
                  <a:pt x="18668" y="251460"/>
                </a:lnTo>
                <a:lnTo>
                  <a:pt x="15239" y="193548"/>
                </a:lnTo>
                <a:lnTo>
                  <a:pt x="16097" y="163520"/>
                </a:lnTo>
                <a:lnTo>
                  <a:pt x="22955" y="108037"/>
                </a:lnTo>
                <a:lnTo>
                  <a:pt x="36671" y="58578"/>
                </a:lnTo>
                <a:lnTo>
                  <a:pt x="57245" y="19716"/>
                </a:lnTo>
                <a:lnTo>
                  <a:pt x="70103" y="4572"/>
                </a:lnTo>
                <a:lnTo>
                  <a:pt x="65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88316" y="888550"/>
            <a:ext cx="259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2" baseline="-28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25" dirty="0">
                <a:latin typeface="Cambria Math" panose="02040503050406030204"/>
                <a:cs typeface="Cambria Math" panose="02040503050406030204"/>
              </a:rPr>
              <a:t>s</a:t>
            </a:r>
            <a:r>
              <a:rPr sz="1050" spc="202" baseline="-1600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050" spc="112" baseline="-36000" dirty="0">
                <a:latin typeface="Cambria Math" panose="02040503050406030204"/>
                <a:cs typeface="Cambria Math" panose="02040503050406030204"/>
              </a:rPr>
              <a:t>i</a:t>
            </a:r>
            <a:endParaRPr sz="1050" baseline="-3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9735" y="1179693"/>
            <a:ext cx="290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800" spc="22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" dirty="0">
                <a:latin typeface="Cambria Math" panose="02040503050406030204"/>
                <a:cs typeface="Cambria Math" panose="02040503050406030204"/>
              </a:rPr>
              <a:t>e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5622" y="1159767"/>
            <a:ext cx="7937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55" dirty="0">
                <a:latin typeface="Cambria Math" panose="02040503050406030204"/>
                <a:cs typeface="Cambria Math" panose="02040503050406030204"/>
              </a:rPr>
              <a:t>s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8920" y="1204046"/>
            <a:ext cx="7048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65" dirty="0">
                <a:latin typeface="Cambria Math" panose="02040503050406030204"/>
                <a:cs typeface="Cambria Math" panose="02040503050406030204"/>
              </a:rPr>
              <a:t>j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7965" y="1263453"/>
            <a:ext cx="7810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180" dirty="0">
                <a:latin typeface="Cambria Math" panose="02040503050406030204"/>
                <a:cs typeface="Cambria Math" panose="02040503050406030204"/>
              </a:rPr>
              <a:t>j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32435" y="1200699"/>
            <a:ext cx="386080" cy="0"/>
          </a:xfrm>
          <a:custGeom>
            <a:avLst/>
            <a:gdLst/>
            <a:ahLst/>
            <a:cxnLst/>
            <a:rect l="l" t="t" r="r" b="b"/>
            <a:pathLst>
              <a:path w="386080">
                <a:moveTo>
                  <a:pt x="0" y="0"/>
                </a:moveTo>
                <a:lnTo>
                  <a:pt x="38557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07244" y="1001385"/>
            <a:ext cx="718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假设分数</a:t>
            </a: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1673" y="1303059"/>
            <a:ext cx="64769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70" dirty="0">
                <a:latin typeface="Cambria Math" panose="02040503050406030204"/>
                <a:cs typeface="Cambria Math" panose="02040503050406030204"/>
              </a:rPr>
              <a:t>i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0876" y="1231509"/>
            <a:ext cx="437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latin typeface="Cambria Math" panose="02040503050406030204"/>
                <a:cs typeface="Cambria Math" panose="02040503050406030204"/>
              </a:rPr>
              <a:t>y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0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11687" y="2031515"/>
            <a:ext cx="38404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问：</a:t>
            </a:r>
            <a:r>
              <a:rPr sz="1400" spc="-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同分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下两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器的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损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失有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区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别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19536" y="147869"/>
            <a:ext cx="360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r>
              <a:rPr sz="1800" b="1" spc="-4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vs</a:t>
            </a:r>
            <a:r>
              <a:rPr sz="1800" b="1" spc="-5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多类支撑向量机损失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3530927" y="1086784"/>
                <a:ext cx="2744384" cy="3206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200" spc="25">
                    <a:latin typeface="Cambria Math" panose="02040503050406030204"/>
                    <a:cs typeface="Cambria Math" panose="02040503050406030204"/>
                  </a:rPr>
                  <a:t>L</a:t>
                </a:r>
                <a:r>
                  <a:rPr lang="en-US" altLang="zh-CN" sz="1200" spc="37" baseline="-16000">
                    <a:latin typeface="Cambria Math" panose="02040503050406030204"/>
                    <a:cs typeface="Cambria Math" panose="02040503050406030204"/>
                  </a:rPr>
                  <a:t>i </a:t>
                </a:r>
                <a:r>
                  <a:rPr lang="en-US" altLang="zh-CN" sz="1200" spc="-5" dirty="0">
                    <a:latin typeface="Cambria Math" panose="02040503050406030204"/>
                    <a:cs typeface="Cambria Math" panose="02040503050406030204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zh-CN" altLang="ar-AE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𝑦𝑖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ar-A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1200"/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927" y="1086784"/>
                <a:ext cx="2744384" cy="320675"/>
              </a:xfrm>
              <a:prstGeom prst="rect">
                <a:avLst/>
              </a:prstGeom>
              <a:blipFill rotWithShape="1">
                <a:blip r:embed="rId1"/>
                <a:stretch>
                  <a:fillRect l="-12" t="-93" r="9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583" y="1664586"/>
            <a:ext cx="828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600" dirty="0">
                <a:solidFill>
                  <a:srgbClr val="37761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-2,</a:t>
            </a:r>
            <a:r>
              <a:rPr sz="16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3]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48682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0" y="0"/>
                </a:moveTo>
                <a:lnTo>
                  <a:pt x="6048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66879" y="1071861"/>
            <a:ext cx="666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3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275" i="1" spc="44" baseline="-16000" dirty="0">
                <a:latin typeface="Cambria Math" panose="02040503050406030204"/>
                <a:cs typeface="Cambria Math" panose="02040503050406030204"/>
              </a:rPr>
              <a:t>i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−log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59283" y="1000665"/>
            <a:ext cx="535305" cy="388620"/>
          </a:xfrm>
          <a:custGeom>
            <a:avLst/>
            <a:gdLst/>
            <a:ahLst/>
            <a:cxnLst/>
            <a:rect l="l" t="t" r="r" b="b"/>
            <a:pathLst>
              <a:path w="535305" h="388619">
                <a:moveTo>
                  <a:pt x="467867" y="0"/>
                </a:moveTo>
                <a:lnTo>
                  <a:pt x="464819" y="4571"/>
                </a:lnTo>
                <a:lnTo>
                  <a:pt x="476797" y="19716"/>
                </a:lnTo>
                <a:lnTo>
                  <a:pt x="487489" y="37718"/>
                </a:lnTo>
                <a:lnTo>
                  <a:pt x="504443" y="82295"/>
                </a:lnTo>
                <a:lnTo>
                  <a:pt x="516064" y="135064"/>
                </a:lnTo>
                <a:lnTo>
                  <a:pt x="519683" y="193548"/>
                </a:lnTo>
                <a:lnTo>
                  <a:pt x="518802" y="222932"/>
                </a:lnTo>
                <a:lnTo>
                  <a:pt x="511325" y="278844"/>
                </a:lnTo>
                <a:lnTo>
                  <a:pt x="496752" y="328517"/>
                </a:lnTo>
                <a:lnTo>
                  <a:pt x="476797" y="367379"/>
                </a:lnTo>
                <a:lnTo>
                  <a:pt x="464819" y="382524"/>
                </a:lnTo>
                <a:lnTo>
                  <a:pt x="467867" y="388619"/>
                </a:lnTo>
                <a:lnTo>
                  <a:pt x="495109" y="355282"/>
                </a:lnTo>
                <a:lnTo>
                  <a:pt x="516636" y="309371"/>
                </a:lnTo>
                <a:lnTo>
                  <a:pt x="530352" y="253745"/>
                </a:lnTo>
                <a:lnTo>
                  <a:pt x="534924" y="193548"/>
                </a:lnTo>
                <a:lnTo>
                  <a:pt x="533780" y="162377"/>
                </a:lnTo>
                <a:lnTo>
                  <a:pt x="524637" y="104608"/>
                </a:lnTo>
                <a:lnTo>
                  <a:pt x="506658" y="53149"/>
                </a:lnTo>
                <a:lnTo>
                  <a:pt x="482131" y="14287"/>
                </a:lnTo>
                <a:lnTo>
                  <a:pt x="467867" y="0"/>
                </a:lnTo>
                <a:close/>
              </a:path>
              <a:path w="535305" h="388619">
                <a:moveTo>
                  <a:pt x="65531" y="0"/>
                </a:moveTo>
                <a:lnTo>
                  <a:pt x="38290" y="32003"/>
                </a:lnTo>
                <a:lnTo>
                  <a:pt x="16763" y="77724"/>
                </a:lnTo>
                <a:lnTo>
                  <a:pt x="4381" y="132778"/>
                </a:lnTo>
                <a:lnTo>
                  <a:pt x="0" y="193548"/>
                </a:lnTo>
                <a:lnTo>
                  <a:pt x="1119" y="224075"/>
                </a:lnTo>
                <a:lnTo>
                  <a:pt x="9644" y="282273"/>
                </a:lnTo>
                <a:lnTo>
                  <a:pt x="26741" y="333970"/>
                </a:lnTo>
                <a:lnTo>
                  <a:pt x="51268" y="373451"/>
                </a:lnTo>
                <a:lnTo>
                  <a:pt x="65531" y="388619"/>
                </a:lnTo>
                <a:lnTo>
                  <a:pt x="70103" y="382524"/>
                </a:lnTo>
                <a:lnTo>
                  <a:pt x="57245" y="367379"/>
                </a:lnTo>
                <a:lnTo>
                  <a:pt x="46100" y="349376"/>
                </a:lnTo>
                <a:lnTo>
                  <a:pt x="28955" y="304800"/>
                </a:lnTo>
                <a:lnTo>
                  <a:pt x="18668" y="251459"/>
                </a:lnTo>
                <a:lnTo>
                  <a:pt x="15239" y="193548"/>
                </a:lnTo>
                <a:lnTo>
                  <a:pt x="16097" y="163520"/>
                </a:lnTo>
                <a:lnTo>
                  <a:pt x="22955" y="108037"/>
                </a:lnTo>
                <a:lnTo>
                  <a:pt x="36671" y="58578"/>
                </a:lnTo>
                <a:lnTo>
                  <a:pt x="57245" y="19716"/>
                </a:lnTo>
                <a:lnTo>
                  <a:pt x="70103" y="4571"/>
                </a:lnTo>
                <a:lnTo>
                  <a:pt x="65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88316" y="882772"/>
            <a:ext cx="259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142" baseline="-28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25" dirty="0">
                <a:latin typeface="Cambria Math" panose="02040503050406030204"/>
                <a:cs typeface="Cambria Math" panose="02040503050406030204"/>
              </a:rPr>
              <a:t>s</a:t>
            </a:r>
            <a:r>
              <a:rPr sz="1050" i="1" spc="202" baseline="-1600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050" i="1" spc="112" baseline="-36000" dirty="0">
                <a:latin typeface="Cambria Math" panose="02040503050406030204"/>
                <a:cs typeface="Cambria Math" panose="02040503050406030204"/>
              </a:rPr>
              <a:t>i</a:t>
            </a:r>
            <a:endParaRPr sz="1050" baseline="-3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9735" y="1173969"/>
            <a:ext cx="290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800" i="1" spc="22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" dirty="0">
                <a:latin typeface="Cambria Math" panose="02040503050406030204"/>
                <a:cs typeface="Cambria Math" panose="02040503050406030204"/>
              </a:rPr>
              <a:t>e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5622" y="1154100"/>
            <a:ext cx="7937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55" dirty="0">
                <a:latin typeface="Cambria Math" panose="02040503050406030204"/>
                <a:cs typeface="Cambria Math" panose="02040503050406030204"/>
              </a:rPr>
              <a:t>s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8920" y="1198323"/>
            <a:ext cx="7048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i="1" spc="165" dirty="0">
                <a:latin typeface="Cambria Math" panose="02040503050406030204"/>
                <a:cs typeface="Cambria Math" panose="02040503050406030204"/>
              </a:rPr>
              <a:t>j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7965" y="1257676"/>
            <a:ext cx="7810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180" dirty="0">
                <a:latin typeface="Cambria Math" panose="02040503050406030204"/>
                <a:cs typeface="Cambria Math" panose="02040503050406030204"/>
              </a:rPr>
              <a:t>j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32435" y="1194975"/>
            <a:ext cx="386080" cy="0"/>
          </a:xfrm>
          <a:custGeom>
            <a:avLst/>
            <a:gdLst/>
            <a:ahLst/>
            <a:cxnLst/>
            <a:rect l="l" t="t" r="r" b="b"/>
            <a:pathLst>
              <a:path w="386080">
                <a:moveTo>
                  <a:pt x="0" y="0"/>
                </a:moveTo>
                <a:lnTo>
                  <a:pt x="385572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635474" y="1614318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0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1583" y="2406843"/>
            <a:ext cx="45008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85945" algn="l"/>
              </a:tabLst>
            </a:pPr>
            <a:r>
              <a:rPr sz="2400" baseline="3000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400" baseline="3000" dirty="0">
                <a:solidFill>
                  <a:srgbClr val="37761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2400" spc="-7" baseline="30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400" spc="-5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" baseline="30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400" spc="-7" baseline="3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spc="7" baseline="3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baseline="3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-7" baseline="30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400" spc="-14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" baseline="30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400" baseline="3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spc="-7" baseline="3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7" baseline="3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-7" baseline="3000" dirty="0">
                <a:latin typeface="Times New Roman" panose="02020603050405020304"/>
                <a:cs typeface="Times New Roman" panose="02020603050405020304"/>
              </a:rPr>
              <a:t>]</a:t>
            </a:r>
            <a:r>
              <a:rPr sz="2400" baseline="3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0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86533" y="1632561"/>
            <a:ext cx="5854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.0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00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4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120" y="2026317"/>
            <a:ext cx="5029200" cy="341630"/>
          </a:xfrm>
          <a:prstGeom prst="rect">
            <a:avLst/>
          </a:prstGeom>
          <a:ln w="12191">
            <a:solidFill>
              <a:srgbClr val="FF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  <a:tabLst>
                <a:tab pos="2294890" algn="l"/>
                <a:tab pos="4443730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600" dirty="0">
                <a:solidFill>
                  <a:srgbClr val="37761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9,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9]	0.2395	</a:t>
            </a:r>
            <a:r>
              <a:rPr sz="2400" spc="-7" baseline="5000" dirty="0">
                <a:latin typeface="Times New Roman" panose="02020603050405020304"/>
                <a:cs typeface="Times New Roman" panose="02020603050405020304"/>
              </a:rPr>
              <a:t>0</a:t>
            </a:r>
            <a:endParaRPr sz="2400" baseline="5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62210" y="2425086"/>
            <a:ext cx="1031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Cambria Math" panose="02040503050406030204"/>
                <a:cs typeface="Cambria Math" panose="02040503050406030204"/>
              </a:rPr>
              <a:t>1.5 ×</a:t>
            </a:r>
            <a:r>
              <a:rPr sz="1600" i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600" i="1" spc="10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1725" i="1" spc="157" baseline="29000" dirty="0">
                <a:latin typeface="Cambria Math" panose="02040503050406030204"/>
                <a:cs typeface="Cambria Math" panose="02040503050406030204"/>
              </a:rPr>
              <a:t>-48</a:t>
            </a:r>
            <a:endParaRPr sz="172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7244" y="995661"/>
            <a:ext cx="718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假设分数</a:t>
            </a: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1673" y="1297393"/>
            <a:ext cx="64769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70" dirty="0">
                <a:latin typeface="Cambria Math" panose="02040503050406030204"/>
                <a:cs typeface="Cambria Math" panose="02040503050406030204"/>
              </a:rPr>
              <a:t>i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0876" y="1225785"/>
            <a:ext cx="437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65" dirty="0">
                <a:latin typeface="Cambria Math" panose="02040503050406030204"/>
                <a:cs typeface="Cambria Math" panose="02040503050406030204"/>
              </a:rPr>
              <a:t>y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0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119536" y="142144"/>
            <a:ext cx="360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交叉熵损失</a:t>
            </a:r>
            <a:r>
              <a:rPr sz="1800" b="1" spc="-4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vs</a:t>
            </a:r>
            <a:r>
              <a:rPr sz="1800" b="1" spc="-5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多类支撑向量机损失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3530927" y="1086784"/>
                <a:ext cx="2234873" cy="3206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200" spc="25">
                    <a:latin typeface="Cambria Math" panose="02040503050406030204"/>
                    <a:cs typeface="Cambria Math" panose="02040503050406030204"/>
                  </a:rPr>
                  <a:t>L</a:t>
                </a:r>
                <a:r>
                  <a:rPr lang="en-US" altLang="zh-CN" sz="1200" spc="37" baseline="-16000">
                    <a:latin typeface="Cambria Math" panose="02040503050406030204"/>
                    <a:cs typeface="Cambria Math" panose="02040503050406030204"/>
                  </a:rPr>
                  <a:t>i </a:t>
                </a:r>
                <a:r>
                  <a:rPr lang="en-US" altLang="zh-CN" sz="1200" spc="-5" dirty="0">
                    <a:latin typeface="Cambria Math" panose="02040503050406030204"/>
                    <a:cs typeface="Cambria Math" panose="02040503050406030204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zh-CN" altLang="ar-AE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sz="1200" i="1">
                                <a:latin typeface="Cambria Math" panose="02040503050406030204" pitchFamily="18" charset="0"/>
                              </a:rPr>
                              <m:t>𝑦𝑖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ar-AE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ar-AE" sz="1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1200"/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927" y="1086784"/>
                <a:ext cx="2234873" cy="320675"/>
              </a:xfrm>
              <a:prstGeom prst="rect">
                <a:avLst/>
              </a:prstGeom>
              <a:blipFill rotWithShape="1">
                <a:blip r:embed="rId1"/>
                <a:stretch>
                  <a:fillRect l="-15" t="-93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9503" y="2189013"/>
            <a:ext cx="893444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0901" y="2372947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ln w="12191">
            <a:solidFill>
              <a:srgbClr val="383838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454" y="1104638"/>
            <a:ext cx="4486275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67030" algn="just">
              <a:lnSpc>
                <a:spcPct val="150000"/>
              </a:lnSpc>
              <a:spcBef>
                <a:spcPts val="95"/>
              </a:spcBef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计算图是一种有向图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它用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来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表达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输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入、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输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出以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及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中 间变量之间的计算关系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图中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每个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节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点对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应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着一</a:t>
            </a:r>
            <a:r>
              <a:rPr sz="1400" spc="-15" dirty="0">
                <a:latin typeface="微软雅黑" panose="020B0503020204020204" charset="-122"/>
                <a:cs typeface="微软雅黑" panose="020B0503020204020204" charset="-122"/>
              </a:rPr>
              <a:t>种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数学 运算。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0198" y="125316"/>
            <a:ext cx="1807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什么是计算图？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4196" y="1254801"/>
            <a:ext cx="2667000" cy="130606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39320" y="163994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+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5223" y="1639941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mbria Math" panose="02040503050406030204"/>
                <a:cs typeface="Cambria Math" panose="02040503050406030204"/>
              </a:rPr>
              <a:t>^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2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4110" y="1632283"/>
            <a:ext cx="348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900" spc="3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975" spc="52" baseline="26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5954" y="1554559"/>
            <a:ext cx="476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z = x +</a:t>
            </a:r>
            <a:r>
              <a:rPr sz="9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637673" y="131178"/>
            <a:ext cx="25704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计算图与反向传播算法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56924" y="2533005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输入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5491" y="2533005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输出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8004" y="2534529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中间变量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14123" y="2123049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数学运算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6351" y="2110857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数学运算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7320" y="209409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latin typeface="Cambria Math" panose="02040503050406030204"/>
                <a:cs typeface="Cambria Math" panose="02040503050406030204"/>
              </a:rPr>
              <a:t>y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3608" y="891657"/>
            <a:ext cx="1846580" cy="57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函</a:t>
            </a:r>
            <a:r>
              <a:rPr sz="1200" spc="260" dirty="0">
                <a:latin typeface="微软雅黑" panose="020B0503020204020204" charset="-122"/>
                <a:cs typeface="微软雅黑" panose="020B0503020204020204" charset="-122"/>
              </a:rPr>
              <a:t>数</a:t>
            </a: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spc="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0" dirty="0">
                <a:latin typeface="Cambria Math" panose="02040503050406030204"/>
                <a:cs typeface="Cambria Math" panose="02040503050406030204"/>
              </a:rPr>
              <a:t>(x</a:t>
            </a:r>
            <a:r>
              <a:rPr sz="12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y)</a:t>
            </a:r>
            <a:r>
              <a:rPr sz="1275" spc="60" baseline="29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75" spc="157" baseline="29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计算图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 spc="55" dirty="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2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lang="en-US" sz="1200" spc="55" dirty="0">
                <a:latin typeface="Cambria Math" panose="02040503050406030204"/>
                <a:cs typeface="Cambria Math" panose="02040503050406030204"/>
              </a:rPr>
              <a:t>                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3608" y="885933"/>
            <a:ext cx="1846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函数</a:t>
            </a:r>
            <a:r>
              <a:rPr sz="1200" spc="-11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i="1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0" dirty="0">
                <a:latin typeface="Cambria Math" panose="02040503050406030204"/>
                <a:cs typeface="Cambria Math" panose="02040503050406030204"/>
              </a:rPr>
              <a:t>(x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200" i="1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y)</a:t>
            </a:r>
            <a:r>
              <a:rPr sz="1275" i="1" spc="60" baseline="29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275" i="1" spc="165" baseline="29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计算图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8200" y="162398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39320" y="1634217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+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6587" y="162398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95223" y="1634217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mbria Math" panose="02040503050406030204"/>
                <a:cs typeface="Cambria Math" panose="02040503050406030204"/>
              </a:rPr>
              <a:t>^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2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1083" y="1459389"/>
            <a:ext cx="547370" cy="288290"/>
          </a:xfrm>
          <a:custGeom>
            <a:avLst/>
            <a:gdLst/>
            <a:ahLst/>
            <a:cxnLst/>
            <a:rect l="l" t="t" r="r" b="b"/>
            <a:pathLst>
              <a:path w="547369" h="288289">
                <a:moveTo>
                  <a:pt x="512663" y="272966"/>
                </a:moveTo>
                <a:lnTo>
                  <a:pt x="504444" y="288035"/>
                </a:lnTo>
                <a:lnTo>
                  <a:pt x="547116" y="288035"/>
                </a:lnTo>
                <a:lnTo>
                  <a:pt x="538249" y="275843"/>
                </a:lnTo>
                <a:lnTo>
                  <a:pt x="518160" y="275843"/>
                </a:lnTo>
                <a:lnTo>
                  <a:pt x="512663" y="272966"/>
                </a:lnTo>
                <a:close/>
              </a:path>
              <a:path w="547369" h="288289">
                <a:moveTo>
                  <a:pt x="514942" y="268789"/>
                </a:moveTo>
                <a:lnTo>
                  <a:pt x="512663" y="272966"/>
                </a:lnTo>
                <a:lnTo>
                  <a:pt x="518160" y="275843"/>
                </a:lnTo>
                <a:lnTo>
                  <a:pt x="519684" y="271271"/>
                </a:lnTo>
                <a:lnTo>
                  <a:pt x="514942" y="268789"/>
                </a:lnTo>
                <a:close/>
              </a:path>
              <a:path w="547369" h="288289">
                <a:moveTo>
                  <a:pt x="522732" y="254507"/>
                </a:moveTo>
                <a:lnTo>
                  <a:pt x="514942" y="268789"/>
                </a:lnTo>
                <a:lnTo>
                  <a:pt x="519684" y="271271"/>
                </a:lnTo>
                <a:lnTo>
                  <a:pt x="518160" y="275843"/>
                </a:lnTo>
                <a:lnTo>
                  <a:pt x="538249" y="275843"/>
                </a:lnTo>
                <a:lnTo>
                  <a:pt x="522732" y="254507"/>
                </a:lnTo>
                <a:close/>
              </a:path>
              <a:path w="547369" h="288289">
                <a:moveTo>
                  <a:pt x="1524" y="0"/>
                </a:moveTo>
                <a:lnTo>
                  <a:pt x="0" y="4571"/>
                </a:lnTo>
                <a:lnTo>
                  <a:pt x="512663" y="272966"/>
                </a:lnTo>
                <a:lnTo>
                  <a:pt x="514942" y="268789"/>
                </a:lnTo>
                <a:lnTo>
                  <a:pt x="1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19560" y="1747425"/>
            <a:ext cx="548640" cy="425450"/>
          </a:xfrm>
          <a:custGeom>
            <a:avLst/>
            <a:gdLst/>
            <a:ahLst/>
            <a:cxnLst/>
            <a:rect l="l" t="t" r="r" b="b"/>
            <a:pathLst>
              <a:path w="548639" h="425450">
                <a:moveTo>
                  <a:pt x="516645" y="21823"/>
                </a:moveTo>
                <a:lnTo>
                  <a:pt x="0" y="422148"/>
                </a:lnTo>
                <a:lnTo>
                  <a:pt x="3047" y="425196"/>
                </a:lnTo>
                <a:lnTo>
                  <a:pt x="519402" y="25097"/>
                </a:lnTo>
                <a:lnTo>
                  <a:pt x="516645" y="21823"/>
                </a:lnTo>
                <a:close/>
              </a:path>
              <a:path w="548639" h="425450">
                <a:moveTo>
                  <a:pt x="539861" y="18288"/>
                </a:moveTo>
                <a:lnTo>
                  <a:pt x="521207" y="18288"/>
                </a:lnTo>
                <a:lnTo>
                  <a:pt x="524256" y="21335"/>
                </a:lnTo>
                <a:lnTo>
                  <a:pt x="519402" y="25097"/>
                </a:lnTo>
                <a:lnTo>
                  <a:pt x="530351" y="38100"/>
                </a:lnTo>
                <a:lnTo>
                  <a:pt x="539861" y="18288"/>
                </a:lnTo>
                <a:close/>
              </a:path>
              <a:path w="548639" h="425450">
                <a:moveTo>
                  <a:pt x="521207" y="18288"/>
                </a:moveTo>
                <a:lnTo>
                  <a:pt x="516645" y="21823"/>
                </a:lnTo>
                <a:lnTo>
                  <a:pt x="519402" y="25097"/>
                </a:lnTo>
                <a:lnTo>
                  <a:pt x="524256" y="21335"/>
                </a:lnTo>
                <a:lnTo>
                  <a:pt x="521207" y="18288"/>
                </a:lnTo>
                <a:close/>
              </a:path>
              <a:path w="548639" h="425450">
                <a:moveTo>
                  <a:pt x="548639" y="0"/>
                </a:moveTo>
                <a:lnTo>
                  <a:pt x="505967" y="9144"/>
                </a:lnTo>
                <a:lnTo>
                  <a:pt x="516645" y="21823"/>
                </a:lnTo>
                <a:lnTo>
                  <a:pt x="521207" y="18288"/>
                </a:lnTo>
                <a:lnTo>
                  <a:pt x="539861" y="18288"/>
                </a:lnTo>
                <a:lnTo>
                  <a:pt x="5486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16611" y="1729137"/>
            <a:ext cx="546100" cy="38100"/>
          </a:xfrm>
          <a:custGeom>
            <a:avLst/>
            <a:gdLst/>
            <a:ahLst/>
            <a:cxnLst/>
            <a:rect l="l" t="t" r="r" b="b"/>
            <a:pathLst>
              <a:path w="546100" h="38100">
                <a:moveTo>
                  <a:pt x="507491" y="0"/>
                </a:moveTo>
                <a:lnTo>
                  <a:pt x="507491" y="38100"/>
                </a:lnTo>
                <a:lnTo>
                  <a:pt x="539730" y="21336"/>
                </a:lnTo>
                <a:lnTo>
                  <a:pt x="515112" y="21336"/>
                </a:lnTo>
                <a:lnTo>
                  <a:pt x="515112" y="16764"/>
                </a:lnTo>
                <a:lnTo>
                  <a:pt x="542416" y="16764"/>
                </a:lnTo>
                <a:lnTo>
                  <a:pt x="507491" y="0"/>
                </a:lnTo>
                <a:close/>
              </a:path>
              <a:path w="546100" h="38100">
                <a:moveTo>
                  <a:pt x="507491" y="16764"/>
                </a:moveTo>
                <a:lnTo>
                  <a:pt x="0" y="16764"/>
                </a:lnTo>
                <a:lnTo>
                  <a:pt x="0" y="21336"/>
                </a:lnTo>
                <a:lnTo>
                  <a:pt x="507491" y="21336"/>
                </a:lnTo>
                <a:lnTo>
                  <a:pt x="507491" y="16764"/>
                </a:lnTo>
                <a:close/>
              </a:path>
              <a:path w="546100" h="38100">
                <a:moveTo>
                  <a:pt x="542416" y="16764"/>
                </a:moveTo>
                <a:lnTo>
                  <a:pt x="515112" y="16764"/>
                </a:lnTo>
                <a:lnTo>
                  <a:pt x="515112" y="21336"/>
                </a:lnTo>
                <a:lnTo>
                  <a:pt x="539730" y="21336"/>
                </a:lnTo>
                <a:lnTo>
                  <a:pt x="545591" y="18288"/>
                </a:lnTo>
                <a:lnTo>
                  <a:pt x="542416" y="167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35000" y="1729137"/>
            <a:ext cx="447040" cy="38100"/>
          </a:xfrm>
          <a:custGeom>
            <a:avLst/>
            <a:gdLst/>
            <a:ahLst/>
            <a:cxnLst/>
            <a:rect l="l" t="t" r="r" b="b"/>
            <a:pathLst>
              <a:path w="447039" h="38100">
                <a:moveTo>
                  <a:pt x="408432" y="0"/>
                </a:moveTo>
                <a:lnTo>
                  <a:pt x="408432" y="38100"/>
                </a:lnTo>
                <a:lnTo>
                  <a:pt x="440670" y="21336"/>
                </a:lnTo>
                <a:lnTo>
                  <a:pt x="414527" y="21336"/>
                </a:lnTo>
                <a:lnTo>
                  <a:pt x="414527" y="16764"/>
                </a:lnTo>
                <a:lnTo>
                  <a:pt x="443357" y="16764"/>
                </a:lnTo>
                <a:lnTo>
                  <a:pt x="408432" y="0"/>
                </a:lnTo>
                <a:close/>
              </a:path>
              <a:path w="447039" h="38100">
                <a:moveTo>
                  <a:pt x="408432" y="16764"/>
                </a:moveTo>
                <a:lnTo>
                  <a:pt x="0" y="16764"/>
                </a:lnTo>
                <a:lnTo>
                  <a:pt x="0" y="21336"/>
                </a:lnTo>
                <a:lnTo>
                  <a:pt x="408432" y="21336"/>
                </a:lnTo>
                <a:lnTo>
                  <a:pt x="408432" y="16764"/>
                </a:lnTo>
                <a:close/>
              </a:path>
              <a:path w="447039" h="38100">
                <a:moveTo>
                  <a:pt x="443357" y="16764"/>
                </a:moveTo>
                <a:lnTo>
                  <a:pt x="414527" y="16764"/>
                </a:lnTo>
                <a:lnTo>
                  <a:pt x="414527" y="21336"/>
                </a:lnTo>
                <a:lnTo>
                  <a:pt x="440670" y="21336"/>
                </a:lnTo>
                <a:lnTo>
                  <a:pt x="446532" y="18288"/>
                </a:lnTo>
                <a:lnTo>
                  <a:pt x="443357" y="167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765690" y="125316"/>
            <a:ext cx="23164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计算图的前反向计算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7320" y="2088369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65" dirty="0">
                <a:latin typeface="Cambria Math" panose="02040503050406030204"/>
                <a:cs typeface="Cambria Math" panose="02040503050406030204"/>
              </a:rPr>
              <a:t>y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7320" y="1291317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3456" y="133094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76092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35954" y="1408665"/>
            <a:ext cx="476250" cy="30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 algn="ctr">
              <a:lnSpc>
                <a:spcPts val="1270"/>
              </a:lnSpc>
              <a:spcBef>
                <a:spcPts val="100"/>
              </a:spcBef>
            </a:pPr>
            <a:r>
              <a:rPr sz="1200" dirty="0">
                <a:solidFill>
                  <a:srgbClr val="376092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ts val="910"/>
              </a:lnSpc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z = x +</a:t>
            </a:r>
            <a:r>
              <a:rPr sz="900" i="1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84110" y="1418875"/>
            <a:ext cx="348615" cy="37084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solidFill>
                  <a:srgbClr val="376092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900" i="1" spc="2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9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900" i="1" spc="3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975" i="1" spc="52" baseline="26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63344" y="1757556"/>
            <a:ext cx="139700" cy="1243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i="1" spc="110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a</a:t>
            </a:r>
            <a:r>
              <a:rPr lang="en-US" altLang="zh-CN" sz="700" i="1" spc="110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f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77572" y="1903635"/>
            <a:ext cx="116205" cy="0"/>
          </a:xfrm>
          <a:custGeom>
            <a:avLst/>
            <a:gdLst/>
            <a:ahLst/>
            <a:cxnLst/>
            <a:rect l="l" t="t" r="r" b="b"/>
            <a:pathLst>
              <a:path w="116205">
                <a:moveTo>
                  <a:pt x="0" y="0"/>
                </a:moveTo>
                <a:lnTo>
                  <a:pt x="115824" y="0"/>
                </a:lnTo>
              </a:path>
            </a:pathLst>
          </a:custGeom>
          <a:ln w="762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656841" y="1806575"/>
            <a:ext cx="441959" cy="234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=2z</a:t>
            </a:r>
            <a:r>
              <a:rPr sz="10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640"/>
              </a:lnSpc>
            </a:pPr>
            <a:r>
              <a:rPr sz="700" i="1" spc="9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az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08355" y="1532025"/>
            <a:ext cx="13271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i="1" spc="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a</a:t>
            </a:r>
            <a:r>
              <a:rPr sz="700" i="1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z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19560" y="167808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762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805380" y="1573177"/>
            <a:ext cx="296545" cy="440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4925" algn="r">
              <a:lnSpc>
                <a:spcPts val="1000"/>
              </a:lnSpc>
              <a:spcBef>
                <a:spcPts val="95"/>
              </a:spcBef>
            </a:pPr>
            <a:r>
              <a:rPr sz="10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640"/>
              </a:lnSpc>
            </a:pPr>
            <a:r>
              <a:rPr sz="700" i="1" spc="1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ax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R="5080" algn="r">
              <a:lnSpc>
                <a:spcPct val="100000"/>
              </a:lnSpc>
              <a:spcBef>
                <a:spcPts val="185"/>
              </a:spcBef>
            </a:pPr>
            <a:r>
              <a:rPr sz="1200" dirty="0">
                <a:solidFill>
                  <a:srgbClr val="376092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8648" y="2138615"/>
            <a:ext cx="13271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i="1" spc="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a</a:t>
            </a:r>
            <a:r>
              <a:rPr sz="700" i="1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z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66804" y="2283111"/>
            <a:ext cx="119380" cy="0"/>
          </a:xfrm>
          <a:custGeom>
            <a:avLst/>
            <a:gdLst/>
            <a:ahLst/>
            <a:cxnLst/>
            <a:rect l="l" t="t" r="r" b="b"/>
            <a:pathLst>
              <a:path w="119380">
                <a:moveTo>
                  <a:pt x="0" y="0"/>
                </a:moveTo>
                <a:lnTo>
                  <a:pt x="118871" y="0"/>
                </a:lnTo>
              </a:path>
            </a:pathLst>
          </a:custGeom>
          <a:ln w="762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854093" y="2179707"/>
            <a:ext cx="271780" cy="234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445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=1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640"/>
              </a:lnSpc>
            </a:pPr>
            <a:r>
              <a:rPr sz="700" i="1" spc="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ay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8064" y="1457103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780" y="0"/>
                </a:lnTo>
              </a:path>
            </a:pathLst>
          </a:custGeom>
          <a:ln w="762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27436" y="1457103"/>
            <a:ext cx="144780" cy="0"/>
          </a:xfrm>
          <a:custGeom>
            <a:avLst/>
            <a:gdLst/>
            <a:ahLst/>
            <a:cxnLst/>
            <a:rect l="l" t="t" r="r" b="b"/>
            <a:pathLst>
              <a:path w="144780">
                <a:moveTo>
                  <a:pt x="0" y="0"/>
                </a:moveTo>
                <a:lnTo>
                  <a:pt x="144780" y="0"/>
                </a:lnTo>
              </a:path>
            </a:pathLst>
          </a:custGeom>
          <a:ln w="762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05327" y="1257707"/>
            <a:ext cx="63436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80"/>
              </a:lnSpc>
              <a:spcBef>
                <a:spcPts val="95"/>
              </a:spcBef>
              <a:tabLst>
                <a:tab pos="321945" algn="l"/>
              </a:tabLst>
            </a:pPr>
            <a:r>
              <a:rPr sz="1000" i="1" spc="15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af	af</a:t>
            </a:r>
            <a:r>
              <a:rPr sz="1000" i="1" spc="-6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4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az</a:t>
            </a:r>
            <a:endParaRPr sz="1000">
              <a:latin typeface="Cambria Math" panose="02040503050406030204"/>
              <a:cs typeface="Cambria Math" panose="02040503050406030204"/>
            </a:endParaRPr>
          </a:p>
          <a:p>
            <a:pPr marL="190500">
              <a:lnSpc>
                <a:spcPts val="980"/>
              </a:lnSpc>
            </a:pPr>
            <a:r>
              <a:rPr sz="1000" i="1" spc="-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6845" y="1439096"/>
            <a:ext cx="635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485" algn="l"/>
              </a:tabLst>
            </a:pPr>
            <a:r>
              <a:rPr sz="1000" i="1" spc="5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ax	</a:t>
            </a:r>
            <a:r>
              <a:rPr sz="1000" i="1" spc="4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az</a:t>
            </a:r>
            <a:r>
              <a:rPr sz="1000" i="1" spc="-5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5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ax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92028" y="1457103"/>
            <a:ext cx="142240" cy="0"/>
          </a:xfrm>
          <a:custGeom>
            <a:avLst/>
            <a:gdLst/>
            <a:ahLst/>
            <a:cxnLst/>
            <a:rect l="l" t="t" r="r" b="b"/>
            <a:pathLst>
              <a:path w="142240">
                <a:moveTo>
                  <a:pt x="0" y="0"/>
                </a:moveTo>
                <a:lnTo>
                  <a:pt x="141732" y="0"/>
                </a:lnTo>
              </a:path>
            </a:pathLst>
          </a:custGeom>
          <a:ln w="762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16540" y="2252631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779" y="0"/>
                </a:lnTo>
              </a:path>
            </a:pathLst>
          </a:custGeom>
          <a:ln w="762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25911" y="2252631"/>
            <a:ext cx="144780" cy="0"/>
          </a:xfrm>
          <a:custGeom>
            <a:avLst/>
            <a:gdLst/>
            <a:ahLst/>
            <a:cxnLst/>
            <a:rect l="l" t="t" r="r" b="b"/>
            <a:pathLst>
              <a:path w="144780">
                <a:moveTo>
                  <a:pt x="0" y="0"/>
                </a:moveTo>
                <a:lnTo>
                  <a:pt x="144780" y="0"/>
                </a:lnTo>
              </a:path>
            </a:pathLst>
          </a:custGeom>
          <a:ln w="762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03809" y="2051697"/>
            <a:ext cx="63690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80"/>
              </a:lnSpc>
              <a:spcBef>
                <a:spcPts val="95"/>
              </a:spcBef>
              <a:tabLst>
                <a:tab pos="321945" algn="l"/>
              </a:tabLst>
            </a:pPr>
            <a:r>
              <a:rPr sz="1000" i="1" spc="15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af	af</a:t>
            </a:r>
            <a:r>
              <a:rPr sz="1000" i="1" spc="-4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4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az</a:t>
            </a:r>
            <a:endParaRPr sz="1000">
              <a:latin typeface="Cambria Math" panose="02040503050406030204"/>
              <a:cs typeface="Cambria Math" panose="02040503050406030204"/>
            </a:endParaRPr>
          </a:p>
          <a:p>
            <a:pPr marL="190500">
              <a:lnSpc>
                <a:spcPts val="980"/>
              </a:lnSpc>
            </a:pPr>
            <a:r>
              <a:rPr sz="1000" i="1" spc="-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3809" y="2233086"/>
            <a:ext cx="6419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6390" algn="l"/>
              </a:tabLst>
            </a:pPr>
            <a:r>
              <a:rPr sz="1000" i="1" spc="5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ay	</a:t>
            </a:r>
            <a:r>
              <a:rPr sz="1000" i="1" spc="4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az</a:t>
            </a:r>
            <a:r>
              <a:rPr sz="1000" i="1" spc="-4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5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ay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92028" y="2252631"/>
            <a:ext cx="144780" cy="0"/>
          </a:xfrm>
          <a:custGeom>
            <a:avLst/>
            <a:gdLst/>
            <a:ahLst/>
            <a:cxnLst/>
            <a:rect l="l" t="t" r="r" b="b"/>
            <a:pathLst>
              <a:path w="144780">
                <a:moveTo>
                  <a:pt x="0" y="0"/>
                </a:moveTo>
                <a:lnTo>
                  <a:pt x="144780" y="0"/>
                </a:lnTo>
              </a:path>
            </a:pathLst>
          </a:custGeom>
          <a:ln w="762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3088" y="777357"/>
            <a:ext cx="5379720" cy="167132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82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任意复杂的函数，都可以用计算图的形式表示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72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在整个计算图中，每个门单元都会得到一些输入，然后，进行下面两个计算：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469900" lvl="1" indent="-228600">
              <a:lnSpc>
                <a:spcPct val="100000"/>
              </a:lnSpc>
              <a:spcBef>
                <a:spcPts val="720"/>
              </a:spcBef>
              <a:buAutoNum type="alphaLcParenR"/>
              <a:tabLst>
                <a:tab pos="469900" algn="l"/>
              </a:tabLst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这个门的输出值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469900" lvl="1" indent="-228600">
              <a:lnSpc>
                <a:spcPct val="100000"/>
              </a:lnSpc>
              <a:spcBef>
                <a:spcPts val="720"/>
              </a:spcBef>
              <a:buAutoNum type="alphaLcParenR"/>
              <a:tabLst>
                <a:tab pos="469900" algn="l"/>
              </a:tabLst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其输出值关于输入值的局部梯度。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marR="157480" indent="-172085">
              <a:lnSpc>
                <a:spcPct val="15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利用链式法则，门单元应该将回传的梯度乘以它对其的输入的局部梯度，从 而得到整个网络的输出对该门单元的每个输入值的梯度。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4706" y="131178"/>
            <a:ext cx="1297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计算图总结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147" y="2329161"/>
            <a:ext cx="676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105" dirty="0">
                <a:latin typeface="Cambria Math" panose="02040503050406030204"/>
                <a:cs typeface="Cambria Math" panose="02040503050406030204"/>
              </a:rPr>
              <a:t>f(x)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867" y="2352021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1867" y="2201145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i="1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6092" y="2473611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71323" y="2352021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672" y="2800077"/>
            <a:ext cx="735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75" i="1" spc="104" baseline="-16000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ax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9823" y="2780265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1679" y="2882373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56" y="290185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70156" y="2664441"/>
            <a:ext cx="485775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i="1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a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1235" y="2341353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105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 =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108" y="2190476"/>
            <a:ext cx="109855" cy="461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5332" y="2459133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0" y="0"/>
                </a:moveTo>
                <a:lnTo>
                  <a:pt x="85343" y="0"/>
                </a:lnTo>
                <a:lnTo>
                  <a:pt x="85343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55189" y="2833561"/>
            <a:ext cx="81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25" dirty="0">
                <a:latin typeface="Cambria Math" panose="02040503050406030204"/>
                <a:cs typeface="Cambria Math" panose="02040503050406030204"/>
              </a:rPr>
              <a:t>e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4779" y="2348973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3776" y="2198096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i="1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8000" y="2470563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81708" y="2348973"/>
            <a:ext cx="641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 −</a:t>
            </a:r>
            <a:r>
              <a:rPr sz="1200" i="1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00" i="1" spc="52" baseline="2000" dirty="0">
                <a:latin typeface="Cambria Math" panose="02040503050406030204"/>
                <a:cs typeface="Cambria Math" panose="02040503050406030204"/>
              </a:rPr>
              <a:t>⁄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i="1" spc="52" baseline="29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1903" y="2761977"/>
            <a:ext cx="1064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20" dirty="0">
                <a:latin typeface="Cambria Math" panose="02040503050406030204"/>
                <a:cs typeface="Cambria Math" panose="02040503050406030204"/>
              </a:rPr>
              <a:t>c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→</a:t>
            </a:r>
            <a:endParaRPr sz="1800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2252" y="2856465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952" y="2875947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60728" y="2638533"/>
            <a:ext cx="485140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i="1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4976" y="272193"/>
            <a:ext cx="358140" cy="142240"/>
          </a:xfrm>
          <a:custGeom>
            <a:avLst/>
            <a:gdLst/>
            <a:ahLst/>
            <a:cxnLst/>
            <a:rect l="l" t="t" r="r" b="b"/>
            <a:pathLst>
              <a:path w="358139" h="142240">
                <a:moveTo>
                  <a:pt x="313944" y="0"/>
                </a:moveTo>
                <a:lnTo>
                  <a:pt x="310896" y="6096"/>
                </a:lnTo>
                <a:lnTo>
                  <a:pt x="319444" y="9239"/>
                </a:lnTo>
                <a:lnTo>
                  <a:pt x="326707" y="14096"/>
                </a:lnTo>
                <a:lnTo>
                  <a:pt x="345376" y="58102"/>
                </a:lnTo>
                <a:lnTo>
                  <a:pt x="345948" y="70103"/>
                </a:lnTo>
                <a:lnTo>
                  <a:pt x="345376" y="82343"/>
                </a:lnTo>
                <a:lnTo>
                  <a:pt x="332541" y="121062"/>
                </a:lnTo>
                <a:lnTo>
                  <a:pt x="310896" y="135635"/>
                </a:lnTo>
                <a:lnTo>
                  <a:pt x="313944" y="141731"/>
                </a:lnTo>
                <a:lnTo>
                  <a:pt x="347472" y="117348"/>
                </a:lnTo>
                <a:lnTo>
                  <a:pt x="358139" y="71627"/>
                </a:lnTo>
                <a:lnTo>
                  <a:pt x="357544" y="58459"/>
                </a:lnTo>
                <a:lnTo>
                  <a:pt x="340304" y="16073"/>
                </a:lnTo>
                <a:lnTo>
                  <a:pt x="323683" y="4024"/>
                </a:lnTo>
                <a:lnTo>
                  <a:pt x="313944" y="0"/>
                </a:lnTo>
                <a:close/>
              </a:path>
              <a:path w="358139" h="142240">
                <a:moveTo>
                  <a:pt x="45720" y="0"/>
                </a:moveTo>
                <a:lnTo>
                  <a:pt x="12191" y="24383"/>
                </a:lnTo>
                <a:lnTo>
                  <a:pt x="0" y="71627"/>
                </a:lnTo>
                <a:lnTo>
                  <a:pt x="833" y="83915"/>
                </a:lnTo>
                <a:lnTo>
                  <a:pt x="18502" y="125658"/>
                </a:lnTo>
                <a:lnTo>
                  <a:pt x="45720" y="141731"/>
                </a:lnTo>
                <a:lnTo>
                  <a:pt x="47244" y="135635"/>
                </a:lnTo>
                <a:lnTo>
                  <a:pt x="38909" y="132492"/>
                </a:lnTo>
                <a:lnTo>
                  <a:pt x="32004" y="127634"/>
                </a:lnTo>
                <a:lnTo>
                  <a:pt x="14263" y="82343"/>
                </a:lnTo>
                <a:lnTo>
                  <a:pt x="13715" y="70103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4" y="6096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23620" y="122841"/>
            <a:ext cx="2216150" cy="39941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2465" algn="ctr">
              <a:lnSpc>
                <a:spcPts val="1130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78740">
              <a:lnSpc>
                <a:spcPts val="695"/>
              </a:lnSpc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w,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664845" algn="ctr">
              <a:lnSpc>
                <a:spcPts val="960"/>
              </a:lnSpc>
            </a:pPr>
            <a:r>
              <a:rPr sz="1800" i="1" baseline="-16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800" i="1" spc="-5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112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-(w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4952" y="343059"/>
            <a:ext cx="1385570" cy="0"/>
          </a:xfrm>
          <a:custGeom>
            <a:avLst/>
            <a:gdLst/>
            <a:ahLst/>
            <a:cxnLst/>
            <a:rect l="l" t="t" r="r" b="b"/>
            <a:pathLst>
              <a:path w="1385570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0943" y="884841"/>
            <a:ext cx="355092" cy="3489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1799" y="1549305"/>
            <a:ext cx="356616" cy="348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2176" y="1710849"/>
            <a:ext cx="2214880" cy="530860"/>
          </a:xfrm>
          <a:custGeom>
            <a:avLst/>
            <a:gdLst/>
            <a:ahLst/>
            <a:cxnLst/>
            <a:rect l="l" t="t" r="r" b="b"/>
            <a:pathLst>
              <a:path w="2214880" h="530860">
                <a:moveTo>
                  <a:pt x="2176477" y="13557"/>
                </a:moveTo>
                <a:lnTo>
                  <a:pt x="0" y="518159"/>
                </a:lnTo>
                <a:lnTo>
                  <a:pt x="3048" y="530351"/>
                </a:lnTo>
                <a:lnTo>
                  <a:pt x="2179410" y="25776"/>
                </a:lnTo>
                <a:lnTo>
                  <a:pt x="2176477" y="13557"/>
                </a:lnTo>
                <a:close/>
              </a:path>
              <a:path w="2214880" h="530860">
                <a:moveTo>
                  <a:pt x="2212594" y="12192"/>
                </a:moveTo>
                <a:lnTo>
                  <a:pt x="2182368" y="12192"/>
                </a:lnTo>
                <a:lnTo>
                  <a:pt x="2185416" y="24383"/>
                </a:lnTo>
                <a:lnTo>
                  <a:pt x="2179410" y="25776"/>
                </a:lnTo>
                <a:lnTo>
                  <a:pt x="2182368" y="38100"/>
                </a:lnTo>
                <a:lnTo>
                  <a:pt x="2212594" y="12192"/>
                </a:lnTo>
                <a:close/>
              </a:path>
              <a:path w="2214880" h="530860">
                <a:moveTo>
                  <a:pt x="2182368" y="12192"/>
                </a:moveTo>
                <a:lnTo>
                  <a:pt x="2176477" y="13557"/>
                </a:lnTo>
                <a:lnTo>
                  <a:pt x="2179410" y="25776"/>
                </a:lnTo>
                <a:lnTo>
                  <a:pt x="2185416" y="24383"/>
                </a:lnTo>
                <a:lnTo>
                  <a:pt x="2182368" y="12192"/>
                </a:lnTo>
                <a:close/>
              </a:path>
              <a:path w="2214880" h="530860">
                <a:moveTo>
                  <a:pt x="2173224" y="0"/>
                </a:moveTo>
                <a:lnTo>
                  <a:pt x="2176477" y="13557"/>
                </a:lnTo>
                <a:lnTo>
                  <a:pt x="2182368" y="12192"/>
                </a:lnTo>
                <a:lnTo>
                  <a:pt x="2212594" y="12192"/>
                </a:lnTo>
                <a:lnTo>
                  <a:pt x="2214372" y="10668"/>
                </a:lnTo>
                <a:lnTo>
                  <a:pt x="2173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48415" y="924465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30165" y="959046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39272" y="1578261"/>
            <a:ext cx="246887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39272" y="1578261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664" y="9644"/>
                </a:lnTo>
                <a:lnTo>
                  <a:pt x="210883" y="36004"/>
                </a:lnTo>
                <a:lnTo>
                  <a:pt x="237243" y="75223"/>
                </a:lnTo>
                <a:lnTo>
                  <a:pt x="246887" y="123443"/>
                </a:lnTo>
                <a:lnTo>
                  <a:pt x="237243" y="171902"/>
                </a:lnTo>
                <a:lnTo>
                  <a:pt x="210883" y="211645"/>
                </a:lnTo>
                <a:lnTo>
                  <a:pt x="171664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21021" y="161284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66547" y="15965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4967"/>
                </a:moveTo>
                <a:lnTo>
                  <a:pt x="9882" y="76509"/>
                </a:lnTo>
                <a:lnTo>
                  <a:pt x="36766" y="36766"/>
                </a:lnTo>
                <a:lnTo>
                  <a:pt x="76509" y="9882"/>
                </a:lnTo>
                <a:lnTo>
                  <a:pt x="124967" y="0"/>
                </a:lnTo>
                <a:lnTo>
                  <a:pt x="173188" y="9882"/>
                </a:lnTo>
                <a:lnTo>
                  <a:pt x="212407" y="36766"/>
                </a:lnTo>
                <a:lnTo>
                  <a:pt x="238767" y="76509"/>
                </a:lnTo>
                <a:lnTo>
                  <a:pt x="248411" y="124967"/>
                </a:lnTo>
                <a:lnTo>
                  <a:pt x="238767" y="173188"/>
                </a:lnTo>
                <a:lnTo>
                  <a:pt x="212407" y="212407"/>
                </a:lnTo>
                <a:lnTo>
                  <a:pt x="173188" y="238767"/>
                </a:lnTo>
                <a:lnTo>
                  <a:pt x="124967" y="248411"/>
                </a:lnTo>
                <a:lnTo>
                  <a:pt x="76509" y="238767"/>
                </a:lnTo>
                <a:lnTo>
                  <a:pt x="36766" y="212407"/>
                </a:lnTo>
                <a:lnTo>
                  <a:pt x="9882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49821" y="163113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86159" y="170322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26595" y="1044861"/>
            <a:ext cx="245745" cy="292735"/>
          </a:xfrm>
          <a:custGeom>
            <a:avLst/>
            <a:gdLst/>
            <a:ahLst/>
            <a:cxnLst/>
            <a:rect l="l" t="t" r="r" b="b"/>
            <a:pathLst>
              <a:path w="245744" h="292734">
                <a:moveTo>
                  <a:pt x="215510" y="268027"/>
                </a:moveTo>
                <a:lnTo>
                  <a:pt x="205740" y="275844"/>
                </a:lnTo>
                <a:lnTo>
                  <a:pt x="245364" y="292608"/>
                </a:lnTo>
                <a:lnTo>
                  <a:pt x="240961" y="272796"/>
                </a:lnTo>
                <a:lnTo>
                  <a:pt x="219456" y="272796"/>
                </a:lnTo>
                <a:lnTo>
                  <a:pt x="215510" y="268027"/>
                </a:lnTo>
                <a:close/>
              </a:path>
              <a:path w="245744" h="292734">
                <a:moveTo>
                  <a:pt x="226453" y="259273"/>
                </a:moveTo>
                <a:lnTo>
                  <a:pt x="215510" y="268027"/>
                </a:lnTo>
                <a:lnTo>
                  <a:pt x="219456" y="272796"/>
                </a:lnTo>
                <a:lnTo>
                  <a:pt x="230124" y="263652"/>
                </a:lnTo>
                <a:lnTo>
                  <a:pt x="226453" y="259273"/>
                </a:lnTo>
                <a:close/>
              </a:path>
              <a:path w="245744" h="292734">
                <a:moveTo>
                  <a:pt x="236220" y="251460"/>
                </a:moveTo>
                <a:lnTo>
                  <a:pt x="226453" y="259273"/>
                </a:lnTo>
                <a:lnTo>
                  <a:pt x="230124" y="263652"/>
                </a:lnTo>
                <a:lnTo>
                  <a:pt x="219456" y="272796"/>
                </a:lnTo>
                <a:lnTo>
                  <a:pt x="240961" y="272796"/>
                </a:lnTo>
                <a:lnTo>
                  <a:pt x="236220" y="251460"/>
                </a:lnTo>
                <a:close/>
              </a:path>
              <a:path w="245744" h="292734">
                <a:moveTo>
                  <a:pt x="9143" y="0"/>
                </a:moveTo>
                <a:lnTo>
                  <a:pt x="0" y="7620"/>
                </a:lnTo>
                <a:lnTo>
                  <a:pt x="215510" y="268027"/>
                </a:lnTo>
                <a:lnTo>
                  <a:pt x="226453" y="2592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1356" y="1337469"/>
            <a:ext cx="260985" cy="368935"/>
          </a:xfrm>
          <a:custGeom>
            <a:avLst/>
            <a:gdLst/>
            <a:ahLst/>
            <a:cxnLst/>
            <a:rect l="l" t="t" r="r" b="b"/>
            <a:pathLst>
              <a:path w="260985" h="368935">
                <a:moveTo>
                  <a:pt x="234076" y="28078"/>
                </a:moveTo>
                <a:lnTo>
                  <a:pt x="0" y="361187"/>
                </a:lnTo>
                <a:lnTo>
                  <a:pt x="9143" y="368807"/>
                </a:lnTo>
                <a:lnTo>
                  <a:pt x="243730" y="34973"/>
                </a:lnTo>
                <a:lnTo>
                  <a:pt x="234076" y="28078"/>
                </a:lnTo>
                <a:close/>
              </a:path>
              <a:path w="260985" h="368935">
                <a:moveTo>
                  <a:pt x="257338" y="22859"/>
                </a:moveTo>
                <a:lnTo>
                  <a:pt x="237744" y="22859"/>
                </a:lnTo>
                <a:lnTo>
                  <a:pt x="246887" y="30479"/>
                </a:lnTo>
                <a:lnTo>
                  <a:pt x="243730" y="34973"/>
                </a:lnTo>
                <a:lnTo>
                  <a:pt x="254507" y="42672"/>
                </a:lnTo>
                <a:lnTo>
                  <a:pt x="257338" y="22859"/>
                </a:lnTo>
                <a:close/>
              </a:path>
              <a:path w="260985" h="368935">
                <a:moveTo>
                  <a:pt x="237744" y="22859"/>
                </a:moveTo>
                <a:lnTo>
                  <a:pt x="234076" y="28078"/>
                </a:lnTo>
                <a:lnTo>
                  <a:pt x="243730" y="34973"/>
                </a:lnTo>
                <a:lnTo>
                  <a:pt x="246887" y="30479"/>
                </a:lnTo>
                <a:lnTo>
                  <a:pt x="237744" y="22859"/>
                </a:lnTo>
                <a:close/>
              </a:path>
              <a:path w="260985" h="368935">
                <a:moveTo>
                  <a:pt x="260604" y="0"/>
                </a:moveTo>
                <a:lnTo>
                  <a:pt x="222504" y="19811"/>
                </a:lnTo>
                <a:lnTo>
                  <a:pt x="234076" y="28078"/>
                </a:lnTo>
                <a:lnTo>
                  <a:pt x="237744" y="22859"/>
                </a:lnTo>
                <a:lnTo>
                  <a:pt x="257338" y="22859"/>
                </a:lnTo>
                <a:lnTo>
                  <a:pt x="260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971959" y="1214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053709" y="124856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20372" y="1337469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558700" y="1334421"/>
            <a:ext cx="307975" cy="387350"/>
          </a:xfrm>
          <a:custGeom>
            <a:avLst/>
            <a:gdLst/>
            <a:ahLst/>
            <a:cxnLst/>
            <a:rect l="l" t="t" r="r" b="b"/>
            <a:pathLst>
              <a:path w="307975" h="387350">
                <a:moveTo>
                  <a:pt x="279674" y="360971"/>
                </a:moveTo>
                <a:lnTo>
                  <a:pt x="269748" y="368807"/>
                </a:lnTo>
                <a:lnTo>
                  <a:pt x="307848" y="387096"/>
                </a:lnTo>
                <a:lnTo>
                  <a:pt x="303106" y="365759"/>
                </a:lnTo>
                <a:lnTo>
                  <a:pt x="283463" y="365759"/>
                </a:lnTo>
                <a:lnTo>
                  <a:pt x="279674" y="360971"/>
                </a:lnTo>
                <a:close/>
              </a:path>
              <a:path w="307975" h="387350">
                <a:moveTo>
                  <a:pt x="289025" y="353589"/>
                </a:moveTo>
                <a:lnTo>
                  <a:pt x="279674" y="360971"/>
                </a:lnTo>
                <a:lnTo>
                  <a:pt x="283463" y="365759"/>
                </a:lnTo>
                <a:lnTo>
                  <a:pt x="292608" y="358139"/>
                </a:lnTo>
                <a:lnTo>
                  <a:pt x="289025" y="353589"/>
                </a:lnTo>
                <a:close/>
              </a:path>
              <a:path w="307975" h="387350">
                <a:moveTo>
                  <a:pt x="298703" y="345948"/>
                </a:moveTo>
                <a:lnTo>
                  <a:pt x="289025" y="353589"/>
                </a:lnTo>
                <a:lnTo>
                  <a:pt x="292608" y="358139"/>
                </a:lnTo>
                <a:lnTo>
                  <a:pt x="283463" y="365759"/>
                </a:lnTo>
                <a:lnTo>
                  <a:pt x="303106" y="365759"/>
                </a:lnTo>
                <a:lnTo>
                  <a:pt x="298703" y="345948"/>
                </a:lnTo>
                <a:close/>
              </a:path>
              <a:path w="307975" h="387350">
                <a:moveTo>
                  <a:pt x="10667" y="0"/>
                </a:moveTo>
                <a:lnTo>
                  <a:pt x="0" y="7620"/>
                </a:lnTo>
                <a:lnTo>
                  <a:pt x="279674" y="360971"/>
                </a:lnTo>
                <a:lnTo>
                  <a:pt x="289025" y="353589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14960" y="1701705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71576" y="1598073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882" y="75223"/>
                </a:lnTo>
                <a:lnTo>
                  <a:pt x="36766" y="36004"/>
                </a:lnTo>
                <a:lnTo>
                  <a:pt x="76509" y="9644"/>
                </a:lnTo>
                <a:lnTo>
                  <a:pt x="124967" y="0"/>
                </a:lnTo>
                <a:lnTo>
                  <a:pt x="173188" y="9644"/>
                </a:lnTo>
                <a:lnTo>
                  <a:pt x="212407" y="36004"/>
                </a:lnTo>
                <a:lnTo>
                  <a:pt x="238767" y="75223"/>
                </a:lnTo>
                <a:lnTo>
                  <a:pt x="248411" y="123443"/>
                </a:lnTo>
                <a:lnTo>
                  <a:pt x="238767" y="171664"/>
                </a:lnTo>
                <a:lnTo>
                  <a:pt x="212407" y="210883"/>
                </a:lnTo>
                <a:lnTo>
                  <a:pt x="173188" y="237243"/>
                </a:lnTo>
                <a:lnTo>
                  <a:pt x="124967" y="246887"/>
                </a:lnTo>
                <a:lnTo>
                  <a:pt x="76509" y="237243"/>
                </a:lnTo>
                <a:lnTo>
                  <a:pt x="36766" y="210883"/>
                </a:lnTo>
                <a:lnTo>
                  <a:pt x="9882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507606" y="1632617"/>
            <a:ext cx="175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*-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719988" y="1700181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76603" y="1596549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664"/>
                </a:lnTo>
                <a:lnTo>
                  <a:pt x="211645" y="210883"/>
                </a:lnTo>
                <a:lnTo>
                  <a:pt x="171902" y="237243"/>
                </a:lnTo>
                <a:lnTo>
                  <a:pt x="123443" y="246887"/>
                </a:lnTo>
                <a:lnTo>
                  <a:pt x="75223" y="237243"/>
                </a:lnTo>
                <a:lnTo>
                  <a:pt x="36004" y="210883"/>
                </a:lnTo>
                <a:lnTo>
                  <a:pt x="9644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28064" y="1698657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26136" y="12192"/>
                </a:moveTo>
                <a:lnTo>
                  <a:pt x="320039" y="12220"/>
                </a:lnTo>
                <a:lnTo>
                  <a:pt x="320039" y="38100"/>
                </a:lnTo>
                <a:lnTo>
                  <a:pt x="343486" y="25908"/>
                </a:lnTo>
                <a:lnTo>
                  <a:pt x="326136" y="25908"/>
                </a:lnTo>
                <a:lnTo>
                  <a:pt x="326136" y="12192"/>
                </a:lnTo>
                <a:close/>
              </a:path>
              <a:path w="358139" h="38100">
                <a:moveTo>
                  <a:pt x="320039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20039" y="25908"/>
                </a:lnTo>
                <a:lnTo>
                  <a:pt x="320039" y="12220"/>
                </a:lnTo>
                <a:close/>
              </a:path>
              <a:path w="358139" h="38100">
                <a:moveTo>
                  <a:pt x="345439" y="12192"/>
                </a:moveTo>
                <a:lnTo>
                  <a:pt x="326136" y="12192"/>
                </a:lnTo>
                <a:lnTo>
                  <a:pt x="326136" y="25908"/>
                </a:lnTo>
                <a:lnTo>
                  <a:pt x="343486" y="25908"/>
                </a:lnTo>
                <a:lnTo>
                  <a:pt x="358139" y="18288"/>
                </a:lnTo>
                <a:lnTo>
                  <a:pt x="345439" y="12192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12220"/>
                </a:lnTo>
                <a:lnTo>
                  <a:pt x="345439" y="12192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686203" y="1595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739074" y="1629530"/>
            <a:ext cx="140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920900" y="1704753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4931" y="12192"/>
                </a:moveTo>
                <a:lnTo>
                  <a:pt x="326136" y="12192"/>
                </a:lnTo>
                <a:lnTo>
                  <a:pt x="326136" y="24383"/>
                </a:lnTo>
                <a:lnTo>
                  <a:pt x="319492" y="24415"/>
                </a:lnTo>
                <a:lnTo>
                  <a:pt x="320039" y="38100"/>
                </a:lnTo>
                <a:lnTo>
                  <a:pt x="358139" y="18288"/>
                </a:lnTo>
                <a:lnTo>
                  <a:pt x="344931" y="12192"/>
                </a:lnTo>
                <a:close/>
              </a:path>
              <a:path w="358139" h="38100">
                <a:moveTo>
                  <a:pt x="319005" y="12225"/>
                </a:moveTo>
                <a:lnTo>
                  <a:pt x="0" y="13716"/>
                </a:lnTo>
                <a:lnTo>
                  <a:pt x="0" y="25907"/>
                </a:lnTo>
                <a:lnTo>
                  <a:pt x="319492" y="24415"/>
                </a:lnTo>
                <a:lnTo>
                  <a:pt x="319005" y="12225"/>
                </a:lnTo>
                <a:close/>
              </a:path>
              <a:path w="358139" h="38100">
                <a:moveTo>
                  <a:pt x="326136" y="12192"/>
                </a:moveTo>
                <a:lnTo>
                  <a:pt x="319005" y="12225"/>
                </a:lnTo>
                <a:lnTo>
                  <a:pt x="319492" y="24415"/>
                </a:lnTo>
                <a:lnTo>
                  <a:pt x="326136" y="24383"/>
                </a:lnTo>
                <a:lnTo>
                  <a:pt x="326136" y="12192"/>
                </a:lnTo>
                <a:close/>
              </a:path>
              <a:path w="358139" h="38100">
                <a:moveTo>
                  <a:pt x="318515" y="0"/>
                </a:moveTo>
                <a:lnTo>
                  <a:pt x="319005" y="12225"/>
                </a:lnTo>
                <a:lnTo>
                  <a:pt x="344931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279039" y="1599597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4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326245" y="1634103"/>
            <a:ext cx="1644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/x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56596" y="657333"/>
            <a:ext cx="383540" cy="16732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5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w0 </a:t>
            </a:r>
            <a:r>
              <a:rPr sz="12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aseline="35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800" baseline="35000">
              <a:latin typeface="Calibri" panose="020F0502020204030204"/>
              <a:cs typeface="Calibri" panose="020F0502020204030204"/>
            </a:endParaRPr>
          </a:p>
          <a:p>
            <a:pPr marL="20320">
              <a:lnSpc>
                <a:spcPct val="100000"/>
              </a:lnSpc>
              <a:spcBef>
                <a:spcPts val="800"/>
              </a:spcBef>
            </a:pPr>
            <a:r>
              <a:rPr sz="1800" spc="-7" baseline="-23000" dirty="0">
                <a:latin typeface="Calibri" panose="020F0502020204030204"/>
                <a:cs typeface="Calibri" panose="020F0502020204030204"/>
              </a:rPr>
              <a:t>x0</a:t>
            </a:r>
            <a:r>
              <a:rPr sz="1800" spc="330" baseline="-23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0320">
              <a:lnSpc>
                <a:spcPct val="100000"/>
              </a:lnSpc>
              <a:spcBef>
                <a:spcPts val="1045"/>
              </a:spcBef>
            </a:pPr>
            <a:r>
              <a:rPr sz="1800" spc="-7" baseline="-35000" dirty="0">
                <a:latin typeface="Calibri" panose="020F0502020204030204"/>
                <a:cs typeface="Calibri" panose="020F0502020204030204"/>
              </a:rPr>
              <a:t>w1</a:t>
            </a:r>
            <a:r>
              <a:rPr sz="1800" spc="-209" baseline="-35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40005">
              <a:lnSpc>
                <a:spcPct val="100000"/>
              </a:lnSpc>
              <a:spcBef>
                <a:spcPts val="1295"/>
              </a:spcBef>
            </a:pPr>
            <a:r>
              <a:rPr sz="1800" spc="-7" baseline="-30000" dirty="0">
                <a:latin typeface="Calibri" panose="020F0502020204030204"/>
                <a:cs typeface="Calibri" panose="020F0502020204030204"/>
              </a:rPr>
              <a:t>x1</a:t>
            </a:r>
            <a:r>
              <a:rPr sz="1800" spc="179" baseline="-30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33680">
              <a:lnSpc>
                <a:spcPts val="1165"/>
              </a:lnSpc>
              <a:spcBef>
                <a:spcPts val="94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165"/>
              </a:lnSpc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w2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20448" y="11145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08939" y="149858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03300" y="1522965"/>
            <a:ext cx="150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105052" y="1513821"/>
            <a:ext cx="547370" cy="28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>
              <a:lnSpc>
                <a:spcPts val="118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820"/>
              </a:lnSpc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exp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977288" y="1522965"/>
            <a:ext cx="283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1.14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76220" y="1506201"/>
            <a:ext cx="283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0.88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548788" y="1709325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6416" y="13716"/>
                </a:moveTo>
                <a:lnTo>
                  <a:pt x="326136" y="13716"/>
                </a:lnTo>
                <a:lnTo>
                  <a:pt x="326136" y="25907"/>
                </a:lnTo>
                <a:lnTo>
                  <a:pt x="320039" y="25936"/>
                </a:lnTo>
                <a:lnTo>
                  <a:pt x="320039" y="38100"/>
                </a:lnTo>
                <a:lnTo>
                  <a:pt x="358139" y="19811"/>
                </a:lnTo>
                <a:lnTo>
                  <a:pt x="346416" y="13716"/>
                </a:lnTo>
                <a:close/>
              </a:path>
              <a:path w="358139" h="38100">
                <a:moveTo>
                  <a:pt x="320039" y="13716"/>
                </a:moveTo>
                <a:lnTo>
                  <a:pt x="0" y="13716"/>
                </a:lnTo>
                <a:lnTo>
                  <a:pt x="0" y="27431"/>
                </a:lnTo>
                <a:lnTo>
                  <a:pt x="320039" y="25936"/>
                </a:lnTo>
                <a:lnTo>
                  <a:pt x="320039" y="13716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25936"/>
                </a:lnTo>
                <a:lnTo>
                  <a:pt x="326136" y="25907"/>
                </a:lnTo>
                <a:lnTo>
                  <a:pt x="326136" y="13716"/>
                </a:lnTo>
                <a:lnTo>
                  <a:pt x="346416" y="13716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282603" y="850881"/>
            <a:ext cx="455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325" algn="l"/>
              </a:tabLst>
            </a:pP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spc="-170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-3	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28324" y="14772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971191" y="1714989"/>
            <a:ext cx="862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78485" algn="l"/>
              </a:tabLst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-0.77	</a:t>
            </a:r>
            <a:r>
              <a:rPr sz="1800" baseline="2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1.00</a:t>
            </a:r>
            <a:endParaRPr sz="18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title"/>
          </p:nvPr>
        </p:nvSpPr>
        <p:spPr>
          <a:xfrm>
            <a:off x="2069064" y="125316"/>
            <a:ext cx="1709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反向传播示例2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71952" y="831053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上游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176445" y="831053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局部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813457" y="1153827"/>
            <a:ext cx="120395" cy="701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286659" y="1134777"/>
            <a:ext cx="22860" cy="56515"/>
          </a:xfrm>
          <a:custGeom>
            <a:avLst/>
            <a:gdLst/>
            <a:ahLst/>
            <a:cxnLst/>
            <a:rect l="l" t="t" r="r" b="b"/>
            <a:pathLst>
              <a:path w="22860" h="56515">
                <a:moveTo>
                  <a:pt x="22859" y="0"/>
                </a:moveTo>
                <a:lnTo>
                  <a:pt x="0" y="56387"/>
                </a:lnTo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275991" y="1186593"/>
            <a:ext cx="20320" cy="30480"/>
          </a:xfrm>
          <a:custGeom>
            <a:avLst/>
            <a:gdLst/>
            <a:ahLst/>
            <a:cxnLst/>
            <a:rect l="l" t="t" r="r" b="b"/>
            <a:pathLst>
              <a:path w="20320" h="30480">
                <a:moveTo>
                  <a:pt x="1524" y="0"/>
                </a:moveTo>
                <a:lnTo>
                  <a:pt x="0" y="30479"/>
                </a:lnTo>
                <a:lnTo>
                  <a:pt x="19812" y="7620"/>
                </a:lnTo>
                <a:lnTo>
                  <a:pt x="15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275991" y="1186593"/>
            <a:ext cx="20320" cy="30480"/>
          </a:xfrm>
          <a:custGeom>
            <a:avLst/>
            <a:gdLst/>
            <a:ahLst/>
            <a:cxnLst/>
            <a:rect l="l" t="t" r="r" b="b"/>
            <a:pathLst>
              <a:path w="20320" h="30480">
                <a:moveTo>
                  <a:pt x="1523" y="0"/>
                </a:moveTo>
                <a:lnTo>
                  <a:pt x="0" y="30479"/>
                </a:lnTo>
                <a:lnTo>
                  <a:pt x="19811" y="7619"/>
                </a:lnTo>
                <a:lnTo>
                  <a:pt x="1523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179979" y="1368711"/>
            <a:ext cx="268605" cy="0"/>
          </a:xfrm>
          <a:custGeom>
            <a:avLst/>
            <a:gdLst/>
            <a:ahLst/>
            <a:cxnLst/>
            <a:rect l="l" t="t" r="r" b="b"/>
            <a:pathLst>
              <a:path w="268604">
                <a:moveTo>
                  <a:pt x="0" y="0"/>
                </a:moveTo>
                <a:lnTo>
                  <a:pt x="268224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4819769" y="1186046"/>
            <a:ext cx="1088390" cy="24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250" algn="ctr">
              <a:lnSpc>
                <a:spcPts val="880"/>
              </a:lnSpc>
              <a:spcBef>
                <a:spcPts val="100"/>
              </a:spcBef>
            </a:pPr>
            <a:r>
              <a:rPr sz="900" i="1" spc="-5" dirty="0">
                <a:latin typeface="Cambria Math" panose="02040503050406030204"/>
                <a:cs typeface="Cambria Math" panose="02040503050406030204"/>
              </a:rPr>
              <a:t>−1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ts val="880"/>
              </a:lnSpc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1.00 × </a:t>
            </a:r>
            <a:r>
              <a:rPr sz="1350" i="1" spc="7" baseline="-37000" dirty="0">
                <a:latin typeface="Cambria Math" panose="02040503050406030204"/>
                <a:cs typeface="Cambria Math" panose="02040503050406030204"/>
              </a:rPr>
              <a:t>1.14</a:t>
            </a:r>
            <a:r>
              <a:rPr sz="975" i="1" spc="7" baseline="-26000" dirty="0">
                <a:latin typeface="Cambria Math" panose="02040503050406030204"/>
                <a:cs typeface="Cambria Math" panose="02040503050406030204"/>
              </a:rPr>
              <a:t>2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9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-5" dirty="0">
                <a:latin typeface="Cambria Math" panose="02040503050406030204"/>
                <a:cs typeface="Cambria Math" panose="02040503050406030204"/>
              </a:rPr>
              <a:t>−0.77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247547" y="2215293"/>
            <a:ext cx="2278380" cy="462280"/>
          </a:xfrm>
          <a:custGeom>
            <a:avLst/>
            <a:gdLst/>
            <a:ahLst/>
            <a:cxnLst/>
            <a:rect l="l" t="t" r="r" b="b"/>
            <a:pathLst>
              <a:path w="2278379" h="462280">
                <a:moveTo>
                  <a:pt x="0" y="0"/>
                </a:moveTo>
                <a:lnTo>
                  <a:pt x="2278379" y="0"/>
                </a:lnTo>
                <a:lnTo>
                  <a:pt x="2278379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247547" y="2215293"/>
            <a:ext cx="2278380" cy="462280"/>
          </a:xfrm>
          <a:custGeom>
            <a:avLst/>
            <a:gdLst/>
            <a:ahLst/>
            <a:cxnLst/>
            <a:rect l="l" t="t" r="r" b="b"/>
            <a:pathLst>
              <a:path w="2278379" h="462280">
                <a:moveTo>
                  <a:pt x="0" y="0"/>
                </a:moveTo>
                <a:lnTo>
                  <a:pt x="2278379" y="0"/>
                </a:lnTo>
                <a:lnTo>
                  <a:pt x="2278379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931567" y="1503585"/>
            <a:ext cx="1038225" cy="462280"/>
          </a:xfrm>
          <a:custGeom>
            <a:avLst/>
            <a:gdLst/>
            <a:ahLst/>
            <a:cxnLst/>
            <a:rect l="l" t="t" r="r" b="b"/>
            <a:pathLst>
              <a:path w="1038225" h="462280">
                <a:moveTo>
                  <a:pt x="0" y="0"/>
                </a:moveTo>
                <a:lnTo>
                  <a:pt x="1037843" y="0"/>
                </a:lnTo>
                <a:lnTo>
                  <a:pt x="1037843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931567" y="1503585"/>
            <a:ext cx="1038225" cy="462280"/>
          </a:xfrm>
          <a:custGeom>
            <a:avLst/>
            <a:gdLst/>
            <a:ahLst/>
            <a:cxnLst/>
            <a:rect l="l" t="t" r="r" b="b"/>
            <a:pathLst>
              <a:path w="1038225" h="462280">
                <a:moveTo>
                  <a:pt x="0" y="0"/>
                </a:moveTo>
                <a:lnTo>
                  <a:pt x="1037843" y="0"/>
                </a:lnTo>
                <a:lnTo>
                  <a:pt x="1037843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147" y="2334885"/>
            <a:ext cx="676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5" dirty="0">
                <a:latin typeface="Cambria Math" panose="02040503050406030204"/>
                <a:cs typeface="Cambria Math" panose="02040503050406030204"/>
              </a:rPr>
              <a:t>f(x)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867" y="2357745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1867" y="2206869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6092" y="247933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71323" y="2357745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672" y="2805801"/>
            <a:ext cx="735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75" spc="104" baseline="-16000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ax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9823" y="278598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1679" y="2888097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56" y="290757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70156" y="2670165"/>
            <a:ext cx="485775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a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1235" y="2347077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5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 =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108" y="2196201"/>
            <a:ext cx="109855" cy="461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5332" y="2464857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0" y="0"/>
                </a:moveTo>
                <a:lnTo>
                  <a:pt x="85343" y="0"/>
                </a:lnTo>
                <a:lnTo>
                  <a:pt x="85343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55189" y="2839227"/>
            <a:ext cx="81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65" dirty="0">
                <a:latin typeface="Cambria Math" panose="02040503050406030204"/>
                <a:cs typeface="Cambria Math" panose="02040503050406030204"/>
              </a:rPr>
              <a:t>c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4779" y="2354697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3776" y="2203821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8000" y="2476287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81708" y="2354697"/>
            <a:ext cx="641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 −</a:t>
            </a:r>
            <a:r>
              <a:rPr sz="1200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00" spc="52" baseline="2000" dirty="0">
                <a:latin typeface="Cambria Math" panose="02040503050406030204"/>
                <a:cs typeface="Cambria Math" panose="02040503050406030204"/>
              </a:rPr>
              <a:t>⁄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spc="52" baseline="29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1903" y="2767701"/>
            <a:ext cx="1064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20" dirty="0">
                <a:latin typeface="Cambria Math" panose="02040503050406030204"/>
                <a:cs typeface="Cambria Math" panose="02040503050406030204"/>
              </a:rPr>
              <a:t>c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baseline="2000" dirty="0">
                <a:latin typeface="Cambria Math" panose="02040503050406030204"/>
                <a:cs typeface="Cambria Math" panose="02040503050406030204"/>
              </a:rPr>
              <a:t>→</a:t>
            </a:r>
            <a:endParaRPr sz="1800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2252" y="2862189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952" y="2881671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60728" y="2644257"/>
            <a:ext cx="485140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4976" y="277917"/>
            <a:ext cx="358140" cy="142240"/>
          </a:xfrm>
          <a:custGeom>
            <a:avLst/>
            <a:gdLst/>
            <a:ahLst/>
            <a:cxnLst/>
            <a:rect l="l" t="t" r="r" b="b"/>
            <a:pathLst>
              <a:path w="358139" h="142240">
                <a:moveTo>
                  <a:pt x="313944" y="0"/>
                </a:moveTo>
                <a:lnTo>
                  <a:pt x="310896" y="6096"/>
                </a:lnTo>
                <a:lnTo>
                  <a:pt x="319444" y="9239"/>
                </a:lnTo>
                <a:lnTo>
                  <a:pt x="326707" y="14097"/>
                </a:lnTo>
                <a:lnTo>
                  <a:pt x="345376" y="58102"/>
                </a:lnTo>
                <a:lnTo>
                  <a:pt x="345948" y="70104"/>
                </a:lnTo>
                <a:lnTo>
                  <a:pt x="345376" y="82343"/>
                </a:lnTo>
                <a:lnTo>
                  <a:pt x="332541" y="121062"/>
                </a:lnTo>
                <a:lnTo>
                  <a:pt x="310896" y="135636"/>
                </a:lnTo>
                <a:lnTo>
                  <a:pt x="313944" y="141732"/>
                </a:lnTo>
                <a:lnTo>
                  <a:pt x="347472" y="117348"/>
                </a:lnTo>
                <a:lnTo>
                  <a:pt x="358139" y="71628"/>
                </a:lnTo>
                <a:lnTo>
                  <a:pt x="357544" y="58459"/>
                </a:lnTo>
                <a:lnTo>
                  <a:pt x="340304" y="16073"/>
                </a:lnTo>
                <a:lnTo>
                  <a:pt x="323683" y="4024"/>
                </a:lnTo>
                <a:lnTo>
                  <a:pt x="313944" y="0"/>
                </a:lnTo>
                <a:close/>
              </a:path>
              <a:path w="358139" h="142240">
                <a:moveTo>
                  <a:pt x="45720" y="0"/>
                </a:moveTo>
                <a:lnTo>
                  <a:pt x="12191" y="24384"/>
                </a:lnTo>
                <a:lnTo>
                  <a:pt x="0" y="71628"/>
                </a:lnTo>
                <a:lnTo>
                  <a:pt x="833" y="83915"/>
                </a:lnTo>
                <a:lnTo>
                  <a:pt x="18502" y="125658"/>
                </a:lnTo>
                <a:lnTo>
                  <a:pt x="45720" y="141732"/>
                </a:lnTo>
                <a:lnTo>
                  <a:pt x="47244" y="135636"/>
                </a:lnTo>
                <a:lnTo>
                  <a:pt x="38909" y="132492"/>
                </a:lnTo>
                <a:lnTo>
                  <a:pt x="32004" y="127635"/>
                </a:lnTo>
                <a:lnTo>
                  <a:pt x="14263" y="82343"/>
                </a:lnTo>
                <a:lnTo>
                  <a:pt x="13715" y="70104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4" y="6096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23620" y="128565"/>
            <a:ext cx="2216150" cy="39941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2465" algn="ctr">
              <a:lnSpc>
                <a:spcPts val="1130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78740">
              <a:lnSpc>
                <a:spcPts val="695"/>
              </a:lnSpc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w,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spc="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664845" algn="ctr">
              <a:lnSpc>
                <a:spcPts val="960"/>
              </a:lnSpc>
            </a:pPr>
            <a:r>
              <a:rPr sz="1800" baseline="-16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800" spc="-44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104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-(w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4952" y="348783"/>
            <a:ext cx="1385570" cy="0"/>
          </a:xfrm>
          <a:custGeom>
            <a:avLst/>
            <a:gdLst/>
            <a:ahLst/>
            <a:cxnLst/>
            <a:rect l="l" t="t" r="r" b="b"/>
            <a:pathLst>
              <a:path w="1385570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0943" y="890565"/>
            <a:ext cx="355092" cy="3489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1799" y="1555029"/>
            <a:ext cx="356616" cy="348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2176" y="1716573"/>
            <a:ext cx="2214880" cy="530860"/>
          </a:xfrm>
          <a:custGeom>
            <a:avLst/>
            <a:gdLst/>
            <a:ahLst/>
            <a:cxnLst/>
            <a:rect l="l" t="t" r="r" b="b"/>
            <a:pathLst>
              <a:path w="2214880" h="530860">
                <a:moveTo>
                  <a:pt x="2176477" y="13557"/>
                </a:moveTo>
                <a:lnTo>
                  <a:pt x="0" y="518159"/>
                </a:lnTo>
                <a:lnTo>
                  <a:pt x="3048" y="530351"/>
                </a:lnTo>
                <a:lnTo>
                  <a:pt x="2179410" y="25776"/>
                </a:lnTo>
                <a:lnTo>
                  <a:pt x="2176477" y="13557"/>
                </a:lnTo>
                <a:close/>
              </a:path>
              <a:path w="2214880" h="530860">
                <a:moveTo>
                  <a:pt x="2212594" y="12191"/>
                </a:moveTo>
                <a:lnTo>
                  <a:pt x="2182368" y="12191"/>
                </a:lnTo>
                <a:lnTo>
                  <a:pt x="2185416" y="24383"/>
                </a:lnTo>
                <a:lnTo>
                  <a:pt x="2179410" y="25776"/>
                </a:lnTo>
                <a:lnTo>
                  <a:pt x="2182368" y="38100"/>
                </a:lnTo>
                <a:lnTo>
                  <a:pt x="2212594" y="12191"/>
                </a:lnTo>
                <a:close/>
              </a:path>
              <a:path w="2214880" h="530860">
                <a:moveTo>
                  <a:pt x="2182368" y="12191"/>
                </a:moveTo>
                <a:lnTo>
                  <a:pt x="2176477" y="13557"/>
                </a:lnTo>
                <a:lnTo>
                  <a:pt x="2179410" y="25776"/>
                </a:lnTo>
                <a:lnTo>
                  <a:pt x="2185416" y="24383"/>
                </a:lnTo>
                <a:lnTo>
                  <a:pt x="2182368" y="12191"/>
                </a:lnTo>
                <a:close/>
              </a:path>
              <a:path w="2214880" h="530860">
                <a:moveTo>
                  <a:pt x="2173224" y="0"/>
                </a:moveTo>
                <a:lnTo>
                  <a:pt x="2176477" y="13557"/>
                </a:lnTo>
                <a:lnTo>
                  <a:pt x="2182368" y="12191"/>
                </a:lnTo>
                <a:lnTo>
                  <a:pt x="2212594" y="12191"/>
                </a:lnTo>
                <a:lnTo>
                  <a:pt x="2214372" y="10668"/>
                </a:lnTo>
                <a:lnTo>
                  <a:pt x="2173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48415" y="930189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30165" y="96477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39272" y="1583985"/>
            <a:ext cx="246887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39272" y="1583985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664" y="9644"/>
                </a:lnTo>
                <a:lnTo>
                  <a:pt x="210883" y="36004"/>
                </a:lnTo>
                <a:lnTo>
                  <a:pt x="237243" y="75223"/>
                </a:lnTo>
                <a:lnTo>
                  <a:pt x="246887" y="123443"/>
                </a:lnTo>
                <a:lnTo>
                  <a:pt x="237243" y="171902"/>
                </a:lnTo>
                <a:lnTo>
                  <a:pt x="210883" y="211645"/>
                </a:lnTo>
                <a:lnTo>
                  <a:pt x="171664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21021" y="1618567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66547" y="1602273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4967"/>
                </a:moveTo>
                <a:lnTo>
                  <a:pt x="9882" y="76509"/>
                </a:lnTo>
                <a:lnTo>
                  <a:pt x="36766" y="36766"/>
                </a:lnTo>
                <a:lnTo>
                  <a:pt x="76509" y="9882"/>
                </a:lnTo>
                <a:lnTo>
                  <a:pt x="124967" y="0"/>
                </a:lnTo>
                <a:lnTo>
                  <a:pt x="173188" y="9882"/>
                </a:lnTo>
                <a:lnTo>
                  <a:pt x="212407" y="36766"/>
                </a:lnTo>
                <a:lnTo>
                  <a:pt x="238767" y="76509"/>
                </a:lnTo>
                <a:lnTo>
                  <a:pt x="248411" y="124967"/>
                </a:lnTo>
                <a:lnTo>
                  <a:pt x="238767" y="173188"/>
                </a:lnTo>
                <a:lnTo>
                  <a:pt x="212407" y="212407"/>
                </a:lnTo>
                <a:lnTo>
                  <a:pt x="173188" y="238767"/>
                </a:lnTo>
                <a:lnTo>
                  <a:pt x="124967" y="248411"/>
                </a:lnTo>
                <a:lnTo>
                  <a:pt x="76509" y="238767"/>
                </a:lnTo>
                <a:lnTo>
                  <a:pt x="36766" y="212407"/>
                </a:lnTo>
                <a:lnTo>
                  <a:pt x="9882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49821" y="1636855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86159" y="1708953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26595" y="1050585"/>
            <a:ext cx="245745" cy="292735"/>
          </a:xfrm>
          <a:custGeom>
            <a:avLst/>
            <a:gdLst/>
            <a:ahLst/>
            <a:cxnLst/>
            <a:rect l="l" t="t" r="r" b="b"/>
            <a:pathLst>
              <a:path w="245744" h="292734">
                <a:moveTo>
                  <a:pt x="215510" y="268027"/>
                </a:moveTo>
                <a:lnTo>
                  <a:pt x="205740" y="275843"/>
                </a:lnTo>
                <a:lnTo>
                  <a:pt x="245364" y="292607"/>
                </a:lnTo>
                <a:lnTo>
                  <a:pt x="240961" y="272795"/>
                </a:lnTo>
                <a:lnTo>
                  <a:pt x="219456" y="272795"/>
                </a:lnTo>
                <a:lnTo>
                  <a:pt x="215510" y="268027"/>
                </a:lnTo>
                <a:close/>
              </a:path>
              <a:path w="245744" h="292734">
                <a:moveTo>
                  <a:pt x="226453" y="259273"/>
                </a:moveTo>
                <a:lnTo>
                  <a:pt x="215510" y="268027"/>
                </a:lnTo>
                <a:lnTo>
                  <a:pt x="219456" y="272795"/>
                </a:lnTo>
                <a:lnTo>
                  <a:pt x="230124" y="263651"/>
                </a:lnTo>
                <a:lnTo>
                  <a:pt x="226453" y="259273"/>
                </a:lnTo>
                <a:close/>
              </a:path>
              <a:path w="245744" h="292734">
                <a:moveTo>
                  <a:pt x="236220" y="251460"/>
                </a:moveTo>
                <a:lnTo>
                  <a:pt x="226453" y="259273"/>
                </a:lnTo>
                <a:lnTo>
                  <a:pt x="230124" y="263651"/>
                </a:lnTo>
                <a:lnTo>
                  <a:pt x="219456" y="272795"/>
                </a:lnTo>
                <a:lnTo>
                  <a:pt x="240961" y="272795"/>
                </a:lnTo>
                <a:lnTo>
                  <a:pt x="236220" y="251460"/>
                </a:lnTo>
                <a:close/>
              </a:path>
              <a:path w="245744" h="292734">
                <a:moveTo>
                  <a:pt x="9143" y="0"/>
                </a:moveTo>
                <a:lnTo>
                  <a:pt x="0" y="7619"/>
                </a:lnTo>
                <a:lnTo>
                  <a:pt x="215510" y="268027"/>
                </a:lnTo>
                <a:lnTo>
                  <a:pt x="226453" y="2592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1356" y="1343193"/>
            <a:ext cx="260985" cy="368935"/>
          </a:xfrm>
          <a:custGeom>
            <a:avLst/>
            <a:gdLst/>
            <a:ahLst/>
            <a:cxnLst/>
            <a:rect l="l" t="t" r="r" b="b"/>
            <a:pathLst>
              <a:path w="260985" h="368935">
                <a:moveTo>
                  <a:pt x="234076" y="28078"/>
                </a:moveTo>
                <a:lnTo>
                  <a:pt x="0" y="361188"/>
                </a:lnTo>
                <a:lnTo>
                  <a:pt x="9143" y="368808"/>
                </a:lnTo>
                <a:lnTo>
                  <a:pt x="243730" y="34973"/>
                </a:lnTo>
                <a:lnTo>
                  <a:pt x="234076" y="28078"/>
                </a:lnTo>
                <a:close/>
              </a:path>
              <a:path w="260985" h="368935">
                <a:moveTo>
                  <a:pt x="257338" y="22860"/>
                </a:moveTo>
                <a:lnTo>
                  <a:pt x="237744" y="22860"/>
                </a:lnTo>
                <a:lnTo>
                  <a:pt x="246887" y="30480"/>
                </a:lnTo>
                <a:lnTo>
                  <a:pt x="243730" y="34973"/>
                </a:lnTo>
                <a:lnTo>
                  <a:pt x="254507" y="42672"/>
                </a:lnTo>
                <a:lnTo>
                  <a:pt x="257338" y="22860"/>
                </a:lnTo>
                <a:close/>
              </a:path>
              <a:path w="260985" h="368935">
                <a:moveTo>
                  <a:pt x="237744" y="22860"/>
                </a:moveTo>
                <a:lnTo>
                  <a:pt x="234076" y="28078"/>
                </a:lnTo>
                <a:lnTo>
                  <a:pt x="243730" y="34973"/>
                </a:lnTo>
                <a:lnTo>
                  <a:pt x="246887" y="30480"/>
                </a:lnTo>
                <a:lnTo>
                  <a:pt x="237744" y="22860"/>
                </a:lnTo>
                <a:close/>
              </a:path>
              <a:path w="260985" h="368935">
                <a:moveTo>
                  <a:pt x="260604" y="0"/>
                </a:moveTo>
                <a:lnTo>
                  <a:pt x="222504" y="19812"/>
                </a:lnTo>
                <a:lnTo>
                  <a:pt x="234076" y="28078"/>
                </a:lnTo>
                <a:lnTo>
                  <a:pt x="237744" y="22860"/>
                </a:lnTo>
                <a:lnTo>
                  <a:pt x="257338" y="22860"/>
                </a:lnTo>
                <a:lnTo>
                  <a:pt x="260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971959" y="12197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053709" y="125429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20372" y="1343193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558700" y="1340145"/>
            <a:ext cx="307975" cy="387350"/>
          </a:xfrm>
          <a:custGeom>
            <a:avLst/>
            <a:gdLst/>
            <a:ahLst/>
            <a:cxnLst/>
            <a:rect l="l" t="t" r="r" b="b"/>
            <a:pathLst>
              <a:path w="307975" h="387350">
                <a:moveTo>
                  <a:pt x="279674" y="360971"/>
                </a:moveTo>
                <a:lnTo>
                  <a:pt x="269748" y="368807"/>
                </a:lnTo>
                <a:lnTo>
                  <a:pt x="307848" y="387095"/>
                </a:lnTo>
                <a:lnTo>
                  <a:pt x="303106" y="365759"/>
                </a:lnTo>
                <a:lnTo>
                  <a:pt x="283463" y="365759"/>
                </a:lnTo>
                <a:lnTo>
                  <a:pt x="279674" y="360971"/>
                </a:lnTo>
                <a:close/>
              </a:path>
              <a:path w="307975" h="387350">
                <a:moveTo>
                  <a:pt x="289025" y="353589"/>
                </a:moveTo>
                <a:lnTo>
                  <a:pt x="279674" y="360971"/>
                </a:lnTo>
                <a:lnTo>
                  <a:pt x="283463" y="365759"/>
                </a:lnTo>
                <a:lnTo>
                  <a:pt x="292608" y="358139"/>
                </a:lnTo>
                <a:lnTo>
                  <a:pt x="289025" y="353589"/>
                </a:lnTo>
                <a:close/>
              </a:path>
              <a:path w="307975" h="387350">
                <a:moveTo>
                  <a:pt x="298703" y="345947"/>
                </a:moveTo>
                <a:lnTo>
                  <a:pt x="289025" y="353589"/>
                </a:lnTo>
                <a:lnTo>
                  <a:pt x="292608" y="358139"/>
                </a:lnTo>
                <a:lnTo>
                  <a:pt x="283463" y="365759"/>
                </a:lnTo>
                <a:lnTo>
                  <a:pt x="303106" y="365759"/>
                </a:lnTo>
                <a:lnTo>
                  <a:pt x="298703" y="345947"/>
                </a:lnTo>
                <a:close/>
              </a:path>
              <a:path w="307975" h="387350">
                <a:moveTo>
                  <a:pt x="10667" y="0"/>
                </a:moveTo>
                <a:lnTo>
                  <a:pt x="0" y="7619"/>
                </a:lnTo>
                <a:lnTo>
                  <a:pt x="279674" y="360971"/>
                </a:lnTo>
                <a:lnTo>
                  <a:pt x="289025" y="353589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14960" y="1707429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1"/>
                </a:moveTo>
                <a:lnTo>
                  <a:pt x="324612" y="12191"/>
                </a:lnTo>
                <a:lnTo>
                  <a:pt x="324612" y="24383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7"/>
                </a:lnTo>
                <a:lnTo>
                  <a:pt x="343915" y="12191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5"/>
                </a:lnTo>
                <a:lnTo>
                  <a:pt x="0" y="25907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1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3"/>
                </a:lnTo>
                <a:lnTo>
                  <a:pt x="324612" y="12191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1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71576" y="1603797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882" y="75223"/>
                </a:lnTo>
                <a:lnTo>
                  <a:pt x="36766" y="36004"/>
                </a:lnTo>
                <a:lnTo>
                  <a:pt x="76509" y="9644"/>
                </a:lnTo>
                <a:lnTo>
                  <a:pt x="124967" y="0"/>
                </a:lnTo>
                <a:lnTo>
                  <a:pt x="173188" y="9644"/>
                </a:lnTo>
                <a:lnTo>
                  <a:pt x="212407" y="36004"/>
                </a:lnTo>
                <a:lnTo>
                  <a:pt x="238767" y="75223"/>
                </a:lnTo>
                <a:lnTo>
                  <a:pt x="248411" y="123443"/>
                </a:lnTo>
                <a:lnTo>
                  <a:pt x="238767" y="171664"/>
                </a:lnTo>
                <a:lnTo>
                  <a:pt x="212407" y="210883"/>
                </a:lnTo>
                <a:lnTo>
                  <a:pt x="173188" y="237243"/>
                </a:lnTo>
                <a:lnTo>
                  <a:pt x="124967" y="246887"/>
                </a:lnTo>
                <a:lnTo>
                  <a:pt x="76509" y="237243"/>
                </a:lnTo>
                <a:lnTo>
                  <a:pt x="36766" y="210883"/>
                </a:lnTo>
                <a:lnTo>
                  <a:pt x="9882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507606" y="1638341"/>
            <a:ext cx="175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*-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719988" y="1705905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3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7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5"/>
                </a:lnTo>
                <a:lnTo>
                  <a:pt x="0" y="25907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3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76603" y="1602273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664"/>
                </a:lnTo>
                <a:lnTo>
                  <a:pt x="211645" y="210883"/>
                </a:lnTo>
                <a:lnTo>
                  <a:pt x="171902" y="237243"/>
                </a:lnTo>
                <a:lnTo>
                  <a:pt x="123443" y="246887"/>
                </a:lnTo>
                <a:lnTo>
                  <a:pt x="75223" y="237243"/>
                </a:lnTo>
                <a:lnTo>
                  <a:pt x="36004" y="210883"/>
                </a:lnTo>
                <a:lnTo>
                  <a:pt x="9644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105052" y="1636855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xp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328064" y="1704381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26136" y="12192"/>
                </a:moveTo>
                <a:lnTo>
                  <a:pt x="320039" y="12220"/>
                </a:lnTo>
                <a:lnTo>
                  <a:pt x="320039" y="38100"/>
                </a:lnTo>
                <a:lnTo>
                  <a:pt x="343486" y="25907"/>
                </a:lnTo>
                <a:lnTo>
                  <a:pt x="326136" y="25907"/>
                </a:lnTo>
                <a:lnTo>
                  <a:pt x="326136" y="12192"/>
                </a:lnTo>
                <a:close/>
              </a:path>
              <a:path w="358139" h="38100">
                <a:moveTo>
                  <a:pt x="320039" y="12220"/>
                </a:moveTo>
                <a:lnTo>
                  <a:pt x="0" y="13716"/>
                </a:lnTo>
                <a:lnTo>
                  <a:pt x="0" y="25907"/>
                </a:lnTo>
                <a:lnTo>
                  <a:pt x="320039" y="25907"/>
                </a:lnTo>
                <a:lnTo>
                  <a:pt x="320039" y="12220"/>
                </a:lnTo>
                <a:close/>
              </a:path>
              <a:path w="358139" h="38100">
                <a:moveTo>
                  <a:pt x="345439" y="12192"/>
                </a:moveTo>
                <a:lnTo>
                  <a:pt x="326136" y="12192"/>
                </a:lnTo>
                <a:lnTo>
                  <a:pt x="326136" y="25907"/>
                </a:lnTo>
                <a:lnTo>
                  <a:pt x="343486" y="25907"/>
                </a:lnTo>
                <a:lnTo>
                  <a:pt x="358139" y="18287"/>
                </a:lnTo>
                <a:lnTo>
                  <a:pt x="345439" y="12192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12220"/>
                </a:lnTo>
                <a:lnTo>
                  <a:pt x="345439" y="12192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86203" y="16007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920900" y="1710477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4932" y="12192"/>
                </a:moveTo>
                <a:lnTo>
                  <a:pt x="326136" y="12192"/>
                </a:lnTo>
                <a:lnTo>
                  <a:pt x="326136" y="24384"/>
                </a:lnTo>
                <a:lnTo>
                  <a:pt x="319492" y="24415"/>
                </a:lnTo>
                <a:lnTo>
                  <a:pt x="320039" y="38100"/>
                </a:lnTo>
                <a:lnTo>
                  <a:pt x="358139" y="18287"/>
                </a:lnTo>
                <a:lnTo>
                  <a:pt x="344932" y="12192"/>
                </a:lnTo>
                <a:close/>
              </a:path>
              <a:path w="358139" h="38100">
                <a:moveTo>
                  <a:pt x="319005" y="12225"/>
                </a:moveTo>
                <a:lnTo>
                  <a:pt x="0" y="13716"/>
                </a:lnTo>
                <a:lnTo>
                  <a:pt x="0" y="25908"/>
                </a:lnTo>
                <a:lnTo>
                  <a:pt x="319492" y="24415"/>
                </a:lnTo>
                <a:lnTo>
                  <a:pt x="319005" y="12225"/>
                </a:lnTo>
                <a:close/>
              </a:path>
              <a:path w="358139" h="38100">
                <a:moveTo>
                  <a:pt x="326136" y="12192"/>
                </a:moveTo>
                <a:lnTo>
                  <a:pt x="319005" y="12225"/>
                </a:lnTo>
                <a:lnTo>
                  <a:pt x="319492" y="24415"/>
                </a:lnTo>
                <a:lnTo>
                  <a:pt x="326136" y="24384"/>
                </a:lnTo>
                <a:lnTo>
                  <a:pt x="326136" y="12192"/>
                </a:lnTo>
                <a:close/>
              </a:path>
              <a:path w="358139" h="38100">
                <a:moveTo>
                  <a:pt x="318515" y="0"/>
                </a:moveTo>
                <a:lnTo>
                  <a:pt x="319005" y="12225"/>
                </a:lnTo>
                <a:lnTo>
                  <a:pt x="344932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279039" y="1605321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4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313545" y="1639827"/>
            <a:ext cx="177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1/x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56596" y="663057"/>
            <a:ext cx="383540" cy="16732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5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w0 </a:t>
            </a:r>
            <a:r>
              <a:rPr sz="12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aseline="35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800" baseline="35000">
              <a:latin typeface="Calibri" panose="020F0502020204030204"/>
              <a:cs typeface="Calibri" panose="020F0502020204030204"/>
            </a:endParaRPr>
          </a:p>
          <a:p>
            <a:pPr marL="20320">
              <a:lnSpc>
                <a:spcPct val="100000"/>
              </a:lnSpc>
              <a:spcBef>
                <a:spcPts val="800"/>
              </a:spcBef>
            </a:pPr>
            <a:r>
              <a:rPr sz="1800" spc="-7" baseline="-23000" dirty="0">
                <a:latin typeface="Calibri" panose="020F0502020204030204"/>
                <a:cs typeface="Calibri" panose="020F0502020204030204"/>
              </a:rPr>
              <a:t>x0</a:t>
            </a:r>
            <a:r>
              <a:rPr sz="1800" spc="330" baseline="-23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0320">
              <a:lnSpc>
                <a:spcPct val="100000"/>
              </a:lnSpc>
              <a:spcBef>
                <a:spcPts val="1045"/>
              </a:spcBef>
            </a:pPr>
            <a:r>
              <a:rPr sz="1800" spc="-7" baseline="-35000" dirty="0">
                <a:latin typeface="Calibri" panose="020F0502020204030204"/>
                <a:cs typeface="Calibri" panose="020F0502020204030204"/>
              </a:rPr>
              <a:t>w1</a:t>
            </a:r>
            <a:r>
              <a:rPr sz="1800" spc="-209" baseline="-35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40005">
              <a:lnSpc>
                <a:spcPct val="100000"/>
              </a:lnSpc>
              <a:spcBef>
                <a:spcPts val="1295"/>
              </a:spcBef>
            </a:pPr>
            <a:r>
              <a:rPr sz="1800" spc="-7" baseline="-30000" dirty="0">
                <a:latin typeface="Calibri" panose="020F0502020204030204"/>
                <a:cs typeface="Calibri" panose="020F0502020204030204"/>
              </a:rPr>
              <a:t>x1</a:t>
            </a:r>
            <a:r>
              <a:rPr sz="1800" spc="179" baseline="-30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33680">
              <a:lnSpc>
                <a:spcPts val="1165"/>
              </a:lnSpc>
              <a:spcBef>
                <a:spcPts val="94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165"/>
              </a:lnSpc>
            </a:pPr>
            <a:r>
              <a:rPr sz="1200" dirty="0">
                <a:latin typeface="Calibri" panose="020F0502020204030204"/>
                <a:cs typeface="Calibri" panose="020F0502020204030204"/>
              </a:rPr>
              <a:t>w2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20448" y="112025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08939" y="150430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03300" y="1528689"/>
            <a:ext cx="150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548788" y="1715049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6416" y="13715"/>
                </a:moveTo>
                <a:lnTo>
                  <a:pt x="326136" y="13715"/>
                </a:lnTo>
                <a:lnTo>
                  <a:pt x="326136" y="25907"/>
                </a:lnTo>
                <a:lnTo>
                  <a:pt x="320039" y="25936"/>
                </a:lnTo>
                <a:lnTo>
                  <a:pt x="320039" y="38100"/>
                </a:lnTo>
                <a:lnTo>
                  <a:pt x="358139" y="19812"/>
                </a:lnTo>
                <a:lnTo>
                  <a:pt x="346416" y="13715"/>
                </a:lnTo>
                <a:close/>
              </a:path>
              <a:path w="358139" h="38100">
                <a:moveTo>
                  <a:pt x="320039" y="13715"/>
                </a:moveTo>
                <a:lnTo>
                  <a:pt x="0" y="13715"/>
                </a:lnTo>
                <a:lnTo>
                  <a:pt x="0" y="27431"/>
                </a:lnTo>
                <a:lnTo>
                  <a:pt x="320039" y="25936"/>
                </a:lnTo>
                <a:lnTo>
                  <a:pt x="320039" y="13715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25936"/>
                </a:lnTo>
                <a:lnTo>
                  <a:pt x="326136" y="25907"/>
                </a:lnTo>
                <a:lnTo>
                  <a:pt x="326136" y="13715"/>
                </a:lnTo>
                <a:lnTo>
                  <a:pt x="346416" y="13715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282603" y="856605"/>
            <a:ext cx="455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325" algn="l"/>
              </a:tabLst>
            </a:pP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spc="-170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-3	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28324" y="148296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37611" y="1490589"/>
            <a:ext cx="321945" cy="4343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0.88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1.00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xfrm>
            <a:off x="2069064" y="131178"/>
            <a:ext cx="1709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反向传播示例2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245202" y="813909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上游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751240" y="813909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局部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336738" y="1287783"/>
            <a:ext cx="9709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−0.77 × 1 =</a:t>
            </a:r>
            <a:r>
              <a:rPr sz="9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-5" dirty="0">
                <a:latin typeface="Cambria Math" panose="02040503050406030204"/>
                <a:cs typeface="Cambria Math" panose="02040503050406030204"/>
              </a:rPr>
              <a:t>−0.77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247547" y="2649260"/>
            <a:ext cx="2278380" cy="462280"/>
          </a:xfrm>
          <a:custGeom>
            <a:avLst/>
            <a:gdLst/>
            <a:ahLst/>
            <a:cxnLst/>
            <a:rect l="l" t="t" r="r" b="b"/>
            <a:pathLst>
              <a:path w="2278379" h="462280">
                <a:moveTo>
                  <a:pt x="0" y="0"/>
                </a:moveTo>
                <a:lnTo>
                  <a:pt x="2278379" y="0"/>
                </a:lnTo>
                <a:lnTo>
                  <a:pt x="2278379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247547" y="2649260"/>
            <a:ext cx="2278380" cy="462280"/>
          </a:xfrm>
          <a:custGeom>
            <a:avLst/>
            <a:gdLst/>
            <a:ahLst/>
            <a:cxnLst/>
            <a:rect l="l" t="t" r="r" b="b"/>
            <a:pathLst>
              <a:path w="2278379" h="462280">
                <a:moveTo>
                  <a:pt x="0" y="0"/>
                </a:moveTo>
                <a:lnTo>
                  <a:pt x="2278379" y="0"/>
                </a:lnTo>
                <a:lnTo>
                  <a:pt x="2278379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416456" y="1114593"/>
            <a:ext cx="94488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824888" y="1113069"/>
            <a:ext cx="120396" cy="1965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4353971" y="1509309"/>
            <a:ext cx="939800" cy="462280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R="19050" algn="ctr">
              <a:lnSpc>
                <a:spcPts val="1140"/>
              </a:lnSpc>
              <a:spcBef>
                <a:spcPts val="250"/>
              </a:spcBef>
              <a:tabLst>
                <a:tab pos="607695" algn="l"/>
              </a:tabLst>
            </a:pPr>
            <a:r>
              <a:rPr sz="1800" baseline="2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0.14	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17780" algn="ctr">
              <a:lnSpc>
                <a:spcPts val="510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+1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2540" algn="ctr">
              <a:lnSpc>
                <a:spcPts val="1170"/>
              </a:lnSpc>
              <a:tabLst>
                <a:tab pos="616585" algn="l"/>
              </a:tabLst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-0.77	</a:t>
            </a:r>
            <a:r>
              <a:rPr sz="1800" baseline="-7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-0.77</a:t>
            </a:r>
            <a:endParaRPr sz="1800" baseline="-7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147" y="2329161"/>
            <a:ext cx="676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105" dirty="0">
                <a:latin typeface="Cambria Math" panose="02040503050406030204"/>
                <a:cs typeface="Cambria Math" panose="02040503050406030204"/>
              </a:rPr>
              <a:t>f(x)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867" y="2352021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1867" y="2201145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i="1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6092" y="2473611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71323" y="2352021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672" y="2800077"/>
            <a:ext cx="735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75" i="1" spc="104" baseline="-16000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ax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9823" y="2780265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1679" y="2882373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56" y="290185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70156" y="2664441"/>
            <a:ext cx="485775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i="1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a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1235" y="2341353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105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 =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108" y="2190476"/>
            <a:ext cx="109855" cy="461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5332" y="2459133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0" y="0"/>
                </a:moveTo>
                <a:lnTo>
                  <a:pt x="85343" y="0"/>
                </a:lnTo>
                <a:lnTo>
                  <a:pt x="85343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55189" y="2833561"/>
            <a:ext cx="81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25" dirty="0">
                <a:latin typeface="Cambria Math" panose="02040503050406030204"/>
                <a:cs typeface="Cambria Math" panose="02040503050406030204"/>
              </a:rPr>
              <a:t>e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4779" y="2348973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3776" y="2198096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i="1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8000" y="2470563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81708" y="2348973"/>
            <a:ext cx="641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 −</a:t>
            </a:r>
            <a:r>
              <a:rPr sz="1200" i="1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00" i="1" spc="52" baseline="2000" dirty="0">
                <a:latin typeface="Cambria Math" panose="02040503050406030204"/>
                <a:cs typeface="Cambria Math" panose="02040503050406030204"/>
              </a:rPr>
              <a:t>⁄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i="1" spc="52" baseline="29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1903" y="2761977"/>
            <a:ext cx="1064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20" dirty="0">
                <a:latin typeface="Cambria Math" panose="02040503050406030204"/>
                <a:cs typeface="Cambria Math" panose="02040503050406030204"/>
              </a:rPr>
              <a:t>c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→</a:t>
            </a:r>
            <a:endParaRPr sz="1800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2252" y="2856465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952" y="2875947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60728" y="2638533"/>
            <a:ext cx="485140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i="1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4976" y="272193"/>
            <a:ext cx="358140" cy="142240"/>
          </a:xfrm>
          <a:custGeom>
            <a:avLst/>
            <a:gdLst/>
            <a:ahLst/>
            <a:cxnLst/>
            <a:rect l="l" t="t" r="r" b="b"/>
            <a:pathLst>
              <a:path w="358139" h="142240">
                <a:moveTo>
                  <a:pt x="313944" y="0"/>
                </a:moveTo>
                <a:lnTo>
                  <a:pt x="310896" y="6096"/>
                </a:lnTo>
                <a:lnTo>
                  <a:pt x="319444" y="9239"/>
                </a:lnTo>
                <a:lnTo>
                  <a:pt x="326707" y="14096"/>
                </a:lnTo>
                <a:lnTo>
                  <a:pt x="345376" y="58102"/>
                </a:lnTo>
                <a:lnTo>
                  <a:pt x="345948" y="70103"/>
                </a:lnTo>
                <a:lnTo>
                  <a:pt x="345376" y="82343"/>
                </a:lnTo>
                <a:lnTo>
                  <a:pt x="332541" y="121062"/>
                </a:lnTo>
                <a:lnTo>
                  <a:pt x="310896" y="135635"/>
                </a:lnTo>
                <a:lnTo>
                  <a:pt x="313944" y="141731"/>
                </a:lnTo>
                <a:lnTo>
                  <a:pt x="347472" y="117348"/>
                </a:lnTo>
                <a:lnTo>
                  <a:pt x="358139" y="71627"/>
                </a:lnTo>
                <a:lnTo>
                  <a:pt x="357544" y="58459"/>
                </a:lnTo>
                <a:lnTo>
                  <a:pt x="340304" y="16073"/>
                </a:lnTo>
                <a:lnTo>
                  <a:pt x="323683" y="4024"/>
                </a:lnTo>
                <a:lnTo>
                  <a:pt x="313944" y="0"/>
                </a:lnTo>
                <a:close/>
              </a:path>
              <a:path w="358139" h="142240">
                <a:moveTo>
                  <a:pt x="45720" y="0"/>
                </a:moveTo>
                <a:lnTo>
                  <a:pt x="12191" y="24383"/>
                </a:lnTo>
                <a:lnTo>
                  <a:pt x="0" y="71627"/>
                </a:lnTo>
                <a:lnTo>
                  <a:pt x="833" y="83915"/>
                </a:lnTo>
                <a:lnTo>
                  <a:pt x="18502" y="125658"/>
                </a:lnTo>
                <a:lnTo>
                  <a:pt x="45720" y="141731"/>
                </a:lnTo>
                <a:lnTo>
                  <a:pt x="47244" y="135635"/>
                </a:lnTo>
                <a:lnTo>
                  <a:pt x="38909" y="132492"/>
                </a:lnTo>
                <a:lnTo>
                  <a:pt x="32004" y="127634"/>
                </a:lnTo>
                <a:lnTo>
                  <a:pt x="14263" y="82343"/>
                </a:lnTo>
                <a:lnTo>
                  <a:pt x="13715" y="70103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4" y="6096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23620" y="122841"/>
            <a:ext cx="2216150" cy="39941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2465" algn="ctr">
              <a:lnSpc>
                <a:spcPts val="1130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78740">
              <a:lnSpc>
                <a:spcPts val="695"/>
              </a:lnSpc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w,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664845" algn="ctr">
              <a:lnSpc>
                <a:spcPts val="960"/>
              </a:lnSpc>
            </a:pPr>
            <a:r>
              <a:rPr sz="1800" i="1" baseline="-16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800" i="1" spc="-5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112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-(w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4952" y="343059"/>
            <a:ext cx="1385570" cy="0"/>
          </a:xfrm>
          <a:custGeom>
            <a:avLst/>
            <a:gdLst/>
            <a:ahLst/>
            <a:cxnLst/>
            <a:rect l="l" t="t" r="r" b="b"/>
            <a:pathLst>
              <a:path w="1385570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0943" y="884841"/>
            <a:ext cx="355092" cy="3489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1799" y="1549305"/>
            <a:ext cx="356616" cy="348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2176" y="1710849"/>
            <a:ext cx="2214880" cy="530860"/>
          </a:xfrm>
          <a:custGeom>
            <a:avLst/>
            <a:gdLst/>
            <a:ahLst/>
            <a:cxnLst/>
            <a:rect l="l" t="t" r="r" b="b"/>
            <a:pathLst>
              <a:path w="2214880" h="530860">
                <a:moveTo>
                  <a:pt x="2176477" y="13557"/>
                </a:moveTo>
                <a:lnTo>
                  <a:pt x="0" y="518159"/>
                </a:lnTo>
                <a:lnTo>
                  <a:pt x="3048" y="530351"/>
                </a:lnTo>
                <a:lnTo>
                  <a:pt x="2179410" y="25776"/>
                </a:lnTo>
                <a:lnTo>
                  <a:pt x="2176477" y="13557"/>
                </a:lnTo>
                <a:close/>
              </a:path>
              <a:path w="2214880" h="530860">
                <a:moveTo>
                  <a:pt x="2212594" y="12192"/>
                </a:moveTo>
                <a:lnTo>
                  <a:pt x="2182368" y="12192"/>
                </a:lnTo>
                <a:lnTo>
                  <a:pt x="2185416" y="24383"/>
                </a:lnTo>
                <a:lnTo>
                  <a:pt x="2179410" y="25776"/>
                </a:lnTo>
                <a:lnTo>
                  <a:pt x="2182368" y="38100"/>
                </a:lnTo>
                <a:lnTo>
                  <a:pt x="2212594" y="12192"/>
                </a:lnTo>
                <a:close/>
              </a:path>
              <a:path w="2214880" h="530860">
                <a:moveTo>
                  <a:pt x="2182368" y="12192"/>
                </a:moveTo>
                <a:lnTo>
                  <a:pt x="2176477" y="13557"/>
                </a:lnTo>
                <a:lnTo>
                  <a:pt x="2179410" y="25776"/>
                </a:lnTo>
                <a:lnTo>
                  <a:pt x="2185416" y="24383"/>
                </a:lnTo>
                <a:lnTo>
                  <a:pt x="2182368" y="12192"/>
                </a:lnTo>
                <a:close/>
              </a:path>
              <a:path w="2214880" h="530860">
                <a:moveTo>
                  <a:pt x="2173224" y="0"/>
                </a:moveTo>
                <a:lnTo>
                  <a:pt x="2176477" y="13557"/>
                </a:lnTo>
                <a:lnTo>
                  <a:pt x="2182368" y="12192"/>
                </a:lnTo>
                <a:lnTo>
                  <a:pt x="2212594" y="12192"/>
                </a:lnTo>
                <a:lnTo>
                  <a:pt x="2214372" y="10668"/>
                </a:lnTo>
                <a:lnTo>
                  <a:pt x="2173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48415" y="924465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30165" y="959046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39272" y="1578261"/>
            <a:ext cx="246887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39272" y="1578261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664" y="9644"/>
                </a:lnTo>
                <a:lnTo>
                  <a:pt x="210883" y="36004"/>
                </a:lnTo>
                <a:lnTo>
                  <a:pt x="237243" y="75223"/>
                </a:lnTo>
                <a:lnTo>
                  <a:pt x="246887" y="123443"/>
                </a:lnTo>
                <a:lnTo>
                  <a:pt x="237243" y="171902"/>
                </a:lnTo>
                <a:lnTo>
                  <a:pt x="210883" y="211645"/>
                </a:lnTo>
                <a:lnTo>
                  <a:pt x="171664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21021" y="161284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66547" y="15965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4967"/>
                </a:moveTo>
                <a:lnTo>
                  <a:pt x="9882" y="76509"/>
                </a:lnTo>
                <a:lnTo>
                  <a:pt x="36766" y="36766"/>
                </a:lnTo>
                <a:lnTo>
                  <a:pt x="76509" y="9882"/>
                </a:lnTo>
                <a:lnTo>
                  <a:pt x="124967" y="0"/>
                </a:lnTo>
                <a:lnTo>
                  <a:pt x="173188" y="9882"/>
                </a:lnTo>
                <a:lnTo>
                  <a:pt x="212407" y="36766"/>
                </a:lnTo>
                <a:lnTo>
                  <a:pt x="238767" y="76509"/>
                </a:lnTo>
                <a:lnTo>
                  <a:pt x="248411" y="124967"/>
                </a:lnTo>
                <a:lnTo>
                  <a:pt x="238767" y="173188"/>
                </a:lnTo>
                <a:lnTo>
                  <a:pt x="212407" y="212407"/>
                </a:lnTo>
                <a:lnTo>
                  <a:pt x="173188" y="238767"/>
                </a:lnTo>
                <a:lnTo>
                  <a:pt x="124967" y="248411"/>
                </a:lnTo>
                <a:lnTo>
                  <a:pt x="76509" y="238767"/>
                </a:lnTo>
                <a:lnTo>
                  <a:pt x="36766" y="212407"/>
                </a:lnTo>
                <a:lnTo>
                  <a:pt x="9882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49821" y="163113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86159" y="170322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26595" y="1044861"/>
            <a:ext cx="245745" cy="292735"/>
          </a:xfrm>
          <a:custGeom>
            <a:avLst/>
            <a:gdLst/>
            <a:ahLst/>
            <a:cxnLst/>
            <a:rect l="l" t="t" r="r" b="b"/>
            <a:pathLst>
              <a:path w="245744" h="292734">
                <a:moveTo>
                  <a:pt x="215510" y="268027"/>
                </a:moveTo>
                <a:lnTo>
                  <a:pt x="205740" y="275844"/>
                </a:lnTo>
                <a:lnTo>
                  <a:pt x="245364" y="292608"/>
                </a:lnTo>
                <a:lnTo>
                  <a:pt x="240961" y="272796"/>
                </a:lnTo>
                <a:lnTo>
                  <a:pt x="219456" y="272796"/>
                </a:lnTo>
                <a:lnTo>
                  <a:pt x="215510" y="268027"/>
                </a:lnTo>
                <a:close/>
              </a:path>
              <a:path w="245744" h="292734">
                <a:moveTo>
                  <a:pt x="226453" y="259273"/>
                </a:moveTo>
                <a:lnTo>
                  <a:pt x="215510" y="268027"/>
                </a:lnTo>
                <a:lnTo>
                  <a:pt x="219456" y="272796"/>
                </a:lnTo>
                <a:lnTo>
                  <a:pt x="230124" y="263652"/>
                </a:lnTo>
                <a:lnTo>
                  <a:pt x="226453" y="259273"/>
                </a:lnTo>
                <a:close/>
              </a:path>
              <a:path w="245744" h="292734">
                <a:moveTo>
                  <a:pt x="236220" y="251460"/>
                </a:moveTo>
                <a:lnTo>
                  <a:pt x="226453" y="259273"/>
                </a:lnTo>
                <a:lnTo>
                  <a:pt x="230124" y="263652"/>
                </a:lnTo>
                <a:lnTo>
                  <a:pt x="219456" y="272796"/>
                </a:lnTo>
                <a:lnTo>
                  <a:pt x="240961" y="272796"/>
                </a:lnTo>
                <a:lnTo>
                  <a:pt x="236220" y="251460"/>
                </a:lnTo>
                <a:close/>
              </a:path>
              <a:path w="245744" h="292734">
                <a:moveTo>
                  <a:pt x="9143" y="0"/>
                </a:moveTo>
                <a:lnTo>
                  <a:pt x="0" y="7620"/>
                </a:lnTo>
                <a:lnTo>
                  <a:pt x="215510" y="268027"/>
                </a:lnTo>
                <a:lnTo>
                  <a:pt x="226453" y="2592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1356" y="1337469"/>
            <a:ext cx="260985" cy="368935"/>
          </a:xfrm>
          <a:custGeom>
            <a:avLst/>
            <a:gdLst/>
            <a:ahLst/>
            <a:cxnLst/>
            <a:rect l="l" t="t" r="r" b="b"/>
            <a:pathLst>
              <a:path w="260985" h="368935">
                <a:moveTo>
                  <a:pt x="234076" y="28078"/>
                </a:moveTo>
                <a:lnTo>
                  <a:pt x="0" y="361187"/>
                </a:lnTo>
                <a:lnTo>
                  <a:pt x="9143" y="368807"/>
                </a:lnTo>
                <a:lnTo>
                  <a:pt x="243730" y="34973"/>
                </a:lnTo>
                <a:lnTo>
                  <a:pt x="234076" y="28078"/>
                </a:lnTo>
                <a:close/>
              </a:path>
              <a:path w="260985" h="368935">
                <a:moveTo>
                  <a:pt x="257338" y="22859"/>
                </a:moveTo>
                <a:lnTo>
                  <a:pt x="237744" y="22859"/>
                </a:lnTo>
                <a:lnTo>
                  <a:pt x="246887" y="30479"/>
                </a:lnTo>
                <a:lnTo>
                  <a:pt x="243730" y="34973"/>
                </a:lnTo>
                <a:lnTo>
                  <a:pt x="254507" y="42672"/>
                </a:lnTo>
                <a:lnTo>
                  <a:pt x="257338" y="22859"/>
                </a:lnTo>
                <a:close/>
              </a:path>
              <a:path w="260985" h="368935">
                <a:moveTo>
                  <a:pt x="237744" y="22859"/>
                </a:moveTo>
                <a:lnTo>
                  <a:pt x="234076" y="28078"/>
                </a:lnTo>
                <a:lnTo>
                  <a:pt x="243730" y="34973"/>
                </a:lnTo>
                <a:lnTo>
                  <a:pt x="246887" y="30479"/>
                </a:lnTo>
                <a:lnTo>
                  <a:pt x="237744" y="22859"/>
                </a:lnTo>
                <a:close/>
              </a:path>
              <a:path w="260985" h="368935">
                <a:moveTo>
                  <a:pt x="260604" y="0"/>
                </a:moveTo>
                <a:lnTo>
                  <a:pt x="222504" y="19811"/>
                </a:lnTo>
                <a:lnTo>
                  <a:pt x="234076" y="28078"/>
                </a:lnTo>
                <a:lnTo>
                  <a:pt x="237744" y="22859"/>
                </a:lnTo>
                <a:lnTo>
                  <a:pt x="257338" y="22859"/>
                </a:lnTo>
                <a:lnTo>
                  <a:pt x="260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971959" y="1214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053709" y="124856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20372" y="1337469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558700" y="1334421"/>
            <a:ext cx="307975" cy="387350"/>
          </a:xfrm>
          <a:custGeom>
            <a:avLst/>
            <a:gdLst/>
            <a:ahLst/>
            <a:cxnLst/>
            <a:rect l="l" t="t" r="r" b="b"/>
            <a:pathLst>
              <a:path w="307975" h="387350">
                <a:moveTo>
                  <a:pt x="279674" y="360971"/>
                </a:moveTo>
                <a:lnTo>
                  <a:pt x="269748" y="368807"/>
                </a:lnTo>
                <a:lnTo>
                  <a:pt x="307848" y="387096"/>
                </a:lnTo>
                <a:lnTo>
                  <a:pt x="303106" y="365759"/>
                </a:lnTo>
                <a:lnTo>
                  <a:pt x="283463" y="365759"/>
                </a:lnTo>
                <a:lnTo>
                  <a:pt x="279674" y="360971"/>
                </a:lnTo>
                <a:close/>
              </a:path>
              <a:path w="307975" h="387350">
                <a:moveTo>
                  <a:pt x="289025" y="353589"/>
                </a:moveTo>
                <a:lnTo>
                  <a:pt x="279674" y="360971"/>
                </a:lnTo>
                <a:lnTo>
                  <a:pt x="283463" y="365759"/>
                </a:lnTo>
                <a:lnTo>
                  <a:pt x="292608" y="358139"/>
                </a:lnTo>
                <a:lnTo>
                  <a:pt x="289025" y="353589"/>
                </a:lnTo>
                <a:close/>
              </a:path>
              <a:path w="307975" h="387350">
                <a:moveTo>
                  <a:pt x="298703" y="345948"/>
                </a:moveTo>
                <a:lnTo>
                  <a:pt x="289025" y="353589"/>
                </a:lnTo>
                <a:lnTo>
                  <a:pt x="292608" y="358139"/>
                </a:lnTo>
                <a:lnTo>
                  <a:pt x="283463" y="365759"/>
                </a:lnTo>
                <a:lnTo>
                  <a:pt x="303106" y="365759"/>
                </a:lnTo>
                <a:lnTo>
                  <a:pt x="298703" y="345948"/>
                </a:lnTo>
                <a:close/>
              </a:path>
              <a:path w="307975" h="387350">
                <a:moveTo>
                  <a:pt x="10667" y="0"/>
                </a:moveTo>
                <a:lnTo>
                  <a:pt x="0" y="7620"/>
                </a:lnTo>
                <a:lnTo>
                  <a:pt x="279674" y="360971"/>
                </a:lnTo>
                <a:lnTo>
                  <a:pt x="289025" y="353589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14960" y="1701705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71576" y="1598073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882" y="75223"/>
                </a:lnTo>
                <a:lnTo>
                  <a:pt x="36766" y="36004"/>
                </a:lnTo>
                <a:lnTo>
                  <a:pt x="76509" y="9644"/>
                </a:lnTo>
                <a:lnTo>
                  <a:pt x="124967" y="0"/>
                </a:lnTo>
                <a:lnTo>
                  <a:pt x="173188" y="9644"/>
                </a:lnTo>
                <a:lnTo>
                  <a:pt x="212407" y="36004"/>
                </a:lnTo>
                <a:lnTo>
                  <a:pt x="238767" y="75223"/>
                </a:lnTo>
                <a:lnTo>
                  <a:pt x="248411" y="123443"/>
                </a:lnTo>
                <a:lnTo>
                  <a:pt x="238767" y="171664"/>
                </a:lnTo>
                <a:lnTo>
                  <a:pt x="212407" y="210883"/>
                </a:lnTo>
                <a:lnTo>
                  <a:pt x="173188" y="237243"/>
                </a:lnTo>
                <a:lnTo>
                  <a:pt x="124967" y="246887"/>
                </a:lnTo>
                <a:lnTo>
                  <a:pt x="76509" y="237243"/>
                </a:lnTo>
                <a:lnTo>
                  <a:pt x="36766" y="210883"/>
                </a:lnTo>
                <a:lnTo>
                  <a:pt x="9882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507606" y="1632617"/>
            <a:ext cx="175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*-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719988" y="1700181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76603" y="1596549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664"/>
                </a:lnTo>
                <a:lnTo>
                  <a:pt x="211645" y="210883"/>
                </a:lnTo>
                <a:lnTo>
                  <a:pt x="171902" y="237243"/>
                </a:lnTo>
                <a:lnTo>
                  <a:pt x="123443" y="246887"/>
                </a:lnTo>
                <a:lnTo>
                  <a:pt x="75223" y="237243"/>
                </a:lnTo>
                <a:lnTo>
                  <a:pt x="36004" y="210883"/>
                </a:lnTo>
                <a:lnTo>
                  <a:pt x="9644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28064" y="1698657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26136" y="12192"/>
                </a:moveTo>
                <a:lnTo>
                  <a:pt x="320039" y="12220"/>
                </a:lnTo>
                <a:lnTo>
                  <a:pt x="320039" y="38100"/>
                </a:lnTo>
                <a:lnTo>
                  <a:pt x="343486" y="25908"/>
                </a:lnTo>
                <a:lnTo>
                  <a:pt x="326136" y="25908"/>
                </a:lnTo>
                <a:lnTo>
                  <a:pt x="326136" y="12192"/>
                </a:lnTo>
                <a:close/>
              </a:path>
              <a:path w="358139" h="38100">
                <a:moveTo>
                  <a:pt x="320039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20039" y="25908"/>
                </a:lnTo>
                <a:lnTo>
                  <a:pt x="320039" y="12220"/>
                </a:lnTo>
                <a:close/>
              </a:path>
              <a:path w="358139" h="38100">
                <a:moveTo>
                  <a:pt x="345439" y="12192"/>
                </a:moveTo>
                <a:lnTo>
                  <a:pt x="326136" y="12192"/>
                </a:lnTo>
                <a:lnTo>
                  <a:pt x="326136" y="25908"/>
                </a:lnTo>
                <a:lnTo>
                  <a:pt x="343486" y="25908"/>
                </a:lnTo>
                <a:lnTo>
                  <a:pt x="358139" y="18288"/>
                </a:lnTo>
                <a:lnTo>
                  <a:pt x="345439" y="12192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12220"/>
                </a:lnTo>
                <a:lnTo>
                  <a:pt x="345439" y="12192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686203" y="1595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920900" y="1704753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4931" y="12192"/>
                </a:moveTo>
                <a:lnTo>
                  <a:pt x="326136" y="12192"/>
                </a:lnTo>
                <a:lnTo>
                  <a:pt x="326136" y="24383"/>
                </a:lnTo>
                <a:lnTo>
                  <a:pt x="319492" y="24415"/>
                </a:lnTo>
                <a:lnTo>
                  <a:pt x="320039" y="38100"/>
                </a:lnTo>
                <a:lnTo>
                  <a:pt x="358139" y="18288"/>
                </a:lnTo>
                <a:lnTo>
                  <a:pt x="344931" y="12192"/>
                </a:lnTo>
                <a:close/>
              </a:path>
              <a:path w="358139" h="38100">
                <a:moveTo>
                  <a:pt x="319005" y="12225"/>
                </a:moveTo>
                <a:lnTo>
                  <a:pt x="0" y="13716"/>
                </a:lnTo>
                <a:lnTo>
                  <a:pt x="0" y="25907"/>
                </a:lnTo>
                <a:lnTo>
                  <a:pt x="319492" y="24415"/>
                </a:lnTo>
                <a:lnTo>
                  <a:pt x="319005" y="12225"/>
                </a:lnTo>
                <a:close/>
              </a:path>
              <a:path w="358139" h="38100">
                <a:moveTo>
                  <a:pt x="326136" y="12192"/>
                </a:moveTo>
                <a:lnTo>
                  <a:pt x="319005" y="12225"/>
                </a:lnTo>
                <a:lnTo>
                  <a:pt x="319492" y="24415"/>
                </a:lnTo>
                <a:lnTo>
                  <a:pt x="326136" y="24383"/>
                </a:lnTo>
                <a:lnTo>
                  <a:pt x="326136" y="12192"/>
                </a:lnTo>
                <a:close/>
              </a:path>
              <a:path w="358139" h="38100">
                <a:moveTo>
                  <a:pt x="318515" y="0"/>
                </a:moveTo>
                <a:lnTo>
                  <a:pt x="319005" y="12225"/>
                </a:lnTo>
                <a:lnTo>
                  <a:pt x="344931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279039" y="1599597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4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56596" y="657333"/>
            <a:ext cx="383540" cy="16732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5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w0 </a:t>
            </a:r>
            <a:r>
              <a:rPr sz="12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aseline="35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800" baseline="35000">
              <a:latin typeface="Calibri" panose="020F0502020204030204"/>
              <a:cs typeface="Calibri" panose="020F0502020204030204"/>
            </a:endParaRPr>
          </a:p>
          <a:p>
            <a:pPr marL="20320">
              <a:lnSpc>
                <a:spcPct val="100000"/>
              </a:lnSpc>
              <a:spcBef>
                <a:spcPts val="800"/>
              </a:spcBef>
            </a:pPr>
            <a:r>
              <a:rPr sz="1800" spc="-7" baseline="-23000" dirty="0">
                <a:latin typeface="Calibri" panose="020F0502020204030204"/>
                <a:cs typeface="Calibri" panose="020F0502020204030204"/>
              </a:rPr>
              <a:t>x0</a:t>
            </a:r>
            <a:r>
              <a:rPr sz="1800" spc="330" baseline="-23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0320">
              <a:lnSpc>
                <a:spcPct val="100000"/>
              </a:lnSpc>
              <a:spcBef>
                <a:spcPts val="1045"/>
              </a:spcBef>
            </a:pPr>
            <a:r>
              <a:rPr sz="1800" spc="-7" baseline="-35000" dirty="0">
                <a:latin typeface="Calibri" panose="020F0502020204030204"/>
                <a:cs typeface="Calibri" panose="020F0502020204030204"/>
              </a:rPr>
              <a:t>w1</a:t>
            </a:r>
            <a:r>
              <a:rPr sz="1800" spc="-209" baseline="-35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40005">
              <a:lnSpc>
                <a:spcPct val="100000"/>
              </a:lnSpc>
              <a:spcBef>
                <a:spcPts val="1295"/>
              </a:spcBef>
            </a:pPr>
            <a:r>
              <a:rPr sz="1800" spc="-7" baseline="-30000" dirty="0">
                <a:latin typeface="Calibri" panose="020F0502020204030204"/>
                <a:cs typeface="Calibri" panose="020F0502020204030204"/>
              </a:rPr>
              <a:t>x1</a:t>
            </a:r>
            <a:r>
              <a:rPr sz="1800" spc="179" baseline="-30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33680">
              <a:lnSpc>
                <a:spcPts val="1165"/>
              </a:lnSpc>
              <a:spcBef>
                <a:spcPts val="94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165"/>
              </a:lnSpc>
            </a:pPr>
            <a:r>
              <a:rPr sz="1200" dirty="0">
                <a:latin typeface="Calibri" panose="020F0502020204030204"/>
                <a:cs typeface="Calibri" panose="020F0502020204030204"/>
              </a:rPr>
              <a:t>w2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20448" y="11145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208939" y="149858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816000" y="1522965"/>
            <a:ext cx="137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17752" y="1513821"/>
            <a:ext cx="762000" cy="28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 algn="ctr">
              <a:lnSpc>
                <a:spcPts val="118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5080" algn="ctr">
              <a:lnSpc>
                <a:spcPts val="820"/>
              </a:lnSpc>
              <a:tabLst>
                <a:tab pos="633730" algn="l"/>
              </a:tabLst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x</a:t>
            </a:r>
            <a:r>
              <a:rPr sz="900" dirty="0">
                <a:latin typeface="Calibri" panose="020F0502020204030204"/>
                <a:cs typeface="Calibri" panose="020F0502020204030204"/>
              </a:rPr>
              <a:t>p	+1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548788" y="1709325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6416" y="13716"/>
                </a:moveTo>
                <a:lnTo>
                  <a:pt x="326136" y="13716"/>
                </a:lnTo>
                <a:lnTo>
                  <a:pt x="326136" y="25907"/>
                </a:lnTo>
                <a:lnTo>
                  <a:pt x="320039" y="25936"/>
                </a:lnTo>
                <a:lnTo>
                  <a:pt x="320039" y="38100"/>
                </a:lnTo>
                <a:lnTo>
                  <a:pt x="358139" y="19811"/>
                </a:lnTo>
                <a:lnTo>
                  <a:pt x="346416" y="13716"/>
                </a:lnTo>
                <a:close/>
              </a:path>
              <a:path w="358139" h="38100">
                <a:moveTo>
                  <a:pt x="320039" y="13716"/>
                </a:moveTo>
                <a:lnTo>
                  <a:pt x="0" y="13716"/>
                </a:lnTo>
                <a:lnTo>
                  <a:pt x="0" y="27431"/>
                </a:lnTo>
                <a:lnTo>
                  <a:pt x="320039" y="25936"/>
                </a:lnTo>
                <a:lnTo>
                  <a:pt x="320039" y="13716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25936"/>
                </a:lnTo>
                <a:lnTo>
                  <a:pt x="326136" y="25907"/>
                </a:lnTo>
                <a:lnTo>
                  <a:pt x="326136" y="13716"/>
                </a:lnTo>
                <a:lnTo>
                  <a:pt x="346416" y="13716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1282603" y="850881"/>
            <a:ext cx="455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325" algn="l"/>
              </a:tabLst>
            </a:pP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spc="-170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-3	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28324" y="14772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37611" y="1484864"/>
            <a:ext cx="321945" cy="4343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0.88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1.00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958491" y="1522965"/>
            <a:ext cx="532130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ts val="116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ts val="575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1/x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220"/>
              </a:lnSpc>
            </a:pP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xfrm>
            <a:off x="2069064" y="125316"/>
            <a:ext cx="1709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反向传播示例2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659995" y="808111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上游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66033" y="808111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局部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696658" y="1283658"/>
            <a:ext cx="10833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−0.77 × </a:t>
            </a:r>
            <a:r>
              <a:rPr sz="900" i="1" spc="11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975" i="1" spc="165" baseline="26000" dirty="0">
                <a:latin typeface="Cambria Math" panose="02040503050406030204"/>
                <a:cs typeface="Cambria Math" panose="02040503050406030204"/>
              </a:rPr>
              <a:t>-2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900" i="1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-5" dirty="0">
                <a:latin typeface="Cambria Math" panose="02040503050406030204"/>
                <a:cs typeface="Cambria Math" panose="02040503050406030204"/>
              </a:rPr>
              <a:t>−0.10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014887" y="2207672"/>
            <a:ext cx="2009139" cy="462280"/>
          </a:xfrm>
          <a:custGeom>
            <a:avLst/>
            <a:gdLst/>
            <a:ahLst/>
            <a:cxnLst/>
            <a:rect l="l" t="t" r="r" b="b"/>
            <a:pathLst>
              <a:path w="2009139" h="462280">
                <a:moveTo>
                  <a:pt x="0" y="0"/>
                </a:moveTo>
                <a:lnTo>
                  <a:pt x="2008631" y="0"/>
                </a:lnTo>
                <a:lnTo>
                  <a:pt x="2008631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014887" y="2207672"/>
            <a:ext cx="2009139" cy="462280"/>
          </a:xfrm>
          <a:custGeom>
            <a:avLst/>
            <a:gdLst/>
            <a:ahLst/>
            <a:cxnLst/>
            <a:rect l="l" t="t" r="r" b="b"/>
            <a:pathLst>
              <a:path w="2009139" h="462280">
                <a:moveTo>
                  <a:pt x="0" y="0"/>
                </a:moveTo>
                <a:lnTo>
                  <a:pt x="2008631" y="0"/>
                </a:lnTo>
                <a:lnTo>
                  <a:pt x="2008631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747420" y="1503585"/>
            <a:ext cx="925194" cy="462280"/>
          </a:xfrm>
          <a:custGeom>
            <a:avLst/>
            <a:gdLst/>
            <a:ahLst/>
            <a:cxnLst/>
            <a:rect l="l" t="t" r="r" b="b"/>
            <a:pathLst>
              <a:path w="925195" h="462280">
                <a:moveTo>
                  <a:pt x="0" y="0"/>
                </a:moveTo>
                <a:lnTo>
                  <a:pt x="925067" y="0"/>
                </a:lnTo>
                <a:lnTo>
                  <a:pt x="925067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747420" y="1503585"/>
            <a:ext cx="925194" cy="462280"/>
          </a:xfrm>
          <a:custGeom>
            <a:avLst/>
            <a:gdLst/>
            <a:ahLst/>
            <a:cxnLst/>
            <a:rect l="l" t="t" r="r" b="b"/>
            <a:pathLst>
              <a:path w="925195" h="462280">
                <a:moveTo>
                  <a:pt x="0" y="0"/>
                </a:moveTo>
                <a:lnTo>
                  <a:pt x="925067" y="0"/>
                </a:lnTo>
                <a:lnTo>
                  <a:pt x="925067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832764" y="1108869"/>
            <a:ext cx="94487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239671" y="1107345"/>
            <a:ext cx="121919" cy="1965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3756564" y="1698225"/>
            <a:ext cx="930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00075" algn="l"/>
              </a:tabLst>
            </a:pPr>
            <a:r>
              <a:rPr sz="1800" baseline="2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-0.10	</a:t>
            </a: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581808" y="3243446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147" y="2334885"/>
            <a:ext cx="676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5" dirty="0">
                <a:latin typeface="Cambria Math" panose="02040503050406030204"/>
                <a:cs typeface="Cambria Math" panose="02040503050406030204"/>
              </a:rPr>
              <a:t>f(x)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867" y="2357745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1867" y="2206869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6092" y="247933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71323" y="2357745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672" y="2805801"/>
            <a:ext cx="735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75" spc="104" baseline="-16000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ax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9823" y="278598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1679" y="2888097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56" y="290757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70156" y="2670165"/>
            <a:ext cx="485775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a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1235" y="2347077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5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 =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108" y="2196201"/>
            <a:ext cx="109855" cy="461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5332" y="2464857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0" y="0"/>
                </a:moveTo>
                <a:lnTo>
                  <a:pt x="85343" y="0"/>
                </a:lnTo>
                <a:lnTo>
                  <a:pt x="85343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55189" y="2839227"/>
            <a:ext cx="81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65" dirty="0">
                <a:latin typeface="Cambria Math" panose="02040503050406030204"/>
                <a:cs typeface="Cambria Math" panose="02040503050406030204"/>
              </a:rPr>
              <a:t>c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4779" y="2354697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3776" y="2203821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8000" y="2476287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81708" y="2354697"/>
            <a:ext cx="641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 −</a:t>
            </a:r>
            <a:r>
              <a:rPr sz="1200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00" spc="52" baseline="2000" dirty="0">
                <a:latin typeface="Cambria Math" panose="02040503050406030204"/>
                <a:cs typeface="Cambria Math" panose="02040503050406030204"/>
              </a:rPr>
              <a:t>⁄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spc="52" baseline="29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1903" y="2767701"/>
            <a:ext cx="1064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20" dirty="0">
                <a:latin typeface="Cambria Math" panose="02040503050406030204"/>
                <a:cs typeface="Cambria Math" panose="02040503050406030204"/>
              </a:rPr>
              <a:t>c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baseline="2000" dirty="0">
                <a:latin typeface="Cambria Math" panose="02040503050406030204"/>
                <a:cs typeface="Cambria Math" panose="02040503050406030204"/>
              </a:rPr>
              <a:t>→</a:t>
            </a:r>
            <a:endParaRPr sz="1800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2252" y="2862189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952" y="2881671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60728" y="2644257"/>
            <a:ext cx="485140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4976" y="277917"/>
            <a:ext cx="358140" cy="142240"/>
          </a:xfrm>
          <a:custGeom>
            <a:avLst/>
            <a:gdLst/>
            <a:ahLst/>
            <a:cxnLst/>
            <a:rect l="l" t="t" r="r" b="b"/>
            <a:pathLst>
              <a:path w="358139" h="142240">
                <a:moveTo>
                  <a:pt x="313944" y="0"/>
                </a:moveTo>
                <a:lnTo>
                  <a:pt x="310896" y="6096"/>
                </a:lnTo>
                <a:lnTo>
                  <a:pt x="319444" y="9239"/>
                </a:lnTo>
                <a:lnTo>
                  <a:pt x="326707" y="14097"/>
                </a:lnTo>
                <a:lnTo>
                  <a:pt x="345376" y="58102"/>
                </a:lnTo>
                <a:lnTo>
                  <a:pt x="345948" y="70104"/>
                </a:lnTo>
                <a:lnTo>
                  <a:pt x="345376" y="82343"/>
                </a:lnTo>
                <a:lnTo>
                  <a:pt x="332541" y="121062"/>
                </a:lnTo>
                <a:lnTo>
                  <a:pt x="310896" y="135636"/>
                </a:lnTo>
                <a:lnTo>
                  <a:pt x="313944" y="141732"/>
                </a:lnTo>
                <a:lnTo>
                  <a:pt x="347472" y="117348"/>
                </a:lnTo>
                <a:lnTo>
                  <a:pt x="358139" y="71628"/>
                </a:lnTo>
                <a:lnTo>
                  <a:pt x="357544" y="58459"/>
                </a:lnTo>
                <a:lnTo>
                  <a:pt x="340304" y="16073"/>
                </a:lnTo>
                <a:lnTo>
                  <a:pt x="323683" y="4024"/>
                </a:lnTo>
                <a:lnTo>
                  <a:pt x="313944" y="0"/>
                </a:lnTo>
                <a:close/>
              </a:path>
              <a:path w="358139" h="142240">
                <a:moveTo>
                  <a:pt x="45720" y="0"/>
                </a:moveTo>
                <a:lnTo>
                  <a:pt x="12191" y="24384"/>
                </a:lnTo>
                <a:lnTo>
                  <a:pt x="0" y="71628"/>
                </a:lnTo>
                <a:lnTo>
                  <a:pt x="833" y="83915"/>
                </a:lnTo>
                <a:lnTo>
                  <a:pt x="18502" y="125658"/>
                </a:lnTo>
                <a:lnTo>
                  <a:pt x="45720" y="141732"/>
                </a:lnTo>
                <a:lnTo>
                  <a:pt x="47244" y="135636"/>
                </a:lnTo>
                <a:lnTo>
                  <a:pt x="38909" y="132492"/>
                </a:lnTo>
                <a:lnTo>
                  <a:pt x="32004" y="127635"/>
                </a:lnTo>
                <a:lnTo>
                  <a:pt x="14263" y="82343"/>
                </a:lnTo>
                <a:lnTo>
                  <a:pt x="13715" y="70104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4" y="6096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23620" y="128565"/>
            <a:ext cx="2216150" cy="39941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2465" algn="ctr">
              <a:lnSpc>
                <a:spcPts val="1130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78740">
              <a:lnSpc>
                <a:spcPts val="695"/>
              </a:lnSpc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w,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spc="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664845" algn="ctr">
              <a:lnSpc>
                <a:spcPts val="960"/>
              </a:lnSpc>
            </a:pPr>
            <a:r>
              <a:rPr sz="1800" baseline="-16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800" spc="-44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104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-(w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4952" y="348783"/>
            <a:ext cx="1385570" cy="0"/>
          </a:xfrm>
          <a:custGeom>
            <a:avLst/>
            <a:gdLst/>
            <a:ahLst/>
            <a:cxnLst/>
            <a:rect l="l" t="t" r="r" b="b"/>
            <a:pathLst>
              <a:path w="1385570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0943" y="890565"/>
            <a:ext cx="355092" cy="3489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1799" y="1555029"/>
            <a:ext cx="356616" cy="348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2176" y="1716573"/>
            <a:ext cx="2214880" cy="530860"/>
          </a:xfrm>
          <a:custGeom>
            <a:avLst/>
            <a:gdLst/>
            <a:ahLst/>
            <a:cxnLst/>
            <a:rect l="l" t="t" r="r" b="b"/>
            <a:pathLst>
              <a:path w="2214880" h="530860">
                <a:moveTo>
                  <a:pt x="2176477" y="13557"/>
                </a:moveTo>
                <a:lnTo>
                  <a:pt x="0" y="518159"/>
                </a:lnTo>
                <a:lnTo>
                  <a:pt x="3048" y="530351"/>
                </a:lnTo>
                <a:lnTo>
                  <a:pt x="2179410" y="25776"/>
                </a:lnTo>
                <a:lnTo>
                  <a:pt x="2176477" y="13557"/>
                </a:lnTo>
                <a:close/>
              </a:path>
              <a:path w="2214880" h="530860">
                <a:moveTo>
                  <a:pt x="2212594" y="12191"/>
                </a:moveTo>
                <a:lnTo>
                  <a:pt x="2182368" y="12191"/>
                </a:lnTo>
                <a:lnTo>
                  <a:pt x="2185416" y="24383"/>
                </a:lnTo>
                <a:lnTo>
                  <a:pt x="2179410" y="25776"/>
                </a:lnTo>
                <a:lnTo>
                  <a:pt x="2182368" y="38100"/>
                </a:lnTo>
                <a:lnTo>
                  <a:pt x="2212594" y="12191"/>
                </a:lnTo>
                <a:close/>
              </a:path>
              <a:path w="2214880" h="530860">
                <a:moveTo>
                  <a:pt x="2182368" y="12191"/>
                </a:moveTo>
                <a:lnTo>
                  <a:pt x="2176477" y="13557"/>
                </a:lnTo>
                <a:lnTo>
                  <a:pt x="2179410" y="25776"/>
                </a:lnTo>
                <a:lnTo>
                  <a:pt x="2185416" y="24383"/>
                </a:lnTo>
                <a:lnTo>
                  <a:pt x="2182368" y="12191"/>
                </a:lnTo>
                <a:close/>
              </a:path>
              <a:path w="2214880" h="530860">
                <a:moveTo>
                  <a:pt x="2173224" y="0"/>
                </a:moveTo>
                <a:lnTo>
                  <a:pt x="2176477" y="13557"/>
                </a:lnTo>
                <a:lnTo>
                  <a:pt x="2182368" y="12191"/>
                </a:lnTo>
                <a:lnTo>
                  <a:pt x="2212594" y="12191"/>
                </a:lnTo>
                <a:lnTo>
                  <a:pt x="2214372" y="10668"/>
                </a:lnTo>
                <a:lnTo>
                  <a:pt x="2173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48415" y="930189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30165" y="96477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39272" y="1583985"/>
            <a:ext cx="246887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39272" y="1583985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664" y="9644"/>
                </a:lnTo>
                <a:lnTo>
                  <a:pt x="210883" y="36004"/>
                </a:lnTo>
                <a:lnTo>
                  <a:pt x="237243" y="75223"/>
                </a:lnTo>
                <a:lnTo>
                  <a:pt x="246887" y="123443"/>
                </a:lnTo>
                <a:lnTo>
                  <a:pt x="237243" y="171902"/>
                </a:lnTo>
                <a:lnTo>
                  <a:pt x="210883" y="211645"/>
                </a:lnTo>
                <a:lnTo>
                  <a:pt x="171664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21021" y="1618567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66547" y="1602273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4967"/>
                </a:moveTo>
                <a:lnTo>
                  <a:pt x="9882" y="76509"/>
                </a:lnTo>
                <a:lnTo>
                  <a:pt x="36766" y="36766"/>
                </a:lnTo>
                <a:lnTo>
                  <a:pt x="76509" y="9882"/>
                </a:lnTo>
                <a:lnTo>
                  <a:pt x="124967" y="0"/>
                </a:lnTo>
                <a:lnTo>
                  <a:pt x="173188" y="9882"/>
                </a:lnTo>
                <a:lnTo>
                  <a:pt x="212407" y="36766"/>
                </a:lnTo>
                <a:lnTo>
                  <a:pt x="238767" y="76509"/>
                </a:lnTo>
                <a:lnTo>
                  <a:pt x="248411" y="124967"/>
                </a:lnTo>
                <a:lnTo>
                  <a:pt x="238767" y="173188"/>
                </a:lnTo>
                <a:lnTo>
                  <a:pt x="212407" y="212407"/>
                </a:lnTo>
                <a:lnTo>
                  <a:pt x="173188" y="238767"/>
                </a:lnTo>
                <a:lnTo>
                  <a:pt x="124967" y="248411"/>
                </a:lnTo>
                <a:lnTo>
                  <a:pt x="76509" y="238767"/>
                </a:lnTo>
                <a:lnTo>
                  <a:pt x="36766" y="212407"/>
                </a:lnTo>
                <a:lnTo>
                  <a:pt x="9882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49821" y="1636855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86159" y="1708953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26595" y="1050585"/>
            <a:ext cx="245745" cy="292735"/>
          </a:xfrm>
          <a:custGeom>
            <a:avLst/>
            <a:gdLst/>
            <a:ahLst/>
            <a:cxnLst/>
            <a:rect l="l" t="t" r="r" b="b"/>
            <a:pathLst>
              <a:path w="245744" h="292734">
                <a:moveTo>
                  <a:pt x="215510" y="268027"/>
                </a:moveTo>
                <a:lnTo>
                  <a:pt x="205740" y="275843"/>
                </a:lnTo>
                <a:lnTo>
                  <a:pt x="245364" y="292607"/>
                </a:lnTo>
                <a:lnTo>
                  <a:pt x="240961" y="272795"/>
                </a:lnTo>
                <a:lnTo>
                  <a:pt x="219456" y="272795"/>
                </a:lnTo>
                <a:lnTo>
                  <a:pt x="215510" y="268027"/>
                </a:lnTo>
                <a:close/>
              </a:path>
              <a:path w="245744" h="292734">
                <a:moveTo>
                  <a:pt x="226453" y="259273"/>
                </a:moveTo>
                <a:lnTo>
                  <a:pt x="215510" y="268027"/>
                </a:lnTo>
                <a:lnTo>
                  <a:pt x="219456" y="272795"/>
                </a:lnTo>
                <a:lnTo>
                  <a:pt x="230124" y="263651"/>
                </a:lnTo>
                <a:lnTo>
                  <a:pt x="226453" y="259273"/>
                </a:lnTo>
                <a:close/>
              </a:path>
              <a:path w="245744" h="292734">
                <a:moveTo>
                  <a:pt x="236220" y="251460"/>
                </a:moveTo>
                <a:lnTo>
                  <a:pt x="226453" y="259273"/>
                </a:lnTo>
                <a:lnTo>
                  <a:pt x="230124" y="263651"/>
                </a:lnTo>
                <a:lnTo>
                  <a:pt x="219456" y="272795"/>
                </a:lnTo>
                <a:lnTo>
                  <a:pt x="240961" y="272795"/>
                </a:lnTo>
                <a:lnTo>
                  <a:pt x="236220" y="251460"/>
                </a:lnTo>
                <a:close/>
              </a:path>
              <a:path w="245744" h="292734">
                <a:moveTo>
                  <a:pt x="9143" y="0"/>
                </a:moveTo>
                <a:lnTo>
                  <a:pt x="0" y="7619"/>
                </a:lnTo>
                <a:lnTo>
                  <a:pt x="215510" y="268027"/>
                </a:lnTo>
                <a:lnTo>
                  <a:pt x="226453" y="2592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1356" y="1343193"/>
            <a:ext cx="260985" cy="368935"/>
          </a:xfrm>
          <a:custGeom>
            <a:avLst/>
            <a:gdLst/>
            <a:ahLst/>
            <a:cxnLst/>
            <a:rect l="l" t="t" r="r" b="b"/>
            <a:pathLst>
              <a:path w="260985" h="368935">
                <a:moveTo>
                  <a:pt x="234076" y="28078"/>
                </a:moveTo>
                <a:lnTo>
                  <a:pt x="0" y="361188"/>
                </a:lnTo>
                <a:lnTo>
                  <a:pt x="9143" y="368808"/>
                </a:lnTo>
                <a:lnTo>
                  <a:pt x="243730" y="34973"/>
                </a:lnTo>
                <a:lnTo>
                  <a:pt x="234076" y="28078"/>
                </a:lnTo>
                <a:close/>
              </a:path>
              <a:path w="260985" h="368935">
                <a:moveTo>
                  <a:pt x="257338" y="22860"/>
                </a:moveTo>
                <a:lnTo>
                  <a:pt x="237744" y="22860"/>
                </a:lnTo>
                <a:lnTo>
                  <a:pt x="246887" y="30480"/>
                </a:lnTo>
                <a:lnTo>
                  <a:pt x="243730" y="34973"/>
                </a:lnTo>
                <a:lnTo>
                  <a:pt x="254507" y="42672"/>
                </a:lnTo>
                <a:lnTo>
                  <a:pt x="257338" y="22860"/>
                </a:lnTo>
                <a:close/>
              </a:path>
              <a:path w="260985" h="368935">
                <a:moveTo>
                  <a:pt x="237744" y="22860"/>
                </a:moveTo>
                <a:lnTo>
                  <a:pt x="234076" y="28078"/>
                </a:lnTo>
                <a:lnTo>
                  <a:pt x="243730" y="34973"/>
                </a:lnTo>
                <a:lnTo>
                  <a:pt x="246887" y="30480"/>
                </a:lnTo>
                <a:lnTo>
                  <a:pt x="237744" y="22860"/>
                </a:lnTo>
                <a:close/>
              </a:path>
              <a:path w="260985" h="368935">
                <a:moveTo>
                  <a:pt x="260604" y="0"/>
                </a:moveTo>
                <a:lnTo>
                  <a:pt x="222504" y="19812"/>
                </a:lnTo>
                <a:lnTo>
                  <a:pt x="234076" y="28078"/>
                </a:lnTo>
                <a:lnTo>
                  <a:pt x="237744" y="22860"/>
                </a:lnTo>
                <a:lnTo>
                  <a:pt x="257338" y="22860"/>
                </a:lnTo>
                <a:lnTo>
                  <a:pt x="260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971959" y="12197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053709" y="125429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20372" y="1343193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558700" y="1340145"/>
            <a:ext cx="307975" cy="387350"/>
          </a:xfrm>
          <a:custGeom>
            <a:avLst/>
            <a:gdLst/>
            <a:ahLst/>
            <a:cxnLst/>
            <a:rect l="l" t="t" r="r" b="b"/>
            <a:pathLst>
              <a:path w="307975" h="387350">
                <a:moveTo>
                  <a:pt x="279674" y="360971"/>
                </a:moveTo>
                <a:lnTo>
                  <a:pt x="269748" y="368807"/>
                </a:lnTo>
                <a:lnTo>
                  <a:pt x="307848" y="387095"/>
                </a:lnTo>
                <a:lnTo>
                  <a:pt x="303106" y="365759"/>
                </a:lnTo>
                <a:lnTo>
                  <a:pt x="283463" y="365759"/>
                </a:lnTo>
                <a:lnTo>
                  <a:pt x="279674" y="360971"/>
                </a:lnTo>
                <a:close/>
              </a:path>
              <a:path w="307975" h="387350">
                <a:moveTo>
                  <a:pt x="289025" y="353589"/>
                </a:moveTo>
                <a:lnTo>
                  <a:pt x="279674" y="360971"/>
                </a:lnTo>
                <a:lnTo>
                  <a:pt x="283463" y="365759"/>
                </a:lnTo>
                <a:lnTo>
                  <a:pt x="292608" y="358139"/>
                </a:lnTo>
                <a:lnTo>
                  <a:pt x="289025" y="353589"/>
                </a:lnTo>
                <a:close/>
              </a:path>
              <a:path w="307975" h="387350">
                <a:moveTo>
                  <a:pt x="298703" y="345947"/>
                </a:moveTo>
                <a:lnTo>
                  <a:pt x="289025" y="353589"/>
                </a:lnTo>
                <a:lnTo>
                  <a:pt x="292608" y="358139"/>
                </a:lnTo>
                <a:lnTo>
                  <a:pt x="283463" y="365759"/>
                </a:lnTo>
                <a:lnTo>
                  <a:pt x="303106" y="365759"/>
                </a:lnTo>
                <a:lnTo>
                  <a:pt x="298703" y="345947"/>
                </a:lnTo>
                <a:close/>
              </a:path>
              <a:path w="307975" h="387350">
                <a:moveTo>
                  <a:pt x="10667" y="0"/>
                </a:moveTo>
                <a:lnTo>
                  <a:pt x="0" y="7619"/>
                </a:lnTo>
                <a:lnTo>
                  <a:pt x="279674" y="360971"/>
                </a:lnTo>
                <a:lnTo>
                  <a:pt x="289025" y="353589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14960" y="1707429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1"/>
                </a:moveTo>
                <a:lnTo>
                  <a:pt x="324612" y="12191"/>
                </a:lnTo>
                <a:lnTo>
                  <a:pt x="324612" y="24383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7"/>
                </a:lnTo>
                <a:lnTo>
                  <a:pt x="343915" y="12191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5"/>
                </a:lnTo>
                <a:lnTo>
                  <a:pt x="0" y="25907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1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3"/>
                </a:lnTo>
                <a:lnTo>
                  <a:pt x="324612" y="12191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1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71576" y="1603797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882" y="75223"/>
                </a:lnTo>
                <a:lnTo>
                  <a:pt x="36766" y="36004"/>
                </a:lnTo>
                <a:lnTo>
                  <a:pt x="76509" y="9644"/>
                </a:lnTo>
                <a:lnTo>
                  <a:pt x="124967" y="0"/>
                </a:lnTo>
                <a:lnTo>
                  <a:pt x="173188" y="9644"/>
                </a:lnTo>
                <a:lnTo>
                  <a:pt x="212407" y="36004"/>
                </a:lnTo>
                <a:lnTo>
                  <a:pt x="238767" y="75223"/>
                </a:lnTo>
                <a:lnTo>
                  <a:pt x="248411" y="123443"/>
                </a:lnTo>
                <a:lnTo>
                  <a:pt x="238767" y="171664"/>
                </a:lnTo>
                <a:lnTo>
                  <a:pt x="212407" y="210883"/>
                </a:lnTo>
                <a:lnTo>
                  <a:pt x="173188" y="237243"/>
                </a:lnTo>
                <a:lnTo>
                  <a:pt x="124967" y="246887"/>
                </a:lnTo>
                <a:lnTo>
                  <a:pt x="76509" y="237243"/>
                </a:lnTo>
                <a:lnTo>
                  <a:pt x="36766" y="210883"/>
                </a:lnTo>
                <a:lnTo>
                  <a:pt x="9882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520306" y="1638341"/>
            <a:ext cx="1625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*-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719988" y="1705905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3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7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5"/>
                </a:lnTo>
                <a:lnTo>
                  <a:pt x="0" y="25907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3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76603" y="1602273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664"/>
                </a:lnTo>
                <a:lnTo>
                  <a:pt x="211645" y="210883"/>
                </a:lnTo>
                <a:lnTo>
                  <a:pt x="171902" y="237243"/>
                </a:lnTo>
                <a:lnTo>
                  <a:pt x="123443" y="246887"/>
                </a:lnTo>
                <a:lnTo>
                  <a:pt x="75223" y="237243"/>
                </a:lnTo>
                <a:lnTo>
                  <a:pt x="36004" y="210883"/>
                </a:lnTo>
                <a:lnTo>
                  <a:pt x="9644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28064" y="1704381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26136" y="12192"/>
                </a:moveTo>
                <a:lnTo>
                  <a:pt x="320039" y="12220"/>
                </a:lnTo>
                <a:lnTo>
                  <a:pt x="320039" y="38100"/>
                </a:lnTo>
                <a:lnTo>
                  <a:pt x="343486" y="25907"/>
                </a:lnTo>
                <a:lnTo>
                  <a:pt x="326136" y="25907"/>
                </a:lnTo>
                <a:lnTo>
                  <a:pt x="326136" y="12192"/>
                </a:lnTo>
                <a:close/>
              </a:path>
              <a:path w="358139" h="38100">
                <a:moveTo>
                  <a:pt x="320039" y="12220"/>
                </a:moveTo>
                <a:lnTo>
                  <a:pt x="0" y="13716"/>
                </a:lnTo>
                <a:lnTo>
                  <a:pt x="0" y="25907"/>
                </a:lnTo>
                <a:lnTo>
                  <a:pt x="320039" y="25907"/>
                </a:lnTo>
                <a:lnTo>
                  <a:pt x="320039" y="12220"/>
                </a:lnTo>
                <a:close/>
              </a:path>
              <a:path w="358139" h="38100">
                <a:moveTo>
                  <a:pt x="345439" y="12192"/>
                </a:moveTo>
                <a:lnTo>
                  <a:pt x="326136" y="12192"/>
                </a:lnTo>
                <a:lnTo>
                  <a:pt x="326136" y="25907"/>
                </a:lnTo>
                <a:lnTo>
                  <a:pt x="343486" y="25907"/>
                </a:lnTo>
                <a:lnTo>
                  <a:pt x="358139" y="18287"/>
                </a:lnTo>
                <a:lnTo>
                  <a:pt x="345439" y="12192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12220"/>
                </a:lnTo>
                <a:lnTo>
                  <a:pt x="345439" y="12192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686203" y="16007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739074" y="1635255"/>
            <a:ext cx="139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+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920900" y="1710477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4932" y="12192"/>
                </a:moveTo>
                <a:lnTo>
                  <a:pt x="326136" y="12192"/>
                </a:lnTo>
                <a:lnTo>
                  <a:pt x="326136" y="24384"/>
                </a:lnTo>
                <a:lnTo>
                  <a:pt x="319492" y="24415"/>
                </a:lnTo>
                <a:lnTo>
                  <a:pt x="320039" y="38100"/>
                </a:lnTo>
                <a:lnTo>
                  <a:pt x="358139" y="18287"/>
                </a:lnTo>
                <a:lnTo>
                  <a:pt x="344932" y="12192"/>
                </a:lnTo>
                <a:close/>
              </a:path>
              <a:path w="358139" h="38100">
                <a:moveTo>
                  <a:pt x="319005" y="12225"/>
                </a:moveTo>
                <a:lnTo>
                  <a:pt x="0" y="13716"/>
                </a:lnTo>
                <a:lnTo>
                  <a:pt x="0" y="25908"/>
                </a:lnTo>
                <a:lnTo>
                  <a:pt x="319492" y="24415"/>
                </a:lnTo>
                <a:lnTo>
                  <a:pt x="319005" y="12225"/>
                </a:lnTo>
                <a:close/>
              </a:path>
              <a:path w="358139" h="38100">
                <a:moveTo>
                  <a:pt x="326136" y="12192"/>
                </a:moveTo>
                <a:lnTo>
                  <a:pt x="319005" y="12225"/>
                </a:lnTo>
                <a:lnTo>
                  <a:pt x="319492" y="24415"/>
                </a:lnTo>
                <a:lnTo>
                  <a:pt x="326136" y="24384"/>
                </a:lnTo>
                <a:lnTo>
                  <a:pt x="326136" y="12192"/>
                </a:lnTo>
                <a:close/>
              </a:path>
              <a:path w="358139" h="38100">
                <a:moveTo>
                  <a:pt x="318515" y="0"/>
                </a:moveTo>
                <a:lnTo>
                  <a:pt x="319005" y="12225"/>
                </a:lnTo>
                <a:lnTo>
                  <a:pt x="344932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279039" y="1605321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4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456596" y="663057"/>
            <a:ext cx="383540" cy="16732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5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w0 </a:t>
            </a:r>
            <a:r>
              <a:rPr sz="12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aseline="35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800" baseline="35000">
              <a:latin typeface="Calibri" panose="020F0502020204030204"/>
              <a:cs typeface="Calibri" panose="020F0502020204030204"/>
            </a:endParaRPr>
          </a:p>
          <a:p>
            <a:pPr marL="20320">
              <a:lnSpc>
                <a:spcPct val="100000"/>
              </a:lnSpc>
              <a:spcBef>
                <a:spcPts val="800"/>
              </a:spcBef>
            </a:pPr>
            <a:r>
              <a:rPr sz="1800" spc="-7" baseline="-23000" dirty="0">
                <a:latin typeface="Calibri" panose="020F0502020204030204"/>
                <a:cs typeface="Calibri" panose="020F0502020204030204"/>
              </a:rPr>
              <a:t>x0</a:t>
            </a:r>
            <a:r>
              <a:rPr sz="1800" spc="330" baseline="-23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0320">
              <a:lnSpc>
                <a:spcPct val="100000"/>
              </a:lnSpc>
              <a:spcBef>
                <a:spcPts val="1045"/>
              </a:spcBef>
            </a:pPr>
            <a:r>
              <a:rPr sz="1800" spc="-7" baseline="-35000" dirty="0">
                <a:latin typeface="Calibri" panose="020F0502020204030204"/>
                <a:cs typeface="Calibri" panose="020F0502020204030204"/>
              </a:rPr>
              <a:t>w1</a:t>
            </a:r>
            <a:r>
              <a:rPr sz="1800" spc="-209" baseline="-35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40005">
              <a:lnSpc>
                <a:spcPct val="100000"/>
              </a:lnSpc>
              <a:spcBef>
                <a:spcPts val="1295"/>
              </a:spcBef>
            </a:pPr>
            <a:r>
              <a:rPr sz="1800" spc="-7" baseline="-30000" dirty="0">
                <a:latin typeface="Calibri" panose="020F0502020204030204"/>
                <a:cs typeface="Calibri" panose="020F0502020204030204"/>
              </a:rPr>
              <a:t>x1</a:t>
            </a:r>
            <a:r>
              <a:rPr sz="1800" spc="187" baseline="-30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33680">
              <a:lnSpc>
                <a:spcPts val="1165"/>
              </a:lnSpc>
              <a:spcBef>
                <a:spcPts val="94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165"/>
              </a:lnSpc>
            </a:pPr>
            <a:r>
              <a:rPr sz="1200" dirty="0">
                <a:latin typeface="Calibri" panose="020F0502020204030204"/>
                <a:cs typeface="Calibri" panose="020F0502020204030204"/>
              </a:rPr>
              <a:t>w2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20448" y="112025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221639" y="1504305"/>
            <a:ext cx="9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16000" y="1528689"/>
            <a:ext cx="137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548788" y="1715049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6416" y="13715"/>
                </a:moveTo>
                <a:lnTo>
                  <a:pt x="326136" y="13715"/>
                </a:lnTo>
                <a:lnTo>
                  <a:pt x="326136" y="25907"/>
                </a:lnTo>
                <a:lnTo>
                  <a:pt x="320039" y="25936"/>
                </a:lnTo>
                <a:lnTo>
                  <a:pt x="320039" y="38100"/>
                </a:lnTo>
                <a:lnTo>
                  <a:pt x="358139" y="19812"/>
                </a:lnTo>
                <a:lnTo>
                  <a:pt x="346416" y="13715"/>
                </a:lnTo>
                <a:close/>
              </a:path>
              <a:path w="358139" h="38100">
                <a:moveTo>
                  <a:pt x="320039" y="13715"/>
                </a:moveTo>
                <a:lnTo>
                  <a:pt x="0" y="13715"/>
                </a:lnTo>
                <a:lnTo>
                  <a:pt x="0" y="27431"/>
                </a:lnTo>
                <a:lnTo>
                  <a:pt x="320039" y="25936"/>
                </a:lnTo>
                <a:lnTo>
                  <a:pt x="320039" y="13715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25936"/>
                </a:lnTo>
                <a:lnTo>
                  <a:pt x="326136" y="25907"/>
                </a:lnTo>
                <a:lnTo>
                  <a:pt x="326136" y="13715"/>
                </a:lnTo>
                <a:lnTo>
                  <a:pt x="346416" y="13715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1282603" y="856605"/>
            <a:ext cx="455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325" algn="l"/>
              </a:tabLst>
            </a:pP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spc="-170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-3	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28324" y="148296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37611" y="1490589"/>
            <a:ext cx="321945" cy="4343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0.88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1.00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958491" y="1528689"/>
            <a:ext cx="532130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ts val="116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ts val="575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1/x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220"/>
              </a:lnSpc>
            </a:pP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xfrm>
            <a:off x="2069064" y="131178"/>
            <a:ext cx="1709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反向传播示例2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14887" y="2685837"/>
            <a:ext cx="2009139" cy="462280"/>
          </a:xfrm>
          <a:custGeom>
            <a:avLst/>
            <a:gdLst/>
            <a:ahLst/>
            <a:cxnLst/>
            <a:rect l="l" t="t" r="r" b="b"/>
            <a:pathLst>
              <a:path w="2009139" h="462280">
                <a:moveTo>
                  <a:pt x="0" y="0"/>
                </a:moveTo>
                <a:lnTo>
                  <a:pt x="2008631" y="0"/>
                </a:lnTo>
                <a:lnTo>
                  <a:pt x="2008631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014887" y="2685837"/>
            <a:ext cx="2009139" cy="462280"/>
          </a:xfrm>
          <a:custGeom>
            <a:avLst/>
            <a:gdLst/>
            <a:ahLst/>
            <a:cxnLst/>
            <a:rect l="l" t="t" r="r" b="b"/>
            <a:pathLst>
              <a:path w="2009139" h="462280">
                <a:moveTo>
                  <a:pt x="0" y="0"/>
                </a:moveTo>
                <a:lnTo>
                  <a:pt x="2008631" y="0"/>
                </a:lnTo>
                <a:lnTo>
                  <a:pt x="2008631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156107" y="1509309"/>
            <a:ext cx="925194" cy="462280"/>
          </a:xfrm>
          <a:custGeom>
            <a:avLst/>
            <a:gdLst/>
            <a:ahLst/>
            <a:cxnLst/>
            <a:rect l="l" t="t" r="r" b="b"/>
            <a:pathLst>
              <a:path w="925195" h="462280">
                <a:moveTo>
                  <a:pt x="0" y="0"/>
                </a:moveTo>
                <a:lnTo>
                  <a:pt x="925067" y="0"/>
                </a:lnTo>
                <a:lnTo>
                  <a:pt x="925067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156107" y="1509309"/>
            <a:ext cx="925194" cy="462280"/>
          </a:xfrm>
          <a:custGeom>
            <a:avLst/>
            <a:gdLst/>
            <a:ahLst/>
            <a:cxnLst/>
            <a:rect l="l" t="t" r="r" b="b"/>
            <a:pathLst>
              <a:path w="925195" h="462280">
                <a:moveTo>
                  <a:pt x="0" y="0"/>
                </a:moveTo>
                <a:lnTo>
                  <a:pt x="925067" y="0"/>
                </a:lnTo>
                <a:lnTo>
                  <a:pt x="925067" y="461771"/>
                </a:lnTo>
                <a:lnTo>
                  <a:pt x="0" y="461771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3061118" y="813909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上游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567037" y="813909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局部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137274" y="1287783"/>
            <a:ext cx="10026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mbria Math" panose="02040503050406030204"/>
                <a:cs typeface="Cambria Math" panose="02040503050406030204"/>
              </a:rPr>
              <a:t>−0.1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× (−1) =</a:t>
            </a:r>
            <a:r>
              <a:rPr sz="9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0.10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232307" y="1114593"/>
            <a:ext cx="94487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640740" y="1113069"/>
            <a:ext cx="120396" cy="1965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4105052" y="1519545"/>
            <a:ext cx="582295" cy="393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>
              <a:lnSpc>
                <a:spcPts val="118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545"/>
              </a:lnSpc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exp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251460">
              <a:lnSpc>
                <a:spcPts val="1165"/>
              </a:lnSpc>
            </a:pP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174395" y="1699377"/>
            <a:ext cx="9124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81660" algn="l"/>
              </a:tabLst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	-0.10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581808" y="32491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147" y="2329161"/>
            <a:ext cx="676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105" dirty="0">
                <a:latin typeface="Cambria Math" panose="02040503050406030204"/>
                <a:cs typeface="Cambria Math" panose="02040503050406030204"/>
              </a:rPr>
              <a:t>f(x)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867" y="2352021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1867" y="2201145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i="1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6092" y="2473611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71323" y="2352021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672" y="2800077"/>
            <a:ext cx="735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75" i="1" spc="104" baseline="-16000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ax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9823" y="2780265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1679" y="2882373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56" y="290185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70156" y="2664441"/>
            <a:ext cx="485775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i="1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a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1235" y="2341353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105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 =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108" y="2190476"/>
            <a:ext cx="109855" cy="461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5332" y="2459133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0" y="0"/>
                </a:moveTo>
                <a:lnTo>
                  <a:pt x="85343" y="0"/>
                </a:lnTo>
                <a:lnTo>
                  <a:pt x="85343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55189" y="2833561"/>
            <a:ext cx="81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25" dirty="0">
                <a:latin typeface="Cambria Math" panose="02040503050406030204"/>
                <a:cs typeface="Cambria Math" panose="02040503050406030204"/>
              </a:rPr>
              <a:t>e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4779" y="2348973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3776" y="2198096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i="1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8000" y="2470563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81708" y="2348973"/>
            <a:ext cx="641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 −</a:t>
            </a:r>
            <a:r>
              <a:rPr sz="1200" i="1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00" i="1" spc="52" baseline="2000" dirty="0">
                <a:latin typeface="Cambria Math" panose="02040503050406030204"/>
                <a:cs typeface="Cambria Math" panose="02040503050406030204"/>
              </a:rPr>
              <a:t>⁄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i="1" spc="52" baseline="29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1903" y="2761977"/>
            <a:ext cx="1064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20" dirty="0">
                <a:latin typeface="Cambria Math" panose="02040503050406030204"/>
                <a:cs typeface="Cambria Math" panose="02040503050406030204"/>
              </a:rPr>
              <a:t>c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→</a:t>
            </a:r>
            <a:endParaRPr sz="1800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2252" y="2856465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952" y="2875947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60728" y="2638533"/>
            <a:ext cx="485140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i="1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4976" y="272193"/>
            <a:ext cx="358140" cy="142240"/>
          </a:xfrm>
          <a:custGeom>
            <a:avLst/>
            <a:gdLst/>
            <a:ahLst/>
            <a:cxnLst/>
            <a:rect l="l" t="t" r="r" b="b"/>
            <a:pathLst>
              <a:path w="358139" h="142240">
                <a:moveTo>
                  <a:pt x="313944" y="0"/>
                </a:moveTo>
                <a:lnTo>
                  <a:pt x="310896" y="6096"/>
                </a:lnTo>
                <a:lnTo>
                  <a:pt x="319444" y="9239"/>
                </a:lnTo>
                <a:lnTo>
                  <a:pt x="326707" y="14096"/>
                </a:lnTo>
                <a:lnTo>
                  <a:pt x="345376" y="58102"/>
                </a:lnTo>
                <a:lnTo>
                  <a:pt x="345948" y="70103"/>
                </a:lnTo>
                <a:lnTo>
                  <a:pt x="345376" y="82343"/>
                </a:lnTo>
                <a:lnTo>
                  <a:pt x="332541" y="121062"/>
                </a:lnTo>
                <a:lnTo>
                  <a:pt x="310896" y="135635"/>
                </a:lnTo>
                <a:lnTo>
                  <a:pt x="313944" y="141731"/>
                </a:lnTo>
                <a:lnTo>
                  <a:pt x="347472" y="117348"/>
                </a:lnTo>
                <a:lnTo>
                  <a:pt x="358139" y="71627"/>
                </a:lnTo>
                <a:lnTo>
                  <a:pt x="357544" y="58459"/>
                </a:lnTo>
                <a:lnTo>
                  <a:pt x="340304" y="16073"/>
                </a:lnTo>
                <a:lnTo>
                  <a:pt x="323683" y="4024"/>
                </a:lnTo>
                <a:lnTo>
                  <a:pt x="313944" y="0"/>
                </a:lnTo>
                <a:close/>
              </a:path>
              <a:path w="358139" h="142240">
                <a:moveTo>
                  <a:pt x="45720" y="0"/>
                </a:moveTo>
                <a:lnTo>
                  <a:pt x="12191" y="24383"/>
                </a:lnTo>
                <a:lnTo>
                  <a:pt x="0" y="71627"/>
                </a:lnTo>
                <a:lnTo>
                  <a:pt x="833" y="83915"/>
                </a:lnTo>
                <a:lnTo>
                  <a:pt x="18502" y="125658"/>
                </a:lnTo>
                <a:lnTo>
                  <a:pt x="45720" y="141731"/>
                </a:lnTo>
                <a:lnTo>
                  <a:pt x="47244" y="135635"/>
                </a:lnTo>
                <a:lnTo>
                  <a:pt x="38909" y="132492"/>
                </a:lnTo>
                <a:lnTo>
                  <a:pt x="32004" y="127634"/>
                </a:lnTo>
                <a:lnTo>
                  <a:pt x="14263" y="82343"/>
                </a:lnTo>
                <a:lnTo>
                  <a:pt x="13715" y="70103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4" y="6096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23620" y="122841"/>
            <a:ext cx="2216150" cy="39941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2465" algn="ctr">
              <a:lnSpc>
                <a:spcPts val="1130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78740">
              <a:lnSpc>
                <a:spcPts val="695"/>
              </a:lnSpc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w,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664845" algn="ctr">
              <a:lnSpc>
                <a:spcPts val="960"/>
              </a:lnSpc>
            </a:pPr>
            <a:r>
              <a:rPr sz="1800" i="1" baseline="-16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800" i="1" spc="-5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112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-(w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4952" y="343059"/>
            <a:ext cx="1385570" cy="0"/>
          </a:xfrm>
          <a:custGeom>
            <a:avLst/>
            <a:gdLst/>
            <a:ahLst/>
            <a:cxnLst/>
            <a:rect l="l" t="t" r="r" b="b"/>
            <a:pathLst>
              <a:path w="1385570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0943" y="884841"/>
            <a:ext cx="355092" cy="3489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1799" y="1549305"/>
            <a:ext cx="356616" cy="348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65740" y="759441"/>
            <a:ext cx="211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 panose="020F0502020204030204"/>
                <a:cs typeface="Calibri" panose="020F0502020204030204"/>
              </a:rPr>
              <a:t>w</a:t>
            </a:r>
            <a:r>
              <a:rPr sz="1200" dirty="0">
                <a:latin typeface="Calibri" panose="020F0502020204030204"/>
                <a:cs typeface="Calibri" panose="020F0502020204030204"/>
              </a:rPr>
              <a:t>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4216" y="1452861"/>
            <a:ext cx="211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 panose="020F0502020204030204"/>
                <a:cs typeface="Calibri" panose="020F0502020204030204"/>
              </a:rPr>
              <a:t>w</a:t>
            </a:r>
            <a:r>
              <a:rPr sz="1200" dirty="0"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2176" y="1710849"/>
            <a:ext cx="2214880" cy="530860"/>
          </a:xfrm>
          <a:custGeom>
            <a:avLst/>
            <a:gdLst/>
            <a:ahLst/>
            <a:cxnLst/>
            <a:rect l="l" t="t" r="r" b="b"/>
            <a:pathLst>
              <a:path w="2214880" h="530860">
                <a:moveTo>
                  <a:pt x="2176477" y="13557"/>
                </a:moveTo>
                <a:lnTo>
                  <a:pt x="0" y="518159"/>
                </a:lnTo>
                <a:lnTo>
                  <a:pt x="3048" y="530351"/>
                </a:lnTo>
                <a:lnTo>
                  <a:pt x="2179410" y="25776"/>
                </a:lnTo>
                <a:lnTo>
                  <a:pt x="2176477" y="13557"/>
                </a:lnTo>
                <a:close/>
              </a:path>
              <a:path w="2214880" h="530860">
                <a:moveTo>
                  <a:pt x="2212594" y="12192"/>
                </a:moveTo>
                <a:lnTo>
                  <a:pt x="2182368" y="12192"/>
                </a:lnTo>
                <a:lnTo>
                  <a:pt x="2185416" y="24383"/>
                </a:lnTo>
                <a:lnTo>
                  <a:pt x="2179410" y="25776"/>
                </a:lnTo>
                <a:lnTo>
                  <a:pt x="2182368" y="38100"/>
                </a:lnTo>
                <a:lnTo>
                  <a:pt x="2212594" y="12192"/>
                </a:lnTo>
                <a:close/>
              </a:path>
              <a:path w="2214880" h="530860">
                <a:moveTo>
                  <a:pt x="2182368" y="12192"/>
                </a:moveTo>
                <a:lnTo>
                  <a:pt x="2176477" y="13557"/>
                </a:lnTo>
                <a:lnTo>
                  <a:pt x="2179410" y="25776"/>
                </a:lnTo>
                <a:lnTo>
                  <a:pt x="2185416" y="24383"/>
                </a:lnTo>
                <a:lnTo>
                  <a:pt x="2182368" y="12192"/>
                </a:lnTo>
                <a:close/>
              </a:path>
              <a:path w="2214880" h="530860">
                <a:moveTo>
                  <a:pt x="2173224" y="0"/>
                </a:moveTo>
                <a:lnTo>
                  <a:pt x="2176477" y="13557"/>
                </a:lnTo>
                <a:lnTo>
                  <a:pt x="2182368" y="12192"/>
                </a:lnTo>
                <a:lnTo>
                  <a:pt x="2212594" y="12192"/>
                </a:lnTo>
                <a:lnTo>
                  <a:pt x="2214372" y="10668"/>
                </a:lnTo>
                <a:lnTo>
                  <a:pt x="2173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48415" y="924465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30165" y="959046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39272" y="1578261"/>
            <a:ext cx="246887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39272" y="1578261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664" y="9644"/>
                </a:lnTo>
                <a:lnTo>
                  <a:pt x="210883" y="36004"/>
                </a:lnTo>
                <a:lnTo>
                  <a:pt x="237243" y="75223"/>
                </a:lnTo>
                <a:lnTo>
                  <a:pt x="246887" y="123443"/>
                </a:lnTo>
                <a:lnTo>
                  <a:pt x="237243" y="171902"/>
                </a:lnTo>
                <a:lnTo>
                  <a:pt x="210883" y="211645"/>
                </a:lnTo>
                <a:lnTo>
                  <a:pt x="171664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121021" y="161284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866547" y="15965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4967"/>
                </a:moveTo>
                <a:lnTo>
                  <a:pt x="9882" y="76509"/>
                </a:lnTo>
                <a:lnTo>
                  <a:pt x="36766" y="36766"/>
                </a:lnTo>
                <a:lnTo>
                  <a:pt x="76509" y="9882"/>
                </a:lnTo>
                <a:lnTo>
                  <a:pt x="124967" y="0"/>
                </a:lnTo>
                <a:lnTo>
                  <a:pt x="173188" y="9882"/>
                </a:lnTo>
                <a:lnTo>
                  <a:pt x="212407" y="36766"/>
                </a:lnTo>
                <a:lnTo>
                  <a:pt x="238767" y="76509"/>
                </a:lnTo>
                <a:lnTo>
                  <a:pt x="248411" y="124967"/>
                </a:lnTo>
                <a:lnTo>
                  <a:pt x="238767" y="173188"/>
                </a:lnTo>
                <a:lnTo>
                  <a:pt x="212407" y="212407"/>
                </a:lnTo>
                <a:lnTo>
                  <a:pt x="173188" y="238767"/>
                </a:lnTo>
                <a:lnTo>
                  <a:pt x="124967" y="248411"/>
                </a:lnTo>
                <a:lnTo>
                  <a:pt x="76509" y="238767"/>
                </a:lnTo>
                <a:lnTo>
                  <a:pt x="36766" y="212407"/>
                </a:lnTo>
                <a:lnTo>
                  <a:pt x="9882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86159" y="170322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26595" y="1044861"/>
            <a:ext cx="245745" cy="292735"/>
          </a:xfrm>
          <a:custGeom>
            <a:avLst/>
            <a:gdLst/>
            <a:ahLst/>
            <a:cxnLst/>
            <a:rect l="l" t="t" r="r" b="b"/>
            <a:pathLst>
              <a:path w="245744" h="292734">
                <a:moveTo>
                  <a:pt x="215510" y="268027"/>
                </a:moveTo>
                <a:lnTo>
                  <a:pt x="205740" y="275844"/>
                </a:lnTo>
                <a:lnTo>
                  <a:pt x="245364" y="292608"/>
                </a:lnTo>
                <a:lnTo>
                  <a:pt x="240961" y="272796"/>
                </a:lnTo>
                <a:lnTo>
                  <a:pt x="219456" y="272796"/>
                </a:lnTo>
                <a:lnTo>
                  <a:pt x="215510" y="268027"/>
                </a:lnTo>
                <a:close/>
              </a:path>
              <a:path w="245744" h="292734">
                <a:moveTo>
                  <a:pt x="226453" y="259273"/>
                </a:moveTo>
                <a:lnTo>
                  <a:pt x="215510" y="268027"/>
                </a:lnTo>
                <a:lnTo>
                  <a:pt x="219456" y="272796"/>
                </a:lnTo>
                <a:lnTo>
                  <a:pt x="230124" y="263652"/>
                </a:lnTo>
                <a:lnTo>
                  <a:pt x="226453" y="259273"/>
                </a:lnTo>
                <a:close/>
              </a:path>
              <a:path w="245744" h="292734">
                <a:moveTo>
                  <a:pt x="236220" y="251460"/>
                </a:moveTo>
                <a:lnTo>
                  <a:pt x="226453" y="259273"/>
                </a:lnTo>
                <a:lnTo>
                  <a:pt x="230124" y="263652"/>
                </a:lnTo>
                <a:lnTo>
                  <a:pt x="219456" y="272796"/>
                </a:lnTo>
                <a:lnTo>
                  <a:pt x="240961" y="272796"/>
                </a:lnTo>
                <a:lnTo>
                  <a:pt x="236220" y="251460"/>
                </a:lnTo>
                <a:close/>
              </a:path>
              <a:path w="245744" h="292734">
                <a:moveTo>
                  <a:pt x="9143" y="0"/>
                </a:moveTo>
                <a:lnTo>
                  <a:pt x="0" y="7620"/>
                </a:lnTo>
                <a:lnTo>
                  <a:pt x="215510" y="268027"/>
                </a:lnTo>
                <a:lnTo>
                  <a:pt x="226453" y="2592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11356" y="1337469"/>
            <a:ext cx="260985" cy="368935"/>
          </a:xfrm>
          <a:custGeom>
            <a:avLst/>
            <a:gdLst/>
            <a:ahLst/>
            <a:cxnLst/>
            <a:rect l="l" t="t" r="r" b="b"/>
            <a:pathLst>
              <a:path w="260985" h="368935">
                <a:moveTo>
                  <a:pt x="234076" y="28078"/>
                </a:moveTo>
                <a:lnTo>
                  <a:pt x="0" y="361187"/>
                </a:lnTo>
                <a:lnTo>
                  <a:pt x="9143" y="368807"/>
                </a:lnTo>
                <a:lnTo>
                  <a:pt x="243730" y="34973"/>
                </a:lnTo>
                <a:lnTo>
                  <a:pt x="234076" y="28078"/>
                </a:lnTo>
                <a:close/>
              </a:path>
              <a:path w="260985" h="368935">
                <a:moveTo>
                  <a:pt x="257338" y="22859"/>
                </a:moveTo>
                <a:lnTo>
                  <a:pt x="237744" y="22859"/>
                </a:lnTo>
                <a:lnTo>
                  <a:pt x="246887" y="30479"/>
                </a:lnTo>
                <a:lnTo>
                  <a:pt x="243730" y="34973"/>
                </a:lnTo>
                <a:lnTo>
                  <a:pt x="254507" y="42672"/>
                </a:lnTo>
                <a:lnTo>
                  <a:pt x="257338" y="22859"/>
                </a:lnTo>
                <a:close/>
              </a:path>
              <a:path w="260985" h="368935">
                <a:moveTo>
                  <a:pt x="237744" y="22859"/>
                </a:moveTo>
                <a:lnTo>
                  <a:pt x="234076" y="28078"/>
                </a:lnTo>
                <a:lnTo>
                  <a:pt x="243730" y="34973"/>
                </a:lnTo>
                <a:lnTo>
                  <a:pt x="246887" y="30479"/>
                </a:lnTo>
                <a:lnTo>
                  <a:pt x="237744" y="22859"/>
                </a:lnTo>
                <a:close/>
              </a:path>
              <a:path w="260985" h="368935">
                <a:moveTo>
                  <a:pt x="260604" y="0"/>
                </a:moveTo>
                <a:lnTo>
                  <a:pt x="222504" y="19811"/>
                </a:lnTo>
                <a:lnTo>
                  <a:pt x="234076" y="28078"/>
                </a:lnTo>
                <a:lnTo>
                  <a:pt x="237744" y="22859"/>
                </a:lnTo>
                <a:lnTo>
                  <a:pt x="257338" y="22859"/>
                </a:lnTo>
                <a:lnTo>
                  <a:pt x="260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971959" y="1214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053709" y="124856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220372" y="1337469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558700" y="1334421"/>
            <a:ext cx="307975" cy="387350"/>
          </a:xfrm>
          <a:custGeom>
            <a:avLst/>
            <a:gdLst/>
            <a:ahLst/>
            <a:cxnLst/>
            <a:rect l="l" t="t" r="r" b="b"/>
            <a:pathLst>
              <a:path w="307975" h="387350">
                <a:moveTo>
                  <a:pt x="279674" y="360971"/>
                </a:moveTo>
                <a:lnTo>
                  <a:pt x="269748" y="368807"/>
                </a:lnTo>
                <a:lnTo>
                  <a:pt x="307848" y="387096"/>
                </a:lnTo>
                <a:lnTo>
                  <a:pt x="303106" y="365759"/>
                </a:lnTo>
                <a:lnTo>
                  <a:pt x="283463" y="365759"/>
                </a:lnTo>
                <a:lnTo>
                  <a:pt x="279674" y="360971"/>
                </a:lnTo>
                <a:close/>
              </a:path>
              <a:path w="307975" h="387350">
                <a:moveTo>
                  <a:pt x="289025" y="353589"/>
                </a:moveTo>
                <a:lnTo>
                  <a:pt x="279674" y="360971"/>
                </a:lnTo>
                <a:lnTo>
                  <a:pt x="283463" y="365759"/>
                </a:lnTo>
                <a:lnTo>
                  <a:pt x="292608" y="358139"/>
                </a:lnTo>
                <a:lnTo>
                  <a:pt x="289025" y="353589"/>
                </a:lnTo>
                <a:close/>
              </a:path>
              <a:path w="307975" h="387350">
                <a:moveTo>
                  <a:pt x="298703" y="345948"/>
                </a:moveTo>
                <a:lnTo>
                  <a:pt x="289025" y="353589"/>
                </a:lnTo>
                <a:lnTo>
                  <a:pt x="292608" y="358139"/>
                </a:lnTo>
                <a:lnTo>
                  <a:pt x="283463" y="365759"/>
                </a:lnTo>
                <a:lnTo>
                  <a:pt x="303106" y="365759"/>
                </a:lnTo>
                <a:lnTo>
                  <a:pt x="298703" y="345948"/>
                </a:lnTo>
                <a:close/>
              </a:path>
              <a:path w="307975" h="387350">
                <a:moveTo>
                  <a:pt x="10667" y="0"/>
                </a:moveTo>
                <a:lnTo>
                  <a:pt x="0" y="7620"/>
                </a:lnTo>
                <a:lnTo>
                  <a:pt x="279674" y="360971"/>
                </a:lnTo>
                <a:lnTo>
                  <a:pt x="289025" y="353589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114960" y="1701705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471576" y="1598073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882" y="75223"/>
                </a:lnTo>
                <a:lnTo>
                  <a:pt x="36766" y="36004"/>
                </a:lnTo>
                <a:lnTo>
                  <a:pt x="76509" y="9644"/>
                </a:lnTo>
                <a:lnTo>
                  <a:pt x="124967" y="0"/>
                </a:lnTo>
                <a:lnTo>
                  <a:pt x="173188" y="9644"/>
                </a:lnTo>
                <a:lnTo>
                  <a:pt x="212407" y="36004"/>
                </a:lnTo>
                <a:lnTo>
                  <a:pt x="238767" y="75223"/>
                </a:lnTo>
                <a:lnTo>
                  <a:pt x="248411" y="123443"/>
                </a:lnTo>
                <a:lnTo>
                  <a:pt x="238767" y="171664"/>
                </a:lnTo>
                <a:lnTo>
                  <a:pt x="212407" y="210883"/>
                </a:lnTo>
                <a:lnTo>
                  <a:pt x="173188" y="237243"/>
                </a:lnTo>
                <a:lnTo>
                  <a:pt x="124967" y="246887"/>
                </a:lnTo>
                <a:lnTo>
                  <a:pt x="76509" y="237243"/>
                </a:lnTo>
                <a:lnTo>
                  <a:pt x="36766" y="210883"/>
                </a:lnTo>
                <a:lnTo>
                  <a:pt x="9882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507606" y="1632617"/>
            <a:ext cx="175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*-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719988" y="1700181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76603" y="1596549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664"/>
                </a:lnTo>
                <a:lnTo>
                  <a:pt x="211645" y="210883"/>
                </a:lnTo>
                <a:lnTo>
                  <a:pt x="171902" y="237243"/>
                </a:lnTo>
                <a:lnTo>
                  <a:pt x="123443" y="246887"/>
                </a:lnTo>
                <a:lnTo>
                  <a:pt x="75223" y="237243"/>
                </a:lnTo>
                <a:lnTo>
                  <a:pt x="36004" y="210883"/>
                </a:lnTo>
                <a:lnTo>
                  <a:pt x="9644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105052" y="1631131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xp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328064" y="1698657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26136" y="12192"/>
                </a:moveTo>
                <a:lnTo>
                  <a:pt x="320039" y="12220"/>
                </a:lnTo>
                <a:lnTo>
                  <a:pt x="320039" y="38100"/>
                </a:lnTo>
                <a:lnTo>
                  <a:pt x="343486" y="25908"/>
                </a:lnTo>
                <a:lnTo>
                  <a:pt x="326136" y="25908"/>
                </a:lnTo>
                <a:lnTo>
                  <a:pt x="326136" y="12192"/>
                </a:lnTo>
                <a:close/>
              </a:path>
              <a:path w="358139" h="38100">
                <a:moveTo>
                  <a:pt x="320039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20039" y="25908"/>
                </a:lnTo>
                <a:lnTo>
                  <a:pt x="320039" y="12220"/>
                </a:lnTo>
                <a:close/>
              </a:path>
              <a:path w="358139" h="38100">
                <a:moveTo>
                  <a:pt x="345439" y="12192"/>
                </a:moveTo>
                <a:lnTo>
                  <a:pt x="326136" y="12192"/>
                </a:lnTo>
                <a:lnTo>
                  <a:pt x="326136" y="25908"/>
                </a:lnTo>
                <a:lnTo>
                  <a:pt x="343486" y="25908"/>
                </a:lnTo>
                <a:lnTo>
                  <a:pt x="358139" y="18288"/>
                </a:lnTo>
                <a:lnTo>
                  <a:pt x="345439" y="12192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12220"/>
                </a:lnTo>
                <a:lnTo>
                  <a:pt x="345439" y="12192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686203" y="1595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739074" y="1629530"/>
            <a:ext cx="140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920900" y="1704753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4931" y="12192"/>
                </a:moveTo>
                <a:lnTo>
                  <a:pt x="326136" y="12192"/>
                </a:lnTo>
                <a:lnTo>
                  <a:pt x="326136" y="24383"/>
                </a:lnTo>
                <a:lnTo>
                  <a:pt x="319492" y="24415"/>
                </a:lnTo>
                <a:lnTo>
                  <a:pt x="320039" y="38100"/>
                </a:lnTo>
                <a:lnTo>
                  <a:pt x="358139" y="18288"/>
                </a:lnTo>
                <a:lnTo>
                  <a:pt x="344931" y="12192"/>
                </a:lnTo>
                <a:close/>
              </a:path>
              <a:path w="358139" h="38100">
                <a:moveTo>
                  <a:pt x="319005" y="12225"/>
                </a:moveTo>
                <a:lnTo>
                  <a:pt x="0" y="13716"/>
                </a:lnTo>
                <a:lnTo>
                  <a:pt x="0" y="25907"/>
                </a:lnTo>
                <a:lnTo>
                  <a:pt x="319492" y="24415"/>
                </a:lnTo>
                <a:lnTo>
                  <a:pt x="319005" y="12225"/>
                </a:lnTo>
                <a:close/>
              </a:path>
              <a:path w="358139" h="38100">
                <a:moveTo>
                  <a:pt x="326136" y="12192"/>
                </a:moveTo>
                <a:lnTo>
                  <a:pt x="319005" y="12225"/>
                </a:lnTo>
                <a:lnTo>
                  <a:pt x="319492" y="24415"/>
                </a:lnTo>
                <a:lnTo>
                  <a:pt x="326136" y="24383"/>
                </a:lnTo>
                <a:lnTo>
                  <a:pt x="326136" y="12192"/>
                </a:lnTo>
                <a:close/>
              </a:path>
              <a:path w="358139" h="38100">
                <a:moveTo>
                  <a:pt x="318515" y="0"/>
                </a:moveTo>
                <a:lnTo>
                  <a:pt x="319005" y="12225"/>
                </a:lnTo>
                <a:lnTo>
                  <a:pt x="344931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279039" y="1599597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4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5313545" y="1634103"/>
            <a:ext cx="177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1/x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4216" y="1044429"/>
            <a:ext cx="368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" baseline="-23000" dirty="0">
                <a:latin typeface="Calibri" panose="020F0502020204030204"/>
                <a:cs typeface="Calibri" panose="020F0502020204030204"/>
              </a:rPr>
              <a:t>x0</a:t>
            </a:r>
            <a:r>
              <a:rPr sz="1800" spc="352" baseline="-23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2440" y="66647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84028" y="1707369"/>
            <a:ext cx="356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" baseline="-30000" dirty="0">
                <a:latin typeface="Calibri" panose="020F0502020204030204"/>
                <a:cs typeface="Calibri" panose="020F0502020204030204"/>
              </a:rPr>
              <a:t>x1</a:t>
            </a:r>
            <a:r>
              <a:rPr sz="1800" spc="202" baseline="-30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79100" y="1359897"/>
            <a:ext cx="150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7576" y="200912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803300" y="1522965"/>
            <a:ext cx="8489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785" algn="l"/>
              </a:tabLst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	</a:t>
            </a:r>
            <a:r>
              <a:rPr sz="1800" baseline="2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0.14</a:t>
            </a:r>
            <a:endParaRPr sz="18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548788" y="1709325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6416" y="13716"/>
                </a:moveTo>
                <a:lnTo>
                  <a:pt x="326136" y="13716"/>
                </a:lnTo>
                <a:lnTo>
                  <a:pt x="326136" y="25907"/>
                </a:lnTo>
                <a:lnTo>
                  <a:pt x="320039" y="25936"/>
                </a:lnTo>
                <a:lnTo>
                  <a:pt x="320039" y="38100"/>
                </a:lnTo>
                <a:lnTo>
                  <a:pt x="358139" y="19811"/>
                </a:lnTo>
                <a:lnTo>
                  <a:pt x="346416" y="13716"/>
                </a:lnTo>
                <a:close/>
              </a:path>
              <a:path w="358139" h="38100">
                <a:moveTo>
                  <a:pt x="320039" y="13716"/>
                </a:moveTo>
                <a:lnTo>
                  <a:pt x="0" y="13716"/>
                </a:lnTo>
                <a:lnTo>
                  <a:pt x="0" y="27431"/>
                </a:lnTo>
                <a:lnTo>
                  <a:pt x="320039" y="25936"/>
                </a:lnTo>
                <a:lnTo>
                  <a:pt x="320039" y="13716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25936"/>
                </a:lnTo>
                <a:lnTo>
                  <a:pt x="326136" y="25907"/>
                </a:lnTo>
                <a:lnTo>
                  <a:pt x="326136" y="13716"/>
                </a:lnTo>
                <a:lnTo>
                  <a:pt x="346416" y="13716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282603" y="850881"/>
            <a:ext cx="455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325" algn="l"/>
              </a:tabLst>
            </a:pP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spc="-170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-3	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328324" y="14772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537611" y="1484864"/>
            <a:ext cx="321945" cy="4343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0.88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1.00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958491" y="1522965"/>
            <a:ext cx="343535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title"/>
          </p:nvPr>
        </p:nvSpPr>
        <p:spPr>
          <a:xfrm>
            <a:off x="2069064" y="125316"/>
            <a:ext cx="1709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反向传播示例2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071984" y="501778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上游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576477" y="501778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局部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238190" y="975735"/>
            <a:ext cx="821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−0.1 × 1 =</a:t>
            </a:r>
            <a:r>
              <a:rPr sz="900" i="1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0.10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243232" y="801021"/>
            <a:ext cx="94487" cy="195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650139" y="801021"/>
            <a:ext cx="121920" cy="195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3743864" y="1698225"/>
            <a:ext cx="943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775" algn="l"/>
              </a:tabLst>
            </a:pPr>
            <a:r>
              <a:rPr sz="1800" baseline="2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-0.10	</a:t>
            </a: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188367" y="1157637"/>
            <a:ext cx="1260475" cy="84010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5825" algn="ctr">
              <a:lnSpc>
                <a:spcPts val="1200"/>
              </a:lnSpc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869315"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141605" algn="r">
              <a:lnSpc>
                <a:spcPts val="1240"/>
              </a:lnSpc>
              <a:spcBef>
                <a:spcPts val="9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44805" algn="ctr">
              <a:lnSpc>
                <a:spcPts val="590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r">
              <a:lnSpc>
                <a:spcPts val="1145"/>
              </a:lnSpc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56596" y="2202669"/>
            <a:ext cx="4832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30000" dirty="0">
                <a:latin typeface="Calibri" panose="020F0502020204030204"/>
                <a:cs typeface="Calibri" panose="020F0502020204030204"/>
              </a:rPr>
              <a:t>w</a:t>
            </a:r>
            <a:r>
              <a:rPr sz="1800" spc="7" baseline="30000" dirty="0">
                <a:latin typeface="Calibri" panose="020F0502020204030204"/>
                <a:cs typeface="Calibri" panose="020F0502020204030204"/>
              </a:rPr>
              <a:t>2</a:t>
            </a: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15599" y="2033937"/>
            <a:ext cx="424180" cy="356870"/>
          </a:xfrm>
          <a:custGeom>
            <a:avLst/>
            <a:gdLst/>
            <a:ahLst/>
            <a:cxnLst/>
            <a:rect l="l" t="t" r="r" b="b"/>
            <a:pathLst>
              <a:path w="424180" h="356869">
                <a:moveTo>
                  <a:pt x="0" y="0"/>
                </a:moveTo>
                <a:lnTo>
                  <a:pt x="423671" y="0"/>
                </a:lnTo>
                <a:lnTo>
                  <a:pt x="423671" y="356615"/>
                </a:lnTo>
                <a:lnTo>
                  <a:pt x="0" y="356615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15599" y="2033937"/>
            <a:ext cx="424180" cy="356870"/>
          </a:xfrm>
          <a:custGeom>
            <a:avLst/>
            <a:gdLst/>
            <a:ahLst/>
            <a:cxnLst/>
            <a:rect l="l" t="t" r="r" b="b"/>
            <a:pathLst>
              <a:path w="424180" h="356869">
                <a:moveTo>
                  <a:pt x="0" y="0"/>
                </a:moveTo>
                <a:lnTo>
                  <a:pt x="423671" y="0"/>
                </a:lnTo>
                <a:lnTo>
                  <a:pt x="423671" y="356615"/>
                </a:lnTo>
                <a:lnTo>
                  <a:pt x="0" y="356615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5581808" y="3243446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147" y="2334885"/>
            <a:ext cx="676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5" dirty="0">
                <a:latin typeface="Cambria Math" panose="02040503050406030204"/>
                <a:cs typeface="Cambria Math" panose="02040503050406030204"/>
              </a:rPr>
              <a:t>f(x)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867" y="2357745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1867" y="2206869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6092" y="247933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71323" y="2357745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672" y="2805801"/>
            <a:ext cx="735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75" spc="104" baseline="-16000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ax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9823" y="278598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1679" y="2888097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56" y="290757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70156" y="2670165"/>
            <a:ext cx="485775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a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1235" y="2347077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5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 =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108" y="2196201"/>
            <a:ext cx="109855" cy="461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5332" y="2464857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0" y="0"/>
                </a:moveTo>
                <a:lnTo>
                  <a:pt x="85343" y="0"/>
                </a:lnTo>
                <a:lnTo>
                  <a:pt x="85343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55189" y="2839227"/>
            <a:ext cx="81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65" dirty="0">
                <a:latin typeface="Cambria Math" panose="02040503050406030204"/>
                <a:cs typeface="Cambria Math" panose="02040503050406030204"/>
              </a:rPr>
              <a:t>c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4779" y="2354697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3776" y="2203821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8000" y="2476287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81708" y="2354697"/>
            <a:ext cx="641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 −</a:t>
            </a:r>
            <a:r>
              <a:rPr sz="1200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00" spc="52" baseline="2000" dirty="0">
                <a:latin typeface="Cambria Math" panose="02040503050406030204"/>
                <a:cs typeface="Cambria Math" panose="02040503050406030204"/>
              </a:rPr>
              <a:t>⁄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spc="52" baseline="29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1903" y="2767701"/>
            <a:ext cx="1064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20" dirty="0">
                <a:latin typeface="Cambria Math" panose="02040503050406030204"/>
                <a:cs typeface="Cambria Math" panose="02040503050406030204"/>
              </a:rPr>
              <a:t>c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baseline="2000" dirty="0">
                <a:latin typeface="Cambria Math" panose="02040503050406030204"/>
                <a:cs typeface="Cambria Math" panose="02040503050406030204"/>
              </a:rPr>
              <a:t>→</a:t>
            </a:r>
            <a:endParaRPr sz="1800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2252" y="2862189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952" y="2881671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60728" y="2644257"/>
            <a:ext cx="485140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4976" y="277917"/>
            <a:ext cx="358140" cy="142240"/>
          </a:xfrm>
          <a:custGeom>
            <a:avLst/>
            <a:gdLst/>
            <a:ahLst/>
            <a:cxnLst/>
            <a:rect l="l" t="t" r="r" b="b"/>
            <a:pathLst>
              <a:path w="358139" h="142240">
                <a:moveTo>
                  <a:pt x="313944" y="0"/>
                </a:moveTo>
                <a:lnTo>
                  <a:pt x="310896" y="6096"/>
                </a:lnTo>
                <a:lnTo>
                  <a:pt x="319444" y="9239"/>
                </a:lnTo>
                <a:lnTo>
                  <a:pt x="326707" y="14097"/>
                </a:lnTo>
                <a:lnTo>
                  <a:pt x="345376" y="58102"/>
                </a:lnTo>
                <a:lnTo>
                  <a:pt x="345948" y="70104"/>
                </a:lnTo>
                <a:lnTo>
                  <a:pt x="345376" y="82343"/>
                </a:lnTo>
                <a:lnTo>
                  <a:pt x="332541" y="121062"/>
                </a:lnTo>
                <a:lnTo>
                  <a:pt x="310896" y="135636"/>
                </a:lnTo>
                <a:lnTo>
                  <a:pt x="313944" y="141732"/>
                </a:lnTo>
                <a:lnTo>
                  <a:pt x="347472" y="117348"/>
                </a:lnTo>
                <a:lnTo>
                  <a:pt x="358139" y="71628"/>
                </a:lnTo>
                <a:lnTo>
                  <a:pt x="357544" y="58459"/>
                </a:lnTo>
                <a:lnTo>
                  <a:pt x="340304" y="16073"/>
                </a:lnTo>
                <a:lnTo>
                  <a:pt x="323683" y="4024"/>
                </a:lnTo>
                <a:lnTo>
                  <a:pt x="313944" y="0"/>
                </a:lnTo>
                <a:close/>
              </a:path>
              <a:path w="358139" h="142240">
                <a:moveTo>
                  <a:pt x="45720" y="0"/>
                </a:moveTo>
                <a:lnTo>
                  <a:pt x="12191" y="24384"/>
                </a:lnTo>
                <a:lnTo>
                  <a:pt x="0" y="71628"/>
                </a:lnTo>
                <a:lnTo>
                  <a:pt x="833" y="83915"/>
                </a:lnTo>
                <a:lnTo>
                  <a:pt x="18502" y="125658"/>
                </a:lnTo>
                <a:lnTo>
                  <a:pt x="45720" y="141732"/>
                </a:lnTo>
                <a:lnTo>
                  <a:pt x="47244" y="135636"/>
                </a:lnTo>
                <a:lnTo>
                  <a:pt x="38909" y="132492"/>
                </a:lnTo>
                <a:lnTo>
                  <a:pt x="32004" y="127635"/>
                </a:lnTo>
                <a:lnTo>
                  <a:pt x="14263" y="82343"/>
                </a:lnTo>
                <a:lnTo>
                  <a:pt x="13715" y="70104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4" y="6096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23620" y="128565"/>
            <a:ext cx="2216150" cy="39941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2465" algn="ctr">
              <a:lnSpc>
                <a:spcPts val="1130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78740">
              <a:lnSpc>
                <a:spcPts val="695"/>
              </a:lnSpc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w,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spc="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664845" algn="ctr">
              <a:lnSpc>
                <a:spcPts val="960"/>
              </a:lnSpc>
            </a:pPr>
            <a:r>
              <a:rPr sz="1800" baseline="-16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800" spc="-44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104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-(w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4952" y="348783"/>
            <a:ext cx="1385570" cy="0"/>
          </a:xfrm>
          <a:custGeom>
            <a:avLst/>
            <a:gdLst/>
            <a:ahLst/>
            <a:cxnLst/>
            <a:rect l="l" t="t" r="r" b="b"/>
            <a:pathLst>
              <a:path w="1385570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0943" y="890565"/>
            <a:ext cx="355092" cy="3489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1799" y="1555029"/>
            <a:ext cx="356616" cy="348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64216" y="1458585"/>
            <a:ext cx="211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 panose="020F0502020204030204"/>
                <a:cs typeface="Calibri" panose="020F0502020204030204"/>
              </a:rPr>
              <a:t>w</a:t>
            </a:r>
            <a:r>
              <a:rPr sz="1200" dirty="0"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2176" y="1716573"/>
            <a:ext cx="2214880" cy="530860"/>
          </a:xfrm>
          <a:custGeom>
            <a:avLst/>
            <a:gdLst/>
            <a:ahLst/>
            <a:cxnLst/>
            <a:rect l="l" t="t" r="r" b="b"/>
            <a:pathLst>
              <a:path w="2214880" h="530860">
                <a:moveTo>
                  <a:pt x="2176477" y="13557"/>
                </a:moveTo>
                <a:lnTo>
                  <a:pt x="0" y="518159"/>
                </a:lnTo>
                <a:lnTo>
                  <a:pt x="3048" y="530351"/>
                </a:lnTo>
                <a:lnTo>
                  <a:pt x="2179410" y="25776"/>
                </a:lnTo>
                <a:lnTo>
                  <a:pt x="2176477" y="13557"/>
                </a:lnTo>
                <a:close/>
              </a:path>
              <a:path w="2214880" h="530860">
                <a:moveTo>
                  <a:pt x="2212594" y="12191"/>
                </a:moveTo>
                <a:lnTo>
                  <a:pt x="2182368" y="12191"/>
                </a:lnTo>
                <a:lnTo>
                  <a:pt x="2185416" y="24383"/>
                </a:lnTo>
                <a:lnTo>
                  <a:pt x="2179410" y="25776"/>
                </a:lnTo>
                <a:lnTo>
                  <a:pt x="2182368" y="38100"/>
                </a:lnTo>
                <a:lnTo>
                  <a:pt x="2212594" y="12191"/>
                </a:lnTo>
                <a:close/>
              </a:path>
              <a:path w="2214880" h="530860">
                <a:moveTo>
                  <a:pt x="2182368" y="12191"/>
                </a:moveTo>
                <a:lnTo>
                  <a:pt x="2176477" y="13557"/>
                </a:lnTo>
                <a:lnTo>
                  <a:pt x="2179410" y="25776"/>
                </a:lnTo>
                <a:lnTo>
                  <a:pt x="2185416" y="24383"/>
                </a:lnTo>
                <a:lnTo>
                  <a:pt x="2182368" y="12191"/>
                </a:lnTo>
                <a:close/>
              </a:path>
              <a:path w="2214880" h="530860">
                <a:moveTo>
                  <a:pt x="2173224" y="0"/>
                </a:moveTo>
                <a:lnTo>
                  <a:pt x="2176477" y="13557"/>
                </a:lnTo>
                <a:lnTo>
                  <a:pt x="2182368" y="12191"/>
                </a:lnTo>
                <a:lnTo>
                  <a:pt x="2212594" y="12191"/>
                </a:lnTo>
                <a:lnTo>
                  <a:pt x="2214372" y="10668"/>
                </a:lnTo>
                <a:lnTo>
                  <a:pt x="2173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48415" y="930189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130165" y="96477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39272" y="1583985"/>
            <a:ext cx="246887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39272" y="1583985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664" y="9644"/>
                </a:lnTo>
                <a:lnTo>
                  <a:pt x="210883" y="36004"/>
                </a:lnTo>
                <a:lnTo>
                  <a:pt x="237243" y="75223"/>
                </a:lnTo>
                <a:lnTo>
                  <a:pt x="246887" y="123443"/>
                </a:lnTo>
                <a:lnTo>
                  <a:pt x="237243" y="171902"/>
                </a:lnTo>
                <a:lnTo>
                  <a:pt x="210883" y="211645"/>
                </a:lnTo>
                <a:lnTo>
                  <a:pt x="171664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121021" y="1618567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866547" y="1602273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4967"/>
                </a:moveTo>
                <a:lnTo>
                  <a:pt x="9882" y="76509"/>
                </a:lnTo>
                <a:lnTo>
                  <a:pt x="36766" y="36766"/>
                </a:lnTo>
                <a:lnTo>
                  <a:pt x="76509" y="9882"/>
                </a:lnTo>
                <a:lnTo>
                  <a:pt x="124967" y="0"/>
                </a:lnTo>
                <a:lnTo>
                  <a:pt x="173188" y="9882"/>
                </a:lnTo>
                <a:lnTo>
                  <a:pt x="212407" y="36766"/>
                </a:lnTo>
                <a:lnTo>
                  <a:pt x="238767" y="76509"/>
                </a:lnTo>
                <a:lnTo>
                  <a:pt x="248411" y="124967"/>
                </a:lnTo>
                <a:lnTo>
                  <a:pt x="238767" y="173188"/>
                </a:lnTo>
                <a:lnTo>
                  <a:pt x="212407" y="212407"/>
                </a:lnTo>
                <a:lnTo>
                  <a:pt x="173188" y="238767"/>
                </a:lnTo>
                <a:lnTo>
                  <a:pt x="124967" y="248411"/>
                </a:lnTo>
                <a:lnTo>
                  <a:pt x="76509" y="238767"/>
                </a:lnTo>
                <a:lnTo>
                  <a:pt x="36766" y="212407"/>
                </a:lnTo>
                <a:lnTo>
                  <a:pt x="9882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949821" y="1636855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286159" y="1708953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26595" y="1050585"/>
            <a:ext cx="245745" cy="292735"/>
          </a:xfrm>
          <a:custGeom>
            <a:avLst/>
            <a:gdLst/>
            <a:ahLst/>
            <a:cxnLst/>
            <a:rect l="l" t="t" r="r" b="b"/>
            <a:pathLst>
              <a:path w="245744" h="292734">
                <a:moveTo>
                  <a:pt x="215510" y="268027"/>
                </a:moveTo>
                <a:lnTo>
                  <a:pt x="205740" y="275843"/>
                </a:lnTo>
                <a:lnTo>
                  <a:pt x="245364" y="292607"/>
                </a:lnTo>
                <a:lnTo>
                  <a:pt x="240961" y="272795"/>
                </a:lnTo>
                <a:lnTo>
                  <a:pt x="219456" y="272795"/>
                </a:lnTo>
                <a:lnTo>
                  <a:pt x="215510" y="268027"/>
                </a:lnTo>
                <a:close/>
              </a:path>
              <a:path w="245744" h="292734">
                <a:moveTo>
                  <a:pt x="226453" y="259273"/>
                </a:moveTo>
                <a:lnTo>
                  <a:pt x="215510" y="268027"/>
                </a:lnTo>
                <a:lnTo>
                  <a:pt x="219456" y="272795"/>
                </a:lnTo>
                <a:lnTo>
                  <a:pt x="230124" y="263651"/>
                </a:lnTo>
                <a:lnTo>
                  <a:pt x="226453" y="259273"/>
                </a:lnTo>
                <a:close/>
              </a:path>
              <a:path w="245744" h="292734">
                <a:moveTo>
                  <a:pt x="236220" y="251460"/>
                </a:moveTo>
                <a:lnTo>
                  <a:pt x="226453" y="259273"/>
                </a:lnTo>
                <a:lnTo>
                  <a:pt x="230124" y="263651"/>
                </a:lnTo>
                <a:lnTo>
                  <a:pt x="219456" y="272795"/>
                </a:lnTo>
                <a:lnTo>
                  <a:pt x="240961" y="272795"/>
                </a:lnTo>
                <a:lnTo>
                  <a:pt x="236220" y="251460"/>
                </a:lnTo>
                <a:close/>
              </a:path>
              <a:path w="245744" h="292734">
                <a:moveTo>
                  <a:pt x="9143" y="0"/>
                </a:moveTo>
                <a:lnTo>
                  <a:pt x="0" y="7619"/>
                </a:lnTo>
                <a:lnTo>
                  <a:pt x="215510" y="268027"/>
                </a:lnTo>
                <a:lnTo>
                  <a:pt x="226453" y="2592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11356" y="1343193"/>
            <a:ext cx="260985" cy="368935"/>
          </a:xfrm>
          <a:custGeom>
            <a:avLst/>
            <a:gdLst/>
            <a:ahLst/>
            <a:cxnLst/>
            <a:rect l="l" t="t" r="r" b="b"/>
            <a:pathLst>
              <a:path w="260985" h="368935">
                <a:moveTo>
                  <a:pt x="234076" y="28078"/>
                </a:moveTo>
                <a:lnTo>
                  <a:pt x="0" y="361188"/>
                </a:lnTo>
                <a:lnTo>
                  <a:pt x="9143" y="368808"/>
                </a:lnTo>
                <a:lnTo>
                  <a:pt x="243730" y="34973"/>
                </a:lnTo>
                <a:lnTo>
                  <a:pt x="234076" y="28078"/>
                </a:lnTo>
                <a:close/>
              </a:path>
              <a:path w="260985" h="368935">
                <a:moveTo>
                  <a:pt x="257338" y="22860"/>
                </a:moveTo>
                <a:lnTo>
                  <a:pt x="237744" y="22860"/>
                </a:lnTo>
                <a:lnTo>
                  <a:pt x="246887" y="30480"/>
                </a:lnTo>
                <a:lnTo>
                  <a:pt x="243730" y="34973"/>
                </a:lnTo>
                <a:lnTo>
                  <a:pt x="254507" y="42672"/>
                </a:lnTo>
                <a:lnTo>
                  <a:pt x="257338" y="22860"/>
                </a:lnTo>
                <a:close/>
              </a:path>
              <a:path w="260985" h="368935">
                <a:moveTo>
                  <a:pt x="237744" y="22860"/>
                </a:moveTo>
                <a:lnTo>
                  <a:pt x="234076" y="28078"/>
                </a:lnTo>
                <a:lnTo>
                  <a:pt x="243730" y="34973"/>
                </a:lnTo>
                <a:lnTo>
                  <a:pt x="246887" y="30480"/>
                </a:lnTo>
                <a:lnTo>
                  <a:pt x="237744" y="22860"/>
                </a:lnTo>
                <a:close/>
              </a:path>
              <a:path w="260985" h="368935">
                <a:moveTo>
                  <a:pt x="260604" y="0"/>
                </a:moveTo>
                <a:lnTo>
                  <a:pt x="222504" y="19812"/>
                </a:lnTo>
                <a:lnTo>
                  <a:pt x="234076" y="28078"/>
                </a:lnTo>
                <a:lnTo>
                  <a:pt x="237744" y="22860"/>
                </a:lnTo>
                <a:lnTo>
                  <a:pt x="257338" y="22860"/>
                </a:lnTo>
                <a:lnTo>
                  <a:pt x="260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971959" y="12197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220372" y="1343193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558700" y="1340145"/>
            <a:ext cx="307975" cy="387350"/>
          </a:xfrm>
          <a:custGeom>
            <a:avLst/>
            <a:gdLst/>
            <a:ahLst/>
            <a:cxnLst/>
            <a:rect l="l" t="t" r="r" b="b"/>
            <a:pathLst>
              <a:path w="307975" h="387350">
                <a:moveTo>
                  <a:pt x="279674" y="360971"/>
                </a:moveTo>
                <a:lnTo>
                  <a:pt x="269748" y="368807"/>
                </a:lnTo>
                <a:lnTo>
                  <a:pt x="307848" y="387095"/>
                </a:lnTo>
                <a:lnTo>
                  <a:pt x="303106" y="365759"/>
                </a:lnTo>
                <a:lnTo>
                  <a:pt x="283463" y="365759"/>
                </a:lnTo>
                <a:lnTo>
                  <a:pt x="279674" y="360971"/>
                </a:lnTo>
                <a:close/>
              </a:path>
              <a:path w="307975" h="387350">
                <a:moveTo>
                  <a:pt x="289025" y="353589"/>
                </a:moveTo>
                <a:lnTo>
                  <a:pt x="279674" y="360971"/>
                </a:lnTo>
                <a:lnTo>
                  <a:pt x="283463" y="365759"/>
                </a:lnTo>
                <a:lnTo>
                  <a:pt x="292608" y="358139"/>
                </a:lnTo>
                <a:lnTo>
                  <a:pt x="289025" y="353589"/>
                </a:lnTo>
                <a:close/>
              </a:path>
              <a:path w="307975" h="387350">
                <a:moveTo>
                  <a:pt x="298703" y="345947"/>
                </a:moveTo>
                <a:lnTo>
                  <a:pt x="289025" y="353589"/>
                </a:lnTo>
                <a:lnTo>
                  <a:pt x="292608" y="358139"/>
                </a:lnTo>
                <a:lnTo>
                  <a:pt x="283463" y="365759"/>
                </a:lnTo>
                <a:lnTo>
                  <a:pt x="303106" y="365759"/>
                </a:lnTo>
                <a:lnTo>
                  <a:pt x="298703" y="345947"/>
                </a:lnTo>
                <a:close/>
              </a:path>
              <a:path w="307975" h="387350">
                <a:moveTo>
                  <a:pt x="10667" y="0"/>
                </a:moveTo>
                <a:lnTo>
                  <a:pt x="0" y="7619"/>
                </a:lnTo>
                <a:lnTo>
                  <a:pt x="279674" y="360971"/>
                </a:lnTo>
                <a:lnTo>
                  <a:pt x="289025" y="353589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14960" y="1707429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1"/>
                </a:moveTo>
                <a:lnTo>
                  <a:pt x="324612" y="12191"/>
                </a:lnTo>
                <a:lnTo>
                  <a:pt x="324612" y="24383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7"/>
                </a:lnTo>
                <a:lnTo>
                  <a:pt x="343915" y="12191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5"/>
                </a:lnTo>
                <a:lnTo>
                  <a:pt x="0" y="25907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1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3"/>
                </a:lnTo>
                <a:lnTo>
                  <a:pt x="324612" y="12191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1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71576" y="1603797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882" y="75223"/>
                </a:lnTo>
                <a:lnTo>
                  <a:pt x="36766" y="36004"/>
                </a:lnTo>
                <a:lnTo>
                  <a:pt x="76509" y="9644"/>
                </a:lnTo>
                <a:lnTo>
                  <a:pt x="124967" y="0"/>
                </a:lnTo>
                <a:lnTo>
                  <a:pt x="173188" y="9644"/>
                </a:lnTo>
                <a:lnTo>
                  <a:pt x="212407" y="36004"/>
                </a:lnTo>
                <a:lnTo>
                  <a:pt x="238767" y="75223"/>
                </a:lnTo>
                <a:lnTo>
                  <a:pt x="248411" y="123443"/>
                </a:lnTo>
                <a:lnTo>
                  <a:pt x="238767" y="171664"/>
                </a:lnTo>
                <a:lnTo>
                  <a:pt x="212407" y="210883"/>
                </a:lnTo>
                <a:lnTo>
                  <a:pt x="173188" y="237243"/>
                </a:lnTo>
                <a:lnTo>
                  <a:pt x="124967" y="246887"/>
                </a:lnTo>
                <a:lnTo>
                  <a:pt x="76509" y="237243"/>
                </a:lnTo>
                <a:lnTo>
                  <a:pt x="36766" y="210883"/>
                </a:lnTo>
                <a:lnTo>
                  <a:pt x="9882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507606" y="1638341"/>
            <a:ext cx="175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*-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719988" y="1705905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3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7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5"/>
                </a:lnTo>
                <a:lnTo>
                  <a:pt x="0" y="25907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3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76603" y="1602273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664"/>
                </a:lnTo>
                <a:lnTo>
                  <a:pt x="211645" y="210883"/>
                </a:lnTo>
                <a:lnTo>
                  <a:pt x="171902" y="237243"/>
                </a:lnTo>
                <a:lnTo>
                  <a:pt x="123443" y="246887"/>
                </a:lnTo>
                <a:lnTo>
                  <a:pt x="75223" y="237243"/>
                </a:lnTo>
                <a:lnTo>
                  <a:pt x="36004" y="210883"/>
                </a:lnTo>
                <a:lnTo>
                  <a:pt x="9644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105052" y="1636855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xp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328064" y="1704381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26136" y="12192"/>
                </a:moveTo>
                <a:lnTo>
                  <a:pt x="320039" y="12220"/>
                </a:lnTo>
                <a:lnTo>
                  <a:pt x="320039" y="38100"/>
                </a:lnTo>
                <a:lnTo>
                  <a:pt x="343486" y="25907"/>
                </a:lnTo>
                <a:lnTo>
                  <a:pt x="326136" y="25907"/>
                </a:lnTo>
                <a:lnTo>
                  <a:pt x="326136" y="12192"/>
                </a:lnTo>
                <a:close/>
              </a:path>
              <a:path w="358139" h="38100">
                <a:moveTo>
                  <a:pt x="320039" y="12220"/>
                </a:moveTo>
                <a:lnTo>
                  <a:pt x="0" y="13716"/>
                </a:lnTo>
                <a:lnTo>
                  <a:pt x="0" y="25907"/>
                </a:lnTo>
                <a:lnTo>
                  <a:pt x="320039" y="25907"/>
                </a:lnTo>
                <a:lnTo>
                  <a:pt x="320039" y="12220"/>
                </a:lnTo>
                <a:close/>
              </a:path>
              <a:path w="358139" h="38100">
                <a:moveTo>
                  <a:pt x="345439" y="12192"/>
                </a:moveTo>
                <a:lnTo>
                  <a:pt x="326136" y="12192"/>
                </a:lnTo>
                <a:lnTo>
                  <a:pt x="326136" y="25907"/>
                </a:lnTo>
                <a:lnTo>
                  <a:pt x="343486" y="25907"/>
                </a:lnTo>
                <a:lnTo>
                  <a:pt x="358139" y="18287"/>
                </a:lnTo>
                <a:lnTo>
                  <a:pt x="345439" y="12192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12220"/>
                </a:lnTo>
                <a:lnTo>
                  <a:pt x="345439" y="12192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86203" y="16007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739074" y="1635255"/>
            <a:ext cx="140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920900" y="1710477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4932" y="12192"/>
                </a:moveTo>
                <a:lnTo>
                  <a:pt x="326136" y="12192"/>
                </a:lnTo>
                <a:lnTo>
                  <a:pt x="326136" y="24384"/>
                </a:lnTo>
                <a:lnTo>
                  <a:pt x="319492" y="24415"/>
                </a:lnTo>
                <a:lnTo>
                  <a:pt x="320039" y="38100"/>
                </a:lnTo>
                <a:lnTo>
                  <a:pt x="358139" y="18287"/>
                </a:lnTo>
                <a:lnTo>
                  <a:pt x="344932" y="12192"/>
                </a:lnTo>
                <a:close/>
              </a:path>
              <a:path w="358139" h="38100">
                <a:moveTo>
                  <a:pt x="319005" y="12225"/>
                </a:moveTo>
                <a:lnTo>
                  <a:pt x="0" y="13716"/>
                </a:lnTo>
                <a:lnTo>
                  <a:pt x="0" y="25908"/>
                </a:lnTo>
                <a:lnTo>
                  <a:pt x="319492" y="24415"/>
                </a:lnTo>
                <a:lnTo>
                  <a:pt x="319005" y="12225"/>
                </a:lnTo>
                <a:close/>
              </a:path>
              <a:path w="358139" h="38100">
                <a:moveTo>
                  <a:pt x="326136" y="12192"/>
                </a:moveTo>
                <a:lnTo>
                  <a:pt x="319005" y="12225"/>
                </a:lnTo>
                <a:lnTo>
                  <a:pt x="319492" y="24415"/>
                </a:lnTo>
                <a:lnTo>
                  <a:pt x="326136" y="24384"/>
                </a:lnTo>
                <a:lnTo>
                  <a:pt x="326136" y="12192"/>
                </a:lnTo>
                <a:close/>
              </a:path>
              <a:path w="358139" h="38100">
                <a:moveTo>
                  <a:pt x="318515" y="0"/>
                </a:moveTo>
                <a:lnTo>
                  <a:pt x="319005" y="12225"/>
                </a:lnTo>
                <a:lnTo>
                  <a:pt x="344932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279039" y="1605321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4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313545" y="1639827"/>
            <a:ext cx="177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/x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4216" y="663057"/>
            <a:ext cx="371475" cy="59563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5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w0 </a:t>
            </a:r>
            <a:r>
              <a:rPr sz="12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aseline="35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800" baseline="35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800" spc="-7" baseline="-23000" dirty="0">
                <a:latin typeface="Calibri" panose="020F0502020204030204"/>
                <a:cs typeface="Calibri" panose="020F0502020204030204"/>
              </a:rPr>
              <a:t>x0</a:t>
            </a:r>
            <a:r>
              <a:rPr sz="1800" spc="330" baseline="-23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9100" y="1365621"/>
            <a:ext cx="150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03300" y="1528689"/>
            <a:ext cx="8489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785" algn="l"/>
              </a:tabLst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	</a:t>
            </a:r>
            <a:r>
              <a:rPr sz="1800" baseline="2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0.14</a:t>
            </a:r>
            <a:endParaRPr sz="18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548788" y="1715049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6416" y="13715"/>
                </a:moveTo>
                <a:lnTo>
                  <a:pt x="326136" y="13715"/>
                </a:lnTo>
                <a:lnTo>
                  <a:pt x="326136" y="25907"/>
                </a:lnTo>
                <a:lnTo>
                  <a:pt x="320039" y="25936"/>
                </a:lnTo>
                <a:lnTo>
                  <a:pt x="320039" y="38100"/>
                </a:lnTo>
                <a:lnTo>
                  <a:pt x="358139" y="19812"/>
                </a:lnTo>
                <a:lnTo>
                  <a:pt x="346416" y="13715"/>
                </a:lnTo>
                <a:close/>
              </a:path>
              <a:path w="358139" h="38100">
                <a:moveTo>
                  <a:pt x="320039" y="13715"/>
                </a:moveTo>
                <a:lnTo>
                  <a:pt x="0" y="13715"/>
                </a:lnTo>
                <a:lnTo>
                  <a:pt x="0" y="27431"/>
                </a:lnTo>
                <a:lnTo>
                  <a:pt x="320039" y="25936"/>
                </a:lnTo>
                <a:lnTo>
                  <a:pt x="320039" y="13715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25936"/>
                </a:lnTo>
                <a:lnTo>
                  <a:pt x="326136" y="25907"/>
                </a:lnTo>
                <a:lnTo>
                  <a:pt x="326136" y="13715"/>
                </a:lnTo>
                <a:lnTo>
                  <a:pt x="346416" y="13715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5537611" y="1490589"/>
            <a:ext cx="321945" cy="4343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0.88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1.00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958491" y="1528689"/>
            <a:ext cx="343535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2069064" y="131178"/>
            <a:ext cx="1709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反向传播示例2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241964" y="872277"/>
            <a:ext cx="1394460" cy="1047115"/>
          </a:xfrm>
          <a:custGeom>
            <a:avLst/>
            <a:gdLst/>
            <a:ahLst/>
            <a:cxnLst/>
            <a:rect l="l" t="t" r="r" b="b"/>
            <a:pathLst>
              <a:path w="1394460" h="1047114">
                <a:moveTo>
                  <a:pt x="0" y="0"/>
                </a:moveTo>
                <a:lnTo>
                  <a:pt x="1394459" y="0"/>
                </a:lnTo>
                <a:lnTo>
                  <a:pt x="1394459" y="1046987"/>
                </a:lnTo>
                <a:lnTo>
                  <a:pt x="0" y="1046987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241964" y="872277"/>
            <a:ext cx="1394460" cy="1047115"/>
          </a:xfrm>
          <a:custGeom>
            <a:avLst/>
            <a:gdLst/>
            <a:ahLst/>
            <a:cxnLst/>
            <a:rect l="l" t="t" r="r" b="b"/>
            <a:pathLst>
              <a:path w="1394460" h="1047114">
                <a:moveTo>
                  <a:pt x="0" y="0"/>
                </a:moveTo>
                <a:lnTo>
                  <a:pt x="1394459" y="0"/>
                </a:lnTo>
                <a:lnTo>
                  <a:pt x="1394459" y="1046987"/>
                </a:lnTo>
                <a:lnTo>
                  <a:pt x="0" y="1046987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3743864" y="1703949"/>
            <a:ext cx="943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775" algn="l"/>
              </a:tabLst>
            </a:pPr>
            <a:r>
              <a:rPr sz="1800" baseline="2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-0.10	</a:t>
            </a: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161695" y="1492113"/>
            <a:ext cx="295910" cy="4159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066409" y="1120257"/>
            <a:ext cx="461645" cy="39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algn="ctr">
              <a:lnSpc>
                <a:spcPts val="125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>
              <a:lnSpc>
                <a:spcPts val="565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65100" algn="ctr">
              <a:lnSpc>
                <a:spcPts val="1115"/>
              </a:lnSpc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56596" y="1713093"/>
            <a:ext cx="483234" cy="70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800" spc="-7" baseline="-30000" dirty="0">
                <a:latin typeface="Calibri" panose="020F0502020204030204"/>
                <a:cs typeface="Calibri" panose="020F0502020204030204"/>
              </a:rPr>
              <a:t>x1</a:t>
            </a:r>
            <a:r>
              <a:rPr sz="1800" spc="270" baseline="-30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60960" algn="ctr">
              <a:lnSpc>
                <a:spcPct val="106000"/>
              </a:lnSpc>
              <a:spcBef>
                <a:spcPts val="85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      </a:t>
            </a:r>
            <a:r>
              <a:rPr sz="1800" spc="-15" baseline="30000" dirty="0">
                <a:latin typeface="Calibri" panose="020F0502020204030204"/>
                <a:cs typeface="Calibri" panose="020F0502020204030204"/>
              </a:rPr>
              <a:t>w</a:t>
            </a:r>
            <a:r>
              <a:rPr sz="1800" spc="22" baseline="30000" dirty="0">
                <a:latin typeface="Calibri" panose="020F0502020204030204"/>
                <a:cs typeface="Calibri" panose="020F0502020204030204"/>
              </a:rPr>
              <a:t>2</a:t>
            </a: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95303" y="839841"/>
            <a:ext cx="442595" cy="4248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0"/>
              </a:spcBef>
              <a:tabLst>
                <a:tab pos="428625" algn="l"/>
              </a:tabLst>
            </a:pP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spc="-170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-3	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0955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01400" y="1432677"/>
            <a:ext cx="283210" cy="4921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49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581808" y="32491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147" y="2329161"/>
            <a:ext cx="676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105" dirty="0">
                <a:latin typeface="Cambria Math" panose="02040503050406030204"/>
                <a:cs typeface="Cambria Math" panose="02040503050406030204"/>
              </a:rPr>
              <a:t>f(x)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867" y="2352021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1867" y="2201145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i="1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6092" y="2473611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71323" y="2352021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i="1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672" y="2800077"/>
            <a:ext cx="735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75" i="1" spc="104" baseline="-16000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ax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9823" y="2780265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1679" y="2882373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56" y="290185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70156" y="2664441"/>
            <a:ext cx="485775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i="1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80" dirty="0">
                <a:latin typeface="Cambria Math" panose="02040503050406030204"/>
                <a:cs typeface="Cambria Math" panose="02040503050406030204"/>
              </a:rPr>
              <a:t>a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1235" y="2341353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105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 =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108" y="2190476"/>
            <a:ext cx="109855" cy="461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5332" y="2459133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0" y="0"/>
                </a:moveTo>
                <a:lnTo>
                  <a:pt x="85343" y="0"/>
                </a:lnTo>
                <a:lnTo>
                  <a:pt x="85343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55189" y="2833561"/>
            <a:ext cx="81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25" dirty="0">
                <a:latin typeface="Cambria Math" panose="02040503050406030204"/>
                <a:cs typeface="Cambria Math" panose="02040503050406030204"/>
              </a:rPr>
              <a:t>e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4779" y="2348973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3776" y="2198096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i="1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8000" y="2470563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81708" y="2348973"/>
            <a:ext cx="641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 −</a:t>
            </a:r>
            <a:r>
              <a:rPr sz="1200" i="1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00" i="1" spc="52" baseline="2000" dirty="0">
                <a:latin typeface="Cambria Math" panose="02040503050406030204"/>
                <a:cs typeface="Cambria Math" panose="02040503050406030204"/>
              </a:rPr>
              <a:t>⁄</a:t>
            </a:r>
            <a:r>
              <a:rPr sz="1200" i="1" spc="3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i="1" spc="52" baseline="29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1903" y="2761977"/>
            <a:ext cx="1064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i="1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3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i="1" spc="20" dirty="0">
                <a:latin typeface="Cambria Math" panose="02040503050406030204"/>
                <a:cs typeface="Cambria Math" panose="02040503050406030204"/>
              </a:rPr>
              <a:t>c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i="1" baseline="2000" dirty="0">
                <a:latin typeface="Cambria Math" panose="02040503050406030204"/>
                <a:cs typeface="Cambria Math" panose="02040503050406030204"/>
              </a:rPr>
              <a:t>→</a:t>
            </a:r>
            <a:endParaRPr sz="1800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2252" y="2856465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952" y="2875947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60728" y="2638533"/>
            <a:ext cx="485140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i="1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4976" y="272193"/>
            <a:ext cx="358140" cy="142240"/>
          </a:xfrm>
          <a:custGeom>
            <a:avLst/>
            <a:gdLst/>
            <a:ahLst/>
            <a:cxnLst/>
            <a:rect l="l" t="t" r="r" b="b"/>
            <a:pathLst>
              <a:path w="358139" h="142240">
                <a:moveTo>
                  <a:pt x="313944" y="0"/>
                </a:moveTo>
                <a:lnTo>
                  <a:pt x="310896" y="6096"/>
                </a:lnTo>
                <a:lnTo>
                  <a:pt x="319444" y="9239"/>
                </a:lnTo>
                <a:lnTo>
                  <a:pt x="326707" y="14096"/>
                </a:lnTo>
                <a:lnTo>
                  <a:pt x="345376" y="58102"/>
                </a:lnTo>
                <a:lnTo>
                  <a:pt x="345948" y="70103"/>
                </a:lnTo>
                <a:lnTo>
                  <a:pt x="345376" y="82343"/>
                </a:lnTo>
                <a:lnTo>
                  <a:pt x="332541" y="121062"/>
                </a:lnTo>
                <a:lnTo>
                  <a:pt x="310896" y="135635"/>
                </a:lnTo>
                <a:lnTo>
                  <a:pt x="313944" y="141731"/>
                </a:lnTo>
                <a:lnTo>
                  <a:pt x="347472" y="117348"/>
                </a:lnTo>
                <a:lnTo>
                  <a:pt x="358139" y="71627"/>
                </a:lnTo>
                <a:lnTo>
                  <a:pt x="357544" y="58459"/>
                </a:lnTo>
                <a:lnTo>
                  <a:pt x="340304" y="16073"/>
                </a:lnTo>
                <a:lnTo>
                  <a:pt x="323683" y="4024"/>
                </a:lnTo>
                <a:lnTo>
                  <a:pt x="313944" y="0"/>
                </a:lnTo>
                <a:close/>
              </a:path>
              <a:path w="358139" h="142240">
                <a:moveTo>
                  <a:pt x="45720" y="0"/>
                </a:moveTo>
                <a:lnTo>
                  <a:pt x="12191" y="24383"/>
                </a:lnTo>
                <a:lnTo>
                  <a:pt x="0" y="71627"/>
                </a:lnTo>
                <a:lnTo>
                  <a:pt x="833" y="83915"/>
                </a:lnTo>
                <a:lnTo>
                  <a:pt x="18502" y="125658"/>
                </a:lnTo>
                <a:lnTo>
                  <a:pt x="45720" y="141731"/>
                </a:lnTo>
                <a:lnTo>
                  <a:pt x="47244" y="135635"/>
                </a:lnTo>
                <a:lnTo>
                  <a:pt x="38909" y="132492"/>
                </a:lnTo>
                <a:lnTo>
                  <a:pt x="32004" y="127634"/>
                </a:lnTo>
                <a:lnTo>
                  <a:pt x="14263" y="82343"/>
                </a:lnTo>
                <a:lnTo>
                  <a:pt x="13715" y="70103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4" y="6096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23620" y="122841"/>
            <a:ext cx="2216150" cy="39941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2465" algn="ctr">
              <a:lnSpc>
                <a:spcPts val="1130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78740">
              <a:lnSpc>
                <a:spcPts val="695"/>
              </a:lnSpc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w,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664845" algn="ctr">
              <a:lnSpc>
                <a:spcPts val="960"/>
              </a:lnSpc>
            </a:pPr>
            <a:r>
              <a:rPr sz="1800" i="1" baseline="-16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800" i="1" spc="-5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112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-(w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4952" y="343059"/>
            <a:ext cx="1385570" cy="0"/>
          </a:xfrm>
          <a:custGeom>
            <a:avLst/>
            <a:gdLst/>
            <a:ahLst/>
            <a:cxnLst/>
            <a:rect l="l" t="t" r="r" b="b"/>
            <a:pathLst>
              <a:path w="1385570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0943" y="884841"/>
            <a:ext cx="355092" cy="3489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1799" y="1549305"/>
            <a:ext cx="356616" cy="348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64216" y="1452861"/>
            <a:ext cx="211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 panose="020F0502020204030204"/>
                <a:cs typeface="Calibri" panose="020F0502020204030204"/>
              </a:rPr>
              <a:t>w</a:t>
            </a:r>
            <a:r>
              <a:rPr sz="1200" dirty="0"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2176" y="1710849"/>
            <a:ext cx="2214880" cy="530860"/>
          </a:xfrm>
          <a:custGeom>
            <a:avLst/>
            <a:gdLst/>
            <a:ahLst/>
            <a:cxnLst/>
            <a:rect l="l" t="t" r="r" b="b"/>
            <a:pathLst>
              <a:path w="2214880" h="530860">
                <a:moveTo>
                  <a:pt x="2176477" y="13557"/>
                </a:moveTo>
                <a:lnTo>
                  <a:pt x="0" y="518159"/>
                </a:lnTo>
                <a:lnTo>
                  <a:pt x="3048" y="530351"/>
                </a:lnTo>
                <a:lnTo>
                  <a:pt x="2179410" y="25776"/>
                </a:lnTo>
                <a:lnTo>
                  <a:pt x="2176477" y="13557"/>
                </a:lnTo>
                <a:close/>
              </a:path>
              <a:path w="2214880" h="530860">
                <a:moveTo>
                  <a:pt x="2212594" y="12192"/>
                </a:moveTo>
                <a:lnTo>
                  <a:pt x="2182368" y="12192"/>
                </a:lnTo>
                <a:lnTo>
                  <a:pt x="2185416" y="24383"/>
                </a:lnTo>
                <a:lnTo>
                  <a:pt x="2179410" y="25776"/>
                </a:lnTo>
                <a:lnTo>
                  <a:pt x="2182368" y="38100"/>
                </a:lnTo>
                <a:lnTo>
                  <a:pt x="2212594" y="12192"/>
                </a:lnTo>
                <a:close/>
              </a:path>
              <a:path w="2214880" h="530860">
                <a:moveTo>
                  <a:pt x="2182368" y="12192"/>
                </a:moveTo>
                <a:lnTo>
                  <a:pt x="2176477" y="13557"/>
                </a:lnTo>
                <a:lnTo>
                  <a:pt x="2179410" y="25776"/>
                </a:lnTo>
                <a:lnTo>
                  <a:pt x="2185416" y="24383"/>
                </a:lnTo>
                <a:lnTo>
                  <a:pt x="2182368" y="12192"/>
                </a:lnTo>
                <a:close/>
              </a:path>
              <a:path w="2214880" h="530860">
                <a:moveTo>
                  <a:pt x="2173224" y="0"/>
                </a:moveTo>
                <a:lnTo>
                  <a:pt x="2176477" y="13557"/>
                </a:lnTo>
                <a:lnTo>
                  <a:pt x="2182368" y="12192"/>
                </a:lnTo>
                <a:lnTo>
                  <a:pt x="2212594" y="12192"/>
                </a:lnTo>
                <a:lnTo>
                  <a:pt x="2214372" y="10668"/>
                </a:lnTo>
                <a:lnTo>
                  <a:pt x="2173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48415" y="924465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142865" y="959046"/>
            <a:ext cx="69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39272" y="1578261"/>
            <a:ext cx="246887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39272" y="1578261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664" y="9644"/>
                </a:lnTo>
                <a:lnTo>
                  <a:pt x="210883" y="36004"/>
                </a:lnTo>
                <a:lnTo>
                  <a:pt x="237243" y="75223"/>
                </a:lnTo>
                <a:lnTo>
                  <a:pt x="246887" y="123443"/>
                </a:lnTo>
                <a:lnTo>
                  <a:pt x="237243" y="171902"/>
                </a:lnTo>
                <a:lnTo>
                  <a:pt x="210883" y="211645"/>
                </a:lnTo>
                <a:lnTo>
                  <a:pt x="171664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121021" y="161284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866547" y="15965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4967"/>
                </a:moveTo>
                <a:lnTo>
                  <a:pt x="9882" y="76509"/>
                </a:lnTo>
                <a:lnTo>
                  <a:pt x="36766" y="36766"/>
                </a:lnTo>
                <a:lnTo>
                  <a:pt x="76509" y="9882"/>
                </a:lnTo>
                <a:lnTo>
                  <a:pt x="124967" y="0"/>
                </a:lnTo>
                <a:lnTo>
                  <a:pt x="173188" y="9882"/>
                </a:lnTo>
                <a:lnTo>
                  <a:pt x="212407" y="36766"/>
                </a:lnTo>
                <a:lnTo>
                  <a:pt x="238767" y="76509"/>
                </a:lnTo>
                <a:lnTo>
                  <a:pt x="248411" y="124967"/>
                </a:lnTo>
                <a:lnTo>
                  <a:pt x="238767" y="173188"/>
                </a:lnTo>
                <a:lnTo>
                  <a:pt x="212407" y="212407"/>
                </a:lnTo>
                <a:lnTo>
                  <a:pt x="173188" y="238767"/>
                </a:lnTo>
                <a:lnTo>
                  <a:pt x="124967" y="248411"/>
                </a:lnTo>
                <a:lnTo>
                  <a:pt x="76509" y="238767"/>
                </a:lnTo>
                <a:lnTo>
                  <a:pt x="36766" y="212407"/>
                </a:lnTo>
                <a:lnTo>
                  <a:pt x="9882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949821" y="163113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286159" y="170322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26595" y="1044861"/>
            <a:ext cx="245745" cy="292735"/>
          </a:xfrm>
          <a:custGeom>
            <a:avLst/>
            <a:gdLst/>
            <a:ahLst/>
            <a:cxnLst/>
            <a:rect l="l" t="t" r="r" b="b"/>
            <a:pathLst>
              <a:path w="245744" h="292734">
                <a:moveTo>
                  <a:pt x="215510" y="268027"/>
                </a:moveTo>
                <a:lnTo>
                  <a:pt x="205740" y="275844"/>
                </a:lnTo>
                <a:lnTo>
                  <a:pt x="245364" y="292608"/>
                </a:lnTo>
                <a:lnTo>
                  <a:pt x="240961" y="272796"/>
                </a:lnTo>
                <a:lnTo>
                  <a:pt x="219456" y="272796"/>
                </a:lnTo>
                <a:lnTo>
                  <a:pt x="215510" y="268027"/>
                </a:lnTo>
                <a:close/>
              </a:path>
              <a:path w="245744" h="292734">
                <a:moveTo>
                  <a:pt x="226453" y="259273"/>
                </a:moveTo>
                <a:lnTo>
                  <a:pt x="215510" y="268027"/>
                </a:lnTo>
                <a:lnTo>
                  <a:pt x="219456" y="272796"/>
                </a:lnTo>
                <a:lnTo>
                  <a:pt x="230124" y="263652"/>
                </a:lnTo>
                <a:lnTo>
                  <a:pt x="226453" y="259273"/>
                </a:lnTo>
                <a:close/>
              </a:path>
              <a:path w="245744" h="292734">
                <a:moveTo>
                  <a:pt x="236220" y="251460"/>
                </a:moveTo>
                <a:lnTo>
                  <a:pt x="226453" y="259273"/>
                </a:lnTo>
                <a:lnTo>
                  <a:pt x="230124" y="263652"/>
                </a:lnTo>
                <a:lnTo>
                  <a:pt x="219456" y="272796"/>
                </a:lnTo>
                <a:lnTo>
                  <a:pt x="240961" y="272796"/>
                </a:lnTo>
                <a:lnTo>
                  <a:pt x="236220" y="251460"/>
                </a:lnTo>
                <a:close/>
              </a:path>
              <a:path w="245744" h="292734">
                <a:moveTo>
                  <a:pt x="9143" y="0"/>
                </a:moveTo>
                <a:lnTo>
                  <a:pt x="0" y="7620"/>
                </a:lnTo>
                <a:lnTo>
                  <a:pt x="215510" y="268027"/>
                </a:lnTo>
                <a:lnTo>
                  <a:pt x="226453" y="2592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11356" y="1337469"/>
            <a:ext cx="260985" cy="368935"/>
          </a:xfrm>
          <a:custGeom>
            <a:avLst/>
            <a:gdLst/>
            <a:ahLst/>
            <a:cxnLst/>
            <a:rect l="l" t="t" r="r" b="b"/>
            <a:pathLst>
              <a:path w="260985" h="368935">
                <a:moveTo>
                  <a:pt x="234076" y="28078"/>
                </a:moveTo>
                <a:lnTo>
                  <a:pt x="0" y="361187"/>
                </a:lnTo>
                <a:lnTo>
                  <a:pt x="9143" y="368807"/>
                </a:lnTo>
                <a:lnTo>
                  <a:pt x="243730" y="34973"/>
                </a:lnTo>
                <a:lnTo>
                  <a:pt x="234076" y="28078"/>
                </a:lnTo>
                <a:close/>
              </a:path>
              <a:path w="260985" h="368935">
                <a:moveTo>
                  <a:pt x="257338" y="22859"/>
                </a:moveTo>
                <a:lnTo>
                  <a:pt x="237744" y="22859"/>
                </a:lnTo>
                <a:lnTo>
                  <a:pt x="246887" y="30479"/>
                </a:lnTo>
                <a:lnTo>
                  <a:pt x="243730" y="34973"/>
                </a:lnTo>
                <a:lnTo>
                  <a:pt x="254507" y="42672"/>
                </a:lnTo>
                <a:lnTo>
                  <a:pt x="257338" y="22859"/>
                </a:lnTo>
                <a:close/>
              </a:path>
              <a:path w="260985" h="368935">
                <a:moveTo>
                  <a:pt x="237744" y="22859"/>
                </a:moveTo>
                <a:lnTo>
                  <a:pt x="234076" y="28078"/>
                </a:lnTo>
                <a:lnTo>
                  <a:pt x="243730" y="34973"/>
                </a:lnTo>
                <a:lnTo>
                  <a:pt x="246887" y="30479"/>
                </a:lnTo>
                <a:lnTo>
                  <a:pt x="237744" y="22859"/>
                </a:lnTo>
                <a:close/>
              </a:path>
              <a:path w="260985" h="368935">
                <a:moveTo>
                  <a:pt x="260604" y="0"/>
                </a:moveTo>
                <a:lnTo>
                  <a:pt x="222504" y="19811"/>
                </a:lnTo>
                <a:lnTo>
                  <a:pt x="234076" y="28078"/>
                </a:lnTo>
                <a:lnTo>
                  <a:pt x="237744" y="22859"/>
                </a:lnTo>
                <a:lnTo>
                  <a:pt x="257338" y="22859"/>
                </a:lnTo>
                <a:lnTo>
                  <a:pt x="260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971959" y="1214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053709" y="124856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220372" y="1337469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558700" y="1334421"/>
            <a:ext cx="307975" cy="387350"/>
          </a:xfrm>
          <a:custGeom>
            <a:avLst/>
            <a:gdLst/>
            <a:ahLst/>
            <a:cxnLst/>
            <a:rect l="l" t="t" r="r" b="b"/>
            <a:pathLst>
              <a:path w="307975" h="387350">
                <a:moveTo>
                  <a:pt x="279674" y="360971"/>
                </a:moveTo>
                <a:lnTo>
                  <a:pt x="269748" y="368807"/>
                </a:lnTo>
                <a:lnTo>
                  <a:pt x="307848" y="387096"/>
                </a:lnTo>
                <a:lnTo>
                  <a:pt x="303106" y="365759"/>
                </a:lnTo>
                <a:lnTo>
                  <a:pt x="283463" y="365759"/>
                </a:lnTo>
                <a:lnTo>
                  <a:pt x="279674" y="360971"/>
                </a:lnTo>
                <a:close/>
              </a:path>
              <a:path w="307975" h="387350">
                <a:moveTo>
                  <a:pt x="289025" y="353589"/>
                </a:moveTo>
                <a:lnTo>
                  <a:pt x="279674" y="360971"/>
                </a:lnTo>
                <a:lnTo>
                  <a:pt x="283463" y="365759"/>
                </a:lnTo>
                <a:lnTo>
                  <a:pt x="292608" y="358139"/>
                </a:lnTo>
                <a:lnTo>
                  <a:pt x="289025" y="353589"/>
                </a:lnTo>
                <a:close/>
              </a:path>
              <a:path w="307975" h="387350">
                <a:moveTo>
                  <a:pt x="298703" y="345948"/>
                </a:moveTo>
                <a:lnTo>
                  <a:pt x="289025" y="353589"/>
                </a:lnTo>
                <a:lnTo>
                  <a:pt x="292608" y="358139"/>
                </a:lnTo>
                <a:lnTo>
                  <a:pt x="283463" y="365759"/>
                </a:lnTo>
                <a:lnTo>
                  <a:pt x="303106" y="365759"/>
                </a:lnTo>
                <a:lnTo>
                  <a:pt x="298703" y="345948"/>
                </a:lnTo>
                <a:close/>
              </a:path>
              <a:path w="307975" h="387350">
                <a:moveTo>
                  <a:pt x="10667" y="0"/>
                </a:moveTo>
                <a:lnTo>
                  <a:pt x="0" y="7620"/>
                </a:lnTo>
                <a:lnTo>
                  <a:pt x="279674" y="360971"/>
                </a:lnTo>
                <a:lnTo>
                  <a:pt x="289025" y="353589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114960" y="1701705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471576" y="1598073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882" y="75223"/>
                </a:lnTo>
                <a:lnTo>
                  <a:pt x="36766" y="36004"/>
                </a:lnTo>
                <a:lnTo>
                  <a:pt x="76509" y="9644"/>
                </a:lnTo>
                <a:lnTo>
                  <a:pt x="124967" y="0"/>
                </a:lnTo>
                <a:lnTo>
                  <a:pt x="173188" y="9644"/>
                </a:lnTo>
                <a:lnTo>
                  <a:pt x="212407" y="36004"/>
                </a:lnTo>
                <a:lnTo>
                  <a:pt x="238767" y="75223"/>
                </a:lnTo>
                <a:lnTo>
                  <a:pt x="248411" y="123443"/>
                </a:lnTo>
                <a:lnTo>
                  <a:pt x="238767" y="171664"/>
                </a:lnTo>
                <a:lnTo>
                  <a:pt x="212407" y="210883"/>
                </a:lnTo>
                <a:lnTo>
                  <a:pt x="173188" y="237243"/>
                </a:lnTo>
                <a:lnTo>
                  <a:pt x="124967" y="246887"/>
                </a:lnTo>
                <a:lnTo>
                  <a:pt x="76509" y="237243"/>
                </a:lnTo>
                <a:lnTo>
                  <a:pt x="36766" y="210883"/>
                </a:lnTo>
                <a:lnTo>
                  <a:pt x="9882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507606" y="1632617"/>
            <a:ext cx="175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*-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719988" y="1700181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76603" y="1596549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664"/>
                </a:lnTo>
                <a:lnTo>
                  <a:pt x="211645" y="210883"/>
                </a:lnTo>
                <a:lnTo>
                  <a:pt x="171902" y="237243"/>
                </a:lnTo>
                <a:lnTo>
                  <a:pt x="123443" y="246887"/>
                </a:lnTo>
                <a:lnTo>
                  <a:pt x="75223" y="237243"/>
                </a:lnTo>
                <a:lnTo>
                  <a:pt x="36004" y="210883"/>
                </a:lnTo>
                <a:lnTo>
                  <a:pt x="9644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105052" y="1631131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xp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328064" y="1698657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26136" y="12192"/>
                </a:moveTo>
                <a:lnTo>
                  <a:pt x="320039" y="12220"/>
                </a:lnTo>
                <a:lnTo>
                  <a:pt x="320039" y="38100"/>
                </a:lnTo>
                <a:lnTo>
                  <a:pt x="343486" y="25908"/>
                </a:lnTo>
                <a:lnTo>
                  <a:pt x="326136" y="25908"/>
                </a:lnTo>
                <a:lnTo>
                  <a:pt x="326136" y="12192"/>
                </a:lnTo>
                <a:close/>
              </a:path>
              <a:path w="358139" h="38100">
                <a:moveTo>
                  <a:pt x="320039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20039" y="25908"/>
                </a:lnTo>
                <a:lnTo>
                  <a:pt x="320039" y="12220"/>
                </a:lnTo>
                <a:close/>
              </a:path>
              <a:path w="358139" h="38100">
                <a:moveTo>
                  <a:pt x="345439" y="12192"/>
                </a:moveTo>
                <a:lnTo>
                  <a:pt x="326136" y="12192"/>
                </a:lnTo>
                <a:lnTo>
                  <a:pt x="326136" y="25908"/>
                </a:lnTo>
                <a:lnTo>
                  <a:pt x="343486" y="25908"/>
                </a:lnTo>
                <a:lnTo>
                  <a:pt x="358139" y="18288"/>
                </a:lnTo>
                <a:lnTo>
                  <a:pt x="345439" y="12192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12220"/>
                </a:lnTo>
                <a:lnTo>
                  <a:pt x="345439" y="12192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686203" y="1595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739074" y="1629530"/>
            <a:ext cx="140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920900" y="1704753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4931" y="12192"/>
                </a:moveTo>
                <a:lnTo>
                  <a:pt x="326136" y="12192"/>
                </a:lnTo>
                <a:lnTo>
                  <a:pt x="326136" y="24383"/>
                </a:lnTo>
                <a:lnTo>
                  <a:pt x="319492" y="24415"/>
                </a:lnTo>
                <a:lnTo>
                  <a:pt x="320039" y="38100"/>
                </a:lnTo>
                <a:lnTo>
                  <a:pt x="358139" y="18288"/>
                </a:lnTo>
                <a:lnTo>
                  <a:pt x="344931" y="12192"/>
                </a:lnTo>
                <a:close/>
              </a:path>
              <a:path w="358139" h="38100">
                <a:moveTo>
                  <a:pt x="319005" y="12225"/>
                </a:moveTo>
                <a:lnTo>
                  <a:pt x="0" y="13716"/>
                </a:lnTo>
                <a:lnTo>
                  <a:pt x="0" y="25907"/>
                </a:lnTo>
                <a:lnTo>
                  <a:pt x="319492" y="24415"/>
                </a:lnTo>
                <a:lnTo>
                  <a:pt x="319005" y="12225"/>
                </a:lnTo>
                <a:close/>
              </a:path>
              <a:path w="358139" h="38100">
                <a:moveTo>
                  <a:pt x="326136" y="12192"/>
                </a:moveTo>
                <a:lnTo>
                  <a:pt x="319005" y="12225"/>
                </a:lnTo>
                <a:lnTo>
                  <a:pt x="319492" y="24415"/>
                </a:lnTo>
                <a:lnTo>
                  <a:pt x="326136" y="24383"/>
                </a:lnTo>
                <a:lnTo>
                  <a:pt x="326136" y="12192"/>
                </a:lnTo>
                <a:close/>
              </a:path>
              <a:path w="358139" h="38100">
                <a:moveTo>
                  <a:pt x="318515" y="0"/>
                </a:moveTo>
                <a:lnTo>
                  <a:pt x="319005" y="12225"/>
                </a:lnTo>
                <a:lnTo>
                  <a:pt x="344931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279039" y="1599597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4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5313545" y="1634103"/>
            <a:ext cx="177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1/x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6916" y="1044429"/>
            <a:ext cx="355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7" baseline="-23000" dirty="0">
                <a:latin typeface="Calibri" panose="020F0502020204030204"/>
                <a:cs typeface="Calibri" panose="020F0502020204030204"/>
              </a:rPr>
              <a:t>x0</a:t>
            </a:r>
            <a:r>
              <a:rPr sz="1800" spc="352" baseline="-23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8440" y="759441"/>
            <a:ext cx="356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w0</a:t>
            </a:r>
            <a:r>
              <a:rPr sz="1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aseline="35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800" baseline="35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79100" y="1359897"/>
            <a:ext cx="150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320448" y="11145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803300" y="1522965"/>
            <a:ext cx="8489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785" algn="l"/>
              </a:tabLst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	</a:t>
            </a:r>
            <a:r>
              <a:rPr sz="1800" baseline="2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0.14</a:t>
            </a:r>
            <a:endParaRPr sz="18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548788" y="1709325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6416" y="13716"/>
                </a:moveTo>
                <a:lnTo>
                  <a:pt x="326136" y="13716"/>
                </a:lnTo>
                <a:lnTo>
                  <a:pt x="326136" y="25907"/>
                </a:lnTo>
                <a:lnTo>
                  <a:pt x="320039" y="25936"/>
                </a:lnTo>
                <a:lnTo>
                  <a:pt x="320039" y="38100"/>
                </a:lnTo>
                <a:lnTo>
                  <a:pt x="358139" y="19811"/>
                </a:lnTo>
                <a:lnTo>
                  <a:pt x="346416" y="13716"/>
                </a:lnTo>
                <a:close/>
              </a:path>
              <a:path w="358139" h="38100">
                <a:moveTo>
                  <a:pt x="320039" y="13716"/>
                </a:moveTo>
                <a:lnTo>
                  <a:pt x="0" y="13716"/>
                </a:lnTo>
                <a:lnTo>
                  <a:pt x="0" y="27431"/>
                </a:lnTo>
                <a:lnTo>
                  <a:pt x="320039" y="25936"/>
                </a:lnTo>
                <a:lnTo>
                  <a:pt x="320039" y="13716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25936"/>
                </a:lnTo>
                <a:lnTo>
                  <a:pt x="326136" y="25907"/>
                </a:lnTo>
                <a:lnTo>
                  <a:pt x="326136" y="13716"/>
                </a:lnTo>
                <a:lnTo>
                  <a:pt x="346416" y="13716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328324" y="14772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37611" y="1484864"/>
            <a:ext cx="321945" cy="4343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0.88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1.00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958491" y="1522965"/>
            <a:ext cx="343535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title"/>
          </p:nvPr>
        </p:nvSpPr>
        <p:spPr>
          <a:xfrm>
            <a:off x="2069064" y="125316"/>
            <a:ext cx="1709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反向传播示例2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17479" y="665385"/>
            <a:ext cx="1396365" cy="708660"/>
          </a:xfrm>
          <a:custGeom>
            <a:avLst/>
            <a:gdLst/>
            <a:ahLst/>
            <a:cxnLst/>
            <a:rect l="l" t="t" r="r" b="b"/>
            <a:pathLst>
              <a:path w="1396364" h="708660">
                <a:moveTo>
                  <a:pt x="0" y="0"/>
                </a:moveTo>
                <a:lnTo>
                  <a:pt x="1395983" y="0"/>
                </a:lnTo>
                <a:lnTo>
                  <a:pt x="1395983" y="708659"/>
                </a:lnTo>
                <a:lnTo>
                  <a:pt x="0" y="708659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17479" y="665385"/>
            <a:ext cx="1396365" cy="708660"/>
          </a:xfrm>
          <a:custGeom>
            <a:avLst/>
            <a:gdLst/>
            <a:ahLst/>
            <a:cxnLst/>
            <a:rect l="l" t="t" r="r" b="b"/>
            <a:pathLst>
              <a:path w="1396364" h="708660">
                <a:moveTo>
                  <a:pt x="0" y="0"/>
                </a:moveTo>
                <a:lnTo>
                  <a:pt x="1395983" y="0"/>
                </a:lnTo>
                <a:lnTo>
                  <a:pt x="1395983" y="708659"/>
                </a:lnTo>
                <a:lnTo>
                  <a:pt x="0" y="708659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3743864" y="1698225"/>
            <a:ext cx="943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775" algn="l"/>
              </a:tabLst>
            </a:pPr>
            <a:r>
              <a:rPr sz="1800" baseline="2000" dirty="0">
                <a:latin typeface="Calibri" panose="020F0502020204030204"/>
                <a:cs typeface="Calibri" panose="020F0502020204030204"/>
              </a:rPr>
              <a:t>-0.10	</a:t>
            </a: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161695" y="1486389"/>
            <a:ext cx="295910" cy="4159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232056" y="1303509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56596" y="1707369"/>
            <a:ext cx="483234" cy="70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800" spc="-7" baseline="-30000" dirty="0">
                <a:latin typeface="Calibri" panose="020F0502020204030204"/>
                <a:cs typeface="Calibri" panose="020F0502020204030204"/>
              </a:rPr>
              <a:t>x1</a:t>
            </a:r>
            <a:r>
              <a:rPr sz="1800" spc="270" baseline="-30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60960" algn="ctr">
              <a:lnSpc>
                <a:spcPct val="106000"/>
              </a:lnSpc>
              <a:spcBef>
                <a:spcPts val="85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      </a:t>
            </a:r>
            <a:r>
              <a:rPr sz="1800" baseline="30000" dirty="0">
                <a:latin typeface="Calibri" panose="020F0502020204030204"/>
                <a:cs typeface="Calibri" panose="020F0502020204030204"/>
              </a:rPr>
              <a:t>w</a:t>
            </a:r>
            <a:r>
              <a:rPr sz="1800" spc="7" baseline="30000" dirty="0">
                <a:latin typeface="Calibri" panose="020F0502020204030204"/>
                <a:cs typeface="Calibri" panose="020F0502020204030204"/>
              </a:rPr>
              <a:t>2</a:t>
            </a: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295303" y="834117"/>
            <a:ext cx="442595" cy="4248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0"/>
              </a:spcBef>
              <a:tabLst>
                <a:tab pos="428625" algn="l"/>
              </a:tabLst>
            </a:pP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spc="-170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-3	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0955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288700" y="1710417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43001" y="870641"/>
            <a:ext cx="275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53753" y="1205845"/>
            <a:ext cx="275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0.30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147" y="2334885"/>
            <a:ext cx="676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5" dirty="0">
                <a:latin typeface="Cambria Math" panose="02040503050406030204"/>
                <a:cs typeface="Cambria Math" panose="02040503050406030204"/>
              </a:rPr>
              <a:t>f(x)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867" y="2357745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1867" y="2206869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6092" y="247933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71323" y="2357745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1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275" spc="150" baseline="29000" dirty="0">
                <a:latin typeface="Cambria Math" panose="02040503050406030204"/>
                <a:cs typeface="Cambria Math" panose="02040503050406030204"/>
              </a:rPr>
              <a:t>x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672" y="2805801"/>
            <a:ext cx="735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75" spc="104" baseline="-16000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70" dirty="0">
                <a:latin typeface="Cambria Math" panose="02040503050406030204"/>
                <a:cs typeface="Cambria Math" panose="02040503050406030204"/>
              </a:rPr>
              <a:t>ax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9823" y="278598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1679" y="2888097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56" y="290757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70156" y="2670165"/>
            <a:ext cx="485775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80" dirty="0">
                <a:latin typeface="Cambria Math" panose="02040503050406030204"/>
                <a:cs typeface="Cambria Math" panose="02040503050406030204"/>
              </a:rPr>
              <a:t>a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1235" y="2347077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5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 =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108" y="2196201"/>
            <a:ext cx="109855" cy="461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5332" y="2464857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0" y="0"/>
                </a:moveTo>
                <a:lnTo>
                  <a:pt x="85343" y="0"/>
                </a:lnTo>
                <a:lnTo>
                  <a:pt x="85343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55189" y="2839227"/>
            <a:ext cx="819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65" dirty="0">
                <a:latin typeface="Cambria Math" panose="02040503050406030204"/>
                <a:cs typeface="Cambria Math" panose="02040503050406030204"/>
              </a:rPr>
              <a:t>c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4779" y="2354697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→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3776" y="2203821"/>
            <a:ext cx="19812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9000"/>
              </a:lnSpc>
              <a:spcBef>
                <a:spcPts val="100"/>
              </a:spcBef>
            </a:pPr>
            <a:r>
              <a:rPr sz="1200" spc="120" dirty="0">
                <a:latin typeface="Cambria Math" panose="02040503050406030204"/>
                <a:cs typeface="Cambria Math" panose="02040503050406030204"/>
              </a:rPr>
              <a:t>df  </a:t>
            </a: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8000" y="2476287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81708" y="2354697"/>
            <a:ext cx="641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 −</a:t>
            </a:r>
            <a:r>
              <a:rPr sz="1200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00" spc="52" baseline="2000" dirty="0">
                <a:latin typeface="Cambria Math" panose="02040503050406030204"/>
                <a:cs typeface="Cambria Math" panose="02040503050406030204"/>
              </a:rPr>
              <a:t>⁄</a:t>
            </a:r>
            <a:r>
              <a:rPr sz="1200" spc="3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75" spc="52" baseline="29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1903" y="2767701"/>
            <a:ext cx="1064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200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30" dirty="0">
                <a:latin typeface="Cambria Math" panose="02040503050406030204"/>
                <a:cs typeface="Cambria Math" panose="02040503050406030204"/>
              </a:rPr>
              <a:t>(x)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spc="20" dirty="0">
                <a:latin typeface="Cambria Math" panose="02040503050406030204"/>
                <a:cs typeface="Cambria Math" panose="02040503050406030204"/>
              </a:rPr>
              <a:t>c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 </a:t>
            </a:r>
            <a:r>
              <a:rPr sz="1800" baseline="2000" dirty="0">
                <a:latin typeface="Cambria Math" panose="02040503050406030204"/>
                <a:cs typeface="Cambria Math" panose="02040503050406030204"/>
              </a:rPr>
              <a:t>→</a:t>
            </a:r>
            <a:endParaRPr sz="1800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2252" y="2862189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 panose="02040503050406030204"/>
                <a:cs typeface="Cambria Math" panose="02040503050406030204"/>
              </a:rPr>
              <a:t>dx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952" y="2881671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8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60728" y="2644257"/>
            <a:ext cx="485140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200" spc="160" dirty="0">
                <a:latin typeface="Cambria Math" panose="02040503050406030204"/>
                <a:cs typeface="Cambria Math" panose="02040503050406030204"/>
              </a:rPr>
              <a:t>df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231775">
              <a:lnSpc>
                <a:spcPts val="1175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4976" y="277917"/>
            <a:ext cx="358140" cy="142240"/>
          </a:xfrm>
          <a:custGeom>
            <a:avLst/>
            <a:gdLst/>
            <a:ahLst/>
            <a:cxnLst/>
            <a:rect l="l" t="t" r="r" b="b"/>
            <a:pathLst>
              <a:path w="358139" h="142240">
                <a:moveTo>
                  <a:pt x="313944" y="0"/>
                </a:moveTo>
                <a:lnTo>
                  <a:pt x="310896" y="6096"/>
                </a:lnTo>
                <a:lnTo>
                  <a:pt x="319444" y="9239"/>
                </a:lnTo>
                <a:lnTo>
                  <a:pt x="326707" y="14097"/>
                </a:lnTo>
                <a:lnTo>
                  <a:pt x="345376" y="58102"/>
                </a:lnTo>
                <a:lnTo>
                  <a:pt x="345948" y="70104"/>
                </a:lnTo>
                <a:lnTo>
                  <a:pt x="345376" y="82343"/>
                </a:lnTo>
                <a:lnTo>
                  <a:pt x="332541" y="121062"/>
                </a:lnTo>
                <a:lnTo>
                  <a:pt x="310896" y="135636"/>
                </a:lnTo>
                <a:lnTo>
                  <a:pt x="313944" y="141732"/>
                </a:lnTo>
                <a:lnTo>
                  <a:pt x="347472" y="117348"/>
                </a:lnTo>
                <a:lnTo>
                  <a:pt x="358139" y="71628"/>
                </a:lnTo>
                <a:lnTo>
                  <a:pt x="357544" y="58459"/>
                </a:lnTo>
                <a:lnTo>
                  <a:pt x="340304" y="16073"/>
                </a:lnTo>
                <a:lnTo>
                  <a:pt x="323683" y="4024"/>
                </a:lnTo>
                <a:lnTo>
                  <a:pt x="313944" y="0"/>
                </a:lnTo>
                <a:close/>
              </a:path>
              <a:path w="358139" h="142240">
                <a:moveTo>
                  <a:pt x="45720" y="0"/>
                </a:moveTo>
                <a:lnTo>
                  <a:pt x="12191" y="24384"/>
                </a:lnTo>
                <a:lnTo>
                  <a:pt x="0" y="71628"/>
                </a:lnTo>
                <a:lnTo>
                  <a:pt x="833" y="83915"/>
                </a:lnTo>
                <a:lnTo>
                  <a:pt x="18502" y="125658"/>
                </a:lnTo>
                <a:lnTo>
                  <a:pt x="45720" y="141732"/>
                </a:lnTo>
                <a:lnTo>
                  <a:pt x="47244" y="135636"/>
                </a:lnTo>
                <a:lnTo>
                  <a:pt x="38909" y="132492"/>
                </a:lnTo>
                <a:lnTo>
                  <a:pt x="32004" y="127635"/>
                </a:lnTo>
                <a:lnTo>
                  <a:pt x="14263" y="82343"/>
                </a:lnTo>
                <a:lnTo>
                  <a:pt x="13715" y="70104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4" y="6096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23620" y="128565"/>
            <a:ext cx="2216150" cy="39941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2465" algn="ctr">
              <a:lnSpc>
                <a:spcPts val="1130"/>
              </a:lnSpc>
            </a:pPr>
            <a:r>
              <a:rPr sz="1200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78740">
              <a:lnSpc>
                <a:spcPts val="695"/>
              </a:lnSpc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spc="-10" dirty="0">
                <a:latin typeface="Cambria Math" panose="02040503050406030204"/>
                <a:cs typeface="Cambria Math" panose="02040503050406030204"/>
              </a:rPr>
              <a:t>w, </a:t>
            </a:r>
            <a:r>
              <a:rPr sz="1200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spc="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dirty="0">
                <a:latin typeface="Cambria Math" panose="02040503050406030204"/>
                <a:cs typeface="Cambria Math" panose="02040503050406030204"/>
              </a:rPr>
              <a:t>=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664845" algn="ctr">
              <a:lnSpc>
                <a:spcPts val="960"/>
              </a:lnSpc>
            </a:pPr>
            <a:r>
              <a:rPr sz="1800" baseline="-16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800" spc="-44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104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-(w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spc="104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850" spc="70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4952" y="348783"/>
            <a:ext cx="1385570" cy="0"/>
          </a:xfrm>
          <a:custGeom>
            <a:avLst/>
            <a:gdLst/>
            <a:ahLst/>
            <a:cxnLst/>
            <a:rect l="l" t="t" r="r" b="b"/>
            <a:pathLst>
              <a:path w="1385570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0943" y="890565"/>
            <a:ext cx="355092" cy="3489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1799" y="1555029"/>
            <a:ext cx="356616" cy="348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2176" y="1716573"/>
            <a:ext cx="2214880" cy="530860"/>
          </a:xfrm>
          <a:custGeom>
            <a:avLst/>
            <a:gdLst/>
            <a:ahLst/>
            <a:cxnLst/>
            <a:rect l="l" t="t" r="r" b="b"/>
            <a:pathLst>
              <a:path w="2214880" h="530860">
                <a:moveTo>
                  <a:pt x="2176477" y="13557"/>
                </a:moveTo>
                <a:lnTo>
                  <a:pt x="0" y="518159"/>
                </a:lnTo>
                <a:lnTo>
                  <a:pt x="3048" y="530351"/>
                </a:lnTo>
                <a:lnTo>
                  <a:pt x="2179410" y="25776"/>
                </a:lnTo>
                <a:lnTo>
                  <a:pt x="2176477" y="13557"/>
                </a:lnTo>
                <a:close/>
              </a:path>
              <a:path w="2214880" h="530860">
                <a:moveTo>
                  <a:pt x="2212594" y="12191"/>
                </a:moveTo>
                <a:lnTo>
                  <a:pt x="2182368" y="12191"/>
                </a:lnTo>
                <a:lnTo>
                  <a:pt x="2185416" y="24383"/>
                </a:lnTo>
                <a:lnTo>
                  <a:pt x="2179410" y="25776"/>
                </a:lnTo>
                <a:lnTo>
                  <a:pt x="2182368" y="38100"/>
                </a:lnTo>
                <a:lnTo>
                  <a:pt x="2212594" y="12191"/>
                </a:lnTo>
                <a:close/>
              </a:path>
              <a:path w="2214880" h="530860">
                <a:moveTo>
                  <a:pt x="2182368" y="12191"/>
                </a:moveTo>
                <a:lnTo>
                  <a:pt x="2176477" y="13557"/>
                </a:lnTo>
                <a:lnTo>
                  <a:pt x="2179410" y="25776"/>
                </a:lnTo>
                <a:lnTo>
                  <a:pt x="2185416" y="24383"/>
                </a:lnTo>
                <a:lnTo>
                  <a:pt x="2182368" y="12191"/>
                </a:lnTo>
                <a:close/>
              </a:path>
              <a:path w="2214880" h="530860">
                <a:moveTo>
                  <a:pt x="2173224" y="0"/>
                </a:moveTo>
                <a:lnTo>
                  <a:pt x="2176477" y="13557"/>
                </a:lnTo>
                <a:lnTo>
                  <a:pt x="2182368" y="12191"/>
                </a:lnTo>
                <a:lnTo>
                  <a:pt x="2212594" y="12191"/>
                </a:lnTo>
                <a:lnTo>
                  <a:pt x="2214372" y="10668"/>
                </a:lnTo>
                <a:lnTo>
                  <a:pt x="2173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48415" y="930189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30165" y="96477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39272" y="1583985"/>
            <a:ext cx="246887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39272" y="1583985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664" y="9644"/>
                </a:lnTo>
                <a:lnTo>
                  <a:pt x="210883" y="36004"/>
                </a:lnTo>
                <a:lnTo>
                  <a:pt x="237243" y="75223"/>
                </a:lnTo>
                <a:lnTo>
                  <a:pt x="246887" y="123443"/>
                </a:lnTo>
                <a:lnTo>
                  <a:pt x="237243" y="171902"/>
                </a:lnTo>
                <a:lnTo>
                  <a:pt x="210883" y="211645"/>
                </a:lnTo>
                <a:lnTo>
                  <a:pt x="171664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33721" y="1618567"/>
            <a:ext cx="69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66547" y="1602273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4967"/>
                </a:moveTo>
                <a:lnTo>
                  <a:pt x="9882" y="76509"/>
                </a:lnTo>
                <a:lnTo>
                  <a:pt x="36766" y="36766"/>
                </a:lnTo>
                <a:lnTo>
                  <a:pt x="76509" y="9882"/>
                </a:lnTo>
                <a:lnTo>
                  <a:pt x="124967" y="0"/>
                </a:lnTo>
                <a:lnTo>
                  <a:pt x="173188" y="9882"/>
                </a:lnTo>
                <a:lnTo>
                  <a:pt x="212407" y="36766"/>
                </a:lnTo>
                <a:lnTo>
                  <a:pt x="238767" y="76509"/>
                </a:lnTo>
                <a:lnTo>
                  <a:pt x="248411" y="124967"/>
                </a:lnTo>
                <a:lnTo>
                  <a:pt x="238767" y="173188"/>
                </a:lnTo>
                <a:lnTo>
                  <a:pt x="212407" y="212407"/>
                </a:lnTo>
                <a:lnTo>
                  <a:pt x="173188" y="238767"/>
                </a:lnTo>
                <a:lnTo>
                  <a:pt x="124967" y="248411"/>
                </a:lnTo>
                <a:lnTo>
                  <a:pt x="76509" y="238767"/>
                </a:lnTo>
                <a:lnTo>
                  <a:pt x="36766" y="212407"/>
                </a:lnTo>
                <a:lnTo>
                  <a:pt x="9882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49821" y="1636855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86159" y="1708953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26595" y="1050585"/>
            <a:ext cx="245745" cy="292735"/>
          </a:xfrm>
          <a:custGeom>
            <a:avLst/>
            <a:gdLst/>
            <a:ahLst/>
            <a:cxnLst/>
            <a:rect l="l" t="t" r="r" b="b"/>
            <a:pathLst>
              <a:path w="245744" h="292734">
                <a:moveTo>
                  <a:pt x="215510" y="268027"/>
                </a:moveTo>
                <a:lnTo>
                  <a:pt x="205740" y="275843"/>
                </a:lnTo>
                <a:lnTo>
                  <a:pt x="245364" y="292607"/>
                </a:lnTo>
                <a:lnTo>
                  <a:pt x="240961" y="272795"/>
                </a:lnTo>
                <a:lnTo>
                  <a:pt x="219456" y="272795"/>
                </a:lnTo>
                <a:lnTo>
                  <a:pt x="215510" y="268027"/>
                </a:lnTo>
                <a:close/>
              </a:path>
              <a:path w="245744" h="292734">
                <a:moveTo>
                  <a:pt x="226453" y="259273"/>
                </a:moveTo>
                <a:lnTo>
                  <a:pt x="215510" y="268027"/>
                </a:lnTo>
                <a:lnTo>
                  <a:pt x="219456" y="272795"/>
                </a:lnTo>
                <a:lnTo>
                  <a:pt x="230124" y="263651"/>
                </a:lnTo>
                <a:lnTo>
                  <a:pt x="226453" y="259273"/>
                </a:lnTo>
                <a:close/>
              </a:path>
              <a:path w="245744" h="292734">
                <a:moveTo>
                  <a:pt x="236220" y="251460"/>
                </a:moveTo>
                <a:lnTo>
                  <a:pt x="226453" y="259273"/>
                </a:lnTo>
                <a:lnTo>
                  <a:pt x="230124" y="263651"/>
                </a:lnTo>
                <a:lnTo>
                  <a:pt x="219456" y="272795"/>
                </a:lnTo>
                <a:lnTo>
                  <a:pt x="240961" y="272795"/>
                </a:lnTo>
                <a:lnTo>
                  <a:pt x="236220" y="251460"/>
                </a:lnTo>
                <a:close/>
              </a:path>
              <a:path w="245744" h="292734">
                <a:moveTo>
                  <a:pt x="9143" y="0"/>
                </a:moveTo>
                <a:lnTo>
                  <a:pt x="0" y="7619"/>
                </a:lnTo>
                <a:lnTo>
                  <a:pt x="215510" y="268027"/>
                </a:lnTo>
                <a:lnTo>
                  <a:pt x="226453" y="2592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1356" y="1343193"/>
            <a:ext cx="260985" cy="368935"/>
          </a:xfrm>
          <a:custGeom>
            <a:avLst/>
            <a:gdLst/>
            <a:ahLst/>
            <a:cxnLst/>
            <a:rect l="l" t="t" r="r" b="b"/>
            <a:pathLst>
              <a:path w="260985" h="368935">
                <a:moveTo>
                  <a:pt x="234076" y="28078"/>
                </a:moveTo>
                <a:lnTo>
                  <a:pt x="0" y="361188"/>
                </a:lnTo>
                <a:lnTo>
                  <a:pt x="9143" y="368808"/>
                </a:lnTo>
                <a:lnTo>
                  <a:pt x="243730" y="34973"/>
                </a:lnTo>
                <a:lnTo>
                  <a:pt x="234076" y="28078"/>
                </a:lnTo>
                <a:close/>
              </a:path>
              <a:path w="260985" h="368935">
                <a:moveTo>
                  <a:pt x="257338" y="22860"/>
                </a:moveTo>
                <a:lnTo>
                  <a:pt x="237744" y="22860"/>
                </a:lnTo>
                <a:lnTo>
                  <a:pt x="246887" y="30480"/>
                </a:lnTo>
                <a:lnTo>
                  <a:pt x="243730" y="34973"/>
                </a:lnTo>
                <a:lnTo>
                  <a:pt x="254507" y="42672"/>
                </a:lnTo>
                <a:lnTo>
                  <a:pt x="257338" y="22860"/>
                </a:lnTo>
                <a:close/>
              </a:path>
              <a:path w="260985" h="368935">
                <a:moveTo>
                  <a:pt x="237744" y="22860"/>
                </a:moveTo>
                <a:lnTo>
                  <a:pt x="234076" y="28078"/>
                </a:lnTo>
                <a:lnTo>
                  <a:pt x="243730" y="34973"/>
                </a:lnTo>
                <a:lnTo>
                  <a:pt x="246887" y="30480"/>
                </a:lnTo>
                <a:lnTo>
                  <a:pt x="237744" y="22860"/>
                </a:lnTo>
                <a:close/>
              </a:path>
              <a:path w="260985" h="368935">
                <a:moveTo>
                  <a:pt x="260604" y="0"/>
                </a:moveTo>
                <a:lnTo>
                  <a:pt x="222504" y="19812"/>
                </a:lnTo>
                <a:lnTo>
                  <a:pt x="234076" y="28078"/>
                </a:lnTo>
                <a:lnTo>
                  <a:pt x="237744" y="22860"/>
                </a:lnTo>
                <a:lnTo>
                  <a:pt x="257338" y="22860"/>
                </a:lnTo>
                <a:lnTo>
                  <a:pt x="260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971959" y="12197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053709" y="125429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20372" y="1343193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558700" y="1340145"/>
            <a:ext cx="307975" cy="387350"/>
          </a:xfrm>
          <a:custGeom>
            <a:avLst/>
            <a:gdLst/>
            <a:ahLst/>
            <a:cxnLst/>
            <a:rect l="l" t="t" r="r" b="b"/>
            <a:pathLst>
              <a:path w="307975" h="387350">
                <a:moveTo>
                  <a:pt x="279674" y="360971"/>
                </a:moveTo>
                <a:lnTo>
                  <a:pt x="269748" y="368807"/>
                </a:lnTo>
                <a:lnTo>
                  <a:pt x="307848" y="387095"/>
                </a:lnTo>
                <a:lnTo>
                  <a:pt x="303106" y="365759"/>
                </a:lnTo>
                <a:lnTo>
                  <a:pt x="283463" y="365759"/>
                </a:lnTo>
                <a:lnTo>
                  <a:pt x="279674" y="360971"/>
                </a:lnTo>
                <a:close/>
              </a:path>
              <a:path w="307975" h="387350">
                <a:moveTo>
                  <a:pt x="289025" y="353589"/>
                </a:moveTo>
                <a:lnTo>
                  <a:pt x="279674" y="360971"/>
                </a:lnTo>
                <a:lnTo>
                  <a:pt x="283463" y="365759"/>
                </a:lnTo>
                <a:lnTo>
                  <a:pt x="292608" y="358139"/>
                </a:lnTo>
                <a:lnTo>
                  <a:pt x="289025" y="353589"/>
                </a:lnTo>
                <a:close/>
              </a:path>
              <a:path w="307975" h="387350">
                <a:moveTo>
                  <a:pt x="298703" y="345947"/>
                </a:moveTo>
                <a:lnTo>
                  <a:pt x="289025" y="353589"/>
                </a:lnTo>
                <a:lnTo>
                  <a:pt x="292608" y="358139"/>
                </a:lnTo>
                <a:lnTo>
                  <a:pt x="283463" y="365759"/>
                </a:lnTo>
                <a:lnTo>
                  <a:pt x="303106" y="365759"/>
                </a:lnTo>
                <a:lnTo>
                  <a:pt x="298703" y="345947"/>
                </a:lnTo>
                <a:close/>
              </a:path>
              <a:path w="307975" h="387350">
                <a:moveTo>
                  <a:pt x="10667" y="0"/>
                </a:moveTo>
                <a:lnTo>
                  <a:pt x="0" y="7619"/>
                </a:lnTo>
                <a:lnTo>
                  <a:pt x="279674" y="360971"/>
                </a:lnTo>
                <a:lnTo>
                  <a:pt x="289025" y="353589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14960" y="1707429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1"/>
                </a:moveTo>
                <a:lnTo>
                  <a:pt x="324612" y="12191"/>
                </a:lnTo>
                <a:lnTo>
                  <a:pt x="324612" y="24383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7"/>
                </a:lnTo>
                <a:lnTo>
                  <a:pt x="343915" y="12191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5"/>
                </a:lnTo>
                <a:lnTo>
                  <a:pt x="0" y="25907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1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3"/>
                </a:lnTo>
                <a:lnTo>
                  <a:pt x="324612" y="12191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1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71576" y="1603797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882" y="75223"/>
                </a:lnTo>
                <a:lnTo>
                  <a:pt x="36766" y="36004"/>
                </a:lnTo>
                <a:lnTo>
                  <a:pt x="76509" y="9644"/>
                </a:lnTo>
                <a:lnTo>
                  <a:pt x="124967" y="0"/>
                </a:lnTo>
                <a:lnTo>
                  <a:pt x="173188" y="9644"/>
                </a:lnTo>
                <a:lnTo>
                  <a:pt x="212407" y="36004"/>
                </a:lnTo>
                <a:lnTo>
                  <a:pt x="238767" y="75223"/>
                </a:lnTo>
                <a:lnTo>
                  <a:pt x="248411" y="123443"/>
                </a:lnTo>
                <a:lnTo>
                  <a:pt x="238767" y="171664"/>
                </a:lnTo>
                <a:lnTo>
                  <a:pt x="212407" y="210883"/>
                </a:lnTo>
                <a:lnTo>
                  <a:pt x="173188" y="237243"/>
                </a:lnTo>
                <a:lnTo>
                  <a:pt x="124967" y="246887"/>
                </a:lnTo>
                <a:lnTo>
                  <a:pt x="76509" y="237243"/>
                </a:lnTo>
                <a:lnTo>
                  <a:pt x="36766" y="210883"/>
                </a:lnTo>
                <a:lnTo>
                  <a:pt x="9882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507606" y="1638341"/>
            <a:ext cx="175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*-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719988" y="1705905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3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7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5"/>
                </a:lnTo>
                <a:lnTo>
                  <a:pt x="0" y="25907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3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76603" y="1602273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664"/>
                </a:lnTo>
                <a:lnTo>
                  <a:pt x="211645" y="210883"/>
                </a:lnTo>
                <a:lnTo>
                  <a:pt x="171902" y="237243"/>
                </a:lnTo>
                <a:lnTo>
                  <a:pt x="123443" y="246887"/>
                </a:lnTo>
                <a:lnTo>
                  <a:pt x="75223" y="237243"/>
                </a:lnTo>
                <a:lnTo>
                  <a:pt x="36004" y="210883"/>
                </a:lnTo>
                <a:lnTo>
                  <a:pt x="9644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105052" y="1636855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xp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328064" y="1704381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26136" y="12192"/>
                </a:moveTo>
                <a:lnTo>
                  <a:pt x="320039" y="12220"/>
                </a:lnTo>
                <a:lnTo>
                  <a:pt x="320039" y="38100"/>
                </a:lnTo>
                <a:lnTo>
                  <a:pt x="343486" y="25907"/>
                </a:lnTo>
                <a:lnTo>
                  <a:pt x="326136" y="25907"/>
                </a:lnTo>
                <a:lnTo>
                  <a:pt x="326136" y="12192"/>
                </a:lnTo>
                <a:close/>
              </a:path>
              <a:path w="358139" h="38100">
                <a:moveTo>
                  <a:pt x="320039" y="12220"/>
                </a:moveTo>
                <a:lnTo>
                  <a:pt x="0" y="13716"/>
                </a:lnTo>
                <a:lnTo>
                  <a:pt x="0" y="25907"/>
                </a:lnTo>
                <a:lnTo>
                  <a:pt x="320039" y="25907"/>
                </a:lnTo>
                <a:lnTo>
                  <a:pt x="320039" y="12220"/>
                </a:lnTo>
                <a:close/>
              </a:path>
              <a:path w="358139" h="38100">
                <a:moveTo>
                  <a:pt x="345439" y="12192"/>
                </a:moveTo>
                <a:lnTo>
                  <a:pt x="326136" y="12192"/>
                </a:lnTo>
                <a:lnTo>
                  <a:pt x="326136" y="25907"/>
                </a:lnTo>
                <a:lnTo>
                  <a:pt x="343486" y="25907"/>
                </a:lnTo>
                <a:lnTo>
                  <a:pt x="358139" y="18287"/>
                </a:lnTo>
                <a:lnTo>
                  <a:pt x="345439" y="12192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12220"/>
                </a:lnTo>
                <a:lnTo>
                  <a:pt x="345439" y="12192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86203" y="16007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739074" y="1635255"/>
            <a:ext cx="140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920900" y="1710477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4932" y="12192"/>
                </a:moveTo>
                <a:lnTo>
                  <a:pt x="326136" y="12192"/>
                </a:lnTo>
                <a:lnTo>
                  <a:pt x="326136" y="24384"/>
                </a:lnTo>
                <a:lnTo>
                  <a:pt x="319492" y="24415"/>
                </a:lnTo>
                <a:lnTo>
                  <a:pt x="320039" y="38100"/>
                </a:lnTo>
                <a:lnTo>
                  <a:pt x="358139" y="18287"/>
                </a:lnTo>
                <a:lnTo>
                  <a:pt x="344932" y="12192"/>
                </a:lnTo>
                <a:close/>
              </a:path>
              <a:path w="358139" h="38100">
                <a:moveTo>
                  <a:pt x="319005" y="12225"/>
                </a:moveTo>
                <a:lnTo>
                  <a:pt x="0" y="13716"/>
                </a:lnTo>
                <a:lnTo>
                  <a:pt x="0" y="25908"/>
                </a:lnTo>
                <a:lnTo>
                  <a:pt x="319492" y="24415"/>
                </a:lnTo>
                <a:lnTo>
                  <a:pt x="319005" y="12225"/>
                </a:lnTo>
                <a:close/>
              </a:path>
              <a:path w="358139" h="38100">
                <a:moveTo>
                  <a:pt x="326136" y="12192"/>
                </a:moveTo>
                <a:lnTo>
                  <a:pt x="319005" y="12225"/>
                </a:lnTo>
                <a:lnTo>
                  <a:pt x="319492" y="24415"/>
                </a:lnTo>
                <a:lnTo>
                  <a:pt x="326136" y="24384"/>
                </a:lnTo>
                <a:lnTo>
                  <a:pt x="326136" y="12192"/>
                </a:lnTo>
                <a:close/>
              </a:path>
              <a:path w="358139" h="38100">
                <a:moveTo>
                  <a:pt x="318515" y="0"/>
                </a:moveTo>
                <a:lnTo>
                  <a:pt x="319005" y="12225"/>
                </a:lnTo>
                <a:lnTo>
                  <a:pt x="344932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279039" y="1605321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4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313545" y="1639827"/>
            <a:ext cx="177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1/x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4216" y="1050153"/>
            <a:ext cx="368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" baseline="-23000" dirty="0">
                <a:latin typeface="Calibri" panose="020F0502020204030204"/>
                <a:cs typeface="Calibri" panose="020F0502020204030204"/>
              </a:rPr>
              <a:t>x0</a:t>
            </a:r>
            <a:r>
              <a:rPr sz="1800" spc="352" baseline="-23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5740" y="765165"/>
            <a:ext cx="369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w0</a:t>
            </a:r>
            <a:r>
              <a:rPr sz="1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aseline="35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800" baseline="35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96728" y="1713093"/>
            <a:ext cx="343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7" baseline="-30000" dirty="0">
                <a:latin typeface="Calibri" panose="020F0502020204030204"/>
                <a:cs typeface="Calibri" panose="020F0502020204030204"/>
              </a:rPr>
              <a:t>x1</a:t>
            </a:r>
            <a:r>
              <a:rPr sz="1800" spc="202" baseline="-30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76916" y="1365621"/>
            <a:ext cx="352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7" baseline="-35000" dirty="0">
                <a:latin typeface="Calibri" panose="020F0502020204030204"/>
                <a:cs typeface="Calibri" panose="020F0502020204030204"/>
              </a:rPr>
              <a:t>w1</a:t>
            </a:r>
            <a:r>
              <a:rPr sz="1800" spc="-165" baseline="-35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320448" y="112025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803300" y="1528689"/>
            <a:ext cx="8489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785" algn="l"/>
              </a:tabLst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	</a:t>
            </a:r>
            <a:r>
              <a:rPr sz="1800" baseline="2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0.14</a:t>
            </a:r>
            <a:endParaRPr sz="18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548788" y="1715049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6416" y="13715"/>
                </a:moveTo>
                <a:lnTo>
                  <a:pt x="326136" y="13715"/>
                </a:lnTo>
                <a:lnTo>
                  <a:pt x="326136" y="25907"/>
                </a:lnTo>
                <a:lnTo>
                  <a:pt x="320039" y="25936"/>
                </a:lnTo>
                <a:lnTo>
                  <a:pt x="320039" y="38100"/>
                </a:lnTo>
                <a:lnTo>
                  <a:pt x="358139" y="19812"/>
                </a:lnTo>
                <a:lnTo>
                  <a:pt x="346416" y="13715"/>
                </a:lnTo>
                <a:close/>
              </a:path>
              <a:path w="358139" h="38100">
                <a:moveTo>
                  <a:pt x="320039" y="13715"/>
                </a:moveTo>
                <a:lnTo>
                  <a:pt x="0" y="13715"/>
                </a:lnTo>
                <a:lnTo>
                  <a:pt x="0" y="27431"/>
                </a:lnTo>
                <a:lnTo>
                  <a:pt x="320039" y="25936"/>
                </a:lnTo>
                <a:lnTo>
                  <a:pt x="320039" y="13715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25936"/>
                </a:lnTo>
                <a:lnTo>
                  <a:pt x="326136" y="25907"/>
                </a:lnTo>
                <a:lnTo>
                  <a:pt x="326136" y="13715"/>
                </a:lnTo>
                <a:lnTo>
                  <a:pt x="346416" y="13715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537611" y="1490589"/>
            <a:ext cx="321945" cy="4343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0.88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1.00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958491" y="1528689"/>
            <a:ext cx="343535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title"/>
          </p:nvPr>
        </p:nvSpPr>
        <p:spPr>
          <a:xfrm>
            <a:off x="2069064" y="131178"/>
            <a:ext cx="1709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反向传播示例2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17479" y="1375197"/>
            <a:ext cx="1396365" cy="708660"/>
          </a:xfrm>
          <a:custGeom>
            <a:avLst/>
            <a:gdLst/>
            <a:ahLst/>
            <a:cxnLst/>
            <a:rect l="l" t="t" r="r" b="b"/>
            <a:pathLst>
              <a:path w="1396364" h="708660">
                <a:moveTo>
                  <a:pt x="0" y="0"/>
                </a:moveTo>
                <a:lnTo>
                  <a:pt x="1395983" y="0"/>
                </a:lnTo>
                <a:lnTo>
                  <a:pt x="1395983" y="708659"/>
                </a:lnTo>
                <a:lnTo>
                  <a:pt x="0" y="708659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17479" y="1375197"/>
            <a:ext cx="1396365" cy="708660"/>
          </a:xfrm>
          <a:custGeom>
            <a:avLst/>
            <a:gdLst/>
            <a:ahLst/>
            <a:cxnLst/>
            <a:rect l="l" t="t" r="r" b="b"/>
            <a:pathLst>
              <a:path w="1396364" h="708660">
                <a:moveTo>
                  <a:pt x="0" y="0"/>
                </a:moveTo>
                <a:lnTo>
                  <a:pt x="1395983" y="0"/>
                </a:lnTo>
                <a:lnTo>
                  <a:pt x="1395983" y="708659"/>
                </a:lnTo>
                <a:lnTo>
                  <a:pt x="0" y="708659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3743864" y="1703949"/>
            <a:ext cx="943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775" algn="l"/>
              </a:tabLst>
            </a:pPr>
            <a:r>
              <a:rPr sz="1800" baseline="2000" dirty="0">
                <a:latin typeface="Calibri" panose="020F0502020204030204"/>
                <a:cs typeface="Calibri" panose="020F0502020204030204"/>
              </a:rPr>
              <a:t>-0.10	</a:t>
            </a: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161695" y="1492113"/>
            <a:ext cx="295910" cy="4159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232056" y="1309233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56596" y="2208393"/>
            <a:ext cx="4832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30000" dirty="0">
                <a:latin typeface="Calibri" panose="020F0502020204030204"/>
                <a:cs typeface="Calibri" panose="020F0502020204030204"/>
              </a:rPr>
              <a:t>w</a:t>
            </a:r>
            <a:r>
              <a:rPr sz="1800" spc="7" baseline="30000" dirty="0">
                <a:latin typeface="Calibri" panose="020F0502020204030204"/>
                <a:cs typeface="Calibri" panose="020F0502020204030204"/>
              </a:rPr>
              <a:t>2</a:t>
            </a: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282603" y="839841"/>
            <a:ext cx="455295" cy="4248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  <a:tabLst>
                <a:tab pos="441325" algn="l"/>
              </a:tabLst>
            </a:pP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spc="-170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-3	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3655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301400" y="1432677"/>
            <a:ext cx="283210" cy="4921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49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30301" y="876361"/>
            <a:ext cx="288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0.10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41053" y="1211564"/>
            <a:ext cx="288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0.30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38447" y="1548413"/>
            <a:ext cx="275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0.20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67414" y="1895886"/>
            <a:ext cx="275590" cy="327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070"/>
              </a:lnSpc>
              <a:spcBef>
                <a:spcPts val="95"/>
              </a:spcBef>
            </a:pPr>
            <a:r>
              <a:rPr sz="10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0.20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22860">
              <a:lnSpc>
                <a:spcPts val="1310"/>
              </a:lnSpc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4976" y="272193"/>
            <a:ext cx="358140" cy="142240"/>
          </a:xfrm>
          <a:custGeom>
            <a:avLst/>
            <a:gdLst/>
            <a:ahLst/>
            <a:cxnLst/>
            <a:rect l="l" t="t" r="r" b="b"/>
            <a:pathLst>
              <a:path w="358139" h="142240">
                <a:moveTo>
                  <a:pt x="313944" y="0"/>
                </a:moveTo>
                <a:lnTo>
                  <a:pt x="310896" y="6096"/>
                </a:lnTo>
                <a:lnTo>
                  <a:pt x="319444" y="9239"/>
                </a:lnTo>
                <a:lnTo>
                  <a:pt x="326707" y="14096"/>
                </a:lnTo>
                <a:lnTo>
                  <a:pt x="345376" y="58102"/>
                </a:lnTo>
                <a:lnTo>
                  <a:pt x="345948" y="70103"/>
                </a:lnTo>
                <a:lnTo>
                  <a:pt x="345376" y="82343"/>
                </a:lnTo>
                <a:lnTo>
                  <a:pt x="332541" y="121062"/>
                </a:lnTo>
                <a:lnTo>
                  <a:pt x="310896" y="135635"/>
                </a:lnTo>
                <a:lnTo>
                  <a:pt x="313944" y="141731"/>
                </a:lnTo>
                <a:lnTo>
                  <a:pt x="347472" y="117348"/>
                </a:lnTo>
                <a:lnTo>
                  <a:pt x="358139" y="71627"/>
                </a:lnTo>
                <a:lnTo>
                  <a:pt x="357544" y="58459"/>
                </a:lnTo>
                <a:lnTo>
                  <a:pt x="340304" y="16073"/>
                </a:lnTo>
                <a:lnTo>
                  <a:pt x="323683" y="4024"/>
                </a:lnTo>
                <a:lnTo>
                  <a:pt x="313944" y="0"/>
                </a:lnTo>
                <a:close/>
              </a:path>
              <a:path w="358139" h="142240">
                <a:moveTo>
                  <a:pt x="45720" y="0"/>
                </a:moveTo>
                <a:lnTo>
                  <a:pt x="12191" y="24383"/>
                </a:lnTo>
                <a:lnTo>
                  <a:pt x="0" y="71627"/>
                </a:lnTo>
                <a:lnTo>
                  <a:pt x="833" y="83915"/>
                </a:lnTo>
                <a:lnTo>
                  <a:pt x="18502" y="125658"/>
                </a:lnTo>
                <a:lnTo>
                  <a:pt x="45720" y="141731"/>
                </a:lnTo>
                <a:lnTo>
                  <a:pt x="47244" y="135635"/>
                </a:lnTo>
                <a:lnTo>
                  <a:pt x="38909" y="132492"/>
                </a:lnTo>
                <a:lnTo>
                  <a:pt x="32004" y="127634"/>
                </a:lnTo>
                <a:lnTo>
                  <a:pt x="14263" y="82343"/>
                </a:lnTo>
                <a:lnTo>
                  <a:pt x="13715" y="70103"/>
                </a:lnTo>
                <a:lnTo>
                  <a:pt x="14263" y="58102"/>
                </a:lnTo>
                <a:lnTo>
                  <a:pt x="26455" y="20669"/>
                </a:lnTo>
                <a:lnTo>
                  <a:pt x="47244" y="6096"/>
                </a:lnTo>
                <a:lnTo>
                  <a:pt x="4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23620" y="122841"/>
            <a:ext cx="2216150" cy="39941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2465" algn="ctr">
              <a:lnSpc>
                <a:spcPts val="1130"/>
              </a:lnSpc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1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78740">
              <a:lnSpc>
                <a:spcPts val="695"/>
              </a:lnSpc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200" i="1" spc="-10" dirty="0">
                <a:latin typeface="Cambria Math" panose="02040503050406030204"/>
                <a:cs typeface="Cambria Math" panose="02040503050406030204"/>
              </a:rPr>
              <a:t>w, 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200" i="1" spc="1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endParaRPr sz="1200">
              <a:latin typeface="Cambria Math" panose="02040503050406030204"/>
              <a:cs typeface="Cambria Math" panose="02040503050406030204"/>
            </a:endParaRPr>
          </a:p>
          <a:p>
            <a:pPr marL="664845" algn="ctr">
              <a:lnSpc>
                <a:spcPts val="960"/>
              </a:lnSpc>
            </a:pPr>
            <a:r>
              <a:rPr sz="1800" i="1" baseline="-16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800" i="1" spc="-5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112" baseline="-16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-(w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+w</a:t>
            </a:r>
            <a:r>
              <a:rPr sz="1050" i="1" spc="112" baseline="-1600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850" i="1" spc="75" dirty="0">
                <a:latin typeface="Cambria Math" panose="02040503050406030204"/>
                <a:cs typeface="Cambria Math" panose="02040503050406030204"/>
              </a:rPr>
              <a:t>)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4952" y="343059"/>
            <a:ext cx="1385570" cy="0"/>
          </a:xfrm>
          <a:custGeom>
            <a:avLst/>
            <a:gdLst/>
            <a:ahLst/>
            <a:cxnLst/>
            <a:rect l="l" t="t" r="r" b="b"/>
            <a:pathLst>
              <a:path w="1385570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0943" y="884841"/>
            <a:ext cx="355092" cy="3489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1799" y="1549305"/>
            <a:ext cx="356616" cy="348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5740" y="759441"/>
            <a:ext cx="211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 panose="020F0502020204030204"/>
                <a:cs typeface="Calibri" panose="020F0502020204030204"/>
              </a:rPr>
              <a:t>w</a:t>
            </a:r>
            <a:r>
              <a:rPr sz="1200" dirty="0">
                <a:latin typeface="Calibri" panose="020F0502020204030204"/>
                <a:cs typeface="Calibri" panose="020F0502020204030204"/>
              </a:rPr>
              <a:t>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2176" y="1710849"/>
            <a:ext cx="2214880" cy="530860"/>
          </a:xfrm>
          <a:custGeom>
            <a:avLst/>
            <a:gdLst/>
            <a:ahLst/>
            <a:cxnLst/>
            <a:rect l="l" t="t" r="r" b="b"/>
            <a:pathLst>
              <a:path w="2214880" h="530860">
                <a:moveTo>
                  <a:pt x="2176477" y="13557"/>
                </a:moveTo>
                <a:lnTo>
                  <a:pt x="0" y="518159"/>
                </a:lnTo>
                <a:lnTo>
                  <a:pt x="3048" y="530351"/>
                </a:lnTo>
                <a:lnTo>
                  <a:pt x="2179410" y="25776"/>
                </a:lnTo>
                <a:lnTo>
                  <a:pt x="2176477" y="13557"/>
                </a:lnTo>
                <a:close/>
              </a:path>
              <a:path w="2214880" h="530860">
                <a:moveTo>
                  <a:pt x="2212594" y="12192"/>
                </a:moveTo>
                <a:lnTo>
                  <a:pt x="2182368" y="12192"/>
                </a:lnTo>
                <a:lnTo>
                  <a:pt x="2185416" y="24383"/>
                </a:lnTo>
                <a:lnTo>
                  <a:pt x="2179410" y="25776"/>
                </a:lnTo>
                <a:lnTo>
                  <a:pt x="2182368" y="38100"/>
                </a:lnTo>
                <a:lnTo>
                  <a:pt x="2212594" y="12192"/>
                </a:lnTo>
                <a:close/>
              </a:path>
              <a:path w="2214880" h="530860">
                <a:moveTo>
                  <a:pt x="2182368" y="12192"/>
                </a:moveTo>
                <a:lnTo>
                  <a:pt x="2176477" y="13557"/>
                </a:lnTo>
                <a:lnTo>
                  <a:pt x="2179410" y="25776"/>
                </a:lnTo>
                <a:lnTo>
                  <a:pt x="2185416" y="24383"/>
                </a:lnTo>
                <a:lnTo>
                  <a:pt x="2182368" y="12192"/>
                </a:lnTo>
                <a:close/>
              </a:path>
              <a:path w="2214880" h="530860">
                <a:moveTo>
                  <a:pt x="2173224" y="0"/>
                </a:moveTo>
                <a:lnTo>
                  <a:pt x="2176477" y="13557"/>
                </a:lnTo>
                <a:lnTo>
                  <a:pt x="2182368" y="12192"/>
                </a:lnTo>
                <a:lnTo>
                  <a:pt x="2212594" y="12192"/>
                </a:lnTo>
                <a:lnTo>
                  <a:pt x="2214372" y="10668"/>
                </a:lnTo>
                <a:lnTo>
                  <a:pt x="2173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48415" y="924465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30165" y="959046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39272" y="1578261"/>
            <a:ext cx="246887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39272" y="1578261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5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664" y="9644"/>
                </a:lnTo>
                <a:lnTo>
                  <a:pt x="210883" y="36004"/>
                </a:lnTo>
                <a:lnTo>
                  <a:pt x="237243" y="75223"/>
                </a:lnTo>
                <a:lnTo>
                  <a:pt x="246887" y="123443"/>
                </a:lnTo>
                <a:lnTo>
                  <a:pt x="237243" y="171902"/>
                </a:lnTo>
                <a:lnTo>
                  <a:pt x="210883" y="211645"/>
                </a:lnTo>
                <a:lnTo>
                  <a:pt x="171664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21021" y="161284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*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6547" y="159654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4967"/>
                </a:moveTo>
                <a:lnTo>
                  <a:pt x="9882" y="76509"/>
                </a:lnTo>
                <a:lnTo>
                  <a:pt x="36766" y="36766"/>
                </a:lnTo>
                <a:lnTo>
                  <a:pt x="76509" y="9882"/>
                </a:lnTo>
                <a:lnTo>
                  <a:pt x="124967" y="0"/>
                </a:lnTo>
                <a:lnTo>
                  <a:pt x="173188" y="9882"/>
                </a:lnTo>
                <a:lnTo>
                  <a:pt x="212407" y="36766"/>
                </a:lnTo>
                <a:lnTo>
                  <a:pt x="238767" y="76509"/>
                </a:lnTo>
                <a:lnTo>
                  <a:pt x="248411" y="124967"/>
                </a:lnTo>
                <a:lnTo>
                  <a:pt x="238767" y="173188"/>
                </a:lnTo>
                <a:lnTo>
                  <a:pt x="212407" y="212407"/>
                </a:lnTo>
                <a:lnTo>
                  <a:pt x="173188" y="238767"/>
                </a:lnTo>
                <a:lnTo>
                  <a:pt x="124967" y="248411"/>
                </a:lnTo>
                <a:lnTo>
                  <a:pt x="76509" y="238767"/>
                </a:lnTo>
                <a:lnTo>
                  <a:pt x="36766" y="212407"/>
                </a:lnTo>
                <a:lnTo>
                  <a:pt x="9882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949821" y="163113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86159" y="170322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26595" y="1044861"/>
            <a:ext cx="245745" cy="292735"/>
          </a:xfrm>
          <a:custGeom>
            <a:avLst/>
            <a:gdLst/>
            <a:ahLst/>
            <a:cxnLst/>
            <a:rect l="l" t="t" r="r" b="b"/>
            <a:pathLst>
              <a:path w="245744" h="292734">
                <a:moveTo>
                  <a:pt x="215510" y="268027"/>
                </a:moveTo>
                <a:lnTo>
                  <a:pt x="205740" y="275844"/>
                </a:lnTo>
                <a:lnTo>
                  <a:pt x="245364" y="292608"/>
                </a:lnTo>
                <a:lnTo>
                  <a:pt x="240961" y="272796"/>
                </a:lnTo>
                <a:lnTo>
                  <a:pt x="219456" y="272796"/>
                </a:lnTo>
                <a:lnTo>
                  <a:pt x="215510" y="268027"/>
                </a:lnTo>
                <a:close/>
              </a:path>
              <a:path w="245744" h="292734">
                <a:moveTo>
                  <a:pt x="226453" y="259273"/>
                </a:moveTo>
                <a:lnTo>
                  <a:pt x="215510" y="268027"/>
                </a:lnTo>
                <a:lnTo>
                  <a:pt x="219456" y="272796"/>
                </a:lnTo>
                <a:lnTo>
                  <a:pt x="230124" y="263652"/>
                </a:lnTo>
                <a:lnTo>
                  <a:pt x="226453" y="259273"/>
                </a:lnTo>
                <a:close/>
              </a:path>
              <a:path w="245744" h="292734">
                <a:moveTo>
                  <a:pt x="236220" y="251460"/>
                </a:moveTo>
                <a:lnTo>
                  <a:pt x="226453" y="259273"/>
                </a:lnTo>
                <a:lnTo>
                  <a:pt x="230124" y="263652"/>
                </a:lnTo>
                <a:lnTo>
                  <a:pt x="219456" y="272796"/>
                </a:lnTo>
                <a:lnTo>
                  <a:pt x="240961" y="272796"/>
                </a:lnTo>
                <a:lnTo>
                  <a:pt x="236220" y="251460"/>
                </a:lnTo>
                <a:close/>
              </a:path>
              <a:path w="245744" h="292734">
                <a:moveTo>
                  <a:pt x="9143" y="0"/>
                </a:moveTo>
                <a:lnTo>
                  <a:pt x="0" y="7620"/>
                </a:lnTo>
                <a:lnTo>
                  <a:pt x="215510" y="268027"/>
                </a:lnTo>
                <a:lnTo>
                  <a:pt x="226453" y="2592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11356" y="1337469"/>
            <a:ext cx="260985" cy="368935"/>
          </a:xfrm>
          <a:custGeom>
            <a:avLst/>
            <a:gdLst/>
            <a:ahLst/>
            <a:cxnLst/>
            <a:rect l="l" t="t" r="r" b="b"/>
            <a:pathLst>
              <a:path w="260985" h="368935">
                <a:moveTo>
                  <a:pt x="234076" y="28078"/>
                </a:moveTo>
                <a:lnTo>
                  <a:pt x="0" y="361187"/>
                </a:lnTo>
                <a:lnTo>
                  <a:pt x="9143" y="368807"/>
                </a:lnTo>
                <a:lnTo>
                  <a:pt x="243730" y="34973"/>
                </a:lnTo>
                <a:lnTo>
                  <a:pt x="234076" y="28078"/>
                </a:lnTo>
                <a:close/>
              </a:path>
              <a:path w="260985" h="368935">
                <a:moveTo>
                  <a:pt x="257338" y="22859"/>
                </a:moveTo>
                <a:lnTo>
                  <a:pt x="237744" y="22859"/>
                </a:lnTo>
                <a:lnTo>
                  <a:pt x="246887" y="30479"/>
                </a:lnTo>
                <a:lnTo>
                  <a:pt x="243730" y="34973"/>
                </a:lnTo>
                <a:lnTo>
                  <a:pt x="254507" y="42672"/>
                </a:lnTo>
                <a:lnTo>
                  <a:pt x="257338" y="22859"/>
                </a:lnTo>
                <a:close/>
              </a:path>
              <a:path w="260985" h="368935">
                <a:moveTo>
                  <a:pt x="237744" y="22859"/>
                </a:moveTo>
                <a:lnTo>
                  <a:pt x="234076" y="28078"/>
                </a:lnTo>
                <a:lnTo>
                  <a:pt x="243730" y="34973"/>
                </a:lnTo>
                <a:lnTo>
                  <a:pt x="246887" y="30479"/>
                </a:lnTo>
                <a:lnTo>
                  <a:pt x="237744" y="22859"/>
                </a:lnTo>
                <a:close/>
              </a:path>
              <a:path w="260985" h="368935">
                <a:moveTo>
                  <a:pt x="260604" y="0"/>
                </a:moveTo>
                <a:lnTo>
                  <a:pt x="222504" y="19811"/>
                </a:lnTo>
                <a:lnTo>
                  <a:pt x="234076" y="28078"/>
                </a:lnTo>
                <a:lnTo>
                  <a:pt x="237744" y="22859"/>
                </a:lnTo>
                <a:lnTo>
                  <a:pt x="257338" y="22859"/>
                </a:lnTo>
                <a:lnTo>
                  <a:pt x="260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71959" y="1214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19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53709" y="124856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20372" y="1337469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58700" y="1334421"/>
            <a:ext cx="307975" cy="387350"/>
          </a:xfrm>
          <a:custGeom>
            <a:avLst/>
            <a:gdLst/>
            <a:ahLst/>
            <a:cxnLst/>
            <a:rect l="l" t="t" r="r" b="b"/>
            <a:pathLst>
              <a:path w="307975" h="387350">
                <a:moveTo>
                  <a:pt x="279674" y="360971"/>
                </a:moveTo>
                <a:lnTo>
                  <a:pt x="269748" y="368807"/>
                </a:lnTo>
                <a:lnTo>
                  <a:pt x="307848" y="387096"/>
                </a:lnTo>
                <a:lnTo>
                  <a:pt x="303106" y="365759"/>
                </a:lnTo>
                <a:lnTo>
                  <a:pt x="283463" y="365759"/>
                </a:lnTo>
                <a:lnTo>
                  <a:pt x="279674" y="360971"/>
                </a:lnTo>
                <a:close/>
              </a:path>
              <a:path w="307975" h="387350">
                <a:moveTo>
                  <a:pt x="289025" y="353589"/>
                </a:moveTo>
                <a:lnTo>
                  <a:pt x="279674" y="360971"/>
                </a:lnTo>
                <a:lnTo>
                  <a:pt x="283463" y="365759"/>
                </a:lnTo>
                <a:lnTo>
                  <a:pt x="292608" y="358139"/>
                </a:lnTo>
                <a:lnTo>
                  <a:pt x="289025" y="353589"/>
                </a:lnTo>
                <a:close/>
              </a:path>
              <a:path w="307975" h="387350">
                <a:moveTo>
                  <a:pt x="298703" y="345948"/>
                </a:moveTo>
                <a:lnTo>
                  <a:pt x="289025" y="353589"/>
                </a:lnTo>
                <a:lnTo>
                  <a:pt x="292608" y="358139"/>
                </a:lnTo>
                <a:lnTo>
                  <a:pt x="283463" y="365759"/>
                </a:lnTo>
                <a:lnTo>
                  <a:pt x="303106" y="365759"/>
                </a:lnTo>
                <a:lnTo>
                  <a:pt x="298703" y="345948"/>
                </a:lnTo>
                <a:close/>
              </a:path>
              <a:path w="307975" h="387350">
                <a:moveTo>
                  <a:pt x="10667" y="0"/>
                </a:moveTo>
                <a:lnTo>
                  <a:pt x="0" y="7620"/>
                </a:lnTo>
                <a:lnTo>
                  <a:pt x="279674" y="360971"/>
                </a:lnTo>
                <a:lnTo>
                  <a:pt x="289025" y="353589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14960" y="1701705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71576" y="1598073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882" y="75223"/>
                </a:lnTo>
                <a:lnTo>
                  <a:pt x="36766" y="36004"/>
                </a:lnTo>
                <a:lnTo>
                  <a:pt x="76509" y="9644"/>
                </a:lnTo>
                <a:lnTo>
                  <a:pt x="124967" y="0"/>
                </a:lnTo>
                <a:lnTo>
                  <a:pt x="173188" y="9644"/>
                </a:lnTo>
                <a:lnTo>
                  <a:pt x="212407" y="36004"/>
                </a:lnTo>
                <a:lnTo>
                  <a:pt x="238767" y="75223"/>
                </a:lnTo>
                <a:lnTo>
                  <a:pt x="248411" y="123443"/>
                </a:lnTo>
                <a:lnTo>
                  <a:pt x="238767" y="171664"/>
                </a:lnTo>
                <a:lnTo>
                  <a:pt x="212407" y="210883"/>
                </a:lnTo>
                <a:lnTo>
                  <a:pt x="173188" y="237243"/>
                </a:lnTo>
                <a:lnTo>
                  <a:pt x="124967" y="246887"/>
                </a:lnTo>
                <a:lnTo>
                  <a:pt x="76509" y="237243"/>
                </a:lnTo>
                <a:lnTo>
                  <a:pt x="36766" y="210883"/>
                </a:lnTo>
                <a:lnTo>
                  <a:pt x="9882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20306" y="1632617"/>
            <a:ext cx="1625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*-</a:t>
            </a: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19988" y="1700181"/>
            <a:ext cx="356870" cy="38100"/>
          </a:xfrm>
          <a:custGeom>
            <a:avLst/>
            <a:gdLst/>
            <a:ahLst/>
            <a:cxnLst/>
            <a:rect l="l" t="t" r="r" b="b"/>
            <a:pathLst>
              <a:path w="356870" h="38100">
                <a:moveTo>
                  <a:pt x="343915" y="12192"/>
                </a:moveTo>
                <a:lnTo>
                  <a:pt x="324612" y="12192"/>
                </a:lnTo>
                <a:lnTo>
                  <a:pt x="324612" y="24384"/>
                </a:lnTo>
                <a:lnTo>
                  <a:pt x="318515" y="24412"/>
                </a:lnTo>
                <a:lnTo>
                  <a:pt x="318515" y="38100"/>
                </a:lnTo>
                <a:lnTo>
                  <a:pt x="356615" y="18288"/>
                </a:lnTo>
                <a:lnTo>
                  <a:pt x="343915" y="12192"/>
                </a:lnTo>
                <a:close/>
              </a:path>
              <a:path w="356870" h="38100">
                <a:moveTo>
                  <a:pt x="318515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18515" y="24412"/>
                </a:lnTo>
                <a:lnTo>
                  <a:pt x="318515" y="12220"/>
                </a:lnTo>
                <a:close/>
              </a:path>
              <a:path w="356870" h="38100">
                <a:moveTo>
                  <a:pt x="324612" y="12192"/>
                </a:moveTo>
                <a:lnTo>
                  <a:pt x="318515" y="12220"/>
                </a:lnTo>
                <a:lnTo>
                  <a:pt x="318515" y="24412"/>
                </a:lnTo>
                <a:lnTo>
                  <a:pt x="324612" y="24384"/>
                </a:lnTo>
                <a:lnTo>
                  <a:pt x="324612" y="12192"/>
                </a:lnTo>
                <a:close/>
              </a:path>
              <a:path w="356870" h="38100">
                <a:moveTo>
                  <a:pt x="318515" y="0"/>
                </a:moveTo>
                <a:lnTo>
                  <a:pt x="318515" y="12220"/>
                </a:lnTo>
                <a:lnTo>
                  <a:pt x="343915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76603" y="1596549"/>
            <a:ext cx="248920" cy="247015"/>
          </a:xfrm>
          <a:custGeom>
            <a:avLst/>
            <a:gdLst/>
            <a:ahLst/>
            <a:cxnLst/>
            <a:rect l="l" t="t" r="r" b="b"/>
            <a:pathLst>
              <a:path w="248920" h="247014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664"/>
                </a:lnTo>
                <a:lnTo>
                  <a:pt x="211645" y="210883"/>
                </a:lnTo>
                <a:lnTo>
                  <a:pt x="171902" y="237243"/>
                </a:lnTo>
                <a:lnTo>
                  <a:pt x="123443" y="246887"/>
                </a:lnTo>
                <a:lnTo>
                  <a:pt x="75223" y="237243"/>
                </a:lnTo>
                <a:lnTo>
                  <a:pt x="36004" y="210883"/>
                </a:lnTo>
                <a:lnTo>
                  <a:pt x="9644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117752" y="1631131"/>
            <a:ext cx="177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xp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28064" y="1698657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26136" y="12192"/>
                </a:moveTo>
                <a:lnTo>
                  <a:pt x="320039" y="12220"/>
                </a:lnTo>
                <a:lnTo>
                  <a:pt x="320039" y="38100"/>
                </a:lnTo>
                <a:lnTo>
                  <a:pt x="343486" y="25908"/>
                </a:lnTo>
                <a:lnTo>
                  <a:pt x="326136" y="25908"/>
                </a:lnTo>
                <a:lnTo>
                  <a:pt x="326136" y="12192"/>
                </a:lnTo>
                <a:close/>
              </a:path>
              <a:path w="358139" h="38100">
                <a:moveTo>
                  <a:pt x="320039" y="12220"/>
                </a:moveTo>
                <a:lnTo>
                  <a:pt x="0" y="13716"/>
                </a:lnTo>
                <a:lnTo>
                  <a:pt x="0" y="25908"/>
                </a:lnTo>
                <a:lnTo>
                  <a:pt x="320039" y="25908"/>
                </a:lnTo>
                <a:lnTo>
                  <a:pt x="320039" y="12220"/>
                </a:lnTo>
                <a:close/>
              </a:path>
              <a:path w="358139" h="38100">
                <a:moveTo>
                  <a:pt x="345439" y="12192"/>
                </a:moveTo>
                <a:lnTo>
                  <a:pt x="326136" y="12192"/>
                </a:lnTo>
                <a:lnTo>
                  <a:pt x="326136" y="25908"/>
                </a:lnTo>
                <a:lnTo>
                  <a:pt x="343486" y="25908"/>
                </a:lnTo>
                <a:lnTo>
                  <a:pt x="358139" y="18288"/>
                </a:lnTo>
                <a:lnTo>
                  <a:pt x="345439" y="12192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12220"/>
                </a:lnTo>
                <a:lnTo>
                  <a:pt x="345439" y="12192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86203" y="15950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0" y="123443"/>
                </a:moveTo>
                <a:lnTo>
                  <a:pt x="9644" y="75223"/>
                </a:lnTo>
                <a:lnTo>
                  <a:pt x="36004" y="36004"/>
                </a:lnTo>
                <a:lnTo>
                  <a:pt x="75223" y="9644"/>
                </a:lnTo>
                <a:lnTo>
                  <a:pt x="123443" y="0"/>
                </a:lnTo>
                <a:lnTo>
                  <a:pt x="171902" y="9644"/>
                </a:lnTo>
                <a:lnTo>
                  <a:pt x="211645" y="36004"/>
                </a:lnTo>
                <a:lnTo>
                  <a:pt x="238529" y="75223"/>
                </a:lnTo>
                <a:lnTo>
                  <a:pt x="248411" y="123443"/>
                </a:lnTo>
                <a:lnTo>
                  <a:pt x="238529" y="171902"/>
                </a:lnTo>
                <a:lnTo>
                  <a:pt x="211645" y="211645"/>
                </a:lnTo>
                <a:lnTo>
                  <a:pt x="171902" y="238529"/>
                </a:lnTo>
                <a:lnTo>
                  <a:pt x="123443" y="248411"/>
                </a:lnTo>
                <a:lnTo>
                  <a:pt x="75223" y="238529"/>
                </a:lnTo>
                <a:lnTo>
                  <a:pt x="36004" y="211645"/>
                </a:lnTo>
                <a:lnTo>
                  <a:pt x="9644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751774" y="1629530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+1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20900" y="1704753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4931" y="12192"/>
                </a:moveTo>
                <a:lnTo>
                  <a:pt x="326136" y="12192"/>
                </a:lnTo>
                <a:lnTo>
                  <a:pt x="326136" y="24383"/>
                </a:lnTo>
                <a:lnTo>
                  <a:pt x="319492" y="24415"/>
                </a:lnTo>
                <a:lnTo>
                  <a:pt x="320039" y="38100"/>
                </a:lnTo>
                <a:lnTo>
                  <a:pt x="358139" y="18288"/>
                </a:lnTo>
                <a:lnTo>
                  <a:pt x="344931" y="12192"/>
                </a:lnTo>
                <a:close/>
              </a:path>
              <a:path w="358139" h="38100">
                <a:moveTo>
                  <a:pt x="319005" y="12225"/>
                </a:moveTo>
                <a:lnTo>
                  <a:pt x="0" y="13716"/>
                </a:lnTo>
                <a:lnTo>
                  <a:pt x="0" y="25907"/>
                </a:lnTo>
                <a:lnTo>
                  <a:pt x="319492" y="24415"/>
                </a:lnTo>
                <a:lnTo>
                  <a:pt x="319005" y="12225"/>
                </a:lnTo>
                <a:close/>
              </a:path>
              <a:path w="358139" h="38100">
                <a:moveTo>
                  <a:pt x="326136" y="12192"/>
                </a:moveTo>
                <a:lnTo>
                  <a:pt x="319005" y="12225"/>
                </a:lnTo>
                <a:lnTo>
                  <a:pt x="319492" y="24415"/>
                </a:lnTo>
                <a:lnTo>
                  <a:pt x="326136" y="24383"/>
                </a:lnTo>
                <a:lnTo>
                  <a:pt x="326136" y="12192"/>
                </a:lnTo>
                <a:close/>
              </a:path>
              <a:path w="358139" h="38100">
                <a:moveTo>
                  <a:pt x="318515" y="0"/>
                </a:moveTo>
                <a:lnTo>
                  <a:pt x="319005" y="12225"/>
                </a:lnTo>
                <a:lnTo>
                  <a:pt x="344931" y="12192"/>
                </a:lnTo>
                <a:lnTo>
                  <a:pt x="318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279039" y="1599597"/>
            <a:ext cx="247015" cy="248920"/>
          </a:xfrm>
          <a:custGeom>
            <a:avLst/>
            <a:gdLst/>
            <a:ahLst/>
            <a:cxnLst/>
            <a:rect l="l" t="t" r="r" b="b"/>
            <a:pathLst>
              <a:path w="247014" h="248919">
                <a:moveTo>
                  <a:pt x="0" y="124967"/>
                </a:moveTo>
                <a:lnTo>
                  <a:pt x="9644" y="76509"/>
                </a:lnTo>
                <a:lnTo>
                  <a:pt x="36004" y="36766"/>
                </a:lnTo>
                <a:lnTo>
                  <a:pt x="75223" y="9882"/>
                </a:lnTo>
                <a:lnTo>
                  <a:pt x="123443" y="0"/>
                </a:lnTo>
                <a:lnTo>
                  <a:pt x="171664" y="9882"/>
                </a:lnTo>
                <a:lnTo>
                  <a:pt x="210883" y="36766"/>
                </a:lnTo>
                <a:lnTo>
                  <a:pt x="237243" y="76509"/>
                </a:lnTo>
                <a:lnTo>
                  <a:pt x="246887" y="124967"/>
                </a:lnTo>
                <a:lnTo>
                  <a:pt x="237243" y="173188"/>
                </a:lnTo>
                <a:lnTo>
                  <a:pt x="210883" y="212407"/>
                </a:lnTo>
                <a:lnTo>
                  <a:pt x="171664" y="238767"/>
                </a:lnTo>
                <a:lnTo>
                  <a:pt x="123443" y="248411"/>
                </a:lnTo>
                <a:lnTo>
                  <a:pt x="75223" y="238767"/>
                </a:lnTo>
                <a:lnTo>
                  <a:pt x="36004" y="212407"/>
                </a:lnTo>
                <a:lnTo>
                  <a:pt x="9644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326245" y="1634103"/>
            <a:ext cx="1644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1/x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4216" y="1044429"/>
            <a:ext cx="368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" baseline="-23000" dirty="0">
                <a:latin typeface="Calibri" panose="020F0502020204030204"/>
                <a:cs typeface="Calibri" panose="020F0502020204030204"/>
              </a:rPr>
              <a:t>x0</a:t>
            </a:r>
            <a:r>
              <a:rPr sz="1800" spc="352" baseline="-23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2440" y="66647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4028" y="1707369"/>
            <a:ext cx="356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" baseline="-30000" dirty="0">
                <a:latin typeface="Calibri" panose="020F0502020204030204"/>
                <a:cs typeface="Calibri" panose="020F0502020204030204"/>
              </a:rPr>
              <a:t>x1</a:t>
            </a:r>
            <a:r>
              <a:rPr sz="1800" spc="202" baseline="-3000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9100" y="1359897"/>
            <a:ext cx="150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20448" y="11145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08939" y="149858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16000" y="1522965"/>
            <a:ext cx="8362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53085" algn="l"/>
              </a:tabLst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-2	</a:t>
            </a:r>
            <a:r>
              <a:rPr sz="1800" baseline="20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0.14</a:t>
            </a:r>
            <a:endParaRPr sz="18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548788" y="1709325"/>
            <a:ext cx="358140" cy="38100"/>
          </a:xfrm>
          <a:custGeom>
            <a:avLst/>
            <a:gdLst/>
            <a:ahLst/>
            <a:cxnLst/>
            <a:rect l="l" t="t" r="r" b="b"/>
            <a:pathLst>
              <a:path w="358139" h="38100">
                <a:moveTo>
                  <a:pt x="346416" y="13716"/>
                </a:moveTo>
                <a:lnTo>
                  <a:pt x="326136" y="13716"/>
                </a:lnTo>
                <a:lnTo>
                  <a:pt x="326136" y="25907"/>
                </a:lnTo>
                <a:lnTo>
                  <a:pt x="320039" y="25936"/>
                </a:lnTo>
                <a:lnTo>
                  <a:pt x="320039" y="38100"/>
                </a:lnTo>
                <a:lnTo>
                  <a:pt x="358139" y="19811"/>
                </a:lnTo>
                <a:lnTo>
                  <a:pt x="346416" y="13716"/>
                </a:lnTo>
                <a:close/>
              </a:path>
              <a:path w="358139" h="38100">
                <a:moveTo>
                  <a:pt x="320039" y="13716"/>
                </a:moveTo>
                <a:lnTo>
                  <a:pt x="0" y="13716"/>
                </a:lnTo>
                <a:lnTo>
                  <a:pt x="0" y="27431"/>
                </a:lnTo>
                <a:lnTo>
                  <a:pt x="320039" y="25936"/>
                </a:lnTo>
                <a:lnTo>
                  <a:pt x="320039" y="13716"/>
                </a:lnTo>
                <a:close/>
              </a:path>
              <a:path w="358139" h="38100">
                <a:moveTo>
                  <a:pt x="320039" y="0"/>
                </a:moveTo>
                <a:lnTo>
                  <a:pt x="320039" y="25936"/>
                </a:lnTo>
                <a:lnTo>
                  <a:pt x="326136" y="25907"/>
                </a:lnTo>
                <a:lnTo>
                  <a:pt x="326136" y="13716"/>
                </a:lnTo>
                <a:lnTo>
                  <a:pt x="346416" y="13716"/>
                </a:lnTo>
                <a:lnTo>
                  <a:pt x="320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328324" y="14772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37611" y="1484864"/>
            <a:ext cx="321945" cy="4343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0.88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1.00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971191" y="1522965"/>
            <a:ext cx="330835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1.14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2020198" y="125316"/>
            <a:ext cx="1807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计算图的颗粒度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442620" y="1311561"/>
            <a:ext cx="2083435" cy="708660"/>
          </a:xfrm>
          <a:custGeom>
            <a:avLst/>
            <a:gdLst/>
            <a:ahLst/>
            <a:cxnLst/>
            <a:rect l="l" t="t" r="r" b="b"/>
            <a:pathLst>
              <a:path w="2083435" h="708660">
                <a:moveTo>
                  <a:pt x="0" y="0"/>
                </a:moveTo>
                <a:lnTo>
                  <a:pt x="2083307" y="0"/>
                </a:lnTo>
                <a:lnTo>
                  <a:pt x="2083307" y="708659"/>
                </a:lnTo>
                <a:lnTo>
                  <a:pt x="0" y="708659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42620" y="1311561"/>
            <a:ext cx="2083435" cy="708660"/>
          </a:xfrm>
          <a:custGeom>
            <a:avLst/>
            <a:gdLst/>
            <a:ahLst/>
            <a:cxnLst/>
            <a:rect l="l" t="t" r="r" b="b"/>
            <a:pathLst>
              <a:path w="2083435" h="708660">
                <a:moveTo>
                  <a:pt x="0" y="0"/>
                </a:moveTo>
                <a:lnTo>
                  <a:pt x="2083307" y="0"/>
                </a:lnTo>
                <a:lnTo>
                  <a:pt x="2083307" y="708659"/>
                </a:lnTo>
                <a:lnTo>
                  <a:pt x="0" y="708659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756564" y="1698225"/>
            <a:ext cx="930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00075" algn="l"/>
              </a:tabLst>
            </a:pPr>
            <a:r>
              <a:rPr sz="1800" baseline="2000" dirty="0">
                <a:latin typeface="Calibri" panose="020F0502020204030204"/>
                <a:cs typeface="Calibri" panose="020F0502020204030204"/>
              </a:rPr>
              <a:t>-0.10	</a:t>
            </a:r>
            <a:r>
              <a:rPr sz="1200" dirty="0">
                <a:latin typeface="Calibri" panose="020F0502020204030204"/>
                <a:cs typeface="Calibri" panose="020F0502020204030204"/>
              </a:rPr>
              <a:t>-0.77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61695" y="1693653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232056" y="1303509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56596" y="1998453"/>
            <a:ext cx="483234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0980">
              <a:lnSpc>
                <a:spcPct val="106000"/>
              </a:lnSpc>
              <a:spcBef>
                <a:spcPts val="100"/>
              </a:spcBef>
            </a:pPr>
            <a:r>
              <a:rPr sz="1200" dirty="0">
                <a:solidFill>
                  <a:srgbClr val="31859C"/>
                </a:solidFill>
                <a:latin typeface="Calibri" panose="020F0502020204030204"/>
                <a:cs typeface="Calibri" panose="020F0502020204030204"/>
              </a:rPr>
              <a:t>1  </a:t>
            </a:r>
            <a:r>
              <a:rPr sz="1800" baseline="30000" dirty="0">
                <a:latin typeface="Calibri" panose="020F0502020204030204"/>
                <a:cs typeface="Calibri" panose="020F0502020204030204"/>
              </a:rPr>
              <a:t>w</a:t>
            </a:r>
            <a:r>
              <a:rPr sz="1800" spc="7" baseline="30000" dirty="0">
                <a:latin typeface="Calibri" panose="020F0502020204030204"/>
                <a:cs typeface="Calibri" panose="020F0502020204030204"/>
              </a:rPr>
              <a:t>2</a:t>
            </a: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82603" y="834117"/>
            <a:ext cx="455295" cy="4248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  <a:tabLst>
                <a:tab pos="441325" algn="l"/>
              </a:tabLst>
            </a:pP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spc="-170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u="sng" dirty="0">
                <a:solidFill>
                  <a:srgbClr val="31859C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-3	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3655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88700" y="1710417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30301" y="870641"/>
            <a:ext cx="288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0.10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41053" y="1205845"/>
            <a:ext cx="288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0.30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4216" y="1516785"/>
            <a:ext cx="449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2" baseline="23000" dirty="0">
                <a:latin typeface="Calibri" panose="020F0502020204030204"/>
                <a:cs typeface="Calibri" panose="020F0502020204030204"/>
              </a:rPr>
              <a:t>w1</a:t>
            </a:r>
            <a:r>
              <a:rPr sz="1000" spc="-35" dirty="0">
                <a:latin typeface="Calibri" panose="020F0502020204030204"/>
                <a:cs typeface="Calibri" panose="020F0502020204030204"/>
              </a:rPr>
              <a:t>-0.20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54714" y="1890166"/>
            <a:ext cx="288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0.20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67420" y="2092807"/>
            <a:ext cx="409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a(x)</a:t>
            </a:r>
            <a:r>
              <a:rPr sz="10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=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263324" y="1996800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088006" y="2178188"/>
            <a:ext cx="43878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+</a:t>
            </a:r>
            <a:r>
              <a:rPr sz="1000" i="1" spc="-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1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1050" i="1" spc="225" baseline="2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-x</a:t>
            </a:r>
            <a:endParaRPr sz="1050" baseline="2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100732" y="2197767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>
                <a:moveTo>
                  <a:pt x="0" y="0"/>
                </a:moveTo>
                <a:lnTo>
                  <a:pt x="422147" y="0"/>
                </a:lnTo>
              </a:path>
            </a:pathLst>
          </a:custGeom>
          <a:ln w="762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303997" y="2432691"/>
            <a:ext cx="3536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60" dirty="0">
                <a:latin typeface="Cambria Math" panose="02040503050406030204"/>
                <a:cs typeface="Cambria Math" panose="02040503050406030204"/>
              </a:rPr>
              <a:t>d</a:t>
            </a:r>
            <a:r>
              <a:rPr sz="1000" i="1" spc="75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000" i="1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000" i="1" spc="7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500" i="1" spc="-7" baseline="3000" dirty="0">
                <a:latin typeface="Cambria Math" panose="02040503050406030204"/>
                <a:cs typeface="Cambria Math" panose="02040503050406030204"/>
              </a:rPr>
              <a:t>)</a:t>
            </a:r>
            <a:endParaRPr sz="1500" baseline="3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95325" y="2614080"/>
            <a:ext cx="166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30" dirty="0">
                <a:latin typeface="Cambria Math" panose="02040503050406030204"/>
                <a:cs typeface="Cambria Math" panose="02040503050406030204"/>
              </a:rPr>
              <a:t>dx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318164" y="2632107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>
                <a:moveTo>
                  <a:pt x="0" y="0"/>
                </a:moveTo>
                <a:lnTo>
                  <a:pt x="327660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822607" y="2660301"/>
            <a:ext cx="504825" cy="117475"/>
          </a:xfrm>
          <a:custGeom>
            <a:avLst/>
            <a:gdLst/>
            <a:ahLst/>
            <a:cxnLst/>
            <a:rect l="l" t="t" r="r" b="b"/>
            <a:pathLst>
              <a:path w="504825" h="117475">
                <a:moveTo>
                  <a:pt x="466344" y="0"/>
                </a:moveTo>
                <a:lnTo>
                  <a:pt x="464819" y="4572"/>
                </a:lnTo>
                <a:lnTo>
                  <a:pt x="472011" y="7429"/>
                </a:lnTo>
                <a:lnTo>
                  <a:pt x="477774" y="11429"/>
                </a:lnTo>
                <a:lnTo>
                  <a:pt x="493228" y="47934"/>
                </a:lnTo>
                <a:lnTo>
                  <a:pt x="493775" y="57912"/>
                </a:lnTo>
                <a:lnTo>
                  <a:pt x="493228" y="67889"/>
                </a:lnTo>
                <a:lnTo>
                  <a:pt x="477774" y="105155"/>
                </a:lnTo>
                <a:lnTo>
                  <a:pt x="464819" y="112775"/>
                </a:lnTo>
                <a:lnTo>
                  <a:pt x="466344" y="117348"/>
                </a:lnTo>
                <a:lnTo>
                  <a:pt x="499300" y="87701"/>
                </a:lnTo>
                <a:lnTo>
                  <a:pt x="504444" y="57912"/>
                </a:lnTo>
                <a:lnTo>
                  <a:pt x="503872" y="47672"/>
                </a:lnTo>
                <a:lnTo>
                  <a:pt x="482536" y="7048"/>
                </a:lnTo>
                <a:lnTo>
                  <a:pt x="474940" y="2881"/>
                </a:lnTo>
                <a:lnTo>
                  <a:pt x="466344" y="0"/>
                </a:lnTo>
                <a:close/>
              </a:path>
              <a:path w="504825" h="117475">
                <a:moveTo>
                  <a:pt x="38100" y="0"/>
                </a:moveTo>
                <a:lnTo>
                  <a:pt x="5143" y="28336"/>
                </a:lnTo>
                <a:lnTo>
                  <a:pt x="0" y="57912"/>
                </a:lnTo>
                <a:lnTo>
                  <a:pt x="571" y="68794"/>
                </a:lnTo>
                <a:lnTo>
                  <a:pt x="21907" y="109537"/>
                </a:lnTo>
                <a:lnTo>
                  <a:pt x="38100" y="117348"/>
                </a:lnTo>
                <a:lnTo>
                  <a:pt x="39624" y="112775"/>
                </a:lnTo>
                <a:lnTo>
                  <a:pt x="32432" y="109680"/>
                </a:lnTo>
                <a:lnTo>
                  <a:pt x="26670" y="105155"/>
                </a:lnTo>
                <a:lnTo>
                  <a:pt x="11215" y="67889"/>
                </a:lnTo>
                <a:lnTo>
                  <a:pt x="10668" y="57912"/>
                </a:lnTo>
                <a:lnTo>
                  <a:pt x="11215" y="47934"/>
                </a:lnTo>
                <a:lnTo>
                  <a:pt x="26670" y="11430"/>
                </a:lnTo>
                <a:lnTo>
                  <a:pt x="39624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811939" y="2632107"/>
            <a:ext cx="586740" cy="0"/>
          </a:xfrm>
          <a:custGeom>
            <a:avLst/>
            <a:gdLst/>
            <a:ahLst/>
            <a:cxnLst/>
            <a:rect l="l" t="t" r="r" b="b"/>
            <a:pathLst>
              <a:path w="586739">
                <a:moveTo>
                  <a:pt x="0" y="0"/>
                </a:moveTo>
                <a:lnTo>
                  <a:pt x="586740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666650" y="2386954"/>
            <a:ext cx="873125" cy="366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60"/>
              </a:lnSpc>
              <a:spcBef>
                <a:spcPts val="95"/>
              </a:spcBef>
            </a:pPr>
            <a:r>
              <a:rPr sz="1500" i="1" spc="225" baseline="-19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150" dirty="0">
                <a:latin typeface="Cambria Math" panose="02040503050406030204"/>
                <a:cs typeface="Cambria Math" panose="02040503050406030204"/>
              </a:rPr>
              <a:t>-x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ts val="745"/>
              </a:lnSpc>
              <a:tabLst>
                <a:tab pos="752475" algn="l"/>
              </a:tabLst>
            </a:pPr>
            <a:r>
              <a:rPr sz="1000" i="1" spc="-5" dirty="0">
                <a:latin typeface="Cambria Math" panose="02040503050406030204"/>
                <a:cs typeface="Cambria Math" panose="02040503050406030204"/>
              </a:rPr>
              <a:t>=	=</a:t>
            </a:r>
            <a:endParaRPr sz="1000">
              <a:latin typeface="Cambria Math" panose="02040503050406030204"/>
              <a:cs typeface="Cambria Math" panose="02040503050406030204"/>
            </a:endParaRPr>
          </a:p>
          <a:p>
            <a:pPr marL="47625" algn="ctr">
              <a:lnSpc>
                <a:spcPts val="785"/>
              </a:lnSpc>
            </a:pPr>
            <a:r>
              <a:rPr sz="1500" i="1" spc="-7" baseline="-17000" dirty="0">
                <a:latin typeface="Cambria Math" panose="02040503050406030204"/>
                <a:cs typeface="Cambria Math" panose="02040503050406030204"/>
              </a:rPr>
              <a:t>1 + </a:t>
            </a:r>
            <a:r>
              <a:rPr sz="1500" i="1" spc="225" baseline="-17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150" dirty="0">
                <a:latin typeface="Cambria Math" panose="02040503050406030204"/>
                <a:cs typeface="Cambria Math" panose="02040503050406030204"/>
              </a:rPr>
              <a:t>-x</a:t>
            </a:r>
            <a:r>
              <a:rPr sz="700" i="1" spc="3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2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573939" y="2471325"/>
            <a:ext cx="769620" cy="323215"/>
          </a:xfrm>
          <a:custGeom>
            <a:avLst/>
            <a:gdLst/>
            <a:ahLst/>
            <a:cxnLst/>
            <a:rect l="l" t="t" r="r" b="b"/>
            <a:pathLst>
              <a:path w="769620" h="323214">
                <a:moveTo>
                  <a:pt x="713232" y="0"/>
                </a:moveTo>
                <a:lnTo>
                  <a:pt x="710184" y="4572"/>
                </a:lnTo>
                <a:lnTo>
                  <a:pt x="720804" y="17145"/>
                </a:lnTo>
                <a:lnTo>
                  <a:pt x="729996" y="32003"/>
                </a:lnTo>
                <a:lnTo>
                  <a:pt x="745236" y="68579"/>
                </a:lnTo>
                <a:lnTo>
                  <a:pt x="753427" y="112204"/>
                </a:lnTo>
                <a:lnTo>
                  <a:pt x="755904" y="161544"/>
                </a:lnTo>
                <a:lnTo>
                  <a:pt x="755308" y="185475"/>
                </a:lnTo>
                <a:lnTo>
                  <a:pt x="750117" y="231624"/>
                </a:lnTo>
                <a:lnTo>
                  <a:pt x="738044" y="273296"/>
                </a:lnTo>
                <a:lnTo>
                  <a:pt x="710184" y="318516"/>
                </a:lnTo>
                <a:lnTo>
                  <a:pt x="713232" y="323088"/>
                </a:lnTo>
                <a:lnTo>
                  <a:pt x="746021" y="277868"/>
                </a:lnTo>
                <a:lnTo>
                  <a:pt x="760618" y="234410"/>
                </a:lnTo>
                <a:lnTo>
                  <a:pt x="768524" y="186404"/>
                </a:lnTo>
                <a:lnTo>
                  <a:pt x="769620" y="161544"/>
                </a:lnTo>
                <a:lnTo>
                  <a:pt x="768524" y="134945"/>
                </a:lnTo>
                <a:lnTo>
                  <a:pt x="760618" y="86320"/>
                </a:lnTo>
                <a:lnTo>
                  <a:pt x="746021" y="44362"/>
                </a:lnTo>
                <a:lnTo>
                  <a:pt x="725876" y="11930"/>
                </a:lnTo>
                <a:lnTo>
                  <a:pt x="713232" y="0"/>
                </a:lnTo>
                <a:close/>
              </a:path>
              <a:path w="769620" h="323214">
                <a:moveTo>
                  <a:pt x="54863" y="0"/>
                </a:moveTo>
                <a:lnTo>
                  <a:pt x="22288" y="44362"/>
                </a:lnTo>
                <a:lnTo>
                  <a:pt x="7715" y="86320"/>
                </a:lnTo>
                <a:lnTo>
                  <a:pt x="857" y="134945"/>
                </a:lnTo>
                <a:lnTo>
                  <a:pt x="0" y="161544"/>
                </a:lnTo>
                <a:lnTo>
                  <a:pt x="857" y="186404"/>
                </a:lnTo>
                <a:lnTo>
                  <a:pt x="7715" y="234410"/>
                </a:lnTo>
                <a:lnTo>
                  <a:pt x="22288" y="277868"/>
                </a:lnTo>
                <a:lnTo>
                  <a:pt x="42862" y="310491"/>
                </a:lnTo>
                <a:lnTo>
                  <a:pt x="54863" y="323088"/>
                </a:lnTo>
                <a:lnTo>
                  <a:pt x="57912" y="318516"/>
                </a:lnTo>
                <a:lnTo>
                  <a:pt x="47315" y="305919"/>
                </a:lnTo>
                <a:lnTo>
                  <a:pt x="38290" y="290893"/>
                </a:lnTo>
                <a:lnTo>
                  <a:pt x="24384" y="252983"/>
                </a:lnTo>
                <a:lnTo>
                  <a:pt x="14859" y="208978"/>
                </a:lnTo>
                <a:lnTo>
                  <a:pt x="12192" y="161544"/>
                </a:lnTo>
                <a:lnTo>
                  <a:pt x="12811" y="136088"/>
                </a:lnTo>
                <a:lnTo>
                  <a:pt x="18621" y="89749"/>
                </a:lnTo>
                <a:lnTo>
                  <a:pt x="30694" y="49149"/>
                </a:lnTo>
                <a:lnTo>
                  <a:pt x="57912" y="4572"/>
                </a:lnTo>
                <a:lnTo>
                  <a:pt x="54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2622171" y="2432691"/>
            <a:ext cx="6705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Cambria Math" panose="02040503050406030204"/>
                <a:cs typeface="Cambria Math" panose="02040503050406030204"/>
              </a:rPr>
              <a:t>1 + </a:t>
            </a:r>
            <a:r>
              <a:rPr sz="1000" i="1" spc="1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050" i="1" spc="225" baseline="28000" dirty="0">
                <a:latin typeface="Cambria Math" panose="02040503050406030204"/>
                <a:cs typeface="Cambria Math" panose="02040503050406030204"/>
              </a:rPr>
              <a:t>-x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000" i="1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1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733484" y="2614080"/>
            <a:ext cx="440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000" i="1" spc="-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1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050" i="1" spc="225" baseline="24000" dirty="0">
                <a:latin typeface="Cambria Math" panose="02040503050406030204"/>
                <a:cs typeface="Cambria Math" panose="02040503050406030204"/>
              </a:rPr>
              <a:t>-x</a:t>
            </a:r>
            <a:endParaRPr sz="1050" baseline="2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636423" y="2632107"/>
            <a:ext cx="645160" cy="0"/>
          </a:xfrm>
          <a:custGeom>
            <a:avLst/>
            <a:gdLst/>
            <a:ahLst/>
            <a:cxnLst/>
            <a:rect l="l" t="t" r="r" b="b"/>
            <a:pathLst>
              <a:path w="645160">
                <a:moveTo>
                  <a:pt x="0" y="0"/>
                </a:moveTo>
                <a:lnTo>
                  <a:pt x="644651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386232" y="2471325"/>
            <a:ext cx="547370" cy="323215"/>
          </a:xfrm>
          <a:custGeom>
            <a:avLst/>
            <a:gdLst/>
            <a:ahLst/>
            <a:cxnLst/>
            <a:rect l="l" t="t" r="r" b="b"/>
            <a:pathLst>
              <a:path w="547370" h="323214">
                <a:moveTo>
                  <a:pt x="490727" y="0"/>
                </a:moveTo>
                <a:lnTo>
                  <a:pt x="487679" y="4572"/>
                </a:lnTo>
                <a:lnTo>
                  <a:pt x="498300" y="17145"/>
                </a:lnTo>
                <a:lnTo>
                  <a:pt x="507491" y="32003"/>
                </a:lnTo>
                <a:lnTo>
                  <a:pt x="522731" y="68579"/>
                </a:lnTo>
                <a:lnTo>
                  <a:pt x="530923" y="112204"/>
                </a:lnTo>
                <a:lnTo>
                  <a:pt x="533400" y="161544"/>
                </a:lnTo>
                <a:lnTo>
                  <a:pt x="532804" y="185475"/>
                </a:lnTo>
                <a:lnTo>
                  <a:pt x="527613" y="231624"/>
                </a:lnTo>
                <a:lnTo>
                  <a:pt x="515540" y="273296"/>
                </a:lnTo>
                <a:lnTo>
                  <a:pt x="487679" y="318516"/>
                </a:lnTo>
                <a:lnTo>
                  <a:pt x="490727" y="323088"/>
                </a:lnTo>
                <a:lnTo>
                  <a:pt x="523517" y="277868"/>
                </a:lnTo>
                <a:lnTo>
                  <a:pt x="538114" y="234410"/>
                </a:lnTo>
                <a:lnTo>
                  <a:pt x="546020" y="186404"/>
                </a:lnTo>
                <a:lnTo>
                  <a:pt x="547115" y="161544"/>
                </a:lnTo>
                <a:lnTo>
                  <a:pt x="546020" y="134945"/>
                </a:lnTo>
                <a:lnTo>
                  <a:pt x="538114" y="86320"/>
                </a:lnTo>
                <a:lnTo>
                  <a:pt x="523517" y="44362"/>
                </a:lnTo>
                <a:lnTo>
                  <a:pt x="503372" y="11930"/>
                </a:lnTo>
                <a:lnTo>
                  <a:pt x="490727" y="0"/>
                </a:lnTo>
                <a:close/>
              </a:path>
              <a:path w="547370" h="323214">
                <a:moveTo>
                  <a:pt x="54863" y="0"/>
                </a:moveTo>
                <a:lnTo>
                  <a:pt x="22288" y="44362"/>
                </a:lnTo>
                <a:lnTo>
                  <a:pt x="7715" y="86320"/>
                </a:lnTo>
                <a:lnTo>
                  <a:pt x="857" y="134945"/>
                </a:lnTo>
                <a:lnTo>
                  <a:pt x="0" y="161544"/>
                </a:lnTo>
                <a:lnTo>
                  <a:pt x="857" y="186404"/>
                </a:lnTo>
                <a:lnTo>
                  <a:pt x="7715" y="234410"/>
                </a:lnTo>
                <a:lnTo>
                  <a:pt x="22288" y="277868"/>
                </a:lnTo>
                <a:lnTo>
                  <a:pt x="42862" y="310491"/>
                </a:lnTo>
                <a:lnTo>
                  <a:pt x="54863" y="323088"/>
                </a:lnTo>
                <a:lnTo>
                  <a:pt x="57912" y="318516"/>
                </a:lnTo>
                <a:lnTo>
                  <a:pt x="47315" y="305919"/>
                </a:lnTo>
                <a:lnTo>
                  <a:pt x="38290" y="290893"/>
                </a:lnTo>
                <a:lnTo>
                  <a:pt x="24383" y="252983"/>
                </a:lnTo>
                <a:lnTo>
                  <a:pt x="14858" y="208978"/>
                </a:lnTo>
                <a:lnTo>
                  <a:pt x="12191" y="161544"/>
                </a:lnTo>
                <a:lnTo>
                  <a:pt x="12811" y="136088"/>
                </a:lnTo>
                <a:lnTo>
                  <a:pt x="18621" y="89749"/>
                </a:lnTo>
                <a:lnTo>
                  <a:pt x="30694" y="49149"/>
                </a:lnTo>
                <a:lnTo>
                  <a:pt x="57912" y="4572"/>
                </a:lnTo>
                <a:lnTo>
                  <a:pt x="54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3609694" y="2432691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Cambria Math" panose="02040503050406030204"/>
                <a:cs typeface="Cambria Math" panose="02040503050406030204"/>
              </a:rPr>
              <a:t>1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434502" y="2614080"/>
            <a:ext cx="43878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1000" i="1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1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050" i="1" spc="225" baseline="24000" dirty="0">
                <a:latin typeface="Cambria Math" panose="02040503050406030204"/>
                <a:cs typeface="Cambria Math" panose="02040503050406030204"/>
              </a:rPr>
              <a:t>-x</a:t>
            </a:r>
            <a:endParaRPr sz="1050" baseline="2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448715" y="2632107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>
                <a:moveTo>
                  <a:pt x="0" y="0"/>
                </a:moveTo>
                <a:lnTo>
                  <a:pt x="422148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3963365" y="2528698"/>
            <a:ext cx="991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000" i="1" spc="-10" dirty="0">
                <a:latin typeface="Cambria Math" panose="02040503050406030204"/>
                <a:cs typeface="Cambria Math" panose="02040503050406030204"/>
              </a:rPr>
              <a:t>(1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000" i="1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40" dirty="0">
                <a:latin typeface="Cambria Math" panose="02040503050406030204"/>
                <a:cs typeface="Cambria Math" panose="02040503050406030204"/>
              </a:rPr>
              <a:t>a(x))a(x)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803355" y="635866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上游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681105" y="672478"/>
            <a:ext cx="26352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10"/>
              </a:spcBef>
            </a:pPr>
            <a:r>
              <a:rPr sz="900" spc="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局部 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957261" y="1117466"/>
            <a:ext cx="1501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1.0 × 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0.88 ∗ 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(1 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− 0.88) =</a:t>
            </a:r>
            <a:r>
              <a:rPr sz="9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0.10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3974496" y="938181"/>
            <a:ext cx="67055" cy="188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709064" y="970185"/>
            <a:ext cx="166115" cy="167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3730147" y="2079225"/>
            <a:ext cx="838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sigmoid</a:t>
            </a:r>
            <a:r>
              <a:rPr sz="1200" spc="-1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函数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1060" y="664581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加法门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15976" y="664581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乘法门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1060" y="1944741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拷贝门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23775" y="1216701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117347"/>
                </a:moveTo>
                <a:lnTo>
                  <a:pt x="9334" y="72008"/>
                </a:lnTo>
                <a:lnTo>
                  <a:pt x="34670" y="34670"/>
                </a:lnTo>
                <a:lnTo>
                  <a:pt x="72008" y="9334"/>
                </a:lnTo>
                <a:lnTo>
                  <a:pt x="117347" y="0"/>
                </a:lnTo>
                <a:lnTo>
                  <a:pt x="163329" y="9334"/>
                </a:lnTo>
                <a:lnTo>
                  <a:pt x="200596" y="34670"/>
                </a:lnTo>
                <a:lnTo>
                  <a:pt x="225575" y="72008"/>
                </a:lnTo>
                <a:lnTo>
                  <a:pt x="234695" y="117347"/>
                </a:lnTo>
                <a:lnTo>
                  <a:pt x="225575" y="163329"/>
                </a:lnTo>
                <a:lnTo>
                  <a:pt x="200596" y="200596"/>
                </a:lnTo>
                <a:lnTo>
                  <a:pt x="163329" y="225575"/>
                </a:lnTo>
                <a:lnTo>
                  <a:pt x="117347" y="234695"/>
                </a:lnTo>
                <a:lnTo>
                  <a:pt x="72008" y="225575"/>
                </a:lnTo>
                <a:lnTo>
                  <a:pt x="34670" y="200596"/>
                </a:lnTo>
                <a:lnTo>
                  <a:pt x="9334" y="163329"/>
                </a:lnTo>
                <a:lnTo>
                  <a:pt x="0" y="11734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23775" y="1216701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117347"/>
                </a:moveTo>
                <a:lnTo>
                  <a:pt x="9334" y="72008"/>
                </a:lnTo>
                <a:lnTo>
                  <a:pt x="34670" y="34670"/>
                </a:lnTo>
                <a:lnTo>
                  <a:pt x="72008" y="9334"/>
                </a:lnTo>
                <a:lnTo>
                  <a:pt x="117347" y="0"/>
                </a:lnTo>
                <a:lnTo>
                  <a:pt x="163329" y="9334"/>
                </a:lnTo>
                <a:lnTo>
                  <a:pt x="200596" y="34670"/>
                </a:lnTo>
                <a:lnTo>
                  <a:pt x="225575" y="72008"/>
                </a:lnTo>
                <a:lnTo>
                  <a:pt x="234695" y="117347"/>
                </a:lnTo>
                <a:lnTo>
                  <a:pt x="225575" y="163329"/>
                </a:lnTo>
                <a:lnTo>
                  <a:pt x="200596" y="200596"/>
                </a:lnTo>
                <a:lnTo>
                  <a:pt x="163329" y="225575"/>
                </a:lnTo>
                <a:lnTo>
                  <a:pt x="117347" y="234695"/>
                </a:lnTo>
                <a:lnTo>
                  <a:pt x="72008" y="225575"/>
                </a:lnTo>
                <a:lnTo>
                  <a:pt x="34670" y="200596"/>
                </a:lnTo>
                <a:lnTo>
                  <a:pt x="9334" y="163329"/>
                </a:lnTo>
                <a:lnTo>
                  <a:pt x="0" y="11734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64483" y="1152264"/>
            <a:ext cx="152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+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19560" y="1366053"/>
            <a:ext cx="188975" cy="18745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19560" y="1042965"/>
            <a:ext cx="188975" cy="188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58472" y="1315761"/>
            <a:ext cx="407034" cy="38100"/>
          </a:xfrm>
          <a:custGeom>
            <a:avLst/>
            <a:gdLst/>
            <a:ahLst/>
            <a:cxnLst/>
            <a:rect l="l" t="t" r="r" b="b"/>
            <a:pathLst>
              <a:path w="407035" h="38100">
                <a:moveTo>
                  <a:pt x="368807" y="0"/>
                </a:moveTo>
                <a:lnTo>
                  <a:pt x="368807" y="38100"/>
                </a:lnTo>
                <a:lnTo>
                  <a:pt x="395184" y="24384"/>
                </a:lnTo>
                <a:lnTo>
                  <a:pt x="374903" y="24384"/>
                </a:lnTo>
                <a:lnTo>
                  <a:pt x="374903" y="12191"/>
                </a:lnTo>
                <a:lnTo>
                  <a:pt x="394207" y="12191"/>
                </a:lnTo>
                <a:lnTo>
                  <a:pt x="368807" y="0"/>
                </a:lnTo>
                <a:close/>
              </a:path>
              <a:path w="407035" h="38100">
                <a:moveTo>
                  <a:pt x="368807" y="12191"/>
                </a:moveTo>
                <a:lnTo>
                  <a:pt x="0" y="12191"/>
                </a:lnTo>
                <a:lnTo>
                  <a:pt x="0" y="24384"/>
                </a:lnTo>
                <a:lnTo>
                  <a:pt x="368807" y="24384"/>
                </a:lnTo>
                <a:lnTo>
                  <a:pt x="368807" y="12191"/>
                </a:lnTo>
                <a:close/>
              </a:path>
              <a:path w="407035" h="38100">
                <a:moveTo>
                  <a:pt x="394207" y="12191"/>
                </a:moveTo>
                <a:lnTo>
                  <a:pt x="374903" y="12191"/>
                </a:lnTo>
                <a:lnTo>
                  <a:pt x="374903" y="24384"/>
                </a:lnTo>
                <a:lnTo>
                  <a:pt x="395184" y="24384"/>
                </a:lnTo>
                <a:lnTo>
                  <a:pt x="406907" y="18287"/>
                </a:lnTo>
                <a:lnTo>
                  <a:pt x="394207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58472" y="1315761"/>
            <a:ext cx="407034" cy="38100"/>
          </a:xfrm>
          <a:custGeom>
            <a:avLst/>
            <a:gdLst/>
            <a:ahLst/>
            <a:cxnLst/>
            <a:rect l="l" t="t" r="r" b="b"/>
            <a:pathLst>
              <a:path w="407035" h="38100">
                <a:moveTo>
                  <a:pt x="368807" y="0"/>
                </a:moveTo>
                <a:lnTo>
                  <a:pt x="368807" y="38100"/>
                </a:lnTo>
                <a:lnTo>
                  <a:pt x="395184" y="24384"/>
                </a:lnTo>
                <a:lnTo>
                  <a:pt x="374903" y="24384"/>
                </a:lnTo>
                <a:lnTo>
                  <a:pt x="374903" y="12191"/>
                </a:lnTo>
                <a:lnTo>
                  <a:pt x="394207" y="12191"/>
                </a:lnTo>
                <a:lnTo>
                  <a:pt x="368807" y="0"/>
                </a:lnTo>
                <a:close/>
              </a:path>
              <a:path w="407035" h="38100">
                <a:moveTo>
                  <a:pt x="368807" y="12191"/>
                </a:moveTo>
                <a:lnTo>
                  <a:pt x="0" y="12191"/>
                </a:lnTo>
                <a:lnTo>
                  <a:pt x="0" y="24384"/>
                </a:lnTo>
                <a:lnTo>
                  <a:pt x="368807" y="24384"/>
                </a:lnTo>
                <a:lnTo>
                  <a:pt x="368807" y="12191"/>
                </a:lnTo>
                <a:close/>
              </a:path>
              <a:path w="407035" h="38100">
                <a:moveTo>
                  <a:pt x="394207" y="12191"/>
                </a:moveTo>
                <a:lnTo>
                  <a:pt x="374903" y="12191"/>
                </a:lnTo>
                <a:lnTo>
                  <a:pt x="374903" y="24384"/>
                </a:lnTo>
                <a:lnTo>
                  <a:pt x="395184" y="24384"/>
                </a:lnTo>
                <a:lnTo>
                  <a:pt x="406907" y="18287"/>
                </a:lnTo>
                <a:lnTo>
                  <a:pt x="394207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10035" y="1339713"/>
            <a:ext cx="527050" cy="4191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5"/>
              </a:spcBef>
              <a:tabLst>
                <a:tab pos="203835" algn="l"/>
                <a:tab pos="501015" algn="l"/>
              </a:tabLst>
            </a:pP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5	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7620" algn="ctr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0035" y="832221"/>
            <a:ext cx="527050" cy="4191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5"/>
              </a:spcBef>
              <a:tabLst>
                <a:tab pos="203835" algn="l"/>
                <a:tab pos="501015" algn="l"/>
              </a:tabLst>
            </a:pP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4	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7620" algn="ctr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1032" y="1103493"/>
            <a:ext cx="102870" cy="4191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120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92783" y="1216701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117347"/>
                </a:moveTo>
                <a:lnTo>
                  <a:pt x="9120" y="72008"/>
                </a:lnTo>
                <a:lnTo>
                  <a:pt x="34099" y="34670"/>
                </a:lnTo>
                <a:lnTo>
                  <a:pt x="71366" y="9334"/>
                </a:lnTo>
                <a:lnTo>
                  <a:pt x="117347" y="0"/>
                </a:lnTo>
                <a:lnTo>
                  <a:pt x="163329" y="9334"/>
                </a:lnTo>
                <a:lnTo>
                  <a:pt x="200596" y="34670"/>
                </a:lnTo>
                <a:lnTo>
                  <a:pt x="225575" y="72008"/>
                </a:lnTo>
                <a:lnTo>
                  <a:pt x="234695" y="117347"/>
                </a:lnTo>
                <a:lnTo>
                  <a:pt x="225575" y="163329"/>
                </a:lnTo>
                <a:lnTo>
                  <a:pt x="200596" y="200596"/>
                </a:lnTo>
                <a:lnTo>
                  <a:pt x="163329" y="225575"/>
                </a:lnTo>
                <a:lnTo>
                  <a:pt x="117347" y="234695"/>
                </a:lnTo>
                <a:lnTo>
                  <a:pt x="71366" y="225575"/>
                </a:lnTo>
                <a:lnTo>
                  <a:pt x="34099" y="200596"/>
                </a:lnTo>
                <a:lnTo>
                  <a:pt x="9120" y="163329"/>
                </a:lnTo>
                <a:lnTo>
                  <a:pt x="0" y="11734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92783" y="1216701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117347"/>
                </a:moveTo>
                <a:lnTo>
                  <a:pt x="9120" y="72008"/>
                </a:lnTo>
                <a:lnTo>
                  <a:pt x="34099" y="34670"/>
                </a:lnTo>
                <a:lnTo>
                  <a:pt x="71366" y="9334"/>
                </a:lnTo>
                <a:lnTo>
                  <a:pt x="117347" y="0"/>
                </a:lnTo>
                <a:lnTo>
                  <a:pt x="163329" y="9334"/>
                </a:lnTo>
                <a:lnTo>
                  <a:pt x="200596" y="34670"/>
                </a:lnTo>
                <a:lnTo>
                  <a:pt x="225575" y="72008"/>
                </a:lnTo>
                <a:lnTo>
                  <a:pt x="234695" y="117347"/>
                </a:lnTo>
                <a:lnTo>
                  <a:pt x="225575" y="163329"/>
                </a:lnTo>
                <a:lnTo>
                  <a:pt x="200596" y="200596"/>
                </a:lnTo>
                <a:lnTo>
                  <a:pt x="163329" y="225575"/>
                </a:lnTo>
                <a:lnTo>
                  <a:pt x="117347" y="234695"/>
                </a:lnTo>
                <a:lnTo>
                  <a:pt x="71366" y="225575"/>
                </a:lnTo>
                <a:lnTo>
                  <a:pt x="34099" y="200596"/>
                </a:lnTo>
                <a:lnTo>
                  <a:pt x="9120" y="163329"/>
                </a:lnTo>
                <a:lnTo>
                  <a:pt x="0" y="11734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040992" y="1152264"/>
            <a:ext cx="1358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x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88567" y="1366053"/>
            <a:ext cx="187452" cy="187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88567" y="1042965"/>
            <a:ext cx="187452" cy="188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27479" y="1315761"/>
            <a:ext cx="407034" cy="38100"/>
          </a:xfrm>
          <a:custGeom>
            <a:avLst/>
            <a:gdLst/>
            <a:ahLst/>
            <a:cxnLst/>
            <a:rect l="l" t="t" r="r" b="b"/>
            <a:pathLst>
              <a:path w="407035" h="38100">
                <a:moveTo>
                  <a:pt x="368808" y="0"/>
                </a:moveTo>
                <a:lnTo>
                  <a:pt x="368808" y="38100"/>
                </a:lnTo>
                <a:lnTo>
                  <a:pt x="395184" y="24384"/>
                </a:lnTo>
                <a:lnTo>
                  <a:pt x="374904" y="24384"/>
                </a:lnTo>
                <a:lnTo>
                  <a:pt x="374904" y="12191"/>
                </a:lnTo>
                <a:lnTo>
                  <a:pt x="394207" y="12191"/>
                </a:lnTo>
                <a:lnTo>
                  <a:pt x="368808" y="0"/>
                </a:lnTo>
                <a:close/>
              </a:path>
              <a:path w="407035" h="38100">
                <a:moveTo>
                  <a:pt x="368808" y="12191"/>
                </a:moveTo>
                <a:lnTo>
                  <a:pt x="0" y="12191"/>
                </a:lnTo>
                <a:lnTo>
                  <a:pt x="0" y="24384"/>
                </a:lnTo>
                <a:lnTo>
                  <a:pt x="368808" y="24384"/>
                </a:lnTo>
                <a:lnTo>
                  <a:pt x="368808" y="12191"/>
                </a:lnTo>
                <a:close/>
              </a:path>
              <a:path w="407035" h="38100">
                <a:moveTo>
                  <a:pt x="394207" y="12191"/>
                </a:moveTo>
                <a:lnTo>
                  <a:pt x="374904" y="12191"/>
                </a:lnTo>
                <a:lnTo>
                  <a:pt x="374904" y="24384"/>
                </a:lnTo>
                <a:lnTo>
                  <a:pt x="395184" y="24384"/>
                </a:lnTo>
                <a:lnTo>
                  <a:pt x="406908" y="18287"/>
                </a:lnTo>
                <a:lnTo>
                  <a:pt x="394207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27479" y="1315761"/>
            <a:ext cx="407034" cy="38100"/>
          </a:xfrm>
          <a:custGeom>
            <a:avLst/>
            <a:gdLst/>
            <a:ahLst/>
            <a:cxnLst/>
            <a:rect l="l" t="t" r="r" b="b"/>
            <a:pathLst>
              <a:path w="407035" h="38100">
                <a:moveTo>
                  <a:pt x="368808" y="0"/>
                </a:moveTo>
                <a:lnTo>
                  <a:pt x="368808" y="38100"/>
                </a:lnTo>
                <a:lnTo>
                  <a:pt x="395184" y="24384"/>
                </a:lnTo>
                <a:lnTo>
                  <a:pt x="374904" y="24384"/>
                </a:lnTo>
                <a:lnTo>
                  <a:pt x="374904" y="12191"/>
                </a:lnTo>
                <a:lnTo>
                  <a:pt x="394207" y="12191"/>
                </a:lnTo>
                <a:lnTo>
                  <a:pt x="368808" y="0"/>
                </a:lnTo>
                <a:close/>
              </a:path>
              <a:path w="407035" h="38100">
                <a:moveTo>
                  <a:pt x="368808" y="12191"/>
                </a:moveTo>
                <a:lnTo>
                  <a:pt x="0" y="12191"/>
                </a:lnTo>
                <a:lnTo>
                  <a:pt x="0" y="24384"/>
                </a:lnTo>
                <a:lnTo>
                  <a:pt x="368808" y="24384"/>
                </a:lnTo>
                <a:lnTo>
                  <a:pt x="368808" y="12191"/>
                </a:lnTo>
                <a:close/>
              </a:path>
              <a:path w="407035" h="38100">
                <a:moveTo>
                  <a:pt x="394207" y="12191"/>
                </a:moveTo>
                <a:lnTo>
                  <a:pt x="374904" y="12191"/>
                </a:lnTo>
                <a:lnTo>
                  <a:pt x="374904" y="24384"/>
                </a:lnTo>
                <a:lnTo>
                  <a:pt x="395184" y="24384"/>
                </a:lnTo>
                <a:lnTo>
                  <a:pt x="406908" y="18287"/>
                </a:lnTo>
                <a:lnTo>
                  <a:pt x="394207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243992" y="1339713"/>
            <a:ext cx="561975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020">
              <a:lnSpc>
                <a:spcPct val="108000"/>
              </a:lnSpc>
              <a:spcBef>
                <a:spcPts val="100"/>
              </a:spcBef>
              <a:tabLst>
                <a:tab pos="250190" algn="l"/>
                <a:tab pos="548640" algn="l"/>
              </a:tabLst>
            </a:pP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5 	</a:t>
            </a:r>
            <a:r>
              <a:rPr sz="120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4*3=12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77520" y="832221"/>
            <a:ext cx="528320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  <a:tabLst>
                <a:tab pos="216535" algn="l"/>
                <a:tab pos="514350" algn="l"/>
              </a:tabLst>
            </a:pP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4 	</a:t>
            </a:r>
            <a:r>
              <a:rPr sz="120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5*3=15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90040" y="1103493"/>
            <a:ext cx="180340" cy="4191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120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004976" y="2490765"/>
            <a:ext cx="245363" cy="2453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05332" y="2644689"/>
            <a:ext cx="188975" cy="1889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05332" y="2323125"/>
            <a:ext cx="188975" cy="1874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45767" y="2594397"/>
            <a:ext cx="405765" cy="38100"/>
          </a:xfrm>
          <a:custGeom>
            <a:avLst/>
            <a:gdLst/>
            <a:ahLst/>
            <a:cxnLst/>
            <a:rect l="l" t="t" r="r" b="b"/>
            <a:pathLst>
              <a:path w="405764" h="38100">
                <a:moveTo>
                  <a:pt x="367284" y="0"/>
                </a:moveTo>
                <a:lnTo>
                  <a:pt x="367284" y="38100"/>
                </a:lnTo>
                <a:lnTo>
                  <a:pt x="392684" y="25907"/>
                </a:lnTo>
                <a:lnTo>
                  <a:pt x="373380" y="25907"/>
                </a:lnTo>
                <a:lnTo>
                  <a:pt x="373380" y="12191"/>
                </a:lnTo>
                <a:lnTo>
                  <a:pt x="390730" y="12191"/>
                </a:lnTo>
                <a:lnTo>
                  <a:pt x="367284" y="0"/>
                </a:lnTo>
                <a:close/>
              </a:path>
              <a:path w="405764" h="38100">
                <a:moveTo>
                  <a:pt x="367284" y="12191"/>
                </a:moveTo>
                <a:lnTo>
                  <a:pt x="0" y="12191"/>
                </a:lnTo>
                <a:lnTo>
                  <a:pt x="0" y="25907"/>
                </a:lnTo>
                <a:lnTo>
                  <a:pt x="367284" y="25907"/>
                </a:lnTo>
                <a:lnTo>
                  <a:pt x="367284" y="12191"/>
                </a:lnTo>
                <a:close/>
              </a:path>
              <a:path w="405764" h="38100">
                <a:moveTo>
                  <a:pt x="390730" y="12191"/>
                </a:moveTo>
                <a:lnTo>
                  <a:pt x="373380" y="12191"/>
                </a:lnTo>
                <a:lnTo>
                  <a:pt x="373380" y="25907"/>
                </a:lnTo>
                <a:lnTo>
                  <a:pt x="392684" y="25907"/>
                </a:lnTo>
                <a:lnTo>
                  <a:pt x="405384" y="19811"/>
                </a:lnTo>
                <a:lnTo>
                  <a:pt x="39073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45767" y="2594397"/>
            <a:ext cx="405765" cy="38100"/>
          </a:xfrm>
          <a:custGeom>
            <a:avLst/>
            <a:gdLst/>
            <a:ahLst/>
            <a:cxnLst/>
            <a:rect l="l" t="t" r="r" b="b"/>
            <a:pathLst>
              <a:path w="405764" h="38100">
                <a:moveTo>
                  <a:pt x="367284" y="0"/>
                </a:moveTo>
                <a:lnTo>
                  <a:pt x="367284" y="38100"/>
                </a:lnTo>
                <a:lnTo>
                  <a:pt x="392684" y="25907"/>
                </a:lnTo>
                <a:lnTo>
                  <a:pt x="373380" y="25907"/>
                </a:lnTo>
                <a:lnTo>
                  <a:pt x="373380" y="12191"/>
                </a:lnTo>
                <a:lnTo>
                  <a:pt x="390730" y="12191"/>
                </a:lnTo>
                <a:lnTo>
                  <a:pt x="367284" y="0"/>
                </a:lnTo>
                <a:close/>
              </a:path>
              <a:path w="405764" h="38100">
                <a:moveTo>
                  <a:pt x="367284" y="12191"/>
                </a:moveTo>
                <a:lnTo>
                  <a:pt x="0" y="12191"/>
                </a:lnTo>
                <a:lnTo>
                  <a:pt x="0" y="25907"/>
                </a:lnTo>
                <a:lnTo>
                  <a:pt x="367284" y="25907"/>
                </a:lnTo>
                <a:lnTo>
                  <a:pt x="367284" y="12191"/>
                </a:lnTo>
                <a:close/>
              </a:path>
              <a:path w="405764" h="38100">
                <a:moveTo>
                  <a:pt x="390730" y="12191"/>
                </a:moveTo>
                <a:lnTo>
                  <a:pt x="373380" y="12191"/>
                </a:lnTo>
                <a:lnTo>
                  <a:pt x="373380" y="25907"/>
                </a:lnTo>
                <a:lnTo>
                  <a:pt x="392684" y="25907"/>
                </a:lnTo>
                <a:lnTo>
                  <a:pt x="405384" y="19811"/>
                </a:lnTo>
                <a:lnTo>
                  <a:pt x="39073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295807" y="2618349"/>
            <a:ext cx="527050" cy="4191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5"/>
              </a:spcBef>
              <a:tabLst>
                <a:tab pos="203835" algn="l"/>
                <a:tab pos="501015" algn="l"/>
              </a:tabLst>
            </a:pP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5	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59690" algn="ctr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15976" y="1944741"/>
            <a:ext cx="706755" cy="58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max门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marL="179705" algn="ctr">
              <a:lnSpc>
                <a:spcPts val="1430"/>
              </a:lnSpc>
              <a:tabLst>
                <a:tab pos="383540" algn="l"/>
                <a:tab pos="680720" algn="l"/>
              </a:tabLst>
            </a:pP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1200" u="sng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4	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75895" algn="ctr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08328" y="2382129"/>
            <a:ext cx="102870" cy="4191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120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18184" y="2522223"/>
            <a:ext cx="219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900" dirty="0">
                <a:latin typeface="Calibri" panose="020F0502020204030204"/>
                <a:cs typeface="Calibri" panose="020F0502020204030204"/>
              </a:rPr>
              <a:t>x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786031" y="2452665"/>
            <a:ext cx="243839" cy="2438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202083" y="2797089"/>
            <a:ext cx="501650" cy="38100"/>
          </a:xfrm>
          <a:custGeom>
            <a:avLst/>
            <a:gdLst/>
            <a:ahLst/>
            <a:cxnLst/>
            <a:rect l="l" t="t" r="r" b="b"/>
            <a:pathLst>
              <a:path w="501650" h="38100">
                <a:moveTo>
                  <a:pt x="463295" y="0"/>
                </a:moveTo>
                <a:lnTo>
                  <a:pt x="463295" y="38100"/>
                </a:lnTo>
                <a:lnTo>
                  <a:pt x="489672" y="24384"/>
                </a:lnTo>
                <a:lnTo>
                  <a:pt x="469392" y="24384"/>
                </a:lnTo>
                <a:lnTo>
                  <a:pt x="469392" y="12192"/>
                </a:lnTo>
                <a:lnTo>
                  <a:pt x="488695" y="12192"/>
                </a:lnTo>
                <a:lnTo>
                  <a:pt x="463295" y="0"/>
                </a:lnTo>
                <a:close/>
              </a:path>
              <a:path w="501650" h="38100">
                <a:moveTo>
                  <a:pt x="463295" y="12192"/>
                </a:moveTo>
                <a:lnTo>
                  <a:pt x="0" y="12192"/>
                </a:lnTo>
                <a:lnTo>
                  <a:pt x="0" y="24384"/>
                </a:lnTo>
                <a:lnTo>
                  <a:pt x="463295" y="24384"/>
                </a:lnTo>
                <a:lnTo>
                  <a:pt x="463295" y="12192"/>
                </a:lnTo>
                <a:close/>
              </a:path>
              <a:path w="501650" h="38100">
                <a:moveTo>
                  <a:pt x="488695" y="12192"/>
                </a:moveTo>
                <a:lnTo>
                  <a:pt x="469392" y="12192"/>
                </a:lnTo>
                <a:lnTo>
                  <a:pt x="469392" y="24384"/>
                </a:lnTo>
                <a:lnTo>
                  <a:pt x="489672" y="24384"/>
                </a:lnTo>
                <a:lnTo>
                  <a:pt x="501395" y="18287"/>
                </a:lnTo>
                <a:lnTo>
                  <a:pt x="488695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202083" y="2797089"/>
            <a:ext cx="501650" cy="38100"/>
          </a:xfrm>
          <a:custGeom>
            <a:avLst/>
            <a:gdLst/>
            <a:ahLst/>
            <a:cxnLst/>
            <a:rect l="l" t="t" r="r" b="b"/>
            <a:pathLst>
              <a:path w="501650" h="38100">
                <a:moveTo>
                  <a:pt x="463295" y="0"/>
                </a:moveTo>
                <a:lnTo>
                  <a:pt x="463295" y="38100"/>
                </a:lnTo>
                <a:lnTo>
                  <a:pt x="489672" y="24384"/>
                </a:lnTo>
                <a:lnTo>
                  <a:pt x="469392" y="24384"/>
                </a:lnTo>
                <a:lnTo>
                  <a:pt x="469392" y="12192"/>
                </a:lnTo>
                <a:lnTo>
                  <a:pt x="488695" y="12192"/>
                </a:lnTo>
                <a:lnTo>
                  <a:pt x="463295" y="0"/>
                </a:lnTo>
                <a:close/>
              </a:path>
              <a:path w="501650" h="38100">
                <a:moveTo>
                  <a:pt x="463295" y="12192"/>
                </a:moveTo>
                <a:lnTo>
                  <a:pt x="0" y="12192"/>
                </a:lnTo>
                <a:lnTo>
                  <a:pt x="0" y="24384"/>
                </a:lnTo>
                <a:lnTo>
                  <a:pt x="463295" y="24384"/>
                </a:lnTo>
                <a:lnTo>
                  <a:pt x="463295" y="12192"/>
                </a:lnTo>
                <a:close/>
              </a:path>
              <a:path w="501650" h="38100">
                <a:moveTo>
                  <a:pt x="488695" y="12192"/>
                </a:moveTo>
                <a:lnTo>
                  <a:pt x="469392" y="12192"/>
                </a:lnTo>
                <a:lnTo>
                  <a:pt x="469392" y="24384"/>
                </a:lnTo>
                <a:lnTo>
                  <a:pt x="489672" y="24384"/>
                </a:lnTo>
                <a:lnTo>
                  <a:pt x="501395" y="18287"/>
                </a:lnTo>
                <a:lnTo>
                  <a:pt x="488695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020728" y="2326173"/>
            <a:ext cx="182880" cy="184785"/>
          </a:xfrm>
          <a:custGeom>
            <a:avLst/>
            <a:gdLst/>
            <a:ahLst/>
            <a:cxnLst/>
            <a:rect l="l" t="t" r="r" b="b"/>
            <a:pathLst>
              <a:path w="182880" h="184785">
                <a:moveTo>
                  <a:pt x="0" y="184403"/>
                </a:moveTo>
                <a:lnTo>
                  <a:pt x="182879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020728" y="2326173"/>
            <a:ext cx="182880" cy="184785"/>
          </a:xfrm>
          <a:custGeom>
            <a:avLst/>
            <a:gdLst/>
            <a:ahLst/>
            <a:cxnLst/>
            <a:rect l="l" t="t" r="r" b="b"/>
            <a:pathLst>
              <a:path w="182880" h="184785">
                <a:moveTo>
                  <a:pt x="0" y="184403"/>
                </a:moveTo>
                <a:lnTo>
                  <a:pt x="182879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02083" y="2303313"/>
            <a:ext cx="501650" cy="38100"/>
          </a:xfrm>
          <a:custGeom>
            <a:avLst/>
            <a:gdLst/>
            <a:ahLst/>
            <a:cxnLst/>
            <a:rect l="l" t="t" r="r" b="b"/>
            <a:pathLst>
              <a:path w="501650" h="38100">
                <a:moveTo>
                  <a:pt x="463295" y="0"/>
                </a:moveTo>
                <a:lnTo>
                  <a:pt x="463295" y="38100"/>
                </a:lnTo>
                <a:lnTo>
                  <a:pt x="489672" y="24384"/>
                </a:lnTo>
                <a:lnTo>
                  <a:pt x="469392" y="24384"/>
                </a:lnTo>
                <a:lnTo>
                  <a:pt x="469392" y="12192"/>
                </a:lnTo>
                <a:lnTo>
                  <a:pt x="488695" y="12192"/>
                </a:lnTo>
                <a:lnTo>
                  <a:pt x="463295" y="0"/>
                </a:lnTo>
                <a:close/>
              </a:path>
              <a:path w="501650" h="38100">
                <a:moveTo>
                  <a:pt x="463295" y="12192"/>
                </a:moveTo>
                <a:lnTo>
                  <a:pt x="0" y="12192"/>
                </a:lnTo>
                <a:lnTo>
                  <a:pt x="0" y="24384"/>
                </a:lnTo>
                <a:lnTo>
                  <a:pt x="463295" y="24384"/>
                </a:lnTo>
                <a:lnTo>
                  <a:pt x="463295" y="12192"/>
                </a:lnTo>
                <a:close/>
              </a:path>
              <a:path w="501650" h="38100">
                <a:moveTo>
                  <a:pt x="488695" y="12192"/>
                </a:moveTo>
                <a:lnTo>
                  <a:pt x="469392" y="12192"/>
                </a:lnTo>
                <a:lnTo>
                  <a:pt x="469392" y="24384"/>
                </a:lnTo>
                <a:lnTo>
                  <a:pt x="489672" y="24384"/>
                </a:lnTo>
                <a:lnTo>
                  <a:pt x="501395" y="18287"/>
                </a:lnTo>
                <a:lnTo>
                  <a:pt x="488695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202083" y="2303313"/>
            <a:ext cx="501650" cy="38100"/>
          </a:xfrm>
          <a:custGeom>
            <a:avLst/>
            <a:gdLst/>
            <a:ahLst/>
            <a:cxnLst/>
            <a:rect l="l" t="t" r="r" b="b"/>
            <a:pathLst>
              <a:path w="501650" h="38100">
                <a:moveTo>
                  <a:pt x="463295" y="0"/>
                </a:moveTo>
                <a:lnTo>
                  <a:pt x="463295" y="38100"/>
                </a:lnTo>
                <a:lnTo>
                  <a:pt x="489672" y="24384"/>
                </a:lnTo>
                <a:lnTo>
                  <a:pt x="469392" y="24384"/>
                </a:lnTo>
                <a:lnTo>
                  <a:pt x="469392" y="12192"/>
                </a:lnTo>
                <a:lnTo>
                  <a:pt x="488695" y="12192"/>
                </a:lnTo>
                <a:lnTo>
                  <a:pt x="463295" y="0"/>
                </a:lnTo>
                <a:close/>
              </a:path>
              <a:path w="501650" h="38100">
                <a:moveTo>
                  <a:pt x="463295" y="12192"/>
                </a:moveTo>
                <a:lnTo>
                  <a:pt x="0" y="12192"/>
                </a:lnTo>
                <a:lnTo>
                  <a:pt x="0" y="24384"/>
                </a:lnTo>
                <a:lnTo>
                  <a:pt x="463295" y="24384"/>
                </a:lnTo>
                <a:lnTo>
                  <a:pt x="463295" y="12192"/>
                </a:lnTo>
                <a:close/>
              </a:path>
              <a:path w="501650" h="38100">
                <a:moveTo>
                  <a:pt x="488695" y="12192"/>
                </a:moveTo>
                <a:lnTo>
                  <a:pt x="469392" y="12192"/>
                </a:lnTo>
                <a:lnTo>
                  <a:pt x="469392" y="24384"/>
                </a:lnTo>
                <a:lnTo>
                  <a:pt x="489672" y="24384"/>
                </a:lnTo>
                <a:lnTo>
                  <a:pt x="501395" y="18287"/>
                </a:lnTo>
                <a:lnTo>
                  <a:pt x="488695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020728" y="2630973"/>
            <a:ext cx="182880" cy="184785"/>
          </a:xfrm>
          <a:custGeom>
            <a:avLst/>
            <a:gdLst/>
            <a:ahLst/>
            <a:cxnLst/>
            <a:rect l="l" t="t" r="r" b="b"/>
            <a:pathLst>
              <a:path w="182880" h="184785">
                <a:moveTo>
                  <a:pt x="0" y="0"/>
                </a:moveTo>
                <a:lnTo>
                  <a:pt x="182879" y="18440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020728" y="2630973"/>
            <a:ext cx="182880" cy="184785"/>
          </a:xfrm>
          <a:custGeom>
            <a:avLst/>
            <a:gdLst/>
            <a:ahLst/>
            <a:cxnLst/>
            <a:rect l="l" t="t" r="r" b="b"/>
            <a:pathLst>
              <a:path w="182880" h="184785">
                <a:moveTo>
                  <a:pt x="0" y="0"/>
                </a:moveTo>
                <a:lnTo>
                  <a:pt x="182879" y="18440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379124" y="2554773"/>
            <a:ext cx="407034" cy="38100"/>
          </a:xfrm>
          <a:custGeom>
            <a:avLst/>
            <a:gdLst/>
            <a:ahLst/>
            <a:cxnLst/>
            <a:rect l="l" t="t" r="r" b="b"/>
            <a:pathLst>
              <a:path w="407035" h="38100">
                <a:moveTo>
                  <a:pt x="368807" y="0"/>
                </a:moveTo>
                <a:lnTo>
                  <a:pt x="368807" y="38100"/>
                </a:lnTo>
                <a:lnTo>
                  <a:pt x="394208" y="25907"/>
                </a:lnTo>
                <a:lnTo>
                  <a:pt x="374903" y="25907"/>
                </a:lnTo>
                <a:lnTo>
                  <a:pt x="374903" y="13715"/>
                </a:lnTo>
                <a:lnTo>
                  <a:pt x="395184" y="13715"/>
                </a:lnTo>
                <a:lnTo>
                  <a:pt x="368807" y="0"/>
                </a:lnTo>
                <a:close/>
              </a:path>
              <a:path w="407035" h="38100">
                <a:moveTo>
                  <a:pt x="368807" y="13715"/>
                </a:moveTo>
                <a:lnTo>
                  <a:pt x="0" y="13715"/>
                </a:lnTo>
                <a:lnTo>
                  <a:pt x="0" y="25907"/>
                </a:lnTo>
                <a:lnTo>
                  <a:pt x="368807" y="25907"/>
                </a:lnTo>
                <a:lnTo>
                  <a:pt x="368807" y="13715"/>
                </a:lnTo>
                <a:close/>
              </a:path>
              <a:path w="407035" h="38100">
                <a:moveTo>
                  <a:pt x="395184" y="13715"/>
                </a:moveTo>
                <a:lnTo>
                  <a:pt x="374903" y="13715"/>
                </a:lnTo>
                <a:lnTo>
                  <a:pt x="374903" y="25907"/>
                </a:lnTo>
                <a:lnTo>
                  <a:pt x="394208" y="25907"/>
                </a:lnTo>
                <a:lnTo>
                  <a:pt x="406907" y="19812"/>
                </a:lnTo>
                <a:lnTo>
                  <a:pt x="395184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79124" y="2554773"/>
            <a:ext cx="407034" cy="38100"/>
          </a:xfrm>
          <a:custGeom>
            <a:avLst/>
            <a:gdLst/>
            <a:ahLst/>
            <a:cxnLst/>
            <a:rect l="l" t="t" r="r" b="b"/>
            <a:pathLst>
              <a:path w="407035" h="38100">
                <a:moveTo>
                  <a:pt x="368807" y="0"/>
                </a:moveTo>
                <a:lnTo>
                  <a:pt x="368807" y="38100"/>
                </a:lnTo>
                <a:lnTo>
                  <a:pt x="394208" y="25907"/>
                </a:lnTo>
                <a:lnTo>
                  <a:pt x="374903" y="25907"/>
                </a:lnTo>
                <a:lnTo>
                  <a:pt x="374903" y="13715"/>
                </a:lnTo>
                <a:lnTo>
                  <a:pt x="395184" y="13715"/>
                </a:lnTo>
                <a:lnTo>
                  <a:pt x="368807" y="0"/>
                </a:lnTo>
                <a:close/>
              </a:path>
              <a:path w="407035" h="38100">
                <a:moveTo>
                  <a:pt x="368807" y="13715"/>
                </a:moveTo>
                <a:lnTo>
                  <a:pt x="0" y="13715"/>
                </a:lnTo>
                <a:lnTo>
                  <a:pt x="0" y="25907"/>
                </a:lnTo>
                <a:lnTo>
                  <a:pt x="368807" y="25907"/>
                </a:lnTo>
                <a:lnTo>
                  <a:pt x="368807" y="13715"/>
                </a:lnTo>
                <a:close/>
              </a:path>
              <a:path w="407035" h="38100">
                <a:moveTo>
                  <a:pt x="395184" y="13715"/>
                </a:moveTo>
                <a:lnTo>
                  <a:pt x="374903" y="13715"/>
                </a:lnTo>
                <a:lnTo>
                  <a:pt x="374903" y="25907"/>
                </a:lnTo>
                <a:lnTo>
                  <a:pt x="394208" y="25907"/>
                </a:lnTo>
                <a:lnTo>
                  <a:pt x="406907" y="19812"/>
                </a:lnTo>
                <a:lnTo>
                  <a:pt x="395184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340260" y="2104761"/>
            <a:ext cx="112395" cy="4127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20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1590">
              <a:lnSpc>
                <a:spcPct val="100000"/>
              </a:lnSpc>
              <a:spcBef>
                <a:spcPts val="8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58803" y="2331837"/>
            <a:ext cx="410209" cy="4521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340"/>
              </a:spcBef>
            </a:pPr>
            <a:r>
              <a:rPr sz="120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3+</a:t>
            </a:r>
            <a:r>
              <a:rPr sz="1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</a:t>
            </a:r>
            <a:r>
              <a:rPr sz="1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=7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79883" y="2618349"/>
            <a:ext cx="106045" cy="4127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85"/>
              </a:spcBef>
            </a:pPr>
            <a:r>
              <a:rPr sz="120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1637673" y="131178"/>
            <a:ext cx="25704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微软雅黑" panose="020B0503020204020204" charset="-122"/>
                <a:cs typeface="微软雅黑" panose="020B0503020204020204" charset="-122"/>
              </a:rPr>
              <a:t>计算图中常见的门单元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2125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3145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38356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i="1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i="1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314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35270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i="1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27000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69126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17073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59199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3609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6"/>
                </a:moveTo>
                <a:lnTo>
                  <a:pt x="0" y="280416"/>
                </a:lnTo>
                <a:lnTo>
                  <a:pt x="19812" y="318516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6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908" y="280416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39577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5"/>
                </a:moveTo>
                <a:lnTo>
                  <a:pt x="0" y="295655"/>
                </a:lnTo>
                <a:lnTo>
                  <a:pt x="28956" y="353568"/>
                </a:lnTo>
                <a:lnTo>
                  <a:pt x="52577" y="306324"/>
                </a:lnTo>
                <a:lnTo>
                  <a:pt x="19812" y="306324"/>
                </a:lnTo>
                <a:lnTo>
                  <a:pt x="19812" y="295655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5"/>
                </a:moveTo>
                <a:lnTo>
                  <a:pt x="38100" y="295655"/>
                </a:lnTo>
                <a:lnTo>
                  <a:pt x="38100" y="306324"/>
                </a:lnTo>
                <a:lnTo>
                  <a:pt x="52577" y="306324"/>
                </a:lnTo>
                <a:lnTo>
                  <a:pt x="57912" y="295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3081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4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3081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40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8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46001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8" y="333755"/>
                </a:lnTo>
                <a:lnTo>
                  <a:pt x="19812" y="333755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5"/>
                </a:lnTo>
                <a:lnTo>
                  <a:pt x="38100" y="333755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5"/>
                </a:lnTo>
                <a:lnTo>
                  <a:pt x="52578" y="333755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67693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8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76153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4"/>
                </a:moveTo>
                <a:lnTo>
                  <a:pt x="19812" y="47244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4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8"/>
                </a:lnTo>
                <a:lnTo>
                  <a:pt x="19812" y="56388"/>
                </a:lnTo>
                <a:lnTo>
                  <a:pt x="19812" y="47244"/>
                </a:lnTo>
                <a:lnTo>
                  <a:pt x="53216" y="47244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4"/>
                </a:moveTo>
                <a:lnTo>
                  <a:pt x="38100" y="47244"/>
                </a:lnTo>
                <a:lnTo>
                  <a:pt x="38100" y="56388"/>
                </a:lnTo>
                <a:lnTo>
                  <a:pt x="57912" y="56388"/>
                </a:lnTo>
                <a:lnTo>
                  <a:pt x="53216" y="47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05768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17657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27641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1"/>
                </a:lnTo>
                <a:lnTo>
                  <a:pt x="13716" y="286511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1"/>
                </a:lnTo>
                <a:lnTo>
                  <a:pt x="25907" y="286511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1"/>
                </a:lnTo>
                <a:lnTo>
                  <a:pt x="35173" y="286511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1017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3916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46157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585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4" y="2183289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4" y="0"/>
                </a:lnTo>
                <a:lnTo>
                  <a:pt x="893064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solidFill>
            <a:srgbClr val="FCD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09503" y="2183289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814697" y="219040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38607" y="753307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03517" y="1190618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87247" y="2257494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0901" y="2367223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97227" y="427641"/>
            <a:ext cx="891540" cy="187960"/>
          </a:xfrm>
          <a:prstGeom prst="rect">
            <a:avLst/>
          </a:prstGeom>
          <a:ln w="12191">
            <a:solidFill>
              <a:srgbClr val="383838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再看</a:t>
            </a:r>
            <a:r>
              <a:rPr spc="-10" dirty="0"/>
              <a:t>激</a:t>
            </a:r>
            <a:r>
              <a:rPr spc="5" dirty="0"/>
              <a:t>活</a:t>
            </a:r>
            <a:r>
              <a:rPr spc="-10" dirty="0"/>
              <a:t>函</a:t>
            </a:r>
            <a:r>
              <a:rPr spc="5" dirty="0"/>
              <a:t>数</a:t>
            </a:r>
            <a:endParaRPr spc="5" dirty="0"/>
          </a:p>
        </p:txBody>
      </p:sp>
      <p:sp>
        <p:nvSpPr>
          <p:cNvPr id="3" name="object 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9959" y="1330004"/>
            <a:ext cx="3959392" cy="136824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9241" y="786714"/>
            <a:ext cx="15392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黑体" panose="02010609060101010101" charset="-122"/>
                <a:cs typeface="黑体" panose="02010609060101010101" charset="-122"/>
              </a:rPr>
              <a:t>Sigmoid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激活函数：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55523" y="845217"/>
            <a:ext cx="217931" cy="166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919422" y="786714"/>
            <a:ext cx="15367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sz="1400" i="1" spc="135" dirty="0">
                <a:latin typeface="Cambria Math" panose="02040503050406030204"/>
                <a:cs typeface="Cambria Math" panose="02040503050406030204"/>
              </a:rPr>
              <a:t>a</a:t>
            </a:r>
            <a:r>
              <a:rPr sz="1400" i="1" spc="3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i="1" spc="70" dirty="0">
                <a:latin typeface="Cambria Math" panose="02040503050406030204"/>
                <a:cs typeface="Cambria Math" panose="02040503050406030204"/>
              </a:rPr>
              <a:t>x	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= 1/(1 +</a:t>
            </a:r>
            <a:r>
              <a:rPr sz="1400" i="1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i="1" spc="17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500" i="1" spc="262" baseline="28000" dirty="0">
                <a:latin typeface="Cambria Math" panose="02040503050406030204"/>
                <a:cs typeface="Cambria Math" panose="02040503050406030204"/>
              </a:rPr>
              <a:t>-x</a:t>
            </a:r>
            <a:r>
              <a:rPr sz="1400" i="1" spc="175" dirty="0">
                <a:latin typeface="Cambria Math" panose="02040503050406030204"/>
                <a:cs typeface="Cambria Math" panose="02040503050406030204"/>
              </a:rPr>
              <a:t>)</a:t>
            </a:r>
            <a:endParaRPr sz="1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再看</a:t>
            </a:r>
            <a:r>
              <a:rPr spc="-10" dirty="0"/>
              <a:t>激</a:t>
            </a:r>
            <a:r>
              <a:rPr spc="5" dirty="0"/>
              <a:t>活</a:t>
            </a:r>
            <a:r>
              <a:rPr spc="-10" dirty="0"/>
              <a:t>函</a:t>
            </a:r>
            <a:r>
              <a:rPr spc="5" dirty="0"/>
              <a:t>数</a:t>
            </a:r>
            <a:endParaRPr spc="5" dirty="0"/>
          </a:p>
        </p:txBody>
      </p:sp>
      <p:sp>
        <p:nvSpPr>
          <p:cNvPr id="7" name="object 7"/>
          <p:cNvSpPr txBox="1"/>
          <p:nvPr/>
        </p:nvSpPr>
        <p:spPr>
          <a:xfrm>
            <a:off x="2518574" y="2832026"/>
            <a:ext cx="135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Sigmoid函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的导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278" y="2859475"/>
            <a:ext cx="723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sigmoid函数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6738" y="1477168"/>
            <a:ext cx="1557020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900" spc="7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当输入值大</a:t>
            </a:r>
            <a:r>
              <a:rPr sz="900" spc="8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7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7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或者小于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-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 </a:t>
            </a:r>
            <a:r>
              <a:rPr sz="900" spc="7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时局</a:t>
            </a:r>
            <a:r>
              <a:rPr sz="900" spc="6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部</a:t>
            </a:r>
            <a:r>
              <a:rPr sz="900" spc="7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900" spc="6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900" spc="7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都是</a:t>
            </a:r>
            <a:r>
              <a:rPr sz="900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6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900" spc="7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非</a:t>
            </a:r>
            <a:r>
              <a:rPr sz="900" spc="6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常</a:t>
            </a:r>
            <a:r>
              <a:rPr sz="900" spc="7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利 于网络的梯度流传递的。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583294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2380" y="115828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梯度消失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340" y="786501"/>
            <a:ext cx="5074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085">
              <a:lnSpc>
                <a:spcPct val="15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梯度消失是神经网络训练中非常致命的一个问题，其本质是由于链式法则 的乘法特性导致的。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6220" y="1309665"/>
            <a:ext cx="2115311" cy="141579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36062" y="2834710"/>
            <a:ext cx="135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Sigmoid函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的导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09704" y="1363377"/>
            <a:ext cx="1808177" cy="126246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44478" y="981854"/>
            <a:ext cx="38735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i="1" spc="70" dirty="0">
                <a:latin typeface="Cambria Math" panose="02040503050406030204"/>
                <a:cs typeface="Cambria Math" panose="02040503050406030204"/>
              </a:rPr>
              <a:t>eoshx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57147" y="985425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27814" y="762382"/>
            <a:ext cx="3714115" cy="3206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ts val="835"/>
              </a:lnSpc>
              <a:spcBef>
                <a:spcPts val="90"/>
              </a:spcBef>
              <a:tabLst>
                <a:tab pos="245745" algn="l"/>
              </a:tabLst>
            </a:pPr>
            <a:r>
              <a:rPr sz="850" i="1" spc="120" dirty="0">
                <a:latin typeface="Cambria Math" panose="02040503050406030204"/>
                <a:cs typeface="Cambria Math" panose="02040503050406030204"/>
              </a:rPr>
              <a:t>x	</a:t>
            </a:r>
            <a:r>
              <a:rPr sz="850" i="1" spc="340" dirty="0">
                <a:latin typeface="Cambria Math" panose="02040503050406030204"/>
                <a:cs typeface="Cambria Math" panose="02040503050406030204"/>
              </a:rPr>
              <a:t>-</a:t>
            </a:r>
            <a:r>
              <a:rPr sz="850" i="1" spc="120" dirty="0">
                <a:latin typeface="Cambria Math" panose="02040503050406030204"/>
                <a:cs typeface="Cambria Math" panose="02040503050406030204"/>
              </a:rPr>
              <a:t>x</a:t>
            </a:r>
            <a:endParaRPr sz="85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ts val="1495"/>
              </a:lnSpc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双曲正</a:t>
            </a:r>
            <a:r>
              <a:rPr sz="1400" spc="-15" dirty="0">
                <a:latin typeface="黑体" panose="02010609060101010101" charset="-122"/>
                <a:cs typeface="黑体" panose="02010609060101010101" charset="-122"/>
              </a:rPr>
              <a:t>切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激活</a:t>
            </a:r>
            <a:r>
              <a:rPr sz="1400" spc="-15" dirty="0">
                <a:latin typeface="黑体" panose="02010609060101010101" charset="-122"/>
                <a:cs typeface="黑体" panose="02010609060101010101" charset="-122"/>
              </a:rPr>
              <a:t>函数</a:t>
            </a:r>
            <a:r>
              <a:rPr sz="14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400" i="1" spc="-5" dirty="0">
                <a:latin typeface="Cambria Math" panose="02040503050406030204"/>
                <a:cs typeface="Cambria Math" panose="02040503050406030204"/>
              </a:rPr>
              <a:t>tanh</a:t>
            </a:r>
            <a:r>
              <a:rPr sz="1400" spc="-5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400" i="1" spc="-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400" spc="-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400" spc="-3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400" i="1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i="1" spc="120" baseline="47000" dirty="0">
                <a:latin typeface="Cambria Math" panose="02040503050406030204"/>
                <a:cs typeface="Cambria Math" panose="02040503050406030204"/>
              </a:rPr>
              <a:t>sinhx</a:t>
            </a:r>
            <a:r>
              <a:rPr sz="1500" i="1" spc="412" baseline="4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4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i="1" spc="97" baseline="47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1500" i="1" spc="209" baseline="4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500" i="1" spc="352" baseline="47000" dirty="0">
                <a:latin typeface="Cambria Math" panose="02040503050406030204"/>
                <a:cs typeface="Cambria Math" panose="02040503050406030204"/>
              </a:rPr>
              <a:t>-e</a:t>
            </a:r>
            <a:endParaRPr sz="1500" baseline="4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3341" y="942214"/>
            <a:ext cx="49847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i="1" spc="202" baseline="-17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16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500" i="1" spc="-7" baseline="-17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500" i="1" spc="202" baseline="-1700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850" i="1" spc="340" dirty="0">
                <a:latin typeface="Cambria Math" panose="02040503050406030204"/>
                <a:cs typeface="Cambria Math" panose="02040503050406030204"/>
              </a:rPr>
              <a:t>-</a:t>
            </a:r>
            <a:r>
              <a:rPr sz="850" i="1" spc="120" dirty="0">
                <a:latin typeface="Cambria Math" panose="02040503050406030204"/>
                <a:cs typeface="Cambria Math" panose="02040503050406030204"/>
              </a:rPr>
              <a:t>x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56079" y="985425"/>
            <a:ext cx="477520" cy="0"/>
          </a:xfrm>
          <a:custGeom>
            <a:avLst/>
            <a:gdLst/>
            <a:ahLst/>
            <a:cxnLst/>
            <a:rect l="l" t="t" r="r" b="b"/>
            <a:pathLst>
              <a:path w="477520">
                <a:moveTo>
                  <a:pt x="0" y="0"/>
                </a:moveTo>
                <a:lnTo>
                  <a:pt x="47701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91817" y="132933"/>
            <a:ext cx="10179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激活</a:t>
            </a:r>
            <a:r>
              <a:rPr spc="-10" dirty="0"/>
              <a:t>函</a:t>
            </a:r>
            <a:r>
              <a:rPr spc="5" dirty="0"/>
              <a:t>数</a:t>
            </a:r>
            <a:endParaRPr spc="5" dirty="0"/>
          </a:p>
        </p:txBody>
      </p:sp>
      <p:sp>
        <p:nvSpPr>
          <p:cNvPr id="9" name="object 9"/>
          <p:cNvSpPr txBox="1"/>
          <p:nvPr/>
        </p:nvSpPr>
        <p:spPr>
          <a:xfrm>
            <a:off x="2517056" y="2832026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a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nh函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的导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5760" y="2859475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a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h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50826" y="1577225"/>
            <a:ext cx="1741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s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m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id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类似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局部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利于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流的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向传递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59388" y="1524549"/>
            <a:ext cx="1637802" cy="11049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8130" y="1434406"/>
            <a:ext cx="1795946" cy="1232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29241" y="792452"/>
            <a:ext cx="2655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黑体" panose="02010609060101010101" charset="-122"/>
                <a:cs typeface="黑体" panose="02010609060101010101" charset="-122"/>
              </a:rPr>
              <a:t>ReLU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激活函数</a:t>
            </a:r>
            <a:r>
              <a:rPr sz="1400" spc="9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400" spc="90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400" spc="3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4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spc="-5" dirty="0">
                <a:latin typeface="Cambria Math" panose="02040503050406030204"/>
                <a:cs typeface="Cambria Math" panose="02040503050406030204"/>
              </a:rPr>
              <a:t>max(0,</a:t>
            </a:r>
            <a:r>
              <a:rPr sz="14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spc="50" dirty="0">
                <a:latin typeface="Cambria Math" panose="02040503050406030204"/>
                <a:cs typeface="Cambria Math" panose="02040503050406030204"/>
              </a:rPr>
              <a:t>x)</a:t>
            </a:r>
            <a:endParaRPr sz="1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激活</a:t>
            </a:r>
            <a:r>
              <a:rPr spc="-10" dirty="0"/>
              <a:t>函</a:t>
            </a:r>
            <a:r>
              <a:rPr spc="5" dirty="0"/>
              <a:t>数</a:t>
            </a:r>
            <a:r>
              <a:rPr spc="-10" dirty="0"/>
              <a:t>选</a:t>
            </a:r>
            <a:r>
              <a:rPr spc="5" dirty="0"/>
              <a:t>择</a:t>
            </a:r>
            <a:endParaRPr spc="5" dirty="0"/>
          </a:p>
        </p:txBody>
      </p:sp>
      <p:sp>
        <p:nvSpPr>
          <p:cNvPr id="6" name="object 6"/>
          <p:cNvSpPr txBox="1"/>
          <p:nvPr/>
        </p:nvSpPr>
        <p:spPr>
          <a:xfrm>
            <a:off x="2518574" y="2837745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L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U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的导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278" y="2865194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LU函数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4628" y="1563086"/>
            <a:ext cx="174180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局部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永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远 </a:t>
            </a:r>
            <a:r>
              <a:rPr sz="1000" spc="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不会为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1000" spc="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比较有利于梯</a:t>
            </a:r>
            <a:r>
              <a:rPr sz="1000" spc="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递。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83294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78335" y="1529469"/>
            <a:ext cx="1601274" cy="118037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8135" y="1520116"/>
            <a:ext cx="1796215" cy="1165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25373" y="844665"/>
            <a:ext cx="36093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Leakly</a:t>
            </a:r>
            <a:r>
              <a:rPr sz="14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spc="-5" dirty="0">
                <a:latin typeface="黑体" panose="02010609060101010101" charset="-122"/>
                <a:cs typeface="黑体" panose="02010609060101010101" charset="-122"/>
              </a:rPr>
              <a:t>ReLU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激活</a:t>
            </a:r>
            <a:r>
              <a:rPr sz="1400" spc="-15" dirty="0">
                <a:latin typeface="黑体" panose="02010609060101010101" charset="-122"/>
                <a:cs typeface="黑体" panose="02010609060101010101" charset="-122"/>
              </a:rPr>
              <a:t>函</a:t>
            </a: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400" spc="9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400" i="1" spc="95" dirty="0">
                <a:latin typeface="Cambria Math" panose="02040503050406030204"/>
                <a:cs typeface="Cambria Math" panose="02040503050406030204"/>
              </a:rPr>
              <a:t>f(x)</a:t>
            </a:r>
            <a:r>
              <a:rPr sz="1400" i="1" spc="3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4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i="1" spc="5" dirty="0">
                <a:latin typeface="Cambria Math" panose="02040503050406030204"/>
                <a:cs typeface="Cambria Math" panose="02040503050406030204"/>
              </a:rPr>
              <a:t>max(0.01x,</a:t>
            </a:r>
            <a:r>
              <a:rPr sz="1400" i="1" spc="-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i="1" spc="50" dirty="0">
                <a:latin typeface="Cambria Math" panose="02040503050406030204"/>
                <a:cs typeface="Cambria Math" panose="02040503050406030204"/>
              </a:rPr>
              <a:t>x)</a:t>
            </a:r>
            <a:endParaRPr sz="1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激活</a:t>
            </a:r>
            <a:r>
              <a:rPr spc="-10" dirty="0"/>
              <a:t>函</a:t>
            </a:r>
            <a:r>
              <a:rPr spc="5" dirty="0"/>
              <a:t>数</a:t>
            </a:r>
            <a:r>
              <a:rPr spc="-10" dirty="0"/>
              <a:t>选</a:t>
            </a:r>
            <a:r>
              <a:rPr spc="5" dirty="0"/>
              <a:t>择</a:t>
            </a:r>
            <a:endParaRPr spc="5" dirty="0"/>
          </a:p>
        </p:txBody>
      </p:sp>
      <p:sp>
        <p:nvSpPr>
          <p:cNvPr id="6" name="object 6"/>
          <p:cNvSpPr txBox="1"/>
          <p:nvPr/>
        </p:nvSpPr>
        <p:spPr>
          <a:xfrm>
            <a:off x="2518574" y="2832026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L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U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的导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278" y="2859475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LU函数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4628" y="1465913"/>
            <a:ext cx="17418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本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没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区”，</a:t>
            </a:r>
            <a:r>
              <a:rPr sz="1000" spc="-8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之所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说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基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本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”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是因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函数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导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83294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2380" y="115828"/>
            <a:ext cx="1141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梯度爆炸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1275" y="1422441"/>
            <a:ext cx="1632203" cy="149809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3340" y="877941"/>
            <a:ext cx="5067300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85420" algn="l"/>
              </a:tabLst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梯度爆炸也是由于链式法则的乘法特性导致的。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322516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梯度爆炸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：断崖处梯度乘以学习率后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817245">
              <a:lnSpc>
                <a:spcPts val="1075"/>
              </a:lnSpc>
              <a:spcBef>
                <a:spcPts val="555"/>
              </a:spcBef>
            </a:pPr>
            <a:r>
              <a:rPr sz="900" spc="-5" dirty="0">
                <a:latin typeface="Cambria Math" panose="02040503050406030204"/>
                <a:cs typeface="Cambria Math" panose="02040503050406030204"/>
              </a:rPr>
              <a:t>L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 marL="3225165">
              <a:lnSpc>
                <a:spcPts val="1075"/>
              </a:lnSpc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会是一个非常大得值，从而“飞”出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3225165" marR="5080">
              <a:lnSpc>
                <a:spcPct val="250000"/>
              </a:lnSpc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了合理区域，最终导致算法不收敛； </a:t>
            </a: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解决方案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：把沿梯度方向前进的步长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R="426085" algn="ctr">
              <a:lnSpc>
                <a:spcPts val="965"/>
              </a:lnSpc>
              <a:spcBef>
                <a:spcPts val="765"/>
              </a:spcBef>
            </a:pPr>
            <a:r>
              <a:rPr sz="900" spc="-35" dirty="0">
                <a:latin typeface="Cambria Math" panose="02040503050406030204"/>
                <a:cs typeface="Cambria Math" panose="02040503050406030204"/>
              </a:rPr>
              <a:t>w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 marL="3225165">
              <a:lnSpc>
                <a:spcPts val="965"/>
              </a:lnSpc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限制在某个值内就可以避免“飞”出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3225165">
              <a:lnSpc>
                <a:spcPct val="100000"/>
              </a:lnSpc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了，这个方法也称为梯度裁剪。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040" y="1131297"/>
            <a:ext cx="46736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尽量选择ReLU函数或者Leakly</a:t>
            </a:r>
            <a:r>
              <a:rPr sz="1200" spc="-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ReLU函数，相对于Sigmoid/tanh，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2700" marR="158115">
              <a:lnSpc>
                <a:spcPct val="200000"/>
              </a:lnSpc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ReLU函数或者Leakly</a:t>
            </a:r>
            <a:r>
              <a:rPr sz="1200" spc="-1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ReLU函数会让梯度流更加顺畅，训练过程收敛 得更快。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6484" y="132933"/>
            <a:ext cx="20085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激活</a:t>
            </a:r>
            <a:r>
              <a:rPr sz="1950" spc="-10" dirty="0">
                <a:latin typeface="黑体" panose="02010609060101010101" charset="-122"/>
                <a:cs typeface="黑体" panose="02010609060101010101" charset="-122"/>
              </a:rPr>
              <a:t>函</a:t>
            </a: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950" spc="-10" dirty="0">
                <a:latin typeface="黑体" panose="02010609060101010101" charset="-122"/>
                <a:cs typeface="黑体" panose="02010609060101010101" charset="-122"/>
              </a:rPr>
              <a:t>选择</a:t>
            </a: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总结</a:t>
            </a:r>
            <a:endParaRPr sz="195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4" y="2189013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4" y="0"/>
                </a:lnTo>
                <a:lnTo>
                  <a:pt x="893064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solidFill>
            <a:srgbClr val="FCD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09503" y="2189013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814697" y="219612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</a:t>
            </a:r>
            <a:r>
              <a:rPr sz="900" spc="5" dirty="0">
                <a:latin typeface="微软雅黑" panose="020B0503020204020204" charset="-122"/>
                <a:cs typeface="微软雅黑" panose="020B0503020204020204" charset="-122"/>
              </a:rPr>
              <a:t>F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0901" y="2372947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ln w="12191">
            <a:solidFill>
              <a:srgbClr val="383838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488" y="110140"/>
            <a:ext cx="1699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梯度算法改进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1423" y="837175"/>
            <a:ext cx="2159635" cy="169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梯度下降算法存在的问题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动量法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自适应梯度与R</a:t>
            </a:r>
            <a:r>
              <a:rPr sz="1400" spc="-10" dirty="0">
                <a:latin typeface="微软雅黑" panose="020B0503020204020204" charset="-122"/>
                <a:cs typeface="微软雅黑" panose="020B0503020204020204" charset="-122"/>
              </a:rPr>
              <a:t>M</a:t>
            </a: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S</a:t>
            </a:r>
            <a:r>
              <a:rPr sz="1400" spc="10" dirty="0">
                <a:latin typeface="微软雅黑" panose="020B0503020204020204" charset="-122"/>
                <a:cs typeface="微软雅黑" panose="020B0503020204020204" charset="-122"/>
              </a:rPr>
              <a:t>P</a:t>
            </a:r>
            <a:r>
              <a:rPr sz="1400" spc="-25" dirty="0"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op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ADAM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总结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488" y="115828"/>
            <a:ext cx="1699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梯度算法改进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1423" y="842735"/>
            <a:ext cx="2159635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梯度下降算法存在的问题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动量法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自适应梯度与</a:t>
            </a:r>
            <a:r>
              <a:rPr sz="1400" spc="-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RMSProp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spc="-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ADAM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总结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6220" y="1360329"/>
            <a:ext cx="2676144" cy="17846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49200" y="2384456"/>
            <a:ext cx="571500" cy="99060"/>
          </a:xfrm>
          <a:custGeom>
            <a:avLst/>
            <a:gdLst/>
            <a:ahLst/>
            <a:cxnLst/>
            <a:rect l="l" t="t" r="r" b="b"/>
            <a:pathLst>
              <a:path w="571500" h="99060">
                <a:moveTo>
                  <a:pt x="571499" y="38099"/>
                </a:moveTo>
                <a:lnTo>
                  <a:pt x="525126" y="59091"/>
                </a:lnTo>
                <a:lnTo>
                  <a:pt x="477625" y="75600"/>
                </a:lnTo>
                <a:lnTo>
                  <a:pt x="429267" y="87653"/>
                </a:lnTo>
                <a:lnTo>
                  <a:pt x="380322" y="95278"/>
                </a:lnTo>
                <a:lnTo>
                  <a:pt x="331059" y="98499"/>
                </a:lnTo>
                <a:lnTo>
                  <a:pt x="281749" y="97345"/>
                </a:lnTo>
                <a:lnTo>
                  <a:pt x="232661" y="91841"/>
                </a:lnTo>
                <a:lnTo>
                  <a:pt x="184065" y="82013"/>
                </a:lnTo>
                <a:lnTo>
                  <a:pt x="136231" y="67889"/>
                </a:lnTo>
                <a:lnTo>
                  <a:pt x="89429" y="49494"/>
                </a:lnTo>
                <a:lnTo>
                  <a:pt x="43928" y="26856"/>
                </a:lnTo>
                <a:lnTo>
                  <a:pt x="0" y="0"/>
                </a:lnTo>
              </a:path>
            </a:pathLst>
          </a:custGeom>
          <a:ln w="18287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59740" y="2574957"/>
            <a:ext cx="879475" cy="325120"/>
          </a:xfrm>
          <a:custGeom>
            <a:avLst/>
            <a:gdLst/>
            <a:ahLst/>
            <a:cxnLst/>
            <a:rect l="l" t="t" r="r" b="b"/>
            <a:pathLst>
              <a:path w="879475" h="325119">
                <a:moveTo>
                  <a:pt x="823004" y="306189"/>
                </a:moveTo>
                <a:lnTo>
                  <a:pt x="816863" y="324612"/>
                </a:lnTo>
                <a:lnTo>
                  <a:pt x="879348" y="316992"/>
                </a:lnTo>
                <a:lnTo>
                  <a:pt x="872219" y="309372"/>
                </a:lnTo>
                <a:lnTo>
                  <a:pt x="832104" y="309372"/>
                </a:lnTo>
                <a:lnTo>
                  <a:pt x="823004" y="306189"/>
                </a:lnTo>
                <a:close/>
              </a:path>
              <a:path w="879475" h="325119">
                <a:moveTo>
                  <a:pt x="829102" y="287895"/>
                </a:moveTo>
                <a:lnTo>
                  <a:pt x="823004" y="306189"/>
                </a:lnTo>
                <a:lnTo>
                  <a:pt x="832104" y="309372"/>
                </a:lnTo>
                <a:lnTo>
                  <a:pt x="838200" y="291084"/>
                </a:lnTo>
                <a:lnTo>
                  <a:pt x="829102" y="287895"/>
                </a:lnTo>
                <a:close/>
              </a:path>
              <a:path w="879475" h="325119">
                <a:moveTo>
                  <a:pt x="835151" y="269748"/>
                </a:moveTo>
                <a:lnTo>
                  <a:pt x="829102" y="287895"/>
                </a:lnTo>
                <a:lnTo>
                  <a:pt x="838200" y="291084"/>
                </a:lnTo>
                <a:lnTo>
                  <a:pt x="832104" y="309372"/>
                </a:lnTo>
                <a:lnTo>
                  <a:pt x="872219" y="309372"/>
                </a:lnTo>
                <a:lnTo>
                  <a:pt x="835151" y="269748"/>
                </a:lnTo>
                <a:close/>
              </a:path>
              <a:path w="879475" h="325119">
                <a:moveTo>
                  <a:pt x="7620" y="0"/>
                </a:moveTo>
                <a:lnTo>
                  <a:pt x="0" y="18288"/>
                </a:lnTo>
                <a:lnTo>
                  <a:pt x="823004" y="306189"/>
                </a:lnTo>
                <a:lnTo>
                  <a:pt x="829102" y="287895"/>
                </a:lnTo>
                <a:lnTo>
                  <a:pt x="76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16128" y="2139093"/>
            <a:ext cx="629920" cy="292735"/>
          </a:xfrm>
          <a:custGeom>
            <a:avLst/>
            <a:gdLst/>
            <a:ahLst/>
            <a:cxnLst/>
            <a:rect l="l" t="t" r="r" b="b"/>
            <a:pathLst>
              <a:path w="629920" h="292735">
                <a:moveTo>
                  <a:pt x="573043" y="17824"/>
                </a:moveTo>
                <a:lnTo>
                  <a:pt x="0" y="275843"/>
                </a:lnTo>
                <a:lnTo>
                  <a:pt x="9144" y="292607"/>
                </a:lnTo>
                <a:lnTo>
                  <a:pt x="580840" y="36019"/>
                </a:lnTo>
                <a:lnTo>
                  <a:pt x="573043" y="17824"/>
                </a:lnTo>
                <a:close/>
              </a:path>
              <a:path w="629920" h="292735">
                <a:moveTo>
                  <a:pt x="620683" y="13715"/>
                </a:moveTo>
                <a:lnTo>
                  <a:pt x="582168" y="13715"/>
                </a:lnTo>
                <a:lnTo>
                  <a:pt x="589788" y="32003"/>
                </a:lnTo>
                <a:lnTo>
                  <a:pt x="580840" y="36019"/>
                </a:lnTo>
                <a:lnTo>
                  <a:pt x="588263" y="53339"/>
                </a:lnTo>
                <a:lnTo>
                  <a:pt x="620683" y="13715"/>
                </a:lnTo>
                <a:close/>
              </a:path>
              <a:path w="629920" h="292735">
                <a:moveTo>
                  <a:pt x="582168" y="13715"/>
                </a:moveTo>
                <a:lnTo>
                  <a:pt x="573043" y="17824"/>
                </a:lnTo>
                <a:lnTo>
                  <a:pt x="580840" y="36019"/>
                </a:lnTo>
                <a:lnTo>
                  <a:pt x="589788" y="32003"/>
                </a:lnTo>
                <a:lnTo>
                  <a:pt x="582168" y="13715"/>
                </a:lnTo>
                <a:close/>
              </a:path>
              <a:path w="629920" h="292735">
                <a:moveTo>
                  <a:pt x="565404" y="0"/>
                </a:moveTo>
                <a:lnTo>
                  <a:pt x="573043" y="17824"/>
                </a:lnTo>
                <a:lnTo>
                  <a:pt x="582168" y="13715"/>
                </a:lnTo>
                <a:lnTo>
                  <a:pt x="620683" y="13715"/>
                </a:lnTo>
                <a:lnTo>
                  <a:pt x="629412" y="3048"/>
                </a:lnTo>
                <a:lnTo>
                  <a:pt x="565404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63044" y="2129949"/>
            <a:ext cx="489584" cy="262255"/>
          </a:xfrm>
          <a:custGeom>
            <a:avLst/>
            <a:gdLst/>
            <a:ahLst/>
            <a:cxnLst/>
            <a:rect l="l" t="t" r="r" b="b"/>
            <a:pathLst>
              <a:path w="489585" h="262255">
                <a:moveTo>
                  <a:pt x="54357" y="18227"/>
                </a:moveTo>
                <a:lnTo>
                  <a:pt x="45431" y="35089"/>
                </a:lnTo>
                <a:lnTo>
                  <a:pt x="481583" y="262127"/>
                </a:lnTo>
                <a:lnTo>
                  <a:pt x="489204" y="245364"/>
                </a:lnTo>
                <a:lnTo>
                  <a:pt x="54357" y="18227"/>
                </a:lnTo>
                <a:close/>
              </a:path>
              <a:path w="489585" h="262255">
                <a:moveTo>
                  <a:pt x="64007" y="0"/>
                </a:moveTo>
                <a:lnTo>
                  <a:pt x="0" y="0"/>
                </a:lnTo>
                <a:lnTo>
                  <a:pt x="36575" y="51816"/>
                </a:lnTo>
                <a:lnTo>
                  <a:pt x="45431" y="35089"/>
                </a:lnTo>
                <a:lnTo>
                  <a:pt x="36575" y="30479"/>
                </a:lnTo>
                <a:lnTo>
                  <a:pt x="45719" y="13716"/>
                </a:lnTo>
                <a:lnTo>
                  <a:pt x="56746" y="13716"/>
                </a:lnTo>
                <a:lnTo>
                  <a:pt x="64007" y="0"/>
                </a:lnTo>
                <a:close/>
              </a:path>
              <a:path w="489585" h="262255">
                <a:moveTo>
                  <a:pt x="45719" y="13716"/>
                </a:moveTo>
                <a:lnTo>
                  <a:pt x="36575" y="30479"/>
                </a:lnTo>
                <a:lnTo>
                  <a:pt x="45431" y="35089"/>
                </a:lnTo>
                <a:lnTo>
                  <a:pt x="54357" y="18227"/>
                </a:lnTo>
                <a:lnTo>
                  <a:pt x="45719" y="13716"/>
                </a:lnTo>
                <a:close/>
              </a:path>
              <a:path w="489585" h="262255">
                <a:moveTo>
                  <a:pt x="56746" y="13716"/>
                </a:moveTo>
                <a:lnTo>
                  <a:pt x="45719" y="13716"/>
                </a:lnTo>
                <a:lnTo>
                  <a:pt x="54357" y="18227"/>
                </a:lnTo>
                <a:lnTo>
                  <a:pt x="56746" y="13716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3248" y="606905"/>
            <a:ext cx="3867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损失函数特性：一个方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上变化迅速而在另一个方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上变化缓慢。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49562" y="134424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梯度</a:t>
            </a:r>
            <a:r>
              <a:rPr spc="-10" dirty="0"/>
              <a:t>下</a:t>
            </a:r>
            <a:r>
              <a:rPr spc="5" dirty="0"/>
              <a:t>降</a:t>
            </a:r>
            <a:r>
              <a:rPr spc="-10" dirty="0"/>
              <a:t>法存</a:t>
            </a:r>
            <a:r>
              <a:rPr spc="5" dirty="0"/>
              <a:t>在的</a:t>
            </a:r>
            <a:r>
              <a:rPr spc="-10" dirty="0"/>
              <a:t>问</a:t>
            </a:r>
            <a:r>
              <a:rPr spc="5" dirty="0"/>
              <a:t>题</a:t>
            </a:r>
            <a:endParaRPr spc="5" dirty="0"/>
          </a:p>
        </p:txBody>
      </p:sp>
      <p:sp>
        <p:nvSpPr>
          <p:cNvPr id="9" name="object 9"/>
          <p:cNvSpPr/>
          <p:nvPr/>
        </p:nvSpPr>
        <p:spPr>
          <a:xfrm>
            <a:off x="3694079" y="2518569"/>
            <a:ext cx="687324" cy="179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72859" y="2537877"/>
            <a:ext cx="5346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梯度幅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60579" y="1986693"/>
            <a:ext cx="633983" cy="1798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13393" y="2007529"/>
            <a:ext cx="5346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030A0"/>
                </a:solidFill>
                <a:latin typeface="黑体" panose="02010609060101010101" charset="-122"/>
                <a:cs typeface="黑体" panose="02010609060101010101" charset="-122"/>
              </a:rPr>
              <a:t>梯度幅</a:t>
            </a:r>
            <a:r>
              <a:rPr sz="800" spc="-15" dirty="0">
                <a:solidFill>
                  <a:srgbClr val="7030A0"/>
                </a:solidFill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800" dirty="0">
                <a:solidFill>
                  <a:srgbClr val="7030A0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83294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6220" y="1366053"/>
            <a:ext cx="2676144" cy="17846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56435" y="2893101"/>
            <a:ext cx="140207" cy="135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91416" y="2004609"/>
            <a:ext cx="146304" cy="137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97511" y="2004609"/>
            <a:ext cx="143510" cy="137160"/>
          </a:xfrm>
          <a:custGeom>
            <a:avLst/>
            <a:gdLst/>
            <a:ahLst/>
            <a:cxnLst/>
            <a:rect l="l" t="t" r="r" b="b"/>
            <a:pathLst>
              <a:path w="143510" h="137160">
                <a:moveTo>
                  <a:pt x="13715" y="74676"/>
                </a:moveTo>
                <a:lnTo>
                  <a:pt x="1524" y="76200"/>
                </a:lnTo>
                <a:lnTo>
                  <a:pt x="1524" y="82296"/>
                </a:lnTo>
                <a:lnTo>
                  <a:pt x="4571" y="89916"/>
                </a:lnTo>
                <a:lnTo>
                  <a:pt x="6095" y="94488"/>
                </a:lnTo>
                <a:lnTo>
                  <a:pt x="6095" y="96012"/>
                </a:lnTo>
                <a:lnTo>
                  <a:pt x="12192" y="106680"/>
                </a:lnTo>
                <a:lnTo>
                  <a:pt x="13715" y="108204"/>
                </a:lnTo>
                <a:lnTo>
                  <a:pt x="19812" y="115824"/>
                </a:lnTo>
                <a:lnTo>
                  <a:pt x="30480" y="108204"/>
                </a:lnTo>
                <a:lnTo>
                  <a:pt x="24130" y="100584"/>
                </a:lnTo>
                <a:lnTo>
                  <a:pt x="22860" y="100584"/>
                </a:lnTo>
                <a:lnTo>
                  <a:pt x="16763" y="89916"/>
                </a:lnTo>
                <a:lnTo>
                  <a:pt x="18287" y="89916"/>
                </a:lnTo>
                <a:lnTo>
                  <a:pt x="15239" y="85343"/>
                </a:lnTo>
                <a:lnTo>
                  <a:pt x="13715" y="79248"/>
                </a:lnTo>
                <a:lnTo>
                  <a:pt x="13715" y="74676"/>
                </a:lnTo>
                <a:close/>
              </a:path>
              <a:path w="143510" h="137160">
                <a:moveTo>
                  <a:pt x="22860" y="99060"/>
                </a:moveTo>
                <a:lnTo>
                  <a:pt x="22860" y="100584"/>
                </a:lnTo>
                <a:lnTo>
                  <a:pt x="24130" y="100584"/>
                </a:lnTo>
                <a:lnTo>
                  <a:pt x="22860" y="99060"/>
                </a:lnTo>
                <a:close/>
              </a:path>
              <a:path w="143510" h="137160">
                <a:moveTo>
                  <a:pt x="18287" y="24384"/>
                </a:moveTo>
                <a:lnTo>
                  <a:pt x="13715" y="30480"/>
                </a:lnTo>
                <a:lnTo>
                  <a:pt x="12192" y="30480"/>
                </a:lnTo>
                <a:lnTo>
                  <a:pt x="6095" y="41148"/>
                </a:lnTo>
                <a:lnTo>
                  <a:pt x="6095" y="42672"/>
                </a:lnTo>
                <a:lnTo>
                  <a:pt x="3048" y="48768"/>
                </a:lnTo>
                <a:lnTo>
                  <a:pt x="1524" y="54864"/>
                </a:lnTo>
                <a:lnTo>
                  <a:pt x="1524" y="62484"/>
                </a:lnTo>
                <a:lnTo>
                  <a:pt x="0" y="68580"/>
                </a:lnTo>
                <a:lnTo>
                  <a:pt x="1524" y="76200"/>
                </a:lnTo>
                <a:lnTo>
                  <a:pt x="13715" y="74676"/>
                </a:lnTo>
                <a:lnTo>
                  <a:pt x="13715" y="57912"/>
                </a:lnTo>
                <a:lnTo>
                  <a:pt x="15239" y="51816"/>
                </a:lnTo>
                <a:lnTo>
                  <a:pt x="18287" y="47243"/>
                </a:lnTo>
                <a:lnTo>
                  <a:pt x="16763" y="47243"/>
                </a:lnTo>
                <a:lnTo>
                  <a:pt x="22860" y="38100"/>
                </a:lnTo>
                <a:lnTo>
                  <a:pt x="27431" y="32004"/>
                </a:lnTo>
                <a:lnTo>
                  <a:pt x="18287" y="24384"/>
                </a:lnTo>
                <a:close/>
              </a:path>
              <a:path w="143510" h="137160">
                <a:moveTo>
                  <a:pt x="104938" y="13716"/>
                </a:moveTo>
                <a:lnTo>
                  <a:pt x="77724" y="13716"/>
                </a:lnTo>
                <a:lnTo>
                  <a:pt x="83819" y="15240"/>
                </a:lnTo>
                <a:lnTo>
                  <a:pt x="89915" y="15240"/>
                </a:lnTo>
                <a:lnTo>
                  <a:pt x="94487" y="18288"/>
                </a:lnTo>
                <a:lnTo>
                  <a:pt x="100583" y="21336"/>
                </a:lnTo>
                <a:lnTo>
                  <a:pt x="104938" y="13716"/>
                </a:lnTo>
                <a:close/>
              </a:path>
              <a:path w="143510" h="137160">
                <a:moveTo>
                  <a:pt x="85343" y="1524"/>
                </a:moveTo>
                <a:lnTo>
                  <a:pt x="56387" y="1524"/>
                </a:lnTo>
                <a:lnTo>
                  <a:pt x="53339" y="3048"/>
                </a:lnTo>
                <a:lnTo>
                  <a:pt x="56387" y="15240"/>
                </a:lnTo>
                <a:lnTo>
                  <a:pt x="59436" y="13716"/>
                </a:lnTo>
                <a:lnTo>
                  <a:pt x="104938" y="13716"/>
                </a:lnTo>
                <a:lnTo>
                  <a:pt x="106680" y="10668"/>
                </a:lnTo>
                <a:lnTo>
                  <a:pt x="99060" y="6096"/>
                </a:lnTo>
                <a:lnTo>
                  <a:pt x="92963" y="3048"/>
                </a:lnTo>
                <a:lnTo>
                  <a:pt x="85343" y="1524"/>
                </a:lnTo>
                <a:close/>
              </a:path>
              <a:path w="143510" h="137160">
                <a:moveTo>
                  <a:pt x="71627" y="0"/>
                </a:moveTo>
                <a:lnTo>
                  <a:pt x="64007" y="1524"/>
                </a:lnTo>
                <a:lnTo>
                  <a:pt x="77724" y="1524"/>
                </a:lnTo>
                <a:lnTo>
                  <a:pt x="71627" y="0"/>
                </a:lnTo>
                <a:close/>
              </a:path>
              <a:path w="143510" h="137160">
                <a:moveTo>
                  <a:pt x="135636" y="39624"/>
                </a:moveTo>
                <a:lnTo>
                  <a:pt x="124968" y="45720"/>
                </a:lnTo>
                <a:lnTo>
                  <a:pt x="124968" y="47243"/>
                </a:lnTo>
                <a:lnTo>
                  <a:pt x="128015" y="53340"/>
                </a:lnTo>
                <a:lnTo>
                  <a:pt x="129539" y="57912"/>
                </a:lnTo>
                <a:lnTo>
                  <a:pt x="129539" y="74676"/>
                </a:lnTo>
                <a:lnTo>
                  <a:pt x="128015" y="80772"/>
                </a:lnTo>
                <a:lnTo>
                  <a:pt x="124968" y="89916"/>
                </a:lnTo>
                <a:lnTo>
                  <a:pt x="137160" y="94488"/>
                </a:lnTo>
                <a:lnTo>
                  <a:pt x="138683" y="88392"/>
                </a:lnTo>
                <a:lnTo>
                  <a:pt x="141731" y="82296"/>
                </a:lnTo>
                <a:lnTo>
                  <a:pt x="141731" y="76200"/>
                </a:lnTo>
                <a:lnTo>
                  <a:pt x="143256" y="68580"/>
                </a:lnTo>
                <a:lnTo>
                  <a:pt x="141731" y="60960"/>
                </a:lnTo>
                <a:lnTo>
                  <a:pt x="141731" y="54864"/>
                </a:lnTo>
                <a:lnTo>
                  <a:pt x="138683" y="48768"/>
                </a:lnTo>
                <a:lnTo>
                  <a:pt x="137160" y="42672"/>
                </a:lnTo>
                <a:lnTo>
                  <a:pt x="137160" y="41148"/>
                </a:lnTo>
                <a:lnTo>
                  <a:pt x="135636" y="39624"/>
                </a:lnTo>
                <a:close/>
              </a:path>
              <a:path w="143510" h="137160">
                <a:moveTo>
                  <a:pt x="65531" y="123443"/>
                </a:moveTo>
                <a:lnTo>
                  <a:pt x="59436" y="123443"/>
                </a:lnTo>
                <a:lnTo>
                  <a:pt x="56387" y="135636"/>
                </a:lnTo>
                <a:lnTo>
                  <a:pt x="57912" y="135636"/>
                </a:lnTo>
                <a:lnTo>
                  <a:pt x="64007" y="137160"/>
                </a:lnTo>
                <a:lnTo>
                  <a:pt x="79248" y="137160"/>
                </a:lnTo>
                <a:lnTo>
                  <a:pt x="86868" y="135636"/>
                </a:lnTo>
                <a:lnTo>
                  <a:pt x="92963" y="134112"/>
                </a:lnTo>
                <a:lnTo>
                  <a:pt x="99060" y="131064"/>
                </a:lnTo>
                <a:lnTo>
                  <a:pt x="109727" y="126492"/>
                </a:lnTo>
                <a:lnTo>
                  <a:pt x="108965" y="124968"/>
                </a:lnTo>
                <a:lnTo>
                  <a:pt x="71627" y="124968"/>
                </a:lnTo>
                <a:lnTo>
                  <a:pt x="65531" y="123443"/>
                </a:lnTo>
                <a:close/>
              </a:path>
              <a:path w="143510" h="137160">
                <a:moveTo>
                  <a:pt x="103631" y="114300"/>
                </a:moveTo>
                <a:lnTo>
                  <a:pt x="94487" y="120396"/>
                </a:lnTo>
                <a:lnTo>
                  <a:pt x="88392" y="121920"/>
                </a:lnTo>
                <a:lnTo>
                  <a:pt x="83819" y="123443"/>
                </a:lnTo>
                <a:lnTo>
                  <a:pt x="77724" y="123443"/>
                </a:lnTo>
                <a:lnTo>
                  <a:pt x="71627" y="124968"/>
                </a:lnTo>
                <a:lnTo>
                  <a:pt x="108965" y="124968"/>
                </a:lnTo>
                <a:lnTo>
                  <a:pt x="103631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3248" y="529899"/>
            <a:ext cx="3867785" cy="4953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74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损失函数特性：一个方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上变化迅速而在另一个方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上变化缓慢。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优化目标：从起点处走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笑脸处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49562" y="138710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梯度</a:t>
            </a:r>
            <a:r>
              <a:rPr spc="-10" dirty="0"/>
              <a:t>下</a:t>
            </a:r>
            <a:r>
              <a:rPr spc="5" dirty="0"/>
              <a:t>降</a:t>
            </a:r>
            <a:r>
              <a:rPr spc="-10" dirty="0"/>
              <a:t>法存</a:t>
            </a:r>
            <a:r>
              <a:rPr spc="5" dirty="0"/>
              <a:t>在的</a:t>
            </a:r>
            <a:r>
              <a:rPr spc="-10" dirty="0"/>
              <a:t>问</a:t>
            </a:r>
            <a:r>
              <a:rPr spc="5" dirty="0"/>
              <a:t>题</a:t>
            </a:r>
            <a:endParaRPr spc="5" dirty="0"/>
          </a:p>
        </p:txBody>
      </p:sp>
      <p:sp>
        <p:nvSpPr>
          <p:cNvPr id="8" name="object 8"/>
          <p:cNvSpPr/>
          <p:nvPr/>
        </p:nvSpPr>
        <p:spPr>
          <a:xfrm>
            <a:off x="4417979" y="2737653"/>
            <a:ext cx="246887" cy="176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696324" y="2631995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终点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00103" y="1905549"/>
            <a:ext cx="554990" cy="163195"/>
          </a:xfrm>
          <a:custGeom>
            <a:avLst/>
            <a:gdLst/>
            <a:ahLst/>
            <a:cxnLst/>
            <a:rect l="l" t="t" r="r" b="b"/>
            <a:pathLst>
              <a:path w="554989" h="163194">
                <a:moveTo>
                  <a:pt x="516557" y="147659"/>
                </a:moveTo>
                <a:lnTo>
                  <a:pt x="512063" y="163068"/>
                </a:lnTo>
                <a:lnTo>
                  <a:pt x="554735" y="153924"/>
                </a:lnTo>
                <a:lnTo>
                  <a:pt x="549401" y="149351"/>
                </a:lnTo>
                <a:lnTo>
                  <a:pt x="522731" y="149351"/>
                </a:lnTo>
                <a:lnTo>
                  <a:pt x="516557" y="147659"/>
                </a:lnTo>
                <a:close/>
              </a:path>
              <a:path w="554989" h="163194">
                <a:moveTo>
                  <a:pt x="518317" y="141628"/>
                </a:moveTo>
                <a:lnTo>
                  <a:pt x="516557" y="147659"/>
                </a:lnTo>
                <a:lnTo>
                  <a:pt x="522731" y="149351"/>
                </a:lnTo>
                <a:lnTo>
                  <a:pt x="524256" y="143256"/>
                </a:lnTo>
                <a:lnTo>
                  <a:pt x="518317" y="141628"/>
                </a:lnTo>
                <a:close/>
              </a:path>
              <a:path w="554989" h="163194">
                <a:moveTo>
                  <a:pt x="522731" y="126492"/>
                </a:moveTo>
                <a:lnTo>
                  <a:pt x="518317" y="141628"/>
                </a:lnTo>
                <a:lnTo>
                  <a:pt x="524256" y="143256"/>
                </a:lnTo>
                <a:lnTo>
                  <a:pt x="522731" y="149351"/>
                </a:lnTo>
                <a:lnTo>
                  <a:pt x="549401" y="149351"/>
                </a:lnTo>
                <a:lnTo>
                  <a:pt x="522731" y="126492"/>
                </a:lnTo>
                <a:close/>
              </a:path>
              <a:path w="554989" h="163194">
                <a:moveTo>
                  <a:pt x="1523" y="0"/>
                </a:moveTo>
                <a:lnTo>
                  <a:pt x="0" y="6095"/>
                </a:lnTo>
                <a:lnTo>
                  <a:pt x="516557" y="147659"/>
                </a:lnTo>
                <a:lnTo>
                  <a:pt x="518317" y="141628"/>
                </a:lnTo>
                <a:lnTo>
                  <a:pt x="15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03990" y="1802980"/>
            <a:ext cx="2298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起点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83294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48" y="523927"/>
            <a:ext cx="3867785" cy="72961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75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损失函数特性：一个方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上变化迅速而在另一个方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上变化缓慢。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4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优化目标：从起点处走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底端笑脸处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梯度下降算法存在的问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：山壁间震荡，往谷低方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的行进较慢。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9562" y="134424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梯度</a:t>
            </a:r>
            <a:r>
              <a:rPr spc="-10" dirty="0"/>
              <a:t>下</a:t>
            </a:r>
            <a:r>
              <a:rPr spc="5" dirty="0"/>
              <a:t>降</a:t>
            </a:r>
            <a:r>
              <a:rPr spc="-10" dirty="0"/>
              <a:t>法存</a:t>
            </a:r>
            <a:r>
              <a:rPr spc="5" dirty="0"/>
              <a:t>在的</a:t>
            </a:r>
            <a:r>
              <a:rPr spc="-10" dirty="0"/>
              <a:t>问</a:t>
            </a:r>
            <a:r>
              <a:rPr spc="5" dirty="0"/>
              <a:t>题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1766220" y="1360329"/>
            <a:ext cx="2676144" cy="17846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09903" y="2012600"/>
            <a:ext cx="141731" cy="135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56435" y="2887377"/>
            <a:ext cx="140207" cy="1356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49200" y="2384456"/>
            <a:ext cx="571500" cy="99060"/>
          </a:xfrm>
          <a:custGeom>
            <a:avLst/>
            <a:gdLst/>
            <a:ahLst/>
            <a:cxnLst/>
            <a:rect l="l" t="t" r="r" b="b"/>
            <a:pathLst>
              <a:path w="571500" h="99060">
                <a:moveTo>
                  <a:pt x="571499" y="38099"/>
                </a:moveTo>
                <a:lnTo>
                  <a:pt x="525126" y="59091"/>
                </a:lnTo>
                <a:lnTo>
                  <a:pt x="477625" y="75600"/>
                </a:lnTo>
                <a:lnTo>
                  <a:pt x="429267" y="87653"/>
                </a:lnTo>
                <a:lnTo>
                  <a:pt x="380322" y="95278"/>
                </a:lnTo>
                <a:lnTo>
                  <a:pt x="331059" y="98499"/>
                </a:lnTo>
                <a:lnTo>
                  <a:pt x="281749" y="97345"/>
                </a:lnTo>
                <a:lnTo>
                  <a:pt x="232661" y="91841"/>
                </a:lnTo>
                <a:lnTo>
                  <a:pt x="184065" y="82013"/>
                </a:lnTo>
                <a:lnTo>
                  <a:pt x="136231" y="67889"/>
                </a:lnTo>
                <a:lnTo>
                  <a:pt x="89429" y="49494"/>
                </a:lnTo>
                <a:lnTo>
                  <a:pt x="43928" y="26856"/>
                </a:lnTo>
                <a:lnTo>
                  <a:pt x="0" y="0"/>
                </a:lnTo>
              </a:path>
            </a:pathLst>
          </a:custGeom>
          <a:ln w="18287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59740" y="2574957"/>
            <a:ext cx="879475" cy="325120"/>
          </a:xfrm>
          <a:custGeom>
            <a:avLst/>
            <a:gdLst/>
            <a:ahLst/>
            <a:cxnLst/>
            <a:rect l="l" t="t" r="r" b="b"/>
            <a:pathLst>
              <a:path w="879475" h="325119">
                <a:moveTo>
                  <a:pt x="823004" y="306189"/>
                </a:moveTo>
                <a:lnTo>
                  <a:pt x="816863" y="324612"/>
                </a:lnTo>
                <a:lnTo>
                  <a:pt x="879348" y="316992"/>
                </a:lnTo>
                <a:lnTo>
                  <a:pt x="872219" y="309372"/>
                </a:lnTo>
                <a:lnTo>
                  <a:pt x="832104" y="309372"/>
                </a:lnTo>
                <a:lnTo>
                  <a:pt x="823004" y="306189"/>
                </a:lnTo>
                <a:close/>
              </a:path>
              <a:path w="879475" h="325119">
                <a:moveTo>
                  <a:pt x="829102" y="287895"/>
                </a:moveTo>
                <a:lnTo>
                  <a:pt x="823004" y="306189"/>
                </a:lnTo>
                <a:lnTo>
                  <a:pt x="832104" y="309372"/>
                </a:lnTo>
                <a:lnTo>
                  <a:pt x="838200" y="291084"/>
                </a:lnTo>
                <a:lnTo>
                  <a:pt x="829102" y="287895"/>
                </a:lnTo>
                <a:close/>
              </a:path>
              <a:path w="879475" h="325119">
                <a:moveTo>
                  <a:pt x="835151" y="269748"/>
                </a:moveTo>
                <a:lnTo>
                  <a:pt x="829102" y="287895"/>
                </a:lnTo>
                <a:lnTo>
                  <a:pt x="838200" y="291084"/>
                </a:lnTo>
                <a:lnTo>
                  <a:pt x="832104" y="309372"/>
                </a:lnTo>
                <a:lnTo>
                  <a:pt x="872219" y="309372"/>
                </a:lnTo>
                <a:lnTo>
                  <a:pt x="835151" y="269748"/>
                </a:lnTo>
                <a:close/>
              </a:path>
              <a:path w="879475" h="325119">
                <a:moveTo>
                  <a:pt x="7620" y="0"/>
                </a:moveTo>
                <a:lnTo>
                  <a:pt x="0" y="18288"/>
                </a:lnTo>
                <a:lnTo>
                  <a:pt x="823004" y="306189"/>
                </a:lnTo>
                <a:lnTo>
                  <a:pt x="829102" y="287895"/>
                </a:lnTo>
                <a:lnTo>
                  <a:pt x="76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16128" y="2139093"/>
            <a:ext cx="629920" cy="292735"/>
          </a:xfrm>
          <a:custGeom>
            <a:avLst/>
            <a:gdLst/>
            <a:ahLst/>
            <a:cxnLst/>
            <a:rect l="l" t="t" r="r" b="b"/>
            <a:pathLst>
              <a:path w="629920" h="292735">
                <a:moveTo>
                  <a:pt x="573043" y="17824"/>
                </a:moveTo>
                <a:lnTo>
                  <a:pt x="0" y="275843"/>
                </a:lnTo>
                <a:lnTo>
                  <a:pt x="9144" y="292607"/>
                </a:lnTo>
                <a:lnTo>
                  <a:pt x="580840" y="36019"/>
                </a:lnTo>
                <a:lnTo>
                  <a:pt x="573043" y="17824"/>
                </a:lnTo>
                <a:close/>
              </a:path>
              <a:path w="629920" h="292735">
                <a:moveTo>
                  <a:pt x="620683" y="13715"/>
                </a:moveTo>
                <a:lnTo>
                  <a:pt x="582168" y="13715"/>
                </a:lnTo>
                <a:lnTo>
                  <a:pt x="589788" y="32003"/>
                </a:lnTo>
                <a:lnTo>
                  <a:pt x="580840" y="36019"/>
                </a:lnTo>
                <a:lnTo>
                  <a:pt x="588263" y="53339"/>
                </a:lnTo>
                <a:lnTo>
                  <a:pt x="620683" y="13715"/>
                </a:lnTo>
                <a:close/>
              </a:path>
              <a:path w="629920" h="292735">
                <a:moveTo>
                  <a:pt x="582168" y="13715"/>
                </a:moveTo>
                <a:lnTo>
                  <a:pt x="573043" y="17824"/>
                </a:lnTo>
                <a:lnTo>
                  <a:pt x="580840" y="36019"/>
                </a:lnTo>
                <a:lnTo>
                  <a:pt x="589788" y="32003"/>
                </a:lnTo>
                <a:lnTo>
                  <a:pt x="582168" y="13715"/>
                </a:lnTo>
                <a:close/>
              </a:path>
              <a:path w="629920" h="292735">
                <a:moveTo>
                  <a:pt x="565404" y="0"/>
                </a:moveTo>
                <a:lnTo>
                  <a:pt x="573043" y="17824"/>
                </a:lnTo>
                <a:lnTo>
                  <a:pt x="582168" y="13715"/>
                </a:lnTo>
                <a:lnTo>
                  <a:pt x="620683" y="13715"/>
                </a:lnTo>
                <a:lnTo>
                  <a:pt x="629412" y="3048"/>
                </a:lnTo>
                <a:lnTo>
                  <a:pt x="565404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63044" y="2129949"/>
            <a:ext cx="489584" cy="262255"/>
          </a:xfrm>
          <a:custGeom>
            <a:avLst/>
            <a:gdLst/>
            <a:ahLst/>
            <a:cxnLst/>
            <a:rect l="l" t="t" r="r" b="b"/>
            <a:pathLst>
              <a:path w="489585" h="262255">
                <a:moveTo>
                  <a:pt x="54357" y="18227"/>
                </a:moveTo>
                <a:lnTo>
                  <a:pt x="45431" y="35089"/>
                </a:lnTo>
                <a:lnTo>
                  <a:pt x="481583" y="262127"/>
                </a:lnTo>
                <a:lnTo>
                  <a:pt x="489204" y="245364"/>
                </a:lnTo>
                <a:lnTo>
                  <a:pt x="54357" y="18227"/>
                </a:lnTo>
                <a:close/>
              </a:path>
              <a:path w="489585" h="262255">
                <a:moveTo>
                  <a:pt x="64007" y="0"/>
                </a:moveTo>
                <a:lnTo>
                  <a:pt x="0" y="0"/>
                </a:lnTo>
                <a:lnTo>
                  <a:pt x="36575" y="51816"/>
                </a:lnTo>
                <a:lnTo>
                  <a:pt x="45431" y="35089"/>
                </a:lnTo>
                <a:lnTo>
                  <a:pt x="36575" y="30479"/>
                </a:lnTo>
                <a:lnTo>
                  <a:pt x="45719" y="13716"/>
                </a:lnTo>
                <a:lnTo>
                  <a:pt x="56746" y="13716"/>
                </a:lnTo>
                <a:lnTo>
                  <a:pt x="64007" y="0"/>
                </a:lnTo>
                <a:close/>
              </a:path>
              <a:path w="489585" h="262255">
                <a:moveTo>
                  <a:pt x="45719" y="13716"/>
                </a:moveTo>
                <a:lnTo>
                  <a:pt x="36575" y="30479"/>
                </a:lnTo>
                <a:lnTo>
                  <a:pt x="45431" y="35089"/>
                </a:lnTo>
                <a:lnTo>
                  <a:pt x="54357" y="18227"/>
                </a:lnTo>
                <a:lnTo>
                  <a:pt x="45719" y="13716"/>
                </a:lnTo>
                <a:close/>
              </a:path>
              <a:path w="489585" h="262255">
                <a:moveTo>
                  <a:pt x="56746" y="13716"/>
                </a:moveTo>
                <a:lnTo>
                  <a:pt x="45719" y="13716"/>
                </a:lnTo>
                <a:lnTo>
                  <a:pt x="54357" y="18227"/>
                </a:lnTo>
                <a:lnTo>
                  <a:pt x="56746" y="13716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99035" y="1998885"/>
            <a:ext cx="138683" cy="1341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97511" y="1998885"/>
            <a:ext cx="143510" cy="137160"/>
          </a:xfrm>
          <a:custGeom>
            <a:avLst/>
            <a:gdLst/>
            <a:ahLst/>
            <a:cxnLst/>
            <a:rect l="l" t="t" r="r" b="b"/>
            <a:pathLst>
              <a:path w="143510" h="137160">
                <a:moveTo>
                  <a:pt x="13715" y="74675"/>
                </a:moveTo>
                <a:lnTo>
                  <a:pt x="1524" y="76200"/>
                </a:lnTo>
                <a:lnTo>
                  <a:pt x="1524" y="82296"/>
                </a:lnTo>
                <a:lnTo>
                  <a:pt x="4571" y="89916"/>
                </a:lnTo>
                <a:lnTo>
                  <a:pt x="6095" y="94488"/>
                </a:lnTo>
                <a:lnTo>
                  <a:pt x="6095" y="96012"/>
                </a:lnTo>
                <a:lnTo>
                  <a:pt x="12192" y="106680"/>
                </a:lnTo>
                <a:lnTo>
                  <a:pt x="13715" y="108204"/>
                </a:lnTo>
                <a:lnTo>
                  <a:pt x="19812" y="115824"/>
                </a:lnTo>
                <a:lnTo>
                  <a:pt x="30480" y="108204"/>
                </a:lnTo>
                <a:lnTo>
                  <a:pt x="24130" y="100584"/>
                </a:lnTo>
                <a:lnTo>
                  <a:pt x="22860" y="100584"/>
                </a:lnTo>
                <a:lnTo>
                  <a:pt x="16763" y="89916"/>
                </a:lnTo>
                <a:lnTo>
                  <a:pt x="18287" y="89916"/>
                </a:lnTo>
                <a:lnTo>
                  <a:pt x="15239" y="85344"/>
                </a:lnTo>
                <a:lnTo>
                  <a:pt x="13715" y="79248"/>
                </a:lnTo>
                <a:lnTo>
                  <a:pt x="13715" y="74675"/>
                </a:lnTo>
                <a:close/>
              </a:path>
              <a:path w="143510" h="137160">
                <a:moveTo>
                  <a:pt x="22860" y="99060"/>
                </a:moveTo>
                <a:lnTo>
                  <a:pt x="22860" y="100584"/>
                </a:lnTo>
                <a:lnTo>
                  <a:pt x="24130" y="100584"/>
                </a:lnTo>
                <a:lnTo>
                  <a:pt x="22860" y="99060"/>
                </a:lnTo>
                <a:close/>
              </a:path>
              <a:path w="143510" h="137160">
                <a:moveTo>
                  <a:pt x="18287" y="24384"/>
                </a:moveTo>
                <a:lnTo>
                  <a:pt x="13715" y="30480"/>
                </a:lnTo>
                <a:lnTo>
                  <a:pt x="12192" y="30480"/>
                </a:lnTo>
                <a:lnTo>
                  <a:pt x="6095" y="41148"/>
                </a:lnTo>
                <a:lnTo>
                  <a:pt x="6095" y="42672"/>
                </a:lnTo>
                <a:lnTo>
                  <a:pt x="3048" y="48768"/>
                </a:lnTo>
                <a:lnTo>
                  <a:pt x="1524" y="54864"/>
                </a:lnTo>
                <a:lnTo>
                  <a:pt x="1524" y="62484"/>
                </a:lnTo>
                <a:lnTo>
                  <a:pt x="0" y="68580"/>
                </a:lnTo>
                <a:lnTo>
                  <a:pt x="1524" y="76200"/>
                </a:lnTo>
                <a:lnTo>
                  <a:pt x="13715" y="74675"/>
                </a:lnTo>
                <a:lnTo>
                  <a:pt x="13715" y="57912"/>
                </a:lnTo>
                <a:lnTo>
                  <a:pt x="15239" y="51816"/>
                </a:lnTo>
                <a:lnTo>
                  <a:pt x="18287" y="47244"/>
                </a:lnTo>
                <a:lnTo>
                  <a:pt x="16763" y="47244"/>
                </a:lnTo>
                <a:lnTo>
                  <a:pt x="22860" y="38100"/>
                </a:lnTo>
                <a:lnTo>
                  <a:pt x="27431" y="32004"/>
                </a:lnTo>
                <a:lnTo>
                  <a:pt x="18287" y="24384"/>
                </a:lnTo>
                <a:close/>
              </a:path>
              <a:path w="143510" h="137160">
                <a:moveTo>
                  <a:pt x="104938" y="13716"/>
                </a:moveTo>
                <a:lnTo>
                  <a:pt x="77724" y="13716"/>
                </a:lnTo>
                <a:lnTo>
                  <a:pt x="83819" y="15240"/>
                </a:lnTo>
                <a:lnTo>
                  <a:pt x="89915" y="15240"/>
                </a:lnTo>
                <a:lnTo>
                  <a:pt x="94487" y="18288"/>
                </a:lnTo>
                <a:lnTo>
                  <a:pt x="100583" y="21336"/>
                </a:lnTo>
                <a:lnTo>
                  <a:pt x="104938" y="13716"/>
                </a:lnTo>
                <a:close/>
              </a:path>
              <a:path w="143510" h="137160">
                <a:moveTo>
                  <a:pt x="85343" y="1524"/>
                </a:moveTo>
                <a:lnTo>
                  <a:pt x="56387" y="1524"/>
                </a:lnTo>
                <a:lnTo>
                  <a:pt x="53339" y="3048"/>
                </a:lnTo>
                <a:lnTo>
                  <a:pt x="56387" y="15240"/>
                </a:lnTo>
                <a:lnTo>
                  <a:pt x="59436" y="13716"/>
                </a:lnTo>
                <a:lnTo>
                  <a:pt x="104938" y="13716"/>
                </a:lnTo>
                <a:lnTo>
                  <a:pt x="106680" y="10668"/>
                </a:lnTo>
                <a:lnTo>
                  <a:pt x="99060" y="6096"/>
                </a:lnTo>
                <a:lnTo>
                  <a:pt x="92963" y="3048"/>
                </a:lnTo>
                <a:lnTo>
                  <a:pt x="85343" y="1524"/>
                </a:lnTo>
                <a:close/>
              </a:path>
              <a:path w="143510" h="137160">
                <a:moveTo>
                  <a:pt x="71627" y="0"/>
                </a:moveTo>
                <a:lnTo>
                  <a:pt x="64007" y="1524"/>
                </a:lnTo>
                <a:lnTo>
                  <a:pt x="77724" y="1524"/>
                </a:lnTo>
                <a:lnTo>
                  <a:pt x="71627" y="0"/>
                </a:lnTo>
                <a:close/>
              </a:path>
              <a:path w="143510" h="137160">
                <a:moveTo>
                  <a:pt x="135636" y="39624"/>
                </a:moveTo>
                <a:lnTo>
                  <a:pt x="124968" y="45720"/>
                </a:lnTo>
                <a:lnTo>
                  <a:pt x="124968" y="47244"/>
                </a:lnTo>
                <a:lnTo>
                  <a:pt x="128015" y="53340"/>
                </a:lnTo>
                <a:lnTo>
                  <a:pt x="129539" y="57912"/>
                </a:lnTo>
                <a:lnTo>
                  <a:pt x="129539" y="74675"/>
                </a:lnTo>
                <a:lnTo>
                  <a:pt x="128015" y="80772"/>
                </a:lnTo>
                <a:lnTo>
                  <a:pt x="124968" y="89916"/>
                </a:lnTo>
                <a:lnTo>
                  <a:pt x="137160" y="94488"/>
                </a:lnTo>
                <a:lnTo>
                  <a:pt x="138683" y="88392"/>
                </a:lnTo>
                <a:lnTo>
                  <a:pt x="141731" y="82296"/>
                </a:lnTo>
                <a:lnTo>
                  <a:pt x="141731" y="76200"/>
                </a:lnTo>
                <a:lnTo>
                  <a:pt x="143256" y="68580"/>
                </a:lnTo>
                <a:lnTo>
                  <a:pt x="141731" y="60960"/>
                </a:lnTo>
                <a:lnTo>
                  <a:pt x="141731" y="54864"/>
                </a:lnTo>
                <a:lnTo>
                  <a:pt x="138683" y="48768"/>
                </a:lnTo>
                <a:lnTo>
                  <a:pt x="137160" y="42672"/>
                </a:lnTo>
                <a:lnTo>
                  <a:pt x="137160" y="41148"/>
                </a:lnTo>
                <a:lnTo>
                  <a:pt x="135636" y="39624"/>
                </a:lnTo>
                <a:close/>
              </a:path>
              <a:path w="143510" h="137160">
                <a:moveTo>
                  <a:pt x="65531" y="123444"/>
                </a:moveTo>
                <a:lnTo>
                  <a:pt x="59436" y="123444"/>
                </a:lnTo>
                <a:lnTo>
                  <a:pt x="56387" y="135636"/>
                </a:lnTo>
                <a:lnTo>
                  <a:pt x="57912" y="135636"/>
                </a:lnTo>
                <a:lnTo>
                  <a:pt x="64007" y="137160"/>
                </a:lnTo>
                <a:lnTo>
                  <a:pt x="79248" y="137160"/>
                </a:lnTo>
                <a:lnTo>
                  <a:pt x="86868" y="135636"/>
                </a:lnTo>
                <a:lnTo>
                  <a:pt x="92963" y="134112"/>
                </a:lnTo>
                <a:lnTo>
                  <a:pt x="99060" y="131064"/>
                </a:lnTo>
                <a:lnTo>
                  <a:pt x="109727" y="126492"/>
                </a:lnTo>
                <a:lnTo>
                  <a:pt x="108965" y="124968"/>
                </a:lnTo>
                <a:lnTo>
                  <a:pt x="71627" y="124968"/>
                </a:lnTo>
                <a:lnTo>
                  <a:pt x="65531" y="123444"/>
                </a:lnTo>
                <a:close/>
              </a:path>
              <a:path w="143510" h="137160">
                <a:moveTo>
                  <a:pt x="103631" y="114300"/>
                </a:moveTo>
                <a:lnTo>
                  <a:pt x="94487" y="120396"/>
                </a:lnTo>
                <a:lnTo>
                  <a:pt x="88392" y="121920"/>
                </a:lnTo>
                <a:lnTo>
                  <a:pt x="83819" y="123444"/>
                </a:lnTo>
                <a:lnTo>
                  <a:pt x="77724" y="123444"/>
                </a:lnTo>
                <a:lnTo>
                  <a:pt x="71627" y="124968"/>
                </a:lnTo>
                <a:lnTo>
                  <a:pt x="108965" y="124968"/>
                </a:lnTo>
                <a:lnTo>
                  <a:pt x="103631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88239" y="2244249"/>
            <a:ext cx="143255" cy="1341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91288" y="2242725"/>
            <a:ext cx="143510" cy="135890"/>
          </a:xfrm>
          <a:custGeom>
            <a:avLst/>
            <a:gdLst/>
            <a:ahLst/>
            <a:cxnLst/>
            <a:rect l="l" t="t" r="r" b="b"/>
            <a:pathLst>
              <a:path w="143510" h="135889">
                <a:moveTo>
                  <a:pt x="13715" y="73151"/>
                </a:moveTo>
                <a:lnTo>
                  <a:pt x="1524" y="74675"/>
                </a:lnTo>
                <a:lnTo>
                  <a:pt x="1524" y="82296"/>
                </a:lnTo>
                <a:lnTo>
                  <a:pt x="3048" y="88392"/>
                </a:lnTo>
                <a:lnTo>
                  <a:pt x="6096" y="94488"/>
                </a:lnTo>
                <a:lnTo>
                  <a:pt x="12191" y="105155"/>
                </a:lnTo>
                <a:lnTo>
                  <a:pt x="12191" y="106679"/>
                </a:lnTo>
                <a:lnTo>
                  <a:pt x="13715" y="106679"/>
                </a:lnTo>
                <a:lnTo>
                  <a:pt x="19812" y="114300"/>
                </a:lnTo>
                <a:lnTo>
                  <a:pt x="30479" y="106679"/>
                </a:lnTo>
                <a:lnTo>
                  <a:pt x="24130" y="99059"/>
                </a:lnTo>
                <a:lnTo>
                  <a:pt x="22860" y="99059"/>
                </a:lnTo>
                <a:lnTo>
                  <a:pt x="16763" y="88392"/>
                </a:lnTo>
                <a:lnTo>
                  <a:pt x="17525" y="88392"/>
                </a:lnTo>
                <a:lnTo>
                  <a:pt x="15239" y="83820"/>
                </a:lnTo>
                <a:lnTo>
                  <a:pt x="13715" y="79248"/>
                </a:lnTo>
                <a:lnTo>
                  <a:pt x="13715" y="73151"/>
                </a:lnTo>
                <a:close/>
              </a:path>
              <a:path w="143510" h="135889">
                <a:moveTo>
                  <a:pt x="22860" y="97535"/>
                </a:moveTo>
                <a:lnTo>
                  <a:pt x="22860" y="99059"/>
                </a:lnTo>
                <a:lnTo>
                  <a:pt x="24130" y="99059"/>
                </a:lnTo>
                <a:lnTo>
                  <a:pt x="22860" y="97535"/>
                </a:lnTo>
                <a:close/>
              </a:path>
              <a:path w="143510" h="135889">
                <a:moveTo>
                  <a:pt x="17525" y="88392"/>
                </a:moveTo>
                <a:lnTo>
                  <a:pt x="16763" y="88392"/>
                </a:lnTo>
                <a:lnTo>
                  <a:pt x="18287" y="89916"/>
                </a:lnTo>
                <a:lnTo>
                  <a:pt x="17525" y="88392"/>
                </a:lnTo>
                <a:close/>
              </a:path>
              <a:path w="143510" h="135889">
                <a:moveTo>
                  <a:pt x="18287" y="22859"/>
                </a:moveTo>
                <a:lnTo>
                  <a:pt x="13715" y="28955"/>
                </a:lnTo>
                <a:lnTo>
                  <a:pt x="12191" y="28955"/>
                </a:lnTo>
                <a:lnTo>
                  <a:pt x="12191" y="30479"/>
                </a:lnTo>
                <a:lnTo>
                  <a:pt x="6096" y="41148"/>
                </a:lnTo>
                <a:lnTo>
                  <a:pt x="3048" y="47244"/>
                </a:lnTo>
                <a:lnTo>
                  <a:pt x="1524" y="54864"/>
                </a:lnTo>
                <a:lnTo>
                  <a:pt x="0" y="60959"/>
                </a:lnTo>
                <a:lnTo>
                  <a:pt x="0" y="74675"/>
                </a:lnTo>
                <a:lnTo>
                  <a:pt x="13715" y="73151"/>
                </a:lnTo>
                <a:lnTo>
                  <a:pt x="13715" y="56388"/>
                </a:lnTo>
                <a:lnTo>
                  <a:pt x="15239" y="51816"/>
                </a:lnTo>
                <a:lnTo>
                  <a:pt x="17525" y="47244"/>
                </a:lnTo>
                <a:lnTo>
                  <a:pt x="16763" y="47244"/>
                </a:lnTo>
                <a:lnTo>
                  <a:pt x="22860" y="36575"/>
                </a:lnTo>
                <a:lnTo>
                  <a:pt x="24003" y="36575"/>
                </a:lnTo>
                <a:lnTo>
                  <a:pt x="27432" y="32003"/>
                </a:lnTo>
                <a:lnTo>
                  <a:pt x="18287" y="22859"/>
                </a:lnTo>
                <a:close/>
              </a:path>
              <a:path w="143510" h="135889">
                <a:moveTo>
                  <a:pt x="18287" y="45720"/>
                </a:moveTo>
                <a:lnTo>
                  <a:pt x="16763" y="47244"/>
                </a:lnTo>
                <a:lnTo>
                  <a:pt x="17525" y="47244"/>
                </a:lnTo>
                <a:lnTo>
                  <a:pt x="18287" y="45720"/>
                </a:lnTo>
                <a:close/>
              </a:path>
              <a:path w="143510" h="135889">
                <a:moveTo>
                  <a:pt x="24003" y="36575"/>
                </a:moveTo>
                <a:lnTo>
                  <a:pt x="22860" y="36575"/>
                </a:lnTo>
                <a:lnTo>
                  <a:pt x="22860" y="38100"/>
                </a:lnTo>
                <a:lnTo>
                  <a:pt x="24003" y="36575"/>
                </a:lnTo>
                <a:close/>
              </a:path>
              <a:path w="143510" h="135889">
                <a:moveTo>
                  <a:pt x="104938" y="12192"/>
                </a:moveTo>
                <a:lnTo>
                  <a:pt x="77724" y="12192"/>
                </a:lnTo>
                <a:lnTo>
                  <a:pt x="83820" y="13716"/>
                </a:lnTo>
                <a:lnTo>
                  <a:pt x="88391" y="15240"/>
                </a:lnTo>
                <a:lnTo>
                  <a:pt x="94487" y="16764"/>
                </a:lnTo>
                <a:lnTo>
                  <a:pt x="92963" y="16764"/>
                </a:lnTo>
                <a:lnTo>
                  <a:pt x="100584" y="19811"/>
                </a:lnTo>
                <a:lnTo>
                  <a:pt x="104938" y="12192"/>
                </a:lnTo>
                <a:close/>
              </a:path>
              <a:path w="143510" h="135889">
                <a:moveTo>
                  <a:pt x="77724" y="0"/>
                </a:moveTo>
                <a:lnTo>
                  <a:pt x="64008" y="0"/>
                </a:lnTo>
                <a:lnTo>
                  <a:pt x="56387" y="1524"/>
                </a:lnTo>
                <a:lnTo>
                  <a:pt x="53339" y="1524"/>
                </a:lnTo>
                <a:lnTo>
                  <a:pt x="56387" y="13716"/>
                </a:lnTo>
                <a:lnTo>
                  <a:pt x="59436" y="13716"/>
                </a:lnTo>
                <a:lnTo>
                  <a:pt x="65532" y="12192"/>
                </a:lnTo>
                <a:lnTo>
                  <a:pt x="104938" y="12192"/>
                </a:lnTo>
                <a:lnTo>
                  <a:pt x="106679" y="9144"/>
                </a:lnTo>
                <a:lnTo>
                  <a:pt x="99060" y="4572"/>
                </a:lnTo>
                <a:lnTo>
                  <a:pt x="91439" y="3048"/>
                </a:lnTo>
                <a:lnTo>
                  <a:pt x="85344" y="1524"/>
                </a:lnTo>
                <a:lnTo>
                  <a:pt x="77724" y="0"/>
                </a:lnTo>
                <a:close/>
              </a:path>
              <a:path w="143510" h="135889">
                <a:moveTo>
                  <a:pt x="135636" y="38100"/>
                </a:moveTo>
                <a:lnTo>
                  <a:pt x="124967" y="44196"/>
                </a:lnTo>
                <a:lnTo>
                  <a:pt x="124967" y="45720"/>
                </a:lnTo>
                <a:lnTo>
                  <a:pt x="126491" y="51816"/>
                </a:lnTo>
                <a:lnTo>
                  <a:pt x="128015" y="56388"/>
                </a:lnTo>
                <a:lnTo>
                  <a:pt x="129539" y="62483"/>
                </a:lnTo>
                <a:lnTo>
                  <a:pt x="129539" y="73151"/>
                </a:lnTo>
                <a:lnTo>
                  <a:pt x="128015" y="79248"/>
                </a:lnTo>
                <a:lnTo>
                  <a:pt x="124967" y="88392"/>
                </a:lnTo>
                <a:lnTo>
                  <a:pt x="137160" y="92964"/>
                </a:lnTo>
                <a:lnTo>
                  <a:pt x="138684" y="88392"/>
                </a:lnTo>
                <a:lnTo>
                  <a:pt x="141732" y="80772"/>
                </a:lnTo>
                <a:lnTo>
                  <a:pt x="141732" y="74675"/>
                </a:lnTo>
                <a:lnTo>
                  <a:pt x="143256" y="67055"/>
                </a:lnTo>
                <a:lnTo>
                  <a:pt x="141732" y="60959"/>
                </a:lnTo>
                <a:lnTo>
                  <a:pt x="140208" y="53340"/>
                </a:lnTo>
                <a:lnTo>
                  <a:pt x="137160" y="41148"/>
                </a:lnTo>
                <a:lnTo>
                  <a:pt x="135636" y="38100"/>
                </a:lnTo>
                <a:close/>
              </a:path>
              <a:path w="143510" h="135889">
                <a:moveTo>
                  <a:pt x="59436" y="121920"/>
                </a:moveTo>
                <a:lnTo>
                  <a:pt x="56387" y="134111"/>
                </a:lnTo>
                <a:lnTo>
                  <a:pt x="57912" y="134111"/>
                </a:lnTo>
                <a:lnTo>
                  <a:pt x="64008" y="135635"/>
                </a:lnTo>
                <a:lnTo>
                  <a:pt x="79248" y="135635"/>
                </a:lnTo>
                <a:lnTo>
                  <a:pt x="85344" y="134111"/>
                </a:lnTo>
                <a:lnTo>
                  <a:pt x="92963" y="132588"/>
                </a:lnTo>
                <a:lnTo>
                  <a:pt x="99060" y="131064"/>
                </a:lnTo>
                <a:lnTo>
                  <a:pt x="109727" y="124968"/>
                </a:lnTo>
                <a:lnTo>
                  <a:pt x="108857" y="123444"/>
                </a:lnTo>
                <a:lnTo>
                  <a:pt x="65532" y="123444"/>
                </a:lnTo>
                <a:lnTo>
                  <a:pt x="59436" y="121920"/>
                </a:lnTo>
                <a:close/>
              </a:path>
              <a:path w="143510" h="135889">
                <a:moveTo>
                  <a:pt x="103632" y="114300"/>
                </a:moveTo>
                <a:lnTo>
                  <a:pt x="92963" y="118872"/>
                </a:lnTo>
                <a:lnTo>
                  <a:pt x="94487" y="118872"/>
                </a:lnTo>
                <a:lnTo>
                  <a:pt x="82296" y="121920"/>
                </a:lnTo>
                <a:lnTo>
                  <a:pt x="77724" y="123444"/>
                </a:lnTo>
                <a:lnTo>
                  <a:pt x="108857" y="123444"/>
                </a:lnTo>
                <a:lnTo>
                  <a:pt x="103632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85291" y="2183289"/>
            <a:ext cx="140335" cy="82550"/>
          </a:xfrm>
          <a:custGeom>
            <a:avLst/>
            <a:gdLst/>
            <a:ahLst/>
            <a:cxnLst/>
            <a:rect l="l" t="t" r="r" b="b"/>
            <a:pathLst>
              <a:path w="140335" h="82550">
                <a:moveTo>
                  <a:pt x="84765" y="19675"/>
                </a:moveTo>
                <a:lnTo>
                  <a:pt x="0" y="65531"/>
                </a:lnTo>
                <a:lnTo>
                  <a:pt x="9144" y="82295"/>
                </a:lnTo>
                <a:lnTo>
                  <a:pt x="93512" y="36654"/>
                </a:lnTo>
                <a:lnTo>
                  <a:pt x="84765" y="19675"/>
                </a:lnTo>
                <a:close/>
              </a:path>
              <a:path w="140335" h="82550">
                <a:moveTo>
                  <a:pt x="129322" y="15239"/>
                </a:moveTo>
                <a:lnTo>
                  <a:pt x="92963" y="15239"/>
                </a:lnTo>
                <a:lnTo>
                  <a:pt x="102108" y="32003"/>
                </a:lnTo>
                <a:lnTo>
                  <a:pt x="93512" y="36654"/>
                </a:lnTo>
                <a:lnTo>
                  <a:pt x="102108" y="53339"/>
                </a:lnTo>
                <a:lnTo>
                  <a:pt x="129322" y="15239"/>
                </a:lnTo>
                <a:close/>
              </a:path>
              <a:path w="140335" h="82550">
                <a:moveTo>
                  <a:pt x="92963" y="15239"/>
                </a:moveTo>
                <a:lnTo>
                  <a:pt x="84765" y="19675"/>
                </a:lnTo>
                <a:lnTo>
                  <a:pt x="93512" y="36654"/>
                </a:lnTo>
                <a:lnTo>
                  <a:pt x="102108" y="32003"/>
                </a:lnTo>
                <a:lnTo>
                  <a:pt x="92963" y="15239"/>
                </a:lnTo>
                <a:close/>
              </a:path>
              <a:path w="140335" h="82550">
                <a:moveTo>
                  <a:pt x="140208" y="0"/>
                </a:moveTo>
                <a:lnTo>
                  <a:pt x="76200" y="3047"/>
                </a:lnTo>
                <a:lnTo>
                  <a:pt x="84765" y="19675"/>
                </a:lnTo>
                <a:lnTo>
                  <a:pt x="92963" y="15239"/>
                </a:lnTo>
                <a:lnTo>
                  <a:pt x="129322" y="15239"/>
                </a:lnTo>
                <a:lnTo>
                  <a:pt x="140208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20828" y="2334165"/>
            <a:ext cx="149860" cy="76200"/>
          </a:xfrm>
          <a:custGeom>
            <a:avLst/>
            <a:gdLst/>
            <a:ahLst/>
            <a:cxnLst/>
            <a:rect l="l" t="t" r="r" b="b"/>
            <a:pathLst>
              <a:path w="149860" h="76200">
                <a:moveTo>
                  <a:pt x="92974" y="58394"/>
                </a:moveTo>
                <a:lnTo>
                  <a:pt x="85344" y="76200"/>
                </a:lnTo>
                <a:lnTo>
                  <a:pt x="149351" y="73151"/>
                </a:lnTo>
                <a:lnTo>
                  <a:pt x="140623" y="62483"/>
                </a:lnTo>
                <a:lnTo>
                  <a:pt x="102108" y="62483"/>
                </a:lnTo>
                <a:lnTo>
                  <a:pt x="92974" y="58394"/>
                </a:lnTo>
                <a:close/>
              </a:path>
              <a:path w="149860" h="76200">
                <a:moveTo>
                  <a:pt x="100729" y="40301"/>
                </a:moveTo>
                <a:lnTo>
                  <a:pt x="92974" y="58394"/>
                </a:lnTo>
                <a:lnTo>
                  <a:pt x="102108" y="62483"/>
                </a:lnTo>
                <a:lnTo>
                  <a:pt x="109727" y="44195"/>
                </a:lnTo>
                <a:lnTo>
                  <a:pt x="100729" y="40301"/>
                </a:lnTo>
                <a:close/>
              </a:path>
              <a:path w="149860" h="76200">
                <a:moveTo>
                  <a:pt x="108204" y="22859"/>
                </a:moveTo>
                <a:lnTo>
                  <a:pt x="100729" y="40301"/>
                </a:lnTo>
                <a:lnTo>
                  <a:pt x="109727" y="44195"/>
                </a:lnTo>
                <a:lnTo>
                  <a:pt x="102108" y="62483"/>
                </a:lnTo>
                <a:lnTo>
                  <a:pt x="140623" y="62483"/>
                </a:lnTo>
                <a:lnTo>
                  <a:pt x="108204" y="22859"/>
                </a:lnTo>
                <a:close/>
              </a:path>
              <a:path w="149860" h="76200">
                <a:moveTo>
                  <a:pt x="7620" y="0"/>
                </a:moveTo>
                <a:lnTo>
                  <a:pt x="0" y="16763"/>
                </a:lnTo>
                <a:lnTo>
                  <a:pt x="92974" y="58394"/>
                </a:lnTo>
                <a:lnTo>
                  <a:pt x="100729" y="40301"/>
                </a:lnTo>
                <a:lnTo>
                  <a:pt x="762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70991" y="2218341"/>
            <a:ext cx="138684" cy="1386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67944" y="2221389"/>
            <a:ext cx="143510" cy="135890"/>
          </a:xfrm>
          <a:custGeom>
            <a:avLst/>
            <a:gdLst/>
            <a:ahLst/>
            <a:cxnLst/>
            <a:rect l="l" t="t" r="r" b="b"/>
            <a:pathLst>
              <a:path w="143510" h="135889">
                <a:moveTo>
                  <a:pt x="13715" y="73151"/>
                </a:moveTo>
                <a:lnTo>
                  <a:pt x="1523" y="74675"/>
                </a:lnTo>
                <a:lnTo>
                  <a:pt x="1523" y="82295"/>
                </a:lnTo>
                <a:lnTo>
                  <a:pt x="4571" y="88391"/>
                </a:lnTo>
                <a:lnTo>
                  <a:pt x="6095" y="94487"/>
                </a:lnTo>
                <a:lnTo>
                  <a:pt x="12191" y="105155"/>
                </a:lnTo>
                <a:lnTo>
                  <a:pt x="12191" y="106679"/>
                </a:lnTo>
                <a:lnTo>
                  <a:pt x="13715" y="106679"/>
                </a:lnTo>
                <a:lnTo>
                  <a:pt x="19811" y="114300"/>
                </a:lnTo>
                <a:lnTo>
                  <a:pt x="30479" y="106679"/>
                </a:lnTo>
                <a:lnTo>
                  <a:pt x="24129" y="99059"/>
                </a:lnTo>
                <a:lnTo>
                  <a:pt x="22859" y="99059"/>
                </a:lnTo>
                <a:lnTo>
                  <a:pt x="16763" y="88391"/>
                </a:lnTo>
                <a:lnTo>
                  <a:pt x="17525" y="88391"/>
                </a:lnTo>
                <a:lnTo>
                  <a:pt x="15239" y="83819"/>
                </a:lnTo>
                <a:lnTo>
                  <a:pt x="13715" y="79247"/>
                </a:lnTo>
                <a:lnTo>
                  <a:pt x="13715" y="73151"/>
                </a:lnTo>
                <a:close/>
              </a:path>
              <a:path w="143510" h="135889">
                <a:moveTo>
                  <a:pt x="22859" y="97535"/>
                </a:moveTo>
                <a:lnTo>
                  <a:pt x="22859" y="99059"/>
                </a:lnTo>
                <a:lnTo>
                  <a:pt x="24129" y="99059"/>
                </a:lnTo>
                <a:lnTo>
                  <a:pt x="22859" y="97535"/>
                </a:lnTo>
                <a:close/>
              </a:path>
              <a:path w="143510" h="135889">
                <a:moveTo>
                  <a:pt x="17525" y="88391"/>
                </a:moveTo>
                <a:lnTo>
                  <a:pt x="16763" y="88391"/>
                </a:lnTo>
                <a:lnTo>
                  <a:pt x="18287" y="89915"/>
                </a:lnTo>
                <a:lnTo>
                  <a:pt x="17525" y="88391"/>
                </a:lnTo>
                <a:close/>
              </a:path>
              <a:path w="143510" h="135889">
                <a:moveTo>
                  <a:pt x="18287" y="22859"/>
                </a:moveTo>
                <a:lnTo>
                  <a:pt x="13715" y="28955"/>
                </a:lnTo>
                <a:lnTo>
                  <a:pt x="12191" y="28955"/>
                </a:lnTo>
                <a:lnTo>
                  <a:pt x="12191" y="30479"/>
                </a:lnTo>
                <a:lnTo>
                  <a:pt x="6095" y="41147"/>
                </a:lnTo>
                <a:lnTo>
                  <a:pt x="3047" y="47243"/>
                </a:lnTo>
                <a:lnTo>
                  <a:pt x="1523" y="54863"/>
                </a:lnTo>
                <a:lnTo>
                  <a:pt x="1523" y="60959"/>
                </a:lnTo>
                <a:lnTo>
                  <a:pt x="0" y="68579"/>
                </a:lnTo>
                <a:lnTo>
                  <a:pt x="1523" y="74675"/>
                </a:lnTo>
                <a:lnTo>
                  <a:pt x="13715" y="73151"/>
                </a:lnTo>
                <a:lnTo>
                  <a:pt x="13715" y="62483"/>
                </a:lnTo>
                <a:lnTo>
                  <a:pt x="15239" y="56387"/>
                </a:lnTo>
                <a:lnTo>
                  <a:pt x="15239" y="51815"/>
                </a:lnTo>
                <a:lnTo>
                  <a:pt x="17525" y="47243"/>
                </a:lnTo>
                <a:lnTo>
                  <a:pt x="16763" y="47243"/>
                </a:lnTo>
                <a:lnTo>
                  <a:pt x="22859" y="36575"/>
                </a:lnTo>
                <a:lnTo>
                  <a:pt x="24002" y="36575"/>
                </a:lnTo>
                <a:lnTo>
                  <a:pt x="27431" y="32003"/>
                </a:lnTo>
                <a:lnTo>
                  <a:pt x="18287" y="22859"/>
                </a:lnTo>
                <a:close/>
              </a:path>
              <a:path w="143510" h="135889">
                <a:moveTo>
                  <a:pt x="18287" y="45719"/>
                </a:moveTo>
                <a:lnTo>
                  <a:pt x="16763" y="47243"/>
                </a:lnTo>
                <a:lnTo>
                  <a:pt x="17525" y="47243"/>
                </a:lnTo>
                <a:lnTo>
                  <a:pt x="18287" y="45719"/>
                </a:lnTo>
                <a:close/>
              </a:path>
              <a:path w="143510" h="135889">
                <a:moveTo>
                  <a:pt x="24002" y="36575"/>
                </a:moveTo>
                <a:lnTo>
                  <a:pt x="22859" y="36575"/>
                </a:lnTo>
                <a:lnTo>
                  <a:pt x="22859" y="38100"/>
                </a:lnTo>
                <a:lnTo>
                  <a:pt x="24002" y="36575"/>
                </a:lnTo>
                <a:close/>
              </a:path>
              <a:path w="143510" h="135889">
                <a:moveTo>
                  <a:pt x="104938" y="12191"/>
                </a:moveTo>
                <a:lnTo>
                  <a:pt x="77723" y="12191"/>
                </a:lnTo>
                <a:lnTo>
                  <a:pt x="89915" y="15239"/>
                </a:lnTo>
                <a:lnTo>
                  <a:pt x="94487" y="16763"/>
                </a:lnTo>
                <a:lnTo>
                  <a:pt x="100583" y="19811"/>
                </a:lnTo>
                <a:lnTo>
                  <a:pt x="104938" y="12191"/>
                </a:lnTo>
                <a:close/>
              </a:path>
              <a:path w="143510" h="135889">
                <a:moveTo>
                  <a:pt x="79247" y="0"/>
                </a:moveTo>
                <a:lnTo>
                  <a:pt x="64007" y="0"/>
                </a:lnTo>
                <a:lnTo>
                  <a:pt x="56387" y="1524"/>
                </a:lnTo>
                <a:lnTo>
                  <a:pt x="53339" y="1524"/>
                </a:lnTo>
                <a:lnTo>
                  <a:pt x="56387" y="13715"/>
                </a:lnTo>
                <a:lnTo>
                  <a:pt x="59435" y="13715"/>
                </a:lnTo>
                <a:lnTo>
                  <a:pt x="65531" y="12191"/>
                </a:lnTo>
                <a:lnTo>
                  <a:pt x="104938" y="12191"/>
                </a:lnTo>
                <a:lnTo>
                  <a:pt x="106679" y="9143"/>
                </a:lnTo>
                <a:lnTo>
                  <a:pt x="99059" y="4571"/>
                </a:lnTo>
                <a:lnTo>
                  <a:pt x="92963" y="3047"/>
                </a:lnTo>
                <a:lnTo>
                  <a:pt x="85343" y="1524"/>
                </a:lnTo>
                <a:lnTo>
                  <a:pt x="79247" y="0"/>
                </a:lnTo>
                <a:close/>
              </a:path>
              <a:path w="143510" h="135889">
                <a:moveTo>
                  <a:pt x="124967" y="45719"/>
                </a:moveTo>
                <a:lnTo>
                  <a:pt x="128015" y="51815"/>
                </a:lnTo>
                <a:lnTo>
                  <a:pt x="129539" y="56387"/>
                </a:lnTo>
                <a:lnTo>
                  <a:pt x="129539" y="73151"/>
                </a:lnTo>
                <a:lnTo>
                  <a:pt x="128015" y="79247"/>
                </a:lnTo>
                <a:lnTo>
                  <a:pt x="128015" y="83819"/>
                </a:lnTo>
                <a:lnTo>
                  <a:pt x="124967" y="88391"/>
                </a:lnTo>
                <a:lnTo>
                  <a:pt x="137159" y="92963"/>
                </a:lnTo>
                <a:lnTo>
                  <a:pt x="140207" y="88391"/>
                </a:lnTo>
                <a:lnTo>
                  <a:pt x="141731" y="80771"/>
                </a:lnTo>
                <a:lnTo>
                  <a:pt x="141731" y="74675"/>
                </a:lnTo>
                <a:lnTo>
                  <a:pt x="143255" y="67055"/>
                </a:lnTo>
                <a:lnTo>
                  <a:pt x="141731" y="60959"/>
                </a:lnTo>
                <a:lnTo>
                  <a:pt x="141731" y="53339"/>
                </a:lnTo>
                <a:lnTo>
                  <a:pt x="138683" y="47243"/>
                </a:lnTo>
                <a:lnTo>
                  <a:pt x="126491" y="47243"/>
                </a:lnTo>
                <a:lnTo>
                  <a:pt x="124967" y="45719"/>
                </a:lnTo>
                <a:close/>
              </a:path>
              <a:path w="143510" h="135889">
                <a:moveTo>
                  <a:pt x="135635" y="38100"/>
                </a:moveTo>
                <a:lnTo>
                  <a:pt x="124967" y="44195"/>
                </a:lnTo>
                <a:lnTo>
                  <a:pt x="126491" y="47243"/>
                </a:lnTo>
                <a:lnTo>
                  <a:pt x="138683" y="47243"/>
                </a:lnTo>
                <a:lnTo>
                  <a:pt x="137159" y="41147"/>
                </a:lnTo>
                <a:lnTo>
                  <a:pt x="135635" y="38100"/>
                </a:lnTo>
                <a:close/>
              </a:path>
              <a:path w="143510" h="135889">
                <a:moveTo>
                  <a:pt x="59435" y="121919"/>
                </a:moveTo>
                <a:lnTo>
                  <a:pt x="56387" y="134111"/>
                </a:lnTo>
                <a:lnTo>
                  <a:pt x="57911" y="134111"/>
                </a:lnTo>
                <a:lnTo>
                  <a:pt x="64007" y="135635"/>
                </a:lnTo>
                <a:lnTo>
                  <a:pt x="79247" y="135635"/>
                </a:lnTo>
                <a:lnTo>
                  <a:pt x="86867" y="134111"/>
                </a:lnTo>
                <a:lnTo>
                  <a:pt x="99059" y="131063"/>
                </a:lnTo>
                <a:lnTo>
                  <a:pt x="109727" y="124967"/>
                </a:lnTo>
                <a:lnTo>
                  <a:pt x="108857" y="123443"/>
                </a:lnTo>
                <a:lnTo>
                  <a:pt x="65531" y="123443"/>
                </a:lnTo>
                <a:lnTo>
                  <a:pt x="59435" y="121919"/>
                </a:lnTo>
                <a:close/>
              </a:path>
              <a:path w="143510" h="135889">
                <a:moveTo>
                  <a:pt x="103631" y="114300"/>
                </a:moveTo>
                <a:lnTo>
                  <a:pt x="94487" y="118871"/>
                </a:lnTo>
                <a:lnTo>
                  <a:pt x="88391" y="120395"/>
                </a:lnTo>
                <a:lnTo>
                  <a:pt x="83819" y="121919"/>
                </a:lnTo>
                <a:lnTo>
                  <a:pt x="77723" y="123443"/>
                </a:lnTo>
                <a:lnTo>
                  <a:pt x="108857" y="123443"/>
                </a:lnTo>
                <a:lnTo>
                  <a:pt x="103631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30100" y="2072037"/>
            <a:ext cx="195580" cy="111760"/>
          </a:xfrm>
          <a:custGeom>
            <a:avLst/>
            <a:gdLst/>
            <a:ahLst/>
            <a:cxnLst/>
            <a:rect l="l" t="t" r="r" b="b"/>
            <a:pathLst>
              <a:path w="195580" h="111760">
                <a:moveTo>
                  <a:pt x="140036" y="93278"/>
                </a:moveTo>
                <a:lnTo>
                  <a:pt x="131063" y="109728"/>
                </a:lnTo>
                <a:lnTo>
                  <a:pt x="195072" y="111252"/>
                </a:lnTo>
                <a:lnTo>
                  <a:pt x="185390" y="97536"/>
                </a:lnTo>
                <a:lnTo>
                  <a:pt x="147827" y="97536"/>
                </a:lnTo>
                <a:lnTo>
                  <a:pt x="140036" y="93278"/>
                </a:lnTo>
                <a:close/>
              </a:path>
              <a:path w="195580" h="111760">
                <a:moveTo>
                  <a:pt x="149180" y="76514"/>
                </a:moveTo>
                <a:lnTo>
                  <a:pt x="140036" y="93278"/>
                </a:lnTo>
                <a:lnTo>
                  <a:pt x="147827" y="97536"/>
                </a:lnTo>
                <a:lnTo>
                  <a:pt x="156972" y="80772"/>
                </a:lnTo>
                <a:lnTo>
                  <a:pt x="149180" y="76514"/>
                </a:lnTo>
                <a:close/>
              </a:path>
              <a:path w="195580" h="111760">
                <a:moveTo>
                  <a:pt x="158495" y="59436"/>
                </a:moveTo>
                <a:lnTo>
                  <a:pt x="149180" y="76514"/>
                </a:lnTo>
                <a:lnTo>
                  <a:pt x="156972" y="80772"/>
                </a:lnTo>
                <a:lnTo>
                  <a:pt x="147827" y="97536"/>
                </a:lnTo>
                <a:lnTo>
                  <a:pt x="185390" y="97536"/>
                </a:lnTo>
                <a:lnTo>
                  <a:pt x="158495" y="59436"/>
                </a:lnTo>
                <a:close/>
              </a:path>
              <a:path w="195580" h="111760">
                <a:moveTo>
                  <a:pt x="9143" y="0"/>
                </a:moveTo>
                <a:lnTo>
                  <a:pt x="0" y="16764"/>
                </a:lnTo>
                <a:lnTo>
                  <a:pt x="140036" y="93278"/>
                </a:lnTo>
                <a:lnTo>
                  <a:pt x="149180" y="76514"/>
                </a:lnTo>
                <a:lnTo>
                  <a:pt x="9143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52576" y="2148237"/>
            <a:ext cx="545591" cy="1798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36752" y="2538381"/>
            <a:ext cx="612648" cy="18135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26159" y="2169063"/>
            <a:ext cx="518159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030A0"/>
                </a:solidFill>
                <a:latin typeface="黑体" panose="02010609060101010101" charset="-122"/>
                <a:cs typeface="黑体" panose="02010609060101010101" charset="-122"/>
              </a:rPr>
              <a:t>不停震荡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行进缓慢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583294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48" y="529899"/>
            <a:ext cx="3867785" cy="7296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74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损失函数特性：一个方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上变化迅速而在另一个方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上变化缓慢。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优化目标：从起点处走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底端笑脸处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4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梯度下降算法存在的问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：山壁间震荡，往谷低方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的行进较慢。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9562" y="138710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梯度</a:t>
            </a:r>
            <a:r>
              <a:rPr spc="-10" dirty="0"/>
              <a:t>下</a:t>
            </a:r>
            <a:r>
              <a:rPr spc="5" dirty="0"/>
              <a:t>降</a:t>
            </a:r>
            <a:r>
              <a:rPr spc="-10" dirty="0"/>
              <a:t>法存</a:t>
            </a:r>
            <a:r>
              <a:rPr spc="5" dirty="0"/>
              <a:t>在的</a:t>
            </a:r>
            <a:r>
              <a:rPr spc="-10" dirty="0"/>
              <a:t>问</a:t>
            </a:r>
            <a:r>
              <a:rPr spc="5" dirty="0"/>
              <a:t>题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285946" y="1812077"/>
            <a:ext cx="825500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仅增大步长并不 能加快算法收敛 速度！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66220" y="1366053"/>
            <a:ext cx="2676144" cy="17846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09903" y="2018325"/>
            <a:ext cx="141731" cy="135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56435" y="2893101"/>
            <a:ext cx="140207" cy="1356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49200" y="2390181"/>
            <a:ext cx="571500" cy="98425"/>
          </a:xfrm>
          <a:custGeom>
            <a:avLst/>
            <a:gdLst/>
            <a:ahLst/>
            <a:cxnLst/>
            <a:rect l="l" t="t" r="r" b="b"/>
            <a:pathLst>
              <a:path w="571500" h="98425">
                <a:moveTo>
                  <a:pt x="571499" y="38099"/>
                </a:moveTo>
                <a:lnTo>
                  <a:pt x="525126" y="58771"/>
                </a:lnTo>
                <a:lnTo>
                  <a:pt x="477625" y="75071"/>
                </a:lnTo>
                <a:lnTo>
                  <a:pt x="429267" y="87010"/>
                </a:lnTo>
                <a:lnTo>
                  <a:pt x="380322" y="94600"/>
                </a:lnTo>
                <a:lnTo>
                  <a:pt x="331059" y="97851"/>
                </a:lnTo>
                <a:lnTo>
                  <a:pt x="281749" y="96773"/>
                </a:lnTo>
                <a:lnTo>
                  <a:pt x="232661" y="91378"/>
                </a:lnTo>
                <a:lnTo>
                  <a:pt x="184065" y="81675"/>
                </a:lnTo>
                <a:lnTo>
                  <a:pt x="136231" y="67675"/>
                </a:lnTo>
                <a:lnTo>
                  <a:pt x="89429" y="49388"/>
                </a:lnTo>
                <a:lnTo>
                  <a:pt x="43928" y="26826"/>
                </a:lnTo>
                <a:lnTo>
                  <a:pt x="0" y="0"/>
                </a:lnTo>
              </a:path>
            </a:pathLst>
          </a:custGeom>
          <a:ln w="18287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59740" y="2580681"/>
            <a:ext cx="879475" cy="325120"/>
          </a:xfrm>
          <a:custGeom>
            <a:avLst/>
            <a:gdLst/>
            <a:ahLst/>
            <a:cxnLst/>
            <a:rect l="l" t="t" r="r" b="b"/>
            <a:pathLst>
              <a:path w="879475" h="325119">
                <a:moveTo>
                  <a:pt x="823004" y="306189"/>
                </a:moveTo>
                <a:lnTo>
                  <a:pt x="816863" y="324612"/>
                </a:lnTo>
                <a:lnTo>
                  <a:pt x="879348" y="316992"/>
                </a:lnTo>
                <a:lnTo>
                  <a:pt x="872219" y="309371"/>
                </a:lnTo>
                <a:lnTo>
                  <a:pt x="832104" y="309371"/>
                </a:lnTo>
                <a:lnTo>
                  <a:pt x="823004" y="306189"/>
                </a:lnTo>
                <a:close/>
              </a:path>
              <a:path w="879475" h="325119">
                <a:moveTo>
                  <a:pt x="829102" y="287895"/>
                </a:moveTo>
                <a:lnTo>
                  <a:pt x="823004" y="306189"/>
                </a:lnTo>
                <a:lnTo>
                  <a:pt x="832104" y="309371"/>
                </a:lnTo>
                <a:lnTo>
                  <a:pt x="838200" y="291083"/>
                </a:lnTo>
                <a:lnTo>
                  <a:pt x="829102" y="287895"/>
                </a:lnTo>
                <a:close/>
              </a:path>
              <a:path w="879475" h="325119">
                <a:moveTo>
                  <a:pt x="835151" y="269748"/>
                </a:moveTo>
                <a:lnTo>
                  <a:pt x="829102" y="287895"/>
                </a:lnTo>
                <a:lnTo>
                  <a:pt x="838200" y="291083"/>
                </a:lnTo>
                <a:lnTo>
                  <a:pt x="832104" y="309371"/>
                </a:lnTo>
                <a:lnTo>
                  <a:pt x="872219" y="309371"/>
                </a:lnTo>
                <a:lnTo>
                  <a:pt x="835151" y="269748"/>
                </a:lnTo>
                <a:close/>
              </a:path>
              <a:path w="879475" h="325119">
                <a:moveTo>
                  <a:pt x="7620" y="0"/>
                </a:moveTo>
                <a:lnTo>
                  <a:pt x="0" y="18287"/>
                </a:lnTo>
                <a:lnTo>
                  <a:pt x="823004" y="306189"/>
                </a:lnTo>
                <a:lnTo>
                  <a:pt x="829102" y="287895"/>
                </a:lnTo>
                <a:lnTo>
                  <a:pt x="76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16128" y="2144817"/>
            <a:ext cx="629920" cy="292735"/>
          </a:xfrm>
          <a:custGeom>
            <a:avLst/>
            <a:gdLst/>
            <a:ahLst/>
            <a:cxnLst/>
            <a:rect l="l" t="t" r="r" b="b"/>
            <a:pathLst>
              <a:path w="629920" h="292735">
                <a:moveTo>
                  <a:pt x="573043" y="17824"/>
                </a:moveTo>
                <a:lnTo>
                  <a:pt x="0" y="275844"/>
                </a:lnTo>
                <a:lnTo>
                  <a:pt x="9144" y="292607"/>
                </a:lnTo>
                <a:lnTo>
                  <a:pt x="580840" y="36019"/>
                </a:lnTo>
                <a:lnTo>
                  <a:pt x="573043" y="17824"/>
                </a:lnTo>
                <a:close/>
              </a:path>
              <a:path w="629920" h="292735">
                <a:moveTo>
                  <a:pt x="620683" y="13715"/>
                </a:moveTo>
                <a:lnTo>
                  <a:pt x="582168" y="13715"/>
                </a:lnTo>
                <a:lnTo>
                  <a:pt x="589788" y="32003"/>
                </a:lnTo>
                <a:lnTo>
                  <a:pt x="580840" y="36019"/>
                </a:lnTo>
                <a:lnTo>
                  <a:pt x="588263" y="53339"/>
                </a:lnTo>
                <a:lnTo>
                  <a:pt x="620683" y="13715"/>
                </a:lnTo>
                <a:close/>
              </a:path>
              <a:path w="629920" h="292735">
                <a:moveTo>
                  <a:pt x="582168" y="13715"/>
                </a:moveTo>
                <a:lnTo>
                  <a:pt x="573043" y="17824"/>
                </a:lnTo>
                <a:lnTo>
                  <a:pt x="580840" y="36019"/>
                </a:lnTo>
                <a:lnTo>
                  <a:pt x="589788" y="32003"/>
                </a:lnTo>
                <a:lnTo>
                  <a:pt x="582168" y="13715"/>
                </a:lnTo>
                <a:close/>
              </a:path>
              <a:path w="629920" h="292735">
                <a:moveTo>
                  <a:pt x="565404" y="0"/>
                </a:moveTo>
                <a:lnTo>
                  <a:pt x="573043" y="17824"/>
                </a:lnTo>
                <a:lnTo>
                  <a:pt x="582168" y="13715"/>
                </a:lnTo>
                <a:lnTo>
                  <a:pt x="620683" y="13715"/>
                </a:lnTo>
                <a:lnTo>
                  <a:pt x="629412" y="3047"/>
                </a:lnTo>
                <a:lnTo>
                  <a:pt x="565404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3044" y="2135673"/>
            <a:ext cx="489584" cy="262255"/>
          </a:xfrm>
          <a:custGeom>
            <a:avLst/>
            <a:gdLst/>
            <a:ahLst/>
            <a:cxnLst/>
            <a:rect l="l" t="t" r="r" b="b"/>
            <a:pathLst>
              <a:path w="489585" h="262255">
                <a:moveTo>
                  <a:pt x="54357" y="18227"/>
                </a:moveTo>
                <a:lnTo>
                  <a:pt x="45431" y="35089"/>
                </a:lnTo>
                <a:lnTo>
                  <a:pt x="481583" y="262127"/>
                </a:lnTo>
                <a:lnTo>
                  <a:pt x="489204" y="245363"/>
                </a:lnTo>
                <a:lnTo>
                  <a:pt x="54357" y="18227"/>
                </a:lnTo>
                <a:close/>
              </a:path>
              <a:path w="489585" h="262255">
                <a:moveTo>
                  <a:pt x="64007" y="0"/>
                </a:moveTo>
                <a:lnTo>
                  <a:pt x="0" y="0"/>
                </a:lnTo>
                <a:lnTo>
                  <a:pt x="36575" y="51815"/>
                </a:lnTo>
                <a:lnTo>
                  <a:pt x="45431" y="35089"/>
                </a:lnTo>
                <a:lnTo>
                  <a:pt x="36575" y="30479"/>
                </a:lnTo>
                <a:lnTo>
                  <a:pt x="45719" y="13715"/>
                </a:lnTo>
                <a:lnTo>
                  <a:pt x="56746" y="13715"/>
                </a:lnTo>
                <a:lnTo>
                  <a:pt x="64007" y="0"/>
                </a:lnTo>
                <a:close/>
              </a:path>
              <a:path w="489585" h="262255">
                <a:moveTo>
                  <a:pt x="45719" y="13715"/>
                </a:moveTo>
                <a:lnTo>
                  <a:pt x="36575" y="30479"/>
                </a:lnTo>
                <a:lnTo>
                  <a:pt x="45431" y="35089"/>
                </a:lnTo>
                <a:lnTo>
                  <a:pt x="54357" y="18227"/>
                </a:lnTo>
                <a:lnTo>
                  <a:pt x="45719" y="13715"/>
                </a:lnTo>
                <a:close/>
              </a:path>
              <a:path w="489585" h="262255">
                <a:moveTo>
                  <a:pt x="56746" y="13715"/>
                </a:moveTo>
                <a:lnTo>
                  <a:pt x="45719" y="13715"/>
                </a:lnTo>
                <a:lnTo>
                  <a:pt x="54357" y="18227"/>
                </a:lnTo>
                <a:lnTo>
                  <a:pt x="56746" y="13715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99035" y="2004609"/>
            <a:ext cx="138683" cy="1341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97511" y="2004609"/>
            <a:ext cx="143510" cy="137160"/>
          </a:xfrm>
          <a:custGeom>
            <a:avLst/>
            <a:gdLst/>
            <a:ahLst/>
            <a:cxnLst/>
            <a:rect l="l" t="t" r="r" b="b"/>
            <a:pathLst>
              <a:path w="143510" h="137160">
                <a:moveTo>
                  <a:pt x="13715" y="74676"/>
                </a:moveTo>
                <a:lnTo>
                  <a:pt x="1524" y="76200"/>
                </a:lnTo>
                <a:lnTo>
                  <a:pt x="1524" y="82296"/>
                </a:lnTo>
                <a:lnTo>
                  <a:pt x="4571" y="89916"/>
                </a:lnTo>
                <a:lnTo>
                  <a:pt x="6095" y="94488"/>
                </a:lnTo>
                <a:lnTo>
                  <a:pt x="6095" y="96012"/>
                </a:lnTo>
                <a:lnTo>
                  <a:pt x="12192" y="106680"/>
                </a:lnTo>
                <a:lnTo>
                  <a:pt x="13715" y="108204"/>
                </a:lnTo>
                <a:lnTo>
                  <a:pt x="19812" y="115824"/>
                </a:lnTo>
                <a:lnTo>
                  <a:pt x="30480" y="108204"/>
                </a:lnTo>
                <a:lnTo>
                  <a:pt x="24130" y="100584"/>
                </a:lnTo>
                <a:lnTo>
                  <a:pt x="22860" y="100584"/>
                </a:lnTo>
                <a:lnTo>
                  <a:pt x="16763" y="89916"/>
                </a:lnTo>
                <a:lnTo>
                  <a:pt x="18287" y="89916"/>
                </a:lnTo>
                <a:lnTo>
                  <a:pt x="15239" y="85343"/>
                </a:lnTo>
                <a:lnTo>
                  <a:pt x="13715" y="79248"/>
                </a:lnTo>
                <a:lnTo>
                  <a:pt x="13715" y="74676"/>
                </a:lnTo>
                <a:close/>
              </a:path>
              <a:path w="143510" h="137160">
                <a:moveTo>
                  <a:pt x="22860" y="99060"/>
                </a:moveTo>
                <a:lnTo>
                  <a:pt x="22860" y="100584"/>
                </a:lnTo>
                <a:lnTo>
                  <a:pt x="24130" y="100584"/>
                </a:lnTo>
                <a:lnTo>
                  <a:pt x="22860" y="99060"/>
                </a:lnTo>
                <a:close/>
              </a:path>
              <a:path w="143510" h="137160">
                <a:moveTo>
                  <a:pt x="18287" y="24384"/>
                </a:moveTo>
                <a:lnTo>
                  <a:pt x="13715" y="30480"/>
                </a:lnTo>
                <a:lnTo>
                  <a:pt x="12192" y="30480"/>
                </a:lnTo>
                <a:lnTo>
                  <a:pt x="6095" y="41148"/>
                </a:lnTo>
                <a:lnTo>
                  <a:pt x="6095" y="42672"/>
                </a:lnTo>
                <a:lnTo>
                  <a:pt x="3048" y="48768"/>
                </a:lnTo>
                <a:lnTo>
                  <a:pt x="1524" y="54864"/>
                </a:lnTo>
                <a:lnTo>
                  <a:pt x="1524" y="62484"/>
                </a:lnTo>
                <a:lnTo>
                  <a:pt x="0" y="68580"/>
                </a:lnTo>
                <a:lnTo>
                  <a:pt x="1524" y="76200"/>
                </a:lnTo>
                <a:lnTo>
                  <a:pt x="13715" y="74676"/>
                </a:lnTo>
                <a:lnTo>
                  <a:pt x="13715" y="57912"/>
                </a:lnTo>
                <a:lnTo>
                  <a:pt x="15239" y="51816"/>
                </a:lnTo>
                <a:lnTo>
                  <a:pt x="18287" y="47243"/>
                </a:lnTo>
                <a:lnTo>
                  <a:pt x="16763" y="47243"/>
                </a:lnTo>
                <a:lnTo>
                  <a:pt x="22860" y="38100"/>
                </a:lnTo>
                <a:lnTo>
                  <a:pt x="27431" y="32004"/>
                </a:lnTo>
                <a:lnTo>
                  <a:pt x="18287" y="24384"/>
                </a:lnTo>
                <a:close/>
              </a:path>
              <a:path w="143510" h="137160">
                <a:moveTo>
                  <a:pt x="104938" y="13716"/>
                </a:moveTo>
                <a:lnTo>
                  <a:pt x="77724" y="13716"/>
                </a:lnTo>
                <a:lnTo>
                  <a:pt x="83819" y="15240"/>
                </a:lnTo>
                <a:lnTo>
                  <a:pt x="89915" y="15240"/>
                </a:lnTo>
                <a:lnTo>
                  <a:pt x="94487" y="18288"/>
                </a:lnTo>
                <a:lnTo>
                  <a:pt x="100583" y="21336"/>
                </a:lnTo>
                <a:lnTo>
                  <a:pt x="104938" y="13716"/>
                </a:lnTo>
                <a:close/>
              </a:path>
              <a:path w="143510" h="137160">
                <a:moveTo>
                  <a:pt x="85343" y="1524"/>
                </a:moveTo>
                <a:lnTo>
                  <a:pt x="56387" y="1524"/>
                </a:lnTo>
                <a:lnTo>
                  <a:pt x="53339" y="3048"/>
                </a:lnTo>
                <a:lnTo>
                  <a:pt x="56387" y="15240"/>
                </a:lnTo>
                <a:lnTo>
                  <a:pt x="59436" y="13716"/>
                </a:lnTo>
                <a:lnTo>
                  <a:pt x="104938" y="13716"/>
                </a:lnTo>
                <a:lnTo>
                  <a:pt x="106680" y="10668"/>
                </a:lnTo>
                <a:lnTo>
                  <a:pt x="99060" y="6096"/>
                </a:lnTo>
                <a:lnTo>
                  <a:pt x="92963" y="3048"/>
                </a:lnTo>
                <a:lnTo>
                  <a:pt x="85343" y="1524"/>
                </a:lnTo>
                <a:close/>
              </a:path>
              <a:path w="143510" h="137160">
                <a:moveTo>
                  <a:pt x="71627" y="0"/>
                </a:moveTo>
                <a:lnTo>
                  <a:pt x="64007" y="1524"/>
                </a:lnTo>
                <a:lnTo>
                  <a:pt x="77724" y="1524"/>
                </a:lnTo>
                <a:lnTo>
                  <a:pt x="71627" y="0"/>
                </a:lnTo>
                <a:close/>
              </a:path>
              <a:path w="143510" h="137160">
                <a:moveTo>
                  <a:pt x="135636" y="39624"/>
                </a:moveTo>
                <a:lnTo>
                  <a:pt x="124968" y="45720"/>
                </a:lnTo>
                <a:lnTo>
                  <a:pt x="124968" y="47243"/>
                </a:lnTo>
                <a:lnTo>
                  <a:pt x="128015" y="53340"/>
                </a:lnTo>
                <a:lnTo>
                  <a:pt x="129539" y="57912"/>
                </a:lnTo>
                <a:lnTo>
                  <a:pt x="129539" y="74676"/>
                </a:lnTo>
                <a:lnTo>
                  <a:pt x="128015" y="80772"/>
                </a:lnTo>
                <a:lnTo>
                  <a:pt x="124968" y="89916"/>
                </a:lnTo>
                <a:lnTo>
                  <a:pt x="137160" y="94488"/>
                </a:lnTo>
                <a:lnTo>
                  <a:pt x="138683" y="88392"/>
                </a:lnTo>
                <a:lnTo>
                  <a:pt x="141731" y="82296"/>
                </a:lnTo>
                <a:lnTo>
                  <a:pt x="141731" y="76200"/>
                </a:lnTo>
                <a:lnTo>
                  <a:pt x="143256" y="68580"/>
                </a:lnTo>
                <a:lnTo>
                  <a:pt x="141731" y="60960"/>
                </a:lnTo>
                <a:lnTo>
                  <a:pt x="141731" y="54864"/>
                </a:lnTo>
                <a:lnTo>
                  <a:pt x="138683" y="48768"/>
                </a:lnTo>
                <a:lnTo>
                  <a:pt x="137160" y="42672"/>
                </a:lnTo>
                <a:lnTo>
                  <a:pt x="137160" y="41148"/>
                </a:lnTo>
                <a:lnTo>
                  <a:pt x="135636" y="39624"/>
                </a:lnTo>
                <a:close/>
              </a:path>
              <a:path w="143510" h="137160">
                <a:moveTo>
                  <a:pt x="65531" y="123443"/>
                </a:moveTo>
                <a:lnTo>
                  <a:pt x="59436" y="123443"/>
                </a:lnTo>
                <a:lnTo>
                  <a:pt x="56387" y="135636"/>
                </a:lnTo>
                <a:lnTo>
                  <a:pt x="57912" y="135636"/>
                </a:lnTo>
                <a:lnTo>
                  <a:pt x="64007" y="137160"/>
                </a:lnTo>
                <a:lnTo>
                  <a:pt x="79248" y="137160"/>
                </a:lnTo>
                <a:lnTo>
                  <a:pt x="86868" y="135636"/>
                </a:lnTo>
                <a:lnTo>
                  <a:pt x="92963" y="134112"/>
                </a:lnTo>
                <a:lnTo>
                  <a:pt x="99060" y="131064"/>
                </a:lnTo>
                <a:lnTo>
                  <a:pt x="109727" y="126492"/>
                </a:lnTo>
                <a:lnTo>
                  <a:pt x="108965" y="124968"/>
                </a:lnTo>
                <a:lnTo>
                  <a:pt x="71627" y="124968"/>
                </a:lnTo>
                <a:lnTo>
                  <a:pt x="65531" y="123443"/>
                </a:lnTo>
                <a:close/>
              </a:path>
              <a:path w="143510" h="137160">
                <a:moveTo>
                  <a:pt x="103631" y="114300"/>
                </a:moveTo>
                <a:lnTo>
                  <a:pt x="94487" y="120396"/>
                </a:lnTo>
                <a:lnTo>
                  <a:pt x="88392" y="121920"/>
                </a:lnTo>
                <a:lnTo>
                  <a:pt x="83819" y="123443"/>
                </a:lnTo>
                <a:lnTo>
                  <a:pt x="77724" y="123443"/>
                </a:lnTo>
                <a:lnTo>
                  <a:pt x="71627" y="124968"/>
                </a:lnTo>
                <a:lnTo>
                  <a:pt x="108965" y="124968"/>
                </a:lnTo>
                <a:lnTo>
                  <a:pt x="103631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88239" y="2249973"/>
            <a:ext cx="143255" cy="1341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91288" y="2248449"/>
            <a:ext cx="143510" cy="135890"/>
          </a:xfrm>
          <a:custGeom>
            <a:avLst/>
            <a:gdLst/>
            <a:ahLst/>
            <a:cxnLst/>
            <a:rect l="l" t="t" r="r" b="b"/>
            <a:pathLst>
              <a:path w="143510" h="135889">
                <a:moveTo>
                  <a:pt x="13715" y="73151"/>
                </a:moveTo>
                <a:lnTo>
                  <a:pt x="1524" y="74675"/>
                </a:lnTo>
                <a:lnTo>
                  <a:pt x="1524" y="82295"/>
                </a:lnTo>
                <a:lnTo>
                  <a:pt x="3048" y="88392"/>
                </a:lnTo>
                <a:lnTo>
                  <a:pt x="6096" y="94487"/>
                </a:lnTo>
                <a:lnTo>
                  <a:pt x="12191" y="105156"/>
                </a:lnTo>
                <a:lnTo>
                  <a:pt x="12191" y="106680"/>
                </a:lnTo>
                <a:lnTo>
                  <a:pt x="13715" y="106680"/>
                </a:lnTo>
                <a:lnTo>
                  <a:pt x="19812" y="114300"/>
                </a:lnTo>
                <a:lnTo>
                  <a:pt x="30479" y="106680"/>
                </a:lnTo>
                <a:lnTo>
                  <a:pt x="24129" y="99059"/>
                </a:lnTo>
                <a:lnTo>
                  <a:pt x="22860" y="99059"/>
                </a:lnTo>
                <a:lnTo>
                  <a:pt x="16763" y="88392"/>
                </a:lnTo>
                <a:lnTo>
                  <a:pt x="17525" y="88392"/>
                </a:lnTo>
                <a:lnTo>
                  <a:pt x="15239" y="83819"/>
                </a:lnTo>
                <a:lnTo>
                  <a:pt x="13715" y="79248"/>
                </a:lnTo>
                <a:lnTo>
                  <a:pt x="13715" y="73151"/>
                </a:lnTo>
                <a:close/>
              </a:path>
              <a:path w="143510" h="135889">
                <a:moveTo>
                  <a:pt x="22860" y="97536"/>
                </a:moveTo>
                <a:lnTo>
                  <a:pt x="22860" y="99059"/>
                </a:lnTo>
                <a:lnTo>
                  <a:pt x="24129" y="99059"/>
                </a:lnTo>
                <a:lnTo>
                  <a:pt x="22860" y="97536"/>
                </a:lnTo>
                <a:close/>
              </a:path>
              <a:path w="143510" h="135889">
                <a:moveTo>
                  <a:pt x="17525" y="88392"/>
                </a:moveTo>
                <a:lnTo>
                  <a:pt x="16763" y="88392"/>
                </a:lnTo>
                <a:lnTo>
                  <a:pt x="18287" y="89915"/>
                </a:lnTo>
                <a:lnTo>
                  <a:pt x="17525" y="88392"/>
                </a:lnTo>
                <a:close/>
              </a:path>
              <a:path w="143510" h="135889">
                <a:moveTo>
                  <a:pt x="18287" y="22859"/>
                </a:moveTo>
                <a:lnTo>
                  <a:pt x="13715" y="28956"/>
                </a:lnTo>
                <a:lnTo>
                  <a:pt x="12191" y="28956"/>
                </a:lnTo>
                <a:lnTo>
                  <a:pt x="12191" y="30480"/>
                </a:lnTo>
                <a:lnTo>
                  <a:pt x="6096" y="41148"/>
                </a:lnTo>
                <a:lnTo>
                  <a:pt x="3048" y="47243"/>
                </a:lnTo>
                <a:lnTo>
                  <a:pt x="1524" y="54863"/>
                </a:lnTo>
                <a:lnTo>
                  <a:pt x="0" y="60959"/>
                </a:lnTo>
                <a:lnTo>
                  <a:pt x="0" y="74675"/>
                </a:lnTo>
                <a:lnTo>
                  <a:pt x="13715" y="73151"/>
                </a:lnTo>
                <a:lnTo>
                  <a:pt x="13715" y="56387"/>
                </a:lnTo>
                <a:lnTo>
                  <a:pt x="15239" y="51815"/>
                </a:lnTo>
                <a:lnTo>
                  <a:pt x="17525" y="47243"/>
                </a:lnTo>
                <a:lnTo>
                  <a:pt x="16763" y="47243"/>
                </a:lnTo>
                <a:lnTo>
                  <a:pt x="22860" y="36575"/>
                </a:lnTo>
                <a:lnTo>
                  <a:pt x="24003" y="36575"/>
                </a:lnTo>
                <a:lnTo>
                  <a:pt x="27432" y="32003"/>
                </a:lnTo>
                <a:lnTo>
                  <a:pt x="18287" y="22859"/>
                </a:lnTo>
                <a:close/>
              </a:path>
              <a:path w="143510" h="135889">
                <a:moveTo>
                  <a:pt x="18287" y="45719"/>
                </a:moveTo>
                <a:lnTo>
                  <a:pt x="16763" y="47243"/>
                </a:lnTo>
                <a:lnTo>
                  <a:pt x="17525" y="47243"/>
                </a:lnTo>
                <a:lnTo>
                  <a:pt x="18287" y="45719"/>
                </a:lnTo>
                <a:close/>
              </a:path>
              <a:path w="143510" h="135889">
                <a:moveTo>
                  <a:pt x="24003" y="36575"/>
                </a:moveTo>
                <a:lnTo>
                  <a:pt x="22860" y="36575"/>
                </a:lnTo>
                <a:lnTo>
                  <a:pt x="22860" y="38100"/>
                </a:lnTo>
                <a:lnTo>
                  <a:pt x="24003" y="36575"/>
                </a:lnTo>
                <a:close/>
              </a:path>
              <a:path w="143510" h="135889">
                <a:moveTo>
                  <a:pt x="104938" y="12192"/>
                </a:moveTo>
                <a:lnTo>
                  <a:pt x="77724" y="12192"/>
                </a:lnTo>
                <a:lnTo>
                  <a:pt x="83820" y="13715"/>
                </a:lnTo>
                <a:lnTo>
                  <a:pt x="88391" y="15239"/>
                </a:lnTo>
                <a:lnTo>
                  <a:pt x="94487" y="16763"/>
                </a:lnTo>
                <a:lnTo>
                  <a:pt x="92963" y="16763"/>
                </a:lnTo>
                <a:lnTo>
                  <a:pt x="100584" y="19812"/>
                </a:lnTo>
                <a:lnTo>
                  <a:pt x="104938" y="12192"/>
                </a:lnTo>
                <a:close/>
              </a:path>
              <a:path w="143510" h="135889">
                <a:moveTo>
                  <a:pt x="77724" y="0"/>
                </a:moveTo>
                <a:lnTo>
                  <a:pt x="64008" y="0"/>
                </a:lnTo>
                <a:lnTo>
                  <a:pt x="56387" y="1524"/>
                </a:lnTo>
                <a:lnTo>
                  <a:pt x="53339" y="1524"/>
                </a:lnTo>
                <a:lnTo>
                  <a:pt x="56387" y="13715"/>
                </a:lnTo>
                <a:lnTo>
                  <a:pt x="59436" y="13715"/>
                </a:lnTo>
                <a:lnTo>
                  <a:pt x="65532" y="12192"/>
                </a:lnTo>
                <a:lnTo>
                  <a:pt x="104938" y="12192"/>
                </a:lnTo>
                <a:lnTo>
                  <a:pt x="106679" y="9143"/>
                </a:lnTo>
                <a:lnTo>
                  <a:pt x="99060" y="4571"/>
                </a:lnTo>
                <a:lnTo>
                  <a:pt x="91439" y="3048"/>
                </a:lnTo>
                <a:lnTo>
                  <a:pt x="85344" y="1524"/>
                </a:lnTo>
                <a:lnTo>
                  <a:pt x="77724" y="0"/>
                </a:lnTo>
                <a:close/>
              </a:path>
              <a:path w="143510" h="135889">
                <a:moveTo>
                  <a:pt x="135636" y="38100"/>
                </a:moveTo>
                <a:lnTo>
                  <a:pt x="124967" y="44195"/>
                </a:lnTo>
                <a:lnTo>
                  <a:pt x="124967" y="45719"/>
                </a:lnTo>
                <a:lnTo>
                  <a:pt x="126491" y="51815"/>
                </a:lnTo>
                <a:lnTo>
                  <a:pt x="128015" y="56387"/>
                </a:lnTo>
                <a:lnTo>
                  <a:pt x="129539" y="62483"/>
                </a:lnTo>
                <a:lnTo>
                  <a:pt x="129539" y="73151"/>
                </a:lnTo>
                <a:lnTo>
                  <a:pt x="128015" y="79248"/>
                </a:lnTo>
                <a:lnTo>
                  <a:pt x="124967" y="88392"/>
                </a:lnTo>
                <a:lnTo>
                  <a:pt x="137160" y="92963"/>
                </a:lnTo>
                <a:lnTo>
                  <a:pt x="138684" y="88392"/>
                </a:lnTo>
                <a:lnTo>
                  <a:pt x="141732" y="80771"/>
                </a:lnTo>
                <a:lnTo>
                  <a:pt x="141732" y="74675"/>
                </a:lnTo>
                <a:lnTo>
                  <a:pt x="143256" y="67056"/>
                </a:lnTo>
                <a:lnTo>
                  <a:pt x="141732" y="60959"/>
                </a:lnTo>
                <a:lnTo>
                  <a:pt x="140208" y="53339"/>
                </a:lnTo>
                <a:lnTo>
                  <a:pt x="137160" y="41148"/>
                </a:lnTo>
                <a:lnTo>
                  <a:pt x="135636" y="38100"/>
                </a:lnTo>
                <a:close/>
              </a:path>
              <a:path w="143510" h="135889">
                <a:moveTo>
                  <a:pt x="59436" y="121919"/>
                </a:moveTo>
                <a:lnTo>
                  <a:pt x="56387" y="134112"/>
                </a:lnTo>
                <a:lnTo>
                  <a:pt x="57912" y="134112"/>
                </a:lnTo>
                <a:lnTo>
                  <a:pt x="64008" y="135636"/>
                </a:lnTo>
                <a:lnTo>
                  <a:pt x="79248" y="135636"/>
                </a:lnTo>
                <a:lnTo>
                  <a:pt x="85344" y="134112"/>
                </a:lnTo>
                <a:lnTo>
                  <a:pt x="92963" y="132587"/>
                </a:lnTo>
                <a:lnTo>
                  <a:pt x="99060" y="131063"/>
                </a:lnTo>
                <a:lnTo>
                  <a:pt x="109727" y="124968"/>
                </a:lnTo>
                <a:lnTo>
                  <a:pt x="108857" y="123443"/>
                </a:lnTo>
                <a:lnTo>
                  <a:pt x="65532" y="123443"/>
                </a:lnTo>
                <a:lnTo>
                  <a:pt x="59436" y="121919"/>
                </a:lnTo>
                <a:close/>
              </a:path>
              <a:path w="143510" h="135889">
                <a:moveTo>
                  <a:pt x="103632" y="114300"/>
                </a:moveTo>
                <a:lnTo>
                  <a:pt x="92963" y="118871"/>
                </a:lnTo>
                <a:lnTo>
                  <a:pt x="94487" y="118871"/>
                </a:lnTo>
                <a:lnTo>
                  <a:pt x="82296" y="121919"/>
                </a:lnTo>
                <a:lnTo>
                  <a:pt x="77724" y="123443"/>
                </a:lnTo>
                <a:lnTo>
                  <a:pt x="108857" y="123443"/>
                </a:lnTo>
                <a:lnTo>
                  <a:pt x="103632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85291" y="2189013"/>
            <a:ext cx="140335" cy="82550"/>
          </a:xfrm>
          <a:custGeom>
            <a:avLst/>
            <a:gdLst/>
            <a:ahLst/>
            <a:cxnLst/>
            <a:rect l="l" t="t" r="r" b="b"/>
            <a:pathLst>
              <a:path w="140335" h="82550">
                <a:moveTo>
                  <a:pt x="84765" y="19675"/>
                </a:moveTo>
                <a:lnTo>
                  <a:pt x="0" y="65531"/>
                </a:lnTo>
                <a:lnTo>
                  <a:pt x="9144" y="82295"/>
                </a:lnTo>
                <a:lnTo>
                  <a:pt x="93512" y="36654"/>
                </a:lnTo>
                <a:lnTo>
                  <a:pt x="84765" y="19675"/>
                </a:lnTo>
                <a:close/>
              </a:path>
              <a:path w="140335" h="82550">
                <a:moveTo>
                  <a:pt x="129322" y="15239"/>
                </a:moveTo>
                <a:lnTo>
                  <a:pt x="92963" y="15239"/>
                </a:lnTo>
                <a:lnTo>
                  <a:pt x="102108" y="32004"/>
                </a:lnTo>
                <a:lnTo>
                  <a:pt x="93512" y="36654"/>
                </a:lnTo>
                <a:lnTo>
                  <a:pt x="102108" y="53339"/>
                </a:lnTo>
                <a:lnTo>
                  <a:pt x="129322" y="15239"/>
                </a:lnTo>
                <a:close/>
              </a:path>
              <a:path w="140335" h="82550">
                <a:moveTo>
                  <a:pt x="92963" y="15239"/>
                </a:moveTo>
                <a:lnTo>
                  <a:pt x="84765" y="19675"/>
                </a:lnTo>
                <a:lnTo>
                  <a:pt x="93512" y="36654"/>
                </a:lnTo>
                <a:lnTo>
                  <a:pt x="102108" y="32004"/>
                </a:lnTo>
                <a:lnTo>
                  <a:pt x="92963" y="15239"/>
                </a:lnTo>
                <a:close/>
              </a:path>
              <a:path w="140335" h="82550">
                <a:moveTo>
                  <a:pt x="140208" y="0"/>
                </a:moveTo>
                <a:lnTo>
                  <a:pt x="76200" y="3048"/>
                </a:lnTo>
                <a:lnTo>
                  <a:pt x="84765" y="19675"/>
                </a:lnTo>
                <a:lnTo>
                  <a:pt x="92963" y="15239"/>
                </a:lnTo>
                <a:lnTo>
                  <a:pt x="129322" y="15239"/>
                </a:lnTo>
                <a:lnTo>
                  <a:pt x="140208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20828" y="2339889"/>
            <a:ext cx="149860" cy="76200"/>
          </a:xfrm>
          <a:custGeom>
            <a:avLst/>
            <a:gdLst/>
            <a:ahLst/>
            <a:cxnLst/>
            <a:rect l="l" t="t" r="r" b="b"/>
            <a:pathLst>
              <a:path w="149860" h="76200">
                <a:moveTo>
                  <a:pt x="92974" y="58394"/>
                </a:moveTo>
                <a:lnTo>
                  <a:pt x="85344" y="76200"/>
                </a:lnTo>
                <a:lnTo>
                  <a:pt x="149351" y="73152"/>
                </a:lnTo>
                <a:lnTo>
                  <a:pt x="140623" y="62484"/>
                </a:lnTo>
                <a:lnTo>
                  <a:pt x="102108" y="62484"/>
                </a:lnTo>
                <a:lnTo>
                  <a:pt x="92974" y="58394"/>
                </a:lnTo>
                <a:close/>
              </a:path>
              <a:path w="149860" h="76200">
                <a:moveTo>
                  <a:pt x="100729" y="40301"/>
                </a:moveTo>
                <a:lnTo>
                  <a:pt x="92974" y="58394"/>
                </a:lnTo>
                <a:lnTo>
                  <a:pt x="102108" y="62484"/>
                </a:lnTo>
                <a:lnTo>
                  <a:pt x="109727" y="44196"/>
                </a:lnTo>
                <a:lnTo>
                  <a:pt x="100729" y="40301"/>
                </a:lnTo>
                <a:close/>
              </a:path>
              <a:path w="149860" h="76200">
                <a:moveTo>
                  <a:pt x="108204" y="22860"/>
                </a:moveTo>
                <a:lnTo>
                  <a:pt x="100729" y="40301"/>
                </a:lnTo>
                <a:lnTo>
                  <a:pt x="109727" y="44196"/>
                </a:lnTo>
                <a:lnTo>
                  <a:pt x="102108" y="62484"/>
                </a:lnTo>
                <a:lnTo>
                  <a:pt x="140623" y="62484"/>
                </a:lnTo>
                <a:lnTo>
                  <a:pt x="108204" y="22860"/>
                </a:lnTo>
                <a:close/>
              </a:path>
              <a:path w="149860" h="76200">
                <a:moveTo>
                  <a:pt x="7620" y="0"/>
                </a:moveTo>
                <a:lnTo>
                  <a:pt x="0" y="16763"/>
                </a:lnTo>
                <a:lnTo>
                  <a:pt x="92974" y="58394"/>
                </a:lnTo>
                <a:lnTo>
                  <a:pt x="100729" y="40301"/>
                </a:lnTo>
                <a:lnTo>
                  <a:pt x="762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70991" y="2224065"/>
            <a:ext cx="138684" cy="1386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67944" y="2227113"/>
            <a:ext cx="143510" cy="135890"/>
          </a:xfrm>
          <a:custGeom>
            <a:avLst/>
            <a:gdLst/>
            <a:ahLst/>
            <a:cxnLst/>
            <a:rect l="l" t="t" r="r" b="b"/>
            <a:pathLst>
              <a:path w="143510" h="135889">
                <a:moveTo>
                  <a:pt x="13715" y="73151"/>
                </a:moveTo>
                <a:lnTo>
                  <a:pt x="1523" y="74675"/>
                </a:lnTo>
                <a:lnTo>
                  <a:pt x="1523" y="82295"/>
                </a:lnTo>
                <a:lnTo>
                  <a:pt x="4571" y="88392"/>
                </a:lnTo>
                <a:lnTo>
                  <a:pt x="6095" y="94487"/>
                </a:lnTo>
                <a:lnTo>
                  <a:pt x="12191" y="105156"/>
                </a:lnTo>
                <a:lnTo>
                  <a:pt x="12191" y="106680"/>
                </a:lnTo>
                <a:lnTo>
                  <a:pt x="13715" y="106680"/>
                </a:lnTo>
                <a:lnTo>
                  <a:pt x="19811" y="114300"/>
                </a:lnTo>
                <a:lnTo>
                  <a:pt x="30479" y="106680"/>
                </a:lnTo>
                <a:lnTo>
                  <a:pt x="24129" y="99060"/>
                </a:lnTo>
                <a:lnTo>
                  <a:pt x="22859" y="99060"/>
                </a:lnTo>
                <a:lnTo>
                  <a:pt x="16763" y="88392"/>
                </a:lnTo>
                <a:lnTo>
                  <a:pt x="17525" y="88392"/>
                </a:lnTo>
                <a:lnTo>
                  <a:pt x="15239" y="83819"/>
                </a:lnTo>
                <a:lnTo>
                  <a:pt x="13715" y="79248"/>
                </a:lnTo>
                <a:lnTo>
                  <a:pt x="13715" y="73151"/>
                </a:lnTo>
                <a:close/>
              </a:path>
              <a:path w="143510" h="135889">
                <a:moveTo>
                  <a:pt x="22859" y="97536"/>
                </a:moveTo>
                <a:lnTo>
                  <a:pt x="22859" y="99060"/>
                </a:lnTo>
                <a:lnTo>
                  <a:pt x="24129" y="99060"/>
                </a:lnTo>
                <a:lnTo>
                  <a:pt x="22859" y="97536"/>
                </a:lnTo>
                <a:close/>
              </a:path>
              <a:path w="143510" h="135889">
                <a:moveTo>
                  <a:pt x="17525" y="88392"/>
                </a:moveTo>
                <a:lnTo>
                  <a:pt x="16763" y="88392"/>
                </a:lnTo>
                <a:lnTo>
                  <a:pt x="18287" y="89916"/>
                </a:lnTo>
                <a:lnTo>
                  <a:pt x="17525" y="88392"/>
                </a:lnTo>
                <a:close/>
              </a:path>
              <a:path w="143510" h="135889">
                <a:moveTo>
                  <a:pt x="18287" y="22860"/>
                </a:moveTo>
                <a:lnTo>
                  <a:pt x="13715" y="28956"/>
                </a:lnTo>
                <a:lnTo>
                  <a:pt x="12191" y="28956"/>
                </a:lnTo>
                <a:lnTo>
                  <a:pt x="12191" y="30480"/>
                </a:lnTo>
                <a:lnTo>
                  <a:pt x="6095" y="41148"/>
                </a:lnTo>
                <a:lnTo>
                  <a:pt x="3047" y="47243"/>
                </a:lnTo>
                <a:lnTo>
                  <a:pt x="1523" y="54863"/>
                </a:lnTo>
                <a:lnTo>
                  <a:pt x="1523" y="60960"/>
                </a:lnTo>
                <a:lnTo>
                  <a:pt x="0" y="68580"/>
                </a:lnTo>
                <a:lnTo>
                  <a:pt x="1523" y="74675"/>
                </a:lnTo>
                <a:lnTo>
                  <a:pt x="13715" y="73151"/>
                </a:lnTo>
                <a:lnTo>
                  <a:pt x="13715" y="62484"/>
                </a:lnTo>
                <a:lnTo>
                  <a:pt x="15239" y="56387"/>
                </a:lnTo>
                <a:lnTo>
                  <a:pt x="15239" y="51816"/>
                </a:lnTo>
                <a:lnTo>
                  <a:pt x="17525" y="47243"/>
                </a:lnTo>
                <a:lnTo>
                  <a:pt x="16763" y="47243"/>
                </a:lnTo>
                <a:lnTo>
                  <a:pt x="22859" y="36575"/>
                </a:lnTo>
                <a:lnTo>
                  <a:pt x="24002" y="36575"/>
                </a:lnTo>
                <a:lnTo>
                  <a:pt x="27431" y="32004"/>
                </a:lnTo>
                <a:lnTo>
                  <a:pt x="18287" y="22860"/>
                </a:lnTo>
                <a:close/>
              </a:path>
              <a:path w="143510" h="135889">
                <a:moveTo>
                  <a:pt x="18287" y="45719"/>
                </a:moveTo>
                <a:lnTo>
                  <a:pt x="16763" y="47243"/>
                </a:lnTo>
                <a:lnTo>
                  <a:pt x="17525" y="47243"/>
                </a:lnTo>
                <a:lnTo>
                  <a:pt x="18287" y="45719"/>
                </a:lnTo>
                <a:close/>
              </a:path>
              <a:path w="143510" h="135889">
                <a:moveTo>
                  <a:pt x="24002" y="36575"/>
                </a:moveTo>
                <a:lnTo>
                  <a:pt x="22859" y="36575"/>
                </a:lnTo>
                <a:lnTo>
                  <a:pt x="22859" y="38100"/>
                </a:lnTo>
                <a:lnTo>
                  <a:pt x="24002" y="36575"/>
                </a:lnTo>
                <a:close/>
              </a:path>
              <a:path w="143510" h="135889">
                <a:moveTo>
                  <a:pt x="104938" y="12192"/>
                </a:moveTo>
                <a:lnTo>
                  <a:pt x="77723" y="12192"/>
                </a:lnTo>
                <a:lnTo>
                  <a:pt x="89915" y="15239"/>
                </a:lnTo>
                <a:lnTo>
                  <a:pt x="94487" y="16763"/>
                </a:lnTo>
                <a:lnTo>
                  <a:pt x="100583" y="19812"/>
                </a:lnTo>
                <a:lnTo>
                  <a:pt x="104938" y="12192"/>
                </a:lnTo>
                <a:close/>
              </a:path>
              <a:path w="143510" h="135889">
                <a:moveTo>
                  <a:pt x="79247" y="0"/>
                </a:moveTo>
                <a:lnTo>
                  <a:pt x="64007" y="0"/>
                </a:lnTo>
                <a:lnTo>
                  <a:pt x="56387" y="1524"/>
                </a:lnTo>
                <a:lnTo>
                  <a:pt x="53339" y="1524"/>
                </a:lnTo>
                <a:lnTo>
                  <a:pt x="56387" y="13716"/>
                </a:lnTo>
                <a:lnTo>
                  <a:pt x="59435" y="13716"/>
                </a:lnTo>
                <a:lnTo>
                  <a:pt x="65531" y="12192"/>
                </a:lnTo>
                <a:lnTo>
                  <a:pt x="104938" y="12192"/>
                </a:lnTo>
                <a:lnTo>
                  <a:pt x="106679" y="9143"/>
                </a:lnTo>
                <a:lnTo>
                  <a:pt x="99059" y="4572"/>
                </a:lnTo>
                <a:lnTo>
                  <a:pt x="92963" y="3048"/>
                </a:lnTo>
                <a:lnTo>
                  <a:pt x="85343" y="1524"/>
                </a:lnTo>
                <a:lnTo>
                  <a:pt x="79247" y="0"/>
                </a:lnTo>
                <a:close/>
              </a:path>
              <a:path w="143510" h="135889">
                <a:moveTo>
                  <a:pt x="124967" y="45719"/>
                </a:moveTo>
                <a:lnTo>
                  <a:pt x="128015" y="51816"/>
                </a:lnTo>
                <a:lnTo>
                  <a:pt x="129539" y="56387"/>
                </a:lnTo>
                <a:lnTo>
                  <a:pt x="129539" y="73151"/>
                </a:lnTo>
                <a:lnTo>
                  <a:pt x="128015" y="79248"/>
                </a:lnTo>
                <a:lnTo>
                  <a:pt x="128015" y="83819"/>
                </a:lnTo>
                <a:lnTo>
                  <a:pt x="124967" y="88392"/>
                </a:lnTo>
                <a:lnTo>
                  <a:pt x="137159" y="92963"/>
                </a:lnTo>
                <a:lnTo>
                  <a:pt x="140207" y="88392"/>
                </a:lnTo>
                <a:lnTo>
                  <a:pt x="141731" y="80772"/>
                </a:lnTo>
                <a:lnTo>
                  <a:pt x="141731" y="74675"/>
                </a:lnTo>
                <a:lnTo>
                  <a:pt x="143255" y="67056"/>
                </a:lnTo>
                <a:lnTo>
                  <a:pt x="141731" y="60960"/>
                </a:lnTo>
                <a:lnTo>
                  <a:pt x="141731" y="53339"/>
                </a:lnTo>
                <a:lnTo>
                  <a:pt x="138683" y="47243"/>
                </a:lnTo>
                <a:lnTo>
                  <a:pt x="126491" y="47243"/>
                </a:lnTo>
                <a:lnTo>
                  <a:pt x="124967" y="45719"/>
                </a:lnTo>
                <a:close/>
              </a:path>
              <a:path w="143510" h="135889">
                <a:moveTo>
                  <a:pt x="135635" y="38100"/>
                </a:moveTo>
                <a:lnTo>
                  <a:pt x="124967" y="44195"/>
                </a:lnTo>
                <a:lnTo>
                  <a:pt x="126491" y="47243"/>
                </a:lnTo>
                <a:lnTo>
                  <a:pt x="138683" y="47243"/>
                </a:lnTo>
                <a:lnTo>
                  <a:pt x="137159" y="41148"/>
                </a:lnTo>
                <a:lnTo>
                  <a:pt x="135635" y="38100"/>
                </a:lnTo>
                <a:close/>
              </a:path>
              <a:path w="143510" h="135889">
                <a:moveTo>
                  <a:pt x="59435" y="121919"/>
                </a:moveTo>
                <a:lnTo>
                  <a:pt x="56387" y="134112"/>
                </a:lnTo>
                <a:lnTo>
                  <a:pt x="57911" y="134112"/>
                </a:lnTo>
                <a:lnTo>
                  <a:pt x="64007" y="135636"/>
                </a:lnTo>
                <a:lnTo>
                  <a:pt x="79247" y="135636"/>
                </a:lnTo>
                <a:lnTo>
                  <a:pt x="86867" y="134112"/>
                </a:lnTo>
                <a:lnTo>
                  <a:pt x="99059" y="131063"/>
                </a:lnTo>
                <a:lnTo>
                  <a:pt x="109727" y="124968"/>
                </a:lnTo>
                <a:lnTo>
                  <a:pt x="108857" y="123443"/>
                </a:lnTo>
                <a:lnTo>
                  <a:pt x="65531" y="123443"/>
                </a:lnTo>
                <a:lnTo>
                  <a:pt x="59435" y="121919"/>
                </a:lnTo>
                <a:close/>
              </a:path>
              <a:path w="143510" h="135889">
                <a:moveTo>
                  <a:pt x="103631" y="114300"/>
                </a:moveTo>
                <a:lnTo>
                  <a:pt x="94487" y="118872"/>
                </a:lnTo>
                <a:lnTo>
                  <a:pt x="88391" y="120395"/>
                </a:lnTo>
                <a:lnTo>
                  <a:pt x="83819" y="121919"/>
                </a:lnTo>
                <a:lnTo>
                  <a:pt x="77723" y="123443"/>
                </a:lnTo>
                <a:lnTo>
                  <a:pt x="108857" y="123443"/>
                </a:lnTo>
                <a:lnTo>
                  <a:pt x="103631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30100" y="2077761"/>
            <a:ext cx="195580" cy="111760"/>
          </a:xfrm>
          <a:custGeom>
            <a:avLst/>
            <a:gdLst/>
            <a:ahLst/>
            <a:cxnLst/>
            <a:rect l="l" t="t" r="r" b="b"/>
            <a:pathLst>
              <a:path w="195580" h="111760">
                <a:moveTo>
                  <a:pt x="140036" y="93278"/>
                </a:moveTo>
                <a:lnTo>
                  <a:pt x="131063" y="109727"/>
                </a:lnTo>
                <a:lnTo>
                  <a:pt x="195072" y="111251"/>
                </a:lnTo>
                <a:lnTo>
                  <a:pt x="185390" y="97536"/>
                </a:lnTo>
                <a:lnTo>
                  <a:pt x="147827" y="97536"/>
                </a:lnTo>
                <a:lnTo>
                  <a:pt x="140036" y="93278"/>
                </a:lnTo>
                <a:close/>
              </a:path>
              <a:path w="195580" h="111760">
                <a:moveTo>
                  <a:pt x="149180" y="76514"/>
                </a:moveTo>
                <a:lnTo>
                  <a:pt x="140036" y="93278"/>
                </a:lnTo>
                <a:lnTo>
                  <a:pt x="147827" y="97536"/>
                </a:lnTo>
                <a:lnTo>
                  <a:pt x="156972" y="80771"/>
                </a:lnTo>
                <a:lnTo>
                  <a:pt x="149180" y="76514"/>
                </a:lnTo>
                <a:close/>
              </a:path>
              <a:path w="195580" h="111760">
                <a:moveTo>
                  <a:pt x="158495" y="59436"/>
                </a:moveTo>
                <a:lnTo>
                  <a:pt x="149180" y="76514"/>
                </a:lnTo>
                <a:lnTo>
                  <a:pt x="156972" y="80771"/>
                </a:lnTo>
                <a:lnTo>
                  <a:pt x="147827" y="97536"/>
                </a:lnTo>
                <a:lnTo>
                  <a:pt x="185390" y="97536"/>
                </a:lnTo>
                <a:lnTo>
                  <a:pt x="158495" y="59436"/>
                </a:lnTo>
                <a:close/>
              </a:path>
              <a:path w="195580" h="111760">
                <a:moveTo>
                  <a:pt x="9143" y="0"/>
                </a:moveTo>
                <a:lnTo>
                  <a:pt x="0" y="16763"/>
                </a:lnTo>
                <a:lnTo>
                  <a:pt x="140036" y="93278"/>
                </a:lnTo>
                <a:lnTo>
                  <a:pt x="149180" y="76514"/>
                </a:lnTo>
                <a:lnTo>
                  <a:pt x="9143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52576" y="2153961"/>
            <a:ext cx="545591" cy="1798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909990" y="2173224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030A0"/>
                </a:solidFill>
                <a:latin typeface="黑体" panose="02010609060101010101" charset="-122"/>
                <a:cs typeface="黑体" panose="02010609060101010101" charset="-122"/>
              </a:rPr>
              <a:t>不停震荡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36752" y="2544105"/>
            <a:ext cx="612648" cy="1813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826159" y="2563378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行进缓慢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583294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488" y="110140"/>
            <a:ext cx="1699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梯度算法改进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1423" y="837175"/>
            <a:ext cx="2159635" cy="169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梯度下降算法存在的问题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动量法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自适应梯度与R</a:t>
            </a:r>
            <a:r>
              <a:rPr sz="1400" spc="-1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M</a:t>
            </a:r>
            <a:r>
              <a:rPr sz="1400" spc="-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S</a:t>
            </a:r>
            <a:r>
              <a:rPr sz="1400" spc="1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P</a:t>
            </a:r>
            <a:r>
              <a:rPr sz="1400" spc="-2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op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spc="-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ADAM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总结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48" y="138710"/>
            <a:ext cx="3872229" cy="651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动量法</a:t>
            </a:r>
            <a:endParaRPr sz="195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138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目标：改进梯度下降算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存在的问题，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减少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荡，加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通往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81808" y="327774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48" y="132933"/>
            <a:ext cx="3872229" cy="886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动量法</a:t>
            </a:r>
            <a:endParaRPr sz="195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138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目标：改进梯度下降算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存在的问题，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减少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荡，加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通往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进思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想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：利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累加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史梯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信息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新梯度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81808" y="3272021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48" y="132933"/>
            <a:ext cx="3872229" cy="886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动量法</a:t>
            </a:r>
            <a:endParaRPr sz="195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138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目标：改进梯度下降算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存在的问题，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减少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荡，加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通往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进思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累加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史梯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信息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新梯度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23164" y="1293273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39">
                <a:moveTo>
                  <a:pt x="0" y="0"/>
                </a:moveTo>
                <a:lnTo>
                  <a:pt x="2743200" y="0"/>
                </a:lnTo>
                <a:lnTo>
                  <a:pt x="2743200" y="1577340"/>
                </a:lnTo>
                <a:lnTo>
                  <a:pt x="0" y="1577340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20116" y="1284129"/>
            <a:ext cx="2749550" cy="18415"/>
          </a:xfrm>
          <a:custGeom>
            <a:avLst/>
            <a:gdLst/>
            <a:ahLst/>
            <a:cxnLst/>
            <a:rect l="l" t="t" r="r" b="b"/>
            <a:pathLst>
              <a:path w="2749550" h="18415">
                <a:moveTo>
                  <a:pt x="0" y="0"/>
                </a:moveTo>
                <a:lnTo>
                  <a:pt x="2749295" y="0"/>
                </a:lnTo>
                <a:lnTo>
                  <a:pt x="2749295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3163" y="1107345"/>
            <a:ext cx="0" cy="1766570"/>
          </a:xfrm>
          <a:custGeom>
            <a:avLst/>
            <a:gdLst/>
            <a:ahLst/>
            <a:cxnLst/>
            <a:rect l="l" t="t" r="r" b="b"/>
            <a:pathLst>
              <a:path h="1766570">
                <a:moveTo>
                  <a:pt x="0" y="0"/>
                </a:moveTo>
                <a:lnTo>
                  <a:pt x="0" y="176631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66363" y="1107345"/>
            <a:ext cx="0" cy="1766570"/>
          </a:xfrm>
          <a:custGeom>
            <a:avLst/>
            <a:gdLst/>
            <a:ahLst/>
            <a:cxnLst/>
            <a:rect l="l" t="t" r="r" b="b"/>
            <a:pathLst>
              <a:path h="1766570">
                <a:moveTo>
                  <a:pt x="0" y="0"/>
                </a:moveTo>
                <a:lnTo>
                  <a:pt x="0" y="176631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20115" y="1110393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20115" y="2870612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26211" y="1113441"/>
            <a:ext cx="2737485" cy="17081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52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20"/>
              </a:spcBef>
            </a:pP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小批量梯度下降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算法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09520" y="1855629"/>
            <a:ext cx="538480" cy="106680"/>
          </a:xfrm>
          <a:custGeom>
            <a:avLst/>
            <a:gdLst/>
            <a:ahLst/>
            <a:cxnLst/>
            <a:rect l="l" t="t" r="r" b="b"/>
            <a:pathLst>
              <a:path w="538479" h="106680">
                <a:moveTo>
                  <a:pt x="518159" y="0"/>
                </a:moveTo>
                <a:lnTo>
                  <a:pt x="509015" y="0"/>
                </a:lnTo>
                <a:lnTo>
                  <a:pt x="509015" y="3048"/>
                </a:lnTo>
                <a:lnTo>
                  <a:pt x="515111" y="3048"/>
                </a:lnTo>
                <a:lnTo>
                  <a:pt x="518159" y="4572"/>
                </a:lnTo>
                <a:lnTo>
                  <a:pt x="519683" y="7620"/>
                </a:lnTo>
                <a:lnTo>
                  <a:pt x="522731" y="10668"/>
                </a:lnTo>
                <a:lnTo>
                  <a:pt x="524255" y="15240"/>
                </a:lnTo>
                <a:lnTo>
                  <a:pt x="524255" y="24384"/>
                </a:lnTo>
                <a:lnTo>
                  <a:pt x="522731" y="28955"/>
                </a:lnTo>
                <a:lnTo>
                  <a:pt x="522731" y="45720"/>
                </a:lnTo>
                <a:lnTo>
                  <a:pt x="524255" y="48768"/>
                </a:lnTo>
                <a:lnTo>
                  <a:pt x="528827" y="53340"/>
                </a:lnTo>
                <a:lnTo>
                  <a:pt x="522731" y="59436"/>
                </a:lnTo>
                <a:lnTo>
                  <a:pt x="522731" y="77724"/>
                </a:lnTo>
                <a:lnTo>
                  <a:pt x="524255" y="80772"/>
                </a:lnTo>
                <a:lnTo>
                  <a:pt x="524255" y="91440"/>
                </a:lnTo>
                <a:lnTo>
                  <a:pt x="522731" y="96012"/>
                </a:lnTo>
                <a:lnTo>
                  <a:pt x="519683" y="99060"/>
                </a:lnTo>
                <a:lnTo>
                  <a:pt x="518159" y="102107"/>
                </a:lnTo>
                <a:lnTo>
                  <a:pt x="515111" y="103631"/>
                </a:lnTo>
                <a:lnTo>
                  <a:pt x="509015" y="103631"/>
                </a:lnTo>
                <a:lnTo>
                  <a:pt x="509015" y="106679"/>
                </a:lnTo>
                <a:lnTo>
                  <a:pt x="518159" y="106679"/>
                </a:lnTo>
                <a:lnTo>
                  <a:pt x="522731" y="103631"/>
                </a:lnTo>
                <a:lnTo>
                  <a:pt x="525779" y="100584"/>
                </a:lnTo>
                <a:lnTo>
                  <a:pt x="528827" y="96012"/>
                </a:lnTo>
                <a:lnTo>
                  <a:pt x="530351" y="89916"/>
                </a:lnTo>
                <a:lnTo>
                  <a:pt x="530351" y="71627"/>
                </a:lnTo>
                <a:lnTo>
                  <a:pt x="528827" y="67055"/>
                </a:lnTo>
                <a:lnTo>
                  <a:pt x="528827" y="60960"/>
                </a:lnTo>
                <a:lnTo>
                  <a:pt x="530351" y="59436"/>
                </a:lnTo>
                <a:lnTo>
                  <a:pt x="530351" y="57912"/>
                </a:lnTo>
                <a:lnTo>
                  <a:pt x="531876" y="56388"/>
                </a:lnTo>
                <a:lnTo>
                  <a:pt x="534924" y="54864"/>
                </a:lnTo>
                <a:lnTo>
                  <a:pt x="537972" y="54864"/>
                </a:lnTo>
                <a:lnTo>
                  <a:pt x="537972" y="51816"/>
                </a:lnTo>
                <a:lnTo>
                  <a:pt x="534924" y="51816"/>
                </a:lnTo>
                <a:lnTo>
                  <a:pt x="531876" y="50292"/>
                </a:lnTo>
                <a:lnTo>
                  <a:pt x="530351" y="48768"/>
                </a:lnTo>
                <a:lnTo>
                  <a:pt x="530351" y="47244"/>
                </a:lnTo>
                <a:lnTo>
                  <a:pt x="528827" y="45720"/>
                </a:lnTo>
                <a:lnTo>
                  <a:pt x="528827" y="38100"/>
                </a:lnTo>
                <a:lnTo>
                  <a:pt x="530351" y="35051"/>
                </a:lnTo>
                <a:lnTo>
                  <a:pt x="530351" y="15240"/>
                </a:lnTo>
                <a:lnTo>
                  <a:pt x="528827" y="9144"/>
                </a:lnTo>
                <a:lnTo>
                  <a:pt x="525779" y="6096"/>
                </a:lnTo>
                <a:lnTo>
                  <a:pt x="522731" y="1524"/>
                </a:lnTo>
                <a:lnTo>
                  <a:pt x="518159" y="0"/>
                </a:lnTo>
                <a:close/>
              </a:path>
              <a:path w="538479" h="106680">
                <a:moveTo>
                  <a:pt x="28955" y="0"/>
                </a:moveTo>
                <a:lnTo>
                  <a:pt x="19812" y="0"/>
                </a:lnTo>
                <a:lnTo>
                  <a:pt x="15239" y="1524"/>
                </a:lnTo>
                <a:lnTo>
                  <a:pt x="12191" y="6096"/>
                </a:lnTo>
                <a:lnTo>
                  <a:pt x="9143" y="9144"/>
                </a:lnTo>
                <a:lnTo>
                  <a:pt x="7619" y="15240"/>
                </a:lnTo>
                <a:lnTo>
                  <a:pt x="7619" y="35051"/>
                </a:lnTo>
                <a:lnTo>
                  <a:pt x="9143" y="38100"/>
                </a:lnTo>
                <a:lnTo>
                  <a:pt x="9143" y="45720"/>
                </a:lnTo>
                <a:lnTo>
                  <a:pt x="7619" y="47244"/>
                </a:lnTo>
                <a:lnTo>
                  <a:pt x="7619" y="48768"/>
                </a:lnTo>
                <a:lnTo>
                  <a:pt x="6095" y="50292"/>
                </a:lnTo>
                <a:lnTo>
                  <a:pt x="3047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7" y="54864"/>
                </a:lnTo>
                <a:lnTo>
                  <a:pt x="6095" y="56388"/>
                </a:lnTo>
                <a:lnTo>
                  <a:pt x="7619" y="57912"/>
                </a:lnTo>
                <a:lnTo>
                  <a:pt x="7619" y="59436"/>
                </a:lnTo>
                <a:lnTo>
                  <a:pt x="9143" y="60960"/>
                </a:lnTo>
                <a:lnTo>
                  <a:pt x="9143" y="67055"/>
                </a:lnTo>
                <a:lnTo>
                  <a:pt x="7619" y="71627"/>
                </a:lnTo>
                <a:lnTo>
                  <a:pt x="7619" y="89916"/>
                </a:lnTo>
                <a:lnTo>
                  <a:pt x="9143" y="96012"/>
                </a:lnTo>
                <a:lnTo>
                  <a:pt x="12191" y="100584"/>
                </a:lnTo>
                <a:lnTo>
                  <a:pt x="15239" y="103631"/>
                </a:lnTo>
                <a:lnTo>
                  <a:pt x="19812" y="106679"/>
                </a:lnTo>
                <a:lnTo>
                  <a:pt x="28955" y="106679"/>
                </a:lnTo>
                <a:lnTo>
                  <a:pt x="28955" y="103631"/>
                </a:lnTo>
                <a:lnTo>
                  <a:pt x="22859" y="103631"/>
                </a:lnTo>
                <a:lnTo>
                  <a:pt x="19812" y="102107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59436"/>
                </a:lnTo>
                <a:lnTo>
                  <a:pt x="9143" y="53340"/>
                </a:lnTo>
                <a:lnTo>
                  <a:pt x="13715" y="48768"/>
                </a:lnTo>
                <a:lnTo>
                  <a:pt x="15239" y="45720"/>
                </a:lnTo>
                <a:lnTo>
                  <a:pt x="15239" y="28955"/>
                </a:lnTo>
                <a:lnTo>
                  <a:pt x="13715" y="24384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2859" y="3048"/>
                </a:lnTo>
                <a:lnTo>
                  <a:pt x="28955" y="3048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97911" y="1854105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1524"/>
                </a:lnTo>
                <a:lnTo>
                  <a:pt x="64008" y="3048"/>
                </a:lnTo>
                <a:lnTo>
                  <a:pt x="67055" y="6096"/>
                </a:lnTo>
                <a:lnTo>
                  <a:pt x="70103" y="12192"/>
                </a:lnTo>
                <a:lnTo>
                  <a:pt x="73151" y="21336"/>
                </a:lnTo>
                <a:lnTo>
                  <a:pt x="73151" y="36575"/>
                </a:lnTo>
                <a:lnTo>
                  <a:pt x="59436" y="56388"/>
                </a:lnTo>
                <a:lnTo>
                  <a:pt x="59436" y="59436"/>
                </a:lnTo>
                <a:lnTo>
                  <a:pt x="65532" y="57912"/>
                </a:lnTo>
                <a:lnTo>
                  <a:pt x="70103" y="53340"/>
                </a:lnTo>
                <a:lnTo>
                  <a:pt x="73151" y="48768"/>
                </a:lnTo>
                <a:lnTo>
                  <a:pt x="79248" y="36575"/>
                </a:lnTo>
                <a:lnTo>
                  <a:pt x="79248" y="21336"/>
                </a:lnTo>
                <a:lnTo>
                  <a:pt x="76200" y="15240"/>
                </a:lnTo>
                <a:lnTo>
                  <a:pt x="73151" y="10668"/>
                </a:lnTo>
                <a:lnTo>
                  <a:pt x="70103" y="4572"/>
                </a:lnTo>
                <a:lnTo>
                  <a:pt x="65532" y="1524"/>
                </a:lnTo>
                <a:lnTo>
                  <a:pt x="59436" y="0"/>
                </a:lnTo>
                <a:close/>
              </a:path>
              <a:path w="79375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02711" y="1854105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19" y="0"/>
                </a:moveTo>
                <a:lnTo>
                  <a:pt x="83819" y="1524"/>
                </a:lnTo>
                <a:lnTo>
                  <a:pt x="88391" y="3048"/>
                </a:lnTo>
                <a:lnTo>
                  <a:pt x="91439" y="6096"/>
                </a:lnTo>
                <a:lnTo>
                  <a:pt x="94487" y="12192"/>
                </a:lnTo>
                <a:lnTo>
                  <a:pt x="97536" y="21336"/>
                </a:lnTo>
                <a:lnTo>
                  <a:pt x="97536" y="36575"/>
                </a:lnTo>
                <a:lnTo>
                  <a:pt x="83819" y="56388"/>
                </a:lnTo>
                <a:lnTo>
                  <a:pt x="83819" y="59436"/>
                </a:lnTo>
                <a:lnTo>
                  <a:pt x="89915" y="57912"/>
                </a:lnTo>
                <a:lnTo>
                  <a:pt x="94487" y="53340"/>
                </a:lnTo>
                <a:lnTo>
                  <a:pt x="97536" y="48768"/>
                </a:lnTo>
                <a:lnTo>
                  <a:pt x="103632" y="36575"/>
                </a:lnTo>
                <a:lnTo>
                  <a:pt x="103632" y="21336"/>
                </a:lnTo>
                <a:lnTo>
                  <a:pt x="100584" y="15240"/>
                </a:lnTo>
                <a:lnTo>
                  <a:pt x="97536" y="10668"/>
                </a:lnTo>
                <a:lnTo>
                  <a:pt x="94487" y="4572"/>
                </a:lnTo>
                <a:lnTo>
                  <a:pt x="89915" y="1524"/>
                </a:lnTo>
                <a:lnTo>
                  <a:pt x="83819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44828" y="2038509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7492" y="0"/>
                </a:lnTo>
                <a:lnTo>
                  <a:pt x="507492" y="3048"/>
                </a:lnTo>
                <a:lnTo>
                  <a:pt x="513588" y="3048"/>
                </a:lnTo>
                <a:lnTo>
                  <a:pt x="516636" y="4572"/>
                </a:lnTo>
                <a:lnTo>
                  <a:pt x="518160" y="7620"/>
                </a:lnTo>
                <a:lnTo>
                  <a:pt x="521208" y="10668"/>
                </a:lnTo>
                <a:lnTo>
                  <a:pt x="522732" y="15240"/>
                </a:lnTo>
                <a:lnTo>
                  <a:pt x="522732" y="24384"/>
                </a:lnTo>
                <a:lnTo>
                  <a:pt x="521208" y="28956"/>
                </a:lnTo>
                <a:lnTo>
                  <a:pt x="521208" y="45720"/>
                </a:lnTo>
                <a:lnTo>
                  <a:pt x="522732" y="48768"/>
                </a:lnTo>
                <a:lnTo>
                  <a:pt x="527304" y="53340"/>
                </a:lnTo>
                <a:lnTo>
                  <a:pt x="521208" y="59436"/>
                </a:lnTo>
                <a:lnTo>
                  <a:pt x="521208" y="77724"/>
                </a:lnTo>
                <a:lnTo>
                  <a:pt x="522732" y="80772"/>
                </a:lnTo>
                <a:lnTo>
                  <a:pt x="522732" y="91440"/>
                </a:lnTo>
                <a:lnTo>
                  <a:pt x="521208" y="96012"/>
                </a:lnTo>
                <a:lnTo>
                  <a:pt x="518160" y="99060"/>
                </a:lnTo>
                <a:lnTo>
                  <a:pt x="516636" y="102108"/>
                </a:lnTo>
                <a:lnTo>
                  <a:pt x="513588" y="103632"/>
                </a:lnTo>
                <a:lnTo>
                  <a:pt x="507492" y="103632"/>
                </a:lnTo>
                <a:lnTo>
                  <a:pt x="507492" y="106680"/>
                </a:lnTo>
                <a:lnTo>
                  <a:pt x="516636" y="106680"/>
                </a:lnTo>
                <a:lnTo>
                  <a:pt x="521208" y="103632"/>
                </a:lnTo>
                <a:lnTo>
                  <a:pt x="524256" y="100584"/>
                </a:lnTo>
                <a:lnTo>
                  <a:pt x="527304" y="96012"/>
                </a:lnTo>
                <a:lnTo>
                  <a:pt x="528827" y="89916"/>
                </a:lnTo>
                <a:lnTo>
                  <a:pt x="528827" y="71627"/>
                </a:lnTo>
                <a:lnTo>
                  <a:pt x="527304" y="67056"/>
                </a:lnTo>
                <a:lnTo>
                  <a:pt x="527304" y="60960"/>
                </a:lnTo>
                <a:lnTo>
                  <a:pt x="528827" y="59436"/>
                </a:lnTo>
                <a:lnTo>
                  <a:pt x="528827" y="57912"/>
                </a:lnTo>
                <a:lnTo>
                  <a:pt x="530351" y="56388"/>
                </a:lnTo>
                <a:lnTo>
                  <a:pt x="533400" y="54864"/>
                </a:lnTo>
                <a:lnTo>
                  <a:pt x="536448" y="54864"/>
                </a:lnTo>
                <a:lnTo>
                  <a:pt x="536448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28827" y="48768"/>
                </a:lnTo>
                <a:lnTo>
                  <a:pt x="528827" y="47244"/>
                </a:lnTo>
                <a:lnTo>
                  <a:pt x="527304" y="45720"/>
                </a:lnTo>
                <a:lnTo>
                  <a:pt x="527304" y="38100"/>
                </a:lnTo>
                <a:lnTo>
                  <a:pt x="528827" y="35051"/>
                </a:lnTo>
                <a:lnTo>
                  <a:pt x="528827" y="15240"/>
                </a:lnTo>
                <a:lnTo>
                  <a:pt x="527304" y="9144"/>
                </a:lnTo>
                <a:lnTo>
                  <a:pt x="524256" y="6096"/>
                </a:lnTo>
                <a:lnTo>
                  <a:pt x="521208" y="1524"/>
                </a:lnTo>
                <a:lnTo>
                  <a:pt x="516636" y="0"/>
                </a:lnTo>
                <a:close/>
              </a:path>
              <a:path w="536575" h="106680">
                <a:moveTo>
                  <a:pt x="28956" y="0"/>
                </a:moveTo>
                <a:lnTo>
                  <a:pt x="19812" y="0"/>
                </a:lnTo>
                <a:lnTo>
                  <a:pt x="15239" y="1524"/>
                </a:lnTo>
                <a:lnTo>
                  <a:pt x="12192" y="6096"/>
                </a:lnTo>
                <a:lnTo>
                  <a:pt x="9144" y="9144"/>
                </a:lnTo>
                <a:lnTo>
                  <a:pt x="7620" y="15240"/>
                </a:lnTo>
                <a:lnTo>
                  <a:pt x="7620" y="35051"/>
                </a:lnTo>
                <a:lnTo>
                  <a:pt x="9144" y="38100"/>
                </a:lnTo>
                <a:lnTo>
                  <a:pt x="9144" y="45720"/>
                </a:lnTo>
                <a:lnTo>
                  <a:pt x="7620" y="47244"/>
                </a:lnTo>
                <a:lnTo>
                  <a:pt x="7620" y="48768"/>
                </a:lnTo>
                <a:lnTo>
                  <a:pt x="6096" y="50292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6096" y="56388"/>
                </a:lnTo>
                <a:lnTo>
                  <a:pt x="7620" y="57912"/>
                </a:lnTo>
                <a:lnTo>
                  <a:pt x="7620" y="59436"/>
                </a:lnTo>
                <a:lnTo>
                  <a:pt x="9144" y="60960"/>
                </a:lnTo>
                <a:lnTo>
                  <a:pt x="9144" y="67056"/>
                </a:lnTo>
                <a:lnTo>
                  <a:pt x="7620" y="71627"/>
                </a:lnTo>
                <a:lnTo>
                  <a:pt x="7620" y="89916"/>
                </a:lnTo>
                <a:lnTo>
                  <a:pt x="9144" y="96012"/>
                </a:lnTo>
                <a:lnTo>
                  <a:pt x="12192" y="100584"/>
                </a:lnTo>
                <a:lnTo>
                  <a:pt x="15239" y="103632"/>
                </a:lnTo>
                <a:lnTo>
                  <a:pt x="19812" y="106680"/>
                </a:lnTo>
                <a:lnTo>
                  <a:pt x="28956" y="106680"/>
                </a:lnTo>
                <a:lnTo>
                  <a:pt x="28956" y="103632"/>
                </a:lnTo>
                <a:lnTo>
                  <a:pt x="22860" y="103632"/>
                </a:lnTo>
                <a:lnTo>
                  <a:pt x="19812" y="102108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6" y="91440"/>
                </a:lnTo>
                <a:lnTo>
                  <a:pt x="13716" y="80772"/>
                </a:lnTo>
                <a:lnTo>
                  <a:pt x="15239" y="77724"/>
                </a:lnTo>
                <a:lnTo>
                  <a:pt x="15239" y="59436"/>
                </a:lnTo>
                <a:lnTo>
                  <a:pt x="9144" y="53340"/>
                </a:lnTo>
                <a:lnTo>
                  <a:pt x="13716" y="48768"/>
                </a:lnTo>
                <a:lnTo>
                  <a:pt x="15239" y="45720"/>
                </a:lnTo>
                <a:lnTo>
                  <a:pt x="15239" y="28956"/>
                </a:lnTo>
                <a:lnTo>
                  <a:pt x="13716" y="24384"/>
                </a:lnTo>
                <a:lnTo>
                  <a:pt x="13716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2860" y="3048"/>
                </a:lnTo>
                <a:lnTo>
                  <a:pt x="28956" y="3048"/>
                </a:lnTo>
                <a:lnTo>
                  <a:pt x="289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28647" y="2036985"/>
            <a:ext cx="81280" cy="59690"/>
          </a:xfrm>
          <a:custGeom>
            <a:avLst/>
            <a:gdLst/>
            <a:ahLst/>
            <a:cxnLst/>
            <a:rect l="l" t="t" r="r" b="b"/>
            <a:pathLst>
              <a:path w="81279" h="59689">
                <a:moveTo>
                  <a:pt x="60960" y="0"/>
                </a:moveTo>
                <a:lnTo>
                  <a:pt x="60960" y="1524"/>
                </a:lnTo>
                <a:lnTo>
                  <a:pt x="65531" y="3048"/>
                </a:lnTo>
                <a:lnTo>
                  <a:pt x="68579" y="6096"/>
                </a:lnTo>
                <a:lnTo>
                  <a:pt x="71627" y="12192"/>
                </a:lnTo>
                <a:lnTo>
                  <a:pt x="74675" y="21336"/>
                </a:lnTo>
                <a:lnTo>
                  <a:pt x="74675" y="36575"/>
                </a:lnTo>
                <a:lnTo>
                  <a:pt x="60960" y="56388"/>
                </a:lnTo>
                <a:lnTo>
                  <a:pt x="60960" y="59436"/>
                </a:lnTo>
                <a:lnTo>
                  <a:pt x="67055" y="57912"/>
                </a:lnTo>
                <a:lnTo>
                  <a:pt x="71627" y="53340"/>
                </a:lnTo>
                <a:lnTo>
                  <a:pt x="74675" y="48768"/>
                </a:lnTo>
                <a:lnTo>
                  <a:pt x="80772" y="36575"/>
                </a:lnTo>
                <a:lnTo>
                  <a:pt x="80772" y="21336"/>
                </a:lnTo>
                <a:lnTo>
                  <a:pt x="77724" y="15240"/>
                </a:lnTo>
                <a:lnTo>
                  <a:pt x="74675" y="10668"/>
                </a:lnTo>
                <a:lnTo>
                  <a:pt x="71627" y="4572"/>
                </a:lnTo>
                <a:lnTo>
                  <a:pt x="67055" y="1524"/>
                </a:lnTo>
                <a:lnTo>
                  <a:pt x="60960" y="0"/>
                </a:lnTo>
                <a:close/>
              </a:path>
              <a:path w="81279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4"/>
                </a:lnTo>
                <a:lnTo>
                  <a:pt x="7619" y="42672"/>
                </a:lnTo>
                <a:lnTo>
                  <a:pt x="6096" y="36575"/>
                </a:lnTo>
                <a:lnTo>
                  <a:pt x="6096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34971" y="2036985"/>
            <a:ext cx="105410" cy="59690"/>
          </a:xfrm>
          <a:custGeom>
            <a:avLst/>
            <a:gdLst/>
            <a:ahLst/>
            <a:cxnLst/>
            <a:rect l="l" t="t" r="r" b="b"/>
            <a:pathLst>
              <a:path w="105410" h="59689">
                <a:moveTo>
                  <a:pt x="85343" y="0"/>
                </a:moveTo>
                <a:lnTo>
                  <a:pt x="85343" y="1524"/>
                </a:lnTo>
                <a:lnTo>
                  <a:pt x="89915" y="3048"/>
                </a:lnTo>
                <a:lnTo>
                  <a:pt x="92963" y="6096"/>
                </a:lnTo>
                <a:lnTo>
                  <a:pt x="96012" y="12192"/>
                </a:lnTo>
                <a:lnTo>
                  <a:pt x="99060" y="21336"/>
                </a:lnTo>
                <a:lnTo>
                  <a:pt x="99060" y="36575"/>
                </a:lnTo>
                <a:lnTo>
                  <a:pt x="85343" y="56388"/>
                </a:lnTo>
                <a:lnTo>
                  <a:pt x="85343" y="59436"/>
                </a:lnTo>
                <a:lnTo>
                  <a:pt x="91439" y="57912"/>
                </a:lnTo>
                <a:lnTo>
                  <a:pt x="96012" y="53340"/>
                </a:lnTo>
                <a:lnTo>
                  <a:pt x="99060" y="48768"/>
                </a:lnTo>
                <a:lnTo>
                  <a:pt x="105155" y="36575"/>
                </a:lnTo>
                <a:lnTo>
                  <a:pt x="105155" y="21336"/>
                </a:lnTo>
                <a:lnTo>
                  <a:pt x="102107" y="15240"/>
                </a:lnTo>
                <a:lnTo>
                  <a:pt x="99060" y="10668"/>
                </a:lnTo>
                <a:lnTo>
                  <a:pt x="96012" y="4572"/>
                </a:lnTo>
                <a:lnTo>
                  <a:pt x="91439" y="1524"/>
                </a:lnTo>
                <a:lnTo>
                  <a:pt x="85343" y="0"/>
                </a:lnTo>
                <a:close/>
              </a:path>
              <a:path w="105410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5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5"/>
                </a:lnTo>
                <a:lnTo>
                  <a:pt x="6095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67338" y="1281554"/>
            <a:ext cx="2527935" cy="8655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15" dirty="0">
                <a:latin typeface="Cambria Math" panose="02040503050406030204"/>
                <a:cs typeface="Cambria Math" panose="02040503050406030204"/>
              </a:rPr>
              <a:t>c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75764" y="2245773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1524"/>
                </a:lnTo>
                <a:lnTo>
                  <a:pt x="53339" y="3048"/>
                </a:lnTo>
                <a:lnTo>
                  <a:pt x="56387" y="6096"/>
                </a:lnTo>
                <a:lnTo>
                  <a:pt x="59436" y="12192"/>
                </a:lnTo>
                <a:lnTo>
                  <a:pt x="62484" y="21335"/>
                </a:lnTo>
                <a:lnTo>
                  <a:pt x="62484" y="36575"/>
                </a:lnTo>
                <a:lnTo>
                  <a:pt x="48768" y="56387"/>
                </a:lnTo>
                <a:lnTo>
                  <a:pt x="48768" y="59435"/>
                </a:lnTo>
                <a:lnTo>
                  <a:pt x="54863" y="57911"/>
                </a:lnTo>
                <a:lnTo>
                  <a:pt x="59436" y="53340"/>
                </a:lnTo>
                <a:lnTo>
                  <a:pt x="62484" y="48768"/>
                </a:lnTo>
                <a:lnTo>
                  <a:pt x="68580" y="36575"/>
                </a:lnTo>
                <a:lnTo>
                  <a:pt x="68580" y="21335"/>
                </a:lnTo>
                <a:lnTo>
                  <a:pt x="65532" y="15240"/>
                </a:lnTo>
                <a:lnTo>
                  <a:pt x="62484" y="10668"/>
                </a:lnTo>
                <a:lnTo>
                  <a:pt x="59436" y="4572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5"/>
                </a:lnTo>
                <a:lnTo>
                  <a:pt x="0" y="36575"/>
                </a:lnTo>
                <a:lnTo>
                  <a:pt x="6096" y="48768"/>
                </a:lnTo>
                <a:lnTo>
                  <a:pt x="9144" y="53340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1335"/>
                </a:lnTo>
                <a:lnTo>
                  <a:pt x="9144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68371" y="2245773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7" y="0"/>
                </a:moveTo>
                <a:lnTo>
                  <a:pt x="48767" y="1524"/>
                </a:lnTo>
                <a:lnTo>
                  <a:pt x="53339" y="3048"/>
                </a:lnTo>
                <a:lnTo>
                  <a:pt x="56387" y="6096"/>
                </a:lnTo>
                <a:lnTo>
                  <a:pt x="59436" y="12192"/>
                </a:lnTo>
                <a:lnTo>
                  <a:pt x="62483" y="21335"/>
                </a:lnTo>
                <a:lnTo>
                  <a:pt x="62483" y="36575"/>
                </a:lnTo>
                <a:lnTo>
                  <a:pt x="48767" y="56387"/>
                </a:lnTo>
                <a:lnTo>
                  <a:pt x="48767" y="59435"/>
                </a:lnTo>
                <a:lnTo>
                  <a:pt x="54863" y="57911"/>
                </a:lnTo>
                <a:lnTo>
                  <a:pt x="59436" y="53340"/>
                </a:lnTo>
                <a:lnTo>
                  <a:pt x="62483" y="48768"/>
                </a:lnTo>
                <a:lnTo>
                  <a:pt x="68579" y="36575"/>
                </a:lnTo>
                <a:lnTo>
                  <a:pt x="68579" y="21335"/>
                </a:lnTo>
                <a:lnTo>
                  <a:pt x="65531" y="15240"/>
                </a:lnTo>
                <a:lnTo>
                  <a:pt x="62483" y="10668"/>
                </a:lnTo>
                <a:lnTo>
                  <a:pt x="59436" y="4572"/>
                </a:lnTo>
                <a:lnTo>
                  <a:pt x="54863" y="1524"/>
                </a:lnTo>
                <a:lnTo>
                  <a:pt x="48767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5" y="10668"/>
                </a:lnTo>
                <a:lnTo>
                  <a:pt x="3048" y="15240"/>
                </a:lnTo>
                <a:lnTo>
                  <a:pt x="0" y="21335"/>
                </a:lnTo>
                <a:lnTo>
                  <a:pt x="0" y="36575"/>
                </a:lnTo>
                <a:lnTo>
                  <a:pt x="6095" y="48768"/>
                </a:lnTo>
                <a:lnTo>
                  <a:pt x="9143" y="53340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6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1335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636198" y="2223901"/>
            <a:ext cx="1762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1050" i="1" u="sng" spc="187" baseline="32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u="sng" spc="232" baseline="44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50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18220" y="2286412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95920" y="2266635"/>
            <a:ext cx="1199515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7630" algn="r"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187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139700">
              <a:lnSpc>
                <a:spcPct val="100000"/>
              </a:lnSpc>
              <a:spcBef>
                <a:spcPts val="51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3.</a:t>
            </a:r>
            <a:r>
              <a:rPr sz="700" spc="1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2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cg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5560" y="1296321"/>
            <a:ext cx="2787650" cy="1897380"/>
          </a:xfrm>
          <a:custGeom>
            <a:avLst/>
            <a:gdLst/>
            <a:ahLst/>
            <a:cxnLst/>
            <a:rect l="l" t="t" r="r" b="b"/>
            <a:pathLst>
              <a:path w="2787650" h="1897380">
                <a:moveTo>
                  <a:pt x="0" y="0"/>
                </a:moveTo>
                <a:lnTo>
                  <a:pt x="2787395" y="0"/>
                </a:lnTo>
                <a:lnTo>
                  <a:pt x="2787395" y="1897379"/>
                </a:lnTo>
                <a:lnTo>
                  <a:pt x="0" y="1897379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2512" y="1287177"/>
            <a:ext cx="2794000" cy="18415"/>
          </a:xfrm>
          <a:custGeom>
            <a:avLst/>
            <a:gdLst/>
            <a:ahLst/>
            <a:cxnLst/>
            <a:rect l="l" t="t" r="r" b="b"/>
            <a:pathLst>
              <a:path w="2794000" h="18415">
                <a:moveTo>
                  <a:pt x="0" y="0"/>
                </a:moveTo>
                <a:lnTo>
                  <a:pt x="2793491" y="0"/>
                </a:lnTo>
                <a:lnTo>
                  <a:pt x="2793491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5559" y="1110393"/>
            <a:ext cx="0" cy="2086610"/>
          </a:xfrm>
          <a:custGeom>
            <a:avLst/>
            <a:gdLst/>
            <a:ahLst/>
            <a:cxnLst/>
            <a:rect l="l" t="t" r="r" b="b"/>
            <a:pathLst>
              <a:path h="2086610">
                <a:moveTo>
                  <a:pt x="0" y="0"/>
                </a:moveTo>
                <a:lnTo>
                  <a:pt x="0" y="208635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82956" y="1110393"/>
            <a:ext cx="0" cy="2086610"/>
          </a:xfrm>
          <a:custGeom>
            <a:avLst/>
            <a:gdLst/>
            <a:ahLst/>
            <a:cxnLst/>
            <a:rect l="l" t="t" r="r" b="b"/>
            <a:pathLst>
              <a:path h="2086610">
                <a:moveTo>
                  <a:pt x="0" y="0"/>
                </a:moveTo>
                <a:lnTo>
                  <a:pt x="0" y="208635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2511" y="1113441"/>
            <a:ext cx="2794000" cy="0"/>
          </a:xfrm>
          <a:custGeom>
            <a:avLst/>
            <a:gdLst/>
            <a:ahLst/>
            <a:cxnLst/>
            <a:rect l="l" t="t" r="r" b="b"/>
            <a:pathLst>
              <a:path w="2794000">
                <a:moveTo>
                  <a:pt x="0" y="0"/>
                </a:moveTo>
                <a:lnTo>
                  <a:pt x="279349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2511" y="3193700"/>
            <a:ext cx="2794000" cy="0"/>
          </a:xfrm>
          <a:custGeom>
            <a:avLst/>
            <a:gdLst/>
            <a:ahLst/>
            <a:cxnLst/>
            <a:rect l="l" t="t" r="r" b="b"/>
            <a:pathLst>
              <a:path w="2794000">
                <a:moveTo>
                  <a:pt x="0" y="0"/>
                </a:moveTo>
                <a:lnTo>
                  <a:pt x="279349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98608" y="1116489"/>
            <a:ext cx="2781300" cy="17081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52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20"/>
              </a:spcBef>
            </a:pP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使用动量的小批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梯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度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降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383439" y="2018697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9015" y="0"/>
                </a:lnTo>
                <a:lnTo>
                  <a:pt x="509015" y="3048"/>
                </a:lnTo>
                <a:lnTo>
                  <a:pt x="513588" y="3048"/>
                </a:lnTo>
                <a:lnTo>
                  <a:pt x="516636" y="4572"/>
                </a:lnTo>
                <a:lnTo>
                  <a:pt x="518160" y="7620"/>
                </a:lnTo>
                <a:lnTo>
                  <a:pt x="521208" y="10668"/>
                </a:lnTo>
                <a:lnTo>
                  <a:pt x="522732" y="15239"/>
                </a:lnTo>
                <a:lnTo>
                  <a:pt x="522732" y="28955"/>
                </a:lnTo>
                <a:lnTo>
                  <a:pt x="521208" y="32003"/>
                </a:lnTo>
                <a:lnTo>
                  <a:pt x="521208" y="45720"/>
                </a:lnTo>
                <a:lnTo>
                  <a:pt x="522732" y="48768"/>
                </a:lnTo>
                <a:lnTo>
                  <a:pt x="527304" y="53339"/>
                </a:lnTo>
                <a:lnTo>
                  <a:pt x="521208" y="59435"/>
                </a:lnTo>
                <a:lnTo>
                  <a:pt x="521208" y="73151"/>
                </a:lnTo>
                <a:lnTo>
                  <a:pt x="522732" y="77724"/>
                </a:lnTo>
                <a:lnTo>
                  <a:pt x="522732" y="91439"/>
                </a:lnTo>
                <a:lnTo>
                  <a:pt x="521208" y="96011"/>
                </a:lnTo>
                <a:lnTo>
                  <a:pt x="518160" y="99059"/>
                </a:lnTo>
                <a:lnTo>
                  <a:pt x="516636" y="102107"/>
                </a:lnTo>
                <a:lnTo>
                  <a:pt x="513588" y="103631"/>
                </a:lnTo>
                <a:lnTo>
                  <a:pt x="509015" y="103631"/>
                </a:lnTo>
                <a:lnTo>
                  <a:pt x="509015" y="106679"/>
                </a:lnTo>
                <a:lnTo>
                  <a:pt x="516636" y="106679"/>
                </a:lnTo>
                <a:lnTo>
                  <a:pt x="521208" y="103631"/>
                </a:lnTo>
                <a:lnTo>
                  <a:pt x="524256" y="100583"/>
                </a:lnTo>
                <a:lnTo>
                  <a:pt x="527304" y="96011"/>
                </a:lnTo>
                <a:lnTo>
                  <a:pt x="530351" y="89916"/>
                </a:lnTo>
                <a:lnTo>
                  <a:pt x="530351" y="79248"/>
                </a:lnTo>
                <a:lnTo>
                  <a:pt x="528827" y="74675"/>
                </a:lnTo>
                <a:lnTo>
                  <a:pt x="528827" y="71627"/>
                </a:lnTo>
                <a:lnTo>
                  <a:pt x="527304" y="67055"/>
                </a:lnTo>
                <a:lnTo>
                  <a:pt x="527304" y="60959"/>
                </a:lnTo>
                <a:lnTo>
                  <a:pt x="530351" y="57911"/>
                </a:lnTo>
                <a:lnTo>
                  <a:pt x="530351" y="56387"/>
                </a:lnTo>
                <a:lnTo>
                  <a:pt x="533400" y="54863"/>
                </a:lnTo>
                <a:lnTo>
                  <a:pt x="536448" y="54863"/>
                </a:lnTo>
                <a:lnTo>
                  <a:pt x="536448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30351" y="48768"/>
                </a:lnTo>
                <a:lnTo>
                  <a:pt x="527304" y="45720"/>
                </a:lnTo>
                <a:lnTo>
                  <a:pt x="527304" y="38100"/>
                </a:lnTo>
                <a:lnTo>
                  <a:pt x="528827" y="35051"/>
                </a:lnTo>
                <a:lnTo>
                  <a:pt x="528827" y="30479"/>
                </a:lnTo>
                <a:lnTo>
                  <a:pt x="530351" y="27431"/>
                </a:lnTo>
                <a:lnTo>
                  <a:pt x="530351" y="15239"/>
                </a:lnTo>
                <a:lnTo>
                  <a:pt x="527304" y="9144"/>
                </a:lnTo>
                <a:lnTo>
                  <a:pt x="524256" y="6096"/>
                </a:lnTo>
                <a:lnTo>
                  <a:pt x="521208" y="1524"/>
                </a:lnTo>
                <a:lnTo>
                  <a:pt x="516636" y="0"/>
                </a:lnTo>
                <a:close/>
              </a:path>
              <a:path w="536575" h="106680">
                <a:moveTo>
                  <a:pt x="27432" y="0"/>
                </a:moveTo>
                <a:lnTo>
                  <a:pt x="18287" y="0"/>
                </a:lnTo>
                <a:lnTo>
                  <a:pt x="13716" y="1524"/>
                </a:lnTo>
                <a:lnTo>
                  <a:pt x="10668" y="6096"/>
                </a:lnTo>
                <a:lnTo>
                  <a:pt x="7620" y="9144"/>
                </a:lnTo>
                <a:lnTo>
                  <a:pt x="6096" y="15239"/>
                </a:lnTo>
                <a:lnTo>
                  <a:pt x="6096" y="35051"/>
                </a:lnTo>
                <a:lnTo>
                  <a:pt x="7620" y="38100"/>
                </a:lnTo>
                <a:lnTo>
                  <a:pt x="7620" y="47244"/>
                </a:lnTo>
                <a:lnTo>
                  <a:pt x="4572" y="50292"/>
                </a:lnTo>
                <a:lnTo>
                  <a:pt x="1524" y="51816"/>
                </a:lnTo>
                <a:lnTo>
                  <a:pt x="0" y="51816"/>
                </a:lnTo>
                <a:lnTo>
                  <a:pt x="0" y="54863"/>
                </a:lnTo>
                <a:lnTo>
                  <a:pt x="1524" y="54863"/>
                </a:lnTo>
                <a:lnTo>
                  <a:pt x="4572" y="56387"/>
                </a:lnTo>
                <a:lnTo>
                  <a:pt x="7620" y="59435"/>
                </a:lnTo>
                <a:lnTo>
                  <a:pt x="7620" y="67055"/>
                </a:lnTo>
                <a:lnTo>
                  <a:pt x="6096" y="71627"/>
                </a:lnTo>
                <a:lnTo>
                  <a:pt x="6096" y="89916"/>
                </a:lnTo>
                <a:lnTo>
                  <a:pt x="7620" y="96011"/>
                </a:lnTo>
                <a:lnTo>
                  <a:pt x="10668" y="100583"/>
                </a:lnTo>
                <a:lnTo>
                  <a:pt x="13716" y="103631"/>
                </a:lnTo>
                <a:lnTo>
                  <a:pt x="18287" y="106679"/>
                </a:lnTo>
                <a:lnTo>
                  <a:pt x="27432" y="106679"/>
                </a:lnTo>
                <a:lnTo>
                  <a:pt x="27432" y="103631"/>
                </a:lnTo>
                <a:lnTo>
                  <a:pt x="21336" y="103631"/>
                </a:lnTo>
                <a:lnTo>
                  <a:pt x="18287" y="102107"/>
                </a:lnTo>
                <a:lnTo>
                  <a:pt x="16764" y="99059"/>
                </a:lnTo>
                <a:lnTo>
                  <a:pt x="13716" y="96011"/>
                </a:lnTo>
                <a:lnTo>
                  <a:pt x="12192" y="91439"/>
                </a:lnTo>
                <a:lnTo>
                  <a:pt x="12192" y="80772"/>
                </a:lnTo>
                <a:lnTo>
                  <a:pt x="13716" y="77724"/>
                </a:lnTo>
                <a:lnTo>
                  <a:pt x="13716" y="70103"/>
                </a:lnTo>
                <a:lnTo>
                  <a:pt x="15240" y="67055"/>
                </a:lnTo>
                <a:lnTo>
                  <a:pt x="15240" y="62483"/>
                </a:lnTo>
                <a:lnTo>
                  <a:pt x="13716" y="59435"/>
                </a:lnTo>
                <a:lnTo>
                  <a:pt x="7620" y="53339"/>
                </a:lnTo>
                <a:lnTo>
                  <a:pt x="12192" y="48768"/>
                </a:lnTo>
                <a:lnTo>
                  <a:pt x="13716" y="45720"/>
                </a:lnTo>
                <a:lnTo>
                  <a:pt x="15240" y="44196"/>
                </a:lnTo>
                <a:lnTo>
                  <a:pt x="15240" y="38100"/>
                </a:lnTo>
                <a:lnTo>
                  <a:pt x="13716" y="36575"/>
                </a:lnTo>
                <a:lnTo>
                  <a:pt x="13716" y="28955"/>
                </a:lnTo>
                <a:lnTo>
                  <a:pt x="12192" y="24383"/>
                </a:lnTo>
                <a:lnTo>
                  <a:pt x="12192" y="15239"/>
                </a:lnTo>
                <a:lnTo>
                  <a:pt x="13716" y="10668"/>
                </a:lnTo>
                <a:lnTo>
                  <a:pt x="16764" y="7620"/>
                </a:lnTo>
                <a:lnTo>
                  <a:pt x="18287" y="4572"/>
                </a:lnTo>
                <a:lnTo>
                  <a:pt x="21336" y="3048"/>
                </a:lnTo>
                <a:lnTo>
                  <a:pt x="27432" y="3048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471832" y="2017173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7912" y="0"/>
                </a:moveTo>
                <a:lnTo>
                  <a:pt x="57912" y="1524"/>
                </a:lnTo>
                <a:lnTo>
                  <a:pt x="62483" y="3048"/>
                </a:lnTo>
                <a:lnTo>
                  <a:pt x="68580" y="12192"/>
                </a:lnTo>
                <a:lnTo>
                  <a:pt x="71628" y="21335"/>
                </a:lnTo>
                <a:lnTo>
                  <a:pt x="71628" y="36575"/>
                </a:lnTo>
                <a:lnTo>
                  <a:pt x="57912" y="56387"/>
                </a:lnTo>
                <a:lnTo>
                  <a:pt x="57912" y="59435"/>
                </a:lnTo>
                <a:lnTo>
                  <a:pt x="64007" y="57911"/>
                </a:lnTo>
                <a:lnTo>
                  <a:pt x="68580" y="53340"/>
                </a:lnTo>
                <a:lnTo>
                  <a:pt x="71628" y="48768"/>
                </a:lnTo>
                <a:lnTo>
                  <a:pt x="76200" y="42672"/>
                </a:lnTo>
                <a:lnTo>
                  <a:pt x="77723" y="36575"/>
                </a:lnTo>
                <a:lnTo>
                  <a:pt x="77723" y="21335"/>
                </a:lnTo>
                <a:lnTo>
                  <a:pt x="76200" y="15240"/>
                </a:lnTo>
                <a:lnTo>
                  <a:pt x="71628" y="10668"/>
                </a:lnTo>
                <a:lnTo>
                  <a:pt x="68580" y="4572"/>
                </a:lnTo>
                <a:lnTo>
                  <a:pt x="64007" y="1524"/>
                </a:lnTo>
                <a:lnTo>
                  <a:pt x="57912" y="0"/>
                </a:lnTo>
                <a:close/>
              </a:path>
              <a:path w="78105" h="59689">
                <a:moveTo>
                  <a:pt x="18287" y="0"/>
                </a:moveTo>
                <a:lnTo>
                  <a:pt x="12192" y="1524"/>
                </a:lnTo>
                <a:lnTo>
                  <a:pt x="7619" y="4572"/>
                </a:lnTo>
                <a:lnTo>
                  <a:pt x="4572" y="10668"/>
                </a:lnTo>
                <a:lnTo>
                  <a:pt x="1524" y="15240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6" y="54863"/>
                </a:lnTo>
                <a:lnTo>
                  <a:pt x="10668" y="51816"/>
                </a:lnTo>
                <a:lnTo>
                  <a:pt x="7619" y="47244"/>
                </a:lnTo>
                <a:lnTo>
                  <a:pt x="6095" y="42672"/>
                </a:lnTo>
                <a:lnTo>
                  <a:pt x="4572" y="36575"/>
                </a:lnTo>
                <a:lnTo>
                  <a:pt x="4572" y="21335"/>
                </a:lnTo>
                <a:lnTo>
                  <a:pt x="7619" y="12192"/>
                </a:lnTo>
                <a:lnTo>
                  <a:pt x="13716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76632" y="2017173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89">
                <a:moveTo>
                  <a:pt x="82295" y="0"/>
                </a:moveTo>
                <a:lnTo>
                  <a:pt x="82295" y="1524"/>
                </a:lnTo>
                <a:lnTo>
                  <a:pt x="86867" y="3048"/>
                </a:lnTo>
                <a:lnTo>
                  <a:pt x="92963" y="12192"/>
                </a:lnTo>
                <a:lnTo>
                  <a:pt x="96012" y="21335"/>
                </a:lnTo>
                <a:lnTo>
                  <a:pt x="96012" y="36575"/>
                </a:lnTo>
                <a:lnTo>
                  <a:pt x="82295" y="56387"/>
                </a:lnTo>
                <a:lnTo>
                  <a:pt x="82295" y="59435"/>
                </a:lnTo>
                <a:lnTo>
                  <a:pt x="88391" y="57911"/>
                </a:lnTo>
                <a:lnTo>
                  <a:pt x="92963" y="53340"/>
                </a:lnTo>
                <a:lnTo>
                  <a:pt x="96012" y="48768"/>
                </a:lnTo>
                <a:lnTo>
                  <a:pt x="100583" y="42672"/>
                </a:lnTo>
                <a:lnTo>
                  <a:pt x="102107" y="36575"/>
                </a:lnTo>
                <a:lnTo>
                  <a:pt x="102107" y="21335"/>
                </a:lnTo>
                <a:lnTo>
                  <a:pt x="100583" y="15240"/>
                </a:lnTo>
                <a:lnTo>
                  <a:pt x="96012" y="10668"/>
                </a:lnTo>
                <a:lnTo>
                  <a:pt x="92963" y="4572"/>
                </a:lnTo>
                <a:lnTo>
                  <a:pt x="88391" y="1524"/>
                </a:lnTo>
                <a:lnTo>
                  <a:pt x="82295" y="0"/>
                </a:lnTo>
                <a:close/>
              </a:path>
              <a:path w="102235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3" y="15240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5" y="54863"/>
                </a:lnTo>
                <a:lnTo>
                  <a:pt x="10667" y="51816"/>
                </a:lnTo>
                <a:lnTo>
                  <a:pt x="7619" y="47244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5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18747" y="2201577"/>
            <a:ext cx="535305" cy="106680"/>
          </a:xfrm>
          <a:custGeom>
            <a:avLst/>
            <a:gdLst/>
            <a:ahLst/>
            <a:cxnLst/>
            <a:rect l="l" t="t" r="r" b="b"/>
            <a:pathLst>
              <a:path w="535305" h="106680">
                <a:moveTo>
                  <a:pt x="515112" y="0"/>
                </a:moveTo>
                <a:lnTo>
                  <a:pt x="507491" y="0"/>
                </a:lnTo>
                <a:lnTo>
                  <a:pt x="507491" y="3048"/>
                </a:lnTo>
                <a:lnTo>
                  <a:pt x="512063" y="3048"/>
                </a:lnTo>
                <a:lnTo>
                  <a:pt x="515112" y="4572"/>
                </a:lnTo>
                <a:lnTo>
                  <a:pt x="516635" y="7620"/>
                </a:lnTo>
                <a:lnTo>
                  <a:pt x="519683" y="10668"/>
                </a:lnTo>
                <a:lnTo>
                  <a:pt x="521207" y="15240"/>
                </a:lnTo>
                <a:lnTo>
                  <a:pt x="521207" y="28955"/>
                </a:lnTo>
                <a:lnTo>
                  <a:pt x="519683" y="32003"/>
                </a:lnTo>
                <a:lnTo>
                  <a:pt x="519683" y="45720"/>
                </a:lnTo>
                <a:lnTo>
                  <a:pt x="521207" y="48768"/>
                </a:lnTo>
                <a:lnTo>
                  <a:pt x="525779" y="53340"/>
                </a:lnTo>
                <a:lnTo>
                  <a:pt x="519683" y="59436"/>
                </a:lnTo>
                <a:lnTo>
                  <a:pt x="519683" y="73151"/>
                </a:lnTo>
                <a:lnTo>
                  <a:pt x="521207" y="77724"/>
                </a:lnTo>
                <a:lnTo>
                  <a:pt x="521207" y="91440"/>
                </a:lnTo>
                <a:lnTo>
                  <a:pt x="519683" y="96012"/>
                </a:lnTo>
                <a:lnTo>
                  <a:pt x="516635" y="99059"/>
                </a:lnTo>
                <a:lnTo>
                  <a:pt x="515112" y="102107"/>
                </a:lnTo>
                <a:lnTo>
                  <a:pt x="512063" y="103631"/>
                </a:lnTo>
                <a:lnTo>
                  <a:pt x="507491" y="103631"/>
                </a:lnTo>
                <a:lnTo>
                  <a:pt x="507491" y="106679"/>
                </a:lnTo>
                <a:lnTo>
                  <a:pt x="515112" y="106679"/>
                </a:lnTo>
                <a:lnTo>
                  <a:pt x="519683" y="103631"/>
                </a:lnTo>
                <a:lnTo>
                  <a:pt x="522731" y="100583"/>
                </a:lnTo>
                <a:lnTo>
                  <a:pt x="525779" y="96012"/>
                </a:lnTo>
                <a:lnTo>
                  <a:pt x="528827" y="89916"/>
                </a:lnTo>
                <a:lnTo>
                  <a:pt x="528827" y="79248"/>
                </a:lnTo>
                <a:lnTo>
                  <a:pt x="527303" y="74675"/>
                </a:lnTo>
                <a:lnTo>
                  <a:pt x="527303" y="71627"/>
                </a:lnTo>
                <a:lnTo>
                  <a:pt x="525779" y="67055"/>
                </a:lnTo>
                <a:lnTo>
                  <a:pt x="525779" y="60959"/>
                </a:lnTo>
                <a:lnTo>
                  <a:pt x="528827" y="57912"/>
                </a:lnTo>
                <a:lnTo>
                  <a:pt x="528827" y="56388"/>
                </a:lnTo>
                <a:lnTo>
                  <a:pt x="531876" y="54864"/>
                </a:lnTo>
                <a:lnTo>
                  <a:pt x="534924" y="54864"/>
                </a:lnTo>
                <a:lnTo>
                  <a:pt x="534924" y="51816"/>
                </a:lnTo>
                <a:lnTo>
                  <a:pt x="531876" y="51816"/>
                </a:lnTo>
                <a:lnTo>
                  <a:pt x="528827" y="50292"/>
                </a:lnTo>
                <a:lnTo>
                  <a:pt x="528827" y="48768"/>
                </a:lnTo>
                <a:lnTo>
                  <a:pt x="525779" y="45720"/>
                </a:lnTo>
                <a:lnTo>
                  <a:pt x="525779" y="38100"/>
                </a:lnTo>
                <a:lnTo>
                  <a:pt x="527303" y="35051"/>
                </a:lnTo>
                <a:lnTo>
                  <a:pt x="527303" y="30479"/>
                </a:lnTo>
                <a:lnTo>
                  <a:pt x="528827" y="27431"/>
                </a:lnTo>
                <a:lnTo>
                  <a:pt x="528827" y="15240"/>
                </a:lnTo>
                <a:lnTo>
                  <a:pt x="525779" y="9144"/>
                </a:lnTo>
                <a:lnTo>
                  <a:pt x="522731" y="6096"/>
                </a:lnTo>
                <a:lnTo>
                  <a:pt x="519683" y="1524"/>
                </a:lnTo>
                <a:lnTo>
                  <a:pt x="515112" y="0"/>
                </a:lnTo>
                <a:close/>
              </a:path>
              <a:path w="535305" h="106680">
                <a:moveTo>
                  <a:pt x="27431" y="0"/>
                </a:moveTo>
                <a:lnTo>
                  <a:pt x="18287" y="0"/>
                </a:lnTo>
                <a:lnTo>
                  <a:pt x="13715" y="1524"/>
                </a:lnTo>
                <a:lnTo>
                  <a:pt x="10668" y="6096"/>
                </a:lnTo>
                <a:lnTo>
                  <a:pt x="7619" y="9144"/>
                </a:lnTo>
                <a:lnTo>
                  <a:pt x="6095" y="15240"/>
                </a:lnTo>
                <a:lnTo>
                  <a:pt x="6095" y="35051"/>
                </a:lnTo>
                <a:lnTo>
                  <a:pt x="7619" y="38100"/>
                </a:lnTo>
                <a:lnTo>
                  <a:pt x="7619" y="47244"/>
                </a:lnTo>
                <a:lnTo>
                  <a:pt x="4571" y="50292"/>
                </a:lnTo>
                <a:lnTo>
                  <a:pt x="1524" y="51816"/>
                </a:lnTo>
                <a:lnTo>
                  <a:pt x="0" y="51816"/>
                </a:lnTo>
                <a:lnTo>
                  <a:pt x="0" y="54864"/>
                </a:lnTo>
                <a:lnTo>
                  <a:pt x="1524" y="54864"/>
                </a:lnTo>
                <a:lnTo>
                  <a:pt x="4571" y="56388"/>
                </a:lnTo>
                <a:lnTo>
                  <a:pt x="7619" y="59436"/>
                </a:lnTo>
                <a:lnTo>
                  <a:pt x="7619" y="67055"/>
                </a:lnTo>
                <a:lnTo>
                  <a:pt x="6095" y="71627"/>
                </a:lnTo>
                <a:lnTo>
                  <a:pt x="6095" y="89916"/>
                </a:lnTo>
                <a:lnTo>
                  <a:pt x="7619" y="96012"/>
                </a:lnTo>
                <a:lnTo>
                  <a:pt x="10668" y="100583"/>
                </a:lnTo>
                <a:lnTo>
                  <a:pt x="13715" y="103631"/>
                </a:lnTo>
                <a:lnTo>
                  <a:pt x="18287" y="106679"/>
                </a:lnTo>
                <a:lnTo>
                  <a:pt x="27431" y="106679"/>
                </a:lnTo>
                <a:lnTo>
                  <a:pt x="27431" y="103631"/>
                </a:lnTo>
                <a:lnTo>
                  <a:pt x="21335" y="103631"/>
                </a:lnTo>
                <a:lnTo>
                  <a:pt x="18287" y="102107"/>
                </a:lnTo>
                <a:lnTo>
                  <a:pt x="16763" y="99059"/>
                </a:lnTo>
                <a:lnTo>
                  <a:pt x="13715" y="96012"/>
                </a:lnTo>
                <a:lnTo>
                  <a:pt x="12191" y="91440"/>
                </a:lnTo>
                <a:lnTo>
                  <a:pt x="12191" y="80772"/>
                </a:lnTo>
                <a:lnTo>
                  <a:pt x="13715" y="77724"/>
                </a:lnTo>
                <a:lnTo>
                  <a:pt x="13715" y="70103"/>
                </a:lnTo>
                <a:lnTo>
                  <a:pt x="15239" y="67055"/>
                </a:lnTo>
                <a:lnTo>
                  <a:pt x="15239" y="62483"/>
                </a:lnTo>
                <a:lnTo>
                  <a:pt x="13715" y="59436"/>
                </a:lnTo>
                <a:lnTo>
                  <a:pt x="7619" y="53340"/>
                </a:lnTo>
                <a:lnTo>
                  <a:pt x="12191" y="48768"/>
                </a:lnTo>
                <a:lnTo>
                  <a:pt x="13715" y="45720"/>
                </a:lnTo>
                <a:lnTo>
                  <a:pt x="15239" y="44196"/>
                </a:lnTo>
                <a:lnTo>
                  <a:pt x="15239" y="38100"/>
                </a:lnTo>
                <a:lnTo>
                  <a:pt x="13715" y="36575"/>
                </a:lnTo>
                <a:lnTo>
                  <a:pt x="13715" y="28955"/>
                </a:lnTo>
                <a:lnTo>
                  <a:pt x="12191" y="24383"/>
                </a:lnTo>
                <a:lnTo>
                  <a:pt x="12191" y="15240"/>
                </a:lnTo>
                <a:lnTo>
                  <a:pt x="13715" y="10668"/>
                </a:lnTo>
                <a:lnTo>
                  <a:pt x="16763" y="7620"/>
                </a:lnTo>
                <a:lnTo>
                  <a:pt x="18287" y="4572"/>
                </a:lnTo>
                <a:lnTo>
                  <a:pt x="21335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02567" y="2200053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1524"/>
                </a:lnTo>
                <a:lnTo>
                  <a:pt x="64007" y="3048"/>
                </a:lnTo>
                <a:lnTo>
                  <a:pt x="70104" y="12192"/>
                </a:lnTo>
                <a:lnTo>
                  <a:pt x="73151" y="21336"/>
                </a:lnTo>
                <a:lnTo>
                  <a:pt x="73151" y="36575"/>
                </a:lnTo>
                <a:lnTo>
                  <a:pt x="59436" y="56388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4" y="53340"/>
                </a:lnTo>
                <a:lnTo>
                  <a:pt x="73151" y="48768"/>
                </a:lnTo>
                <a:lnTo>
                  <a:pt x="77724" y="42672"/>
                </a:lnTo>
                <a:lnTo>
                  <a:pt x="79248" y="36575"/>
                </a:lnTo>
                <a:lnTo>
                  <a:pt x="79248" y="21336"/>
                </a:lnTo>
                <a:lnTo>
                  <a:pt x="77724" y="15240"/>
                </a:lnTo>
                <a:lnTo>
                  <a:pt x="73151" y="10668"/>
                </a:lnTo>
                <a:lnTo>
                  <a:pt x="70104" y="4572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9375" h="59689">
                <a:moveTo>
                  <a:pt x="18287" y="0"/>
                </a:moveTo>
                <a:lnTo>
                  <a:pt x="12192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5"/>
                </a:lnTo>
                <a:lnTo>
                  <a:pt x="18287" y="59436"/>
                </a:lnTo>
                <a:lnTo>
                  <a:pt x="18287" y="56388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4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808892" y="2200053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19" y="0"/>
                </a:moveTo>
                <a:lnTo>
                  <a:pt x="83819" y="1524"/>
                </a:lnTo>
                <a:lnTo>
                  <a:pt x="88391" y="3048"/>
                </a:lnTo>
                <a:lnTo>
                  <a:pt x="94487" y="12192"/>
                </a:lnTo>
                <a:lnTo>
                  <a:pt x="97535" y="21336"/>
                </a:lnTo>
                <a:lnTo>
                  <a:pt x="97535" y="36575"/>
                </a:lnTo>
                <a:lnTo>
                  <a:pt x="83819" y="56388"/>
                </a:lnTo>
                <a:lnTo>
                  <a:pt x="83819" y="59436"/>
                </a:lnTo>
                <a:lnTo>
                  <a:pt x="89915" y="57912"/>
                </a:lnTo>
                <a:lnTo>
                  <a:pt x="94487" y="53340"/>
                </a:lnTo>
                <a:lnTo>
                  <a:pt x="97535" y="48768"/>
                </a:lnTo>
                <a:lnTo>
                  <a:pt x="102107" y="42672"/>
                </a:lnTo>
                <a:lnTo>
                  <a:pt x="103631" y="36575"/>
                </a:lnTo>
                <a:lnTo>
                  <a:pt x="103631" y="21336"/>
                </a:lnTo>
                <a:lnTo>
                  <a:pt x="102107" y="15240"/>
                </a:lnTo>
                <a:lnTo>
                  <a:pt x="97535" y="10668"/>
                </a:lnTo>
                <a:lnTo>
                  <a:pt x="94487" y="4572"/>
                </a:lnTo>
                <a:lnTo>
                  <a:pt x="89915" y="1524"/>
                </a:lnTo>
                <a:lnTo>
                  <a:pt x="83819" y="0"/>
                </a:lnTo>
                <a:close/>
              </a:path>
              <a:path w="104139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5"/>
                </a:lnTo>
                <a:lnTo>
                  <a:pt x="18287" y="59436"/>
                </a:lnTo>
                <a:lnTo>
                  <a:pt x="18287" y="56388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4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39795" y="1284559"/>
            <a:ext cx="2527935" cy="10255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1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z="700" spc="1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动量系数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µ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0980">
              <a:lnSpc>
                <a:spcPct val="100000"/>
              </a:lnSpc>
              <a:spcBef>
                <a:spcPts val="420"/>
              </a:spcBef>
            </a:pP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始化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45110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510188" y="2459133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60" y="0"/>
                </a:lnTo>
                <a:lnTo>
                  <a:pt x="60960" y="6096"/>
                </a:lnTo>
                <a:lnTo>
                  <a:pt x="0" y="60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508667" y="2429663"/>
            <a:ext cx="17653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049683" y="2408841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7243" y="0"/>
                </a:moveTo>
                <a:lnTo>
                  <a:pt x="47243" y="1524"/>
                </a:lnTo>
                <a:lnTo>
                  <a:pt x="51816" y="3048"/>
                </a:lnTo>
                <a:lnTo>
                  <a:pt x="57912" y="12191"/>
                </a:lnTo>
                <a:lnTo>
                  <a:pt x="60960" y="21335"/>
                </a:lnTo>
                <a:lnTo>
                  <a:pt x="60960" y="36575"/>
                </a:lnTo>
                <a:lnTo>
                  <a:pt x="47243" y="56387"/>
                </a:lnTo>
                <a:lnTo>
                  <a:pt x="47243" y="59435"/>
                </a:lnTo>
                <a:lnTo>
                  <a:pt x="53340" y="57911"/>
                </a:lnTo>
                <a:lnTo>
                  <a:pt x="57912" y="53339"/>
                </a:lnTo>
                <a:lnTo>
                  <a:pt x="60960" y="48767"/>
                </a:lnTo>
                <a:lnTo>
                  <a:pt x="65532" y="42672"/>
                </a:lnTo>
                <a:lnTo>
                  <a:pt x="67056" y="36575"/>
                </a:lnTo>
                <a:lnTo>
                  <a:pt x="67056" y="21335"/>
                </a:lnTo>
                <a:lnTo>
                  <a:pt x="65532" y="15239"/>
                </a:lnTo>
                <a:lnTo>
                  <a:pt x="60960" y="10667"/>
                </a:lnTo>
                <a:lnTo>
                  <a:pt x="57912" y="4572"/>
                </a:lnTo>
                <a:lnTo>
                  <a:pt x="53340" y="1524"/>
                </a:lnTo>
                <a:lnTo>
                  <a:pt x="47243" y="0"/>
                </a:lnTo>
                <a:close/>
              </a:path>
              <a:path w="67310" h="59689">
                <a:moveTo>
                  <a:pt x="18288" y="0"/>
                </a:moveTo>
                <a:lnTo>
                  <a:pt x="12192" y="1524"/>
                </a:lnTo>
                <a:lnTo>
                  <a:pt x="7620" y="4572"/>
                </a:lnTo>
                <a:lnTo>
                  <a:pt x="4572" y="10667"/>
                </a:lnTo>
                <a:lnTo>
                  <a:pt x="1524" y="15239"/>
                </a:lnTo>
                <a:lnTo>
                  <a:pt x="0" y="21335"/>
                </a:lnTo>
                <a:lnTo>
                  <a:pt x="0" y="36575"/>
                </a:lnTo>
                <a:lnTo>
                  <a:pt x="18288" y="59435"/>
                </a:lnTo>
                <a:lnTo>
                  <a:pt x="18288" y="56387"/>
                </a:lnTo>
                <a:lnTo>
                  <a:pt x="13716" y="54863"/>
                </a:lnTo>
                <a:lnTo>
                  <a:pt x="10668" y="51815"/>
                </a:lnTo>
                <a:lnTo>
                  <a:pt x="7620" y="47243"/>
                </a:lnTo>
                <a:lnTo>
                  <a:pt x="6096" y="42672"/>
                </a:lnTo>
                <a:lnTo>
                  <a:pt x="4572" y="36575"/>
                </a:lnTo>
                <a:lnTo>
                  <a:pt x="4572" y="21335"/>
                </a:lnTo>
                <a:lnTo>
                  <a:pt x="7620" y="12191"/>
                </a:lnTo>
                <a:lnTo>
                  <a:pt x="13716" y="3048"/>
                </a:lnTo>
                <a:lnTo>
                  <a:pt x="19812" y="1524"/>
                </a:lnTo>
                <a:lnTo>
                  <a:pt x="18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42292" y="2408841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7243" y="0"/>
                </a:moveTo>
                <a:lnTo>
                  <a:pt x="47243" y="1524"/>
                </a:lnTo>
                <a:lnTo>
                  <a:pt x="51815" y="3048"/>
                </a:lnTo>
                <a:lnTo>
                  <a:pt x="57912" y="12191"/>
                </a:lnTo>
                <a:lnTo>
                  <a:pt x="60959" y="21335"/>
                </a:lnTo>
                <a:lnTo>
                  <a:pt x="60959" y="36575"/>
                </a:lnTo>
                <a:lnTo>
                  <a:pt x="47243" y="56387"/>
                </a:lnTo>
                <a:lnTo>
                  <a:pt x="47243" y="59435"/>
                </a:lnTo>
                <a:lnTo>
                  <a:pt x="53339" y="57911"/>
                </a:lnTo>
                <a:lnTo>
                  <a:pt x="57912" y="53339"/>
                </a:lnTo>
                <a:lnTo>
                  <a:pt x="60959" y="48767"/>
                </a:lnTo>
                <a:lnTo>
                  <a:pt x="65531" y="42672"/>
                </a:lnTo>
                <a:lnTo>
                  <a:pt x="67056" y="36575"/>
                </a:lnTo>
                <a:lnTo>
                  <a:pt x="67056" y="21335"/>
                </a:lnTo>
                <a:lnTo>
                  <a:pt x="65531" y="15239"/>
                </a:lnTo>
                <a:lnTo>
                  <a:pt x="60959" y="10667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7310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7"/>
                </a:lnTo>
                <a:lnTo>
                  <a:pt x="1524" y="15239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5" y="54863"/>
                </a:lnTo>
                <a:lnTo>
                  <a:pt x="10668" y="51815"/>
                </a:lnTo>
                <a:lnTo>
                  <a:pt x="7619" y="47243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5"/>
                </a:lnTo>
                <a:lnTo>
                  <a:pt x="7619" y="12191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708567" y="2386984"/>
            <a:ext cx="1762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90622" y="2449505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706783" y="2606961"/>
            <a:ext cx="265430" cy="81280"/>
          </a:xfrm>
          <a:custGeom>
            <a:avLst/>
            <a:gdLst/>
            <a:ahLst/>
            <a:cxnLst/>
            <a:rect l="l" t="t" r="r" b="b"/>
            <a:pathLst>
              <a:path w="265430" h="81280">
                <a:moveTo>
                  <a:pt x="239268" y="0"/>
                </a:moveTo>
                <a:lnTo>
                  <a:pt x="237744" y="3048"/>
                </a:lnTo>
                <a:lnTo>
                  <a:pt x="243840" y="4572"/>
                </a:lnTo>
                <a:lnTo>
                  <a:pt x="249936" y="9144"/>
                </a:lnTo>
                <a:lnTo>
                  <a:pt x="256032" y="21336"/>
                </a:lnTo>
                <a:lnTo>
                  <a:pt x="257556" y="30480"/>
                </a:lnTo>
                <a:lnTo>
                  <a:pt x="257556" y="50292"/>
                </a:lnTo>
                <a:lnTo>
                  <a:pt x="256032" y="57912"/>
                </a:lnTo>
                <a:lnTo>
                  <a:pt x="252984" y="64008"/>
                </a:lnTo>
                <a:lnTo>
                  <a:pt x="249936" y="71628"/>
                </a:lnTo>
                <a:lnTo>
                  <a:pt x="243840" y="76200"/>
                </a:lnTo>
                <a:lnTo>
                  <a:pt x="237744" y="77724"/>
                </a:lnTo>
                <a:lnTo>
                  <a:pt x="239268" y="80772"/>
                </a:lnTo>
                <a:lnTo>
                  <a:pt x="246888" y="79248"/>
                </a:lnTo>
                <a:lnTo>
                  <a:pt x="254508" y="74675"/>
                </a:lnTo>
                <a:lnTo>
                  <a:pt x="257556" y="67056"/>
                </a:lnTo>
                <a:lnTo>
                  <a:pt x="260675" y="61055"/>
                </a:lnTo>
                <a:lnTo>
                  <a:pt x="263080" y="54483"/>
                </a:lnTo>
                <a:lnTo>
                  <a:pt x="264628" y="47339"/>
                </a:lnTo>
                <a:lnTo>
                  <a:pt x="265176" y="39624"/>
                </a:lnTo>
                <a:lnTo>
                  <a:pt x="264628" y="32789"/>
                </a:lnTo>
                <a:lnTo>
                  <a:pt x="246888" y="1524"/>
                </a:lnTo>
                <a:lnTo>
                  <a:pt x="239268" y="0"/>
                </a:lnTo>
                <a:close/>
              </a:path>
              <a:path w="265430" h="81280">
                <a:moveTo>
                  <a:pt x="25908" y="0"/>
                </a:moveTo>
                <a:lnTo>
                  <a:pt x="309" y="32789"/>
                </a:lnTo>
                <a:lnTo>
                  <a:pt x="0" y="39624"/>
                </a:lnTo>
                <a:lnTo>
                  <a:pt x="309" y="47339"/>
                </a:lnTo>
                <a:lnTo>
                  <a:pt x="25908" y="80772"/>
                </a:lnTo>
                <a:lnTo>
                  <a:pt x="27432" y="77724"/>
                </a:lnTo>
                <a:lnTo>
                  <a:pt x="19812" y="76200"/>
                </a:lnTo>
                <a:lnTo>
                  <a:pt x="15240" y="71628"/>
                </a:lnTo>
                <a:lnTo>
                  <a:pt x="12192" y="64008"/>
                </a:lnTo>
                <a:lnTo>
                  <a:pt x="9143" y="57912"/>
                </a:lnTo>
                <a:lnTo>
                  <a:pt x="7620" y="50292"/>
                </a:lnTo>
                <a:lnTo>
                  <a:pt x="7620" y="30480"/>
                </a:lnTo>
                <a:lnTo>
                  <a:pt x="9143" y="21336"/>
                </a:lnTo>
                <a:lnTo>
                  <a:pt x="15240" y="9144"/>
                </a:lnTo>
                <a:lnTo>
                  <a:pt x="19812" y="4572"/>
                </a:lnTo>
                <a:lnTo>
                  <a:pt x="27432" y="3048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41507" y="2553621"/>
            <a:ext cx="1504315" cy="327660"/>
          </a:xfrm>
          <a:prstGeom prst="rect">
            <a:avLst/>
          </a:prstGeom>
          <a:solidFill>
            <a:srgbClr val="D0D8E8"/>
          </a:solidFill>
          <a:ln w="12191">
            <a:solidFill>
              <a:srgbClr val="FF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37490" indent="-170815">
              <a:lnSpc>
                <a:spcPct val="100000"/>
              </a:lnSpc>
              <a:spcBef>
                <a:spcPts val="235"/>
              </a:spcBef>
              <a:buFont typeface="Arial" panose="020B0604020202020204"/>
              <a:buAutoNum type="arabicPeriod" startAt="3"/>
              <a:tabLst>
                <a:tab pos="23812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速度更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1 −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700" i="1" spc="1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37490" indent="-170815">
              <a:lnSpc>
                <a:spcPct val="100000"/>
              </a:lnSpc>
              <a:spcBef>
                <a:spcPts val="420"/>
              </a:spcBef>
              <a:buFont typeface="Arial" panose="020B0604020202020204"/>
              <a:buAutoNum type="arabicPeriod" startAt="3"/>
              <a:tabLst>
                <a:tab pos="23812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cv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8377" y="2891438"/>
            <a:ext cx="385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48" y="138710"/>
            <a:ext cx="3872229" cy="886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动量法</a:t>
            </a:r>
            <a:endParaRPr sz="195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138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目标：改进梯度下降算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存在的问题，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减少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荡，加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通往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进思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累加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史梯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信息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新梯度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80857" y="249939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为什么有效？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23164" y="1298997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39">
                <a:moveTo>
                  <a:pt x="0" y="0"/>
                </a:moveTo>
                <a:lnTo>
                  <a:pt x="2743200" y="0"/>
                </a:lnTo>
                <a:lnTo>
                  <a:pt x="2743200" y="1577339"/>
                </a:lnTo>
                <a:lnTo>
                  <a:pt x="0" y="1577339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0116" y="1289853"/>
            <a:ext cx="2749550" cy="18415"/>
          </a:xfrm>
          <a:custGeom>
            <a:avLst/>
            <a:gdLst/>
            <a:ahLst/>
            <a:cxnLst/>
            <a:rect l="l" t="t" r="r" b="b"/>
            <a:pathLst>
              <a:path w="2749550" h="18415">
                <a:moveTo>
                  <a:pt x="0" y="0"/>
                </a:moveTo>
                <a:lnTo>
                  <a:pt x="2749295" y="0"/>
                </a:lnTo>
                <a:lnTo>
                  <a:pt x="2749295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23163" y="1113069"/>
            <a:ext cx="0" cy="1766570"/>
          </a:xfrm>
          <a:custGeom>
            <a:avLst/>
            <a:gdLst/>
            <a:ahLst/>
            <a:cxnLst/>
            <a:rect l="l" t="t" r="r" b="b"/>
            <a:pathLst>
              <a:path h="1766570">
                <a:moveTo>
                  <a:pt x="0" y="0"/>
                </a:moveTo>
                <a:lnTo>
                  <a:pt x="0" y="176631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66363" y="1113069"/>
            <a:ext cx="0" cy="1766570"/>
          </a:xfrm>
          <a:custGeom>
            <a:avLst/>
            <a:gdLst/>
            <a:ahLst/>
            <a:cxnLst/>
            <a:rect l="l" t="t" r="r" b="b"/>
            <a:pathLst>
              <a:path h="1766570">
                <a:moveTo>
                  <a:pt x="0" y="0"/>
                </a:moveTo>
                <a:lnTo>
                  <a:pt x="0" y="176631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20115" y="1116117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20115" y="2876337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26211" y="1119165"/>
            <a:ext cx="2737485" cy="17081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52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20"/>
              </a:spcBef>
            </a:pP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小批量梯度下降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算法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09520" y="1861353"/>
            <a:ext cx="538480" cy="106680"/>
          </a:xfrm>
          <a:custGeom>
            <a:avLst/>
            <a:gdLst/>
            <a:ahLst/>
            <a:cxnLst/>
            <a:rect l="l" t="t" r="r" b="b"/>
            <a:pathLst>
              <a:path w="538479" h="106680">
                <a:moveTo>
                  <a:pt x="518159" y="0"/>
                </a:moveTo>
                <a:lnTo>
                  <a:pt x="509015" y="0"/>
                </a:lnTo>
                <a:lnTo>
                  <a:pt x="509015" y="3048"/>
                </a:lnTo>
                <a:lnTo>
                  <a:pt x="515111" y="3048"/>
                </a:lnTo>
                <a:lnTo>
                  <a:pt x="518159" y="4572"/>
                </a:lnTo>
                <a:lnTo>
                  <a:pt x="519683" y="7620"/>
                </a:lnTo>
                <a:lnTo>
                  <a:pt x="522731" y="10668"/>
                </a:lnTo>
                <a:lnTo>
                  <a:pt x="524255" y="15240"/>
                </a:lnTo>
                <a:lnTo>
                  <a:pt x="524255" y="24384"/>
                </a:lnTo>
                <a:lnTo>
                  <a:pt x="522731" y="28956"/>
                </a:lnTo>
                <a:lnTo>
                  <a:pt x="522731" y="45720"/>
                </a:lnTo>
                <a:lnTo>
                  <a:pt x="524255" y="48768"/>
                </a:lnTo>
                <a:lnTo>
                  <a:pt x="528827" y="53340"/>
                </a:lnTo>
                <a:lnTo>
                  <a:pt x="522731" y="59436"/>
                </a:lnTo>
                <a:lnTo>
                  <a:pt x="522731" y="77724"/>
                </a:lnTo>
                <a:lnTo>
                  <a:pt x="524255" y="80772"/>
                </a:lnTo>
                <a:lnTo>
                  <a:pt x="524255" y="91440"/>
                </a:lnTo>
                <a:lnTo>
                  <a:pt x="522731" y="96012"/>
                </a:lnTo>
                <a:lnTo>
                  <a:pt x="519683" y="99060"/>
                </a:lnTo>
                <a:lnTo>
                  <a:pt x="518159" y="102108"/>
                </a:lnTo>
                <a:lnTo>
                  <a:pt x="515111" y="103632"/>
                </a:lnTo>
                <a:lnTo>
                  <a:pt x="509015" y="103632"/>
                </a:lnTo>
                <a:lnTo>
                  <a:pt x="509015" y="106680"/>
                </a:lnTo>
                <a:lnTo>
                  <a:pt x="518159" y="106680"/>
                </a:lnTo>
                <a:lnTo>
                  <a:pt x="522731" y="103632"/>
                </a:lnTo>
                <a:lnTo>
                  <a:pt x="525779" y="100584"/>
                </a:lnTo>
                <a:lnTo>
                  <a:pt x="528827" y="96012"/>
                </a:lnTo>
                <a:lnTo>
                  <a:pt x="530351" y="89916"/>
                </a:lnTo>
                <a:lnTo>
                  <a:pt x="530351" y="71628"/>
                </a:lnTo>
                <a:lnTo>
                  <a:pt x="528827" y="67056"/>
                </a:lnTo>
                <a:lnTo>
                  <a:pt x="528827" y="60960"/>
                </a:lnTo>
                <a:lnTo>
                  <a:pt x="530351" y="59436"/>
                </a:lnTo>
                <a:lnTo>
                  <a:pt x="530351" y="57912"/>
                </a:lnTo>
                <a:lnTo>
                  <a:pt x="531876" y="56388"/>
                </a:lnTo>
                <a:lnTo>
                  <a:pt x="534924" y="54864"/>
                </a:lnTo>
                <a:lnTo>
                  <a:pt x="537972" y="54864"/>
                </a:lnTo>
                <a:lnTo>
                  <a:pt x="537972" y="51816"/>
                </a:lnTo>
                <a:lnTo>
                  <a:pt x="534924" y="51816"/>
                </a:lnTo>
                <a:lnTo>
                  <a:pt x="531876" y="50292"/>
                </a:lnTo>
                <a:lnTo>
                  <a:pt x="530351" y="48768"/>
                </a:lnTo>
                <a:lnTo>
                  <a:pt x="530351" y="47244"/>
                </a:lnTo>
                <a:lnTo>
                  <a:pt x="528827" y="45720"/>
                </a:lnTo>
                <a:lnTo>
                  <a:pt x="528827" y="38100"/>
                </a:lnTo>
                <a:lnTo>
                  <a:pt x="530351" y="35052"/>
                </a:lnTo>
                <a:lnTo>
                  <a:pt x="530351" y="15240"/>
                </a:lnTo>
                <a:lnTo>
                  <a:pt x="528827" y="9144"/>
                </a:lnTo>
                <a:lnTo>
                  <a:pt x="525779" y="6096"/>
                </a:lnTo>
                <a:lnTo>
                  <a:pt x="522731" y="1524"/>
                </a:lnTo>
                <a:lnTo>
                  <a:pt x="518159" y="0"/>
                </a:lnTo>
                <a:close/>
              </a:path>
              <a:path w="538479" h="106680">
                <a:moveTo>
                  <a:pt x="28955" y="0"/>
                </a:moveTo>
                <a:lnTo>
                  <a:pt x="19812" y="0"/>
                </a:lnTo>
                <a:lnTo>
                  <a:pt x="15239" y="1524"/>
                </a:lnTo>
                <a:lnTo>
                  <a:pt x="12191" y="6096"/>
                </a:lnTo>
                <a:lnTo>
                  <a:pt x="9143" y="9144"/>
                </a:lnTo>
                <a:lnTo>
                  <a:pt x="7619" y="15240"/>
                </a:lnTo>
                <a:lnTo>
                  <a:pt x="7619" y="35052"/>
                </a:lnTo>
                <a:lnTo>
                  <a:pt x="9143" y="38100"/>
                </a:lnTo>
                <a:lnTo>
                  <a:pt x="9143" y="45720"/>
                </a:lnTo>
                <a:lnTo>
                  <a:pt x="7619" y="47244"/>
                </a:lnTo>
                <a:lnTo>
                  <a:pt x="7619" y="48768"/>
                </a:lnTo>
                <a:lnTo>
                  <a:pt x="6095" y="50292"/>
                </a:lnTo>
                <a:lnTo>
                  <a:pt x="3047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7" y="54864"/>
                </a:lnTo>
                <a:lnTo>
                  <a:pt x="6095" y="56388"/>
                </a:lnTo>
                <a:lnTo>
                  <a:pt x="7619" y="57912"/>
                </a:lnTo>
                <a:lnTo>
                  <a:pt x="7619" y="59436"/>
                </a:lnTo>
                <a:lnTo>
                  <a:pt x="9143" y="60960"/>
                </a:lnTo>
                <a:lnTo>
                  <a:pt x="9143" y="67056"/>
                </a:lnTo>
                <a:lnTo>
                  <a:pt x="7619" y="71628"/>
                </a:lnTo>
                <a:lnTo>
                  <a:pt x="7619" y="89916"/>
                </a:lnTo>
                <a:lnTo>
                  <a:pt x="9143" y="96012"/>
                </a:lnTo>
                <a:lnTo>
                  <a:pt x="12191" y="100584"/>
                </a:lnTo>
                <a:lnTo>
                  <a:pt x="15239" y="103632"/>
                </a:lnTo>
                <a:lnTo>
                  <a:pt x="19812" y="106680"/>
                </a:lnTo>
                <a:lnTo>
                  <a:pt x="28955" y="106680"/>
                </a:lnTo>
                <a:lnTo>
                  <a:pt x="28955" y="103632"/>
                </a:lnTo>
                <a:lnTo>
                  <a:pt x="22859" y="103632"/>
                </a:lnTo>
                <a:lnTo>
                  <a:pt x="19812" y="102108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59436"/>
                </a:lnTo>
                <a:lnTo>
                  <a:pt x="9143" y="53340"/>
                </a:lnTo>
                <a:lnTo>
                  <a:pt x="13715" y="48768"/>
                </a:lnTo>
                <a:lnTo>
                  <a:pt x="15239" y="45720"/>
                </a:lnTo>
                <a:lnTo>
                  <a:pt x="15239" y="28956"/>
                </a:lnTo>
                <a:lnTo>
                  <a:pt x="13715" y="24384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2859" y="3048"/>
                </a:lnTo>
                <a:lnTo>
                  <a:pt x="28955" y="3048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97911" y="1859829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1523"/>
                </a:lnTo>
                <a:lnTo>
                  <a:pt x="64008" y="3047"/>
                </a:lnTo>
                <a:lnTo>
                  <a:pt x="67055" y="6095"/>
                </a:lnTo>
                <a:lnTo>
                  <a:pt x="70103" y="12191"/>
                </a:lnTo>
                <a:lnTo>
                  <a:pt x="73151" y="21335"/>
                </a:lnTo>
                <a:lnTo>
                  <a:pt x="73151" y="36575"/>
                </a:lnTo>
                <a:lnTo>
                  <a:pt x="59436" y="56387"/>
                </a:lnTo>
                <a:lnTo>
                  <a:pt x="59436" y="59435"/>
                </a:lnTo>
                <a:lnTo>
                  <a:pt x="65532" y="57912"/>
                </a:lnTo>
                <a:lnTo>
                  <a:pt x="70103" y="53339"/>
                </a:lnTo>
                <a:lnTo>
                  <a:pt x="73151" y="48768"/>
                </a:lnTo>
                <a:lnTo>
                  <a:pt x="79248" y="36575"/>
                </a:lnTo>
                <a:lnTo>
                  <a:pt x="79248" y="21335"/>
                </a:lnTo>
                <a:lnTo>
                  <a:pt x="76200" y="15239"/>
                </a:lnTo>
                <a:lnTo>
                  <a:pt x="73151" y="10668"/>
                </a:lnTo>
                <a:lnTo>
                  <a:pt x="70103" y="4571"/>
                </a:lnTo>
                <a:lnTo>
                  <a:pt x="65532" y="1523"/>
                </a:lnTo>
                <a:lnTo>
                  <a:pt x="59436" y="0"/>
                </a:lnTo>
                <a:close/>
              </a:path>
              <a:path w="79375" h="59689">
                <a:moveTo>
                  <a:pt x="19812" y="0"/>
                </a:moveTo>
                <a:lnTo>
                  <a:pt x="13715" y="1523"/>
                </a:lnTo>
                <a:lnTo>
                  <a:pt x="9143" y="4571"/>
                </a:lnTo>
                <a:lnTo>
                  <a:pt x="6096" y="10668"/>
                </a:lnTo>
                <a:lnTo>
                  <a:pt x="3048" y="15239"/>
                </a:lnTo>
                <a:lnTo>
                  <a:pt x="0" y="21335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39"/>
                </a:lnTo>
                <a:lnTo>
                  <a:pt x="13715" y="57912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5"/>
                </a:lnTo>
                <a:lnTo>
                  <a:pt x="9143" y="47243"/>
                </a:lnTo>
                <a:lnTo>
                  <a:pt x="7620" y="42671"/>
                </a:lnTo>
                <a:lnTo>
                  <a:pt x="6096" y="36575"/>
                </a:lnTo>
                <a:lnTo>
                  <a:pt x="6096" y="21335"/>
                </a:lnTo>
                <a:lnTo>
                  <a:pt x="9143" y="12191"/>
                </a:lnTo>
                <a:lnTo>
                  <a:pt x="12191" y="6095"/>
                </a:lnTo>
                <a:lnTo>
                  <a:pt x="15239" y="3047"/>
                </a:lnTo>
                <a:lnTo>
                  <a:pt x="19812" y="1523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02711" y="1859829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19" y="0"/>
                </a:moveTo>
                <a:lnTo>
                  <a:pt x="83819" y="1523"/>
                </a:lnTo>
                <a:lnTo>
                  <a:pt x="88391" y="3047"/>
                </a:lnTo>
                <a:lnTo>
                  <a:pt x="91439" y="6095"/>
                </a:lnTo>
                <a:lnTo>
                  <a:pt x="94487" y="12191"/>
                </a:lnTo>
                <a:lnTo>
                  <a:pt x="97536" y="21335"/>
                </a:lnTo>
                <a:lnTo>
                  <a:pt x="97536" y="36575"/>
                </a:lnTo>
                <a:lnTo>
                  <a:pt x="83819" y="56387"/>
                </a:lnTo>
                <a:lnTo>
                  <a:pt x="83819" y="59435"/>
                </a:lnTo>
                <a:lnTo>
                  <a:pt x="89915" y="57912"/>
                </a:lnTo>
                <a:lnTo>
                  <a:pt x="94487" y="53339"/>
                </a:lnTo>
                <a:lnTo>
                  <a:pt x="97536" y="48768"/>
                </a:lnTo>
                <a:lnTo>
                  <a:pt x="103632" y="36575"/>
                </a:lnTo>
                <a:lnTo>
                  <a:pt x="103632" y="21335"/>
                </a:lnTo>
                <a:lnTo>
                  <a:pt x="100584" y="15239"/>
                </a:lnTo>
                <a:lnTo>
                  <a:pt x="97536" y="10668"/>
                </a:lnTo>
                <a:lnTo>
                  <a:pt x="94487" y="4571"/>
                </a:lnTo>
                <a:lnTo>
                  <a:pt x="89915" y="1523"/>
                </a:lnTo>
                <a:lnTo>
                  <a:pt x="83819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13715" y="1523"/>
                </a:lnTo>
                <a:lnTo>
                  <a:pt x="9143" y="4571"/>
                </a:lnTo>
                <a:lnTo>
                  <a:pt x="6096" y="10668"/>
                </a:lnTo>
                <a:lnTo>
                  <a:pt x="3048" y="15239"/>
                </a:lnTo>
                <a:lnTo>
                  <a:pt x="0" y="21335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39"/>
                </a:lnTo>
                <a:lnTo>
                  <a:pt x="13715" y="57912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5"/>
                </a:lnTo>
                <a:lnTo>
                  <a:pt x="9143" y="47243"/>
                </a:lnTo>
                <a:lnTo>
                  <a:pt x="7620" y="42671"/>
                </a:lnTo>
                <a:lnTo>
                  <a:pt x="6096" y="36575"/>
                </a:lnTo>
                <a:lnTo>
                  <a:pt x="6096" y="21335"/>
                </a:lnTo>
                <a:lnTo>
                  <a:pt x="9143" y="12191"/>
                </a:lnTo>
                <a:lnTo>
                  <a:pt x="12191" y="6095"/>
                </a:lnTo>
                <a:lnTo>
                  <a:pt x="15239" y="3047"/>
                </a:lnTo>
                <a:lnTo>
                  <a:pt x="19812" y="1523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44828" y="2044233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7492" y="0"/>
                </a:lnTo>
                <a:lnTo>
                  <a:pt x="507492" y="3048"/>
                </a:lnTo>
                <a:lnTo>
                  <a:pt x="513588" y="3048"/>
                </a:lnTo>
                <a:lnTo>
                  <a:pt x="516636" y="4572"/>
                </a:lnTo>
                <a:lnTo>
                  <a:pt x="518160" y="7619"/>
                </a:lnTo>
                <a:lnTo>
                  <a:pt x="521208" y="10668"/>
                </a:lnTo>
                <a:lnTo>
                  <a:pt x="522732" y="15240"/>
                </a:lnTo>
                <a:lnTo>
                  <a:pt x="522732" y="24384"/>
                </a:lnTo>
                <a:lnTo>
                  <a:pt x="521208" y="28956"/>
                </a:lnTo>
                <a:lnTo>
                  <a:pt x="521208" y="45719"/>
                </a:lnTo>
                <a:lnTo>
                  <a:pt x="522732" y="48768"/>
                </a:lnTo>
                <a:lnTo>
                  <a:pt x="527304" y="53340"/>
                </a:lnTo>
                <a:lnTo>
                  <a:pt x="521208" y="59436"/>
                </a:lnTo>
                <a:lnTo>
                  <a:pt x="521208" y="77724"/>
                </a:lnTo>
                <a:lnTo>
                  <a:pt x="522732" y="80772"/>
                </a:lnTo>
                <a:lnTo>
                  <a:pt x="522732" y="91440"/>
                </a:lnTo>
                <a:lnTo>
                  <a:pt x="521208" y="96012"/>
                </a:lnTo>
                <a:lnTo>
                  <a:pt x="518160" y="99060"/>
                </a:lnTo>
                <a:lnTo>
                  <a:pt x="516636" y="102108"/>
                </a:lnTo>
                <a:lnTo>
                  <a:pt x="513588" y="103631"/>
                </a:lnTo>
                <a:lnTo>
                  <a:pt x="507492" y="103631"/>
                </a:lnTo>
                <a:lnTo>
                  <a:pt x="507492" y="106680"/>
                </a:lnTo>
                <a:lnTo>
                  <a:pt x="516636" y="106680"/>
                </a:lnTo>
                <a:lnTo>
                  <a:pt x="521208" y="103631"/>
                </a:lnTo>
                <a:lnTo>
                  <a:pt x="524256" y="100584"/>
                </a:lnTo>
                <a:lnTo>
                  <a:pt x="527304" y="96012"/>
                </a:lnTo>
                <a:lnTo>
                  <a:pt x="528827" y="89916"/>
                </a:lnTo>
                <a:lnTo>
                  <a:pt x="528827" y="71628"/>
                </a:lnTo>
                <a:lnTo>
                  <a:pt x="527304" y="67056"/>
                </a:lnTo>
                <a:lnTo>
                  <a:pt x="527304" y="60960"/>
                </a:lnTo>
                <a:lnTo>
                  <a:pt x="528827" y="59436"/>
                </a:lnTo>
                <a:lnTo>
                  <a:pt x="528827" y="57912"/>
                </a:lnTo>
                <a:lnTo>
                  <a:pt x="530351" y="56387"/>
                </a:lnTo>
                <a:lnTo>
                  <a:pt x="533400" y="54864"/>
                </a:lnTo>
                <a:lnTo>
                  <a:pt x="536448" y="54864"/>
                </a:lnTo>
                <a:lnTo>
                  <a:pt x="536448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28827" y="48768"/>
                </a:lnTo>
                <a:lnTo>
                  <a:pt x="528827" y="47243"/>
                </a:lnTo>
                <a:lnTo>
                  <a:pt x="527304" y="45719"/>
                </a:lnTo>
                <a:lnTo>
                  <a:pt x="527304" y="38100"/>
                </a:lnTo>
                <a:lnTo>
                  <a:pt x="528827" y="35052"/>
                </a:lnTo>
                <a:lnTo>
                  <a:pt x="528827" y="15240"/>
                </a:lnTo>
                <a:lnTo>
                  <a:pt x="527304" y="9143"/>
                </a:lnTo>
                <a:lnTo>
                  <a:pt x="524256" y="6096"/>
                </a:lnTo>
                <a:lnTo>
                  <a:pt x="521208" y="1524"/>
                </a:lnTo>
                <a:lnTo>
                  <a:pt x="516636" y="0"/>
                </a:lnTo>
                <a:close/>
              </a:path>
              <a:path w="536575" h="106680">
                <a:moveTo>
                  <a:pt x="28956" y="0"/>
                </a:moveTo>
                <a:lnTo>
                  <a:pt x="19812" y="0"/>
                </a:lnTo>
                <a:lnTo>
                  <a:pt x="15239" y="1524"/>
                </a:lnTo>
                <a:lnTo>
                  <a:pt x="12192" y="6096"/>
                </a:lnTo>
                <a:lnTo>
                  <a:pt x="9144" y="9143"/>
                </a:lnTo>
                <a:lnTo>
                  <a:pt x="7620" y="15240"/>
                </a:lnTo>
                <a:lnTo>
                  <a:pt x="7620" y="35052"/>
                </a:lnTo>
                <a:lnTo>
                  <a:pt x="9144" y="38100"/>
                </a:lnTo>
                <a:lnTo>
                  <a:pt x="9144" y="45719"/>
                </a:lnTo>
                <a:lnTo>
                  <a:pt x="7620" y="47243"/>
                </a:lnTo>
                <a:lnTo>
                  <a:pt x="7620" y="48768"/>
                </a:lnTo>
                <a:lnTo>
                  <a:pt x="6096" y="50292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6096" y="56387"/>
                </a:lnTo>
                <a:lnTo>
                  <a:pt x="7620" y="57912"/>
                </a:lnTo>
                <a:lnTo>
                  <a:pt x="7620" y="59436"/>
                </a:lnTo>
                <a:lnTo>
                  <a:pt x="9144" y="60960"/>
                </a:lnTo>
                <a:lnTo>
                  <a:pt x="9144" y="67056"/>
                </a:lnTo>
                <a:lnTo>
                  <a:pt x="7620" y="71628"/>
                </a:lnTo>
                <a:lnTo>
                  <a:pt x="7620" y="89916"/>
                </a:lnTo>
                <a:lnTo>
                  <a:pt x="9144" y="96012"/>
                </a:lnTo>
                <a:lnTo>
                  <a:pt x="12192" y="100584"/>
                </a:lnTo>
                <a:lnTo>
                  <a:pt x="15239" y="103631"/>
                </a:lnTo>
                <a:lnTo>
                  <a:pt x="19812" y="106680"/>
                </a:lnTo>
                <a:lnTo>
                  <a:pt x="28956" y="106680"/>
                </a:lnTo>
                <a:lnTo>
                  <a:pt x="28956" y="103631"/>
                </a:lnTo>
                <a:lnTo>
                  <a:pt x="22860" y="103631"/>
                </a:lnTo>
                <a:lnTo>
                  <a:pt x="19812" y="102108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6" y="91440"/>
                </a:lnTo>
                <a:lnTo>
                  <a:pt x="13716" y="80772"/>
                </a:lnTo>
                <a:lnTo>
                  <a:pt x="15239" y="77724"/>
                </a:lnTo>
                <a:lnTo>
                  <a:pt x="15239" y="59436"/>
                </a:lnTo>
                <a:lnTo>
                  <a:pt x="9144" y="53340"/>
                </a:lnTo>
                <a:lnTo>
                  <a:pt x="13716" y="48768"/>
                </a:lnTo>
                <a:lnTo>
                  <a:pt x="15239" y="45719"/>
                </a:lnTo>
                <a:lnTo>
                  <a:pt x="15239" y="28956"/>
                </a:lnTo>
                <a:lnTo>
                  <a:pt x="13716" y="24384"/>
                </a:lnTo>
                <a:lnTo>
                  <a:pt x="13716" y="15240"/>
                </a:lnTo>
                <a:lnTo>
                  <a:pt x="15239" y="10668"/>
                </a:lnTo>
                <a:lnTo>
                  <a:pt x="18287" y="7619"/>
                </a:lnTo>
                <a:lnTo>
                  <a:pt x="19812" y="4572"/>
                </a:lnTo>
                <a:lnTo>
                  <a:pt x="22860" y="3048"/>
                </a:lnTo>
                <a:lnTo>
                  <a:pt x="28956" y="3048"/>
                </a:lnTo>
                <a:lnTo>
                  <a:pt x="289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28647" y="2042709"/>
            <a:ext cx="81280" cy="59690"/>
          </a:xfrm>
          <a:custGeom>
            <a:avLst/>
            <a:gdLst/>
            <a:ahLst/>
            <a:cxnLst/>
            <a:rect l="l" t="t" r="r" b="b"/>
            <a:pathLst>
              <a:path w="81279" h="59689">
                <a:moveTo>
                  <a:pt x="60960" y="0"/>
                </a:moveTo>
                <a:lnTo>
                  <a:pt x="60960" y="1524"/>
                </a:lnTo>
                <a:lnTo>
                  <a:pt x="65531" y="3048"/>
                </a:lnTo>
                <a:lnTo>
                  <a:pt x="68579" y="6096"/>
                </a:lnTo>
                <a:lnTo>
                  <a:pt x="71627" y="12192"/>
                </a:lnTo>
                <a:lnTo>
                  <a:pt x="74675" y="21336"/>
                </a:lnTo>
                <a:lnTo>
                  <a:pt x="74675" y="36576"/>
                </a:lnTo>
                <a:lnTo>
                  <a:pt x="60960" y="56388"/>
                </a:lnTo>
                <a:lnTo>
                  <a:pt x="60960" y="59436"/>
                </a:lnTo>
                <a:lnTo>
                  <a:pt x="67055" y="57912"/>
                </a:lnTo>
                <a:lnTo>
                  <a:pt x="71627" y="53340"/>
                </a:lnTo>
                <a:lnTo>
                  <a:pt x="74675" y="48768"/>
                </a:lnTo>
                <a:lnTo>
                  <a:pt x="80772" y="36576"/>
                </a:lnTo>
                <a:lnTo>
                  <a:pt x="80772" y="21336"/>
                </a:lnTo>
                <a:lnTo>
                  <a:pt x="77724" y="15240"/>
                </a:lnTo>
                <a:lnTo>
                  <a:pt x="74675" y="10668"/>
                </a:lnTo>
                <a:lnTo>
                  <a:pt x="71627" y="4572"/>
                </a:lnTo>
                <a:lnTo>
                  <a:pt x="67055" y="1524"/>
                </a:lnTo>
                <a:lnTo>
                  <a:pt x="60960" y="0"/>
                </a:lnTo>
                <a:close/>
              </a:path>
              <a:path w="81279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6"/>
                </a:lnTo>
                <a:lnTo>
                  <a:pt x="6096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3"/>
                </a:lnTo>
                <a:lnTo>
                  <a:pt x="7619" y="42672"/>
                </a:lnTo>
                <a:lnTo>
                  <a:pt x="6096" y="36576"/>
                </a:lnTo>
                <a:lnTo>
                  <a:pt x="6096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34971" y="2042709"/>
            <a:ext cx="105410" cy="59690"/>
          </a:xfrm>
          <a:custGeom>
            <a:avLst/>
            <a:gdLst/>
            <a:ahLst/>
            <a:cxnLst/>
            <a:rect l="l" t="t" r="r" b="b"/>
            <a:pathLst>
              <a:path w="105410" h="59689">
                <a:moveTo>
                  <a:pt x="85343" y="0"/>
                </a:moveTo>
                <a:lnTo>
                  <a:pt x="85343" y="1524"/>
                </a:lnTo>
                <a:lnTo>
                  <a:pt x="89915" y="3048"/>
                </a:lnTo>
                <a:lnTo>
                  <a:pt x="92963" y="6096"/>
                </a:lnTo>
                <a:lnTo>
                  <a:pt x="96012" y="12192"/>
                </a:lnTo>
                <a:lnTo>
                  <a:pt x="99060" y="21336"/>
                </a:lnTo>
                <a:lnTo>
                  <a:pt x="99060" y="36576"/>
                </a:lnTo>
                <a:lnTo>
                  <a:pt x="85343" y="56388"/>
                </a:lnTo>
                <a:lnTo>
                  <a:pt x="85343" y="59436"/>
                </a:lnTo>
                <a:lnTo>
                  <a:pt x="91439" y="57912"/>
                </a:lnTo>
                <a:lnTo>
                  <a:pt x="96012" y="53340"/>
                </a:lnTo>
                <a:lnTo>
                  <a:pt x="99060" y="48768"/>
                </a:lnTo>
                <a:lnTo>
                  <a:pt x="105155" y="36576"/>
                </a:lnTo>
                <a:lnTo>
                  <a:pt x="105155" y="21336"/>
                </a:lnTo>
                <a:lnTo>
                  <a:pt x="102107" y="15240"/>
                </a:lnTo>
                <a:lnTo>
                  <a:pt x="99060" y="10668"/>
                </a:lnTo>
                <a:lnTo>
                  <a:pt x="96012" y="4572"/>
                </a:lnTo>
                <a:lnTo>
                  <a:pt x="91439" y="1524"/>
                </a:lnTo>
                <a:lnTo>
                  <a:pt x="85343" y="0"/>
                </a:lnTo>
                <a:close/>
              </a:path>
              <a:path w="105410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5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6"/>
                </a:lnTo>
                <a:lnTo>
                  <a:pt x="6095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3"/>
                </a:lnTo>
                <a:lnTo>
                  <a:pt x="7619" y="42672"/>
                </a:lnTo>
                <a:lnTo>
                  <a:pt x="6095" y="36576"/>
                </a:lnTo>
                <a:lnTo>
                  <a:pt x="6095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67338" y="1287239"/>
            <a:ext cx="2527935" cy="8655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15" dirty="0">
                <a:latin typeface="Cambria Math" panose="02040503050406030204"/>
                <a:cs typeface="Cambria Math" panose="02040503050406030204"/>
              </a:rPr>
              <a:t>c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75764" y="2251497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1523"/>
                </a:lnTo>
                <a:lnTo>
                  <a:pt x="53339" y="3047"/>
                </a:lnTo>
                <a:lnTo>
                  <a:pt x="56387" y="6095"/>
                </a:lnTo>
                <a:lnTo>
                  <a:pt x="59436" y="12191"/>
                </a:lnTo>
                <a:lnTo>
                  <a:pt x="62484" y="21335"/>
                </a:lnTo>
                <a:lnTo>
                  <a:pt x="62484" y="36575"/>
                </a:lnTo>
                <a:lnTo>
                  <a:pt x="48768" y="56387"/>
                </a:lnTo>
                <a:lnTo>
                  <a:pt x="48768" y="59435"/>
                </a:lnTo>
                <a:lnTo>
                  <a:pt x="54863" y="57911"/>
                </a:lnTo>
                <a:lnTo>
                  <a:pt x="59436" y="53339"/>
                </a:lnTo>
                <a:lnTo>
                  <a:pt x="62484" y="48767"/>
                </a:lnTo>
                <a:lnTo>
                  <a:pt x="68580" y="36575"/>
                </a:lnTo>
                <a:lnTo>
                  <a:pt x="68580" y="21335"/>
                </a:lnTo>
                <a:lnTo>
                  <a:pt x="65532" y="15239"/>
                </a:lnTo>
                <a:lnTo>
                  <a:pt x="62484" y="10667"/>
                </a:lnTo>
                <a:lnTo>
                  <a:pt x="59436" y="4571"/>
                </a:lnTo>
                <a:lnTo>
                  <a:pt x="54863" y="1523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3"/>
                </a:lnTo>
                <a:lnTo>
                  <a:pt x="9144" y="4571"/>
                </a:lnTo>
                <a:lnTo>
                  <a:pt x="6096" y="10667"/>
                </a:lnTo>
                <a:lnTo>
                  <a:pt x="3048" y="15239"/>
                </a:lnTo>
                <a:lnTo>
                  <a:pt x="0" y="21335"/>
                </a:lnTo>
                <a:lnTo>
                  <a:pt x="0" y="36575"/>
                </a:lnTo>
                <a:lnTo>
                  <a:pt x="6096" y="48767"/>
                </a:lnTo>
                <a:lnTo>
                  <a:pt x="9144" y="53339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5"/>
                </a:lnTo>
                <a:lnTo>
                  <a:pt x="9144" y="47243"/>
                </a:lnTo>
                <a:lnTo>
                  <a:pt x="7620" y="42671"/>
                </a:lnTo>
                <a:lnTo>
                  <a:pt x="6096" y="36575"/>
                </a:lnTo>
                <a:lnTo>
                  <a:pt x="6096" y="21335"/>
                </a:lnTo>
                <a:lnTo>
                  <a:pt x="9144" y="12191"/>
                </a:lnTo>
                <a:lnTo>
                  <a:pt x="12191" y="6095"/>
                </a:lnTo>
                <a:lnTo>
                  <a:pt x="15239" y="3047"/>
                </a:lnTo>
                <a:lnTo>
                  <a:pt x="19812" y="1523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68371" y="2251497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7" y="0"/>
                </a:moveTo>
                <a:lnTo>
                  <a:pt x="48767" y="1523"/>
                </a:lnTo>
                <a:lnTo>
                  <a:pt x="53339" y="3047"/>
                </a:lnTo>
                <a:lnTo>
                  <a:pt x="56387" y="6095"/>
                </a:lnTo>
                <a:lnTo>
                  <a:pt x="59436" y="12191"/>
                </a:lnTo>
                <a:lnTo>
                  <a:pt x="62483" y="21335"/>
                </a:lnTo>
                <a:lnTo>
                  <a:pt x="62483" y="36575"/>
                </a:lnTo>
                <a:lnTo>
                  <a:pt x="48767" y="56387"/>
                </a:lnTo>
                <a:lnTo>
                  <a:pt x="48767" y="59435"/>
                </a:lnTo>
                <a:lnTo>
                  <a:pt x="54863" y="57911"/>
                </a:lnTo>
                <a:lnTo>
                  <a:pt x="59436" y="53339"/>
                </a:lnTo>
                <a:lnTo>
                  <a:pt x="62483" y="48767"/>
                </a:lnTo>
                <a:lnTo>
                  <a:pt x="68579" y="36575"/>
                </a:lnTo>
                <a:lnTo>
                  <a:pt x="68579" y="21335"/>
                </a:lnTo>
                <a:lnTo>
                  <a:pt x="65531" y="15239"/>
                </a:lnTo>
                <a:lnTo>
                  <a:pt x="62483" y="10667"/>
                </a:lnTo>
                <a:lnTo>
                  <a:pt x="59436" y="4571"/>
                </a:lnTo>
                <a:lnTo>
                  <a:pt x="54863" y="1523"/>
                </a:lnTo>
                <a:lnTo>
                  <a:pt x="48767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3"/>
                </a:lnTo>
                <a:lnTo>
                  <a:pt x="9143" y="4571"/>
                </a:lnTo>
                <a:lnTo>
                  <a:pt x="6095" y="10667"/>
                </a:lnTo>
                <a:lnTo>
                  <a:pt x="3048" y="15239"/>
                </a:lnTo>
                <a:lnTo>
                  <a:pt x="0" y="21335"/>
                </a:lnTo>
                <a:lnTo>
                  <a:pt x="0" y="36575"/>
                </a:lnTo>
                <a:lnTo>
                  <a:pt x="6095" y="48767"/>
                </a:lnTo>
                <a:lnTo>
                  <a:pt x="9143" y="53339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5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1335"/>
                </a:lnTo>
                <a:lnTo>
                  <a:pt x="9143" y="12191"/>
                </a:lnTo>
                <a:lnTo>
                  <a:pt x="12191" y="6095"/>
                </a:lnTo>
                <a:lnTo>
                  <a:pt x="15239" y="3047"/>
                </a:lnTo>
                <a:lnTo>
                  <a:pt x="19812" y="1523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636198" y="2229674"/>
            <a:ext cx="1762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1050" u="sng" spc="187" baseline="32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u="sng" spc="232" baseline="44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50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L(f(x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18220" y="2292146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95920" y="2272303"/>
            <a:ext cx="1199515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7630" algn="r">
              <a:lnSpc>
                <a:spcPct val="100000"/>
              </a:lnSpc>
              <a:spcBef>
                <a:spcPts val="100"/>
              </a:spcBef>
            </a:pPr>
            <a:r>
              <a:rPr sz="750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187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139700">
              <a:lnSpc>
                <a:spcPct val="100000"/>
              </a:lnSpc>
              <a:spcBef>
                <a:spcPts val="51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3.</a:t>
            </a:r>
            <a:r>
              <a:rPr sz="700" spc="1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2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cg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5560" y="1302045"/>
            <a:ext cx="2787650" cy="1897380"/>
          </a:xfrm>
          <a:custGeom>
            <a:avLst/>
            <a:gdLst/>
            <a:ahLst/>
            <a:cxnLst/>
            <a:rect l="l" t="t" r="r" b="b"/>
            <a:pathLst>
              <a:path w="2787650" h="1897380">
                <a:moveTo>
                  <a:pt x="0" y="0"/>
                </a:moveTo>
                <a:lnTo>
                  <a:pt x="2787395" y="0"/>
                </a:lnTo>
                <a:lnTo>
                  <a:pt x="2787395" y="1897379"/>
                </a:lnTo>
                <a:lnTo>
                  <a:pt x="0" y="1897379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2512" y="1292901"/>
            <a:ext cx="2794000" cy="18415"/>
          </a:xfrm>
          <a:custGeom>
            <a:avLst/>
            <a:gdLst/>
            <a:ahLst/>
            <a:cxnLst/>
            <a:rect l="l" t="t" r="r" b="b"/>
            <a:pathLst>
              <a:path w="2794000" h="18415">
                <a:moveTo>
                  <a:pt x="0" y="0"/>
                </a:moveTo>
                <a:lnTo>
                  <a:pt x="2793491" y="0"/>
                </a:lnTo>
                <a:lnTo>
                  <a:pt x="2793491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5559" y="1116117"/>
            <a:ext cx="0" cy="2086610"/>
          </a:xfrm>
          <a:custGeom>
            <a:avLst/>
            <a:gdLst/>
            <a:ahLst/>
            <a:cxnLst/>
            <a:rect l="l" t="t" r="r" b="b"/>
            <a:pathLst>
              <a:path h="2086610">
                <a:moveTo>
                  <a:pt x="0" y="0"/>
                </a:moveTo>
                <a:lnTo>
                  <a:pt x="0" y="208635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82956" y="1116117"/>
            <a:ext cx="0" cy="2086610"/>
          </a:xfrm>
          <a:custGeom>
            <a:avLst/>
            <a:gdLst/>
            <a:ahLst/>
            <a:cxnLst/>
            <a:rect l="l" t="t" r="r" b="b"/>
            <a:pathLst>
              <a:path h="2086610">
                <a:moveTo>
                  <a:pt x="0" y="0"/>
                </a:moveTo>
                <a:lnTo>
                  <a:pt x="0" y="208635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2511" y="1119165"/>
            <a:ext cx="2794000" cy="0"/>
          </a:xfrm>
          <a:custGeom>
            <a:avLst/>
            <a:gdLst/>
            <a:ahLst/>
            <a:cxnLst/>
            <a:rect l="l" t="t" r="r" b="b"/>
            <a:pathLst>
              <a:path w="2794000">
                <a:moveTo>
                  <a:pt x="0" y="0"/>
                </a:moveTo>
                <a:lnTo>
                  <a:pt x="279349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92511" y="3199425"/>
            <a:ext cx="2794000" cy="0"/>
          </a:xfrm>
          <a:custGeom>
            <a:avLst/>
            <a:gdLst/>
            <a:ahLst/>
            <a:cxnLst/>
            <a:rect l="l" t="t" r="r" b="b"/>
            <a:pathLst>
              <a:path w="2794000">
                <a:moveTo>
                  <a:pt x="0" y="0"/>
                </a:moveTo>
                <a:lnTo>
                  <a:pt x="279349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98608" y="1122213"/>
            <a:ext cx="2781300" cy="17081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52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20"/>
              </a:spcBef>
            </a:pP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使用动量的小批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梯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度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降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383439" y="2024421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9015" y="0"/>
                </a:lnTo>
                <a:lnTo>
                  <a:pt x="509015" y="3048"/>
                </a:lnTo>
                <a:lnTo>
                  <a:pt x="513588" y="3048"/>
                </a:lnTo>
                <a:lnTo>
                  <a:pt x="516636" y="4572"/>
                </a:lnTo>
                <a:lnTo>
                  <a:pt x="518160" y="7620"/>
                </a:lnTo>
                <a:lnTo>
                  <a:pt x="521208" y="10668"/>
                </a:lnTo>
                <a:lnTo>
                  <a:pt x="522732" y="15240"/>
                </a:lnTo>
                <a:lnTo>
                  <a:pt x="522732" y="28956"/>
                </a:lnTo>
                <a:lnTo>
                  <a:pt x="521208" y="32004"/>
                </a:lnTo>
                <a:lnTo>
                  <a:pt x="521208" y="45720"/>
                </a:lnTo>
                <a:lnTo>
                  <a:pt x="522732" y="48768"/>
                </a:lnTo>
                <a:lnTo>
                  <a:pt x="527304" y="53340"/>
                </a:lnTo>
                <a:lnTo>
                  <a:pt x="521208" y="59436"/>
                </a:lnTo>
                <a:lnTo>
                  <a:pt x="521208" y="73152"/>
                </a:lnTo>
                <a:lnTo>
                  <a:pt x="522732" y="77724"/>
                </a:lnTo>
                <a:lnTo>
                  <a:pt x="522732" y="91440"/>
                </a:lnTo>
                <a:lnTo>
                  <a:pt x="521208" y="96012"/>
                </a:lnTo>
                <a:lnTo>
                  <a:pt x="518160" y="99060"/>
                </a:lnTo>
                <a:lnTo>
                  <a:pt x="516636" y="102108"/>
                </a:lnTo>
                <a:lnTo>
                  <a:pt x="513588" y="103631"/>
                </a:lnTo>
                <a:lnTo>
                  <a:pt x="509015" y="103631"/>
                </a:lnTo>
                <a:lnTo>
                  <a:pt x="509015" y="106680"/>
                </a:lnTo>
                <a:lnTo>
                  <a:pt x="516636" y="106680"/>
                </a:lnTo>
                <a:lnTo>
                  <a:pt x="521208" y="103631"/>
                </a:lnTo>
                <a:lnTo>
                  <a:pt x="524256" y="100584"/>
                </a:lnTo>
                <a:lnTo>
                  <a:pt x="527304" y="96012"/>
                </a:lnTo>
                <a:lnTo>
                  <a:pt x="530351" y="89916"/>
                </a:lnTo>
                <a:lnTo>
                  <a:pt x="530351" y="79248"/>
                </a:lnTo>
                <a:lnTo>
                  <a:pt x="528827" y="74676"/>
                </a:lnTo>
                <a:lnTo>
                  <a:pt x="528827" y="71628"/>
                </a:lnTo>
                <a:lnTo>
                  <a:pt x="527304" y="67056"/>
                </a:lnTo>
                <a:lnTo>
                  <a:pt x="527304" y="60960"/>
                </a:lnTo>
                <a:lnTo>
                  <a:pt x="530351" y="57912"/>
                </a:lnTo>
                <a:lnTo>
                  <a:pt x="530351" y="56387"/>
                </a:lnTo>
                <a:lnTo>
                  <a:pt x="533400" y="54864"/>
                </a:lnTo>
                <a:lnTo>
                  <a:pt x="536448" y="54864"/>
                </a:lnTo>
                <a:lnTo>
                  <a:pt x="536448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30351" y="48768"/>
                </a:lnTo>
                <a:lnTo>
                  <a:pt x="527304" y="45720"/>
                </a:lnTo>
                <a:lnTo>
                  <a:pt x="527304" y="38100"/>
                </a:lnTo>
                <a:lnTo>
                  <a:pt x="528827" y="35052"/>
                </a:lnTo>
                <a:lnTo>
                  <a:pt x="528827" y="30480"/>
                </a:lnTo>
                <a:lnTo>
                  <a:pt x="530351" y="27431"/>
                </a:lnTo>
                <a:lnTo>
                  <a:pt x="530351" y="15240"/>
                </a:lnTo>
                <a:lnTo>
                  <a:pt x="527304" y="9143"/>
                </a:lnTo>
                <a:lnTo>
                  <a:pt x="524256" y="6096"/>
                </a:lnTo>
                <a:lnTo>
                  <a:pt x="521208" y="1524"/>
                </a:lnTo>
                <a:lnTo>
                  <a:pt x="516636" y="0"/>
                </a:lnTo>
                <a:close/>
              </a:path>
              <a:path w="536575" h="106680">
                <a:moveTo>
                  <a:pt x="27432" y="0"/>
                </a:moveTo>
                <a:lnTo>
                  <a:pt x="18287" y="0"/>
                </a:lnTo>
                <a:lnTo>
                  <a:pt x="13716" y="1524"/>
                </a:lnTo>
                <a:lnTo>
                  <a:pt x="10668" y="6096"/>
                </a:lnTo>
                <a:lnTo>
                  <a:pt x="7620" y="9143"/>
                </a:lnTo>
                <a:lnTo>
                  <a:pt x="6096" y="15240"/>
                </a:lnTo>
                <a:lnTo>
                  <a:pt x="6096" y="35052"/>
                </a:lnTo>
                <a:lnTo>
                  <a:pt x="7620" y="38100"/>
                </a:lnTo>
                <a:lnTo>
                  <a:pt x="7620" y="47243"/>
                </a:lnTo>
                <a:lnTo>
                  <a:pt x="4572" y="50292"/>
                </a:lnTo>
                <a:lnTo>
                  <a:pt x="1524" y="51816"/>
                </a:lnTo>
                <a:lnTo>
                  <a:pt x="0" y="51816"/>
                </a:lnTo>
                <a:lnTo>
                  <a:pt x="0" y="54864"/>
                </a:lnTo>
                <a:lnTo>
                  <a:pt x="1524" y="54864"/>
                </a:lnTo>
                <a:lnTo>
                  <a:pt x="4572" y="56387"/>
                </a:lnTo>
                <a:lnTo>
                  <a:pt x="7620" y="59436"/>
                </a:lnTo>
                <a:lnTo>
                  <a:pt x="7620" y="67056"/>
                </a:lnTo>
                <a:lnTo>
                  <a:pt x="6096" y="71628"/>
                </a:lnTo>
                <a:lnTo>
                  <a:pt x="6096" y="89916"/>
                </a:lnTo>
                <a:lnTo>
                  <a:pt x="7620" y="96012"/>
                </a:lnTo>
                <a:lnTo>
                  <a:pt x="10668" y="100584"/>
                </a:lnTo>
                <a:lnTo>
                  <a:pt x="13716" y="103631"/>
                </a:lnTo>
                <a:lnTo>
                  <a:pt x="18287" y="106680"/>
                </a:lnTo>
                <a:lnTo>
                  <a:pt x="27432" y="106680"/>
                </a:lnTo>
                <a:lnTo>
                  <a:pt x="27432" y="103631"/>
                </a:lnTo>
                <a:lnTo>
                  <a:pt x="21336" y="103631"/>
                </a:lnTo>
                <a:lnTo>
                  <a:pt x="18287" y="102108"/>
                </a:lnTo>
                <a:lnTo>
                  <a:pt x="16764" y="99060"/>
                </a:lnTo>
                <a:lnTo>
                  <a:pt x="13716" y="96012"/>
                </a:lnTo>
                <a:lnTo>
                  <a:pt x="12192" y="91440"/>
                </a:lnTo>
                <a:lnTo>
                  <a:pt x="12192" y="80772"/>
                </a:lnTo>
                <a:lnTo>
                  <a:pt x="13716" y="77724"/>
                </a:lnTo>
                <a:lnTo>
                  <a:pt x="13716" y="70104"/>
                </a:lnTo>
                <a:lnTo>
                  <a:pt x="15240" y="67056"/>
                </a:lnTo>
                <a:lnTo>
                  <a:pt x="15240" y="62484"/>
                </a:lnTo>
                <a:lnTo>
                  <a:pt x="13716" y="59436"/>
                </a:lnTo>
                <a:lnTo>
                  <a:pt x="7620" y="53340"/>
                </a:lnTo>
                <a:lnTo>
                  <a:pt x="12192" y="48768"/>
                </a:lnTo>
                <a:lnTo>
                  <a:pt x="13716" y="45720"/>
                </a:lnTo>
                <a:lnTo>
                  <a:pt x="15240" y="44196"/>
                </a:lnTo>
                <a:lnTo>
                  <a:pt x="15240" y="38100"/>
                </a:lnTo>
                <a:lnTo>
                  <a:pt x="13716" y="36576"/>
                </a:lnTo>
                <a:lnTo>
                  <a:pt x="13716" y="28956"/>
                </a:lnTo>
                <a:lnTo>
                  <a:pt x="12192" y="24384"/>
                </a:lnTo>
                <a:lnTo>
                  <a:pt x="12192" y="15240"/>
                </a:lnTo>
                <a:lnTo>
                  <a:pt x="13716" y="10668"/>
                </a:lnTo>
                <a:lnTo>
                  <a:pt x="16764" y="7620"/>
                </a:lnTo>
                <a:lnTo>
                  <a:pt x="18287" y="4572"/>
                </a:lnTo>
                <a:lnTo>
                  <a:pt x="21336" y="3048"/>
                </a:lnTo>
                <a:lnTo>
                  <a:pt x="27432" y="3048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71832" y="202289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7912" y="0"/>
                </a:moveTo>
                <a:lnTo>
                  <a:pt x="57912" y="1523"/>
                </a:lnTo>
                <a:lnTo>
                  <a:pt x="62483" y="3047"/>
                </a:lnTo>
                <a:lnTo>
                  <a:pt x="68580" y="12191"/>
                </a:lnTo>
                <a:lnTo>
                  <a:pt x="71628" y="21335"/>
                </a:lnTo>
                <a:lnTo>
                  <a:pt x="71628" y="36575"/>
                </a:lnTo>
                <a:lnTo>
                  <a:pt x="57912" y="56387"/>
                </a:lnTo>
                <a:lnTo>
                  <a:pt x="57912" y="59435"/>
                </a:lnTo>
                <a:lnTo>
                  <a:pt x="64007" y="57911"/>
                </a:lnTo>
                <a:lnTo>
                  <a:pt x="68580" y="53339"/>
                </a:lnTo>
                <a:lnTo>
                  <a:pt x="71628" y="48767"/>
                </a:lnTo>
                <a:lnTo>
                  <a:pt x="76200" y="42671"/>
                </a:lnTo>
                <a:lnTo>
                  <a:pt x="77723" y="36575"/>
                </a:lnTo>
                <a:lnTo>
                  <a:pt x="77723" y="21335"/>
                </a:lnTo>
                <a:lnTo>
                  <a:pt x="76200" y="15239"/>
                </a:lnTo>
                <a:lnTo>
                  <a:pt x="71628" y="10667"/>
                </a:lnTo>
                <a:lnTo>
                  <a:pt x="68580" y="4571"/>
                </a:lnTo>
                <a:lnTo>
                  <a:pt x="64007" y="1523"/>
                </a:lnTo>
                <a:lnTo>
                  <a:pt x="57912" y="0"/>
                </a:lnTo>
                <a:close/>
              </a:path>
              <a:path w="78105" h="59689">
                <a:moveTo>
                  <a:pt x="18287" y="0"/>
                </a:moveTo>
                <a:lnTo>
                  <a:pt x="12192" y="1523"/>
                </a:lnTo>
                <a:lnTo>
                  <a:pt x="7619" y="4571"/>
                </a:lnTo>
                <a:lnTo>
                  <a:pt x="4572" y="10667"/>
                </a:lnTo>
                <a:lnTo>
                  <a:pt x="1524" y="15239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6" y="54863"/>
                </a:lnTo>
                <a:lnTo>
                  <a:pt x="10668" y="51815"/>
                </a:lnTo>
                <a:lnTo>
                  <a:pt x="7619" y="47243"/>
                </a:lnTo>
                <a:lnTo>
                  <a:pt x="6095" y="42671"/>
                </a:lnTo>
                <a:lnTo>
                  <a:pt x="4572" y="36575"/>
                </a:lnTo>
                <a:lnTo>
                  <a:pt x="4572" y="21335"/>
                </a:lnTo>
                <a:lnTo>
                  <a:pt x="7619" y="12191"/>
                </a:lnTo>
                <a:lnTo>
                  <a:pt x="13716" y="3047"/>
                </a:lnTo>
                <a:lnTo>
                  <a:pt x="19812" y="1523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76632" y="2022897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89">
                <a:moveTo>
                  <a:pt x="82295" y="0"/>
                </a:moveTo>
                <a:lnTo>
                  <a:pt x="82295" y="1523"/>
                </a:lnTo>
                <a:lnTo>
                  <a:pt x="86867" y="3047"/>
                </a:lnTo>
                <a:lnTo>
                  <a:pt x="92963" y="12191"/>
                </a:lnTo>
                <a:lnTo>
                  <a:pt x="96012" y="21335"/>
                </a:lnTo>
                <a:lnTo>
                  <a:pt x="96012" y="36575"/>
                </a:lnTo>
                <a:lnTo>
                  <a:pt x="82295" y="56387"/>
                </a:lnTo>
                <a:lnTo>
                  <a:pt x="82295" y="59435"/>
                </a:lnTo>
                <a:lnTo>
                  <a:pt x="88391" y="57911"/>
                </a:lnTo>
                <a:lnTo>
                  <a:pt x="92963" y="53339"/>
                </a:lnTo>
                <a:lnTo>
                  <a:pt x="96012" y="48767"/>
                </a:lnTo>
                <a:lnTo>
                  <a:pt x="100583" y="42671"/>
                </a:lnTo>
                <a:lnTo>
                  <a:pt x="102107" y="36575"/>
                </a:lnTo>
                <a:lnTo>
                  <a:pt x="102107" y="21335"/>
                </a:lnTo>
                <a:lnTo>
                  <a:pt x="100583" y="15239"/>
                </a:lnTo>
                <a:lnTo>
                  <a:pt x="96012" y="10667"/>
                </a:lnTo>
                <a:lnTo>
                  <a:pt x="92963" y="4571"/>
                </a:lnTo>
                <a:lnTo>
                  <a:pt x="88391" y="1523"/>
                </a:lnTo>
                <a:lnTo>
                  <a:pt x="82295" y="0"/>
                </a:lnTo>
                <a:close/>
              </a:path>
              <a:path w="102235" h="59689">
                <a:moveTo>
                  <a:pt x="18287" y="0"/>
                </a:moveTo>
                <a:lnTo>
                  <a:pt x="12191" y="1523"/>
                </a:lnTo>
                <a:lnTo>
                  <a:pt x="7619" y="4571"/>
                </a:lnTo>
                <a:lnTo>
                  <a:pt x="4571" y="10667"/>
                </a:lnTo>
                <a:lnTo>
                  <a:pt x="1523" y="15239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5" y="54863"/>
                </a:lnTo>
                <a:lnTo>
                  <a:pt x="10667" y="51815"/>
                </a:lnTo>
                <a:lnTo>
                  <a:pt x="7619" y="47243"/>
                </a:lnTo>
                <a:lnTo>
                  <a:pt x="6095" y="42671"/>
                </a:lnTo>
                <a:lnTo>
                  <a:pt x="4571" y="36575"/>
                </a:lnTo>
                <a:lnTo>
                  <a:pt x="4571" y="21335"/>
                </a:lnTo>
                <a:lnTo>
                  <a:pt x="7619" y="12191"/>
                </a:lnTo>
                <a:lnTo>
                  <a:pt x="13715" y="3047"/>
                </a:lnTo>
                <a:lnTo>
                  <a:pt x="19812" y="1523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18747" y="2207301"/>
            <a:ext cx="535305" cy="106680"/>
          </a:xfrm>
          <a:custGeom>
            <a:avLst/>
            <a:gdLst/>
            <a:ahLst/>
            <a:cxnLst/>
            <a:rect l="l" t="t" r="r" b="b"/>
            <a:pathLst>
              <a:path w="535305" h="106680">
                <a:moveTo>
                  <a:pt x="515112" y="0"/>
                </a:moveTo>
                <a:lnTo>
                  <a:pt x="507491" y="0"/>
                </a:lnTo>
                <a:lnTo>
                  <a:pt x="507491" y="3048"/>
                </a:lnTo>
                <a:lnTo>
                  <a:pt x="512063" y="3048"/>
                </a:lnTo>
                <a:lnTo>
                  <a:pt x="515112" y="4572"/>
                </a:lnTo>
                <a:lnTo>
                  <a:pt x="516635" y="7619"/>
                </a:lnTo>
                <a:lnTo>
                  <a:pt x="519683" y="10668"/>
                </a:lnTo>
                <a:lnTo>
                  <a:pt x="521207" y="15240"/>
                </a:lnTo>
                <a:lnTo>
                  <a:pt x="521207" y="28956"/>
                </a:lnTo>
                <a:lnTo>
                  <a:pt x="519683" y="32004"/>
                </a:lnTo>
                <a:lnTo>
                  <a:pt x="519683" y="45719"/>
                </a:lnTo>
                <a:lnTo>
                  <a:pt x="521207" y="48768"/>
                </a:lnTo>
                <a:lnTo>
                  <a:pt x="525779" y="53340"/>
                </a:lnTo>
                <a:lnTo>
                  <a:pt x="519683" y="59436"/>
                </a:lnTo>
                <a:lnTo>
                  <a:pt x="519683" y="73151"/>
                </a:lnTo>
                <a:lnTo>
                  <a:pt x="521207" y="77724"/>
                </a:lnTo>
                <a:lnTo>
                  <a:pt x="521207" y="91440"/>
                </a:lnTo>
                <a:lnTo>
                  <a:pt x="519683" y="96012"/>
                </a:lnTo>
                <a:lnTo>
                  <a:pt x="516635" y="99060"/>
                </a:lnTo>
                <a:lnTo>
                  <a:pt x="515112" y="102107"/>
                </a:lnTo>
                <a:lnTo>
                  <a:pt x="512063" y="103631"/>
                </a:lnTo>
                <a:lnTo>
                  <a:pt x="507491" y="103631"/>
                </a:lnTo>
                <a:lnTo>
                  <a:pt x="507491" y="106680"/>
                </a:lnTo>
                <a:lnTo>
                  <a:pt x="515112" y="106680"/>
                </a:lnTo>
                <a:lnTo>
                  <a:pt x="519683" y="103631"/>
                </a:lnTo>
                <a:lnTo>
                  <a:pt x="522731" y="100584"/>
                </a:lnTo>
                <a:lnTo>
                  <a:pt x="525779" y="96012"/>
                </a:lnTo>
                <a:lnTo>
                  <a:pt x="528827" y="89916"/>
                </a:lnTo>
                <a:lnTo>
                  <a:pt x="528827" y="79248"/>
                </a:lnTo>
                <a:lnTo>
                  <a:pt x="527303" y="74675"/>
                </a:lnTo>
                <a:lnTo>
                  <a:pt x="527303" y="71628"/>
                </a:lnTo>
                <a:lnTo>
                  <a:pt x="525779" y="67056"/>
                </a:lnTo>
                <a:lnTo>
                  <a:pt x="525779" y="60960"/>
                </a:lnTo>
                <a:lnTo>
                  <a:pt x="528827" y="57912"/>
                </a:lnTo>
                <a:lnTo>
                  <a:pt x="528827" y="56387"/>
                </a:lnTo>
                <a:lnTo>
                  <a:pt x="531876" y="54863"/>
                </a:lnTo>
                <a:lnTo>
                  <a:pt x="534924" y="54863"/>
                </a:lnTo>
                <a:lnTo>
                  <a:pt x="534924" y="51816"/>
                </a:lnTo>
                <a:lnTo>
                  <a:pt x="531876" y="51816"/>
                </a:lnTo>
                <a:lnTo>
                  <a:pt x="528827" y="50292"/>
                </a:lnTo>
                <a:lnTo>
                  <a:pt x="528827" y="48768"/>
                </a:lnTo>
                <a:lnTo>
                  <a:pt x="525779" y="45719"/>
                </a:lnTo>
                <a:lnTo>
                  <a:pt x="525779" y="38100"/>
                </a:lnTo>
                <a:lnTo>
                  <a:pt x="527303" y="35051"/>
                </a:lnTo>
                <a:lnTo>
                  <a:pt x="527303" y="30480"/>
                </a:lnTo>
                <a:lnTo>
                  <a:pt x="528827" y="27431"/>
                </a:lnTo>
                <a:lnTo>
                  <a:pt x="528827" y="15240"/>
                </a:lnTo>
                <a:lnTo>
                  <a:pt x="525779" y="9143"/>
                </a:lnTo>
                <a:lnTo>
                  <a:pt x="522731" y="6096"/>
                </a:lnTo>
                <a:lnTo>
                  <a:pt x="519683" y="1524"/>
                </a:lnTo>
                <a:lnTo>
                  <a:pt x="515112" y="0"/>
                </a:lnTo>
                <a:close/>
              </a:path>
              <a:path w="535305" h="106680">
                <a:moveTo>
                  <a:pt x="27431" y="0"/>
                </a:moveTo>
                <a:lnTo>
                  <a:pt x="18287" y="0"/>
                </a:lnTo>
                <a:lnTo>
                  <a:pt x="13715" y="1524"/>
                </a:lnTo>
                <a:lnTo>
                  <a:pt x="10668" y="6096"/>
                </a:lnTo>
                <a:lnTo>
                  <a:pt x="7619" y="9143"/>
                </a:lnTo>
                <a:lnTo>
                  <a:pt x="6095" y="15240"/>
                </a:lnTo>
                <a:lnTo>
                  <a:pt x="6095" y="35051"/>
                </a:lnTo>
                <a:lnTo>
                  <a:pt x="7619" y="38100"/>
                </a:lnTo>
                <a:lnTo>
                  <a:pt x="7619" y="47243"/>
                </a:lnTo>
                <a:lnTo>
                  <a:pt x="4571" y="50292"/>
                </a:lnTo>
                <a:lnTo>
                  <a:pt x="1524" y="51816"/>
                </a:lnTo>
                <a:lnTo>
                  <a:pt x="0" y="51816"/>
                </a:lnTo>
                <a:lnTo>
                  <a:pt x="0" y="54863"/>
                </a:lnTo>
                <a:lnTo>
                  <a:pt x="1524" y="54863"/>
                </a:lnTo>
                <a:lnTo>
                  <a:pt x="4571" y="56387"/>
                </a:lnTo>
                <a:lnTo>
                  <a:pt x="7619" y="59436"/>
                </a:lnTo>
                <a:lnTo>
                  <a:pt x="7619" y="67056"/>
                </a:lnTo>
                <a:lnTo>
                  <a:pt x="6095" y="71628"/>
                </a:lnTo>
                <a:lnTo>
                  <a:pt x="6095" y="89916"/>
                </a:lnTo>
                <a:lnTo>
                  <a:pt x="7619" y="96012"/>
                </a:lnTo>
                <a:lnTo>
                  <a:pt x="10668" y="100584"/>
                </a:lnTo>
                <a:lnTo>
                  <a:pt x="13715" y="103631"/>
                </a:lnTo>
                <a:lnTo>
                  <a:pt x="18287" y="106680"/>
                </a:lnTo>
                <a:lnTo>
                  <a:pt x="27431" y="106680"/>
                </a:lnTo>
                <a:lnTo>
                  <a:pt x="27431" y="103631"/>
                </a:lnTo>
                <a:lnTo>
                  <a:pt x="21335" y="103631"/>
                </a:lnTo>
                <a:lnTo>
                  <a:pt x="18287" y="102107"/>
                </a:lnTo>
                <a:lnTo>
                  <a:pt x="16763" y="99060"/>
                </a:lnTo>
                <a:lnTo>
                  <a:pt x="13715" y="96012"/>
                </a:lnTo>
                <a:lnTo>
                  <a:pt x="12191" y="91440"/>
                </a:lnTo>
                <a:lnTo>
                  <a:pt x="12191" y="80772"/>
                </a:lnTo>
                <a:lnTo>
                  <a:pt x="13715" y="77724"/>
                </a:lnTo>
                <a:lnTo>
                  <a:pt x="13715" y="70104"/>
                </a:lnTo>
                <a:lnTo>
                  <a:pt x="15239" y="67056"/>
                </a:lnTo>
                <a:lnTo>
                  <a:pt x="15239" y="62484"/>
                </a:lnTo>
                <a:lnTo>
                  <a:pt x="13715" y="59436"/>
                </a:lnTo>
                <a:lnTo>
                  <a:pt x="7619" y="53340"/>
                </a:lnTo>
                <a:lnTo>
                  <a:pt x="12191" y="48768"/>
                </a:lnTo>
                <a:lnTo>
                  <a:pt x="13715" y="45719"/>
                </a:lnTo>
                <a:lnTo>
                  <a:pt x="15239" y="44196"/>
                </a:lnTo>
                <a:lnTo>
                  <a:pt x="15239" y="38100"/>
                </a:lnTo>
                <a:lnTo>
                  <a:pt x="13715" y="36575"/>
                </a:lnTo>
                <a:lnTo>
                  <a:pt x="13715" y="28956"/>
                </a:lnTo>
                <a:lnTo>
                  <a:pt x="12191" y="24384"/>
                </a:lnTo>
                <a:lnTo>
                  <a:pt x="12191" y="15240"/>
                </a:lnTo>
                <a:lnTo>
                  <a:pt x="13715" y="10668"/>
                </a:lnTo>
                <a:lnTo>
                  <a:pt x="16763" y="7619"/>
                </a:lnTo>
                <a:lnTo>
                  <a:pt x="18287" y="4572"/>
                </a:lnTo>
                <a:lnTo>
                  <a:pt x="21335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502567" y="2205777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1524"/>
                </a:lnTo>
                <a:lnTo>
                  <a:pt x="64007" y="3048"/>
                </a:lnTo>
                <a:lnTo>
                  <a:pt x="70104" y="12192"/>
                </a:lnTo>
                <a:lnTo>
                  <a:pt x="73151" y="21336"/>
                </a:lnTo>
                <a:lnTo>
                  <a:pt x="73151" y="36575"/>
                </a:lnTo>
                <a:lnTo>
                  <a:pt x="59436" y="56387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4" y="53340"/>
                </a:lnTo>
                <a:lnTo>
                  <a:pt x="73151" y="48768"/>
                </a:lnTo>
                <a:lnTo>
                  <a:pt x="77724" y="42672"/>
                </a:lnTo>
                <a:lnTo>
                  <a:pt x="79248" y="36575"/>
                </a:lnTo>
                <a:lnTo>
                  <a:pt x="79248" y="21336"/>
                </a:lnTo>
                <a:lnTo>
                  <a:pt x="77724" y="15240"/>
                </a:lnTo>
                <a:lnTo>
                  <a:pt x="73151" y="10668"/>
                </a:lnTo>
                <a:lnTo>
                  <a:pt x="70104" y="4572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9375" h="59689">
                <a:moveTo>
                  <a:pt x="18287" y="0"/>
                </a:moveTo>
                <a:lnTo>
                  <a:pt x="12192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5"/>
                </a:lnTo>
                <a:lnTo>
                  <a:pt x="18287" y="59436"/>
                </a:lnTo>
                <a:lnTo>
                  <a:pt x="18287" y="56387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3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808892" y="2205777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19" y="0"/>
                </a:moveTo>
                <a:lnTo>
                  <a:pt x="83819" y="1524"/>
                </a:lnTo>
                <a:lnTo>
                  <a:pt x="88391" y="3048"/>
                </a:lnTo>
                <a:lnTo>
                  <a:pt x="94487" y="12192"/>
                </a:lnTo>
                <a:lnTo>
                  <a:pt x="97535" y="21336"/>
                </a:lnTo>
                <a:lnTo>
                  <a:pt x="97535" y="36575"/>
                </a:lnTo>
                <a:lnTo>
                  <a:pt x="83819" y="56387"/>
                </a:lnTo>
                <a:lnTo>
                  <a:pt x="83819" y="59436"/>
                </a:lnTo>
                <a:lnTo>
                  <a:pt x="89915" y="57912"/>
                </a:lnTo>
                <a:lnTo>
                  <a:pt x="94487" y="53340"/>
                </a:lnTo>
                <a:lnTo>
                  <a:pt x="97535" y="48768"/>
                </a:lnTo>
                <a:lnTo>
                  <a:pt x="102107" y="42672"/>
                </a:lnTo>
                <a:lnTo>
                  <a:pt x="103631" y="36575"/>
                </a:lnTo>
                <a:lnTo>
                  <a:pt x="103631" y="21336"/>
                </a:lnTo>
                <a:lnTo>
                  <a:pt x="102107" y="15240"/>
                </a:lnTo>
                <a:lnTo>
                  <a:pt x="97535" y="10668"/>
                </a:lnTo>
                <a:lnTo>
                  <a:pt x="94487" y="4572"/>
                </a:lnTo>
                <a:lnTo>
                  <a:pt x="89915" y="1524"/>
                </a:lnTo>
                <a:lnTo>
                  <a:pt x="83819" y="0"/>
                </a:lnTo>
                <a:close/>
              </a:path>
              <a:path w="104139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5"/>
                </a:lnTo>
                <a:lnTo>
                  <a:pt x="18287" y="59436"/>
                </a:lnTo>
                <a:lnTo>
                  <a:pt x="18287" y="56387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3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39795" y="1290332"/>
            <a:ext cx="2527935" cy="10255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1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z="700" spc="1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动量系数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µ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0980">
              <a:lnSpc>
                <a:spcPct val="100000"/>
              </a:lnSpc>
              <a:spcBef>
                <a:spcPts val="420"/>
              </a:spcBef>
            </a:pP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始化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45110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510188" y="2464857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60" y="0"/>
                </a:lnTo>
                <a:lnTo>
                  <a:pt x="60960" y="6095"/>
                </a:lnTo>
                <a:lnTo>
                  <a:pt x="0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508667" y="2435396"/>
            <a:ext cx="17653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049683" y="2414565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7243" y="0"/>
                </a:moveTo>
                <a:lnTo>
                  <a:pt x="47243" y="1524"/>
                </a:lnTo>
                <a:lnTo>
                  <a:pt x="51816" y="3048"/>
                </a:lnTo>
                <a:lnTo>
                  <a:pt x="57912" y="12192"/>
                </a:lnTo>
                <a:lnTo>
                  <a:pt x="60960" y="21336"/>
                </a:lnTo>
                <a:lnTo>
                  <a:pt x="60960" y="36576"/>
                </a:lnTo>
                <a:lnTo>
                  <a:pt x="47243" y="56387"/>
                </a:lnTo>
                <a:lnTo>
                  <a:pt x="47243" y="59436"/>
                </a:lnTo>
                <a:lnTo>
                  <a:pt x="53340" y="57912"/>
                </a:lnTo>
                <a:lnTo>
                  <a:pt x="57912" y="53340"/>
                </a:lnTo>
                <a:lnTo>
                  <a:pt x="60960" y="48768"/>
                </a:lnTo>
                <a:lnTo>
                  <a:pt x="65532" y="42672"/>
                </a:lnTo>
                <a:lnTo>
                  <a:pt x="67056" y="36576"/>
                </a:lnTo>
                <a:lnTo>
                  <a:pt x="67056" y="21336"/>
                </a:lnTo>
                <a:lnTo>
                  <a:pt x="65532" y="15240"/>
                </a:lnTo>
                <a:lnTo>
                  <a:pt x="60960" y="10668"/>
                </a:lnTo>
                <a:lnTo>
                  <a:pt x="57912" y="4572"/>
                </a:lnTo>
                <a:lnTo>
                  <a:pt x="53340" y="1524"/>
                </a:lnTo>
                <a:lnTo>
                  <a:pt x="47243" y="0"/>
                </a:lnTo>
                <a:close/>
              </a:path>
              <a:path w="67310" h="59689">
                <a:moveTo>
                  <a:pt x="18288" y="0"/>
                </a:moveTo>
                <a:lnTo>
                  <a:pt x="12192" y="1524"/>
                </a:lnTo>
                <a:lnTo>
                  <a:pt x="7620" y="4572"/>
                </a:lnTo>
                <a:lnTo>
                  <a:pt x="4572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6"/>
                </a:lnTo>
                <a:lnTo>
                  <a:pt x="18288" y="59436"/>
                </a:lnTo>
                <a:lnTo>
                  <a:pt x="18288" y="56387"/>
                </a:lnTo>
                <a:lnTo>
                  <a:pt x="13716" y="54864"/>
                </a:lnTo>
                <a:lnTo>
                  <a:pt x="10668" y="51816"/>
                </a:lnTo>
                <a:lnTo>
                  <a:pt x="7620" y="47243"/>
                </a:lnTo>
                <a:lnTo>
                  <a:pt x="6096" y="42672"/>
                </a:lnTo>
                <a:lnTo>
                  <a:pt x="4572" y="36576"/>
                </a:lnTo>
                <a:lnTo>
                  <a:pt x="4572" y="21336"/>
                </a:lnTo>
                <a:lnTo>
                  <a:pt x="7620" y="12192"/>
                </a:lnTo>
                <a:lnTo>
                  <a:pt x="13716" y="3048"/>
                </a:lnTo>
                <a:lnTo>
                  <a:pt x="19812" y="1524"/>
                </a:lnTo>
                <a:lnTo>
                  <a:pt x="18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42292" y="2414565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7243" y="0"/>
                </a:moveTo>
                <a:lnTo>
                  <a:pt x="47243" y="1524"/>
                </a:lnTo>
                <a:lnTo>
                  <a:pt x="51815" y="3048"/>
                </a:lnTo>
                <a:lnTo>
                  <a:pt x="57912" y="12192"/>
                </a:lnTo>
                <a:lnTo>
                  <a:pt x="60959" y="21336"/>
                </a:lnTo>
                <a:lnTo>
                  <a:pt x="60959" y="36576"/>
                </a:lnTo>
                <a:lnTo>
                  <a:pt x="47243" y="56387"/>
                </a:lnTo>
                <a:lnTo>
                  <a:pt x="47243" y="59436"/>
                </a:lnTo>
                <a:lnTo>
                  <a:pt x="53339" y="57912"/>
                </a:lnTo>
                <a:lnTo>
                  <a:pt x="57912" y="53340"/>
                </a:lnTo>
                <a:lnTo>
                  <a:pt x="60959" y="48768"/>
                </a:lnTo>
                <a:lnTo>
                  <a:pt x="65531" y="42672"/>
                </a:lnTo>
                <a:lnTo>
                  <a:pt x="67056" y="36576"/>
                </a:lnTo>
                <a:lnTo>
                  <a:pt x="67056" y="21336"/>
                </a:lnTo>
                <a:lnTo>
                  <a:pt x="65531" y="15240"/>
                </a:lnTo>
                <a:lnTo>
                  <a:pt x="60959" y="10668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7310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6"/>
                </a:lnTo>
                <a:lnTo>
                  <a:pt x="18287" y="59436"/>
                </a:lnTo>
                <a:lnTo>
                  <a:pt x="18287" y="56387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3"/>
                </a:lnTo>
                <a:lnTo>
                  <a:pt x="6095" y="42672"/>
                </a:lnTo>
                <a:lnTo>
                  <a:pt x="4571" y="36576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08567" y="2392757"/>
            <a:ext cx="1762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90622" y="2455238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706783" y="2612685"/>
            <a:ext cx="265430" cy="81280"/>
          </a:xfrm>
          <a:custGeom>
            <a:avLst/>
            <a:gdLst/>
            <a:ahLst/>
            <a:cxnLst/>
            <a:rect l="l" t="t" r="r" b="b"/>
            <a:pathLst>
              <a:path w="265430" h="81280">
                <a:moveTo>
                  <a:pt x="239268" y="0"/>
                </a:moveTo>
                <a:lnTo>
                  <a:pt x="237744" y="3047"/>
                </a:lnTo>
                <a:lnTo>
                  <a:pt x="243840" y="4571"/>
                </a:lnTo>
                <a:lnTo>
                  <a:pt x="249936" y="9143"/>
                </a:lnTo>
                <a:lnTo>
                  <a:pt x="256032" y="21335"/>
                </a:lnTo>
                <a:lnTo>
                  <a:pt x="257556" y="30479"/>
                </a:lnTo>
                <a:lnTo>
                  <a:pt x="257556" y="50291"/>
                </a:lnTo>
                <a:lnTo>
                  <a:pt x="256032" y="57912"/>
                </a:lnTo>
                <a:lnTo>
                  <a:pt x="252984" y="64007"/>
                </a:lnTo>
                <a:lnTo>
                  <a:pt x="249936" y="71627"/>
                </a:lnTo>
                <a:lnTo>
                  <a:pt x="243840" y="76200"/>
                </a:lnTo>
                <a:lnTo>
                  <a:pt x="237744" y="77723"/>
                </a:lnTo>
                <a:lnTo>
                  <a:pt x="239268" y="80771"/>
                </a:lnTo>
                <a:lnTo>
                  <a:pt x="246888" y="79247"/>
                </a:lnTo>
                <a:lnTo>
                  <a:pt x="254508" y="74675"/>
                </a:lnTo>
                <a:lnTo>
                  <a:pt x="257556" y="67056"/>
                </a:lnTo>
                <a:lnTo>
                  <a:pt x="260675" y="61055"/>
                </a:lnTo>
                <a:lnTo>
                  <a:pt x="263080" y="54482"/>
                </a:lnTo>
                <a:lnTo>
                  <a:pt x="264628" y="47339"/>
                </a:lnTo>
                <a:lnTo>
                  <a:pt x="265176" y="39623"/>
                </a:lnTo>
                <a:lnTo>
                  <a:pt x="264628" y="32789"/>
                </a:lnTo>
                <a:lnTo>
                  <a:pt x="246888" y="1523"/>
                </a:lnTo>
                <a:lnTo>
                  <a:pt x="239268" y="0"/>
                </a:lnTo>
                <a:close/>
              </a:path>
              <a:path w="265430" h="81280">
                <a:moveTo>
                  <a:pt x="25908" y="0"/>
                </a:moveTo>
                <a:lnTo>
                  <a:pt x="309" y="32789"/>
                </a:lnTo>
                <a:lnTo>
                  <a:pt x="0" y="39623"/>
                </a:lnTo>
                <a:lnTo>
                  <a:pt x="309" y="47339"/>
                </a:lnTo>
                <a:lnTo>
                  <a:pt x="25908" y="80771"/>
                </a:lnTo>
                <a:lnTo>
                  <a:pt x="27432" y="77723"/>
                </a:lnTo>
                <a:lnTo>
                  <a:pt x="19812" y="76200"/>
                </a:lnTo>
                <a:lnTo>
                  <a:pt x="15240" y="71627"/>
                </a:lnTo>
                <a:lnTo>
                  <a:pt x="12192" y="64007"/>
                </a:lnTo>
                <a:lnTo>
                  <a:pt x="9143" y="57912"/>
                </a:lnTo>
                <a:lnTo>
                  <a:pt x="7620" y="50291"/>
                </a:lnTo>
                <a:lnTo>
                  <a:pt x="7620" y="30479"/>
                </a:lnTo>
                <a:lnTo>
                  <a:pt x="9143" y="21335"/>
                </a:lnTo>
                <a:lnTo>
                  <a:pt x="15240" y="9143"/>
                </a:lnTo>
                <a:lnTo>
                  <a:pt x="19812" y="4571"/>
                </a:lnTo>
                <a:lnTo>
                  <a:pt x="27432" y="3047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41507" y="2559345"/>
            <a:ext cx="1504315" cy="327660"/>
          </a:xfrm>
          <a:prstGeom prst="rect">
            <a:avLst/>
          </a:prstGeom>
          <a:solidFill>
            <a:srgbClr val="D0D8E8"/>
          </a:solidFill>
          <a:ln w="12191">
            <a:solidFill>
              <a:srgbClr val="FF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37490" indent="-170815">
              <a:lnSpc>
                <a:spcPct val="100000"/>
              </a:lnSpc>
              <a:spcBef>
                <a:spcPts val="235"/>
              </a:spcBef>
              <a:buFont typeface="Arial" panose="020B0604020202020204"/>
              <a:buAutoNum type="arabicPeriod" startAt="3"/>
              <a:tabLst>
                <a:tab pos="23812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速度更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1 −</a:t>
            </a:r>
            <a:r>
              <a:rPr sz="7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700" spc="1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37490" indent="-170815">
              <a:lnSpc>
                <a:spcPct val="100000"/>
              </a:lnSpc>
              <a:spcBef>
                <a:spcPts val="420"/>
              </a:spcBef>
              <a:buFont typeface="Arial" panose="020B0604020202020204"/>
              <a:buAutoNum type="arabicPeriod" startAt="3"/>
              <a:tabLst>
                <a:tab pos="23812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cv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8377" y="2897210"/>
            <a:ext cx="385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52890" y="32491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48" y="132933"/>
            <a:ext cx="3872229" cy="886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动量法</a:t>
            </a:r>
            <a:endParaRPr sz="195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138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目标：改进梯度下降算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存在的问题，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减少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荡，加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通往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进思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累加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史梯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信息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新梯度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80857" y="169463"/>
            <a:ext cx="1625600" cy="65532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为什么有效？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0000"/>
              </a:lnSpc>
              <a:spcBef>
                <a:spcPts val="5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累加过程中震荡方向相互抵消， 平坦方向得到加强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23164" y="1293273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39">
                <a:moveTo>
                  <a:pt x="0" y="0"/>
                </a:moveTo>
                <a:lnTo>
                  <a:pt x="2743200" y="0"/>
                </a:lnTo>
                <a:lnTo>
                  <a:pt x="2743200" y="1577340"/>
                </a:lnTo>
                <a:lnTo>
                  <a:pt x="0" y="1577340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0116" y="1284129"/>
            <a:ext cx="2749550" cy="18415"/>
          </a:xfrm>
          <a:custGeom>
            <a:avLst/>
            <a:gdLst/>
            <a:ahLst/>
            <a:cxnLst/>
            <a:rect l="l" t="t" r="r" b="b"/>
            <a:pathLst>
              <a:path w="2749550" h="18415">
                <a:moveTo>
                  <a:pt x="0" y="0"/>
                </a:moveTo>
                <a:lnTo>
                  <a:pt x="2749295" y="0"/>
                </a:lnTo>
                <a:lnTo>
                  <a:pt x="2749295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23163" y="1107345"/>
            <a:ext cx="0" cy="1766570"/>
          </a:xfrm>
          <a:custGeom>
            <a:avLst/>
            <a:gdLst/>
            <a:ahLst/>
            <a:cxnLst/>
            <a:rect l="l" t="t" r="r" b="b"/>
            <a:pathLst>
              <a:path h="1766570">
                <a:moveTo>
                  <a:pt x="0" y="0"/>
                </a:moveTo>
                <a:lnTo>
                  <a:pt x="0" y="176631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66363" y="1107345"/>
            <a:ext cx="0" cy="1766570"/>
          </a:xfrm>
          <a:custGeom>
            <a:avLst/>
            <a:gdLst/>
            <a:ahLst/>
            <a:cxnLst/>
            <a:rect l="l" t="t" r="r" b="b"/>
            <a:pathLst>
              <a:path h="1766570">
                <a:moveTo>
                  <a:pt x="0" y="0"/>
                </a:moveTo>
                <a:lnTo>
                  <a:pt x="0" y="176631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20115" y="1110393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20115" y="2870612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26211" y="1113441"/>
            <a:ext cx="2737485" cy="17081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52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20"/>
              </a:spcBef>
            </a:pP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小批量梯度下降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算法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09520" y="1855629"/>
            <a:ext cx="538480" cy="106680"/>
          </a:xfrm>
          <a:custGeom>
            <a:avLst/>
            <a:gdLst/>
            <a:ahLst/>
            <a:cxnLst/>
            <a:rect l="l" t="t" r="r" b="b"/>
            <a:pathLst>
              <a:path w="538479" h="106680">
                <a:moveTo>
                  <a:pt x="518159" y="0"/>
                </a:moveTo>
                <a:lnTo>
                  <a:pt x="509015" y="0"/>
                </a:lnTo>
                <a:lnTo>
                  <a:pt x="509015" y="3048"/>
                </a:lnTo>
                <a:lnTo>
                  <a:pt x="515111" y="3048"/>
                </a:lnTo>
                <a:lnTo>
                  <a:pt x="518159" y="4572"/>
                </a:lnTo>
                <a:lnTo>
                  <a:pt x="519683" y="7620"/>
                </a:lnTo>
                <a:lnTo>
                  <a:pt x="522731" y="10668"/>
                </a:lnTo>
                <a:lnTo>
                  <a:pt x="524255" y="15240"/>
                </a:lnTo>
                <a:lnTo>
                  <a:pt x="524255" y="24384"/>
                </a:lnTo>
                <a:lnTo>
                  <a:pt x="522731" y="28955"/>
                </a:lnTo>
                <a:lnTo>
                  <a:pt x="522731" y="45720"/>
                </a:lnTo>
                <a:lnTo>
                  <a:pt x="524255" y="48768"/>
                </a:lnTo>
                <a:lnTo>
                  <a:pt x="528827" y="53340"/>
                </a:lnTo>
                <a:lnTo>
                  <a:pt x="522731" y="59436"/>
                </a:lnTo>
                <a:lnTo>
                  <a:pt x="522731" y="77724"/>
                </a:lnTo>
                <a:lnTo>
                  <a:pt x="524255" y="80772"/>
                </a:lnTo>
                <a:lnTo>
                  <a:pt x="524255" y="91440"/>
                </a:lnTo>
                <a:lnTo>
                  <a:pt x="522731" y="96012"/>
                </a:lnTo>
                <a:lnTo>
                  <a:pt x="519683" y="99060"/>
                </a:lnTo>
                <a:lnTo>
                  <a:pt x="518159" y="102107"/>
                </a:lnTo>
                <a:lnTo>
                  <a:pt x="515111" y="103631"/>
                </a:lnTo>
                <a:lnTo>
                  <a:pt x="509015" y="103631"/>
                </a:lnTo>
                <a:lnTo>
                  <a:pt x="509015" y="106679"/>
                </a:lnTo>
                <a:lnTo>
                  <a:pt x="518159" y="106679"/>
                </a:lnTo>
                <a:lnTo>
                  <a:pt x="522731" y="103631"/>
                </a:lnTo>
                <a:lnTo>
                  <a:pt x="525779" y="100584"/>
                </a:lnTo>
                <a:lnTo>
                  <a:pt x="528827" y="96012"/>
                </a:lnTo>
                <a:lnTo>
                  <a:pt x="530351" y="89916"/>
                </a:lnTo>
                <a:lnTo>
                  <a:pt x="530351" y="71627"/>
                </a:lnTo>
                <a:lnTo>
                  <a:pt x="528827" y="67055"/>
                </a:lnTo>
                <a:lnTo>
                  <a:pt x="528827" y="60960"/>
                </a:lnTo>
                <a:lnTo>
                  <a:pt x="530351" y="59436"/>
                </a:lnTo>
                <a:lnTo>
                  <a:pt x="530351" y="57912"/>
                </a:lnTo>
                <a:lnTo>
                  <a:pt x="531876" y="56388"/>
                </a:lnTo>
                <a:lnTo>
                  <a:pt x="534924" y="54864"/>
                </a:lnTo>
                <a:lnTo>
                  <a:pt x="537972" y="54864"/>
                </a:lnTo>
                <a:lnTo>
                  <a:pt x="537972" y="51816"/>
                </a:lnTo>
                <a:lnTo>
                  <a:pt x="534924" y="51816"/>
                </a:lnTo>
                <a:lnTo>
                  <a:pt x="531876" y="50292"/>
                </a:lnTo>
                <a:lnTo>
                  <a:pt x="530351" y="48768"/>
                </a:lnTo>
                <a:lnTo>
                  <a:pt x="530351" y="47244"/>
                </a:lnTo>
                <a:lnTo>
                  <a:pt x="528827" y="45720"/>
                </a:lnTo>
                <a:lnTo>
                  <a:pt x="528827" y="38100"/>
                </a:lnTo>
                <a:lnTo>
                  <a:pt x="530351" y="35051"/>
                </a:lnTo>
                <a:lnTo>
                  <a:pt x="530351" y="15240"/>
                </a:lnTo>
                <a:lnTo>
                  <a:pt x="528827" y="9144"/>
                </a:lnTo>
                <a:lnTo>
                  <a:pt x="525779" y="6096"/>
                </a:lnTo>
                <a:lnTo>
                  <a:pt x="522731" y="1524"/>
                </a:lnTo>
                <a:lnTo>
                  <a:pt x="518159" y="0"/>
                </a:lnTo>
                <a:close/>
              </a:path>
              <a:path w="538479" h="106680">
                <a:moveTo>
                  <a:pt x="28955" y="0"/>
                </a:moveTo>
                <a:lnTo>
                  <a:pt x="19812" y="0"/>
                </a:lnTo>
                <a:lnTo>
                  <a:pt x="15239" y="1524"/>
                </a:lnTo>
                <a:lnTo>
                  <a:pt x="12191" y="6096"/>
                </a:lnTo>
                <a:lnTo>
                  <a:pt x="9143" y="9144"/>
                </a:lnTo>
                <a:lnTo>
                  <a:pt x="7619" y="15240"/>
                </a:lnTo>
                <a:lnTo>
                  <a:pt x="7619" y="35051"/>
                </a:lnTo>
                <a:lnTo>
                  <a:pt x="9143" y="38100"/>
                </a:lnTo>
                <a:lnTo>
                  <a:pt x="9143" y="45720"/>
                </a:lnTo>
                <a:lnTo>
                  <a:pt x="7619" y="47244"/>
                </a:lnTo>
                <a:lnTo>
                  <a:pt x="7619" y="48768"/>
                </a:lnTo>
                <a:lnTo>
                  <a:pt x="6095" y="50292"/>
                </a:lnTo>
                <a:lnTo>
                  <a:pt x="3047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7" y="54864"/>
                </a:lnTo>
                <a:lnTo>
                  <a:pt x="6095" y="56388"/>
                </a:lnTo>
                <a:lnTo>
                  <a:pt x="7619" y="57912"/>
                </a:lnTo>
                <a:lnTo>
                  <a:pt x="7619" y="59436"/>
                </a:lnTo>
                <a:lnTo>
                  <a:pt x="9143" y="60960"/>
                </a:lnTo>
                <a:lnTo>
                  <a:pt x="9143" y="67055"/>
                </a:lnTo>
                <a:lnTo>
                  <a:pt x="7619" y="71627"/>
                </a:lnTo>
                <a:lnTo>
                  <a:pt x="7619" y="89916"/>
                </a:lnTo>
                <a:lnTo>
                  <a:pt x="9143" y="96012"/>
                </a:lnTo>
                <a:lnTo>
                  <a:pt x="12191" y="100584"/>
                </a:lnTo>
                <a:lnTo>
                  <a:pt x="15239" y="103631"/>
                </a:lnTo>
                <a:lnTo>
                  <a:pt x="19812" y="106679"/>
                </a:lnTo>
                <a:lnTo>
                  <a:pt x="28955" y="106679"/>
                </a:lnTo>
                <a:lnTo>
                  <a:pt x="28955" y="103631"/>
                </a:lnTo>
                <a:lnTo>
                  <a:pt x="22859" y="103631"/>
                </a:lnTo>
                <a:lnTo>
                  <a:pt x="19812" y="102107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59436"/>
                </a:lnTo>
                <a:lnTo>
                  <a:pt x="9143" y="53340"/>
                </a:lnTo>
                <a:lnTo>
                  <a:pt x="13715" y="48768"/>
                </a:lnTo>
                <a:lnTo>
                  <a:pt x="15239" y="45720"/>
                </a:lnTo>
                <a:lnTo>
                  <a:pt x="15239" y="28955"/>
                </a:lnTo>
                <a:lnTo>
                  <a:pt x="13715" y="24384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2859" y="3048"/>
                </a:lnTo>
                <a:lnTo>
                  <a:pt x="28955" y="3048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97911" y="1854105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1524"/>
                </a:lnTo>
                <a:lnTo>
                  <a:pt x="64008" y="3048"/>
                </a:lnTo>
                <a:lnTo>
                  <a:pt x="67055" y="6096"/>
                </a:lnTo>
                <a:lnTo>
                  <a:pt x="70103" y="12192"/>
                </a:lnTo>
                <a:lnTo>
                  <a:pt x="73151" y="21336"/>
                </a:lnTo>
                <a:lnTo>
                  <a:pt x="73151" y="36575"/>
                </a:lnTo>
                <a:lnTo>
                  <a:pt x="59436" y="56388"/>
                </a:lnTo>
                <a:lnTo>
                  <a:pt x="59436" y="59436"/>
                </a:lnTo>
                <a:lnTo>
                  <a:pt x="65532" y="57912"/>
                </a:lnTo>
                <a:lnTo>
                  <a:pt x="70103" y="53340"/>
                </a:lnTo>
                <a:lnTo>
                  <a:pt x="73151" y="48768"/>
                </a:lnTo>
                <a:lnTo>
                  <a:pt x="79248" y="36575"/>
                </a:lnTo>
                <a:lnTo>
                  <a:pt x="79248" y="21336"/>
                </a:lnTo>
                <a:lnTo>
                  <a:pt x="76200" y="15240"/>
                </a:lnTo>
                <a:lnTo>
                  <a:pt x="73151" y="10668"/>
                </a:lnTo>
                <a:lnTo>
                  <a:pt x="70103" y="4572"/>
                </a:lnTo>
                <a:lnTo>
                  <a:pt x="65532" y="1524"/>
                </a:lnTo>
                <a:lnTo>
                  <a:pt x="59436" y="0"/>
                </a:lnTo>
                <a:close/>
              </a:path>
              <a:path w="79375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02711" y="1854105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19" y="0"/>
                </a:moveTo>
                <a:lnTo>
                  <a:pt x="83819" y="1524"/>
                </a:lnTo>
                <a:lnTo>
                  <a:pt x="88391" y="3048"/>
                </a:lnTo>
                <a:lnTo>
                  <a:pt x="91439" y="6096"/>
                </a:lnTo>
                <a:lnTo>
                  <a:pt x="94487" y="12192"/>
                </a:lnTo>
                <a:lnTo>
                  <a:pt x="97536" y="21336"/>
                </a:lnTo>
                <a:lnTo>
                  <a:pt x="97536" y="36575"/>
                </a:lnTo>
                <a:lnTo>
                  <a:pt x="83819" y="56388"/>
                </a:lnTo>
                <a:lnTo>
                  <a:pt x="83819" y="59436"/>
                </a:lnTo>
                <a:lnTo>
                  <a:pt x="89915" y="57912"/>
                </a:lnTo>
                <a:lnTo>
                  <a:pt x="94487" y="53340"/>
                </a:lnTo>
                <a:lnTo>
                  <a:pt x="97536" y="48768"/>
                </a:lnTo>
                <a:lnTo>
                  <a:pt x="103632" y="36575"/>
                </a:lnTo>
                <a:lnTo>
                  <a:pt x="103632" y="21336"/>
                </a:lnTo>
                <a:lnTo>
                  <a:pt x="100584" y="15240"/>
                </a:lnTo>
                <a:lnTo>
                  <a:pt x="97536" y="10668"/>
                </a:lnTo>
                <a:lnTo>
                  <a:pt x="94487" y="4572"/>
                </a:lnTo>
                <a:lnTo>
                  <a:pt x="89915" y="1524"/>
                </a:lnTo>
                <a:lnTo>
                  <a:pt x="83819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44828" y="2038509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7492" y="0"/>
                </a:lnTo>
                <a:lnTo>
                  <a:pt x="507492" y="3048"/>
                </a:lnTo>
                <a:lnTo>
                  <a:pt x="513588" y="3048"/>
                </a:lnTo>
                <a:lnTo>
                  <a:pt x="516636" y="4572"/>
                </a:lnTo>
                <a:lnTo>
                  <a:pt x="518160" y="7620"/>
                </a:lnTo>
                <a:lnTo>
                  <a:pt x="521208" y="10668"/>
                </a:lnTo>
                <a:lnTo>
                  <a:pt x="522732" y="15240"/>
                </a:lnTo>
                <a:lnTo>
                  <a:pt x="522732" y="24384"/>
                </a:lnTo>
                <a:lnTo>
                  <a:pt x="521208" y="28956"/>
                </a:lnTo>
                <a:lnTo>
                  <a:pt x="521208" y="45720"/>
                </a:lnTo>
                <a:lnTo>
                  <a:pt x="522732" y="48768"/>
                </a:lnTo>
                <a:lnTo>
                  <a:pt x="527304" y="53340"/>
                </a:lnTo>
                <a:lnTo>
                  <a:pt x="521208" y="59436"/>
                </a:lnTo>
                <a:lnTo>
                  <a:pt x="521208" y="77724"/>
                </a:lnTo>
                <a:lnTo>
                  <a:pt x="522732" y="80772"/>
                </a:lnTo>
                <a:lnTo>
                  <a:pt x="522732" y="91440"/>
                </a:lnTo>
                <a:lnTo>
                  <a:pt x="521208" y="96012"/>
                </a:lnTo>
                <a:lnTo>
                  <a:pt x="518160" y="99060"/>
                </a:lnTo>
                <a:lnTo>
                  <a:pt x="516636" y="102108"/>
                </a:lnTo>
                <a:lnTo>
                  <a:pt x="513588" y="103632"/>
                </a:lnTo>
                <a:lnTo>
                  <a:pt x="507492" y="103632"/>
                </a:lnTo>
                <a:lnTo>
                  <a:pt x="507492" y="106680"/>
                </a:lnTo>
                <a:lnTo>
                  <a:pt x="516636" y="106680"/>
                </a:lnTo>
                <a:lnTo>
                  <a:pt x="521208" y="103632"/>
                </a:lnTo>
                <a:lnTo>
                  <a:pt x="524256" y="100584"/>
                </a:lnTo>
                <a:lnTo>
                  <a:pt x="527304" y="96012"/>
                </a:lnTo>
                <a:lnTo>
                  <a:pt x="528827" y="89916"/>
                </a:lnTo>
                <a:lnTo>
                  <a:pt x="528827" y="71627"/>
                </a:lnTo>
                <a:lnTo>
                  <a:pt x="527304" y="67056"/>
                </a:lnTo>
                <a:lnTo>
                  <a:pt x="527304" y="60960"/>
                </a:lnTo>
                <a:lnTo>
                  <a:pt x="528827" y="59436"/>
                </a:lnTo>
                <a:lnTo>
                  <a:pt x="528827" y="57912"/>
                </a:lnTo>
                <a:lnTo>
                  <a:pt x="530351" y="56388"/>
                </a:lnTo>
                <a:lnTo>
                  <a:pt x="533400" y="54864"/>
                </a:lnTo>
                <a:lnTo>
                  <a:pt x="536448" y="54864"/>
                </a:lnTo>
                <a:lnTo>
                  <a:pt x="536448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28827" y="48768"/>
                </a:lnTo>
                <a:lnTo>
                  <a:pt x="528827" y="47244"/>
                </a:lnTo>
                <a:lnTo>
                  <a:pt x="527304" y="45720"/>
                </a:lnTo>
                <a:lnTo>
                  <a:pt x="527304" y="38100"/>
                </a:lnTo>
                <a:lnTo>
                  <a:pt x="528827" y="35051"/>
                </a:lnTo>
                <a:lnTo>
                  <a:pt x="528827" y="15240"/>
                </a:lnTo>
                <a:lnTo>
                  <a:pt x="527304" y="9144"/>
                </a:lnTo>
                <a:lnTo>
                  <a:pt x="524256" y="6096"/>
                </a:lnTo>
                <a:lnTo>
                  <a:pt x="521208" y="1524"/>
                </a:lnTo>
                <a:lnTo>
                  <a:pt x="516636" y="0"/>
                </a:lnTo>
                <a:close/>
              </a:path>
              <a:path w="536575" h="106680">
                <a:moveTo>
                  <a:pt x="28956" y="0"/>
                </a:moveTo>
                <a:lnTo>
                  <a:pt x="19812" y="0"/>
                </a:lnTo>
                <a:lnTo>
                  <a:pt x="15239" y="1524"/>
                </a:lnTo>
                <a:lnTo>
                  <a:pt x="12192" y="6096"/>
                </a:lnTo>
                <a:lnTo>
                  <a:pt x="9144" y="9144"/>
                </a:lnTo>
                <a:lnTo>
                  <a:pt x="7620" y="15240"/>
                </a:lnTo>
                <a:lnTo>
                  <a:pt x="7620" y="35051"/>
                </a:lnTo>
                <a:lnTo>
                  <a:pt x="9144" y="38100"/>
                </a:lnTo>
                <a:lnTo>
                  <a:pt x="9144" y="45720"/>
                </a:lnTo>
                <a:lnTo>
                  <a:pt x="7620" y="47244"/>
                </a:lnTo>
                <a:lnTo>
                  <a:pt x="7620" y="48768"/>
                </a:lnTo>
                <a:lnTo>
                  <a:pt x="6096" y="50292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6096" y="56388"/>
                </a:lnTo>
                <a:lnTo>
                  <a:pt x="7620" y="57912"/>
                </a:lnTo>
                <a:lnTo>
                  <a:pt x="7620" y="59436"/>
                </a:lnTo>
                <a:lnTo>
                  <a:pt x="9144" y="60960"/>
                </a:lnTo>
                <a:lnTo>
                  <a:pt x="9144" y="67056"/>
                </a:lnTo>
                <a:lnTo>
                  <a:pt x="7620" y="71627"/>
                </a:lnTo>
                <a:lnTo>
                  <a:pt x="7620" y="89916"/>
                </a:lnTo>
                <a:lnTo>
                  <a:pt x="9144" y="96012"/>
                </a:lnTo>
                <a:lnTo>
                  <a:pt x="12192" y="100584"/>
                </a:lnTo>
                <a:lnTo>
                  <a:pt x="15239" y="103632"/>
                </a:lnTo>
                <a:lnTo>
                  <a:pt x="19812" y="106680"/>
                </a:lnTo>
                <a:lnTo>
                  <a:pt x="28956" y="106680"/>
                </a:lnTo>
                <a:lnTo>
                  <a:pt x="28956" y="103632"/>
                </a:lnTo>
                <a:lnTo>
                  <a:pt x="22860" y="103632"/>
                </a:lnTo>
                <a:lnTo>
                  <a:pt x="19812" y="102108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6" y="91440"/>
                </a:lnTo>
                <a:lnTo>
                  <a:pt x="13716" y="80772"/>
                </a:lnTo>
                <a:lnTo>
                  <a:pt x="15239" y="77724"/>
                </a:lnTo>
                <a:lnTo>
                  <a:pt x="15239" y="59436"/>
                </a:lnTo>
                <a:lnTo>
                  <a:pt x="9144" y="53340"/>
                </a:lnTo>
                <a:lnTo>
                  <a:pt x="13716" y="48768"/>
                </a:lnTo>
                <a:lnTo>
                  <a:pt x="15239" y="45720"/>
                </a:lnTo>
                <a:lnTo>
                  <a:pt x="15239" y="28956"/>
                </a:lnTo>
                <a:lnTo>
                  <a:pt x="13716" y="24384"/>
                </a:lnTo>
                <a:lnTo>
                  <a:pt x="13716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2860" y="3048"/>
                </a:lnTo>
                <a:lnTo>
                  <a:pt x="28956" y="3048"/>
                </a:lnTo>
                <a:lnTo>
                  <a:pt x="289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28647" y="2036985"/>
            <a:ext cx="81280" cy="59690"/>
          </a:xfrm>
          <a:custGeom>
            <a:avLst/>
            <a:gdLst/>
            <a:ahLst/>
            <a:cxnLst/>
            <a:rect l="l" t="t" r="r" b="b"/>
            <a:pathLst>
              <a:path w="81279" h="59689">
                <a:moveTo>
                  <a:pt x="60960" y="0"/>
                </a:moveTo>
                <a:lnTo>
                  <a:pt x="60960" y="1524"/>
                </a:lnTo>
                <a:lnTo>
                  <a:pt x="65531" y="3048"/>
                </a:lnTo>
                <a:lnTo>
                  <a:pt x="68579" y="6096"/>
                </a:lnTo>
                <a:lnTo>
                  <a:pt x="71627" y="12192"/>
                </a:lnTo>
                <a:lnTo>
                  <a:pt x="74675" y="21336"/>
                </a:lnTo>
                <a:lnTo>
                  <a:pt x="74675" y="36575"/>
                </a:lnTo>
                <a:lnTo>
                  <a:pt x="60960" y="56388"/>
                </a:lnTo>
                <a:lnTo>
                  <a:pt x="60960" y="59436"/>
                </a:lnTo>
                <a:lnTo>
                  <a:pt x="67055" y="57912"/>
                </a:lnTo>
                <a:lnTo>
                  <a:pt x="71627" y="53340"/>
                </a:lnTo>
                <a:lnTo>
                  <a:pt x="74675" y="48768"/>
                </a:lnTo>
                <a:lnTo>
                  <a:pt x="80772" y="36575"/>
                </a:lnTo>
                <a:lnTo>
                  <a:pt x="80772" y="21336"/>
                </a:lnTo>
                <a:lnTo>
                  <a:pt x="77724" y="15240"/>
                </a:lnTo>
                <a:lnTo>
                  <a:pt x="74675" y="10668"/>
                </a:lnTo>
                <a:lnTo>
                  <a:pt x="71627" y="4572"/>
                </a:lnTo>
                <a:lnTo>
                  <a:pt x="67055" y="1524"/>
                </a:lnTo>
                <a:lnTo>
                  <a:pt x="60960" y="0"/>
                </a:lnTo>
                <a:close/>
              </a:path>
              <a:path w="81279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4"/>
                </a:lnTo>
                <a:lnTo>
                  <a:pt x="7619" y="42672"/>
                </a:lnTo>
                <a:lnTo>
                  <a:pt x="6096" y="36575"/>
                </a:lnTo>
                <a:lnTo>
                  <a:pt x="6096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34971" y="2036985"/>
            <a:ext cx="105410" cy="59690"/>
          </a:xfrm>
          <a:custGeom>
            <a:avLst/>
            <a:gdLst/>
            <a:ahLst/>
            <a:cxnLst/>
            <a:rect l="l" t="t" r="r" b="b"/>
            <a:pathLst>
              <a:path w="105410" h="59689">
                <a:moveTo>
                  <a:pt x="85343" y="0"/>
                </a:moveTo>
                <a:lnTo>
                  <a:pt x="85343" y="1524"/>
                </a:lnTo>
                <a:lnTo>
                  <a:pt x="89915" y="3048"/>
                </a:lnTo>
                <a:lnTo>
                  <a:pt x="92963" y="6096"/>
                </a:lnTo>
                <a:lnTo>
                  <a:pt x="96012" y="12192"/>
                </a:lnTo>
                <a:lnTo>
                  <a:pt x="99060" y="21336"/>
                </a:lnTo>
                <a:lnTo>
                  <a:pt x="99060" y="36575"/>
                </a:lnTo>
                <a:lnTo>
                  <a:pt x="85343" y="56388"/>
                </a:lnTo>
                <a:lnTo>
                  <a:pt x="85343" y="59436"/>
                </a:lnTo>
                <a:lnTo>
                  <a:pt x="91439" y="57912"/>
                </a:lnTo>
                <a:lnTo>
                  <a:pt x="96012" y="53340"/>
                </a:lnTo>
                <a:lnTo>
                  <a:pt x="99060" y="48768"/>
                </a:lnTo>
                <a:lnTo>
                  <a:pt x="105155" y="36575"/>
                </a:lnTo>
                <a:lnTo>
                  <a:pt x="105155" y="21336"/>
                </a:lnTo>
                <a:lnTo>
                  <a:pt x="102107" y="15240"/>
                </a:lnTo>
                <a:lnTo>
                  <a:pt x="99060" y="10668"/>
                </a:lnTo>
                <a:lnTo>
                  <a:pt x="96012" y="4572"/>
                </a:lnTo>
                <a:lnTo>
                  <a:pt x="91439" y="1524"/>
                </a:lnTo>
                <a:lnTo>
                  <a:pt x="85343" y="0"/>
                </a:lnTo>
                <a:close/>
              </a:path>
              <a:path w="105410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5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5"/>
                </a:lnTo>
                <a:lnTo>
                  <a:pt x="6095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67338" y="1281554"/>
            <a:ext cx="2527935" cy="8655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15" dirty="0">
                <a:latin typeface="Cambria Math" panose="02040503050406030204"/>
                <a:cs typeface="Cambria Math" panose="02040503050406030204"/>
              </a:rPr>
              <a:t>c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75764" y="2245773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1524"/>
                </a:lnTo>
                <a:lnTo>
                  <a:pt x="53339" y="3048"/>
                </a:lnTo>
                <a:lnTo>
                  <a:pt x="56387" y="6096"/>
                </a:lnTo>
                <a:lnTo>
                  <a:pt x="59436" y="12192"/>
                </a:lnTo>
                <a:lnTo>
                  <a:pt x="62484" y="21335"/>
                </a:lnTo>
                <a:lnTo>
                  <a:pt x="62484" y="36575"/>
                </a:lnTo>
                <a:lnTo>
                  <a:pt x="48768" y="56387"/>
                </a:lnTo>
                <a:lnTo>
                  <a:pt x="48768" y="59435"/>
                </a:lnTo>
                <a:lnTo>
                  <a:pt x="54863" y="57911"/>
                </a:lnTo>
                <a:lnTo>
                  <a:pt x="59436" y="53340"/>
                </a:lnTo>
                <a:lnTo>
                  <a:pt x="62484" y="48768"/>
                </a:lnTo>
                <a:lnTo>
                  <a:pt x="68580" y="36575"/>
                </a:lnTo>
                <a:lnTo>
                  <a:pt x="68580" y="21335"/>
                </a:lnTo>
                <a:lnTo>
                  <a:pt x="65532" y="15240"/>
                </a:lnTo>
                <a:lnTo>
                  <a:pt x="62484" y="10668"/>
                </a:lnTo>
                <a:lnTo>
                  <a:pt x="59436" y="4572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5"/>
                </a:lnTo>
                <a:lnTo>
                  <a:pt x="0" y="36575"/>
                </a:lnTo>
                <a:lnTo>
                  <a:pt x="6096" y="48768"/>
                </a:lnTo>
                <a:lnTo>
                  <a:pt x="9144" y="53340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1335"/>
                </a:lnTo>
                <a:lnTo>
                  <a:pt x="9144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68371" y="2245773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7" y="0"/>
                </a:moveTo>
                <a:lnTo>
                  <a:pt x="48767" y="1524"/>
                </a:lnTo>
                <a:lnTo>
                  <a:pt x="53339" y="3048"/>
                </a:lnTo>
                <a:lnTo>
                  <a:pt x="56387" y="6096"/>
                </a:lnTo>
                <a:lnTo>
                  <a:pt x="59436" y="12192"/>
                </a:lnTo>
                <a:lnTo>
                  <a:pt x="62483" y="21335"/>
                </a:lnTo>
                <a:lnTo>
                  <a:pt x="62483" y="36575"/>
                </a:lnTo>
                <a:lnTo>
                  <a:pt x="48767" y="56387"/>
                </a:lnTo>
                <a:lnTo>
                  <a:pt x="48767" y="59435"/>
                </a:lnTo>
                <a:lnTo>
                  <a:pt x="54863" y="57911"/>
                </a:lnTo>
                <a:lnTo>
                  <a:pt x="59436" y="53340"/>
                </a:lnTo>
                <a:lnTo>
                  <a:pt x="62483" y="48768"/>
                </a:lnTo>
                <a:lnTo>
                  <a:pt x="68579" y="36575"/>
                </a:lnTo>
                <a:lnTo>
                  <a:pt x="68579" y="21335"/>
                </a:lnTo>
                <a:lnTo>
                  <a:pt x="65531" y="15240"/>
                </a:lnTo>
                <a:lnTo>
                  <a:pt x="62483" y="10668"/>
                </a:lnTo>
                <a:lnTo>
                  <a:pt x="59436" y="4572"/>
                </a:lnTo>
                <a:lnTo>
                  <a:pt x="54863" y="1524"/>
                </a:lnTo>
                <a:lnTo>
                  <a:pt x="48767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5" y="10668"/>
                </a:lnTo>
                <a:lnTo>
                  <a:pt x="3048" y="15240"/>
                </a:lnTo>
                <a:lnTo>
                  <a:pt x="0" y="21335"/>
                </a:lnTo>
                <a:lnTo>
                  <a:pt x="0" y="36575"/>
                </a:lnTo>
                <a:lnTo>
                  <a:pt x="6095" y="48768"/>
                </a:lnTo>
                <a:lnTo>
                  <a:pt x="9143" y="53340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6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1335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636198" y="2223901"/>
            <a:ext cx="1762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1050" i="1" u="sng" spc="187" baseline="32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u="sng" spc="232" baseline="44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50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18220" y="2286412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95920" y="2266635"/>
            <a:ext cx="1199515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7630" algn="r"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187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139700">
              <a:lnSpc>
                <a:spcPct val="100000"/>
              </a:lnSpc>
              <a:spcBef>
                <a:spcPts val="51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3.</a:t>
            </a:r>
            <a:r>
              <a:rPr sz="700" spc="1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2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cg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5560" y="1296321"/>
            <a:ext cx="2787650" cy="1897380"/>
          </a:xfrm>
          <a:custGeom>
            <a:avLst/>
            <a:gdLst/>
            <a:ahLst/>
            <a:cxnLst/>
            <a:rect l="l" t="t" r="r" b="b"/>
            <a:pathLst>
              <a:path w="2787650" h="1897380">
                <a:moveTo>
                  <a:pt x="0" y="0"/>
                </a:moveTo>
                <a:lnTo>
                  <a:pt x="2787395" y="0"/>
                </a:lnTo>
                <a:lnTo>
                  <a:pt x="2787395" y="1897379"/>
                </a:lnTo>
                <a:lnTo>
                  <a:pt x="0" y="1897379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2512" y="1287177"/>
            <a:ext cx="2794000" cy="18415"/>
          </a:xfrm>
          <a:custGeom>
            <a:avLst/>
            <a:gdLst/>
            <a:ahLst/>
            <a:cxnLst/>
            <a:rect l="l" t="t" r="r" b="b"/>
            <a:pathLst>
              <a:path w="2794000" h="18415">
                <a:moveTo>
                  <a:pt x="0" y="0"/>
                </a:moveTo>
                <a:lnTo>
                  <a:pt x="2793491" y="0"/>
                </a:lnTo>
                <a:lnTo>
                  <a:pt x="2793491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5559" y="1110393"/>
            <a:ext cx="0" cy="2086610"/>
          </a:xfrm>
          <a:custGeom>
            <a:avLst/>
            <a:gdLst/>
            <a:ahLst/>
            <a:cxnLst/>
            <a:rect l="l" t="t" r="r" b="b"/>
            <a:pathLst>
              <a:path h="2086610">
                <a:moveTo>
                  <a:pt x="0" y="0"/>
                </a:moveTo>
                <a:lnTo>
                  <a:pt x="0" y="208635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82956" y="1110393"/>
            <a:ext cx="0" cy="2086610"/>
          </a:xfrm>
          <a:custGeom>
            <a:avLst/>
            <a:gdLst/>
            <a:ahLst/>
            <a:cxnLst/>
            <a:rect l="l" t="t" r="r" b="b"/>
            <a:pathLst>
              <a:path h="2086610">
                <a:moveTo>
                  <a:pt x="0" y="0"/>
                </a:moveTo>
                <a:lnTo>
                  <a:pt x="0" y="208635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2511" y="1113441"/>
            <a:ext cx="2794000" cy="0"/>
          </a:xfrm>
          <a:custGeom>
            <a:avLst/>
            <a:gdLst/>
            <a:ahLst/>
            <a:cxnLst/>
            <a:rect l="l" t="t" r="r" b="b"/>
            <a:pathLst>
              <a:path w="2794000">
                <a:moveTo>
                  <a:pt x="0" y="0"/>
                </a:moveTo>
                <a:lnTo>
                  <a:pt x="279349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92511" y="3193700"/>
            <a:ext cx="2794000" cy="0"/>
          </a:xfrm>
          <a:custGeom>
            <a:avLst/>
            <a:gdLst/>
            <a:ahLst/>
            <a:cxnLst/>
            <a:rect l="l" t="t" r="r" b="b"/>
            <a:pathLst>
              <a:path w="2794000">
                <a:moveTo>
                  <a:pt x="0" y="0"/>
                </a:moveTo>
                <a:lnTo>
                  <a:pt x="279349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98608" y="1116489"/>
            <a:ext cx="2781300" cy="17081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52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20"/>
              </a:spcBef>
            </a:pP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使用动量的小批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梯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度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降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383439" y="2018697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9015" y="0"/>
                </a:lnTo>
                <a:lnTo>
                  <a:pt x="509015" y="3048"/>
                </a:lnTo>
                <a:lnTo>
                  <a:pt x="513588" y="3048"/>
                </a:lnTo>
                <a:lnTo>
                  <a:pt x="516636" y="4572"/>
                </a:lnTo>
                <a:lnTo>
                  <a:pt x="518160" y="7620"/>
                </a:lnTo>
                <a:lnTo>
                  <a:pt x="521208" y="10668"/>
                </a:lnTo>
                <a:lnTo>
                  <a:pt x="522732" y="15239"/>
                </a:lnTo>
                <a:lnTo>
                  <a:pt x="522732" y="28955"/>
                </a:lnTo>
                <a:lnTo>
                  <a:pt x="521208" y="32003"/>
                </a:lnTo>
                <a:lnTo>
                  <a:pt x="521208" y="45720"/>
                </a:lnTo>
                <a:lnTo>
                  <a:pt x="522732" y="48768"/>
                </a:lnTo>
                <a:lnTo>
                  <a:pt x="527304" y="53339"/>
                </a:lnTo>
                <a:lnTo>
                  <a:pt x="521208" y="59435"/>
                </a:lnTo>
                <a:lnTo>
                  <a:pt x="521208" y="73151"/>
                </a:lnTo>
                <a:lnTo>
                  <a:pt x="522732" y="77724"/>
                </a:lnTo>
                <a:lnTo>
                  <a:pt x="522732" y="91439"/>
                </a:lnTo>
                <a:lnTo>
                  <a:pt x="521208" y="96011"/>
                </a:lnTo>
                <a:lnTo>
                  <a:pt x="518160" y="99059"/>
                </a:lnTo>
                <a:lnTo>
                  <a:pt x="516636" y="102107"/>
                </a:lnTo>
                <a:lnTo>
                  <a:pt x="513588" y="103631"/>
                </a:lnTo>
                <a:lnTo>
                  <a:pt x="509015" y="103631"/>
                </a:lnTo>
                <a:lnTo>
                  <a:pt x="509015" y="106679"/>
                </a:lnTo>
                <a:lnTo>
                  <a:pt x="516636" y="106679"/>
                </a:lnTo>
                <a:lnTo>
                  <a:pt x="521208" y="103631"/>
                </a:lnTo>
                <a:lnTo>
                  <a:pt x="524256" y="100583"/>
                </a:lnTo>
                <a:lnTo>
                  <a:pt x="527304" y="96011"/>
                </a:lnTo>
                <a:lnTo>
                  <a:pt x="530351" y="89916"/>
                </a:lnTo>
                <a:lnTo>
                  <a:pt x="530351" y="79248"/>
                </a:lnTo>
                <a:lnTo>
                  <a:pt x="528827" y="74675"/>
                </a:lnTo>
                <a:lnTo>
                  <a:pt x="528827" y="71627"/>
                </a:lnTo>
                <a:lnTo>
                  <a:pt x="527304" y="67055"/>
                </a:lnTo>
                <a:lnTo>
                  <a:pt x="527304" y="60959"/>
                </a:lnTo>
                <a:lnTo>
                  <a:pt x="530351" y="57911"/>
                </a:lnTo>
                <a:lnTo>
                  <a:pt x="530351" y="56387"/>
                </a:lnTo>
                <a:lnTo>
                  <a:pt x="533400" y="54863"/>
                </a:lnTo>
                <a:lnTo>
                  <a:pt x="536448" y="54863"/>
                </a:lnTo>
                <a:lnTo>
                  <a:pt x="536448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30351" y="48768"/>
                </a:lnTo>
                <a:lnTo>
                  <a:pt x="527304" y="45720"/>
                </a:lnTo>
                <a:lnTo>
                  <a:pt x="527304" y="38100"/>
                </a:lnTo>
                <a:lnTo>
                  <a:pt x="528827" y="35051"/>
                </a:lnTo>
                <a:lnTo>
                  <a:pt x="528827" y="30479"/>
                </a:lnTo>
                <a:lnTo>
                  <a:pt x="530351" y="27431"/>
                </a:lnTo>
                <a:lnTo>
                  <a:pt x="530351" y="15239"/>
                </a:lnTo>
                <a:lnTo>
                  <a:pt x="527304" y="9144"/>
                </a:lnTo>
                <a:lnTo>
                  <a:pt x="524256" y="6096"/>
                </a:lnTo>
                <a:lnTo>
                  <a:pt x="521208" y="1524"/>
                </a:lnTo>
                <a:lnTo>
                  <a:pt x="516636" y="0"/>
                </a:lnTo>
                <a:close/>
              </a:path>
              <a:path w="536575" h="106680">
                <a:moveTo>
                  <a:pt x="27432" y="0"/>
                </a:moveTo>
                <a:lnTo>
                  <a:pt x="18287" y="0"/>
                </a:lnTo>
                <a:lnTo>
                  <a:pt x="13716" y="1524"/>
                </a:lnTo>
                <a:lnTo>
                  <a:pt x="10668" y="6096"/>
                </a:lnTo>
                <a:lnTo>
                  <a:pt x="7620" y="9144"/>
                </a:lnTo>
                <a:lnTo>
                  <a:pt x="6096" y="15239"/>
                </a:lnTo>
                <a:lnTo>
                  <a:pt x="6096" y="35051"/>
                </a:lnTo>
                <a:lnTo>
                  <a:pt x="7620" y="38100"/>
                </a:lnTo>
                <a:lnTo>
                  <a:pt x="7620" y="47244"/>
                </a:lnTo>
                <a:lnTo>
                  <a:pt x="4572" y="50292"/>
                </a:lnTo>
                <a:lnTo>
                  <a:pt x="1524" y="51816"/>
                </a:lnTo>
                <a:lnTo>
                  <a:pt x="0" y="51816"/>
                </a:lnTo>
                <a:lnTo>
                  <a:pt x="0" y="54863"/>
                </a:lnTo>
                <a:lnTo>
                  <a:pt x="1524" y="54863"/>
                </a:lnTo>
                <a:lnTo>
                  <a:pt x="4572" y="56387"/>
                </a:lnTo>
                <a:lnTo>
                  <a:pt x="7620" y="59435"/>
                </a:lnTo>
                <a:lnTo>
                  <a:pt x="7620" y="67055"/>
                </a:lnTo>
                <a:lnTo>
                  <a:pt x="6096" y="71627"/>
                </a:lnTo>
                <a:lnTo>
                  <a:pt x="6096" y="89916"/>
                </a:lnTo>
                <a:lnTo>
                  <a:pt x="7620" y="96011"/>
                </a:lnTo>
                <a:lnTo>
                  <a:pt x="10668" y="100583"/>
                </a:lnTo>
                <a:lnTo>
                  <a:pt x="13716" y="103631"/>
                </a:lnTo>
                <a:lnTo>
                  <a:pt x="18287" y="106679"/>
                </a:lnTo>
                <a:lnTo>
                  <a:pt x="27432" y="106679"/>
                </a:lnTo>
                <a:lnTo>
                  <a:pt x="27432" y="103631"/>
                </a:lnTo>
                <a:lnTo>
                  <a:pt x="21336" y="103631"/>
                </a:lnTo>
                <a:lnTo>
                  <a:pt x="18287" y="102107"/>
                </a:lnTo>
                <a:lnTo>
                  <a:pt x="16764" y="99059"/>
                </a:lnTo>
                <a:lnTo>
                  <a:pt x="13716" y="96011"/>
                </a:lnTo>
                <a:lnTo>
                  <a:pt x="12192" y="91439"/>
                </a:lnTo>
                <a:lnTo>
                  <a:pt x="12192" y="80772"/>
                </a:lnTo>
                <a:lnTo>
                  <a:pt x="13716" y="77724"/>
                </a:lnTo>
                <a:lnTo>
                  <a:pt x="13716" y="70103"/>
                </a:lnTo>
                <a:lnTo>
                  <a:pt x="15240" y="67055"/>
                </a:lnTo>
                <a:lnTo>
                  <a:pt x="15240" y="62483"/>
                </a:lnTo>
                <a:lnTo>
                  <a:pt x="13716" y="59435"/>
                </a:lnTo>
                <a:lnTo>
                  <a:pt x="7620" y="53339"/>
                </a:lnTo>
                <a:lnTo>
                  <a:pt x="12192" y="48768"/>
                </a:lnTo>
                <a:lnTo>
                  <a:pt x="13716" y="45720"/>
                </a:lnTo>
                <a:lnTo>
                  <a:pt x="15240" y="44196"/>
                </a:lnTo>
                <a:lnTo>
                  <a:pt x="15240" y="38100"/>
                </a:lnTo>
                <a:lnTo>
                  <a:pt x="13716" y="36575"/>
                </a:lnTo>
                <a:lnTo>
                  <a:pt x="13716" y="28955"/>
                </a:lnTo>
                <a:lnTo>
                  <a:pt x="12192" y="24383"/>
                </a:lnTo>
                <a:lnTo>
                  <a:pt x="12192" y="15239"/>
                </a:lnTo>
                <a:lnTo>
                  <a:pt x="13716" y="10668"/>
                </a:lnTo>
                <a:lnTo>
                  <a:pt x="16764" y="7620"/>
                </a:lnTo>
                <a:lnTo>
                  <a:pt x="18287" y="4572"/>
                </a:lnTo>
                <a:lnTo>
                  <a:pt x="21336" y="3048"/>
                </a:lnTo>
                <a:lnTo>
                  <a:pt x="27432" y="3048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71832" y="2017173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7912" y="0"/>
                </a:moveTo>
                <a:lnTo>
                  <a:pt x="57912" y="1524"/>
                </a:lnTo>
                <a:lnTo>
                  <a:pt x="62483" y="3048"/>
                </a:lnTo>
                <a:lnTo>
                  <a:pt x="68580" y="12192"/>
                </a:lnTo>
                <a:lnTo>
                  <a:pt x="71628" y="21335"/>
                </a:lnTo>
                <a:lnTo>
                  <a:pt x="71628" y="36575"/>
                </a:lnTo>
                <a:lnTo>
                  <a:pt x="57912" y="56387"/>
                </a:lnTo>
                <a:lnTo>
                  <a:pt x="57912" y="59435"/>
                </a:lnTo>
                <a:lnTo>
                  <a:pt x="64007" y="57911"/>
                </a:lnTo>
                <a:lnTo>
                  <a:pt x="68580" y="53340"/>
                </a:lnTo>
                <a:lnTo>
                  <a:pt x="71628" y="48768"/>
                </a:lnTo>
                <a:lnTo>
                  <a:pt x="76200" y="42672"/>
                </a:lnTo>
                <a:lnTo>
                  <a:pt x="77723" y="36575"/>
                </a:lnTo>
                <a:lnTo>
                  <a:pt x="77723" y="21335"/>
                </a:lnTo>
                <a:lnTo>
                  <a:pt x="76200" y="15240"/>
                </a:lnTo>
                <a:lnTo>
                  <a:pt x="71628" y="10668"/>
                </a:lnTo>
                <a:lnTo>
                  <a:pt x="68580" y="4572"/>
                </a:lnTo>
                <a:lnTo>
                  <a:pt x="64007" y="1524"/>
                </a:lnTo>
                <a:lnTo>
                  <a:pt x="57912" y="0"/>
                </a:lnTo>
                <a:close/>
              </a:path>
              <a:path w="78105" h="59689">
                <a:moveTo>
                  <a:pt x="18287" y="0"/>
                </a:moveTo>
                <a:lnTo>
                  <a:pt x="12192" y="1524"/>
                </a:lnTo>
                <a:lnTo>
                  <a:pt x="7619" y="4572"/>
                </a:lnTo>
                <a:lnTo>
                  <a:pt x="4572" y="10668"/>
                </a:lnTo>
                <a:lnTo>
                  <a:pt x="1524" y="15240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6" y="54863"/>
                </a:lnTo>
                <a:lnTo>
                  <a:pt x="10668" y="51816"/>
                </a:lnTo>
                <a:lnTo>
                  <a:pt x="7619" y="47244"/>
                </a:lnTo>
                <a:lnTo>
                  <a:pt x="6095" y="42672"/>
                </a:lnTo>
                <a:lnTo>
                  <a:pt x="4572" y="36575"/>
                </a:lnTo>
                <a:lnTo>
                  <a:pt x="4572" y="21335"/>
                </a:lnTo>
                <a:lnTo>
                  <a:pt x="7619" y="12192"/>
                </a:lnTo>
                <a:lnTo>
                  <a:pt x="13716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76632" y="2017173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89">
                <a:moveTo>
                  <a:pt x="82295" y="0"/>
                </a:moveTo>
                <a:lnTo>
                  <a:pt x="82295" y="1524"/>
                </a:lnTo>
                <a:lnTo>
                  <a:pt x="86867" y="3048"/>
                </a:lnTo>
                <a:lnTo>
                  <a:pt x="92963" y="12192"/>
                </a:lnTo>
                <a:lnTo>
                  <a:pt x="96012" y="21335"/>
                </a:lnTo>
                <a:lnTo>
                  <a:pt x="96012" y="36575"/>
                </a:lnTo>
                <a:lnTo>
                  <a:pt x="82295" y="56387"/>
                </a:lnTo>
                <a:lnTo>
                  <a:pt x="82295" y="59435"/>
                </a:lnTo>
                <a:lnTo>
                  <a:pt x="88391" y="57911"/>
                </a:lnTo>
                <a:lnTo>
                  <a:pt x="92963" y="53340"/>
                </a:lnTo>
                <a:lnTo>
                  <a:pt x="96012" y="48768"/>
                </a:lnTo>
                <a:lnTo>
                  <a:pt x="100583" y="42672"/>
                </a:lnTo>
                <a:lnTo>
                  <a:pt x="102107" y="36575"/>
                </a:lnTo>
                <a:lnTo>
                  <a:pt x="102107" y="21335"/>
                </a:lnTo>
                <a:lnTo>
                  <a:pt x="100583" y="15240"/>
                </a:lnTo>
                <a:lnTo>
                  <a:pt x="96012" y="10668"/>
                </a:lnTo>
                <a:lnTo>
                  <a:pt x="92963" y="4572"/>
                </a:lnTo>
                <a:lnTo>
                  <a:pt x="88391" y="1524"/>
                </a:lnTo>
                <a:lnTo>
                  <a:pt x="82295" y="0"/>
                </a:lnTo>
                <a:close/>
              </a:path>
              <a:path w="102235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3" y="15240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5" y="54863"/>
                </a:lnTo>
                <a:lnTo>
                  <a:pt x="10667" y="51816"/>
                </a:lnTo>
                <a:lnTo>
                  <a:pt x="7619" y="47244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5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18747" y="2201577"/>
            <a:ext cx="535305" cy="106680"/>
          </a:xfrm>
          <a:custGeom>
            <a:avLst/>
            <a:gdLst/>
            <a:ahLst/>
            <a:cxnLst/>
            <a:rect l="l" t="t" r="r" b="b"/>
            <a:pathLst>
              <a:path w="535305" h="106680">
                <a:moveTo>
                  <a:pt x="515112" y="0"/>
                </a:moveTo>
                <a:lnTo>
                  <a:pt x="507491" y="0"/>
                </a:lnTo>
                <a:lnTo>
                  <a:pt x="507491" y="3048"/>
                </a:lnTo>
                <a:lnTo>
                  <a:pt x="512063" y="3048"/>
                </a:lnTo>
                <a:lnTo>
                  <a:pt x="515112" y="4572"/>
                </a:lnTo>
                <a:lnTo>
                  <a:pt x="516635" y="7620"/>
                </a:lnTo>
                <a:lnTo>
                  <a:pt x="519683" y="10668"/>
                </a:lnTo>
                <a:lnTo>
                  <a:pt x="521207" y="15240"/>
                </a:lnTo>
                <a:lnTo>
                  <a:pt x="521207" y="28955"/>
                </a:lnTo>
                <a:lnTo>
                  <a:pt x="519683" y="32003"/>
                </a:lnTo>
                <a:lnTo>
                  <a:pt x="519683" y="45720"/>
                </a:lnTo>
                <a:lnTo>
                  <a:pt x="521207" y="48768"/>
                </a:lnTo>
                <a:lnTo>
                  <a:pt x="525779" y="53340"/>
                </a:lnTo>
                <a:lnTo>
                  <a:pt x="519683" y="59436"/>
                </a:lnTo>
                <a:lnTo>
                  <a:pt x="519683" y="73151"/>
                </a:lnTo>
                <a:lnTo>
                  <a:pt x="521207" y="77724"/>
                </a:lnTo>
                <a:lnTo>
                  <a:pt x="521207" y="91440"/>
                </a:lnTo>
                <a:lnTo>
                  <a:pt x="519683" y="96012"/>
                </a:lnTo>
                <a:lnTo>
                  <a:pt x="516635" y="99059"/>
                </a:lnTo>
                <a:lnTo>
                  <a:pt x="515112" y="102107"/>
                </a:lnTo>
                <a:lnTo>
                  <a:pt x="512063" y="103631"/>
                </a:lnTo>
                <a:lnTo>
                  <a:pt x="507491" y="103631"/>
                </a:lnTo>
                <a:lnTo>
                  <a:pt x="507491" y="106679"/>
                </a:lnTo>
                <a:lnTo>
                  <a:pt x="515112" y="106679"/>
                </a:lnTo>
                <a:lnTo>
                  <a:pt x="519683" y="103631"/>
                </a:lnTo>
                <a:lnTo>
                  <a:pt x="522731" y="100583"/>
                </a:lnTo>
                <a:lnTo>
                  <a:pt x="525779" y="96012"/>
                </a:lnTo>
                <a:lnTo>
                  <a:pt x="528827" y="89916"/>
                </a:lnTo>
                <a:lnTo>
                  <a:pt x="528827" y="79248"/>
                </a:lnTo>
                <a:lnTo>
                  <a:pt x="527303" y="74675"/>
                </a:lnTo>
                <a:lnTo>
                  <a:pt x="527303" y="71627"/>
                </a:lnTo>
                <a:lnTo>
                  <a:pt x="525779" y="67055"/>
                </a:lnTo>
                <a:lnTo>
                  <a:pt x="525779" y="60959"/>
                </a:lnTo>
                <a:lnTo>
                  <a:pt x="528827" y="57912"/>
                </a:lnTo>
                <a:lnTo>
                  <a:pt x="528827" y="56388"/>
                </a:lnTo>
                <a:lnTo>
                  <a:pt x="531876" y="54864"/>
                </a:lnTo>
                <a:lnTo>
                  <a:pt x="534924" y="54864"/>
                </a:lnTo>
                <a:lnTo>
                  <a:pt x="534924" y="51816"/>
                </a:lnTo>
                <a:lnTo>
                  <a:pt x="531876" y="51816"/>
                </a:lnTo>
                <a:lnTo>
                  <a:pt x="528827" y="50292"/>
                </a:lnTo>
                <a:lnTo>
                  <a:pt x="528827" y="48768"/>
                </a:lnTo>
                <a:lnTo>
                  <a:pt x="525779" y="45720"/>
                </a:lnTo>
                <a:lnTo>
                  <a:pt x="525779" y="38100"/>
                </a:lnTo>
                <a:lnTo>
                  <a:pt x="527303" y="35051"/>
                </a:lnTo>
                <a:lnTo>
                  <a:pt x="527303" y="30479"/>
                </a:lnTo>
                <a:lnTo>
                  <a:pt x="528827" y="27431"/>
                </a:lnTo>
                <a:lnTo>
                  <a:pt x="528827" y="15240"/>
                </a:lnTo>
                <a:lnTo>
                  <a:pt x="525779" y="9144"/>
                </a:lnTo>
                <a:lnTo>
                  <a:pt x="522731" y="6096"/>
                </a:lnTo>
                <a:lnTo>
                  <a:pt x="519683" y="1524"/>
                </a:lnTo>
                <a:lnTo>
                  <a:pt x="515112" y="0"/>
                </a:lnTo>
                <a:close/>
              </a:path>
              <a:path w="535305" h="106680">
                <a:moveTo>
                  <a:pt x="27431" y="0"/>
                </a:moveTo>
                <a:lnTo>
                  <a:pt x="18287" y="0"/>
                </a:lnTo>
                <a:lnTo>
                  <a:pt x="13715" y="1524"/>
                </a:lnTo>
                <a:lnTo>
                  <a:pt x="10668" y="6096"/>
                </a:lnTo>
                <a:lnTo>
                  <a:pt x="7619" y="9144"/>
                </a:lnTo>
                <a:lnTo>
                  <a:pt x="6095" y="15240"/>
                </a:lnTo>
                <a:lnTo>
                  <a:pt x="6095" y="35051"/>
                </a:lnTo>
                <a:lnTo>
                  <a:pt x="7619" y="38100"/>
                </a:lnTo>
                <a:lnTo>
                  <a:pt x="7619" y="47244"/>
                </a:lnTo>
                <a:lnTo>
                  <a:pt x="4571" y="50292"/>
                </a:lnTo>
                <a:lnTo>
                  <a:pt x="1524" y="51816"/>
                </a:lnTo>
                <a:lnTo>
                  <a:pt x="0" y="51816"/>
                </a:lnTo>
                <a:lnTo>
                  <a:pt x="0" y="54864"/>
                </a:lnTo>
                <a:lnTo>
                  <a:pt x="1524" y="54864"/>
                </a:lnTo>
                <a:lnTo>
                  <a:pt x="4571" y="56388"/>
                </a:lnTo>
                <a:lnTo>
                  <a:pt x="7619" y="59436"/>
                </a:lnTo>
                <a:lnTo>
                  <a:pt x="7619" y="67055"/>
                </a:lnTo>
                <a:lnTo>
                  <a:pt x="6095" y="71627"/>
                </a:lnTo>
                <a:lnTo>
                  <a:pt x="6095" y="89916"/>
                </a:lnTo>
                <a:lnTo>
                  <a:pt x="7619" y="96012"/>
                </a:lnTo>
                <a:lnTo>
                  <a:pt x="10668" y="100583"/>
                </a:lnTo>
                <a:lnTo>
                  <a:pt x="13715" y="103631"/>
                </a:lnTo>
                <a:lnTo>
                  <a:pt x="18287" y="106679"/>
                </a:lnTo>
                <a:lnTo>
                  <a:pt x="27431" y="106679"/>
                </a:lnTo>
                <a:lnTo>
                  <a:pt x="27431" y="103631"/>
                </a:lnTo>
                <a:lnTo>
                  <a:pt x="21335" y="103631"/>
                </a:lnTo>
                <a:lnTo>
                  <a:pt x="18287" y="102107"/>
                </a:lnTo>
                <a:lnTo>
                  <a:pt x="16763" y="99059"/>
                </a:lnTo>
                <a:lnTo>
                  <a:pt x="13715" y="96012"/>
                </a:lnTo>
                <a:lnTo>
                  <a:pt x="12191" y="91440"/>
                </a:lnTo>
                <a:lnTo>
                  <a:pt x="12191" y="80772"/>
                </a:lnTo>
                <a:lnTo>
                  <a:pt x="13715" y="77724"/>
                </a:lnTo>
                <a:lnTo>
                  <a:pt x="13715" y="70103"/>
                </a:lnTo>
                <a:lnTo>
                  <a:pt x="15239" y="67055"/>
                </a:lnTo>
                <a:lnTo>
                  <a:pt x="15239" y="62483"/>
                </a:lnTo>
                <a:lnTo>
                  <a:pt x="13715" y="59436"/>
                </a:lnTo>
                <a:lnTo>
                  <a:pt x="7619" y="53340"/>
                </a:lnTo>
                <a:lnTo>
                  <a:pt x="12191" y="48768"/>
                </a:lnTo>
                <a:lnTo>
                  <a:pt x="13715" y="45720"/>
                </a:lnTo>
                <a:lnTo>
                  <a:pt x="15239" y="44196"/>
                </a:lnTo>
                <a:lnTo>
                  <a:pt x="15239" y="38100"/>
                </a:lnTo>
                <a:lnTo>
                  <a:pt x="13715" y="36575"/>
                </a:lnTo>
                <a:lnTo>
                  <a:pt x="13715" y="28955"/>
                </a:lnTo>
                <a:lnTo>
                  <a:pt x="12191" y="24383"/>
                </a:lnTo>
                <a:lnTo>
                  <a:pt x="12191" y="15240"/>
                </a:lnTo>
                <a:lnTo>
                  <a:pt x="13715" y="10668"/>
                </a:lnTo>
                <a:lnTo>
                  <a:pt x="16763" y="7620"/>
                </a:lnTo>
                <a:lnTo>
                  <a:pt x="18287" y="4572"/>
                </a:lnTo>
                <a:lnTo>
                  <a:pt x="21335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502567" y="2200053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1524"/>
                </a:lnTo>
                <a:lnTo>
                  <a:pt x="64007" y="3048"/>
                </a:lnTo>
                <a:lnTo>
                  <a:pt x="70104" y="12192"/>
                </a:lnTo>
                <a:lnTo>
                  <a:pt x="73151" y="21336"/>
                </a:lnTo>
                <a:lnTo>
                  <a:pt x="73151" y="36575"/>
                </a:lnTo>
                <a:lnTo>
                  <a:pt x="59436" y="56388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4" y="53340"/>
                </a:lnTo>
                <a:lnTo>
                  <a:pt x="73151" y="48768"/>
                </a:lnTo>
                <a:lnTo>
                  <a:pt x="77724" y="42672"/>
                </a:lnTo>
                <a:lnTo>
                  <a:pt x="79248" y="36575"/>
                </a:lnTo>
                <a:lnTo>
                  <a:pt x="79248" y="21336"/>
                </a:lnTo>
                <a:lnTo>
                  <a:pt x="77724" y="15240"/>
                </a:lnTo>
                <a:lnTo>
                  <a:pt x="73151" y="10668"/>
                </a:lnTo>
                <a:lnTo>
                  <a:pt x="70104" y="4572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9375" h="59689">
                <a:moveTo>
                  <a:pt x="18287" y="0"/>
                </a:moveTo>
                <a:lnTo>
                  <a:pt x="12192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5"/>
                </a:lnTo>
                <a:lnTo>
                  <a:pt x="18287" y="59436"/>
                </a:lnTo>
                <a:lnTo>
                  <a:pt x="18287" y="56388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4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808892" y="2200053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19" y="0"/>
                </a:moveTo>
                <a:lnTo>
                  <a:pt x="83819" y="1524"/>
                </a:lnTo>
                <a:lnTo>
                  <a:pt x="88391" y="3048"/>
                </a:lnTo>
                <a:lnTo>
                  <a:pt x="94487" y="12192"/>
                </a:lnTo>
                <a:lnTo>
                  <a:pt x="97535" y="21336"/>
                </a:lnTo>
                <a:lnTo>
                  <a:pt x="97535" y="36575"/>
                </a:lnTo>
                <a:lnTo>
                  <a:pt x="83819" y="56388"/>
                </a:lnTo>
                <a:lnTo>
                  <a:pt x="83819" y="59436"/>
                </a:lnTo>
                <a:lnTo>
                  <a:pt x="89915" y="57912"/>
                </a:lnTo>
                <a:lnTo>
                  <a:pt x="94487" y="53340"/>
                </a:lnTo>
                <a:lnTo>
                  <a:pt x="97535" y="48768"/>
                </a:lnTo>
                <a:lnTo>
                  <a:pt x="102107" y="42672"/>
                </a:lnTo>
                <a:lnTo>
                  <a:pt x="103631" y="36575"/>
                </a:lnTo>
                <a:lnTo>
                  <a:pt x="103631" y="21336"/>
                </a:lnTo>
                <a:lnTo>
                  <a:pt x="102107" y="15240"/>
                </a:lnTo>
                <a:lnTo>
                  <a:pt x="97535" y="10668"/>
                </a:lnTo>
                <a:lnTo>
                  <a:pt x="94487" y="4572"/>
                </a:lnTo>
                <a:lnTo>
                  <a:pt x="89915" y="1524"/>
                </a:lnTo>
                <a:lnTo>
                  <a:pt x="83819" y="0"/>
                </a:lnTo>
                <a:close/>
              </a:path>
              <a:path w="104139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5"/>
                </a:lnTo>
                <a:lnTo>
                  <a:pt x="18287" y="59436"/>
                </a:lnTo>
                <a:lnTo>
                  <a:pt x="18287" y="56388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4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39795" y="1284559"/>
            <a:ext cx="2527935" cy="10255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1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z="700" spc="1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动量系数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µ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0980">
              <a:lnSpc>
                <a:spcPct val="100000"/>
              </a:lnSpc>
              <a:spcBef>
                <a:spcPts val="420"/>
              </a:spcBef>
            </a:pP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始化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45110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510188" y="2459133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60" y="0"/>
                </a:lnTo>
                <a:lnTo>
                  <a:pt x="60960" y="6096"/>
                </a:lnTo>
                <a:lnTo>
                  <a:pt x="0" y="60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508667" y="2429663"/>
            <a:ext cx="17653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049683" y="2408841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7243" y="0"/>
                </a:moveTo>
                <a:lnTo>
                  <a:pt x="47243" y="1524"/>
                </a:lnTo>
                <a:lnTo>
                  <a:pt x="51816" y="3048"/>
                </a:lnTo>
                <a:lnTo>
                  <a:pt x="57912" y="12191"/>
                </a:lnTo>
                <a:lnTo>
                  <a:pt x="60960" y="21335"/>
                </a:lnTo>
                <a:lnTo>
                  <a:pt x="60960" y="36575"/>
                </a:lnTo>
                <a:lnTo>
                  <a:pt x="47243" y="56387"/>
                </a:lnTo>
                <a:lnTo>
                  <a:pt x="47243" y="59435"/>
                </a:lnTo>
                <a:lnTo>
                  <a:pt x="53340" y="57911"/>
                </a:lnTo>
                <a:lnTo>
                  <a:pt x="57912" y="53339"/>
                </a:lnTo>
                <a:lnTo>
                  <a:pt x="60960" y="48767"/>
                </a:lnTo>
                <a:lnTo>
                  <a:pt x="65532" y="42672"/>
                </a:lnTo>
                <a:lnTo>
                  <a:pt x="67056" y="36575"/>
                </a:lnTo>
                <a:lnTo>
                  <a:pt x="67056" y="21335"/>
                </a:lnTo>
                <a:lnTo>
                  <a:pt x="65532" y="15239"/>
                </a:lnTo>
                <a:lnTo>
                  <a:pt x="60960" y="10667"/>
                </a:lnTo>
                <a:lnTo>
                  <a:pt x="57912" y="4572"/>
                </a:lnTo>
                <a:lnTo>
                  <a:pt x="53340" y="1524"/>
                </a:lnTo>
                <a:lnTo>
                  <a:pt x="47243" y="0"/>
                </a:lnTo>
                <a:close/>
              </a:path>
              <a:path w="67310" h="59689">
                <a:moveTo>
                  <a:pt x="18288" y="0"/>
                </a:moveTo>
                <a:lnTo>
                  <a:pt x="12192" y="1524"/>
                </a:lnTo>
                <a:lnTo>
                  <a:pt x="7620" y="4572"/>
                </a:lnTo>
                <a:lnTo>
                  <a:pt x="4572" y="10667"/>
                </a:lnTo>
                <a:lnTo>
                  <a:pt x="1524" y="15239"/>
                </a:lnTo>
                <a:lnTo>
                  <a:pt x="0" y="21335"/>
                </a:lnTo>
                <a:lnTo>
                  <a:pt x="0" y="36575"/>
                </a:lnTo>
                <a:lnTo>
                  <a:pt x="18288" y="59435"/>
                </a:lnTo>
                <a:lnTo>
                  <a:pt x="18288" y="56387"/>
                </a:lnTo>
                <a:lnTo>
                  <a:pt x="13716" y="54863"/>
                </a:lnTo>
                <a:lnTo>
                  <a:pt x="10668" y="51815"/>
                </a:lnTo>
                <a:lnTo>
                  <a:pt x="7620" y="47243"/>
                </a:lnTo>
                <a:lnTo>
                  <a:pt x="6096" y="42672"/>
                </a:lnTo>
                <a:lnTo>
                  <a:pt x="4572" y="36575"/>
                </a:lnTo>
                <a:lnTo>
                  <a:pt x="4572" y="21335"/>
                </a:lnTo>
                <a:lnTo>
                  <a:pt x="7620" y="12191"/>
                </a:lnTo>
                <a:lnTo>
                  <a:pt x="13716" y="3048"/>
                </a:lnTo>
                <a:lnTo>
                  <a:pt x="19812" y="1524"/>
                </a:lnTo>
                <a:lnTo>
                  <a:pt x="18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42292" y="2408841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7243" y="0"/>
                </a:moveTo>
                <a:lnTo>
                  <a:pt x="47243" y="1524"/>
                </a:lnTo>
                <a:lnTo>
                  <a:pt x="51815" y="3048"/>
                </a:lnTo>
                <a:lnTo>
                  <a:pt x="57912" y="12191"/>
                </a:lnTo>
                <a:lnTo>
                  <a:pt x="60959" y="21335"/>
                </a:lnTo>
                <a:lnTo>
                  <a:pt x="60959" y="36575"/>
                </a:lnTo>
                <a:lnTo>
                  <a:pt x="47243" y="56387"/>
                </a:lnTo>
                <a:lnTo>
                  <a:pt x="47243" y="59435"/>
                </a:lnTo>
                <a:lnTo>
                  <a:pt x="53339" y="57911"/>
                </a:lnTo>
                <a:lnTo>
                  <a:pt x="57912" y="53339"/>
                </a:lnTo>
                <a:lnTo>
                  <a:pt x="60959" y="48767"/>
                </a:lnTo>
                <a:lnTo>
                  <a:pt x="65531" y="42672"/>
                </a:lnTo>
                <a:lnTo>
                  <a:pt x="67056" y="36575"/>
                </a:lnTo>
                <a:lnTo>
                  <a:pt x="67056" y="21335"/>
                </a:lnTo>
                <a:lnTo>
                  <a:pt x="65531" y="15239"/>
                </a:lnTo>
                <a:lnTo>
                  <a:pt x="60959" y="10667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7310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7"/>
                </a:lnTo>
                <a:lnTo>
                  <a:pt x="1524" y="15239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5" y="54863"/>
                </a:lnTo>
                <a:lnTo>
                  <a:pt x="10668" y="51815"/>
                </a:lnTo>
                <a:lnTo>
                  <a:pt x="7619" y="47243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5"/>
                </a:lnTo>
                <a:lnTo>
                  <a:pt x="7619" y="12191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08567" y="2386984"/>
            <a:ext cx="1762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90622" y="2449505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706783" y="2606961"/>
            <a:ext cx="265430" cy="81280"/>
          </a:xfrm>
          <a:custGeom>
            <a:avLst/>
            <a:gdLst/>
            <a:ahLst/>
            <a:cxnLst/>
            <a:rect l="l" t="t" r="r" b="b"/>
            <a:pathLst>
              <a:path w="265430" h="81280">
                <a:moveTo>
                  <a:pt x="239268" y="0"/>
                </a:moveTo>
                <a:lnTo>
                  <a:pt x="237744" y="3048"/>
                </a:lnTo>
                <a:lnTo>
                  <a:pt x="243840" y="4572"/>
                </a:lnTo>
                <a:lnTo>
                  <a:pt x="249936" y="9144"/>
                </a:lnTo>
                <a:lnTo>
                  <a:pt x="256032" y="21336"/>
                </a:lnTo>
                <a:lnTo>
                  <a:pt x="257556" y="30480"/>
                </a:lnTo>
                <a:lnTo>
                  <a:pt x="257556" y="50292"/>
                </a:lnTo>
                <a:lnTo>
                  <a:pt x="256032" y="57912"/>
                </a:lnTo>
                <a:lnTo>
                  <a:pt x="252984" y="64008"/>
                </a:lnTo>
                <a:lnTo>
                  <a:pt x="249936" y="71628"/>
                </a:lnTo>
                <a:lnTo>
                  <a:pt x="243840" y="76200"/>
                </a:lnTo>
                <a:lnTo>
                  <a:pt x="237744" y="77724"/>
                </a:lnTo>
                <a:lnTo>
                  <a:pt x="239268" y="80772"/>
                </a:lnTo>
                <a:lnTo>
                  <a:pt x="246888" y="79248"/>
                </a:lnTo>
                <a:lnTo>
                  <a:pt x="254508" y="74675"/>
                </a:lnTo>
                <a:lnTo>
                  <a:pt x="257556" y="67056"/>
                </a:lnTo>
                <a:lnTo>
                  <a:pt x="260675" y="61055"/>
                </a:lnTo>
                <a:lnTo>
                  <a:pt x="263080" y="54483"/>
                </a:lnTo>
                <a:lnTo>
                  <a:pt x="264628" y="47339"/>
                </a:lnTo>
                <a:lnTo>
                  <a:pt x="265176" y="39624"/>
                </a:lnTo>
                <a:lnTo>
                  <a:pt x="264628" y="32789"/>
                </a:lnTo>
                <a:lnTo>
                  <a:pt x="246888" y="1524"/>
                </a:lnTo>
                <a:lnTo>
                  <a:pt x="239268" y="0"/>
                </a:lnTo>
                <a:close/>
              </a:path>
              <a:path w="265430" h="81280">
                <a:moveTo>
                  <a:pt x="25908" y="0"/>
                </a:moveTo>
                <a:lnTo>
                  <a:pt x="309" y="32789"/>
                </a:lnTo>
                <a:lnTo>
                  <a:pt x="0" y="39624"/>
                </a:lnTo>
                <a:lnTo>
                  <a:pt x="309" y="47339"/>
                </a:lnTo>
                <a:lnTo>
                  <a:pt x="25908" y="80772"/>
                </a:lnTo>
                <a:lnTo>
                  <a:pt x="27432" y="77724"/>
                </a:lnTo>
                <a:lnTo>
                  <a:pt x="19812" y="76200"/>
                </a:lnTo>
                <a:lnTo>
                  <a:pt x="15240" y="71628"/>
                </a:lnTo>
                <a:lnTo>
                  <a:pt x="12192" y="64008"/>
                </a:lnTo>
                <a:lnTo>
                  <a:pt x="9143" y="57912"/>
                </a:lnTo>
                <a:lnTo>
                  <a:pt x="7620" y="50292"/>
                </a:lnTo>
                <a:lnTo>
                  <a:pt x="7620" y="30480"/>
                </a:lnTo>
                <a:lnTo>
                  <a:pt x="9143" y="21336"/>
                </a:lnTo>
                <a:lnTo>
                  <a:pt x="15240" y="9144"/>
                </a:lnTo>
                <a:lnTo>
                  <a:pt x="19812" y="4572"/>
                </a:lnTo>
                <a:lnTo>
                  <a:pt x="27432" y="3048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41507" y="2553621"/>
            <a:ext cx="1504315" cy="327660"/>
          </a:xfrm>
          <a:prstGeom prst="rect">
            <a:avLst/>
          </a:prstGeom>
          <a:solidFill>
            <a:srgbClr val="D0D8E8"/>
          </a:solidFill>
          <a:ln w="12191">
            <a:solidFill>
              <a:srgbClr val="FF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37490" indent="-170815">
              <a:lnSpc>
                <a:spcPct val="100000"/>
              </a:lnSpc>
              <a:spcBef>
                <a:spcPts val="235"/>
              </a:spcBef>
              <a:buFont typeface="Arial" panose="020B0604020202020204"/>
              <a:buAutoNum type="arabicPeriod" startAt="3"/>
              <a:tabLst>
                <a:tab pos="23812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速度更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1 −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700" i="1" spc="1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37490" indent="-170815">
              <a:lnSpc>
                <a:spcPct val="100000"/>
              </a:lnSpc>
              <a:spcBef>
                <a:spcPts val="420"/>
              </a:spcBef>
              <a:buFont typeface="Arial" panose="020B0604020202020204"/>
              <a:buAutoNum type="arabicPeriod" startAt="3"/>
              <a:tabLst>
                <a:tab pos="23812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cv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8377" y="2891438"/>
            <a:ext cx="385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48" y="138710"/>
            <a:ext cx="3872229" cy="886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动量法</a:t>
            </a:r>
            <a:endParaRPr sz="195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138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目标：改进梯度下降算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存在的问题，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减少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荡，加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通往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2880" indent="-170180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进思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累加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史梯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信息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新梯度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80857" y="175186"/>
            <a:ext cx="1625600" cy="65532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为什么有效？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0000"/>
              </a:lnSpc>
              <a:spcBef>
                <a:spcPts val="5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累加过程中震荡方向相互抵消， 平坦方向得到加强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23164" y="1298997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39">
                <a:moveTo>
                  <a:pt x="0" y="0"/>
                </a:moveTo>
                <a:lnTo>
                  <a:pt x="2743200" y="0"/>
                </a:lnTo>
                <a:lnTo>
                  <a:pt x="2743200" y="1577339"/>
                </a:lnTo>
                <a:lnTo>
                  <a:pt x="0" y="1577339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0116" y="1289853"/>
            <a:ext cx="2749550" cy="18415"/>
          </a:xfrm>
          <a:custGeom>
            <a:avLst/>
            <a:gdLst/>
            <a:ahLst/>
            <a:cxnLst/>
            <a:rect l="l" t="t" r="r" b="b"/>
            <a:pathLst>
              <a:path w="2749550" h="18415">
                <a:moveTo>
                  <a:pt x="0" y="0"/>
                </a:moveTo>
                <a:lnTo>
                  <a:pt x="2749295" y="0"/>
                </a:lnTo>
                <a:lnTo>
                  <a:pt x="2749295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23163" y="1113069"/>
            <a:ext cx="0" cy="1766570"/>
          </a:xfrm>
          <a:custGeom>
            <a:avLst/>
            <a:gdLst/>
            <a:ahLst/>
            <a:cxnLst/>
            <a:rect l="l" t="t" r="r" b="b"/>
            <a:pathLst>
              <a:path h="1766570">
                <a:moveTo>
                  <a:pt x="0" y="0"/>
                </a:moveTo>
                <a:lnTo>
                  <a:pt x="0" y="176631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66363" y="1113069"/>
            <a:ext cx="0" cy="1766570"/>
          </a:xfrm>
          <a:custGeom>
            <a:avLst/>
            <a:gdLst/>
            <a:ahLst/>
            <a:cxnLst/>
            <a:rect l="l" t="t" r="r" b="b"/>
            <a:pathLst>
              <a:path h="1766570">
                <a:moveTo>
                  <a:pt x="0" y="0"/>
                </a:moveTo>
                <a:lnTo>
                  <a:pt x="0" y="176631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20115" y="1116117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20115" y="2876337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26211" y="1119165"/>
            <a:ext cx="2737485" cy="17081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52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20"/>
              </a:spcBef>
            </a:pP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小批量梯度下降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算法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09520" y="1861353"/>
            <a:ext cx="538480" cy="106680"/>
          </a:xfrm>
          <a:custGeom>
            <a:avLst/>
            <a:gdLst/>
            <a:ahLst/>
            <a:cxnLst/>
            <a:rect l="l" t="t" r="r" b="b"/>
            <a:pathLst>
              <a:path w="538479" h="106680">
                <a:moveTo>
                  <a:pt x="518159" y="0"/>
                </a:moveTo>
                <a:lnTo>
                  <a:pt x="509015" y="0"/>
                </a:lnTo>
                <a:lnTo>
                  <a:pt x="509015" y="3048"/>
                </a:lnTo>
                <a:lnTo>
                  <a:pt x="515111" y="3048"/>
                </a:lnTo>
                <a:lnTo>
                  <a:pt x="518159" y="4572"/>
                </a:lnTo>
                <a:lnTo>
                  <a:pt x="519683" y="7620"/>
                </a:lnTo>
                <a:lnTo>
                  <a:pt x="522731" y="10668"/>
                </a:lnTo>
                <a:lnTo>
                  <a:pt x="524255" y="15240"/>
                </a:lnTo>
                <a:lnTo>
                  <a:pt x="524255" y="24384"/>
                </a:lnTo>
                <a:lnTo>
                  <a:pt x="522731" y="28956"/>
                </a:lnTo>
                <a:lnTo>
                  <a:pt x="522731" y="45720"/>
                </a:lnTo>
                <a:lnTo>
                  <a:pt x="524255" y="48768"/>
                </a:lnTo>
                <a:lnTo>
                  <a:pt x="528827" y="53340"/>
                </a:lnTo>
                <a:lnTo>
                  <a:pt x="522731" y="59436"/>
                </a:lnTo>
                <a:lnTo>
                  <a:pt x="522731" y="77724"/>
                </a:lnTo>
                <a:lnTo>
                  <a:pt x="524255" y="80772"/>
                </a:lnTo>
                <a:lnTo>
                  <a:pt x="524255" y="91440"/>
                </a:lnTo>
                <a:lnTo>
                  <a:pt x="522731" y="96012"/>
                </a:lnTo>
                <a:lnTo>
                  <a:pt x="519683" y="99060"/>
                </a:lnTo>
                <a:lnTo>
                  <a:pt x="518159" y="102108"/>
                </a:lnTo>
                <a:lnTo>
                  <a:pt x="515111" y="103632"/>
                </a:lnTo>
                <a:lnTo>
                  <a:pt x="509015" y="103632"/>
                </a:lnTo>
                <a:lnTo>
                  <a:pt x="509015" y="106680"/>
                </a:lnTo>
                <a:lnTo>
                  <a:pt x="518159" y="106680"/>
                </a:lnTo>
                <a:lnTo>
                  <a:pt x="522731" y="103632"/>
                </a:lnTo>
                <a:lnTo>
                  <a:pt x="525779" y="100584"/>
                </a:lnTo>
                <a:lnTo>
                  <a:pt x="528827" y="96012"/>
                </a:lnTo>
                <a:lnTo>
                  <a:pt x="530351" y="89916"/>
                </a:lnTo>
                <a:lnTo>
                  <a:pt x="530351" y="71628"/>
                </a:lnTo>
                <a:lnTo>
                  <a:pt x="528827" y="67056"/>
                </a:lnTo>
                <a:lnTo>
                  <a:pt x="528827" y="60960"/>
                </a:lnTo>
                <a:lnTo>
                  <a:pt x="530351" y="59436"/>
                </a:lnTo>
                <a:lnTo>
                  <a:pt x="530351" y="57912"/>
                </a:lnTo>
                <a:lnTo>
                  <a:pt x="531876" y="56388"/>
                </a:lnTo>
                <a:lnTo>
                  <a:pt x="534924" y="54864"/>
                </a:lnTo>
                <a:lnTo>
                  <a:pt x="537972" y="54864"/>
                </a:lnTo>
                <a:lnTo>
                  <a:pt x="537972" y="51816"/>
                </a:lnTo>
                <a:lnTo>
                  <a:pt x="534924" y="51816"/>
                </a:lnTo>
                <a:lnTo>
                  <a:pt x="531876" y="50292"/>
                </a:lnTo>
                <a:lnTo>
                  <a:pt x="530351" y="48768"/>
                </a:lnTo>
                <a:lnTo>
                  <a:pt x="530351" y="47244"/>
                </a:lnTo>
                <a:lnTo>
                  <a:pt x="528827" y="45720"/>
                </a:lnTo>
                <a:lnTo>
                  <a:pt x="528827" y="38100"/>
                </a:lnTo>
                <a:lnTo>
                  <a:pt x="530351" y="35052"/>
                </a:lnTo>
                <a:lnTo>
                  <a:pt x="530351" y="15240"/>
                </a:lnTo>
                <a:lnTo>
                  <a:pt x="528827" y="9144"/>
                </a:lnTo>
                <a:lnTo>
                  <a:pt x="525779" y="6096"/>
                </a:lnTo>
                <a:lnTo>
                  <a:pt x="522731" y="1524"/>
                </a:lnTo>
                <a:lnTo>
                  <a:pt x="518159" y="0"/>
                </a:lnTo>
                <a:close/>
              </a:path>
              <a:path w="538479" h="106680">
                <a:moveTo>
                  <a:pt x="28955" y="0"/>
                </a:moveTo>
                <a:lnTo>
                  <a:pt x="19812" y="0"/>
                </a:lnTo>
                <a:lnTo>
                  <a:pt x="15239" y="1524"/>
                </a:lnTo>
                <a:lnTo>
                  <a:pt x="12191" y="6096"/>
                </a:lnTo>
                <a:lnTo>
                  <a:pt x="9143" y="9144"/>
                </a:lnTo>
                <a:lnTo>
                  <a:pt x="7619" y="15240"/>
                </a:lnTo>
                <a:lnTo>
                  <a:pt x="7619" y="35052"/>
                </a:lnTo>
                <a:lnTo>
                  <a:pt x="9143" y="38100"/>
                </a:lnTo>
                <a:lnTo>
                  <a:pt x="9143" y="45720"/>
                </a:lnTo>
                <a:lnTo>
                  <a:pt x="7619" y="47244"/>
                </a:lnTo>
                <a:lnTo>
                  <a:pt x="7619" y="48768"/>
                </a:lnTo>
                <a:lnTo>
                  <a:pt x="6095" y="50292"/>
                </a:lnTo>
                <a:lnTo>
                  <a:pt x="3047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7" y="54864"/>
                </a:lnTo>
                <a:lnTo>
                  <a:pt x="6095" y="56388"/>
                </a:lnTo>
                <a:lnTo>
                  <a:pt x="7619" y="57912"/>
                </a:lnTo>
                <a:lnTo>
                  <a:pt x="7619" y="59436"/>
                </a:lnTo>
                <a:lnTo>
                  <a:pt x="9143" y="60960"/>
                </a:lnTo>
                <a:lnTo>
                  <a:pt x="9143" y="67056"/>
                </a:lnTo>
                <a:lnTo>
                  <a:pt x="7619" y="71628"/>
                </a:lnTo>
                <a:lnTo>
                  <a:pt x="7619" y="89916"/>
                </a:lnTo>
                <a:lnTo>
                  <a:pt x="9143" y="96012"/>
                </a:lnTo>
                <a:lnTo>
                  <a:pt x="12191" y="100584"/>
                </a:lnTo>
                <a:lnTo>
                  <a:pt x="15239" y="103632"/>
                </a:lnTo>
                <a:lnTo>
                  <a:pt x="19812" y="106680"/>
                </a:lnTo>
                <a:lnTo>
                  <a:pt x="28955" y="106680"/>
                </a:lnTo>
                <a:lnTo>
                  <a:pt x="28955" y="103632"/>
                </a:lnTo>
                <a:lnTo>
                  <a:pt x="22859" y="103632"/>
                </a:lnTo>
                <a:lnTo>
                  <a:pt x="19812" y="102108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59436"/>
                </a:lnTo>
                <a:lnTo>
                  <a:pt x="9143" y="53340"/>
                </a:lnTo>
                <a:lnTo>
                  <a:pt x="13715" y="48768"/>
                </a:lnTo>
                <a:lnTo>
                  <a:pt x="15239" y="45720"/>
                </a:lnTo>
                <a:lnTo>
                  <a:pt x="15239" y="28956"/>
                </a:lnTo>
                <a:lnTo>
                  <a:pt x="13715" y="24384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2859" y="3048"/>
                </a:lnTo>
                <a:lnTo>
                  <a:pt x="28955" y="3048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97911" y="1859829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1523"/>
                </a:lnTo>
                <a:lnTo>
                  <a:pt x="64008" y="3047"/>
                </a:lnTo>
                <a:lnTo>
                  <a:pt x="67055" y="6095"/>
                </a:lnTo>
                <a:lnTo>
                  <a:pt x="70103" y="12191"/>
                </a:lnTo>
                <a:lnTo>
                  <a:pt x="73151" y="21335"/>
                </a:lnTo>
                <a:lnTo>
                  <a:pt x="73151" y="36575"/>
                </a:lnTo>
                <a:lnTo>
                  <a:pt x="59436" y="56387"/>
                </a:lnTo>
                <a:lnTo>
                  <a:pt x="59436" y="59435"/>
                </a:lnTo>
                <a:lnTo>
                  <a:pt x="65532" y="57912"/>
                </a:lnTo>
                <a:lnTo>
                  <a:pt x="70103" y="53339"/>
                </a:lnTo>
                <a:lnTo>
                  <a:pt x="73151" y="48768"/>
                </a:lnTo>
                <a:lnTo>
                  <a:pt x="79248" y="36575"/>
                </a:lnTo>
                <a:lnTo>
                  <a:pt x="79248" y="21335"/>
                </a:lnTo>
                <a:lnTo>
                  <a:pt x="76200" y="15239"/>
                </a:lnTo>
                <a:lnTo>
                  <a:pt x="73151" y="10668"/>
                </a:lnTo>
                <a:lnTo>
                  <a:pt x="70103" y="4571"/>
                </a:lnTo>
                <a:lnTo>
                  <a:pt x="65532" y="1523"/>
                </a:lnTo>
                <a:lnTo>
                  <a:pt x="59436" y="0"/>
                </a:lnTo>
                <a:close/>
              </a:path>
              <a:path w="79375" h="59689">
                <a:moveTo>
                  <a:pt x="19812" y="0"/>
                </a:moveTo>
                <a:lnTo>
                  <a:pt x="13715" y="1523"/>
                </a:lnTo>
                <a:lnTo>
                  <a:pt x="9143" y="4571"/>
                </a:lnTo>
                <a:lnTo>
                  <a:pt x="6096" y="10668"/>
                </a:lnTo>
                <a:lnTo>
                  <a:pt x="3048" y="15239"/>
                </a:lnTo>
                <a:lnTo>
                  <a:pt x="0" y="21335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39"/>
                </a:lnTo>
                <a:lnTo>
                  <a:pt x="13715" y="57912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5"/>
                </a:lnTo>
                <a:lnTo>
                  <a:pt x="9143" y="47243"/>
                </a:lnTo>
                <a:lnTo>
                  <a:pt x="7620" y="42671"/>
                </a:lnTo>
                <a:lnTo>
                  <a:pt x="6096" y="36575"/>
                </a:lnTo>
                <a:lnTo>
                  <a:pt x="6096" y="21335"/>
                </a:lnTo>
                <a:lnTo>
                  <a:pt x="9143" y="12191"/>
                </a:lnTo>
                <a:lnTo>
                  <a:pt x="12191" y="6095"/>
                </a:lnTo>
                <a:lnTo>
                  <a:pt x="15239" y="3047"/>
                </a:lnTo>
                <a:lnTo>
                  <a:pt x="19812" y="1523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02711" y="1859829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19" y="0"/>
                </a:moveTo>
                <a:lnTo>
                  <a:pt x="83819" y="1523"/>
                </a:lnTo>
                <a:lnTo>
                  <a:pt x="88391" y="3047"/>
                </a:lnTo>
                <a:lnTo>
                  <a:pt x="91439" y="6095"/>
                </a:lnTo>
                <a:lnTo>
                  <a:pt x="94487" y="12191"/>
                </a:lnTo>
                <a:lnTo>
                  <a:pt x="97536" y="21335"/>
                </a:lnTo>
                <a:lnTo>
                  <a:pt x="97536" y="36575"/>
                </a:lnTo>
                <a:lnTo>
                  <a:pt x="83819" y="56387"/>
                </a:lnTo>
                <a:lnTo>
                  <a:pt x="83819" y="59435"/>
                </a:lnTo>
                <a:lnTo>
                  <a:pt x="89915" y="57912"/>
                </a:lnTo>
                <a:lnTo>
                  <a:pt x="94487" y="53339"/>
                </a:lnTo>
                <a:lnTo>
                  <a:pt x="97536" y="48768"/>
                </a:lnTo>
                <a:lnTo>
                  <a:pt x="103632" y="36575"/>
                </a:lnTo>
                <a:lnTo>
                  <a:pt x="103632" y="21335"/>
                </a:lnTo>
                <a:lnTo>
                  <a:pt x="100584" y="15239"/>
                </a:lnTo>
                <a:lnTo>
                  <a:pt x="97536" y="10668"/>
                </a:lnTo>
                <a:lnTo>
                  <a:pt x="94487" y="4571"/>
                </a:lnTo>
                <a:lnTo>
                  <a:pt x="89915" y="1523"/>
                </a:lnTo>
                <a:lnTo>
                  <a:pt x="83819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13715" y="1523"/>
                </a:lnTo>
                <a:lnTo>
                  <a:pt x="9143" y="4571"/>
                </a:lnTo>
                <a:lnTo>
                  <a:pt x="6096" y="10668"/>
                </a:lnTo>
                <a:lnTo>
                  <a:pt x="3048" y="15239"/>
                </a:lnTo>
                <a:lnTo>
                  <a:pt x="0" y="21335"/>
                </a:lnTo>
                <a:lnTo>
                  <a:pt x="0" y="36575"/>
                </a:lnTo>
                <a:lnTo>
                  <a:pt x="6096" y="48768"/>
                </a:lnTo>
                <a:lnTo>
                  <a:pt x="9143" y="53339"/>
                </a:lnTo>
                <a:lnTo>
                  <a:pt x="13715" y="57912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5"/>
                </a:lnTo>
                <a:lnTo>
                  <a:pt x="9143" y="47243"/>
                </a:lnTo>
                <a:lnTo>
                  <a:pt x="7620" y="42671"/>
                </a:lnTo>
                <a:lnTo>
                  <a:pt x="6096" y="36575"/>
                </a:lnTo>
                <a:lnTo>
                  <a:pt x="6096" y="21335"/>
                </a:lnTo>
                <a:lnTo>
                  <a:pt x="9143" y="12191"/>
                </a:lnTo>
                <a:lnTo>
                  <a:pt x="12191" y="6095"/>
                </a:lnTo>
                <a:lnTo>
                  <a:pt x="15239" y="3047"/>
                </a:lnTo>
                <a:lnTo>
                  <a:pt x="19812" y="1523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44828" y="2044233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7492" y="0"/>
                </a:lnTo>
                <a:lnTo>
                  <a:pt x="507492" y="3048"/>
                </a:lnTo>
                <a:lnTo>
                  <a:pt x="513588" y="3048"/>
                </a:lnTo>
                <a:lnTo>
                  <a:pt x="516636" y="4572"/>
                </a:lnTo>
                <a:lnTo>
                  <a:pt x="518160" y="7619"/>
                </a:lnTo>
                <a:lnTo>
                  <a:pt x="521208" y="10668"/>
                </a:lnTo>
                <a:lnTo>
                  <a:pt x="522732" y="15240"/>
                </a:lnTo>
                <a:lnTo>
                  <a:pt x="522732" y="24384"/>
                </a:lnTo>
                <a:lnTo>
                  <a:pt x="521208" y="28956"/>
                </a:lnTo>
                <a:lnTo>
                  <a:pt x="521208" y="45719"/>
                </a:lnTo>
                <a:lnTo>
                  <a:pt x="522732" y="48768"/>
                </a:lnTo>
                <a:lnTo>
                  <a:pt x="527304" y="53340"/>
                </a:lnTo>
                <a:lnTo>
                  <a:pt x="521208" y="59436"/>
                </a:lnTo>
                <a:lnTo>
                  <a:pt x="521208" y="77724"/>
                </a:lnTo>
                <a:lnTo>
                  <a:pt x="522732" y="80772"/>
                </a:lnTo>
                <a:lnTo>
                  <a:pt x="522732" y="91440"/>
                </a:lnTo>
                <a:lnTo>
                  <a:pt x="521208" y="96012"/>
                </a:lnTo>
                <a:lnTo>
                  <a:pt x="518160" y="99060"/>
                </a:lnTo>
                <a:lnTo>
                  <a:pt x="516636" y="102108"/>
                </a:lnTo>
                <a:lnTo>
                  <a:pt x="513588" y="103631"/>
                </a:lnTo>
                <a:lnTo>
                  <a:pt x="507492" y="103631"/>
                </a:lnTo>
                <a:lnTo>
                  <a:pt x="507492" y="106680"/>
                </a:lnTo>
                <a:lnTo>
                  <a:pt x="516636" y="106680"/>
                </a:lnTo>
                <a:lnTo>
                  <a:pt x="521208" y="103631"/>
                </a:lnTo>
                <a:lnTo>
                  <a:pt x="524256" y="100584"/>
                </a:lnTo>
                <a:lnTo>
                  <a:pt x="527304" y="96012"/>
                </a:lnTo>
                <a:lnTo>
                  <a:pt x="528827" y="89916"/>
                </a:lnTo>
                <a:lnTo>
                  <a:pt x="528827" y="71628"/>
                </a:lnTo>
                <a:lnTo>
                  <a:pt x="527304" y="67056"/>
                </a:lnTo>
                <a:lnTo>
                  <a:pt x="527304" y="60960"/>
                </a:lnTo>
                <a:lnTo>
                  <a:pt x="528827" y="59436"/>
                </a:lnTo>
                <a:lnTo>
                  <a:pt x="528827" y="57912"/>
                </a:lnTo>
                <a:lnTo>
                  <a:pt x="530351" y="56387"/>
                </a:lnTo>
                <a:lnTo>
                  <a:pt x="533400" y="54864"/>
                </a:lnTo>
                <a:lnTo>
                  <a:pt x="536448" y="54864"/>
                </a:lnTo>
                <a:lnTo>
                  <a:pt x="536448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28827" y="48768"/>
                </a:lnTo>
                <a:lnTo>
                  <a:pt x="528827" y="47243"/>
                </a:lnTo>
                <a:lnTo>
                  <a:pt x="527304" y="45719"/>
                </a:lnTo>
                <a:lnTo>
                  <a:pt x="527304" y="38100"/>
                </a:lnTo>
                <a:lnTo>
                  <a:pt x="528827" y="35052"/>
                </a:lnTo>
                <a:lnTo>
                  <a:pt x="528827" y="15240"/>
                </a:lnTo>
                <a:lnTo>
                  <a:pt x="527304" y="9143"/>
                </a:lnTo>
                <a:lnTo>
                  <a:pt x="524256" y="6096"/>
                </a:lnTo>
                <a:lnTo>
                  <a:pt x="521208" y="1524"/>
                </a:lnTo>
                <a:lnTo>
                  <a:pt x="516636" y="0"/>
                </a:lnTo>
                <a:close/>
              </a:path>
              <a:path w="536575" h="106680">
                <a:moveTo>
                  <a:pt x="28956" y="0"/>
                </a:moveTo>
                <a:lnTo>
                  <a:pt x="19812" y="0"/>
                </a:lnTo>
                <a:lnTo>
                  <a:pt x="15239" y="1524"/>
                </a:lnTo>
                <a:lnTo>
                  <a:pt x="12192" y="6096"/>
                </a:lnTo>
                <a:lnTo>
                  <a:pt x="9144" y="9143"/>
                </a:lnTo>
                <a:lnTo>
                  <a:pt x="7620" y="15240"/>
                </a:lnTo>
                <a:lnTo>
                  <a:pt x="7620" y="35052"/>
                </a:lnTo>
                <a:lnTo>
                  <a:pt x="9144" y="38100"/>
                </a:lnTo>
                <a:lnTo>
                  <a:pt x="9144" y="45719"/>
                </a:lnTo>
                <a:lnTo>
                  <a:pt x="7620" y="47243"/>
                </a:lnTo>
                <a:lnTo>
                  <a:pt x="7620" y="48768"/>
                </a:lnTo>
                <a:lnTo>
                  <a:pt x="6096" y="50292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6096" y="56387"/>
                </a:lnTo>
                <a:lnTo>
                  <a:pt x="7620" y="57912"/>
                </a:lnTo>
                <a:lnTo>
                  <a:pt x="7620" y="59436"/>
                </a:lnTo>
                <a:lnTo>
                  <a:pt x="9144" y="60960"/>
                </a:lnTo>
                <a:lnTo>
                  <a:pt x="9144" y="67056"/>
                </a:lnTo>
                <a:lnTo>
                  <a:pt x="7620" y="71628"/>
                </a:lnTo>
                <a:lnTo>
                  <a:pt x="7620" y="89916"/>
                </a:lnTo>
                <a:lnTo>
                  <a:pt x="9144" y="96012"/>
                </a:lnTo>
                <a:lnTo>
                  <a:pt x="12192" y="100584"/>
                </a:lnTo>
                <a:lnTo>
                  <a:pt x="15239" y="103631"/>
                </a:lnTo>
                <a:lnTo>
                  <a:pt x="19812" y="106680"/>
                </a:lnTo>
                <a:lnTo>
                  <a:pt x="28956" y="106680"/>
                </a:lnTo>
                <a:lnTo>
                  <a:pt x="28956" y="103631"/>
                </a:lnTo>
                <a:lnTo>
                  <a:pt x="22860" y="103631"/>
                </a:lnTo>
                <a:lnTo>
                  <a:pt x="19812" y="102108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6" y="91440"/>
                </a:lnTo>
                <a:lnTo>
                  <a:pt x="13716" y="80772"/>
                </a:lnTo>
                <a:lnTo>
                  <a:pt x="15239" y="77724"/>
                </a:lnTo>
                <a:lnTo>
                  <a:pt x="15239" y="59436"/>
                </a:lnTo>
                <a:lnTo>
                  <a:pt x="9144" y="53340"/>
                </a:lnTo>
                <a:lnTo>
                  <a:pt x="13716" y="48768"/>
                </a:lnTo>
                <a:lnTo>
                  <a:pt x="15239" y="45719"/>
                </a:lnTo>
                <a:lnTo>
                  <a:pt x="15239" y="28956"/>
                </a:lnTo>
                <a:lnTo>
                  <a:pt x="13716" y="24384"/>
                </a:lnTo>
                <a:lnTo>
                  <a:pt x="13716" y="15240"/>
                </a:lnTo>
                <a:lnTo>
                  <a:pt x="15239" y="10668"/>
                </a:lnTo>
                <a:lnTo>
                  <a:pt x="18287" y="7619"/>
                </a:lnTo>
                <a:lnTo>
                  <a:pt x="19812" y="4572"/>
                </a:lnTo>
                <a:lnTo>
                  <a:pt x="22860" y="3048"/>
                </a:lnTo>
                <a:lnTo>
                  <a:pt x="28956" y="3048"/>
                </a:lnTo>
                <a:lnTo>
                  <a:pt x="289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28647" y="2042709"/>
            <a:ext cx="81280" cy="59690"/>
          </a:xfrm>
          <a:custGeom>
            <a:avLst/>
            <a:gdLst/>
            <a:ahLst/>
            <a:cxnLst/>
            <a:rect l="l" t="t" r="r" b="b"/>
            <a:pathLst>
              <a:path w="81279" h="59689">
                <a:moveTo>
                  <a:pt x="60960" y="0"/>
                </a:moveTo>
                <a:lnTo>
                  <a:pt x="60960" y="1524"/>
                </a:lnTo>
                <a:lnTo>
                  <a:pt x="65531" y="3048"/>
                </a:lnTo>
                <a:lnTo>
                  <a:pt x="68579" y="6096"/>
                </a:lnTo>
                <a:lnTo>
                  <a:pt x="71627" y="12192"/>
                </a:lnTo>
                <a:lnTo>
                  <a:pt x="74675" y="21336"/>
                </a:lnTo>
                <a:lnTo>
                  <a:pt x="74675" y="36576"/>
                </a:lnTo>
                <a:lnTo>
                  <a:pt x="60960" y="56388"/>
                </a:lnTo>
                <a:lnTo>
                  <a:pt x="60960" y="59436"/>
                </a:lnTo>
                <a:lnTo>
                  <a:pt x="67055" y="57912"/>
                </a:lnTo>
                <a:lnTo>
                  <a:pt x="71627" y="53340"/>
                </a:lnTo>
                <a:lnTo>
                  <a:pt x="74675" y="48768"/>
                </a:lnTo>
                <a:lnTo>
                  <a:pt x="80772" y="36576"/>
                </a:lnTo>
                <a:lnTo>
                  <a:pt x="80772" y="21336"/>
                </a:lnTo>
                <a:lnTo>
                  <a:pt x="77724" y="15240"/>
                </a:lnTo>
                <a:lnTo>
                  <a:pt x="74675" y="10668"/>
                </a:lnTo>
                <a:lnTo>
                  <a:pt x="71627" y="4572"/>
                </a:lnTo>
                <a:lnTo>
                  <a:pt x="67055" y="1524"/>
                </a:lnTo>
                <a:lnTo>
                  <a:pt x="60960" y="0"/>
                </a:lnTo>
                <a:close/>
              </a:path>
              <a:path w="81279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6"/>
                </a:lnTo>
                <a:lnTo>
                  <a:pt x="6096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3"/>
                </a:lnTo>
                <a:lnTo>
                  <a:pt x="7619" y="42672"/>
                </a:lnTo>
                <a:lnTo>
                  <a:pt x="6096" y="36576"/>
                </a:lnTo>
                <a:lnTo>
                  <a:pt x="6096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34971" y="2042709"/>
            <a:ext cx="105410" cy="59690"/>
          </a:xfrm>
          <a:custGeom>
            <a:avLst/>
            <a:gdLst/>
            <a:ahLst/>
            <a:cxnLst/>
            <a:rect l="l" t="t" r="r" b="b"/>
            <a:pathLst>
              <a:path w="105410" h="59689">
                <a:moveTo>
                  <a:pt x="85343" y="0"/>
                </a:moveTo>
                <a:lnTo>
                  <a:pt x="85343" y="1524"/>
                </a:lnTo>
                <a:lnTo>
                  <a:pt x="89915" y="3048"/>
                </a:lnTo>
                <a:lnTo>
                  <a:pt x="92963" y="6096"/>
                </a:lnTo>
                <a:lnTo>
                  <a:pt x="96012" y="12192"/>
                </a:lnTo>
                <a:lnTo>
                  <a:pt x="99060" y="21336"/>
                </a:lnTo>
                <a:lnTo>
                  <a:pt x="99060" y="36576"/>
                </a:lnTo>
                <a:lnTo>
                  <a:pt x="85343" y="56388"/>
                </a:lnTo>
                <a:lnTo>
                  <a:pt x="85343" y="59436"/>
                </a:lnTo>
                <a:lnTo>
                  <a:pt x="91439" y="57912"/>
                </a:lnTo>
                <a:lnTo>
                  <a:pt x="96012" y="53340"/>
                </a:lnTo>
                <a:lnTo>
                  <a:pt x="99060" y="48768"/>
                </a:lnTo>
                <a:lnTo>
                  <a:pt x="105155" y="36576"/>
                </a:lnTo>
                <a:lnTo>
                  <a:pt x="105155" y="21336"/>
                </a:lnTo>
                <a:lnTo>
                  <a:pt x="102107" y="15240"/>
                </a:lnTo>
                <a:lnTo>
                  <a:pt x="99060" y="10668"/>
                </a:lnTo>
                <a:lnTo>
                  <a:pt x="96012" y="4572"/>
                </a:lnTo>
                <a:lnTo>
                  <a:pt x="91439" y="1524"/>
                </a:lnTo>
                <a:lnTo>
                  <a:pt x="85343" y="0"/>
                </a:lnTo>
                <a:close/>
              </a:path>
              <a:path w="105410" h="59689">
                <a:moveTo>
                  <a:pt x="19812" y="0"/>
                </a:moveTo>
                <a:lnTo>
                  <a:pt x="13715" y="1524"/>
                </a:lnTo>
                <a:lnTo>
                  <a:pt x="9143" y="4572"/>
                </a:lnTo>
                <a:lnTo>
                  <a:pt x="6095" y="10668"/>
                </a:lnTo>
                <a:lnTo>
                  <a:pt x="3048" y="15240"/>
                </a:lnTo>
                <a:lnTo>
                  <a:pt x="0" y="21336"/>
                </a:lnTo>
                <a:lnTo>
                  <a:pt x="0" y="36576"/>
                </a:lnTo>
                <a:lnTo>
                  <a:pt x="6095" y="48768"/>
                </a:lnTo>
                <a:lnTo>
                  <a:pt x="9143" y="53340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3" y="47243"/>
                </a:lnTo>
                <a:lnTo>
                  <a:pt x="7619" y="42672"/>
                </a:lnTo>
                <a:lnTo>
                  <a:pt x="6095" y="36576"/>
                </a:lnTo>
                <a:lnTo>
                  <a:pt x="6095" y="21336"/>
                </a:lnTo>
                <a:lnTo>
                  <a:pt x="9143" y="12192"/>
                </a:lnTo>
                <a:lnTo>
                  <a:pt x="12191" y="6096"/>
                </a:lnTo>
                <a:lnTo>
                  <a:pt x="15239" y="3048"/>
                </a:lnTo>
                <a:lnTo>
                  <a:pt x="19812" y="1524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67338" y="1287239"/>
            <a:ext cx="2527935" cy="8655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15" dirty="0">
                <a:latin typeface="Cambria Math" panose="02040503050406030204"/>
                <a:cs typeface="Cambria Math" panose="02040503050406030204"/>
              </a:rPr>
              <a:t>c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75764" y="2251497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1523"/>
                </a:lnTo>
                <a:lnTo>
                  <a:pt x="53339" y="3047"/>
                </a:lnTo>
                <a:lnTo>
                  <a:pt x="56387" y="6095"/>
                </a:lnTo>
                <a:lnTo>
                  <a:pt x="59436" y="12191"/>
                </a:lnTo>
                <a:lnTo>
                  <a:pt x="62484" y="21335"/>
                </a:lnTo>
                <a:lnTo>
                  <a:pt x="62484" y="36575"/>
                </a:lnTo>
                <a:lnTo>
                  <a:pt x="48768" y="56387"/>
                </a:lnTo>
                <a:lnTo>
                  <a:pt x="48768" y="59435"/>
                </a:lnTo>
                <a:lnTo>
                  <a:pt x="54863" y="57911"/>
                </a:lnTo>
                <a:lnTo>
                  <a:pt x="59436" y="53339"/>
                </a:lnTo>
                <a:lnTo>
                  <a:pt x="62484" y="48767"/>
                </a:lnTo>
                <a:lnTo>
                  <a:pt x="68580" y="36575"/>
                </a:lnTo>
                <a:lnTo>
                  <a:pt x="68580" y="21335"/>
                </a:lnTo>
                <a:lnTo>
                  <a:pt x="65532" y="15239"/>
                </a:lnTo>
                <a:lnTo>
                  <a:pt x="62484" y="10667"/>
                </a:lnTo>
                <a:lnTo>
                  <a:pt x="59436" y="4571"/>
                </a:lnTo>
                <a:lnTo>
                  <a:pt x="54863" y="1523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3"/>
                </a:lnTo>
                <a:lnTo>
                  <a:pt x="9144" y="4571"/>
                </a:lnTo>
                <a:lnTo>
                  <a:pt x="6096" y="10667"/>
                </a:lnTo>
                <a:lnTo>
                  <a:pt x="3048" y="15239"/>
                </a:lnTo>
                <a:lnTo>
                  <a:pt x="0" y="21335"/>
                </a:lnTo>
                <a:lnTo>
                  <a:pt x="0" y="36575"/>
                </a:lnTo>
                <a:lnTo>
                  <a:pt x="6096" y="48767"/>
                </a:lnTo>
                <a:lnTo>
                  <a:pt x="9144" y="53339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5"/>
                </a:lnTo>
                <a:lnTo>
                  <a:pt x="9144" y="47243"/>
                </a:lnTo>
                <a:lnTo>
                  <a:pt x="7620" y="42671"/>
                </a:lnTo>
                <a:lnTo>
                  <a:pt x="6096" y="36575"/>
                </a:lnTo>
                <a:lnTo>
                  <a:pt x="6096" y="21335"/>
                </a:lnTo>
                <a:lnTo>
                  <a:pt x="9144" y="12191"/>
                </a:lnTo>
                <a:lnTo>
                  <a:pt x="12191" y="6095"/>
                </a:lnTo>
                <a:lnTo>
                  <a:pt x="15239" y="3047"/>
                </a:lnTo>
                <a:lnTo>
                  <a:pt x="19812" y="1523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68371" y="2251497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7" y="0"/>
                </a:moveTo>
                <a:lnTo>
                  <a:pt x="48767" y="1523"/>
                </a:lnTo>
                <a:lnTo>
                  <a:pt x="53339" y="3047"/>
                </a:lnTo>
                <a:lnTo>
                  <a:pt x="56387" y="6095"/>
                </a:lnTo>
                <a:lnTo>
                  <a:pt x="59436" y="12191"/>
                </a:lnTo>
                <a:lnTo>
                  <a:pt x="62483" y="21335"/>
                </a:lnTo>
                <a:lnTo>
                  <a:pt x="62483" y="36575"/>
                </a:lnTo>
                <a:lnTo>
                  <a:pt x="48767" y="56387"/>
                </a:lnTo>
                <a:lnTo>
                  <a:pt x="48767" y="59435"/>
                </a:lnTo>
                <a:lnTo>
                  <a:pt x="54863" y="57911"/>
                </a:lnTo>
                <a:lnTo>
                  <a:pt x="59436" y="53339"/>
                </a:lnTo>
                <a:lnTo>
                  <a:pt x="62483" y="48767"/>
                </a:lnTo>
                <a:lnTo>
                  <a:pt x="68579" y="36575"/>
                </a:lnTo>
                <a:lnTo>
                  <a:pt x="68579" y="21335"/>
                </a:lnTo>
                <a:lnTo>
                  <a:pt x="65531" y="15239"/>
                </a:lnTo>
                <a:lnTo>
                  <a:pt x="62483" y="10667"/>
                </a:lnTo>
                <a:lnTo>
                  <a:pt x="59436" y="4571"/>
                </a:lnTo>
                <a:lnTo>
                  <a:pt x="54863" y="1523"/>
                </a:lnTo>
                <a:lnTo>
                  <a:pt x="48767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3"/>
                </a:lnTo>
                <a:lnTo>
                  <a:pt x="9143" y="4571"/>
                </a:lnTo>
                <a:lnTo>
                  <a:pt x="6095" y="10667"/>
                </a:lnTo>
                <a:lnTo>
                  <a:pt x="3048" y="15239"/>
                </a:lnTo>
                <a:lnTo>
                  <a:pt x="0" y="21335"/>
                </a:lnTo>
                <a:lnTo>
                  <a:pt x="0" y="36575"/>
                </a:lnTo>
                <a:lnTo>
                  <a:pt x="6095" y="48767"/>
                </a:lnTo>
                <a:lnTo>
                  <a:pt x="9143" y="53339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5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1335"/>
                </a:lnTo>
                <a:lnTo>
                  <a:pt x="9143" y="12191"/>
                </a:lnTo>
                <a:lnTo>
                  <a:pt x="12191" y="6095"/>
                </a:lnTo>
                <a:lnTo>
                  <a:pt x="15239" y="3047"/>
                </a:lnTo>
                <a:lnTo>
                  <a:pt x="19812" y="1523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636198" y="2229674"/>
            <a:ext cx="1762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1050" u="sng" spc="187" baseline="32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u="sng" spc="232" baseline="44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50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L(f(x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18220" y="2292146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95920" y="2272303"/>
            <a:ext cx="1199515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7630" algn="r">
              <a:lnSpc>
                <a:spcPct val="100000"/>
              </a:lnSpc>
              <a:spcBef>
                <a:spcPts val="100"/>
              </a:spcBef>
            </a:pPr>
            <a:r>
              <a:rPr sz="750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187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139700">
              <a:lnSpc>
                <a:spcPct val="100000"/>
              </a:lnSpc>
              <a:spcBef>
                <a:spcPts val="51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3.</a:t>
            </a:r>
            <a:r>
              <a:rPr sz="700" spc="1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2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cg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5560" y="1119165"/>
            <a:ext cx="2787650" cy="182880"/>
          </a:xfrm>
          <a:custGeom>
            <a:avLst/>
            <a:gdLst/>
            <a:ahLst/>
            <a:cxnLst/>
            <a:rect l="l" t="t" r="r" b="b"/>
            <a:pathLst>
              <a:path w="2787650" h="182880">
                <a:moveTo>
                  <a:pt x="0" y="0"/>
                </a:moveTo>
                <a:lnTo>
                  <a:pt x="2787395" y="0"/>
                </a:lnTo>
                <a:lnTo>
                  <a:pt x="2787395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5560" y="1302045"/>
            <a:ext cx="2787650" cy="1897380"/>
          </a:xfrm>
          <a:custGeom>
            <a:avLst/>
            <a:gdLst/>
            <a:ahLst/>
            <a:cxnLst/>
            <a:rect l="l" t="t" r="r" b="b"/>
            <a:pathLst>
              <a:path w="2787650" h="1897380">
                <a:moveTo>
                  <a:pt x="0" y="0"/>
                </a:moveTo>
                <a:lnTo>
                  <a:pt x="2787395" y="0"/>
                </a:lnTo>
                <a:lnTo>
                  <a:pt x="2787395" y="1897379"/>
                </a:lnTo>
                <a:lnTo>
                  <a:pt x="0" y="1897379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2511" y="1302045"/>
            <a:ext cx="1548765" cy="0"/>
          </a:xfrm>
          <a:custGeom>
            <a:avLst/>
            <a:gdLst/>
            <a:ahLst/>
            <a:cxnLst/>
            <a:rect l="l" t="t" r="r" b="b"/>
            <a:pathLst>
              <a:path w="1548764">
                <a:moveTo>
                  <a:pt x="0" y="0"/>
                </a:moveTo>
                <a:lnTo>
                  <a:pt x="1548384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5559" y="1116117"/>
            <a:ext cx="0" cy="2086610"/>
          </a:xfrm>
          <a:custGeom>
            <a:avLst/>
            <a:gdLst/>
            <a:ahLst/>
            <a:cxnLst/>
            <a:rect l="l" t="t" r="r" b="b"/>
            <a:pathLst>
              <a:path h="2086610">
                <a:moveTo>
                  <a:pt x="0" y="0"/>
                </a:moveTo>
                <a:lnTo>
                  <a:pt x="0" y="208635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82956" y="1116117"/>
            <a:ext cx="0" cy="74930"/>
          </a:xfrm>
          <a:custGeom>
            <a:avLst/>
            <a:gdLst/>
            <a:ahLst/>
            <a:cxnLst/>
            <a:rect l="l" t="t" r="r" b="b"/>
            <a:pathLst>
              <a:path h="74930">
                <a:moveTo>
                  <a:pt x="0" y="0"/>
                </a:moveTo>
                <a:lnTo>
                  <a:pt x="0" y="74676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82956" y="1695237"/>
            <a:ext cx="0" cy="1507490"/>
          </a:xfrm>
          <a:custGeom>
            <a:avLst/>
            <a:gdLst/>
            <a:ahLst/>
            <a:cxnLst/>
            <a:rect l="l" t="t" r="r" b="b"/>
            <a:pathLst>
              <a:path h="1507489">
                <a:moveTo>
                  <a:pt x="0" y="0"/>
                </a:moveTo>
                <a:lnTo>
                  <a:pt x="0" y="150723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2511" y="1119165"/>
            <a:ext cx="2794000" cy="0"/>
          </a:xfrm>
          <a:custGeom>
            <a:avLst/>
            <a:gdLst/>
            <a:ahLst/>
            <a:cxnLst/>
            <a:rect l="l" t="t" r="r" b="b"/>
            <a:pathLst>
              <a:path w="2794000">
                <a:moveTo>
                  <a:pt x="0" y="0"/>
                </a:moveTo>
                <a:lnTo>
                  <a:pt x="279349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92511" y="3199425"/>
            <a:ext cx="2794000" cy="0"/>
          </a:xfrm>
          <a:custGeom>
            <a:avLst/>
            <a:gdLst/>
            <a:ahLst/>
            <a:cxnLst/>
            <a:rect l="l" t="t" r="r" b="b"/>
            <a:pathLst>
              <a:path w="2794000">
                <a:moveTo>
                  <a:pt x="0" y="0"/>
                </a:moveTo>
                <a:lnTo>
                  <a:pt x="279349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98608" y="1122213"/>
            <a:ext cx="1553210" cy="17081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524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20"/>
              </a:spcBef>
            </a:pP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使用动量的小批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梯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度</a:t>
            </a:r>
            <a:r>
              <a:rPr sz="9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降算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40933" y="1153564"/>
            <a:ext cx="11430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7095" y="1344251"/>
            <a:ext cx="12795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6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1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z="700" spc="1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动量系数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µ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7095" y="1450322"/>
            <a:ext cx="952500" cy="34544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6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33680">
              <a:lnSpc>
                <a:spcPct val="100000"/>
              </a:lnSpc>
              <a:spcBef>
                <a:spcPts val="420"/>
              </a:spcBef>
            </a:pP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始化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-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25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2383" y="1824308"/>
            <a:ext cx="10864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5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83439" y="2024421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9015" y="0"/>
                </a:lnTo>
                <a:lnTo>
                  <a:pt x="509015" y="3048"/>
                </a:lnTo>
                <a:lnTo>
                  <a:pt x="513588" y="3048"/>
                </a:lnTo>
                <a:lnTo>
                  <a:pt x="516636" y="4572"/>
                </a:lnTo>
                <a:lnTo>
                  <a:pt x="518160" y="7620"/>
                </a:lnTo>
                <a:lnTo>
                  <a:pt x="521208" y="10668"/>
                </a:lnTo>
                <a:lnTo>
                  <a:pt x="522732" y="15240"/>
                </a:lnTo>
                <a:lnTo>
                  <a:pt x="522732" y="28956"/>
                </a:lnTo>
                <a:lnTo>
                  <a:pt x="521208" y="32004"/>
                </a:lnTo>
                <a:lnTo>
                  <a:pt x="521208" y="45720"/>
                </a:lnTo>
                <a:lnTo>
                  <a:pt x="522732" y="48768"/>
                </a:lnTo>
                <a:lnTo>
                  <a:pt x="527304" y="53340"/>
                </a:lnTo>
                <a:lnTo>
                  <a:pt x="521208" y="59436"/>
                </a:lnTo>
                <a:lnTo>
                  <a:pt x="521208" y="73152"/>
                </a:lnTo>
                <a:lnTo>
                  <a:pt x="522732" y="77724"/>
                </a:lnTo>
                <a:lnTo>
                  <a:pt x="522732" y="91440"/>
                </a:lnTo>
                <a:lnTo>
                  <a:pt x="521208" y="96012"/>
                </a:lnTo>
                <a:lnTo>
                  <a:pt x="518160" y="99060"/>
                </a:lnTo>
                <a:lnTo>
                  <a:pt x="516636" y="102108"/>
                </a:lnTo>
                <a:lnTo>
                  <a:pt x="513588" y="103631"/>
                </a:lnTo>
                <a:lnTo>
                  <a:pt x="509015" y="103631"/>
                </a:lnTo>
                <a:lnTo>
                  <a:pt x="509015" y="106680"/>
                </a:lnTo>
                <a:lnTo>
                  <a:pt x="516636" y="106680"/>
                </a:lnTo>
                <a:lnTo>
                  <a:pt x="521208" y="103631"/>
                </a:lnTo>
                <a:lnTo>
                  <a:pt x="524256" y="100584"/>
                </a:lnTo>
                <a:lnTo>
                  <a:pt x="527304" y="96012"/>
                </a:lnTo>
                <a:lnTo>
                  <a:pt x="530351" y="89916"/>
                </a:lnTo>
                <a:lnTo>
                  <a:pt x="530351" y="79248"/>
                </a:lnTo>
                <a:lnTo>
                  <a:pt x="528827" y="74676"/>
                </a:lnTo>
                <a:lnTo>
                  <a:pt x="528827" y="71628"/>
                </a:lnTo>
                <a:lnTo>
                  <a:pt x="527304" y="67056"/>
                </a:lnTo>
                <a:lnTo>
                  <a:pt x="527304" y="60960"/>
                </a:lnTo>
                <a:lnTo>
                  <a:pt x="530351" y="57912"/>
                </a:lnTo>
                <a:lnTo>
                  <a:pt x="530351" y="56387"/>
                </a:lnTo>
                <a:lnTo>
                  <a:pt x="533400" y="54864"/>
                </a:lnTo>
                <a:lnTo>
                  <a:pt x="536448" y="54864"/>
                </a:lnTo>
                <a:lnTo>
                  <a:pt x="536448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30351" y="48768"/>
                </a:lnTo>
                <a:lnTo>
                  <a:pt x="527304" y="45720"/>
                </a:lnTo>
                <a:lnTo>
                  <a:pt x="527304" y="38100"/>
                </a:lnTo>
                <a:lnTo>
                  <a:pt x="528827" y="35052"/>
                </a:lnTo>
                <a:lnTo>
                  <a:pt x="528827" y="30480"/>
                </a:lnTo>
                <a:lnTo>
                  <a:pt x="530351" y="27431"/>
                </a:lnTo>
                <a:lnTo>
                  <a:pt x="530351" y="15240"/>
                </a:lnTo>
                <a:lnTo>
                  <a:pt x="527304" y="9143"/>
                </a:lnTo>
                <a:lnTo>
                  <a:pt x="524256" y="6096"/>
                </a:lnTo>
                <a:lnTo>
                  <a:pt x="521208" y="1524"/>
                </a:lnTo>
                <a:lnTo>
                  <a:pt x="516636" y="0"/>
                </a:lnTo>
                <a:close/>
              </a:path>
              <a:path w="536575" h="106680">
                <a:moveTo>
                  <a:pt x="27432" y="0"/>
                </a:moveTo>
                <a:lnTo>
                  <a:pt x="18287" y="0"/>
                </a:lnTo>
                <a:lnTo>
                  <a:pt x="13716" y="1524"/>
                </a:lnTo>
                <a:lnTo>
                  <a:pt x="10668" y="6096"/>
                </a:lnTo>
                <a:lnTo>
                  <a:pt x="7620" y="9143"/>
                </a:lnTo>
                <a:lnTo>
                  <a:pt x="6096" y="15240"/>
                </a:lnTo>
                <a:lnTo>
                  <a:pt x="6096" y="35052"/>
                </a:lnTo>
                <a:lnTo>
                  <a:pt x="7620" y="38100"/>
                </a:lnTo>
                <a:lnTo>
                  <a:pt x="7620" y="47243"/>
                </a:lnTo>
                <a:lnTo>
                  <a:pt x="4572" y="50292"/>
                </a:lnTo>
                <a:lnTo>
                  <a:pt x="1524" y="51816"/>
                </a:lnTo>
                <a:lnTo>
                  <a:pt x="0" y="51816"/>
                </a:lnTo>
                <a:lnTo>
                  <a:pt x="0" y="54864"/>
                </a:lnTo>
                <a:lnTo>
                  <a:pt x="1524" y="54864"/>
                </a:lnTo>
                <a:lnTo>
                  <a:pt x="4572" y="56387"/>
                </a:lnTo>
                <a:lnTo>
                  <a:pt x="7620" y="59436"/>
                </a:lnTo>
                <a:lnTo>
                  <a:pt x="7620" y="67056"/>
                </a:lnTo>
                <a:lnTo>
                  <a:pt x="6096" y="71628"/>
                </a:lnTo>
                <a:lnTo>
                  <a:pt x="6096" y="89916"/>
                </a:lnTo>
                <a:lnTo>
                  <a:pt x="7620" y="96012"/>
                </a:lnTo>
                <a:lnTo>
                  <a:pt x="10668" y="100584"/>
                </a:lnTo>
                <a:lnTo>
                  <a:pt x="13716" y="103631"/>
                </a:lnTo>
                <a:lnTo>
                  <a:pt x="18287" y="106680"/>
                </a:lnTo>
                <a:lnTo>
                  <a:pt x="27432" y="106680"/>
                </a:lnTo>
                <a:lnTo>
                  <a:pt x="27432" y="103631"/>
                </a:lnTo>
                <a:lnTo>
                  <a:pt x="21336" y="103631"/>
                </a:lnTo>
                <a:lnTo>
                  <a:pt x="18287" y="102108"/>
                </a:lnTo>
                <a:lnTo>
                  <a:pt x="16764" y="99060"/>
                </a:lnTo>
                <a:lnTo>
                  <a:pt x="13716" y="96012"/>
                </a:lnTo>
                <a:lnTo>
                  <a:pt x="12192" y="91440"/>
                </a:lnTo>
                <a:lnTo>
                  <a:pt x="12192" y="80772"/>
                </a:lnTo>
                <a:lnTo>
                  <a:pt x="13716" y="77724"/>
                </a:lnTo>
                <a:lnTo>
                  <a:pt x="13716" y="70104"/>
                </a:lnTo>
                <a:lnTo>
                  <a:pt x="15240" y="67056"/>
                </a:lnTo>
                <a:lnTo>
                  <a:pt x="15240" y="62484"/>
                </a:lnTo>
                <a:lnTo>
                  <a:pt x="13716" y="59436"/>
                </a:lnTo>
                <a:lnTo>
                  <a:pt x="7620" y="53340"/>
                </a:lnTo>
                <a:lnTo>
                  <a:pt x="12192" y="48768"/>
                </a:lnTo>
                <a:lnTo>
                  <a:pt x="13716" y="45720"/>
                </a:lnTo>
                <a:lnTo>
                  <a:pt x="15240" y="44196"/>
                </a:lnTo>
                <a:lnTo>
                  <a:pt x="15240" y="38100"/>
                </a:lnTo>
                <a:lnTo>
                  <a:pt x="13716" y="36576"/>
                </a:lnTo>
                <a:lnTo>
                  <a:pt x="13716" y="28956"/>
                </a:lnTo>
                <a:lnTo>
                  <a:pt x="12192" y="24384"/>
                </a:lnTo>
                <a:lnTo>
                  <a:pt x="12192" y="15240"/>
                </a:lnTo>
                <a:lnTo>
                  <a:pt x="13716" y="10668"/>
                </a:lnTo>
                <a:lnTo>
                  <a:pt x="16764" y="7620"/>
                </a:lnTo>
                <a:lnTo>
                  <a:pt x="18287" y="4572"/>
                </a:lnTo>
                <a:lnTo>
                  <a:pt x="21336" y="3048"/>
                </a:lnTo>
                <a:lnTo>
                  <a:pt x="27432" y="3048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471832" y="202289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7912" y="0"/>
                </a:moveTo>
                <a:lnTo>
                  <a:pt x="57912" y="1523"/>
                </a:lnTo>
                <a:lnTo>
                  <a:pt x="62483" y="3047"/>
                </a:lnTo>
                <a:lnTo>
                  <a:pt x="68580" y="12191"/>
                </a:lnTo>
                <a:lnTo>
                  <a:pt x="71628" y="21335"/>
                </a:lnTo>
                <a:lnTo>
                  <a:pt x="71628" y="36575"/>
                </a:lnTo>
                <a:lnTo>
                  <a:pt x="57912" y="56387"/>
                </a:lnTo>
                <a:lnTo>
                  <a:pt x="57912" y="59435"/>
                </a:lnTo>
                <a:lnTo>
                  <a:pt x="64007" y="57911"/>
                </a:lnTo>
                <a:lnTo>
                  <a:pt x="68580" y="53339"/>
                </a:lnTo>
                <a:lnTo>
                  <a:pt x="71628" y="48767"/>
                </a:lnTo>
                <a:lnTo>
                  <a:pt x="76200" y="42671"/>
                </a:lnTo>
                <a:lnTo>
                  <a:pt x="77723" y="36575"/>
                </a:lnTo>
                <a:lnTo>
                  <a:pt x="77723" y="21335"/>
                </a:lnTo>
                <a:lnTo>
                  <a:pt x="76200" y="15239"/>
                </a:lnTo>
                <a:lnTo>
                  <a:pt x="71628" y="10667"/>
                </a:lnTo>
                <a:lnTo>
                  <a:pt x="68580" y="4571"/>
                </a:lnTo>
                <a:lnTo>
                  <a:pt x="64007" y="1523"/>
                </a:lnTo>
                <a:lnTo>
                  <a:pt x="57912" y="0"/>
                </a:lnTo>
                <a:close/>
              </a:path>
              <a:path w="78105" h="59689">
                <a:moveTo>
                  <a:pt x="18287" y="0"/>
                </a:moveTo>
                <a:lnTo>
                  <a:pt x="12192" y="1523"/>
                </a:lnTo>
                <a:lnTo>
                  <a:pt x="7619" y="4571"/>
                </a:lnTo>
                <a:lnTo>
                  <a:pt x="4572" y="10667"/>
                </a:lnTo>
                <a:lnTo>
                  <a:pt x="1524" y="15239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6" y="54863"/>
                </a:lnTo>
                <a:lnTo>
                  <a:pt x="10668" y="51815"/>
                </a:lnTo>
                <a:lnTo>
                  <a:pt x="7619" y="47243"/>
                </a:lnTo>
                <a:lnTo>
                  <a:pt x="6095" y="42671"/>
                </a:lnTo>
                <a:lnTo>
                  <a:pt x="4572" y="36575"/>
                </a:lnTo>
                <a:lnTo>
                  <a:pt x="4572" y="21335"/>
                </a:lnTo>
                <a:lnTo>
                  <a:pt x="7619" y="12191"/>
                </a:lnTo>
                <a:lnTo>
                  <a:pt x="13716" y="3047"/>
                </a:lnTo>
                <a:lnTo>
                  <a:pt x="19812" y="1523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776632" y="2022897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89">
                <a:moveTo>
                  <a:pt x="82295" y="0"/>
                </a:moveTo>
                <a:lnTo>
                  <a:pt x="82295" y="1523"/>
                </a:lnTo>
                <a:lnTo>
                  <a:pt x="86867" y="3047"/>
                </a:lnTo>
                <a:lnTo>
                  <a:pt x="92963" y="12191"/>
                </a:lnTo>
                <a:lnTo>
                  <a:pt x="96012" y="21335"/>
                </a:lnTo>
                <a:lnTo>
                  <a:pt x="96012" y="36575"/>
                </a:lnTo>
                <a:lnTo>
                  <a:pt x="82295" y="56387"/>
                </a:lnTo>
                <a:lnTo>
                  <a:pt x="82295" y="59435"/>
                </a:lnTo>
                <a:lnTo>
                  <a:pt x="88391" y="57911"/>
                </a:lnTo>
                <a:lnTo>
                  <a:pt x="92963" y="53339"/>
                </a:lnTo>
                <a:lnTo>
                  <a:pt x="96012" y="48767"/>
                </a:lnTo>
                <a:lnTo>
                  <a:pt x="100583" y="42671"/>
                </a:lnTo>
                <a:lnTo>
                  <a:pt x="102107" y="36575"/>
                </a:lnTo>
                <a:lnTo>
                  <a:pt x="102107" y="21335"/>
                </a:lnTo>
                <a:lnTo>
                  <a:pt x="100583" y="15239"/>
                </a:lnTo>
                <a:lnTo>
                  <a:pt x="96012" y="10667"/>
                </a:lnTo>
                <a:lnTo>
                  <a:pt x="92963" y="4571"/>
                </a:lnTo>
                <a:lnTo>
                  <a:pt x="88391" y="1523"/>
                </a:lnTo>
                <a:lnTo>
                  <a:pt x="82295" y="0"/>
                </a:lnTo>
                <a:close/>
              </a:path>
              <a:path w="102235" h="59689">
                <a:moveTo>
                  <a:pt x="18287" y="0"/>
                </a:moveTo>
                <a:lnTo>
                  <a:pt x="12191" y="1523"/>
                </a:lnTo>
                <a:lnTo>
                  <a:pt x="7619" y="4571"/>
                </a:lnTo>
                <a:lnTo>
                  <a:pt x="4571" y="10667"/>
                </a:lnTo>
                <a:lnTo>
                  <a:pt x="1523" y="15239"/>
                </a:lnTo>
                <a:lnTo>
                  <a:pt x="0" y="21335"/>
                </a:lnTo>
                <a:lnTo>
                  <a:pt x="0" y="36575"/>
                </a:lnTo>
                <a:lnTo>
                  <a:pt x="18287" y="59435"/>
                </a:lnTo>
                <a:lnTo>
                  <a:pt x="18287" y="56387"/>
                </a:lnTo>
                <a:lnTo>
                  <a:pt x="13715" y="54863"/>
                </a:lnTo>
                <a:lnTo>
                  <a:pt x="10667" y="51815"/>
                </a:lnTo>
                <a:lnTo>
                  <a:pt x="7619" y="47243"/>
                </a:lnTo>
                <a:lnTo>
                  <a:pt x="6095" y="42671"/>
                </a:lnTo>
                <a:lnTo>
                  <a:pt x="4571" y="36575"/>
                </a:lnTo>
                <a:lnTo>
                  <a:pt x="4571" y="21335"/>
                </a:lnTo>
                <a:lnTo>
                  <a:pt x="7619" y="12191"/>
                </a:lnTo>
                <a:lnTo>
                  <a:pt x="13715" y="3047"/>
                </a:lnTo>
                <a:lnTo>
                  <a:pt x="19812" y="1523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418747" y="2207301"/>
            <a:ext cx="535305" cy="106680"/>
          </a:xfrm>
          <a:custGeom>
            <a:avLst/>
            <a:gdLst/>
            <a:ahLst/>
            <a:cxnLst/>
            <a:rect l="l" t="t" r="r" b="b"/>
            <a:pathLst>
              <a:path w="535305" h="106680">
                <a:moveTo>
                  <a:pt x="515112" y="0"/>
                </a:moveTo>
                <a:lnTo>
                  <a:pt x="507491" y="0"/>
                </a:lnTo>
                <a:lnTo>
                  <a:pt x="507491" y="3048"/>
                </a:lnTo>
                <a:lnTo>
                  <a:pt x="512063" y="3048"/>
                </a:lnTo>
                <a:lnTo>
                  <a:pt x="515112" y="4572"/>
                </a:lnTo>
                <a:lnTo>
                  <a:pt x="516635" y="7619"/>
                </a:lnTo>
                <a:lnTo>
                  <a:pt x="519683" y="10668"/>
                </a:lnTo>
                <a:lnTo>
                  <a:pt x="521207" y="15240"/>
                </a:lnTo>
                <a:lnTo>
                  <a:pt x="521207" y="28956"/>
                </a:lnTo>
                <a:lnTo>
                  <a:pt x="519683" y="32004"/>
                </a:lnTo>
                <a:lnTo>
                  <a:pt x="519683" y="45719"/>
                </a:lnTo>
                <a:lnTo>
                  <a:pt x="521207" y="48768"/>
                </a:lnTo>
                <a:lnTo>
                  <a:pt x="525779" y="53340"/>
                </a:lnTo>
                <a:lnTo>
                  <a:pt x="519683" y="59436"/>
                </a:lnTo>
                <a:lnTo>
                  <a:pt x="519683" y="73151"/>
                </a:lnTo>
                <a:lnTo>
                  <a:pt x="521207" y="77724"/>
                </a:lnTo>
                <a:lnTo>
                  <a:pt x="521207" y="91440"/>
                </a:lnTo>
                <a:lnTo>
                  <a:pt x="519683" y="96012"/>
                </a:lnTo>
                <a:lnTo>
                  <a:pt x="516635" y="99060"/>
                </a:lnTo>
                <a:lnTo>
                  <a:pt x="515112" y="102107"/>
                </a:lnTo>
                <a:lnTo>
                  <a:pt x="512063" y="103631"/>
                </a:lnTo>
                <a:lnTo>
                  <a:pt x="507491" y="103631"/>
                </a:lnTo>
                <a:lnTo>
                  <a:pt x="507491" y="106680"/>
                </a:lnTo>
                <a:lnTo>
                  <a:pt x="515112" y="106680"/>
                </a:lnTo>
                <a:lnTo>
                  <a:pt x="519683" y="103631"/>
                </a:lnTo>
                <a:lnTo>
                  <a:pt x="522731" y="100584"/>
                </a:lnTo>
                <a:lnTo>
                  <a:pt x="525779" y="96012"/>
                </a:lnTo>
                <a:lnTo>
                  <a:pt x="528827" y="89916"/>
                </a:lnTo>
                <a:lnTo>
                  <a:pt x="528827" y="79248"/>
                </a:lnTo>
                <a:lnTo>
                  <a:pt x="527303" y="74675"/>
                </a:lnTo>
                <a:lnTo>
                  <a:pt x="527303" y="71628"/>
                </a:lnTo>
                <a:lnTo>
                  <a:pt x="525779" y="67056"/>
                </a:lnTo>
                <a:lnTo>
                  <a:pt x="525779" y="60960"/>
                </a:lnTo>
                <a:lnTo>
                  <a:pt x="528827" y="57912"/>
                </a:lnTo>
                <a:lnTo>
                  <a:pt x="528827" y="56387"/>
                </a:lnTo>
                <a:lnTo>
                  <a:pt x="531876" y="54863"/>
                </a:lnTo>
                <a:lnTo>
                  <a:pt x="534924" y="54863"/>
                </a:lnTo>
                <a:lnTo>
                  <a:pt x="534924" y="51816"/>
                </a:lnTo>
                <a:lnTo>
                  <a:pt x="531876" y="51816"/>
                </a:lnTo>
                <a:lnTo>
                  <a:pt x="528827" y="50292"/>
                </a:lnTo>
                <a:lnTo>
                  <a:pt x="528827" y="48768"/>
                </a:lnTo>
                <a:lnTo>
                  <a:pt x="525779" y="45719"/>
                </a:lnTo>
                <a:lnTo>
                  <a:pt x="525779" y="38100"/>
                </a:lnTo>
                <a:lnTo>
                  <a:pt x="527303" y="35051"/>
                </a:lnTo>
                <a:lnTo>
                  <a:pt x="527303" y="30480"/>
                </a:lnTo>
                <a:lnTo>
                  <a:pt x="528827" y="27431"/>
                </a:lnTo>
                <a:lnTo>
                  <a:pt x="528827" y="15240"/>
                </a:lnTo>
                <a:lnTo>
                  <a:pt x="525779" y="9143"/>
                </a:lnTo>
                <a:lnTo>
                  <a:pt x="522731" y="6096"/>
                </a:lnTo>
                <a:lnTo>
                  <a:pt x="519683" y="1524"/>
                </a:lnTo>
                <a:lnTo>
                  <a:pt x="515112" y="0"/>
                </a:lnTo>
                <a:close/>
              </a:path>
              <a:path w="535305" h="106680">
                <a:moveTo>
                  <a:pt x="27431" y="0"/>
                </a:moveTo>
                <a:lnTo>
                  <a:pt x="18287" y="0"/>
                </a:lnTo>
                <a:lnTo>
                  <a:pt x="13715" y="1524"/>
                </a:lnTo>
                <a:lnTo>
                  <a:pt x="10668" y="6096"/>
                </a:lnTo>
                <a:lnTo>
                  <a:pt x="7619" y="9143"/>
                </a:lnTo>
                <a:lnTo>
                  <a:pt x="6095" y="15240"/>
                </a:lnTo>
                <a:lnTo>
                  <a:pt x="6095" y="35051"/>
                </a:lnTo>
                <a:lnTo>
                  <a:pt x="7619" y="38100"/>
                </a:lnTo>
                <a:lnTo>
                  <a:pt x="7619" y="47243"/>
                </a:lnTo>
                <a:lnTo>
                  <a:pt x="4571" y="50292"/>
                </a:lnTo>
                <a:lnTo>
                  <a:pt x="1524" y="51816"/>
                </a:lnTo>
                <a:lnTo>
                  <a:pt x="0" y="51816"/>
                </a:lnTo>
                <a:lnTo>
                  <a:pt x="0" y="54863"/>
                </a:lnTo>
                <a:lnTo>
                  <a:pt x="1524" y="54863"/>
                </a:lnTo>
                <a:lnTo>
                  <a:pt x="4571" y="56387"/>
                </a:lnTo>
                <a:lnTo>
                  <a:pt x="7619" y="59436"/>
                </a:lnTo>
                <a:lnTo>
                  <a:pt x="7619" y="67056"/>
                </a:lnTo>
                <a:lnTo>
                  <a:pt x="6095" y="71628"/>
                </a:lnTo>
                <a:lnTo>
                  <a:pt x="6095" y="89916"/>
                </a:lnTo>
                <a:lnTo>
                  <a:pt x="7619" y="96012"/>
                </a:lnTo>
                <a:lnTo>
                  <a:pt x="10668" y="100584"/>
                </a:lnTo>
                <a:lnTo>
                  <a:pt x="13715" y="103631"/>
                </a:lnTo>
                <a:lnTo>
                  <a:pt x="18287" y="106680"/>
                </a:lnTo>
                <a:lnTo>
                  <a:pt x="27431" y="106680"/>
                </a:lnTo>
                <a:lnTo>
                  <a:pt x="27431" y="103631"/>
                </a:lnTo>
                <a:lnTo>
                  <a:pt x="21335" y="103631"/>
                </a:lnTo>
                <a:lnTo>
                  <a:pt x="18287" y="102107"/>
                </a:lnTo>
                <a:lnTo>
                  <a:pt x="16763" y="99060"/>
                </a:lnTo>
                <a:lnTo>
                  <a:pt x="13715" y="96012"/>
                </a:lnTo>
                <a:lnTo>
                  <a:pt x="12191" y="91440"/>
                </a:lnTo>
                <a:lnTo>
                  <a:pt x="12191" y="80772"/>
                </a:lnTo>
                <a:lnTo>
                  <a:pt x="13715" y="77724"/>
                </a:lnTo>
                <a:lnTo>
                  <a:pt x="13715" y="70104"/>
                </a:lnTo>
                <a:lnTo>
                  <a:pt x="15239" y="67056"/>
                </a:lnTo>
                <a:lnTo>
                  <a:pt x="15239" y="62484"/>
                </a:lnTo>
                <a:lnTo>
                  <a:pt x="13715" y="59436"/>
                </a:lnTo>
                <a:lnTo>
                  <a:pt x="7619" y="53340"/>
                </a:lnTo>
                <a:lnTo>
                  <a:pt x="12191" y="48768"/>
                </a:lnTo>
                <a:lnTo>
                  <a:pt x="13715" y="45719"/>
                </a:lnTo>
                <a:lnTo>
                  <a:pt x="15239" y="44196"/>
                </a:lnTo>
                <a:lnTo>
                  <a:pt x="15239" y="38100"/>
                </a:lnTo>
                <a:lnTo>
                  <a:pt x="13715" y="36575"/>
                </a:lnTo>
                <a:lnTo>
                  <a:pt x="13715" y="28956"/>
                </a:lnTo>
                <a:lnTo>
                  <a:pt x="12191" y="24384"/>
                </a:lnTo>
                <a:lnTo>
                  <a:pt x="12191" y="15240"/>
                </a:lnTo>
                <a:lnTo>
                  <a:pt x="13715" y="10668"/>
                </a:lnTo>
                <a:lnTo>
                  <a:pt x="16763" y="7619"/>
                </a:lnTo>
                <a:lnTo>
                  <a:pt x="18287" y="4572"/>
                </a:lnTo>
                <a:lnTo>
                  <a:pt x="21335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02567" y="2205777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1524"/>
                </a:lnTo>
                <a:lnTo>
                  <a:pt x="64007" y="3048"/>
                </a:lnTo>
                <a:lnTo>
                  <a:pt x="70104" y="12192"/>
                </a:lnTo>
                <a:lnTo>
                  <a:pt x="73151" y="21336"/>
                </a:lnTo>
                <a:lnTo>
                  <a:pt x="73151" y="36575"/>
                </a:lnTo>
                <a:lnTo>
                  <a:pt x="59436" y="56387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4" y="53340"/>
                </a:lnTo>
                <a:lnTo>
                  <a:pt x="73151" y="48768"/>
                </a:lnTo>
                <a:lnTo>
                  <a:pt x="77724" y="42672"/>
                </a:lnTo>
                <a:lnTo>
                  <a:pt x="79248" y="36575"/>
                </a:lnTo>
                <a:lnTo>
                  <a:pt x="79248" y="21336"/>
                </a:lnTo>
                <a:lnTo>
                  <a:pt x="77724" y="15240"/>
                </a:lnTo>
                <a:lnTo>
                  <a:pt x="73151" y="10668"/>
                </a:lnTo>
                <a:lnTo>
                  <a:pt x="70104" y="4572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9375" h="59689">
                <a:moveTo>
                  <a:pt x="18287" y="0"/>
                </a:moveTo>
                <a:lnTo>
                  <a:pt x="12192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5"/>
                </a:lnTo>
                <a:lnTo>
                  <a:pt x="18287" y="59436"/>
                </a:lnTo>
                <a:lnTo>
                  <a:pt x="18287" y="56387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3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808892" y="2205777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19" y="0"/>
                </a:moveTo>
                <a:lnTo>
                  <a:pt x="83819" y="1524"/>
                </a:lnTo>
                <a:lnTo>
                  <a:pt x="88391" y="3048"/>
                </a:lnTo>
                <a:lnTo>
                  <a:pt x="94487" y="12192"/>
                </a:lnTo>
                <a:lnTo>
                  <a:pt x="97535" y="21336"/>
                </a:lnTo>
                <a:lnTo>
                  <a:pt x="97535" y="36575"/>
                </a:lnTo>
                <a:lnTo>
                  <a:pt x="83819" y="56387"/>
                </a:lnTo>
                <a:lnTo>
                  <a:pt x="83819" y="59436"/>
                </a:lnTo>
                <a:lnTo>
                  <a:pt x="89915" y="57912"/>
                </a:lnTo>
                <a:lnTo>
                  <a:pt x="94487" y="53340"/>
                </a:lnTo>
                <a:lnTo>
                  <a:pt x="97535" y="48768"/>
                </a:lnTo>
                <a:lnTo>
                  <a:pt x="102107" y="42672"/>
                </a:lnTo>
                <a:lnTo>
                  <a:pt x="103631" y="36575"/>
                </a:lnTo>
                <a:lnTo>
                  <a:pt x="103631" y="21336"/>
                </a:lnTo>
                <a:lnTo>
                  <a:pt x="102107" y="15240"/>
                </a:lnTo>
                <a:lnTo>
                  <a:pt x="97535" y="10668"/>
                </a:lnTo>
                <a:lnTo>
                  <a:pt x="94487" y="4572"/>
                </a:lnTo>
                <a:lnTo>
                  <a:pt x="89915" y="1524"/>
                </a:lnTo>
                <a:lnTo>
                  <a:pt x="83819" y="0"/>
                </a:lnTo>
                <a:close/>
              </a:path>
              <a:path w="104139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5"/>
                </a:lnTo>
                <a:lnTo>
                  <a:pt x="18287" y="59436"/>
                </a:lnTo>
                <a:lnTo>
                  <a:pt x="18287" y="56387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3"/>
                </a:lnTo>
                <a:lnTo>
                  <a:pt x="6095" y="42672"/>
                </a:lnTo>
                <a:lnTo>
                  <a:pt x="4571" y="36575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95867" y="2001092"/>
            <a:ext cx="2171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182880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510188" y="2464857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60" y="0"/>
                </a:lnTo>
                <a:lnTo>
                  <a:pt x="60960" y="6095"/>
                </a:lnTo>
                <a:lnTo>
                  <a:pt x="0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495967" y="2435396"/>
            <a:ext cx="18923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049683" y="2414565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7243" y="0"/>
                </a:moveTo>
                <a:lnTo>
                  <a:pt x="47243" y="1524"/>
                </a:lnTo>
                <a:lnTo>
                  <a:pt x="51816" y="3048"/>
                </a:lnTo>
                <a:lnTo>
                  <a:pt x="57912" y="12192"/>
                </a:lnTo>
                <a:lnTo>
                  <a:pt x="60960" y="21336"/>
                </a:lnTo>
                <a:lnTo>
                  <a:pt x="60960" y="36576"/>
                </a:lnTo>
                <a:lnTo>
                  <a:pt x="47243" y="56387"/>
                </a:lnTo>
                <a:lnTo>
                  <a:pt x="47243" y="59436"/>
                </a:lnTo>
                <a:lnTo>
                  <a:pt x="53340" y="57912"/>
                </a:lnTo>
                <a:lnTo>
                  <a:pt x="57912" y="53340"/>
                </a:lnTo>
                <a:lnTo>
                  <a:pt x="60960" y="48768"/>
                </a:lnTo>
                <a:lnTo>
                  <a:pt x="65532" y="42672"/>
                </a:lnTo>
                <a:lnTo>
                  <a:pt x="67056" y="36576"/>
                </a:lnTo>
                <a:lnTo>
                  <a:pt x="67056" y="21336"/>
                </a:lnTo>
                <a:lnTo>
                  <a:pt x="65532" y="15240"/>
                </a:lnTo>
                <a:lnTo>
                  <a:pt x="60960" y="10668"/>
                </a:lnTo>
                <a:lnTo>
                  <a:pt x="57912" y="4572"/>
                </a:lnTo>
                <a:lnTo>
                  <a:pt x="53340" y="1524"/>
                </a:lnTo>
                <a:lnTo>
                  <a:pt x="47243" y="0"/>
                </a:lnTo>
                <a:close/>
              </a:path>
              <a:path w="67310" h="59689">
                <a:moveTo>
                  <a:pt x="18288" y="0"/>
                </a:moveTo>
                <a:lnTo>
                  <a:pt x="12192" y="1524"/>
                </a:lnTo>
                <a:lnTo>
                  <a:pt x="7620" y="4572"/>
                </a:lnTo>
                <a:lnTo>
                  <a:pt x="4572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6"/>
                </a:lnTo>
                <a:lnTo>
                  <a:pt x="18288" y="59436"/>
                </a:lnTo>
                <a:lnTo>
                  <a:pt x="18288" y="56387"/>
                </a:lnTo>
                <a:lnTo>
                  <a:pt x="13716" y="54864"/>
                </a:lnTo>
                <a:lnTo>
                  <a:pt x="10668" y="51816"/>
                </a:lnTo>
                <a:lnTo>
                  <a:pt x="7620" y="47243"/>
                </a:lnTo>
                <a:lnTo>
                  <a:pt x="6096" y="42672"/>
                </a:lnTo>
                <a:lnTo>
                  <a:pt x="4572" y="36576"/>
                </a:lnTo>
                <a:lnTo>
                  <a:pt x="4572" y="21336"/>
                </a:lnTo>
                <a:lnTo>
                  <a:pt x="7620" y="12192"/>
                </a:lnTo>
                <a:lnTo>
                  <a:pt x="13716" y="3048"/>
                </a:lnTo>
                <a:lnTo>
                  <a:pt x="19812" y="1524"/>
                </a:lnTo>
                <a:lnTo>
                  <a:pt x="18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342292" y="2414565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7243" y="0"/>
                </a:moveTo>
                <a:lnTo>
                  <a:pt x="47243" y="1524"/>
                </a:lnTo>
                <a:lnTo>
                  <a:pt x="51815" y="3048"/>
                </a:lnTo>
                <a:lnTo>
                  <a:pt x="57912" y="12192"/>
                </a:lnTo>
                <a:lnTo>
                  <a:pt x="60959" y="21336"/>
                </a:lnTo>
                <a:lnTo>
                  <a:pt x="60959" y="36576"/>
                </a:lnTo>
                <a:lnTo>
                  <a:pt x="47243" y="56387"/>
                </a:lnTo>
                <a:lnTo>
                  <a:pt x="47243" y="59436"/>
                </a:lnTo>
                <a:lnTo>
                  <a:pt x="53339" y="57912"/>
                </a:lnTo>
                <a:lnTo>
                  <a:pt x="57912" y="53340"/>
                </a:lnTo>
                <a:lnTo>
                  <a:pt x="60959" y="48768"/>
                </a:lnTo>
                <a:lnTo>
                  <a:pt x="65531" y="42672"/>
                </a:lnTo>
                <a:lnTo>
                  <a:pt x="67056" y="36576"/>
                </a:lnTo>
                <a:lnTo>
                  <a:pt x="67056" y="21336"/>
                </a:lnTo>
                <a:lnTo>
                  <a:pt x="65531" y="15240"/>
                </a:lnTo>
                <a:lnTo>
                  <a:pt x="60959" y="10668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7310" h="59689">
                <a:moveTo>
                  <a:pt x="18287" y="0"/>
                </a:moveTo>
                <a:lnTo>
                  <a:pt x="12191" y="1524"/>
                </a:lnTo>
                <a:lnTo>
                  <a:pt x="7619" y="4572"/>
                </a:lnTo>
                <a:lnTo>
                  <a:pt x="4571" y="10668"/>
                </a:lnTo>
                <a:lnTo>
                  <a:pt x="1524" y="15240"/>
                </a:lnTo>
                <a:lnTo>
                  <a:pt x="0" y="21336"/>
                </a:lnTo>
                <a:lnTo>
                  <a:pt x="0" y="36576"/>
                </a:lnTo>
                <a:lnTo>
                  <a:pt x="18287" y="59436"/>
                </a:lnTo>
                <a:lnTo>
                  <a:pt x="18287" y="56387"/>
                </a:lnTo>
                <a:lnTo>
                  <a:pt x="13715" y="54864"/>
                </a:lnTo>
                <a:lnTo>
                  <a:pt x="10668" y="51816"/>
                </a:lnTo>
                <a:lnTo>
                  <a:pt x="7619" y="47243"/>
                </a:lnTo>
                <a:lnTo>
                  <a:pt x="6095" y="42672"/>
                </a:lnTo>
                <a:lnTo>
                  <a:pt x="4571" y="36576"/>
                </a:lnTo>
                <a:lnTo>
                  <a:pt x="4571" y="21336"/>
                </a:lnTo>
                <a:lnTo>
                  <a:pt x="7619" y="12192"/>
                </a:lnTo>
                <a:lnTo>
                  <a:pt x="13715" y="3048"/>
                </a:lnTo>
                <a:lnTo>
                  <a:pt x="19812" y="1524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777922" y="2455238"/>
            <a:ext cx="482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706783" y="2612685"/>
            <a:ext cx="265430" cy="81280"/>
          </a:xfrm>
          <a:custGeom>
            <a:avLst/>
            <a:gdLst/>
            <a:ahLst/>
            <a:cxnLst/>
            <a:rect l="l" t="t" r="r" b="b"/>
            <a:pathLst>
              <a:path w="265430" h="81280">
                <a:moveTo>
                  <a:pt x="239268" y="0"/>
                </a:moveTo>
                <a:lnTo>
                  <a:pt x="237744" y="3047"/>
                </a:lnTo>
                <a:lnTo>
                  <a:pt x="243840" y="4571"/>
                </a:lnTo>
                <a:lnTo>
                  <a:pt x="249936" y="9143"/>
                </a:lnTo>
                <a:lnTo>
                  <a:pt x="256032" y="21335"/>
                </a:lnTo>
                <a:lnTo>
                  <a:pt x="257556" y="30479"/>
                </a:lnTo>
                <a:lnTo>
                  <a:pt x="257556" y="50291"/>
                </a:lnTo>
                <a:lnTo>
                  <a:pt x="256032" y="57912"/>
                </a:lnTo>
                <a:lnTo>
                  <a:pt x="252984" y="64007"/>
                </a:lnTo>
                <a:lnTo>
                  <a:pt x="249936" y="71627"/>
                </a:lnTo>
                <a:lnTo>
                  <a:pt x="243840" y="76200"/>
                </a:lnTo>
                <a:lnTo>
                  <a:pt x="237744" y="77723"/>
                </a:lnTo>
                <a:lnTo>
                  <a:pt x="239268" y="80771"/>
                </a:lnTo>
                <a:lnTo>
                  <a:pt x="246888" y="79247"/>
                </a:lnTo>
                <a:lnTo>
                  <a:pt x="254508" y="74675"/>
                </a:lnTo>
                <a:lnTo>
                  <a:pt x="257556" y="67056"/>
                </a:lnTo>
                <a:lnTo>
                  <a:pt x="260675" y="61055"/>
                </a:lnTo>
                <a:lnTo>
                  <a:pt x="263080" y="54482"/>
                </a:lnTo>
                <a:lnTo>
                  <a:pt x="264628" y="47339"/>
                </a:lnTo>
                <a:lnTo>
                  <a:pt x="265176" y="39623"/>
                </a:lnTo>
                <a:lnTo>
                  <a:pt x="264628" y="32789"/>
                </a:lnTo>
                <a:lnTo>
                  <a:pt x="246888" y="1523"/>
                </a:lnTo>
                <a:lnTo>
                  <a:pt x="239268" y="0"/>
                </a:lnTo>
                <a:close/>
              </a:path>
              <a:path w="265430" h="81280">
                <a:moveTo>
                  <a:pt x="25908" y="0"/>
                </a:moveTo>
                <a:lnTo>
                  <a:pt x="309" y="32789"/>
                </a:lnTo>
                <a:lnTo>
                  <a:pt x="0" y="39623"/>
                </a:lnTo>
                <a:lnTo>
                  <a:pt x="309" y="47339"/>
                </a:lnTo>
                <a:lnTo>
                  <a:pt x="25908" y="80771"/>
                </a:lnTo>
                <a:lnTo>
                  <a:pt x="27432" y="77723"/>
                </a:lnTo>
                <a:lnTo>
                  <a:pt x="19812" y="76200"/>
                </a:lnTo>
                <a:lnTo>
                  <a:pt x="15240" y="71627"/>
                </a:lnTo>
                <a:lnTo>
                  <a:pt x="12192" y="64007"/>
                </a:lnTo>
                <a:lnTo>
                  <a:pt x="9143" y="57912"/>
                </a:lnTo>
                <a:lnTo>
                  <a:pt x="7620" y="50291"/>
                </a:lnTo>
                <a:lnTo>
                  <a:pt x="7620" y="30479"/>
                </a:lnTo>
                <a:lnTo>
                  <a:pt x="9143" y="21335"/>
                </a:lnTo>
                <a:lnTo>
                  <a:pt x="15240" y="9143"/>
                </a:lnTo>
                <a:lnTo>
                  <a:pt x="19812" y="4571"/>
                </a:lnTo>
                <a:lnTo>
                  <a:pt x="27432" y="3047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95867" y="2392757"/>
            <a:ext cx="1775460" cy="47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Arial" panose="020B0604020202020204"/>
              <a:buAutoNum type="arabicPeriod" startAt="2"/>
              <a:tabLst>
                <a:tab pos="183515" algn="l"/>
              </a:tabLst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182880" indent="-170180">
              <a:lnSpc>
                <a:spcPct val="100000"/>
              </a:lnSpc>
              <a:spcBef>
                <a:spcPts val="610"/>
              </a:spcBef>
              <a:buFont typeface="Arial" panose="020B0604020202020204"/>
              <a:buAutoNum type="arabicPeriod" startAt="2"/>
              <a:tabLst>
                <a:tab pos="18351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速度更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182880" indent="-170180">
              <a:lnSpc>
                <a:spcPct val="100000"/>
              </a:lnSpc>
              <a:spcBef>
                <a:spcPts val="420"/>
              </a:spcBef>
              <a:buFont typeface="Arial" panose="020B0604020202020204"/>
              <a:buAutoNum type="arabicPeriod" startAt="2"/>
              <a:tabLst>
                <a:tab pos="18351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cv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5677" y="2897210"/>
            <a:ext cx="3981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072800" y="1324905"/>
            <a:ext cx="539750" cy="161925"/>
          </a:xfrm>
          <a:custGeom>
            <a:avLst/>
            <a:gdLst/>
            <a:ahLst/>
            <a:cxnLst/>
            <a:rect l="l" t="t" r="r" b="b"/>
            <a:pathLst>
              <a:path w="539750" h="161925">
                <a:moveTo>
                  <a:pt x="0" y="0"/>
                </a:moveTo>
                <a:lnTo>
                  <a:pt x="539495" y="0"/>
                </a:lnTo>
                <a:lnTo>
                  <a:pt x="539495" y="161543"/>
                </a:lnTo>
                <a:lnTo>
                  <a:pt x="0" y="16154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840895" y="1190793"/>
            <a:ext cx="1295400" cy="504825"/>
          </a:xfrm>
          <a:custGeom>
            <a:avLst/>
            <a:gdLst/>
            <a:ahLst/>
            <a:cxnLst/>
            <a:rect l="l" t="t" r="r" b="b"/>
            <a:pathLst>
              <a:path w="1295400" h="504825">
                <a:moveTo>
                  <a:pt x="0" y="0"/>
                </a:moveTo>
                <a:lnTo>
                  <a:pt x="1295400" y="0"/>
                </a:lnTo>
                <a:lnTo>
                  <a:pt x="1295400" y="504444"/>
                </a:lnTo>
                <a:lnTo>
                  <a:pt x="0" y="504444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840895" y="1190793"/>
            <a:ext cx="1295400" cy="504825"/>
          </a:xfrm>
          <a:custGeom>
            <a:avLst/>
            <a:gdLst/>
            <a:ahLst/>
            <a:cxnLst/>
            <a:rect l="l" t="t" r="r" b="b"/>
            <a:pathLst>
              <a:path w="1295400" h="504825">
                <a:moveTo>
                  <a:pt x="0" y="0"/>
                </a:moveTo>
                <a:lnTo>
                  <a:pt x="1295399" y="0"/>
                </a:lnTo>
                <a:lnTo>
                  <a:pt x="1295399" y="504443"/>
                </a:lnTo>
                <a:lnTo>
                  <a:pt x="0" y="504443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840895" y="1177544"/>
            <a:ext cx="1295400" cy="50545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520"/>
              </a:spcBef>
            </a:pP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取值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范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围[0,1)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43815" marR="124460">
              <a:lnSpc>
                <a:spcPct val="150000"/>
              </a:lnSpc>
            </a:pP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7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700" spc="-5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时等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价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于梯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下降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算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法 建议设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：0.9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41323" y="797973"/>
            <a:ext cx="1463040" cy="925194"/>
          </a:xfrm>
          <a:custGeom>
            <a:avLst/>
            <a:gdLst/>
            <a:ahLst/>
            <a:cxnLst/>
            <a:rect l="l" t="t" r="r" b="b"/>
            <a:pathLst>
              <a:path w="1463039" h="925194">
                <a:moveTo>
                  <a:pt x="0" y="42671"/>
                </a:moveTo>
                <a:lnTo>
                  <a:pt x="27431" y="39623"/>
                </a:lnTo>
                <a:lnTo>
                  <a:pt x="64007" y="33527"/>
                </a:lnTo>
                <a:lnTo>
                  <a:pt x="85343" y="27431"/>
                </a:lnTo>
                <a:lnTo>
                  <a:pt x="109727" y="22859"/>
                </a:lnTo>
                <a:lnTo>
                  <a:pt x="132587" y="18287"/>
                </a:lnTo>
                <a:lnTo>
                  <a:pt x="158495" y="12191"/>
                </a:lnTo>
                <a:lnTo>
                  <a:pt x="184403" y="7619"/>
                </a:lnTo>
                <a:lnTo>
                  <a:pt x="211835" y="4571"/>
                </a:lnTo>
                <a:lnTo>
                  <a:pt x="237743" y="1523"/>
                </a:lnTo>
                <a:lnTo>
                  <a:pt x="265175" y="0"/>
                </a:lnTo>
                <a:lnTo>
                  <a:pt x="291083" y="0"/>
                </a:lnTo>
                <a:lnTo>
                  <a:pt x="316991" y="1523"/>
                </a:lnTo>
                <a:lnTo>
                  <a:pt x="365759" y="10667"/>
                </a:lnTo>
                <a:lnTo>
                  <a:pt x="408431" y="28955"/>
                </a:lnTo>
                <a:lnTo>
                  <a:pt x="452627" y="73151"/>
                </a:lnTo>
                <a:lnTo>
                  <a:pt x="473963" y="112775"/>
                </a:lnTo>
                <a:lnTo>
                  <a:pt x="493775" y="161543"/>
                </a:lnTo>
                <a:lnTo>
                  <a:pt x="501395" y="187451"/>
                </a:lnTo>
                <a:lnTo>
                  <a:pt x="510539" y="216407"/>
                </a:lnTo>
                <a:lnTo>
                  <a:pt x="518159" y="245363"/>
                </a:lnTo>
                <a:lnTo>
                  <a:pt x="525779" y="274319"/>
                </a:lnTo>
                <a:lnTo>
                  <a:pt x="533399" y="304799"/>
                </a:lnTo>
                <a:lnTo>
                  <a:pt x="541019" y="335279"/>
                </a:lnTo>
                <a:lnTo>
                  <a:pt x="548639" y="365759"/>
                </a:lnTo>
                <a:lnTo>
                  <a:pt x="557783" y="396239"/>
                </a:lnTo>
                <a:lnTo>
                  <a:pt x="565403" y="425195"/>
                </a:lnTo>
                <a:lnTo>
                  <a:pt x="573023" y="454151"/>
                </a:lnTo>
                <a:lnTo>
                  <a:pt x="582167" y="481583"/>
                </a:lnTo>
                <a:lnTo>
                  <a:pt x="600455" y="533399"/>
                </a:lnTo>
                <a:lnTo>
                  <a:pt x="621791" y="577595"/>
                </a:lnTo>
                <a:lnTo>
                  <a:pt x="659891" y="624839"/>
                </a:lnTo>
                <a:lnTo>
                  <a:pt x="722375" y="643127"/>
                </a:lnTo>
                <a:lnTo>
                  <a:pt x="740663" y="640079"/>
                </a:lnTo>
                <a:lnTo>
                  <a:pt x="760475" y="635507"/>
                </a:lnTo>
                <a:lnTo>
                  <a:pt x="780287" y="627887"/>
                </a:lnTo>
                <a:lnTo>
                  <a:pt x="800099" y="620267"/>
                </a:lnTo>
                <a:lnTo>
                  <a:pt x="819911" y="609599"/>
                </a:lnTo>
                <a:lnTo>
                  <a:pt x="841247" y="597407"/>
                </a:lnTo>
                <a:lnTo>
                  <a:pt x="862583" y="585215"/>
                </a:lnTo>
                <a:lnTo>
                  <a:pt x="885443" y="571499"/>
                </a:lnTo>
                <a:lnTo>
                  <a:pt x="906779" y="557783"/>
                </a:lnTo>
                <a:lnTo>
                  <a:pt x="929639" y="542543"/>
                </a:lnTo>
                <a:lnTo>
                  <a:pt x="950975" y="528827"/>
                </a:lnTo>
                <a:lnTo>
                  <a:pt x="995171" y="499871"/>
                </a:lnTo>
                <a:lnTo>
                  <a:pt x="1039367" y="473963"/>
                </a:lnTo>
                <a:lnTo>
                  <a:pt x="1080515" y="454151"/>
                </a:lnTo>
                <a:lnTo>
                  <a:pt x="1100327" y="445007"/>
                </a:lnTo>
                <a:lnTo>
                  <a:pt x="1118615" y="438911"/>
                </a:lnTo>
                <a:lnTo>
                  <a:pt x="1138427" y="435863"/>
                </a:lnTo>
                <a:lnTo>
                  <a:pt x="1155191" y="434339"/>
                </a:lnTo>
                <a:lnTo>
                  <a:pt x="1171955" y="435863"/>
                </a:lnTo>
                <a:lnTo>
                  <a:pt x="1225295" y="460247"/>
                </a:lnTo>
                <a:lnTo>
                  <a:pt x="1258823" y="496823"/>
                </a:lnTo>
                <a:lnTo>
                  <a:pt x="1292351" y="542543"/>
                </a:lnTo>
                <a:lnTo>
                  <a:pt x="1322831" y="597407"/>
                </a:lnTo>
                <a:lnTo>
                  <a:pt x="1336547" y="624839"/>
                </a:lnTo>
                <a:lnTo>
                  <a:pt x="1351787" y="655319"/>
                </a:lnTo>
                <a:lnTo>
                  <a:pt x="1363979" y="685799"/>
                </a:lnTo>
                <a:lnTo>
                  <a:pt x="1377695" y="716279"/>
                </a:lnTo>
                <a:lnTo>
                  <a:pt x="1389887" y="745235"/>
                </a:lnTo>
                <a:lnTo>
                  <a:pt x="1400555" y="774191"/>
                </a:lnTo>
                <a:lnTo>
                  <a:pt x="1411223" y="801623"/>
                </a:lnTo>
                <a:lnTo>
                  <a:pt x="1421891" y="829055"/>
                </a:lnTo>
                <a:lnTo>
                  <a:pt x="1432559" y="853439"/>
                </a:lnTo>
                <a:lnTo>
                  <a:pt x="1440179" y="876299"/>
                </a:lnTo>
                <a:lnTo>
                  <a:pt x="1449323" y="896111"/>
                </a:lnTo>
                <a:lnTo>
                  <a:pt x="1456943" y="912875"/>
                </a:lnTo>
                <a:lnTo>
                  <a:pt x="1463039" y="925067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97406" y="1301655"/>
            <a:ext cx="112775" cy="1112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00453" y="2341022"/>
            <a:ext cx="112775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64539" y="1867821"/>
            <a:ext cx="908685" cy="612775"/>
          </a:xfrm>
          <a:custGeom>
            <a:avLst/>
            <a:gdLst/>
            <a:ahLst/>
            <a:cxnLst/>
            <a:rect l="l" t="t" r="r" b="b"/>
            <a:pathLst>
              <a:path w="908685" h="612775">
                <a:moveTo>
                  <a:pt x="0" y="0"/>
                </a:moveTo>
                <a:lnTo>
                  <a:pt x="53339" y="7619"/>
                </a:lnTo>
                <a:lnTo>
                  <a:pt x="94487" y="33527"/>
                </a:lnTo>
                <a:lnTo>
                  <a:pt x="129539" y="71627"/>
                </a:lnTo>
                <a:lnTo>
                  <a:pt x="161543" y="120395"/>
                </a:lnTo>
                <a:lnTo>
                  <a:pt x="178307" y="147827"/>
                </a:lnTo>
                <a:lnTo>
                  <a:pt x="195071" y="178307"/>
                </a:lnTo>
                <a:lnTo>
                  <a:pt x="211835" y="208787"/>
                </a:lnTo>
                <a:lnTo>
                  <a:pt x="230123" y="240791"/>
                </a:lnTo>
                <a:lnTo>
                  <a:pt x="251459" y="272795"/>
                </a:lnTo>
                <a:lnTo>
                  <a:pt x="274319" y="306323"/>
                </a:lnTo>
                <a:lnTo>
                  <a:pt x="306323" y="345947"/>
                </a:lnTo>
                <a:lnTo>
                  <a:pt x="341375" y="384047"/>
                </a:lnTo>
                <a:lnTo>
                  <a:pt x="361187" y="403859"/>
                </a:lnTo>
                <a:lnTo>
                  <a:pt x="382523" y="422147"/>
                </a:lnTo>
                <a:lnTo>
                  <a:pt x="403859" y="440435"/>
                </a:lnTo>
                <a:lnTo>
                  <a:pt x="426719" y="458723"/>
                </a:lnTo>
                <a:lnTo>
                  <a:pt x="449579" y="477011"/>
                </a:lnTo>
                <a:lnTo>
                  <a:pt x="475487" y="492251"/>
                </a:lnTo>
                <a:lnTo>
                  <a:pt x="501395" y="509015"/>
                </a:lnTo>
                <a:lnTo>
                  <a:pt x="557783" y="537971"/>
                </a:lnTo>
                <a:lnTo>
                  <a:pt x="617219" y="562355"/>
                </a:lnTo>
                <a:lnTo>
                  <a:pt x="682751" y="583691"/>
                </a:lnTo>
                <a:lnTo>
                  <a:pt x="717803" y="591311"/>
                </a:lnTo>
                <a:lnTo>
                  <a:pt x="752855" y="598931"/>
                </a:lnTo>
                <a:lnTo>
                  <a:pt x="789431" y="605027"/>
                </a:lnTo>
                <a:lnTo>
                  <a:pt x="827531" y="608075"/>
                </a:lnTo>
                <a:lnTo>
                  <a:pt x="867155" y="611123"/>
                </a:lnTo>
                <a:lnTo>
                  <a:pt x="908303" y="612647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08835" y="2480468"/>
            <a:ext cx="1130935" cy="474345"/>
          </a:xfrm>
          <a:custGeom>
            <a:avLst/>
            <a:gdLst/>
            <a:ahLst/>
            <a:cxnLst/>
            <a:rect l="l" t="t" r="r" b="b"/>
            <a:pathLst>
              <a:path w="1130935" h="474344">
                <a:moveTo>
                  <a:pt x="0" y="0"/>
                </a:moveTo>
                <a:lnTo>
                  <a:pt x="50291" y="0"/>
                </a:lnTo>
                <a:lnTo>
                  <a:pt x="99059" y="1523"/>
                </a:lnTo>
                <a:lnTo>
                  <a:pt x="146303" y="4571"/>
                </a:lnTo>
                <a:lnTo>
                  <a:pt x="192023" y="7619"/>
                </a:lnTo>
                <a:lnTo>
                  <a:pt x="236219" y="10667"/>
                </a:lnTo>
                <a:lnTo>
                  <a:pt x="280415" y="15239"/>
                </a:lnTo>
                <a:lnTo>
                  <a:pt x="323087" y="21335"/>
                </a:lnTo>
                <a:lnTo>
                  <a:pt x="364235" y="27431"/>
                </a:lnTo>
                <a:lnTo>
                  <a:pt x="403859" y="35051"/>
                </a:lnTo>
                <a:lnTo>
                  <a:pt x="443483" y="42671"/>
                </a:lnTo>
                <a:lnTo>
                  <a:pt x="481583" y="50291"/>
                </a:lnTo>
                <a:lnTo>
                  <a:pt x="516635" y="59435"/>
                </a:lnTo>
                <a:lnTo>
                  <a:pt x="551687" y="68579"/>
                </a:lnTo>
                <a:lnTo>
                  <a:pt x="586739" y="79247"/>
                </a:lnTo>
                <a:lnTo>
                  <a:pt x="618743" y="88391"/>
                </a:lnTo>
                <a:lnTo>
                  <a:pt x="649223" y="99059"/>
                </a:lnTo>
                <a:lnTo>
                  <a:pt x="679703" y="111251"/>
                </a:lnTo>
                <a:lnTo>
                  <a:pt x="708659" y="121919"/>
                </a:lnTo>
                <a:lnTo>
                  <a:pt x="736091" y="134111"/>
                </a:lnTo>
                <a:lnTo>
                  <a:pt x="786383" y="158495"/>
                </a:lnTo>
                <a:lnTo>
                  <a:pt x="832103" y="184403"/>
                </a:lnTo>
                <a:lnTo>
                  <a:pt x="871727" y="210311"/>
                </a:lnTo>
                <a:lnTo>
                  <a:pt x="905255" y="236219"/>
                </a:lnTo>
                <a:lnTo>
                  <a:pt x="937259" y="266699"/>
                </a:lnTo>
                <a:lnTo>
                  <a:pt x="963167" y="295655"/>
                </a:lnTo>
                <a:lnTo>
                  <a:pt x="1001267" y="350519"/>
                </a:lnTo>
                <a:lnTo>
                  <a:pt x="1028699" y="399287"/>
                </a:lnTo>
                <a:lnTo>
                  <a:pt x="1040891" y="420623"/>
                </a:lnTo>
                <a:lnTo>
                  <a:pt x="1053083" y="438911"/>
                </a:lnTo>
                <a:lnTo>
                  <a:pt x="1068323" y="452627"/>
                </a:lnTo>
                <a:lnTo>
                  <a:pt x="1085087" y="463295"/>
                </a:lnTo>
                <a:lnTo>
                  <a:pt x="1104899" y="470915"/>
                </a:lnTo>
                <a:lnTo>
                  <a:pt x="1130807" y="473963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49562" y="132933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动量</a:t>
            </a:r>
            <a:r>
              <a:rPr spc="-10" dirty="0"/>
              <a:t>法</a:t>
            </a:r>
            <a:r>
              <a:rPr spc="5" dirty="0"/>
              <a:t>还</a:t>
            </a:r>
            <a:r>
              <a:rPr spc="-10" dirty="0"/>
              <a:t>有什</a:t>
            </a:r>
            <a:r>
              <a:rPr spc="5" dirty="0"/>
              <a:t>么效</a:t>
            </a:r>
            <a:r>
              <a:rPr spc="-10" dirty="0"/>
              <a:t>果</a:t>
            </a:r>
            <a:r>
              <a:rPr spc="5" dirty="0"/>
              <a:t>？</a:t>
            </a:r>
            <a:endParaRPr spc="5" dirty="0"/>
          </a:p>
        </p:txBody>
      </p:sp>
      <p:sp>
        <p:nvSpPr>
          <p:cNvPr id="8" name="object 8"/>
          <p:cNvSpPr txBox="1"/>
          <p:nvPr/>
        </p:nvSpPr>
        <p:spPr>
          <a:xfrm>
            <a:off x="4327593" y="2589651"/>
            <a:ext cx="25590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点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70978" y="1471110"/>
            <a:ext cx="1061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不太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好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部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点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804" y="934139"/>
            <a:ext cx="244284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8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象：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失函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常具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不太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好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局部最小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值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或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鞍点（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维空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非常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见）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41323" y="803697"/>
            <a:ext cx="1463040" cy="925194"/>
          </a:xfrm>
          <a:custGeom>
            <a:avLst/>
            <a:gdLst/>
            <a:ahLst/>
            <a:cxnLst/>
            <a:rect l="l" t="t" r="r" b="b"/>
            <a:pathLst>
              <a:path w="1463039" h="925194">
                <a:moveTo>
                  <a:pt x="0" y="42671"/>
                </a:moveTo>
                <a:lnTo>
                  <a:pt x="27431" y="39623"/>
                </a:lnTo>
                <a:lnTo>
                  <a:pt x="64007" y="33527"/>
                </a:lnTo>
                <a:lnTo>
                  <a:pt x="85343" y="27431"/>
                </a:lnTo>
                <a:lnTo>
                  <a:pt x="109727" y="22859"/>
                </a:lnTo>
                <a:lnTo>
                  <a:pt x="132587" y="18287"/>
                </a:lnTo>
                <a:lnTo>
                  <a:pt x="158495" y="12191"/>
                </a:lnTo>
                <a:lnTo>
                  <a:pt x="184403" y="7619"/>
                </a:lnTo>
                <a:lnTo>
                  <a:pt x="211835" y="4571"/>
                </a:lnTo>
                <a:lnTo>
                  <a:pt x="237743" y="1523"/>
                </a:lnTo>
                <a:lnTo>
                  <a:pt x="265175" y="0"/>
                </a:lnTo>
                <a:lnTo>
                  <a:pt x="291083" y="0"/>
                </a:lnTo>
                <a:lnTo>
                  <a:pt x="316991" y="1523"/>
                </a:lnTo>
                <a:lnTo>
                  <a:pt x="365759" y="10667"/>
                </a:lnTo>
                <a:lnTo>
                  <a:pt x="408431" y="28955"/>
                </a:lnTo>
                <a:lnTo>
                  <a:pt x="452627" y="73151"/>
                </a:lnTo>
                <a:lnTo>
                  <a:pt x="473963" y="112775"/>
                </a:lnTo>
                <a:lnTo>
                  <a:pt x="493775" y="161543"/>
                </a:lnTo>
                <a:lnTo>
                  <a:pt x="501395" y="187451"/>
                </a:lnTo>
                <a:lnTo>
                  <a:pt x="510539" y="216407"/>
                </a:lnTo>
                <a:lnTo>
                  <a:pt x="518159" y="245363"/>
                </a:lnTo>
                <a:lnTo>
                  <a:pt x="525779" y="274319"/>
                </a:lnTo>
                <a:lnTo>
                  <a:pt x="533399" y="304799"/>
                </a:lnTo>
                <a:lnTo>
                  <a:pt x="541019" y="335279"/>
                </a:lnTo>
                <a:lnTo>
                  <a:pt x="548639" y="365759"/>
                </a:lnTo>
                <a:lnTo>
                  <a:pt x="557783" y="396239"/>
                </a:lnTo>
                <a:lnTo>
                  <a:pt x="565403" y="425195"/>
                </a:lnTo>
                <a:lnTo>
                  <a:pt x="573023" y="454151"/>
                </a:lnTo>
                <a:lnTo>
                  <a:pt x="582167" y="481583"/>
                </a:lnTo>
                <a:lnTo>
                  <a:pt x="600455" y="533399"/>
                </a:lnTo>
                <a:lnTo>
                  <a:pt x="621791" y="577595"/>
                </a:lnTo>
                <a:lnTo>
                  <a:pt x="659891" y="624839"/>
                </a:lnTo>
                <a:lnTo>
                  <a:pt x="722375" y="643127"/>
                </a:lnTo>
                <a:lnTo>
                  <a:pt x="740663" y="640079"/>
                </a:lnTo>
                <a:lnTo>
                  <a:pt x="760475" y="635507"/>
                </a:lnTo>
                <a:lnTo>
                  <a:pt x="780287" y="627887"/>
                </a:lnTo>
                <a:lnTo>
                  <a:pt x="800099" y="620267"/>
                </a:lnTo>
                <a:lnTo>
                  <a:pt x="819911" y="609599"/>
                </a:lnTo>
                <a:lnTo>
                  <a:pt x="841247" y="597407"/>
                </a:lnTo>
                <a:lnTo>
                  <a:pt x="862583" y="585215"/>
                </a:lnTo>
                <a:lnTo>
                  <a:pt x="885443" y="571499"/>
                </a:lnTo>
                <a:lnTo>
                  <a:pt x="906779" y="557783"/>
                </a:lnTo>
                <a:lnTo>
                  <a:pt x="929639" y="542543"/>
                </a:lnTo>
                <a:lnTo>
                  <a:pt x="950975" y="528827"/>
                </a:lnTo>
                <a:lnTo>
                  <a:pt x="995171" y="499871"/>
                </a:lnTo>
                <a:lnTo>
                  <a:pt x="1039367" y="473963"/>
                </a:lnTo>
                <a:lnTo>
                  <a:pt x="1080515" y="454151"/>
                </a:lnTo>
                <a:lnTo>
                  <a:pt x="1100327" y="445007"/>
                </a:lnTo>
                <a:lnTo>
                  <a:pt x="1118615" y="438911"/>
                </a:lnTo>
                <a:lnTo>
                  <a:pt x="1138427" y="435863"/>
                </a:lnTo>
                <a:lnTo>
                  <a:pt x="1155191" y="434339"/>
                </a:lnTo>
                <a:lnTo>
                  <a:pt x="1171955" y="435863"/>
                </a:lnTo>
                <a:lnTo>
                  <a:pt x="1225295" y="460247"/>
                </a:lnTo>
                <a:lnTo>
                  <a:pt x="1258823" y="496823"/>
                </a:lnTo>
                <a:lnTo>
                  <a:pt x="1292351" y="542543"/>
                </a:lnTo>
                <a:lnTo>
                  <a:pt x="1322831" y="597407"/>
                </a:lnTo>
                <a:lnTo>
                  <a:pt x="1336547" y="624839"/>
                </a:lnTo>
                <a:lnTo>
                  <a:pt x="1351787" y="655319"/>
                </a:lnTo>
                <a:lnTo>
                  <a:pt x="1363979" y="685799"/>
                </a:lnTo>
                <a:lnTo>
                  <a:pt x="1377695" y="716279"/>
                </a:lnTo>
                <a:lnTo>
                  <a:pt x="1389887" y="745235"/>
                </a:lnTo>
                <a:lnTo>
                  <a:pt x="1400555" y="774191"/>
                </a:lnTo>
                <a:lnTo>
                  <a:pt x="1411223" y="801623"/>
                </a:lnTo>
                <a:lnTo>
                  <a:pt x="1421891" y="829055"/>
                </a:lnTo>
                <a:lnTo>
                  <a:pt x="1432559" y="853439"/>
                </a:lnTo>
                <a:lnTo>
                  <a:pt x="1440179" y="876299"/>
                </a:lnTo>
                <a:lnTo>
                  <a:pt x="1449323" y="896111"/>
                </a:lnTo>
                <a:lnTo>
                  <a:pt x="1456943" y="912875"/>
                </a:lnTo>
                <a:lnTo>
                  <a:pt x="1463039" y="925067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97406" y="1307379"/>
            <a:ext cx="112775" cy="1112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00453" y="2346747"/>
            <a:ext cx="112775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64539" y="1873545"/>
            <a:ext cx="908685" cy="612775"/>
          </a:xfrm>
          <a:custGeom>
            <a:avLst/>
            <a:gdLst/>
            <a:ahLst/>
            <a:cxnLst/>
            <a:rect l="l" t="t" r="r" b="b"/>
            <a:pathLst>
              <a:path w="908685" h="612775">
                <a:moveTo>
                  <a:pt x="0" y="0"/>
                </a:moveTo>
                <a:lnTo>
                  <a:pt x="53339" y="7619"/>
                </a:lnTo>
                <a:lnTo>
                  <a:pt x="94487" y="33527"/>
                </a:lnTo>
                <a:lnTo>
                  <a:pt x="129539" y="71627"/>
                </a:lnTo>
                <a:lnTo>
                  <a:pt x="161543" y="120395"/>
                </a:lnTo>
                <a:lnTo>
                  <a:pt x="178307" y="147827"/>
                </a:lnTo>
                <a:lnTo>
                  <a:pt x="195071" y="178307"/>
                </a:lnTo>
                <a:lnTo>
                  <a:pt x="211835" y="208787"/>
                </a:lnTo>
                <a:lnTo>
                  <a:pt x="230123" y="240791"/>
                </a:lnTo>
                <a:lnTo>
                  <a:pt x="251459" y="272795"/>
                </a:lnTo>
                <a:lnTo>
                  <a:pt x="274319" y="306323"/>
                </a:lnTo>
                <a:lnTo>
                  <a:pt x="306323" y="345947"/>
                </a:lnTo>
                <a:lnTo>
                  <a:pt x="341375" y="384047"/>
                </a:lnTo>
                <a:lnTo>
                  <a:pt x="361187" y="403859"/>
                </a:lnTo>
                <a:lnTo>
                  <a:pt x="382523" y="422147"/>
                </a:lnTo>
                <a:lnTo>
                  <a:pt x="403859" y="440435"/>
                </a:lnTo>
                <a:lnTo>
                  <a:pt x="426719" y="458723"/>
                </a:lnTo>
                <a:lnTo>
                  <a:pt x="449579" y="477011"/>
                </a:lnTo>
                <a:lnTo>
                  <a:pt x="475487" y="492251"/>
                </a:lnTo>
                <a:lnTo>
                  <a:pt x="501395" y="509015"/>
                </a:lnTo>
                <a:lnTo>
                  <a:pt x="557783" y="537971"/>
                </a:lnTo>
                <a:lnTo>
                  <a:pt x="617219" y="562355"/>
                </a:lnTo>
                <a:lnTo>
                  <a:pt x="682751" y="583691"/>
                </a:lnTo>
                <a:lnTo>
                  <a:pt x="717803" y="591311"/>
                </a:lnTo>
                <a:lnTo>
                  <a:pt x="752855" y="598931"/>
                </a:lnTo>
                <a:lnTo>
                  <a:pt x="789431" y="605027"/>
                </a:lnTo>
                <a:lnTo>
                  <a:pt x="827531" y="608075"/>
                </a:lnTo>
                <a:lnTo>
                  <a:pt x="867155" y="611123"/>
                </a:lnTo>
                <a:lnTo>
                  <a:pt x="908303" y="612647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08835" y="2486193"/>
            <a:ext cx="1130935" cy="474345"/>
          </a:xfrm>
          <a:custGeom>
            <a:avLst/>
            <a:gdLst/>
            <a:ahLst/>
            <a:cxnLst/>
            <a:rect l="l" t="t" r="r" b="b"/>
            <a:pathLst>
              <a:path w="1130935" h="474344">
                <a:moveTo>
                  <a:pt x="0" y="0"/>
                </a:moveTo>
                <a:lnTo>
                  <a:pt x="50291" y="0"/>
                </a:lnTo>
                <a:lnTo>
                  <a:pt x="99059" y="1523"/>
                </a:lnTo>
                <a:lnTo>
                  <a:pt x="146303" y="4571"/>
                </a:lnTo>
                <a:lnTo>
                  <a:pt x="192023" y="7619"/>
                </a:lnTo>
                <a:lnTo>
                  <a:pt x="236219" y="10667"/>
                </a:lnTo>
                <a:lnTo>
                  <a:pt x="280415" y="15239"/>
                </a:lnTo>
                <a:lnTo>
                  <a:pt x="323087" y="21335"/>
                </a:lnTo>
                <a:lnTo>
                  <a:pt x="364235" y="27431"/>
                </a:lnTo>
                <a:lnTo>
                  <a:pt x="403859" y="35051"/>
                </a:lnTo>
                <a:lnTo>
                  <a:pt x="443483" y="42671"/>
                </a:lnTo>
                <a:lnTo>
                  <a:pt x="481583" y="50291"/>
                </a:lnTo>
                <a:lnTo>
                  <a:pt x="516635" y="59435"/>
                </a:lnTo>
                <a:lnTo>
                  <a:pt x="551687" y="68579"/>
                </a:lnTo>
                <a:lnTo>
                  <a:pt x="586739" y="79247"/>
                </a:lnTo>
                <a:lnTo>
                  <a:pt x="618743" y="88391"/>
                </a:lnTo>
                <a:lnTo>
                  <a:pt x="649223" y="99059"/>
                </a:lnTo>
                <a:lnTo>
                  <a:pt x="679703" y="111251"/>
                </a:lnTo>
                <a:lnTo>
                  <a:pt x="708659" y="121919"/>
                </a:lnTo>
                <a:lnTo>
                  <a:pt x="736091" y="134111"/>
                </a:lnTo>
                <a:lnTo>
                  <a:pt x="786383" y="158495"/>
                </a:lnTo>
                <a:lnTo>
                  <a:pt x="832103" y="184403"/>
                </a:lnTo>
                <a:lnTo>
                  <a:pt x="871727" y="210311"/>
                </a:lnTo>
                <a:lnTo>
                  <a:pt x="905255" y="236219"/>
                </a:lnTo>
                <a:lnTo>
                  <a:pt x="937259" y="266699"/>
                </a:lnTo>
                <a:lnTo>
                  <a:pt x="963167" y="295655"/>
                </a:lnTo>
                <a:lnTo>
                  <a:pt x="1001267" y="350519"/>
                </a:lnTo>
                <a:lnTo>
                  <a:pt x="1028699" y="399287"/>
                </a:lnTo>
                <a:lnTo>
                  <a:pt x="1040891" y="420623"/>
                </a:lnTo>
                <a:lnTo>
                  <a:pt x="1053083" y="438911"/>
                </a:lnTo>
                <a:lnTo>
                  <a:pt x="1068323" y="452627"/>
                </a:lnTo>
                <a:lnTo>
                  <a:pt x="1085087" y="463295"/>
                </a:lnTo>
                <a:lnTo>
                  <a:pt x="1104899" y="470915"/>
                </a:lnTo>
                <a:lnTo>
                  <a:pt x="1130807" y="473963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49562" y="138710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动量</a:t>
            </a:r>
            <a:r>
              <a:rPr spc="-10" dirty="0"/>
              <a:t>法</a:t>
            </a:r>
            <a:r>
              <a:rPr spc="5" dirty="0"/>
              <a:t>还</a:t>
            </a:r>
            <a:r>
              <a:rPr spc="-10" dirty="0"/>
              <a:t>有什</a:t>
            </a:r>
            <a:r>
              <a:rPr spc="5" dirty="0"/>
              <a:t>么效</a:t>
            </a:r>
            <a:r>
              <a:rPr spc="-10" dirty="0"/>
              <a:t>果</a:t>
            </a:r>
            <a:r>
              <a:rPr spc="5" dirty="0"/>
              <a:t>？</a:t>
            </a:r>
            <a:endParaRPr spc="5" dirty="0"/>
          </a:p>
        </p:txBody>
      </p:sp>
      <p:sp>
        <p:nvSpPr>
          <p:cNvPr id="8" name="object 8"/>
          <p:cNvSpPr txBox="1"/>
          <p:nvPr/>
        </p:nvSpPr>
        <p:spPr>
          <a:xfrm>
            <a:off x="3970978" y="1476835"/>
            <a:ext cx="1061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不太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好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部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点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8532" y="2595375"/>
            <a:ext cx="1295400" cy="47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335" algn="ctr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点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点高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空间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常常见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804" y="939859"/>
            <a:ext cx="244284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8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象：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失函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常具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不太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好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局部最小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值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或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鞍点（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维空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非常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见）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804" y="1530198"/>
            <a:ext cx="2435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局部最小处与鞍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9804" y="1770912"/>
            <a:ext cx="1734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点处梯度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，算法无法通过。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24203" y="144530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1"/>
                </a:lnTo>
                <a:lnTo>
                  <a:pt x="50292" y="12191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12596" y="144530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1"/>
                </a:lnTo>
                <a:lnTo>
                  <a:pt x="50291" y="12191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100988" y="1445301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1"/>
                </a:lnTo>
                <a:lnTo>
                  <a:pt x="51815" y="12191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90903" y="144530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1"/>
                </a:lnTo>
                <a:lnTo>
                  <a:pt x="50292" y="12191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79296" y="144530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1"/>
                </a:lnTo>
                <a:lnTo>
                  <a:pt x="50291" y="12191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67688" y="1445301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1"/>
                </a:lnTo>
                <a:lnTo>
                  <a:pt x="51815" y="12191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57603" y="144530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1"/>
                </a:lnTo>
                <a:lnTo>
                  <a:pt x="50292" y="12191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45996" y="144530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1"/>
                </a:lnTo>
                <a:lnTo>
                  <a:pt x="50291" y="12191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34388" y="1445301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1"/>
                </a:lnTo>
                <a:lnTo>
                  <a:pt x="51815" y="12191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24303" y="144530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1"/>
                </a:lnTo>
                <a:lnTo>
                  <a:pt x="50292" y="12191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12696" y="144530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1"/>
                </a:lnTo>
                <a:lnTo>
                  <a:pt x="50291" y="12191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01088" y="1445301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1"/>
                </a:lnTo>
                <a:lnTo>
                  <a:pt x="51815" y="12191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92200" y="247095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80591" y="247095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68984" y="247095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58900" y="247095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47291" y="247095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35684" y="247095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425600" y="247095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13991" y="247095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02384" y="247095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92300" y="247095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780691" y="247095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69084" y="2470953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41323" y="797973"/>
            <a:ext cx="1463040" cy="925194"/>
          </a:xfrm>
          <a:custGeom>
            <a:avLst/>
            <a:gdLst/>
            <a:ahLst/>
            <a:cxnLst/>
            <a:rect l="l" t="t" r="r" b="b"/>
            <a:pathLst>
              <a:path w="1463039" h="925194">
                <a:moveTo>
                  <a:pt x="0" y="42671"/>
                </a:moveTo>
                <a:lnTo>
                  <a:pt x="27431" y="39623"/>
                </a:lnTo>
                <a:lnTo>
                  <a:pt x="64007" y="33527"/>
                </a:lnTo>
                <a:lnTo>
                  <a:pt x="85343" y="27431"/>
                </a:lnTo>
                <a:lnTo>
                  <a:pt x="109727" y="22859"/>
                </a:lnTo>
                <a:lnTo>
                  <a:pt x="132587" y="18287"/>
                </a:lnTo>
                <a:lnTo>
                  <a:pt x="158495" y="12191"/>
                </a:lnTo>
                <a:lnTo>
                  <a:pt x="184403" y="7619"/>
                </a:lnTo>
                <a:lnTo>
                  <a:pt x="211835" y="4571"/>
                </a:lnTo>
                <a:lnTo>
                  <a:pt x="237743" y="1523"/>
                </a:lnTo>
                <a:lnTo>
                  <a:pt x="265175" y="0"/>
                </a:lnTo>
                <a:lnTo>
                  <a:pt x="291083" y="0"/>
                </a:lnTo>
                <a:lnTo>
                  <a:pt x="316991" y="1523"/>
                </a:lnTo>
                <a:lnTo>
                  <a:pt x="365759" y="10667"/>
                </a:lnTo>
                <a:lnTo>
                  <a:pt x="408431" y="28955"/>
                </a:lnTo>
                <a:lnTo>
                  <a:pt x="452627" y="73151"/>
                </a:lnTo>
                <a:lnTo>
                  <a:pt x="473963" y="112775"/>
                </a:lnTo>
                <a:lnTo>
                  <a:pt x="493775" y="161543"/>
                </a:lnTo>
                <a:lnTo>
                  <a:pt x="501395" y="187451"/>
                </a:lnTo>
                <a:lnTo>
                  <a:pt x="510539" y="216407"/>
                </a:lnTo>
                <a:lnTo>
                  <a:pt x="518159" y="245363"/>
                </a:lnTo>
                <a:lnTo>
                  <a:pt x="525779" y="274319"/>
                </a:lnTo>
                <a:lnTo>
                  <a:pt x="533399" y="304799"/>
                </a:lnTo>
                <a:lnTo>
                  <a:pt x="541019" y="335279"/>
                </a:lnTo>
                <a:lnTo>
                  <a:pt x="548639" y="365759"/>
                </a:lnTo>
                <a:lnTo>
                  <a:pt x="557783" y="396239"/>
                </a:lnTo>
                <a:lnTo>
                  <a:pt x="565403" y="425195"/>
                </a:lnTo>
                <a:lnTo>
                  <a:pt x="573023" y="454151"/>
                </a:lnTo>
                <a:lnTo>
                  <a:pt x="582167" y="481583"/>
                </a:lnTo>
                <a:lnTo>
                  <a:pt x="600455" y="533399"/>
                </a:lnTo>
                <a:lnTo>
                  <a:pt x="621791" y="577595"/>
                </a:lnTo>
                <a:lnTo>
                  <a:pt x="659891" y="624839"/>
                </a:lnTo>
                <a:lnTo>
                  <a:pt x="722375" y="643127"/>
                </a:lnTo>
                <a:lnTo>
                  <a:pt x="740663" y="640079"/>
                </a:lnTo>
                <a:lnTo>
                  <a:pt x="760475" y="635507"/>
                </a:lnTo>
                <a:lnTo>
                  <a:pt x="780287" y="627887"/>
                </a:lnTo>
                <a:lnTo>
                  <a:pt x="800099" y="620267"/>
                </a:lnTo>
                <a:lnTo>
                  <a:pt x="819911" y="609599"/>
                </a:lnTo>
                <a:lnTo>
                  <a:pt x="841247" y="597407"/>
                </a:lnTo>
                <a:lnTo>
                  <a:pt x="862583" y="585215"/>
                </a:lnTo>
                <a:lnTo>
                  <a:pt x="885443" y="571499"/>
                </a:lnTo>
                <a:lnTo>
                  <a:pt x="906779" y="557783"/>
                </a:lnTo>
                <a:lnTo>
                  <a:pt x="929639" y="542543"/>
                </a:lnTo>
                <a:lnTo>
                  <a:pt x="950975" y="528827"/>
                </a:lnTo>
                <a:lnTo>
                  <a:pt x="995171" y="499871"/>
                </a:lnTo>
                <a:lnTo>
                  <a:pt x="1039367" y="473963"/>
                </a:lnTo>
                <a:lnTo>
                  <a:pt x="1080515" y="454151"/>
                </a:lnTo>
                <a:lnTo>
                  <a:pt x="1100327" y="445007"/>
                </a:lnTo>
                <a:lnTo>
                  <a:pt x="1118615" y="438911"/>
                </a:lnTo>
                <a:lnTo>
                  <a:pt x="1138427" y="435863"/>
                </a:lnTo>
                <a:lnTo>
                  <a:pt x="1155191" y="434339"/>
                </a:lnTo>
                <a:lnTo>
                  <a:pt x="1171955" y="435863"/>
                </a:lnTo>
                <a:lnTo>
                  <a:pt x="1225295" y="460247"/>
                </a:lnTo>
                <a:lnTo>
                  <a:pt x="1258823" y="496823"/>
                </a:lnTo>
                <a:lnTo>
                  <a:pt x="1292351" y="542543"/>
                </a:lnTo>
                <a:lnTo>
                  <a:pt x="1322831" y="597407"/>
                </a:lnTo>
                <a:lnTo>
                  <a:pt x="1336547" y="624839"/>
                </a:lnTo>
                <a:lnTo>
                  <a:pt x="1351787" y="655319"/>
                </a:lnTo>
                <a:lnTo>
                  <a:pt x="1363979" y="685799"/>
                </a:lnTo>
                <a:lnTo>
                  <a:pt x="1377695" y="716279"/>
                </a:lnTo>
                <a:lnTo>
                  <a:pt x="1389887" y="745235"/>
                </a:lnTo>
                <a:lnTo>
                  <a:pt x="1400555" y="774191"/>
                </a:lnTo>
                <a:lnTo>
                  <a:pt x="1411223" y="801623"/>
                </a:lnTo>
                <a:lnTo>
                  <a:pt x="1421891" y="829055"/>
                </a:lnTo>
                <a:lnTo>
                  <a:pt x="1432559" y="853439"/>
                </a:lnTo>
                <a:lnTo>
                  <a:pt x="1440179" y="876299"/>
                </a:lnTo>
                <a:lnTo>
                  <a:pt x="1449323" y="896111"/>
                </a:lnTo>
                <a:lnTo>
                  <a:pt x="1456943" y="912875"/>
                </a:lnTo>
                <a:lnTo>
                  <a:pt x="1463039" y="925067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97406" y="1301655"/>
            <a:ext cx="112775" cy="1112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00453" y="2341022"/>
            <a:ext cx="112775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64539" y="1867821"/>
            <a:ext cx="908685" cy="612775"/>
          </a:xfrm>
          <a:custGeom>
            <a:avLst/>
            <a:gdLst/>
            <a:ahLst/>
            <a:cxnLst/>
            <a:rect l="l" t="t" r="r" b="b"/>
            <a:pathLst>
              <a:path w="908685" h="612775">
                <a:moveTo>
                  <a:pt x="0" y="0"/>
                </a:moveTo>
                <a:lnTo>
                  <a:pt x="53339" y="7619"/>
                </a:lnTo>
                <a:lnTo>
                  <a:pt x="94487" y="33527"/>
                </a:lnTo>
                <a:lnTo>
                  <a:pt x="129539" y="71627"/>
                </a:lnTo>
                <a:lnTo>
                  <a:pt x="161543" y="120395"/>
                </a:lnTo>
                <a:lnTo>
                  <a:pt x="178307" y="147827"/>
                </a:lnTo>
                <a:lnTo>
                  <a:pt x="195071" y="178307"/>
                </a:lnTo>
                <a:lnTo>
                  <a:pt x="211835" y="208787"/>
                </a:lnTo>
                <a:lnTo>
                  <a:pt x="230123" y="240791"/>
                </a:lnTo>
                <a:lnTo>
                  <a:pt x="251459" y="272795"/>
                </a:lnTo>
                <a:lnTo>
                  <a:pt x="274319" y="306323"/>
                </a:lnTo>
                <a:lnTo>
                  <a:pt x="306323" y="345947"/>
                </a:lnTo>
                <a:lnTo>
                  <a:pt x="341375" y="384047"/>
                </a:lnTo>
                <a:lnTo>
                  <a:pt x="361187" y="403859"/>
                </a:lnTo>
                <a:lnTo>
                  <a:pt x="382523" y="422147"/>
                </a:lnTo>
                <a:lnTo>
                  <a:pt x="403859" y="440435"/>
                </a:lnTo>
                <a:lnTo>
                  <a:pt x="426719" y="458723"/>
                </a:lnTo>
                <a:lnTo>
                  <a:pt x="449579" y="477011"/>
                </a:lnTo>
                <a:lnTo>
                  <a:pt x="475487" y="492251"/>
                </a:lnTo>
                <a:lnTo>
                  <a:pt x="501395" y="509015"/>
                </a:lnTo>
                <a:lnTo>
                  <a:pt x="557783" y="537971"/>
                </a:lnTo>
                <a:lnTo>
                  <a:pt x="617219" y="562355"/>
                </a:lnTo>
                <a:lnTo>
                  <a:pt x="682751" y="583691"/>
                </a:lnTo>
                <a:lnTo>
                  <a:pt x="717803" y="591311"/>
                </a:lnTo>
                <a:lnTo>
                  <a:pt x="752855" y="598931"/>
                </a:lnTo>
                <a:lnTo>
                  <a:pt x="789431" y="605027"/>
                </a:lnTo>
                <a:lnTo>
                  <a:pt x="827531" y="608075"/>
                </a:lnTo>
                <a:lnTo>
                  <a:pt x="867155" y="611123"/>
                </a:lnTo>
                <a:lnTo>
                  <a:pt x="908303" y="612647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08835" y="2480468"/>
            <a:ext cx="1130935" cy="474345"/>
          </a:xfrm>
          <a:custGeom>
            <a:avLst/>
            <a:gdLst/>
            <a:ahLst/>
            <a:cxnLst/>
            <a:rect l="l" t="t" r="r" b="b"/>
            <a:pathLst>
              <a:path w="1130935" h="474344">
                <a:moveTo>
                  <a:pt x="0" y="0"/>
                </a:moveTo>
                <a:lnTo>
                  <a:pt x="50291" y="0"/>
                </a:lnTo>
                <a:lnTo>
                  <a:pt x="99059" y="1523"/>
                </a:lnTo>
                <a:lnTo>
                  <a:pt x="146303" y="4571"/>
                </a:lnTo>
                <a:lnTo>
                  <a:pt x="192023" y="7619"/>
                </a:lnTo>
                <a:lnTo>
                  <a:pt x="236219" y="10667"/>
                </a:lnTo>
                <a:lnTo>
                  <a:pt x="280415" y="15239"/>
                </a:lnTo>
                <a:lnTo>
                  <a:pt x="323087" y="21335"/>
                </a:lnTo>
                <a:lnTo>
                  <a:pt x="364235" y="27431"/>
                </a:lnTo>
                <a:lnTo>
                  <a:pt x="403859" y="35051"/>
                </a:lnTo>
                <a:lnTo>
                  <a:pt x="443483" y="42671"/>
                </a:lnTo>
                <a:lnTo>
                  <a:pt x="481583" y="50291"/>
                </a:lnTo>
                <a:lnTo>
                  <a:pt x="516635" y="59435"/>
                </a:lnTo>
                <a:lnTo>
                  <a:pt x="551687" y="68579"/>
                </a:lnTo>
                <a:lnTo>
                  <a:pt x="586739" y="79247"/>
                </a:lnTo>
                <a:lnTo>
                  <a:pt x="618743" y="88391"/>
                </a:lnTo>
                <a:lnTo>
                  <a:pt x="649223" y="99059"/>
                </a:lnTo>
                <a:lnTo>
                  <a:pt x="679703" y="111251"/>
                </a:lnTo>
                <a:lnTo>
                  <a:pt x="708659" y="121919"/>
                </a:lnTo>
                <a:lnTo>
                  <a:pt x="736091" y="134111"/>
                </a:lnTo>
                <a:lnTo>
                  <a:pt x="786383" y="158495"/>
                </a:lnTo>
                <a:lnTo>
                  <a:pt x="832103" y="184403"/>
                </a:lnTo>
                <a:lnTo>
                  <a:pt x="871727" y="210311"/>
                </a:lnTo>
                <a:lnTo>
                  <a:pt x="905255" y="236219"/>
                </a:lnTo>
                <a:lnTo>
                  <a:pt x="937259" y="266699"/>
                </a:lnTo>
                <a:lnTo>
                  <a:pt x="963167" y="295655"/>
                </a:lnTo>
                <a:lnTo>
                  <a:pt x="1001267" y="350519"/>
                </a:lnTo>
                <a:lnTo>
                  <a:pt x="1028699" y="399287"/>
                </a:lnTo>
                <a:lnTo>
                  <a:pt x="1040891" y="420623"/>
                </a:lnTo>
                <a:lnTo>
                  <a:pt x="1053083" y="438911"/>
                </a:lnTo>
                <a:lnTo>
                  <a:pt x="1068323" y="452627"/>
                </a:lnTo>
                <a:lnTo>
                  <a:pt x="1085087" y="463295"/>
                </a:lnTo>
                <a:lnTo>
                  <a:pt x="1104899" y="470915"/>
                </a:lnTo>
                <a:lnTo>
                  <a:pt x="1130807" y="473963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49562" y="132933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动量</a:t>
            </a:r>
            <a:r>
              <a:rPr spc="-10" dirty="0"/>
              <a:t>法</a:t>
            </a:r>
            <a:r>
              <a:rPr spc="5" dirty="0"/>
              <a:t>还</a:t>
            </a:r>
            <a:r>
              <a:rPr spc="-10" dirty="0"/>
              <a:t>有什</a:t>
            </a:r>
            <a:r>
              <a:rPr spc="5" dirty="0"/>
              <a:t>么效</a:t>
            </a:r>
            <a:r>
              <a:rPr spc="-10" dirty="0"/>
              <a:t>果</a:t>
            </a:r>
            <a:r>
              <a:rPr spc="5" dirty="0"/>
              <a:t>？</a:t>
            </a:r>
            <a:endParaRPr spc="5" dirty="0"/>
          </a:p>
        </p:txBody>
      </p:sp>
      <p:sp>
        <p:nvSpPr>
          <p:cNvPr id="8" name="object 8"/>
          <p:cNvSpPr txBox="1"/>
          <p:nvPr/>
        </p:nvSpPr>
        <p:spPr>
          <a:xfrm>
            <a:off x="3970978" y="1471110"/>
            <a:ext cx="1061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不太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好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部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点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8532" y="2589651"/>
            <a:ext cx="1295400" cy="47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335" algn="ctr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点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点高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空间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常常见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804" y="934139"/>
            <a:ext cx="244284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8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象：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失函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常具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不太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好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局部最小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值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或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鞍点（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维空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非常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见）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804" y="1524478"/>
            <a:ext cx="2435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局部最小处与鞍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9804" y="1765193"/>
            <a:ext cx="2557145" cy="67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点处梯度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0，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算法无法通过。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8000"/>
              </a:lnSpc>
              <a:spcBef>
                <a:spcPts val="15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动量法的优势：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由于动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的存在，算法可以冲 出局部最小点以及鞍点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找到更优的解。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24203" y="143957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12596" y="143957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100988" y="143957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90903" y="143957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79296" y="143957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67688" y="143957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57603" y="143957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45996" y="143957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34388" y="143957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24303" y="143957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12696" y="143957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01088" y="1439577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92200" y="24652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80591" y="24652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68984" y="24652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58900" y="24652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47291" y="24652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35684" y="24652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425600" y="24652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13991" y="24652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02384" y="24652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92300" y="24652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1" y="0"/>
                </a:moveTo>
                <a:lnTo>
                  <a:pt x="0" y="0"/>
                </a:lnTo>
                <a:lnTo>
                  <a:pt x="0" y="12192"/>
                </a:lnTo>
                <a:lnTo>
                  <a:pt x="50291" y="12192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780691" y="246522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292" y="0"/>
                </a:moveTo>
                <a:lnTo>
                  <a:pt x="0" y="0"/>
                </a:lnTo>
                <a:lnTo>
                  <a:pt x="0" y="12192"/>
                </a:lnTo>
                <a:lnTo>
                  <a:pt x="50292" y="12192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69084" y="2465229"/>
            <a:ext cx="52069" cy="12700"/>
          </a:xfrm>
          <a:custGeom>
            <a:avLst/>
            <a:gdLst/>
            <a:ahLst/>
            <a:cxnLst/>
            <a:rect l="l" t="t" r="r" b="b"/>
            <a:pathLst>
              <a:path w="52070" h="12700">
                <a:moveTo>
                  <a:pt x="51815" y="0"/>
                </a:moveTo>
                <a:lnTo>
                  <a:pt x="0" y="0"/>
                </a:lnTo>
                <a:lnTo>
                  <a:pt x="0" y="12192"/>
                </a:lnTo>
                <a:lnTo>
                  <a:pt x="51815" y="12192"/>
                </a:lnTo>
                <a:lnTo>
                  <a:pt x="51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488" y="115828"/>
            <a:ext cx="1699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梯度算法改进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1423" y="842735"/>
            <a:ext cx="2159635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梯度下降算法存在的问题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动量法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自适应梯度与</a:t>
            </a: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RMSProp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spc="-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ADAM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总结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自适</a:t>
            </a:r>
            <a:r>
              <a:rPr spc="-10" dirty="0"/>
              <a:t>应</a:t>
            </a:r>
            <a:r>
              <a:rPr spc="5" dirty="0"/>
              <a:t>梯</a:t>
            </a:r>
            <a:r>
              <a:rPr spc="-10" dirty="0"/>
              <a:t>度</a:t>
            </a:r>
            <a:r>
              <a:rPr spc="5" dirty="0"/>
              <a:t>法</a:t>
            </a:r>
            <a:endParaRPr spc="5" dirty="0"/>
          </a:p>
        </p:txBody>
      </p:sp>
      <p:sp>
        <p:nvSpPr>
          <p:cNvPr id="3" name="object 3"/>
          <p:cNvSpPr/>
          <p:nvPr/>
        </p:nvSpPr>
        <p:spPr>
          <a:xfrm>
            <a:off x="2983895" y="811689"/>
            <a:ext cx="2947416" cy="1965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64411" y="1939449"/>
            <a:ext cx="631190" cy="108585"/>
          </a:xfrm>
          <a:custGeom>
            <a:avLst/>
            <a:gdLst/>
            <a:ahLst/>
            <a:cxnLst/>
            <a:rect l="l" t="t" r="r" b="b"/>
            <a:pathLst>
              <a:path w="631189" h="108585">
                <a:moveTo>
                  <a:pt x="630935" y="42671"/>
                </a:moveTo>
                <a:lnTo>
                  <a:pt x="587277" y="62454"/>
                </a:lnTo>
                <a:lnTo>
                  <a:pt x="542641" y="78697"/>
                </a:lnTo>
                <a:lnTo>
                  <a:pt x="497219" y="91407"/>
                </a:lnTo>
                <a:lnTo>
                  <a:pt x="451201" y="100592"/>
                </a:lnTo>
                <a:lnTo>
                  <a:pt x="404776" y="106259"/>
                </a:lnTo>
                <a:lnTo>
                  <a:pt x="358135" y="108412"/>
                </a:lnTo>
                <a:lnTo>
                  <a:pt x="311467" y="107060"/>
                </a:lnTo>
                <a:lnTo>
                  <a:pt x="264962" y="102210"/>
                </a:lnTo>
                <a:lnTo>
                  <a:pt x="218811" y="93867"/>
                </a:lnTo>
                <a:lnTo>
                  <a:pt x="173202" y="82038"/>
                </a:lnTo>
                <a:lnTo>
                  <a:pt x="128327" y="66730"/>
                </a:lnTo>
                <a:lnTo>
                  <a:pt x="84375" y="47950"/>
                </a:lnTo>
                <a:lnTo>
                  <a:pt x="41536" y="25704"/>
                </a:lnTo>
                <a:lnTo>
                  <a:pt x="0" y="0"/>
                </a:lnTo>
              </a:path>
            </a:pathLst>
          </a:custGeom>
          <a:ln w="18287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29815" y="2149761"/>
            <a:ext cx="967740" cy="356870"/>
          </a:xfrm>
          <a:custGeom>
            <a:avLst/>
            <a:gdLst/>
            <a:ahLst/>
            <a:cxnLst/>
            <a:rect l="l" t="t" r="r" b="b"/>
            <a:pathLst>
              <a:path w="967739" h="356869">
                <a:moveTo>
                  <a:pt x="910332" y="338338"/>
                </a:moveTo>
                <a:lnTo>
                  <a:pt x="903732" y="356616"/>
                </a:lnTo>
                <a:lnTo>
                  <a:pt x="967739" y="347472"/>
                </a:lnTo>
                <a:lnTo>
                  <a:pt x="961847" y="341375"/>
                </a:lnTo>
                <a:lnTo>
                  <a:pt x="918972" y="341375"/>
                </a:lnTo>
                <a:lnTo>
                  <a:pt x="910332" y="338338"/>
                </a:lnTo>
                <a:close/>
              </a:path>
              <a:path w="967739" h="356869">
                <a:moveTo>
                  <a:pt x="916878" y="320208"/>
                </a:moveTo>
                <a:lnTo>
                  <a:pt x="910332" y="338338"/>
                </a:lnTo>
                <a:lnTo>
                  <a:pt x="918972" y="341375"/>
                </a:lnTo>
                <a:lnTo>
                  <a:pt x="925068" y="323088"/>
                </a:lnTo>
                <a:lnTo>
                  <a:pt x="916878" y="320208"/>
                </a:lnTo>
                <a:close/>
              </a:path>
              <a:path w="967739" h="356869">
                <a:moveTo>
                  <a:pt x="923544" y="301752"/>
                </a:moveTo>
                <a:lnTo>
                  <a:pt x="916878" y="320208"/>
                </a:lnTo>
                <a:lnTo>
                  <a:pt x="925068" y="323088"/>
                </a:lnTo>
                <a:lnTo>
                  <a:pt x="918972" y="341375"/>
                </a:lnTo>
                <a:lnTo>
                  <a:pt x="961847" y="341375"/>
                </a:lnTo>
                <a:lnTo>
                  <a:pt x="923544" y="301752"/>
                </a:lnTo>
                <a:close/>
              </a:path>
              <a:path w="967739" h="356869">
                <a:moveTo>
                  <a:pt x="6096" y="0"/>
                </a:moveTo>
                <a:lnTo>
                  <a:pt x="0" y="18288"/>
                </a:lnTo>
                <a:lnTo>
                  <a:pt x="910332" y="338338"/>
                </a:lnTo>
                <a:lnTo>
                  <a:pt x="916878" y="320208"/>
                </a:lnTo>
                <a:lnTo>
                  <a:pt x="60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90776" y="1669701"/>
            <a:ext cx="692150" cy="321945"/>
          </a:xfrm>
          <a:custGeom>
            <a:avLst/>
            <a:gdLst/>
            <a:ahLst/>
            <a:cxnLst/>
            <a:rect l="l" t="t" r="r" b="b"/>
            <a:pathLst>
              <a:path w="692150" h="321944">
                <a:moveTo>
                  <a:pt x="635953" y="17643"/>
                </a:moveTo>
                <a:lnTo>
                  <a:pt x="0" y="304800"/>
                </a:lnTo>
                <a:lnTo>
                  <a:pt x="7620" y="321564"/>
                </a:lnTo>
                <a:lnTo>
                  <a:pt x="644179" y="35638"/>
                </a:lnTo>
                <a:lnTo>
                  <a:pt x="635953" y="17643"/>
                </a:lnTo>
                <a:close/>
              </a:path>
              <a:path w="692150" h="321944">
                <a:moveTo>
                  <a:pt x="683490" y="13716"/>
                </a:moveTo>
                <a:lnTo>
                  <a:pt x="644651" y="13716"/>
                </a:lnTo>
                <a:lnTo>
                  <a:pt x="652272" y="32003"/>
                </a:lnTo>
                <a:lnTo>
                  <a:pt x="644179" y="35638"/>
                </a:lnTo>
                <a:lnTo>
                  <a:pt x="652272" y="53340"/>
                </a:lnTo>
                <a:lnTo>
                  <a:pt x="683490" y="13716"/>
                </a:lnTo>
                <a:close/>
              </a:path>
              <a:path w="692150" h="321944">
                <a:moveTo>
                  <a:pt x="644651" y="13716"/>
                </a:moveTo>
                <a:lnTo>
                  <a:pt x="635953" y="17643"/>
                </a:lnTo>
                <a:lnTo>
                  <a:pt x="644179" y="35638"/>
                </a:lnTo>
                <a:lnTo>
                  <a:pt x="652272" y="32003"/>
                </a:lnTo>
                <a:lnTo>
                  <a:pt x="644651" y="13716"/>
                </a:lnTo>
                <a:close/>
              </a:path>
              <a:path w="692150" h="321944">
                <a:moveTo>
                  <a:pt x="627888" y="0"/>
                </a:moveTo>
                <a:lnTo>
                  <a:pt x="635953" y="17643"/>
                </a:lnTo>
                <a:lnTo>
                  <a:pt x="644651" y="13716"/>
                </a:lnTo>
                <a:lnTo>
                  <a:pt x="683490" y="13716"/>
                </a:lnTo>
                <a:lnTo>
                  <a:pt x="691896" y="3048"/>
                </a:lnTo>
                <a:lnTo>
                  <a:pt x="627888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29488" y="1659033"/>
            <a:ext cx="539750" cy="288290"/>
          </a:xfrm>
          <a:custGeom>
            <a:avLst/>
            <a:gdLst/>
            <a:ahLst/>
            <a:cxnLst/>
            <a:rect l="l" t="t" r="r" b="b"/>
            <a:pathLst>
              <a:path w="539750" h="288289">
                <a:moveTo>
                  <a:pt x="55112" y="17832"/>
                </a:moveTo>
                <a:lnTo>
                  <a:pt x="45968" y="34596"/>
                </a:lnTo>
                <a:lnTo>
                  <a:pt x="530351" y="288036"/>
                </a:lnTo>
                <a:lnTo>
                  <a:pt x="539496" y="271272"/>
                </a:lnTo>
                <a:lnTo>
                  <a:pt x="55112" y="17832"/>
                </a:lnTo>
                <a:close/>
              </a:path>
              <a:path w="539750" h="288289">
                <a:moveTo>
                  <a:pt x="0" y="0"/>
                </a:moveTo>
                <a:lnTo>
                  <a:pt x="36575" y="51816"/>
                </a:lnTo>
                <a:lnTo>
                  <a:pt x="45968" y="34596"/>
                </a:lnTo>
                <a:lnTo>
                  <a:pt x="38100" y="30480"/>
                </a:lnTo>
                <a:lnTo>
                  <a:pt x="47244" y="13716"/>
                </a:lnTo>
                <a:lnTo>
                  <a:pt x="57357" y="13716"/>
                </a:lnTo>
                <a:lnTo>
                  <a:pt x="64008" y="1524"/>
                </a:lnTo>
                <a:lnTo>
                  <a:pt x="0" y="0"/>
                </a:lnTo>
                <a:close/>
              </a:path>
              <a:path w="539750" h="288289">
                <a:moveTo>
                  <a:pt x="47244" y="13716"/>
                </a:moveTo>
                <a:lnTo>
                  <a:pt x="38100" y="30480"/>
                </a:lnTo>
                <a:lnTo>
                  <a:pt x="45968" y="34596"/>
                </a:lnTo>
                <a:lnTo>
                  <a:pt x="55112" y="17832"/>
                </a:lnTo>
                <a:lnTo>
                  <a:pt x="47244" y="13716"/>
                </a:lnTo>
                <a:close/>
              </a:path>
              <a:path w="539750" h="288289">
                <a:moveTo>
                  <a:pt x="57357" y="13716"/>
                </a:moveTo>
                <a:lnTo>
                  <a:pt x="47244" y="13716"/>
                </a:lnTo>
                <a:lnTo>
                  <a:pt x="55112" y="17832"/>
                </a:lnTo>
                <a:lnTo>
                  <a:pt x="57357" y="13716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60" y="734563"/>
            <a:ext cx="23577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适应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震荡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向步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195580">
              <a:lnSpc>
                <a:spcPct val="2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大平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方向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长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荡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速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往谷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自适</a:t>
            </a:r>
            <a:r>
              <a:rPr spc="-10" dirty="0"/>
              <a:t>应</a:t>
            </a:r>
            <a:r>
              <a:rPr spc="5" dirty="0"/>
              <a:t>梯</a:t>
            </a:r>
            <a:r>
              <a:rPr spc="-10" dirty="0"/>
              <a:t>度</a:t>
            </a:r>
            <a:r>
              <a:rPr spc="5" dirty="0"/>
              <a:t>法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2983895" y="817413"/>
            <a:ext cx="2947416" cy="1965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64411" y="1945173"/>
            <a:ext cx="631190" cy="108585"/>
          </a:xfrm>
          <a:custGeom>
            <a:avLst/>
            <a:gdLst/>
            <a:ahLst/>
            <a:cxnLst/>
            <a:rect l="l" t="t" r="r" b="b"/>
            <a:pathLst>
              <a:path w="631189" h="108585">
                <a:moveTo>
                  <a:pt x="630935" y="42671"/>
                </a:moveTo>
                <a:lnTo>
                  <a:pt x="587277" y="62454"/>
                </a:lnTo>
                <a:lnTo>
                  <a:pt x="542641" y="78697"/>
                </a:lnTo>
                <a:lnTo>
                  <a:pt x="497219" y="91407"/>
                </a:lnTo>
                <a:lnTo>
                  <a:pt x="451201" y="100592"/>
                </a:lnTo>
                <a:lnTo>
                  <a:pt x="404776" y="106259"/>
                </a:lnTo>
                <a:lnTo>
                  <a:pt x="358135" y="108412"/>
                </a:lnTo>
                <a:lnTo>
                  <a:pt x="311467" y="107060"/>
                </a:lnTo>
                <a:lnTo>
                  <a:pt x="264962" y="102210"/>
                </a:lnTo>
                <a:lnTo>
                  <a:pt x="218811" y="93867"/>
                </a:lnTo>
                <a:lnTo>
                  <a:pt x="173202" y="82038"/>
                </a:lnTo>
                <a:lnTo>
                  <a:pt x="128327" y="66730"/>
                </a:lnTo>
                <a:lnTo>
                  <a:pt x="84375" y="47950"/>
                </a:lnTo>
                <a:lnTo>
                  <a:pt x="41536" y="25704"/>
                </a:lnTo>
                <a:lnTo>
                  <a:pt x="0" y="0"/>
                </a:lnTo>
              </a:path>
            </a:pathLst>
          </a:custGeom>
          <a:ln w="18287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29815" y="2155485"/>
            <a:ext cx="967740" cy="356870"/>
          </a:xfrm>
          <a:custGeom>
            <a:avLst/>
            <a:gdLst/>
            <a:ahLst/>
            <a:cxnLst/>
            <a:rect l="l" t="t" r="r" b="b"/>
            <a:pathLst>
              <a:path w="967739" h="356869">
                <a:moveTo>
                  <a:pt x="910332" y="338338"/>
                </a:moveTo>
                <a:lnTo>
                  <a:pt x="903732" y="356615"/>
                </a:lnTo>
                <a:lnTo>
                  <a:pt x="967739" y="347471"/>
                </a:lnTo>
                <a:lnTo>
                  <a:pt x="961847" y="341375"/>
                </a:lnTo>
                <a:lnTo>
                  <a:pt x="918972" y="341375"/>
                </a:lnTo>
                <a:lnTo>
                  <a:pt x="910332" y="338338"/>
                </a:lnTo>
                <a:close/>
              </a:path>
              <a:path w="967739" h="356869">
                <a:moveTo>
                  <a:pt x="916878" y="320208"/>
                </a:moveTo>
                <a:lnTo>
                  <a:pt x="910332" y="338338"/>
                </a:lnTo>
                <a:lnTo>
                  <a:pt x="918972" y="341375"/>
                </a:lnTo>
                <a:lnTo>
                  <a:pt x="925068" y="323088"/>
                </a:lnTo>
                <a:lnTo>
                  <a:pt x="916878" y="320208"/>
                </a:lnTo>
                <a:close/>
              </a:path>
              <a:path w="967739" h="356869">
                <a:moveTo>
                  <a:pt x="923544" y="301751"/>
                </a:moveTo>
                <a:lnTo>
                  <a:pt x="916878" y="320208"/>
                </a:lnTo>
                <a:lnTo>
                  <a:pt x="925068" y="323088"/>
                </a:lnTo>
                <a:lnTo>
                  <a:pt x="918972" y="341375"/>
                </a:lnTo>
                <a:lnTo>
                  <a:pt x="961847" y="341375"/>
                </a:lnTo>
                <a:lnTo>
                  <a:pt x="923544" y="301751"/>
                </a:lnTo>
                <a:close/>
              </a:path>
              <a:path w="967739" h="356869">
                <a:moveTo>
                  <a:pt x="6096" y="0"/>
                </a:moveTo>
                <a:lnTo>
                  <a:pt x="0" y="18287"/>
                </a:lnTo>
                <a:lnTo>
                  <a:pt x="910332" y="338338"/>
                </a:lnTo>
                <a:lnTo>
                  <a:pt x="916878" y="320208"/>
                </a:lnTo>
                <a:lnTo>
                  <a:pt x="60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90776" y="1675425"/>
            <a:ext cx="692150" cy="321945"/>
          </a:xfrm>
          <a:custGeom>
            <a:avLst/>
            <a:gdLst/>
            <a:ahLst/>
            <a:cxnLst/>
            <a:rect l="l" t="t" r="r" b="b"/>
            <a:pathLst>
              <a:path w="692150" h="321944">
                <a:moveTo>
                  <a:pt x="635953" y="17643"/>
                </a:moveTo>
                <a:lnTo>
                  <a:pt x="0" y="304800"/>
                </a:lnTo>
                <a:lnTo>
                  <a:pt x="7620" y="321563"/>
                </a:lnTo>
                <a:lnTo>
                  <a:pt x="644179" y="35638"/>
                </a:lnTo>
                <a:lnTo>
                  <a:pt x="635953" y="17643"/>
                </a:lnTo>
                <a:close/>
              </a:path>
              <a:path w="692150" h="321944">
                <a:moveTo>
                  <a:pt x="683490" y="13716"/>
                </a:moveTo>
                <a:lnTo>
                  <a:pt x="644651" y="13716"/>
                </a:lnTo>
                <a:lnTo>
                  <a:pt x="652272" y="32004"/>
                </a:lnTo>
                <a:lnTo>
                  <a:pt x="644179" y="35638"/>
                </a:lnTo>
                <a:lnTo>
                  <a:pt x="652272" y="53339"/>
                </a:lnTo>
                <a:lnTo>
                  <a:pt x="683490" y="13716"/>
                </a:lnTo>
                <a:close/>
              </a:path>
              <a:path w="692150" h="321944">
                <a:moveTo>
                  <a:pt x="644651" y="13716"/>
                </a:moveTo>
                <a:lnTo>
                  <a:pt x="635953" y="17643"/>
                </a:lnTo>
                <a:lnTo>
                  <a:pt x="644179" y="35638"/>
                </a:lnTo>
                <a:lnTo>
                  <a:pt x="652272" y="32004"/>
                </a:lnTo>
                <a:lnTo>
                  <a:pt x="644651" y="13716"/>
                </a:lnTo>
                <a:close/>
              </a:path>
              <a:path w="692150" h="321944">
                <a:moveTo>
                  <a:pt x="627888" y="0"/>
                </a:moveTo>
                <a:lnTo>
                  <a:pt x="635953" y="17643"/>
                </a:lnTo>
                <a:lnTo>
                  <a:pt x="644651" y="13716"/>
                </a:lnTo>
                <a:lnTo>
                  <a:pt x="683490" y="13716"/>
                </a:lnTo>
                <a:lnTo>
                  <a:pt x="691896" y="3048"/>
                </a:lnTo>
                <a:lnTo>
                  <a:pt x="627888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29488" y="1664757"/>
            <a:ext cx="539750" cy="288290"/>
          </a:xfrm>
          <a:custGeom>
            <a:avLst/>
            <a:gdLst/>
            <a:ahLst/>
            <a:cxnLst/>
            <a:rect l="l" t="t" r="r" b="b"/>
            <a:pathLst>
              <a:path w="539750" h="288289">
                <a:moveTo>
                  <a:pt x="55112" y="17832"/>
                </a:moveTo>
                <a:lnTo>
                  <a:pt x="45968" y="34596"/>
                </a:lnTo>
                <a:lnTo>
                  <a:pt x="530351" y="288036"/>
                </a:lnTo>
                <a:lnTo>
                  <a:pt x="539496" y="271272"/>
                </a:lnTo>
                <a:lnTo>
                  <a:pt x="55112" y="17832"/>
                </a:lnTo>
                <a:close/>
              </a:path>
              <a:path w="539750" h="288289">
                <a:moveTo>
                  <a:pt x="0" y="0"/>
                </a:moveTo>
                <a:lnTo>
                  <a:pt x="36575" y="51816"/>
                </a:lnTo>
                <a:lnTo>
                  <a:pt x="45968" y="34596"/>
                </a:lnTo>
                <a:lnTo>
                  <a:pt x="38100" y="30480"/>
                </a:lnTo>
                <a:lnTo>
                  <a:pt x="47244" y="13716"/>
                </a:lnTo>
                <a:lnTo>
                  <a:pt x="57357" y="13716"/>
                </a:lnTo>
                <a:lnTo>
                  <a:pt x="64008" y="1524"/>
                </a:lnTo>
                <a:lnTo>
                  <a:pt x="0" y="0"/>
                </a:lnTo>
                <a:close/>
              </a:path>
              <a:path w="539750" h="288289">
                <a:moveTo>
                  <a:pt x="47244" y="13716"/>
                </a:moveTo>
                <a:lnTo>
                  <a:pt x="38100" y="30480"/>
                </a:lnTo>
                <a:lnTo>
                  <a:pt x="45968" y="34596"/>
                </a:lnTo>
                <a:lnTo>
                  <a:pt x="55112" y="17832"/>
                </a:lnTo>
                <a:lnTo>
                  <a:pt x="47244" y="13716"/>
                </a:lnTo>
                <a:close/>
              </a:path>
              <a:path w="539750" h="288289">
                <a:moveTo>
                  <a:pt x="57357" y="13716"/>
                </a:moveTo>
                <a:lnTo>
                  <a:pt x="47244" y="13716"/>
                </a:lnTo>
                <a:lnTo>
                  <a:pt x="55112" y="17832"/>
                </a:lnTo>
                <a:lnTo>
                  <a:pt x="57357" y="13716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33676" y="1788201"/>
            <a:ext cx="545591" cy="179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72796" y="1804410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030A0"/>
                </a:solidFill>
                <a:latin typeface="黑体" panose="02010609060101010101" charset="-122"/>
                <a:cs typeface="黑体" panose="02010609060101010101" charset="-122"/>
              </a:rPr>
              <a:t>小学习率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70964" y="2324649"/>
            <a:ext cx="547115" cy="1798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11640" y="2345480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大学习率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54376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60" y="728844"/>
            <a:ext cx="235775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适应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震荡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向步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195580">
              <a:lnSpc>
                <a:spcPct val="2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大平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方向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长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荡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速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往谷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何区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震荡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向与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坦方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自适</a:t>
            </a:r>
            <a:r>
              <a:rPr spc="-10" dirty="0"/>
              <a:t>应</a:t>
            </a:r>
            <a:r>
              <a:rPr spc="5" dirty="0"/>
              <a:t>梯</a:t>
            </a:r>
            <a:r>
              <a:rPr spc="-10" dirty="0"/>
              <a:t>度</a:t>
            </a:r>
            <a:r>
              <a:rPr spc="5" dirty="0"/>
              <a:t>法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2983895" y="811689"/>
            <a:ext cx="2947416" cy="1965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64411" y="1939449"/>
            <a:ext cx="631190" cy="108585"/>
          </a:xfrm>
          <a:custGeom>
            <a:avLst/>
            <a:gdLst/>
            <a:ahLst/>
            <a:cxnLst/>
            <a:rect l="l" t="t" r="r" b="b"/>
            <a:pathLst>
              <a:path w="631189" h="108585">
                <a:moveTo>
                  <a:pt x="630935" y="42671"/>
                </a:moveTo>
                <a:lnTo>
                  <a:pt x="587277" y="62454"/>
                </a:lnTo>
                <a:lnTo>
                  <a:pt x="542641" y="78697"/>
                </a:lnTo>
                <a:lnTo>
                  <a:pt x="497219" y="91407"/>
                </a:lnTo>
                <a:lnTo>
                  <a:pt x="451201" y="100592"/>
                </a:lnTo>
                <a:lnTo>
                  <a:pt x="404776" y="106259"/>
                </a:lnTo>
                <a:lnTo>
                  <a:pt x="358135" y="108412"/>
                </a:lnTo>
                <a:lnTo>
                  <a:pt x="311467" y="107060"/>
                </a:lnTo>
                <a:lnTo>
                  <a:pt x="264962" y="102210"/>
                </a:lnTo>
                <a:lnTo>
                  <a:pt x="218811" y="93867"/>
                </a:lnTo>
                <a:lnTo>
                  <a:pt x="173202" y="82038"/>
                </a:lnTo>
                <a:lnTo>
                  <a:pt x="128327" y="66730"/>
                </a:lnTo>
                <a:lnTo>
                  <a:pt x="84375" y="47950"/>
                </a:lnTo>
                <a:lnTo>
                  <a:pt x="41536" y="25704"/>
                </a:lnTo>
                <a:lnTo>
                  <a:pt x="0" y="0"/>
                </a:lnTo>
              </a:path>
            </a:pathLst>
          </a:custGeom>
          <a:ln w="18287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29815" y="2149761"/>
            <a:ext cx="967740" cy="356870"/>
          </a:xfrm>
          <a:custGeom>
            <a:avLst/>
            <a:gdLst/>
            <a:ahLst/>
            <a:cxnLst/>
            <a:rect l="l" t="t" r="r" b="b"/>
            <a:pathLst>
              <a:path w="967739" h="356869">
                <a:moveTo>
                  <a:pt x="910332" y="338338"/>
                </a:moveTo>
                <a:lnTo>
                  <a:pt x="903732" y="356616"/>
                </a:lnTo>
                <a:lnTo>
                  <a:pt x="967739" y="347472"/>
                </a:lnTo>
                <a:lnTo>
                  <a:pt x="961847" y="341375"/>
                </a:lnTo>
                <a:lnTo>
                  <a:pt x="918972" y="341375"/>
                </a:lnTo>
                <a:lnTo>
                  <a:pt x="910332" y="338338"/>
                </a:lnTo>
                <a:close/>
              </a:path>
              <a:path w="967739" h="356869">
                <a:moveTo>
                  <a:pt x="916878" y="320208"/>
                </a:moveTo>
                <a:lnTo>
                  <a:pt x="910332" y="338338"/>
                </a:lnTo>
                <a:lnTo>
                  <a:pt x="918972" y="341375"/>
                </a:lnTo>
                <a:lnTo>
                  <a:pt x="925068" y="323088"/>
                </a:lnTo>
                <a:lnTo>
                  <a:pt x="916878" y="320208"/>
                </a:lnTo>
                <a:close/>
              </a:path>
              <a:path w="967739" h="356869">
                <a:moveTo>
                  <a:pt x="923544" y="301752"/>
                </a:moveTo>
                <a:lnTo>
                  <a:pt x="916878" y="320208"/>
                </a:lnTo>
                <a:lnTo>
                  <a:pt x="925068" y="323088"/>
                </a:lnTo>
                <a:lnTo>
                  <a:pt x="918972" y="341375"/>
                </a:lnTo>
                <a:lnTo>
                  <a:pt x="961847" y="341375"/>
                </a:lnTo>
                <a:lnTo>
                  <a:pt x="923544" y="301752"/>
                </a:lnTo>
                <a:close/>
              </a:path>
              <a:path w="967739" h="356869">
                <a:moveTo>
                  <a:pt x="6096" y="0"/>
                </a:moveTo>
                <a:lnTo>
                  <a:pt x="0" y="18288"/>
                </a:lnTo>
                <a:lnTo>
                  <a:pt x="910332" y="338338"/>
                </a:lnTo>
                <a:lnTo>
                  <a:pt x="916878" y="320208"/>
                </a:lnTo>
                <a:lnTo>
                  <a:pt x="60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90776" y="1669701"/>
            <a:ext cx="692150" cy="321945"/>
          </a:xfrm>
          <a:custGeom>
            <a:avLst/>
            <a:gdLst/>
            <a:ahLst/>
            <a:cxnLst/>
            <a:rect l="l" t="t" r="r" b="b"/>
            <a:pathLst>
              <a:path w="692150" h="321944">
                <a:moveTo>
                  <a:pt x="635953" y="17643"/>
                </a:moveTo>
                <a:lnTo>
                  <a:pt x="0" y="304800"/>
                </a:lnTo>
                <a:lnTo>
                  <a:pt x="7620" y="321564"/>
                </a:lnTo>
                <a:lnTo>
                  <a:pt x="644179" y="35638"/>
                </a:lnTo>
                <a:lnTo>
                  <a:pt x="635953" y="17643"/>
                </a:lnTo>
                <a:close/>
              </a:path>
              <a:path w="692150" h="321944">
                <a:moveTo>
                  <a:pt x="683490" y="13716"/>
                </a:moveTo>
                <a:lnTo>
                  <a:pt x="644651" y="13716"/>
                </a:lnTo>
                <a:lnTo>
                  <a:pt x="652272" y="32003"/>
                </a:lnTo>
                <a:lnTo>
                  <a:pt x="644179" y="35638"/>
                </a:lnTo>
                <a:lnTo>
                  <a:pt x="652272" y="53340"/>
                </a:lnTo>
                <a:lnTo>
                  <a:pt x="683490" y="13716"/>
                </a:lnTo>
                <a:close/>
              </a:path>
              <a:path w="692150" h="321944">
                <a:moveTo>
                  <a:pt x="644651" y="13716"/>
                </a:moveTo>
                <a:lnTo>
                  <a:pt x="635953" y="17643"/>
                </a:lnTo>
                <a:lnTo>
                  <a:pt x="644179" y="35638"/>
                </a:lnTo>
                <a:lnTo>
                  <a:pt x="652272" y="32003"/>
                </a:lnTo>
                <a:lnTo>
                  <a:pt x="644651" y="13716"/>
                </a:lnTo>
                <a:close/>
              </a:path>
              <a:path w="692150" h="321944">
                <a:moveTo>
                  <a:pt x="627888" y="0"/>
                </a:moveTo>
                <a:lnTo>
                  <a:pt x="635953" y="17643"/>
                </a:lnTo>
                <a:lnTo>
                  <a:pt x="644651" y="13716"/>
                </a:lnTo>
                <a:lnTo>
                  <a:pt x="683490" y="13716"/>
                </a:lnTo>
                <a:lnTo>
                  <a:pt x="691896" y="3048"/>
                </a:lnTo>
                <a:lnTo>
                  <a:pt x="627888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29488" y="1659033"/>
            <a:ext cx="539750" cy="288290"/>
          </a:xfrm>
          <a:custGeom>
            <a:avLst/>
            <a:gdLst/>
            <a:ahLst/>
            <a:cxnLst/>
            <a:rect l="l" t="t" r="r" b="b"/>
            <a:pathLst>
              <a:path w="539750" h="288289">
                <a:moveTo>
                  <a:pt x="55112" y="17832"/>
                </a:moveTo>
                <a:lnTo>
                  <a:pt x="45968" y="34596"/>
                </a:lnTo>
                <a:lnTo>
                  <a:pt x="530351" y="288036"/>
                </a:lnTo>
                <a:lnTo>
                  <a:pt x="539496" y="271272"/>
                </a:lnTo>
                <a:lnTo>
                  <a:pt x="55112" y="17832"/>
                </a:lnTo>
                <a:close/>
              </a:path>
              <a:path w="539750" h="288289">
                <a:moveTo>
                  <a:pt x="0" y="0"/>
                </a:moveTo>
                <a:lnTo>
                  <a:pt x="36575" y="51816"/>
                </a:lnTo>
                <a:lnTo>
                  <a:pt x="45968" y="34596"/>
                </a:lnTo>
                <a:lnTo>
                  <a:pt x="38100" y="30480"/>
                </a:lnTo>
                <a:lnTo>
                  <a:pt x="47244" y="13716"/>
                </a:lnTo>
                <a:lnTo>
                  <a:pt x="57357" y="13716"/>
                </a:lnTo>
                <a:lnTo>
                  <a:pt x="64008" y="1524"/>
                </a:lnTo>
                <a:lnTo>
                  <a:pt x="0" y="0"/>
                </a:lnTo>
                <a:close/>
              </a:path>
              <a:path w="539750" h="288289">
                <a:moveTo>
                  <a:pt x="47244" y="13716"/>
                </a:moveTo>
                <a:lnTo>
                  <a:pt x="38100" y="30480"/>
                </a:lnTo>
                <a:lnTo>
                  <a:pt x="45968" y="34596"/>
                </a:lnTo>
                <a:lnTo>
                  <a:pt x="55112" y="17832"/>
                </a:lnTo>
                <a:lnTo>
                  <a:pt x="47244" y="13716"/>
                </a:lnTo>
                <a:close/>
              </a:path>
              <a:path w="539750" h="288289">
                <a:moveTo>
                  <a:pt x="57357" y="13716"/>
                </a:moveTo>
                <a:lnTo>
                  <a:pt x="47244" y="13716"/>
                </a:lnTo>
                <a:lnTo>
                  <a:pt x="55112" y="17832"/>
                </a:lnTo>
                <a:lnTo>
                  <a:pt x="57357" y="13716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33676" y="1782477"/>
            <a:ext cx="545591" cy="179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72796" y="1800249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030A0"/>
                </a:solidFill>
                <a:latin typeface="黑体" panose="02010609060101010101" charset="-122"/>
                <a:cs typeface="黑体" panose="02010609060101010101" charset="-122"/>
              </a:rPr>
              <a:t>小学习率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70964" y="2318925"/>
            <a:ext cx="547115" cy="1798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11640" y="2339787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大学习率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54376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60" y="734563"/>
            <a:ext cx="235775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适应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震荡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向步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195580">
              <a:lnSpc>
                <a:spcPct val="2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大平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方向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长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荡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速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往谷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何区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震荡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向与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坦方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自适</a:t>
            </a:r>
            <a:r>
              <a:rPr spc="-10" dirty="0"/>
              <a:t>应</a:t>
            </a:r>
            <a:r>
              <a:rPr spc="5" dirty="0"/>
              <a:t>梯</a:t>
            </a:r>
            <a:r>
              <a:rPr spc="-10" dirty="0"/>
              <a:t>度</a:t>
            </a:r>
            <a:r>
              <a:rPr spc="5" dirty="0"/>
              <a:t>法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2983895" y="817413"/>
            <a:ext cx="2947416" cy="1965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64411" y="1945173"/>
            <a:ext cx="631190" cy="108585"/>
          </a:xfrm>
          <a:custGeom>
            <a:avLst/>
            <a:gdLst/>
            <a:ahLst/>
            <a:cxnLst/>
            <a:rect l="l" t="t" r="r" b="b"/>
            <a:pathLst>
              <a:path w="631189" h="108585">
                <a:moveTo>
                  <a:pt x="630935" y="42671"/>
                </a:moveTo>
                <a:lnTo>
                  <a:pt x="587277" y="62454"/>
                </a:lnTo>
                <a:lnTo>
                  <a:pt x="542641" y="78697"/>
                </a:lnTo>
                <a:lnTo>
                  <a:pt x="497219" y="91407"/>
                </a:lnTo>
                <a:lnTo>
                  <a:pt x="451201" y="100592"/>
                </a:lnTo>
                <a:lnTo>
                  <a:pt x="404776" y="106259"/>
                </a:lnTo>
                <a:lnTo>
                  <a:pt x="358135" y="108412"/>
                </a:lnTo>
                <a:lnTo>
                  <a:pt x="311467" y="107060"/>
                </a:lnTo>
                <a:lnTo>
                  <a:pt x="264962" y="102210"/>
                </a:lnTo>
                <a:lnTo>
                  <a:pt x="218811" y="93867"/>
                </a:lnTo>
                <a:lnTo>
                  <a:pt x="173202" y="82038"/>
                </a:lnTo>
                <a:lnTo>
                  <a:pt x="128327" y="66730"/>
                </a:lnTo>
                <a:lnTo>
                  <a:pt x="84375" y="47950"/>
                </a:lnTo>
                <a:lnTo>
                  <a:pt x="41536" y="25704"/>
                </a:lnTo>
                <a:lnTo>
                  <a:pt x="0" y="0"/>
                </a:lnTo>
              </a:path>
            </a:pathLst>
          </a:custGeom>
          <a:ln w="18287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29815" y="2155485"/>
            <a:ext cx="967740" cy="356870"/>
          </a:xfrm>
          <a:custGeom>
            <a:avLst/>
            <a:gdLst/>
            <a:ahLst/>
            <a:cxnLst/>
            <a:rect l="l" t="t" r="r" b="b"/>
            <a:pathLst>
              <a:path w="967739" h="356869">
                <a:moveTo>
                  <a:pt x="910332" y="338338"/>
                </a:moveTo>
                <a:lnTo>
                  <a:pt x="903732" y="356615"/>
                </a:lnTo>
                <a:lnTo>
                  <a:pt x="967739" y="347471"/>
                </a:lnTo>
                <a:lnTo>
                  <a:pt x="961847" y="341375"/>
                </a:lnTo>
                <a:lnTo>
                  <a:pt x="918972" y="341375"/>
                </a:lnTo>
                <a:lnTo>
                  <a:pt x="910332" y="338338"/>
                </a:lnTo>
                <a:close/>
              </a:path>
              <a:path w="967739" h="356869">
                <a:moveTo>
                  <a:pt x="916878" y="320208"/>
                </a:moveTo>
                <a:lnTo>
                  <a:pt x="910332" y="338338"/>
                </a:lnTo>
                <a:lnTo>
                  <a:pt x="918972" y="341375"/>
                </a:lnTo>
                <a:lnTo>
                  <a:pt x="925068" y="323088"/>
                </a:lnTo>
                <a:lnTo>
                  <a:pt x="916878" y="320208"/>
                </a:lnTo>
                <a:close/>
              </a:path>
              <a:path w="967739" h="356869">
                <a:moveTo>
                  <a:pt x="923544" y="301751"/>
                </a:moveTo>
                <a:lnTo>
                  <a:pt x="916878" y="320208"/>
                </a:lnTo>
                <a:lnTo>
                  <a:pt x="925068" y="323088"/>
                </a:lnTo>
                <a:lnTo>
                  <a:pt x="918972" y="341375"/>
                </a:lnTo>
                <a:lnTo>
                  <a:pt x="961847" y="341375"/>
                </a:lnTo>
                <a:lnTo>
                  <a:pt x="923544" y="301751"/>
                </a:lnTo>
                <a:close/>
              </a:path>
              <a:path w="967739" h="356869">
                <a:moveTo>
                  <a:pt x="6096" y="0"/>
                </a:moveTo>
                <a:lnTo>
                  <a:pt x="0" y="18287"/>
                </a:lnTo>
                <a:lnTo>
                  <a:pt x="910332" y="338338"/>
                </a:lnTo>
                <a:lnTo>
                  <a:pt x="916878" y="320208"/>
                </a:lnTo>
                <a:lnTo>
                  <a:pt x="60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90776" y="1675425"/>
            <a:ext cx="692150" cy="321945"/>
          </a:xfrm>
          <a:custGeom>
            <a:avLst/>
            <a:gdLst/>
            <a:ahLst/>
            <a:cxnLst/>
            <a:rect l="l" t="t" r="r" b="b"/>
            <a:pathLst>
              <a:path w="692150" h="321944">
                <a:moveTo>
                  <a:pt x="635953" y="17643"/>
                </a:moveTo>
                <a:lnTo>
                  <a:pt x="0" y="304800"/>
                </a:lnTo>
                <a:lnTo>
                  <a:pt x="7620" y="321563"/>
                </a:lnTo>
                <a:lnTo>
                  <a:pt x="644179" y="35638"/>
                </a:lnTo>
                <a:lnTo>
                  <a:pt x="635953" y="17643"/>
                </a:lnTo>
                <a:close/>
              </a:path>
              <a:path w="692150" h="321944">
                <a:moveTo>
                  <a:pt x="683490" y="13716"/>
                </a:moveTo>
                <a:lnTo>
                  <a:pt x="644651" y="13716"/>
                </a:lnTo>
                <a:lnTo>
                  <a:pt x="652272" y="32004"/>
                </a:lnTo>
                <a:lnTo>
                  <a:pt x="644179" y="35638"/>
                </a:lnTo>
                <a:lnTo>
                  <a:pt x="652272" y="53339"/>
                </a:lnTo>
                <a:lnTo>
                  <a:pt x="683490" y="13716"/>
                </a:lnTo>
                <a:close/>
              </a:path>
              <a:path w="692150" h="321944">
                <a:moveTo>
                  <a:pt x="644651" y="13716"/>
                </a:moveTo>
                <a:lnTo>
                  <a:pt x="635953" y="17643"/>
                </a:lnTo>
                <a:lnTo>
                  <a:pt x="644179" y="35638"/>
                </a:lnTo>
                <a:lnTo>
                  <a:pt x="652272" y="32004"/>
                </a:lnTo>
                <a:lnTo>
                  <a:pt x="644651" y="13716"/>
                </a:lnTo>
                <a:close/>
              </a:path>
              <a:path w="692150" h="321944">
                <a:moveTo>
                  <a:pt x="627888" y="0"/>
                </a:moveTo>
                <a:lnTo>
                  <a:pt x="635953" y="17643"/>
                </a:lnTo>
                <a:lnTo>
                  <a:pt x="644651" y="13716"/>
                </a:lnTo>
                <a:lnTo>
                  <a:pt x="683490" y="13716"/>
                </a:lnTo>
                <a:lnTo>
                  <a:pt x="691896" y="3048"/>
                </a:lnTo>
                <a:lnTo>
                  <a:pt x="627888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29488" y="1664757"/>
            <a:ext cx="539750" cy="288290"/>
          </a:xfrm>
          <a:custGeom>
            <a:avLst/>
            <a:gdLst/>
            <a:ahLst/>
            <a:cxnLst/>
            <a:rect l="l" t="t" r="r" b="b"/>
            <a:pathLst>
              <a:path w="539750" h="288289">
                <a:moveTo>
                  <a:pt x="55112" y="17832"/>
                </a:moveTo>
                <a:lnTo>
                  <a:pt x="45968" y="34596"/>
                </a:lnTo>
                <a:lnTo>
                  <a:pt x="530351" y="288036"/>
                </a:lnTo>
                <a:lnTo>
                  <a:pt x="539496" y="271272"/>
                </a:lnTo>
                <a:lnTo>
                  <a:pt x="55112" y="17832"/>
                </a:lnTo>
                <a:close/>
              </a:path>
              <a:path w="539750" h="288289">
                <a:moveTo>
                  <a:pt x="0" y="0"/>
                </a:moveTo>
                <a:lnTo>
                  <a:pt x="36575" y="51816"/>
                </a:lnTo>
                <a:lnTo>
                  <a:pt x="45968" y="34596"/>
                </a:lnTo>
                <a:lnTo>
                  <a:pt x="38100" y="30480"/>
                </a:lnTo>
                <a:lnTo>
                  <a:pt x="47244" y="13716"/>
                </a:lnTo>
                <a:lnTo>
                  <a:pt x="57357" y="13716"/>
                </a:lnTo>
                <a:lnTo>
                  <a:pt x="64008" y="1524"/>
                </a:lnTo>
                <a:lnTo>
                  <a:pt x="0" y="0"/>
                </a:lnTo>
                <a:close/>
              </a:path>
              <a:path w="539750" h="288289">
                <a:moveTo>
                  <a:pt x="47244" y="13716"/>
                </a:moveTo>
                <a:lnTo>
                  <a:pt x="38100" y="30480"/>
                </a:lnTo>
                <a:lnTo>
                  <a:pt x="45968" y="34596"/>
                </a:lnTo>
                <a:lnTo>
                  <a:pt x="55112" y="17832"/>
                </a:lnTo>
                <a:lnTo>
                  <a:pt x="47244" y="13716"/>
                </a:lnTo>
                <a:close/>
              </a:path>
              <a:path w="539750" h="288289">
                <a:moveTo>
                  <a:pt x="57357" y="13716"/>
                </a:moveTo>
                <a:lnTo>
                  <a:pt x="47244" y="13716"/>
                </a:lnTo>
                <a:lnTo>
                  <a:pt x="55112" y="17832"/>
                </a:lnTo>
                <a:lnTo>
                  <a:pt x="57357" y="13716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33676" y="1788201"/>
            <a:ext cx="545591" cy="179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72796" y="1804410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030A0"/>
                </a:solidFill>
                <a:latin typeface="黑体" panose="02010609060101010101" charset="-122"/>
                <a:cs typeface="黑体" panose="02010609060101010101" charset="-122"/>
              </a:rPr>
              <a:t>小学习率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70964" y="2324649"/>
            <a:ext cx="547115" cy="1798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11640" y="2345480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大学习率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912" y="1958381"/>
            <a:ext cx="1968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回答：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梯度幅度的平方较大的方向是震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荡方向；梯度幅度的平方较小的方向是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8912" y="2507021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平坦方向。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54376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0320" y="1082961"/>
            <a:ext cx="2743200" cy="2133600"/>
          </a:xfrm>
          <a:custGeom>
            <a:avLst/>
            <a:gdLst/>
            <a:ahLst/>
            <a:cxnLst/>
            <a:rect l="l" t="t" r="r" b="b"/>
            <a:pathLst>
              <a:path w="2743200" h="2133600">
                <a:moveTo>
                  <a:pt x="0" y="0"/>
                </a:moveTo>
                <a:lnTo>
                  <a:pt x="2743200" y="0"/>
                </a:lnTo>
                <a:lnTo>
                  <a:pt x="2743200" y="2133600"/>
                </a:lnTo>
                <a:lnTo>
                  <a:pt x="0" y="2133600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7272" y="1073817"/>
            <a:ext cx="2750820" cy="18415"/>
          </a:xfrm>
          <a:custGeom>
            <a:avLst/>
            <a:gdLst/>
            <a:ahLst/>
            <a:cxnLst/>
            <a:rect l="l" t="t" r="r" b="b"/>
            <a:pathLst>
              <a:path w="2750820" h="18415">
                <a:moveTo>
                  <a:pt x="0" y="0"/>
                </a:moveTo>
                <a:lnTo>
                  <a:pt x="2750819" y="0"/>
                </a:lnTo>
                <a:lnTo>
                  <a:pt x="2750819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0320" y="912273"/>
            <a:ext cx="0" cy="2307590"/>
          </a:xfrm>
          <a:custGeom>
            <a:avLst/>
            <a:gdLst/>
            <a:ahLst/>
            <a:cxnLst/>
            <a:rect l="l" t="t" r="r" b="b"/>
            <a:pathLst>
              <a:path h="2307590">
                <a:moveTo>
                  <a:pt x="0" y="0"/>
                </a:moveTo>
                <a:lnTo>
                  <a:pt x="0" y="230733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23519" y="912273"/>
            <a:ext cx="0" cy="2307590"/>
          </a:xfrm>
          <a:custGeom>
            <a:avLst/>
            <a:gdLst/>
            <a:ahLst/>
            <a:cxnLst/>
            <a:rect l="l" t="t" r="r" b="b"/>
            <a:pathLst>
              <a:path h="2307590">
                <a:moveTo>
                  <a:pt x="0" y="0"/>
                </a:moveTo>
                <a:lnTo>
                  <a:pt x="0" y="230733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7272" y="915321"/>
            <a:ext cx="2750820" cy="0"/>
          </a:xfrm>
          <a:custGeom>
            <a:avLst/>
            <a:gdLst/>
            <a:ahLst/>
            <a:cxnLst/>
            <a:rect l="l" t="t" r="r" b="b"/>
            <a:pathLst>
              <a:path w="2750820">
                <a:moveTo>
                  <a:pt x="0" y="0"/>
                </a:moveTo>
                <a:lnTo>
                  <a:pt x="2750819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7272" y="3216561"/>
            <a:ext cx="2750820" cy="0"/>
          </a:xfrm>
          <a:custGeom>
            <a:avLst/>
            <a:gdLst/>
            <a:ahLst/>
            <a:cxnLst/>
            <a:rect l="l" t="t" r="r" b="b"/>
            <a:pathLst>
              <a:path w="2750820">
                <a:moveTo>
                  <a:pt x="0" y="0"/>
                </a:moveTo>
                <a:lnTo>
                  <a:pt x="2750819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3367" y="918369"/>
            <a:ext cx="2737485" cy="15557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079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85"/>
              </a:spcBef>
            </a:pPr>
            <a:r>
              <a:rPr sz="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RMSProp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84964" y="1965357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9015" y="0"/>
                </a:lnTo>
                <a:lnTo>
                  <a:pt x="509015" y="4572"/>
                </a:lnTo>
                <a:lnTo>
                  <a:pt x="516636" y="4572"/>
                </a:lnTo>
                <a:lnTo>
                  <a:pt x="522732" y="10668"/>
                </a:lnTo>
                <a:lnTo>
                  <a:pt x="522732" y="32003"/>
                </a:lnTo>
                <a:lnTo>
                  <a:pt x="521208" y="36575"/>
                </a:lnTo>
                <a:lnTo>
                  <a:pt x="521208" y="44196"/>
                </a:lnTo>
                <a:lnTo>
                  <a:pt x="522732" y="47244"/>
                </a:lnTo>
                <a:lnTo>
                  <a:pt x="528827" y="53340"/>
                </a:lnTo>
                <a:lnTo>
                  <a:pt x="524256" y="57912"/>
                </a:lnTo>
                <a:lnTo>
                  <a:pt x="522732" y="60960"/>
                </a:lnTo>
                <a:lnTo>
                  <a:pt x="521208" y="62484"/>
                </a:lnTo>
                <a:lnTo>
                  <a:pt x="521208" y="70103"/>
                </a:lnTo>
                <a:lnTo>
                  <a:pt x="522732" y="74675"/>
                </a:lnTo>
                <a:lnTo>
                  <a:pt x="522732" y="96012"/>
                </a:lnTo>
                <a:lnTo>
                  <a:pt x="516636" y="102108"/>
                </a:lnTo>
                <a:lnTo>
                  <a:pt x="513588" y="103632"/>
                </a:lnTo>
                <a:lnTo>
                  <a:pt x="509015" y="103632"/>
                </a:lnTo>
                <a:lnTo>
                  <a:pt x="509015" y="106679"/>
                </a:lnTo>
                <a:lnTo>
                  <a:pt x="516636" y="106679"/>
                </a:lnTo>
                <a:lnTo>
                  <a:pt x="522732" y="105156"/>
                </a:lnTo>
                <a:lnTo>
                  <a:pt x="525780" y="100584"/>
                </a:lnTo>
                <a:lnTo>
                  <a:pt x="528827" y="97536"/>
                </a:lnTo>
                <a:lnTo>
                  <a:pt x="530351" y="91440"/>
                </a:lnTo>
                <a:lnTo>
                  <a:pt x="530351" y="76200"/>
                </a:lnTo>
                <a:lnTo>
                  <a:pt x="528827" y="71627"/>
                </a:lnTo>
                <a:lnTo>
                  <a:pt x="528827" y="59436"/>
                </a:lnTo>
                <a:lnTo>
                  <a:pt x="533400" y="54864"/>
                </a:lnTo>
                <a:lnTo>
                  <a:pt x="536448" y="54864"/>
                </a:lnTo>
                <a:lnTo>
                  <a:pt x="536448" y="51816"/>
                </a:lnTo>
                <a:lnTo>
                  <a:pt x="533400" y="51816"/>
                </a:lnTo>
                <a:lnTo>
                  <a:pt x="528827" y="47244"/>
                </a:lnTo>
                <a:lnTo>
                  <a:pt x="528827" y="35051"/>
                </a:lnTo>
                <a:lnTo>
                  <a:pt x="530351" y="32003"/>
                </a:lnTo>
                <a:lnTo>
                  <a:pt x="530351" y="16764"/>
                </a:lnTo>
                <a:lnTo>
                  <a:pt x="528827" y="10668"/>
                </a:lnTo>
                <a:lnTo>
                  <a:pt x="525780" y="6096"/>
                </a:lnTo>
                <a:lnTo>
                  <a:pt x="522732" y="3048"/>
                </a:lnTo>
                <a:lnTo>
                  <a:pt x="516636" y="0"/>
                </a:lnTo>
                <a:close/>
              </a:path>
              <a:path w="536575" h="106680">
                <a:moveTo>
                  <a:pt x="27431" y="0"/>
                </a:moveTo>
                <a:lnTo>
                  <a:pt x="19812" y="0"/>
                </a:lnTo>
                <a:lnTo>
                  <a:pt x="15240" y="3048"/>
                </a:lnTo>
                <a:lnTo>
                  <a:pt x="7619" y="10668"/>
                </a:lnTo>
                <a:lnTo>
                  <a:pt x="6096" y="16764"/>
                </a:lnTo>
                <a:lnTo>
                  <a:pt x="6096" y="32003"/>
                </a:lnTo>
                <a:lnTo>
                  <a:pt x="7619" y="35051"/>
                </a:lnTo>
                <a:lnTo>
                  <a:pt x="7619" y="39624"/>
                </a:lnTo>
                <a:lnTo>
                  <a:pt x="9143" y="41148"/>
                </a:lnTo>
                <a:lnTo>
                  <a:pt x="9143" y="45720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9143" y="60960"/>
                </a:lnTo>
                <a:lnTo>
                  <a:pt x="9143" y="65532"/>
                </a:lnTo>
                <a:lnTo>
                  <a:pt x="7619" y="68579"/>
                </a:lnTo>
                <a:lnTo>
                  <a:pt x="7619" y="71627"/>
                </a:lnTo>
                <a:lnTo>
                  <a:pt x="6096" y="76200"/>
                </a:lnTo>
                <a:lnTo>
                  <a:pt x="6096" y="91440"/>
                </a:lnTo>
                <a:lnTo>
                  <a:pt x="7619" y="97536"/>
                </a:lnTo>
                <a:lnTo>
                  <a:pt x="12192" y="100584"/>
                </a:lnTo>
                <a:lnTo>
                  <a:pt x="15240" y="105156"/>
                </a:lnTo>
                <a:lnTo>
                  <a:pt x="19812" y="106679"/>
                </a:lnTo>
                <a:lnTo>
                  <a:pt x="27431" y="106679"/>
                </a:lnTo>
                <a:lnTo>
                  <a:pt x="27431" y="103632"/>
                </a:lnTo>
                <a:lnTo>
                  <a:pt x="22860" y="103632"/>
                </a:lnTo>
                <a:lnTo>
                  <a:pt x="19812" y="102108"/>
                </a:lnTo>
                <a:lnTo>
                  <a:pt x="16763" y="99060"/>
                </a:lnTo>
                <a:lnTo>
                  <a:pt x="15240" y="96012"/>
                </a:lnTo>
                <a:lnTo>
                  <a:pt x="13716" y="91440"/>
                </a:lnTo>
                <a:lnTo>
                  <a:pt x="13716" y="77724"/>
                </a:lnTo>
                <a:lnTo>
                  <a:pt x="15240" y="74675"/>
                </a:lnTo>
                <a:lnTo>
                  <a:pt x="15240" y="60960"/>
                </a:lnTo>
                <a:lnTo>
                  <a:pt x="13716" y="57912"/>
                </a:lnTo>
                <a:lnTo>
                  <a:pt x="10668" y="54864"/>
                </a:lnTo>
                <a:lnTo>
                  <a:pt x="7619" y="53340"/>
                </a:lnTo>
                <a:lnTo>
                  <a:pt x="10668" y="51816"/>
                </a:lnTo>
                <a:lnTo>
                  <a:pt x="15240" y="47244"/>
                </a:lnTo>
                <a:lnTo>
                  <a:pt x="15240" y="32003"/>
                </a:lnTo>
                <a:lnTo>
                  <a:pt x="13716" y="28956"/>
                </a:lnTo>
                <a:lnTo>
                  <a:pt x="13716" y="15240"/>
                </a:lnTo>
                <a:lnTo>
                  <a:pt x="15240" y="10668"/>
                </a:lnTo>
                <a:lnTo>
                  <a:pt x="16763" y="7620"/>
                </a:lnTo>
                <a:lnTo>
                  <a:pt x="19812" y="4572"/>
                </a:lnTo>
                <a:lnTo>
                  <a:pt x="27431" y="4572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73356" y="1963833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9435" y="0"/>
                </a:moveTo>
                <a:lnTo>
                  <a:pt x="57911" y="3048"/>
                </a:lnTo>
                <a:lnTo>
                  <a:pt x="62483" y="4572"/>
                </a:lnTo>
                <a:lnTo>
                  <a:pt x="67056" y="7620"/>
                </a:lnTo>
                <a:lnTo>
                  <a:pt x="68580" y="12192"/>
                </a:lnTo>
                <a:lnTo>
                  <a:pt x="71628" y="16764"/>
                </a:lnTo>
                <a:lnTo>
                  <a:pt x="73152" y="22860"/>
                </a:lnTo>
                <a:lnTo>
                  <a:pt x="73152" y="36575"/>
                </a:lnTo>
                <a:lnTo>
                  <a:pt x="71628" y="42672"/>
                </a:lnTo>
                <a:lnTo>
                  <a:pt x="68580" y="47244"/>
                </a:lnTo>
                <a:lnTo>
                  <a:pt x="67056" y="51816"/>
                </a:lnTo>
                <a:lnTo>
                  <a:pt x="62483" y="54864"/>
                </a:lnTo>
                <a:lnTo>
                  <a:pt x="57911" y="56388"/>
                </a:lnTo>
                <a:lnTo>
                  <a:pt x="59435" y="59436"/>
                </a:lnTo>
                <a:lnTo>
                  <a:pt x="65531" y="57912"/>
                </a:lnTo>
                <a:lnTo>
                  <a:pt x="70104" y="54864"/>
                </a:lnTo>
                <a:lnTo>
                  <a:pt x="73152" y="48768"/>
                </a:lnTo>
                <a:lnTo>
                  <a:pt x="76199" y="44196"/>
                </a:lnTo>
                <a:lnTo>
                  <a:pt x="77723" y="38100"/>
                </a:lnTo>
                <a:lnTo>
                  <a:pt x="77723" y="22860"/>
                </a:lnTo>
                <a:lnTo>
                  <a:pt x="76199" y="15240"/>
                </a:lnTo>
                <a:lnTo>
                  <a:pt x="73152" y="10668"/>
                </a:lnTo>
                <a:lnTo>
                  <a:pt x="70104" y="4572"/>
                </a:lnTo>
                <a:lnTo>
                  <a:pt x="65531" y="1524"/>
                </a:lnTo>
                <a:lnTo>
                  <a:pt x="59435" y="0"/>
                </a:lnTo>
                <a:close/>
              </a:path>
              <a:path w="78105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6"/>
                </a:lnTo>
                <a:lnTo>
                  <a:pt x="4571" y="48768"/>
                </a:lnTo>
                <a:lnTo>
                  <a:pt x="7619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2" y="51816"/>
                </a:lnTo>
                <a:lnTo>
                  <a:pt x="6095" y="42672"/>
                </a:lnTo>
                <a:lnTo>
                  <a:pt x="6095" y="16764"/>
                </a:lnTo>
                <a:lnTo>
                  <a:pt x="12192" y="7620"/>
                </a:lnTo>
                <a:lnTo>
                  <a:pt x="15239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78156" y="1963833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89">
                <a:moveTo>
                  <a:pt x="83820" y="0"/>
                </a:moveTo>
                <a:lnTo>
                  <a:pt x="82296" y="3048"/>
                </a:lnTo>
                <a:lnTo>
                  <a:pt x="86868" y="4572"/>
                </a:lnTo>
                <a:lnTo>
                  <a:pt x="91440" y="7620"/>
                </a:lnTo>
                <a:lnTo>
                  <a:pt x="92964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2"/>
                </a:lnTo>
                <a:lnTo>
                  <a:pt x="92964" y="47244"/>
                </a:lnTo>
                <a:lnTo>
                  <a:pt x="91440" y="51816"/>
                </a:lnTo>
                <a:lnTo>
                  <a:pt x="86868" y="54864"/>
                </a:lnTo>
                <a:lnTo>
                  <a:pt x="82296" y="56388"/>
                </a:lnTo>
                <a:lnTo>
                  <a:pt x="83820" y="59436"/>
                </a:lnTo>
                <a:lnTo>
                  <a:pt x="89916" y="57912"/>
                </a:lnTo>
                <a:lnTo>
                  <a:pt x="94488" y="54864"/>
                </a:lnTo>
                <a:lnTo>
                  <a:pt x="97536" y="48768"/>
                </a:lnTo>
                <a:lnTo>
                  <a:pt x="100584" y="44196"/>
                </a:lnTo>
                <a:lnTo>
                  <a:pt x="102108" y="38100"/>
                </a:lnTo>
                <a:lnTo>
                  <a:pt x="102108" y="22860"/>
                </a:lnTo>
                <a:lnTo>
                  <a:pt x="100584" y="15240"/>
                </a:lnTo>
                <a:lnTo>
                  <a:pt x="97536" y="10668"/>
                </a:lnTo>
                <a:lnTo>
                  <a:pt x="94488" y="4572"/>
                </a:lnTo>
                <a:lnTo>
                  <a:pt x="89916" y="1524"/>
                </a:lnTo>
                <a:lnTo>
                  <a:pt x="83820" y="0"/>
                </a:lnTo>
                <a:close/>
              </a:path>
              <a:path w="102235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6"/>
                </a:lnTo>
                <a:lnTo>
                  <a:pt x="4572" y="48768"/>
                </a:lnTo>
                <a:lnTo>
                  <a:pt x="7620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6096" y="42672"/>
                </a:lnTo>
                <a:lnTo>
                  <a:pt x="6096" y="16764"/>
                </a:lnTo>
                <a:lnTo>
                  <a:pt x="12192" y="7620"/>
                </a:lnTo>
                <a:lnTo>
                  <a:pt x="15240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03508" y="2149761"/>
            <a:ext cx="535305" cy="106680"/>
          </a:xfrm>
          <a:custGeom>
            <a:avLst/>
            <a:gdLst/>
            <a:ahLst/>
            <a:cxnLst/>
            <a:rect l="l" t="t" r="r" b="b"/>
            <a:pathLst>
              <a:path w="535305" h="106680">
                <a:moveTo>
                  <a:pt x="515112" y="0"/>
                </a:moveTo>
                <a:lnTo>
                  <a:pt x="507492" y="0"/>
                </a:lnTo>
                <a:lnTo>
                  <a:pt x="507492" y="4572"/>
                </a:lnTo>
                <a:lnTo>
                  <a:pt x="515112" y="4572"/>
                </a:lnTo>
                <a:lnTo>
                  <a:pt x="521208" y="10668"/>
                </a:lnTo>
                <a:lnTo>
                  <a:pt x="521208" y="32004"/>
                </a:lnTo>
                <a:lnTo>
                  <a:pt x="519684" y="36575"/>
                </a:lnTo>
                <a:lnTo>
                  <a:pt x="519684" y="44196"/>
                </a:lnTo>
                <a:lnTo>
                  <a:pt x="521208" y="47244"/>
                </a:lnTo>
                <a:lnTo>
                  <a:pt x="527304" y="53340"/>
                </a:lnTo>
                <a:lnTo>
                  <a:pt x="522731" y="57912"/>
                </a:lnTo>
                <a:lnTo>
                  <a:pt x="521208" y="60960"/>
                </a:lnTo>
                <a:lnTo>
                  <a:pt x="519684" y="62484"/>
                </a:lnTo>
                <a:lnTo>
                  <a:pt x="519684" y="70104"/>
                </a:lnTo>
                <a:lnTo>
                  <a:pt x="521208" y="74675"/>
                </a:lnTo>
                <a:lnTo>
                  <a:pt x="521208" y="96012"/>
                </a:lnTo>
                <a:lnTo>
                  <a:pt x="515112" y="102108"/>
                </a:lnTo>
                <a:lnTo>
                  <a:pt x="512064" y="103632"/>
                </a:lnTo>
                <a:lnTo>
                  <a:pt x="507492" y="103632"/>
                </a:lnTo>
                <a:lnTo>
                  <a:pt x="507492" y="106680"/>
                </a:lnTo>
                <a:lnTo>
                  <a:pt x="515112" y="106680"/>
                </a:lnTo>
                <a:lnTo>
                  <a:pt x="521208" y="105156"/>
                </a:lnTo>
                <a:lnTo>
                  <a:pt x="524256" y="100584"/>
                </a:lnTo>
                <a:lnTo>
                  <a:pt x="527304" y="97536"/>
                </a:lnTo>
                <a:lnTo>
                  <a:pt x="528828" y="91440"/>
                </a:lnTo>
                <a:lnTo>
                  <a:pt x="528828" y="76200"/>
                </a:lnTo>
                <a:lnTo>
                  <a:pt x="527304" y="71628"/>
                </a:lnTo>
                <a:lnTo>
                  <a:pt x="527304" y="59436"/>
                </a:lnTo>
                <a:lnTo>
                  <a:pt x="531876" y="54864"/>
                </a:lnTo>
                <a:lnTo>
                  <a:pt x="534924" y="54864"/>
                </a:lnTo>
                <a:lnTo>
                  <a:pt x="534924" y="51816"/>
                </a:lnTo>
                <a:lnTo>
                  <a:pt x="531876" y="51816"/>
                </a:lnTo>
                <a:lnTo>
                  <a:pt x="527304" y="47244"/>
                </a:lnTo>
                <a:lnTo>
                  <a:pt x="527304" y="35052"/>
                </a:lnTo>
                <a:lnTo>
                  <a:pt x="528828" y="32004"/>
                </a:lnTo>
                <a:lnTo>
                  <a:pt x="528828" y="16764"/>
                </a:lnTo>
                <a:lnTo>
                  <a:pt x="527304" y="10668"/>
                </a:lnTo>
                <a:lnTo>
                  <a:pt x="524256" y="6096"/>
                </a:lnTo>
                <a:lnTo>
                  <a:pt x="521208" y="3048"/>
                </a:lnTo>
                <a:lnTo>
                  <a:pt x="515112" y="0"/>
                </a:lnTo>
                <a:close/>
              </a:path>
              <a:path w="535305" h="106680">
                <a:moveTo>
                  <a:pt x="27431" y="0"/>
                </a:moveTo>
                <a:lnTo>
                  <a:pt x="19812" y="0"/>
                </a:lnTo>
                <a:lnTo>
                  <a:pt x="15240" y="3048"/>
                </a:lnTo>
                <a:lnTo>
                  <a:pt x="7619" y="10668"/>
                </a:lnTo>
                <a:lnTo>
                  <a:pt x="6096" y="16764"/>
                </a:lnTo>
                <a:lnTo>
                  <a:pt x="6096" y="32004"/>
                </a:lnTo>
                <a:lnTo>
                  <a:pt x="7619" y="35052"/>
                </a:lnTo>
                <a:lnTo>
                  <a:pt x="7619" y="39624"/>
                </a:lnTo>
                <a:lnTo>
                  <a:pt x="9143" y="41148"/>
                </a:lnTo>
                <a:lnTo>
                  <a:pt x="9143" y="45720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9143" y="60960"/>
                </a:lnTo>
                <a:lnTo>
                  <a:pt x="9143" y="65532"/>
                </a:lnTo>
                <a:lnTo>
                  <a:pt x="7619" y="68580"/>
                </a:lnTo>
                <a:lnTo>
                  <a:pt x="7619" y="71628"/>
                </a:lnTo>
                <a:lnTo>
                  <a:pt x="6096" y="76200"/>
                </a:lnTo>
                <a:lnTo>
                  <a:pt x="6096" y="91440"/>
                </a:lnTo>
                <a:lnTo>
                  <a:pt x="7619" y="97536"/>
                </a:lnTo>
                <a:lnTo>
                  <a:pt x="12192" y="100584"/>
                </a:lnTo>
                <a:lnTo>
                  <a:pt x="15240" y="105156"/>
                </a:lnTo>
                <a:lnTo>
                  <a:pt x="19812" y="106680"/>
                </a:lnTo>
                <a:lnTo>
                  <a:pt x="27431" y="106680"/>
                </a:lnTo>
                <a:lnTo>
                  <a:pt x="27431" y="103632"/>
                </a:lnTo>
                <a:lnTo>
                  <a:pt x="22860" y="103632"/>
                </a:lnTo>
                <a:lnTo>
                  <a:pt x="19812" y="102108"/>
                </a:lnTo>
                <a:lnTo>
                  <a:pt x="16764" y="99060"/>
                </a:lnTo>
                <a:lnTo>
                  <a:pt x="15240" y="96012"/>
                </a:lnTo>
                <a:lnTo>
                  <a:pt x="13716" y="91440"/>
                </a:lnTo>
                <a:lnTo>
                  <a:pt x="13716" y="77724"/>
                </a:lnTo>
                <a:lnTo>
                  <a:pt x="15240" y="74675"/>
                </a:lnTo>
                <a:lnTo>
                  <a:pt x="15240" y="60960"/>
                </a:lnTo>
                <a:lnTo>
                  <a:pt x="13716" y="57912"/>
                </a:lnTo>
                <a:lnTo>
                  <a:pt x="10668" y="54864"/>
                </a:lnTo>
                <a:lnTo>
                  <a:pt x="7619" y="53340"/>
                </a:lnTo>
                <a:lnTo>
                  <a:pt x="10668" y="51816"/>
                </a:lnTo>
                <a:lnTo>
                  <a:pt x="15240" y="47244"/>
                </a:lnTo>
                <a:lnTo>
                  <a:pt x="15240" y="32004"/>
                </a:lnTo>
                <a:lnTo>
                  <a:pt x="13716" y="28956"/>
                </a:lnTo>
                <a:lnTo>
                  <a:pt x="13716" y="15240"/>
                </a:lnTo>
                <a:lnTo>
                  <a:pt x="15240" y="10668"/>
                </a:lnTo>
                <a:lnTo>
                  <a:pt x="16764" y="7620"/>
                </a:lnTo>
                <a:lnTo>
                  <a:pt x="19812" y="4572"/>
                </a:lnTo>
                <a:lnTo>
                  <a:pt x="27431" y="4572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87328" y="2148237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60960" y="0"/>
                </a:moveTo>
                <a:lnTo>
                  <a:pt x="59436" y="3048"/>
                </a:lnTo>
                <a:lnTo>
                  <a:pt x="64008" y="4572"/>
                </a:lnTo>
                <a:lnTo>
                  <a:pt x="68580" y="7620"/>
                </a:lnTo>
                <a:lnTo>
                  <a:pt x="70104" y="12192"/>
                </a:lnTo>
                <a:lnTo>
                  <a:pt x="73152" y="16764"/>
                </a:lnTo>
                <a:lnTo>
                  <a:pt x="74676" y="22860"/>
                </a:lnTo>
                <a:lnTo>
                  <a:pt x="74676" y="36576"/>
                </a:lnTo>
                <a:lnTo>
                  <a:pt x="73152" y="42672"/>
                </a:lnTo>
                <a:lnTo>
                  <a:pt x="70104" y="47244"/>
                </a:lnTo>
                <a:lnTo>
                  <a:pt x="68580" y="51816"/>
                </a:lnTo>
                <a:lnTo>
                  <a:pt x="64008" y="54864"/>
                </a:lnTo>
                <a:lnTo>
                  <a:pt x="59436" y="56388"/>
                </a:lnTo>
                <a:lnTo>
                  <a:pt x="60960" y="59436"/>
                </a:lnTo>
                <a:lnTo>
                  <a:pt x="67056" y="57912"/>
                </a:lnTo>
                <a:lnTo>
                  <a:pt x="71628" y="54864"/>
                </a:lnTo>
                <a:lnTo>
                  <a:pt x="74676" y="48768"/>
                </a:lnTo>
                <a:lnTo>
                  <a:pt x="77724" y="44196"/>
                </a:lnTo>
                <a:lnTo>
                  <a:pt x="79248" y="38100"/>
                </a:lnTo>
                <a:lnTo>
                  <a:pt x="79248" y="22860"/>
                </a:lnTo>
                <a:lnTo>
                  <a:pt x="77724" y="15240"/>
                </a:lnTo>
                <a:lnTo>
                  <a:pt x="74676" y="10668"/>
                </a:lnTo>
                <a:lnTo>
                  <a:pt x="71628" y="4572"/>
                </a:lnTo>
                <a:lnTo>
                  <a:pt x="67056" y="1524"/>
                </a:lnTo>
                <a:lnTo>
                  <a:pt x="60960" y="0"/>
                </a:lnTo>
                <a:close/>
              </a:path>
              <a:path w="79375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6"/>
                </a:lnTo>
                <a:lnTo>
                  <a:pt x="4572" y="48768"/>
                </a:lnTo>
                <a:lnTo>
                  <a:pt x="7620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6096" y="42672"/>
                </a:lnTo>
                <a:lnTo>
                  <a:pt x="6096" y="16764"/>
                </a:lnTo>
                <a:lnTo>
                  <a:pt x="12192" y="7620"/>
                </a:lnTo>
                <a:lnTo>
                  <a:pt x="15240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93651" y="2148237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5343" y="0"/>
                </a:moveTo>
                <a:lnTo>
                  <a:pt x="83820" y="3048"/>
                </a:lnTo>
                <a:lnTo>
                  <a:pt x="88392" y="4572"/>
                </a:lnTo>
                <a:lnTo>
                  <a:pt x="92964" y="7620"/>
                </a:lnTo>
                <a:lnTo>
                  <a:pt x="94487" y="12192"/>
                </a:lnTo>
                <a:lnTo>
                  <a:pt x="97536" y="16764"/>
                </a:lnTo>
                <a:lnTo>
                  <a:pt x="99060" y="22860"/>
                </a:lnTo>
                <a:lnTo>
                  <a:pt x="99060" y="36576"/>
                </a:lnTo>
                <a:lnTo>
                  <a:pt x="97536" y="42672"/>
                </a:lnTo>
                <a:lnTo>
                  <a:pt x="94487" y="47244"/>
                </a:lnTo>
                <a:lnTo>
                  <a:pt x="92964" y="51816"/>
                </a:lnTo>
                <a:lnTo>
                  <a:pt x="88392" y="54864"/>
                </a:lnTo>
                <a:lnTo>
                  <a:pt x="83820" y="56388"/>
                </a:lnTo>
                <a:lnTo>
                  <a:pt x="85343" y="59436"/>
                </a:lnTo>
                <a:lnTo>
                  <a:pt x="91440" y="57912"/>
                </a:lnTo>
                <a:lnTo>
                  <a:pt x="96012" y="54864"/>
                </a:lnTo>
                <a:lnTo>
                  <a:pt x="99060" y="48768"/>
                </a:lnTo>
                <a:lnTo>
                  <a:pt x="102108" y="44196"/>
                </a:lnTo>
                <a:lnTo>
                  <a:pt x="103631" y="38100"/>
                </a:lnTo>
                <a:lnTo>
                  <a:pt x="103631" y="22860"/>
                </a:lnTo>
                <a:lnTo>
                  <a:pt x="102108" y="15240"/>
                </a:lnTo>
                <a:lnTo>
                  <a:pt x="99060" y="10668"/>
                </a:lnTo>
                <a:lnTo>
                  <a:pt x="96012" y="4572"/>
                </a:lnTo>
                <a:lnTo>
                  <a:pt x="91440" y="1524"/>
                </a:lnTo>
                <a:lnTo>
                  <a:pt x="85343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6"/>
                </a:lnTo>
                <a:lnTo>
                  <a:pt x="4572" y="48768"/>
                </a:lnTo>
                <a:lnTo>
                  <a:pt x="7620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6096" y="42672"/>
                </a:lnTo>
                <a:lnTo>
                  <a:pt x="6096" y="16764"/>
                </a:lnTo>
                <a:lnTo>
                  <a:pt x="12192" y="7620"/>
                </a:lnTo>
                <a:lnTo>
                  <a:pt x="15240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26006" y="1069679"/>
            <a:ext cx="2647950" cy="118872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1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z="700" spc="1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衰减速率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p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0345" marR="5080" indent="-220980">
              <a:lnSpc>
                <a:spcPct val="150000"/>
              </a:lnSpc>
              <a:spcBef>
                <a:spcPts val="1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小常数</a:t>
            </a:r>
            <a:r>
              <a:rPr sz="700" i="1" spc="1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700" spc="1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用于被小数除时的数值稳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。（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常设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750" i="1" spc="67" baseline="28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700" spc="45" dirty="0">
                <a:latin typeface="黑体" panose="02010609060101010101" charset="-122"/>
                <a:cs typeface="黑体" panose="02010609060101010101" charset="-122"/>
              </a:rPr>
              <a:t>）  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始化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积变量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8600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7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从训练集中采样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批量大小）个样本</a:t>
            </a:r>
            <a:r>
              <a:rPr sz="700" spc="-1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9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1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94008" y="2407317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60" h="6350">
                <a:moveTo>
                  <a:pt x="0" y="0"/>
                </a:moveTo>
                <a:lnTo>
                  <a:pt x="60960" y="0"/>
                </a:lnTo>
                <a:lnTo>
                  <a:pt x="60960" y="6096"/>
                </a:lnTo>
                <a:lnTo>
                  <a:pt x="0" y="60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593989" y="2376344"/>
            <a:ext cx="17653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33504" y="2355501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0291" y="4572"/>
                </a:lnTo>
                <a:lnTo>
                  <a:pt x="54863" y="7620"/>
                </a:lnTo>
                <a:lnTo>
                  <a:pt x="56387" y="12192"/>
                </a:lnTo>
                <a:lnTo>
                  <a:pt x="59435" y="16764"/>
                </a:lnTo>
                <a:lnTo>
                  <a:pt x="60959" y="22859"/>
                </a:lnTo>
                <a:lnTo>
                  <a:pt x="60959" y="36575"/>
                </a:lnTo>
                <a:lnTo>
                  <a:pt x="59435" y="42672"/>
                </a:lnTo>
                <a:lnTo>
                  <a:pt x="56387" y="47244"/>
                </a:lnTo>
                <a:lnTo>
                  <a:pt x="54863" y="51816"/>
                </a:lnTo>
                <a:lnTo>
                  <a:pt x="50291" y="54864"/>
                </a:lnTo>
                <a:lnTo>
                  <a:pt x="45719" y="56388"/>
                </a:lnTo>
                <a:lnTo>
                  <a:pt x="47243" y="59435"/>
                </a:lnTo>
                <a:lnTo>
                  <a:pt x="53339" y="57912"/>
                </a:lnTo>
                <a:lnTo>
                  <a:pt x="57912" y="54864"/>
                </a:lnTo>
                <a:lnTo>
                  <a:pt x="60959" y="48768"/>
                </a:lnTo>
                <a:lnTo>
                  <a:pt x="64007" y="44196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5240"/>
                </a:lnTo>
                <a:lnTo>
                  <a:pt x="60959" y="10668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0" y="22859"/>
                </a:lnTo>
                <a:lnTo>
                  <a:pt x="0" y="38100"/>
                </a:lnTo>
                <a:lnTo>
                  <a:pt x="1523" y="44196"/>
                </a:lnTo>
                <a:lnTo>
                  <a:pt x="4571" y="48768"/>
                </a:lnTo>
                <a:lnTo>
                  <a:pt x="7619" y="54864"/>
                </a:lnTo>
                <a:lnTo>
                  <a:pt x="13715" y="57912"/>
                </a:lnTo>
                <a:lnTo>
                  <a:pt x="19812" y="59435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6095" y="42672"/>
                </a:lnTo>
                <a:lnTo>
                  <a:pt x="6095" y="16764"/>
                </a:lnTo>
                <a:lnTo>
                  <a:pt x="12191" y="7620"/>
                </a:lnTo>
                <a:lnTo>
                  <a:pt x="15239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26111" y="2355501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0292" y="4572"/>
                </a:lnTo>
                <a:lnTo>
                  <a:pt x="54863" y="7620"/>
                </a:lnTo>
                <a:lnTo>
                  <a:pt x="56387" y="12192"/>
                </a:lnTo>
                <a:lnTo>
                  <a:pt x="59436" y="16764"/>
                </a:lnTo>
                <a:lnTo>
                  <a:pt x="60960" y="22859"/>
                </a:lnTo>
                <a:lnTo>
                  <a:pt x="60960" y="36575"/>
                </a:lnTo>
                <a:lnTo>
                  <a:pt x="59436" y="42672"/>
                </a:lnTo>
                <a:lnTo>
                  <a:pt x="56387" y="47244"/>
                </a:lnTo>
                <a:lnTo>
                  <a:pt x="54863" y="51816"/>
                </a:lnTo>
                <a:lnTo>
                  <a:pt x="50292" y="54864"/>
                </a:lnTo>
                <a:lnTo>
                  <a:pt x="45719" y="56388"/>
                </a:lnTo>
                <a:lnTo>
                  <a:pt x="47243" y="59435"/>
                </a:lnTo>
                <a:lnTo>
                  <a:pt x="53339" y="57912"/>
                </a:lnTo>
                <a:lnTo>
                  <a:pt x="57912" y="54864"/>
                </a:lnTo>
                <a:lnTo>
                  <a:pt x="60960" y="48768"/>
                </a:lnTo>
                <a:lnTo>
                  <a:pt x="64007" y="44196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5240"/>
                </a:lnTo>
                <a:lnTo>
                  <a:pt x="60960" y="10668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0" y="22859"/>
                </a:lnTo>
                <a:lnTo>
                  <a:pt x="0" y="38100"/>
                </a:lnTo>
                <a:lnTo>
                  <a:pt x="1524" y="44196"/>
                </a:lnTo>
                <a:lnTo>
                  <a:pt x="4571" y="48768"/>
                </a:lnTo>
                <a:lnTo>
                  <a:pt x="7619" y="54864"/>
                </a:lnTo>
                <a:lnTo>
                  <a:pt x="13715" y="57912"/>
                </a:lnTo>
                <a:lnTo>
                  <a:pt x="19812" y="59435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2" y="51816"/>
                </a:lnTo>
                <a:lnTo>
                  <a:pt x="6095" y="42672"/>
                </a:lnTo>
                <a:lnTo>
                  <a:pt x="6095" y="16764"/>
                </a:lnTo>
                <a:lnTo>
                  <a:pt x="12192" y="7620"/>
                </a:lnTo>
                <a:lnTo>
                  <a:pt x="15239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94866" y="2333684"/>
            <a:ext cx="185991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69240" algn="l"/>
              </a:tabLst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	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计算梯度</a:t>
            </a:r>
            <a:r>
              <a:rPr sz="7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6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2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75944" y="2396122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61292" y="2553621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39" y="6096"/>
                </a:lnTo>
                <a:lnTo>
                  <a:pt x="248412" y="9144"/>
                </a:lnTo>
                <a:lnTo>
                  <a:pt x="251459" y="16763"/>
                </a:lnTo>
                <a:lnTo>
                  <a:pt x="254507" y="22859"/>
                </a:lnTo>
                <a:lnTo>
                  <a:pt x="257556" y="30479"/>
                </a:lnTo>
                <a:lnTo>
                  <a:pt x="248412" y="71627"/>
                </a:lnTo>
                <a:lnTo>
                  <a:pt x="237744" y="77724"/>
                </a:lnTo>
                <a:lnTo>
                  <a:pt x="237744" y="82296"/>
                </a:lnTo>
                <a:lnTo>
                  <a:pt x="263342" y="48625"/>
                </a:lnTo>
                <a:lnTo>
                  <a:pt x="263651" y="41148"/>
                </a:lnTo>
                <a:lnTo>
                  <a:pt x="263342" y="33432"/>
                </a:lnTo>
                <a:lnTo>
                  <a:pt x="246887" y="1524"/>
                </a:lnTo>
                <a:lnTo>
                  <a:pt x="237744" y="0"/>
                </a:lnTo>
                <a:close/>
              </a:path>
              <a:path w="264160" h="82550">
                <a:moveTo>
                  <a:pt x="25907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625"/>
                </a:lnTo>
                <a:lnTo>
                  <a:pt x="25907" y="82296"/>
                </a:lnTo>
                <a:lnTo>
                  <a:pt x="25907" y="77724"/>
                </a:lnTo>
                <a:lnTo>
                  <a:pt x="19812" y="76200"/>
                </a:lnTo>
                <a:lnTo>
                  <a:pt x="15239" y="71627"/>
                </a:lnTo>
                <a:lnTo>
                  <a:pt x="6095" y="30479"/>
                </a:lnTo>
                <a:lnTo>
                  <a:pt x="9143" y="22859"/>
                </a:lnTo>
                <a:lnTo>
                  <a:pt x="12191" y="16763"/>
                </a:lnTo>
                <a:lnTo>
                  <a:pt x="15239" y="9144"/>
                </a:lnTo>
                <a:lnTo>
                  <a:pt x="19812" y="6096"/>
                </a:lnTo>
                <a:lnTo>
                  <a:pt x="25907" y="3048"/>
                </a:lnTo>
                <a:lnTo>
                  <a:pt x="259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01272" y="2808129"/>
            <a:ext cx="78105" cy="62865"/>
          </a:xfrm>
          <a:custGeom>
            <a:avLst/>
            <a:gdLst/>
            <a:ahLst/>
            <a:cxnLst/>
            <a:rect l="l" t="t" r="r" b="b"/>
            <a:pathLst>
              <a:path w="78105" h="62864">
                <a:moveTo>
                  <a:pt x="12668" y="33527"/>
                </a:moveTo>
                <a:lnTo>
                  <a:pt x="6095" y="33527"/>
                </a:lnTo>
                <a:lnTo>
                  <a:pt x="19811" y="62484"/>
                </a:lnTo>
                <a:lnTo>
                  <a:pt x="22859" y="62484"/>
                </a:lnTo>
                <a:lnTo>
                  <a:pt x="25506" y="53340"/>
                </a:lnTo>
                <a:lnTo>
                  <a:pt x="21335" y="53340"/>
                </a:lnTo>
                <a:lnTo>
                  <a:pt x="12668" y="33527"/>
                </a:lnTo>
                <a:close/>
              </a:path>
              <a:path w="78105" h="62864">
                <a:moveTo>
                  <a:pt x="77723" y="0"/>
                </a:moveTo>
                <a:lnTo>
                  <a:pt x="36575" y="0"/>
                </a:lnTo>
                <a:lnTo>
                  <a:pt x="21335" y="53340"/>
                </a:lnTo>
                <a:lnTo>
                  <a:pt x="25506" y="53340"/>
                </a:lnTo>
                <a:lnTo>
                  <a:pt x="39623" y="4572"/>
                </a:lnTo>
                <a:lnTo>
                  <a:pt x="77723" y="4572"/>
                </a:lnTo>
                <a:lnTo>
                  <a:pt x="77723" y="0"/>
                </a:lnTo>
                <a:close/>
              </a:path>
              <a:path w="78105" h="62864">
                <a:moveTo>
                  <a:pt x="10667" y="28955"/>
                </a:moveTo>
                <a:lnTo>
                  <a:pt x="0" y="33527"/>
                </a:lnTo>
                <a:lnTo>
                  <a:pt x="1523" y="36575"/>
                </a:lnTo>
                <a:lnTo>
                  <a:pt x="6095" y="33527"/>
                </a:lnTo>
                <a:lnTo>
                  <a:pt x="12668" y="33527"/>
                </a:lnTo>
                <a:lnTo>
                  <a:pt x="10667" y="289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799748" y="2789841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639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97256" y="1067721"/>
            <a:ext cx="2743200" cy="1559560"/>
          </a:xfrm>
          <a:custGeom>
            <a:avLst/>
            <a:gdLst/>
            <a:ahLst/>
            <a:cxnLst/>
            <a:rect l="l" t="t" r="r" b="b"/>
            <a:pathLst>
              <a:path w="2743200" h="1559560">
                <a:moveTo>
                  <a:pt x="0" y="0"/>
                </a:moveTo>
                <a:lnTo>
                  <a:pt x="2743200" y="0"/>
                </a:lnTo>
                <a:lnTo>
                  <a:pt x="2743200" y="1559052"/>
                </a:lnTo>
                <a:lnTo>
                  <a:pt x="0" y="1559052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94207" y="1058577"/>
            <a:ext cx="2749550" cy="18415"/>
          </a:xfrm>
          <a:custGeom>
            <a:avLst/>
            <a:gdLst/>
            <a:ahLst/>
            <a:cxnLst/>
            <a:rect l="l" t="t" r="r" b="b"/>
            <a:pathLst>
              <a:path w="2749550" h="18415">
                <a:moveTo>
                  <a:pt x="0" y="0"/>
                </a:moveTo>
                <a:lnTo>
                  <a:pt x="2749295" y="0"/>
                </a:lnTo>
                <a:lnTo>
                  <a:pt x="2749295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97256" y="912273"/>
            <a:ext cx="0" cy="1717675"/>
          </a:xfrm>
          <a:custGeom>
            <a:avLst/>
            <a:gdLst/>
            <a:ahLst/>
            <a:cxnLst/>
            <a:rect l="l" t="t" r="r" b="b"/>
            <a:pathLst>
              <a:path h="1717675">
                <a:moveTo>
                  <a:pt x="0" y="0"/>
                </a:moveTo>
                <a:lnTo>
                  <a:pt x="0" y="1717547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940456" y="912273"/>
            <a:ext cx="0" cy="1717675"/>
          </a:xfrm>
          <a:custGeom>
            <a:avLst/>
            <a:gdLst/>
            <a:ahLst/>
            <a:cxnLst/>
            <a:rect l="l" t="t" r="r" b="b"/>
            <a:pathLst>
              <a:path h="1717675">
                <a:moveTo>
                  <a:pt x="0" y="0"/>
                </a:moveTo>
                <a:lnTo>
                  <a:pt x="0" y="1717547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94207" y="915321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94207" y="2626772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200303" y="918369"/>
            <a:ext cx="2737485" cy="14033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2095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65"/>
              </a:spcBef>
            </a:pPr>
            <a:r>
              <a:rPr sz="700" b="1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批量</a:t>
            </a:r>
            <a:r>
              <a:rPr sz="700" b="1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度下</a:t>
            </a:r>
            <a:r>
              <a:rPr sz="700" b="1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283611" y="1628553"/>
            <a:ext cx="538480" cy="106680"/>
          </a:xfrm>
          <a:custGeom>
            <a:avLst/>
            <a:gdLst/>
            <a:ahLst/>
            <a:cxnLst/>
            <a:rect l="l" t="t" r="r" b="b"/>
            <a:pathLst>
              <a:path w="538479" h="106680">
                <a:moveTo>
                  <a:pt x="518160" y="0"/>
                </a:moveTo>
                <a:lnTo>
                  <a:pt x="510539" y="0"/>
                </a:lnTo>
                <a:lnTo>
                  <a:pt x="510539" y="4572"/>
                </a:lnTo>
                <a:lnTo>
                  <a:pt x="518160" y="4572"/>
                </a:lnTo>
                <a:lnTo>
                  <a:pt x="519684" y="7620"/>
                </a:lnTo>
                <a:lnTo>
                  <a:pt x="522732" y="10668"/>
                </a:lnTo>
                <a:lnTo>
                  <a:pt x="524256" y="15240"/>
                </a:lnTo>
                <a:lnTo>
                  <a:pt x="524256" y="25907"/>
                </a:lnTo>
                <a:lnTo>
                  <a:pt x="522732" y="28955"/>
                </a:lnTo>
                <a:lnTo>
                  <a:pt x="522732" y="47244"/>
                </a:lnTo>
                <a:lnTo>
                  <a:pt x="528828" y="53340"/>
                </a:lnTo>
                <a:lnTo>
                  <a:pt x="524256" y="57912"/>
                </a:lnTo>
                <a:lnTo>
                  <a:pt x="522732" y="60960"/>
                </a:lnTo>
                <a:lnTo>
                  <a:pt x="522732" y="77724"/>
                </a:lnTo>
                <a:lnTo>
                  <a:pt x="524256" y="80772"/>
                </a:lnTo>
                <a:lnTo>
                  <a:pt x="524256" y="91440"/>
                </a:lnTo>
                <a:lnTo>
                  <a:pt x="522732" y="96012"/>
                </a:lnTo>
                <a:lnTo>
                  <a:pt x="519684" y="99060"/>
                </a:lnTo>
                <a:lnTo>
                  <a:pt x="518160" y="102107"/>
                </a:lnTo>
                <a:lnTo>
                  <a:pt x="515112" y="103631"/>
                </a:lnTo>
                <a:lnTo>
                  <a:pt x="510539" y="103631"/>
                </a:lnTo>
                <a:lnTo>
                  <a:pt x="510539" y="106679"/>
                </a:lnTo>
                <a:lnTo>
                  <a:pt x="518160" y="106679"/>
                </a:lnTo>
                <a:lnTo>
                  <a:pt x="522732" y="105155"/>
                </a:lnTo>
                <a:lnTo>
                  <a:pt x="525780" y="100583"/>
                </a:lnTo>
                <a:lnTo>
                  <a:pt x="528828" y="97536"/>
                </a:lnTo>
                <a:lnTo>
                  <a:pt x="530352" y="91440"/>
                </a:lnTo>
                <a:lnTo>
                  <a:pt x="530352" y="71627"/>
                </a:lnTo>
                <a:lnTo>
                  <a:pt x="528828" y="68579"/>
                </a:lnTo>
                <a:lnTo>
                  <a:pt x="528828" y="60960"/>
                </a:lnTo>
                <a:lnTo>
                  <a:pt x="531876" y="57912"/>
                </a:lnTo>
                <a:lnTo>
                  <a:pt x="531876" y="56388"/>
                </a:lnTo>
                <a:lnTo>
                  <a:pt x="534923" y="54864"/>
                </a:lnTo>
                <a:lnTo>
                  <a:pt x="537971" y="54864"/>
                </a:lnTo>
                <a:lnTo>
                  <a:pt x="537971" y="51816"/>
                </a:lnTo>
                <a:lnTo>
                  <a:pt x="534923" y="51816"/>
                </a:lnTo>
                <a:lnTo>
                  <a:pt x="531876" y="50292"/>
                </a:lnTo>
                <a:lnTo>
                  <a:pt x="531876" y="48768"/>
                </a:lnTo>
                <a:lnTo>
                  <a:pt x="528828" y="45720"/>
                </a:lnTo>
                <a:lnTo>
                  <a:pt x="528828" y="39624"/>
                </a:lnTo>
                <a:lnTo>
                  <a:pt x="530352" y="35051"/>
                </a:lnTo>
                <a:lnTo>
                  <a:pt x="530352" y="16764"/>
                </a:lnTo>
                <a:lnTo>
                  <a:pt x="528828" y="10668"/>
                </a:lnTo>
                <a:lnTo>
                  <a:pt x="525780" y="6096"/>
                </a:lnTo>
                <a:lnTo>
                  <a:pt x="522732" y="3048"/>
                </a:lnTo>
                <a:lnTo>
                  <a:pt x="518160" y="0"/>
                </a:lnTo>
                <a:close/>
              </a:path>
              <a:path w="538479" h="106680">
                <a:moveTo>
                  <a:pt x="28955" y="0"/>
                </a:moveTo>
                <a:lnTo>
                  <a:pt x="19812" y="0"/>
                </a:lnTo>
                <a:lnTo>
                  <a:pt x="15239" y="3048"/>
                </a:lnTo>
                <a:lnTo>
                  <a:pt x="12191" y="6096"/>
                </a:lnTo>
                <a:lnTo>
                  <a:pt x="9143" y="10668"/>
                </a:lnTo>
                <a:lnTo>
                  <a:pt x="7620" y="16764"/>
                </a:lnTo>
                <a:lnTo>
                  <a:pt x="7620" y="35051"/>
                </a:lnTo>
                <a:lnTo>
                  <a:pt x="9143" y="39624"/>
                </a:lnTo>
                <a:lnTo>
                  <a:pt x="9143" y="45720"/>
                </a:lnTo>
                <a:lnTo>
                  <a:pt x="7620" y="47244"/>
                </a:lnTo>
                <a:lnTo>
                  <a:pt x="7620" y="48768"/>
                </a:lnTo>
                <a:lnTo>
                  <a:pt x="6096" y="50292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6096" y="56388"/>
                </a:lnTo>
                <a:lnTo>
                  <a:pt x="7620" y="57912"/>
                </a:lnTo>
                <a:lnTo>
                  <a:pt x="7620" y="59436"/>
                </a:lnTo>
                <a:lnTo>
                  <a:pt x="9143" y="60960"/>
                </a:lnTo>
                <a:lnTo>
                  <a:pt x="9143" y="68579"/>
                </a:lnTo>
                <a:lnTo>
                  <a:pt x="7620" y="71627"/>
                </a:lnTo>
                <a:lnTo>
                  <a:pt x="7620" y="91440"/>
                </a:lnTo>
                <a:lnTo>
                  <a:pt x="9143" y="97536"/>
                </a:lnTo>
                <a:lnTo>
                  <a:pt x="12191" y="100583"/>
                </a:lnTo>
                <a:lnTo>
                  <a:pt x="15239" y="105155"/>
                </a:lnTo>
                <a:lnTo>
                  <a:pt x="19812" y="106679"/>
                </a:lnTo>
                <a:lnTo>
                  <a:pt x="28955" y="106679"/>
                </a:lnTo>
                <a:lnTo>
                  <a:pt x="28955" y="103631"/>
                </a:lnTo>
                <a:lnTo>
                  <a:pt x="22860" y="103631"/>
                </a:lnTo>
                <a:lnTo>
                  <a:pt x="19812" y="102107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70103"/>
                </a:lnTo>
                <a:lnTo>
                  <a:pt x="16763" y="68579"/>
                </a:lnTo>
                <a:lnTo>
                  <a:pt x="16763" y="62483"/>
                </a:lnTo>
                <a:lnTo>
                  <a:pt x="15239" y="60960"/>
                </a:lnTo>
                <a:lnTo>
                  <a:pt x="13715" y="57912"/>
                </a:lnTo>
                <a:lnTo>
                  <a:pt x="9143" y="53340"/>
                </a:lnTo>
                <a:lnTo>
                  <a:pt x="15239" y="47244"/>
                </a:lnTo>
                <a:lnTo>
                  <a:pt x="16763" y="44196"/>
                </a:lnTo>
                <a:lnTo>
                  <a:pt x="16763" y="39624"/>
                </a:lnTo>
                <a:lnTo>
                  <a:pt x="15239" y="36575"/>
                </a:lnTo>
                <a:lnTo>
                  <a:pt x="15239" y="28955"/>
                </a:lnTo>
                <a:lnTo>
                  <a:pt x="13715" y="25907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8955" y="4572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372003" y="1627029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3048"/>
                </a:lnTo>
                <a:lnTo>
                  <a:pt x="64008" y="4572"/>
                </a:lnTo>
                <a:lnTo>
                  <a:pt x="67056" y="7620"/>
                </a:lnTo>
                <a:lnTo>
                  <a:pt x="70104" y="12192"/>
                </a:lnTo>
                <a:lnTo>
                  <a:pt x="71628" y="16764"/>
                </a:lnTo>
                <a:lnTo>
                  <a:pt x="73151" y="22860"/>
                </a:lnTo>
                <a:lnTo>
                  <a:pt x="73151" y="36575"/>
                </a:lnTo>
                <a:lnTo>
                  <a:pt x="59436" y="56388"/>
                </a:lnTo>
                <a:lnTo>
                  <a:pt x="59436" y="59436"/>
                </a:lnTo>
                <a:lnTo>
                  <a:pt x="65532" y="57912"/>
                </a:lnTo>
                <a:lnTo>
                  <a:pt x="70104" y="54864"/>
                </a:lnTo>
                <a:lnTo>
                  <a:pt x="73151" y="48768"/>
                </a:lnTo>
                <a:lnTo>
                  <a:pt x="76200" y="44196"/>
                </a:lnTo>
                <a:lnTo>
                  <a:pt x="79248" y="38100"/>
                </a:lnTo>
                <a:lnTo>
                  <a:pt x="79248" y="22860"/>
                </a:lnTo>
                <a:lnTo>
                  <a:pt x="76200" y="15240"/>
                </a:lnTo>
                <a:lnTo>
                  <a:pt x="73151" y="10668"/>
                </a:lnTo>
                <a:lnTo>
                  <a:pt x="70104" y="4572"/>
                </a:lnTo>
                <a:lnTo>
                  <a:pt x="65532" y="1524"/>
                </a:lnTo>
                <a:lnTo>
                  <a:pt x="59436" y="0"/>
                </a:lnTo>
                <a:close/>
              </a:path>
              <a:path w="79375" h="59689">
                <a:moveTo>
                  <a:pt x="19812" y="0"/>
                </a:moveTo>
                <a:lnTo>
                  <a:pt x="13716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676803" y="1627029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20" y="0"/>
                </a:moveTo>
                <a:lnTo>
                  <a:pt x="83820" y="3048"/>
                </a:lnTo>
                <a:lnTo>
                  <a:pt x="88392" y="4572"/>
                </a:lnTo>
                <a:lnTo>
                  <a:pt x="91440" y="7620"/>
                </a:lnTo>
                <a:lnTo>
                  <a:pt x="94488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83820" y="56388"/>
                </a:lnTo>
                <a:lnTo>
                  <a:pt x="83820" y="59436"/>
                </a:lnTo>
                <a:lnTo>
                  <a:pt x="89916" y="57912"/>
                </a:lnTo>
                <a:lnTo>
                  <a:pt x="94488" y="54864"/>
                </a:lnTo>
                <a:lnTo>
                  <a:pt x="97536" y="48768"/>
                </a:lnTo>
                <a:lnTo>
                  <a:pt x="100584" y="44196"/>
                </a:lnTo>
                <a:lnTo>
                  <a:pt x="103631" y="38100"/>
                </a:lnTo>
                <a:lnTo>
                  <a:pt x="103631" y="22860"/>
                </a:lnTo>
                <a:lnTo>
                  <a:pt x="100584" y="15240"/>
                </a:lnTo>
                <a:lnTo>
                  <a:pt x="97536" y="10668"/>
                </a:lnTo>
                <a:lnTo>
                  <a:pt x="94488" y="4572"/>
                </a:lnTo>
                <a:lnTo>
                  <a:pt x="89916" y="1524"/>
                </a:lnTo>
                <a:lnTo>
                  <a:pt x="83820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13716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318920" y="1811433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5" y="0"/>
                </a:moveTo>
                <a:lnTo>
                  <a:pt x="509015" y="0"/>
                </a:lnTo>
                <a:lnTo>
                  <a:pt x="509015" y="4572"/>
                </a:lnTo>
                <a:lnTo>
                  <a:pt x="516635" y="4572"/>
                </a:lnTo>
                <a:lnTo>
                  <a:pt x="518159" y="7620"/>
                </a:lnTo>
                <a:lnTo>
                  <a:pt x="521207" y="10668"/>
                </a:lnTo>
                <a:lnTo>
                  <a:pt x="522731" y="15240"/>
                </a:lnTo>
                <a:lnTo>
                  <a:pt x="522731" y="25908"/>
                </a:lnTo>
                <a:lnTo>
                  <a:pt x="521207" y="28956"/>
                </a:lnTo>
                <a:lnTo>
                  <a:pt x="521207" y="47244"/>
                </a:lnTo>
                <a:lnTo>
                  <a:pt x="527303" y="53340"/>
                </a:lnTo>
                <a:lnTo>
                  <a:pt x="522731" y="57912"/>
                </a:lnTo>
                <a:lnTo>
                  <a:pt x="521207" y="60960"/>
                </a:lnTo>
                <a:lnTo>
                  <a:pt x="521207" y="77724"/>
                </a:lnTo>
                <a:lnTo>
                  <a:pt x="522731" y="80772"/>
                </a:lnTo>
                <a:lnTo>
                  <a:pt x="522731" y="91440"/>
                </a:lnTo>
                <a:lnTo>
                  <a:pt x="521207" y="96012"/>
                </a:lnTo>
                <a:lnTo>
                  <a:pt x="518159" y="99060"/>
                </a:lnTo>
                <a:lnTo>
                  <a:pt x="516635" y="102108"/>
                </a:lnTo>
                <a:lnTo>
                  <a:pt x="513588" y="103632"/>
                </a:lnTo>
                <a:lnTo>
                  <a:pt x="509015" y="103632"/>
                </a:lnTo>
                <a:lnTo>
                  <a:pt x="509015" y="106680"/>
                </a:lnTo>
                <a:lnTo>
                  <a:pt x="516635" y="106680"/>
                </a:lnTo>
                <a:lnTo>
                  <a:pt x="521207" y="105156"/>
                </a:lnTo>
                <a:lnTo>
                  <a:pt x="524255" y="100584"/>
                </a:lnTo>
                <a:lnTo>
                  <a:pt x="527303" y="97536"/>
                </a:lnTo>
                <a:lnTo>
                  <a:pt x="528827" y="91440"/>
                </a:lnTo>
                <a:lnTo>
                  <a:pt x="528827" y="71627"/>
                </a:lnTo>
                <a:lnTo>
                  <a:pt x="527303" y="68580"/>
                </a:lnTo>
                <a:lnTo>
                  <a:pt x="527303" y="60960"/>
                </a:lnTo>
                <a:lnTo>
                  <a:pt x="530351" y="57912"/>
                </a:lnTo>
                <a:lnTo>
                  <a:pt x="530351" y="56388"/>
                </a:lnTo>
                <a:lnTo>
                  <a:pt x="533400" y="54864"/>
                </a:lnTo>
                <a:lnTo>
                  <a:pt x="536447" y="54864"/>
                </a:lnTo>
                <a:lnTo>
                  <a:pt x="536447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30351" y="48768"/>
                </a:lnTo>
                <a:lnTo>
                  <a:pt x="527303" y="45720"/>
                </a:lnTo>
                <a:lnTo>
                  <a:pt x="527303" y="39624"/>
                </a:lnTo>
                <a:lnTo>
                  <a:pt x="528827" y="35051"/>
                </a:lnTo>
                <a:lnTo>
                  <a:pt x="528827" y="16764"/>
                </a:lnTo>
                <a:lnTo>
                  <a:pt x="527303" y="10668"/>
                </a:lnTo>
                <a:lnTo>
                  <a:pt x="524255" y="6096"/>
                </a:lnTo>
                <a:lnTo>
                  <a:pt x="521207" y="3048"/>
                </a:lnTo>
                <a:lnTo>
                  <a:pt x="516635" y="0"/>
                </a:lnTo>
                <a:close/>
              </a:path>
              <a:path w="536575" h="106680">
                <a:moveTo>
                  <a:pt x="28955" y="0"/>
                </a:moveTo>
                <a:lnTo>
                  <a:pt x="19812" y="0"/>
                </a:lnTo>
                <a:lnTo>
                  <a:pt x="15239" y="3048"/>
                </a:lnTo>
                <a:lnTo>
                  <a:pt x="12191" y="6096"/>
                </a:lnTo>
                <a:lnTo>
                  <a:pt x="9143" y="10668"/>
                </a:lnTo>
                <a:lnTo>
                  <a:pt x="7619" y="16764"/>
                </a:lnTo>
                <a:lnTo>
                  <a:pt x="7619" y="35051"/>
                </a:lnTo>
                <a:lnTo>
                  <a:pt x="9143" y="39624"/>
                </a:lnTo>
                <a:lnTo>
                  <a:pt x="9143" y="45720"/>
                </a:lnTo>
                <a:lnTo>
                  <a:pt x="7619" y="47244"/>
                </a:lnTo>
                <a:lnTo>
                  <a:pt x="7619" y="48768"/>
                </a:lnTo>
                <a:lnTo>
                  <a:pt x="6095" y="50292"/>
                </a:lnTo>
                <a:lnTo>
                  <a:pt x="3047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7" y="54864"/>
                </a:lnTo>
                <a:lnTo>
                  <a:pt x="6095" y="56388"/>
                </a:lnTo>
                <a:lnTo>
                  <a:pt x="7619" y="57912"/>
                </a:lnTo>
                <a:lnTo>
                  <a:pt x="7619" y="59436"/>
                </a:lnTo>
                <a:lnTo>
                  <a:pt x="9143" y="60960"/>
                </a:lnTo>
                <a:lnTo>
                  <a:pt x="9143" y="68580"/>
                </a:lnTo>
                <a:lnTo>
                  <a:pt x="7619" y="71627"/>
                </a:lnTo>
                <a:lnTo>
                  <a:pt x="7619" y="91440"/>
                </a:lnTo>
                <a:lnTo>
                  <a:pt x="9143" y="97536"/>
                </a:lnTo>
                <a:lnTo>
                  <a:pt x="12191" y="100584"/>
                </a:lnTo>
                <a:lnTo>
                  <a:pt x="15239" y="105156"/>
                </a:lnTo>
                <a:lnTo>
                  <a:pt x="19812" y="106680"/>
                </a:lnTo>
                <a:lnTo>
                  <a:pt x="28955" y="106680"/>
                </a:lnTo>
                <a:lnTo>
                  <a:pt x="28955" y="103632"/>
                </a:lnTo>
                <a:lnTo>
                  <a:pt x="22859" y="103632"/>
                </a:lnTo>
                <a:lnTo>
                  <a:pt x="19812" y="102108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70103"/>
                </a:lnTo>
                <a:lnTo>
                  <a:pt x="16763" y="68580"/>
                </a:lnTo>
                <a:lnTo>
                  <a:pt x="16763" y="62484"/>
                </a:lnTo>
                <a:lnTo>
                  <a:pt x="15239" y="60960"/>
                </a:lnTo>
                <a:lnTo>
                  <a:pt x="13715" y="57912"/>
                </a:lnTo>
                <a:lnTo>
                  <a:pt x="9143" y="53340"/>
                </a:lnTo>
                <a:lnTo>
                  <a:pt x="15239" y="47244"/>
                </a:lnTo>
                <a:lnTo>
                  <a:pt x="16763" y="44196"/>
                </a:lnTo>
                <a:lnTo>
                  <a:pt x="16763" y="39624"/>
                </a:lnTo>
                <a:lnTo>
                  <a:pt x="15239" y="36575"/>
                </a:lnTo>
                <a:lnTo>
                  <a:pt x="15239" y="28956"/>
                </a:lnTo>
                <a:lnTo>
                  <a:pt x="13715" y="25908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8955" y="4572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402740" y="1809909"/>
            <a:ext cx="81280" cy="59690"/>
          </a:xfrm>
          <a:custGeom>
            <a:avLst/>
            <a:gdLst/>
            <a:ahLst/>
            <a:cxnLst/>
            <a:rect l="l" t="t" r="r" b="b"/>
            <a:pathLst>
              <a:path w="81279" h="59689">
                <a:moveTo>
                  <a:pt x="60960" y="0"/>
                </a:moveTo>
                <a:lnTo>
                  <a:pt x="60960" y="3048"/>
                </a:lnTo>
                <a:lnTo>
                  <a:pt x="65532" y="4572"/>
                </a:lnTo>
                <a:lnTo>
                  <a:pt x="68580" y="7620"/>
                </a:lnTo>
                <a:lnTo>
                  <a:pt x="71627" y="12192"/>
                </a:lnTo>
                <a:lnTo>
                  <a:pt x="73151" y="16764"/>
                </a:lnTo>
                <a:lnTo>
                  <a:pt x="74675" y="22860"/>
                </a:lnTo>
                <a:lnTo>
                  <a:pt x="74675" y="36575"/>
                </a:lnTo>
                <a:lnTo>
                  <a:pt x="60960" y="56388"/>
                </a:lnTo>
                <a:lnTo>
                  <a:pt x="60960" y="59436"/>
                </a:lnTo>
                <a:lnTo>
                  <a:pt x="67056" y="57912"/>
                </a:lnTo>
                <a:lnTo>
                  <a:pt x="71627" y="54864"/>
                </a:lnTo>
                <a:lnTo>
                  <a:pt x="74675" y="48768"/>
                </a:lnTo>
                <a:lnTo>
                  <a:pt x="77724" y="44196"/>
                </a:lnTo>
                <a:lnTo>
                  <a:pt x="80772" y="38100"/>
                </a:lnTo>
                <a:lnTo>
                  <a:pt x="80772" y="22860"/>
                </a:lnTo>
                <a:lnTo>
                  <a:pt x="77724" y="15240"/>
                </a:lnTo>
                <a:lnTo>
                  <a:pt x="74675" y="10668"/>
                </a:lnTo>
                <a:lnTo>
                  <a:pt x="71627" y="4572"/>
                </a:lnTo>
                <a:lnTo>
                  <a:pt x="67056" y="1524"/>
                </a:lnTo>
                <a:lnTo>
                  <a:pt x="60960" y="0"/>
                </a:lnTo>
                <a:close/>
              </a:path>
              <a:path w="81279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709064" y="1809909"/>
            <a:ext cx="105410" cy="59690"/>
          </a:xfrm>
          <a:custGeom>
            <a:avLst/>
            <a:gdLst/>
            <a:ahLst/>
            <a:cxnLst/>
            <a:rect l="l" t="t" r="r" b="b"/>
            <a:pathLst>
              <a:path w="105410" h="59689">
                <a:moveTo>
                  <a:pt x="85344" y="0"/>
                </a:moveTo>
                <a:lnTo>
                  <a:pt x="85344" y="3048"/>
                </a:lnTo>
                <a:lnTo>
                  <a:pt x="89915" y="4572"/>
                </a:lnTo>
                <a:lnTo>
                  <a:pt x="92963" y="7620"/>
                </a:lnTo>
                <a:lnTo>
                  <a:pt x="96012" y="12192"/>
                </a:lnTo>
                <a:lnTo>
                  <a:pt x="97536" y="16764"/>
                </a:lnTo>
                <a:lnTo>
                  <a:pt x="99060" y="22860"/>
                </a:lnTo>
                <a:lnTo>
                  <a:pt x="99060" y="36575"/>
                </a:lnTo>
                <a:lnTo>
                  <a:pt x="85344" y="56388"/>
                </a:lnTo>
                <a:lnTo>
                  <a:pt x="85344" y="59436"/>
                </a:lnTo>
                <a:lnTo>
                  <a:pt x="91439" y="57912"/>
                </a:lnTo>
                <a:lnTo>
                  <a:pt x="96012" y="54864"/>
                </a:lnTo>
                <a:lnTo>
                  <a:pt x="99060" y="48768"/>
                </a:lnTo>
                <a:lnTo>
                  <a:pt x="102108" y="44196"/>
                </a:lnTo>
                <a:lnTo>
                  <a:pt x="105156" y="38100"/>
                </a:lnTo>
                <a:lnTo>
                  <a:pt x="105156" y="22860"/>
                </a:lnTo>
                <a:lnTo>
                  <a:pt x="102108" y="15240"/>
                </a:lnTo>
                <a:lnTo>
                  <a:pt x="99060" y="10668"/>
                </a:lnTo>
                <a:lnTo>
                  <a:pt x="96012" y="4572"/>
                </a:lnTo>
                <a:lnTo>
                  <a:pt x="91439" y="1524"/>
                </a:lnTo>
                <a:lnTo>
                  <a:pt x="85344" y="0"/>
                </a:lnTo>
                <a:close/>
              </a:path>
              <a:path w="105410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241439" y="1054475"/>
            <a:ext cx="2527935" cy="8655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15" dirty="0">
                <a:latin typeface="Cambria Math" panose="02040503050406030204"/>
                <a:cs typeface="Cambria Math" panose="02040503050406030204"/>
              </a:rPr>
              <a:t>c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11884" y="2070513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60" h="6350">
                <a:moveTo>
                  <a:pt x="0" y="0"/>
                </a:moveTo>
                <a:lnTo>
                  <a:pt x="60960" y="0"/>
                </a:lnTo>
                <a:lnTo>
                  <a:pt x="60960" y="6095"/>
                </a:lnTo>
                <a:lnTo>
                  <a:pt x="0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949856" y="2018697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3048"/>
                </a:lnTo>
                <a:lnTo>
                  <a:pt x="53340" y="4572"/>
                </a:lnTo>
                <a:lnTo>
                  <a:pt x="56388" y="7620"/>
                </a:lnTo>
                <a:lnTo>
                  <a:pt x="59436" y="12192"/>
                </a:lnTo>
                <a:lnTo>
                  <a:pt x="60960" y="16763"/>
                </a:lnTo>
                <a:lnTo>
                  <a:pt x="62484" y="22859"/>
                </a:lnTo>
                <a:lnTo>
                  <a:pt x="62484" y="36575"/>
                </a:lnTo>
                <a:lnTo>
                  <a:pt x="48768" y="56387"/>
                </a:lnTo>
                <a:lnTo>
                  <a:pt x="48768" y="59435"/>
                </a:lnTo>
                <a:lnTo>
                  <a:pt x="54864" y="57911"/>
                </a:lnTo>
                <a:lnTo>
                  <a:pt x="59436" y="54863"/>
                </a:lnTo>
                <a:lnTo>
                  <a:pt x="62484" y="48768"/>
                </a:lnTo>
                <a:lnTo>
                  <a:pt x="65532" y="44196"/>
                </a:lnTo>
                <a:lnTo>
                  <a:pt x="68580" y="38100"/>
                </a:lnTo>
                <a:lnTo>
                  <a:pt x="68580" y="22859"/>
                </a:lnTo>
                <a:lnTo>
                  <a:pt x="65532" y="15239"/>
                </a:lnTo>
                <a:lnTo>
                  <a:pt x="62484" y="10668"/>
                </a:lnTo>
                <a:lnTo>
                  <a:pt x="59436" y="4572"/>
                </a:lnTo>
                <a:lnTo>
                  <a:pt x="54864" y="1524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6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39"/>
                </a:lnTo>
                <a:lnTo>
                  <a:pt x="0" y="22859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3"/>
                </a:lnTo>
                <a:lnTo>
                  <a:pt x="13716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40" y="54863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242464" y="2018697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3048"/>
                </a:lnTo>
                <a:lnTo>
                  <a:pt x="53339" y="4572"/>
                </a:lnTo>
                <a:lnTo>
                  <a:pt x="56387" y="7620"/>
                </a:lnTo>
                <a:lnTo>
                  <a:pt x="59436" y="12192"/>
                </a:lnTo>
                <a:lnTo>
                  <a:pt x="60960" y="16763"/>
                </a:lnTo>
                <a:lnTo>
                  <a:pt x="62484" y="22859"/>
                </a:lnTo>
                <a:lnTo>
                  <a:pt x="62484" y="36575"/>
                </a:lnTo>
                <a:lnTo>
                  <a:pt x="48768" y="56387"/>
                </a:lnTo>
                <a:lnTo>
                  <a:pt x="48768" y="59435"/>
                </a:lnTo>
                <a:lnTo>
                  <a:pt x="54863" y="57911"/>
                </a:lnTo>
                <a:lnTo>
                  <a:pt x="59436" y="54863"/>
                </a:lnTo>
                <a:lnTo>
                  <a:pt x="62484" y="48768"/>
                </a:lnTo>
                <a:lnTo>
                  <a:pt x="65532" y="44196"/>
                </a:lnTo>
                <a:lnTo>
                  <a:pt x="68580" y="38100"/>
                </a:lnTo>
                <a:lnTo>
                  <a:pt x="68580" y="22859"/>
                </a:lnTo>
                <a:lnTo>
                  <a:pt x="65532" y="15239"/>
                </a:lnTo>
                <a:lnTo>
                  <a:pt x="62484" y="10668"/>
                </a:lnTo>
                <a:lnTo>
                  <a:pt x="59436" y="4572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39"/>
                </a:lnTo>
                <a:lnTo>
                  <a:pt x="0" y="22859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3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610299" y="1996822"/>
            <a:ext cx="1762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92296" y="2059312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70021" y="2039534"/>
            <a:ext cx="1199515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7630" algn="r"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187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139700">
              <a:lnSpc>
                <a:spcPct val="100000"/>
              </a:lnSpc>
              <a:spcBef>
                <a:spcPts val="51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3.</a:t>
            </a:r>
            <a:r>
              <a:rPr sz="700" spc="1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2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cg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2620633" y="111570"/>
            <a:ext cx="95885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RMSP</a:t>
            </a:r>
            <a:r>
              <a:rPr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pc="-5" dirty="0">
                <a:latin typeface="Calibri" panose="020F0502020204030204"/>
                <a:cs typeface="Calibri" panose="020F0502020204030204"/>
              </a:rPr>
              <a:t>op</a:t>
            </a:r>
            <a:endParaRPr spc="-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8826" y="535337"/>
            <a:ext cx="1798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M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SPro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p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方法是一种自适应梯度方法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82166" y="2526443"/>
            <a:ext cx="99695" cy="1244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51938" y="2530500"/>
            <a:ext cx="1486535" cy="121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累积平方梯度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pr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1 −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p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∗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852555" y="2699853"/>
            <a:ext cx="5778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5"/>
              </a:lnSpc>
            </a:pPr>
            <a:r>
              <a:rPr sz="500" i="1" spc="-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2166" y="2721524"/>
            <a:ext cx="99695" cy="1244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51938" y="2725581"/>
            <a:ext cx="1096010" cy="121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  <a:tabLst>
                <a:tab pos="1028700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更新权值：</a:t>
            </a:r>
            <a:r>
              <a:rPr sz="700" spc="-1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700" i="1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3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	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829704" y="2795865"/>
            <a:ext cx="14795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5"/>
              </a:lnSpc>
            </a:pPr>
            <a:r>
              <a:rPr sz="500" i="1" spc="8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5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500" i="1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o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1976" y="2916605"/>
            <a:ext cx="398145" cy="1244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0320" y="1088685"/>
            <a:ext cx="2743200" cy="2133600"/>
          </a:xfrm>
          <a:custGeom>
            <a:avLst/>
            <a:gdLst/>
            <a:ahLst/>
            <a:cxnLst/>
            <a:rect l="l" t="t" r="r" b="b"/>
            <a:pathLst>
              <a:path w="2743200" h="2133600">
                <a:moveTo>
                  <a:pt x="0" y="0"/>
                </a:moveTo>
                <a:lnTo>
                  <a:pt x="2743200" y="0"/>
                </a:lnTo>
                <a:lnTo>
                  <a:pt x="2743200" y="2133600"/>
                </a:lnTo>
                <a:lnTo>
                  <a:pt x="0" y="2133600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7272" y="1079541"/>
            <a:ext cx="2750820" cy="18415"/>
          </a:xfrm>
          <a:custGeom>
            <a:avLst/>
            <a:gdLst/>
            <a:ahLst/>
            <a:cxnLst/>
            <a:rect l="l" t="t" r="r" b="b"/>
            <a:pathLst>
              <a:path w="2750820" h="18415">
                <a:moveTo>
                  <a:pt x="0" y="0"/>
                </a:moveTo>
                <a:lnTo>
                  <a:pt x="2750819" y="0"/>
                </a:lnTo>
                <a:lnTo>
                  <a:pt x="2750819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0320" y="917997"/>
            <a:ext cx="0" cy="2307590"/>
          </a:xfrm>
          <a:custGeom>
            <a:avLst/>
            <a:gdLst/>
            <a:ahLst/>
            <a:cxnLst/>
            <a:rect l="l" t="t" r="r" b="b"/>
            <a:pathLst>
              <a:path h="2307590">
                <a:moveTo>
                  <a:pt x="0" y="0"/>
                </a:moveTo>
                <a:lnTo>
                  <a:pt x="0" y="230733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23519" y="917997"/>
            <a:ext cx="0" cy="2307590"/>
          </a:xfrm>
          <a:custGeom>
            <a:avLst/>
            <a:gdLst/>
            <a:ahLst/>
            <a:cxnLst/>
            <a:rect l="l" t="t" r="r" b="b"/>
            <a:pathLst>
              <a:path h="2307590">
                <a:moveTo>
                  <a:pt x="0" y="0"/>
                </a:moveTo>
                <a:lnTo>
                  <a:pt x="0" y="230733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7272" y="921045"/>
            <a:ext cx="2750820" cy="0"/>
          </a:xfrm>
          <a:custGeom>
            <a:avLst/>
            <a:gdLst/>
            <a:ahLst/>
            <a:cxnLst/>
            <a:rect l="l" t="t" r="r" b="b"/>
            <a:pathLst>
              <a:path w="2750820">
                <a:moveTo>
                  <a:pt x="0" y="0"/>
                </a:moveTo>
                <a:lnTo>
                  <a:pt x="2750819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7272" y="3222285"/>
            <a:ext cx="2750820" cy="0"/>
          </a:xfrm>
          <a:custGeom>
            <a:avLst/>
            <a:gdLst/>
            <a:ahLst/>
            <a:cxnLst/>
            <a:rect l="l" t="t" r="r" b="b"/>
            <a:pathLst>
              <a:path w="2750820">
                <a:moveTo>
                  <a:pt x="0" y="0"/>
                </a:moveTo>
                <a:lnTo>
                  <a:pt x="2750819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3367" y="924093"/>
            <a:ext cx="2737485" cy="15557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1079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85"/>
              </a:spcBef>
            </a:pPr>
            <a:r>
              <a:rPr sz="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RMSProp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84964" y="1971081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9015" y="0"/>
                </a:lnTo>
                <a:lnTo>
                  <a:pt x="509015" y="4571"/>
                </a:lnTo>
                <a:lnTo>
                  <a:pt x="516636" y="4571"/>
                </a:lnTo>
                <a:lnTo>
                  <a:pt x="522732" y="10668"/>
                </a:lnTo>
                <a:lnTo>
                  <a:pt x="522732" y="32004"/>
                </a:lnTo>
                <a:lnTo>
                  <a:pt x="521208" y="36575"/>
                </a:lnTo>
                <a:lnTo>
                  <a:pt x="521208" y="44195"/>
                </a:lnTo>
                <a:lnTo>
                  <a:pt x="522732" y="47243"/>
                </a:lnTo>
                <a:lnTo>
                  <a:pt x="528827" y="53339"/>
                </a:lnTo>
                <a:lnTo>
                  <a:pt x="524256" y="57912"/>
                </a:lnTo>
                <a:lnTo>
                  <a:pt x="522732" y="60960"/>
                </a:lnTo>
                <a:lnTo>
                  <a:pt x="521208" y="62483"/>
                </a:lnTo>
                <a:lnTo>
                  <a:pt x="521208" y="70104"/>
                </a:lnTo>
                <a:lnTo>
                  <a:pt x="522732" y="74675"/>
                </a:lnTo>
                <a:lnTo>
                  <a:pt x="522732" y="96012"/>
                </a:lnTo>
                <a:lnTo>
                  <a:pt x="516636" y="102107"/>
                </a:lnTo>
                <a:lnTo>
                  <a:pt x="513588" y="103631"/>
                </a:lnTo>
                <a:lnTo>
                  <a:pt x="509015" y="103631"/>
                </a:lnTo>
                <a:lnTo>
                  <a:pt x="509015" y="106680"/>
                </a:lnTo>
                <a:lnTo>
                  <a:pt x="516636" y="106680"/>
                </a:lnTo>
                <a:lnTo>
                  <a:pt x="522732" y="105156"/>
                </a:lnTo>
                <a:lnTo>
                  <a:pt x="525780" y="100583"/>
                </a:lnTo>
                <a:lnTo>
                  <a:pt x="528827" y="97536"/>
                </a:lnTo>
                <a:lnTo>
                  <a:pt x="530351" y="91439"/>
                </a:lnTo>
                <a:lnTo>
                  <a:pt x="530351" y="76200"/>
                </a:lnTo>
                <a:lnTo>
                  <a:pt x="528827" y="71627"/>
                </a:lnTo>
                <a:lnTo>
                  <a:pt x="528827" y="59436"/>
                </a:lnTo>
                <a:lnTo>
                  <a:pt x="533400" y="54863"/>
                </a:lnTo>
                <a:lnTo>
                  <a:pt x="536448" y="54863"/>
                </a:lnTo>
                <a:lnTo>
                  <a:pt x="536448" y="51816"/>
                </a:lnTo>
                <a:lnTo>
                  <a:pt x="533400" y="51816"/>
                </a:lnTo>
                <a:lnTo>
                  <a:pt x="528827" y="47243"/>
                </a:lnTo>
                <a:lnTo>
                  <a:pt x="528827" y="35051"/>
                </a:lnTo>
                <a:lnTo>
                  <a:pt x="530351" y="32004"/>
                </a:lnTo>
                <a:lnTo>
                  <a:pt x="530351" y="16763"/>
                </a:lnTo>
                <a:lnTo>
                  <a:pt x="528827" y="10668"/>
                </a:lnTo>
                <a:lnTo>
                  <a:pt x="525780" y="6095"/>
                </a:lnTo>
                <a:lnTo>
                  <a:pt x="522732" y="3048"/>
                </a:lnTo>
                <a:lnTo>
                  <a:pt x="516636" y="0"/>
                </a:lnTo>
                <a:close/>
              </a:path>
              <a:path w="536575" h="106680">
                <a:moveTo>
                  <a:pt x="27431" y="0"/>
                </a:moveTo>
                <a:lnTo>
                  <a:pt x="19812" y="0"/>
                </a:lnTo>
                <a:lnTo>
                  <a:pt x="15240" y="3048"/>
                </a:lnTo>
                <a:lnTo>
                  <a:pt x="7619" y="10668"/>
                </a:lnTo>
                <a:lnTo>
                  <a:pt x="6096" y="16763"/>
                </a:lnTo>
                <a:lnTo>
                  <a:pt x="6096" y="32004"/>
                </a:lnTo>
                <a:lnTo>
                  <a:pt x="7619" y="35051"/>
                </a:lnTo>
                <a:lnTo>
                  <a:pt x="7619" y="39624"/>
                </a:lnTo>
                <a:lnTo>
                  <a:pt x="9143" y="41148"/>
                </a:lnTo>
                <a:lnTo>
                  <a:pt x="9143" y="45719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3"/>
                </a:lnTo>
                <a:lnTo>
                  <a:pt x="3048" y="54863"/>
                </a:lnTo>
                <a:lnTo>
                  <a:pt x="9143" y="60960"/>
                </a:lnTo>
                <a:lnTo>
                  <a:pt x="9143" y="65531"/>
                </a:lnTo>
                <a:lnTo>
                  <a:pt x="7619" y="68580"/>
                </a:lnTo>
                <a:lnTo>
                  <a:pt x="7619" y="71627"/>
                </a:lnTo>
                <a:lnTo>
                  <a:pt x="6096" y="76200"/>
                </a:lnTo>
                <a:lnTo>
                  <a:pt x="6096" y="91439"/>
                </a:lnTo>
                <a:lnTo>
                  <a:pt x="7619" y="97536"/>
                </a:lnTo>
                <a:lnTo>
                  <a:pt x="12192" y="100583"/>
                </a:lnTo>
                <a:lnTo>
                  <a:pt x="15240" y="105156"/>
                </a:lnTo>
                <a:lnTo>
                  <a:pt x="19812" y="106680"/>
                </a:lnTo>
                <a:lnTo>
                  <a:pt x="27431" y="106680"/>
                </a:lnTo>
                <a:lnTo>
                  <a:pt x="27431" y="103631"/>
                </a:lnTo>
                <a:lnTo>
                  <a:pt x="22860" y="103631"/>
                </a:lnTo>
                <a:lnTo>
                  <a:pt x="19812" y="102107"/>
                </a:lnTo>
                <a:lnTo>
                  <a:pt x="16763" y="99060"/>
                </a:lnTo>
                <a:lnTo>
                  <a:pt x="15240" y="96012"/>
                </a:lnTo>
                <a:lnTo>
                  <a:pt x="13716" y="91439"/>
                </a:lnTo>
                <a:lnTo>
                  <a:pt x="13716" y="77724"/>
                </a:lnTo>
                <a:lnTo>
                  <a:pt x="15240" y="74675"/>
                </a:lnTo>
                <a:lnTo>
                  <a:pt x="15240" y="60960"/>
                </a:lnTo>
                <a:lnTo>
                  <a:pt x="13716" y="57912"/>
                </a:lnTo>
                <a:lnTo>
                  <a:pt x="10668" y="54863"/>
                </a:lnTo>
                <a:lnTo>
                  <a:pt x="7619" y="53339"/>
                </a:lnTo>
                <a:lnTo>
                  <a:pt x="10668" y="51816"/>
                </a:lnTo>
                <a:lnTo>
                  <a:pt x="15240" y="47243"/>
                </a:lnTo>
                <a:lnTo>
                  <a:pt x="15240" y="32004"/>
                </a:lnTo>
                <a:lnTo>
                  <a:pt x="13716" y="28956"/>
                </a:lnTo>
                <a:lnTo>
                  <a:pt x="13716" y="15239"/>
                </a:lnTo>
                <a:lnTo>
                  <a:pt x="15240" y="10668"/>
                </a:lnTo>
                <a:lnTo>
                  <a:pt x="16763" y="7619"/>
                </a:lnTo>
                <a:lnTo>
                  <a:pt x="19812" y="4571"/>
                </a:lnTo>
                <a:lnTo>
                  <a:pt x="27431" y="4571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73356" y="196955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9435" y="0"/>
                </a:moveTo>
                <a:lnTo>
                  <a:pt x="57911" y="3048"/>
                </a:lnTo>
                <a:lnTo>
                  <a:pt x="62483" y="4572"/>
                </a:lnTo>
                <a:lnTo>
                  <a:pt x="67056" y="7619"/>
                </a:lnTo>
                <a:lnTo>
                  <a:pt x="68580" y="12192"/>
                </a:lnTo>
                <a:lnTo>
                  <a:pt x="71628" y="16763"/>
                </a:lnTo>
                <a:lnTo>
                  <a:pt x="73152" y="22860"/>
                </a:lnTo>
                <a:lnTo>
                  <a:pt x="73152" y="36575"/>
                </a:lnTo>
                <a:lnTo>
                  <a:pt x="71628" y="42672"/>
                </a:lnTo>
                <a:lnTo>
                  <a:pt x="68580" y="47243"/>
                </a:lnTo>
                <a:lnTo>
                  <a:pt x="67056" y="51816"/>
                </a:lnTo>
                <a:lnTo>
                  <a:pt x="62483" y="54863"/>
                </a:lnTo>
                <a:lnTo>
                  <a:pt x="57911" y="56387"/>
                </a:lnTo>
                <a:lnTo>
                  <a:pt x="59435" y="59436"/>
                </a:lnTo>
                <a:lnTo>
                  <a:pt x="65531" y="57912"/>
                </a:lnTo>
                <a:lnTo>
                  <a:pt x="70104" y="54863"/>
                </a:lnTo>
                <a:lnTo>
                  <a:pt x="73152" y="48768"/>
                </a:lnTo>
                <a:lnTo>
                  <a:pt x="76199" y="44195"/>
                </a:lnTo>
                <a:lnTo>
                  <a:pt x="77723" y="38100"/>
                </a:lnTo>
                <a:lnTo>
                  <a:pt x="77723" y="22860"/>
                </a:lnTo>
                <a:lnTo>
                  <a:pt x="76199" y="15240"/>
                </a:lnTo>
                <a:lnTo>
                  <a:pt x="73152" y="10668"/>
                </a:lnTo>
                <a:lnTo>
                  <a:pt x="70104" y="4572"/>
                </a:lnTo>
                <a:lnTo>
                  <a:pt x="65531" y="1524"/>
                </a:lnTo>
                <a:lnTo>
                  <a:pt x="59435" y="0"/>
                </a:lnTo>
                <a:close/>
              </a:path>
              <a:path w="78105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5"/>
                </a:lnTo>
                <a:lnTo>
                  <a:pt x="4571" y="48768"/>
                </a:lnTo>
                <a:lnTo>
                  <a:pt x="7619" y="54863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2" y="51816"/>
                </a:lnTo>
                <a:lnTo>
                  <a:pt x="6095" y="42672"/>
                </a:lnTo>
                <a:lnTo>
                  <a:pt x="6095" y="16763"/>
                </a:lnTo>
                <a:lnTo>
                  <a:pt x="12192" y="7619"/>
                </a:lnTo>
                <a:lnTo>
                  <a:pt x="15239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78156" y="1969557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89">
                <a:moveTo>
                  <a:pt x="83820" y="0"/>
                </a:moveTo>
                <a:lnTo>
                  <a:pt x="82296" y="3048"/>
                </a:lnTo>
                <a:lnTo>
                  <a:pt x="86868" y="4572"/>
                </a:lnTo>
                <a:lnTo>
                  <a:pt x="91440" y="7619"/>
                </a:lnTo>
                <a:lnTo>
                  <a:pt x="92964" y="12192"/>
                </a:lnTo>
                <a:lnTo>
                  <a:pt x="96012" y="16763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2"/>
                </a:lnTo>
                <a:lnTo>
                  <a:pt x="92964" y="47243"/>
                </a:lnTo>
                <a:lnTo>
                  <a:pt x="91440" y="51816"/>
                </a:lnTo>
                <a:lnTo>
                  <a:pt x="86868" y="54863"/>
                </a:lnTo>
                <a:lnTo>
                  <a:pt x="82296" y="56387"/>
                </a:lnTo>
                <a:lnTo>
                  <a:pt x="83820" y="59436"/>
                </a:lnTo>
                <a:lnTo>
                  <a:pt x="89916" y="57912"/>
                </a:lnTo>
                <a:lnTo>
                  <a:pt x="94488" y="54863"/>
                </a:lnTo>
                <a:lnTo>
                  <a:pt x="97536" y="48768"/>
                </a:lnTo>
                <a:lnTo>
                  <a:pt x="100584" y="44195"/>
                </a:lnTo>
                <a:lnTo>
                  <a:pt x="102108" y="38100"/>
                </a:lnTo>
                <a:lnTo>
                  <a:pt x="102108" y="22860"/>
                </a:lnTo>
                <a:lnTo>
                  <a:pt x="100584" y="15240"/>
                </a:lnTo>
                <a:lnTo>
                  <a:pt x="97536" y="10668"/>
                </a:lnTo>
                <a:lnTo>
                  <a:pt x="94488" y="4572"/>
                </a:lnTo>
                <a:lnTo>
                  <a:pt x="89916" y="1524"/>
                </a:lnTo>
                <a:lnTo>
                  <a:pt x="83820" y="0"/>
                </a:lnTo>
                <a:close/>
              </a:path>
              <a:path w="102235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5"/>
                </a:lnTo>
                <a:lnTo>
                  <a:pt x="4572" y="48768"/>
                </a:lnTo>
                <a:lnTo>
                  <a:pt x="7620" y="54863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40" y="54863"/>
                </a:lnTo>
                <a:lnTo>
                  <a:pt x="12192" y="51816"/>
                </a:lnTo>
                <a:lnTo>
                  <a:pt x="6096" y="42672"/>
                </a:lnTo>
                <a:lnTo>
                  <a:pt x="6096" y="16763"/>
                </a:lnTo>
                <a:lnTo>
                  <a:pt x="12192" y="7619"/>
                </a:lnTo>
                <a:lnTo>
                  <a:pt x="15240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03508" y="2155485"/>
            <a:ext cx="535305" cy="106680"/>
          </a:xfrm>
          <a:custGeom>
            <a:avLst/>
            <a:gdLst/>
            <a:ahLst/>
            <a:cxnLst/>
            <a:rect l="l" t="t" r="r" b="b"/>
            <a:pathLst>
              <a:path w="535305" h="106680">
                <a:moveTo>
                  <a:pt x="515112" y="0"/>
                </a:moveTo>
                <a:lnTo>
                  <a:pt x="507492" y="0"/>
                </a:lnTo>
                <a:lnTo>
                  <a:pt x="507492" y="4571"/>
                </a:lnTo>
                <a:lnTo>
                  <a:pt x="515112" y="4571"/>
                </a:lnTo>
                <a:lnTo>
                  <a:pt x="521208" y="10667"/>
                </a:lnTo>
                <a:lnTo>
                  <a:pt x="521208" y="32003"/>
                </a:lnTo>
                <a:lnTo>
                  <a:pt x="519684" y="36575"/>
                </a:lnTo>
                <a:lnTo>
                  <a:pt x="519684" y="44195"/>
                </a:lnTo>
                <a:lnTo>
                  <a:pt x="521208" y="47243"/>
                </a:lnTo>
                <a:lnTo>
                  <a:pt x="527304" y="53339"/>
                </a:lnTo>
                <a:lnTo>
                  <a:pt x="522731" y="57912"/>
                </a:lnTo>
                <a:lnTo>
                  <a:pt x="521208" y="60959"/>
                </a:lnTo>
                <a:lnTo>
                  <a:pt x="519684" y="62483"/>
                </a:lnTo>
                <a:lnTo>
                  <a:pt x="519684" y="70103"/>
                </a:lnTo>
                <a:lnTo>
                  <a:pt x="521208" y="74675"/>
                </a:lnTo>
                <a:lnTo>
                  <a:pt x="521208" y="96012"/>
                </a:lnTo>
                <a:lnTo>
                  <a:pt x="515112" y="102107"/>
                </a:lnTo>
                <a:lnTo>
                  <a:pt x="512064" y="103631"/>
                </a:lnTo>
                <a:lnTo>
                  <a:pt x="507492" y="103631"/>
                </a:lnTo>
                <a:lnTo>
                  <a:pt x="507492" y="106679"/>
                </a:lnTo>
                <a:lnTo>
                  <a:pt x="515112" y="106679"/>
                </a:lnTo>
                <a:lnTo>
                  <a:pt x="521208" y="105156"/>
                </a:lnTo>
                <a:lnTo>
                  <a:pt x="524256" y="100583"/>
                </a:lnTo>
                <a:lnTo>
                  <a:pt x="527304" y="97535"/>
                </a:lnTo>
                <a:lnTo>
                  <a:pt x="528828" y="91439"/>
                </a:lnTo>
                <a:lnTo>
                  <a:pt x="528828" y="76200"/>
                </a:lnTo>
                <a:lnTo>
                  <a:pt x="527304" y="71627"/>
                </a:lnTo>
                <a:lnTo>
                  <a:pt x="527304" y="59435"/>
                </a:lnTo>
                <a:lnTo>
                  <a:pt x="531876" y="54863"/>
                </a:lnTo>
                <a:lnTo>
                  <a:pt x="534924" y="54863"/>
                </a:lnTo>
                <a:lnTo>
                  <a:pt x="534924" y="51815"/>
                </a:lnTo>
                <a:lnTo>
                  <a:pt x="531876" y="51815"/>
                </a:lnTo>
                <a:lnTo>
                  <a:pt x="527304" y="47243"/>
                </a:lnTo>
                <a:lnTo>
                  <a:pt x="527304" y="35051"/>
                </a:lnTo>
                <a:lnTo>
                  <a:pt x="528828" y="32003"/>
                </a:lnTo>
                <a:lnTo>
                  <a:pt x="528828" y="16763"/>
                </a:lnTo>
                <a:lnTo>
                  <a:pt x="527304" y="10667"/>
                </a:lnTo>
                <a:lnTo>
                  <a:pt x="524256" y="6095"/>
                </a:lnTo>
                <a:lnTo>
                  <a:pt x="521208" y="3047"/>
                </a:lnTo>
                <a:lnTo>
                  <a:pt x="515112" y="0"/>
                </a:lnTo>
                <a:close/>
              </a:path>
              <a:path w="535305" h="106680">
                <a:moveTo>
                  <a:pt x="27431" y="0"/>
                </a:moveTo>
                <a:lnTo>
                  <a:pt x="19812" y="0"/>
                </a:lnTo>
                <a:lnTo>
                  <a:pt x="15240" y="3047"/>
                </a:lnTo>
                <a:lnTo>
                  <a:pt x="7619" y="10667"/>
                </a:lnTo>
                <a:lnTo>
                  <a:pt x="6096" y="16763"/>
                </a:lnTo>
                <a:lnTo>
                  <a:pt x="6096" y="32003"/>
                </a:lnTo>
                <a:lnTo>
                  <a:pt x="7619" y="35051"/>
                </a:lnTo>
                <a:lnTo>
                  <a:pt x="7619" y="39623"/>
                </a:lnTo>
                <a:lnTo>
                  <a:pt x="9143" y="41147"/>
                </a:lnTo>
                <a:lnTo>
                  <a:pt x="9143" y="45719"/>
                </a:lnTo>
                <a:lnTo>
                  <a:pt x="3048" y="51815"/>
                </a:lnTo>
                <a:lnTo>
                  <a:pt x="0" y="51815"/>
                </a:lnTo>
                <a:lnTo>
                  <a:pt x="0" y="54863"/>
                </a:lnTo>
                <a:lnTo>
                  <a:pt x="3048" y="54863"/>
                </a:lnTo>
                <a:lnTo>
                  <a:pt x="9143" y="60959"/>
                </a:lnTo>
                <a:lnTo>
                  <a:pt x="9143" y="65531"/>
                </a:lnTo>
                <a:lnTo>
                  <a:pt x="7619" y="68579"/>
                </a:lnTo>
                <a:lnTo>
                  <a:pt x="7619" y="71627"/>
                </a:lnTo>
                <a:lnTo>
                  <a:pt x="6096" y="76200"/>
                </a:lnTo>
                <a:lnTo>
                  <a:pt x="6096" y="91439"/>
                </a:lnTo>
                <a:lnTo>
                  <a:pt x="7619" y="97535"/>
                </a:lnTo>
                <a:lnTo>
                  <a:pt x="12192" y="100583"/>
                </a:lnTo>
                <a:lnTo>
                  <a:pt x="15240" y="105156"/>
                </a:lnTo>
                <a:lnTo>
                  <a:pt x="19812" y="106679"/>
                </a:lnTo>
                <a:lnTo>
                  <a:pt x="27431" y="106679"/>
                </a:lnTo>
                <a:lnTo>
                  <a:pt x="27431" y="103631"/>
                </a:lnTo>
                <a:lnTo>
                  <a:pt x="22860" y="103631"/>
                </a:lnTo>
                <a:lnTo>
                  <a:pt x="19812" y="102107"/>
                </a:lnTo>
                <a:lnTo>
                  <a:pt x="16764" y="99059"/>
                </a:lnTo>
                <a:lnTo>
                  <a:pt x="15240" y="96012"/>
                </a:lnTo>
                <a:lnTo>
                  <a:pt x="13716" y="91439"/>
                </a:lnTo>
                <a:lnTo>
                  <a:pt x="13716" y="77723"/>
                </a:lnTo>
                <a:lnTo>
                  <a:pt x="15240" y="74675"/>
                </a:lnTo>
                <a:lnTo>
                  <a:pt x="15240" y="60959"/>
                </a:lnTo>
                <a:lnTo>
                  <a:pt x="13716" y="57912"/>
                </a:lnTo>
                <a:lnTo>
                  <a:pt x="10668" y="54863"/>
                </a:lnTo>
                <a:lnTo>
                  <a:pt x="7619" y="53339"/>
                </a:lnTo>
                <a:lnTo>
                  <a:pt x="10668" y="51815"/>
                </a:lnTo>
                <a:lnTo>
                  <a:pt x="15240" y="47243"/>
                </a:lnTo>
                <a:lnTo>
                  <a:pt x="15240" y="32003"/>
                </a:lnTo>
                <a:lnTo>
                  <a:pt x="13716" y="28956"/>
                </a:lnTo>
                <a:lnTo>
                  <a:pt x="13716" y="15239"/>
                </a:lnTo>
                <a:lnTo>
                  <a:pt x="15240" y="10667"/>
                </a:lnTo>
                <a:lnTo>
                  <a:pt x="16764" y="7619"/>
                </a:lnTo>
                <a:lnTo>
                  <a:pt x="19812" y="4571"/>
                </a:lnTo>
                <a:lnTo>
                  <a:pt x="27431" y="4571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87328" y="2153961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60960" y="0"/>
                </a:moveTo>
                <a:lnTo>
                  <a:pt x="59436" y="3047"/>
                </a:lnTo>
                <a:lnTo>
                  <a:pt x="64008" y="4571"/>
                </a:lnTo>
                <a:lnTo>
                  <a:pt x="68580" y="7619"/>
                </a:lnTo>
                <a:lnTo>
                  <a:pt x="70104" y="12191"/>
                </a:lnTo>
                <a:lnTo>
                  <a:pt x="73152" y="16763"/>
                </a:lnTo>
                <a:lnTo>
                  <a:pt x="74676" y="22859"/>
                </a:lnTo>
                <a:lnTo>
                  <a:pt x="74676" y="36575"/>
                </a:lnTo>
                <a:lnTo>
                  <a:pt x="73152" y="42671"/>
                </a:lnTo>
                <a:lnTo>
                  <a:pt x="70104" y="47243"/>
                </a:lnTo>
                <a:lnTo>
                  <a:pt x="68580" y="51815"/>
                </a:lnTo>
                <a:lnTo>
                  <a:pt x="64008" y="54863"/>
                </a:lnTo>
                <a:lnTo>
                  <a:pt x="59436" y="56387"/>
                </a:lnTo>
                <a:lnTo>
                  <a:pt x="60960" y="59436"/>
                </a:lnTo>
                <a:lnTo>
                  <a:pt x="67056" y="57912"/>
                </a:lnTo>
                <a:lnTo>
                  <a:pt x="71628" y="54863"/>
                </a:lnTo>
                <a:lnTo>
                  <a:pt x="74676" y="48768"/>
                </a:lnTo>
                <a:lnTo>
                  <a:pt x="77724" y="44195"/>
                </a:lnTo>
                <a:lnTo>
                  <a:pt x="79248" y="38100"/>
                </a:lnTo>
                <a:lnTo>
                  <a:pt x="79248" y="22859"/>
                </a:lnTo>
                <a:lnTo>
                  <a:pt x="77724" y="15239"/>
                </a:lnTo>
                <a:lnTo>
                  <a:pt x="74676" y="10668"/>
                </a:lnTo>
                <a:lnTo>
                  <a:pt x="71628" y="4571"/>
                </a:lnTo>
                <a:lnTo>
                  <a:pt x="67056" y="1524"/>
                </a:lnTo>
                <a:lnTo>
                  <a:pt x="60960" y="0"/>
                </a:lnTo>
                <a:close/>
              </a:path>
              <a:path w="79375" h="59689">
                <a:moveTo>
                  <a:pt x="19812" y="0"/>
                </a:moveTo>
                <a:lnTo>
                  <a:pt x="0" y="22859"/>
                </a:lnTo>
                <a:lnTo>
                  <a:pt x="0" y="38100"/>
                </a:lnTo>
                <a:lnTo>
                  <a:pt x="1524" y="44195"/>
                </a:lnTo>
                <a:lnTo>
                  <a:pt x="4572" y="48768"/>
                </a:lnTo>
                <a:lnTo>
                  <a:pt x="7620" y="54863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40" y="54863"/>
                </a:lnTo>
                <a:lnTo>
                  <a:pt x="12192" y="51815"/>
                </a:lnTo>
                <a:lnTo>
                  <a:pt x="6096" y="42671"/>
                </a:lnTo>
                <a:lnTo>
                  <a:pt x="6096" y="16763"/>
                </a:lnTo>
                <a:lnTo>
                  <a:pt x="12192" y="7619"/>
                </a:lnTo>
                <a:lnTo>
                  <a:pt x="15240" y="4571"/>
                </a:lnTo>
                <a:lnTo>
                  <a:pt x="19812" y="3047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93651" y="2153961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5343" y="0"/>
                </a:moveTo>
                <a:lnTo>
                  <a:pt x="83820" y="3047"/>
                </a:lnTo>
                <a:lnTo>
                  <a:pt x="88392" y="4571"/>
                </a:lnTo>
                <a:lnTo>
                  <a:pt x="92964" y="7619"/>
                </a:lnTo>
                <a:lnTo>
                  <a:pt x="94487" y="12191"/>
                </a:lnTo>
                <a:lnTo>
                  <a:pt x="97536" y="16763"/>
                </a:lnTo>
                <a:lnTo>
                  <a:pt x="99060" y="22859"/>
                </a:lnTo>
                <a:lnTo>
                  <a:pt x="99060" y="36575"/>
                </a:lnTo>
                <a:lnTo>
                  <a:pt x="97536" y="42671"/>
                </a:lnTo>
                <a:lnTo>
                  <a:pt x="94487" y="47243"/>
                </a:lnTo>
                <a:lnTo>
                  <a:pt x="92964" y="51815"/>
                </a:lnTo>
                <a:lnTo>
                  <a:pt x="88392" y="54863"/>
                </a:lnTo>
                <a:lnTo>
                  <a:pt x="83820" y="56387"/>
                </a:lnTo>
                <a:lnTo>
                  <a:pt x="85343" y="59436"/>
                </a:lnTo>
                <a:lnTo>
                  <a:pt x="91440" y="57912"/>
                </a:lnTo>
                <a:lnTo>
                  <a:pt x="96012" y="54863"/>
                </a:lnTo>
                <a:lnTo>
                  <a:pt x="99060" y="48768"/>
                </a:lnTo>
                <a:lnTo>
                  <a:pt x="102108" y="44195"/>
                </a:lnTo>
                <a:lnTo>
                  <a:pt x="103631" y="38100"/>
                </a:lnTo>
                <a:lnTo>
                  <a:pt x="103631" y="22859"/>
                </a:lnTo>
                <a:lnTo>
                  <a:pt x="102108" y="15239"/>
                </a:lnTo>
                <a:lnTo>
                  <a:pt x="99060" y="10668"/>
                </a:lnTo>
                <a:lnTo>
                  <a:pt x="96012" y="4571"/>
                </a:lnTo>
                <a:lnTo>
                  <a:pt x="91440" y="1524"/>
                </a:lnTo>
                <a:lnTo>
                  <a:pt x="85343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0" y="22859"/>
                </a:lnTo>
                <a:lnTo>
                  <a:pt x="0" y="38100"/>
                </a:lnTo>
                <a:lnTo>
                  <a:pt x="1524" y="44195"/>
                </a:lnTo>
                <a:lnTo>
                  <a:pt x="4572" y="48768"/>
                </a:lnTo>
                <a:lnTo>
                  <a:pt x="7620" y="54863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40" y="54863"/>
                </a:lnTo>
                <a:lnTo>
                  <a:pt x="12192" y="51815"/>
                </a:lnTo>
                <a:lnTo>
                  <a:pt x="6096" y="42671"/>
                </a:lnTo>
                <a:lnTo>
                  <a:pt x="6096" y="16763"/>
                </a:lnTo>
                <a:lnTo>
                  <a:pt x="12192" y="7619"/>
                </a:lnTo>
                <a:lnTo>
                  <a:pt x="15240" y="4571"/>
                </a:lnTo>
                <a:lnTo>
                  <a:pt x="19812" y="3047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26006" y="1075451"/>
            <a:ext cx="2647950" cy="118872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1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z="700" spc="1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衰减速率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p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0345" marR="5080" indent="-220980">
              <a:lnSpc>
                <a:spcPct val="150000"/>
              </a:lnSpc>
              <a:spcBef>
                <a:spcPts val="1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小常数</a:t>
            </a:r>
            <a:r>
              <a:rPr sz="700" spc="1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700" spc="1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用于被小数除时的数值稳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。（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常设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750" spc="67" baseline="28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700" spc="45" dirty="0">
                <a:latin typeface="黑体" panose="02010609060101010101" charset="-122"/>
                <a:cs typeface="黑体" panose="02010609060101010101" charset="-122"/>
              </a:rPr>
              <a:t>）  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始化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积变量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8600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7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从训练集中采样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批量大小）个样本</a:t>
            </a:r>
            <a:r>
              <a:rPr sz="700" spc="-1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9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1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94008" y="2413041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60" h="6350">
                <a:moveTo>
                  <a:pt x="0" y="0"/>
                </a:moveTo>
                <a:lnTo>
                  <a:pt x="60960" y="0"/>
                </a:lnTo>
                <a:lnTo>
                  <a:pt x="60960" y="6095"/>
                </a:lnTo>
                <a:lnTo>
                  <a:pt x="0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593989" y="2382077"/>
            <a:ext cx="17653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33504" y="2361225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0291" y="4572"/>
                </a:lnTo>
                <a:lnTo>
                  <a:pt x="54863" y="7619"/>
                </a:lnTo>
                <a:lnTo>
                  <a:pt x="56387" y="12192"/>
                </a:lnTo>
                <a:lnTo>
                  <a:pt x="59435" y="16763"/>
                </a:lnTo>
                <a:lnTo>
                  <a:pt x="60959" y="22860"/>
                </a:lnTo>
                <a:lnTo>
                  <a:pt x="60959" y="36575"/>
                </a:lnTo>
                <a:lnTo>
                  <a:pt x="59435" y="42672"/>
                </a:lnTo>
                <a:lnTo>
                  <a:pt x="56387" y="47243"/>
                </a:lnTo>
                <a:lnTo>
                  <a:pt x="54863" y="51816"/>
                </a:lnTo>
                <a:lnTo>
                  <a:pt x="50291" y="54863"/>
                </a:lnTo>
                <a:lnTo>
                  <a:pt x="45719" y="56387"/>
                </a:lnTo>
                <a:lnTo>
                  <a:pt x="47243" y="59436"/>
                </a:lnTo>
                <a:lnTo>
                  <a:pt x="53339" y="57912"/>
                </a:lnTo>
                <a:lnTo>
                  <a:pt x="57912" y="54863"/>
                </a:lnTo>
                <a:lnTo>
                  <a:pt x="60959" y="48768"/>
                </a:lnTo>
                <a:lnTo>
                  <a:pt x="64007" y="44195"/>
                </a:lnTo>
                <a:lnTo>
                  <a:pt x="65531" y="38100"/>
                </a:lnTo>
                <a:lnTo>
                  <a:pt x="65531" y="22860"/>
                </a:lnTo>
                <a:lnTo>
                  <a:pt x="64007" y="15239"/>
                </a:lnTo>
                <a:lnTo>
                  <a:pt x="60959" y="10668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3" y="44195"/>
                </a:lnTo>
                <a:lnTo>
                  <a:pt x="4571" y="48768"/>
                </a:lnTo>
                <a:lnTo>
                  <a:pt x="7619" y="54863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6"/>
                </a:lnTo>
                <a:lnTo>
                  <a:pt x="6095" y="42672"/>
                </a:lnTo>
                <a:lnTo>
                  <a:pt x="6095" y="16763"/>
                </a:lnTo>
                <a:lnTo>
                  <a:pt x="12191" y="7619"/>
                </a:lnTo>
                <a:lnTo>
                  <a:pt x="15239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26111" y="2361225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0292" y="4572"/>
                </a:lnTo>
                <a:lnTo>
                  <a:pt x="54863" y="7619"/>
                </a:lnTo>
                <a:lnTo>
                  <a:pt x="56387" y="12192"/>
                </a:lnTo>
                <a:lnTo>
                  <a:pt x="59436" y="16763"/>
                </a:lnTo>
                <a:lnTo>
                  <a:pt x="60960" y="22860"/>
                </a:lnTo>
                <a:lnTo>
                  <a:pt x="60960" y="36575"/>
                </a:lnTo>
                <a:lnTo>
                  <a:pt x="59436" y="42672"/>
                </a:lnTo>
                <a:lnTo>
                  <a:pt x="56387" y="47243"/>
                </a:lnTo>
                <a:lnTo>
                  <a:pt x="54863" y="51816"/>
                </a:lnTo>
                <a:lnTo>
                  <a:pt x="50292" y="54863"/>
                </a:lnTo>
                <a:lnTo>
                  <a:pt x="45719" y="56387"/>
                </a:lnTo>
                <a:lnTo>
                  <a:pt x="47243" y="59436"/>
                </a:lnTo>
                <a:lnTo>
                  <a:pt x="53339" y="57912"/>
                </a:lnTo>
                <a:lnTo>
                  <a:pt x="57912" y="54863"/>
                </a:lnTo>
                <a:lnTo>
                  <a:pt x="60960" y="48768"/>
                </a:lnTo>
                <a:lnTo>
                  <a:pt x="64007" y="44195"/>
                </a:lnTo>
                <a:lnTo>
                  <a:pt x="65531" y="38100"/>
                </a:lnTo>
                <a:lnTo>
                  <a:pt x="65531" y="22860"/>
                </a:lnTo>
                <a:lnTo>
                  <a:pt x="64007" y="15239"/>
                </a:lnTo>
                <a:lnTo>
                  <a:pt x="60960" y="10668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5"/>
                </a:lnTo>
                <a:lnTo>
                  <a:pt x="4571" y="48768"/>
                </a:lnTo>
                <a:lnTo>
                  <a:pt x="7619" y="54863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2" y="51816"/>
                </a:lnTo>
                <a:lnTo>
                  <a:pt x="6095" y="42672"/>
                </a:lnTo>
                <a:lnTo>
                  <a:pt x="6095" y="16763"/>
                </a:lnTo>
                <a:lnTo>
                  <a:pt x="12192" y="7619"/>
                </a:lnTo>
                <a:lnTo>
                  <a:pt x="15239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94866" y="2339369"/>
            <a:ext cx="185991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69240" algn="l"/>
              </a:tabLst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	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计算梯度</a:t>
            </a:r>
            <a:r>
              <a:rPr sz="7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6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2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75944" y="2401856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61292" y="2559345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39" y="6096"/>
                </a:lnTo>
                <a:lnTo>
                  <a:pt x="248412" y="9143"/>
                </a:lnTo>
                <a:lnTo>
                  <a:pt x="251459" y="16763"/>
                </a:lnTo>
                <a:lnTo>
                  <a:pt x="254507" y="22860"/>
                </a:lnTo>
                <a:lnTo>
                  <a:pt x="257556" y="30480"/>
                </a:lnTo>
                <a:lnTo>
                  <a:pt x="248412" y="71628"/>
                </a:lnTo>
                <a:lnTo>
                  <a:pt x="237744" y="77724"/>
                </a:lnTo>
                <a:lnTo>
                  <a:pt x="237744" y="82296"/>
                </a:lnTo>
                <a:lnTo>
                  <a:pt x="263342" y="48625"/>
                </a:lnTo>
                <a:lnTo>
                  <a:pt x="263651" y="41148"/>
                </a:lnTo>
                <a:lnTo>
                  <a:pt x="263342" y="33432"/>
                </a:lnTo>
                <a:lnTo>
                  <a:pt x="246887" y="1524"/>
                </a:lnTo>
                <a:lnTo>
                  <a:pt x="237744" y="0"/>
                </a:lnTo>
                <a:close/>
              </a:path>
              <a:path w="264160" h="82550">
                <a:moveTo>
                  <a:pt x="25907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625"/>
                </a:lnTo>
                <a:lnTo>
                  <a:pt x="25907" y="82296"/>
                </a:lnTo>
                <a:lnTo>
                  <a:pt x="25907" y="77724"/>
                </a:lnTo>
                <a:lnTo>
                  <a:pt x="19812" y="76200"/>
                </a:lnTo>
                <a:lnTo>
                  <a:pt x="15239" y="71628"/>
                </a:lnTo>
                <a:lnTo>
                  <a:pt x="6095" y="30480"/>
                </a:lnTo>
                <a:lnTo>
                  <a:pt x="9143" y="22860"/>
                </a:lnTo>
                <a:lnTo>
                  <a:pt x="12191" y="16763"/>
                </a:lnTo>
                <a:lnTo>
                  <a:pt x="15239" y="9143"/>
                </a:lnTo>
                <a:lnTo>
                  <a:pt x="19812" y="6096"/>
                </a:lnTo>
                <a:lnTo>
                  <a:pt x="25907" y="3048"/>
                </a:lnTo>
                <a:lnTo>
                  <a:pt x="259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01272" y="2813853"/>
            <a:ext cx="78105" cy="62865"/>
          </a:xfrm>
          <a:custGeom>
            <a:avLst/>
            <a:gdLst/>
            <a:ahLst/>
            <a:cxnLst/>
            <a:rect l="l" t="t" r="r" b="b"/>
            <a:pathLst>
              <a:path w="78105" h="62864">
                <a:moveTo>
                  <a:pt x="12668" y="33528"/>
                </a:moveTo>
                <a:lnTo>
                  <a:pt x="6095" y="33528"/>
                </a:lnTo>
                <a:lnTo>
                  <a:pt x="19811" y="62484"/>
                </a:lnTo>
                <a:lnTo>
                  <a:pt x="22859" y="62484"/>
                </a:lnTo>
                <a:lnTo>
                  <a:pt x="25506" y="53340"/>
                </a:lnTo>
                <a:lnTo>
                  <a:pt x="21335" y="53340"/>
                </a:lnTo>
                <a:lnTo>
                  <a:pt x="12668" y="33528"/>
                </a:lnTo>
                <a:close/>
              </a:path>
              <a:path w="78105" h="62864">
                <a:moveTo>
                  <a:pt x="77723" y="0"/>
                </a:moveTo>
                <a:lnTo>
                  <a:pt x="36575" y="0"/>
                </a:lnTo>
                <a:lnTo>
                  <a:pt x="21335" y="53340"/>
                </a:lnTo>
                <a:lnTo>
                  <a:pt x="25506" y="53340"/>
                </a:lnTo>
                <a:lnTo>
                  <a:pt x="39623" y="4572"/>
                </a:lnTo>
                <a:lnTo>
                  <a:pt x="77723" y="4572"/>
                </a:lnTo>
                <a:lnTo>
                  <a:pt x="77723" y="0"/>
                </a:lnTo>
                <a:close/>
              </a:path>
              <a:path w="78105" h="62864">
                <a:moveTo>
                  <a:pt x="10667" y="28956"/>
                </a:moveTo>
                <a:lnTo>
                  <a:pt x="0" y="33528"/>
                </a:lnTo>
                <a:lnTo>
                  <a:pt x="1523" y="36576"/>
                </a:lnTo>
                <a:lnTo>
                  <a:pt x="6095" y="33528"/>
                </a:lnTo>
                <a:lnTo>
                  <a:pt x="12668" y="33528"/>
                </a:lnTo>
                <a:lnTo>
                  <a:pt x="10667" y="289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799748" y="2795565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639" y="0"/>
                </a:lnTo>
              </a:path>
            </a:pathLst>
          </a:custGeom>
          <a:ln w="609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50067" y="2513625"/>
            <a:ext cx="2026920" cy="387350"/>
          </a:xfrm>
          <a:prstGeom prst="rect">
            <a:avLst/>
          </a:prstGeom>
          <a:solidFill>
            <a:srgbClr val="D0D8E8"/>
          </a:solidFill>
          <a:ln w="4571">
            <a:solidFill>
              <a:srgbClr val="FF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414020" indent="-269240">
              <a:lnSpc>
                <a:spcPct val="100000"/>
              </a:lnSpc>
              <a:spcBef>
                <a:spcPts val="175"/>
              </a:spcBef>
              <a:buFont typeface="Arial" panose="020B0604020202020204"/>
              <a:buAutoNum type="arabicPeriod" startAt="3"/>
              <a:tabLst>
                <a:tab pos="414020" algn="l"/>
                <a:tab pos="41465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累积平方梯度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pr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spc="1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1 −</a:t>
            </a:r>
            <a:r>
              <a:rPr sz="7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∗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414020" indent="-269240">
              <a:lnSpc>
                <a:spcPts val="695"/>
              </a:lnSpc>
              <a:spcBef>
                <a:spcPts val="695"/>
              </a:spcBef>
              <a:buFont typeface="Arial" panose="020B0604020202020204"/>
              <a:buAutoNum type="arabicPeriod" startAt="3"/>
              <a:tabLst>
                <a:tab pos="414020" algn="l"/>
                <a:tab pos="414655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更新权值：</a:t>
            </a:r>
            <a:r>
              <a:rPr sz="700" spc="-15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7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3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7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-52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50" spc="15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1292225">
              <a:lnSpc>
                <a:spcPts val="455"/>
              </a:lnSpc>
            </a:pPr>
            <a:r>
              <a:rPr sz="5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r+o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4676" y="2913916"/>
            <a:ext cx="385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197256" y="1073445"/>
            <a:ext cx="2743200" cy="1559560"/>
          </a:xfrm>
          <a:custGeom>
            <a:avLst/>
            <a:gdLst/>
            <a:ahLst/>
            <a:cxnLst/>
            <a:rect l="l" t="t" r="r" b="b"/>
            <a:pathLst>
              <a:path w="2743200" h="1559560">
                <a:moveTo>
                  <a:pt x="0" y="0"/>
                </a:moveTo>
                <a:lnTo>
                  <a:pt x="2743200" y="0"/>
                </a:lnTo>
                <a:lnTo>
                  <a:pt x="2743200" y="1559052"/>
                </a:lnTo>
                <a:lnTo>
                  <a:pt x="0" y="1559052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94207" y="1064301"/>
            <a:ext cx="2749550" cy="18415"/>
          </a:xfrm>
          <a:custGeom>
            <a:avLst/>
            <a:gdLst/>
            <a:ahLst/>
            <a:cxnLst/>
            <a:rect l="l" t="t" r="r" b="b"/>
            <a:pathLst>
              <a:path w="2749550" h="18415">
                <a:moveTo>
                  <a:pt x="0" y="0"/>
                </a:moveTo>
                <a:lnTo>
                  <a:pt x="2749295" y="0"/>
                </a:lnTo>
                <a:lnTo>
                  <a:pt x="2749295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97256" y="917997"/>
            <a:ext cx="0" cy="1717675"/>
          </a:xfrm>
          <a:custGeom>
            <a:avLst/>
            <a:gdLst/>
            <a:ahLst/>
            <a:cxnLst/>
            <a:rect l="l" t="t" r="r" b="b"/>
            <a:pathLst>
              <a:path h="1717675">
                <a:moveTo>
                  <a:pt x="0" y="0"/>
                </a:moveTo>
                <a:lnTo>
                  <a:pt x="0" y="1717547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940456" y="917997"/>
            <a:ext cx="0" cy="1717675"/>
          </a:xfrm>
          <a:custGeom>
            <a:avLst/>
            <a:gdLst/>
            <a:ahLst/>
            <a:cxnLst/>
            <a:rect l="l" t="t" r="r" b="b"/>
            <a:pathLst>
              <a:path h="1717675">
                <a:moveTo>
                  <a:pt x="0" y="0"/>
                </a:moveTo>
                <a:lnTo>
                  <a:pt x="0" y="1717547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94207" y="921045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194207" y="2632497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200303" y="924093"/>
            <a:ext cx="2737485" cy="140335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2032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60"/>
              </a:spcBef>
            </a:pPr>
            <a:r>
              <a:rPr sz="700" b="1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批量</a:t>
            </a:r>
            <a:r>
              <a:rPr sz="700" b="1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度下</a:t>
            </a:r>
            <a:r>
              <a:rPr sz="700" b="1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283611" y="1634277"/>
            <a:ext cx="538480" cy="106680"/>
          </a:xfrm>
          <a:custGeom>
            <a:avLst/>
            <a:gdLst/>
            <a:ahLst/>
            <a:cxnLst/>
            <a:rect l="l" t="t" r="r" b="b"/>
            <a:pathLst>
              <a:path w="538479" h="106680">
                <a:moveTo>
                  <a:pt x="518160" y="0"/>
                </a:moveTo>
                <a:lnTo>
                  <a:pt x="510539" y="0"/>
                </a:lnTo>
                <a:lnTo>
                  <a:pt x="510539" y="4572"/>
                </a:lnTo>
                <a:lnTo>
                  <a:pt x="518160" y="4572"/>
                </a:lnTo>
                <a:lnTo>
                  <a:pt x="519684" y="7620"/>
                </a:lnTo>
                <a:lnTo>
                  <a:pt x="522732" y="10668"/>
                </a:lnTo>
                <a:lnTo>
                  <a:pt x="524256" y="15240"/>
                </a:lnTo>
                <a:lnTo>
                  <a:pt x="524256" y="25908"/>
                </a:lnTo>
                <a:lnTo>
                  <a:pt x="522732" y="28956"/>
                </a:lnTo>
                <a:lnTo>
                  <a:pt x="522732" y="47243"/>
                </a:lnTo>
                <a:lnTo>
                  <a:pt x="528828" y="53340"/>
                </a:lnTo>
                <a:lnTo>
                  <a:pt x="524256" y="57912"/>
                </a:lnTo>
                <a:lnTo>
                  <a:pt x="522732" y="60960"/>
                </a:lnTo>
                <a:lnTo>
                  <a:pt x="522732" y="77724"/>
                </a:lnTo>
                <a:lnTo>
                  <a:pt x="524256" y="80772"/>
                </a:lnTo>
                <a:lnTo>
                  <a:pt x="524256" y="91440"/>
                </a:lnTo>
                <a:lnTo>
                  <a:pt x="522732" y="96012"/>
                </a:lnTo>
                <a:lnTo>
                  <a:pt x="519684" y="99060"/>
                </a:lnTo>
                <a:lnTo>
                  <a:pt x="518160" y="102108"/>
                </a:lnTo>
                <a:lnTo>
                  <a:pt x="515112" y="103631"/>
                </a:lnTo>
                <a:lnTo>
                  <a:pt x="510539" y="103631"/>
                </a:lnTo>
                <a:lnTo>
                  <a:pt x="510539" y="106680"/>
                </a:lnTo>
                <a:lnTo>
                  <a:pt x="518160" y="106680"/>
                </a:lnTo>
                <a:lnTo>
                  <a:pt x="522732" y="105156"/>
                </a:lnTo>
                <a:lnTo>
                  <a:pt x="525780" y="100584"/>
                </a:lnTo>
                <a:lnTo>
                  <a:pt x="528828" y="97536"/>
                </a:lnTo>
                <a:lnTo>
                  <a:pt x="530352" y="91440"/>
                </a:lnTo>
                <a:lnTo>
                  <a:pt x="530352" y="71628"/>
                </a:lnTo>
                <a:lnTo>
                  <a:pt x="528828" y="68580"/>
                </a:lnTo>
                <a:lnTo>
                  <a:pt x="528828" y="60960"/>
                </a:lnTo>
                <a:lnTo>
                  <a:pt x="531876" y="57912"/>
                </a:lnTo>
                <a:lnTo>
                  <a:pt x="531876" y="56387"/>
                </a:lnTo>
                <a:lnTo>
                  <a:pt x="534923" y="54864"/>
                </a:lnTo>
                <a:lnTo>
                  <a:pt x="537971" y="54864"/>
                </a:lnTo>
                <a:lnTo>
                  <a:pt x="537971" y="51816"/>
                </a:lnTo>
                <a:lnTo>
                  <a:pt x="534923" y="51816"/>
                </a:lnTo>
                <a:lnTo>
                  <a:pt x="531876" y="50292"/>
                </a:lnTo>
                <a:lnTo>
                  <a:pt x="531876" y="48768"/>
                </a:lnTo>
                <a:lnTo>
                  <a:pt x="528828" y="45720"/>
                </a:lnTo>
                <a:lnTo>
                  <a:pt x="528828" y="39624"/>
                </a:lnTo>
                <a:lnTo>
                  <a:pt x="530352" y="35052"/>
                </a:lnTo>
                <a:lnTo>
                  <a:pt x="530352" y="16764"/>
                </a:lnTo>
                <a:lnTo>
                  <a:pt x="528828" y="10668"/>
                </a:lnTo>
                <a:lnTo>
                  <a:pt x="525780" y="6096"/>
                </a:lnTo>
                <a:lnTo>
                  <a:pt x="522732" y="3048"/>
                </a:lnTo>
                <a:lnTo>
                  <a:pt x="518160" y="0"/>
                </a:lnTo>
                <a:close/>
              </a:path>
              <a:path w="538479" h="106680">
                <a:moveTo>
                  <a:pt x="28955" y="0"/>
                </a:moveTo>
                <a:lnTo>
                  <a:pt x="19812" y="0"/>
                </a:lnTo>
                <a:lnTo>
                  <a:pt x="15239" y="3048"/>
                </a:lnTo>
                <a:lnTo>
                  <a:pt x="12191" y="6096"/>
                </a:lnTo>
                <a:lnTo>
                  <a:pt x="9143" y="10668"/>
                </a:lnTo>
                <a:lnTo>
                  <a:pt x="7620" y="16764"/>
                </a:lnTo>
                <a:lnTo>
                  <a:pt x="7620" y="35052"/>
                </a:lnTo>
                <a:lnTo>
                  <a:pt x="9143" y="39624"/>
                </a:lnTo>
                <a:lnTo>
                  <a:pt x="9143" y="45720"/>
                </a:lnTo>
                <a:lnTo>
                  <a:pt x="7620" y="47243"/>
                </a:lnTo>
                <a:lnTo>
                  <a:pt x="7620" y="48768"/>
                </a:lnTo>
                <a:lnTo>
                  <a:pt x="6096" y="50292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6096" y="56387"/>
                </a:lnTo>
                <a:lnTo>
                  <a:pt x="7620" y="57912"/>
                </a:lnTo>
                <a:lnTo>
                  <a:pt x="7620" y="59436"/>
                </a:lnTo>
                <a:lnTo>
                  <a:pt x="9143" y="60960"/>
                </a:lnTo>
                <a:lnTo>
                  <a:pt x="9143" y="68580"/>
                </a:lnTo>
                <a:lnTo>
                  <a:pt x="7620" y="71628"/>
                </a:lnTo>
                <a:lnTo>
                  <a:pt x="7620" y="91440"/>
                </a:lnTo>
                <a:lnTo>
                  <a:pt x="9143" y="97536"/>
                </a:lnTo>
                <a:lnTo>
                  <a:pt x="12191" y="100584"/>
                </a:lnTo>
                <a:lnTo>
                  <a:pt x="15239" y="105156"/>
                </a:lnTo>
                <a:lnTo>
                  <a:pt x="19812" y="106680"/>
                </a:lnTo>
                <a:lnTo>
                  <a:pt x="28955" y="106680"/>
                </a:lnTo>
                <a:lnTo>
                  <a:pt x="28955" y="103631"/>
                </a:lnTo>
                <a:lnTo>
                  <a:pt x="22860" y="103631"/>
                </a:lnTo>
                <a:lnTo>
                  <a:pt x="19812" y="102108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70104"/>
                </a:lnTo>
                <a:lnTo>
                  <a:pt x="16763" y="68580"/>
                </a:lnTo>
                <a:lnTo>
                  <a:pt x="16763" y="62484"/>
                </a:lnTo>
                <a:lnTo>
                  <a:pt x="15239" y="60960"/>
                </a:lnTo>
                <a:lnTo>
                  <a:pt x="13715" y="57912"/>
                </a:lnTo>
                <a:lnTo>
                  <a:pt x="9143" y="53340"/>
                </a:lnTo>
                <a:lnTo>
                  <a:pt x="15239" y="47243"/>
                </a:lnTo>
                <a:lnTo>
                  <a:pt x="16763" y="44196"/>
                </a:lnTo>
                <a:lnTo>
                  <a:pt x="16763" y="39624"/>
                </a:lnTo>
                <a:lnTo>
                  <a:pt x="15239" y="36575"/>
                </a:lnTo>
                <a:lnTo>
                  <a:pt x="15239" y="28956"/>
                </a:lnTo>
                <a:lnTo>
                  <a:pt x="13715" y="25908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8955" y="4572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372003" y="1632753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3048"/>
                </a:lnTo>
                <a:lnTo>
                  <a:pt x="64008" y="4572"/>
                </a:lnTo>
                <a:lnTo>
                  <a:pt x="67056" y="7620"/>
                </a:lnTo>
                <a:lnTo>
                  <a:pt x="70104" y="12192"/>
                </a:lnTo>
                <a:lnTo>
                  <a:pt x="71628" y="16764"/>
                </a:lnTo>
                <a:lnTo>
                  <a:pt x="73151" y="22860"/>
                </a:lnTo>
                <a:lnTo>
                  <a:pt x="73151" y="36576"/>
                </a:lnTo>
                <a:lnTo>
                  <a:pt x="59436" y="56388"/>
                </a:lnTo>
                <a:lnTo>
                  <a:pt x="59436" y="59436"/>
                </a:lnTo>
                <a:lnTo>
                  <a:pt x="65532" y="57912"/>
                </a:lnTo>
                <a:lnTo>
                  <a:pt x="70104" y="54864"/>
                </a:lnTo>
                <a:lnTo>
                  <a:pt x="73151" y="48768"/>
                </a:lnTo>
                <a:lnTo>
                  <a:pt x="76200" y="44196"/>
                </a:lnTo>
                <a:lnTo>
                  <a:pt x="79248" y="38100"/>
                </a:lnTo>
                <a:lnTo>
                  <a:pt x="79248" y="22860"/>
                </a:lnTo>
                <a:lnTo>
                  <a:pt x="76200" y="15240"/>
                </a:lnTo>
                <a:lnTo>
                  <a:pt x="73151" y="10668"/>
                </a:lnTo>
                <a:lnTo>
                  <a:pt x="70104" y="4572"/>
                </a:lnTo>
                <a:lnTo>
                  <a:pt x="65532" y="1524"/>
                </a:lnTo>
                <a:lnTo>
                  <a:pt x="59436" y="0"/>
                </a:lnTo>
                <a:close/>
              </a:path>
              <a:path w="79375" h="59689">
                <a:moveTo>
                  <a:pt x="19812" y="0"/>
                </a:moveTo>
                <a:lnTo>
                  <a:pt x="13716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6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676803" y="1632753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20" y="0"/>
                </a:moveTo>
                <a:lnTo>
                  <a:pt x="83820" y="3048"/>
                </a:lnTo>
                <a:lnTo>
                  <a:pt x="88392" y="4572"/>
                </a:lnTo>
                <a:lnTo>
                  <a:pt x="91440" y="7620"/>
                </a:lnTo>
                <a:lnTo>
                  <a:pt x="94488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6"/>
                </a:lnTo>
                <a:lnTo>
                  <a:pt x="83820" y="56388"/>
                </a:lnTo>
                <a:lnTo>
                  <a:pt x="83820" y="59436"/>
                </a:lnTo>
                <a:lnTo>
                  <a:pt x="89916" y="57912"/>
                </a:lnTo>
                <a:lnTo>
                  <a:pt x="94488" y="54864"/>
                </a:lnTo>
                <a:lnTo>
                  <a:pt x="97536" y="48768"/>
                </a:lnTo>
                <a:lnTo>
                  <a:pt x="100584" y="44196"/>
                </a:lnTo>
                <a:lnTo>
                  <a:pt x="103631" y="38100"/>
                </a:lnTo>
                <a:lnTo>
                  <a:pt x="103631" y="22860"/>
                </a:lnTo>
                <a:lnTo>
                  <a:pt x="100584" y="15240"/>
                </a:lnTo>
                <a:lnTo>
                  <a:pt x="97536" y="10668"/>
                </a:lnTo>
                <a:lnTo>
                  <a:pt x="94488" y="4572"/>
                </a:lnTo>
                <a:lnTo>
                  <a:pt x="89916" y="1524"/>
                </a:lnTo>
                <a:lnTo>
                  <a:pt x="83820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13716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6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18920" y="1817157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5" y="0"/>
                </a:moveTo>
                <a:lnTo>
                  <a:pt x="509015" y="0"/>
                </a:lnTo>
                <a:lnTo>
                  <a:pt x="509015" y="4572"/>
                </a:lnTo>
                <a:lnTo>
                  <a:pt x="516635" y="4572"/>
                </a:lnTo>
                <a:lnTo>
                  <a:pt x="518159" y="7619"/>
                </a:lnTo>
                <a:lnTo>
                  <a:pt x="521207" y="10668"/>
                </a:lnTo>
                <a:lnTo>
                  <a:pt x="522731" y="15240"/>
                </a:lnTo>
                <a:lnTo>
                  <a:pt x="522731" y="25907"/>
                </a:lnTo>
                <a:lnTo>
                  <a:pt x="521207" y="28956"/>
                </a:lnTo>
                <a:lnTo>
                  <a:pt x="521207" y="47243"/>
                </a:lnTo>
                <a:lnTo>
                  <a:pt x="527303" y="53340"/>
                </a:lnTo>
                <a:lnTo>
                  <a:pt x="522731" y="57912"/>
                </a:lnTo>
                <a:lnTo>
                  <a:pt x="521207" y="60960"/>
                </a:lnTo>
                <a:lnTo>
                  <a:pt x="521207" y="77724"/>
                </a:lnTo>
                <a:lnTo>
                  <a:pt x="522731" y="80772"/>
                </a:lnTo>
                <a:lnTo>
                  <a:pt x="522731" y="91440"/>
                </a:lnTo>
                <a:lnTo>
                  <a:pt x="521207" y="96012"/>
                </a:lnTo>
                <a:lnTo>
                  <a:pt x="518159" y="99060"/>
                </a:lnTo>
                <a:lnTo>
                  <a:pt x="516635" y="102107"/>
                </a:lnTo>
                <a:lnTo>
                  <a:pt x="513588" y="103631"/>
                </a:lnTo>
                <a:lnTo>
                  <a:pt x="509015" y="103631"/>
                </a:lnTo>
                <a:lnTo>
                  <a:pt x="509015" y="106680"/>
                </a:lnTo>
                <a:lnTo>
                  <a:pt x="516635" y="106680"/>
                </a:lnTo>
                <a:lnTo>
                  <a:pt x="521207" y="105156"/>
                </a:lnTo>
                <a:lnTo>
                  <a:pt x="524255" y="100584"/>
                </a:lnTo>
                <a:lnTo>
                  <a:pt x="527303" y="97536"/>
                </a:lnTo>
                <a:lnTo>
                  <a:pt x="528827" y="91440"/>
                </a:lnTo>
                <a:lnTo>
                  <a:pt x="528827" y="71628"/>
                </a:lnTo>
                <a:lnTo>
                  <a:pt x="527303" y="68580"/>
                </a:lnTo>
                <a:lnTo>
                  <a:pt x="527303" y="60960"/>
                </a:lnTo>
                <a:lnTo>
                  <a:pt x="530351" y="57912"/>
                </a:lnTo>
                <a:lnTo>
                  <a:pt x="530351" y="56387"/>
                </a:lnTo>
                <a:lnTo>
                  <a:pt x="533400" y="54863"/>
                </a:lnTo>
                <a:lnTo>
                  <a:pt x="536447" y="54863"/>
                </a:lnTo>
                <a:lnTo>
                  <a:pt x="536447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30351" y="48768"/>
                </a:lnTo>
                <a:lnTo>
                  <a:pt x="527303" y="45719"/>
                </a:lnTo>
                <a:lnTo>
                  <a:pt x="527303" y="39624"/>
                </a:lnTo>
                <a:lnTo>
                  <a:pt x="528827" y="35051"/>
                </a:lnTo>
                <a:lnTo>
                  <a:pt x="528827" y="16763"/>
                </a:lnTo>
                <a:lnTo>
                  <a:pt x="527303" y="10668"/>
                </a:lnTo>
                <a:lnTo>
                  <a:pt x="524255" y="6095"/>
                </a:lnTo>
                <a:lnTo>
                  <a:pt x="521207" y="3048"/>
                </a:lnTo>
                <a:lnTo>
                  <a:pt x="516635" y="0"/>
                </a:lnTo>
                <a:close/>
              </a:path>
              <a:path w="536575" h="106680">
                <a:moveTo>
                  <a:pt x="28955" y="0"/>
                </a:moveTo>
                <a:lnTo>
                  <a:pt x="19812" y="0"/>
                </a:lnTo>
                <a:lnTo>
                  <a:pt x="15239" y="3048"/>
                </a:lnTo>
                <a:lnTo>
                  <a:pt x="12191" y="6095"/>
                </a:lnTo>
                <a:lnTo>
                  <a:pt x="9143" y="10668"/>
                </a:lnTo>
                <a:lnTo>
                  <a:pt x="7619" y="16763"/>
                </a:lnTo>
                <a:lnTo>
                  <a:pt x="7619" y="35051"/>
                </a:lnTo>
                <a:lnTo>
                  <a:pt x="9143" y="39624"/>
                </a:lnTo>
                <a:lnTo>
                  <a:pt x="9143" y="45719"/>
                </a:lnTo>
                <a:lnTo>
                  <a:pt x="7619" y="47243"/>
                </a:lnTo>
                <a:lnTo>
                  <a:pt x="7619" y="48768"/>
                </a:lnTo>
                <a:lnTo>
                  <a:pt x="6095" y="50292"/>
                </a:lnTo>
                <a:lnTo>
                  <a:pt x="3047" y="51816"/>
                </a:lnTo>
                <a:lnTo>
                  <a:pt x="0" y="51816"/>
                </a:lnTo>
                <a:lnTo>
                  <a:pt x="0" y="54863"/>
                </a:lnTo>
                <a:lnTo>
                  <a:pt x="3047" y="54863"/>
                </a:lnTo>
                <a:lnTo>
                  <a:pt x="6095" y="56387"/>
                </a:lnTo>
                <a:lnTo>
                  <a:pt x="7619" y="57912"/>
                </a:lnTo>
                <a:lnTo>
                  <a:pt x="7619" y="59436"/>
                </a:lnTo>
                <a:lnTo>
                  <a:pt x="9143" y="60960"/>
                </a:lnTo>
                <a:lnTo>
                  <a:pt x="9143" y="68580"/>
                </a:lnTo>
                <a:lnTo>
                  <a:pt x="7619" y="71628"/>
                </a:lnTo>
                <a:lnTo>
                  <a:pt x="7619" y="91440"/>
                </a:lnTo>
                <a:lnTo>
                  <a:pt x="9143" y="97536"/>
                </a:lnTo>
                <a:lnTo>
                  <a:pt x="12191" y="100584"/>
                </a:lnTo>
                <a:lnTo>
                  <a:pt x="15239" y="105156"/>
                </a:lnTo>
                <a:lnTo>
                  <a:pt x="19812" y="106680"/>
                </a:lnTo>
                <a:lnTo>
                  <a:pt x="28955" y="106680"/>
                </a:lnTo>
                <a:lnTo>
                  <a:pt x="28955" y="103631"/>
                </a:lnTo>
                <a:lnTo>
                  <a:pt x="22859" y="103631"/>
                </a:lnTo>
                <a:lnTo>
                  <a:pt x="19812" y="102107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70104"/>
                </a:lnTo>
                <a:lnTo>
                  <a:pt x="16763" y="68580"/>
                </a:lnTo>
                <a:lnTo>
                  <a:pt x="16763" y="62484"/>
                </a:lnTo>
                <a:lnTo>
                  <a:pt x="15239" y="60960"/>
                </a:lnTo>
                <a:lnTo>
                  <a:pt x="13715" y="57912"/>
                </a:lnTo>
                <a:lnTo>
                  <a:pt x="9143" y="53340"/>
                </a:lnTo>
                <a:lnTo>
                  <a:pt x="15239" y="47243"/>
                </a:lnTo>
                <a:lnTo>
                  <a:pt x="16763" y="44195"/>
                </a:lnTo>
                <a:lnTo>
                  <a:pt x="16763" y="39624"/>
                </a:lnTo>
                <a:lnTo>
                  <a:pt x="15239" y="36575"/>
                </a:lnTo>
                <a:lnTo>
                  <a:pt x="15239" y="28956"/>
                </a:lnTo>
                <a:lnTo>
                  <a:pt x="13715" y="25907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19"/>
                </a:lnTo>
                <a:lnTo>
                  <a:pt x="19812" y="4572"/>
                </a:lnTo>
                <a:lnTo>
                  <a:pt x="28955" y="4572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02740" y="1815633"/>
            <a:ext cx="81280" cy="59690"/>
          </a:xfrm>
          <a:custGeom>
            <a:avLst/>
            <a:gdLst/>
            <a:ahLst/>
            <a:cxnLst/>
            <a:rect l="l" t="t" r="r" b="b"/>
            <a:pathLst>
              <a:path w="81279" h="59689">
                <a:moveTo>
                  <a:pt x="60960" y="0"/>
                </a:moveTo>
                <a:lnTo>
                  <a:pt x="60960" y="3048"/>
                </a:lnTo>
                <a:lnTo>
                  <a:pt x="65532" y="4572"/>
                </a:lnTo>
                <a:lnTo>
                  <a:pt x="68580" y="7619"/>
                </a:lnTo>
                <a:lnTo>
                  <a:pt x="71627" y="12192"/>
                </a:lnTo>
                <a:lnTo>
                  <a:pt x="73151" y="16764"/>
                </a:lnTo>
                <a:lnTo>
                  <a:pt x="74675" y="22860"/>
                </a:lnTo>
                <a:lnTo>
                  <a:pt x="74675" y="36575"/>
                </a:lnTo>
                <a:lnTo>
                  <a:pt x="60960" y="56387"/>
                </a:lnTo>
                <a:lnTo>
                  <a:pt x="60960" y="59436"/>
                </a:lnTo>
                <a:lnTo>
                  <a:pt x="67056" y="57912"/>
                </a:lnTo>
                <a:lnTo>
                  <a:pt x="71627" y="54864"/>
                </a:lnTo>
                <a:lnTo>
                  <a:pt x="74675" y="48768"/>
                </a:lnTo>
                <a:lnTo>
                  <a:pt x="77724" y="44196"/>
                </a:lnTo>
                <a:lnTo>
                  <a:pt x="80772" y="38100"/>
                </a:lnTo>
                <a:lnTo>
                  <a:pt x="80772" y="22860"/>
                </a:lnTo>
                <a:lnTo>
                  <a:pt x="77724" y="15240"/>
                </a:lnTo>
                <a:lnTo>
                  <a:pt x="74675" y="10668"/>
                </a:lnTo>
                <a:lnTo>
                  <a:pt x="71627" y="4572"/>
                </a:lnTo>
                <a:lnTo>
                  <a:pt x="67056" y="1524"/>
                </a:lnTo>
                <a:lnTo>
                  <a:pt x="60960" y="0"/>
                </a:lnTo>
                <a:close/>
              </a:path>
              <a:path w="81279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39" y="54864"/>
                </a:lnTo>
                <a:lnTo>
                  <a:pt x="12192" y="51816"/>
                </a:lnTo>
                <a:lnTo>
                  <a:pt x="9144" y="47243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709064" y="1815633"/>
            <a:ext cx="105410" cy="59690"/>
          </a:xfrm>
          <a:custGeom>
            <a:avLst/>
            <a:gdLst/>
            <a:ahLst/>
            <a:cxnLst/>
            <a:rect l="l" t="t" r="r" b="b"/>
            <a:pathLst>
              <a:path w="105410" h="59689">
                <a:moveTo>
                  <a:pt x="85344" y="0"/>
                </a:moveTo>
                <a:lnTo>
                  <a:pt x="85344" y="3048"/>
                </a:lnTo>
                <a:lnTo>
                  <a:pt x="89915" y="4572"/>
                </a:lnTo>
                <a:lnTo>
                  <a:pt x="92963" y="7619"/>
                </a:lnTo>
                <a:lnTo>
                  <a:pt x="96012" y="12192"/>
                </a:lnTo>
                <a:lnTo>
                  <a:pt x="97536" y="16764"/>
                </a:lnTo>
                <a:lnTo>
                  <a:pt x="99060" y="22860"/>
                </a:lnTo>
                <a:lnTo>
                  <a:pt x="99060" y="36575"/>
                </a:lnTo>
                <a:lnTo>
                  <a:pt x="85344" y="56387"/>
                </a:lnTo>
                <a:lnTo>
                  <a:pt x="85344" y="59436"/>
                </a:lnTo>
                <a:lnTo>
                  <a:pt x="91439" y="57912"/>
                </a:lnTo>
                <a:lnTo>
                  <a:pt x="96012" y="54864"/>
                </a:lnTo>
                <a:lnTo>
                  <a:pt x="99060" y="48768"/>
                </a:lnTo>
                <a:lnTo>
                  <a:pt x="102108" y="44196"/>
                </a:lnTo>
                <a:lnTo>
                  <a:pt x="105156" y="38100"/>
                </a:lnTo>
                <a:lnTo>
                  <a:pt x="105156" y="22860"/>
                </a:lnTo>
                <a:lnTo>
                  <a:pt x="102108" y="15240"/>
                </a:lnTo>
                <a:lnTo>
                  <a:pt x="99060" y="10668"/>
                </a:lnTo>
                <a:lnTo>
                  <a:pt x="96012" y="4572"/>
                </a:lnTo>
                <a:lnTo>
                  <a:pt x="91439" y="1524"/>
                </a:lnTo>
                <a:lnTo>
                  <a:pt x="85344" y="0"/>
                </a:lnTo>
                <a:close/>
              </a:path>
              <a:path w="105410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39" y="54864"/>
                </a:lnTo>
                <a:lnTo>
                  <a:pt x="12191" y="51816"/>
                </a:lnTo>
                <a:lnTo>
                  <a:pt x="9144" y="47243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241439" y="1060160"/>
            <a:ext cx="2527935" cy="8655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15" dirty="0">
                <a:latin typeface="Cambria Math" panose="02040503050406030204"/>
                <a:cs typeface="Cambria Math" panose="02040503050406030204"/>
              </a:rPr>
              <a:t>c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683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39115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411884" y="2076237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60" h="6350">
                <a:moveTo>
                  <a:pt x="0" y="0"/>
                </a:moveTo>
                <a:lnTo>
                  <a:pt x="60960" y="0"/>
                </a:lnTo>
                <a:lnTo>
                  <a:pt x="60960" y="6095"/>
                </a:lnTo>
                <a:lnTo>
                  <a:pt x="0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949856" y="2024421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3048"/>
                </a:lnTo>
                <a:lnTo>
                  <a:pt x="53340" y="4572"/>
                </a:lnTo>
                <a:lnTo>
                  <a:pt x="56388" y="7620"/>
                </a:lnTo>
                <a:lnTo>
                  <a:pt x="59436" y="12192"/>
                </a:lnTo>
                <a:lnTo>
                  <a:pt x="60960" y="16764"/>
                </a:lnTo>
                <a:lnTo>
                  <a:pt x="62484" y="22860"/>
                </a:lnTo>
                <a:lnTo>
                  <a:pt x="62484" y="36576"/>
                </a:lnTo>
                <a:lnTo>
                  <a:pt x="48768" y="56387"/>
                </a:lnTo>
                <a:lnTo>
                  <a:pt x="48768" y="59436"/>
                </a:lnTo>
                <a:lnTo>
                  <a:pt x="54864" y="57912"/>
                </a:lnTo>
                <a:lnTo>
                  <a:pt x="59436" y="54864"/>
                </a:lnTo>
                <a:lnTo>
                  <a:pt x="62484" y="48768"/>
                </a:lnTo>
                <a:lnTo>
                  <a:pt x="65532" y="44196"/>
                </a:lnTo>
                <a:lnTo>
                  <a:pt x="68580" y="38100"/>
                </a:lnTo>
                <a:lnTo>
                  <a:pt x="68580" y="22860"/>
                </a:lnTo>
                <a:lnTo>
                  <a:pt x="65532" y="15240"/>
                </a:lnTo>
                <a:lnTo>
                  <a:pt x="62484" y="10668"/>
                </a:lnTo>
                <a:lnTo>
                  <a:pt x="59436" y="4572"/>
                </a:lnTo>
                <a:lnTo>
                  <a:pt x="54864" y="1524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6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40" y="54864"/>
                </a:lnTo>
                <a:lnTo>
                  <a:pt x="12192" y="51816"/>
                </a:lnTo>
                <a:lnTo>
                  <a:pt x="9144" y="47243"/>
                </a:lnTo>
                <a:lnTo>
                  <a:pt x="7620" y="42672"/>
                </a:lnTo>
                <a:lnTo>
                  <a:pt x="6096" y="36576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242464" y="2024421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3048"/>
                </a:lnTo>
                <a:lnTo>
                  <a:pt x="53339" y="4572"/>
                </a:lnTo>
                <a:lnTo>
                  <a:pt x="56387" y="7620"/>
                </a:lnTo>
                <a:lnTo>
                  <a:pt x="59436" y="12192"/>
                </a:lnTo>
                <a:lnTo>
                  <a:pt x="60960" y="16764"/>
                </a:lnTo>
                <a:lnTo>
                  <a:pt x="62484" y="22860"/>
                </a:lnTo>
                <a:lnTo>
                  <a:pt x="62484" y="36576"/>
                </a:lnTo>
                <a:lnTo>
                  <a:pt x="48768" y="56387"/>
                </a:lnTo>
                <a:lnTo>
                  <a:pt x="48768" y="59436"/>
                </a:lnTo>
                <a:lnTo>
                  <a:pt x="54863" y="57912"/>
                </a:lnTo>
                <a:lnTo>
                  <a:pt x="59436" y="54864"/>
                </a:lnTo>
                <a:lnTo>
                  <a:pt x="62484" y="48768"/>
                </a:lnTo>
                <a:lnTo>
                  <a:pt x="65532" y="44196"/>
                </a:lnTo>
                <a:lnTo>
                  <a:pt x="68580" y="38100"/>
                </a:lnTo>
                <a:lnTo>
                  <a:pt x="68580" y="22860"/>
                </a:lnTo>
                <a:lnTo>
                  <a:pt x="65532" y="15240"/>
                </a:lnTo>
                <a:lnTo>
                  <a:pt x="62484" y="10668"/>
                </a:lnTo>
                <a:lnTo>
                  <a:pt x="59436" y="4572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7"/>
                </a:lnTo>
                <a:lnTo>
                  <a:pt x="15239" y="54864"/>
                </a:lnTo>
                <a:lnTo>
                  <a:pt x="12191" y="51816"/>
                </a:lnTo>
                <a:lnTo>
                  <a:pt x="9144" y="47243"/>
                </a:lnTo>
                <a:lnTo>
                  <a:pt x="7620" y="42672"/>
                </a:lnTo>
                <a:lnTo>
                  <a:pt x="6096" y="36576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610299" y="2002595"/>
            <a:ext cx="1762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92296" y="2065046"/>
            <a:ext cx="355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70021" y="2045267"/>
            <a:ext cx="1199515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7630" algn="r">
              <a:lnSpc>
                <a:spcPct val="100000"/>
              </a:lnSpc>
              <a:spcBef>
                <a:spcPts val="100"/>
              </a:spcBef>
            </a:pPr>
            <a:r>
              <a:rPr sz="750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187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139700">
              <a:lnSpc>
                <a:spcPct val="100000"/>
              </a:lnSpc>
              <a:spcBef>
                <a:spcPts val="51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3.</a:t>
            </a:r>
            <a:r>
              <a:rPr sz="700" spc="1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2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cg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2620633" y="117346"/>
            <a:ext cx="95885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RMSP</a:t>
            </a:r>
            <a:r>
              <a:rPr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pc="-5" dirty="0">
                <a:latin typeface="Calibri" panose="020F0502020204030204"/>
                <a:cs typeface="Calibri" panose="020F0502020204030204"/>
              </a:rPr>
              <a:t>op</a:t>
            </a:r>
            <a:endParaRPr spc="-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8826" y="541061"/>
            <a:ext cx="1798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M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SPro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p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方法是一种自适应梯度方法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0320" y="915321"/>
            <a:ext cx="2743200" cy="167640"/>
          </a:xfrm>
          <a:custGeom>
            <a:avLst/>
            <a:gdLst/>
            <a:ahLst/>
            <a:cxnLst/>
            <a:rect l="l" t="t" r="r" b="b"/>
            <a:pathLst>
              <a:path w="2743200" h="167640">
                <a:moveTo>
                  <a:pt x="0" y="0"/>
                </a:moveTo>
                <a:lnTo>
                  <a:pt x="2743200" y="0"/>
                </a:lnTo>
                <a:lnTo>
                  <a:pt x="2743200" y="167639"/>
                </a:lnTo>
                <a:lnTo>
                  <a:pt x="0" y="167639"/>
                </a:lnTo>
                <a:lnTo>
                  <a:pt x="0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0320" y="1082961"/>
            <a:ext cx="2743200" cy="2133600"/>
          </a:xfrm>
          <a:custGeom>
            <a:avLst/>
            <a:gdLst/>
            <a:ahLst/>
            <a:cxnLst/>
            <a:rect l="l" t="t" r="r" b="b"/>
            <a:pathLst>
              <a:path w="2743200" h="2133600">
                <a:moveTo>
                  <a:pt x="0" y="0"/>
                </a:moveTo>
                <a:lnTo>
                  <a:pt x="2743200" y="0"/>
                </a:lnTo>
                <a:lnTo>
                  <a:pt x="2743200" y="2133600"/>
                </a:lnTo>
                <a:lnTo>
                  <a:pt x="0" y="2133600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7272" y="1082961"/>
            <a:ext cx="1572895" cy="0"/>
          </a:xfrm>
          <a:custGeom>
            <a:avLst/>
            <a:gdLst/>
            <a:ahLst/>
            <a:cxnLst/>
            <a:rect l="l" t="t" r="r" b="b"/>
            <a:pathLst>
              <a:path w="1572895">
                <a:moveTo>
                  <a:pt x="0" y="0"/>
                </a:moveTo>
                <a:lnTo>
                  <a:pt x="1572768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320" y="912273"/>
            <a:ext cx="0" cy="2307590"/>
          </a:xfrm>
          <a:custGeom>
            <a:avLst/>
            <a:gdLst/>
            <a:ahLst/>
            <a:cxnLst/>
            <a:rect l="l" t="t" r="r" b="b"/>
            <a:pathLst>
              <a:path h="2307590">
                <a:moveTo>
                  <a:pt x="0" y="0"/>
                </a:moveTo>
                <a:lnTo>
                  <a:pt x="0" y="230733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23519" y="1436529"/>
            <a:ext cx="0" cy="1783080"/>
          </a:xfrm>
          <a:custGeom>
            <a:avLst/>
            <a:gdLst/>
            <a:ahLst/>
            <a:cxnLst/>
            <a:rect l="l" t="t" r="r" b="b"/>
            <a:pathLst>
              <a:path h="1783080">
                <a:moveTo>
                  <a:pt x="0" y="0"/>
                </a:moveTo>
                <a:lnTo>
                  <a:pt x="0" y="1783079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7272" y="915321"/>
            <a:ext cx="2750820" cy="0"/>
          </a:xfrm>
          <a:custGeom>
            <a:avLst/>
            <a:gdLst/>
            <a:ahLst/>
            <a:cxnLst/>
            <a:rect l="l" t="t" r="r" b="b"/>
            <a:pathLst>
              <a:path w="2750820">
                <a:moveTo>
                  <a:pt x="0" y="0"/>
                </a:moveTo>
                <a:lnTo>
                  <a:pt x="2750819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7272" y="3216561"/>
            <a:ext cx="2750820" cy="0"/>
          </a:xfrm>
          <a:custGeom>
            <a:avLst/>
            <a:gdLst/>
            <a:ahLst/>
            <a:cxnLst/>
            <a:rect l="l" t="t" r="r" b="b"/>
            <a:pathLst>
              <a:path w="2750820">
                <a:moveTo>
                  <a:pt x="0" y="0"/>
                </a:moveTo>
                <a:lnTo>
                  <a:pt x="2750819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13338" y="916300"/>
            <a:ext cx="4222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8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8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8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op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84964" y="1965357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6" y="0"/>
                </a:moveTo>
                <a:lnTo>
                  <a:pt x="509015" y="0"/>
                </a:lnTo>
                <a:lnTo>
                  <a:pt x="509015" y="4572"/>
                </a:lnTo>
                <a:lnTo>
                  <a:pt x="516636" y="4572"/>
                </a:lnTo>
                <a:lnTo>
                  <a:pt x="522732" y="10668"/>
                </a:lnTo>
                <a:lnTo>
                  <a:pt x="522732" y="32003"/>
                </a:lnTo>
                <a:lnTo>
                  <a:pt x="521208" y="36575"/>
                </a:lnTo>
                <a:lnTo>
                  <a:pt x="521208" y="44196"/>
                </a:lnTo>
                <a:lnTo>
                  <a:pt x="522732" y="47244"/>
                </a:lnTo>
                <a:lnTo>
                  <a:pt x="528827" y="53340"/>
                </a:lnTo>
                <a:lnTo>
                  <a:pt x="524256" y="57912"/>
                </a:lnTo>
                <a:lnTo>
                  <a:pt x="522732" y="60960"/>
                </a:lnTo>
                <a:lnTo>
                  <a:pt x="521208" y="62484"/>
                </a:lnTo>
                <a:lnTo>
                  <a:pt x="521208" y="70103"/>
                </a:lnTo>
                <a:lnTo>
                  <a:pt x="522732" y="74675"/>
                </a:lnTo>
                <a:lnTo>
                  <a:pt x="522732" y="96012"/>
                </a:lnTo>
                <a:lnTo>
                  <a:pt x="516636" y="102108"/>
                </a:lnTo>
                <a:lnTo>
                  <a:pt x="513588" y="103632"/>
                </a:lnTo>
                <a:lnTo>
                  <a:pt x="509015" y="103632"/>
                </a:lnTo>
                <a:lnTo>
                  <a:pt x="509015" y="106679"/>
                </a:lnTo>
                <a:lnTo>
                  <a:pt x="516636" y="106679"/>
                </a:lnTo>
                <a:lnTo>
                  <a:pt x="522732" y="105156"/>
                </a:lnTo>
                <a:lnTo>
                  <a:pt x="525780" y="100584"/>
                </a:lnTo>
                <a:lnTo>
                  <a:pt x="528827" y="97536"/>
                </a:lnTo>
                <a:lnTo>
                  <a:pt x="530351" y="91440"/>
                </a:lnTo>
                <a:lnTo>
                  <a:pt x="530351" y="76200"/>
                </a:lnTo>
                <a:lnTo>
                  <a:pt x="528827" y="71627"/>
                </a:lnTo>
                <a:lnTo>
                  <a:pt x="528827" y="59436"/>
                </a:lnTo>
                <a:lnTo>
                  <a:pt x="533400" y="54864"/>
                </a:lnTo>
                <a:lnTo>
                  <a:pt x="536448" y="54864"/>
                </a:lnTo>
                <a:lnTo>
                  <a:pt x="536448" y="51816"/>
                </a:lnTo>
                <a:lnTo>
                  <a:pt x="533400" y="51816"/>
                </a:lnTo>
                <a:lnTo>
                  <a:pt x="528827" y="47244"/>
                </a:lnTo>
                <a:lnTo>
                  <a:pt x="528827" y="35051"/>
                </a:lnTo>
                <a:lnTo>
                  <a:pt x="530351" y="32003"/>
                </a:lnTo>
                <a:lnTo>
                  <a:pt x="530351" y="16764"/>
                </a:lnTo>
                <a:lnTo>
                  <a:pt x="528827" y="10668"/>
                </a:lnTo>
                <a:lnTo>
                  <a:pt x="525780" y="6096"/>
                </a:lnTo>
                <a:lnTo>
                  <a:pt x="522732" y="3048"/>
                </a:lnTo>
                <a:lnTo>
                  <a:pt x="516636" y="0"/>
                </a:lnTo>
                <a:close/>
              </a:path>
              <a:path w="536575" h="106680">
                <a:moveTo>
                  <a:pt x="27431" y="0"/>
                </a:moveTo>
                <a:lnTo>
                  <a:pt x="19812" y="0"/>
                </a:lnTo>
                <a:lnTo>
                  <a:pt x="15240" y="3048"/>
                </a:lnTo>
                <a:lnTo>
                  <a:pt x="7619" y="10668"/>
                </a:lnTo>
                <a:lnTo>
                  <a:pt x="6096" y="16764"/>
                </a:lnTo>
                <a:lnTo>
                  <a:pt x="6096" y="32003"/>
                </a:lnTo>
                <a:lnTo>
                  <a:pt x="7619" y="35051"/>
                </a:lnTo>
                <a:lnTo>
                  <a:pt x="7619" y="39624"/>
                </a:lnTo>
                <a:lnTo>
                  <a:pt x="9143" y="41148"/>
                </a:lnTo>
                <a:lnTo>
                  <a:pt x="9143" y="45720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9143" y="60960"/>
                </a:lnTo>
                <a:lnTo>
                  <a:pt x="9143" y="65532"/>
                </a:lnTo>
                <a:lnTo>
                  <a:pt x="7619" y="68579"/>
                </a:lnTo>
                <a:lnTo>
                  <a:pt x="7619" y="71627"/>
                </a:lnTo>
                <a:lnTo>
                  <a:pt x="6096" y="76200"/>
                </a:lnTo>
                <a:lnTo>
                  <a:pt x="6096" y="91440"/>
                </a:lnTo>
                <a:lnTo>
                  <a:pt x="7619" y="97536"/>
                </a:lnTo>
                <a:lnTo>
                  <a:pt x="12192" y="100584"/>
                </a:lnTo>
                <a:lnTo>
                  <a:pt x="15240" y="105156"/>
                </a:lnTo>
                <a:lnTo>
                  <a:pt x="19812" y="106679"/>
                </a:lnTo>
                <a:lnTo>
                  <a:pt x="27431" y="106679"/>
                </a:lnTo>
                <a:lnTo>
                  <a:pt x="27431" y="103632"/>
                </a:lnTo>
                <a:lnTo>
                  <a:pt x="22860" y="103632"/>
                </a:lnTo>
                <a:lnTo>
                  <a:pt x="19812" y="102108"/>
                </a:lnTo>
                <a:lnTo>
                  <a:pt x="16763" y="99060"/>
                </a:lnTo>
                <a:lnTo>
                  <a:pt x="15240" y="96012"/>
                </a:lnTo>
                <a:lnTo>
                  <a:pt x="13716" y="91440"/>
                </a:lnTo>
                <a:lnTo>
                  <a:pt x="13716" y="77724"/>
                </a:lnTo>
                <a:lnTo>
                  <a:pt x="15240" y="74675"/>
                </a:lnTo>
                <a:lnTo>
                  <a:pt x="15240" y="60960"/>
                </a:lnTo>
                <a:lnTo>
                  <a:pt x="13716" y="57912"/>
                </a:lnTo>
                <a:lnTo>
                  <a:pt x="10668" y="54864"/>
                </a:lnTo>
                <a:lnTo>
                  <a:pt x="7619" y="53340"/>
                </a:lnTo>
                <a:lnTo>
                  <a:pt x="10668" y="51816"/>
                </a:lnTo>
                <a:lnTo>
                  <a:pt x="15240" y="47244"/>
                </a:lnTo>
                <a:lnTo>
                  <a:pt x="15240" y="32003"/>
                </a:lnTo>
                <a:lnTo>
                  <a:pt x="13716" y="28956"/>
                </a:lnTo>
                <a:lnTo>
                  <a:pt x="13716" y="15240"/>
                </a:lnTo>
                <a:lnTo>
                  <a:pt x="15240" y="10668"/>
                </a:lnTo>
                <a:lnTo>
                  <a:pt x="16763" y="7620"/>
                </a:lnTo>
                <a:lnTo>
                  <a:pt x="19812" y="4572"/>
                </a:lnTo>
                <a:lnTo>
                  <a:pt x="27431" y="4572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73356" y="1963833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9435" y="0"/>
                </a:moveTo>
                <a:lnTo>
                  <a:pt x="57911" y="3048"/>
                </a:lnTo>
                <a:lnTo>
                  <a:pt x="62483" y="4572"/>
                </a:lnTo>
                <a:lnTo>
                  <a:pt x="67056" y="7620"/>
                </a:lnTo>
                <a:lnTo>
                  <a:pt x="68580" y="12192"/>
                </a:lnTo>
                <a:lnTo>
                  <a:pt x="71628" y="16764"/>
                </a:lnTo>
                <a:lnTo>
                  <a:pt x="73152" y="22860"/>
                </a:lnTo>
                <a:lnTo>
                  <a:pt x="73152" y="36575"/>
                </a:lnTo>
                <a:lnTo>
                  <a:pt x="71628" y="42672"/>
                </a:lnTo>
                <a:lnTo>
                  <a:pt x="68580" y="47244"/>
                </a:lnTo>
                <a:lnTo>
                  <a:pt x="67056" y="51816"/>
                </a:lnTo>
                <a:lnTo>
                  <a:pt x="62483" y="54864"/>
                </a:lnTo>
                <a:lnTo>
                  <a:pt x="57911" y="56388"/>
                </a:lnTo>
                <a:lnTo>
                  <a:pt x="59435" y="59436"/>
                </a:lnTo>
                <a:lnTo>
                  <a:pt x="65531" y="57912"/>
                </a:lnTo>
                <a:lnTo>
                  <a:pt x="70104" y="54864"/>
                </a:lnTo>
                <a:lnTo>
                  <a:pt x="73152" y="48768"/>
                </a:lnTo>
                <a:lnTo>
                  <a:pt x="76199" y="44196"/>
                </a:lnTo>
                <a:lnTo>
                  <a:pt x="77723" y="38100"/>
                </a:lnTo>
                <a:lnTo>
                  <a:pt x="77723" y="22860"/>
                </a:lnTo>
                <a:lnTo>
                  <a:pt x="76199" y="15240"/>
                </a:lnTo>
                <a:lnTo>
                  <a:pt x="73152" y="10668"/>
                </a:lnTo>
                <a:lnTo>
                  <a:pt x="70104" y="4572"/>
                </a:lnTo>
                <a:lnTo>
                  <a:pt x="65531" y="1524"/>
                </a:lnTo>
                <a:lnTo>
                  <a:pt x="59435" y="0"/>
                </a:lnTo>
                <a:close/>
              </a:path>
              <a:path w="78105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6"/>
                </a:lnTo>
                <a:lnTo>
                  <a:pt x="4571" y="48768"/>
                </a:lnTo>
                <a:lnTo>
                  <a:pt x="7619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2" y="51816"/>
                </a:lnTo>
                <a:lnTo>
                  <a:pt x="6095" y="42672"/>
                </a:lnTo>
                <a:lnTo>
                  <a:pt x="6095" y="16764"/>
                </a:lnTo>
                <a:lnTo>
                  <a:pt x="12192" y="7620"/>
                </a:lnTo>
                <a:lnTo>
                  <a:pt x="15239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78156" y="1963833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89">
                <a:moveTo>
                  <a:pt x="83820" y="0"/>
                </a:moveTo>
                <a:lnTo>
                  <a:pt x="82296" y="3048"/>
                </a:lnTo>
                <a:lnTo>
                  <a:pt x="86868" y="4572"/>
                </a:lnTo>
                <a:lnTo>
                  <a:pt x="91440" y="7620"/>
                </a:lnTo>
                <a:lnTo>
                  <a:pt x="92964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2"/>
                </a:lnTo>
                <a:lnTo>
                  <a:pt x="92964" y="47244"/>
                </a:lnTo>
                <a:lnTo>
                  <a:pt x="91440" y="51816"/>
                </a:lnTo>
                <a:lnTo>
                  <a:pt x="86868" y="54864"/>
                </a:lnTo>
                <a:lnTo>
                  <a:pt x="82296" y="56388"/>
                </a:lnTo>
                <a:lnTo>
                  <a:pt x="83820" y="59436"/>
                </a:lnTo>
                <a:lnTo>
                  <a:pt x="89916" y="57912"/>
                </a:lnTo>
                <a:lnTo>
                  <a:pt x="94488" y="54864"/>
                </a:lnTo>
                <a:lnTo>
                  <a:pt x="97536" y="48768"/>
                </a:lnTo>
                <a:lnTo>
                  <a:pt x="100584" y="44196"/>
                </a:lnTo>
                <a:lnTo>
                  <a:pt x="102108" y="38100"/>
                </a:lnTo>
                <a:lnTo>
                  <a:pt x="102108" y="22860"/>
                </a:lnTo>
                <a:lnTo>
                  <a:pt x="100584" y="15240"/>
                </a:lnTo>
                <a:lnTo>
                  <a:pt x="97536" y="10668"/>
                </a:lnTo>
                <a:lnTo>
                  <a:pt x="94488" y="4572"/>
                </a:lnTo>
                <a:lnTo>
                  <a:pt x="89916" y="1524"/>
                </a:lnTo>
                <a:lnTo>
                  <a:pt x="83820" y="0"/>
                </a:lnTo>
                <a:close/>
              </a:path>
              <a:path w="102235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6"/>
                </a:lnTo>
                <a:lnTo>
                  <a:pt x="4572" y="48768"/>
                </a:lnTo>
                <a:lnTo>
                  <a:pt x="7620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6096" y="42672"/>
                </a:lnTo>
                <a:lnTo>
                  <a:pt x="6096" y="16764"/>
                </a:lnTo>
                <a:lnTo>
                  <a:pt x="12192" y="7620"/>
                </a:lnTo>
                <a:lnTo>
                  <a:pt x="15240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03508" y="2149761"/>
            <a:ext cx="535305" cy="106680"/>
          </a:xfrm>
          <a:custGeom>
            <a:avLst/>
            <a:gdLst/>
            <a:ahLst/>
            <a:cxnLst/>
            <a:rect l="l" t="t" r="r" b="b"/>
            <a:pathLst>
              <a:path w="535305" h="106680">
                <a:moveTo>
                  <a:pt x="515112" y="0"/>
                </a:moveTo>
                <a:lnTo>
                  <a:pt x="507492" y="0"/>
                </a:lnTo>
                <a:lnTo>
                  <a:pt x="507492" y="4572"/>
                </a:lnTo>
                <a:lnTo>
                  <a:pt x="515112" y="4572"/>
                </a:lnTo>
                <a:lnTo>
                  <a:pt x="521208" y="10668"/>
                </a:lnTo>
                <a:lnTo>
                  <a:pt x="521208" y="32004"/>
                </a:lnTo>
                <a:lnTo>
                  <a:pt x="519684" y="36575"/>
                </a:lnTo>
                <a:lnTo>
                  <a:pt x="519684" y="44196"/>
                </a:lnTo>
                <a:lnTo>
                  <a:pt x="521208" y="47244"/>
                </a:lnTo>
                <a:lnTo>
                  <a:pt x="527304" y="53340"/>
                </a:lnTo>
                <a:lnTo>
                  <a:pt x="522731" y="57912"/>
                </a:lnTo>
                <a:lnTo>
                  <a:pt x="521208" y="60960"/>
                </a:lnTo>
                <a:lnTo>
                  <a:pt x="519684" y="62484"/>
                </a:lnTo>
                <a:lnTo>
                  <a:pt x="519684" y="70104"/>
                </a:lnTo>
                <a:lnTo>
                  <a:pt x="521208" y="74675"/>
                </a:lnTo>
                <a:lnTo>
                  <a:pt x="521208" y="96012"/>
                </a:lnTo>
                <a:lnTo>
                  <a:pt x="515112" y="102108"/>
                </a:lnTo>
                <a:lnTo>
                  <a:pt x="512064" y="103632"/>
                </a:lnTo>
                <a:lnTo>
                  <a:pt x="507492" y="103632"/>
                </a:lnTo>
                <a:lnTo>
                  <a:pt x="507492" y="106680"/>
                </a:lnTo>
                <a:lnTo>
                  <a:pt x="515112" y="106680"/>
                </a:lnTo>
                <a:lnTo>
                  <a:pt x="521208" y="105156"/>
                </a:lnTo>
                <a:lnTo>
                  <a:pt x="524256" y="100584"/>
                </a:lnTo>
                <a:lnTo>
                  <a:pt x="527304" y="97536"/>
                </a:lnTo>
                <a:lnTo>
                  <a:pt x="528828" y="91440"/>
                </a:lnTo>
                <a:lnTo>
                  <a:pt x="528828" y="76200"/>
                </a:lnTo>
                <a:lnTo>
                  <a:pt x="527304" y="71628"/>
                </a:lnTo>
                <a:lnTo>
                  <a:pt x="527304" y="59436"/>
                </a:lnTo>
                <a:lnTo>
                  <a:pt x="531876" y="54864"/>
                </a:lnTo>
                <a:lnTo>
                  <a:pt x="534924" y="54864"/>
                </a:lnTo>
                <a:lnTo>
                  <a:pt x="534924" y="51816"/>
                </a:lnTo>
                <a:lnTo>
                  <a:pt x="531876" y="51816"/>
                </a:lnTo>
                <a:lnTo>
                  <a:pt x="527304" y="47244"/>
                </a:lnTo>
                <a:lnTo>
                  <a:pt x="527304" y="35052"/>
                </a:lnTo>
                <a:lnTo>
                  <a:pt x="528828" y="32004"/>
                </a:lnTo>
                <a:lnTo>
                  <a:pt x="528828" y="16764"/>
                </a:lnTo>
                <a:lnTo>
                  <a:pt x="527304" y="10668"/>
                </a:lnTo>
                <a:lnTo>
                  <a:pt x="524256" y="6096"/>
                </a:lnTo>
                <a:lnTo>
                  <a:pt x="521208" y="3048"/>
                </a:lnTo>
                <a:lnTo>
                  <a:pt x="515112" y="0"/>
                </a:lnTo>
                <a:close/>
              </a:path>
              <a:path w="535305" h="106680">
                <a:moveTo>
                  <a:pt x="27431" y="0"/>
                </a:moveTo>
                <a:lnTo>
                  <a:pt x="19812" y="0"/>
                </a:lnTo>
                <a:lnTo>
                  <a:pt x="15240" y="3048"/>
                </a:lnTo>
                <a:lnTo>
                  <a:pt x="7619" y="10668"/>
                </a:lnTo>
                <a:lnTo>
                  <a:pt x="6096" y="16764"/>
                </a:lnTo>
                <a:lnTo>
                  <a:pt x="6096" y="32004"/>
                </a:lnTo>
                <a:lnTo>
                  <a:pt x="7619" y="35052"/>
                </a:lnTo>
                <a:lnTo>
                  <a:pt x="7619" y="39624"/>
                </a:lnTo>
                <a:lnTo>
                  <a:pt x="9143" y="41148"/>
                </a:lnTo>
                <a:lnTo>
                  <a:pt x="9143" y="45720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9143" y="60960"/>
                </a:lnTo>
                <a:lnTo>
                  <a:pt x="9143" y="65532"/>
                </a:lnTo>
                <a:lnTo>
                  <a:pt x="7619" y="68580"/>
                </a:lnTo>
                <a:lnTo>
                  <a:pt x="7619" y="71628"/>
                </a:lnTo>
                <a:lnTo>
                  <a:pt x="6096" y="76200"/>
                </a:lnTo>
                <a:lnTo>
                  <a:pt x="6096" y="91440"/>
                </a:lnTo>
                <a:lnTo>
                  <a:pt x="7619" y="97536"/>
                </a:lnTo>
                <a:lnTo>
                  <a:pt x="12192" y="100584"/>
                </a:lnTo>
                <a:lnTo>
                  <a:pt x="15240" y="105156"/>
                </a:lnTo>
                <a:lnTo>
                  <a:pt x="19812" y="106680"/>
                </a:lnTo>
                <a:lnTo>
                  <a:pt x="27431" y="106680"/>
                </a:lnTo>
                <a:lnTo>
                  <a:pt x="27431" y="103632"/>
                </a:lnTo>
                <a:lnTo>
                  <a:pt x="22860" y="103632"/>
                </a:lnTo>
                <a:lnTo>
                  <a:pt x="19812" y="102108"/>
                </a:lnTo>
                <a:lnTo>
                  <a:pt x="16764" y="99060"/>
                </a:lnTo>
                <a:lnTo>
                  <a:pt x="15240" y="96012"/>
                </a:lnTo>
                <a:lnTo>
                  <a:pt x="13716" y="91440"/>
                </a:lnTo>
                <a:lnTo>
                  <a:pt x="13716" y="77724"/>
                </a:lnTo>
                <a:lnTo>
                  <a:pt x="15240" y="74675"/>
                </a:lnTo>
                <a:lnTo>
                  <a:pt x="15240" y="60960"/>
                </a:lnTo>
                <a:lnTo>
                  <a:pt x="13716" y="57912"/>
                </a:lnTo>
                <a:lnTo>
                  <a:pt x="10668" y="54864"/>
                </a:lnTo>
                <a:lnTo>
                  <a:pt x="7619" y="53340"/>
                </a:lnTo>
                <a:lnTo>
                  <a:pt x="10668" y="51816"/>
                </a:lnTo>
                <a:lnTo>
                  <a:pt x="15240" y="47244"/>
                </a:lnTo>
                <a:lnTo>
                  <a:pt x="15240" y="32004"/>
                </a:lnTo>
                <a:lnTo>
                  <a:pt x="13716" y="28956"/>
                </a:lnTo>
                <a:lnTo>
                  <a:pt x="13716" y="15240"/>
                </a:lnTo>
                <a:lnTo>
                  <a:pt x="15240" y="10668"/>
                </a:lnTo>
                <a:lnTo>
                  <a:pt x="16764" y="7620"/>
                </a:lnTo>
                <a:lnTo>
                  <a:pt x="19812" y="4572"/>
                </a:lnTo>
                <a:lnTo>
                  <a:pt x="27431" y="4572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87328" y="2148237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60960" y="0"/>
                </a:moveTo>
                <a:lnTo>
                  <a:pt x="59436" y="3048"/>
                </a:lnTo>
                <a:lnTo>
                  <a:pt x="64008" y="4572"/>
                </a:lnTo>
                <a:lnTo>
                  <a:pt x="68580" y="7620"/>
                </a:lnTo>
                <a:lnTo>
                  <a:pt x="70104" y="12192"/>
                </a:lnTo>
                <a:lnTo>
                  <a:pt x="73152" y="16764"/>
                </a:lnTo>
                <a:lnTo>
                  <a:pt x="74676" y="22860"/>
                </a:lnTo>
                <a:lnTo>
                  <a:pt x="74676" y="36576"/>
                </a:lnTo>
                <a:lnTo>
                  <a:pt x="73152" y="42672"/>
                </a:lnTo>
                <a:lnTo>
                  <a:pt x="70104" y="47244"/>
                </a:lnTo>
                <a:lnTo>
                  <a:pt x="68580" y="51816"/>
                </a:lnTo>
                <a:lnTo>
                  <a:pt x="64008" y="54864"/>
                </a:lnTo>
                <a:lnTo>
                  <a:pt x="59436" y="56388"/>
                </a:lnTo>
                <a:lnTo>
                  <a:pt x="60960" y="59436"/>
                </a:lnTo>
                <a:lnTo>
                  <a:pt x="67056" y="57912"/>
                </a:lnTo>
                <a:lnTo>
                  <a:pt x="71628" y="54864"/>
                </a:lnTo>
                <a:lnTo>
                  <a:pt x="74676" y="48768"/>
                </a:lnTo>
                <a:lnTo>
                  <a:pt x="77724" y="44196"/>
                </a:lnTo>
                <a:lnTo>
                  <a:pt x="79248" y="38100"/>
                </a:lnTo>
                <a:lnTo>
                  <a:pt x="79248" y="22860"/>
                </a:lnTo>
                <a:lnTo>
                  <a:pt x="77724" y="15240"/>
                </a:lnTo>
                <a:lnTo>
                  <a:pt x="74676" y="10668"/>
                </a:lnTo>
                <a:lnTo>
                  <a:pt x="71628" y="4572"/>
                </a:lnTo>
                <a:lnTo>
                  <a:pt x="67056" y="1524"/>
                </a:lnTo>
                <a:lnTo>
                  <a:pt x="60960" y="0"/>
                </a:lnTo>
                <a:close/>
              </a:path>
              <a:path w="79375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6"/>
                </a:lnTo>
                <a:lnTo>
                  <a:pt x="4572" y="48768"/>
                </a:lnTo>
                <a:lnTo>
                  <a:pt x="7620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6096" y="42672"/>
                </a:lnTo>
                <a:lnTo>
                  <a:pt x="6096" y="16764"/>
                </a:lnTo>
                <a:lnTo>
                  <a:pt x="12192" y="7620"/>
                </a:lnTo>
                <a:lnTo>
                  <a:pt x="15240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93651" y="2148237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5343" y="0"/>
                </a:moveTo>
                <a:lnTo>
                  <a:pt x="83820" y="3048"/>
                </a:lnTo>
                <a:lnTo>
                  <a:pt x="88392" y="4572"/>
                </a:lnTo>
                <a:lnTo>
                  <a:pt x="92964" y="7620"/>
                </a:lnTo>
                <a:lnTo>
                  <a:pt x="94487" y="12192"/>
                </a:lnTo>
                <a:lnTo>
                  <a:pt x="97536" y="16764"/>
                </a:lnTo>
                <a:lnTo>
                  <a:pt x="99060" y="22860"/>
                </a:lnTo>
                <a:lnTo>
                  <a:pt x="99060" y="36576"/>
                </a:lnTo>
                <a:lnTo>
                  <a:pt x="97536" y="42672"/>
                </a:lnTo>
                <a:lnTo>
                  <a:pt x="94487" y="47244"/>
                </a:lnTo>
                <a:lnTo>
                  <a:pt x="92964" y="51816"/>
                </a:lnTo>
                <a:lnTo>
                  <a:pt x="88392" y="54864"/>
                </a:lnTo>
                <a:lnTo>
                  <a:pt x="83820" y="56388"/>
                </a:lnTo>
                <a:lnTo>
                  <a:pt x="85343" y="59436"/>
                </a:lnTo>
                <a:lnTo>
                  <a:pt x="91440" y="57912"/>
                </a:lnTo>
                <a:lnTo>
                  <a:pt x="96012" y="54864"/>
                </a:lnTo>
                <a:lnTo>
                  <a:pt x="99060" y="48768"/>
                </a:lnTo>
                <a:lnTo>
                  <a:pt x="102108" y="44196"/>
                </a:lnTo>
                <a:lnTo>
                  <a:pt x="103631" y="38100"/>
                </a:lnTo>
                <a:lnTo>
                  <a:pt x="103631" y="22860"/>
                </a:lnTo>
                <a:lnTo>
                  <a:pt x="102108" y="15240"/>
                </a:lnTo>
                <a:lnTo>
                  <a:pt x="99060" y="10668"/>
                </a:lnTo>
                <a:lnTo>
                  <a:pt x="96012" y="4572"/>
                </a:lnTo>
                <a:lnTo>
                  <a:pt x="91440" y="1524"/>
                </a:lnTo>
                <a:lnTo>
                  <a:pt x="85343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0" y="22860"/>
                </a:lnTo>
                <a:lnTo>
                  <a:pt x="0" y="38100"/>
                </a:lnTo>
                <a:lnTo>
                  <a:pt x="1524" y="44196"/>
                </a:lnTo>
                <a:lnTo>
                  <a:pt x="4572" y="48768"/>
                </a:lnTo>
                <a:lnTo>
                  <a:pt x="7620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6096" y="42672"/>
                </a:lnTo>
                <a:lnTo>
                  <a:pt x="6096" y="16764"/>
                </a:lnTo>
                <a:lnTo>
                  <a:pt x="12192" y="7620"/>
                </a:lnTo>
                <a:lnTo>
                  <a:pt x="15240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13306" y="1391248"/>
            <a:ext cx="266065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045" marR="5080" indent="-220980">
              <a:lnSpc>
                <a:spcPct val="150000"/>
              </a:lnSpc>
              <a:spcBef>
                <a:spcPts val="10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小常数</a:t>
            </a:r>
            <a:r>
              <a:rPr sz="700" i="1" spc="1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z="700" spc="1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用于被小数除时的数值稳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。（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常设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750" i="1" spc="67" baseline="28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700" spc="45" dirty="0">
                <a:latin typeface="黑体" panose="02010609060101010101" charset="-122"/>
                <a:cs typeface="黑体" panose="02010609060101010101" charset="-122"/>
              </a:rPr>
              <a:t>）  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始化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积变量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41300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381000">
              <a:lnSpc>
                <a:spcPct val="100000"/>
              </a:lnSpc>
              <a:spcBef>
                <a:spcPts val="55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7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从训练集中采样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批量大小）个样本</a:t>
            </a:r>
            <a:r>
              <a:rPr sz="700" spc="-1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9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551815">
              <a:lnSpc>
                <a:spcPct val="100000"/>
              </a:lnSpc>
              <a:spcBef>
                <a:spcPts val="61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94008" y="2407317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60" h="6350">
                <a:moveTo>
                  <a:pt x="0" y="0"/>
                </a:moveTo>
                <a:lnTo>
                  <a:pt x="60960" y="0"/>
                </a:lnTo>
                <a:lnTo>
                  <a:pt x="60960" y="6096"/>
                </a:lnTo>
                <a:lnTo>
                  <a:pt x="0" y="60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581289" y="2376344"/>
            <a:ext cx="18923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35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33504" y="2355501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0291" y="4572"/>
                </a:lnTo>
                <a:lnTo>
                  <a:pt x="54863" y="7620"/>
                </a:lnTo>
                <a:lnTo>
                  <a:pt x="56387" y="12192"/>
                </a:lnTo>
                <a:lnTo>
                  <a:pt x="59435" y="16764"/>
                </a:lnTo>
                <a:lnTo>
                  <a:pt x="60959" y="22859"/>
                </a:lnTo>
                <a:lnTo>
                  <a:pt x="60959" y="36575"/>
                </a:lnTo>
                <a:lnTo>
                  <a:pt x="59435" y="42672"/>
                </a:lnTo>
                <a:lnTo>
                  <a:pt x="56387" y="47244"/>
                </a:lnTo>
                <a:lnTo>
                  <a:pt x="54863" y="51816"/>
                </a:lnTo>
                <a:lnTo>
                  <a:pt x="50291" y="54864"/>
                </a:lnTo>
                <a:lnTo>
                  <a:pt x="45719" y="56388"/>
                </a:lnTo>
                <a:lnTo>
                  <a:pt x="47243" y="59435"/>
                </a:lnTo>
                <a:lnTo>
                  <a:pt x="53339" y="57912"/>
                </a:lnTo>
                <a:lnTo>
                  <a:pt x="57912" y="54864"/>
                </a:lnTo>
                <a:lnTo>
                  <a:pt x="60959" y="48768"/>
                </a:lnTo>
                <a:lnTo>
                  <a:pt x="64007" y="44196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5240"/>
                </a:lnTo>
                <a:lnTo>
                  <a:pt x="60959" y="10668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0" y="22859"/>
                </a:lnTo>
                <a:lnTo>
                  <a:pt x="0" y="38100"/>
                </a:lnTo>
                <a:lnTo>
                  <a:pt x="1523" y="44196"/>
                </a:lnTo>
                <a:lnTo>
                  <a:pt x="4571" y="48768"/>
                </a:lnTo>
                <a:lnTo>
                  <a:pt x="7619" y="54864"/>
                </a:lnTo>
                <a:lnTo>
                  <a:pt x="13715" y="57912"/>
                </a:lnTo>
                <a:lnTo>
                  <a:pt x="19812" y="59435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6095" y="42672"/>
                </a:lnTo>
                <a:lnTo>
                  <a:pt x="6095" y="16764"/>
                </a:lnTo>
                <a:lnTo>
                  <a:pt x="12191" y="7620"/>
                </a:lnTo>
                <a:lnTo>
                  <a:pt x="15239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426111" y="2355501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0292" y="4572"/>
                </a:lnTo>
                <a:lnTo>
                  <a:pt x="54863" y="7620"/>
                </a:lnTo>
                <a:lnTo>
                  <a:pt x="56387" y="12192"/>
                </a:lnTo>
                <a:lnTo>
                  <a:pt x="59436" y="16764"/>
                </a:lnTo>
                <a:lnTo>
                  <a:pt x="60960" y="22859"/>
                </a:lnTo>
                <a:lnTo>
                  <a:pt x="60960" y="36575"/>
                </a:lnTo>
                <a:lnTo>
                  <a:pt x="59436" y="42672"/>
                </a:lnTo>
                <a:lnTo>
                  <a:pt x="56387" y="47244"/>
                </a:lnTo>
                <a:lnTo>
                  <a:pt x="54863" y="51816"/>
                </a:lnTo>
                <a:lnTo>
                  <a:pt x="50292" y="54864"/>
                </a:lnTo>
                <a:lnTo>
                  <a:pt x="45719" y="56388"/>
                </a:lnTo>
                <a:lnTo>
                  <a:pt x="47243" y="59435"/>
                </a:lnTo>
                <a:lnTo>
                  <a:pt x="53339" y="57912"/>
                </a:lnTo>
                <a:lnTo>
                  <a:pt x="57912" y="54864"/>
                </a:lnTo>
                <a:lnTo>
                  <a:pt x="60960" y="48768"/>
                </a:lnTo>
                <a:lnTo>
                  <a:pt x="64007" y="44196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5240"/>
                </a:lnTo>
                <a:lnTo>
                  <a:pt x="60960" y="10668"/>
                </a:lnTo>
                <a:lnTo>
                  <a:pt x="57912" y="4572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0" y="22859"/>
                </a:lnTo>
                <a:lnTo>
                  <a:pt x="0" y="38100"/>
                </a:lnTo>
                <a:lnTo>
                  <a:pt x="1524" y="44196"/>
                </a:lnTo>
                <a:lnTo>
                  <a:pt x="4571" y="48768"/>
                </a:lnTo>
                <a:lnTo>
                  <a:pt x="7619" y="54864"/>
                </a:lnTo>
                <a:lnTo>
                  <a:pt x="13715" y="57912"/>
                </a:lnTo>
                <a:lnTo>
                  <a:pt x="19812" y="59435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2" y="51816"/>
                </a:lnTo>
                <a:lnTo>
                  <a:pt x="6095" y="42672"/>
                </a:lnTo>
                <a:lnTo>
                  <a:pt x="6095" y="16764"/>
                </a:lnTo>
                <a:lnTo>
                  <a:pt x="12192" y="7620"/>
                </a:lnTo>
                <a:lnTo>
                  <a:pt x="15239" y="4572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82166" y="2333684"/>
            <a:ext cx="187261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" algn="l"/>
              </a:tabLst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	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计算梯度</a:t>
            </a:r>
            <a:r>
              <a:rPr sz="7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6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1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θ),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2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63244" y="2396122"/>
            <a:ext cx="482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61292" y="2553621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39" y="6096"/>
                </a:lnTo>
                <a:lnTo>
                  <a:pt x="248412" y="9144"/>
                </a:lnTo>
                <a:lnTo>
                  <a:pt x="251459" y="16763"/>
                </a:lnTo>
                <a:lnTo>
                  <a:pt x="254507" y="22859"/>
                </a:lnTo>
                <a:lnTo>
                  <a:pt x="257556" y="30479"/>
                </a:lnTo>
                <a:lnTo>
                  <a:pt x="248412" y="71627"/>
                </a:lnTo>
                <a:lnTo>
                  <a:pt x="237744" y="77724"/>
                </a:lnTo>
                <a:lnTo>
                  <a:pt x="237744" y="82296"/>
                </a:lnTo>
                <a:lnTo>
                  <a:pt x="263342" y="48625"/>
                </a:lnTo>
                <a:lnTo>
                  <a:pt x="263651" y="41148"/>
                </a:lnTo>
                <a:lnTo>
                  <a:pt x="263342" y="33432"/>
                </a:lnTo>
                <a:lnTo>
                  <a:pt x="246887" y="1524"/>
                </a:lnTo>
                <a:lnTo>
                  <a:pt x="237744" y="0"/>
                </a:lnTo>
                <a:close/>
              </a:path>
              <a:path w="264160" h="82550">
                <a:moveTo>
                  <a:pt x="25907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625"/>
                </a:lnTo>
                <a:lnTo>
                  <a:pt x="25907" y="82296"/>
                </a:lnTo>
                <a:lnTo>
                  <a:pt x="25907" y="77724"/>
                </a:lnTo>
                <a:lnTo>
                  <a:pt x="19812" y="76200"/>
                </a:lnTo>
                <a:lnTo>
                  <a:pt x="15239" y="71627"/>
                </a:lnTo>
                <a:lnTo>
                  <a:pt x="6095" y="30479"/>
                </a:lnTo>
                <a:lnTo>
                  <a:pt x="9143" y="22859"/>
                </a:lnTo>
                <a:lnTo>
                  <a:pt x="12191" y="16763"/>
                </a:lnTo>
                <a:lnTo>
                  <a:pt x="15239" y="9144"/>
                </a:lnTo>
                <a:lnTo>
                  <a:pt x="19812" y="6096"/>
                </a:lnTo>
                <a:lnTo>
                  <a:pt x="25907" y="3048"/>
                </a:lnTo>
                <a:lnTo>
                  <a:pt x="259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01272" y="2808129"/>
            <a:ext cx="78105" cy="62865"/>
          </a:xfrm>
          <a:custGeom>
            <a:avLst/>
            <a:gdLst/>
            <a:ahLst/>
            <a:cxnLst/>
            <a:rect l="l" t="t" r="r" b="b"/>
            <a:pathLst>
              <a:path w="78105" h="62864">
                <a:moveTo>
                  <a:pt x="12668" y="33527"/>
                </a:moveTo>
                <a:lnTo>
                  <a:pt x="6095" y="33527"/>
                </a:lnTo>
                <a:lnTo>
                  <a:pt x="19811" y="62484"/>
                </a:lnTo>
                <a:lnTo>
                  <a:pt x="22859" y="62484"/>
                </a:lnTo>
                <a:lnTo>
                  <a:pt x="25506" y="53340"/>
                </a:lnTo>
                <a:lnTo>
                  <a:pt x="21335" y="53340"/>
                </a:lnTo>
                <a:lnTo>
                  <a:pt x="12668" y="33527"/>
                </a:lnTo>
                <a:close/>
              </a:path>
              <a:path w="78105" h="62864">
                <a:moveTo>
                  <a:pt x="77723" y="0"/>
                </a:moveTo>
                <a:lnTo>
                  <a:pt x="36575" y="0"/>
                </a:lnTo>
                <a:lnTo>
                  <a:pt x="21335" y="53340"/>
                </a:lnTo>
                <a:lnTo>
                  <a:pt x="25506" y="53340"/>
                </a:lnTo>
                <a:lnTo>
                  <a:pt x="39623" y="4572"/>
                </a:lnTo>
                <a:lnTo>
                  <a:pt x="77723" y="4572"/>
                </a:lnTo>
                <a:lnTo>
                  <a:pt x="77723" y="0"/>
                </a:lnTo>
                <a:close/>
              </a:path>
              <a:path w="78105" h="62864">
                <a:moveTo>
                  <a:pt x="10667" y="28955"/>
                </a:moveTo>
                <a:lnTo>
                  <a:pt x="0" y="33527"/>
                </a:lnTo>
                <a:lnTo>
                  <a:pt x="1523" y="36575"/>
                </a:lnTo>
                <a:lnTo>
                  <a:pt x="6095" y="33527"/>
                </a:lnTo>
                <a:lnTo>
                  <a:pt x="12668" y="33527"/>
                </a:lnTo>
                <a:lnTo>
                  <a:pt x="10667" y="289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99748" y="2789841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639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97256" y="915321"/>
            <a:ext cx="2743200" cy="152400"/>
          </a:xfrm>
          <a:custGeom>
            <a:avLst/>
            <a:gdLst/>
            <a:ahLst/>
            <a:cxnLst/>
            <a:rect l="l" t="t" r="r" b="b"/>
            <a:pathLst>
              <a:path w="2743200" h="152400">
                <a:moveTo>
                  <a:pt x="0" y="0"/>
                </a:moveTo>
                <a:lnTo>
                  <a:pt x="2743200" y="0"/>
                </a:lnTo>
                <a:lnTo>
                  <a:pt x="27432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97256" y="1067721"/>
            <a:ext cx="2743200" cy="1559560"/>
          </a:xfrm>
          <a:custGeom>
            <a:avLst/>
            <a:gdLst/>
            <a:ahLst/>
            <a:cxnLst/>
            <a:rect l="l" t="t" r="r" b="b"/>
            <a:pathLst>
              <a:path w="2743200" h="1559560">
                <a:moveTo>
                  <a:pt x="0" y="0"/>
                </a:moveTo>
                <a:lnTo>
                  <a:pt x="2743200" y="0"/>
                </a:lnTo>
                <a:lnTo>
                  <a:pt x="2743200" y="1559052"/>
                </a:lnTo>
                <a:lnTo>
                  <a:pt x="0" y="1559052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94207" y="1058577"/>
            <a:ext cx="2749550" cy="18415"/>
          </a:xfrm>
          <a:custGeom>
            <a:avLst/>
            <a:gdLst/>
            <a:ahLst/>
            <a:cxnLst/>
            <a:rect l="l" t="t" r="r" b="b"/>
            <a:pathLst>
              <a:path w="2749550" h="18415">
                <a:moveTo>
                  <a:pt x="0" y="0"/>
                </a:moveTo>
                <a:lnTo>
                  <a:pt x="2749295" y="0"/>
                </a:lnTo>
                <a:lnTo>
                  <a:pt x="2749295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97256" y="912273"/>
            <a:ext cx="0" cy="1717675"/>
          </a:xfrm>
          <a:custGeom>
            <a:avLst/>
            <a:gdLst/>
            <a:ahLst/>
            <a:cxnLst/>
            <a:rect l="l" t="t" r="r" b="b"/>
            <a:pathLst>
              <a:path h="1717675">
                <a:moveTo>
                  <a:pt x="0" y="0"/>
                </a:moveTo>
                <a:lnTo>
                  <a:pt x="0" y="1717547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940456" y="912273"/>
            <a:ext cx="0" cy="1717675"/>
          </a:xfrm>
          <a:custGeom>
            <a:avLst/>
            <a:gdLst/>
            <a:ahLst/>
            <a:cxnLst/>
            <a:rect l="l" t="t" r="r" b="b"/>
            <a:pathLst>
              <a:path h="1717675">
                <a:moveTo>
                  <a:pt x="0" y="0"/>
                </a:moveTo>
                <a:lnTo>
                  <a:pt x="0" y="1717547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94207" y="915321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194207" y="2626772"/>
            <a:ext cx="2749550" cy="0"/>
          </a:xfrm>
          <a:custGeom>
            <a:avLst/>
            <a:gdLst/>
            <a:ahLst/>
            <a:cxnLst/>
            <a:rect l="l" t="t" r="r" b="b"/>
            <a:pathLst>
              <a:path w="2749550">
                <a:moveTo>
                  <a:pt x="0" y="0"/>
                </a:moveTo>
                <a:lnTo>
                  <a:pt x="2749295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228739" y="927014"/>
            <a:ext cx="825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批量</a:t>
            </a:r>
            <a:r>
              <a:rPr sz="700" b="1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度下</a:t>
            </a:r>
            <a:r>
              <a:rPr sz="700" b="1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28739" y="1054475"/>
            <a:ext cx="1313180" cy="50545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700" spc="-15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15" dirty="0">
                <a:latin typeface="Cambria Math" panose="02040503050406030204"/>
                <a:cs typeface="Cambria Math" panose="02040503050406030204"/>
              </a:rPr>
              <a:t>c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z="7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700" spc="-15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40665"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z="7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停止标准未满足</a:t>
            </a:r>
            <a:r>
              <a:rPr sz="700" spc="-16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do</a:t>
            </a:r>
            <a:r>
              <a:rPr sz="7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283611" y="1628553"/>
            <a:ext cx="538480" cy="106680"/>
          </a:xfrm>
          <a:custGeom>
            <a:avLst/>
            <a:gdLst/>
            <a:ahLst/>
            <a:cxnLst/>
            <a:rect l="l" t="t" r="r" b="b"/>
            <a:pathLst>
              <a:path w="538479" h="106680">
                <a:moveTo>
                  <a:pt x="518160" y="0"/>
                </a:moveTo>
                <a:lnTo>
                  <a:pt x="510539" y="0"/>
                </a:lnTo>
                <a:lnTo>
                  <a:pt x="510539" y="4572"/>
                </a:lnTo>
                <a:lnTo>
                  <a:pt x="518160" y="4572"/>
                </a:lnTo>
                <a:lnTo>
                  <a:pt x="519684" y="7620"/>
                </a:lnTo>
                <a:lnTo>
                  <a:pt x="522732" y="10668"/>
                </a:lnTo>
                <a:lnTo>
                  <a:pt x="524256" y="15240"/>
                </a:lnTo>
                <a:lnTo>
                  <a:pt x="524256" y="25907"/>
                </a:lnTo>
                <a:lnTo>
                  <a:pt x="522732" y="28955"/>
                </a:lnTo>
                <a:lnTo>
                  <a:pt x="522732" y="47244"/>
                </a:lnTo>
                <a:lnTo>
                  <a:pt x="528828" y="53340"/>
                </a:lnTo>
                <a:lnTo>
                  <a:pt x="524256" y="57912"/>
                </a:lnTo>
                <a:lnTo>
                  <a:pt x="522732" y="60960"/>
                </a:lnTo>
                <a:lnTo>
                  <a:pt x="522732" y="77724"/>
                </a:lnTo>
                <a:lnTo>
                  <a:pt x="524256" y="80772"/>
                </a:lnTo>
                <a:lnTo>
                  <a:pt x="524256" y="91440"/>
                </a:lnTo>
                <a:lnTo>
                  <a:pt x="522732" y="96012"/>
                </a:lnTo>
                <a:lnTo>
                  <a:pt x="519684" y="99060"/>
                </a:lnTo>
                <a:lnTo>
                  <a:pt x="518160" y="102107"/>
                </a:lnTo>
                <a:lnTo>
                  <a:pt x="515112" y="103631"/>
                </a:lnTo>
                <a:lnTo>
                  <a:pt x="510539" y="103631"/>
                </a:lnTo>
                <a:lnTo>
                  <a:pt x="510539" y="106679"/>
                </a:lnTo>
                <a:lnTo>
                  <a:pt x="518160" y="106679"/>
                </a:lnTo>
                <a:lnTo>
                  <a:pt x="522732" y="105155"/>
                </a:lnTo>
                <a:lnTo>
                  <a:pt x="525780" y="100583"/>
                </a:lnTo>
                <a:lnTo>
                  <a:pt x="528828" y="97536"/>
                </a:lnTo>
                <a:lnTo>
                  <a:pt x="530352" y="91440"/>
                </a:lnTo>
                <a:lnTo>
                  <a:pt x="530352" y="71627"/>
                </a:lnTo>
                <a:lnTo>
                  <a:pt x="528828" y="68579"/>
                </a:lnTo>
                <a:lnTo>
                  <a:pt x="528828" y="60960"/>
                </a:lnTo>
                <a:lnTo>
                  <a:pt x="531876" y="57912"/>
                </a:lnTo>
                <a:lnTo>
                  <a:pt x="531876" y="56388"/>
                </a:lnTo>
                <a:lnTo>
                  <a:pt x="534923" y="54864"/>
                </a:lnTo>
                <a:lnTo>
                  <a:pt x="537971" y="54864"/>
                </a:lnTo>
                <a:lnTo>
                  <a:pt x="537971" y="51816"/>
                </a:lnTo>
                <a:lnTo>
                  <a:pt x="534923" y="51816"/>
                </a:lnTo>
                <a:lnTo>
                  <a:pt x="531876" y="50292"/>
                </a:lnTo>
                <a:lnTo>
                  <a:pt x="531876" y="48768"/>
                </a:lnTo>
                <a:lnTo>
                  <a:pt x="528828" y="45720"/>
                </a:lnTo>
                <a:lnTo>
                  <a:pt x="528828" y="39624"/>
                </a:lnTo>
                <a:lnTo>
                  <a:pt x="530352" y="35051"/>
                </a:lnTo>
                <a:lnTo>
                  <a:pt x="530352" y="16764"/>
                </a:lnTo>
                <a:lnTo>
                  <a:pt x="528828" y="10668"/>
                </a:lnTo>
                <a:lnTo>
                  <a:pt x="525780" y="6096"/>
                </a:lnTo>
                <a:lnTo>
                  <a:pt x="522732" y="3048"/>
                </a:lnTo>
                <a:lnTo>
                  <a:pt x="518160" y="0"/>
                </a:lnTo>
                <a:close/>
              </a:path>
              <a:path w="538479" h="106680">
                <a:moveTo>
                  <a:pt x="28955" y="0"/>
                </a:moveTo>
                <a:lnTo>
                  <a:pt x="19812" y="0"/>
                </a:lnTo>
                <a:lnTo>
                  <a:pt x="15239" y="3048"/>
                </a:lnTo>
                <a:lnTo>
                  <a:pt x="12191" y="6096"/>
                </a:lnTo>
                <a:lnTo>
                  <a:pt x="9143" y="10668"/>
                </a:lnTo>
                <a:lnTo>
                  <a:pt x="7620" y="16764"/>
                </a:lnTo>
                <a:lnTo>
                  <a:pt x="7620" y="35051"/>
                </a:lnTo>
                <a:lnTo>
                  <a:pt x="9143" y="39624"/>
                </a:lnTo>
                <a:lnTo>
                  <a:pt x="9143" y="45720"/>
                </a:lnTo>
                <a:lnTo>
                  <a:pt x="7620" y="47244"/>
                </a:lnTo>
                <a:lnTo>
                  <a:pt x="7620" y="48768"/>
                </a:lnTo>
                <a:lnTo>
                  <a:pt x="6096" y="50292"/>
                </a:lnTo>
                <a:lnTo>
                  <a:pt x="3048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8" y="54864"/>
                </a:lnTo>
                <a:lnTo>
                  <a:pt x="6096" y="56388"/>
                </a:lnTo>
                <a:lnTo>
                  <a:pt x="7620" y="57912"/>
                </a:lnTo>
                <a:lnTo>
                  <a:pt x="7620" y="59436"/>
                </a:lnTo>
                <a:lnTo>
                  <a:pt x="9143" y="60960"/>
                </a:lnTo>
                <a:lnTo>
                  <a:pt x="9143" y="68579"/>
                </a:lnTo>
                <a:lnTo>
                  <a:pt x="7620" y="71627"/>
                </a:lnTo>
                <a:lnTo>
                  <a:pt x="7620" y="91440"/>
                </a:lnTo>
                <a:lnTo>
                  <a:pt x="9143" y="97536"/>
                </a:lnTo>
                <a:lnTo>
                  <a:pt x="12191" y="100583"/>
                </a:lnTo>
                <a:lnTo>
                  <a:pt x="15239" y="105155"/>
                </a:lnTo>
                <a:lnTo>
                  <a:pt x="19812" y="106679"/>
                </a:lnTo>
                <a:lnTo>
                  <a:pt x="28955" y="106679"/>
                </a:lnTo>
                <a:lnTo>
                  <a:pt x="28955" y="103631"/>
                </a:lnTo>
                <a:lnTo>
                  <a:pt x="22860" y="103631"/>
                </a:lnTo>
                <a:lnTo>
                  <a:pt x="19812" y="102107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70103"/>
                </a:lnTo>
                <a:lnTo>
                  <a:pt x="16763" y="68579"/>
                </a:lnTo>
                <a:lnTo>
                  <a:pt x="16763" y="62483"/>
                </a:lnTo>
                <a:lnTo>
                  <a:pt x="15239" y="60960"/>
                </a:lnTo>
                <a:lnTo>
                  <a:pt x="13715" y="57912"/>
                </a:lnTo>
                <a:lnTo>
                  <a:pt x="9143" y="53340"/>
                </a:lnTo>
                <a:lnTo>
                  <a:pt x="15239" y="47244"/>
                </a:lnTo>
                <a:lnTo>
                  <a:pt x="16763" y="44196"/>
                </a:lnTo>
                <a:lnTo>
                  <a:pt x="16763" y="39624"/>
                </a:lnTo>
                <a:lnTo>
                  <a:pt x="15239" y="36575"/>
                </a:lnTo>
                <a:lnTo>
                  <a:pt x="15239" y="28955"/>
                </a:lnTo>
                <a:lnTo>
                  <a:pt x="13715" y="25907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8955" y="4572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372003" y="1627029"/>
            <a:ext cx="79375" cy="59690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59436" y="0"/>
                </a:moveTo>
                <a:lnTo>
                  <a:pt x="59436" y="3048"/>
                </a:lnTo>
                <a:lnTo>
                  <a:pt x="64008" y="4572"/>
                </a:lnTo>
                <a:lnTo>
                  <a:pt x="67056" y="7620"/>
                </a:lnTo>
                <a:lnTo>
                  <a:pt x="70104" y="12192"/>
                </a:lnTo>
                <a:lnTo>
                  <a:pt x="71628" y="16764"/>
                </a:lnTo>
                <a:lnTo>
                  <a:pt x="73151" y="22860"/>
                </a:lnTo>
                <a:lnTo>
                  <a:pt x="73151" y="36575"/>
                </a:lnTo>
                <a:lnTo>
                  <a:pt x="59436" y="56388"/>
                </a:lnTo>
                <a:lnTo>
                  <a:pt x="59436" y="59436"/>
                </a:lnTo>
                <a:lnTo>
                  <a:pt x="65532" y="57912"/>
                </a:lnTo>
                <a:lnTo>
                  <a:pt x="70104" y="54864"/>
                </a:lnTo>
                <a:lnTo>
                  <a:pt x="73151" y="48768"/>
                </a:lnTo>
                <a:lnTo>
                  <a:pt x="76200" y="44196"/>
                </a:lnTo>
                <a:lnTo>
                  <a:pt x="79248" y="38100"/>
                </a:lnTo>
                <a:lnTo>
                  <a:pt x="79248" y="22860"/>
                </a:lnTo>
                <a:lnTo>
                  <a:pt x="76200" y="15240"/>
                </a:lnTo>
                <a:lnTo>
                  <a:pt x="73151" y="10668"/>
                </a:lnTo>
                <a:lnTo>
                  <a:pt x="70104" y="4572"/>
                </a:lnTo>
                <a:lnTo>
                  <a:pt x="65532" y="1524"/>
                </a:lnTo>
                <a:lnTo>
                  <a:pt x="59436" y="0"/>
                </a:lnTo>
                <a:close/>
              </a:path>
              <a:path w="79375" h="59689">
                <a:moveTo>
                  <a:pt x="19812" y="0"/>
                </a:moveTo>
                <a:lnTo>
                  <a:pt x="13716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676803" y="1627029"/>
            <a:ext cx="104139" cy="59690"/>
          </a:xfrm>
          <a:custGeom>
            <a:avLst/>
            <a:gdLst/>
            <a:ahLst/>
            <a:cxnLst/>
            <a:rect l="l" t="t" r="r" b="b"/>
            <a:pathLst>
              <a:path w="104139" h="59689">
                <a:moveTo>
                  <a:pt x="83820" y="0"/>
                </a:moveTo>
                <a:lnTo>
                  <a:pt x="83820" y="3048"/>
                </a:lnTo>
                <a:lnTo>
                  <a:pt x="88392" y="4572"/>
                </a:lnTo>
                <a:lnTo>
                  <a:pt x="91440" y="7620"/>
                </a:lnTo>
                <a:lnTo>
                  <a:pt x="94488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83820" y="56388"/>
                </a:lnTo>
                <a:lnTo>
                  <a:pt x="83820" y="59436"/>
                </a:lnTo>
                <a:lnTo>
                  <a:pt x="89916" y="57912"/>
                </a:lnTo>
                <a:lnTo>
                  <a:pt x="94488" y="54864"/>
                </a:lnTo>
                <a:lnTo>
                  <a:pt x="97536" y="48768"/>
                </a:lnTo>
                <a:lnTo>
                  <a:pt x="100584" y="44196"/>
                </a:lnTo>
                <a:lnTo>
                  <a:pt x="103631" y="38100"/>
                </a:lnTo>
                <a:lnTo>
                  <a:pt x="103631" y="22860"/>
                </a:lnTo>
                <a:lnTo>
                  <a:pt x="100584" y="15240"/>
                </a:lnTo>
                <a:lnTo>
                  <a:pt x="97536" y="10668"/>
                </a:lnTo>
                <a:lnTo>
                  <a:pt x="94488" y="4572"/>
                </a:lnTo>
                <a:lnTo>
                  <a:pt x="89916" y="1524"/>
                </a:lnTo>
                <a:lnTo>
                  <a:pt x="83820" y="0"/>
                </a:lnTo>
                <a:close/>
              </a:path>
              <a:path w="104139" h="59689">
                <a:moveTo>
                  <a:pt x="19812" y="0"/>
                </a:moveTo>
                <a:lnTo>
                  <a:pt x="13716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6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40" y="54864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18920" y="1811433"/>
            <a:ext cx="536575" cy="106680"/>
          </a:xfrm>
          <a:custGeom>
            <a:avLst/>
            <a:gdLst/>
            <a:ahLst/>
            <a:cxnLst/>
            <a:rect l="l" t="t" r="r" b="b"/>
            <a:pathLst>
              <a:path w="536575" h="106680">
                <a:moveTo>
                  <a:pt x="516635" y="0"/>
                </a:moveTo>
                <a:lnTo>
                  <a:pt x="509015" y="0"/>
                </a:lnTo>
                <a:lnTo>
                  <a:pt x="509015" y="4572"/>
                </a:lnTo>
                <a:lnTo>
                  <a:pt x="516635" y="4572"/>
                </a:lnTo>
                <a:lnTo>
                  <a:pt x="518159" y="7620"/>
                </a:lnTo>
                <a:lnTo>
                  <a:pt x="521207" y="10668"/>
                </a:lnTo>
                <a:lnTo>
                  <a:pt x="522731" y="15240"/>
                </a:lnTo>
                <a:lnTo>
                  <a:pt x="522731" y="25908"/>
                </a:lnTo>
                <a:lnTo>
                  <a:pt x="521207" y="28956"/>
                </a:lnTo>
                <a:lnTo>
                  <a:pt x="521207" y="47244"/>
                </a:lnTo>
                <a:lnTo>
                  <a:pt x="527303" y="53340"/>
                </a:lnTo>
                <a:lnTo>
                  <a:pt x="522731" y="57912"/>
                </a:lnTo>
                <a:lnTo>
                  <a:pt x="521207" y="60960"/>
                </a:lnTo>
                <a:lnTo>
                  <a:pt x="521207" y="77724"/>
                </a:lnTo>
                <a:lnTo>
                  <a:pt x="522731" y="80772"/>
                </a:lnTo>
                <a:lnTo>
                  <a:pt x="522731" y="91440"/>
                </a:lnTo>
                <a:lnTo>
                  <a:pt x="521207" y="96012"/>
                </a:lnTo>
                <a:lnTo>
                  <a:pt x="518159" y="99060"/>
                </a:lnTo>
                <a:lnTo>
                  <a:pt x="516635" y="102108"/>
                </a:lnTo>
                <a:lnTo>
                  <a:pt x="513588" y="103632"/>
                </a:lnTo>
                <a:lnTo>
                  <a:pt x="509015" y="103632"/>
                </a:lnTo>
                <a:lnTo>
                  <a:pt x="509015" y="106680"/>
                </a:lnTo>
                <a:lnTo>
                  <a:pt x="516635" y="106680"/>
                </a:lnTo>
                <a:lnTo>
                  <a:pt x="521207" y="105156"/>
                </a:lnTo>
                <a:lnTo>
                  <a:pt x="524255" y="100584"/>
                </a:lnTo>
                <a:lnTo>
                  <a:pt x="527303" y="97536"/>
                </a:lnTo>
                <a:lnTo>
                  <a:pt x="528827" y="91440"/>
                </a:lnTo>
                <a:lnTo>
                  <a:pt x="528827" y="71627"/>
                </a:lnTo>
                <a:lnTo>
                  <a:pt x="527303" y="68580"/>
                </a:lnTo>
                <a:lnTo>
                  <a:pt x="527303" y="60960"/>
                </a:lnTo>
                <a:lnTo>
                  <a:pt x="530351" y="57912"/>
                </a:lnTo>
                <a:lnTo>
                  <a:pt x="530351" y="56388"/>
                </a:lnTo>
                <a:lnTo>
                  <a:pt x="533400" y="54864"/>
                </a:lnTo>
                <a:lnTo>
                  <a:pt x="536447" y="54864"/>
                </a:lnTo>
                <a:lnTo>
                  <a:pt x="536447" y="51816"/>
                </a:lnTo>
                <a:lnTo>
                  <a:pt x="533400" y="51816"/>
                </a:lnTo>
                <a:lnTo>
                  <a:pt x="530351" y="50292"/>
                </a:lnTo>
                <a:lnTo>
                  <a:pt x="530351" y="48768"/>
                </a:lnTo>
                <a:lnTo>
                  <a:pt x="527303" y="45720"/>
                </a:lnTo>
                <a:lnTo>
                  <a:pt x="527303" y="39624"/>
                </a:lnTo>
                <a:lnTo>
                  <a:pt x="528827" y="35051"/>
                </a:lnTo>
                <a:lnTo>
                  <a:pt x="528827" y="16764"/>
                </a:lnTo>
                <a:lnTo>
                  <a:pt x="527303" y="10668"/>
                </a:lnTo>
                <a:lnTo>
                  <a:pt x="524255" y="6096"/>
                </a:lnTo>
                <a:lnTo>
                  <a:pt x="521207" y="3048"/>
                </a:lnTo>
                <a:lnTo>
                  <a:pt x="516635" y="0"/>
                </a:lnTo>
                <a:close/>
              </a:path>
              <a:path w="536575" h="106680">
                <a:moveTo>
                  <a:pt x="28955" y="0"/>
                </a:moveTo>
                <a:lnTo>
                  <a:pt x="19812" y="0"/>
                </a:lnTo>
                <a:lnTo>
                  <a:pt x="15239" y="3048"/>
                </a:lnTo>
                <a:lnTo>
                  <a:pt x="12191" y="6096"/>
                </a:lnTo>
                <a:lnTo>
                  <a:pt x="9143" y="10668"/>
                </a:lnTo>
                <a:lnTo>
                  <a:pt x="7619" y="16764"/>
                </a:lnTo>
                <a:lnTo>
                  <a:pt x="7619" y="35051"/>
                </a:lnTo>
                <a:lnTo>
                  <a:pt x="9143" y="39624"/>
                </a:lnTo>
                <a:lnTo>
                  <a:pt x="9143" y="45720"/>
                </a:lnTo>
                <a:lnTo>
                  <a:pt x="7619" y="47244"/>
                </a:lnTo>
                <a:lnTo>
                  <a:pt x="7619" y="48768"/>
                </a:lnTo>
                <a:lnTo>
                  <a:pt x="6095" y="50292"/>
                </a:lnTo>
                <a:lnTo>
                  <a:pt x="3047" y="51816"/>
                </a:lnTo>
                <a:lnTo>
                  <a:pt x="0" y="51816"/>
                </a:lnTo>
                <a:lnTo>
                  <a:pt x="0" y="54864"/>
                </a:lnTo>
                <a:lnTo>
                  <a:pt x="3047" y="54864"/>
                </a:lnTo>
                <a:lnTo>
                  <a:pt x="6095" y="56388"/>
                </a:lnTo>
                <a:lnTo>
                  <a:pt x="7619" y="57912"/>
                </a:lnTo>
                <a:lnTo>
                  <a:pt x="7619" y="59436"/>
                </a:lnTo>
                <a:lnTo>
                  <a:pt x="9143" y="60960"/>
                </a:lnTo>
                <a:lnTo>
                  <a:pt x="9143" y="68580"/>
                </a:lnTo>
                <a:lnTo>
                  <a:pt x="7619" y="71627"/>
                </a:lnTo>
                <a:lnTo>
                  <a:pt x="7619" y="91440"/>
                </a:lnTo>
                <a:lnTo>
                  <a:pt x="9143" y="97536"/>
                </a:lnTo>
                <a:lnTo>
                  <a:pt x="12191" y="100584"/>
                </a:lnTo>
                <a:lnTo>
                  <a:pt x="15239" y="105156"/>
                </a:lnTo>
                <a:lnTo>
                  <a:pt x="19812" y="106680"/>
                </a:lnTo>
                <a:lnTo>
                  <a:pt x="28955" y="106680"/>
                </a:lnTo>
                <a:lnTo>
                  <a:pt x="28955" y="103632"/>
                </a:lnTo>
                <a:lnTo>
                  <a:pt x="22859" y="103632"/>
                </a:lnTo>
                <a:lnTo>
                  <a:pt x="19812" y="102108"/>
                </a:lnTo>
                <a:lnTo>
                  <a:pt x="18287" y="99060"/>
                </a:lnTo>
                <a:lnTo>
                  <a:pt x="15239" y="96012"/>
                </a:lnTo>
                <a:lnTo>
                  <a:pt x="13715" y="91440"/>
                </a:lnTo>
                <a:lnTo>
                  <a:pt x="13715" y="80772"/>
                </a:lnTo>
                <a:lnTo>
                  <a:pt x="15239" y="77724"/>
                </a:lnTo>
                <a:lnTo>
                  <a:pt x="15239" y="70103"/>
                </a:lnTo>
                <a:lnTo>
                  <a:pt x="16763" y="68580"/>
                </a:lnTo>
                <a:lnTo>
                  <a:pt x="16763" y="62484"/>
                </a:lnTo>
                <a:lnTo>
                  <a:pt x="15239" y="60960"/>
                </a:lnTo>
                <a:lnTo>
                  <a:pt x="13715" y="57912"/>
                </a:lnTo>
                <a:lnTo>
                  <a:pt x="9143" y="53340"/>
                </a:lnTo>
                <a:lnTo>
                  <a:pt x="15239" y="47244"/>
                </a:lnTo>
                <a:lnTo>
                  <a:pt x="16763" y="44196"/>
                </a:lnTo>
                <a:lnTo>
                  <a:pt x="16763" y="39624"/>
                </a:lnTo>
                <a:lnTo>
                  <a:pt x="15239" y="36575"/>
                </a:lnTo>
                <a:lnTo>
                  <a:pt x="15239" y="28956"/>
                </a:lnTo>
                <a:lnTo>
                  <a:pt x="13715" y="25908"/>
                </a:lnTo>
                <a:lnTo>
                  <a:pt x="13715" y="15240"/>
                </a:lnTo>
                <a:lnTo>
                  <a:pt x="15239" y="10668"/>
                </a:lnTo>
                <a:lnTo>
                  <a:pt x="18287" y="7620"/>
                </a:lnTo>
                <a:lnTo>
                  <a:pt x="19812" y="4572"/>
                </a:lnTo>
                <a:lnTo>
                  <a:pt x="28955" y="4572"/>
                </a:lnTo>
                <a:lnTo>
                  <a:pt x="28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402740" y="1809909"/>
            <a:ext cx="81280" cy="59690"/>
          </a:xfrm>
          <a:custGeom>
            <a:avLst/>
            <a:gdLst/>
            <a:ahLst/>
            <a:cxnLst/>
            <a:rect l="l" t="t" r="r" b="b"/>
            <a:pathLst>
              <a:path w="81279" h="59689">
                <a:moveTo>
                  <a:pt x="60960" y="0"/>
                </a:moveTo>
                <a:lnTo>
                  <a:pt x="60960" y="3048"/>
                </a:lnTo>
                <a:lnTo>
                  <a:pt x="65532" y="4572"/>
                </a:lnTo>
                <a:lnTo>
                  <a:pt x="68580" y="7620"/>
                </a:lnTo>
                <a:lnTo>
                  <a:pt x="71627" y="12192"/>
                </a:lnTo>
                <a:lnTo>
                  <a:pt x="73151" y="16764"/>
                </a:lnTo>
                <a:lnTo>
                  <a:pt x="74675" y="22860"/>
                </a:lnTo>
                <a:lnTo>
                  <a:pt x="74675" y="36575"/>
                </a:lnTo>
                <a:lnTo>
                  <a:pt x="60960" y="56388"/>
                </a:lnTo>
                <a:lnTo>
                  <a:pt x="60960" y="59436"/>
                </a:lnTo>
                <a:lnTo>
                  <a:pt x="67056" y="57912"/>
                </a:lnTo>
                <a:lnTo>
                  <a:pt x="71627" y="54864"/>
                </a:lnTo>
                <a:lnTo>
                  <a:pt x="74675" y="48768"/>
                </a:lnTo>
                <a:lnTo>
                  <a:pt x="77724" y="44196"/>
                </a:lnTo>
                <a:lnTo>
                  <a:pt x="80772" y="38100"/>
                </a:lnTo>
                <a:lnTo>
                  <a:pt x="80772" y="22860"/>
                </a:lnTo>
                <a:lnTo>
                  <a:pt x="77724" y="15240"/>
                </a:lnTo>
                <a:lnTo>
                  <a:pt x="74675" y="10668"/>
                </a:lnTo>
                <a:lnTo>
                  <a:pt x="71627" y="4572"/>
                </a:lnTo>
                <a:lnTo>
                  <a:pt x="67056" y="1524"/>
                </a:lnTo>
                <a:lnTo>
                  <a:pt x="60960" y="0"/>
                </a:lnTo>
                <a:close/>
              </a:path>
              <a:path w="81279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709064" y="1809909"/>
            <a:ext cx="105410" cy="59690"/>
          </a:xfrm>
          <a:custGeom>
            <a:avLst/>
            <a:gdLst/>
            <a:ahLst/>
            <a:cxnLst/>
            <a:rect l="l" t="t" r="r" b="b"/>
            <a:pathLst>
              <a:path w="105410" h="59689">
                <a:moveTo>
                  <a:pt x="85344" y="0"/>
                </a:moveTo>
                <a:lnTo>
                  <a:pt x="85344" y="3048"/>
                </a:lnTo>
                <a:lnTo>
                  <a:pt x="89915" y="4572"/>
                </a:lnTo>
                <a:lnTo>
                  <a:pt x="92963" y="7620"/>
                </a:lnTo>
                <a:lnTo>
                  <a:pt x="96012" y="12192"/>
                </a:lnTo>
                <a:lnTo>
                  <a:pt x="97536" y="16764"/>
                </a:lnTo>
                <a:lnTo>
                  <a:pt x="99060" y="22860"/>
                </a:lnTo>
                <a:lnTo>
                  <a:pt x="99060" y="36575"/>
                </a:lnTo>
                <a:lnTo>
                  <a:pt x="85344" y="56388"/>
                </a:lnTo>
                <a:lnTo>
                  <a:pt x="85344" y="59436"/>
                </a:lnTo>
                <a:lnTo>
                  <a:pt x="91439" y="57912"/>
                </a:lnTo>
                <a:lnTo>
                  <a:pt x="96012" y="54864"/>
                </a:lnTo>
                <a:lnTo>
                  <a:pt x="99060" y="48768"/>
                </a:lnTo>
                <a:lnTo>
                  <a:pt x="102108" y="44196"/>
                </a:lnTo>
                <a:lnTo>
                  <a:pt x="105156" y="38100"/>
                </a:lnTo>
                <a:lnTo>
                  <a:pt x="105156" y="22860"/>
                </a:lnTo>
                <a:lnTo>
                  <a:pt x="102108" y="15240"/>
                </a:lnTo>
                <a:lnTo>
                  <a:pt x="99060" y="10668"/>
                </a:lnTo>
                <a:lnTo>
                  <a:pt x="96012" y="4572"/>
                </a:lnTo>
                <a:lnTo>
                  <a:pt x="91439" y="1524"/>
                </a:lnTo>
                <a:lnTo>
                  <a:pt x="85344" y="0"/>
                </a:lnTo>
                <a:close/>
              </a:path>
              <a:path w="105410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40"/>
                </a:lnTo>
                <a:lnTo>
                  <a:pt x="0" y="22860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4"/>
                </a:lnTo>
                <a:lnTo>
                  <a:pt x="13715" y="57912"/>
                </a:lnTo>
                <a:lnTo>
                  <a:pt x="19812" y="59436"/>
                </a:lnTo>
                <a:lnTo>
                  <a:pt x="19812" y="56388"/>
                </a:lnTo>
                <a:lnTo>
                  <a:pt x="15239" y="54864"/>
                </a:lnTo>
                <a:lnTo>
                  <a:pt x="12191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597599" y="1605157"/>
            <a:ext cx="2171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1.</a:t>
            </a:r>
            <a:r>
              <a:rPr sz="7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从训练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中采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大小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个样本</a:t>
            </a:r>
            <a:r>
              <a:rPr sz="7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8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  <a:p>
            <a:pPr marL="182880">
              <a:lnSpc>
                <a:spcPct val="100000"/>
              </a:lnSpc>
              <a:spcBef>
                <a:spcPts val="6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的目标为</a:t>
            </a:r>
            <a:r>
              <a:rPr sz="7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97599" y="1996822"/>
            <a:ext cx="8750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2.</a:t>
            </a:r>
            <a:r>
              <a:rPr sz="700" spc="14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700" spc="5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endParaRPr sz="750" baseline="4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411884" y="2070513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60" h="6350">
                <a:moveTo>
                  <a:pt x="0" y="0"/>
                </a:moveTo>
                <a:lnTo>
                  <a:pt x="60960" y="0"/>
                </a:lnTo>
                <a:lnTo>
                  <a:pt x="60960" y="6095"/>
                </a:lnTo>
                <a:lnTo>
                  <a:pt x="0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49856" y="2018697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3048"/>
                </a:lnTo>
                <a:lnTo>
                  <a:pt x="53340" y="4572"/>
                </a:lnTo>
                <a:lnTo>
                  <a:pt x="56388" y="7620"/>
                </a:lnTo>
                <a:lnTo>
                  <a:pt x="59436" y="12192"/>
                </a:lnTo>
                <a:lnTo>
                  <a:pt x="60960" y="16763"/>
                </a:lnTo>
                <a:lnTo>
                  <a:pt x="62484" y="22859"/>
                </a:lnTo>
                <a:lnTo>
                  <a:pt x="62484" y="36575"/>
                </a:lnTo>
                <a:lnTo>
                  <a:pt x="48768" y="56387"/>
                </a:lnTo>
                <a:lnTo>
                  <a:pt x="48768" y="59435"/>
                </a:lnTo>
                <a:lnTo>
                  <a:pt x="54864" y="57911"/>
                </a:lnTo>
                <a:lnTo>
                  <a:pt x="59436" y="54863"/>
                </a:lnTo>
                <a:lnTo>
                  <a:pt x="62484" y="48768"/>
                </a:lnTo>
                <a:lnTo>
                  <a:pt x="65532" y="44196"/>
                </a:lnTo>
                <a:lnTo>
                  <a:pt x="68580" y="38100"/>
                </a:lnTo>
                <a:lnTo>
                  <a:pt x="68580" y="22859"/>
                </a:lnTo>
                <a:lnTo>
                  <a:pt x="65532" y="15239"/>
                </a:lnTo>
                <a:lnTo>
                  <a:pt x="62484" y="10668"/>
                </a:lnTo>
                <a:lnTo>
                  <a:pt x="59436" y="4572"/>
                </a:lnTo>
                <a:lnTo>
                  <a:pt x="54864" y="1524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6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39"/>
                </a:lnTo>
                <a:lnTo>
                  <a:pt x="0" y="22859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3"/>
                </a:lnTo>
                <a:lnTo>
                  <a:pt x="13716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40" y="54863"/>
                </a:lnTo>
                <a:lnTo>
                  <a:pt x="12192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242464" y="2018697"/>
            <a:ext cx="68580" cy="59690"/>
          </a:xfrm>
          <a:custGeom>
            <a:avLst/>
            <a:gdLst/>
            <a:ahLst/>
            <a:cxnLst/>
            <a:rect l="l" t="t" r="r" b="b"/>
            <a:pathLst>
              <a:path w="68579" h="59689">
                <a:moveTo>
                  <a:pt x="48768" y="0"/>
                </a:moveTo>
                <a:lnTo>
                  <a:pt x="48768" y="3048"/>
                </a:lnTo>
                <a:lnTo>
                  <a:pt x="53339" y="4572"/>
                </a:lnTo>
                <a:lnTo>
                  <a:pt x="56387" y="7620"/>
                </a:lnTo>
                <a:lnTo>
                  <a:pt x="59436" y="12192"/>
                </a:lnTo>
                <a:lnTo>
                  <a:pt x="60960" y="16763"/>
                </a:lnTo>
                <a:lnTo>
                  <a:pt x="62484" y="22859"/>
                </a:lnTo>
                <a:lnTo>
                  <a:pt x="62484" y="36575"/>
                </a:lnTo>
                <a:lnTo>
                  <a:pt x="48768" y="56387"/>
                </a:lnTo>
                <a:lnTo>
                  <a:pt x="48768" y="59435"/>
                </a:lnTo>
                <a:lnTo>
                  <a:pt x="54863" y="57911"/>
                </a:lnTo>
                <a:lnTo>
                  <a:pt x="59436" y="54863"/>
                </a:lnTo>
                <a:lnTo>
                  <a:pt x="62484" y="48768"/>
                </a:lnTo>
                <a:lnTo>
                  <a:pt x="65532" y="44196"/>
                </a:lnTo>
                <a:lnTo>
                  <a:pt x="68580" y="38100"/>
                </a:lnTo>
                <a:lnTo>
                  <a:pt x="68580" y="22859"/>
                </a:lnTo>
                <a:lnTo>
                  <a:pt x="65532" y="15239"/>
                </a:lnTo>
                <a:lnTo>
                  <a:pt x="62484" y="10668"/>
                </a:lnTo>
                <a:lnTo>
                  <a:pt x="59436" y="4572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8579" h="59689">
                <a:moveTo>
                  <a:pt x="19812" y="0"/>
                </a:moveTo>
                <a:lnTo>
                  <a:pt x="13715" y="1524"/>
                </a:lnTo>
                <a:lnTo>
                  <a:pt x="9144" y="4572"/>
                </a:lnTo>
                <a:lnTo>
                  <a:pt x="6096" y="10668"/>
                </a:lnTo>
                <a:lnTo>
                  <a:pt x="3048" y="15239"/>
                </a:lnTo>
                <a:lnTo>
                  <a:pt x="0" y="22859"/>
                </a:lnTo>
                <a:lnTo>
                  <a:pt x="0" y="38100"/>
                </a:lnTo>
                <a:lnTo>
                  <a:pt x="3048" y="44196"/>
                </a:lnTo>
                <a:lnTo>
                  <a:pt x="6096" y="48768"/>
                </a:lnTo>
                <a:lnTo>
                  <a:pt x="9144" y="54863"/>
                </a:lnTo>
                <a:lnTo>
                  <a:pt x="13715" y="57911"/>
                </a:lnTo>
                <a:lnTo>
                  <a:pt x="19812" y="59435"/>
                </a:lnTo>
                <a:lnTo>
                  <a:pt x="19812" y="56387"/>
                </a:lnTo>
                <a:lnTo>
                  <a:pt x="15239" y="54863"/>
                </a:lnTo>
                <a:lnTo>
                  <a:pt x="12191" y="51816"/>
                </a:lnTo>
                <a:lnTo>
                  <a:pt x="9144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956943" y="1989224"/>
            <a:ext cx="34099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4800" algn="l"/>
              </a:tabLst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	i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97641" y="1996822"/>
            <a:ext cx="975360" cy="171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>
              <a:lnSpc>
                <a:spcPts val="695"/>
              </a:lnSpc>
              <a:spcBef>
                <a:spcPts val="95"/>
              </a:spcBef>
            </a:pPr>
            <a:r>
              <a:rPr sz="700" i="1" spc="-1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50" i="1" spc="-15" baseline="-17000" dirty="0">
                <a:latin typeface="Cambria Math" panose="02040503050406030204"/>
                <a:cs typeface="Cambria Math" panose="02040503050406030204"/>
              </a:rPr>
              <a:t>0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-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 θ),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ts val="455"/>
              </a:lnSpc>
              <a:tabLst>
                <a:tab pos="294005" algn="l"/>
              </a:tabLst>
            </a:pPr>
            <a:r>
              <a:rPr sz="500" i="1" spc="55" dirty="0">
                <a:latin typeface="Cambria Math" panose="02040503050406030204"/>
                <a:cs typeface="Cambria Math" panose="02040503050406030204"/>
              </a:rPr>
              <a:t>m	</a:t>
            </a:r>
            <a:r>
              <a:rPr sz="750" i="1" spc="52" baseline="6000" dirty="0">
                <a:latin typeface="Cambria Math" panose="02040503050406030204"/>
                <a:cs typeface="Cambria Math" panose="02040503050406030204"/>
              </a:rPr>
              <a:t>i</a:t>
            </a:r>
            <a:endParaRPr sz="750" baseline="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97599" y="2181296"/>
            <a:ext cx="10718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3.</a:t>
            </a:r>
            <a:r>
              <a:rPr sz="700" spc="1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更新权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700" spc="2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25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cg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57321" y="2341285"/>
            <a:ext cx="3981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2620633" y="111570"/>
            <a:ext cx="95885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RMSP</a:t>
            </a:r>
            <a:r>
              <a:rPr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pc="-5" dirty="0">
                <a:latin typeface="Calibri" panose="020F0502020204030204"/>
                <a:cs typeface="Calibri" panose="020F0502020204030204"/>
              </a:rPr>
              <a:t>op</a:t>
            </a:r>
            <a:endParaRPr spc="-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8826" y="535337"/>
            <a:ext cx="1798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M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SPro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p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方法是一种自适应梯度方法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850039" y="930561"/>
            <a:ext cx="1347470" cy="506095"/>
          </a:xfrm>
          <a:custGeom>
            <a:avLst/>
            <a:gdLst/>
            <a:ahLst/>
            <a:cxnLst/>
            <a:rect l="l" t="t" r="r" b="b"/>
            <a:pathLst>
              <a:path w="1347470" h="506094">
                <a:moveTo>
                  <a:pt x="0" y="0"/>
                </a:moveTo>
                <a:lnTo>
                  <a:pt x="1347215" y="0"/>
                </a:lnTo>
                <a:lnTo>
                  <a:pt x="1347215" y="505968"/>
                </a:lnTo>
                <a:lnTo>
                  <a:pt x="0" y="505968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850039" y="930561"/>
            <a:ext cx="1347470" cy="506095"/>
          </a:xfrm>
          <a:custGeom>
            <a:avLst/>
            <a:gdLst/>
            <a:ahLst/>
            <a:cxnLst/>
            <a:rect l="l" t="t" r="r" b="b"/>
            <a:pathLst>
              <a:path w="1347470" h="506094">
                <a:moveTo>
                  <a:pt x="0" y="0"/>
                </a:moveTo>
                <a:lnTo>
                  <a:pt x="1347215" y="0"/>
                </a:lnTo>
                <a:lnTo>
                  <a:pt x="1347215" y="505967"/>
                </a:lnTo>
                <a:lnTo>
                  <a:pt x="0" y="505967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881557" y="972713"/>
            <a:ext cx="7435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700" i="1" spc="1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取值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范</a:t>
            </a:r>
            <a:r>
              <a:rPr sz="7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围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[0,1）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13306" y="1078871"/>
            <a:ext cx="2800985" cy="34544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1580515" algn="l"/>
              </a:tabLst>
            </a:pPr>
            <a:r>
              <a:rPr sz="1050" spc="-15" baseline="4000" dirty="0">
                <a:latin typeface="Arial" panose="020B0604020202020204"/>
                <a:cs typeface="Arial" panose="020B0604020202020204"/>
              </a:rPr>
              <a:t>Require:</a:t>
            </a:r>
            <a:r>
              <a:rPr sz="1050" spc="30" baseline="4000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-7" baseline="4000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1050" spc="-217" baseline="4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50" i="1" spc="22" baseline="4000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z="1050" spc="22" baseline="400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50" spc="-7" baseline="4000" dirty="0">
                <a:latin typeface="黑体" panose="02010609060101010101" charset="-122"/>
                <a:cs typeface="黑体" panose="02010609060101010101" charset="-122"/>
              </a:rPr>
              <a:t>衰减速率</a:t>
            </a:r>
            <a:r>
              <a:rPr sz="1050" spc="-195" baseline="4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50" i="1" baseline="4000" dirty="0">
                <a:latin typeface="Cambria Math" panose="02040503050406030204"/>
                <a:cs typeface="Cambria Math" panose="02040503050406030204"/>
              </a:rPr>
              <a:t>p	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700" spc="-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时仅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考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虑当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梯度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强度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1580515" algn="l"/>
              </a:tabLst>
            </a:pPr>
            <a:r>
              <a:rPr sz="1050" spc="-15" baseline="4000" dirty="0">
                <a:latin typeface="Arial" panose="020B0604020202020204"/>
                <a:cs typeface="Arial" panose="020B0604020202020204"/>
              </a:rPr>
              <a:t>Require:</a:t>
            </a:r>
            <a:r>
              <a:rPr sz="1050" spc="30" baseline="4000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-7" baseline="4000" dirty="0">
                <a:latin typeface="黑体" panose="02010609060101010101" charset="-122"/>
                <a:cs typeface="黑体" panose="02010609060101010101" charset="-122"/>
              </a:rPr>
              <a:t>初始参数</a:t>
            </a:r>
            <a:r>
              <a:rPr sz="1050" spc="-217" baseline="4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50" i="1" spc="75" baseline="4000" dirty="0">
                <a:latin typeface="Cambria Math" panose="02040503050406030204"/>
                <a:cs typeface="Cambria Math" panose="02040503050406030204"/>
              </a:rPr>
              <a:t>e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建议设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：0.999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682166" y="2526443"/>
            <a:ext cx="99695" cy="1244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51938" y="2530500"/>
            <a:ext cx="1486535" cy="121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累积平方梯度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pr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1 −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p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∗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852555" y="2699853"/>
            <a:ext cx="5778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5"/>
              </a:lnSpc>
            </a:pPr>
            <a:r>
              <a:rPr sz="500" i="1" spc="-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2166" y="2721524"/>
            <a:ext cx="99695" cy="1244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51938" y="2725581"/>
            <a:ext cx="1096010" cy="121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40"/>
              </a:lnSpc>
              <a:tabLst>
                <a:tab pos="1028700" algn="l"/>
              </a:tabLst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更新权值：</a:t>
            </a:r>
            <a:r>
              <a:rPr sz="700" spc="-1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700" i="1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3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w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	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829704" y="2795865"/>
            <a:ext cx="14795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5"/>
              </a:lnSpc>
            </a:pPr>
            <a:r>
              <a:rPr sz="500" i="1" spc="8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5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500" i="1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o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41976" y="2916605"/>
            <a:ext cx="398145" cy="1244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488" y="115828"/>
            <a:ext cx="1699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梯度算法改进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1423" y="842735"/>
            <a:ext cx="2159635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梯度下降算法存在的问题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动量法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自适应梯度与</a:t>
            </a:r>
            <a:r>
              <a:rPr sz="1400" spc="-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RMSProp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spc="-5" dirty="0">
                <a:latin typeface="微软雅黑" panose="020B0503020204020204" charset="-122"/>
                <a:cs typeface="微软雅黑" panose="020B0503020204020204" charset="-122"/>
              </a:rPr>
              <a:t>ADAM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总结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1292" y="114799"/>
            <a:ext cx="6178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Adam</a:t>
            </a:r>
            <a:endParaRPr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11009" y="558196"/>
            <a:ext cx="1769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同时使用动量与自适应梯度思想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1292" y="120327"/>
            <a:ext cx="6178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Adam</a:t>
            </a:r>
            <a:endParaRPr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11009" y="563921"/>
            <a:ext cx="1769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同时使用动量与自适应梯度思想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736" y="671109"/>
            <a:ext cx="2992120" cy="2513330"/>
          </a:xfrm>
          <a:custGeom>
            <a:avLst/>
            <a:gdLst/>
            <a:ahLst/>
            <a:cxnLst/>
            <a:rect l="l" t="t" r="r" b="b"/>
            <a:pathLst>
              <a:path w="2992120" h="2513330">
                <a:moveTo>
                  <a:pt x="0" y="0"/>
                </a:moveTo>
                <a:lnTo>
                  <a:pt x="2991612" y="0"/>
                </a:lnTo>
                <a:lnTo>
                  <a:pt x="2991612" y="2513076"/>
                </a:lnTo>
                <a:lnTo>
                  <a:pt x="0" y="2513076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5164" y="661965"/>
            <a:ext cx="2999740" cy="18415"/>
          </a:xfrm>
          <a:custGeom>
            <a:avLst/>
            <a:gdLst/>
            <a:ahLst/>
            <a:cxnLst/>
            <a:rect l="l" t="t" r="r" b="b"/>
            <a:pathLst>
              <a:path w="2999740" h="18415">
                <a:moveTo>
                  <a:pt x="0" y="0"/>
                </a:moveTo>
                <a:lnTo>
                  <a:pt x="2999231" y="0"/>
                </a:lnTo>
                <a:lnTo>
                  <a:pt x="2999231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9736" y="514137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71347" y="514137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5164" y="517185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5164" y="3184185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2783" y="520233"/>
            <a:ext cx="2985770" cy="142240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2222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75"/>
              </a:spcBef>
            </a:pPr>
            <a:r>
              <a:rPr sz="700" b="1" spc="-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Adam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57532" y="1555029"/>
            <a:ext cx="536575" cy="105410"/>
          </a:xfrm>
          <a:custGeom>
            <a:avLst/>
            <a:gdLst/>
            <a:ahLst/>
            <a:cxnLst/>
            <a:rect l="l" t="t" r="r" b="b"/>
            <a:pathLst>
              <a:path w="536575" h="105410">
                <a:moveTo>
                  <a:pt x="516635" y="0"/>
                </a:moveTo>
                <a:lnTo>
                  <a:pt x="509016" y="0"/>
                </a:lnTo>
                <a:lnTo>
                  <a:pt x="509016" y="3047"/>
                </a:lnTo>
                <a:lnTo>
                  <a:pt x="513588" y="3047"/>
                </a:lnTo>
                <a:lnTo>
                  <a:pt x="518159" y="4571"/>
                </a:lnTo>
                <a:lnTo>
                  <a:pt x="519683" y="7619"/>
                </a:lnTo>
                <a:lnTo>
                  <a:pt x="522731" y="9143"/>
                </a:lnTo>
                <a:lnTo>
                  <a:pt x="522731" y="32003"/>
                </a:lnTo>
                <a:lnTo>
                  <a:pt x="521207" y="35051"/>
                </a:lnTo>
                <a:lnTo>
                  <a:pt x="521207" y="42671"/>
                </a:lnTo>
                <a:lnTo>
                  <a:pt x="522731" y="45719"/>
                </a:lnTo>
                <a:lnTo>
                  <a:pt x="524256" y="47243"/>
                </a:lnTo>
                <a:lnTo>
                  <a:pt x="525780" y="50291"/>
                </a:lnTo>
                <a:lnTo>
                  <a:pt x="527304" y="51815"/>
                </a:lnTo>
                <a:lnTo>
                  <a:pt x="528828" y="51815"/>
                </a:lnTo>
                <a:lnTo>
                  <a:pt x="528828" y="53339"/>
                </a:lnTo>
                <a:lnTo>
                  <a:pt x="527304" y="53339"/>
                </a:lnTo>
                <a:lnTo>
                  <a:pt x="525780" y="54863"/>
                </a:lnTo>
                <a:lnTo>
                  <a:pt x="524256" y="57912"/>
                </a:lnTo>
                <a:lnTo>
                  <a:pt x="522731" y="59435"/>
                </a:lnTo>
                <a:lnTo>
                  <a:pt x="521207" y="62483"/>
                </a:lnTo>
                <a:lnTo>
                  <a:pt x="521207" y="70103"/>
                </a:lnTo>
                <a:lnTo>
                  <a:pt x="522731" y="73151"/>
                </a:lnTo>
                <a:lnTo>
                  <a:pt x="522731" y="96012"/>
                </a:lnTo>
                <a:lnTo>
                  <a:pt x="519683" y="97535"/>
                </a:lnTo>
                <a:lnTo>
                  <a:pt x="518159" y="100583"/>
                </a:lnTo>
                <a:lnTo>
                  <a:pt x="513588" y="102107"/>
                </a:lnTo>
                <a:lnTo>
                  <a:pt x="509016" y="102107"/>
                </a:lnTo>
                <a:lnTo>
                  <a:pt x="509016" y="105156"/>
                </a:lnTo>
                <a:lnTo>
                  <a:pt x="516635" y="105156"/>
                </a:lnTo>
                <a:lnTo>
                  <a:pt x="522731" y="103631"/>
                </a:lnTo>
                <a:lnTo>
                  <a:pt x="525780" y="99059"/>
                </a:lnTo>
                <a:lnTo>
                  <a:pt x="528828" y="96012"/>
                </a:lnTo>
                <a:lnTo>
                  <a:pt x="530352" y="89915"/>
                </a:lnTo>
                <a:lnTo>
                  <a:pt x="530352" y="70103"/>
                </a:lnTo>
                <a:lnTo>
                  <a:pt x="528828" y="67056"/>
                </a:lnTo>
                <a:lnTo>
                  <a:pt x="528828" y="57912"/>
                </a:lnTo>
                <a:lnTo>
                  <a:pt x="531876" y="54863"/>
                </a:lnTo>
                <a:lnTo>
                  <a:pt x="536447" y="54863"/>
                </a:lnTo>
                <a:lnTo>
                  <a:pt x="536447" y="50291"/>
                </a:lnTo>
                <a:lnTo>
                  <a:pt x="531876" y="50291"/>
                </a:lnTo>
                <a:lnTo>
                  <a:pt x="528828" y="47243"/>
                </a:lnTo>
                <a:lnTo>
                  <a:pt x="528828" y="38100"/>
                </a:lnTo>
                <a:lnTo>
                  <a:pt x="530352" y="33527"/>
                </a:lnTo>
                <a:lnTo>
                  <a:pt x="530352" y="15239"/>
                </a:lnTo>
                <a:lnTo>
                  <a:pt x="528828" y="9143"/>
                </a:lnTo>
                <a:lnTo>
                  <a:pt x="525780" y="4571"/>
                </a:lnTo>
                <a:lnTo>
                  <a:pt x="522731" y="1523"/>
                </a:lnTo>
                <a:lnTo>
                  <a:pt x="516635" y="0"/>
                </a:lnTo>
                <a:close/>
              </a:path>
              <a:path w="536575" h="105410">
                <a:moveTo>
                  <a:pt x="27431" y="0"/>
                </a:moveTo>
                <a:lnTo>
                  <a:pt x="19812" y="0"/>
                </a:lnTo>
                <a:lnTo>
                  <a:pt x="15240" y="1523"/>
                </a:lnTo>
                <a:lnTo>
                  <a:pt x="7619" y="9143"/>
                </a:lnTo>
                <a:lnTo>
                  <a:pt x="6095" y="15239"/>
                </a:lnTo>
                <a:lnTo>
                  <a:pt x="6095" y="25907"/>
                </a:lnTo>
                <a:lnTo>
                  <a:pt x="7619" y="30479"/>
                </a:lnTo>
                <a:lnTo>
                  <a:pt x="7619" y="38100"/>
                </a:lnTo>
                <a:lnTo>
                  <a:pt x="9143" y="41147"/>
                </a:lnTo>
                <a:lnTo>
                  <a:pt x="9143" y="44195"/>
                </a:lnTo>
                <a:lnTo>
                  <a:pt x="7619" y="47243"/>
                </a:lnTo>
                <a:lnTo>
                  <a:pt x="4572" y="50291"/>
                </a:lnTo>
                <a:lnTo>
                  <a:pt x="0" y="50291"/>
                </a:lnTo>
                <a:lnTo>
                  <a:pt x="0" y="54863"/>
                </a:lnTo>
                <a:lnTo>
                  <a:pt x="4572" y="54863"/>
                </a:lnTo>
                <a:lnTo>
                  <a:pt x="7619" y="57912"/>
                </a:lnTo>
                <a:lnTo>
                  <a:pt x="9143" y="60959"/>
                </a:lnTo>
                <a:lnTo>
                  <a:pt x="9143" y="64007"/>
                </a:lnTo>
                <a:lnTo>
                  <a:pt x="7619" y="67056"/>
                </a:lnTo>
                <a:lnTo>
                  <a:pt x="7619" y="74675"/>
                </a:lnTo>
                <a:lnTo>
                  <a:pt x="6095" y="77723"/>
                </a:lnTo>
                <a:lnTo>
                  <a:pt x="6095" y="89915"/>
                </a:lnTo>
                <a:lnTo>
                  <a:pt x="7619" y="96012"/>
                </a:lnTo>
                <a:lnTo>
                  <a:pt x="12192" y="99059"/>
                </a:lnTo>
                <a:lnTo>
                  <a:pt x="15240" y="103631"/>
                </a:lnTo>
                <a:lnTo>
                  <a:pt x="19812" y="105156"/>
                </a:lnTo>
                <a:lnTo>
                  <a:pt x="27431" y="105156"/>
                </a:lnTo>
                <a:lnTo>
                  <a:pt x="27431" y="102107"/>
                </a:lnTo>
                <a:lnTo>
                  <a:pt x="22860" y="102107"/>
                </a:lnTo>
                <a:lnTo>
                  <a:pt x="19812" y="100583"/>
                </a:lnTo>
                <a:lnTo>
                  <a:pt x="15240" y="96012"/>
                </a:lnTo>
                <a:lnTo>
                  <a:pt x="13716" y="89915"/>
                </a:lnTo>
                <a:lnTo>
                  <a:pt x="13716" y="77723"/>
                </a:lnTo>
                <a:lnTo>
                  <a:pt x="15240" y="73151"/>
                </a:lnTo>
                <a:lnTo>
                  <a:pt x="15240" y="59435"/>
                </a:lnTo>
                <a:lnTo>
                  <a:pt x="13716" y="57912"/>
                </a:lnTo>
                <a:lnTo>
                  <a:pt x="12192" y="54863"/>
                </a:lnTo>
                <a:lnTo>
                  <a:pt x="10668" y="53339"/>
                </a:lnTo>
                <a:lnTo>
                  <a:pt x="7619" y="53339"/>
                </a:lnTo>
                <a:lnTo>
                  <a:pt x="7619" y="51815"/>
                </a:lnTo>
                <a:lnTo>
                  <a:pt x="10668" y="51815"/>
                </a:lnTo>
                <a:lnTo>
                  <a:pt x="12192" y="50291"/>
                </a:lnTo>
                <a:lnTo>
                  <a:pt x="13716" y="47243"/>
                </a:lnTo>
                <a:lnTo>
                  <a:pt x="15240" y="45719"/>
                </a:lnTo>
                <a:lnTo>
                  <a:pt x="15240" y="32003"/>
                </a:lnTo>
                <a:lnTo>
                  <a:pt x="13716" y="27431"/>
                </a:lnTo>
                <a:lnTo>
                  <a:pt x="13716" y="15239"/>
                </a:lnTo>
                <a:lnTo>
                  <a:pt x="15240" y="9143"/>
                </a:lnTo>
                <a:lnTo>
                  <a:pt x="19812" y="4571"/>
                </a:lnTo>
                <a:lnTo>
                  <a:pt x="22860" y="3047"/>
                </a:lnTo>
                <a:lnTo>
                  <a:pt x="27431" y="3047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45923" y="1551981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90">
                <a:moveTo>
                  <a:pt x="59436" y="0"/>
                </a:moveTo>
                <a:lnTo>
                  <a:pt x="57912" y="3048"/>
                </a:lnTo>
                <a:lnTo>
                  <a:pt x="64008" y="4571"/>
                </a:lnTo>
                <a:lnTo>
                  <a:pt x="67055" y="7619"/>
                </a:lnTo>
                <a:lnTo>
                  <a:pt x="68579" y="12192"/>
                </a:lnTo>
                <a:lnTo>
                  <a:pt x="71627" y="16763"/>
                </a:lnTo>
                <a:lnTo>
                  <a:pt x="73151" y="22860"/>
                </a:lnTo>
                <a:lnTo>
                  <a:pt x="73151" y="36575"/>
                </a:lnTo>
                <a:lnTo>
                  <a:pt x="71627" y="42671"/>
                </a:lnTo>
                <a:lnTo>
                  <a:pt x="68579" y="47243"/>
                </a:lnTo>
                <a:lnTo>
                  <a:pt x="67055" y="53339"/>
                </a:lnTo>
                <a:lnTo>
                  <a:pt x="64008" y="56387"/>
                </a:lnTo>
                <a:lnTo>
                  <a:pt x="57912" y="57912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3" y="54863"/>
                </a:lnTo>
                <a:lnTo>
                  <a:pt x="73151" y="48768"/>
                </a:lnTo>
                <a:lnTo>
                  <a:pt x="76200" y="44195"/>
                </a:lnTo>
                <a:lnTo>
                  <a:pt x="77724" y="38100"/>
                </a:lnTo>
                <a:lnTo>
                  <a:pt x="77724" y="22860"/>
                </a:lnTo>
                <a:lnTo>
                  <a:pt x="76200" y="16763"/>
                </a:lnTo>
                <a:lnTo>
                  <a:pt x="73151" y="10668"/>
                </a:lnTo>
                <a:lnTo>
                  <a:pt x="70103" y="6095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8105" h="59690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3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50723" y="1551981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90">
                <a:moveTo>
                  <a:pt x="83820" y="0"/>
                </a:moveTo>
                <a:lnTo>
                  <a:pt x="82296" y="3048"/>
                </a:lnTo>
                <a:lnTo>
                  <a:pt x="88391" y="4571"/>
                </a:lnTo>
                <a:lnTo>
                  <a:pt x="91439" y="7619"/>
                </a:lnTo>
                <a:lnTo>
                  <a:pt x="92963" y="12192"/>
                </a:lnTo>
                <a:lnTo>
                  <a:pt x="96012" y="16763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1"/>
                </a:lnTo>
                <a:lnTo>
                  <a:pt x="92963" y="47243"/>
                </a:lnTo>
                <a:lnTo>
                  <a:pt x="91439" y="53339"/>
                </a:lnTo>
                <a:lnTo>
                  <a:pt x="88391" y="56387"/>
                </a:lnTo>
                <a:lnTo>
                  <a:pt x="82296" y="57912"/>
                </a:lnTo>
                <a:lnTo>
                  <a:pt x="83820" y="59436"/>
                </a:lnTo>
                <a:lnTo>
                  <a:pt x="89915" y="57912"/>
                </a:lnTo>
                <a:lnTo>
                  <a:pt x="94487" y="54863"/>
                </a:lnTo>
                <a:lnTo>
                  <a:pt x="97536" y="48768"/>
                </a:lnTo>
                <a:lnTo>
                  <a:pt x="100584" y="44195"/>
                </a:lnTo>
                <a:lnTo>
                  <a:pt x="102108" y="38100"/>
                </a:lnTo>
                <a:lnTo>
                  <a:pt x="102108" y="22860"/>
                </a:lnTo>
                <a:lnTo>
                  <a:pt x="100584" y="16763"/>
                </a:lnTo>
                <a:lnTo>
                  <a:pt x="97536" y="10668"/>
                </a:lnTo>
                <a:lnTo>
                  <a:pt x="94487" y="6095"/>
                </a:lnTo>
                <a:lnTo>
                  <a:pt x="89915" y="1524"/>
                </a:lnTo>
                <a:lnTo>
                  <a:pt x="83820" y="0"/>
                </a:lnTo>
                <a:close/>
              </a:path>
              <a:path w="102235" h="59690">
                <a:moveTo>
                  <a:pt x="19812" y="0"/>
                </a:moveTo>
                <a:lnTo>
                  <a:pt x="13715" y="1524"/>
                </a:lnTo>
                <a:lnTo>
                  <a:pt x="4572" y="10668"/>
                </a:lnTo>
                <a:lnTo>
                  <a:pt x="1524" y="16763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1" y="53339"/>
                </a:lnTo>
                <a:lnTo>
                  <a:pt x="9143" y="47243"/>
                </a:lnTo>
                <a:lnTo>
                  <a:pt x="7620" y="42671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23092" y="1739433"/>
            <a:ext cx="533400" cy="105410"/>
          </a:xfrm>
          <a:custGeom>
            <a:avLst/>
            <a:gdLst/>
            <a:ahLst/>
            <a:cxnLst/>
            <a:rect l="l" t="t" r="r" b="b"/>
            <a:pathLst>
              <a:path w="533400" h="105410">
                <a:moveTo>
                  <a:pt x="513588" y="0"/>
                </a:moveTo>
                <a:lnTo>
                  <a:pt x="505968" y="0"/>
                </a:lnTo>
                <a:lnTo>
                  <a:pt x="505968" y="3048"/>
                </a:lnTo>
                <a:lnTo>
                  <a:pt x="510539" y="3048"/>
                </a:lnTo>
                <a:lnTo>
                  <a:pt x="515112" y="4572"/>
                </a:lnTo>
                <a:lnTo>
                  <a:pt x="516635" y="7619"/>
                </a:lnTo>
                <a:lnTo>
                  <a:pt x="519683" y="9143"/>
                </a:lnTo>
                <a:lnTo>
                  <a:pt x="519683" y="32004"/>
                </a:lnTo>
                <a:lnTo>
                  <a:pt x="518159" y="35052"/>
                </a:lnTo>
                <a:lnTo>
                  <a:pt x="518159" y="42672"/>
                </a:lnTo>
                <a:lnTo>
                  <a:pt x="519683" y="45719"/>
                </a:lnTo>
                <a:lnTo>
                  <a:pt x="521207" y="47243"/>
                </a:lnTo>
                <a:lnTo>
                  <a:pt x="522731" y="50292"/>
                </a:lnTo>
                <a:lnTo>
                  <a:pt x="524256" y="51816"/>
                </a:lnTo>
                <a:lnTo>
                  <a:pt x="525780" y="51816"/>
                </a:lnTo>
                <a:lnTo>
                  <a:pt x="525780" y="53340"/>
                </a:lnTo>
                <a:lnTo>
                  <a:pt x="524256" y="53340"/>
                </a:lnTo>
                <a:lnTo>
                  <a:pt x="522731" y="54864"/>
                </a:lnTo>
                <a:lnTo>
                  <a:pt x="521207" y="57912"/>
                </a:lnTo>
                <a:lnTo>
                  <a:pt x="519683" y="59436"/>
                </a:lnTo>
                <a:lnTo>
                  <a:pt x="518159" y="62484"/>
                </a:lnTo>
                <a:lnTo>
                  <a:pt x="518159" y="70104"/>
                </a:lnTo>
                <a:lnTo>
                  <a:pt x="519683" y="73152"/>
                </a:lnTo>
                <a:lnTo>
                  <a:pt x="519683" y="96012"/>
                </a:lnTo>
                <a:lnTo>
                  <a:pt x="516635" y="97536"/>
                </a:lnTo>
                <a:lnTo>
                  <a:pt x="515112" y="100584"/>
                </a:lnTo>
                <a:lnTo>
                  <a:pt x="510539" y="102108"/>
                </a:lnTo>
                <a:lnTo>
                  <a:pt x="505968" y="102108"/>
                </a:lnTo>
                <a:lnTo>
                  <a:pt x="505968" y="105156"/>
                </a:lnTo>
                <a:lnTo>
                  <a:pt x="513588" y="105156"/>
                </a:lnTo>
                <a:lnTo>
                  <a:pt x="519683" y="103631"/>
                </a:lnTo>
                <a:lnTo>
                  <a:pt x="522731" y="99060"/>
                </a:lnTo>
                <a:lnTo>
                  <a:pt x="525780" y="96012"/>
                </a:lnTo>
                <a:lnTo>
                  <a:pt x="527303" y="89916"/>
                </a:lnTo>
                <a:lnTo>
                  <a:pt x="527303" y="70104"/>
                </a:lnTo>
                <a:lnTo>
                  <a:pt x="525780" y="67056"/>
                </a:lnTo>
                <a:lnTo>
                  <a:pt x="525780" y="57912"/>
                </a:lnTo>
                <a:lnTo>
                  <a:pt x="528827" y="54864"/>
                </a:lnTo>
                <a:lnTo>
                  <a:pt x="533400" y="54864"/>
                </a:lnTo>
                <a:lnTo>
                  <a:pt x="533400" y="50292"/>
                </a:lnTo>
                <a:lnTo>
                  <a:pt x="528827" y="50292"/>
                </a:lnTo>
                <a:lnTo>
                  <a:pt x="525780" y="47243"/>
                </a:lnTo>
                <a:lnTo>
                  <a:pt x="525780" y="38100"/>
                </a:lnTo>
                <a:lnTo>
                  <a:pt x="527303" y="33528"/>
                </a:lnTo>
                <a:lnTo>
                  <a:pt x="527303" y="15240"/>
                </a:lnTo>
                <a:lnTo>
                  <a:pt x="525780" y="9143"/>
                </a:lnTo>
                <a:lnTo>
                  <a:pt x="522731" y="4572"/>
                </a:lnTo>
                <a:lnTo>
                  <a:pt x="519683" y="1524"/>
                </a:lnTo>
                <a:lnTo>
                  <a:pt x="513588" y="0"/>
                </a:lnTo>
                <a:close/>
              </a:path>
              <a:path w="533400" h="105410">
                <a:moveTo>
                  <a:pt x="27431" y="0"/>
                </a:moveTo>
                <a:lnTo>
                  <a:pt x="19812" y="0"/>
                </a:lnTo>
                <a:lnTo>
                  <a:pt x="15239" y="1524"/>
                </a:lnTo>
                <a:lnTo>
                  <a:pt x="7619" y="9143"/>
                </a:lnTo>
                <a:lnTo>
                  <a:pt x="6095" y="15240"/>
                </a:lnTo>
                <a:lnTo>
                  <a:pt x="6095" y="25908"/>
                </a:lnTo>
                <a:lnTo>
                  <a:pt x="7619" y="30480"/>
                </a:lnTo>
                <a:lnTo>
                  <a:pt x="7619" y="38100"/>
                </a:lnTo>
                <a:lnTo>
                  <a:pt x="9143" y="41148"/>
                </a:lnTo>
                <a:lnTo>
                  <a:pt x="9143" y="44196"/>
                </a:lnTo>
                <a:lnTo>
                  <a:pt x="7619" y="47243"/>
                </a:lnTo>
                <a:lnTo>
                  <a:pt x="4571" y="50292"/>
                </a:lnTo>
                <a:lnTo>
                  <a:pt x="0" y="50292"/>
                </a:lnTo>
                <a:lnTo>
                  <a:pt x="0" y="54864"/>
                </a:lnTo>
                <a:lnTo>
                  <a:pt x="4571" y="54864"/>
                </a:lnTo>
                <a:lnTo>
                  <a:pt x="7619" y="57912"/>
                </a:lnTo>
                <a:lnTo>
                  <a:pt x="9143" y="60960"/>
                </a:lnTo>
                <a:lnTo>
                  <a:pt x="9143" y="64008"/>
                </a:lnTo>
                <a:lnTo>
                  <a:pt x="7619" y="67056"/>
                </a:lnTo>
                <a:lnTo>
                  <a:pt x="7619" y="74675"/>
                </a:lnTo>
                <a:lnTo>
                  <a:pt x="6095" y="77724"/>
                </a:lnTo>
                <a:lnTo>
                  <a:pt x="6095" y="89916"/>
                </a:lnTo>
                <a:lnTo>
                  <a:pt x="7619" y="96012"/>
                </a:lnTo>
                <a:lnTo>
                  <a:pt x="12191" y="99060"/>
                </a:lnTo>
                <a:lnTo>
                  <a:pt x="15239" y="103631"/>
                </a:lnTo>
                <a:lnTo>
                  <a:pt x="19812" y="105156"/>
                </a:lnTo>
                <a:lnTo>
                  <a:pt x="27431" y="105156"/>
                </a:lnTo>
                <a:lnTo>
                  <a:pt x="27431" y="102108"/>
                </a:lnTo>
                <a:lnTo>
                  <a:pt x="22859" y="102108"/>
                </a:lnTo>
                <a:lnTo>
                  <a:pt x="19812" y="100584"/>
                </a:lnTo>
                <a:lnTo>
                  <a:pt x="15239" y="96012"/>
                </a:lnTo>
                <a:lnTo>
                  <a:pt x="13715" y="89916"/>
                </a:lnTo>
                <a:lnTo>
                  <a:pt x="13715" y="77724"/>
                </a:lnTo>
                <a:lnTo>
                  <a:pt x="15239" y="73152"/>
                </a:lnTo>
                <a:lnTo>
                  <a:pt x="15239" y="59436"/>
                </a:lnTo>
                <a:lnTo>
                  <a:pt x="13715" y="57912"/>
                </a:lnTo>
                <a:lnTo>
                  <a:pt x="12191" y="54864"/>
                </a:lnTo>
                <a:lnTo>
                  <a:pt x="10668" y="53340"/>
                </a:lnTo>
                <a:lnTo>
                  <a:pt x="7619" y="53340"/>
                </a:lnTo>
                <a:lnTo>
                  <a:pt x="7619" y="51816"/>
                </a:lnTo>
                <a:lnTo>
                  <a:pt x="10668" y="51816"/>
                </a:lnTo>
                <a:lnTo>
                  <a:pt x="12191" y="50292"/>
                </a:lnTo>
                <a:lnTo>
                  <a:pt x="13715" y="47243"/>
                </a:lnTo>
                <a:lnTo>
                  <a:pt x="15239" y="45719"/>
                </a:lnTo>
                <a:lnTo>
                  <a:pt x="15239" y="32004"/>
                </a:lnTo>
                <a:lnTo>
                  <a:pt x="13715" y="27431"/>
                </a:lnTo>
                <a:lnTo>
                  <a:pt x="13715" y="15240"/>
                </a:lnTo>
                <a:lnTo>
                  <a:pt x="15239" y="9143"/>
                </a:lnTo>
                <a:lnTo>
                  <a:pt x="19812" y="4572"/>
                </a:lnTo>
                <a:lnTo>
                  <a:pt x="22859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06911" y="1736385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9436" y="0"/>
                </a:moveTo>
                <a:lnTo>
                  <a:pt x="57912" y="3047"/>
                </a:lnTo>
                <a:lnTo>
                  <a:pt x="64007" y="4571"/>
                </a:lnTo>
                <a:lnTo>
                  <a:pt x="67056" y="7619"/>
                </a:lnTo>
                <a:lnTo>
                  <a:pt x="68580" y="12191"/>
                </a:lnTo>
                <a:lnTo>
                  <a:pt x="71627" y="16763"/>
                </a:lnTo>
                <a:lnTo>
                  <a:pt x="73151" y="22859"/>
                </a:lnTo>
                <a:lnTo>
                  <a:pt x="73151" y="36575"/>
                </a:lnTo>
                <a:lnTo>
                  <a:pt x="71627" y="42671"/>
                </a:lnTo>
                <a:lnTo>
                  <a:pt x="68580" y="47243"/>
                </a:lnTo>
                <a:lnTo>
                  <a:pt x="67056" y="53339"/>
                </a:lnTo>
                <a:lnTo>
                  <a:pt x="64007" y="56387"/>
                </a:lnTo>
                <a:lnTo>
                  <a:pt x="57912" y="57912"/>
                </a:lnTo>
                <a:lnTo>
                  <a:pt x="59436" y="59435"/>
                </a:lnTo>
                <a:lnTo>
                  <a:pt x="65531" y="57912"/>
                </a:lnTo>
                <a:lnTo>
                  <a:pt x="70104" y="54863"/>
                </a:lnTo>
                <a:lnTo>
                  <a:pt x="73151" y="48767"/>
                </a:lnTo>
                <a:lnTo>
                  <a:pt x="76200" y="44195"/>
                </a:lnTo>
                <a:lnTo>
                  <a:pt x="77724" y="38100"/>
                </a:lnTo>
                <a:lnTo>
                  <a:pt x="77724" y="22859"/>
                </a:lnTo>
                <a:lnTo>
                  <a:pt x="76200" y="16763"/>
                </a:lnTo>
                <a:lnTo>
                  <a:pt x="73151" y="10667"/>
                </a:lnTo>
                <a:lnTo>
                  <a:pt x="70104" y="6095"/>
                </a:lnTo>
                <a:lnTo>
                  <a:pt x="65531" y="1523"/>
                </a:lnTo>
                <a:lnTo>
                  <a:pt x="59436" y="0"/>
                </a:lnTo>
                <a:close/>
              </a:path>
              <a:path w="78105" h="59689">
                <a:moveTo>
                  <a:pt x="19812" y="0"/>
                </a:moveTo>
                <a:lnTo>
                  <a:pt x="13715" y="1523"/>
                </a:lnTo>
                <a:lnTo>
                  <a:pt x="4571" y="10667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7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13236" y="1736385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4" h="59689">
                <a:moveTo>
                  <a:pt x="83819" y="0"/>
                </a:moveTo>
                <a:lnTo>
                  <a:pt x="82295" y="3047"/>
                </a:lnTo>
                <a:lnTo>
                  <a:pt x="88391" y="4571"/>
                </a:lnTo>
                <a:lnTo>
                  <a:pt x="91439" y="7619"/>
                </a:lnTo>
                <a:lnTo>
                  <a:pt x="92963" y="12191"/>
                </a:lnTo>
                <a:lnTo>
                  <a:pt x="96012" y="16763"/>
                </a:lnTo>
                <a:lnTo>
                  <a:pt x="97536" y="22859"/>
                </a:lnTo>
                <a:lnTo>
                  <a:pt x="97536" y="36575"/>
                </a:lnTo>
                <a:lnTo>
                  <a:pt x="96012" y="42671"/>
                </a:lnTo>
                <a:lnTo>
                  <a:pt x="92963" y="47243"/>
                </a:lnTo>
                <a:lnTo>
                  <a:pt x="91439" y="53339"/>
                </a:lnTo>
                <a:lnTo>
                  <a:pt x="88391" y="56387"/>
                </a:lnTo>
                <a:lnTo>
                  <a:pt x="82295" y="57912"/>
                </a:lnTo>
                <a:lnTo>
                  <a:pt x="83819" y="59435"/>
                </a:lnTo>
                <a:lnTo>
                  <a:pt x="89915" y="57912"/>
                </a:lnTo>
                <a:lnTo>
                  <a:pt x="94487" y="54863"/>
                </a:lnTo>
                <a:lnTo>
                  <a:pt x="97536" y="48767"/>
                </a:lnTo>
                <a:lnTo>
                  <a:pt x="100583" y="44195"/>
                </a:lnTo>
                <a:lnTo>
                  <a:pt x="102107" y="38100"/>
                </a:lnTo>
                <a:lnTo>
                  <a:pt x="102107" y="22859"/>
                </a:lnTo>
                <a:lnTo>
                  <a:pt x="100583" y="16763"/>
                </a:lnTo>
                <a:lnTo>
                  <a:pt x="97536" y="10667"/>
                </a:lnTo>
                <a:lnTo>
                  <a:pt x="94487" y="6095"/>
                </a:lnTo>
                <a:lnTo>
                  <a:pt x="89915" y="1523"/>
                </a:lnTo>
                <a:lnTo>
                  <a:pt x="83819" y="0"/>
                </a:lnTo>
                <a:close/>
              </a:path>
              <a:path w="102234" h="59689">
                <a:moveTo>
                  <a:pt x="19812" y="0"/>
                </a:moveTo>
                <a:lnTo>
                  <a:pt x="13715" y="1523"/>
                </a:lnTo>
                <a:lnTo>
                  <a:pt x="4571" y="10667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1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7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 </a:t>
            </a:r>
            <a:r>
              <a:rPr spc="5" dirty="0"/>
              <a:t>学</a:t>
            </a:r>
            <a:r>
              <a:rPr spc="-5" dirty="0"/>
              <a:t>习率</a:t>
            </a:r>
            <a:r>
              <a:rPr spc="-100" dirty="0"/>
              <a:t> </a:t>
            </a:r>
            <a:r>
              <a:rPr spc="3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pc="35" dirty="0"/>
              <a:t>，</a:t>
            </a:r>
            <a:r>
              <a:rPr spc="-5" dirty="0"/>
              <a:t>衰减</a:t>
            </a:r>
            <a:r>
              <a:rPr spc="5" dirty="0"/>
              <a:t>速</a:t>
            </a:r>
            <a:r>
              <a:rPr spc="-5" dirty="0"/>
              <a:t>率</a:t>
            </a:r>
            <a:r>
              <a:rPr spc="-105" dirty="0"/>
              <a:t> </a:t>
            </a:r>
            <a:r>
              <a:rPr spc="25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spc="25" dirty="0"/>
              <a:t>，</a:t>
            </a:r>
            <a:r>
              <a:rPr spc="-5" dirty="0"/>
              <a:t>动</a:t>
            </a:r>
            <a:r>
              <a:rPr spc="5" dirty="0"/>
              <a:t>量系</a:t>
            </a:r>
            <a:r>
              <a:rPr spc="40" dirty="0"/>
              <a:t>数</a:t>
            </a:r>
            <a:r>
              <a:rPr spc="60" dirty="0">
                <a:latin typeface="Cambria Math" panose="02040503050406030204"/>
                <a:cs typeface="Cambria Math" panose="02040503050406030204"/>
              </a:rPr>
              <a:t>µ</a:t>
            </a:r>
            <a:r>
              <a:rPr spc="-5" dirty="0"/>
              <a:t>。（建</a:t>
            </a:r>
            <a:r>
              <a:rPr spc="5" dirty="0"/>
              <a:t>议</a:t>
            </a:r>
            <a:r>
              <a:rPr spc="-5" dirty="0"/>
              <a:t>值分</a:t>
            </a:r>
            <a:r>
              <a:rPr spc="5" dirty="0"/>
              <a:t>别</a:t>
            </a:r>
            <a:r>
              <a:rPr spc="-10" dirty="0"/>
              <a:t>为</a:t>
            </a:r>
            <a:r>
              <a:rPr spc="-5" dirty="0"/>
              <a:t>0.999，0.9）</a:t>
            </a:r>
            <a:endParaRPr spc="-5" dirty="0"/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equire: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初始参数</a:t>
            </a:r>
            <a:r>
              <a:rPr spc="-150" dirty="0"/>
              <a:t> </a:t>
            </a:r>
            <a:r>
              <a:rPr spc="50" dirty="0">
                <a:latin typeface="Cambria Math" panose="02040503050406030204"/>
                <a:cs typeface="Cambria Math" panose="02040503050406030204"/>
              </a:rPr>
              <a:t>e</a:t>
            </a:r>
            <a:endParaRPr spc="50" dirty="0">
              <a:latin typeface="Cambria Math" panose="02040503050406030204"/>
              <a:cs typeface="Cambria Math" panose="02040503050406030204"/>
            </a:endParaRPr>
          </a:p>
          <a:p>
            <a:pPr marL="220345" marR="358140" indent="-220980">
              <a:lnSpc>
                <a:spcPct val="150000"/>
              </a:lnSpc>
              <a:spcBef>
                <a:spcPts val="1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pc="-15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小常数</a:t>
            </a:r>
            <a:r>
              <a:rPr spc="1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pc="10" dirty="0"/>
              <a:t>，</a:t>
            </a:r>
            <a:r>
              <a:rPr spc="-5" dirty="0"/>
              <a:t>用于被小数除时的数值稳</a:t>
            </a:r>
            <a:r>
              <a:rPr spc="5" dirty="0"/>
              <a:t>定</a:t>
            </a:r>
            <a:r>
              <a:rPr spc="-5" dirty="0"/>
              <a:t>。（</a:t>
            </a:r>
            <a:r>
              <a:rPr spc="5" dirty="0"/>
              <a:t>通</a:t>
            </a:r>
            <a:r>
              <a:rPr spc="-5" dirty="0"/>
              <a:t>常设</a:t>
            </a:r>
            <a:r>
              <a:rPr spc="5" dirty="0"/>
              <a:t>为</a:t>
            </a:r>
            <a:r>
              <a:rPr spc="4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750" spc="67" baseline="28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700" spc="45" dirty="0"/>
              <a:t>）  </a:t>
            </a:r>
            <a:r>
              <a:rPr sz="700" spc="5" dirty="0">
                <a:solidFill>
                  <a:srgbClr val="FF0000"/>
                </a:solidFill>
              </a:rPr>
              <a:t>初</a:t>
            </a:r>
            <a:r>
              <a:rPr sz="700" spc="-5" dirty="0">
                <a:solidFill>
                  <a:srgbClr val="FF0000"/>
                </a:solidFill>
              </a:rPr>
              <a:t>始化</a:t>
            </a:r>
            <a:r>
              <a:rPr sz="700" spc="5" dirty="0">
                <a:solidFill>
                  <a:srgbClr val="FF0000"/>
                </a:solidFill>
              </a:rPr>
              <a:t>累</a:t>
            </a:r>
            <a:r>
              <a:rPr sz="700" spc="-5" dirty="0">
                <a:solidFill>
                  <a:srgbClr val="FF0000"/>
                </a:solidFill>
              </a:rPr>
              <a:t>积变量</a:t>
            </a:r>
            <a:r>
              <a:rPr sz="700" spc="5" dirty="0">
                <a:solidFill>
                  <a:srgbClr val="FF0000"/>
                </a:solidFill>
              </a:rPr>
              <a:t> 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0,</a:t>
            </a:r>
            <a:r>
              <a:rPr sz="700" spc="-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停止标准未满足</a:t>
            </a:r>
            <a:r>
              <a:rPr spc="-135" dirty="0"/>
              <a:t> </a:t>
            </a:r>
            <a:r>
              <a:rPr spc="-10" dirty="0">
                <a:latin typeface="Arial" panose="020B0604020202020204"/>
                <a:cs typeface="Arial" panose="020B0604020202020204"/>
              </a:rPr>
              <a:t>do</a:t>
            </a:r>
            <a:r>
              <a:rPr spc="-10" dirty="0"/>
              <a:t>：</a:t>
            </a:r>
            <a:endParaRPr spc="-10" dirty="0"/>
          </a:p>
          <a:p>
            <a:pPr marL="539115" marR="142240" indent="-170815">
              <a:lnSpc>
                <a:spcPts val="1450"/>
              </a:lnSpc>
              <a:spcBef>
                <a:spcPts val="95"/>
              </a:spcBef>
              <a:tabLst>
                <a:tab pos="638175" algn="l"/>
              </a:tabLst>
            </a:pPr>
            <a:r>
              <a:rPr spc="-5" dirty="0">
                <a:latin typeface="Arial" panose="020B0604020202020204"/>
                <a:cs typeface="Arial" panose="020B0604020202020204"/>
              </a:rPr>
              <a:t>1.		</a:t>
            </a:r>
            <a:r>
              <a:rPr spc="-5" dirty="0"/>
              <a:t>从训练集中采样</a:t>
            </a:r>
            <a:r>
              <a:rPr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pc="5" dirty="0"/>
              <a:t>（</a:t>
            </a:r>
            <a:r>
              <a:rPr spc="-5" dirty="0"/>
              <a:t>批量大小）个样本</a:t>
            </a:r>
            <a:r>
              <a:rPr spc="-85" dirty="0"/>
              <a:t> </a:t>
            </a:r>
            <a:r>
              <a:rPr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112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/>
              <a:t>对应 的目标为</a:t>
            </a:r>
            <a:r>
              <a:rPr sz="700" spc="-80" dirty="0"/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9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93424" y="1995465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59" y="0"/>
                </a:lnTo>
                <a:lnTo>
                  <a:pt x="60959" y="6096"/>
                </a:lnTo>
                <a:lnTo>
                  <a:pt x="0" y="60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491897" y="1966025"/>
            <a:ext cx="1771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spc="40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34444" y="1943649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1816" y="4571"/>
                </a:lnTo>
                <a:lnTo>
                  <a:pt x="54863" y="7619"/>
                </a:lnTo>
                <a:lnTo>
                  <a:pt x="56387" y="12192"/>
                </a:lnTo>
                <a:lnTo>
                  <a:pt x="59436" y="16763"/>
                </a:lnTo>
                <a:lnTo>
                  <a:pt x="60960" y="22859"/>
                </a:lnTo>
                <a:lnTo>
                  <a:pt x="60960" y="36575"/>
                </a:lnTo>
                <a:lnTo>
                  <a:pt x="59436" y="42671"/>
                </a:lnTo>
                <a:lnTo>
                  <a:pt x="56387" y="47243"/>
                </a:lnTo>
                <a:lnTo>
                  <a:pt x="54863" y="53339"/>
                </a:lnTo>
                <a:lnTo>
                  <a:pt x="51816" y="56387"/>
                </a:lnTo>
                <a:lnTo>
                  <a:pt x="45719" y="57912"/>
                </a:lnTo>
                <a:lnTo>
                  <a:pt x="47243" y="59436"/>
                </a:lnTo>
                <a:lnTo>
                  <a:pt x="53339" y="57912"/>
                </a:lnTo>
                <a:lnTo>
                  <a:pt x="57912" y="54863"/>
                </a:lnTo>
                <a:lnTo>
                  <a:pt x="60960" y="48768"/>
                </a:lnTo>
                <a:lnTo>
                  <a:pt x="64007" y="44195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6763"/>
                </a:lnTo>
                <a:lnTo>
                  <a:pt x="60960" y="10668"/>
                </a:lnTo>
                <a:lnTo>
                  <a:pt x="57912" y="6095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30100" y="1943649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8768" y="0"/>
                </a:moveTo>
                <a:lnTo>
                  <a:pt x="47243" y="3048"/>
                </a:lnTo>
                <a:lnTo>
                  <a:pt x="53339" y="4571"/>
                </a:lnTo>
                <a:lnTo>
                  <a:pt x="56387" y="7619"/>
                </a:lnTo>
                <a:lnTo>
                  <a:pt x="57912" y="12192"/>
                </a:lnTo>
                <a:lnTo>
                  <a:pt x="60960" y="16763"/>
                </a:lnTo>
                <a:lnTo>
                  <a:pt x="62483" y="22859"/>
                </a:lnTo>
                <a:lnTo>
                  <a:pt x="62483" y="36575"/>
                </a:lnTo>
                <a:lnTo>
                  <a:pt x="60960" y="42671"/>
                </a:lnTo>
                <a:lnTo>
                  <a:pt x="57912" y="47243"/>
                </a:lnTo>
                <a:lnTo>
                  <a:pt x="56387" y="53339"/>
                </a:lnTo>
                <a:lnTo>
                  <a:pt x="53339" y="56387"/>
                </a:lnTo>
                <a:lnTo>
                  <a:pt x="47243" y="57912"/>
                </a:lnTo>
                <a:lnTo>
                  <a:pt x="48768" y="59436"/>
                </a:lnTo>
                <a:lnTo>
                  <a:pt x="54863" y="57912"/>
                </a:lnTo>
                <a:lnTo>
                  <a:pt x="59436" y="54863"/>
                </a:lnTo>
                <a:lnTo>
                  <a:pt x="62483" y="48768"/>
                </a:lnTo>
                <a:lnTo>
                  <a:pt x="65531" y="44195"/>
                </a:lnTo>
                <a:lnTo>
                  <a:pt x="67056" y="38100"/>
                </a:lnTo>
                <a:lnTo>
                  <a:pt x="67056" y="22859"/>
                </a:lnTo>
                <a:lnTo>
                  <a:pt x="65531" y="16763"/>
                </a:lnTo>
                <a:lnTo>
                  <a:pt x="62483" y="10668"/>
                </a:lnTo>
                <a:lnTo>
                  <a:pt x="59436" y="6095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7310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62457" y="1923307"/>
            <a:ext cx="1598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计算梯度</a:t>
            </a:r>
            <a:r>
              <a:rPr sz="7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6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  </a:t>
            </a:r>
            <a:r>
              <a:rPr sz="750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2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e),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86972" y="2141769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39" y="6095"/>
                </a:lnTo>
                <a:lnTo>
                  <a:pt x="248411" y="10668"/>
                </a:lnTo>
                <a:lnTo>
                  <a:pt x="251459" y="16763"/>
                </a:lnTo>
                <a:lnTo>
                  <a:pt x="256031" y="22860"/>
                </a:lnTo>
                <a:lnTo>
                  <a:pt x="257555" y="30480"/>
                </a:lnTo>
                <a:lnTo>
                  <a:pt x="257555" y="50292"/>
                </a:lnTo>
                <a:lnTo>
                  <a:pt x="256031" y="59436"/>
                </a:lnTo>
                <a:lnTo>
                  <a:pt x="251459" y="65531"/>
                </a:lnTo>
                <a:lnTo>
                  <a:pt x="248411" y="71628"/>
                </a:lnTo>
                <a:lnTo>
                  <a:pt x="243839" y="76200"/>
                </a:lnTo>
                <a:lnTo>
                  <a:pt x="237744" y="79248"/>
                </a:lnTo>
                <a:lnTo>
                  <a:pt x="237744" y="82295"/>
                </a:lnTo>
                <a:lnTo>
                  <a:pt x="263342" y="48839"/>
                </a:lnTo>
                <a:lnTo>
                  <a:pt x="263651" y="41148"/>
                </a:lnTo>
                <a:lnTo>
                  <a:pt x="263342" y="33432"/>
                </a:lnTo>
                <a:lnTo>
                  <a:pt x="246887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7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7" y="82295"/>
                </a:lnTo>
                <a:lnTo>
                  <a:pt x="25907" y="79248"/>
                </a:lnTo>
                <a:lnTo>
                  <a:pt x="19811" y="76200"/>
                </a:lnTo>
                <a:lnTo>
                  <a:pt x="15239" y="71628"/>
                </a:lnTo>
                <a:lnTo>
                  <a:pt x="9143" y="59436"/>
                </a:lnTo>
                <a:lnTo>
                  <a:pt x="7619" y="50292"/>
                </a:lnTo>
                <a:lnTo>
                  <a:pt x="7619" y="30480"/>
                </a:lnTo>
                <a:lnTo>
                  <a:pt x="9143" y="22860"/>
                </a:lnTo>
                <a:lnTo>
                  <a:pt x="15239" y="10668"/>
                </a:lnTo>
                <a:lnTo>
                  <a:pt x="19811" y="6095"/>
                </a:lnTo>
                <a:lnTo>
                  <a:pt x="27431" y="3048"/>
                </a:lnTo>
                <a:lnTo>
                  <a:pt x="259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2773" y="1923307"/>
            <a:ext cx="86995" cy="47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2.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59183" y="2301789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40" y="6096"/>
                </a:lnTo>
                <a:lnTo>
                  <a:pt x="248412" y="10668"/>
                </a:lnTo>
                <a:lnTo>
                  <a:pt x="251460" y="16763"/>
                </a:lnTo>
                <a:lnTo>
                  <a:pt x="256032" y="22860"/>
                </a:lnTo>
                <a:lnTo>
                  <a:pt x="257556" y="30480"/>
                </a:lnTo>
                <a:lnTo>
                  <a:pt x="257556" y="50292"/>
                </a:lnTo>
                <a:lnTo>
                  <a:pt x="256032" y="59436"/>
                </a:lnTo>
                <a:lnTo>
                  <a:pt x="251460" y="65531"/>
                </a:lnTo>
                <a:lnTo>
                  <a:pt x="248412" y="71628"/>
                </a:lnTo>
                <a:lnTo>
                  <a:pt x="243840" y="76200"/>
                </a:lnTo>
                <a:lnTo>
                  <a:pt x="237744" y="79248"/>
                </a:lnTo>
                <a:lnTo>
                  <a:pt x="237744" y="82296"/>
                </a:lnTo>
                <a:lnTo>
                  <a:pt x="263342" y="48839"/>
                </a:lnTo>
                <a:lnTo>
                  <a:pt x="263652" y="41148"/>
                </a:lnTo>
                <a:lnTo>
                  <a:pt x="263342" y="33432"/>
                </a:lnTo>
                <a:lnTo>
                  <a:pt x="246888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8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8" y="82296"/>
                </a:lnTo>
                <a:lnTo>
                  <a:pt x="25908" y="79248"/>
                </a:lnTo>
                <a:lnTo>
                  <a:pt x="19812" y="76200"/>
                </a:lnTo>
                <a:lnTo>
                  <a:pt x="15240" y="71628"/>
                </a:lnTo>
                <a:lnTo>
                  <a:pt x="9143" y="59436"/>
                </a:lnTo>
                <a:lnTo>
                  <a:pt x="7620" y="50292"/>
                </a:lnTo>
                <a:lnTo>
                  <a:pt x="7620" y="30480"/>
                </a:lnTo>
                <a:lnTo>
                  <a:pt x="9143" y="22860"/>
                </a:lnTo>
                <a:lnTo>
                  <a:pt x="15240" y="10668"/>
                </a:lnTo>
                <a:lnTo>
                  <a:pt x="19812" y="6096"/>
                </a:lnTo>
                <a:lnTo>
                  <a:pt x="27432" y="3048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72088" y="2539533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92773" y="1953159"/>
            <a:ext cx="1743710" cy="6432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R="528955" algn="r">
              <a:lnSpc>
                <a:spcPct val="100000"/>
              </a:lnSpc>
              <a:spcBef>
                <a:spcPts val="360"/>
              </a:spcBef>
            </a:pPr>
            <a:r>
              <a:rPr sz="500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35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累积梯度</a:t>
            </a:r>
            <a:r>
              <a:rPr sz="7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 +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 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42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累积平方梯度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pr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∗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tabLst>
                <a:tab pos="269240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修正偏差</a:t>
            </a:r>
            <a:r>
              <a:rPr sz="700" spc="-7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-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r>
              <a:rPr sz="700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-3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50" spc="82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</a:t>
            </a:r>
            <a:r>
              <a:rPr sz="700" spc="9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9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endParaRPr sz="750" baseline="4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29288" y="2539533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641251" y="2783373"/>
            <a:ext cx="79375" cy="62865"/>
          </a:xfrm>
          <a:custGeom>
            <a:avLst/>
            <a:gdLst/>
            <a:ahLst/>
            <a:cxnLst/>
            <a:rect l="l" t="t" r="r" b="b"/>
            <a:pathLst>
              <a:path w="79375" h="62864">
                <a:moveTo>
                  <a:pt x="12668" y="33527"/>
                </a:moveTo>
                <a:lnTo>
                  <a:pt x="6096" y="33527"/>
                </a:lnTo>
                <a:lnTo>
                  <a:pt x="19812" y="62483"/>
                </a:lnTo>
                <a:lnTo>
                  <a:pt x="22860" y="62483"/>
                </a:lnTo>
                <a:lnTo>
                  <a:pt x="25506" y="53339"/>
                </a:lnTo>
                <a:lnTo>
                  <a:pt x="21336" y="53339"/>
                </a:lnTo>
                <a:lnTo>
                  <a:pt x="12668" y="33527"/>
                </a:lnTo>
                <a:close/>
              </a:path>
              <a:path w="79375" h="62864">
                <a:moveTo>
                  <a:pt x="79248" y="0"/>
                </a:moveTo>
                <a:lnTo>
                  <a:pt x="36575" y="0"/>
                </a:lnTo>
                <a:lnTo>
                  <a:pt x="21336" y="53339"/>
                </a:lnTo>
                <a:lnTo>
                  <a:pt x="25506" y="53339"/>
                </a:lnTo>
                <a:lnTo>
                  <a:pt x="39624" y="4571"/>
                </a:lnTo>
                <a:lnTo>
                  <a:pt x="79248" y="4571"/>
                </a:lnTo>
                <a:lnTo>
                  <a:pt x="79248" y="0"/>
                </a:lnTo>
                <a:close/>
              </a:path>
              <a:path w="79375" h="62864">
                <a:moveTo>
                  <a:pt x="10668" y="28956"/>
                </a:moveTo>
                <a:lnTo>
                  <a:pt x="0" y="33527"/>
                </a:lnTo>
                <a:lnTo>
                  <a:pt x="1524" y="36575"/>
                </a:lnTo>
                <a:lnTo>
                  <a:pt x="6096" y="33527"/>
                </a:lnTo>
                <a:lnTo>
                  <a:pt x="12668" y="33527"/>
                </a:lnTo>
                <a:lnTo>
                  <a:pt x="10668" y="289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641251" y="2769657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640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92773" y="2532944"/>
            <a:ext cx="1501140" cy="33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4870" algn="ctr">
              <a:lnSpc>
                <a:spcPct val="100000"/>
              </a:lnSpc>
              <a:spcBef>
                <a:spcPts val="100"/>
              </a:spcBef>
              <a:tabLst>
                <a:tab pos="1322070" algn="l"/>
              </a:tabLst>
            </a:pPr>
            <a:r>
              <a:rPr sz="500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600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600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	</a:t>
            </a:r>
            <a:r>
              <a:rPr sz="500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600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endParaRPr sz="600" baseline="210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ts val="700"/>
              </a:lnSpc>
              <a:tabLst>
                <a:tab pos="269240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更新权值</a:t>
            </a:r>
            <a:r>
              <a:rPr sz="700" spc="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6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</a:t>
            </a:r>
            <a:r>
              <a:rPr sz="750" spc="112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R="282575" algn="r">
              <a:lnSpc>
                <a:spcPts val="460"/>
              </a:lnSpc>
            </a:pPr>
            <a:r>
              <a:rPr sz="5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5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̃</a:t>
            </a:r>
            <a:r>
              <a:rPr sz="5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5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o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2495" y="2883421"/>
            <a:ext cx="385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736" y="665385"/>
            <a:ext cx="2992120" cy="2513330"/>
          </a:xfrm>
          <a:custGeom>
            <a:avLst/>
            <a:gdLst/>
            <a:ahLst/>
            <a:cxnLst/>
            <a:rect l="l" t="t" r="r" b="b"/>
            <a:pathLst>
              <a:path w="2992120" h="2513330">
                <a:moveTo>
                  <a:pt x="0" y="0"/>
                </a:moveTo>
                <a:lnTo>
                  <a:pt x="2991612" y="0"/>
                </a:lnTo>
                <a:lnTo>
                  <a:pt x="2991612" y="2513076"/>
                </a:lnTo>
                <a:lnTo>
                  <a:pt x="0" y="2513076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5164" y="656241"/>
            <a:ext cx="2999740" cy="18415"/>
          </a:xfrm>
          <a:custGeom>
            <a:avLst/>
            <a:gdLst/>
            <a:ahLst/>
            <a:cxnLst/>
            <a:rect l="l" t="t" r="r" b="b"/>
            <a:pathLst>
              <a:path w="2999740" h="18415">
                <a:moveTo>
                  <a:pt x="0" y="0"/>
                </a:moveTo>
                <a:lnTo>
                  <a:pt x="2999231" y="0"/>
                </a:lnTo>
                <a:lnTo>
                  <a:pt x="2999231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736" y="508413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1347" y="508413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164" y="511461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5164" y="3178461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2783" y="514509"/>
            <a:ext cx="2985770" cy="142240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2222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75"/>
              </a:spcBef>
            </a:pPr>
            <a:r>
              <a:rPr sz="700" b="1" spc="-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Adam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7532" y="1549305"/>
            <a:ext cx="536575" cy="105410"/>
          </a:xfrm>
          <a:custGeom>
            <a:avLst/>
            <a:gdLst/>
            <a:ahLst/>
            <a:cxnLst/>
            <a:rect l="l" t="t" r="r" b="b"/>
            <a:pathLst>
              <a:path w="536575" h="105410">
                <a:moveTo>
                  <a:pt x="516635" y="0"/>
                </a:moveTo>
                <a:lnTo>
                  <a:pt x="509016" y="0"/>
                </a:lnTo>
                <a:lnTo>
                  <a:pt x="509016" y="3048"/>
                </a:lnTo>
                <a:lnTo>
                  <a:pt x="513588" y="3048"/>
                </a:lnTo>
                <a:lnTo>
                  <a:pt x="518159" y="4572"/>
                </a:lnTo>
                <a:lnTo>
                  <a:pt x="519683" y="7620"/>
                </a:lnTo>
                <a:lnTo>
                  <a:pt x="522731" y="9144"/>
                </a:lnTo>
                <a:lnTo>
                  <a:pt x="522731" y="32003"/>
                </a:lnTo>
                <a:lnTo>
                  <a:pt x="521207" y="35051"/>
                </a:lnTo>
                <a:lnTo>
                  <a:pt x="521207" y="42672"/>
                </a:lnTo>
                <a:lnTo>
                  <a:pt x="522731" y="45720"/>
                </a:lnTo>
                <a:lnTo>
                  <a:pt x="524256" y="47244"/>
                </a:lnTo>
                <a:lnTo>
                  <a:pt x="525780" y="50292"/>
                </a:lnTo>
                <a:lnTo>
                  <a:pt x="527304" y="51816"/>
                </a:lnTo>
                <a:lnTo>
                  <a:pt x="528828" y="51816"/>
                </a:lnTo>
                <a:lnTo>
                  <a:pt x="528828" y="53340"/>
                </a:lnTo>
                <a:lnTo>
                  <a:pt x="527304" y="53340"/>
                </a:lnTo>
                <a:lnTo>
                  <a:pt x="525780" y="54864"/>
                </a:lnTo>
                <a:lnTo>
                  <a:pt x="524256" y="57912"/>
                </a:lnTo>
                <a:lnTo>
                  <a:pt x="522731" y="59436"/>
                </a:lnTo>
                <a:lnTo>
                  <a:pt x="521207" y="62484"/>
                </a:lnTo>
                <a:lnTo>
                  <a:pt x="521207" y="70103"/>
                </a:lnTo>
                <a:lnTo>
                  <a:pt x="522731" y="73151"/>
                </a:lnTo>
                <a:lnTo>
                  <a:pt x="522731" y="96012"/>
                </a:lnTo>
                <a:lnTo>
                  <a:pt x="519683" y="97536"/>
                </a:lnTo>
                <a:lnTo>
                  <a:pt x="518159" y="100584"/>
                </a:lnTo>
                <a:lnTo>
                  <a:pt x="513588" y="102108"/>
                </a:lnTo>
                <a:lnTo>
                  <a:pt x="509016" y="102108"/>
                </a:lnTo>
                <a:lnTo>
                  <a:pt x="509016" y="105155"/>
                </a:lnTo>
                <a:lnTo>
                  <a:pt x="516635" y="105155"/>
                </a:lnTo>
                <a:lnTo>
                  <a:pt x="522731" y="103631"/>
                </a:lnTo>
                <a:lnTo>
                  <a:pt x="525780" y="99060"/>
                </a:lnTo>
                <a:lnTo>
                  <a:pt x="528828" y="96012"/>
                </a:lnTo>
                <a:lnTo>
                  <a:pt x="530352" y="89916"/>
                </a:lnTo>
                <a:lnTo>
                  <a:pt x="530352" y="70103"/>
                </a:lnTo>
                <a:lnTo>
                  <a:pt x="528828" y="67055"/>
                </a:lnTo>
                <a:lnTo>
                  <a:pt x="528828" y="57912"/>
                </a:lnTo>
                <a:lnTo>
                  <a:pt x="531876" y="54864"/>
                </a:lnTo>
                <a:lnTo>
                  <a:pt x="536447" y="54864"/>
                </a:lnTo>
                <a:lnTo>
                  <a:pt x="536447" y="50292"/>
                </a:lnTo>
                <a:lnTo>
                  <a:pt x="531876" y="50292"/>
                </a:lnTo>
                <a:lnTo>
                  <a:pt x="528828" y="47244"/>
                </a:lnTo>
                <a:lnTo>
                  <a:pt x="528828" y="38100"/>
                </a:lnTo>
                <a:lnTo>
                  <a:pt x="530352" y="33527"/>
                </a:lnTo>
                <a:lnTo>
                  <a:pt x="530352" y="15240"/>
                </a:lnTo>
                <a:lnTo>
                  <a:pt x="528828" y="9144"/>
                </a:lnTo>
                <a:lnTo>
                  <a:pt x="525780" y="4572"/>
                </a:lnTo>
                <a:lnTo>
                  <a:pt x="522731" y="1524"/>
                </a:lnTo>
                <a:lnTo>
                  <a:pt x="516635" y="0"/>
                </a:lnTo>
                <a:close/>
              </a:path>
              <a:path w="536575" h="105410">
                <a:moveTo>
                  <a:pt x="27431" y="0"/>
                </a:moveTo>
                <a:lnTo>
                  <a:pt x="19812" y="0"/>
                </a:lnTo>
                <a:lnTo>
                  <a:pt x="15240" y="1524"/>
                </a:lnTo>
                <a:lnTo>
                  <a:pt x="7619" y="9144"/>
                </a:lnTo>
                <a:lnTo>
                  <a:pt x="6095" y="15240"/>
                </a:lnTo>
                <a:lnTo>
                  <a:pt x="6095" y="25908"/>
                </a:lnTo>
                <a:lnTo>
                  <a:pt x="7619" y="30479"/>
                </a:lnTo>
                <a:lnTo>
                  <a:pt x="7619" y="38100"/>
                </a:lnTo>
                <a:lnTo>
                  <a:pt x="9143" y="41148"/>
                </a:lnTo>
                <a:lnTo>
                  <a:pt x="9143" y="44196"/>
                </a:lnTo>
                <a:lnTo>
                  <a:pt x="7619" y="47244"/>
                </a:lnTo>
                <a:lnTo>
                  <a:pt x="4572" y="50292"/>
                </a:lnTo>
                <a:lnTo>
                  <a:pt x="0" y="50292"/>
                </a:lnTo>
                <a:lnTo>
                  <a:pt x="0" y="54864"/>
                </a:lnTo>
                <a:lnTo>
                  <a:pt x="4572" y="54864"/>
                </a:lnTo>
                <a:lnTo>
                  <a:pt x="7619" y="57912"/>
                </a:lnTo>
                <a:lnTo>
                  <a:pt x="9143" y="60960"/>
                </a:lnTo>
                <a:lnTo>
                  <a:pt x="9143" y="64008"/>
                </a:lnTo>
                <a:lnTo>
                  <a:pt x="7619" y="67055"/>
                </a:lnTo>
                <a:lnTo>
                  <a:pt x="7619" y="74675"/>
                </a:lnTo>
                <a:lnTo>
                  <a:pt x="6095" y="77724"/>
                </a:lnTo>
                <a:lnTo>
                  <a:pt x="6095" y="89916"/>
                </a:lnTo>
                <a:lnTo>
                  <a:pt x="7619" y="96012"/>
                </a:lnTo>
                <a:lnTo>
                  <a:pt x="12192" y="99060"/>
                </a:lnTo>
                <a:lnTo>
                  <a:pt x="15240" y="103631"/>
                </a:lnTo>
                <a:lnTo>
                  <a:pt x="19812" y="105155"/>
                </a:lnTo>
                <a:lnTo>
                  <a:pt x="27431" y="105155"/>
                </a:lnTo>
                <a:lnTo>
                  <a:pt x="27431" y="102108"/>
                </a:lnTo>
                <a:lnTo>
                  <a:pt x="22860" y="102108"/>
                </a:lnTo>
                <a:lnTo>
                  <a:pt x="19812" y="100584"/>
                </a:lnTo>
                <a:lnTo>
                  <a:pt x="15240" y="96012"/>
                </a:lnTo>
                <a:lnTo>
                  <a:pt x="13716" y="89916"/>
                </a:lnTo>
                <a:lnTo>
                  <a:pt x="13716" y="77724"/>
                </a:lnTo>
                <a:lnTo>
                  <a:pt x="15240" y="73151"/>
                </a:lnTo>
                <a:lnTo>
                  <a:pt x="15240" y="59436"/>
                </a:lnTo>
                <a:lnTo>
                  <a:pt x="13716" y="57912"/>
                </a:lnTo>
                <a:lnTo>
                  <a:pt x="12192" y="54864"/>
                </a:lnTo>
                <a:lnTo>
                  <a:pt x="10668" y="53340"/>
                </a:lnTo>
                <a:lnTo>
                  <a:pt x="7619" y="53340"/>
                </a:lnTo>
                <a:lnTo>
                  <a:pt x="7619" y="51816"/>
                </a:lnTo>
                <a:lnTo>
                  <a:pt x="10668" y="51816"/>
                </a:lnTo>
                <a:lnTo>
                  <a:pt x="12192" y="50292"/>
                </a:lnTo>
                <a:lnTo>
                  <a:pt x="13716" y="47244"/>
                </a:lnTo>
                <a:lnTo>
                  <a:pt x="15240" y="45720"/>
                </a:lnTo>
                <a:lnTo>
                  <a:pt x="15240" y="32003"/>
                </a:lnTo>
                <a:lnTo>
                  <a:pt x="13716" y="27431"/>
                </a:lnTo>
                <a:lnTo>
                  <a:pt x="13716" y="15240"/>
                </a:lnTo>
                <a:lnTo>
                  <a:pt x="15240" y="9144"/>
                </a:lnTo>
                <a:lnTo>
                  <a:pt x="19812" y="4572"/>
                </a:lnTo>
                <a:lnTo>
                  <a:pt x="22860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45923" y="154625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90">
                <a:moveTo>
                  <a:pt x="59436" y="0"/>
                </a:moveTo>
                <a:lnTo>
                  <a:pt x="57912" y="3048"/>
                </a:lnTo>
                <a:lnTo>
                  <a:pt x="64008" y="4572"/>
                </a:lnTo>
                <a:lnTo>
                  <a:pt x="67055" y="7620"/>
                </a:lnTo>
                <a:lnTo>
                  <a:pt x="68579" y="12192"/>
                </a:lnTo>
                <a:lnTo>
                  <a:pt x="71627" y="16764"/>
                </a:lnTo>
                <a:lnTo>
                  <a:pt x="73151" y="22860"/>
                </a:lnTo>
                <a:lnTo>
                  <a:pt x="73151" y="36575"/>
                </a:lnTo>
                <a:lnTo>
                  <a:pt x="71627" y="42672"/>
                </a:lnTo>
                <a:lnTo>
                  <a:pt x="68579" y="47244"/>
                </a:lnTo>
                <a:lnTo>
                  <a:pt x="67055" y="53340"/>
                </a:lnTo>
                <a:lnTo>
                  <a:pt x="64008" y="56388"/>
                </a:lnTo>
                <a:lnTo>
                  <a:pt x="57912" y="57912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3" y="54864"/>
                </a:lnTo>
                <a:lnTo>
                  <a:pt x="73151" y="48768"/>
                </a:lnTo>
                <a:lnTo>
                  <a:pt x="76200" y="44196"/>
                </a:lnTo>
                <a:lnTo>
                  <a:pt x="77724" y="38100"/>
                </a:lnTo>
                <a:lnTo>
                  <a:pt x="77724" y="22860"/>
                </a:lnTo>
                <a:lnTo>
                  <a:pt x="76200" y="16764"/>
                </a:lnTo>
                <a:lnTo>
                  <a:pt x="73151" y="10668"/>
                </a:lnTo>
                <a:lnTo>
                  <a:pt x="70103" y="6096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8105" h="59690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50723" y="1546257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90">
                <a:moveTo>
                  <a:pt x="83820" y="0"/>
                </a:moveTo>
                <a:lnTo>
                  <a:pt x="82296" y="3048"/>
                </a:lnTo>
                <a:lnTo>
                  <a:pt x="88391" y="4572"/>
                </a:lnTo>
                <a:lnTo>
                  <a:pt x="91439" y="7620"/>
                </a:lnTo>
                <a:lnTo>
                  <a:pt x="92963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2"/>
                </a:lnTo>
                <a:lnTo>
                  <a:pt x="92963" y="47244"/>
                </a:lnTo>
                <a:lnTo>
                  <a:pt x="91439" y="53340"/>
                </a:lnTo>
                <a:lnTo>
                  <a:pt x="88391" y="56388"/>
                </a:lnTo>
                <a:lnTo>
                  <a:pt x="82296" y="57912"/>
                </a:lnTo>
                <a:lnTo>
                  <a:pt x="83820" y="59436"/>
                </a:lnTo>
                <a:lnTo>
                  <a:pt x="89915" y="57912"/>
                </a:lnTo>
                <a:lnTo>
                  <a:pt x="94487" y="54864"/>
                </a:lnTo>
                <a:lnTo>
                  <a:pt x="97536" y="48768"/>
                </a:lnTo>
                <a:lnTo>
                  <a:pt x="100584" y="44196"/>
                </a:lnTo>
                <a:lnTo>
                  <a:pt x="102108" y="38100"/>
                </a:lnTo>
                <a:lnTo>
                  <a:pt x="102108" y="22860"/>
                </a:lnTo>
                <a:lnTo>
                  <a:pt x="100584" y="16764"/>
                </a:lnTo>
                <a:lnTo>
                  <a:pt x="97536" y="10668"/>
                </a:lnTo>
                <a:lnTo>
                  <a:pt x="94487" y="6096"/>
                </a:lnTo>
                <a:lnTo>
                  <a:pt x="89915" y="1524"/>
                </a:lnTo>
                <a:lnTo>
                  <a:pt x="83820" y="0"/>
                </a:lnTo>
                <a:close/>
              </a:path>
              <a:path w="102235" h="59690">
                <a:moveTo>
                  <a:pt x="19812" y="0"/>
                </a:moveTo>
                <a:lnTo>
                  <a:pt x="13715" y="1524"/>
                </a:lnTo>
                <a:lnTo>
                  <a:pt x="4572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1" y="53340"/>
                </a:lnTo>
                <a:lnTo>
                  <a:pt x="9143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23092" y="1733709"/>
            <a:ext cx="533400" cy="105410"/>
          </a:xfrm>
          <a:custGeom>
            <a:avLst/>
            <a:gdLst/>
            <a:ahLst/>
            <a:cxnLst/>
            <a:rect l="l" t="t" r="r" b="b"/>
            <a:pathLst>
              <a:path w="533400" h="105410">
                <a:moveTo>
                  <a:pt x="513588" y="0"/>
                </a:moveTo>
                <a:lnTo>
                  <a:pt x="505968" y="0"/>
                </a:lnTo>
                <a:lnTo>
                  <a:pt x="505968" y="3048"/>
                </a:lnTo>
                <a:lnTo>
                  <a:pt x="510539" y="3048"/>
                </a:lnTo>
                <a:lnTo>
                  <a:pt x="515112" y="4572"/>
                </a:lnTo>
                <a:lnTo>
                  <a:pt x="516635" y="7620"/>
                </a:lnTo>
                <a:lnTo>
                  <a:pt x="519683" y="9144"/>
                </a:lnTo>
                <a:lnTo>
                  <a:pt x="519683" y="32004"/>
                </a:lnTo>
                <a:lnTo>
                  <a:pt x="518159" y="35051"/>
                </a:lnTo>
                <a:lnTo>
                  <a:pt x="518159" y="42672"/>
                </a:lnTo>
                <a:lnTo>
                  <a:pt x="519683" y="45720"/>
                </a:lnTo>
                <a:lnTo>
                  <a:pt x="521207" y="47244"/>
                </a:lnTo>
                <a:lnTo>
                  <a:pt x="522731" y="50292"/>
                </a:lnTo>
                <a:lnTo>
                  <a:pt x="524256" y="51816"/>
                </a:lnTo>
                <a:lnTo>
                  <a:pt x="525780" y="51816"/>
                </a:lnTo>
                <a:lnTo>
                  <a:pt x="525780" y="53340"/>
                </a:lnTo>
                <a:lnTo>
                  <a:pt x="524256" y="53340"/>
                </a:lnTo>
                <a:lnTo>
                  <a:pt x="522731" y="54864"/>
                </a:lnTo>
                <a:lnTo>
                  <a:pt x="521207" y="57912"/>
                </a:lnTo>
                <a:lnTo>
                  <a:pt x="519683" y="59436"/>
                </a:lnTo>
                <a:lnTo>
                  <a:pt x="518159" y="62484"/>
                </a:lnTo>
                <a:lnTo>
                  <a:pt x="518159" y="70104"/>
                </a:lnTo>
                <a:lnTo>
                  <a:pt x="519683" y="73151"/>
                </a:lnTo>
                <a:lnTo>
                  <a:pt x="519683" y="96012"/>
                </a:lnTo>
                <a:lnTo>
                  <a:pt x="516635" y="97536"/>
                </a:lnTo>
                <a:lnTo>
                  <a:pt x="515112" y="100584"/>
                </a:lnTo>
                <a:lnTo>
                  <a:pt x="510539" y="102108"/>
                </a:lnTo>
                <a:lnTo>
                  <a:pt x="505968" y="102108"/>
                </a:lnTo>
                <a:lnTo>
                  <a:pt x="505968" y="105156"/>
                </a:lnTo>
                <a:lnTo>
                  <a:pt x="513588" y="105156"/>
                </a:lnTo>
                <a:lnTo>
                  <a:pt x="519683" y="103632"/>
                </a:lnTo>
                <a:lnTo>
                  <a:pt x="522731" y="99060"/>
                </a:lnTo>
                <a:lnTo>
                  <a:pt x="525780" y="96012"/>
                </a:lnTo>
                <a:lnTo>
                  <a:pt x="527303" y="89916"/>
                </a:lnTo>
                <a:lnTo>
                  <a:pt x="527303" y="70104"/>
                </a:lnTo>
                <a:lnTo>
                  <a:pt x="525780" y="67056"/>
                </a:lnTo>
                <a:lnTo>
                  <a:pt x="525780" y="57912"/>
                </a:lnTo>
                <a:lnTo>
                  <a:pt x="528827" y="54864"/>
                </a:lnTo>
                <a:lnTo>
                  <a:pt x="533400" y="54864"/>
                </a:lnTo>
                <a:lnTo>
                  <a:pt x="533400" y="50292"/>
                </a:lnTo>
                <a:lnTo>
                  <a:pt x="528827" y="50292"/>
                </a:lnTo>
                <a:lnTo>
                  <a:pt x="525780" y="47244"/>
                </a:lnTo>
                <a:lnTo>
                  <a:pt x="525780" y="38100"/>
                </a:lnTo>
                <a:lnTo>
                  <a:pt x="527303" y="33527"/>
                </a:lnTo>
                <a:lnTo>
                  <a:pt x="527303" y="15240"/>
                </a:lnTo>
                <a:lnTo>
                  <a:pt x="525780" y="9144"/>
                </a:lnTo>
                <a:lnTo>
                  <a:pt x="522731" y="4572"/>
                </a:lnTo>
                <a:lnTo>
                  <a:pt x="519683" y="1524"/>
                </a:lnTo>
                <a:lnTo>
                  <a:pt x="513588" y="0"/>
                </a:lnTo>
                <a:close/>
              </a:path>
              <a:path w="533400" h="105410">
                <a:moveTo>
                  <a:pt x="27431" y="0"/>
                </a:moveTo>
                <a:lnTo>
                  <a:pt x="19812" y="0"/>
                </a:lnTo>
                <a:lnTo>
                  <a:pt x="15239" y="1524"/>
                </a:lnTo>
                <a:lnTo>
                  <a:pt x="7619" y="9144"/>
                </a:lnTo>
                <a:lnTo>
                  <a:pt x="6095" y="15240"/>
                </a:lnTo>
                <a:lnTo>
                  <a:pt x="6095" y="25908"/>
                </a:lnTo>
                <a:lnTo>
                  <a:pt x="7619" y="30480"/>
                </a:lnTo>
                <a:lnTo>
                  <a:pt x="7619" y="38100"/>
                </a:lnTo>
                <a:lnTo>
                  <a:pt x="9143" y="41148"/>
                </a:lnTo>
                <a:lnTo>
                  <a:pt x="9143" y="44196"/>
                </a:lnTo>
                <a:lnTo>
                  <a:pt x="7619" y="47244"/>
                </a:lnTo>
                <a:lnTo>
                  <a:pt x="4571" y="50292"/>
                </a:lnTo>
                <a:lnTo>
                  <a:pt x="0" y="50292"/>
                </a:lnTo>
                <a:lnTo>
                  <a:pt x="0" y="54864"/>
                </a:lnTo>
                <a:lnTo>
                  <a:pt x="4571" y="54864"/>
                </a:lnTo>
                <a:lnTo>
                  <a:pt x="7619" y="57912"/>
                </a:lnTo>
                <a:lnTo>
                  <a:pt x="9143" y="60960"/>
                </a:lnTo>
                <a:lnTo>
                  <a:pt x="9143" y="64008"/>
                </a:lnTo>
                <a:lnTo>
                  <a:pt x="7619" y="67056"/>
                </a:lnTo>
                <a:lnTo>
                  <a:pt x="7619" y="74675"/>
                </a:lnTo>
                <a:lnTo>
                  <a:pt x="6095" y="77724"/>
                </a:lnTo>
                <a:lnTo>
                  <a:pt x="6095" y="89916"/>
                </a:lnTo>
                <a:lnTo>
                  <a:pt x="7619" y="96012"/>
                </a:lnTo>
                <a:lnTo>
                  <a:pt x="12191" y="99060"/>
                </a:lnTo>
                <a:lnTo>
                  <a:pt x="15239" y="103632"/>
                </a:lnTo>
                <a:lnTo>
                  <a:pt x="19812" y="105156"/>
                </a:lnTo>
                <a:lnTo>
                  <a:pt x="27431" y="105156"/>
                </a:lnTo>
                <a:lnTo>
                  <a:pt x="27431" y="102108"/>
                </a:lnTo>
                <a:lnTo>
                  <a:pt x="22859" y="102108"/>
                </a:lnTo>
                <a:lnTo>
                  <a:pt x="19812" y="100584"/>
                </a:lnTo>
                <a:lnTo>
                  <a:pt x="15239" y="96012"/>
                </a:lnTo>
                <a:lnTo>
                  <a:pt x="13715" y="89916"/>
                </a:lnTo>
                <a:lnTo>
                  <a:pt x="13715" y="77724"/>
                </a:lnTo>
                <a:lnTo>
                  <a:pt x="15239" y="73151"/>
                </a:lnTo>
                <a:lnTo>
                  <a:pt x="15239" y="59436"/>
                </a:lnTo>
                <a:lnTo>
                  <a:pt x="13715" y="57912"/>
                </a:lnTo>
                <a:lnTo>
                  <a:pt x="12191" y="54864"/>
                </a:lnTo>
                <a:lnTo>
                  <a:pt x="10668" y="53340"/>
                </a:lnTo>
                <a:lnTo>
                  <a:pt x="7619" y="53340"/>
                </a:lnTo>
                <a:lnTo>
                  <a:pt x="7619" y="51816"/>
                </a:lnTo>
                <a:lnTo>
                  <a:pt x="10668" y="51816"/>
                </a:lnTo>
                <a:lnTo>
                  <a:pt x="12191" y="50292"/>
                </a:lnTo>
                <a:lnTo>
                  <a:pt x="13715" y="47244"/>
                </a:lnTo>
                <a:lnTo>
                  <a:pt x="15239" y="45720"/>
                </a:lnTo>
                <a:lnTo>
                  <a:pt x="15239" y="32004"/>
                </a:lnTo>
                <a:lnTo>
                  <a:pt x="13715" y="27432"/>
                </a:lnTo>
                <a:lnTo>
                  <a:pt x="13715" y="15240"/>
                </a:lnTo>
                <a:lnTo>
                  <a:pt x="15239" y="9144"/>
                </a:lnTo>
                <a:lnTo>
                  <a:pt x="19812" y="4572"/>
                </a:lnTo>
                <a:lnTo>
                  <a:pt x="22859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06911" y="1730661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9436" y="0"/>
                </a:moveTo>
                <a:lnTo>
                  <a:pt x="57912" y="3048"/>
                </a:lnTo>
                <a:lnTo>
                  <a:pt x="64007" y="4572"/>
                </a:lnTo>
                <a:lnTo>
                  <a:pt x="67056" y="7620"/>
                </a:lnTo>
                <a:lnTo>
                  <a:pt x="68580" y="12192"/>
                </a:lnTo>
                <a:lnTo>
                  <a:pt x="71627" y="16764"/>
                </a:lnTo>
                <a:lnTo>
                  <a:pt x="73151" y="22860"/>
                </a:lnTo>
                <a:lnTo>
                  <a:pt x="73151" y="36575"/>
                </a:lnTo>
                <a:lnTo>
                  <a:pt x="71627" y="42672"/>
                </a:lnTo>
                <a:lnTo>
                  <a:pt x="68580" y="47244"/>
                </a:lnTo>
                <a:lnTo>
                  <a:pt x="67056" y="53340"/>
                </a:lnTo>
                <a:lnTo>
                  <a:pt x="64007" y="56388"/>
                </a:lnTo>
                <a:lnTo>
                  <a:pt x="57912" y="57912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4" y="54864"/>
                </a:lnTo>
                <a:lnTo>
                  <a:pt x="73151" y="48768"/>
                </a:lnTo>
                <a:lnTo>
                  <a:pt x="76200" y="44196"/>
                </a:lnTo>
                <a:lnTo>
                  <a:pt x="77724" y="38100"/>
                </a:lnTo>
                <a:lnTo>
                  <a:pt x="77724" y="22860"/>
                </a:lnTo>
                <a:lnTo>
                  <a:pt x="76200" y="16764"/>
                </a:lnTo>
                <a:lnTo>
                  <a:pt x="73151" y="10668"/>
                </a:lnTo>
                <a:lnTo>
                  <a:pt x="70104" y="6096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8105" h="59689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13236" y="1730661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4" h="59689">
                <a:moveTo>
                  <a:pt x="83819" y="0"/>
                </a:moveTo>
                <a:lnTo>
                  <a:pt x="82295" y="3048"/>
                </a:lnTo>
                <a:lnTo>
                  <a:pt x="88391" y="4572"/>
                </a:lnTo>
                <a:lnTo>
                  <a:pt x="91439" y="7620"/>
                </a:lnTo>
                <a:lnTo>
                  <a:pt x="92963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2"/>
                </a:lnTo>
                <a:lnTo>
                  <a:pt x="92963" y="47244"/>
                </a:lnTo>
                <a:lnTo>
                  <a:pt x="91439" y="53340"/>
                </a:lnTo>
                <a:lnTo>
                  <a:pt x="88391" y="56388"/>
                </a:lnTo>
                <a:lnTo>
                  <a:pt x="82295" y="57912"/>
                </a:lnTo>
                <a:lnTo>
                  <a:pt x="83819" y="59436"/>
                </a:lnTo>
                <a:lnTo>
                  <a:pt x="89915" y="57912"/>
                </a:lnTo>
                <a:lnTo>
                  <a:pt x="94487" y="54864"/>
                </a:lnTo>
                <a:lnTo>
                  <a:pt x="97536" y="48768"/>
                </a:lnTo>
                <a:lnTo>
                  <a:pt x="100583" y="44196"/>
                </a:lnTo>
                <a:lnTo>
                  <a:pt x="102107" y="38100"/>
                </a:lnTo>
                <a:lnTo>
                  <a:pt x="102107" y="22860"/>
                </a:lnTo>
                <a:lnTo>
                  <a:pt x="100583" y="16764"/>
                </a:lnTo>
                <a:lnTo>
                  <a:pt x="97536" y="10668"/>
                </a:lnTo>
                <a:lnTo>
                  <a:pt x="94487" y="6096"/>
                </a:lnTo>
                <a:lnTo>
                  <a:pt x="89915" y="1524"/>
                </a:lnTo>
                <a:lnTo>
                  <a:pt x="83819" y="0"/>
                </a:lnTo>
                <a:close/>
              </a:path>
              <a:path w="102234" h="59689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1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 </a:t>
            </a:r>
            <a:r>
              <a:rPr spc="5" dirty="0"/>
              <a:t>学</a:t>
            </a:r>
            <a:r>
              <a:rPr spc="-5" dirty="0"/>
              <a:t>习率</a:t>
            </a:r>
            <a:r>
              <a:rPr spc="-100" dirty="0"/>
              <a:t> </a:t>
            </a:r>
            <a:r>
              <a:rPr i="1" spc="3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pc="35" dirty="0"/>
              <a:t>，</a:t>
            </a:r>
            <a:r>
              <a:rPr spc="-5" dirty="0"/>
              <a:t>衰减</a:t>
            </a:r>
            <a:r>
              <a:rPr spc="5" dirty="0"/>
              <a:t>速</a:t>
            </a:r>
            <a:r>
              <a:rPr spc="-5" dirty="0"/>
              <a:t>率</a:t>
            </a:r>
            <a:r>
              <a:rPr spc="-110" dirty="0"/>
              <a:t> </a:t>
            </a:r>
            <a:r>
              <a:rPr i="1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i="1" spc="-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-5" dirty="0"/>
              <a:t>，动</a:t>
            </a:r>
            <a:r>
              <a:rPr spc="5" dirty="0"/>
              <a:t>量系</a:t>
            </a:r>
            <a:r>
              <a:rPr spc="40" dirty="0"/>
              <a:t>数</a:t>
            </a:r>
            <a:r>
              <a:rPr i="1" dirty="0">
                <a:latin typeface="Cambria Math" panose="02040503050406030204"/>
                <a:cs typeface="Cambria Math" panose="02040503050406030204"/>
              </a:rPr>
              <a:t>µ</a:t>
            </a:r>
            <a:r>
              <a:rPr i="1" spc="-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-5" dirty="0"/>
              <a:t>。</a:t>
            </a:r>
            <a:r>
              <a:rPr spc="-5" dirty="0">
                <a:solidFill>
                  <a:srgbClr val="FF0000"/>
                </a:solidFill>
              </a:rPr>
              <a:t>（建</a:t>
            </a:r>
            <a:r>
              <a:rPr spc="5" dirty="0">
                <a:solidFill>
                  <a:srgbClr val="FF0000"/>
                </a:solidFill>
              </a:rPr>
              <a:t>议</a:t>
            </a:r>
            <a:r>
              <a:rPr spc="-5" dirty="0">
                <a:solidFill>
                  <a:srgbClr val="FF0000"/>
                </a:solidFill>
              </a:rPr>
              <a:t>值分</a:t>
            </a:r>
            <a:r>
              <a:rPr spc="5" dirty="0">
                <a:solidFill>
                  <a:srgbClr val="FF0000"/>
                </a:solidFill>
              </a:rPr>
              <a:t>别</a:t>
            </a:r>
            <a:r>
              <a:rPr spc="-10" dirty="0">
                <a:solidFill>
                  <a:srgbClr val="FF0000"/>
                </a:solidFill>
              </a:rPr>
              <a:t>为</a:t>
            </a:r>
            <a:r>
              <a:rPr spc="-5" dirty="0">
                <a:solidFill>
                  <a:srgbClr val="FF0000"/>
                </a:solidFill>
              </a:rPr>
              <a:t>0.999，0.9）</a:t>
            </a:r>
            <a:endParaRPr spc="-5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equire: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初始参数</a:t>
            </a:r>
            <a:r>
              <a:rPr spc="-150" dirty="0"/>
              <a:t> </a:t>
            </a:r>
            <a:r>
              <a:rPr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i="1" spc="50" dirty="0">
              <a:latin typeface="Cambria Math" panose="02040503050406030204"/>
              <a:cs typeface="Cambria Math" panose="02040503050406030204"/>
            </a:endParaRPr>
          </a:p>
          <a:p>
            <a:pPr marL="220345" marR="358140" indent="-220980">
              <a:lnSpc>
                <a:spcPct val="150000"/>
              </a:lnSpc>
              <a:spcBef>
                <a:spcPts val="1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pc="-15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小常数</a:t>
            </a:r>
            <a:r>
              <a:rPr i="1" spc="1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pc="10" dirty="0"/>
              <a:t>，</a:t>
            </a:r>
            <a:r>
              <a:rPr spc="-5" dirty="0"/>
              <a:t>用于被小数除时的数值稳</a:t>
            </a:r>
            <a:r>
              <a:rPr spc="5" dirty="0"/>
              <a:t>定</a:t>
            </a:r>
            <a:r>
              <a:rPr spc="-5" dirty="0"/>
              <a:t>。（</a:t>
            </a:r>
            <a:r>
              <a:rPr spc="5" dirty="0"/>
              <a:t>通</a:t>
            </a:r>
            <a:r>
              <a:rPr spc="-5" dirty="0"/>
              <a:t>常设</a:t>
            </a:r>
            <a:r>
              <a:rPr spc="5" dirty="0"/>
              <a:t>为</a:t>
            </a:r>
            <a:r>
              <a:rPr i="1" spc="4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750" i="1" spc="67" baseline="28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700" spc="45" dirty="0"/>
              <a:t>）  </a:t>
            </a:r>
            <a:r>
              <a:rPr sz="700" spc="5" dirty="0">
                <a:solidFill>
                  <a:srgbClr val="FF0000"/>
                </a:solidFill>
              </a:rPr>
              <a:t>初</a:t>
            </a:r>
            <a:r>
              <a:rPr sz="700" spc="-5" dirty="0">
                <a:solidFill>
                  <a:srgbClr val="FF0000"/>
                </a:solidFill>
              </a:rPr>
              <a:t>始化</a:t>
            </a:r>
            <a:r>
              <a:rPr sz="700" spc="5" dirty="0">
                <a:solidFill>
                  <a:srgbClr val="FF0000"/>
                </a:solidFill>
              </a:rPr>
              <a:t>累</a:t>
            </a:r>
            <a:r>
              <a:rPr sz="700" spc="-5" dirty="0">
                <a:solidFill>
                  <a:srgbClr val="FF0000"/>
                </a:solidFill>
              </a:rPr>
              <a:t>积变量</a:t>
            </a:r>
            <a:r>
              <a:rPr sz="700" spc="5" dirty="0">
                <a:solidFill>
                  <a:srgbClr val="FF0000"/>
                </a:solidFill>
              </a:rPr>
              <a:t> 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0,</a:t>
            </a:r>
            <a:r>
              <a:rPr sz="700" i="1" spc="-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停止标准未满足</a:t>
            </a:r>
            <a:r>
              <a:rPr spc="-135" dirty="0"/>
              <a:t> </a:t>
            </a:r>
            <a:r>
              <a:rPr spc="-10" dirty="0">
                <a:latin typeface="Arial" panose="020B0604020202020204"/>
                <a:cs typeface="Arial" panose="020B0604020202020204"/>
              </a:rPr>
              <a:t>do</a:t>
            </a:r>
            <a:r>
              <a:rPr spc="-10" dirty="0"/>
              <a:t>：</a:t>
            </a:r>
            <a:endParaRPr spc="-10" dirty="0"/>
          </a:p>
          <a:p>
            <a:pPr marL="539115" marR="142240" indent="-170815">
              <a:lnSpc>
                <a:spcPts val="1450"/>
              </a:lnSpc>
              <a:spcBef>
                <a:spcPts val="95"/>
              </a:spcBef>
              <a:tabLst>
                <a:tab pos="638175" algn="l"/>
              </a:tabLst>
            </a:pPr>
            <a:r>
              <a:rPr spc="-5" dirty="0">
                <a:latin typeface="Arial" panose="020B0604020202020204"/>
                <a:cs typeface="Arial" panose="020B0604020202020204"/>
              </a:rPr>
              <a:t>1.		</a:t>
            </a:r>
            <a:r>
              <a:rPr spc="-5" dirty="0"/>
              <a:t>从训练集中采样</a:t>
            </a:r>
            <a:r>
              <a:rPr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pc="5" dirty="0"/>
              <a:t>（</a:t>
            </a:r>
            <a:r>
              <a:rPr spc="-5" dirty="0"/>
              <a:t>批量大小）个样本</a:t>
            </a:r>
            <a:r>
              <a:rPr spc="-85" dirty="0"/>
              <a:t> </a:t>
            </a:r>
            <a:r>
              <a:rPr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112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/>
              <a:t>对应 的目标为</a:t>
            </a:r>
            <a:r>
              <a:rPr sz="700" spc="-80" dirty="0"/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9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93424" y="1989741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59" y="0"/>
                </a:lnTo>
                <a:lnTo>
                  <a:pt x="60959" y="6095"/>
                </a:lnTo>
                <a:lnTo>
                  <a:pt x="0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91897" y="1960292"/>
            <a:ext cx="1771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40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4444" y="1937925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1816" y="4572"/>
                </a:lnTo>
                <a:lnTo>
                  <a:pt x="54863" y="7620"/>
                </a:lnTo>
                <a:lnTo>
                  <a:pt x="56387" y="12192"/>
                </a:lnTo>
                <a:lnTo>
                  <a:pt x="59436" y="16764"/>
                </a:lnTo>
                <a:lnTo>
                  <a:pt x="60960" y="22859"/>
                </a:lnTo>
                <a:lnTo>
                  <a:pt x="60960" y="36575"/>
                </a:lnTo>
                <a:lnTo>
                  <a:pt x="59436" y="42672"/>
                </a:lnTo>
                <a:lnTo>
                  <a:pt x="56387" y="47244"/>
                </a:lnTo>
                <a:lnTo>
                  <a:pt x="54863" y="53340"/>
                </a:lnTo>
                <a:lnTo>
                  <a:pt x="51816" y="56388"/>
                </a:lnTo>
                <a:lnTo>
                  <a:pt x="45719" y="57911"/>
                </a:lnTo>
                <a:lnTo>
                  <a:pt x="47243" y="59435"/>
                </a:lnTo>
                <a:lnTo>
                  <a:pt x="53339" y="57911"/>
                </a:lnTo>
                <a:lnTo>
                  <a:pt x="57912" y="54864"/>
                </a:lnTo>
                <a:lnTo>
                  <a:pt x="60960" y="48768"/>
                </a:lnTo>
                <a:lnTo>
                  <a:pt x="64007" y="44196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6764"/>
                </a:lnTo>
                <a:lnTo>
                  <a:pt x="60960" y="10668"/>
                </a:lnTo>
                <a:lnTo>
                  <a:pt x="57912" y="6096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4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1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30100" y="1937925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8768" y="0"/>
                </a:moveTo>
                <a:lnTo>
                  <a:pt x="47243" y="3048"/>
                </a:lnTo>
                <a:lnTo>
                  <a:pt x="53339" y="4572"/>
                </a:lnTo>
                <a:lnTo>
                  <a:pt x="56387" y="7620"/>
                </a:lnTo>
                <a:lnTo>
                  <a:pt x="57912" y="12192"/>
                </a:lnTo>
                <a:lnTo>
                  <a:pt x="60960" y="16764"/>
                </a:lnTo>
                <a:lnTo>
                  <a:pt x="62483" y="22859"/>
                </a:lnTo>
                <a:lnTo>
                  <a:pt x="62483" y="36575"/>
                </a:lnTo>
                <a:lnTo>
                  <a:pt x="60960" y="42672"/>
                </a:lnTo>
                <a:lnTo>
                  <a:pt x="57912" y="47244"/>
                </a:lnTo>
                <a:lnTo>
                  <a:pt x="56387" y="53340"/>
                </a:lnTo>
                <a:lnTo>
                  <a:pt x="53339" y="56388"/>
                </a:lnTo>
                <a:lnTo>
                  <a:pt x="47243" y="57911"/>
                </a:lnTo>
                <a:lnTo>
                  <a:pt x="48768" y="59435"/>
                </a:lnTo>
                <a:lnTo>
                  <a:pt x="54863" y="57911"/>
                </a:lnTo>
                <a:lnTo>
                  <a:pt x="59436" y="54864"/>
                </a:lnTo>
                <a:lnTo>
                  <a:pt x="62483" y="48768"/>
                </a:lnTo>
                <a:lnTo>
                  <a:pt x="65531" y="44196"/>
                </a:lnTo>
                <a:lnTo>
                  <a:pt x="67056" y="38100"/>
                </a:lnTo>
                <a:lnTo>
                  <a:pt x="67056" y="22859"/>
                </a:lnTo>
                <a:lnTo>
                  <a:pt x="65531" y="16764"/>
                </a:lnTo>
                <a:lnTo>
                  <a:pt x="62483" y="10668"/>
                </a:lnTo>
                <a:lnTo>
                  <a:pt x="59436" y="6096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7310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4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1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62457" y="1917623"/>
            <a:ext cx="1598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计算梯度</a:t>
            </a:r>
            <a:r>
              <a:rPr sz="7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6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  </a:t>
            </a:r>
            <a:r>
              <a:rPr sz="750" i="1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2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e),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86972" y="2136045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39" y="6096"/>
                </a:lnTo>
                <a:lnTo>
                  <a:pt x="248411" y="10668"/>
                </a:lnTo>
                <a:lnTo>
                  <a:pt x="251459" y="16763"/>
                </a:lnTo>
                <a:lnTo>
                  <a:pt x="256031" y="22859"/>
                </a:lnTo>
                <a:lnTo>
                  <a:pt x="257555" y="30479"/>
                </a:lnTo>
                <a:lnTo>
                  <a:pt x="257555" y="50291"/>
                </a:lnTo>
                <a:lnTo>
                  <a:pt x="256031" y="59435"/>
                </a:lnTo>
                <a:lnTo>
                  <a:pt x="251459" y="65531"/>
                </a:lnTo>
                <a:lnTo>
                  <a:pt x="248411" y="71627"/>
                </a:lnTo>
                <a:lnTo>
                  <a:pt x="243839" y="76200"/>
                </a:lnTo>
                <a:lnTo>
                  <a:pt x="237744" y="79248"/>
                </a:lnTo>
                <a:lnTo>
                  <a:pt x="237744" y="82296"/>
                </a:lnTo>
                <a:lnTo>
                  <a:pt x="263342" y="48839"/>
                </a:lnTo>
                <a:lnTo>
                  <a:pt x="263651" y="41148"/>
                </a:lnTo>
                <a:lnTo>
                  <a:pt x="263342" y="33432"/>
                </a:lnTo>
                <a:lnTo>
                  <a:pt x="246887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7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7" y="82296"/>
                </a:lnTo>
                <a:lnTo>
                  <a:pt x="25907" y="79248"/>
                </a:lnTo>
                <a:lnTo>
                  <a:pt x="19811" y="76200"/>
                </a:lnTo>
                <a:lnTo>
                  <a:pt x="15239" y="71627"/>
                </a:lnTo>
                <a:lnTo>
                  <a:pt x="9143" y="59435"/>
                </a:lnTo>
                <a:lnTo>
                  <a:pt x="7619" y="50291"/>
                </a:lnTo>
                <a:lnTo>
                  <a:pt x="7619" y="30479"/>
                </a:lnTo>
                <a:lnTo>
                  <a:pt x="9143" y="22859"/>
                </a:lnTo>
                <a:lnTo>
                  <a:pt x="15239" y="10668"/>
                </a:lnTo>
                <a:lnTo>
                  <a:pt x="19811" y="6096"/>
                </a:lnTo>
                <a:lnTo>
                  <a:pt x="27431" y="3048"/>
                </a:lnTo>
                <a:lnTo>
                  <a:pt x="259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2773" y="1917623"/>
            <a:ext cx="86995" cy="47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2.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59183" y="2296065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40" y="6095"/>
                </a:lnTo>
                <a:lnTo>
                  <a:pt x="248412" y="10667"/>
                </a:lnTo>
                <a:lnTo>
                  <a:pt x="251460" y="16763"/>
                </a:lnTo>
                <a:lnTo>
                  <a:pt x="256032" y="22859"/>
                </a:lnTo>
                <a:lnTo>
                  <a:pt x="257556" y="30479"/>
                </a:lnTo>
                <a:lnTo>
                  <a:pt x="257556" y="50291"/>
                </a:lnTo>
                <a:lnTo>
                  <a:pt x="256032" y="59435"/>
                </a:lnTo>
                <a:lnTo>
                  <a:pt x="251460" y="65531"/>
                </a:lnTo>
                <a:lnTo>
                  <a:pt x="248412" y="71627"/>
                </a:lnTo>
                <a:lnTo>
                  <a:pt x="243840" y="76200"/>
                </a:lnTo>
                <a:lnTo>
                  <a:pt x="237744" y="79248"/>
                </a:lnTo>
                <a:lnTo>
                  <a:pt x="237744" y="82295"/>
                </a:lnTo>
                <a:lnTo>
                  <a:pt x="263342" y="48839"/>
                </a:lnTo>
                <a:lnTo>
                  <a:pt x="263652" y="41148"/>
                </a:lnTo>
                <a:lnTo>
                  <a:pt x="263342" y="33432"/>
                </a:lnTo>
                <a:lnTo>
                  <a:pt x="246888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8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8" y="82295"/>
                </a:lnTo>
                <a:lnTo>
                  <a:pt x="25908" y="79248"/>
                </a:lnTo>
                <a:lnTo>
                  <a:pt x="19812" y="76200"/>
                </a:lnTo>
                <a:lnTo>
                  <a:pt x="15240" y="71627"/>
                </a:lnTo>
                <a:lnTo>
                  <a:pt x="9143" y="59435"/>
                </a:lnTo>
                <a:lnTo>
                  <a:pt x="7620" y="50291"/>
                </a:lnTo>
                <a:lnTo>
                  <a:pt x="7620" y="30479"/>
                </a:lnTo>
                <a:lnTo>
                  <a:pt x="9143" y="22859"/>
                </a:lnTo>
                <a:lnTo>
                  <a:pt x="15240" y="10667"/>
                </a:lnTo>
                <a:lnTo>
                  <a:pt x="19812" y="6095"/>
                </a:lnTo>
                <a:lnTo>
                  <a:pt x="27432" y="3048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72088" y="2533809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92773" y="1947391"/>
            <a:ext cx="1743710" cy="6432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R="528955" algn="r">
              <a:lnSpc>
                <a:spcPct val="100000"/>
              </a:lnSpc>
              <a:spcBef>
                <a:spcPts val="36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35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累积梯度</a:t>
            </a:r>
            <a:r>
              <a:rPr sz="7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 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 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42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累积平方梯度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pr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i="1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∗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tabLst>
                <a:tab pos="269240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修正偏差</a:t>
            </a:r>
            <a:r>
              <a:rPr sz="700" spc="-7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-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r>
              <a:rPr sz="700" i="1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-3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50" i="1" spc="82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</a:t>
            </a:r>
            <a:r>
              <a:rPr sz="700" i="1" spc="9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9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endParaRPr sz="750" baseline="4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70582" y="2527211"/>
            <a:ext cx="62357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500" i="1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i="1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i="1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600" i="1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600" i="1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	</a:t>
            </a:r>
            <a:r>
              <a:rPr sz="500" i="1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i="1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600" i="1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endParaRPr sz="600" baseline="2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29288" y="2533809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41251" y="2777649"/>
            <a:ext cx="79375" cy="62865"/>
          </a:xfrm>
          <a:custGeom>
            <a:avLst/>
            <a:gdLst/>
            <a:ahLst/>
            <a:cxnLst/>
            <a:rect l="l" t="t" r="r" b="b"/>
            <a:pathLst>
              <a:path w="79375" h="62864">
                <a:moveTo>
                  <a:pt x="12668" y="33527"/>
                </a:moveTo>
                <a:lnTo>
                  <a:pt x="6096" y="33527"/>
                </a:lnTo>
                <a:lnTo>
                  <a:pt x="19812" y="62483"/>
                </a:lnTo>
                <a:lnTo>
                  <a:pt x="22860" y="62483"/>
                </a:lnTo>
                <a:lnTo>
                  <a:pt x="25506" y="53340"/>
                </a:lnTo>
                <a:lnTo>
                  <a:pt x="21336" y="53340"/>
                </a:lnTo>
                <a:lnTo>
                  <a:pt x="12668" y="33527"/>
                </a:lnTo>
                <a:close/>
              </a:path>
              <a:path w="79375" h="62864">
                <a:moveTo>
                  <a:pt x="79248" y="0"/>
                </a:moveTo>
                <a:lnTo>
                  <a:pt x="36575" y="0"/>
                </a:lnTo>
                <a:lnTo>
                  <a:pt x="21336" y="53340"/>
                </a:lnTo>
                <a:lnTo>
                  <a:pt x="25506" y="53340"/>
                </a:lnTo>
                <a:lnTo>
                  <a:pt x="39624" y="4572"/>
                </a:lnTo>
                <a:lnTo>
                  <a:pt x="79248" y="4572"/>
                </a:lnTo>
                <a:lnTo>
                  <a:pt x="79248" y="0"/>
                </a:lnTo>
                <a:close/>
              </a:path>
              <a:path w="79375" h="62864">
                <a:moveTo>
                  <a:pt x="10668" y="28955"/>
                </a:moveTo>
                <a:lnTo>
                  <a:pt x="0" y="33527"/>
                </a:lnTo>
                <a:lnTo>
                  <a:pt x="1524" y="36575"/>
                </a:lnTo>
                <a:lnTo>
                  <a:pt x="6096" y="33527"/>
                </a:lnTo>
                <a:lnTo>
                  <a:pt x="12668" y="33527"/>
                </a:lnTo>
                <a:lnTo>
                  <a:pt x="10668" y="289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682384" y="2758856"/>
            <a:ext cx="13335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r̃+o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41251" y="2763933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640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52495" y="2688755"/>
            <a:ext cx="1428115" cy="320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95"/>
              </a:spcBef>
              <a:tabLst>
                <a:tab pos="409575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更新权值</a:t>
            </a:r>
            <a:r>
              <a:rPr sz="700" spc="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6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</a:t>
            </a:r>
            <a:r>
              <a:rPr sz="750" i="1" spc="97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2791292" y="114799"/>
            <a:ext cx="6178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Adam</a:t>
            </a:r>
            <a:endParaRPr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87456" y="697389"/>
            <a:ext cx="1036319" cy="149860"/>
          </a:xfrm>
          <a:custGeom>
            <a:avLst/>
            <a:gdLst/>
            <a:ahLst/>
            <a:cxnLst/>
            <a:rect l="l" t="t" r="r" b="b"/>
            <a:pathLst>
              <a:path w="1036319" h="149859">
                <a:moveTo>
                  <a:pt x="0" y="0"/>
                </a:moveTo>
                <a:lnTo>
                  <a:pt x="1036319" y="0"/>
                </a:lnTo>
                <a:lnTo>
                  <a:pt x="1036319" y="149351"/>
                </a:lnTo>
                <a:lnTo>
                  <a:pt x="0" y="1493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311009" y="558196"/>
            <a:ext cx="1769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同时使用动量与自适应梯度思想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736" y="671109"/>
            <a:ext cx="2992120" cy="2513330"/>
          </a:xfrm>
          <a:custGeom>
            <a:avLst/>
            <a:gdLst/>
            <a:ahLst/>
            <a:cxnLst/>
            <a:rect l="l" t="t" r="r" b="b"/>
            <a:pathLst>
              <a:path w="2992120" h="2513330">
                <a:moveTo>
                  <a:pt x="0" y="0"/>
                </a:moveTo>
                <a:lnTo>
                  <a:pt x="2991612" y="0"/>
                </a:lnTo>
                <a:lnTo>
                  <a:pt x="2991612" y="2513076"/>
                </a:lnTo>
                <a:lnTo>
                  <a:pt x="0" y="2513076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5164" y="661965"/>
            <a:ext cx="2999740" cy="18415"/>
          </a:xfrm>
          <a:custGeom>
            <a:avLst/>
            <a:gdLst/>
            <a:ahLst/>
            <a:cxnLst/>
            <a:rect l="l" t="t" r="r" b="b"/>
            <a:pathLst>
              <a:path w="2999740" h="18415">
                <a:moveTo>
                  <a:pt x="0" y="0"/>
                </a:moveTo>
                <a:lnTo>
                  <a:pt x="2999231" y="0"/>
                </a:lnTo>
                <a:lnTo>
                  <a:pt x="2999231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736" y="514137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1347" y="514137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164" y="517185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5164" y="3184185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2783" y="520233"/>
            <a:ext cx="2985770" cy="142240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2222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75"/>
              </a:spcBef>
            </a:pPr>
            <a:r>
              <a:rPr sz="700" b="1" spc="-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Adam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7532" y="1555029"/>
            <a:ext cx="536575" cy="105410"/>
          </a:xfrm>
          <a:custGeom>
            <a:avLst/>
            <a:gdLst/>
            <a:ahLst/>
            <a:cxnLst/>
            <a:rect l="l" t="t" r="r" b="b"/>
            <a:pathLst>
              <a:path w="536575" h="105410">
                <a:moveTo>
                  <a:pt x="516635" y="0"/>
                </a:moveTo>
                <a:lnTo>
                  <a:pt x="509016" y="0"/>
                </a:lnTo>
                <a:lnTo>
                  <a:pt x="509016" y="3047"/>
                </a:lnTo>
                <a:lnTo>
                  <a:pt x="513588" y="3047"/>
                </a:lnTo>
                <a:lnTo>
                  <a:pt x="518159" y="4571"/>
                </a:lnTo>
                <a:lnTo>
                  <a:pt x="519683" y="7619"/>
                </a:lnTo>
                <a:lnTo>
                  <a:pt x="522731" y="9143"/>
                </a:lnTo>
                <a:lnTo>
                  <a:pt x="522731" y="32003"/>
                </a:lnTo>
                <a:lnTo>
                  <a:pt x="521207" y="35051"/>
                </a:lnTo>
                <a:lnTo>
                  <a:pt x="521207" y="42671"/>
                </a:lnTo>
                <a:lnTo>
                  <a:pt x="522731" y="45719"/>
                </a:lnTo>
                <a:lnTo>
                  <a:pt x="524256" y="47243"/>
                </a:lnTo>
                <a:lnTo>
                  <a:pt x="525780" y="50291"/>
                </a:lnTo>
                <a:lnTo>
                  <a:pt x="527304" y="51815"/>
                </a:lnTo>
                <a:lnTo>
                  <a:pt x="528828" y="51815"/>
                </a:lnTo>
                <a:lnTo>
                  <a:pt x="528828" y="53339"/>
                </a:lnTo>
                <a:lnTo>
                  <a:pt x="527304" y="53339"/>
                </a:lnTo>
                <a:lnTo>
                  <a:pt x="525780" y="54863"/>
                </a:lnTo>
                <a:lnTo>
                  <a:pt x="524256" y="57912"/>
                </a:lnTo>
                <a:lnTo>
                  <a:pt x="522731" y="59435"/>
                </a:lnTo>
                <a:lnTo>
                  <a:pt x="521207" y="62483"/>
                </a:lnTo>
                <a:lnTo>
                  <a:pt x="521207" y="70103"/>
                </a:lnTo>
                <a:lnTo>
                  <a:pt x="522731" y="73151"/>
                </a:lnTo>
                <a:lnTo>
                  <a:pt x="522731" y="96012"/>
                </a:lnTo>
                <a:lnTo>
                  <a:pt x="519683" y="97535"/>
                </a:lnTo>
                <a:lnTo>
                  <a:pt x="518159" y="100583"/>
                </a:lnTo>
                <a:lnTo>
                  <a:pt x="513588" y="102107"/>
                </a:lnTo>
                <a:lnTo>
                  <a:pt x="509016" y="102107"/>
                </a:lnTo>
                <a:lnTo>
                  <a:pt x="509016" y="105156"/>
                </a:lnTo>
                <a:lnTo>
                  <a:pt x="516635" y="105156"/>
                </a:lnTo>
                <a:lnTo>
                  <a:pt x="522731" y="103631"/>
                </a:lnTo>
                <a:lnTo>
                  <a:pt x="525780" y="99059"/>
                </a:lnTo>
                <a:lnTo>
                  <a:pt x="528828" y="96012"/>
                </a:lnTo>
                <a:lnTo>
                  <a:pt x="530352" y="89915"/>
                </a:lnTo>
                <a:lnTo>
                  <a:pt x="530352" y="70103"/>
                </a:lnTo>
                <a:lnTo>
                  <a:pt x="528828" y="67056"/>
                </a:lnTo>
                <a:lnTo>
                  <a:pt x="528828" y="57912"/>
                </a:lnTo>
                <a:lnTo>
                  <a:pt x="531876" y="54863"/>
                </a:lnTo>
                <a:lnTo>
                  <a:pt x="536447" y="54863"/>
                </a:lnTo>
                <a:lnTo>
                  <a:pt x="536447" y="50291"/>
                </a:lnTo>
                <a:lnTo>
                  <a:pt x="531876" y="50291"/>
                </a:lnTo>
                <a:lnTo>
                  <a:pt x="528828" y="47243"/>
                </a:lnTo>
                <a:lnTo>
                  <a:pt x="528828" y="38100"/>
                </a:lnTo>
                <a:lnTo>
                  <a:pt x="530352" y="33527"/>
                </a:lnTo>
                <a:lnTo>
                  <a:pt x="530352" y="15239"/>
                </a:lnTo>
                <a:lnTo>
                  <a:pt x="528828" y="9143"/>
                </a:lnTo>
                <a:lnTo>
                  <a:pt x="525780" y="4571"/>
                </a:lnTo>
                <a:lnTo>
                  <a:pt x="522731" y="1523"/>
                </a:lnTo>
                <a:lnTo>
                  <a:pt x="516635" y="0"/>
                </a:lnTo>
                <a:close/>
              </a:path>
              <a:path w="536575" h="105410">
                <a:moveTo>
                  <a:pt x="27431" y="0"/>
                </a:moveTo>
                <a:lnTo>
                  <a:pt x="19812" y="0"/>
                </a:lnTo>
                <a:lnTo>
                  <a:pt x="15240" y="1523"/>
                </a:lnTo>
                <a:lnTo>
                  <a:pt x="7619" y="9143"/>
                </a:lnTo>
                <a:lnTo>
                  <a:pt x="6095" y="15239"/>
                </a:lnTo>
                <a:lnTo>
                  <a:pt x="6095" y="25907"/>
                </a:lnTo>
                <a:lnTo>
                  <a:pt x="7619" y="30479"/>
                </a:lnTo>
                <a:lnTo>
                  <a:pt x="7619" y="38100"/>
                </a:lnTo>
                <a:lnTo>
                  <a:pt x="9143" y="41147"/>
                </a:lnTo>
                <a:lnTo>
                  <a:pt x="9143" y="44195"/>
                </a:lnTo>
                <a:lnTo>
                  <a:pt x="7619" y="47243"/>
                </a:lnTo>
                <a:lnTo>
                  <a:pt x="4572" y="50291"/>
                </a:lnTo>
                <a:lnTo>
                  <a:pt x="0" y="50291"/>
                </a:lnTo>
                <a:lnTo>
                  <a:pt x="0" y="54863"/>
                </a:lnTo>
                <a:lnTo>
                  <a:pt x="4572" y="54863"/>
                </a:lnTo>
                <a:lnTo>
                  <a:pt x="7619" y="57912"/>
                </a:lnTo>
                <a:lnTo>
                  <a:pt x="9143" y="60959"/>
                </a:lnTo>
                <a:lnTo>
                  <a:pt x="9143" y="64007"/>
                </a:lnTo>
                <a:lnTo>
                  <a:pt x="7619" y="67056"/>
                </a:lnTo>
                <a:lnTo>
                  <a:pt x="7619" y="74675"/>
                </a:lnTo>
                <a:lnTo>
                  <a:pt x="6095" y="77723"/>
                </a:lnTo>
                <a:lnTo>
                  <a:pt x="6095" y="89915"/>
                </a:lnTo>
                <a:lnTo>
                  <a:pt x="7619" y="96012"/>
                </a:lnTo>
                <a:lnTo>
                  <a:pt x="12192" y="99059"/>
                </a:lnTo>
                <a:lnTo>
                  <a:pt x="15240" y="103631"/>
                </a:lnTo>
                <a:lnTo>
                  <a:pt x="19812" y="105156"/>
                </a:lnTo>
                <a:lnTo>
                  <a:pt x="27431" y="105156"/>
                </a:lnTo>
                <a:lnTo>
                  <a:pt x="27431" y="102107"/>
                </a:lnTo>
                <a:lnTo>
                  <a:pt x="22860" y="102107"/>
                </a:lnTo>
                <a:lnTo>
                  <a:pt x="19812" y="100583"/>
                </a:lnTo>
                <a:lnTo>
                  <a:pt x="15240" y="96012"/>
                </a:lnTo>
                <a:lnTo>
                  <a:pt x="13716" y="89915"/>
                </a:lnTo>
                <a:lnTo>
                  <a:pt x="13716" y="77723"/>
                </a:lnTo>
                <a:lnTo>
                  <a:pt x="15240" y="73151"/>
                </a:lnTo>
                <a:lnTo>
                  <a:pt x="15240" y="59435"/>
                </a:lnTo>
                <a:lnTo>
                  <a:pt x="13716" y="57912"/>
                </a:lnTo>
                <a:lnTo>
                  <a:pt x="12192" y="54863"/>
                </a:lnTo>
                <a:lnTo>
                  <a:pt x="10668" y="53339"/>
                </a:lnTo>
                <a:lnTo>
                  <a:pt x="7619" y="53339"/>
                </a:lnTo>
                <a:lnTo>
                  <a:pt x="7619" y="51815"/>
                </a:lnTo>
                <a:lnTo>
                  <a:pt x="10668" y="51815"/>
                </a:lnTo>
                <a:lnTo>
                  <a:pt x="12192" y="50291"/>
                </a:lnTo>
                <a:lnTo>
                  <a:pt x="13716" y="47243"/>
                </a:lnTo>
                <a:lnTo>
                  <a:pt x="15240" y="45719"/>
                </a:lnTo>
                <a:lnTo>
                  <a:pt x="15240" y="32003"/>
                </a:lnTo>
                <a:lnTo>
                  <a:pt x="13716" y="27431"/>
                </a:lnTo>
                <a:lnTo>
                  <a:pt x="13716" y="15239"/>
                </a:lnTo>
                <a:lnTo>
                  <a:pt x="15240" y="9143"/>
                </a:lnTo>
                <a:lnTo>
                  <a:pt x="19812" y="4571"/>
                </a:lnTo>
                <a:lnTo>
                  <a:pt x="22860" y="3047"/>
                </a:lnTo>
                <a:lnTo>
                  <a:pt x="27431" y="3047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45923" y="1551981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90">
                <a:moveTo>
                  <a:pt x="59436" y="0"/>
                </a:moveTo>
                <a:lnTo>
                  <a:pt x="57912" y="3048"/>
                </a:lnTo>
                <a:lnTo>
                  <a:pt x="64008" y="4571"/>
                </a:lnTo>
                <a:lnTo>
                  <a:pt x="67055" y="7619"/>
                </a:lnTo>
                <a:lnTo>
                  <a:pt x="68579" y="12192"/>
                </a:lnTo>
                <a:lnTo>
                  <a:pt x="71627" y="16763"/>
                </a:lnTo>
                <a:lnTo>
                  <a:pt x="73151" y="22860"/>
                </a:lnTo>
                <a:lnTo>
                  <a:pt x="73151" y="36575"/>
                </a:lnTo>
                <a:lnTo>
                  <a:pt x="71627" y="42671"/>
                </a:lnTo>
                <a:lnTo>
                  <a:pt x="68579" y="47243"/>
                </a:lnTo>
                <a:lnTo>
                  <a:pt x="67055" y="53339"/>
                </a:lnTo>
                <a:lnTo>
                  <a:pt x="64008" y="56387"/>
                </a:lnTo>
                <a:lnTo>
                  <a:pt x="57912" y="57912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3" y="54863"/>
                </a:lnTo>
                <a:lnTo>
                  <a:pt x="73151" y="48768"/>
                </a:lnTo>
                <a:lnTo>
                  <a:pt x="76200" y="44195"/>
                </a:lnTo>
                <a:lnTo>
                  <a:pt x="77724" y="38100"/>
                </a:lnTo>
                <a:lnTo>
                  <a:pt x="77724" y="22860"/>
                </a:lnTo>
                <a:lnTo>
                  <a:pt x="76200" y="16763"/>
                </a:lnTo>
                <a:lnTo>
                  <a:pt x="73151" y="10668"/>
                </a:lnTo>
                <a:lnTo>
                  <a:pt x="70103" y="6095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8105" h="59690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3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50723" y="1551981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90">
                <a:moveTo>
                  <a:pt x="83820" y="0"/>
                </a:moveTo>
                <a:lnTo>
                  <a:pt x="82296" y="3048"/>
                </a:lnTo>
                <a:lnTo>
                  <a:pt x="88391" y="4571"/>
                </a:lnTo>
                <a:lnTo>
                  <a:pt x="91439" y="7619"/>
                </a:lnTo>
                <a:lnTo>
                  <a:pt x="92963" y="12192"/>
                </a:lnTo>
                <a:lnTo>
                  <a:pt x="96012" y="16763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1"/>
                </a:lnTo>
                <a:lnTo>
                  <a:pt x="92963" y="47243"/>
                </a:lnTo>
                <a:lnTo>
                  <a:pt x="91439" y="53339"/>
                </a:lnTo>
                <a:lnTo>
                  <a:pt x="88391" y="56387"/>
                </a:lnTo>
                <a:lnTo>
                  <a:pt x="82296" y="57912"/>
                </a:lnTo>
                <a:lnTo>
                  <a:pt x="83820" y="59436"/>
                </a:lnTo>
                <a:lnTo>
                  <a:pt x="89915" y="57912"/>
                </a:lnTo>
                <a:lnTo>
                  <a:pt x="94487" y="54863"/>
                </a:lnTo>
                <a:lnTo>
                  <a:pt x="97536" y="48768"/>
                </a:lnTo>
                <a:lnTo>
                  <a:pt x="100584" y="44195"/>
                </a:lnTo>
                <a:lnTo>
                  <a:pt x="102108" y="38100"/>
                </a:lnTo>
                <a:lnTo>
                  <a:pt x="102108" y="22860"/>
                </a:lnTo>
                <a:lnTo>
                  <a:pt x="100584" y="16763"/>
                </a:lnTo>
                <a:lnTo>
                  <a:pt x="97536" y="10668"/>
                </a:lnTo>
                <a:lnTo>
                  <a:pt x="94487" y="6095"/>
                </a:lnTo>
                <a:lnTo>
                  <a:pt x="89915" y="1524"/>
                </a:lnTo>
                <a:lnTo>
                  <a:pt x="83820" y="0"/>
                </a:lnTo>
                <a:close/>
              </a:path>
              <a:path w="102235" h="59690">
                <a:moveTo>
                  <a:pt x="19812" y="0"/>
                </a:moveTo>
                <a:lnTo>
                  <a:pt x="13715" y="1524"/>
                </a:lnTo>
                <a:lnTo>
                  <a:pt x="4572" y="10668"/>
                </a:lnTo>
                <a:lnTo>
                  <a:pt x="1524" y="16763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1" y="53339"/>
                </a:lnTo>
                <a:lnTo>
                  <a:pt x="9143" y="47243"/>
                </a:lnTo>
                <a:lnTo>
                  <a:pt x="7620" y="42671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23092" y="1739433"/>
            <a:ext cx="533400" cy="105410"/>
          </a:xfrm>
          <a:custGeom>
            <a:avLst/>
            <a:gdLst/>
            <a:ahLst/>
            <a:cxnLst/>
            <a:rect l="l" t="t" r="r" b="b"/>
            <a:pathLst>
              <a:path w="533400" h="105410">
                <a:moveTo>
                  <a:pt x="513588" y="0"/>
                </a:moveTo>
                <a:lnTo>
                  <a:pt x="505968" y="0"/>
                </a:lnTo>
                <a:lnTo>
                  <a:pt x="505968" y="3048"/>
                </a:lnTo>
                <a:lnTo>
                  <a:pt x="510539" y="3048"/>
                </a:lnTo>
                <a:lnTo>
                  <a:pt x="515112" y="4572"/>
                </a:lnTo>
                <a:lnTo>
                  <a:pt x="516635" y="7619"/>
                </a:lnTo>
                <a:lnTo>
                  <a:pt x="519683" y="9143"/>
                </a:lnTo>
                <a:lnTo>
                  <a:pt x="519683" y="32004"/>
                </a:lnTo>
                <a:lnTo>
                  <a:pt x="518159" y="35052"/>
                </a:lnTo>
                <a:lnTo>
                  <a:pt x="518159" y="42672"/>
                </a:lnTo>
                <a:lnTo>
                  <a:pt x="519683" y="45719"/>
                </a:lnTo>
                <a:lnTo>
                  <a:pt x="521207" y="47243"/>
                </a:lnTo>
                <a:lnTo>
                  <a:pt x="522731" y="50292"/>
                </a:lnTo>
                <a:lnTo>
                  <a:pt x="524256" y="51816"/>
                </a:lnTo>
                <a:lnTo>
                  <a:pt x="525780" y="51816"/>
                </a:lnTo>
                <a:lnTo>
                  <a:pt x="525780" y="53340"/>
                </a:lnTo>
                <a:lnTo>
                  <a:pt x="524256" y="53340"/>
                </a:lnTo>
                <a:lnTo>
                  <a:pt x="522731" y="54864"/>
                </a:lnTo>
                <a:lnTo>
                  <a:pt x="521207" y="57912"/>
                </a:lnTo>
                <a:lnTo>
                  <a:pt x="519683" y="59436"/>
                </a:lnTo>
                <a:lnTo>
                  <a:pt x="518159" y="62484"/>
                </a:lnTo>
                <a:lnTo>
                  <a:pt x="518159" y="70104"/>
                </a:lnTo>
                <a:lnTo>
                  <a:pt x="519683" y="73152"/>
                </a:lnTo>
                <a:lnTo>
                  <a:pt x="519683" y="96012"/>
                </a:lnTo>
                <a:lnTo>
                  <a:pt x="516635" y="97536"/>
                </a:lnTo>
                <a:lnTo>
                  <a:pt x="515112" y="100584"/>
                </a:lnTo>
                <a:lnTo>
                  <a:pt x="510539" y="102108"/>
                </a:lnTo>
                <a:lnTo>
                  <a:pt x="505968" y="102108"/>
                </a:lnTo>
                <a:lnTo>
                  <a:pt x="505968" y="105156"/>
                </a:lnTo>
                <a:lnTo>
                  <a:pt x="513588" y="105156"/>
                </a:lnTo>
                <a:lnTo>
                  <a:pt x="519683" y="103631"/>
                </a:lnTo>
                <a:lnTo>
                  <a:pt x="522731" y="99060"/>
                </a:lnTo>
                <a:lnTo>
                  <a:pt x="525780" y="96012"/>
                </a:lnTo>
                <a:lnTo>
                  <a:pt x="527303" y="89916"/>
                </a:lnTo>
                <a:lnTo>
                  <a:pt x="527303" y="70104"/>
                </a:lnTo>
                <a:lnTo>
                  <a:pt x="525780" y="67056"/>
                </a:lnTo>
                <a:lnTo>
                  <a:pt x="525780" y="57912"/>
                </a:lnTo>
                <a:lnTo>
                  <a:pt x="528827" y="54864"/>
                </a:lnTo>
                <a:lnTo>
                  <a:pt x="533400" y="54864"/>
                </a:lnTo>
                <a:lnTo>
                  <a:pt x="533400" y="50292"/>
                </a:lnTo>
                <a:lnTo>
                  <a:pt x="528827" y="50292"/>
                </a:lnTo>
                <a:lnTo>
                  <a:pt x="525780" y="47243"/>
                </a:lnTo>
                <a:lnTo>
                  <a:pt x="525780" y="38100"/>
                </a:lnTo>
                <a:lnTo>
                  <a:pt x="527303" y="33528"/>
                </a:lnTo>
                <a:lnTo>
                  <a:pt x="527303" y="15240"/>
                </a:lnTo>
                <a:lnTo>
                  <a:pt x="525780" y="9143"/>
                </a:lnTo>
                <a:lnTo>
                  <a:pt x="522731" y="4572"/>
                </a:lnTo>
                <a:lnTo>
                  <a:pt x="519683" y="1524"/>
                </a:lnTo>
                <a:lnTo>
                  <a:pt x="513588" y="0"/>
                </a:lnTo>
                <a:close/>
              </a:path>
              <a:path w="533400" h="105410">
                <a:moveTo>
                  <a:pt x="27431" y="0"/>
                </a:moveTo>
                <a:lnTo>
                  <a:pt x="19812" y="0"/>
                </a:lnTo>
                <a:lnTo>
                  <a:pt x="15239" y="1524"/>
                </a:lnTo>
                <a:lnTo>
                  <a:pt x="7619" y="9143"/>
                </a:lnTo>
                <a:lnTo>
                  <a:pt x="6095" y="15240"/>
                </a:lnTo>
                <a:lnTo>
                  <a:pt x="6095" y="25908"/>
                </a:lnTo>
                <a:lnTo>
                  <a:pt x="7619" y="30480"/>
                </a:lnTo>
                <a:lnTo>
                  <a:pt x="7619" y="38100"/>
                </a:lnTo>
                <a:lnTo>
                  <a:pt x="9143" y="41148"/>
                </a:lnTo>
                <a:lnTo>
                  <a:pt x="9143" y="44196"/>
                </a:lnTo>
                <a:lnTo>
                  <a:pt x="7619" y="47243"/>
                </a:lnTo>
                <a:lnTo>
                  <a:pt x="4571" y="50292"/>
                </a:lnTo>
                <a:lnTo>
                  <a:pt x="0" y="50292"/>
                </a:lnTo>
                <a:lnTo>
                  <a:pt x="0" y="54864"/>
                </a:lnTo>
                <a:lnTo>
                  <a:pt x="4571" y="54864"/>
                </a:lnTo>
                <a:lnTo>
                  <a:pt x="7619" y="57912"/>
                </a:lnTo>
                <a:lnTo>
                  <a:pt x="9143" y="60960"/>
                </a:lnTo>
                <a:lnTo>
                  <a:pt x="9143" y="64008"/>
                </a:lnTo>
                <a:lnTo>
                  <a:pt x="7619" y="67056"/>
                </a:lnTo>
                <a:lnTo>
                  <a:pt x="7619" y="74675"/>
                </a:lnTo>
                <a:lnTo>
                  <a:pt x="6095" y="77724"/>
                </a:lnTo>
                <a:lnTo>
                  <a:pt x="6095" y="89916"/>
                </a:lnTo>
                <a:lnTo>
                  <a:pt x="7619" y="96012"/>
                </a:lnTo>
                <a:lnTo>
                  <a:pt x="12191" y="99060"/>
                </a:lnTo>
                <a:lnTo>
                  <a:pt x="15239" y="103631"/>
                </a:lnTo>
                <a:lnTo>
                  <a:pt x="19812" y="105156"/>
                </a:lnTo>
                <a:lnTo>
                  <a:pt x="27431" y="105156"/>
                </a:lnTo>
                <a:lnTo>
                  <a:pt x="27431" y="102108"/>
                </a:lnTo>
                <a:lnTo>
                  <a:pt x="22859" y="102108"/>
                </a:lnTo>
                <a:lnTo>
                  <a:pt x="19812" y="100584"/>
                </a:lnTo>
                <a:lnTo>
                  <a:pt x="15239" y="96012"/>
                </a:lnTo>
                <a:lnTo>
                  <a:pt x="13715" y="89916"/>
                </a:lnTo>
                <a:lnTo>
                  <a:pt x="13715" y="77724"/>
                </a:lnTo>
                <a:lnTo>
                  <a:pt x="15239" y="73152"/>
                </a:lnTo>
                <a:lnTo>
                  <a:pt x="15239" y="59436"/>
                </a:lnTo>
                <a:lnTo>
                  <a:pt x="13715" y="57912"/>
                </a:lnTo>
                <a:lnTo>
                  <a:pt x="12191" y="54864"/>
                </a:lnTo>
                <a:lnTo>
                  <a:pt x="10668" y="53340"/>
                </a:lnTo>
                <a:lnTo>
                  <a:pt x="7619" y="53340"/>
                </a:lnTo>
                <a:lnTo>
                  <a:pt x="7619" y="51816"/>
                </a:lnTo>
                <a:lnTo>
                  <a:pt x="10668" y="51816"/>
                </a:lnTo>
                <a:lnTo>
                  <a:pt x="12191" y="50292"/>
                </a:lnTo>
                <a:lnTo>
                  <a:pt x="13715" y="47243"/>
                </a:lnTo>
                <a:lnTo>
                  <a:pt x="15239" y="45719"/>
                </a:lnTo>
                <a:lnTo>
                  <a:pt x="15239" y="32004"/>
                </a:lnTo>
                <a:lnTo>
                  <a:pt x="13715" y="27431"/>
                </a:lnTo>
                <a:lnTo>
                  <a:pt x="13715" y="15240"/>
                </a:lnTo>
                <a:lnTo>
                  <a:pt x="15239" y="9143"/>
                </a:lnTo>
                <a:lnTo>
                  <a:pt x="19812" y="4572"/>
                </a:lnTo>
                <a:lnTo>
                  <a:pt x="22859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06911" y="1736385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9436" y="0"/>
                </a:moveTo>
                <a:lnTo>
                  <a:pt x="57912" y="3047"/>
                </a:lnTo>
                <a:lnTo>
                  <a:pt x="64007" y="4571"/>
                </a:lnTo>
                <a:lnTo>
                  <a:pt x="67056" y="7619"/>
                </a:lnTo>
                <a:lnTo>
                  <a:pt x="68580" y="12191"/>
                </a:lnTo>
                <a:lnTo>
                  <a:pt x="71627" y="16763"/>
                </a:lnTo>
                <a:lnTo>
                  <a:pt x="73151" y="22859"/>
                </a:lnTo>
                <a:lnTo>
                  <a:pt x="73151" y="36575"/>
                </a:lnTo>
                <a:lnTo>
                  <a:pt x="71627" y="42671"/>
                </a:lnTo>
                <a:lnTo>
                  <a:pt x="68580" y="47243"/>
                </a:lnTo>
                <a:lnTo>
                  <a:pt x="67056" y="53339"/>
                </a:lnTo>
                <a:lnTo>
                  <a:pt x="64007" y="56387"/>
                </a:lnTo>
                <a:lnTo>
                  <a:pt x="57912" y="57912"/>
                </a:lnTo>
                <a:lnTo>
                  <a:pt x="59436" y="59435"/>
                </a:lnTo>
                <a:lnTo>
                  <a:pt x="65531" y="57912"/>
                </a:lnTo>
                <a:lnTo>
                  <a:pt x="70104" y="54863"/>
                </a:lnTo>
                <a:lnTo>
                  <a:pt x="73151" y="48767"/>
                </a:lnTo>
                <a:lnTo>
                  <a:pt x="76200" y="44195"/>
                </a:lnTo>
                <a:lnTo>
                  <a:pt x="77724" y="38100"/>
                </a:lnTo>
                <a:lnTo>
                  <a:pt x="77724" y="22859"/>
                </a:lnTo>
                <a:lnTo>
                  <a:pt x="76200" y="16763"/>
                </a:lnTo>
                <a:lnTo>
                  <a:pt x="73151" y="10667"/>
                </a:lnTo>
                <a:lnTo>
                  <a:pt x="70104" y="6095"/>
                </a:lnTo>
                <a:lnTo>
                  <a:pt x="65531" y="1523"/>
                </a:lnTo>
                <a:lnTo>
                  <a:pt x="59436" y="0"/>
                </a:lnTo>
                <a:close/>
              </a:path>
              <a:path w="78105" h="59689">
                <a:moveTo>
                  <a:pt x="19812" y="0"/>
                </a:moveTo>
                <a:lnTo>
                  <a:pt x="13715" y="1523"/>
                </a:lnTo>
                <a:lnTo>
                  <a:pt x="4571" y="10667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7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13236" y="1736385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4" h="59689">
                <a:moveTo>
                  <a:pt x="83819" y="0"/>
                </a:moveTo>
                <a:lnTo>
                  <a:pt x="82295" y="3047"/>
                </a:lnTo>
                <a:lnTo>
                  <a:pt x="88391" y="4571"/>
                </a:lnTo>
                <a:lnTo>
                  <a:pt x="91439" y="7619"/>
                </a:lnTo>
                <a:lnTo>
                  <a:pt x="92963" y="12191"/>
                </a:lnTo>
                <a:lnTo>
                  <a:pt x="96012" y="16763"/>
                </a:lnTo>
                <a:lnTo>
                  <a:pt x="97536" y="22859"/>
                </a:lnTo>
                <a:lnTo>
                  <a:pt x="97536" y="36575"/>
                </a:lnTo>
                <a:lnTo>
                  <a:pt x="96012" y="42671"/>
                </a:lnTo>
                <a:lnTo>
                  <a:pt x="92963" y="47243"/>
                </a:lnTo>
                <a:lnTo>
                  <a:pt x="91439" y="53339"/>
                </a:lnTo>
                <a:lnTo>
                  <a:pt x="88391" y="56387"/>
                </a:lnTo>
                <a:lnTo>
                  <a:pt x="82295" y="57912"/>
                </a:lnTo>
                <a:lnTo>
                  <a:pt x="83819" y="59435"/>
                </a:lnTo>
                <a:lnTo>
                  <a:pt x="89915" y="57912"/>
                </a:lnTo>
                <a:lnTo>
                  <a:pt x="94487" y="54863"/>
                </a:lnTo>
                <a:lnTo>
                  <a:pt x="97536" y="48767"/>
                </a:lnTo>
                <a:lnTo>
                  <a:pt x="100583" y="44195"/>
                </a:lnTo>
                <a:lnTo>
                  <a:pt x="102107" y="38100"/>
                </a:lnTo>
                <a:lnTo>
                  <a:pt x="102107" y="22859"/>
                </a:lnTo>
                <a:lnTo>
                  <a:pt x="100583" y="16763"/>
                </a:lnTo>
                <a:lnTo>
                  <a:pt x="97536" y="10667"/>
                </a:lnTo>
                <a:lnTo>
                  <a:pt x="94487" y="6095"/>
                </a:lnTo>
                <a:lnTo>
                  <a:pt x="89915" y="1523"/>
                </a:lnTo>
                <a:lnTo>
                  <a:pt x="83819" y="0"/>
                </a:lnTo>
                <a:close/>
              </a:path>
              <a:path w="102234" h="59689">
                <a:moveTo>
                  <a:pt x="19812" y="0"/>
                </a:moveTo>
                <a:lnTo>
                  <a:pt x="13715" y="1523"/>
                </a:lnTo>
                <a:lnTo>
                  <a:pt x="4571" y="10667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1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7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 </a:t>
            </a:r>
            <a:r>
              <a:rPr spc="5" dirty="0"/>
              <a:t>学</a:t>
            </a:r>
            <a:r>
              <a:rPr spc="-5" dirty="0"/>
              <a:t>习率</a:t>
            </a:r>
            <a:r>
              <a:rPr spc="-100" dirty="0"/>
              <a:t> </a:t>
            </a:r>
            <a:r>
              <a:rPr spc="3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pc="35" dirty="0"/>
              <a:t>，</a:t>
            </a:r>
            <a:r>
              <a:rPr spc="-5" dirty="0"/>
              <a:t>衰减</a:t>
            </a:r>
            <a:r>
              <a:rPr spc="5" dirty="0"/>
              <a:t>速</a:t>
            </a:r>
            <a:r>
              <a:rPr spc="-5" dirty="0"/>
              <a:t>率</a:t>
            </a:r>
            <a:r>
              <a:rPr spc="-105" dirty="0"/>
              <a:t> </a:t>
            </a:r>
            <a:r>
              <a:rPr spc="25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spc="25" dirty="0"/>
              <a:t>，</a:t>
            </a:r>
            <a:r>
              <a:rPr spc="-5" dirty="0"/>
              <a:t>动</a:t>
            </a:r>
            <a:r>
              <a:rPr spc="5" dirty="0"/>
              <a:t>量系</a:t>
            </a:r>
            <a:r>
              <a:rPr spc="40" dirty="0"/>
              <a:t>数</a:t>
            </a:r>
            <a:r>
              <a:rPr spc="60" dirty="0">
                <a:latin typeface="Cambria Math" panose="02040503050406030204"/>
                <a:cs typeface="Cambria Math" panose="02040503050406030204"/>
              </a:rPr>
              <a:t>µ</a:t>
            </a:r>
            <a:r>
              <a:rPr spc="-5" dirty="0"/>
              <a:t>。（建</a:t>
            </a:r>
            <a:r>
              <a:rPr spc="5" dirty="0"/>
              <a:t>议</a:t>
            </a:r>
            <a:r>
              <a:rPr spc="-5" dirty="0"/>
              <a:t>值分</a:t>
            </a:r>
            <a:r>
              <a:rPr spc="5" dirty="0"/>
              <a:t>别</a:t>
            </a:r>
            <a:r>
              <a:rPr spc="-10" dirty="0"/>
              <a:t>为</a:t>
            </a:r>
            <a:r>
              <a:rPr spc="-5" dirty="0"/>
              <a:t>0.999，0.9）</a:t>
            </a:r>
            <a:endParaRPr spc="-5" dirty="0"/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equire: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初始参数</a:t>
            </a:r>
            <a:r>
              <a:rPr spc="-150" dirty="0"/>
              <a:t> </a:t>
            </a:r>
            <a:r>
              <a:rPr spc="50" dirty="0">
                <a:latin typeface="Cambria Math" panose="02040503050406030204"/>
                <a:cs typeface="Cambria Math" panose="02040503050406030204"/>
              </a:rPr>
              <a:t>e</a:t>
            </a:r>
            <a:endParaRPr spc="50" dirty="0">
              <a:latin typeface="Cambria Math" panose="02040503050406030204"/>
              <a:cs typeface="Cambria Math" panose="02040503050406030204"/>
            </a:endParaRPr>
          </a:p>
          <a:p>
            <a:pPr marL="220345" marR="358140" indent="-220980">
              <a:lnSpc>
                <a:spcPct val="150000"/>
              </a:lnSpc>
              <a:spcBef>
                <a:spcPts val="1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pc="-15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小常数</a:t>
            </a:r>
            <a:r>
              <a:rPr spc="1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pc="10" dirty="0"/>
              <a:t>，</a:t>
            </a:r>
            <a:r>
              <a:rPr spc="-5" dirty="0"/>
              <a:t>用于被小数除时的数值稳</a:t>
            </a:r>
            <a:r>
              <a:rPr spc="5" dirty="0"/>
              <a:t>定</a:t>
            </a:r>
            <a:r>
              <a:rPr spc="-5" dirty="0"/>
              <a:t>。（</a:t>
            </a:r>
            <a:r>
              <a:rPr spc="5" dirty="0"/>
              <a:t>通</a:t>
            </a:r>
            <a:r>
              <a:rPr spc="-5" dirty="0"/>
              <a:t>常设</a:t>
            </a:r>
            <a:r>
              <a:rPr spc="5" dirty="0"/>
              <a:t>为</a:t>
            </a:r>
            <a:r>
              <a:rPr spc="4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750" spc="67" baseline="28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700" spc="45" dirty="0"/>
              <a:t>）  </a:t>
            </a:r>
            <a:r>
              <a:rPr sz="700" spc="5" dirty="0">
                <a:solidFill>
                  <a:srgbClr val="FF0000"/>
                </a:solidFill>
              </a:rPr>
              <a:t>初</a:t>
            </a:r>
            <a:r>
              <a:rPr sz="700" spc="-5" dirty="0">
                <a:solidFill>
                  <a:srgbClr val="FF0000"/>
                </a:solidFill>
              </a:rPr>
              <a:t>始化</a:t>
            </a:r>
            <a:r>
              <a:rPr sz="700" spc="5" dirty="0">
                <a:solidFill>
                  <a:srgbClr val="FF0000"/>
                </a:solidFill>
              </a:rPr>
              <a:t>累</a:t>
            </a:r>
            <a:r>
              <a:rPr sz="700" spc="-5" dirty="0">
                <a:solidFill>
                  <a:srgbClr val="FF0000"/>
                </a:solidFill>
              </a:rPr>
              <a:t>积变量</a:t>
            </a:r>
            <a:r>
              <a:rPr sz="700" spc="5" dirty="0">
                <a:solidFill>
                  <a:srgbClr val="FF0000"/>
                </a:solidFill>
              </a:rPr>
              <a:t> 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0,</a:t>
            </a:r>
            <a:r>
              <a:rPr sz="700" spc="-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停止标准未满足</a:t>
            </a:r>
            <a:r>
              <a:rPr spc="-135" dirty="0"/>
              <a:t> </a:t>
            </a:r>
            <a:r>
              <a:rPr spc="-10" dirty="0">
                <a:latin typeface="Arial" panose="020B0604020202020204"/>
                <a:cs typeface="Arial" panose="020B0604020202020204"/>
              </a:rPr>
              <a:t>do</a:t>
            </a:r>
            <a:r>
              <a:rPr spc="-10" dirty="0"/>
              <a:t>：</a:t>
            </a:r>
            <a:endParaRPr spc="-10" dirty="0"/>
          </a:p>
          <a:p>
            <a:pPr marL="539115" marR="142240" indent="-170815">
              <a:lnSpc>
                <a:spcPts val="1450"/>
              </a:lnSpc>
              <a:spcBef>
                <a:spcPts val="95"/>
              </a:spcBef>
              <a:tabLst>
                <a:tab pos="638175" algn="l"/>
              </a:tabLst>
            </a:pPr>
            <a:r>
              <a:rPr spc="-5" dirty="0">
                <a:latin typeface="Arial" panose="020B0604020202020204"/>
                <a:cs typeface="Arial" panose="020B0604020202020204"/>
              </a:rPr>
              <a:t>1.		</a:t>
            </a:r>
            <a:r>
              <a:rPr spc="-5" dirty="0"/>
              <a:t>从训练集中采样</a:t>
            </a:r>
            <a:r>
              <a:rPr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pc="5" dirty="0"/>
              <a:t>（</a:t>
            </a:r>
            <a:r>
              <a:rPr spc="-5" dirty="0"/>
              <a:t>批量大小）个样本</a:t>
            </a:r>
            <a:r>
              <a:rPr spc="-85" dirty="0"/>
              <a:t> </a:t>
            </a:r>
            <a:r>
              <a:rPr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112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/>
              <a:t>对应 的目标为</a:t>
            </a:r>
            <a:r>
              <a:rPr sz="700" spc="-80" dirty="0"/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9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93424" y="1995465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59" y="0"/>
                </a:lnTo>
                <a:lnTo>
                  <a:pt x="60959" y="6096"/>
                </a:lnTo>
                <a:lnTo>
                  <a:pt x="0" y="60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91897" y="1966025"/>
            <a:ext cx="1771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spc="40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4444" y="1943649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1816" y="4571"/>
                </a:lnTo>
                <a:lnTo>
                  <a:pt x="54863" y="7619"/>
                </a:lnTo>
                <a:lnTo>
                  <a:pt x="56387" y="12192"/>
                </a:lnTo>
                <a:lnTo>
                  <a:pt x="59436" y="16763"/>
                </a:lnTo>
                <a:lnTo>
                  <a:pt x="60960" y="22859"/>
                </a:lnTo>
                <a:lnTo>
                  <a:pt x="60960" y="36575"/>
                </a:lnTo>
                <a:lnTo>
                  <a:pt x="59436" y="42671"/>
                </a:lnTo>
                <a:lnTo>
                  <a:pt x="56387" y="47243"/>
                </a:lnTo>
                <a:lnTo>
                  <a:pt x="54863" y="53339"/>
                </a:lnTo>
                <a:lnTo>
                  <a:pt x="51816" y="56387"/>
                </a:lnTo>
                <a:lnTo>
                  <a:pt x="45719" y="57912"/>
                </a:lnTo>
                <a:lnTo>
                  <a:pt x="47243" y="59436"/>
                </a:lnTo>
                <a:lnTo>
                  <a:pt x="53339" y="57912"/>
                </a:lnTo>
                <a:lnTo>
                  <a:pt x="57912" y="54863"/>
                </a:lnTo>
                <a:lnTo>
                  <a:pt x="60960" y="48768"/>
                </a:lnTo>
                <a:lnTo>
                  <a:pt x="64007" y="44195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6763"/>
                </a:lnTo>
                <a:lnTo>
                  <a:pt x="60960" y="10668"/>
                </a:lnTo>
                <a:lnTo>
                  <a:pt x="57912" y="6095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30100" y="1943649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8768" y="0"/>
                </a:moveTo>
                <a:lnTo>
                  <a:pt x="47243" y="3048"/>
                </a:lnTo>
                <a:lnTo>
                  <a:pt x="53339" y="4571"/>
                </a:lnTo>
                <a:lnTo>
                  <a:pt x="56387" y="7619"/>
                </a:lnTo>
                <a:lnTo>
                  <a:pt x="57912" y="12192"/>
                </a:lnTo>
                <a:lnTo>
                  <a:pt x="60960" y="16763"/>
                </a:lnTo>
                <a:lnTo>
                  <a:pt x="62483" y="22859"/>
                </a:lnTo>
                <a:lnTo>
                  <a:pt x="62483" y="36575"/>
                </a:lnTo>
                <a:lnTo>
                  <a:pt x="60960" y="42671"/>
                </a:lnTo>
                <a:lnTo>
                  <a:pt x="57912" y="47243"/>
                </a:lnTo>
                <a:lnTo>
                  <a:pt x="56387" y="53339"/>
                </a:lnTo>
                <a:lnTo>
                  <a:pt x="53339" y="56387"/>
                </a:lnTo>
                <a:lnTo>
                  <a:pt x="47243" y="57912"/>
                </a:lnTo>
                <a:lnTo>
                  <a:pt x="48768" y="59436"/>
                </a:lnTo>
                <a:lnTo>
                  <a:pt x="54863" y="57912"/>
                </a:lnTo>
                <a:lnTo>
                  <a:pt x="59436" y="54863"/>
                </a:lnTo>
                <a:lnTo>
                  <a:pt x="62483" y="48768"/>
                </a:lnTo>
                <a:lnTo>
                  <a:pt x="65531" y="44195"/>
                </a:lnTo>
                <a:lnTo>
                  <a:pt x="67056" y="38100"/>
                </a:lnTo>
                <a:lnTo>
                  <a:pt x="67056" y="22859"/>
                </a:lnTo>
                <a:lnTo>
                  <a:pt x="65531" y="16763"/>
                </a:lnTo>
                <a:lnTo>
                  <a:pt x="62483" y="10668"/>
                </a:lnTo>
                <a:lnTo>
                  <a:pt x="59436" y="6095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7310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62457" y="1923307"/>
            <a:ext cx="1598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计算梯度</a:t>
            </a:r>
            <a:r>
              <a:rPr sz="7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6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  </a:t>
            </a:r>
            <a:r>
              <a:rPr sz="750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2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e),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86972" y="2141769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39" y="6095"/>
                </a:lnTo>
                <a:lnTo>
                  <a:pt x="248411" y="10668"/>
                </a:lnTo>
                <a:lnTo>
                  <a:pt x="251459" y="16763"/>
                </a:lnTo>
                <a:lnTo>
                  <a:pt x="256031" y="22860"/>
                </a:lnTo>
                <a:lnTo>
                  <a:pt x="257555" y="30480"/>
                </a:lnTo>
                <a:lnTo>
                  <a:pt x="257555" y="50292"/>
                </a:lnTo>
                <a:lnTo>
                  <a:pt x="256031" y="59436"/>
                </a:lnTo>
                <a:lnTo>
                  <a:pt x="251459" y="65531"/>
                </a:lnTo>
                <a:lnTo>
                  <a:pt x="248411" y="71628"/>
                </a:lnTo>
                <a:lnTo>
                  <a:pt x="243839" y="76200"/>
                </a:lnTo>
                <a:lnTo>
                  <a:pt x="237744" y="79248"/>
                </a:lnTo>
                <a:lnTo>
                  <a:pt x="237744" y="82295"/>
                </a:lnTo>
                <a:lnTo>
                  <a:pt x="263342" y="48839"/>
                </a:lnTo>
                <a:lnTo>
                  <a:pt x="263651" y="41148"/>
                </a:lnTo>
                <a:lnTo>
                  <a:pt x="263342" y="33432"/>
                </a:lnTo>
                <a:lnTo>
                  <a:pt x="246887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7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7" y="82295"/>
                </a:lnTo>
                <a:lnTo>
                  <a:pt x="25907" y="79248"/>
                </a:lnTo>
                <a:lnTo>
                  <a:pt x="19811" y="76200"/>
                </a:lnTo>
                <a:lnTo>
                  <a:pt x="15239" y="71628"/>
                </a:lnTo>
                <a:lnTo>
                  <a:pt x="9143" y="59436"/>
                </a:lnTo>
                <a:lnTo>
                  <a:pt x="7619" y="50292"/>
                </a:lnTo>
                <a:lnTo>
                  <a:pt x="7619" y="30480"/>
                </a:lnTo>
                <a:lnTo>
                  <a:pt x="9143" y="22860"/>
                </a:lnTo>
                <a:lnTo>
                  <a:pt x="15239" y="10668"/>
                </a:lnTo>
                <a:lnTo>
                  <a:pt x="19811" y="6095"/>
                </a:lnTo>
                <a:lnTo>
                  <a:pt x="27431" y="3048"/>
                </a:lnTo>
                <a:lnTo>
                  <a:pt x="259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2773" y="1923307"/>
            <a:ext cx="86995" cy="47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2.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59183" y="2301789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40" y="6096"/>
                </a:lnTo>
                <a:lnTo>
                  <a:pt x="248412" y="10668"/>
                </a:lnTo>
                <a:lnTo>
                  <a:pt x="251460" y="16763"/>
                </a:lnTo>
                <a:lnTo>
                  <a:pt x="256032" y="22860"/>
                </a:lnTo>
                <a:lnTo>
                  <a:pt x="257556" y="30480"/>
                </a:lnTo>
                <a:lnTo>
                  <a:pt x="257556" y="50292"/>
                </a:lnTo>
                <a:lnTo>
                  <a:pt x="256032" y="59436"/>
                </a:lnTo>
                <a:lnTo>
                  <a:pt x="251460" y="65531"/>
                </a:lnTo>
                <a:lnTo>
                  <a:pt x="248412" y="71628"/>
                </a:lnTo>
                <a:lnTo>
                  <a:pt x="243840" y="76200"/>
                </a:lnTo>
                <a:lnTo>
                  <a:pt x="237744" y="79248"/>
                </a:lnTo>
                <a:lnTo>
                  <a:pt x="237744" y="82296"/>
                </a:lnTo>
                <a:lnTo>
                  <a:pt x="263342" y="48839"/>
                </a:lnTo>
                <a:lnTo>
                  <a:pt x="263652" y="41148"/>
                </a:lnTo>
                <a:lnTo>
                  <a:pt x="263342" y="33432"/>
                </a:lnTo>
                <a:lnTo>
                  <a:pt x="246888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8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8" y="82296"/>
                </a:lnTo>
                <a:lnTo>
                  <a:pt x="25908" y="79248"/>
                </a:lnTo>
                <a:lnTo>
                  <a:pt x="19812" y="76200"/>
                </a:lnTo>
                <a:lnTo>
                  <a:pt x="15240" y="71628"/>
                </a:lnTo>
                <a:lnTo>
                  <a:pt x="9143" y="59436"/>
                </a:lnTo>
                <a:lnTo>
                  <a:pt x="7620" y="50292"/>
                </a:lnTo>
                <a:lnTo>
                  <a:pt x="7620" y="30480"/>
                </a:lnTo>
                <a:lnTo>
                  <a:pt x="9143" y="22860"/>
                </a:lnTo>
                <a:lnTo>
                  <a:pt x="15240" y="10668"/>
                </a:lnTo>
                <a:lnTo>
                  <a:pt x="19812" y="6096"/>
                </a:lnTo>
                <a:lnTo>
                  <a:pt x="27432" y="3048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72088" y="2539533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92773" y="1953159"/>
            <a:ext cx="1743710" cy="6432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R="528955" algn="r">
              <a:lnSpc>
                <a:spcPct val="100000"/>
              </a:lnSpc>
              <a:spcBef>
                <a:spcPts val="360"/>
              </a:spcBef>
            </a:pPr>
            <a:r>
              <a:rPr sz="500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35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累积梯度</a:t>
            </a:r>
            <a:r>
              <a:rPr sz="7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 +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 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42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累积平方梯度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pr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∗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tabLst>
                <a:tab pos="269240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修正偏差</a:t>
            </a:r>
            <a:r>
              <a:rPr sz="700" spc="-7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-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r>
              <a:rPr sz="700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-3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50" spc="82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</a:t>
            </a:r>
            <a:r>
              <a:rPr sz="700" spc="9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9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endParaRPr sz="750" baseline="4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29288" y="2539533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41251" y="2783373"/>
            <a:ext cx="79375" cy="62865"/>
          </a:xfrm>
          <a:custGeom>
            <a:avLst/>
            <a:gdLst/>
            <a:ahLst/>
            <a:cxnLst/>
            <a:rect l="l" t="t" r="r" b="b"/>
            <a:pathLst>
              <a:path w="79375" h="62864">
                <a:moveTo>
                  <a:pt x="12668" y="33527"/>
                </a:moveTo>
                <a:lnTo>
                  <a:pt x="6096" y="33527"/>
                </a:lnTo>
                <a:lnTo>
                  <a:pt x="19812" y="62483"/>
                </a:lnTo>
                <a:lnTo>
                  <a:pt x="22860" y="62483"/>
                </a:lnTo>
                <a:lnTo>
                  <a:pt x="25506" y="53339"/>
                </a:lnTo>
                <a:lnTo>
                  <a:pt x="21336" y="53339"/>
                </a:lnTo>
                <a:lnTo>
                  <a:pt x="12668" y="33527"/>
                </a:lnTo>
                <a:close/>
              </a:path>
              <a:path w="79375" h="62864">
                <a:moveTo>
                  <a:pt x="79248" y="0"/>
                </a:moveTo>
                <a:lnTo>
                  <a:pt x="36575" y="0"/>
                </a:lnTo>
                <a:lnTo>
                  <a:pt x="21336" y="53339"/>
                </a:lnTo>
                <a:lnTo>
                  <a:pt x="25506" y="53339"/>
                </a:lnTo>
                <a:lnTo>
                  <a:pt x="39624" y="4571"/>
                </a:lnTo>
                <a:lnTo>
                  <a:pt x="79248" y="4571"/>
                </a:lnTo>
                <a:lnTo>
                  <a:pt x="79248" y="0"/>
                </a:lnTo>
                <a:close/>
              </a:path>
              <a:path w="79375" h="62864">
                <a:moveTo>
                  <a:pt x="10668" y="28956"/>
                </a:moveTo>
                <a:lnTo>
                  <a:pt x="0" y="33527"/>
                </a:lnTo>
                <a:lnTo>
                  <a:pt x="1524" y="36575"/>
                </a:lnTo>
                <a:lnTo>
                  <a:pt x="6096" y="33527"/>
                </a:lnTo>
                <a:lnTo>
                  <a:pt x="12668" y="33527"/>
                </a:lnTo>
                <a:lnTo>
                  <a:pt x="10668" y="289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41251" y="2769657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640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92773" y="2532944"/>
            <a:ext cx="1501140" cy="33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4870" algn="ctr">
              <a:lnSpc>
                <a:spcPct val="100000"/>
              </a:lnSpc>
              <a:spcBef>
                <a:spcPts val="100"/>
              </a:spcBef>
              <a:tabLst>
                <a:tab pos="1322070" algn="l"/>
              </a:tabLst>
            </a:pPr>
            <a:r>
              <a:rPr sz="500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600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600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	</a:t>
            </a:r>
            <a:r>
              <a:rPr sz="500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600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endParaRPr sz="600" baseline="210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ts val="700"/>
              </a:lnSpc>
              <a:tabLst>
                <a:tab pos="269240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更新权值</a:t>
            </a:r>
            <a:r>
              <a:rPr sz="700" spc="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6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</a:t>
            </a:r>
            <a:r>
              <a:rPr sz="750" spc="112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R="282575" algn="r">
              <a:lnSpc>
                <a:spcPts val="460"/>
              </a:lnSpc>
            </a:pPr>
            <a:r>
              <a:rPr sz="5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5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̃</a:t>
            </a:r>
            <a:r>
              <a:rPr sz="5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5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o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2495" y="2883421"/>
            <a:ext cx="385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2791292" y="120327"/>
            <a:ext cx="6178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Adam</a:t>
            </a:r>
            <a:endParaRPr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65307" y="2108241"/>
            <a:ext cx="1844039" cy="152400"/>
          </a:xfrm>
          <a:custGeom>
            <a:avLst/>
            <a:gdLst/>
            <a:ahLst/>
            <a:cxnLst/>
            <a:rect l="l" t="t" r="r" b="b"/>
            <a:pathLst>
              <a:path w="1844039" h="152400">
                <a:moveTo>
                  <a:pt x="0" y="0"/>
                </a:moveTo>
                <a:lnTo>
                  <a:pt x="1844039" y="0"/>
                </a:lnTo>
                <a:lnTo>
                  <a:pt x="1844039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311009" y="563921"/>
            <a:ext cx="1769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同时使用动量与自适应梯度思想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736" y="665385"/>
            <a:ext cx="2992120" cy="2513330"/>
          </a:xfrm>
          <a:custGeom>
            <a:avLst/>
            <a:gdLst/>
            <a:ahLst/>
            <a:cxnLst/>
            <a:rect l="l" t="t" r="r" b="b"/>
            <a:pathLst>
              <a:path w="2992120" h="2513330">
                <a:moveTo>
                  <a:pt x="0" y="0"/>
                </a:moveTo>
                <a:lnTo>
                  <a:pt x="2991612" y="0"/>
                </a:lnTo>
                <a:lnTo>
                  <a:pt x="2991612" y="2513076"/>
                </a:lnTo>
                <a:lnTo>
                  <a:pt x="0" y="2513076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5164" y="656241"/>
            <a:ext cx="2999740" cy="18415"/>
          </a:xfrm>
          <a:custGeom>
            <a:avLst/>
            <a:gdLst/>
            <a:ahLst/>
            <a:cxnLst/>
            <a:rect l="l" t="t" r="r" b="b"/>
            <a:pathLst>
              <a:path w="2999740" h="18415">
                <a:moveTo>
                  <a:pt x="0" y="0"/>
                </a:moveTo>
                <a:lnTo>
                  <a:pt x="2999231" y="0"/>
                </a:lnTo>
                <a:lnTo>
                  <a:pt x="2999231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736" y="508413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1347" y="508413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164" y="511461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5164" y="3178461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2783" y="514509"/>
            <a:ext cx="2985770" cy="142240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2222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75"/>
              </a:spcBef>
            </a:pPr>
            <a:r>
              <a:rPr sz="700" b="1" spc="-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Adam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7532" y="1549305"/>
            <a:ext cx="536575" cy="105410"/>
          </a:xfrm>
          <a:custGeom>
            <a:avLst/>
            <a:gdLst/>
            <a:ahLst/>
            <a:cxnLst/>
            <a:rect l="l" t="t" r="r" b="b"/>
            <a:pathLst>
              <a:path w="536575" h="105410">
                <a:moveTo>
                  <a:pt x="516635" y="0"/>
                </a:moveTo>
                <a:lnTo>
                  <a:pt x="509016" y="0"/>
                </a:lnTo>
                <a:lnTo>
                  <a:pt x="509016" y="3048"/>
                </a:lnTo>
                <a:lnTo>
                  <a:pt x="513588" y="3048"/>
                </a:lnTo>
                <a:lnTo>
                  <a:pt x="518159" y="4572"/>
                </a:lnTo>
                <a:lnTo>
                  <a:pt x="519683" y="7620"/>
                </a:lnTo>
                <a:lnTo>
                  <a:pt x="522731" y="9144"/>
                </a:lnTo>
                <a:lnTo>
                  <a:pt x="522731" y="32003"/>
                </a:lnTo>
                <a:lnTo>
                  <a:pt x="521207" y="35051"/>
                </a:lnTo>
                <a:lnTo>
                  <a:pt x="521207" y="42672"/>
                </a:lnTo>
                <a:lnTo>
                  <a:pt x="522731" y="45720"/>
                </a:lnTo>
                <a:lnTo>
                  <a:pt x="524256" y="47244"/>
                </a:lnTo>
                <a:lnTo>
                  <a:pt x="525780" y="50292"/>
                </a:lnTo>
                <a:lnTo>
                  <a:pt x="527304" y="51816"/>
                </a:lnTo>
                <a:lnTo>
                  <a:pt x="528828" y="51816"/>
                </a:lnTo>
                <a:lnTo>
                  <a:pt x="528828" y="53340"/>
                </a:lnTo>
                <a:lnTo>
                  <a:pt x="527304" y="53340"/>
                </a:lnTo>
                <a:lnTo>
                  <a:pt x="525780" y="54864"/>
                </a:lnTo>
                <a:lnTo>
                  <a:pt x="524256" y="57912"/>
                </a:lnTo>
                <a:lnTo>
                  <a:pt x="522731" y="59436"/>
                </a:lnTo>
                <a:lnTo>
                  <a:pt x="521207" y="62484"/>
                </a:lnTo>
                <a:lnTo>
                  <a:pt x="521207" y="70103"/>
                </a:lnTo>
                <a:lnTo>
                  <a:pt x="522731" y="73151"/>
                </a:lnTo>
                <a:lnTo>
                  <a:pt x="522731" y="96012"/>
                </a:lnTo>
                <a:lnTo>
                  <a:pt x="519683" y="97536"/>
                </a:lnTo>
                <a:lnTo>
                  <a:pt x="518159" y="100584"/>
                </a:lnTo>
                <a:lnTo>
                  <a:pt x="513588" y="102108"/>
                </a:lnTo>
                <a:lnTo>
                  <a:pt x="509016" y="102108"/>
                </a:lnTo>
                <a:lnTo>
                  <a:pt x="509016" y="105155"/>
                </a:lnTo>
                <a:lnTo>
                  <a:pt x="516635" y="105155"/>
                </a:lnTo>
                <a:lnTo>
                  <a:pt x="522731" y="103631"/>
                </a:lnTo>
                <a:lnTo>
                  <a:pt x="525780" y="99060"/>
                </a:lnTo>
                <a:lnTo>
                  <a:pt x="528828" y="96012"/>
                </a:lnTo>
                <a:lnTo>
                  <a:pt x="530352" y="89916"/>
                </a:lnTo>
                <a:lnTo>
                  <a:pt x="530352" y="70103"/>
                </a:lnTo>
                <a:lnTo>
                  <a:pt x="528828" y="67055"/>
                </a:lnTo>
                <a:lnTo>
                  <a:pt x="528828" y="57912"/>
                </a:lnTo>
                <a:lnTo>
                  <a:pt x="531876" y="54864"/>
                </a:lnTo>
                <a:lnTo>
                  <a:pt x="536447" y="54864"/>
                </a:lnTo>
                <a:lnTo>
                  <a:pt x="536447" y="50292"/>
                </a:lnTo>
                <a:lnTo>
                  <a:pt x="531876" y="50292"/>
                </a:lnTo>
                <a:lnTo>
                  <a:pt x="528828" y="47244"/>
                </a:lnTo>
                <a:lnTo>
                  <a:pt x="528828" y="38100"/>
                </a:lnTo>
                <a:lnTo>
                  <a:pt x="530352" y="33527"/>
                </a:lnTo>
                <a:lnTo>
                  <a:pt x="530352" y="15240"/>
                </a:lnTo>
                <a:lnTo>
                  <a:pt x="528828" y="9144"/>
                </a:lnTo>
                <a:lnTo>
                  <a:pt x="525780" y="4572"/>
                </a:lnTo>
                <a:lnTo>
                  <a:pt x="522731" y="1524"/>
                </a:lnTo>
                <a:lnTo>
                  <a:pt x="516635" y="0"/>
                </a:lnTo>
                <a:close/>
              </a:path>
              <a:path w="536575" h="105410">
                <a:moveTo>
                  <a:pt x="27431" y="0"/>
                </a:moveTo>
                <a:lnTo>
                  <a:pt x="19812" y="0"/>
                </a:lnTo>
                <a:lnTo>
                  <a:pt x="15240" y="1524"/>
                </a:lnTo>
                <a:lnTo>
                  <a:pt x="7619" y="9144"/>
                </a:lnTo>
                <a:lnTo>
                  <a:pt x="6095" y="15240"/>
                </a:lnTo>
                <a:lnTo>
                  <a:pt x="6095" y="25908"/>
                </a:lnTo>
                <a:lnTo>
                  <a:pt x="7619" y="30479"/>
                </a:lnTo>
                <a:lnTo>
                  <a:pt x="7619" y="38100"/>
                </a:lnTo>
                <a:lnTo>
                  <a:pt x="9143" y="41148"/>
                </a:lnTo>
                <a:lnTo>
                  <a:pt x="9143" y="44196"/>
                </a:lnTo>
                <a:lnTo>
                  <a:pt x="7619" y="47244"/>
                </a:lnTo>
                <a:lnTo>
                  <a:pt x="4572" y="50292"/>
                </a:lnTo>
                <a:lnTo>
                  <a:pt x="0" y="50292"/>
                </a:lnTo>
                <a:lnTo>
                  <a:pt x="0" y="54864"/>
                </a:lnTo>
                <a:lnTo>
                  <a:pt x="4572" y="54864"/>
                </a:lnTo>
                <a:lnTo>
                  <a:pt x="7619" y="57912"/>
                </a:lnTo>
                <a:lnTo>
                  <a:pt x="9143" y="60960"/>
                </a:lnTo>
                <a:lnTo>
                  <a:pt x="9143" y="64008"/>
                </a:lnTo>
                <a:lnTo>
                  <a:pt x="7619" y="67055"/>
                </a:lnTo>
                <a:lnTo>
                  <a:pt x="7619" y="74675"/>
                </a:lnTo>
                <a:lnTo>
                  <a:pt x="6095" y="77724"/>
                </a:lnTo>
                <a:lnTo>
                  <a:pt x="6095" y="89916"/>
                </a:lnTo>
                <a:lnTo>
                  <a:pt x="7619" y="96012"/>
                </a:lnTo>
                <a:lnTo>
                  <a:pt x="12192" y="99060"/>
                </a:lnTo>
                <a:lnTo>
                  <a:pt x="15240" y="103631"/>
                </a:lnTo>
                <a:lnTo>
                  <a:pt x="19812" y="105155"/>
                </a:lnTo>
                <a:lnTo>
                  <a:pt x="27431" y="105155"/>
                </a:lnTo>
                <a:lnTo>
                  <a:pt x="27431" y="102108"/>
                </a:lnTo>
                <a:lnTo>
                  <a:pt x="22860" y="102108"/>
                </a:lnTo>
                <a:lnTo>
                  <a:pt x="19812" y="100584"/>
                </a:lnTo>
                <a:lnTo>
                  <a:pt x="15240" y="96012"/>
                </a:lnTo>
                <a:lnTo>
                  <a:pt x="13716" y="89916"/>
                </a:lnTo>
                <a:lnTo>
                  <a:pt x="13716" y="77724"/>
                </a:lnTo>
                <a:lnTo>
                  <a:pt x="15240" y="73151"/>
                </a:lnTo>
                <a:lnTo>
                  <a:pt x="15240" y="59436"/>
                </a:lnTo>
                <a:lnTo>
                  <a:pt x="13716" y="57912"/>
                </a:lnTo>
                <a:lnTo>
                  <a:pt x="12192" y="54864"/>
                </a:lnTo>
                <a:lnTo>
                  <a:pt x="10668" y="53340"/>
                </a:lnTo>
                <a:lnTo>
                  <a:pt x="7619" y="53340"/>
                </a:lnTo>
                <a:lnTo>
                  <a:pt x="7619" y="51816"/>
                </a:lnTo>
                <a:lnTo>
                  <a:pt x="10668" y="51816"/>
                </a:lnTo>
                <a:lnTo>
                  <a:pt x="12192" y="50292"/>
                </a:lnTo>
                <a:lnTo>
                  <a:pt x="13716" y="47244"/>
                </a:lnTo>
                <a:lnTo>
                  <a:pt x="15240" y="45720"/>
                </a:lnTo>
                <a:lnTo>
                  <a:pt x="15240" y="32003"/>
                </a:lnTo>
                <a:lnTo>
                  <a:pt x="13716" y="27431"/>
                </a:lnTo>
                <a:lnTo>
                  <a:pt x="13716" y="15240"/>
                </a:lnTo>
                <a:lnTo>
                  <a:pt x="15240" y="9144"/>
                </a:lnTo>
                <a:lnTo>
                  <a:pt x="19812" y="4572"/>
                </a:lnTo>
                <a:lnTo>
                  <a:pt x="22860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45923" y="154625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90">
                <a:moveTo>
                  <a:pt x="59436" y="0"/>
                </a:moveTo>
                <a:lnTo>
                  <a:pt x="57912" y="3048"/>
                </a:lnTo>
                <a:lnTo>
                  <a:pt x="64008" y="4572"/>
                </a:lnTo>
                <a:lnTo>
                  <a:pt x="67055" y="7620"/>
                </a:lnTo>
                <a:lnTo>
                  <a:pt x="68579" y="12192"/>
                </a:lnTo>
                <a:lnTo>
                  <a:pt x="71627" y="16764"/>
                </a:lnTo>
                <a:lnTo>
                  <a:pt x="73151" y="22860"/>
                </a:lnTo>
                <a:lnTo>
                  <a:pt x="73151" y="36575"/>
                </a:lnTo>
                <a:lnTo>
                  <a:pt x="71627" y="42672"/>
                </a:lnTo>
                <a:lnTo>
                  <a:pt x="68579" y="47244"/>
                </a:lnTo>
                <a:lnTo>
                  <a:pt x="67055" y="53340"/>
                </a:lnTo>
                <a:lnTo>
                  <a:pt x="64008" y="56388"/>
                </a:lnTo>
                <a:lnTo>
                  <a:pt x="57912" y="57912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3" y="54864"/>
                </a:lnTo>
                <a:lnTo>
                  <a:pt x="73151" y="48768"/>
                </a:lnTo>
                <a:lnTo>
                  <a:pt x="76200" y="44196"/>
                </a:lnTo>
                <a:lnTo>
                  <a:pt x="77724" y="38100"/>
                </a:lnTo>
                <a:lnTo>
                  <a:pt x="77724" y="22860"/>
                </a:lnTo>
                <a:lnTo>
                  <a:pt x="76200" y="16764"/>
                </a:lnTo>
                <a:lnTo>
                  <a:pt x="73151" y="10668"/>
                </a:lnTo>
                <a:lnTo>
                  <a:pt x="70103" y="6096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8105" h="59690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50723" y="1546257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90">
                <a:moveTo>
                  <a:pt x="83820" y="0"/>
                </a:moveTo>
                <a:lnTo>
                  <a:pt x="82296" y="3048"/>
                </a:lnTo>
                <a:lnTo>
                  <a:pt x="88391" y="4572"/>
                </a:lnTo>
                <a:lnTo>
                  <a:pt x="91439" y="7620"/>
                </a:lnTo>
                <a:lnTo>
                  <a:pt x="92963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2"/>
                </a:lnTo>
                <a:lnTo>
                  <a:pt x="92963" y="47244"/>
                </a:lnTo>
                <a:lnTo>
                  <a:pt x="91439" y="53340"/>
                </a:lnTo>
                <a:lnTo>
                  <a:pt x="88391" y="56388"/>
                </a:lnTo>
                <a:lnTo>
                  <a:pt x="82296" y="57912"/>
                </a:lnTo>
                <a:lnTo>
                  <a:pt x="83820" y="59436"/>
                </a:lnTo>
                <a:lnTo>
                  <a:pt x="89915" y="57912"/>
                </a:lnTo>
                <a:lnTo>
                  <a:pt x="94487" y="54864"/>
                </a:lnTo>
                <a:lnTo>
                  <a:pt x="97536" y="48768"/>
                </a:lnTo>
                <a:lnTo>
                  <a:pt x="100584" y="44196"/>
                </a:lnTo>
                <a:lnTo>
                  <a:pt x="102108" y="38100"/>
                </a:lnTo>
                <a:lnTo>
                  <a:pt x="102108" y="22860"/>
                </a:lnTo>
                <a:lnTo>
                  <a:pt x="100584" y="16764"/>
                </a:lnTo>
                <a:lnTo>
                  <a:pt x="97536" y="10668"/>
                </a:lnTo>
                <a:lnTo>
                  <a:pt x="94487" y="6096"/>
                </a:lnTo>
                <a:lnTo>
                  <a:pt x="89915" y="1524"/>
                </a:lnTo>
                <a:lnTo>
                  <a:pt x="83820" y="0"/>
                </a:lnTo>
                <a:close/>
              </a:path>
              <a:path w="102235" h="59690">
                <a:moveTo>
                  <a:pt x="19812" y="0"/>
                </a:moveTo>
                <a:lnTo>
                  <a:pt x="13715" y="1524"/>
                </a:lnTo>
                <a:lnTo>
                  <a:pt x="4572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1" y="53340"/>
                </a:lnTo>
                <a:lnTo>
                  <a:pt x="9143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23092" y="1733709"/>
            <a:ext cx="533400" cy="105410"/>
          </a:xfrm>
          <a:custGeom>
            <a:avLst/>
            <a:gdLst/>
            <a:ahLst/>
            <a:cxnLst/>
            <a:rect l="l" t="t" r="r" b="b"/>
            <a:pathLst>
              <a:path w="533400" h="105410">
                <a:moveTo>
                  <a:pt x="513588" y="0"/>
                </a:moveTo>
                <a:lnTo>
                  <a:pt x="505968" y="0"/>
                </a:lnTo>
                <a:lnTo>
                  <a:pt x="505968" y="3048"/>
                </a:lnTo>
                <a:lnTo>
                  <a:pt x="510539" y="3048"/>
                </a:lnTo>
                <a:lnTo>
                  <a:pt x="515112" y="4572"/>
                </a:lnTo>
                <a:lnTo>
                  <a:pt x="516635" y="7620"/>
                </a:lnTo>
                <a:lnTo>
                  <a:pt x="519683" y="9144"/>
                </a:lnTo>
                <a:lnTo>
                  <a:pt x="519683" y="32004"/>
                </a:lnTo>
                <a:lnTo>
                  <a:pt x="518159" y="35051"/>
                </a:lnTo>
                <a:lnTo>
                  <a:pt x="518159" y="42672"/>
                </a:lnTo>
                <a:lnTo>
                  <a:pt x="519683" y="45720"/>
                </a:lnTo>
                <a:lnTo>
                  <a:pt x="521207" y="47244"/>
                </a:lnTo>
                <a:lnTo>
                  <a:pt x="522731" y="50292"/>
                </a:lnTo>
                <a:lnTo>
                  <a:pt x="524256" y="51816"/>
                </a:lnTo>
                <a:lnTo>
                  <a:pt x="525780" y="51816"/>
                </a:lnTo>
                <a:lnTo>
                  <a:pt x="525780" y="53340"/>
                </a:lnTo>
                <a:lnTo>
                  <a:pt x="524256" y="53340"/>
                </a:lnTo>
                <a:lnTo>
                  <a:pt x="522731" y="54864"/>
                </a:lnTo>
                <a:lnTo>
                  <a:pt x="521207" y="57912"/>
                </a:lnTo>
                <a:lnTo>
                  <a:pt x="519683" y="59436"/>
                </a:lnTo>
                <a:lnTo>
                  <a:pt x="518159" y="62484"/>
                </a:lnTo>
                <a:lnTo>
                  <a:pt x="518159" y="70104"/>
                </a:lnTo>
                <a:lnTo>
                  <a:pt x="519683" y="73151"/>
                </a:lnTo>
                <a:lnTo>
                  <a:pt x="519683" y="96012"/>
                </a:lnTo>
                <a:lnTo>
                  <a:pt x="516635" y="97536"/>
                </a:lnTo>
                <a:lnTo>
                  <a:pt x="515112" y="100584"/>
                </a:lnTo>
                <a:lnTo>
                  <a:pt x="510539" y="102108"/>
                </a:lnTo>
                <a:lnTo>
                  <a:pt x="505968" y="102108"/>
                </a:lnTo>
                <a:lnTo>
                  <a:pt x="505968" y="105156"/>
                </a:lnTo>
                <a:lnTo>
                  <a:pt x="513588" y="105156"/>
                </a:lnTo>
                <a:lnTo>
                  <a:pt x="519683" y="103632"/>
                </a:lnTo>
                <a:lnTo>
                  <a:pt x="522731" y="99060"/>
                </a:lnTo>
                <a:lnTo>
                  <a:pt x="525780" y="96012"/>
                </a:lnTo>
                <a:lnTo>
                  <a:pt x="527303" y="89916"/>
                </a:lnTo>
                <a:lnTo>
                  <a:pt x="527303" y="70104"/>
                </a:lnTo>
                <a:lnTo>
                  <a:pt x="525780" y="67056"/>
                </a:lnTo>
                <a:lnTo>
                  <a:pt x="525780" y="57912"/>
                </a:lnTo>
                <a:lnTo>
                  <a:pt x="528827" y="54864"/>
                </a:lnTo>
                <a:lnTo>
                  <a:pt x="533400" y="54864"/>
                </a:lnTo>
                <a:lnTo>
                  <a:pt x="533400" y="50292"/>
                </a:lnTo>
                <a:lnTo>
                  <a:pt x="528827" y="50292"/>
                </a:lnTo>
                <a:lnTo>
                  <a:pt x="525780" y="47244"/>
                </a:lnTo>
                <a:lnTo>
                  <a:pt x="525780" y="38100"/>
                </a:lnTo>
                <a:lnTo>
                  <a:pt x="527303" y="33527"/>
                </a:lnTo>
                <a:lnTo>
                  <a:pt x="527303" y="15240"/>
                </a:lnTo>
                <a:lnTo>
                  <a:pt x="525780" y="9144"/>
                </a:lnTo>
                <a:lnTo>
                  <a:pt x="522731" y="4572"/>
                </a:lnTo>
                <a:lnTo>
                  <a:pt x="519683" y="1524"/>
                </a:lnTo>
                <a:lnTo>
                  <a:pt x="513588" y="0"/>
                </a:lnTo>
                <a:close/>
              </a:path>
              <a:path w="533400" h="105410">
                <a:moveTo>
                  <a:pt x="27431" y="0"/>
                </a:moveTo>
                <a:lnTo>
                  <a:pt x="19812" y="0"/>
                </a:lnTo>
                <a:lnTo>
                  <a:pt x="15239" y="1524"/>
                </a:lnTo>
                <a:lnTo>
                  <a:pt x="7619" y="9144"/>
                </a:lnTo>
                <a:lnTo>
                  <a:pt x="6095" y="15240"/>
                </a:lnTo>
                <a:lnTo>
                  <a:pt x="6095" y="25908"/>
                </a:lnTo>
                <a:lnTo>
                  <a:pt x="7619" y="30480"/>
                </a:lnTo>
                <a:lnTo>
                  <a:pt x="7619" y="38100"/>
                </a:lnTo>
                <a:lnTo>
                  <a:pt x="9143" y="41148"/>
                </a:lnTo>
                <a:lnTo>
                  <a:pt x="9143" y="44196"/>
                </a:lnTo>
                <a:lnTo>
                  <a:pt x="7619" y="47244"/>
                </a:lnTo>
                <a:lnTo>
                  <a:pt x="4571" y="50292"/>
                </a:lnTo>
                <a:lnTo>
                  <a:pt x="0" y="50292"/>
                </a:lnTo>
                <a:lnTo>
                  <a:pt x="0" y="54864"/>
                </a:lnTo>
                <a:lnTo>
                  <a:pt x="4571" y="54864"/>
                </a:lnTo>
                <a:lnTo>
                  <a:pt x="7619" y="57912"/>
                </a:lnTo>
                <a:lnTo>
                  <a:pt x="9143" y="60960"/>
                </a:lnTo>
                <a:lnTo>
                  <a:pt x="9143" y="64008"/>
                </a:lnTo>
                <a:lnTo>
                  <a:pt x="7619" y="67056"/>
                </a:lnTo>
                <a:lnTo>
                  <a:pt x="7619" y="74675"/>
                </a:lnTo>
                <a:lnTo>
                  <a:pt x="6095" y="77724"/>
                </a:lnTo>
                <a:lnTo>
                  <a:pt x="6095" y="89916"/>
                </a:lnTo>
                <a:lnTo>
                  <a:pt x="7619" y="96012"/>
                </a:lnTo>
                <a:lnTo>
                  <a:pt x="12191" y="99060"/>
                </a:lnTo>
                <a:lnTo>
                  <a:pt x="15239" y="103632"/>
                </a:lnTo>
                <a:lnTo>
                  <a:pt x="19812" y="105156"/>
                </a:lnTo>
                <a:lnTo>
                  <a:pt x="27431" y="105156"/>
                </a:lnTo>
                <a:lnTo>
                  <a:pt x="27431" y="102108"/>
                </a:lnTo>
                <a:lnTo>
                  <a:pt x="22859" y="102108"/>
                </a:lnTo>
                <a:lnTo>
                  <a:pt x="19812" y="100584"/>
                </a:lnTo>
                <a:lnTo>
                  <a:pt x="15239" y="96012"/>
                </a:lnTo>
                <a:lnTo>
                  <a:pt x="13715" y="89916"/>
                </a:lnTo>
                <a:lnTo>
                  <a:pt x="13715" y="77724"/>
                </a:lnTo>
                <a:lnTo>
                  <a:pt x="15239" y="73151"/>
                </a:lnTo>
                <a:lnTo>
                  <a:pt x="15239" y="59436"/>
                </a:lnTo>
                <a:lnTo>
                  <a:pt x="13715" y="57912"/>
                </a:lnTo>
                <a:lnTo>
                  <a:pt x="12191" y="54864"/>
                </a:lnTo>
                <a:lnTo>
                  <a:pt x="10668" y="53340"/>
                </a:lnTo>
                <a:lnTo>
                  <a:pt x="7619" y="53340"/>
                </a:lnTo>
                <a:lnTo>
                  <a:pt x="7619" y="51816"/>
                </a:lnTo>
                <a:lnTo>
                  <a:pt x="10668" y="51816"/>
                </a:lnTo>
                <a:lnTo>
                  <a:pt x="12191" y="50292"/>
                </a:lnTo>
                <a:lnTo>
                  <a:pt x="13715" y="47244"/>
                </a:lnTo>
                <a:lnTo>
                  <a:pt x="15239" y="45720"/>
                </a:lnTo>
                <a:lnTo>
                  <a:pt x="15239" y="32004"/>
                </a:lnTo>
                <a:lnTo>
                  <a:pt x="13715" y="27432"/>
                </a:lnTo>
                <a:lnTo>
                  <a:pt x="13715" y="15240"/>
                </a:lnTo>
                <a:lnTo>
                  <a:pt x="15239" y="9144"/>
                </a:lnTo>
                <a:lnTo>
                  <a:pt x="19812" y="4572"/>
                </a:lnTo>
                <a:lnTo>
                  <a:pt x="22859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06911" y="1730661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9436" y="0"/>
                </a:moveTo>
                <a:lnTo>
                  <a:pt x="57912" y="3048"/>
                </a:lnTo>
                <a:lnTo>
                  <a:pt x="64007" y="4572"/>
                </a:lnTo>
                <a:lnTo>
                  <a:pt x="67056" y="7620"/>
                </a:lnTo>
                <a:lnTo>
                  <a:pt x="68580" y="12192"/>
                </a:lnTo>
                <a:lnTo>
                  <a:pt x="71627" y="16764"/>
                </a:lnTo>
                <a:lnTo>
                  <a:pt x="73151" y="22860"/>
                </a:lnTo>
                <a:lnTo>
                  <a:pt x="73151" y="36575"/>
                </a:lnTo>
                <a:lnTo>
                  <a:pt x="71627" y="42672"/>
                </a:lnTo>
                <a:lnTo>
                  <a:pt x="68580" y="47244"/>
                </a:lnTo>
                <a:lnTo>
                  <a:pt x="67056" y="53340"/>
                </a:lnTo>
                <a:lnTo>
                  <a:pt x="64007" y="56388"/>
                </a:lnTo>
                <a:lnTo>
                  <a:pt x="57912" y="57912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4" y="54864"/>
                </a:lnTo>
                <a:lnTo>
                  <a:pt x="73151" y="48768"/>
                </a:lnTo>
                <a:lnTo>
                  <a:pt x="76200" y="44196"/>
                </a:lnTo>
                <a:lnTo>
                  <a:pt x="77724" y="38100"/>
                </a:lnTo>
                <a:lnTo>
                  <a:pt x="77724" y="22860"/>
                </a:lnTo>
                <a:lnTo>
                  <a:pt x="76200" y="16764"/>
                </a:lnTo>
                <a:lnTo>
                  <a:pt x="73151" y="10668"/>
                </a:lnTo>
                <a:lnTo>
                  <a:pt x="70104" y="6096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8105" h="59689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13236" y="1730661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4" h="59689">
                <a:moveTo>
                  <a:pt x="83819" y="0"/>
                </a:moveTo>
                <a:lnTo>
                  <a:pt x="82295" y="3048"/>
                </a:lnTo>
                <a:lnTo>
                  <a:pt x="88391" y="4572"/>
                </a:lnTo>
                <a:lnTo>
                  <a:pt x="91439" y="7620"/>
                </a:lnTo>
                <a:lnTo>
                  <a:pt x="92963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2"/>
                </a:lnTo>
                <a:lnTo>
                  <a:pt x="92963" y="47244"/>
                </a:lnTo>
                <a:lnTo>
                  <a:pt x="91439" y="53340"/>
                </a:lnTo>
                <a:lnTo>
                  <a:pt x="88391" y="56388"/>
                </a:lnTo>
                <a:lnTo>
                  <a:pt x="82295" y="57912"/>
                </a:lnTo>
                <a:lnTo>
                  <a:pt x="83819" y="59436"/>
                </a:lnTo>
                <a:lnTo>
                  <a:pt x="89915" y="57912"/>
                </a:lnTo>
                <a:lnTo>
                  <a:pt x="94487" y="54864"/>
                </a:lnTo>
                <a:lnTo>
                  <a:pt x="97536" y="48768"/>
                </a:lnTo>
                <a:lnTo>
                  <a:pt x="100583" y="44196"/>
                </a:lnTo>
                <a:lnTo>
                  <a:pt x="102107" y="38100"/>
                </a:lnTo>
                <a:lnTo>
                  <a:pt x="102107" y="22860"/>
                </a:lnTo>
                <a:lnTo>
                  <a:pt x="100583" y="16764"/>
                </a:lnTo>
                <a:lnTo>
                  <a:pt x="97536" y="10668"/>
                </a:lnTo>
                <a:lnTo>
                  <a:pt x="94487" y="6096"/>
                </a:lnTo>
                <a:lnTo>
                  <a:pt x="89915" y="1524"/>
                </a:lnTo>
                <a:lnTo>
                  <a:pt x="83819" y="0"/>
                </a:lnTo>
                <a:close/>
              </a:path>
              <a:path w="102234" h="59689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1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 </a:t>
            </a:r>
            <a:r>
              <a:rPr spc="5" dirty="0"/>
              <a:t>学</a:t>
            </a:r>
            <a:r>
              <a:rPr spc="-5" dirty="0"/>
              <a:t>习率</a:t>
            </a:r>
            <a:r>
              <a:rPr spc="-100" dirty="0"/>
              <a:t> </a:t>
            </a:r>
            <a:r>
              <a:rPr i="1" spc="3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pc="35" dirty="0"/>
              <a:t>，</a:t>
            </a:r>
            <a:r>
              <a:rPr spc="-5" dirty="0"/>
              <a:t>衰减</a:t>
            </a:r>
            <a:r>
              <a:rPr spc="5" dirty="0"/>
              <a:t>速</a:t>
            </a:r>
            <a:r>
              <a:rPr spc="-5" dirty="0"/>
              <a:t>率</a:t>
            </a:r>
            <a:r>
              <a:rPr spc="-110" dirty="0"/>
              <a:t> </a:t>
            </a:r>
            <a:r>
              <a:rPr i="1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i="1" spc="-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-5" dirty="0"/>
              <a:t>，动</a:t>
            </a:r>
            <a:r>
              <a:rPr spc="5" dirty="0"/>
              <a:t>量系</a:t>
            </a:r>
            <a:r>
              <a:rPr spc="40" dirty="0"/>
              <a:t>数</a:t>
            </a:r>
            <a:r>
              <a:rPr i="1" dirty="0">
                <a:latin typeface="Cambria Math" panose="02040503050406030204"/>
                <a:cs typeface="Cambria Math" panose="02040503050406030204"/>
              </a:rPr>
              <a:t>µ</a:t>
            </a:r>
            <a:r>
              <a:rPr i="1" spc="-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-5" dirty="0"/>
              <a:t>。（建</a:t>
            </a:r>
            <a:r>
              <a:rPr spc="5" dirty="0"/>
              <a:t>议</a:t>
            </a:r>
            <a:r>
              <a:rPr spc="-5" dirty="0"/>
              <a:t>值分</a:t>
            </a:r>
            <a:r>
              <a:rPr spc="5" dirty="0"/>
              <a:t>别</a:t>
            </a:r>
            <a:r>
              <a:rPr spc="-10" dirty="0"/>
              <a:t>为</a:t>
            </a:r>
            <a:r>
              <a:rPr spc="-5" dirty="0"/>
              <a:t>0.999，0.9）</a:t>
            </a:r>
            <a:endParaRPr spc="-5" dirty="0"/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equire: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初始参数</a:t>
            </a:r>
            <a:r>
              <a:rPr spc="-150" dirty="0"/>
              <a:t> </a:t>
            </a:r>
            <a:r>
              <a:rPr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i="1" spc="50" dirty="0">
              <a:latin typeface="Cambria Math" panose="02040503050406030204"/>
              <a:cs typeface="Cambria Math" panose="02040503050406030204"/>
            </a:endParaRPr>
          </a:p>
          <a:p>
            <a:pPr marL="220345" marR="358140" indent="-220980">
              <a:lnSpc>
                <a:spcPct val="150000"/>
              </a:lnSpc>
              <a:spcBef>
                <a:spcPts val="1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pc="-15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小常数</a:t>
            </a:r>
            <a:r>
              <a:rPr i="1" spc="1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pc="10" dirty="0"/>
              <a:t>，</a:t>
            </a:r>
            <a:r>
              <a:rPr spc="-5" dirty="0"/>
              <a:t>用于被小数除时的数值稳</a:t>
            </a:r>
            <a:r>
              <a:rPr spc="5" dirty="0"/>
              <a:t>定</a:t>
            </a:r>
            <a:r>
              <a:rPr spc="-5" dirty="0"/>
              <a:t>。（</a:t>
            </a:r>
            <a:r>
              <a:rPr spc="5" dirty="0"/>
              <a:t>通</a:t>
            </a:r>
            <a:r>
              <a:rPr spc="-5" dirty="0"/>
              <a:t>常设</a:t>
            </a:r>
            <a:r>
              <a:rPr spc="5" dirty="0"/>
              <a:t>为</a:t>
            </a:r>
            <a:r>
              <a:rPr i="1" spc="4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750" i="1" spc="67" baseline="28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700" spc="45" dirty="0"/>
              <a:t>）  </a:t>
            </a:r>
            <a:r>
              <a:rPr sz="700" spc="5" dirty="0">
                <a:solidFill>
                  <a:srgbClr val="FF0000"/>
                </a:solidFill>
              </a:rPr>
              <a:t>初</a:t>
            </a:r>
            <a:r>
              <a:rPr sz="700" spc="-5" dirty="0">
                <a:solidFill>
                  <a:srgbClr val="FF0000"/>
                </a:solidFill>
              </a:rPr>
              <a:t>始化</a:t>
            </a:r>
            <a:r>
              <a:rPr sz="700" spc="5" dirty="0">
                <a:solidFill>
                  <a:srgbClr val="FF0000"/>
                </a:solidFill>
              </a:rPr>
              <a:t>累</a:t>
            </a:r>
            <a:r>
              <a:rPr sz="700" spc="-5" dirty="0">
                <a:solidFill>
                  <a:srgbClr val="FF0000"/>
                </a:solidFill>
              </a:rPr>
              <a:t>积变量</a:t>
            </a:r>
            <a:r>
              <a:rPr sz="700" spc="5" dirty="0">
                <a:solidFill>
                  <a:srgbClr val="FF0000"/>
                </a:solidFill>
              </a:rPr>
              <a:t> 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0,</a:t>
            </a:r>
            <a:r>
              <a:rPr sz="700" i="1" spc="-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停止标准未满足</a:t>
            </a:r>
            <a:r>
              <a:rPr spc="-135" dirty="0"/>
              <a:t> </a:t>
            </a:r>
            <a:r>
              <a:rPr spc="-10" dirty="0">
                <a:latin typeface="Arial" panose="020B0604020202020204"/>
                <a:cs typeface="Arial" panose="020B0604020202020204"/>
              </a:rPr>
              <a:t>do</a:t>
            </a:r>
            <a:r>
              <a:rPr spc="-10" dirty="0"/>
              <a:t>：</a:t>
            </a:r>
            <a:endParaRPr spc="-10" dirty="0"/>
          </a:p>
          <a:p>
            <a:pPr marL="539115" marR="142240" indent="-170815">
              <a:lnSpc>
                <a:spcPts val="1450"/>
              </a:lnSpc>
              <a:spcBef>
                <a:spcPts val="95"/>
              </a:spcBef>
              <a:tabLst>
                <a:tab pos="638175" algn="l"/>
              </a:tabLst>
            </a:pPr>
            <a:r>
              <a:rPr spc="-5" dirty="0">
                <a:latin typeface="Arial" panose="020B0604020202020204"/>
                <a:cs typeface="Arial" panose="020B0604020202020204"/>
              </a:rPr>
              <a:t>1.		</a:t>
            </a:r>
            <a:r>
              <a:rPr spc="-5" dirty="0"/>
              <a:t>从训练集中采样</a:t>
            </a:r>
            <a:r>
              <a:rPr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pc="5" dirty="0"/>
              <a:t>（</a:t>
            </a:r>
            <a:r>
              <a:rPr spc="-5" dirty="0"/>
              <a:t>批量大小）个样本</a:t>
            </a:r>
            <a:r>
              <a:rPr spc="-85" dirty="0"/>
              <a:t> </a:t>
            </a:r>
            <a:r>
              <a:rPr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112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/>
              <a:t>对应 的目标为</a:t>
            </a:r>
            <a:r>
              <a:rPr sz="700" spc="-80" dirty="0"/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9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93424" y="1989741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59" y="0"/>
                </a:lnTo>
                <a:lnTo>
                  <a:pt x="60959" y="6095"/>
                </a:lnTo>
                <a:lnTo>
                  <a:pt x="0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91897" y="1960292"/>
            <a:ext cx="1771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40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4444" y="1937925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1816" y="4572"/>
                </a:lnTo>
                <a:lnTo>
                  <a:pt x="54863" y="7620"/>
                </a:lnTo>
                <a:lnTo>
                  <a:pt x="56387" y="12192"/>
                </a:lnTo>
                <a:lnTo>
                  <a:pt x="59436" y="16764"/>
                </a:lnTo>
                <a:lnTo>
                  <a:pt x="60960" y="22859"/>
                </a:lnTo>
                <a:lnTo>
                  <a:pt x="60960" y="36575"/>
                </a:lnTo>
                <a:lnTo>
                  <a:pt x="59436" y="42672"/>
                </a:lnTo>
                <a:lnTo>
                  <a:pt x="56387" y="47244"/>
                </a:lnTo>
                <a:lnTo>
                  <a:pt x="54863" y="53340"/>
                </a:lnTo>
                <a:lnTo>
                  <a:pt x="51816" y="56388"/>
                </a:lnTo>
                <a:lnTo>
                  <a:pt x="45719" y="57911"/>
                </a:lnTo>
                <a:lnTo>
                  <a:pt x="47243" y="59435"/>
                </a:lnTo>
                <a:lnTo>
                  <a:pt x="53339" y="57911"/>
                </a:lnTo>
                <a:lnTo>
                  <a:pt x="57912" y="54864"/>
                </a:lnTo>
                <a:lnTo>
                  <a:pt x="60960" y="48768"/>
                </a:lnTo>
                <a:lnTo>
                  <a:pt x="64007" y="44196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6764"/>
                </a:lnTo>
                <a:lnTo>
                  <a:pt x="60960" y="10668"/>
                </a:lnTo>
                <a:lnTo>
                  <a:pt x="57912" y="6096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4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1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30100" y="1937925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8768" y="0"/>
                </a:moveTo>
                <a:lnTo>
                  <a:pt x="47243" y="3048"/>
                </a:lnTo>
                <a:lnTo>
                  <a:pt x="53339" y="4572"/>
                </a:lnTo>
                <a:lnTo>
                  <a:pt x="56387" y="7620"/>
                </a:lnTo>
                <a:lnTo>
                  <a:pt x="57912" y="12192"/>
                </a:lnTo>
                <a:lnTo>
                  <a:pt x="60960" y="16764"/>
                </a:lnTo>
                <a:lnTo>
                  <a:pt x="62483" y="22859"/>
                </a:lnTo>
                <a:lnTo>
                  <a:pt x="62483" y="36575"/>
                </a:lnTo>
                <a:lnTo>
                  <a:pt x="60960" y="42672"/>
                </a:lnTo>
                <a:lnTo>
                  <a:pt x="57912" y="47244"/>
                </a:lnTo>
                <a:lnTo>
                  <a:pt x="56387" y="53340"/>
                </a:lnTo>
                <a:lnTo>
                  <a:pt x="53339" y="56388"/>
                </a:lnTo>
                <a:lnTo>
                  <a:pt x="47243" y="57911"/>
                </a:lnTo>
                <a:lnTo>
                  <a:pt x="48768" y="59435"/>
                </a:lnTo>
                <a:lnTo>
                  <a:pt x="54863" y="57911"/>
                </a:lnTo>
                <a:lnTo>
                  <a:pt x="59436" y="54864"/>
                </a:lnTo>
                <a:lnTo>
                  <a:pt x="62483" y="48768"/>
                </a:lnTo>
                <a:lnTo>
                  <a:pt x="65531" y="44196"/>
                </a:lnTo>
                <a:lnTo>
                  <a:pt x="67056" y="38100"/>
                </a:lnTo>
                <a:lnTo>
                  <a:pt x="67056" y="22859"/>
                </a:lnTo>
                <a:lnTo>
                  <a:pt x="65531" y="16764"/>
                </a:lnTo>
                <a:lnTo>
                  <a:pt x="62483" y="10668"/>
                </a:lnTo>
                <a:lnTo>
                  <a:pt x="59436" y="6096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7310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4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1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62457" y="1917623"/>
            <a:ext cx="1598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计算梯度</a:t>
            </a:r>
            <a:r>
              <a:rPr sz="7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6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  </a:t>
            </a:r>
            <a:r>
              <a:rPr sz="750" i="1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2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e),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86972" y="2136045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39" y="6096"/>
                </a:lnTo>
                <a:lnTo>
                  <a:pt x="248411" y="10668"/>
                </a:lnTo>
                <a:lnTo>
                  <a:pt x="251459" y="16763"/>
                </a:lnTo>
                <a:lnTo>
                  <a:pt x="256031" y="22859"/>
                </a:lnTo>
                <a:lnTo>
                  <a:pt x="257555" y="30479"/>
                </a:lnTo>
                <a:lnTo>
                  <a:pt x="257555" y="50291"/>
                </a:lnTo>
                <a:lnTo>
                  <a:pt x="256031" y="59435"/>
                </a:lnTo>
                <a:lnTo>
                  <a:pt x="251459" y="65531"/>
                </a:lnTo>
                <a:lnTo>
                  <a:pt x="248411" y="71627"/>
                </a:lnTo>
                <a:lnTo>
                  <a:pt x="243839" y="76200"/>
                </a:lnTo>
                <a:lnTo>
                  <a:pt x="237744" y="79248"/>
                </a:lnTo>
                <a:lnTo>
                  <a:pt x="237744" y="82296"/>
                </a:lnTo>
                <a:lnTo>
                  <a:pt x="263342" y="48839"/>
                </a:lnTo>
                <a:lnTo>
                  <a:pt x="263651" y="41148"/>
                </a:lnTo>
                <a:lnTo>
                  <a:pt x="263342" y="33432"/>
                </a:lnTo>
                <a:lnTo>
                  <a:pt x="246887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7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7" y="82296"/>
                </a:lnTo>
                <a:lnTo>
                  <a:pt x="25907" y="79248"/>
                </a:lnTo>
                <a:lnTo>
                  <a:pt x="19811" y="76200"/>
                </a:lnTo>
                <a:lnTo>
                  <a:pt x="15239" y="71627"/>
                </a:lnTo>
                <a:lnTo>
                  <a:pt x="9143" y="59435"/>
                </a:lnTo>
                <a:lnTo>
                  <a:pt x="7619" y="50291"/>
                </a:lnTo>
                <a:lnTo>
                  <a:pt x="7619" y="30479"/>
                </a:lnTo>
                <a:lnTo>
                  <a:pt x="9143" y="22859"/>
                </a:lnTo>
                <a:lnTo>
                  <a:pt x="15239" y="10668"/>
                </a:lnTo>
                <a:lnTo>
                  <a:pt x="19811" y="6096"/>
                </a:lnTo>
                <a:lnTo>
                  <a:pt x="27431" y="3048"/>
                </a:lnTo>
                <a:lnTo>
                  <a:pt x="259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2773" y="1917623"/>
            <a:ext cx="86995" cy="47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2.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59183" y="2296065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40" y="6095"/>
                </a:lnTo>
                <a:lnTo>
                  <a:pt x="248412" y="10667"/>
                </a:lnTo>
                <a:lnTo>
                  <a:pt x="251460" y="16763"/>
                </a:lnTo>
                <a:lnTo>
                  <a:pt x="256032" y="22859"/>
                </a:lnTo>
                <a:lnTo>
                  <a:pt x="257556" y="30479"/>
                </a:lnTo>
                <a:lnTo>
                  <a:pt x="257556" y="50291"/>
                </a:lnTo>
                <a:lnTo>
                  <a:pt x="256032" y="59435"/>
                </a:lnTo>
                <a:lnTo>
                  <a:pt x="251460" y="65531"/>
                </a:lnTo>
                <a:lnTo>
                  <a:pt x="248412" y="71627"/>
                </a:lnTo>
                <a:lnTo>
                  <a:pt x="243840" y="76200"/>
                </a:lnTo>
                <a:lnTo>
                  <a:pt x="237744" y="79248"/>
                </a:lnTo>
                <a:lnTo>
                  <a:pt x="237744" y="82295"/>
                </a:lnTo>
                <a:lnTo>
                  <a:pt x="263342" y="48839"/>
                </a:lnTo>
                <a:lnTo>
                  <a:pt x="263652" y="41148"/>
                </a:lnTo>
                <a:lnTo>
                  <a:pt x="263342" y="33432"/>
                </a:lnTo>
                <a:lnTo>
                  <a:pt x="246888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8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8" y="82295"/>
                </a:lnTo>
                <a:lnTo>
                  <a:pt x="25908" y="79248"/>
                </a:lnTo>
                <a:lnTo>
                  <a:pt x="19812" y="76200"/>
                </a:lnTo>
                <a:lnTo>
                  <a:pt x="15240" y="71627"/>
                </a:lnTo>
                <a:lnTo>
                  <a:pt x="9143" y="59435"/>
                </a:lnTo>
                <a:lnTo>
                  <a:pt x="7620" y="50291"/>
                </a:lnTo>
                <a:lnTo>
                  <a:pt x="7620" y="30479"/>
                </a:lnTo>
                <a:lnTo>
                  <a:pt x="9143" y="22859"/>
                </a:lnTo>
                <a:lnTo>
                  <a:pt x="15240" y="10667"/>
                </a:lnTo>
                <a:lnTo>
                  <a:pt x="19812" y="6095"/>
                </a:lnTo>
                <a:lnTo>
                  <a:pt x="27432" y="3048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72088" y="2533809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92773" y="1947391"/>
            <a:ext cx="1743710" cy="6432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R="528955" algn="r">
              <a:lnSpc>
                <a:spcPct val="100000"/>
              </a:lnSpc>
              <a:spcBef>
                <a:spcPts val="36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35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累积梯度</a:t>
            </a:r>
            <a:r>
              <a:rPr sz="7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 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 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42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累积平方梯度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pr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i="1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∗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tabLst>
                <a:tab pos="269240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修正偏差</a:t>
            </a:r>
            <a:r>
              <a:rPr sz="700" spc="-7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-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r>
              <a:rPr sz="700" i="1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-3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50" i="1" spc="82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</a:t>
            </a:r>
            <a:r>
              <a:rPr sz="700" i="1" spc="9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9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endParaRPr sz="750" baseline="4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70582" y="2527211"/>
            <a:ext cx="62357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500" i="1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i="1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i="1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600" i="1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600" i="1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	</a:t>
            </a:r>
            <a:r>
              <a:rPr sz="500" i="1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i="1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600" i="1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endParaRPr sz="600" baseline="2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29288" y="2533809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41251" y="2777649"/>
            <a:ext cx="79375" cy="62865"/>
          </a:xfrm>
          <a:custGeom>
            <a:avLst/>
            <a:gdLst/>
            <a:ahLst/>
            <a:cxnLst/>
            <a:rect l="l" t="t" r="r" b="b"/>
            <a:pathLst>
              <a:path w="79375" h="62864">
                <a:moveTo>
                  <a:pt x="12668" y="33527"/>
                </a:moveTo>
                <a:lnTo>
                  <a:pt x="6096" y="33527"/>
                </a:lnTo>
                <a:lnTo>
                  <a:pt x="19812" y="62483"/>
                </a:lnTo>
                <a:lnTo>
                  <a:pt x="22860" y="62483"/>
                </a:lnTo>
                <a:lnTo>
                  <a:pt x="25506" y="53340"/>
                </a:lnTo>
                <a:lnTo>
                  <a:pt x="21336" y="53340"/>
                </a:lnTo>
                <a:lnTo>
                  <a:pt x="12668" y="33527"/>
                </a:lnTo>
                <a:close/>
              </a:path>
              <a:path w="79375" h="62864">
                <a:moveTo>
                  <a:pt x="79248" y="0"/>
                </a:moveTo>
                <a:lnTo>
                  <a:pt x="36575" y="0"/>
                </a:lnTo>
                <a:lnTo>
                  <a:pt x="21336" y="53340"/>
                </a:lnTo>
                <a:lnTo>
                  <a:pt x="25506" y="53340"/>
                </a:lnTo>
                <a:lnTo>
                  <a:pt x="39624" y="4572"/>
                </a:lnTo>
                <a:lnTo>
                  <a:pt x="79248" y="4572"/>
                </a:lnTo>
                <a:lnTo>
                  <a:pt x="79248" y="0"/>
                </a:lnTo>
                <a:close/>
              </a:path>
              <a:path w="79375" h="62864">
                <a:moveTo>
                  <a:pt x="10668" y="28955"/>
                </a:moveTo>
                <a:lnTo>
                  <a:pt x="0" y="33527"/>
                </a:lnTo>
                <a:lnTo>
                  <a:pt x="1524" y="36575"/>
                </a:lnTo>
                <a:lnTo>
                  <a:pt x="6096" y="33527"/>
                </a:lnTo>
                <a:lnTo>
                  <a:pt x="12668" y="33527"/>
                </a:lnTo>
                <a:lnTo>
                  <a:pt x="10668" y="289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682384" y="2758856"/>
            <a:ext cx="13335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r̃+o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41251" y="2763933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640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52495" y="2688755"/>
            <a:ext cx="1428115" cy="320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95"/>
              </a:spcBef>
              <a:tabLst>
                <a:tab pos="409575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更新权值</a:t>
            </a:r>
            <a:r>
              <a:rPr sz="700" spc="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6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</a:t>
            </a:r>
            <a:r>
              <a:rPr sz="750" i="1" spc="97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2791292" y="114799"/>
            <a:ext cx="6178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Adam</a:t>
            </a:r>
            <a:endParaRPr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5307" y="2270156"/>
            <a:ext cx="1844039" cy="152400"/>
          </a:xfrm>
          <a:custGeom>
            <a:avLst/>
            <a:gdLst/>
            <a:ahLst/>
            <a:cxnLst/>
            <a:rect l="l" t="t" r="r" b="b"/>
            <a:pathLst>
              <a:path w="1844039" h="152400">
                <a:moveTo>
                  <a:pt x="0" y="0"/>
                </a:moveTo>
                <a:lnTo>
                  <a:pt x="1844039" y="0"/>
                </a:lnTo>
                <a:lnTo>
                  <a:pt x="1844039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311009" y="558196"/>
            <a:ext cx="1769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同时使用动量与自适应梯度思想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736" y="671109"/>
            <a:ext cx="2992120" cy="2513330"/>
          </a:xfrm>
          <a:custGeom>
            <a:avLst/>
            <a:gdLst/>
            <a:ahLst/>
            <a:cxnLst/>
            <a:rect l="l" t="t" r="r" b="b"/>
            <a:pathLst>
              <a:path w="2992120" h="2513330">
                <a:moveTo>
                  <a:pt x="0" y="0"/>
                </a:moveTo>
                <a:lnTo>
                  <a:pt x="2991612" y="0"/>
                </a:lnTo>
                <a:lnTo>
                  <a:pt x="2991612" y="2513076"/>
                </a:lnTo>
                <a:lnTo>
                  <a:pt x="0" y="2513076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5164" y="661965"/>
            <a:ext cx="2999740" cy="18415"/>
          </a:xfrm>
          <a:custGeom>
            <a:avLst/>
            <a:gdLst/>
            <a:ahLst/>
            <a:cxnLst/>
            <a:rect l="l" t="t" r="r" b="b"/>
            <a:pathLst>
              <a:path w="2999740" h="18415">
                <a:moveTo>
                  <a:pt x="0" y="0"/>
                </a:moveTo>
                <a:lnTo>
                  <a:pt x="2999231" y="0"/>
                </a:lnTo>
                <a:lnTo>
                  <a:pt x="2999231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736" y="514137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1347" y="514137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164" y="517185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5164" y="3184185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2783" y="520233"/>
            <a:ext cx="2985770" cy="142240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2222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75"/>
              </a:spcBef>
            </a:pPr>
            <a:r>
              <a:rPr sz="700" b="1" spc="-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Adam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7532" y="1555029"/>
            <a:ext cx="536575" cy="105410"/>
          </a:xfrm>
          <a:custGeom>
            <a:avLst/>
            <a:gdLst/>
            <a:ahLst/>
            <a:cxnLst/>
            <a:rect l="l" t="t" r="r" b="b"/>
            <a:pathLst>
              <a:path w="536575" h="105410">
                <a:moveTo>
                  <a:pt x="516635" y="0"/>
                </a:moveTo>
                <a:lnTo>
                  <a:pt x="509016" y="0"/>
                </a:lnTo>
                <a:lnTo>
                  <a:pt x="509016" y="3047"/>
                </a:lnTo>
                <a:lnTo>
                  <a:pt x="513588" y="3047"/>
                </a:lnTo>
                <a:lnTo>
                  <a:pt x="518159" y="4571"/>
                </a:lnTo>
                <a:lnTo>
                  <a:pt x="519683" y="7619"/>
                </a:lnTo>
                <a:lnTo>
                  <a:pt x="522731" y="9143"/>
                </a:lnTo>
                <a:lnTo>
                  <a:pt x="522731" y="32003"/>
                </a:lnTo>
                <a:lnTo>
                  <a:pt x="521207" y="35051"/>
                </a:lnTo>
                <a:lnTo>
                  <a:pt x="521207" y="42671"/>
                </a:lnTo>
                <a:lnTo>
                  <a:pt x="522731" y="45719"/>
                </a:lnTo>
                <a:lnTo>
                  <a:pt x="524256" y="47243"/>
                </a:lnTo>
                <a:lnTo>
                  <a:pt x="525780" y="50291"/>
                </a:lnTo>
                <a:lnTo>
                  <a:pt x="527304" y="51815"/>
                </a:lnTo>
                <a:lnTo>
                  <a:pt x="528828" y="51815"/>
                </a:lnTo>
                <a:lnTo>
                  <a:pt x="528828" y="53339"/>
                </a:lnTo>
                <a:lnTo>
                  <a:pt x="527304" y="53339"/>
                </a:lnTo>
                <a:lnTo>
                  <a:pt x="525780" y="54863"/>
                </a:lnTo>
                <a:lnTo>
                  <a:pt x="524256" y="57912"/>
                </a:lnTo>
                <a:lnTo>
                  <a:pt x="522731" y="59435"/>
                </a:lnTo>
                <a:lnTo>
                  <a:pt x="521207" y="62483"/>
                </a:lnTo>
                <a:lnTo>
                  <a:pt x="521207" y="70103"/>
                </a:lnTo>
                <a:lnTo>
                  <a:pt x="522731" y="73151"/>
                </a:lnTo>
                <a:lnTo>
                  <a:pt x="522731" y="96012"/>
                </a:lnTo>
                <a:lnTo>
                  <a:pt x="519683" y="97535"/>
                </a:lnTo>
                <a:lnTo>
                  <a:pt x="518159" y="100583"/>
                </a:lnTo>
                <a:lnTo>
                  <a:pt x="513588" y="102107"/>
                </a:lnTo>
                <a:lnTo>
                  <a:pt x="509016" y="102107"/>
                </a:lnTo>
                <a:lnTo>
                  <a:pt x="509016" y="105156"/>
                </a:lnTo>
                <a:lnTo>
                  <a:pt x="516635" y="105156"/>
                </a:lnTo>
                <a:lnTo>
                  <a:pt x="522731" y="103631"/>
                </a:lnTo>
                <a:lnTo>
                  <a:pt x="525780" y="99059"/>
                </a:lnTo>
                <a:lnTo>
                  <a:pt x="528828" y="96012"/>
                </a:lnTo>
                <a:lnTo>
                  <a:pt x="530352" y="89915"/>
                </a:lnTo>
                <a:lnTo>
                  <a:pt x="530352" y="70103"/>
                </a:lnTo>
                <a:lnTo>
                  <a:pt x="528828" y="67056"/>
                </a:lnTo>
                <a:lnTo>
                  <a:pt x="528828" y="57912"/>
                </a:lnTo>
                <a:lnTo>
                  <a:pt x="531876" y="54863"/>
                </a:lnTo>
                <a:lnTo>
                  <a:pt x="536447" y="54863"/>
                </a:lnTo>
                <a:lnTo>
                  <a:pt x="536447" y="50291"/>
                </a:lnTo>
                <a:lnTo>
                  <a:pt x="531876" y="50291"/>
                </a:lnTo>
                <a:lnTo>
                  <a:pt x="528828" y="47243"/>
                </a:lnTo>
                <a:lnTo>
                  <a:pt x="528828" y="38100"/>
                </a:lnTo>
                <a:lnTo>
                  <a:pt x="530352" y="33527"/>
                </a:lnTo>
                <a:lnTo>
                  <a:pt x="530352" y="15239"/>
                </a:lnTo>
                <a:lnTo>
                  <a:pt x="528828" y="9143"/>
                </a:lnTo>
                <a:lnTo>
                  <a:pt x="525780" y="4571"/>
                </a:lnTo>
                <a:lnTo>
                  <a:pt x="522731" y="1523"/>
                </a:lnTo>
                <a:lnTo>
                  <a:pt x="516635" y="0"/>
                </a:lnTo>
                <a:close/>
              </a:path>
              <a:path w="536575" h="105410">
                <a:moveTo>
                  <a:pt x="27431" y="0"/>
                </a:moveTo>
                <a:lnTo>
                  <a:pt x="19812" y="0"/>
                </a:lnTo>
                <a:lnTo>
                  <a:pt x="15240" y="1523"/>
                </a:lnTo>
                <a:lnTo>
                  <a:pt x="7619" y="9143"/>
                </a:lnTo>
                <a:lnTo>
                  <a:pt x="6095" y="15239"/>
                </a:lnTo>
                <a:lnTo>
                  <a:pt x="6095" y="25907"/>
                </a:lnTo>
                <a:lnTo>
                  <a:pt x="7619" y="30479"/>
                </a:lnTo>
                <a:lnTo>
                  <a:pt x="7619" y="38100"/>
                </a:lnTo>
                <a:lnTo>
                  <a:pt x="9143" y="41147"/>
                </a:lnTo>
                <a:lnTo>
                  <a:pt x="9143" y="44195"/>
                </a:lnTo>
                <a:lnTo>
                  <a:pt x="7619" y="47243"/>
                </a:lnTo>
                <a:lnTo>
                  <a:pt x="4572" y="50291"/>
                </a:lnTo>
                <a:lnTo>
                  <a:pt x="0" y="50291"/>
                </a:lnTo>
                <a:lnTo>
                  <a:pt x="0" y="54863"/>
                </a:lnTo>
                <a:lnTo>
                  <a:pt x="4572" y="54863"/>
                </a:lnTo>
                <a:lnTo>
                  <a:pt x="7619" y="57912"/>
                </a:lnTo>
                <a:lnTo>
                  <a:pt x="9143" y="60959"/>
                </a:lnTo>
                <a:lnTo>
                  <a:pt x="9143" y="64007"/>
                </a:lnTo>
                <a:lnTo>
                  <a:pt x="7619" y="67056"/>
                </a:lnTo>
                <a:lnTo>
                  <a:pt x="7619" y="74675"/>
                </a:lnTo>
                <a:lnTo>
                  <a:pt x="6095" y="77723"/>
                </a:lnTo>
                <a:lnTo>
                  <a:pt x="6095" y="89915"/>
                </a:lnTo>
                <a:lnTo>
                  <a:pt x="7619" y="96012"/>
                </a:lnTo>
                <a:lnTo>
                  <a:pt x="12192" y="99059"/>
                </a:lnTo>
                <a:lnTo>
                  <a:pt x="15240" y="103631"/>
                </a:lnTo>
                <a:lnTo>
                  <a:pt x="19812" y="105156"/>
                </a:lnTo>
                <a:lnTo>
                  <a:pt x="27431" y="105156"/>
                </a:lnTo>
                <a:lnTo>
                  <a:pt x="27431" y="102107"/>
                </a:lnTo>
                <a:lnTo>
                  <a:pt x="22860" y="102107"/>
                </a:lnTo>
                <a:lnTo>
                  <a:pt x="19812" y="100583"/>
                </a:lnTo>
                <a:lnTo>
                  <a:pt x="15240" y="96012"/>
                </a:lnTo>
                <a:lnTo>
                  <a:pt x="13716" y="89915"/>
                </a:lnTo>
                <a:lnTo>
                  <a:pt x="13716" y="77723"/>
                </a:lnTo>
                <a:lnTo>
                  <a:pt x="15240" y="73151"/>
                </a:lnTo>
                <a:lnTo>
                  <a:pt x="15240" y="59435"/>
                </a:lnTo>
                <a:lnTo>
                  <a:pt x="13716" y="57912"/>
                </a:lnTo>
                <a:lnTo>
                  <a:pt x="12192" y="54863"/>
                </a:lnTo>
                <a:lnTo>
                  <a:pt x="10668" y="53339"/>
                </a:lnTo>
                <a:lnTo>
                  <a:pt x="7619" y="53339"/>
                </a:lnTo>
                <a:lnTo>
                  <a:pt x="7619" y="51815"/>
                </a:lnTo>
                <a:lnTo>
                  <a:pt x="10668" y="51815"/>
                </a:lnTo>
                <a:lnTo>
                  <a:pt x="12192" y="50291"/>
                </a:lnTo>
                <a:lnTo>
                  <a:pt x="13716" y="47243"/>
                </a:lnTo>
                <a:lnTo>
                  <a:pt x="15240" y="45719"/>
                </a:lnTo>
                <a:lnTo>
                  <a:pt x="15240" y="32003"/>
                </a:lnTo>
                <a:lnTo>
                  <a:pt x="13716" y="27431"/>
                </a:lnTo>
                <a:lnTo>
                  <a:pt x="13716" y="15239"/>
                </a:lnTo>
                <a:lnTo>
                  <a:pt x="15240" y="9143"/>
                </a:lnTo>
                <a:lnTo>
                  <a:pt x="19812" y="4571"/>
                </a:lnTo>
                <a:lnTo>
                  <a:pt x="22860" y="3047"/>
                </a:lnTo>
                <a:lnTo>
                  <a:pt x="27431" y="3047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45923" y="1551981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90">
                <a:moveTo>
                  <a:pt x="59436" y="0"/>
                </a:moveTo>
                <a:lnTo>
                  <a:pt x="57912" y="3048"/>
                </a:lnTo>
                <a:lnTo>
                  <a:pt x="64008" y="4571"/>
                </a:lnTo>
                <a:lnTo>
                  <a:pt x="67055" y="7619"/>
                </a:lnTo>
                <a:lnTo>
                  <a:pt x="68579" y="12192"/>
                </a:lnTo>
                <a:lnTo>
                  <a:pt x="71627" y="16763"/>
                </a:lnTo>
                <a:lnTo>
                  <a:pt x="73151" y="22860"/>
                </a:lnTo>
                <a:lnTo>
                  <a:pt x="73151" y="36575"/>
                </a:lnTo>
                <a:lnTo>
                  <a:pt x="71627" y="42671"/>
                </a:lnTo>
                <a:lnTo>
                  <a:pt x="68579" y="47243"/>
                </a:lnTo>
                <a:lnTo>
                  <a:pt x="67055" y="53339"/>
                </a:lnTo>
                <a:lnTo>
                  <a:pt x="64008" y="56387"/>
                </a:lnTo>
                <a:lnTo>
                  <a:pt x="57912" y="57912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3" y="54863"/>
                </a:lnTo>
                <a:lnTo>
                  <a:pt x="73151" y="48768"/>
                </a:lnTo>
                <a:lnTo>
                  <a:pt x="76200" y="44195"/>
                </a:lnTo>
                <a:lnTo>
                  <a:pt x="77724" y="38100"/>
                </a:lnTo>
                <a:lnTo>
                  <a:pt x="77724" y="22860"/>
                </a:lnTo>
                <a:lnTo>
                  <a:pt x="76200" y="16763"/>
                </a:lnTo>
                <a:lnTo>
                  <a:pt x="73151" y="10668"/>
                </a:lnTo>
                <a:lnTo>
                  <a:pt x="70103" y="6095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8105" h="59690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3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50723" y="1551981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90">
                <a:moveTo>
                  <a:pt x="83820" y="0"/>
                </a:moveTo>
                <a:lnTo>
                  <a:pt x="82296" y="3048"/>
                </a:lnTo>
                <a:lnTo>
                  <a:pt x="88391" y="4571"/>
                </a:lnTo>
                <a:lnTo>
                  <a:pt x="91439" y="7619"/>
                </a:lnTo>
                <a:lnTo>
                  <a:pt x="92963" y="12192"/>
                </a:lnTo>
                <a:lnTo>
                  <a:pt x="96012" y="16763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1"/>
                </a:lnTo>
                <a:lnTo>
                  <a:pt x="92963" y="47243"/>
                </a:lnTo>
                <a:lnTo>
                  <a:pt x="91439" y="53339"/>
                </a:lnTo>
                <a:lnTo>
                  <a:pt x="88391" y="56387"/>
                </a:lnTo>
                <a:lnTo>
                  <a:pt x="82296" y="57912"/>
                </a:lnTo>
                <a:lnTo>
                  <a:pt x="83820" y="59436"/>
                </a:lnTo>
                <a:lnTo>
                  <a:pt x="89915" y="57912"/>
                </a:lnTo>
                <a:lnTo>
                  <a:pt x="94487" y="54863"/>
                </a:lnTo>
                <a:lnTo>
                  <a:pt x="97536" y="48768"/>
                </a:lnTo>
                <a:lnTo>
                  <a:pt x="100584" y="44195"/>
                </a:lnTo>
                <a:lnTo>
                  <a:pt x="102108" y="38100"/>
                </a:lnTo>
                <a:lnTo>
                  <a:pt x="102108" y="22860"/>
                </a:lnTo>
                <a:lnTo>
                  <a:pt x="100584" y="16763"/>
                </a:lnTo>
                <a:lnTo>
                  <a:pt x="97536" y="10668"/>
                </a:lnTo>
                <a:lnTo>
                  <a:pt x="94487" y="6095"/>
                </a:lnTo>
                <a:lnTo>
                  <a:pt x="89915" y="1524"/>
                </a:lnTo>
                <a:lnTo>
                  <a:pt x="83820" y="0"/>
                </a:lnTo>
                <a:close/>
              </a:path>
              <a:path w="102235" h="59690">
                <a:moveTo>
                  <a:pt x="19812" y="0"/>
                </a:moveTo>
                <a:lnTo>
                  <a:pt x="13715" y="1524"/>
                </a:lnTo>
                <a:lnTo>
                  <a:pt x="4572" y="10668"/>
                </a:lnTo>
                <a:lnTo>
                  <a:pt x="1524" y="16763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1" y="53339"/>
                </a:lnTo>
                <a:lnTo>
                  <a:pt x="9143" y="47243"/>
                </a:lnTo>
                <a:lnTo>
                  <a:pt x="7620" y="42671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23092" y="1739433"/>
            <a:ext cx="533400" cy="105410"/>
          </a:xfrm>
          <a:custGeom>
            <a:avLst/>
            <a:gdLst/>
            <a:ahLst/>
            <a:cxnLst/>
            <a:rect l="l" t="t" r="r" b="b"/>
            <a:pathLst>
              <a:path w="533400" h="105410">
                <a:moveTo>
                  <a:pt x="513588" y="0"/>
                </a:moveTo>
                <a:lnTo>
                  <a:pt x="505968" y="0"/>
                </a:lnTo>
                <a:lnTo>
                  <a:pt x="505968" y="3048"/>
                </a:lnTo>
                <a:lnTo>
                  <a:pt x="510539" y="3048"/>
                </a:lnTo>
                <a:lnTo>
                  <a:pt x="515112" y="4572"/>
                </a:lnTo>
                <a:lnTo>
                  <a:pt x="516635" y="7619"/>
                </a:lnTo>
                <a:lnTo>
                  <a:pt x="519683" y="9143"/>
                </a:lnTo>
                <a:lnTo>
                  <a:pt x="519683" y="32004"/>
                </a:lnTo>
                <a:lnTo>
                  <a:pt x="518159" y="35052"/>
                </a:lnTo>
                <a:lnTo>
                  <a:pt x="518159" y="42672"/>
                </a:lnTo>
                <a:lnTo>
                  <a:pt x="519683" y="45719"/>
                </a:lnTo>
                <a:lnTo>
                  <a:pt x="521207" y="47243"/>
                </a:lnTo>
                <a:lnTo>
                  <a:pt x="522731" y="50292"/>
                </a:lnTo>
                <a:lnTo>
                  <a:pt x="524256" y="51816"/>
                </a:lnTo>
                <a:lnTo>
                  <a:pt x="525780" y="51816"/>
                </a:lnTo>
                <a:lnTo>
                  <a:pt x="525780" y="53340"/>
                </a:lnTo>
                <a:lnTo>
                  <a:pt x="524256" y="53340"/>
                </a:lnTo>
                <a:lnTo>
                  <a:pt x="522731" y="54864"/>
                </a:lnTo>
                <a:lnTo>
                  <a:pt x="521207" y="57912"/>
                </a:lnTo>
                <a:lnTo>
                  <a:pt x="519683" y="59436"/>
                </a:lnTo>
                <a:lnTo>
                  <a:pt x="518159" y="62484"/>
                </a:lnTo>
                <a:lnTo>
                  <a:pt x="518159" y="70104"/>
                </a:lnTo>
                <a:lnTo>
                  <a:pt x="519683" y="73152"/>
                </a:lnTo>
                <a:lnTo>
                  <a:pt x="519683" y="96012"/>
                </a:lnTo>
                <a:lnTo>
                  <a:pt x="516635" y="97536"/>
                </a:lnTo>
                <a:lnTo>
                  <a:pt x="515112" y="100584"/>
                </a:lnTo>
                <a:lnTo>
                  <a:pt x="510539" y="102108"/>
                </a:lnTo>
                <a:lnTo>
                  <a:pt x="505968" y="102108"/>
                </a:lnTo>
                <a:lnTo>
                  <a:pt x="505968" y="105156"/>
                </a:lnTo>
                <a:lnTo>
                  <a:pt x="513588" y="105156"/>
                </a:lnTo>
                <a:lnTo>
                  <a:pt x="519683" y="103631"/>
                </a:lnTo>
                <a:lnTo>
                  <a:pt x="522731" y="99060"/>
                </a:lnTo>
                <a:lnTo>
                  <a:pt x="525780" y="96012"/>
                </a:lnTo>
                <a:lnTo>
                  <a:pt x="527303" y="89916"/>
                </a:lnTo>
                <a:lnTo>
                  <a:pt x="527303" y="70104"/>
                </a:lnTo>
                <a:lnTo>
                  <a:pt x="525780" y="67056"/>
                </a:lnTo>
                <a:lnTo>
                  <a:pt x="525780" y="57912"/>
                </a:lnTo>
                <a:lnTo>
                  <a:pt x="528827" y="54864"/>
                </a:lnTo>
                <a:lnTo>
                  <a:pt x="533400" y="54864"/>
                </a:lnTo>
                <a:lnTo>
                  <a:pt x="533400" y="50292"/>
                </a:lnTo>
                <a:lnTo>
                  <a:pt x="528827" y="50292"/>
                </a:lnTo>
                <a:lnTo>
                  <a:pt x="525780" y="47243"/>
                </a:lnTo>
                <a:lnTo>
                  <a:pt x="525780" y="38100"/>
                </a:lnTo>
                <a:lnTo>
                  <a:pt x="527303" y="33528"/>
                </a:lnTo>
                <a:lnTo>
                  <a:pt x="527303" y="15240"/>
                </a:lnTo>
                <a:lnTo>
                  <a:pt x="525780" y="9143"/>
                </a:lnTo>
                <a:lnTo>
                  <a:pt x="522731" y="4572"/>
                </a:lnTo>
                <a:lnTo>
                  <a:pt x="519683" y="1524"/>
                </a:lnTo>
                <a:lnTo>
                  <a:pt x="513588" y="0"/>
                </a:lnTo>
                <a:close/>
              </a:path>
              <a:path w="533400" h="105410">
                <a:moveTo>
                  <a:pt x="27431" y="0"/>
                </a:moveTo>
                <a:lnTo>
                  <a:pt x="19812" y="0"/>
                </a:lnTo>
                <a:lnTo>
                  <a:pt x="15239" y="1524"/>
                </a:lnTo>
                <a:lnTo>
                  <a:pt x="7619" y="9143"/>
                </a:lnTo>
                <a:lnTo>
                  <a:pt x="6095" y="15240"/>
                </a:lnTo>
                <a:lnTo>
                  <a:pt x="6095" y="25908"/>
                </a:lnTo>
                <a:lnTo>
                  <a:pt x="7619" y="30480"/>
                </a:lnTo>
                <a:lnTo>
                  <a:pt x="7619" y="38100"/>
                </a:lnTo>
                <a:lnTo>
                  <a:pt x="9143" y="41148"/>
                </a:lnTo>
                <a:lnTo>
                  <a:pt x="9143" y="44196"/>
                </a:lnTo>
                <a:lnTo>
                  <a:pt x="7619" y="47243"/>
                </a:lnTo>
                <a:lnTo>
                  <a:pt x="4571" y="50292"/>
                </a:lnTo>
                <a:lnTo>
                  <a:pt x="0" y="50292"/>
                </a:lnTo>
                <a:lnTo>
                  <a:pt x="0" y="54864"/>
                </a:lnTo>
                <a:lnTo>
                  <a:pt x="4571" y="54864"/>
                </a:lnTo>
                <a:lnTo>
                  <a:pt x="7619" y="57912"/>
                </a:lnTo>
                <a:lnTo>
                  <a:pt x="9143" y="60960"/>
                </a:lnTo>
                <a:lnTo>
                  <a:pt x="9143" y="64008"/>
                </a:lnTo>
                <a:lnTo>
                  <a:pt x="7619" y="67056"/>
                </a:lnTo>
                <a:lnTo>
                  <a:pt x="7619" y="74675"/>
                </a:lnTo>
                <a:lnTo>
                  <a:pt x="6095" y="77724"/>
                </a:lnTo>
                <a:lnTo>
                  <a:pt x="6095" y="89916"/>
                </a:lnTo>
                <a:lnTo>
                  <a:pt x="7619" y="96012"/>
                </a:lnTo>
                <a:lnTo>
                  <a:pt x="12191" y="99060"/>
                </a:lnTo>
                <a:lnTo>
                  <a:pt x="15239" y="103631"/>
                </a:lnTo>
                <a:lnTo>
                  <a:pt x="19812" y="105156"/>
                </a:lnTo>
                <a:lnTo>
                  <a:pt x="27431" y="105156"/>
                </a:lnTo>
                <a:lnTo>
                  <a:pt x="27431" y="102108"/>
                </a:lnTo>
                <a:lnTo>
                  <a:pt x="22859" y="102108"/>
                </a:lnTo>
                <a:lnTo>
                  <a:pt x="19812" y="100584"/>
                </a:lnTo>
                <a:lnTo>
                  <a:pt x="15239" y="96012"/>
                </a:lnTo>
                <a:lnTo>
                  <a:pt x="13715" y="89916"/>
                </a:lnTo>
                <a:lnTo>
                  <a:pt x="13715" y="77724"/>
                </a:lnTo>
                <a:lnTo>
                  <a:pt x="15239" y="73152"/>
                </a:lnTo>
                <a:lnTo>
                  <a:pt x="15239" y="59436"/>
                </a:lnTo>
                <a:lnTo>
                  <a:pt x="13715" y="57912"/>
                </a:lnTo>
                <a:lnTo>
                  <a:pt x="12191" y="54864"/>
                </a:lnTo>
                <a:lnTo>
                  <a:pt x="10668" y="53340"/>
                </a:lnTo>
                <a:lnTo>
                  <a:pt x="7619" y="53340"/>
                </a:lnTo>
                <a:lnTo>
                  <a:pt x="7619" y="51816"/>
                </a:lnTo>
                <a:lnTo>
                  <a:pt x="10668" y="51816"/>
                </a:lnTo>
                <a:lnTo>
                  <a:pt x="12191" y="50292"/>
                </a:lnTo>
                <a:lnTo>
                  <a:pt x="13715" y="47243"/>
                </a:lnTo>
                <a:lnTo>
                  <a:pt x="15239" y="45719"/>
                </a:lnTo>
                <a:lnTo>
                  <a:pt x="15239" y="32004"/>
                </a:lnTo>
                <a:lnTo>
                  <a:pt x="13715" y="27431"/>
                </a:lnTo>
                <a:lnTo>
                  <a:pt x="13715" y="15240"/>
                </a:lnTo>
                <a:lnTo>
                  <a:pt x="15239" y="9143"/>
                </a:lnTo>
                <a:lnTo>
                  <a:pt x="19812" y="4572"/>
                </a:lnTo>
                <a:lnTo>
                  <a:pt x="22859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06911" y="1736385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9436" y="0"/>
                </a:moveTo>
                <a:lnTo>
                  <a:pt x="57912" y="3047"/>
                </a:lnTo>
                <a:lnTo>
                  <a:pt x="64007" y="4571"/>
                </a:lnTo>
                <a:lnTo>
                  <a:pt x="67056" y="7619"/>
                </a:lnTo>
                <a:lnTo>
                  <a:pt x="68580" y="12191"/>
                </a:lnTo>
                <a:lnTo>
                  <a:pt x="71627" y="16763"/>
                </a:lnTo>
                <a:lnTo>
                  <a:pt x="73151" y="22859"/>
                </a:lnTo>
                <a:lnTo>
                  <a:pt x="73151" y="36575"/>
                </a:lnTo>
                <a:lnTo>
                  <a:pt x="71627" y="42671"/>
                </a:lnTo>
                <a:lnTo>
                  <a:pt x="68580" y="47243"/>
                </a:lnTo>
                <a:lnTo>
                  <a:pt x="67056" y="53339"/>
                </a:lnTo>
                <a:lnTo>
                  <a:pt x="64007" y="56387"/>
                </a:lnTo>
                <a:lnTo>
                  <a:pt x="57912" y="57912"/>
                </a:lnTo>
                <a:lnTo>
                  <a:pt x="59436" y="59435"/>
                </a:lnTo>
                <a:lnTo>
                  <a:pt x="65531" y="57912"/>
                </a:lnTo>
                <a:lnTo>
                  <a:pt x="70104" y="54863"/>
                </a:lnTo>
                <a:lnTo>
                  <a:pt x="73151" y="48767"/>
                </a:lnTo>
                <a:lnTo>
                  <a:pt x="76200" y="44195"/>
                </a:lnTo>
                <a:lnTo>
                  <a:pt x="77724" y="38100"/>
                </a:lnTo>
                <a:lnTo>
                  <a:pt x="77724" y="22859"/>
                </a:lnTo>
                <a:lnTo>
                  <a:pt x="76200" y="16763"/>
                </a:lnTo>
                <a:lnTo>
                  <a:pt x="73151" y="10667"/>
                </a:lnTo>
                <a:lnTo>
                  <a:pt x="70104" y="6095"/>
                </a:lnTo>
                <a:lnTo>
                  <a:pt x="65531" y="1523"/>
                </a:lnTo>
                <a:lnTo>
                  <a:pt x="59436" y="0"/>
                </a:lnTo>
                <a:close/>
              </a:path>
              <a:path w="78105" h="59689">
                <a:moveTo>
                  <a:pt x="19812" y="0"/>
                </a:moveTo>
                <a:lnTo>
                  <a:pt x="13715" y="1523"/>
                </a:lnTo>
                <a:lnTo>
                  <a:pt x="4571" y="10667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7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13236" y="1736385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4" h="59689">
                <a:moveTo>
                  <a:pt x="83819" y="0"/>
                </a:moveTo>
                <a:lnTo>
                  <a:pt x="82295" y="3047"/>
                </a:lnTo>
                <a:lnTo>
                  <a:pt x="88391" y="4571"/>
                </a:lnTo>
                <a:lnTo>
                  <a:pt x="91439" y="7619"/>
                </a:lnTo>
                <a:lnTo>
                  <a:pt x="92963" y="12191"/>
                </a:lnTo>
                <a:lnTo>
                  <a:pt x="96012" y="16763"/>
                </a:lnTo>
                <a:lnTo>
                  <a:pt x="97536" y="22859"/>
                </a:lnTo>
                <a:lnTo>
                  <a:pt x="97536" y="36575"/>
                </a:lnTo>
                <a:lnTo>
                  <a:pt x="96012" y="42671"/>
                </a:lnTo>
                <a:lnTo>
                  <a:pt x="92963" y="47243"/>
                </a:lnTo>
                <a:lnTo>
                  <a:pt x="91439" y="53339"/>
                </a:lnTo>
                <a:lnTo>
                  <a:pt x="88391" y="56387"/>
                </a:lnTo>
                <a:lnTo>
                  <a:pt x="82295" y="57912"/>
                </a:lnTo>
                <a:lnTo>
                  <a:pt x="83819" y="59435"/>
                </a:lnTo>
                <a:lnTo>
                  <a:pt x="89915" y="57912"/>
                </a:lnTo>
                <a:lnTo>
                  <a:pt x="94487" y="54863"/>
                </a:lnTo>
                <a:lnTo>
                  <a:pt x="97536" y="48767"/>
                </a:lnTo>
                <a:lnTo>
                  <a:pt x="100583" y="44195"/>
                </a:lnTo>
                <a:lnTo>
                  <a:pt x="102107" y="38100"/>
                </a:lnTo>
                <a:lnTo>
                  <a:pt x="102107" y="22859"/>
                </a:lnTo>
                <a:lnTo>
                  <a:pt x="100583" y="16763"/>
                </a:lnTo>
                <a:lnTo>
                  <a:pt x="97536" y="10667"/>
                </a:lnTo>
                <a:lnTo>
                  <a:pt x="94487" y="6095"/>
                </a:lnTo>
                <a:lnTo>
                  <a:pt x="89915" y="1523"/>
                </a:lnTo>
                <a:lnTo>
                  <a:pt x="83819" y="0"/>
                </a:lnTo>
                <a:close/>
              </a:path>
              <a:path w="102234" h="59689">
                <a:moveTo>
                  <a:pt x="19812" y="0"/>
                </a:moveTo>
                <a:lnTo>
                  <a:pt x="13715" y="1523"/>
                </a:lnTo>
                <a:lnTo>
                  <a:pt x="4571" y="10667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1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7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 </a:t>
            </a:r>
            <a:r>
              <a:rPr spc="5" dirty="0"/>
              <a:t>学</a:t>
            </a:r>
            <a:r>
              <a:rPr spc="-5" dirty="0"/>
              <a:t>习率</a:t>
            </a:r>
            <a:r>
              <a:rPr spc="-100" dirty="0"/>
              <a:t> </a:t>
            </a:r>
            <a:r>
              <a:rPr spc="3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pc="35" dirty="0"/>
              <a:t>，</a:t>
            </a:r>
            <a:r>
              <a:rPr spc="-5" dirty="0"/>
              <a:t>衰减</a:t>
            </a:r>
            <a:r>
              <a:rPr spc="5" dirty="0"/>
              <a:t>速</a:t>
            </a:r>
            <a:r>
              <a:rPr spc="-5" dirty="0"/>
              <a:t>率</a:t>
            </a:r>
            <a:r>
              <a:rPr spc="-105" dirty="0"/>
              <a:t> </a:t>
            </a:r>
            <a:r>
              <a:rPr spc="25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spc="25" dirty="0"/>
              <a:t>，</a:t>
            </a:r>
            <a:r>
              <a:rPr spc="-5" dirty="0"/>
              <a:t>动</a:t>
            </a:r>
            <a:r>
              <a:rPr spc="5" dirty="0"/>
              <a:t>量系</a:t>
            </a:r>
            <a:r>
              <a:rPr spc="40" dirty="0"/>
              <a:t>数</a:t>
            </a:r>
            <a:r>
              <a:rPr spc="60" dirty="0">
                <a:latin typeface="Cambria Math" panose="02040503050406030204"/>
                <a:cs typeface="Cambria Math" panose="02040503050406030204"/>
              </a:rPr>
              <a:t>µ</a:t>
            </a:r>
            <a:r>
              <a:rPr spc="-5" dirty="0"/>
              <a:t>。（建</a:t>
            </a:r>
            <a:r>
              <a:rPr spc="5" dirty="0"/>
              <a:t>议</a:t>
            </a:r>
            <a:r>
              <a:rPr spc="-5" dirty="0"/>
              <a:t>值分</a:t>
            </a:r>
            <a:r>
              <a:rPr spc="5" dirty="0"/>
              <a:t>别</a:t>
            </a:r>
            <a:r>
              <a:rPr spc="-10" dirty="0"/>
              <a:t>为</a:t>
            </a:r>
            <a:r>
              <a:rPr spc="-5" dirty="0"/>
              <a:t>0.999，0.9）</a:t>
            </a:r>
            <a:endParaRPr spc="-5" dirty="0"/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equire: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初始参数</a:t>
            </a:r>
            <a:r>
              <a:rPr spc="-150" dirty="0"/>
              <a:t> </a:t>
            </a:r>
            <a:r>
              <a:rPr spc="50" dirty="0">
                <a:latin typeface="Cambria Math" panose="02040503050406030204"/>
                <a:cs typeface="Cambria Math" panose="02040503050406030204"/>
              </a:rPr>
              <a:t>e</a:t>
            </a:r>
            <a:endParaRPr spc="50" dirty="0">
              <a:latin typeface="Cambria Math" panose="02040503050406030204"/>
              <a:cs typeface="Cambria Math" panose="02040503050406030204"/>
            </a:endParaRPr>
          </a:p>
          <a:p>
            <a:pPr marL="220345" marR="358140" indent="-220980">
              <a:lnSpc>
                <a:spcPct val="150000"/>
              </a:lnSpc>
              <a:spcBef>
                <a:spcPts val="1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pc="-15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小常数</a:t>
            </a:r>
            <a:r>
              <a:rPr spc="1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pc="10" dirty="0"/>
              <a:t>，</a:t>
            </a:r>
            <a:r>
              <a:rPr spc="-5" dirty="0"/>
              <a:t>用于被小数除时的数值稳</a:t>
            </a:r>
            <a:r>
              <a:rPr spc="5" dirty="0"/>
              <a:t>定</a:t>
            </a:r>
            <a:r>
              <a:rPr spc="-5" dirty="0"/>
              <a:t>。（</a:t>
            </a:r>
            <a:r>
              <a:rPr spc="5" dirty="0"/>
              <a:t>通</a:t>
            </a:r>
            <a:r>
              <a:rPr spc="-5" dirty="0"/>
              <a:t>常设</a:t>
            </a:r>
            <a:r>
              <a:rPr spc="5" dirty="0"/>
              <a:t>为</a:t>
            </a:r>
            <a:r>
              <a:rPr spc="4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750" spc="67" baseline="28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700" spc="45" dirty="0"/>
              <a:t>）  </a:t>
            </a:r>
            <a:r>
              <a:rPr sz="700" spc="5" dirty="0">
                <a:solidFill>
                  <a:srgbClr val="FF0000"/>
                </a:solidFill>
              </a:rPr>
              <a:t>初</a:t>
            </a:r>
            <a:r>
              <a:rPr sz="700" spc="-5" dirty="0">
                <a:solidFill>
                  <a:srgbClr val="FF0000"/>
                </a:solidFill>
              </a:rPr>
              <a:t>始化</a:t>
            </a:r>
            <a:r>
              <a:rPr sz="700" spc="5" dirty="0">
                <a:solidFill>
                  <a:srgbClr val="FF0000"/>
                </a:solidFill>
              </a:rPr>
              <a:t>累</a:t>
            </a:r>
            <a:r>
              <a:rPr sz="700" spc="-5" dirty="0">
                <a:solidFill>
                  <a:srgbClr val="FF0000"/>
                </a:solidFill>
              </a:rPr>
              <a:t>积变量</a:t>
            </a:r>
            <a:r>
              <a:rPr sz="700" spc="5" dirty="0">
                <a:solidFill>
                  <a:srgbClr val="FF0000"/>
                </a:solidFill>
              </a:rPr>
              <a:t> 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0,</a:t>
            </a:r>
            <a:r>
              <a:rPr sz="700" spc="-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停止标准未满足</a:t>
            </a:r>
            <a:r>
              <a:rPr spc="-135" dirty="0"/>
              <a:t> </a:t>
            </a:r>
            <a:r>
              <a:rPr spc="-10" dirty="0">
                <a:latin typeface="Arial" panose="020B0604020202020204"/>
                <a:cs typeface="Arial" panose="020B0604020202020204"/>
              </a:rPr>
              <a:t>do</a:t>
            </a:r>
            <a:r>
              <a:rPr spc="-10" dirty="0"/>
              <a:t>：</a:t>
            </a:r>
            <a:endParaRPr spc="-10" dirty="0"/>
          </a:p>
          <a:p>
            <a:pPr marL="539115" marR="142240" indent="-170815">
              <a:lnSpc>
                <a:spcPts val="1450"/>
              </a:lnSpc>
              <a:spcBef>
                <a:spcPts val="95"/>
              </a:spcBef>
              <a:tabLst>
                <a:tab pos="638175" algn="l"/>
              </a:tabLst>
            </a:pPr>
            <a:r>
              <a:rPr spc="-5" dirty="0">
                <a:latin typeface="Arial" panose="020B0604020202020204"/>
                <a:cs typeface="Arial" panose="020B0604020202020204"/>
              </a:rPr>
              <a:t>1.		</a:t>
            </a:r>
            <a:r>
              <a:rPr spc="-5" dirty="0"/>
              <a:t>从训练集中采样</a:t>
            </a:r>
            <a:r>
              <a:rPr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pc="5" dirty="0"/>
              <a:t>（</a:t>
            </a:r>
            <a:r>
              <a:rPr spc="-5" dirty="0"/>
              <a:t>批量大小）个样本</a:t>
            </a:r>
            <a:r>
              <a:rPr spc="-85" dirty="0"/>
              <a:t> </a:t>
            </a:r>
            <a:r>
              <a:rPr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112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/>
              <a:t>对应 的目标为</a:t>
            </a:r>
            <a:r>
              <a:rPr sz="700" spc="-80" dirty="0"/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9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93424" y="1995465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59" y="0"/>
                </a:lnTo>
                <a:lnTo>
                  <a:pt x="60959" y="6096"/>
                </a:lnTo>
                <a:lnTo>
                  <a:pt x="0" y="60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91897" y="1966025"/>
            <a:ext cx="1771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spc="40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4444" y="1943649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1816" y="4571"/>
                </a:lnTo>
                <a:lnTo>
                  <a:pt x="54863" y="7619"/>
                </a:lnTo>
                <a:lnTo>
                  <a:pt x="56387" y="12192"/>
                </a:lnTo>
                <a:lnTo>
                  <a:pt x="59436" y="16763"/>
                </a:lnTo>
                <a:lnTo>
                  <a:pt x="60960" y="22859"/>
                </a:lnTo>
                <a:lnTo>
                  <a:pt x="60960" y="36575"/>
                </a:lnTo>
                <a:lnTo>
                  <a:pt x="59436" y="42671"/>
                </a:lnTo>
                <a:lnTo>
                  <a:pt x="56387" y="47243"/>
                </a:lnTo>
                <a:lnTo>
                  <a:pt x="54863" y="53339"/>
                </a:lnTo>
                <a:lnTo>
                  <a:pt x="51816" y="56387"/>
                </a:lnTo>
                <a:lnTo>
                  <a:pt x="45719" y="57912"/>
                </a:lnTo>
                <a:lnTo>
                  <a:pt x="47243" y="59436"/>
                </a:lnTo>
                <a:lnTo>
                  <a:pt x="53339" y="57912"/>
                </a:lnTo>
                <a:lnTo>
                  <a:pt x="57912" y="54863"/>
                </a:lnTo>
                <a:lnTo>
                  <a:pt x="60960" y="48768"/>
                </a:lnTo>
                <a:lnTo>
                  <a:pt x="64007" y="44195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6763"/>
                </a:lnTo>
                <a:lnTo>
                  <a:pt x="60960" y="10668"/>
                </a:lnTo>
                <a:lnTo>
                  <a:pt x="57912" y="6095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30100" y="1943649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8768" y="0"/>
                </a:moveTo>
                <a:lnTo>
                  <a:pt x="47243" y="3048"/>
                </a:lnTo>
                <a:lnTo>
                  <a:pt x="53339" y="4571"/>
                </a:lnTo>
                <a:lnTo>
                  <a:pt x="56387" y="7619"/>
                </a:lnTo>
                <a:lnTo>
                  <a:pt x="57912" y="12192"/>
                </a:lnTo>
                <a:lnTo>
                  <a:pt x="60960" y="16763"/>
                </a:lnTo>
                <a:lnTo>
                  <a:pt x="62483" y="22859"/>
                </a:lnTo>
                <a:lnTo>
                  <a:pt x="62483" y="36575"/>
                </a:lnTo>
                <a:lnTo>
                  <a:pt x="60960" y="42671"/>
                </a:lnTo>
                <a:lnTo>
                  <a:pt x="57912" y="47243"/>
                </a:lnTo>
                <a:lnTo>
                  <a:pt x="56387" y="53339"/>
                </a:lnTo>
                <a:lnTo>
                  <a:pt x="53339" y="56387"/>
                </a:lnTo>
                <a:lnTo>
                  <a:pt x="47243" y="57912"/>
                </a:lnTo>
                <a:lnTo>
                  <a:pt x="48768" y="59436"/>
                </a:lnTo>
                <a:lnTo>
                  <a:pt x="54863" y="57912"/>
                </a:lnTo>
                <a:lnTo>
                  <a:pt x="59436" y="54863"/>
                </a:lnTo>
                <a:lnTo>
                  <a:pt x="62483" y="48768"/>
                </a:lnTo>
                <a:lnTo>
                  <a:pt x="65531" y="44195"/>
                </a:lnTo>
                <a:lnTo>
                  <a:pt x="67056" y="38100"/>
                </a:lnTo>
                <a:lnTo>
                  <a:pt x="67056" y="22859"/>
                </a:lnTo>
                <a:lnTo>
                  <a:pt x="65531" y="16763"/>
                </a:lnTo>
                <a:lnTo>
                  <a:pt x="62483" y="10668"/>
                </a:lnTo>
                <a:lnTo>
                  <a:pt x="59436" y="6095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7310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3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7"/>
                </a:lnTo>
                <a:lnTo>
                  <a:pt x="12192" y="53339"/>
                </a:lnTo>
                <a:lnTo>
                  <a:pt x="9143" y="47243"/>
                </a:lnTo>
                <a:lnTo>
                  <a:pt x="7619" y="42671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62457" y="1923307"/>
            <a:ext cx="1598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计算梯度</a:t>
            </a:r>
            <a:r>
              <a:rPr sz="7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6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←  </a:t>
            </a:r>
            <a:r>
              <a:rPr sz="750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2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e),</a:t>
            </a:r>
            <a:r>
              <a:rPr sz="7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86972" y="2141769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39" y="6095"/>
                </a:lnTo>
                <a:lnTo>
                  <a:pt x="248411" y="10668"/>
                </a:lnTo>
                <a:lnTo>
                  <a:pt x="251459" y="16763"/>
                </a:lnTo>
                <a:lnTo>
                  <a:pt x="256031" y="22860"/>
                </a:lnTo>
                <a:lnTo>
                  <a:pt x="257555" y="30480"/>
                </a:lnTo>
                <a:lnTo>
                  <a:pt x="257555" y="50292"/>
                </a:lnTo>
                <a:lnTo>
                  <a:pt x="256031" y="59436"/>
                </a:lnTo>
                <a:lnTo>
                  <a:pt x="251459" y="65531"/>
                </a:lnTo>
                <a:lnTo>
                  <a:pt x="248411" y="71628"/>
                </a:lnTo>
                <a:lnTo>
                  <a:pt x="243839" y="76200"/>
                </a:lnTo>
                <a:lnTo>
                  <a:pt x="237744" y="79248"/>
                </a:lnTo>
                <a:lnTo>
                  <a:pt x="237744" y="82295"/>
                </a:lnTo>
                <a:lnTo>
                  <a:pt x="263342" y="48839"/>
                </a:lnTo>
                <a:lnTo>
                  <a:pt x="263651" y="41148"/>
                </a:lnTo>
                <a:lnTo>
                  <a:pt x="263342" y="33432"/>
                </a:lnTo>
                <a:lnTo>
                  <a:pt x="246887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7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7" y="82295"/>
                </a:lnTo>
                <a:lnTo>
                  <a:pt x="25907" y="79248"/>
                </a:lnTo>
                <a:lnTo>
                  <a:pt x="19811" y="76200"/>
                </a:lnTo>
                <a:lnTo>
                  <a:pt x="15239" y="71628"/>
                </a:lnTo>
                <a:lnTo>
                  <a:pt x="9143" y="59436"/>
                </a:lnTo>
                <a:lnTo>
                  <a:pt x="7619" y="50292"/>
                </a:lnTo>
                <a:lnTo>
                  <a:pt x="7619" y="30480"/>
                </a:lnTo>
                <a:lnTo>
                  <a:pt x="9143" y="22860"/>
                </a:lnTo>
                <a:lnTo>
                  <a:pt x="15239" y="10668"/>
                </a:lnTo>
                <a:lnTo>
                  <a:pt x="19811" y="6095"/>
                </a:lnTo>
                <a:lnTo>
                  <a:pt x="27431" y="3048"/>
                </a:lnTo>
                <a:lnTo>
                  <a:pt x="259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2773" y="1923307"/>
            <a:ext cx="86995" cy="47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2.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59183" y="2301789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40" y="6096"/>
                </a:lnTo>
                <a:lnTo>
                  <a:pt x="248412" y="10668"/>
                </a:lnTo>
                <a:lnTo>
                  <a:pt x="251460" y="16763"/>
                </a:lnTo>
                <a:lnTo>
                  <a:pt x="256032" y="22860"/>
                </a:lnTo>
                <a:lnTo>
                  <a:pt x="257556" y="30480"/>
                </a:lnTo>
                <a:lnTo>
                  <a:pt x="257556" y="50292"/>
                </a:lnTo>
                <a:lnTo>
                  <a:pt x="256032" y="59436"/>
                </a:lnTo>
                <a:lnTo>
                  <a:pt x="251460" y="65531"/>
                </a:lnTo>
                <a:lnTo>
                  <a:pt x="248412" y="71628"/>
                </a:lnTo>
                <a:lnTo>
                  <a:pt x="243840" y="76200"/>
                </a:lnTo>
                <a:lnTo>
                  <a:pt x="237744" y="79248"/>
                </a:lnTo>
                <a:lnTo>
                  <a:pt x="237744" y="82296"/>
                </a:lnTo>
                <a:lnTo>
                  <a:pt x="263342" y="48839"/>
                </a:lnTo>
                <a:lnTo>
                  <a:pt x="263652" y="41148"/>
                </a:lnTo>
                <a:lnTo>
                  <a:pt x="263342" y="33432"/>
                </a:lnTo>
                <a:lnTo>
                  <a:pt x="246888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8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8" y="82296"/>
                </a:lnTo>
                <a:lnTo>
                  <a:pt x="25908" y="79248"/>
                </a:lnTo>
                <a:lnTo>
                  <a:pt x="19812" y="76200"/>
                </a:lnTo>
                <a:lnTo>
                  <a:pt x="15240" y="71628"/>
                </a:lnTo>
                <a:lnTo>
                  <a:pt x="9143" y="59436"/>
                </a:lnTo>
                <a:lnTo>
                  <a:pt x="7620" y="50292"/>
                </a:lnTo>
                <a:lnTo>
                  <a:pt x="7620" y="30480"/>
                </a:lnTo>
                <a:lnTo>
                  <a:pt x="9143" y="22860"/>
                </a:lnTo>
                <a:lnTo>
                  <a:pt x="15240" y="10668"/>
                </a:lnTo>
                <a:lnTo>
                  <a:pt x="19812" y="6096"/>
                </a:lnTo>
                <a:lnTo>
                  <a:pt x="27432" y="3048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72088" y="2539533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92773" y="2464355"/>
            <a:ext cx="14414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69240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修正偏差</a:t>
            </a:r>
            <a:r>
              <a:rPr sz="700" spc="-7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-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r>
              <a:rPr sz="700" spc="-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-3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50" spc="67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</a:t>
            </a:r>
            <a:r>
              <a:rPr sz="700" spc="8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89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endParaRPr sz="750" baseline="4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70582" y="2532944"/>
            <a:ext cx="62357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500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600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600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	</a:t>
            </a:r>
            <a:r>
              <a:rPr sz="500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600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endParaRPr sz="600" baseline="2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29288" y="2539533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41251" y="2783373"/>
            <a:ext cx="79375" cy="62865"/>
          </a:xfrm>
          <a:custGeom>
            <a:avLst/>
            <a:gdLst/>
            <a:ahLst/>
            <a:cxnLst/>
            <a:rect l="l" t="t" r="r" b="b"/>
            <a:pathLst>
              <a:path w="79375" h="62864">
                <a:moveTo>
                  <a:pt x="12668" y="33527"/>
                </a:moveTo>
                <a:lnTo>
                  <a:pt x="6096" y="33527"/>
                </a:lnTo>
                <a:lnTo>
                  <a:pt x="19812" y="62483"/>
                </a:lnTo>
                <a:lnTo>
                  <a:pt x="22860" y="62483"/>
                </a:lnTo>
                <a:lnTo>
                  <a:pt x="25506" y="53339"/>
                </a:lnTo>
                <a:lnTo>
                  <a:pt x="21336" y="53339"/>
                </a:lnTo>
                <a:lnTo>
                  <a:pt x="12668" y="33527"/>
                </a:lnTo>
                <a:close/>
              </a:path>
              <a:path w="79375" h="62864">
                <a:moveTo>
                  <a:pt x="79248" y="0"/>
                </a:moveTo>
                <a:lnTo>
                  <a:pt x="36575" y="0"/>
                </a:lnTo>
                <a:lnTo>
                  <a:pt x="21336" y="53339"/>
                </a:lnTo>
                <a:lnTo>
                  <a:pt x="25506" y="53339"/>
                </a:lnTo>
                <a:lnTo>
                  <a:pt x="39624" y="4571"/>
                </a:lnTo>
                <a:lnTo>
                  <a:pt x="79248" y="4571"/>
                </a:lnTo>
                <a:lnTo>
                  <a:pt x="79248" y="0"/>
                </a:lnTo>
                <a:close/>
              </a:path>
              <a:path w="79375" h="62864">
                <a:moveTo>
                  <a:pt x="10668" y="28956"/>
                </a:moveTo>
                <a:lnTo>
                  <a:pt x="0" y="33527"/>
                </a:lnTo>
                <a:lnTo>
                  <a:pt x="1524" y="36575"/>
                </a:lnTo>
                <a:lnTo>
                  <a:pt x="6096" y="33527"/>
                </a:lnTo>
                <a:lnTo>
                  <a:pt x="12668" y="33527"/>
                </a:lnTo>
                <a:lnTo>
                  <a:pt x="10668" y="289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682384" y="2764589"/>
            <a:ext cx="13335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r̃+o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41251" y="2769657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640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92773" y="1953159"/>
            <a:ext cx="1743710" cy="8731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R="528955" algn="r">
              <a:lnSpc>
                <a:spcPct val="100000"/>
              </a:lnSpc>
              <a:spcBef>
                <a:spcPts val="360"/>
              </a:spcBef>
            </a:pPr>
            <a:r>
              <a:rPr sz="500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35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累积梯度</a:t>
            </a:r>
            <a:r>
              <a:rPr sz="7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 +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 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42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累积平方梯度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pr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700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∗</a:t>
            </a:r>
            <a:r>
              <a:rPr sz="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tabLst>
                <a:tab pos="269240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更新权值</a:t>
            </a:r>
            <a:r>
              <a:rPr sz="700" spc="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spc="6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</a:t>
            </a:r>
            <a:r>
              <a:rPr sz="750" spc="12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2495" y="2883421"/>
            <a:ext cx="385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791292" y="120327"/>
            <a:ext cx="6178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Adam</a:t>
            </a:r>
            <a:endParaRPr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65307" y="2452665"/>
            <a:ext cx="1844039" cy="208915"/>
          </a:xfrm>
          <a:custGeom>
            <a:avLst/>
            <a:gdLst/>
            <a:ahLst/>
            <a:cxnLst/>
            <a:rect l="l" t="t" r="r" b="b"/>
            <a:pathLst>
              <a:path w="1844039" h="208914">
                <a:moveTo>
                  <a:pt x="0" y="0"/>
                </a:moveTo>
                <a:lnTo>
                  <a:pt x="1844039" y="0"/>
                </a:lnTo>
                <a:lnTo>
                  <a:pt x="1844039" y="208787"/>
                </a:lnTo>
                <a:lnTo>
                  <a:pt x="0" y="208787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311009" y="563921"/>
            <a:ext cx="1769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同时使用动量与自适应梯度思想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11009" y="838241"/>
            <a:ext cx="1997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修正偏差步骤可以极大缓解算法初期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54342" y="1112561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的冷启动问题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736" y="665385"/>
            <a:ext cx="2992120" cy="2513330"/>
          </a:xfrm>
          <a:custGeom>
            <a:avLst/>
            <a:gdLst/>
            <a:ahLst/>
            <a:cxnLst/>
            <a:rect l="l" t="t" r="r" b="b"/>
            <a:pathLst>
              <a:path w="2992120" h="2513330">
                <a:moveTo>
                  <a:pt x="0" y="0"/>
                </a:moveTo>
                <a:lnTo>
                  <a:pt x="2991612" y="0"/>
                </a:lnTo>
                <a:lnTo>
                  <a:pt x="2991612" y="2513076"/>
                </a:lnTo>
                <a:lnTo>
                  <a:pt x="0" y="2513076"/>
                </a:lnTo>
                <a:lnTo>
                  <a:pt x="0" y="0"/>
                </a:lnTo>
                <a:close/>
              </a:path>
            </a:pathLst>
          </a:custGeom>
          <a:solidFill>
            <a:srgbClr val="D0D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5164" y="656241"/>
            <a:ext cx="2999740" cy="18415"/>
          </a:xfrm>
          <a:custGeom>
            <a:avLst/>
            <a:gdLst/>
            <a:ahLst/>
            <a:cxnLst/>
            <a:rect l="l" t="t" r="r" b="b"/>
            <a:pathLst>
              <a:path w="2999740" h="18415">
                <a:moveTo>
                  <a:pt x="0" y="0"/>
                </a:moveTo>
                <a:lnTo>
                  <a:pt x="2999231" y="0"/>
                </a:lnTo>
                <a:lnTo>
                  <a:pt x="2999231" y="18287"/>
                </a:lnTo>
                <a:lnTo>
                  <a:pt x="0" y="182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736" y="508413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1347" y="508413"/>
            <a:ext cx="0" cy="2673350"/>
          </a:xfrm>
          <a:custGeom>
            <a:avLst/>
            <a:gdLst/>
            <a:ahLst/>
            <a:cxnLst/>
            <a:rect l="l" t="t" r="r" b="b"/>
            <a:pathLst>
              <a:path h="2673350">
                <a:moveTo>
                  <a:pt x="0" y="0"/>
                </a:moveTo>
                <a:lnTo>
                  <a:pt x="0" y="2673095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164" y="511461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5164" y="3178461"/>
            <a:ext cx="2999740" cy="0"/>
          </a:xfrm>
          <a:custGeom>
            <a:avLst/>
            <a:gdLst/>
            <a:ahLst/>
            <a:cxnLst/>
            <a:rect l="l" t="t" r="r" b="b"/>
            <a:pathLst>
              <a:path w="2999740">
                <a:moveTo>
                  <a:pt x="0" y="0"/>
                </a:moveTo>
                <a:lnTo>
                  <a:pt x="2999231" y="0"/>
                </a:lnTo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2783" y="514509"/>
            <a:ext cx="2985770" cy="142240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2222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75"/>
              </a:spcBef>
            </a:pPr>
            <a:r>
              <a:rPr sz="700" b="1" spc="-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Adam</a:t>
            </a:r>
            <a:r>
              <a:rPr sz="700" b="1" spc="-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7532" y="1549305"/>
            <a:ext cx="536575" cy="105410"/>
          </a:xfrm>
          <a:custGeom>
            <a:avLst/>
            <a:gdLst/>
            <a:ahLst/>
            <a:cxnLst/>
            <a:rect l="l" t="t" r="r" b="b"/>
            <a:pathLst>
              <a:path w="536575" h="105410">
                <a:moveTo>
                  <a:pt x="516635" y="0"/>
                </a:moveTo>
                <a:lnTo>
                  <a:pt x="509016" y="0"/>
                </a:lnTo>
                <a:lnTo>
                  <a:pt x="509016" y="3048"/>
                </a:lnTo>
                <a:lnTo>
                  <a:pt x="513588" y="3048"/>
                </a:lnTo>
                <a:lnTo>
                  <a:pt x="518159" y="4572"/>
                </a:lnTo>
                <a:lnTo>
                  <a:pt x="519683" y="7620"/>
                </a:lnTo>
                <a:lnTo>
                  <a:pt x="522731" y="9144"/>
                </a:lnTo>
                <a:lnTo>
                  <a:pt x="522731" y="32003"/>
                </a:lnTo>
                <a:lnTo>
                  <a:pt x="521207" y="35051"/>
                </a:lnTo>
                <a:lnTo>
                  <a:pt x="521207" y="42672"/>
                </a:lnTo>
                <a:lnTo>
                  <a:pt x="522731" y="45720"/>
                </a:lnTo>
                <a:lnTo>
                  <a:pt x="524256" y="47244"/>
                </a:lnTo>
                <a:lnTo>
                  <a:pt x="525780" y="50292"/>
                </a:lnTo>
                <a:lnTo>
                  <a:pt x="527304" y="51816"/>
                </a:lnTo>
                <a:lnTo>
                  <a:pt x="528828" y="51816"/>
                </a:lnTo>
                <a:lnTo>
                  <a:pt x="528828" y="53340"/>
                </a:lnTo>
                <a:lnTo>
                  <a:pt x="527304" y="53340"/>
                </a:lnTo>
                <a:lnTo>
                  <a:pt x="525780" y="54864"/>
                </a:lnTo>
                <a:lnTo>
                  <a:pt x="524256" y="57912"/>
                </a:lnTo>
                <a:lnTo>
                  <a:pt x="522731" y="59436"/>
                </a:lnTo>
                <a:lnTo>
                  <a:pt x="521207" y="62484"/>
                </a:lnTo>
                <a:lnTo>
                  <a:pt x="521207" y="70103"/>
                </a:lnTo>
                <a:lnTo>
                  <a:pt x="522731" y="73151"/>
                </a:lnTo>
                <a:lnTo>
                  <a:pt x="522731" y="96012"/>
                </a:lnTo>
                <a:lnTo>
                  <a:pt x="519683" y="97536"/>
                </a:lnTo>
                <a:lnTo>
                  <a:pt x="518159" y="100584"/>
                </a:lnTo>
                <a:lnTo>
                  <a:pt x="513588" y="102108"/>
                </a:lnTo>
                <a:lnTo>
                  <a:pt x="509016" y="102108"/>
                </a:lnTo>
                <a:lnTo>
                  <a:pt x="509016" y="105155"/>
                </a:lnTo>
                <a:lnTo>
                  <a:pt x="516635" y="105155"/>
                </a:lnTo>
                <a:lnTo>
                  <a:pt x="522731" y="103631"/>
                </a:lnTo>
                <a:lnTo>
                  <a:pt x="525780" y="99060"/>
                </a:lnTo>
                <a:lnTo>
                  <a:pt x="528828" y="96012"/>
                </a:lnTo>
                <a:lnTo>
                  <a:pt x="530352" y="89916"/>
                </a:lnTo>
                <a:lnTo>
                  <a:pt x="530352" y="70103"/>
                </a:lnTo>
                <a:lnTo>
                  <a:pt x="528828" y="67055"/>
                </a:lnTo>
                <a:lnTo>
                  <a:pt x="528828" y="57912"/>
                </a:lnTo>
                <a:lnTo>
                  <a:pt x="531876" y="54864"/>
                </a:lnTo>
                <a:lnTo>
                  <a:pt x="536447" y="54864"/>
                </a:lnTo>
                <a:lnTo>
                  <a:pt x="536447" y="50292"/>
                </a:lnTo>
                <a:lnTo>
                  <a:pt x="531876" y="50292"/>
                </a:lnTo>
                <a:lnTo>
                  <a:pt x="528828" y="47244"/>
                </a:lnTo>
                <a:lnTo>
                  <a:pt x="528828" y="38100"/>
                </a:lnTo>
                <a:lnTo>
                  <a:pt x="530352" y="33527"/>
                </a:lnTo>
                <a:lnTo>
                  <a:pt x="530352" y="15240"/>
                </a:lnTo>
                <a:lnTo>
                  <a:pt x="528828" y="9144"/>
                </a:lnTo>
                <a:lnTo>
                  <a:pt x="525780" y="4572"/>
                </a:lnTo>
                <a:lnTo>
                  <a:pt x="522731" y="1524"/>
                </a:lnTo>
                <a:lnTo>
                  <a:pt x="516635" y="0"/>
                </a:lnTo>
                <a:close/>
              </a:path>
              <a:path w="536575" h="105410">
                <a:moveTo>
                  <a:pt x="27431" y="0"/>
                </a:moveTo>
                <a:lnTo>
                  <a:pt x="19812" y="0"/>
                </a:lnTo>
                <a:lnTo>
                  <a:pt x="15240" y="1524"/>
                </a:lnTo>
                <a:lnTo>
                  <a:pt x="7619" y="9144"/>
                </a:lnTo>
                <a:lnTo>
                  <a:pt x="6095" y="15240"/>
                </a:lnTo>
                <a:lnTo>
                  <a:pt x="6095" y="25908"/>
                </a:lnTo>
                <a:lnTo>
                  <a:pt x="7619" y="30479"/>
                </a:lnTo>
                <a:lnTo>
                  <a:pt x="7619" y="38100"/>
                </a:lnTo>
                <a:lnTo>
                  <a:pt x="9143" y="41148"/>
                </a:lnTo>
                <a:lnTo>
                  <a:pt x="9143" y="44196"/>
                </a:lnTo>
                <a:lnTo>
                  <a:pt x="7619" y="47244"/>
                </a:lnTo>
                <a:lnTo>
                  <a:pt x="4572" y="50292"/>
                </a:lnTo>
                <a:lnTo>
                  <a:pt x="0" y="50292"/>
                </a:lnTo>
                <a:lnTo>
                  <a:pt x="0" y="54864"/>
                </a:lnTo>
                <a:lnTo>
                  <a:pt x="4572" y="54864"/>
                </a:lnTo>
                <a:lnTo>
                  <a:pt x="7619" y="57912"/>
                </a:lnTo>
                <a:lnTo>
                  <a:pt x="9143" y="60960"/>
                </a:lnTo>
                <a:lnTo>
                  <a:pt x="9143" y="64008"/>
                </a:lnTo>
                <a:lnTo>
                  <a:pt x="7619" y="67055"/>
                </a:lnTo>
                <a:lnTo>
                  <a:pt x="7619" y="74675"/>
                </a:lnTo>
                <a:lnTo>
                  <a:pt x="6095" y="77724"/>
                </a:lnTo>
                <a:lnTo>
                  <a:pt x="6095" y="89916"/>
                </a:lnTo>
                <a:lnTo>
                  <a:pt x="7619" y="96012"/>
                </a:lnTo>
                <a:lnTo>
                  <a:pt x="12192" y="99060"/>
                </a:lnTo>
                <a:lnTo>
                  <a:pt x="15240" y="103631"/>
                </a:lnTo>
                <a:lnTo>
                  <a:pt x="19812" y="105155"/>
                </a:lnTo>
                <a:lnTo>
                  <a:pt x="27431" y="105155"/>
                </a:lnTo>
                <a:lnTo>
                  <a:pt x="27431" y="102108"/>
                </a:lnTo>
                <a:lnTo>
                  <a:pt x="22860" y="102108"/>
                </a:lnTo>
                <a:lnTo>
                  <a:pt x="19812" y="100584"/>
                </a:lnTo>
                <a:lnTo>
                  <a:pt x="15240" y="96012"/>
                </a:lnTo>
                <a:lnTo>
                  <a:pt x="13716" y="89916"/>
                </a:lnTo>
                <a:lnTo>
                  <a:pt x="13716" y="77724"/>
                </a:lnTo>
                <a:lnTo>
                  <a:pt x="15240" y="73151"/>
                </a:lnTo>
                <a:lnTo>
                  <a:pt x="15240" y="59436"/>
                </a:lnTo>
                <a:lnTo>
                  <a:pt x="13716" y="57912"/>
                </a:lnTo>
                <a:lnTo>
                  <a:pt x="12192" y="54864"/>
                </a:lnTo>
                <a:lnTo>
                  <a:pt x="10668" y="53340"/>
                </a:lnTo>
                <a:lnTo>
                  <a:pt x="7619" y="53340"/>
                </a:lnTo>
                <a:lnTo>
                  <a:pt x="7619" y="51816"/>
                </a:lnTo>
                <a:lnTo>
                  <a:pt x="10668" y="51816"/>
                </a:lnTo>
                <a:lnTo>
                  <a:pt x="12192" y="50292"/>
                </a:lnTo>
                <a:lnTo>
                  <a:pt x="13716" y="47244"/>
                </a:lnTo>
                <a:lnTo>
                  <a:pt x="15240" y="45720"/>
                </a:lnTo>
                <a:lnTo>
                  <a:pt x="15240" y="32003"/>
                </a:lnTo>
                <a:lnTo>
                  <a:pt x="13716" y="27431"/>
                </a:lnTo>
                <a:lnTo>
                  <a:pt x="13716" y="15240"/>
                </a:lnTo>
                <a:lnTo>
                  <a:pt x="15240" y="9144"/>
                </a:lnTo>
                <a:lnTo>
                  <a:pt x="19812" y="4572"/>
                </a:lnTo>
                <a:lnTo>
                  <a:pt x="22860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45923" y="154625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90">
                <a:moveTo>
                  <a:pt x="59436" y="0"/>
                </a:moveTo>
                <a:lnTo>
                  <a:pt x="57912" y="3048"/>
                </a:lnTo>
                <a:lnTo>
                  <a:pt x="64008" y="4572"/>
                </a:lnTo>
                <a:lnTo>
                  <a:pt x="67055" y="7620"/>
                </a:lnTo>
                <a:lnTo>
                  <a:pt x="68579" y="12192"/>
                </a:lnTo>
                <a:lnTo>
                  <a:pt x="71627" y="16764"/>
                </a:lnTo>
                <a:lnTo>
                  <a:pt x="73151" y="22860"/>
                </a:lnTo>
                <a:lnTo>
                  <a:pt x="73151" y="36575"/>
                </a:lnTo>
                <a:lnTo>
                  <a:pt x="71627" y="42672"/>
                </a:lnTo>
                <a:lnTo>
                  <a:pt x="68579" y="47244"/>
                </a:lnTo>
                <a:lnTo>
                  <a:pt x="67055" y="53340"/>
                </a:lnTo>
                <a:lnTo>
                  <a:pt x="64008" y="56388"/>
                </a:lnTo>
                <a:lnTo>
                  <a:pt x="57912" y="57912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3" y="54864"/>
                </a:lnTo>
                <a:lnTo>
                  <a:pt x="73151" y="48768"/>
                </a:lnTo>
                <a:lnTo>
                  <a:pt x="76200" y="44196"/>
                </a:lnTo>
                <a:lnTo>
                  <a:pt x="77724" y="38100"/>
                </a:lnTo>
                <a:lnTo>
                  <a:pt x="77724" y="22860"/>
                </a:lnTo>
                <a:lnTo>
                  <a:pt x="76200" y="16764"/>
                </a:lnTo>
                <a:lnTo>
                  <a:pt x="73151" y="10668"/>
                </a:lnTo>
                <a:lnTo>
                  <a:pt x="70103" y="6096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8105" h="59690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50723" y="1546257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5" h="59690">
                <a:moveTo>
                  <a:pt x="83820" y="0"/>
                </a:moveTo>
                <a:lnTo>
                  <a:pt x="82296" y="3048"/>
                </a:lnTo>
                <a:lnTo>
                  <a:pt x="88391" y="4572"/>
                </a:lnTo>
                <a:lnTo>
                  <a:pt x="91439" y="7620"/>
                </a:lnTo>
                <a:lnTo>
                  <a:pt x="92963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2"/>
                </a:lnTo>
                <a:lnTo>
                  <a:pt x="92963" y="47244"/>
                </a:lnTo>
                <a:lnTo>
                  <a:pt x="91439" y="53340"/>
                </a:lnTo>
                <a:lnTo>
                  <a:pt x="88391" y="56388"/>
                </a:lnTo>
                <a:lnTo>
                  <a:pt x="82296" y="57912"/>
                </a:lnTo>
                <a:lnTo>
                  <a:pt x="83820" y="59436"/>
                </a:lnTo>
                <a:lnTo>
                  <a:pt x="89915" y="57912"/>
                </a:lnTo>
                <a:lnTo>
                  <a:pt x="94487" y="54864"/>
                </a:lnTo>
                <a:lnTo>
                  <a:pt x="97536" y="48768"/>
                </a:lnTo>
                <a:lnTo>
                  <a:pt x="100584" y="44196"/>
                </a:lnTo>
                <a:lnTo>
                  <a:pt x="102108" y="38100"/>
                </a:lnTo>
                <a:lnTo>
                  <a:pt x="102108" y="22860"/>
                </a:lnTo>
                <a:lnTo>
                  <a:pt x="100584" y="16764"/>
                </a:lnTo>
                <a:lnTo>
                  <a:pt x="97536" y="10668"/>
                </a:lnTo>
                <a:lnTo>
                  <a:pt x="94487" y="6096"/>
                </a:lnTo>
                <a:lnTo>
                  <a:pt x="89915" y="1524"/>
                </a:lnTo>
                <a:lnTo>
                  <a:pt x="83820" y="0"/>
                </a:lnTo>
                <a:close/>
              </a:path>
              <a:path w="102235" h="59690">
                <a:moveTo>
                  <a:pt x="19812" y="0"/>
                </a:moveTo>
                <a:lnTo>
                  <a:pt x="13715" y="1524"/>
                </a:lnTo>
                <a:lnTo>
                  <a:pt x="4572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1" y="53340"/>
                </a:lnTo>
                <a:lnTo>
                  <a:pt x="9143" y="47244"/>
                </a:lnTo>
                <a:lnTo>
                  <a:pt x="7620" y="42672"/>
                </a:lnTo>
                <a:lnTo>
                  <a:pt x="6096" y="36575"/>
                </a:lnTo>
                <a:lnTo>
                  <a:pt x="6096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23092" y="1733709"/>
            <a:ext cx="533400" cy="105410"/>
          </a:xfrm>
          <a:custGeom>
            <a:avLst/>
            <a:gdLst/>
            <a:ahLst/>
            <a:cxnLst/>
            <a:rect l="l" t="t" r="r" b="b"/>
            <a:pathLst>
              <a:path w="533400" h="105410">
                <a:moveTo>
                  <a:pt x="513588" y="0"/>
                </a:moveTo>
                <a:lnTo>
                  <a:pt x="505968" y="0"/>
                </a:lnTo>
                <a:lnTo>
                  <a:pt x="505968" y="3048"/>
                </a:lnTo>
                <a:lnTo>
                  <a:pt x="510539" y="3048"/>
                </a:lnTo>
                <a:lnTo>
                  <a:pt x="515112" y="4572"/>
                </a:lnTo>
                <a:lnTo>
                  <a:pt x="516635" y="7620"/>
                </a:lnTo>
                <a:lnTo>
                  <a:pt x="519683" y="9144"/>
                </a:lnTo>
                <a:lnTo>
                  <a:pt x="519683" y="32004"/>
                </a:lnTo>
                <a:lnTo>
                  <a:pt x="518159" y="35051"/>
                </a:lnTo>
                <a:lnTo>
                  <a:pt x="518159" y="42672"/>
                </a:lnTo>
                <a:lnTo>
                  <a:pt x="519683" y="45720"/>
                </a:lnTo>
                <a:lnTo>
                  <a:pt x="521207" y="47244"/>
                </a:lnTo>
                <a:lnTo>
                  <a:pt x="522731" y="50292"/>
                </a:lnTo>
                <a:lnTo>
                  <a:pt x="524256" y="51816"/>
                </a:lnTo>
                <a:lnTo>
                  <a:pt x="525780" y="51816"/>
                </a:lnTo>
                <a:lnTo>
                  <a:pt x="525780" y="53340"/>
                </a:lnTo>
                <a:lnTo>
                  <a:pt x="524256" y="53340"/>
                </a:lnTo>
                <a:lnTo>
                  <a:pt x="522731" y="54864"/>
                </a:lnTo>
                <a:lnTo>
                  <a:pt x="521207" y="57912"/>
                </a:lnTo>
                <a:lnTo>
                  <a:pt x="519683" y="59436"/>
                </a:lnTo>
                <a:lnTo>
                  <a:pt x="518159" y="62484"/>
                </a:lnTo>
                <a:lnTo>
                  <a:pt x="518159" y="70104"/>
                </a:lnTo>
                <a:lnTo>
                  <a:pt x="519683" y="73151"/>
                </a:lnTo>
                <a:lnTo>
                  <a:pt x="519683" y="96012"/>
                </a:lnTo>
                <a:lnTo>
                  <a:pt x="516635" y="97536"/>
                </a:lnTo>
                <a:lnTo>
                  <a:pt x="515112" y="100584"/>
                </a:lnTo>
                <a:lnTo>
                  <a:pt x="510539" y="102108"/>
                </a:lnTo>
                <a:lnTo>
                  <a:pt x="505968" y="102108"/>
                </a:lnTo>
                <a:lnTo>
                  <a:pt x="505968" y="105156"/>
                </a:lnTo>
                <a:lnTo>
                  <a:pt x="513588" y="105156"/>
                </a:lnTo>
                <a:lnTo>
                  <a:pt x="519683" y="103632"/>
                </a:lnTo>
                <a:lnTo>
                  <a:pt x="522731" y="99060"/>
                </a:lnTo>
                <a:lnTo>
                  <a:pt x="525780" y="96012"/>
                </a:lnTo>
                <a:lnTo>
                  <a:pt x="527303" y="89916"/>
                </a:lnTo>
                <a:lnTo>
                  <a:pt x="527303" y="70104"/>
                </a:lnTo>
                <a:lnTo>
                  <a:pt x="525780" y="67056"/>
                </a:lnTo>
                <a:lnTo>
                  <a:pt x="525780" y="57912"/>
                </a:lnTo>
                <a:lnTo>
                  <a:pt x="528827" y="54864"/>
                </a:lnTo>
                <a:lnTo>
                  <a:pt x="533400" y="54864"/>
                </a:lnTo>
                <a:lnTo>
                  <a:pt x="533400" y="50292"/>
                </a:lnTo>
                <a:lnTo>
                  <a:pt x="528827" y="50292"/>
                </a:lnTo>
                <a:lnTo>
                  <a:pt x="525780" y="47244"/>
                </a:lnTo>
                <a:lnTo>
                  <a:pt x="525780" y="38100"/>
                </a:lnTo>
                <a:lnTo>
                  <a:pt x="527303" y="33527"/>
                </a:lnTo>
                <a:lnTo>
                  <a:pt x="527303" y="15240"/>
                </a:lnTo>
                <a:lnTo>
                  <a:pt x="525780" y="9144"/>
                </a:lnTo>
                <a:lnTo>
                  <a:pt x="522731" y="4572"/>
                </a:lnTo>
                <a:lnTo>
                  <a:pt x="519683" y="1524"/>
                </a:lnTo>
                <a:lnTo>
                  <a:pt x="513588" y="0"/>
                </a:lnTo>
                <a:close/>
              </a:path>
              <a:path w="533400" h="105410">
                <a:moveTo>
                  <a:pt x="27431" y="0"/>
                </a:moveTo>
                <a:lnTo>
                  <a:pt x="19812" y="0"/>
                </a:lnTo>
                <a:lnTo>
                  <a:pt x="15239" y="1524"/>
                </a:lnTo>
                <a:lnTo>
                  <a:pt x="7619" y="9144"/>
                </a:lnTo>
                <a:lnTo>
                  <a:pt x="6095" y="15240"/>
                </a:lnTo>
                <a:lnTo>
                  <a:pt x="6095" y="25908"/>
                </a:lnTo>
                <a:lnTo>
                  <a:pt x="7619" y="30480"/>
                </a:lnTo>
                <a:lnTo>
                  <a:pt x="7619" y="38100"/>
                </a:lnTo>
                <a:lnTo>
                  <a:pt x="9143" y="41148"/>
                </a:lnTo>
                <a:lnTo>
                  <a:pt x="9143" y="44196"/>
                </a:lnTo>
                <a:lnTo>
                  <a:pt x="7619" y="47244"/>
                </a:lnTo>
                <a:lnTo>
                  <a:pt x="4571" y="50292"/>
                </a:lnTo>
                <a:lnTo>
                  <a:pt x="0" y="50292"/>
                </a:lnTo>
                <a:lnTo>
                  <a:pt x="0" y="54864"/>
                </a:lnTo>
                <a:lnTo>
                  <a:pt x="4571" y="54864"/>
                </a:lnTo>
                <a:lnTo>
                  <a:pt x="7619" y="57912"/>
                </a:lnTo>
                <a:lnTo>
                  <a:pt x="9143" y="60960"/>
                </a:lnTo>
                <a:lnTo>
                  <a:pt x="9143" y="64008"/>
                </a:lnTo>
                <a:lnTo>
                  <a:pt x="7619" y="67056"/>
                </a:lnTo>
                <a:lnTo>
                  <a:pt x="7619" y="74675"/>
                </a:lnTo>
                <a:lnTo>
                  <a:pt x="6095" y="77724"/>
                </a:lnTo>
                <a:lnTo>
                  <a:pt x="6095" y="89916"/>
                </a:lnTo>
                <a:lnTo>
                  <a:pt x="7619" y="96012"/>
                </a:lnTo>
                <a:lnTo>
                  <a:pt x="12191" y="99060"/>
                </a:lnTo>
                <a:lnTo>
                  <a:pt x="15239" y="103632"/>
                </a:lnTo>
                <a:lnTo>
                  <a:pt x="19812" y="105156"/>
                </a:lnTo>
                <a:lnTo>
                  <a:pt x="27431" y="105156"/>
                </a:lnTo>
                <a:lnTo>
                  <a:pt x="27431" y="102108"/>
                </a:lnTo>
                <a:lnTo>
                  <a:pt x="22859" y="102108"/>
                </a:lnTo>
                <a:lnTo>
                  <a:pt x="19812" y="100584"/>
                </a:lnTo>
                <a:lnTo>
                  <a:pt x="15239" y="96012"/>
                </a:lnTo>
                <a:lnTo>
                  <a:pt x="13715" y="89916"/>
                </a:lnTo>
                <a:lnTo>
                  <a:pt x="13715" y="77724"/>
                </a:lnTo>
                <a:lnTo>
                  <a:pt x="15239" y="73151"/>
                </a:lnTo>
                <a:lnTo>
                  <a:pt x="15239" y="59436"/>
                </a:lnTo>
                <a:lnTo>
                  <a:pt x="13715" y="57912"/>
                </a:lnTo>
                <a:lnTo>
                  <a:pt x="12191" y="54864"/>
                </a:lnTo>
                <a:lnTo>
                  <a:pt x="10668" y="53340"/>
                </a:lnTo>
                <a:lnTo>
                  <a:pt x="7619" y="53340"/>
                </a:lnTo>
                <a:lnTo>
                  <a:pt x="7619" y="51816"/>
                </a:lnTo>
                <a:lnTo>
                  <a:pt x="10668" y="51816"/>
                </a:lnTo>
                <a:lnTo>
                  <a:pt x="12191" y="50292"/>
                </a:lnTo>
                <a:lnTo>
                  <a:pt x="13715" y="47244"/>
                </a:lnTo>
                <a:lnTo>
                  <a:pt x="15239" y="45720"/>
                </a:lnTo>
                <a:lnTo>
                  <a:pt x="15239" y="32004"/>
                </a:lnTo>
                <a:lnTo>
                  <a:pt x="13715" y="27432"/>
                </a:lnTo>
                <a:lnTo>
                  <a:pt x="13715" y="15240"/>
                </a:lnTo>
                <a:lnTo>
                  <a:pt x="15239" y="9144"/>
                </a:lnTo>
                <a:lnTo>
                  <a:pt x="19812" y="4572"/>
                </a:lnTo>
                <a:lnTo>
                  <a:pt x="22859" y="3048"/>
                </a:lnTo>
                <a:lnTo>
                  <a:pt x="27431" y="3048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06911" y="1730661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5" h="59689">
                <a:moveTo>
                  <a:pt x="59436" y="0"/>
                </a:moveTo>
                <a:lnTo>
                  <a:pt x="57912" y="3048"/>
                </a:lnTo>
                <a:lnTo>
                  <a:pt x="64007" y="4572"/>
                </a:lnTo>
                <a:lnTo>
                  <a:pt x="67056" y="7620"/>
                </a:lnTo>
                <a:lnTo>
                  <a:pt x="68580" y="12192"/>
                </a:lnTo>
                <a:lnTo>
                  <a:pt x="71627" y="16764"/>
                </a:lnTo>
                <a:lnTo>
                  <a:pt x="73151" y="22860"/>
                </a:lnTo>
                <a:lnTo>
                  <a:pt x="73151" y="36575"/>
                </a:lnTo>
                <a:lnTo>
                  <a:pt x="71627" y="42672"/>
                </a:lnTo>
                <a:lnTo>
                  <a:pt x="68580" y="47244"/>
                </a:lnTo>
                <a:lnTo>
                  <a:pt x="67056" y="53340"/>
                </a:lnTo>
                <a:lnTo>
                  <a:pt x="64007" y="56388"/>
                </a:lnTo>
                <a:lnTo>
                  <a:pt x="57912" y="57912"/>
                </a:lnTo>
                <a:lnTo>
                  <a:pt x="59436" y="59436"/>
                </a:lnTo>
                <a:lnTo>
                  <a:pt x="65531" y="57912"/>
                </a:lnTo>
                <a:lnTo>
                  <a:pt x="70104" y="54864"/>
                </a:lnTo>
                <a:lnTo>
                  <a:pt x="73151" y="48768"/>
                </a:lnTo>
                <a:lnTo>
                  <a:pt x="76200" y="44196"/>
                </a:lnTo>
                <a:lnTo>
                  <a:pt x="77724" y="38100"/>
                </a:lnTo>
                <a:lnTo>
                  <a:pt x="77724" y="22860"/>
                </a:lnTo>
                <a:lnTo>
                  <a:pt x="76200" y="16764"/>
                </a:lnTo>
                <a:lnTo>
                  <a:pt x="73151" y="10668"/>
                </a:lnTo>
                <a:lnTo>
                  <a:pt x="70104" y="6096"/>
                </a:lnTo>
                <a:lnTo>
                  <a:pt x="65531" y="1524"/>
                </a:lnTo>
                <a:lnTo>
                  <a:pt x="59436" y="0"/>
                </a:lnTo>
                <a:close/>
              </a:path>
              <a:path w="78105" h="59689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13236" y="1730661"/>
            <a:ext cx="102235" cy="59690"/>
          </a:xfrm>
          <a:custGeom>
            <a:avLst/>
            <a:gdLst/>
            <a:ahLst/>
            <a:cxnLst/>
            <a:rect l="l" t="t" r="r" b="b"/>
            <a:pathLst>
              <a:path w="102234" h="59689">
                <a:moveTo>
                  <a:pt x="83819" y="0"/>
                </a:moveTo>
                <a:lnTo>
                  <a:pt x="82295" y="3048"/>
                </a:lnTo>
                <a:lnTo>
                  <a:pt x="88391" y="4572"/>
                </a:lnTo>
                <a:lnTo>
                  <a:pt x="91439" y="7620"/>
                </a:lnTo>
                <a:lnTo>
                  <a:pt x="92963" y="12192"/>
                </a:lnTo>
                <a:lnTo>
                  <a:pt x="96012" y="16764"/>
                </a:lnTo>
                <a:lnTo>
                  <a:pt x="97536" y="22860"/>
                </a:lnTo>
                <a:lnTo>
                  <a:pt x="97536" y="36575"/>
                </a:lnTo>
                <a:lnTo>
                  <a:pt x="96012" y="42672"/>
                </a:lnTo>
                <a:lnTo>
                  <a:pt x="92963" y="47244"/>
                </a:lnTo>
                <a:lnTo>
                  <a:pt x="91439" y="53340"/>
                </a:lnTo>
                <a:lnTo>
                  <a:pt x="88391" y="56388"/>
                </a:lnTo>
                <a:lnTo>
                  <a:pt x="82295" y="57912"/>
                </a:lnTo>
                <a:lnTo>
                  <a:pt x="83819" y="59436"/>
                </a:lnTo>
                <a:lnTo>
                  <a:pt x="89915" y="57912"/>
                </a:lnTo>
                <a:lnTo>
                  <a:pt x="94487" y="54864"/>
                </a:lnTo>
                <a:lnTo>
                  <a:pt x="97536" y="48768"/>
                </a:lnTo>
                <a:lnTo>
                  <a:pt x="100583" y="44196"/>
                </a:lnTo>
                <a:lnTo>
                  <a:pt x="102107" y="38100"/>
                </a:lnTo>
                <a:lnTo>
                  <a:pt x="102107" y="22860"/>
                </a:lnTo>
                <a:lnTo>
                  <a:pt x="100583" y="16764"/>
                </a:lnTo>
                <a:lnTo>
                  <a:pt x="97536" y="10668"/>
                </a:lnTo>
                <a:lnTo>
                  <a:pt x="94487" y="6096"/>
                </a:lnTo>
                <a:lnTo>
                  <a:pt x="89915" y="1524"/>
                </a:lnTo>
                <a:lnTo>
                  <a:pt x="83819" y="0"/>
                </a:lnTo>
                <a:close/>
              </a:path>
              <a:path w="102234" h="59689">
                <a:moveTo>
                  <a:pt x="19812" y="0"/>
                </a:moveTo>
                <a:lnTo>
                  <a:pt x="13715" y="1524"/>
                </a:lnTo>
                <a:lnTo>
                  <a:pt x="4571" y="10668"/>
                </a:lnTo>
                <a:lnTo>
                  <a:pt x="1524" y="16764"/>
                </a:lnTo>
                <a:lnTo>
                  <a:pt x="0" y="22860"/>
                </a:lnTo>
                <a:lnTo>
                  <a:pt x="0" y="38100"/>
                </a:lnTo>
                <a:lnTo>
                  <a:pt x="19812" y="59436"/>
                </a:lnTo>
                <a:lnTo>
                  <a:pt x="19812" y="57912"/>
                </a:lnTo>
                <a:lnTo>
                  <a:pt x="15239" y="56388"/>
                </a:lnTo>
                <a:lnTo>
                  <a:pt x="12191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60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 </a:t>
            </a:r>
            <a:r>
              <a:rPr spc="5" dirty="0"/>
              <a:t>学</a:t>
            </a:r>
            <a:r>
              <a:rPr spc="-5" dirty="0"/>
              <a:t>习率</a:t>
            </a:r>
            <a:r>
              <a:rPr spc="-100" dirty="0"/>
              <a:t> </a:t>
            </a:r>
            <a:r>
              <a:rPr i="1" spc="35" dirty="0">
                <a:latin typeface="Cambria Math" panose="02040503050406030204"/>
                <a:cs typeface="Cambria Math" panose="02040503050406030204"/>
              </a:rPr>
              <a:t>c</a:t>
            </a:r>
            <a:r>
              <a:rPr spc="35" dirty="0"/>
              <a:t>，</a:t>
            </a:r>
            <a:r>
              <a:rPr spc="-5" dirty="0"/>
              <a:t>衰减</a:t>
            </a:r>
            <a:r>
              <a:rPr spc="5" dirty="0"/>
              <a:t>速</a:t>
            </a:r>
            <a:r>
              <a:rPr spc="-5" dirty="0"/>
              <a:t>率</a:t>
            </a:r>
            <a:r>
              <a:rPr spc="-110" dirty="0"/>
              <a:t> </a:t>
            </a:r>
            <a:r>
              <a:rPr i="1" dirty="0">
                <a:latin typeface="Cambria Math" panose="02040503050406030204"/>
                <a:cs typeface="Cambria Math" panose="02040503050406030204"/>
              </a:rPr>
              <a:t>p</a:t>
            </a:r>
            <a:r>
              <a:rPr i="1" spc="-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-5" dirty="0"/>
              <a:t>，动</a:t>
            </a:r>
            <a:r>
              <a:rPr spc="5" dirty="0"/>
              <a:t>量系</a:t>
            </a:r>
            <a:r>
              <a:rPr spc="40" dirty="0"/>
              <a:t>数</a:t>
            </a:r>
            <a:r>
              <a:rPr i="1" dirty="0">
                <a:latin typeface="Cambria Math" panose="02040503050406030204"/>
                <a:cs typeface="Cambria Math" panose="02040503050406030204"/>
              </a:rPr>
              <a:t>µ</a:t>
            </a:r>
            <a:r>
              <a:rPr i="1" spc="-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-5" dirty="0"/>
              <a:t>。（建</a:t>
            </a:r>
            <a:r>
              <a:rPr spc="5" dirty="0"/>
              <a:t>议</a:t>
            </a:r>
            <a:r>
              <a:rPr spc="-5" dirty="0"/>
              <a:t>值分</a:t>
            </a:r>
            <a:r>
              <a:rPr spc="5" dirty="0"/>
              <a:t>别</a:t>
            </a:r>
            <a:r>
              <a:rPr spc="-10" dirty="0"/>
              <a:t>为</a:t>
            </a:r>
            <a:r>
              <a:rPr spc="-5" dirty="0"/>
              <a:t>0.999，0.9）</a:t>
            </a:r>
            <a:endParaRPr spc="-5" dirty="0"/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equire: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初始参数</a:t>
            </a:r>
            <a:r>
              <a:rPr spc="-150" dirty="0"/>
              <a:t> </a:t>
            </a:r>
            <a:r>
              <a:rPr i="1" spc="50" dirty="0">
                <a:latin typeface="Cambria Math" panose="02040503050406030204"/>
                <a:cs typeface="Cambria Math" panose="02040503050406030204"/>
              </a:rPr>
              <a:t>e</a:t>
            </a:r>
            <a:endParaRPr i="1" spc="50" dirty="0">
              <a:latin typeface="Cambria Math" panose="02040503050406030204"/>
              <a:cs typeface="Cambria Math" panose="02040503050406030204"/>
            </a:endParaRPr>
          </a:p>
          <a:p>
            <a:pPr marL="220345" marR="358140" indent="-220980">
              <a:lnSpc>
                <a:spcPct val="150000"/>
              </a:lnSpc>
              <a:spcBef>
                <a:spcPts val="1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Require:</a:t>
            </a:r>
            <a:r>
              <a:rPr spc="-15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小常数</a:t>
            </a:r>
            <a:r>
              <a:rPr i="1" spc="10" dirty="0">
                <a:latin typeface="Cambria Math" panose="02040503050406030204"/>
                <a:cs typeface="Cambria Math" panose="02040503050406030204"/>
              </a:rPr>
              <a:t>o</a:t>
            </a:r>
            <a:r>
              <a:rPr spc="10" dirty="0"/>
              <a:t>，</a:t>
            </a:r>
            <a:r>
              <a:rPr spc="-5" dirty="0"/>
              <a:t>用于被小数除时的数值稳</a:t>
            </a:r>
            <a:r>
              <a:rPr spc="5" dirty="0"/>
              <a:t>定</a:t>
            </a:r>
            <a:r>
              <a:rPr spc="-5" dirty="0"/>
              <a:t>。（</a:t>
            </a:r>
            <a:r>
              <a:rPr spc="5" dirty="0"/>
              <a:t>通</a:t>
            </a:r>
            <a:r>
              <a:rPr spc="-5" dirty="0"/>
              <a:t>常设</a:t>
            </a:r>
            <a:r>
              <a:rPr spc="5" dirty="0"/>
              <a:t>为</a:t>
            </a:r>
            <a:r>
              <a:rPr i="1" spc="4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750" i="1" spc="67" baseline="28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700" spc="45" dirty="0"/>
              <a:t>）  </a:t>
            </a:r>
            <a:r>
              <a:rPr sz="700" spc="5" dirty="0">
                <a:solidFill>
                  <a:srgbClr val="FF0000"/>
                </a:solidFill>
              </a:rPr>
              <a:t>初</a:t>
            </a:r>
            <a:r>
              <a:rPr sz="700" spc="-5" dirty="0">
                <a:solidFill>
                  <a:srgbClr val="FF0000"/>
                </a:solidFill>
              </a:rPr>
              <a:t>始化</a:t>
            </a:r>
            <a:r>
              <a:rPr sz="700" spc="5" dirty="0">
                <a:solidFill>
                  <a:srgbClr val="FF0000"/>
                </a:solidFill>
              </a:rPr>
              <a:t>累</a:t>
            </a:r>
            <a:r>
              <a:rPr sz="700" spc="-5" dirty="0">
                <a:solidFill>
                  <a:srgbClr val="FF0000"/>
                </a:solidFill>
              </a:rPr>
              <a:t>积变量</a:t>
            </a:r>
            <a:r>
              <a:rPr sz="700" spc="5" dirty="0">
                <a:solidFill>
                  <a:srgbClr val="FF0000"/>
                </a:solidFill>
              </a:rPr>
              <a:t> 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0,</a:t>
            </a:r>
            <a:r>
              <a:rPr sz="700" i="1" spc="-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27965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while</a:t>
            </a: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spc="-5" dirty="0"/>
              <a:t>停止标准未满足</a:t>
            </a:r>
            <a:r>
              <a:rPr spc="-135" dirty="0"/>
              <a:t> </a:t>
            </a:r>
            <a:r>
              <a:rPr spc="-10" dirty="0">
                <a:latin typeface="Arial" panose="020B0604020202020204"/>
                <a:cs typeface="Arial" panose="020B0604020202020204"/>
              </a:rPr>
              <a:t>do</a:t>
            </a:r>
            <a:r>
              <a:rPr spc="-10" dirty="0"/>
              <a:t>：</a:t>
            </a:r>
            <a:endParaRPr spc="-10" dirty="0"/>
          </a:p>
          <a:p>
            <a:pPr marL="539115" marR="142240" indent="-170815">
              <a:lnSpc>
                <a:spcPts val="1450"/>
              </a:lnSpc>
              <a:spcBef>
                <a:spcPts val="95"/>
              </a:spcBef>
              <a:tabLst>
                <a:tab pos="638175" algn="l"/>
              </a:tabLst>
            </a:pPr>
            <a:r>
              <a:rPr spc="-5" dirty="0">
                <a:latin typeface="Arial" panose="020B0604020202020204"/>
                <a:cs typeface="Arial" panose="020B0604020202020204"/>
              </a:rPr>
              <a:t>1.		</a:t>
            </a:r>
            <a:r>
              <a:rPr spc="-5" dirty="0"/>
              <a:t>从训练集中采样</a:t>
            </a:r>
            <a:r>
              <a:rPr i="1" spc="5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pc="5" dirty="0"/>
              <a:t>（</a:t>
            </a:r>
            <a:r>
              <a:rPr spc="-5" dirty="0"/>
              <a:t>批量大小）个样本</a:t>
            </a:r>
            <a:r>
              <a:rPr spc="-85" dirty="0"/>
              <a:t> </a:t>
            </a:r>
            <a:r>
              <a:rPr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209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700" i="1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112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/>
              <a:t>对应 的目标为</a:t>
            </a:r>
            <a:r>
              <a:rPr sz="700" spc="-80" dirty="0"/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232" baseline="28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9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700" i="1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3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2" baseline="28000" dirty="0">
                <a:latin typeface="Cambria Math" panose="02040503050406030204"/>
                <a:cs typeface="Cambria Math" panose="02040503050406030204"/>
              </a:rPr>
              <a:t>m</a:t>
            </a:r>
            <a:endParaRPr sz="7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93424" y="1989741"/>
            <a:ext cx="60960" cy="6350"/>
          </a:xfrm>
          <a:custGeom>
            <a:avLst/>
            <a:gdLst/>
            <a:ahLst/>
            <a:cxnLst/>
            <a:rect l="l" t="t" r="r" b="b"/>
            <a:pathLst>
              <a:path w="60959" h="6350">
                <a:moveTo>
                  <a:pt x="0" y="0"/>
                </a:moveTo>
                <a:lnTo>
                  <a:pt x="60959" y="0"/>
                </a:lnTo>
                <a:lnTo>
                  <a:pt x="60959" y="6095"/>
                </a:lnTo>
                <a:lnTo>
                  <a:pt x="0" y="6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91897" y="1960292"/>
            <a:ext cx="1771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i="1" spc="82" baseline="-22000" dirty="0">
                <a:latin typeface="Cambria Math" panose="02040503050406030204"/>
                <a:cs typeface="Cambria Math" panose="02040503050406030204"/>
              </a:rPr>
              <a:t>m</a:t>
            </a:r>
            <a:r>
              <a:rPr sz="750" i="1" spc="209" baseline="-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500" i="1" spc="40" dirty="0">
                <a:latin typeface="Cambria Math" panose="02040503050406030204"/>
                <a:cs typeface="Cambria Math" panose="02040503050406030204"/>
              </a:rPr>
              <a:t>0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4444" y="1937925"/>
            <a:ext cx="66040" cy="59690"/>
          </a:xfrm>
          <a:custGeom>
            <a:avLst/>
            <a:gdLst/>
            <a:ahLst/>
            <a:cxnLst/>
            <a:rect l="l" t="t" r="r" b="b"/>
            <a:pathLst>
              <a:path w="66039" h="59689">
                <a:moveTo>
                  <a:pt x="47243" y="0"/>
                </a:moveTo>
                <a:lnTo>
                  <a:pt x="45719" y="3048"/>
                </a:lnTo>
                <a:lnTo>
                  <a:pt x="51816" y="4572"/>
                </a:lnTo>
                <a:lnTo>
                  <a:pt x="54863" y="7620"/>
                </a:lnTo>
                <a:lnTo>
                  <a:pt x="56387" y="12192"/>
                </a:lnTo>
                <a:lnTo>
                  <a:pt x="59436" y="16764"/>
                </a:lnTo>
                <a:lnTo>
                  <a:pt x="60960" y="22859"/>
                </a:lnTo>
                <a:lnTo>
                  <a:pt x="60960" y="36575"/>
                </a:lnTo>
                <a:lnTo>
                  <a:pt x="59436" y="42672"/>
                </a:lnTo>
                <a:lnTo>
                  <a:pt x="56387" y="47244"/>
                </a:lnTo>
                <a:lnTo>
                  <a:pt x="54863" y="53340"/>
                </a:lnTo>
                <a:lnTo>
                  <a:pt x="51816" y="56388"/>
                </a:lnTo>
                <a:lnTo>
                  <a:pt x="45719" y="57911"/>
                </a:lnTo>
                <a:lnTo>
                  <a:pt x="47243" y="59435"/>
                </a:lnTo>
                <a:lnTo>
                  <a:pt x="53339" y="57911"/>
                </a:lnTo>
                <a:lnTo>
                  <a:pt x="57912" y="54864"/>
                </a:lnTo>
                <a:lnTo>
                  <a:pt x="60960" y="48768"/>
                </a:lnTo>
                <a:lnTo>
                  <a:pt x="64007" y="44196"/>
                </a:lnTo>
                <a:lnTo>
                  <a:pt x="65531" y="38100"/>
                </a:lnTo>
                <a:lnTo>
                  <a:pt x="65531" y="22859"/>
                </a:lnTo>
                <a:lnTo>
                  <a:pt x="64007" y="16764"/>
                </a:lnTo>
                <a:lnTo>
                  <a:pt x="60960" y="10668"/>
                </a:lnTo>
                <a:lnTo>
                  <a:pt x="57912" y="6096"/>
                </a:lnTo>
                <a:lnTo>
                  <a:pt x="53339" y="1524"/>
                </a:lnTo>
                <a:lnTo>
                  <a:pt x="47243" y="0"/>
                </a:lnTo>
                <a:close/>
              </a:path>
              <a:path w="66039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4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1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30100" y="1937925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10" h="59689">
                <a:moveTo>
                  <a:pt x="48768" y="0"/>
                </a:moveTo>
                <a:lnTo>
                  <a:pt x="47243" y="3048"/>
                </a:lnTo>
                <a:lnTo>
                  <a:pt x="53339" y="4572"/>
                </a:lnTo>
                <a:lnTo>
                  <a:pt x="56387" y="7620"/>
                </a:lnTo>
                <a:lnTo>
                  <a:pt x="57912" y="12192"/>
                </a:lnTo>
                <a:lnTo>
                  <a:pt x="60960" y="16764"/>
                </a:lnTo>
                <a:lnTo>
                  <a:pt x="62483" y="22859"/>
                </a:lnTo>
                <a:lnTo>
                  <a:pt x="62483" y="36575"/>
                </a:lnTo>
                <a:lnTo>
                  <a:pt x="60960" y="42672"/>
                </a:lnTo>
                <a:lnTo>
                  <a:pt x="57912" y="47244"/>
                </a:lnTo>
                <a:lnTo>
                  <a:pt x="56387" y="53340"/>
                </a:lnTo>
                <a:lnTo>
                  <a:pt x="53339" y="56388"/>
                </a:lnTo>
                <a:lnTo>
                  <a:pt x="47243" y="57911"/>
                </a:lnTo>
                <a:lnTo>
                  <a:pt x="48768" y="59435"/>
                </a:lnTo>
                <a:lnTo>
                  <a:pt x="54863" y="57911"/>
                </a:lnTo>
                <a:lnTo>
                  <a:pt x="59436" y="54864"/>
                </a:lnTo>
                <a:lnTo>
                  <a:pt x="62483" y="48768"/>
                </a:lnTo>
                <a:lnTo>
                  <a:pt x="65531" y="44196"/>
                </a:lnTo>
                <a:lnTo>
                  <a:pt x="67056" y="38100"/>
                </a:lnTo>
                <a:lnTo>
                  <a:pt x="67056" y="22859"/>
                </a:lnTo>
                <a:lnTo>
                  <a:pt x="65531" y="16764"/>
                </a:lnTo>
                <a:lnTo>
                  <a:pt x="62483" y="10668"/>
                </a:lnTo>
                <a:lnTo>
                  <a:pt x="59436" y="6096"/>
                </a:lnTo>
                <a:lnTo>
                  <a:pt x="54863" y="1524"/>
                </a:lnTo>
                <a:lnTo>
                  <a:pt x="48768" y="0"/>
                </a:lnTo>
                <a:close/>
              </a:path>
              <a:path w="67310" h="59689">
                <a:moveTo>
                  <a:pt x="19812" y="0"/>
                </a:moveTo>
                <a:lnTo>
                  <a:pt x="13716" y="1524"/>
                </a:lnTo>
                <a:lnTo>
                  <a:pt x="4572" y="10668"/>
                </a:lnTo>
                <a:lnTo>
                  <a:pt x="1524" y="16764"/>
                </a:lnTo>
                <a:lnTo>
                  <a:pt x="0" y="22859"/>
                </a:lnTo>
                <a:lnTo>
                  <a:pt x="0" y="38100"/>
                </a:lnTo>
                <a:lnTo>
                  <a:pt x="19812" y="59435"/>
                </a:lnTo>
                <a:lnTo>
                  <a:pt x="19812" y="57911"/>
                </a:lnTo>
                <a:lnTo>
                  <a:pt x="15239" y="56388"/>
                </a:lnTo>
                <a:lnTo>
                  <a:pt x="12192" y="53340"/>
                </a:lnTo>
                <a:lnTo>
                  <a:pt x="9143" y="47244"/>
                </a:lnTo>
                <a:lnTo>
                  <a:pt x="7619" y="42672"/>
                </a:lnTo>
                <a:lnTo>
                  <a:pt x="6095" y="36575"/>
                </a:lnTo>
                <a:lnTo>
                  <a:pt x="6095" y="22859"/>
                </a:lnTo>
                <a:lnTo>
                  <a:pt x="19812" y="3048"/>
                </a:lnTo>
                <a:lnTo>
                  <a:pt x="19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62457" y="1917623"/>
            <a:ext cx="1598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计算梯度</a:t>
            </a:r>
            <a:r>
              <a:rPr sz="700" spc="6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65" dirty="0"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←  </a:t>
            </a:r>
            <a:r>
              <a:rPr sz="750" i="1" spc="232" baseline="44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750" i="1" spc="1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00" i="1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latin typeface="Cambria Math" panose="02040503050406030204"/>
                <a:cs typeface="Cambria Math" panose="02040503050406030204"/>
              </a:rPr>
              <a:t>L(f(x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2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e),</a:t>
            </a:r>
            <a:r>
              <a:rPr sz="7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6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700" i="1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52" baseline="28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750" i="1" spc="24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86972" y="2136045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39" y="6096"/>
                </a:lnTo>
                <a:lnTo>
                  <a:pt x="248411" y="10668"/>
                </a:lnTo>
                <a:lnTo>
                  <a:pt x="251459" y="16763"/>
                </a:lnTo>
                <a:lnTo>
                  <a:pt x="256031" y="22859"/>
                </a:lnTo>
                <a:lnTo>
                  <a:pt x="257555" y="30479"/>
                </a:lnTo>
                <a:lnTo>
                  <a:pt x="257555" y="50291"/>
                </a:lnTo>
                <a:lnTo>
                  <a:pt x="256031" y="59435"/>
                </a:lnTo>
                <a:lnTo>
                  <a:pt x="251459" y="65531"/>
                </a:lnTo>
                <a:lnTo>
                  <a:pt x="248411" y="71627"/>
                </a:lnTo>
                <a:lnTo>
                  <a:pt x="243839" y="76200"/>
                </a:lnTo>
                <a:lnTo>
                  <a:pt x="237744" y="79248"/>
                </a:lnTo>
                <a:lnTo>
                  <a:pt x="237744" y="82296"/>
                </a:lnTo>
                <a:lnTo>
                  <a:pt x="263342" y="48839"/>
                </a:lnTo>
                <a:lnTo>
                  <a:pt x="263651" y="41148"/>
                </a:lnTo>
                <a:lnTo>
                  <a:pt x="263342" y="33432"/>
                </a:lnTo>
                <a:lnTo>
                  <a:pt x="246887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7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7" y="82296"/>
                </a:lnTo>
                <a:lnTo>
                  <a:pt x="25907" y="79248"/>
                </a:lnTo>
                <a:lnTo>
                  <a:pt x="19811" y="76200"/>
                </a:lnTo>
                <a:lnTo>
                  <a:pt x="15239" y="71627"/>
                </a:lnTo>
                <a:lnTo>
                  <a:pt x="9143" y="59435"/>
                </a:lnTo>
                <a:lnTo>
                  <a:pt x="7619" y="50291"/>
                </a:lnTo>
                <a:lnTo>
                  <a:pt x="7619" y="30479"/>
                </a:lnTo>
                <a:lnTo>
                  <a:pt x="9143" y="22859"/>
                </a:lnTo>
                <a:lnTo>
                  <a:pt x="15239" y="10668"/>
                </a:lnTo>
                <a:lnTo>
                  <a:pt x="19811" y="6096"/>
                </a:lnTo>
                <a:lnTo>
                  <a:pt x="27431" y="3048"/>
                </a:lnTo>
                <a:lnTo>
                  <a:pt x="259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2773" y="1917623"/>
            <a:ext cx="86995" cy="47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2.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3.</a:t>
            </a:r>
            <a:endParaRPr sz="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7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4.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59183" y="2296065"/>
            <a:ext cx="264160" cy="82550"/>
          </a:xfrm>
          <a:custGeom>
            <a:avLst/>
            <a:gdLst/>
            <a:ahLst/>
            <a:cxnLst/>
            <a:rect l="l" t="t" r="r" b="b"/>
            <a:pathLst>
              <a:path w="264160" h="82550">
                <a:moveTo>
                  <a:pt x="237744" y="0"/>
                </a:moveTo>
                <a:lnTo>
                  <a:pt x="237744" y="3048"/>
                </a:lnTo>
                <a:lnTo>
                  <a:pt x="243840" y="6095"/>
                </a:lnTo>
                <a:lnTo>
                  <a:pt x="248412" y="10667"/>
                </a:lnTo>
                <a:lnTo>
                  <a:pt x="251460" y="16763"/>
                </a:lnTo>
                <a:lnTo>
                  <a:pt x="256032" y="22859"/>
                </a:lnTo>
                <a:lnTo>
                  <a:pt x="257556" y="30479"/>
                </a:lnTo>
                <a:lnTo>
                  <a:pt x="257556" y="50291"/>
                </a:lnTo>
                <a:lnTo>
                  <a:pt x="256032" y="59435"/>
                </a:lnTo>
                <a:lnTo>
                  <a:pt x="251460" y="65531"/>
                </a:lnTo>
                <a:lnTo>
                  <a:pt x="248412" y="71627"/>
                </a:lnTo>
                <a:lnTo>
                  <a:pt x="243840" y="76200"/>
                </a:lnTo>
                <a:lnTo>
                  <a:pt x="237744" y="79248"/>
                </a:lnTo>
                <a:lnTo>
                  <a:pt x="237744" y="82295"/>
                </a:lnTo>
                <a:lnTo>
                  <a:pt x="263342" y="48839"/>
                </a:lnTo>
                <a:lnTo>
                  <a:pt x="263652" y="41148"/>
                </a:lnTo>
                <a:lnTo>
                  <a:pt x="263342" y="33432"/>
                </a:lnTo>
                <a:lnTo>
                  <a:pt x="246888" y="3048"/>
                </a:lnTo>
                <a:lnTo>
                  <a:pt x="237744" y="0"/>
                </a:lnTo>
                <a:close/>
              </a:path>
              <a:path w="264160" h="82550">
                <a:moveTo>
                  <a:pt x="25908" y="0"/>
                </a:moveTo>
                <a:lnTo>
                  <a:pt x="309" y="33432"/>
                </a:lnTo>
                <a:lnTo>
                  <a:pt x="0" y="41148"/>
                </a:lnTo>
                <a:lnTo>
                  <a:pt x="309" y="48839"/>
                </a:lnTo>
                <a:lnTo>
                  <a:pt x="25908" y="82295"/>
                </a:lnTo>
                <a:lnTo>
                  <a:pt x="25908" y="79248"/>
                </a:lnTo>
                <a:lnTo>
                  <a:pt x="19812" y="76200"/>
                </a:lnTo>
                <a:lnTo>
                  <a:pt x="15240" y="71627"/>
                </a:lnTo>
                <a:lnTo>
                  <a:pt x="9143" y="59435"/>
                </a:lnTo>
                <a:lnTo>
                  <a:pt x="7620" y="50291"/>
                </a:lnTo>
                <a:lnTo>
                  <a:pt x="7620" y="30479"/>
                </a:lnTo>
                <a:lnTo>
                  <a:pt x="9143" y="22859"/>
                </a:lnTo>
                <a:lnTo>
                  <a:pt x="15240" y="10667"/>
                </a:lnTo>
                <a:lnTo>
                  <a:pt x="19812" y="6095"/>
                </a:lnTo>
                <a:lnTo>
                  <a:pt x="27432" y="3048"/>
                </a:lnTo>
                <a:lnTo>
                  <a:pt x="259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72088" y="2533809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92773" y="1947391"/>
            <a:ext cx="1743710" cy="6432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R="528955" algn="r">
              <a:lnSpc>
                <a:spcPct val="100000"/>
              </a:lnSpc>
              <a:spcBef>
                <a:spcPts val="360"/>
              </a:spcBef>
            </a:pPr>
            <a:r>
              <a:rPr sz="500" i="1" spc="35" dirty="0">
                <a:latin typeface="Cambria Math" panose="02040503050406030204"/>
                <a:cs typeface="Cambria Math" panose="02040503050406030204"/>
              </a:rPr>
              <a:t>i</a:t>
            </a:r>
            <a:endParaRPr sz="5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35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累积梯度</a:t>
            </a:r>
            <a:r>
              <a:rPr sz="7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µv 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 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269240">
              <a:lnSpc>
                <a:spcPct val="100000"/>
              </a:lnSpc>
              <a:spcBef>
                <a:spcPts val="420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累积平方梯度</a:t>
            </a:r>
            <a:r>
              <a:rPr sz="7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pr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700" i="1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700" i="1" spc="1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∗</a:t>
            </a:r>
            <a:r>
              <a:rPr sz="7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g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tabLst>
                <a:tab pos="269240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修正偏差</a:t>
            </a:r>
            <a:r>
              <a:rPr sz="700" spc="-7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-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r>
              <a:rPr sz="700" i="1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4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-3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</a:t>
            </a:r>
            <a:r>
              <a:rPr sz="750" i="1" spc="82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</a:t>
            </a:r>
            <a:r>
              <a:rPr sz="700" i="1" spc="9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7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89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</a:t>
            </a:r>
            <a:endParaRPr sz="750" baseline="4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70582" y="2527211"/>
            <a:ext cx="62357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500" i="1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i="1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i="1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µ</a:t>
            </a:r>
            <a:r>
              <a:rPr sz="600" i="1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600" i="1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	</a:t>
            </a:r>
            <a:r>
              <a:rPr sz="500" i="1" spc="1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l</a:t>
            </a:r>
            <a:r>
              <a:rPr sz="500" i="1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-</a:t>
            </a:r>
            <a:r>
              <a:rPr sz="500" i="1" spc="5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p</a:t>
            </a:r>
            <a:r>
              <a:rPr sz="600" i="1" spc="89" baseline="2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endParaRPr sz="600" baseline="2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29288" y="2533809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41251" y="2777649"/>
            <a:ext cx="79375" cy="62865"/>
          </a:xfrm>
          <a:custGeom>
            <a:avLst/>
            <a:gdLst/>
            <a:ahLst/>
            <a:cxnLst/>
            <a:rect l="l" t="t" r="r" b="b"/>
            <a:pathLst>
              <a:path w="79375" h="62864">
                <a:moveTo>
                  <a:pt x="12668" y="33527"/>
                </a:moveTo>
                <a:lnTo>
                  <a:pt x="6096" y="33527"/>
                </a:lnTo>
                <a:lnTo>
                  <a:pt x="19812" y="62483"/>
                </a:lnTo>
                <a:lnTo>
                  <a:pt x="22860" y="62483"/>
                </a:lnTo>
                <a:lnTo>
                  <a:pt x="25506" y="53340"/>
                </a:lnTo>
                <a:lnTo>
                  <a:pt x="21336" y="53340"/>
                </a:lnTo>
                <a:lnTo>
                  <a:pt x="12668" y="33527"/>
                </a:lnTo>
                <a:close/>
              </a:path>
              <a:path w="79375" h="62864">
                <a:moveTo>
                  <a:pt x="79248" y="0"/>
                </a:moveTo>
                <a:lnTo>
                  <a:pt x="36575" y="0"/>
                </a:lnTo>
                <a:lnTo>
                  <a:pt x="21336" y="53340"/>
                </a:lnTo>
                <a:lnTo>
                  <a:pt x="25506" y="53340"/>
                </a:lnTo>
                <a:lnTo>
                  <a:pt x="39624" y="4572"/>
                </a:lnTo>
                <a:lnTo>
                  <a:pt x="79248" y="4572"/>
                </a:lnTo>
                <a:lnTo>
                  <a:pt x="79248" y="0"/>
                </a:lnTo>
                <a:close/>
              </a:path>
              <a:path w="79375" h="62864">
                <a:moveTo>
                  <a:pt x="10668" y="28955"/>
                </a:moveTo>
                <a:lnTo>
                  <a:pt x="0" y="33527"/>
                </a:lnTo>
                <a:lnTo>
                  <a:pt x="1524" y="36575"/>
                </a:lnTo>
                <a:lnTo>
                  <a:pt x="6096" y="33527"/>
                </a:lnTo>
                <a:lnTo>
                  <a:pt x="12668" y="33527"/>
                </a:lnTo>
                <a:lnTo>
                  <a:pt x="10668" y="289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641251" y="2763933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640" y="0"/>
                </a:lnTo>
              </a:path>
            </a:pathLst>
          </a:custGeom>
          <a:ln w="609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65307" y="2681637"/>
            <a:ext cx="1844039" cy="172720"/>
          </a:xfrm>
          <a:prstGeom prst="rect">
            <a:avLst/>
          </a:prstGeom>
          <a:solidFill>
            <a:srgbClr val="D0D8E8"/>
          </a:solidFill>
          <a:ln w="12191">
            <a:solidFill>
              <a:srgbClr val="FF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27305">
              <a:lnSpc>
                <a:spcPts val="700"/>
              </a:lnSpc>
              <a:spcBef>
                <a:spcPts val="150"/>
              </a:spcBef>
              <a:tabLst>
                <a:tab pos="296545" algn="l"/>
              </a:tabLst>
            </a:pPr>
            <a:r>
              <a:rPr sz="7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6.	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更新权值</a:t>
            </a:r>
            <a:r>
              <a:rPr sz="700" spc="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700" i="1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←</a:t>
            </a:r>
            <a:r>
              <a:rPr sz="7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5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e</a:t>
            </a:r>
            <a:r>
              <a:rPr sz="7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700" i="1" spc="6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50" i="1" spc="6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c</a:t>
            </a:r>
            <a:r>
              <a:rPr sz="750" i="1" spc="120" baseline="44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700" i="1" spc="-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v-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1116965">
              <a:lnSpc>
                <a:spcPts val="460"/>
              </a:lnSpc>
            </a:pPr>
            <a:r>
              <a:rPr sz="500" i="1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r̃+o</a:t>
            </a:r>
            <a:endParaRPr sz="5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2495" y="2877737"/>
            <a:ext cx="385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end</a:t>
            </a:r>
            <a:r>
              <a:rPr sz="7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while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2791292" y="114799"/>
            <a:ext cx="6178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Adam</a:t>
            </a:r>
            <a:endParaRPr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11009" y="558196"/>
            <a:ext cx="1769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同时使用动量与自适应梯度思想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11009" y="832517"/>
            <a:ext cx="1997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修正偏差步骤可以极大缓解算法初期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54342" y="1106837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的冷启动问题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488" y="115828"/>
            <a:ext cx="1699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梯度算法改进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1423" y="842735"/>
            <a:ext cx="2159635" cy="169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梯度下降算法存在的问题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动量法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自适应梯度与</a:t>
            </a:r>
            <a:r>
              <a:rPr sz="1400" spc="-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RMSProp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spc="-5" dirty="0">
                <a:solidFill>
                  <a:srgbClr val="D9D9D9"/>
                </a:solidFill>
                <a:latin typeface="微软雅黑" panose="020B0503020204020204" charset="-122"/>
                <a:cs typeface="微软雅黑" panose="020B0503020204020204" charset="-122"/>
              </a:rPr>
              <a:t>ADAM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400" dirty="0">
                <a:latin typeface="微软雅黑" panose="020B0503020204020204" charset="-122"/>
                <a:cs typeface="微软雅黑" panose="020B0503020204020204" charset="-122"/>
              </a:rPr>
              <a:t>总结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2125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3145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38356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i="1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i="1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314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35270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i="1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27000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69126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17073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59199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3609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6"/>
                </a:moveTo>
                <a:lnTo>
                  <a:pt x="0" y="280416"/>
                </a:lnTo>
                <a:lnTo>
                  <a:pt x="19812" y="318516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6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908" y="280416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39577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5"/>
                </a:moveTo>
                <a:lnTo>
                  <a:pt x="0" y="295655"/>
                </a:lnTo>
                <a:lnTo>
                  <a:pt x="28956" y="353568"/>
                </a:lnTo>
                <a:lnTo>
                  <a:pt x="52577" y="306324"/>
                </a:lnTo>
                <a:lnTo>
                  <a:pt x="19812" y="306324"/>
                </a:lnTo>
                <a:lnTo>
                  <a:pt x="19812" y="295655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5"/>
                </a:moveTo>
                <a:lnTo>
                  <a:pt x="38100" y="295655"/>
                </a:lnTo>
                <a:lnTo>
                  <a:pt x="38100" y="306324"/>
                </a:lnTo>
                <a:lnTo>
                  <a:pt x="52577" y="306324"/>
                </a:lnTo>
                <a:lnTo>
                  <a:pt x="57912" y="295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3081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4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3081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40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8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46001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8" y="333755"/>
                </a:lnTo>
                <a:lnTo>
                  <a:pt x="19812" y="333755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5"/>
                </a:lnTo>
                <a:lnTo>
                  <a:pt x="38100" y="333755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5"/>
                </a:lnTo>
                <a:lnTo>
                  <a:pt x="52578" y="333755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67693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8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76153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4"/>
                </a:moveTo>
                <a:lnTo>
                  <a:pt x="19812" y="47244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4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8"/>
                </a:lnTo>
                <a:lnTo>
                  <a:pt x="19812" y="56388"/>
                </a:lnTo>
                <a:lnTo>
                  <a:pt x="19812" y="47244"/>
                </a:lnTo>
                <a:lnTo>
                  <a:pt x="53216" y="47244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4"/>
                </a:moveTo>
                <a:lnTo>
                  <a:pt x="38100" y="47244"/>
                </a:lnTo>
                <a:lnTo>
                  <a:pt x="38100" y="56388"/>
                </a:lnTo>
                <a:lnTo>
                  <a:pt x="57912" y="56388"/>
                </a:lnTo>
                <a:lnTo>
                  <a:pt x="53216" y="47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05768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17657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27641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1"/>
                </a:lnTo>
                <a:lnTo>
                  <a:pt x="13716" y="286511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1"/>
                </a:lnTo>
                <a:lnTo>
                  <a:pt x="25907" y="286511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1"/>
                </a:lnTo>
                <a:lnTo>
                  <a:pt x="35173" y="286511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1017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3916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46157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585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3289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040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3307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0618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57494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67223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27641"/>
            <a:ext cx="891540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9013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612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72947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76048" y="2119598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682">
            <a:solidFill>
              <a:srgbClr val="9EEA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76048" y="211001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8" y="7620"/>
                </a:lnTo>
                <a:lnTo>
                  <a:pt x="3048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9E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9823" y="21101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9E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76048" y="209794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69823" y="209794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76048" y="208575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69823" y="208575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76048" y="20735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69823" y="20735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76048" y="20598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69823" y="20598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76048" y="204765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69823" y="204765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76048" y="20354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69823" y="20354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76048" y="202326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69823" y="202326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76048" y="20095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69823" y="20095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76048" y="19973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69823" y="19973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76048" y="19866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A8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69823" y="19866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A8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76048" y="197602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9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69823" y="197602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9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676048" y="196535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A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69823" y="196535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A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676048" y="196078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AB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69823" y="196078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AB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76048" y="195468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AB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169823" y="195468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AB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676048" y="194402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C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69823" y="194402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C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76048" y="193335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D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169823" y="193335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D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676048" y="19226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E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169823" y="19226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E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676048" y="19104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169823" y="19104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76048" y="18967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169823" y="18967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676048" y="18845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69823" y="18845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676048" y="18723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169823" y="18723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676048" y="18602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169823" y="18602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676048" y="18464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169823" y="18464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76048" y="18342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169823" y="18342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676048" y="18221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169823" y="18221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676048" y="18099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169823" y="18099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676048" y="17961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69823" y="17961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76048" y="17840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169823" y="17840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76048" y="17718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169823" y="17718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76048" y="17596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169823" y="17596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76048" y="17474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169823" y="17474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76048" y="17321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169823" y="17321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676048" y="17169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169823" y="17169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676048" y="170932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BF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169823" y="170932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BF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676048" y="17017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BF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169823" y="17017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BF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676048" y="168494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169823" y="168494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676048" y="166665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8"/>
                </a:lnTo>
                <a:lnTo>
                  <a:pt x="3048" y="18288"/>
                </a:lnTo>
                <a:lnTo>
                  <a:pt x="3048" y="0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169823" y="166665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8"/>
                </a:lnTo>
                <a:lnTo>
                  <a:pt x="3048" y="18288"/>
                </a:lnTo>
                <a:lnTo>
                  <a:pt x="3048" y="0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676048" y="1646841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8" y="0"/>
                </a:moveTo>
                <a:lnTo>
                  <a:pt x="0" y="0"/>
                </a:lnTo>
                <a:lnTo>
                  <a:pt x="0" y="19811"/>
                </a:lnTo>
                <a:lnTo>
                  <a:pt x="3048" y="19811"/>
                </a:lnTo>
                <a:lnTo>
                  <a:pt x="3048" y="0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169823" y="1646841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8" y="0"/>
                </a:moveTo>
                <a:lnTo>
                  <a:pt x="0" y="0"/>
                </a:lnTo>
                <a:lnTo>
                  <a:pt x="0" y="19811"/>
                </a:lnTo>
                <a:lnTo>
                  <a:pt x="3048" y="19811"/>
                </a:lnTo>
                <a:lnTo>
                  <a:pt x="3048" y="0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676048" y="1625505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8" y="0"/>
                </a:moveTo>
                <a:lnTo>
                  <a:pt x="0" y="0"/>
                </a:lnTo>
                <a:lnTo>
                  <a:pt x="0" y="21336"/>
                </a:lnTo>
                <a:lnTo>
                  <a:pt x="3048" y="21336"/>
                </a:lnTo>
                <a:lnTo>
                  <a:pt x="3048" y="0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169823" y="1625505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8" y="0"/>
                </a:moveTo>
                <a:lnTo>
                  <a:pt x="0" y="0"/>
                </a:lnTo>
                <a:lnTo>
                  <a:pt x="0" y="21336"/>
                </a:lnTo>
                <a:lnTo>
                  <a:pt x="3048" y="21336"/>
                </a:lnTo>
                <a:lnTo>
                  <a:pt x="3048" y="0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676048" y="160721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169823" y="160721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676048" y="15919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169823" y="15919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676048" y="158435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6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169823" y="158435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6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676048" y="157521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6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169823" y="157521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6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676048" y="15599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169823" y="15599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676048" y="15447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169823" y="15447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676048" y="152949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169823" y="152949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676048" y="15203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CA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169823" y="15203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CA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676048" y="15127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A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169823" y="15127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A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676048" y="14974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169823" y="14974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676048" y="14822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169823" y="14822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676048" y="14654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169823" y="14654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676048" y="14578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E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169823" y="14578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E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676048" y="14502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E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169823" y="14502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E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676048" y="14350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169823" y="14350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676048" y="14197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169823" y="14197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676048" y="140300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169823" y="140300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676048" y="13953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169823" y="13953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676048" y="13877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169823" y="13877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676048" y="137252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169823" y="137252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676048" y="135575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169823" y="135575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676048" y="134051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169823" y="134051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676048" y="13328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3169823" y="13328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676048" y="13252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3169823" y="13252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2676048" y="13085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3169823" y="13085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2676048" y="12932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169823" y="12932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2676048" y="12780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169823" y="12780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676048" y="12704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A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169823" y="12704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A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2676048" y="126279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169823" y="126279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2676048" y="124602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169823" y="124602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2676048" y="1230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3169823" y="1230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2676048" y="12155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3169823" y="12155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2676048" y="12079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E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3169823" y="12079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E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2676048" y="11987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DE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169823" y="11987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DE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2676048" y="11835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169823" y="11835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2676048" y="11683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169823" y="11683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676048" y="1153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169823" y="1153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2676048" y="114392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E2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169823" y="114392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E2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676048" y="11363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2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3169823" y="11363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2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2676048" y="11210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3169823" y="11210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2676048" y="111306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8" y="7620"/>
                </a:lnTo>
                <a:lnTo>
                  <a:pt x="3048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E4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2676048" y="111179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175">
            <a:solidFill>
              <a:srgbClr val="E4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169823" y="11134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E4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2676048" y="2119598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682">
            <a:solidFill>
              <a:srgbClr val="9EEA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2676048" y="211001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8" y="7620"/>
                </a:lnTo>
                <a:lnTo>
                  <a:pt x="3048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9E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3169823" y="21101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9E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2676048" y="209794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3169823" y="209794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2676048" y="208575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169823" y="208575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2676048" y="20735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3169823" y="20735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2676048" y="20598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169823" y="20598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2676048" y="204765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3169823" y="204765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2676048" y="20354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3169823" y="20354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2676048" y="202326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3169823" y="202326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2676048" y="20095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3169823" y="20095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2676048" y="19973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3169823" y="199736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2676048" y="19866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A8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3169823" y="19866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A8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2676048" y="197602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9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3169823" y="197602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9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2676048" y="196535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A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3169823" y="196535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A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2676048" y="196078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AB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3169823" y="196078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AB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2676048" y="195468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AB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3169823" y="195468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AB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2676048" y="194402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C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3169823" y="194402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C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2676048" y="193335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D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3169823" y="193335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D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2676048" y="19226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E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3169823" y="19226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E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2676048" y="19104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3169823" y="19104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2676048" y="18967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3169823" y="18967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2676048" y="18845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3169823" y="18845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2676048" y="18723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3169823" y="18723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2676048" y="18602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3169823" y="18602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2676048" y="18464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3169823" y="18464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2676048" y="18342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3169823" y="18342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2676048" y="18221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3169823" y="18221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2676048" y="18099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3169823" y="18099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2676048" y="17961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3169823" y="17961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2676048" y="17840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3169823" y="178400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2676048" y="17718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3169823" y="17718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2676048" y="17596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3169823" y="17596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2676048" y="17474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3169823" y="17474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2676048" y="17321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3169823" y="17321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2676048" y="17169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3169823" y="17169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2676048" y="170932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BF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3169823" y="170932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BF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2676048" y="17017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BF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3169823" y="17017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BF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2676048" y="168494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3169823" y="168494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2676048" y="166665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8"/>
                </a:lnTo>
                <a:lnTo>
                  <a:pt x="3048" y="18288"/>
                </a:lnTo>
                <a:lnTo>
                  <a:pt x="3048" y="0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3169823" y="166665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8"/>
                </a:lnTo>
                <a:lnTo>
                  <a:pt x="3048" y="18288"/>
                </a:lnTo>
                <a:lnTo>
                  <a:pt x="3048" y="0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2676048" y="1646841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8" y="0"/>
                </a:moveTo>
                <a:lnTo>
                  <a:pt x="0" y="0"/>
                </a:lnTo>
                <a:lnTo>
                  <a:pt x="0" y="19811"/>
                </a:lnTo>
                <a:lnTo>
                  <a:pt x="3048" y="19811"/>
                </a:lnTo>
                <a:lnTo>
                  <a:pt x="3048" y="0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3169823" y="1646841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8" y="0"/>
                </a:moveTo>
                <a:lnTo>
                  <a:pt x="0" y="0"/>
                </a:lnTo>
                <a:lnTo>
                  <a:pt x="0" y="19811"/>
                </a:lnTo>
                <a:lnTo>
                  <a:pt x="3048" y="19811"/>
                </a:lnTo>
                <a:lnTo>
                  <a:pt x="3048" y="0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2676048" y="1625505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8" y="0"/>
                </a:moveTo>
                <a:lnTo>
                  <a:pt x="0" y="0"/>
                </a:lnTo>
                <a:lnTo>
                  <a:pt x="0" y="21336"/>
                </a:lnTo>
                <a:lnTo>
                  <a:pt x="3048" y="21336"/>
                </a:lnTo>
                <a:lnTo>
                  <a:pt x="3048" y="0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3169823" y="1625505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8" y="0"/>
                </a:moveTo>
                <a:lnTo>
                  <a:pt x="0" y="0"/>
                </a:lnTo>
                <a:lnTo>
                  <a:pt x="0" y="21336"/>
                </a:lnTo>
                <a:lnTo>
                  <a:pt x="3048" y="21336"/>
                </a:lnTo>
                <a:lnTo>
                  <a:pt x="3048" y="0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2676048" y="160721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3169823" y="160721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2676048" y="15919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3169823" y="15919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2676048" y="158435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6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3169823" y="158435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6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2676048" y="157521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6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3169823" y="157521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6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2676048" y="15599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3169823" y="15599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2676048" y="15447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3169823" y="15447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2676048" y="152949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3169823" y="152949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2676048" y="15203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CA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3169823" y="15203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CA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2676048" y="15127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A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3169823" y="15127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A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2676048" y="14974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3169823" y="14974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2676048" y="14822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3169823" y="14822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2676048" y="14654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3169823" y="14654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2676048" y="14578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E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3169823" y="14578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E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2676048" y="14502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E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3169823" y="14502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E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2676048" y="14350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3169823" y="14350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2676048" y="14197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3169823" y="14197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2676048" y="140300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3169823" y="140300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2676048" y="13953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3169823" y="13953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2676048" y="13877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3169823" y="13877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2676048" y="137252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3169823" y="137252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2676048" y="135575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3169823" y="135575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2676048" y="134051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3169823" y="134051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2676048" y="13328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3169823" y="13328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2676048" y="13252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3169823" y="13252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2676048" y="13085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3169823" y="13085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2676048" y="12932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3169823" y="12932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2676048" y="12780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3169823" y="12780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2676048" y="12704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A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3169823" y="12704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A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2676048" y="126279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3169823" y="126279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2676048" y="124602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3169823" y="124602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2676048" y="1230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3169823" y="1230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2676048" y="12155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3169823" y="12155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2676048" y="12079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E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3169823" y="12079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E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2676048" y="11987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DE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3169823" y="11987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DE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2676048" y="11835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3169823" y="11835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2676048" y="11683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3169823" y="11683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2676048" y="1153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3169823" y="1153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2676048" y="114392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E2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3169823" y="114392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E2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2676048" y="11363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2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3169823" y="11363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2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2676048" y="11210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3169823" y="11210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2676048" y="111306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8" y="7620"/>
                </a:lnTo>
                <a:lnTo>
                  <a:pt x="3048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E4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2676048" y="111179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175">
            <a:solidFill>
              <a:srgbClr val="E4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3169823" y="11134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E4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2679095" y="1112298"/>
            <a:ext cx="490855" cy="0"/>
          </a:xfrm>
          <a:custGeom>
            <a:avLst/>
            <a:gdLst/>
            <a:ahLst/>
            <a:cxnLst/>
            <a:rect l="l" t="t" r="r" b="b"/>
            <a:pathLst>
              <a:path w="490855">
                <a:moveTo>
                  <a:pt x="0" y="0"/>
                </a:moveTo>
                <a:lnTo>
                  <a:pt x="490727" y="0"/>
                </a:lnTo>
              </a:path>
            </a:pathLst>
          </a:custGeom>
          <a:ln w="3175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2679095" y="111344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4571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3170966" y="1113441"/>
            <a:ext cx="0" cy="1004569"/>
          </a:xfrm>
          <a:custGeom>
            <a:avLst/>
            <a:gdLst/>
            <a:ahLst/>
            <a:cxnLst/>
            <a:rect l="l" t="t" r="r" b="b"/>
            <a:pathLst>
              <a:path h="1004569">
                <a:moveTo>
                  <a:pt x="0" y="0"/>
                </a:moveTo>
                <a:lnTo>
                  <a:pt x="0" y="1004315"/>
                </a:lnTo>
              </a:path>
            </a:pathLst>
          </a:custGeom>
          <a:ln w="3175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2676048" y="211928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175">
            <a:solidFill>
              <a:srgbClr val="9EEA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2676048" y="111191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175">
            <a:solidFill>
              <a:srgbClr val="E4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2679095" y="1113441"/>
            <a:ext cx="490855" cy="1004569"/>
          </a:xfrm>
          <a:custGeom>
            <a:avLst/>
            <a:gdLst/>
            <a:ahLst/>
            <a:cxnLst/>
            <a:rect l="l" t="t" r="r" b="b"/>
            <a:pathLst>
              <a:path w="490855" h="1004569">
                <a:moveTo>
                  <a:pt x="0" y="0"/>
                </a:moveTo>
                <a:lnTo>
                  <a:pt x="490727" y="0"/>
                </a:lnTo>
                <a:lnTo>
                  <a:pt x="490727" y="1004315"/>
                </a:lnTo>
                <a:lnTo>
                  <a:pt x="0" y="100431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2676048" y="211547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9EEA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7" name="object 337"/>
          <p:cNvSpPr/>
          <p:nvPr/>
        </p:nvSpPr>
        <p:spPr>
          <a:xfrm>
            <a:off x="2676048" y="2097945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2676048" y="208575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2676048" y="2073561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2676048" y="205984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4" y="13715"/>
                </a:lnTo>
                <a:lnTo>
                  <a:pt x="496824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/>
          <p:nvPr/>
        </p:nvSpPr>
        <p:spPr>
          <a:xfrm>
            <a:off x="2676048" y="204765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2676048" y="2035461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2676048" y="2023269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2676048" y="200955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4" y="13715"/>
                </a:lnTo>
                <a:lnTo>
                  <a:pt x="496824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2676048" y="1997361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2676048" y="199202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7">
            <a:solidFill>
              <a:srgbClr val="A8E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2676048" y="198135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9E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2676048" y="197069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AE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2676048" y="196307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4572">
            <a:solidFill>
              <a:srgbClr val="ABE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2676048" y="195773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6095">
            <a:solidFill>
              <a:srgbClr val="ABED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2676048" y="194935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CED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2676048" y="193868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DED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2676048" y="192801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EED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2676048" y="191049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2676048" y="189677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4" y="13715"/>
                </a:lnTo>
                <a:lnTo>
                  <a:pt x="496824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2676048" y="1884585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2676048" y="187239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2676048" y="1860201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2676048" y="184648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4" y="13715"/>
                </a:lnTo>
                <a:lnTo>
                  <a:pt x="496824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2676048" y="183429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2676048" y="1822101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/>
          <p:nvPr/>
        </p:nvSpPr>
        <p:spPr>
          <a:xfrm>
            <a:off x="2676048" y="1809909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object 363"/>
          <p:cNvSpPr/>
          <p:nvPr/>
        </p:nvSpPr>
        <p:spPr>
          <a:xfrm>
            <a:off x="2676048" y="179619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4" y="13715"/>
                </a:lnTo>
                <a:lnTo>
                  <a:pt x="496824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2676048" y="1784001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2676048" y="1771809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2676048" y="1759617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2676048" y="1747425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/>
          <p:nvPr/>
        </p:nvSpPr>
        <p:spPr>
          <a:xfrm>
            <a:off x="2676048" y="173218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2676048" y="171694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2676048" y="171313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BFE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2676048" y="170551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BFF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2676048" y="168494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4" y="16763"/>
                </a:lnTo>
                <a:lnTo>
                  <a:pt x="496824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2676048" y="166665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8"/>
                </a:moveTo>
                <a:lnTo>
                  <a:pt x="496824" y="18288"/>
                </a:lnTo>
                <a:lnTo>
                  <a:pt x="496824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2676048" y="1646841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1"/>
                </a:moveTo>
                <a:lnTo>
                  <a:pt x="496824" y="19811"/>
                </a:lnTo>
                <a:lnTo>
                  <a:pt x="496824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2676048" y="1625505"/>
            <a:ext cx="497205" cy="21590"/>
          </a:xfrm>
          <a:custGeom>
            <a:avLst/>
            <a:gdLst/>
            <a:ahLst/>
            <a:cxnLst/>
            <a:rect l="l" t="t" r="r" b="b"/>
            <a:pathLst>
              <a:path w="497205" h="21589">
                <a:moveTo>
                  <a:pt x="0" y="21336"/>
                </a:moveTo>
                <a:lnTo>
                  <a:pt x="496824" y="21336"/>
                </a:lnTo>
                <a:lnTo>
                  <a:pt x="496824" y="0"/>
                </a:lnTo>
                <a:lnTo>
                  <a:pt x="0" y="0"/>
                </a:lnTo>
                <a:lnTo>
                  <a:pt x="0" y="21336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2676048" y="160721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8"/>
                </a:moveTo>
                <a:lnTo>
                  <a:pt x="496824" y="18288"/>
                </a:lnTo>
                <a:lnTo>
                  <a:pt x="496824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2676048" y="159197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2676048" y="158816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C6F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2676048" y="157978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9143">
            <a:solidFill>
              <a:srgbClr val="C6F2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2676048" y="155997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2676048" y="154473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2676048" y="152949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2676048" y="152492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9144">
            <a:solidFill>
              <a:srgbClr val="CAF2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2676048" y="151653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CAF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2676048" y="149748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2676048" y="148224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2676048" y="1465485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4" y="16764"/>
                </a:lnTo>
                <a:lnTo>
                  <a:pt x="496824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/>
          <p:nvPr/>
        </p:nvSpPr>
        <p:spPr>
          <a:xfrm>
            <a:off x="2676048" y="146167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19">
            <a:solidFill>
              <a:srgbClr val="CEF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2676048" y="145405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CEF4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2676048" y="143500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2676048" y="141976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2676048" y="140300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4" y="16764"/>
                </a:lnTo>
                <a:lnTo>
                  <a:pt x="496824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/>
          <p:nvPr/>
        </p:nvSpPr>
        <p:spPr>
          <a:xfrm>
            <a:off x="2676048" y="139919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2F4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4" name="object 394"/>
          <p:cNvSpPr/>
          <p:nvPr/>
        </p:nvSpPr>
        <p:spPr>
          <a:xfrm>
            <a:off x="2676048" y="139157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2F5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/>
          <p:nvPr/>
        </p:nvSpPr>
        <p:spPr>
          <a:xfrm>
            <a:off x="2676048" y="137252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2676048" y="1355757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4" y="16764"/>
                </a:lnTo>
                <a:lnTo>
                  <a:pt x="496824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/>
          <p:nvPr/>
        </p:nvSpPr>
        <p:spPr>
          <a:xfrm>
            <a:off x="2676048" y="134051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/>
          <p:nvPr/>
        </p:nvSpPr>
        <p:spPr>
          <a:xfrm>
            <a:off x="2676048" y="133670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6F5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9" name="object 399"/>
          <p:cNvSpPr/>
          <p:nvPr/>
        </p:nvSpPr>
        <p:spPr>
          <a:xfrm>
            <a:off x="2676048" y="132908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6F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0" name="object 400"/>
          <p:cNvSpPr/>
          <p:nvPr/>
        </p:nvSpPr>
        <p:spPr>
          <a:xfrm>
            <a:off x="2676048" y="1308513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4" y="16763"/>
                </a:lnTo>
                <a:lnTo>
                  <a:pt x="496824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1" name="object 401"/>
          <p:cNvSpPr/>
          <p:nvPr/>
        </p:nvSpPr>
        <p:spPr>
          <a:xfrm>
            <a:off x="2676048" y="129327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/>
          <p:nvPr/>
        </p:nvSpPr>
        <p:spPr>
          <a:xfrm>
            <a:off x="2676048" y="127803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object 403"/>
          <p:cNvSpPr/>
          <p:nvPr/>
        </p:nvSpPr>
        <p:spPr>
          <a:xfrm>
            <a:off x="2676048" y="127422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19">
            <a:solidFill>
              <a:srgbClr val="DAF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/>
          <p:nvPr/>
        </p:nvSpPr>
        <p:spPr>
          <a:xfrm>
            <a:off x="2676048" y="126660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AF7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/>
          <p:nvPr/>
        </p:nvSpPr>
        <p:spPr>
          <a:xfrm>
            <a:off x="2676048" y="1246029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4" y="16764"/>
                </a:lnTo>
                <a:lnTo>
                  <a:pt x="496824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/>
          <p:nvPr/>
        </p:nvSpPr>
        <p:spPr>
          <a:xfrm>
            <a:off x="2676048" y="123078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2676048" y="121554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/>
          <p:nvPr/>
        </p:nvSpPr>
        <p:spPr>
          <a:xfrm>
            <a:off x="2676048" y="121173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EF7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9" name="object 409"/>
          <p:cNvSpPr/>
          <p:nvPr/>
        </p:nvSpPr>
        <p:spPr>
          <a:xfrm>
            <a:off x="2676048" y="120335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9144">
            <a:solidFill>
              <a:srgbClr val="DEF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/>
          <p:nvPr/>
        </p:nvSpPr>
        <p:spPr>
          <a:xfrm>
            <a:off x="2676048" y="118354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1" name="object 411"/>
          <p:cNvSpPr/>
          <p:nvPr/>
        </p:nvSpPr>
        <p:spPr>
          <a:xfrm>
            <a:off x="2676048" y="116830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/>
          <p:nvPr/>
        </p:nvSpPr>
        <p:spPr>
          <a:xfrm>
            <a:off x="2676048" y="115306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3" name="object 413"/>
          <p:cNvSpPr/>
          <p:nvPr/>
        </p:nvSpPr>
        <p:spPr>
          <a:xfrm>
            <a:off x="2676048" y="114849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9144">
            <a:solidFill>
              <a:srgbClr val="E2F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4" name="object 414"/>
          <p:cNvSpPr/>
          <p:nvPr/>
        </p:nvSpPr>
        <p:spPr>
          <a:xfrm>
            <a:off x="2676048" y="114011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E2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5" name="object 415"/>
          <p:cNvSpPr/>
          <p:nvPr/>
        </p:nvSpPr>
        <p:spPr>
          <a:xfrm>
            <a:off x="2676048" y="112106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6" name="object 416"/>
          <p:cNvSpPr/>
          <p:nvPr/>
        </p:nvSpPr>
        <p:spPr>
          <a:xfrm>
            <a:off x="2676048" y="111572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7">
            <a:solidFill>
              <a:srgbClr val="E4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7" name="object 417"/>
          <p:cNvSpPr/>
          <p:nvPr/>
        </p:nvSpPr>
        <p:spPr>
          <a:xfrm>
            <a:off x="2679095" y="1113441"/>
            <a:ext cx="490855" cy="1004569"/>
          </a:xfrm>
          <a:custGeom>
            <a:avLst/>
            <a:gdLst/>
            <a:ahLst/>
            <a:cxnLst/>
            <a:rect l="l" t="t" r="r" b="b"/>
            <a:pathLst>
              <a:path w="490855" h="1004569">
                <a:moveTo>
                  <a:pt x="0" y="0"/>
                </a:moveTo>
                <a:lnTo>
                  <a:pt x="490727" y="0"/>
                </a:lnTo>
                <a:lnTo>
                  <a:pt x="490727" y="1004315"/>
                </a:lnTo>
                <a:lnTo>
                  <a:pt x="0" y="1004315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8" name="object 418"/>
          <p:cNvSpPr/>
          <p:nvPr/>
        </p:nvSpPr>
        <p:spPr>
          <a:xfrm>
            <a:off x="3413664" y="206765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429">
            <a:solidFill>
              <a:srgbClr val="FFBE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9" name="object 419"/>
          <p:cNvSpPr/>
          <p:nvPr/>
        </p:nvSpPr>
        <p:spPr>
          <a:xfrm>
            <a:off x="3413664" y="2061750"/>
            <a:ext cx="3175" cy="3810"/>
          </a:xfrm>
          <a:custGeom>
            <a:avLst/>
            <a:gdLst/>
            <a:ahLst/>
            <a:cxnLst/>
            <a:rect l="l" t="t" r="r" b="b"/>
            <a:pathLst>
              <a:path w="3175" h="3810">
                <a:moveTo>
                  <a:pt x="0" y="3809"/>
                </a:moveTo>
                <a:lnTo>
                  <a:pt x="3048" y="3809"/>
                </a:lnTo>
                <a:lnTo>
                  <a:pt x="3048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FFBE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0" name="object 420"/>
          <p:cNvSpPr/>
          <p:nvPr/>
        </p:nvSpPr>
        <p:spPr>
          <a:xfrm>
            <a:off x="3905915" y="20613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1" name="object 421"/>
          <p:cNvSpPr/>
          <p:nvPr/>
        </p:nvSpPr>
        <p:spPr>
          <a:xfrm>
            <a:off x="3413664" y="20567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2" name="object 422"/>
          <p:cNvSpPr/>
          <p:nvPr/>
        </p:nvSpPr>
        <p:spPr>
          <a:xfrm>
            <a:off x="3905915" y="20567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3413664" y="205222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F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/>
          <p:nvPr/>
        </p:nvSpPr>
        <p:spPr>
          <a:xfrm>
            <a:off x="3905915" y="205222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F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5" name="object 425"/>
          <p:cNvSpPr/>
          <p:nvPr/>
        </p:nvSpPr>
        <p:spPr>
          <a:xfrm>
            <a:off x="3413664" y="204308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BF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6" name="object 426"/>
          <p:cNvSpPr/>
          <p:nvPr/>
        </p:nvSpPr>
        <p:spPr>
          <a:xfrm>
            <a:off x="3905915" y="204308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BF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7" name="object 427"/>
          <p:cNvSpPr/>
          <p:nvPr/>
        </p:nvSpPr>
        <p:spPr>
          <a:xfrm>
            <a:off x="3413664" y="20400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B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8" name="object 428"/>
          <p:cNvSpPr/>
          <p:nvPr/>
        </p:nvSpPr>
        <p:spPr>
          <a:xfrm>
            <a:off x="3905915" y="20400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B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9" name="object 429"/>
          <p:cNvSpPr/>
          <p:nvPr/>
        </p:nvSpPr>
        <p:spPr>
          <a:xfrm>
            <a:off x="3413664" y="203546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0" name="object 430"/>
          <p:cNvSpPr/>
          <p:nvPr/>
        </p:nvSpPr>
        <p:spPr>
          <a:xfrm>
            <a:off x="3905915" y="203546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1" name="object 431"/>
          <p:cNvSpPr/>
          <p:nvPr/>
        </p:nvSpPr>
        <p:spPr>
          <a:xfrm>
            <a:off x="3413664" y="20263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0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2" name="object 432"/>
          <p:cNvSpPr/>
          <p:nvPr/>
        </p:nvSpPr>
        <p:spPr>
          <a:xfrm>
            <a:off x="3905915" y="20263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0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3" name="object 433"/>
          <p:cNvSpPr/>
          <p:nvPr/>
        </p:nvSpPr>
        <p:spPr>
          <a:xfrm>
            <a:off x="3413664" y="202174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4" name="object 434"/>
          <p:cNvSpPr/>
          <p:nvPr/>
        </p:nvSpPr>
        <p:spPr>
          <a:xfrm>
            <a:off x="3905915" y="202174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/>
          <p:nvPr/>
        </p:nvSpPr>
        <p:spPr>
          <a:xfrm>
            <a:off x="3413664" y="20186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1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6" name="object 436"/>
          <p:cNvSpPr/>
          <p:nvPr/>
        </p:nvSpPr>
        <p:spPr>
          <a:xfrm>
            <a:off x="3905915" y="20186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1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7" name="object 437"/>
          <p:cNvSpPr/>
          <p:nvPr/>
        </p:nvSpPr>
        <p:spPr>
          <a:xfrm>
            <a:off x="3413664" y="20095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8" name="object 438"/>
          <p:cNvSpPr/>
          <p:nvPr/>
        </p:nvSpPr>
        <p:spPr>
          <a:xfrm>
            <a:off x="3905915" y="20095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/>
          <p:nvPr/>
        </p:nvSpPr>
        <p:spPr>
          <a:xfrm>
            <a:off x="3413664" y="20049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0" name="object 440"/>
          <p:cNvSpPr/>
          <p:nvPr/>
        </p:nvSpPr>
        <p:spPr>
          <a:xfrm>
            <a:off x="3905915" y="20049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1" name="object 441"/>
          <p:cNvSpPr/>
          <p:nvPr/>
        </p:nvSpPr>
        <p:spPr>
          <a:xfrm>
            <a:off x="3413664" y="2003457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2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2" name="object 442"/>
          <p:cNvSpPr/>
          <p:nvPr/>
        </p:nvSpPr>
        <p:spPr>
          <a:xfrm>
            <a:off x="3905915" y="2003457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2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3" name="object 443"/>
          <p:cNvSpPr/>
          <p:nvPr/>
        </p:nvSpPr>
        <p:spPr>
          <a:xfrm>
            <a:off x="3413664" y="19958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2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4" name="object 444"/>
          <p:cNvSpPr/>
          <p:nvPr/>
        </p:nvSpPr>
        <p:spPr>
          <a:xfrm>
            <a:off x="3905915" y="19958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2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5" name="object 445"/>
          <p:cNvSpPr/>
          <p:nvPr/>
        </p:nvSpPr>
        <p:spPr>
          <a:xfrm>
            <a:off x="3413664" y="198821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6" name="object 446"/>
          <p:cNvSpPr/>
          <p:nvPr/>
        </p:nvSpPr>
        <p:spPr>
          <a:xfrm>
            <a:off x="3905915" y="198821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7" name="object 447"/>
          <p:cNvSpPr/>
          <p:nvPr/>
        </p:nvSpPr>
        <p:spPr>
          <a:xfrm>
            <a:off x="3413664" y="19805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8" name="object 448"/>
          <p:cNvSpPr/>
          <p:nvPr/>
        </p:nvSpPr>
        <p:spPr>
          <a:xfrm>
            <a:off x="3905915" y="19805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9" name="object 449"/>
          <p:cNvSpPr/>
          <p:nvPr/>
        </p:nvSpPr>
        <p:spPr>
          <a:xfrm>
            <a:off x="3413664" y="19729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0" name="object 450"/>
          <p:cNvSpPr/>
          <p:nvPr/>
        </p:nvSpPr>
        <p:spPr>
          <a:xfrm>
            <a:off x="3905915" y="19729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1" name="object 451"/>
          <p:cNvSpPr/>
          <p:nvPr/>
        </p:nvSpPr>
        <p:spPr>
          <a:xfrm>
            <a:off x="3413664" y="197145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3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2" name="object 452"/>
          <p:cNvSpPr/>
          <p:nvPr/>
        </p:nvSpPr>
        <p:spPr>
          <a:xfrm>
            <a:off x="3905915" y="197145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3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3" name="object 453"/>
          <p:cNvSpPr/>
          <p:nvPr/>
        </p:nvSpPr>
        <p:spPr>
          <a:xfrm>
            <a:off x="3413664" y="19668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4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4" name="object 454"/>
          <p:cNvSpPr/>
          <p:nvPr/>
        </p:nvSpPr>
        <p:spPr>
          <a:xfrm>
            <a:off x="3905915" y="19668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4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5" name="object 455"/>
          <p:cNvSpPr/>
          <p:nvPr/>
        </p:nvSpPr>
        <p:spPr>
          <a:xfrm>
            <a:off x="3413664" y="19592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6" name="object 456"/>
          <p:cNvSpPr/>
          <p:nvPr/>
        </p:nvSpPr>
        <p:spPr>
          <a:xfrm>
            <a:off x="3905915" y="19592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7" name="object 457"/>
          <p:cNvSpPr/>
          <p:nvPr/>
        </p:nvSpPr>
        <p:spPr>
          <a:xfrm>
            <a:off x="3413664" y="195621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4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8" name="object 458"/>
          <p:cNvSpPr/>
          <p:nvPr/>
        </p:nvSpPr>
        <p:spPr>
          <a:xfrm>
            <a:off x="3905915" y="195621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4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9" name="object 459"/>
          <p:cNvSpPr/>
          <p:nvPr/>
        </p:nvSpPr>
        <p:spPr>
          <a:xfrm>
            <a:off x="3413664" y="195011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0" name="object 460"/>
          <p:cNvSpPr/>
          <p:nvPr/>
        </p:nvSpPr>
        <p:spPr>
          <a:xfrm>
            <a:off x="3905915" y="195011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1" name="object 461"/>
          <p:cNvSpPr/>
          <p:nvPr/>
        </p:nvSpPr>
        <p:spPr>
          <a:xfrm>
            <a:off x="3413664" y="194402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2" name="object 462"/>
          <p:cNvSpPr/>
          <p:nvPr/>
        </p:nvSpPr>
        <p:spPr>
          <a:xfrm>
            <a:off x="3905915" y="194402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3" name="object 463"/>
          <p:cNvSpPr/>
          <p:nvPr/>
        </p:nvSpPr>
        <p:spPr>
          <a:xfrm>
            <a:off x="3413664" y="19409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6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4" name="object 464"/>
          <p:cNvSpPr/>
          <p:nvPr/>
        </p:nvSpPr>
        <p:spPr>
          <a:xfrm>
            <a:off x="3905915" y="19409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6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5" name="object 465"/>
          <p:cNvSpPr/>
          <p:nvPr/>
        </p:nvSpPr>
        <p:spPr>
          <a:xfrm>
            <a:off x="3413664" y="19333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6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6" name="object 466"/>
          <p:cNvSpPr/>
          <p:nvPr/>
        </p:nvSpPr>
        <p:spPr>
          <a:xfrm>
            <a:off x="3905915" y="19333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6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7" name="object 467"/>
          <p:cNvSpPr/>
          <p:nvPr/>
        </p:nvSpPr>
        <p:spPr>
          <a:xfrm>
            <a:off x="3413664" y="193030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6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8" name="object 468"/>
          <p:cNvSpPr/>
          <p:nvPr/>
        </p:nvSpPr>
        <p:spPr>
          <a:xfrm>
            <a:off x="3905915" y="193030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6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9" name="object 469"/>
          <p:cNvSpPr/>
          <p:nvPr/>
        </p:nvSpPr>
        <p:spPr>
          <a:xfrm>
            <a:off x="3413664" y="192420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7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0" name="object 470"/>
          <p:cNvSpPr/>
          <p:nvPr/>
        </p:nvSpPr>
        <p:spPr>
          <a:xfrm>
            <a:off x="3905915" y="192420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7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1" name="object 471"/>
          <p:cNvSpPr/>
          <p:nvPr/>
        </p:nvSpPr>
        <p:spPr>
          <a:xfrm>
            <a:off x="3413664" y="19181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7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2" name="object 472"/>
          <p:cNvSpPr/>
          <p:nvPr/>
        </p:nvSpPr>
        <p:spPr>
          <a:xfrm>
            <a:off x="3905915" y="19181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7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3" name="object 473"/>
          <p:cNvSpPr/>
          <p:nvPr/>
        </p:nvSpPr>
        <p:spPr>
          <a:xfrm>
            <a:off x="3413664" y="191658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4" name="object 474"/>
          <p:cNvSpPr/>
          <p:nvPr/>
        </p:nvSpPr>
        <p:spPr>
          <a:xfrm>
            <a:off x="3905915" y="191658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5" name="object 475"/>
          <p:cNvSpPr/>
          <p:nvPr/>
        </p:nvSpPr>
        <p:spPr>
          <a:xfrm>
            <a:off x="3413664" y="19074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6" name="object 476"/>
          <p:cNvSpPr/>
          <p:nvPr/>
        </p:nvSpPr>
        <p:spPr>
          <a:xfrm>
            <a:off x="3905915" y="19074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7" name="object 477"/>
          <p:cNvSpPr/>
          <p:nvPr/>
        </p:nvSpPr>
        <p:spPr>
          <a:xfrm>
            <a:off x="3413664" y="190287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8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8" name="object 478"/>
          <p:cNvSpPr/>
          <p:nvPr/>
        </p:nvSpPr>
        <p:spPr>
          <a:xfrm>
            <a:off x="3905915" y="190287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8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9" name="object 479"/>
          <p:cNvSpPr/>
          <p:nvPr/>
        </p:nvSpPr>
        <p:spPr>
          <a:xfrm>
            <a:off x="3413664" y="190134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9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0" name="object 480"/>
          <p:cNvSpPr/>
          <p:nvPr/>
        </p:nvSpPr>
        <p:spPr>
          <a:xfrm>
            <a:off x="3905915" y="190134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9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1" name="object 481"/>
          <p:cNvSpPr/>
          <p:nvPr/>
        </p:nvSpPr>
        <p:spPr>
          <a:xfrm>
            <a:off x="3413664" y="18937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2" name="object 482"/>
          <p:cNvSpPr/>
          <p:nvPr/>
        </p:nvSpPr>
        <p:spPr>
          <a:xfrm>
            <a:off x="3905915" y="18937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3" name="object 483"/>
          <p:cNvSpPr/>
          <p:nvPr/>
        </p:nvSpPr>
        <p:spPr>
          <a:xfrm>
            <a:off x="3413664" y="188610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4" name="object 484"/>
          <p:cNvSpPr/>
          <p:nvPr/>
        </p:nvSpPr>
        <p:spPr>
          <a:xfrm>
            <a:off x="3905915" y="188610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5" name="object 485"/>
          <p:cNvSpPr/>
          <p:nvPr/>
        </p:nvSpPr>
        <p:spPr>
          <a:xfrm>
            <a:off x="3413664" y="18784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6" name="object 486"/>
          <p:cNvSpPr/>
          <p:nvPr/>
        </p:nvSpPr>
        <p:spPr>
          <a:xfrm>
            <a:off x="3905915" y="18784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object 487"/>
          <p:cNvSpPr/>
          <p:nvPr/>
        </p:nvSpPr>
        <p:spPr>
          <a:xfrm>
            <a:off x="3413664" y="18708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A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8" name="object 488"/>
          <p:cNvSpPr/>
          <p:nvPr/>
        </p:nvSpPr>
        <p:spPr>
          <a:xfrm>
            <a:off x="3905915" y="18708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A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9" name="object 489"/>
          <p:cNvSpPr/>
          <p:nvPr/>
        </p:nvSpPr>
        <p:spPr>
          <a:xfrm>
            <a:off x="3413664" y="1869345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A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0" name="object 490"/>
          <p:cNvSpPr/>
          <p:nvPr/>
        </p:nvSpPr>
        <p:spPr>
          <a:xfrm>
            <a:off x="3905915" y="1869345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A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1" name="object 491"/>
          <p:cNvSpPr/>
          <p:nvPr/>
        </p:nvSpPr>
        <p:spPr>
          <a:xfrm>
            <a:off x="3413664" y="186477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B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2" name="object 492"/>
          <p:cNvSpPr/>
          <p:nvPr/>
        </p:nvSpPr>
        <p:spPr>
          <a:xfrm>
            <a:off x="3905915" y="186477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B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3" name="object 493"/>
          <p:cNvSpPr/>
          <p:nvPr/>
        </p:nvSpPr>
        <p:spPr>
          <a:xfrm>
            <a:off x="3413664" y="185562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B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4" name="object 494"/>
          <p:cNvSpPr/>
          <p:nvPr/>
        </p:nvSpPr>
        <p:spPr>
          <a:xfrm>
            <a:off x="3905915" y="185562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B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5" name="object 495"/>
          <p:cNvSpPr/>
          <p:nvPr/>
        </p:nvSpPr>
        <p:spPr>
          <a:xfrm>
            <a:off x="3413664" y="185258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B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6" name="object 496"/>
          <p:cNvSpPr/>
          <p:nvPr/>
        </p:nvSpPr>
        <p:spPr>
          <a:xfrm>
            <a:off x="3905915" y="185258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B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7" name="object 497"/>
          <p:cNvSpPr/>
          <p:nvPr/>
        </p:nvSpPr>
        <p:spPr>
          <a:xfrm>
            <a:off x="3413664" y="184800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8" name="object 498"/>
          <p:cNvSpPr/>
          <p:nvPr/>
        </p:nvSpPr>
        <p:spPr>
          <a:xfrm>
            <a:off x="3905915" y="184800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9" name="object 499"/>
          <p:cNvSpPr/>
          <p:nvPr/>
        </p:nvSpPr>
        <p:spPr>
          <a:xfrm>
            <a:off x="3413664" y="18388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C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0" name="object 500"/>
          <p:cNvSpPr/>
          <p:nvPr/>
        </p:nvSpPr>
        <p:spPr>
          <a:xfrm>
            <a:off x="3905915" y="18388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C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1" name="object 501"/>
          <p:cNvSpPr/>
          <p:nvPr/>
        </p:nvSpPr>
        <p:spPr>
          <a:xfrm>
            <a:off x="3413664" y="18342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2" name="object 502"/>
          <p:cNvSpPr/>
          <p:nvPr/>
        </p:nvSpPr>
        <p:spPr>
          <a:xfrm>
            <a:off x="3905915" y="18342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3" name="object 503"/>
          <p:cNvSpPr/>
          <p:nvPr/>
        </p:nvSpPr>
        <p:spPr>
          <a:xfrm>
            <a:off x="3413664" y="18312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D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4" name="object 504"/>
          <p:cNvSpPr/>
          <p:nvPr/>
        </p:nvSpPr>
        <p:spPr>
          <a:xfrm>
            <a:off x="3905915" y="18312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D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5" name="object 505"/>
          <p:cNvSpPr/>
          <p:nvPr/>
        </p:nvSpPr>
        <p:spPr>
          <a:xfrm>
            <a:off x="3413664" y="18221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D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6" name="object 506"/>
          <p:cNvSpPr/>
          <p:nvPr/>
        </p:nvSpPr>
        <p:spPr>
          <a:xfrm>
            <a:off x="3905915" y="18221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D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7" name="object 507"/>
          <p:cNvSpPr/>
          <p:nvPr/>
        </p:nvSpPr>
        <p:spPr>
          <a:xfrm>
            <a:off x="3413664" y="181752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8" name="object 508"/>
          <p:cNvSpPr/>
          <p:nvPr/>
        </p:nvSpPr>
        <p:spPr>
          <a:xfrm>
            <a:off x="3905915" y="181752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9" name="object 509"/>
          <p:cNvSpPr/>
          <p:nvPr/>
        </p:nvSpPr>
        <p:spPr>
          <a:xfrm>
            <a:off x="3413664" y="181295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object 510"/>
          <p:cNvSpPr/>
          <p:nvPr/>
        </p:nvSpPr>
        <p:spPr>
          <a:xfrm>
            <a:off x="3905915" y="181295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1" name="object 511"/>
          <p:cNvSpPr/>
          <p:nvPr/>
        </p:nvSpPr>
        <p:spPr>
          <a:xfrm>
            <a:off x="3413664" y="18053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2" name="object 512"/>
          <p:cNvSpPr/>
          <p:nvPr/>
        </p:nvSpPr>
        <p:spPr>
          <a:xfrm>
            <a:off x="3905915" y="18053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3" name="object 513"/>
          <p:cNvSpPr/>
          <p:nvPr/>
        </p:nvSpPr>
        <p:spPr>
          <a:xfrm>
            <a:off x="3413664" y="18007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4" name="object 514"/>
          <p:cNvSpPr/>
          <p:nvPr/>
        </p:nvSpPr>
        <p:spPr>
          <a:xfrm>
            <a:off x="3905915" y="18007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5" name="object 515"/>
          <p:cNvSpPr/>
          <p:nvPr/>
        </p:nvSpPr>
        <p:spPr>
          <a:xfrm>
            <a:off x="3413664" y="17961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6" name="object 516"/>
          <p:cNvSpPr/>
          <p:nvPr/>
        </p:nvSpPr>
        <p:spPr>
          <a:xfrm>
            <a:off x="3905915" y="17961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7" name="object 517"/>
          <p:cNvSpPr/>
          <p:nvPr/>
        </p:nvSpPr>
        <p:spPr>
          <a:xfrm>
            <a:off x="3413664" y="17885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object 518"/>
          <p:cNvSpPr/>
          <p:nvPr/>
        </p:nvSpPr>
        <p:spPr>
          <a:xfrm>
            <a:off x="3905915" y="17885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9" name="object 519"/>
          <p:cNvSpPr/>
          <p:nvPr/>
        </p:nvSpPr>
        <p:spPr>
          <a:xfrm>
            <a:off x="3413664" y="178400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object 520"/>
          <p:cNvSpPr/>
          <p:nvPr/>
        </p:nvSpPr>
        <p:spPr>
          <a:xfrm>
            <a:off x="3905915" y="178400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1" name="object 521"/>
          <p:cNvSpPr/>
          <p:nvPr/>
        </p:nvSpPr>
        <p:spPr>
          <a:xfrm>
            <a:off x="3413664" y="177942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2" name="object 522"/>
          <p:cNvSpPr/>
          <p:nvPr/>
        </p:nvSpPr>
        <p:spPr>
          <a:xfrm>
            <a:off x="3905915" y="177942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3" name="object 523"/>
          <p:cNvSpPr/>
          <p:nvPr/>
        </p:nvSpPr>
        <p:spPr>
          <a:xfrm>
            <a:off x="3413664" y="177180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0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4" name="object 524"/>
          <p:cNvSpPr/>
          <p:nvPr/>
        </p:nvSpPr>
        <p:spPr>
          <a:xfrm>
            <a:off x="3905915" y="177180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0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5" name="object 525"/>
          <p:cNvSpPr/>
          <p:nvPr/>
        </p:nvSpPr>
        <p:spPr>
          <a:xfrm>
            <a:off x="3413664" y="176723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6" name="object 526"/>
          <p:cNvSpPr/>
          <p:nvPr/>
        </p:nvSpPr>
        <p:spPr>
          <a:xfrm>
            <a:off x="3905915" y="176723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7" name="object 527"/>
          <p:cNvSpPr/>
          <p:nvPr/>
        </p:nvSpPr>
        <p:spPr>
          <a:xfrm>
            <a:off x="3413664" y="17626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D1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8" name="object 528"/>
          <p:cNvSpPr/>
          <p:nvPr/>
        </p:nvSpPr>
        <p:spPr>
          <a:xfrm>
            <a:off x="3905915" y="17626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D1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9" name="object 529"/>
          <p:cNvSpPr/>
          <p:nvPr/>
        </p:nvSpPr>
        <p:spPr>
          <a:xfrm>
            <a:off x="3413664" y="175352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0" name="object 530"/>
          <p:cNvSpPr/>
          <p:nvPr/>
        </p:nvSpPr>
        <p:spPr>
          <a:xfrm>
            <a:off x="3905915" y="175352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1" name="object 531"/>
          <p:cNvSpPr/>
          <p:nvPr/>
        </p:nvSpPr>
        <p:spPr>
          <a:xfrm>
            <a:off x="3413664" y="17504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1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2" name="object 532"/>
          <p:cNvSpPr/>
          <p:nvPr/>
        </p:nvSpPr>
        <p:spPr>
          <a:xfrm>
            <a:off x="3905915" y="17504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1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3" name="object 533"/>
          <p:cNvSpPr/>
          <p:nvPr/>
        </p:nvSpPr>
        <p:spPr>
          <a:xfrm>
            <a:off x="3413664" y="17428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4" name="object 534"/>
          <p:cNvSpPr/>
          <p:nvPr/>
        </p:nvSpPr>
        <p:spPr>
          <a:xfrm>
            <a:off x="3905915" y="17428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5" name="object 535"/>
          <p:cNvSpPr/>
          <p:nvPr/>
        </p:nvSpPr>
        <p:spPr>
          <a:xfrm>
            <a:off x="3413664" y="17321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2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6" name="object 536"/>
          <p:cNvSpPr/>
          <p:nvPr/>
        </p:nvSpPr>
        <p:spPr>
          <a:xfrm>
            <a:off x="3905915" y="17321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2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7" name="object 537"/>
          <p:cNvSpPr/>
          <p:nvPr/>
        </p:nvSpPr>
        <p:spPr>
          <a:xfrm>
            <a:off x="3413664" y="17230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3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8" name="object 538"/>
          <p:cNvSpPr/>
          <p:nvPr/>
        </p:nvSpPr>
        <p:spPr>
          <a:xfrm>
            <a:off x="3905915" y="17230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3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9" name="object 539"/>
          <p:cNvSpPr/>
          <p:nvPr/>
        </p:nvSpPr>
        <p:spPr>
          <a:xfrm>
            <a:off x="3413664" y="17154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3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0" name="object 540"/>
          <p:cNvSpPr/>
          <p:nvPr/>
        </p:nvSpPr>
        <p:spPr>
          <a:xfrm>
            <a:off x="3905915" y="17154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3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1" name="object 541"/>
          <p:cNvSpPr/>
          <p:nvPr/>
        </p:nvSpPr>
        <p:spPr>
          <a:xfrm>
            <a:off x="3413664" y="17123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2" name="object 542"/>
          <p:cNvSpPr/>
          <p:nvPr/>
        </p:nvSpPr>
        <p:spPr>
          <a:xfrm>
            <a:off x="3905915" y="17123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3" name="object 543"/>
          <p:cNvSpPr/>
          <p:nvPr/>
        </p:nvSpPr>
        <p:spPr>
          <a:xfrm>
            <a:off x="3413664" y="170018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4" name="object 544"/>
          <p:cNvSpPr/>
          <p:nvPr/>
        </p:nvSpPr>
        <p:spPr>
          <a:xfrm>
            <a:off x="3905915" y="170018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5" name="object 545"/>
          <p:cNvSpPr/>
          <p:nvPr/>
        </p:nvSpPr>
        <p:spPr>
          <a:xfrm>
            <a:off x="3413664" y="169408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4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6" name="object 546"/>
          <p:cNvSpPr/>
          <p:nvPr/>
        </p:nvSpPr>
        <p:spPr>
          <a:xfrm>
            <a:off x="3905915" y="169408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4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7" name="object 547"/>
          <p:cNvSpPr/>
          <p:nvPr/>
        </p:nvSpPr>
        <p:spPr>
          <a:xfrm>
            <a:off x="3413664" y="168798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8" name="object 548"/>
          <p:cNvSpPr/>
          <p:nvPr/>
        </p:nvSpPr>
        <p:spPr>
          <a:xfrm>
            <a:off x="3905915" y="168798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9" name="object 549"/>
          <p:cNvSpPr/>
          <p:nvPr/>
        </p:nvSpPr>
        <p:spPr>
          <a:xfrm>
            <a:off x="3413664" y="167579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0" name="object 550"/>
          <p:cNvSpPr/>
          <p:nvPr/>
        </p:nvSpPr>
        <p:spPr>
          <a:xfrm>
            <a:off x="3905915" y="167579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1" name="object 551"/>
          <p:cNvSpPr/>
          <p:nvPr/>
        </p:nvSpPr>
        <p:spPr>
          <a:xfrm>
            <a:off x="3413664" y="16681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2" name="object 552"/>
          <p:cNvSpPr/>
          <p:nvPr/>
        </p:nvSpPr>
        <p:spPr>
          <a:xfrm>
            <a:off x="3905915" y="16681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3" name="object 553"/>
          <p:cNvSpPr/>
          <p:nvPr/>
        </p:nvSpPr>
        <p:spPr>
          <a:xfrm>
            <a:off x="3413664" y="166208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6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/>
          <p:nvPr/>
        </p:nvSpPr>
        <p:spPr>
          <a:xfrm>
            <a:off x="3905915" y="166208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6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5" name="object 555"/>
          <p:cNvSpPr/>
          <p:nvPr/>
        </p:nvSpPr>
        <p:spPr>
          <a:xfrm>
            <a:off x="3413664" y="165141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6" name="object 556"/>
          <p:cNvSpPr/>
          <p:nvPr/>
        </p:nvSpPr>
        <p:spPr>
          <a:xfrm>
            <a:off x="3905915" y="165141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7" name="object 557"/>
          <p:cNvSpPr/>
          <p:nvPr/>
        </p:nvSpPr>
        <p:spPr>
          <a:xfrm>
            <a:off x="3413664" y="164684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8" name="object 558"/>
          <p:cNvSpPr/>
          <p:nvPr/>
        </p:nvSpPr>
        <p:spPr>
          <a:xfrm>
            <a:off x="3905915" y="164684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9" name="object 559"/>
          <p:cNvSpPr/>
          <p:nvPr/>
        </p:nvSpPr>
        <p:spPr>
          <a:xfrm>
            <a:off x="3413664" y="164074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0" name="object 560"/>
          <p:cNvSpPr/>
          <p:nvPr/>
        </p:nvSpPr>
        <p:spPr>
          <a:xfrm>
            <a:off x="3905915" y="164074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1" name="object 561"/>
          <p:cNvSpPr/>
          <p:nvPr/>
        </p:nvSpPr>
        <p:spPr>
          <a:xfrm>
            <a:off x="3413664" y="163007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2" name="object 562"/>
          <p:cNvSpPr/>
          <p:nvPr/>
        </p:nvSpPr>
        <p:spPr>
          <a:xfrm>
            <a:off x="3905915" y="163007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3" name="object 563"/>
          <p:cNvSpPr/>
          <p:nvPr/>
        </p:nvSpPr>
        <p:spPr>
          <a:xfrm>
            <a:off x="3413664" y="16194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4" name="object 564"/>
          <p:cNvSpPr/>
          <p:nvPr/>
        </p:nvSpPr>
        <p:spPr>
          <a:xfrm>
            <a:off x="3905915" y="16194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5" name="object 565"/>
          <p:cNvSpPr/>
          <p:nvPr/>
        </p:nvSpPr>
        <p:spPr>
          <a:xfrm>
            <a:off x="3413664" y="16133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8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6" name="object 566"/>
          <p:cNvSpPr/>
          <p:nvPr/>
        </p:nvSpPr>
        <p:spPr>
          <a:xfrm>
            <a:off x="3905915" y="16133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8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7" name="object 567"/>
          <p:cNvSpPr/>
          <p:nvPr/>
        </p:nvSpPr>
        <p:spPr>
          <a:xfrm>
            <a:off x="3413664" y="16102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8" name="object 568"/>
          <p:cNvSpPr/>
          <p:nvPr/>
        </p:nvSpPr>
        <p:spPr>
          <a:xfrm>
            <a:off x="3905915" y="16102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9" name="object 569"/>
          <p:cNvSpPr/>
          <p:nvPr/>
        </p:nvSpPr>
        <p:spPr>
          <a:xfrm>
            <a:off x="3413664" y="15995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0" name="object 570"/>
          <p:cNvSpPr/>
          <p:nvPr/>
        </p:nvSpPr>
        <p:spPr>
          <a:xfrm>
            <a:off x="3905915" y="15995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1" name="object 571"/>
          <p:cNvSpPr/>
          <p:nvPr/>
        </p:nvSpPr>
        <p:spPr>
          <a:xfrm>
            <a:off x="3413664" y="15919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9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2" name="object 572"/>
          <p:cNvSpPr/>
          <p:nvPr/>
        </p:nvSpPr>
        <p:spPr>
          <a:xfrm>
            <a:off x="3905915" y="15919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9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3" name="object 573"/>
          <p:cNvSpPr/>
          <p:nvPr/>
        </p:nvSpPr>
        <p:spPr>
          <a:xfrm>
            <a:off x="3413664" y="15889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4" name="object 574"/>
          <p:cNvSpPr/>
          <p:nvPr/>
        </p:nvSpPr>
        <p:spPr>
          <a:xfrm>
            <a:off x="3905915" y="15889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5" name="object 575"/>
          <p:cNvSpPr/>
          <p:nvPr/>
        </p:nvSpPr>
        <p:spPr>
          <a:xfrm>
            <a:off x="3413664" y="15797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A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6" name="object 576"/>
          <p:cNvSpPr/>
          <p:nvPr/>
        </p:nvSpPr>
        <p:spPr>
          <a:xfrm>
            <a:off x="3905915" y="15797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A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7" name="object 577"/>
          <p:cNvSpPr/>
          <p:nvPr/>
        </p:nvSpPr>
        <p:spPr>
          <a:xfrm>
            <a:off x="3413664" y="15691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A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8" name="object 578"/>
          <p:cNvSpPr/>
          <p:nvPr/>
        </p:nvSpPr>
        <p:spPr>
          <a:xfrm>
            <a:off x="3905915" y="15691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A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9" name="object 579"/>
          <p:cNvSpPr/>
          <p:nvPr/>
        </p:nvSpPr>
        <p:spPr>
          <a:xfrm>
            <a:off x="3413664" y="156606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0" name="object 580"/>
          <p:cNvSpPr/>
          <p:nvPr/>
        </p:nvSpPr>
        <p:spPr>
          <a:xfrm>
            <a:off x="3905915" y="156606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1" name="object 581"/>
          <p:cNvSpPr/>
          <p:nvPr/>
        </p:nvSpPr>
        <p:spPr>
          <a:xfrm>
            <a:off x="3413664" y="15584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2" name="object 582"/>
          <p:cNvSpPr/>
          <p:nvPr/>
        </p:nvSpPr>
        <p:spPr>
          <a:xfrm>
            <a:off x="3905915" y="15584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3" name="object 583"/>
          <p:cNvSpPr/>
          <p:nvPr/>
        </p:nvSpPr>
        <p:spPr>
          <a:xfrm>
            <a:off x="3413664" y="15477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B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4" name="object 584"/>
          <p:cNvSpPr/>
          <p:nvPr/>
        </p:nvSpPr>
        <p:spPr>
          <a:xfrm>
            <a:off x="3905915" y="15477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B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5" name="object 585"/>
          <p:cNvSpPr/>
          <p:nvPr/>
        </p:nvSpPr>
        <p:spPr>
          <a:xfrm>
            <a:off x="3413664" y="15447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B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6" name="object 586"/>
          <p:cNvSpPr/>
          <p:nvPr/>
        </p:nvSpPr>
        <p:spPr>
          <a:xfrm>
            <a:off x="3905915" y="15447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B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7" name="object 587"/>
          <p:cNvSpPr/>
          <p:nvPr/>
        </p:nvSpPr>
        <p:spPr>
          <a:xfrm>
            <a:off x="3413664" y="153406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C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8" name="object 588"/>
          <p:cNvSpPr/>
          <p:nvPr/>
        </p:nvSpPr>
        <p:spPr>
          <a:xfrm>
            <a:off x="3905915" y="153406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C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9" name="object 589"/>
          <p:cNvSpPr/>
          <p:nvPr/>
        </p:nvSpPr>
        <p:spPr>
          <a:xfrm>
            <a:off x="3413664" y="152796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0" name="object 590"/>
          <p:cNvSpPr/>
          <p:nvPr/>
        </p:nvSpPr>
        <p:spPr>
          <a:xfrm>
            <a:off x="3905915" y="152796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1" name="object 591"/>
          <p:cNvSpPr/>
          <p:nvPr/>
        </p:nvSpPr>
        <p:spPr>
          <a:xfrm>
            <a:off x="3413664" y="152187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D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2" name="object 592"/>
          <p:cNvSpPr/>
          <p:nvPr/>
        </p:nvSpPr>
        <p:spPr>
          <a:xfrm>
            <a:off x="3905915" y="152187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D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3" name="object 593"/>
          <p:cNvSpPr/>
          <p:nvPr/>
        </p:nvSpPr>
        <p:spPr>
          <a:xfrm>
            <a:off x="3413664" y="15112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4" name="object 594"/>
          <p:cNvSpPr/>
          <p:nvPr/>
        </p:nvSpPr>
        <p:spPr>
          <a:xfrm>
            <a:off x="3905915" y="15112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5" name="object 595"/>
          <p:cNvSpPr/>
          <p:nvPr/>
        </p:nvSpPr>
        <p:spPr>
          <a:xfrm>
            <a:off x="3413664" y="1509681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D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6" name="object 596"/>
          <p:cNvSpPr/>
          <p:nvPr/>
        </p:nvSpPr>
        <p:spPr>
          <a:xfrm>
            <a:off x="3905915" y="1509681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D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7" name="object 597"/>
          <p:cNvSpPr/>
          <p:nvPr/>
        </p:nvSpPr>
        <p:spPr>
          <a:xfrm>
            <a:off x="3413664" y="149748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8" name="object 598"/>
          <p:cNvSpPr/>
          <p:nvPr/>
        </p:nvSpPr>
        <p:spPr>
          <a:xfrm>
            <a:off x="3905915" y="149748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9" name="object 599"/>
          <p:cNvSpPr/>
          <p:nvPr/>
        </p:nvSpPr>
        <p:spPr>
          <a:xfrm>
            <a:off x="3413664" y="14944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0" name="object 600"/>
          <p:cNvSpPr/>
          <p:nvPr/>
        </p:nvSpPr>
        <p:spPr>
          <a:xfrm>
            <a:off x="3905915" y="14944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1" name="object 601"/>
          <p:cNvSpPr/>
          <p:nvPr/>
        </p:nvSpPr>
        <p:spPr>
          <a:xfrm>
            <a:off x="3413664" y="14868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2" name="object 602"/>
          <p:cNvSpPr/>
          <p:nvPr/>
        </p:nvSpPr>
        <p:spPr>
          <a:xfrm>
            <a:off x="3905915" y="14868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3" name="object 603"/>
          <p:cNvSpPr/>
          <p:nvPr/>
        </p:nvSpPr>
        <p:spPr>
          <a:xfrm>
            <a:off x="3413664" y="147767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F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4" name="object 604"/>
          <p:cNvSpPr/>
          <p:nvPr/>
        </p:nvSpPr>
        <p:spPr>
          <a:xfrm>
            <a:off x="3905915" y="147767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F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5" name="object 605"/>
          <p:cNvSpPr/>
          <p:nvPr/>
        </p:nvSpPr>
        <p:spPr>
          <a:xfrm>
            <a:off x="3413664" y="14670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0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6" name="object 606"/>
          <p:cNvSpPr/>
          <p:nvPr/>
        </p:nvSpPr>
        <p:spPr>
          <a:xfrm>
            <a:off x="3905915" y="14670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0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7" name="object 607"/>
          <p:cNvSpPr/>
          <p:nvPr/>
        </p:nvSpPr>
        <p:spPr>
          <a:xfrm>
            <a:off x="3413664" y="14593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0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8" name="object 608"/>
          <p:cNvSpPr/>
          <p:nvPr/>
        </p:nvSpPr>
        <p:spPr>
          <a:xfrm>
            <a:off x="3905915" y="14593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0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9" name="object 609"/>
          <p:cNvSpPr/>
          <p:nvPr/>
        </p:nvSpPr>
        <p:spPr>
          <a:xfrm>
            <a:off x="3413664" y="14563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0" name="object 610"/>
          <p:cNvSpPr/>
          <p:nvPr/>
        </p:nvSpPr>
        <p:spPr>
          <a:xfrm>
            <a:off x="3905915" y="14563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1" name="object 611"/>
          <p:cNvSpPr/>
          <p:nvPr/>
        </p:nvSpPr>
        <p:spPr>
          <a:xfrm>
            <a:off x="3413664" y="144567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2" name="object 612"/>
          <p:cNvSpPr/>
          <p:nvPr/>
        </p:nvSpPr>
        <p:spPr>
          <a:xfrm>
            <a:off x="3905915" y="144567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3" name="object 613"/>
          <p:cNvSpPr/>
          <p:nvPr/>
        </p:nvSpPr>
        <p:spPr>
          <a:xfrm>
            <a:off x="3413664" y="14380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1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4" name="object 614"/>
          <p:cNvSpPr/>
          <p:nvPr/>
        </p:nvSpPr>
        <p:spPr>
          <a:xfrm>
            <a:off x="3905915" y="14380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1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5" name="object 615"/>
          <p:cNvSpPr/>
          <p:nvPr/>
        </p:nvSpPr>
        <p:spPr>
          <a:xfrm>
            <a:off x="3413664" y="143652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6" name="object 616"/>
          <p:cNvSpPr/>
          <p:nvPr/>
        </p:nvSpPr>
        <p:spPr>
          <a:xfrm>
            <a:off x="3905915" y="143652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7" name="object 617"/>
          <p:cNvSpPr/>
          <p:nvPr/>
        </p:nvSpPr>
        <p:spPr>
          <a:xfrm>
            <a:off x="3413664" y="142586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2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8" name="object 618"/>
          <p:cNvSpPr/>
          <p:nvPr/>
        </p:nvSpPr>
        <p:spPr>
          <a:xfrm>
            <a:off x="3905915" y="142586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2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9" name="object 619"/>
          <p:cNvSpPr/>
          <p:nvPr/>
        </p:nvSpPr>
        <p:spPr>
          <a:xfrm>
            <a:off x="3413664" y="14151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2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0" name="object 620"/>
          <p:cNvSpPr/>
          <p:nvPr/>
        </p:nvSpPr>
        <p:spPr>
          <a:xfrm>
            <a:off x="3905915" y="14151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2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1" name="object 621"/>
          <p:cNvSpPr/>
          <p:nvPr/>
        </p:nvSpPr>
        <p:spPr>
          <a:xfrm>
            <a:off x="3413664" y="141366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2" name="object 622"/>
          <p:cNvSpPr/>
          <p:nvPr/>
        </p:nvSpPr>
        <p:spPr>
          <a:xfrm>
            <a:off x="3905915" y="141366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3" name="object 623"/>
          <p:cNvSpPr/>
          <p:nvPr/>
        </p:nvSpPr>
        <p:spPr>
          <a:xfrm>
            <a:off x="3413664" y="14060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4" name="object 624"/>
          <p:cNvSpPr/>
          <p:nvPr/>
        </p:nvSpPr>
        <p:spPr>
          <a:xfrm>
            <a:off x="3905915" y="14060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5" name="object 625"/>
          <p:cNvSpPr/>
          <p:nvPr/>
        </p:nvSpPr>
        <p:spPr>
          <a:xfrm>
            <a:off x="3413664" y="13953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6" name="object 626"/>
          <p:cNvSpPr/>
          <p:nvPr/>
        </p:nvSpPr>
        <p:spPr>
          <a:xfrm>
            <a:off x="3905915" y="13953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7" name="object 627"/>
          <p:cNvSpPr/>
          <p:nvPr/>
        </p:nvSpPr>
        <p:spPr>
          <a:xfrm>
            <a:off x="3413664" y="13923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8" name="object 628"/>
          <p:cNvSpPr/>
          <p:nvPr/>
        </p:nvSpPr>
        <p:spPr>
          <a:xfrm>
            <a:off x="3905915" y="13923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9" name="object 629"/>
          <p:cNvSpPr/>
          <p:nvPr/>
        </p:nvSpPr>
        <p:spPr>
          <a:xfrm>
            <a:off x="3413664" y="13847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4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0" name="object 630"/>
          <p:cNvSpPr/>
          <p:nvPr/>
        </p:nvSpPr>
        <p:spPr>
          <a:xfrm>
            <a:off x="3905915" y="13847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4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1" name="object 631"/>
          <p:cNvSpPr/>
          <p:nvPr/>
        </p:nvSpPr>
        <p:spPr>
          <a:xfrm>
            <a:off x="3413664" y="137404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2" name="object 632"/>
          <p:cNvSpPr/>
          <p:nvPr/>
        </p:nvSpPr>
        <p:spPr>
          <a:xfrm>
            <a:off x="3905915" y="137404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3" name="object 633"/>
          <p:cNvSpPr/>
          <p:nvPr/>
        </p:nvSpPr>
        <p:spPr>
          <a:xfrm>
            <a:off x="3413664" y="13649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4" name="object 634"/>
          <p:cNvSpPr/>
          <p:nvPr/>
        </p:nvSpPr>
        <p:spPr>
          <a:xfrm>
            <a:off x="3905915" y="13649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5" name="object 635"/>
          <p:cNvSpPr/>
          <p:nvPr/>
        </p:nvSpPr>
        <p:spPr>
          <a:xfrm>
            <a:off x="3413664" y="13572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6" name="object 636"/>
          <p:cNvSpPr/>
          <p:nvPr/>
        </p:nvSpPr>
        <p:spPr>
          <a:xfrm>
            <a:off x="3905915" y="13572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7" name="object 637"/>
          <p:cNvSpPr/>
          <p:nvPr/>
        </p:nvSpPr>
        <p:spPr>
          <a:xfrm>
            <a:off x="3413664" y="13542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8" name="object 638"/>
          <p:cNvSpPr/>
          <p:nvPr/>
        </p:nvSpPr>
        <p:spPr>
          <a:xfrm>
            <a:off x="3905915" y="13542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9" name="object 639"/>
          <p:cNvSpPr/>
          <p:nvPr/>
        </p:nvSpPr>
        <p:spPr>
          <a:xfrm>
            <a:off x="3413664" y="134356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0" name="object 640"/>
          <p:cNvSpPr/>
          <p:nvPr/>
        </p:nvSpPr>
        <p:spPr>
          <a:xfrm>
            <a:off x="3905915" y="134356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1" name="object 641"/>
          <p:cNvSpPr/>
          <p:nvPr/>
        </p:nvSpPr>
        <p:spPr>
          <a:xfrm>
            <a:off x="3413664" y="13359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2" name="object 642"/>
          <p:cNvSpPr/>
          <p:nvPr/>
        </p:nvSpPr>
        <p:spPr>
          <a:xfrm>
            <a:off x="3905915" y="13359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3" name="object 643"/>
          <p:cNvSpPr/>
          <p:nvPr/>
        </p:nvSpPr>
        <p:spPr>
          <a:xfrm>
            <a:off x="3413664" y="132984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4" name="object 644"/>
          <p:cNvSpPr/>
          <p:nvPr/>
        </p:nvSpPr>
        <p:spPr>
          <a:xfrm>
            <a:off x="3905915" y="132984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5" name="object 645"/>
          <p:cNvSpPr/>
          <p:nvPr/>
        </p:nvSpPr>
        <p:spPr>
          <a:xfrm>
            <a:off x="3413664" y="131765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6" name="object 646"/>
          <p:cNvSpPr/>
          <p:nvPr/>
        </p:nvSpPr>
        <p:spPr>
          <a:xfrm>
            <a:off x="3905915" y="131765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7" name="object 647"/>
          <p:cNvSpPr/>
          <p:nvPr/>
        </p:nvSpPr>
        <p:spPr>
          <a:xfrm>
            <a:off x="3413664" y="131156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8" name="object 648"/>
          <p:cNvSpPr/>
          <p:nvPr/>
        </p:nvSpPr>
        <p:spPr>
          <a:xfrm>
            <a:off x="3905915" y="131156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9" name="object 649"/>
          <p:cNvSpPr/>
          <p:nvPr/>
        </p:nvSpPr>
        <p:spPr>
          <a:xfrm>
            <a:off x="3413664" y="13039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8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0" name="object 650"/>
          <p:cNvSpPr/>
          <p:nvPr/>
        </p:nvSpPr>
        <p:spPr>
          <a:xfrm>
            <a:off x="3905915" y="13039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8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1" name="object 651"/>
          <p:cNvSpPr/>
          <p:nvPr/>
        </p:nvSpPr>
        <p:spPr>
          <a:xfrm>
            <a:off x="3413664" y="129327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2" name="object 652"/>
          <p:cNvSpPr/>
          <p:nvPr/>
        </p:nvSpPr>
        <p:spPr>
          <a:xfrm>
            <a:off x="3905915" y="129327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3" name="object 653"/>
          <p:cNvSpPr/>
          <p:nvPr/>
        </p:nvSpPr>
        <p:spPr>
          <a:xfrm>
            <a:off x="3413664" y="12902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4" name="object 654"/>
          <p:cNvSpPr/>
          <p:nvPr/>
        </p:nvSpPr>
        <p:spPr>
          <a:xfrm>
            <a:off x="3905915" y="12902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5" name="object 655"/>
          <p:cNvSpPr/>
          <p:nvPr/>
        </p:nvSpPr>
        <p:spPr>
          <a:xfrm>
            <a:off x="3413664" y="12826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9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6" name="object 656"/>
          <p:cNvSpPr/>
          <p:nvPr/>
        </p:nvSpPr>
        <p:spPr>
          <a:xfrm>
            <a:off x="3905915" y="12826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9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7" name="object 657"/>
          <p:cNvSpPr/>
          <p:nvPr/>
        </p:nvSpPr>
        <p:spPr>
          <a:xfrm>
            <a:off x="3413664" y="127193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8" name="object 658"/>
          <p:cNvSpPr/>
          <p:nvPr/>
        </p:nvSpPr>
        <p:spPr>
          <a:xfrm>
            <a:off x="3905915" y="127193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9" name="object 659"/>
          <p:cNvSpPr/>
          <p:nvPr/>
        </p:nvSpPr>
        <p:spPr>
          <a:xfrm>
            <a:off x="3413664" y="126279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E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0" name="object 660"/>
          <p:cNvSpPr/>
          <p:nvPr/>
        </p:nvSpPr>
        <p:spPr>
          <a:xfrm>
            <a:off x="3905915" y="126279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E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1" name="object 661"/>
          <p:cNvSpPr/>
          <p:nvPr/>
        </p:nvSpPr>
        <p:spPr>
          <a:xfrm>
            <a:off x="3413664" y="12551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2" name="object 662"/>
          <p:cNvSpPr/>
          <p:nvPr/>
        </p:nvSpPr>
        <p:spPr>
          <a:xfrm>
            <a:off x="3905915" y="12551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3" name="object 663"/>
          <p:cNvSpPr/>
          <p:nvPr/>
        </p:nvSpPr>
        <p:spPr>
          <a:xfrm>
            <a:off x="3413664" y="12521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4" name="object 664"/>
          <p:cNvSpPr/>
          <p:nvPr/>
        </p:nvSpPr>
        <p:spPr>
          <a:xfrm>
            <a:off x="3905915" y="12521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5" name="object 665"/>
          <p:cNvSpPr/>
          <p:nvPr/>
        </p:nvSpPr>
        <p:spPr>
          <a:xfrm>
            <a:off x="3413664" y="1247680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0" y="5079"/>
                </a:moveTo>
                <a:lnTo>
                  <a:pt x="3048" y="5079"/>
                </a:lnTo>
                <a:lnTo>
                  <a:pt x="3048" y="0"/>
                </a:lnTo>
                <a:lnTo>
                  <a:pt x="0" y="0"/>
                </a:lnTo>
                <a:lnTo>
                  <a:pt x="0" y="5079"/>
                </a:lnTo>
                <a:close/>
              </a:path>
            </a:pathLst>
          </a:custGeom>
          <a:solidFill>
            <a:srgbClr val="FFE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6" name="object 666"/>
          <p:cNvSpPr/>
          <p:nvPr/>
        </p:nvSpPr>
        <p:spPr>
          <a:xfrm>
            <a:off x="3413664" y="1246346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7" name="object 667"/>
          <p:cNvSpPr/>
          <p:nvPr/>
        </p:nvSpPr>
        <p:spPr>
          <a:xfrm>
            <a:off x="3905915" y="12475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E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8" name="object 668"/>
          <p:cNvSpPr/>
          <p:nvPr/>
        </p:nvSpPr>
        <p:spPr>
          <a:xfrm>
            <a:off x="3413664" y="206765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429">
            <a:solidFill>
              <a:srgbClr val="FFBE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9" name="object 669"/>
          <p:cNvSpPr/>
          <p:nvPr/>
        </p:nvSpPr>
        <p:spPr>
          <a:xfrm>
            <a:off x="3413664" y="2061750"/>
            <a:ext cx="3175" cy="3810"/>
          </a:xfrm>
          <a:custGeom>
            <a:avLst/>
            <a:gdLst/>
            <a:ahLst/>
            <a:cxnLst/>
            <a:rect l="l" t="t" r="r" b="b"/>
            <a:pathLst>
              <a:path w="3175" h="3810">
                <a:moveTo>
                  <a:pt x="0" y="3809"/>
                </a:moveTo>
                <a:lnTo>
                  <a:pt x="3048" y="3809"/>
                </a:lnTo>
                <a:lnTo>
                  <a:pt x="3048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FFBE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0" name="object 670"/>
          <p:cNvSpPr/>
          <p:nvPr/>
        </p:nvSpPr>
        <p:spPr>
          <a:xfrm>
            <a:off x="3905915" y="20613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1" name="object 671"/>
          <p:cNvSpPr/>
          <p:nvPr/>
        </p:nvSpPr>
        <p:spPr>
          <a:xfrm>
            <a:off x="3413664" y="20567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2" name="object 672"/>
          <p:cNvSpPr/>
          <p:nvPr/>
        </p:nvSpPr>
        <p:spPr>
          <a:xfrm>
            <a:off x="3905915" y="20567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3" name="object 673"/>
          <p:cNvSpPr/>
          <p:nvPr/>
        </p:nvSpPr>
        <p:spPr>
          <a:xfrm>
            <a:off x="3413664" y="205222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F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4" name="object 674"/>
          <p:cNvSpPr/>
          <p:nvPr/>
        </p:nvSpPr>
        <p:spPr>
          <a:xfrm>
            <a:off x="3905915" y="205222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F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5" name="object 675"/>
          <p:cNvSpPr/>
          <p:nvPr/>
        </p:nvSpPr>
        <p:spPr>
          <a:xfrm>
            <a:off x="3413664" y="204308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BF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6" name="object 676"/>
          <p:cNvSpPr/>
          <p:nvPr/>
        </p:nvSpPr>
        <p:spPr>
          <a:xfrm>
            <a:off x="3905915" y="204308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BF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7" name="object 677"/>
          <p:cNvSpPr/>
          <p:nvPr/>
        </p:nvSpPr>
        <p:spPr>
          <a:xfrm>
            <a:off x="3413664" y="20400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B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8" name="object 678"/>
          <p:cNvSpPr/>
          <p:nvPr/>
        </p:nvSpPr>
        <p:spPr>
          <a:xfrm>
            <a:off x="3905915" y="20400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B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9" name="object 679"/>
          <p:cNvSpPr/>
          <p:nvPr/>
        </p:nvSpPr>
        <p:spPr>
          <a:xfrm>
            <a:off x="3413664" y="203546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0" name="object 680"/>
          <p:cNvSpPr/>
          <p:nvPr/>
        </p:nvSpPr>
        <p:spPr>
          <a:xfrm>
            <a:off x="3905915" y="203546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1" name="object 681"/>
          <p:cNvSpPr/>
          <p:nvPr/>
        </p:nvSpPr>
        <p:spPr>
          <a:xfrm>
            <a:off x="3413664" y="20263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0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2" name="object 682"/>
          <p:cNvSpPr/>
          <p:nvPr/>
        </p:nvSpPr>
        <p:spPr>
          <a:xfrm>
            <a:off x="3905915" y="20263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0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3" name="object 683"/>
          <p:cNvSpPr/>
          <p:nvPr/>
        </p:nvSpPr>
        <p:spPr>
          <a:xfrm>
            <a:off x="3413664" y="202174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4" name="object 684"/>
          <p:cNvSpPr/>
          <p:nvPr/>
        </p:nvSpPr>
        <p:spPr>
          <a:xfrm>
            <a:off x="3905915" y="202174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5" name="object 685"/>
          <p:cNvSpPr/>
          <p:nvPr/>
        </p:nvSpPr>
        <p:spPr>
          <a:xfrm>
            <a:off x="3413664" y="20186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1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6" name="object 686"/>
          <p:cNvSpPr/>
          <p:nvPr/>
        </p:nvSpPr>
        <p:spPr>
          <a:xfrm>
            <a:off x="3905915" y="20186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1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7" name="object 687"/>
          <p:cNvSpPr/>
          <p:nvPr/>
        </p:nvSpPr>
        <p:spPr>
          <a:xfrm>
            <a:off x="3413664" y="20095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8" name="object 688"/>
          <p:cNvSpPr/>
          <p:nvPr/>
        </p:nvSpPr>
        <p:spPr>
          <a:xfrm>
            <a:off x="3905915" y="20095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9" name="object 689"/>
          <p:cNvSpPr/>
          <p:nvPr/>
        </p:nvSpPr>
        <p:spPr>
          <a:xfrm>
            <a:off x="3413664" y="20049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0" name="object 690"/>
          <p:cNvSpPr/>
          <p:nvPr/>
        </p:nvSpPr>
        <p:spPr>
          <a:xfrm>
            <a:off x="3905915" y="20049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1" name="object 691"/>
          <p:cNvSpPr/>
          <p:nvPr/>
        </p:nvSpPr>
        <p:spPr>
          <a:xfrm>
            <a:off x="3413664" y="2003457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2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2" name="object 692"/>
          <p:cNvSpPr/>
          <p:nvPr/>
        </p:nvSpPr>
        <p:spPr>
          <a:xfrm>
            <a:off x="3905915" y="2003457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2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3" name="object 693"/>
          <p:cNvSpPr/>
          <p:nvPr/>
        </p:nvSpPr>
        <p:spPr>
          <a:xfrm>
            <a:off x="3413664" y="19958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2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4" name="object 694"/>
          <p:cNvSpPr/>
          <p:nvPr/>
        </p:nvSpPr>
        <p:spPr>
          <a:xfrm>
            <a:off x="3905915" y="19958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2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5" name="object 695"/>
          <p:cNvSpPr/>
          <p:nvPr/>
        </p:nvSpPr>
        <p:spPr>
          <a:xfrm>
            <a:off x="3413664" y="198821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6" name="object 696"/>
          <p:cNvSpPr/>
          <p:nvPr/>
        </p:nvSpPr>
        <p:spPr>
          <a:xfrm>
            <a:off x="3905915" y="198821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7" name="object 697"/>
          <p:cNvSpPr/>
          <p:nvPr/>
        </p:nvSpPr>
        <p:spPr>
          <a:xfrm>
            <a:off x="3413664" y="19805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8" name="object 698"/>
          <p:cNvSpPr/>
          <p:nvPr/>
        </p:nvSpPr>
        <p:spPr>
          <a:xfrm>
            <a:off x="3905915" y="19805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9" name="object 699"/>
          <p:cNvSpPr/>
          <p:nvPr/>
        </p:nvSpPr>
        <p:spPr>
          <a:xfrm>
            <a:off x="3413664" y="19729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0" name="object 700"/>
          <p:cNvSpPr/>
          <p:nvPr/>
        </p:nvSpPr>
        <p:spPr>
          <a:xfrm>
            <a:off x="3905915" y="19729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1" name="object 701"/>
          <p:cNvSpPr/>
          <p:nvPr/>
        </p:nvSpPr>
        <p:spPr>
          <a:xfrm>
            <a:off x="3413664" y="197145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3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2" name="object 702"/>
          <p:cNvSpPr/>
          <p:nvPr/>
        </p:nvSpPr>
        <p:spPr>
          <a:xfrm>
            <a:off x="3905915" y="197145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3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3" name="object 703"/>
          <p:cNvSpPr/>
          <p:nvPr/>
        </p:nvSpPr>
        <p:spPr>
          <a:xfrm>
            <a:off x="3413664" y="19668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4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4" name="object 704"/>
          <p:cNvSpPr/>
          <p:nvPr/>
        </p:nvSpPr>
        <p:spPr>
          <a:xfrm>
            <a:off x="3905915" y="19668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4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5" name="object 705"/>
          <p:cNvSpPr/>
          <p:nvPr/>
        </p:nvSpPr>
        <p:spPr>
          <a:xfrm>
            <a:off x="3413664" y="19592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6" name="object 706"/>
          <p:cNvSpPr/>
          <p:nvPr/>
        </p:nvSpPr>
        <p:spPr>
          <a:xfrm>
            <a:off x="3905915" y="19592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7" name="object 707"/>
          <p:cNvSpPr/>
          <p:nvPr/>
        </p:nvSpPr>
        <p:spPr>
          <a:xfrm>
            <a:off x="3413664" y="195621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4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8" name="object 708"/>
          <p:cNvSpPr/>
          <p:nvPr/>
        </p:nvSpPr>
        <p:spPr>
          <a:xfrm>
            <a:off x="3905915" y="195621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4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9" name="object 709"/>
          <p:cNvSpPr/>
          <p:nvPr/>
        </p:nvSpPr>
        <p:spPr>
          <a:xfrm>
            <a:off x="3413664" y="195011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0" name="object 710"/>
          <p:cNvSpPr/>
          <p:nvPr/>
        </p:nvSpPr>
        <p:spPr>
          <a:xfrm>
            <a:off x="3905915" y="195011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1" name="object 711"/>
          <p:cNvSpPr/>
          <p:nvPr/>
        </p:nvSpPr>
        <p:spPr>
          <a:xfrm>
            <a:off x="3413664" y="194402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2" name="object 712"/>
          <p:cNvSpPr/>
          <p:nvPr/>
        </p:nvSpPr>
        <p:spPr>
          <a:xfrm>
            <a:off x="3905915" y="194402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3" name="object 713"/>
          <p:cNvSpPr/>
          <p:nvPr/>
        </p:nvSpPr>
        <p:spPr>
          <a:xfrm>
            <a:off x="3413664" y="19409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6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4" name="object 714"/>
          <p:cNvSpPr/>
          <p:nvPr/>
        </p:nvSpPr>
        <p:spPr>
          <a:xfrm>
            <a:off x="3905915" y="19409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6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5" name="object 715"/>
          <p:cNvSpPr/>
          <p:nvPr/>
        </p:nvSpPr>
        <p:spPr>
          <a:xfrm>
            <a:off x="3413664" y="19333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6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6" name="object 716"/>
          <p:cNvSpPr/>
          <p:nvPr/>
        </p:nvSpPr>
        <p:spPr>
          <a:xfrm>
            <a:off x="3905915" y="19333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6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7" name="object 717"/>
          <p:cNvSpPr/>
          <p:nvPr/>
        </p:nvSpPr>
        <p:spPr>
          <a:xfrm>
            <a:off x="3413664" y="193030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6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8" name="object 718"/>
          <p:cNvSpPr/>
          <p:nvPr/>
        </p:nvSpPr>
        <p:spPr>
          <a:xfrm>
            <a:off x="3905915" y="193030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6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9" name="object 719"/>
          <p:cNvSpPr/>
          <p:nvPr/>
        </p:nvSpPr>
        <p:spPr>
          <a:xfrm>
            <a:off x="3413664" y="192420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7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0" name="object 720"/>
          <p:cNvSpPr/>
          <p:nvPr/>
        </p:nvSpPr>
        <p:spPr>
          <a:xfrm>
            <a:off x="3905915" y="192420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7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1" name="object 721"/>
          <p:cNvSpPr/>
          <p:nvPr/>
        </p:nvSpPr>
        <p:spPr>
          <a:xfrm>
            <a:off x="3413664" y="19181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7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2" name="object 722"/>
          <p:cNvSpPr/>
          <p:nvPr/>
        </p:nvSpPr>
        <p:spPr>
          <a:xfrm>
            <a:off x="3905915" y="19181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7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3" name="object 723"/>
          <p:cNvSpPr/>
          <p:nvPr/>
        </p:nvSpPr>
        <p:spPr>
          <a:xfrm>
            <a:off x="3413664" y="191658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4" name="object 724"/>
          <p:cNvSpPr/>
          <p:nvPr/>
        </p:nvSpPr>
        <p:spPr>
          <a:xfrm>
            <a:off x="3905915" y="191658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5" name="object 725"/>
          <p:cNvSpPr/>
          <p:nvPr/>
        </p:nvSpPr>
        <p:spPr>
          <a:xfrm>
            <a:off x="3413664" y="19074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6" name="object 726"/>
          <p:cNvSpPr/>
          <p:nvPr/>
        </p:nvSpPr>
        <p:spPr>
          <a:xfrm>
            <a:off x="3905915" y="19074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7" name="object 727"/>
          <p:cNvSpPr/>
          <p:nvPr/>
        </p:nvSpPr>
        <p:spPr>
          <a:xfrm>
            <a:off x="3413664" y="190287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8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8" name="object 728"/>
          <p:cNvSpPr/>
          <p:nvPr/>
        </p:nvSpPr>
        <p:spPr>
          <a:xfrm>
            <a:off x="3905915" y="190287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8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9" name="object 729"/>
          <p:cNvSpPr/>
          <p:nvPr/>
        </p:nvSpPr>
        <p:spPr>
          <a:xfrm>
            <a:off x="3413664" y="190134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9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0" name="object 730"/>
          <p:cNvSpPr/>
          <p:nvPr/>
        </p:nvSpPr>
        <p:spPr>
          <a:xfrm>
            <a:off x="3905915" y="190134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9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1" name="object 731"/>
          <p:cNvSpPr/>
          <p:nvPr/>
        </p:nvSpPr>
        <p:spPr>
          <a:xfrm>
            <a:off x="3413664" y="18937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2" name="object 732"/>
          <p:cNvSpPr/>
          <p:nvPr/>
        </p:nvSpPr>
        <p:spPr>
          <a:xfrm>
            <a:off x="3905915" y="18937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3" name="object 733"/>
          <p:cNvSpPr/>
          <p:nvPr/>
        </p:nvSpPr>
        <p:spPr>
          <a:xfrm>
            <a:off x="3413664" y="188610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4" name="object 734"/>
          <p:cNvSpPr/>
          <p:nvPr/>
        </p:nvSpPr>
        <p:spPr>
          <a:xfrm>
            <a:off x="3905915" y="188610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5" name="object 735"/>
          <p:cNvSpPr/>
          <p:nvPr/>
        </p:nvSpPr>
        <p:spPr>
          <a:xfrm>
            <a:off x="3413664" y="18784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6" name="object 736"/>
          <p:cNvSpPr/>
          <p:nvPr/>
        </p:nvSpPr>
        <p:spPr>
          <a:xfrm>
            <a:off x="3905915" y="18784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7" name="object 737"/>
          <p:cNvSpPr/>
          <p:nvPr/>
        </p:nvSpPr>
        <p:spPr>
          <a:xfrm>
            <a:off x="3413664" y="18708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A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8" name="object 738"/>
          <p:cNvSpPr/>
          <p:nvPr/>
        </p:nvSpPr>
        <p:spPr>
          <a:xfrm>
            <a:off x="3905915" y="18708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A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9" name="object 739"/>
          <p:cNvSpPr/>
          <p:nvPr/>
        </p:nvSpPr>
        <p:spPr>
          <a:xfrm>
            <a:off x="3413664" y="1869345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A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0" name="object 740"/>
          <p:cNvSpPr/>
          <p:nvPr/>
        </p:nvSpPr>
        <p:spPr>
          <a:xfrm>
            <a:off x="3905915" y="1869345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A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1" name="object 741"/>
          <p:cNvSpPr/>
          <p:nvPr/>
        </p:nvSpPr>
        <p:spPr>
          <a:xfrm>
            <a:off x="3413664" y="186477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B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2" name="object 742"/>
          <p:cNvSpPr/>
          <p:nvPr/>
        </p:nvSpPr>
        <p:spPr>
          <a:xfrm>
            <a:off x="3905915" y="186477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B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3" name="object 743"/>
          <p:cNvSpPr/>
          <p:nvPr/>
        </p:nvSpPr>
        <p:spPr>
          <a:xfrm>
            <a:off x="3413664" y="185562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B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4" name="object 744"/>
          <p:cNvSpPr/>
          <p:nvPr/>
        </p:nvSpPr>
        <p:spPr>
          <a:xfrm>
            <a:off x="3905915" y="185562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B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5" name="object 745"/>
          <p:cNvSpPr/>
          <p:nvPr/>
        </p:nvSpPr>
        <p:spPr>
          <a:xfrm>
            <a:off x="3413664" y="185258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B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6" name="object 746"/>
          <p:cNvSpPr/>
          <p:nvPr/>
        </p:nvSpPr>
        <p:spPr>
          <a:xfrm>
            <a:off x="3905915" y="185258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B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7" name="object 747"/>
          <p:cNvSpPr/>
          <p:nvPr/>
        </p:nvSpPr>
        <p:spPr>
          <a:xfrm>
            <a:off x="3413664" y="184800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8" name="object 748"/>
          <p:cNvSpPr/>
          <p:nvPr/>
        </p:nvSpPr>
        <p:spPr>
          <a:xfrm>
            <a:off x="3905915" y="184800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9" name="object 749"/>
          <p:cNvSpPr/>
          <p:nvPr/>
        </p:nvSpPr>
        <p:spPr>
          <a:xfrm>
            <a:off x="3413664" y="18388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C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0" name="object 750"/>
          <p:cNvSpPr/>
          <p:nvPr/>
        </p:nvSpPr>
        <p:spPr>
          <a:xfrm>
            <a:off x="3905915" y="18388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C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1" name="object 751"/>
          <p:cNvSpPr/>
          <p:nvPr/>
        </p:nvSpPr>
        <p:spPr>
          <a:xfrm>
            <a:off x="3413664" y="18342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2" name="object 752"/>
          <p:cNvSpPr/>
          <p:nvPr/>
        </p:nvSpPr>
        <p:spPr>
          <a:xfrm>
            <a:off x="3905915" y="18342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3" name="object 753"/>
          <p:cNvSpPr/>
          <p:nvPr/>
        </p:nvSpPr>
        <p:spPr>
          <a:xfrm>
            <a:off x="3413664" y="18312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D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4" name="object 754"/>
          <p:cNvSpPr/>
          <p:nvPr/>
        </p:nvSpPr>
        <p:spPr>
          <a:xfrm>
            <a:off x="3905915" y="18312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D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5" name="object 755"/>
          <p:cNvSpPr/>
          <p:nvPr/>
        </p:nvSpPr>
        <p:spPr>
          <a:xfrm>
            <a:off x="3413664" y="18221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D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6" name="object 756"/>
          <p:cNvSpPr/>
          <p:nvPr/>
        </p:nvSpPr>
        <p:spPr>
          <a:xfrm>
            <a:off x="3905915" y="18221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D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7" name="object 757"/>
          <p:cNvSpPr/>
          <p:nvPr/>
        </p:nvSpPr>
        <p:spPr>
          <a:xfrm>
            <a:off x="3413664" y="181752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8" name="object 758"/>
          <p:cNvSpPr/>
          <p:nvPr/>
        </p:nvSpPr>
        <p:spPr>
          <a:xfrm>
            <a:off x="3905915" y="181752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9" name="object 759"/>
          <p:cNvSpPr/>
          <p:nvPr/>
        </p:nvSpPr>
        <p:spPr>
          <a:xfrm>
            <a:off x="3413664" y="181295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0" name="object 760"/>
          <p:cNvSpPr/>
          <p:nvPr/>
        </p:nvSpPr>
        <p:spPr>
          <a:xfrm>
            <a:off x="3905915" y="181295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1" name="object 761"/>
          <p:cNvSpPr/>
          <p:nvPr/>
        </p:nvSpPr>
        <p:spPr>
          <a:xfrm>
            <a:off x="3413664" y="18053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2" name="object 762"/>
          <p:cNvSpPr/>
          <p:nvPr/>
        </p:nvSpPr>
        <p:spPr>
          <a:xfrm>
            <a:off x="3905915" y="18053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3" name="object 763"/>
          <p:cNvSpPr/>
          <p:nvPr/>
        </p:nvSpPr>
        <p:spPr>
          <a:xfrm>
            <a:off x="3413664" y="18007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4" name="object 764"/>
          <p:cNvSpPr/>
          <p:nvPr/>
        </p:nvSpPr>
        <p:spPr>
          <a:xfrm>
            <a:off x="3905915" y="18007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5" name="object 765"/>
          <p:cNvSpPr/>
          <p:nvPr/>
        </p:nvSpPr>
        <p:spPr>
          <a:xfrm>
            <a:off x="3413664" y="17961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6" name="object 766"/>
          <p:cNvSpPr/>
          <p:nvPr/>
        </p:nvSpPr>
        <p:spPr>
          <a:xfrm>
            <a:off x="3905915" y="17961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7" name="object 767"/>
          <p:cNvSpPr/>
          <p:nvPr/>
        </p:nvSpPr>
        <p:spPr>
          <a:xfrm>
            <a:off x="3413664" y="17885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8" name="object 768"/>
          <p:cNvSpPr/>
          <p:nvPr/>
        </p:nvSpPr>
        <p:spPr>
          <a:xfrm>
            <a:off x="3905915" y="17885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9" name="object 769"/>
          <p:cNvSpPr/>
          <p:nvPr/>
        </p:nvSpPr>
        <p:spPr>
          <a:xfrm>
            <a:off x="3413664" y="178400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0" name="object 770"/>
          <p:cNvSpPr/>
          <p:nvPr/>
        </p:nvSpPr>
        <p:spPr>
          <a:xfrm>
            <a:off x="3905915" y="178400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1" name="object 771"/>
          <p:cNvSpPr/>
          <p:nvPr/>
        </p:nvSpPr>
        <p:spPr>
          <a:xfrm>
            <a:off x="3413664" y="177942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2" name="object 772"/>
          <p:cNvSpPr/>
          <p:nvPr/>
        </p:nvSpPr>
        <p:spPr>
          <a:xfrm>
            <a:off x="3905915" y="177942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3" name="object 773"/>
          <p:cNvSpPr/>
          <p:nvPr/>
        </p:nvSpPr>
        <p:spPr>
          <a:xfrm>
            <a:off x="3413664" y="177180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0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4" name="object 774"/>
          <p:cNvSpPr/>
          <p:nvPr/>
        </p:nvSpPr>
        <p:spPr>
          <a:xfrm>
            <a:off x="3905915" y="177180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0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5" name="object 775"/>
          <p:cNvSpPr/>
          <p:nvPr/>
        </p:nvSpPr>
        <p:spPr>
          <a:xfrm>
            <a:off x="3413664" y="176723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6" name="object 776"/>
          <p:cNvSpPr/>
          <p:nvPr/>
        </p:nvSpPr>
        <p:spPr>
          <a:xfrm>
            <a:off x="3905915" y="176723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7" name="object 777"/>
          <p:cNvSpPr/>
          <p:nvPr/>
        </p:nvSpPr>
        <p:spPr>
          <a:xfrm>
            <a:off x="3413664" y="17626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D1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8" name="object 778"/>
          <p:cNvSpPr/>
          <p:nvPr/>
        </p:nvSpPr>
        <p:spPr>
          <a:xfrm>
            <a:off x="3905915" y="17626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D1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9" name="object 779"/>
          <p:cNvSpPr/>
          <p:nvPr/>
        </p:nvSpPr>
        <p:spPr>
          <a:xfrm>
            <a:off x="3413664" y="175352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0" name="object 780"/>
          <p:cNvSpPr/>
          <p:nvPr/>
        </p:nvSpPr>
        <p:spPr>
          <a:xfrm>
            <a:off x="3905915" y="175352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1" name="object 781"/>
          <p:cNvSpPr/>
          <p:nvPr/>
        </p:nvSpPr>
        <p:spPr>
          <a:xfrm>
            <a:off x="3413664" y="17504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1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2" name="object 782"/>
          <p:cNvSpPr/>
          <p:nvPr/>
        </p:nvSpPr>
        <p:spPr>
          <a:xfrm>
            <a:off x="3905915" y="17504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1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3" name="object 783"/>
          <p:cNvSpPr/>
          <p:nvPr/>
        </p:nvSpPr>
        <p:spPr>
          <a:xfrm>
            <a:off x="3413664" y="17428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4" name="object 784"/>
          <p:cNvSpPr/>
          <p:nvPr/>
        </p:nvSpPr>
        <p:spPr>
          <a:xfrm>
            <a:off x="3905915" y="17428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5" name="object 785"/>
          <p:cNvSpPr/>
          <p:nvPr/>
        </p:nvSpPr>
        <p:spPr>
          <a:xfrm>
            <a:off x="3413664" y="17321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2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6" name="object 786"/>
          <p:cNvSpPr/>
          <p:nvPr/>
        </p:nvSpPr>
        <p:spPr>
          <a:xfrm>
            <a:off x="3905915" y="17321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2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7" name="object 787"/>
          <p:cNvSpPr/>
          <p:nvPr/>
        </p:nvSpPr>
        <p:spPr>
          <a:xfrm>
            <a:off x="3413664" y="17230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3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8" name="object 788"/>
          <p:cNvSpPr/>
          <p:nvPr/>
        </p:nvSpPr>
        <p:spPr>
          <a:xfrm>
            <a:off x="3905915" y="17230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3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9" name="object 789"/>
          <p:cNvSpPr/>
          <p:nvPr/>
        </p:nvSpPr>
        <p:spPr>
          <a:xfrm>
            <a:off x="3413664" y="17154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3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0" name="object 790"/>
          <p:cNvSpPr/>
          <p:nvPr/>
        </p:nvSpPr>
        <p:spPr>
          <a:xfrm>
            <a:off x="3905915" y="17154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3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1" name="object 791"/>
          <p:cNvSpPr/>
          <p:nvPr/>
        </p:nvSpPr>
        <p:spPr>
          <a:xfrm>
            <a:off x="3413664" y="17123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2" name="object 792"/>
          <p:cNvSpPr/>
          <p:nvPr/>
        </p:nvSpPr>
        <p:spPr>
          <a:xfrm>
            <a:off x="3905915" y="171237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3" name="object 793"/>
          <p:cNvSpPr/>
          <p:nvPr/>
        </p:nvSpPr>
        <p:spPr>
          <a:xfrm>
            <a:off x="3413664" y="170018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4" name="object 794"/>
          <p:cNvSpPr/>
          <p:nvPr/>
        </p:nvSpPr>
        <p:spPr>
          <a:xfrm>
            <a:off x="3905915" y="170018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5" name="object 795"/>
          <p:cNvSpPr/>
          <p:nvPr/>
        </p:nvSpPr>
        <p:spPr>
          <a:xfrm>
            <a:off x="3413664" y="169408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4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6" name="object 796"/>
          <p:cNvSpPr/>
          <p:nvPr/>
        </p:nvSpPr>
        <p:spPr>
          <a:xfrm>
            <a:off x="3905915" y="169408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4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7" name="object 797"/>
          <p:cNvSpPr/>
          <p:nvPr/>
        </p:nvSpPr>
        <p:spPr>
          <a:xfrm>
            <a:off x="3413664" y="168798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8" name="object 798"/>
          <p:cNvSpPr/>
          <p:nvPr/>
        </p:nvSpPr>
        <p:spPr>
          <a:xfrm>
            <a:off x="3905915" y="168798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9" name="object 799"/>
          <p:cNvSpPr/>
          <p:nvPr/>
        </p:nvSpPr>
        <p:spPr>
          <a:xfrm>
            <a:off x="3413664" y="167579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0" name="object 800"/>
          <p:cNvSpPr/>
          <p:nvPr/>
        </p:nvSpPr>
        <p:spPr>
          <a:xfrm>
            <a:off x="3905915" y="167579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1" name="object 801"/>
          <p:cNvSpPr/>
          <p:nvPr/>
        </p:nvSpPr>
        <p:spPr>
          <a:xfrm>
            <a:off x="3413664" y="16681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2" name="object 802"/>
          <p:cNvSpPr/>
          <p:nvPr/>
        </p:nvSpPr>
        <p:spPr>
          <a:xfrm>
            <a:off x="3905915" y="16681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3" name="object 803"/>
          <p:cNvSpPr/>
          <p:nvPr/>
        </p:nvSpPr>
        <p:spPr>
          <a:xfrm>
            <a:off x="3413664" y="166208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6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4" name="object 804"/>
          <p:cNvSpPr/>
          <p:nvPr/>
        </p:nvSpPr>
        <p:spPr>
          <a:xfrm>
            <a:off x="3905915" y="166208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6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5" name="object 805"/>
          <p:cNvSpPr/>
          <p:nvPr/>
        </p:nvSpPr>
        <p:spPr>
          <a:xfrm>
            <a:off x="3413664" y="165141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6" name="object 806"/>
          <p:cNvSpPr/>
          <p:nvPr/>
        </p:nvSpPr>
        <p:spPr>
          <a:xfrm>
            <a:off x="3905915" y="165141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7" name="object 807"/>
          <p:cNvSpPr/>
          <p:nvPr/>
        </p:nvSpPr>
        <p:spPr>
          <a:xfrm>
            <a:off x="3413664" y="164684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8" name="object 808"/>
          <p:cNvSpPr/>
          <p:nvPr/>
        </p:nvSpPr>
        <p:spPr>
          <a:xfrm>
            <a:off x="3905915" y="164684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9" name="object 809"/>
          <p:cNvSpPr/>
          <p:nvPr/>
        </p:nvSpPr>
        <p:spPr>
          <a:xfrm>
            <a:off x="3413664" y="164074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0" name="object 810"/>
          <p:cNvSpPr/>
          <p:nvPr/>
        </p:nvSpPr>
        <p:spPr>
          <a:xfrm>
            <a:off x="3905915" y="164074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1" name="object 811"/>
          <p:cNvSpPr/>
          <p:nvPr/>
        </p:nvSpPr>
        <p:spPr>
          <a:xfrm>
            <a:off x="3413664" y="163007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2" name="object 812"/>
          <p:cNvSpPr/>
          <p:nvPr/>
        </p:nvSpPr>
        <p:spPr>
          <a:xfrm>
            <a:off x="3905915" y="163007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3" name="object 813"/>
          <p:cNvSpPr/>
          <p:nvPr/>
        </p:nvSpPr>
        <p:spPr>
          <a:xfrm>
            <a:off x="3413664" y="16194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4" name="object 814"/>
          <p:cNvSpPr/>
          <p:nvPr/>
        </p:nvSpPr>
        <p:spPr>
          <a:xfrm>
            <a:off x="3905915" y="16194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5" name="object 815"/>
          <p:cNvSpPr/>
          <p:nvPr/>
        </p:nvSpPr>
        <p:spPr>
          <a:xfrm>
            <a:off x="3413664" y="16133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8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6" name="object 816"/>
          <p:cNvSpPr/>
          <p:nvPr/>
        </p:nvSpPr>
        <p:spPr>
          <a:xfrm>
            <a:off x="3905915" y="16133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8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7" name="object 817"/>
          <p:cNvSpPr/>
          <p:nvPr/>
        </p:nvSpPr>
        <p:spPr>
          <a:xfrm>
            <a:off x="3413664" y="16102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8" name="object 818"/>
          <p:cNvSpPr/>
          <p:nvPr/>
        </p:nvSpPr>
        <p:spPr>
          <a:xfrm>
            <a:off x="3905915" y="16102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9" name="object 819"/>
          <p:cNvSpPr/>
          <p:nvPr/>
        </p:nvSpPr>
        <p:spPr>
          <a:xfrm>
            <a:off x="3413664" y="15995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0" name="object 820"/>
          <p:cNvSpPr/>
          <p:nvPr/>
        </p:nvSpPr>
        <p:spPr>
          <a:xfrm>
            <a:off x="3905915" y="15995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1" name="object 821"/>
          <p:cNvSpPr/>
          <p:nvPr/>
        </p:nvSpPr>
        <p:spPr>
          <a:xfrm>
            <a:off x="3413664" y="15919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9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2" name="object 822"/>
          <p:cNvSpPr/>
          <p:nvPr/>
        </p:nvSpPr>
        <p:spPr>
          <a:xfrm>
            <a:off x="3905915" y="15919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9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3" name="object 823"/>
          <p:cNvSpPr/>
          <p:nvPr/>
        </p:nvSpPr>
        <p:spPr>
          <a:xfrm>
            <a:off x="3413664" y="15889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4" name="object 824"/>
          <p:cNvSpPr/>
          <p:nvPr/>
        </p:nvSpPr>
        <p:spPr>
          <a:xfrm>
            <a:off x="3905915" y="15889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5" name="object 825"/>
          <p:cNvSpPr/>
          <p:nvPr/>
        </p:nvSpPr>
        <p:spPr>
          <a:xfrm>
            <a:off x="3413664" y="15797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A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6" name="object 826"/>
          <p:cNvSpPr/>
          <p:nvPr/>
        </p:nvSpPr>
        <p:spPr>
          <a:xfrm>
            <a:off x="3905915" y="15797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A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7" name="object 827"/>
          <p:cNvSpPr/>
          <p:nvPr/>
        </p:nvSpPr>
        <p:spPr>
          <a:xfrm>
            <a:off x="3413664" y="15691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A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8" name="object 828"/>
          <p:cNvSpPr/>
          <p:nvPr/>
        </p:nvSpPr>
        <p:spPr>
          <a:xfrm>
            <a:off x="3905915" y="15691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A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9" name="object 829"/>
          <p:cNvSpPr/>
          <p:nvPr/>
        </p:nvSpPr>
        <p:spPr>
          <a:xfrm>
            <a:off x="3413664" y="156606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0" name="object 830"/>
          <p:cNvSpPr/>
          <p:nvPr/>
        </p:nvSpPr>
        <p:spPr>
          <a:xfrm>
            <a:off x="3905915" y="156606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1" name="object 831"/>
          <p:cNvSpPr/>
          <p:nvPr/>
        </p:nvSpPr>
        <p:spPr>
          <a:xfrm>
            <a:off x="3413664" y="15584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2" name="object 832"/>
          <p:cNvSpPr/>
          <p:nvPr/>
        </p:nvSpPr>
        <p:spPr>
          <a:xfrm>
            <a:off x="3905915" y="15584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3" name="object 833"/>
          <p:cNvSpPr/>
          <p:nvPr/>
        </p:nvSpPr>
        <p:spPr>
          <a:xfrm>
            <a:off x="3413664" y="15477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B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4" name="object 834"/>
          <p:cNvSpPr/>
          <p:nvPr/>
        </p:nvSpPr>
        <p:spPr>
          <a:xfrm>
            <a:off x="3905915" y="15477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B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5" name="object 835"/>
          <p:cNvSpPr/>
          <p:nvPr/>
        </p:nvSpPr>
        <p:spPr>
          <a:xfrm>
            <a:off x="3413664" y="15447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B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6" name="object 836"/>
          <p:cNvSpPr/>
          <p:nvPr/>
        </p:nvSpPr>
        <p:spPr>
          <a:xfrm>
            <a:off x="3905915" y="15447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B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7" name="object 837"/>
          <p:cNvSpPr/>
          <p:nvPr/>
        </p:nvSpPr>
        <p:spPr>
          <a:xfrm>
            <a:off x="3413664" y="153406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C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8" name="object 838"/>
          <p:cNvSpPr/>
          <p:nvPr/>
        </p:nvSpPr>
        <p:spPr>
          <a:xfrm>
            <a:off x="3905915" y="153406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C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9" name="object 839"/>
          <p:cNvSpPr/>
          <p:nvPr/>
        </p:nvSpPr>
        <p:spPr>
          <a:xfrm>
            <a:off x="3413664" y="152796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0" name="object 840"/>
          <p:cNvSpPr/>
          <p:nvPr/>
        </p:nvSpPr>
        <p:spPr>
          <a:xfrm>
            <a:off x="3905915" y="152796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1" name="object 841"/>
          <p:cNvSpPr/>
          <p:nvPr/>
        </p:nvSpPr>
        <p:spPr>
          <a:xfrm>
            <a:off x="3413664" y="152187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D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2" name="object 842"/>
          <p:cNvSpPr/>
          <p:nvPr/>
        </p:nvSpPr>
        <p:spPr>
          <a:xfrm>
            <a:off x="3905915" y="152187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D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3" name="object 843"/>
          <p:cNvSpPr/>
          <p:nvPr/>
        </p:nvSpPr>
        <p:spPr>
          <a:xfrm>
            <a:off x="3413664" y="15112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4" name="object 844"/>
          <p:cNvSpPr/>
          <p:nvPr/>
        </p:nvSpPr>
        <p:spPr>
          <a:xfrm>
            <a:off x="3905915" y="15112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5" name="object 845"/>
          <p:cNvSpPr/>
          <p:nvPr/>
        </p:nvSpPr>
        <p:spPr>
          <a:xfrm>
            <a:off x="3413664" y="1509681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D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6" name="object 846"/>
          <p:cNvSpPr/>
          <p:nvPr/>
        </p:nvSpPr>
        <p:spPr>
          <a:xfrm>
            <a:off x="3905915" y="1509681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D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7" name="object 847"/>
          <p:cNvSpPr/>
          <p:nvPr/>
        </p:nvSpPr>
        <p:spPr>
          <a:xfrm>
            <a:off x="3413664" y="149748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8" name="object 848"/>
          <p:cNvSpPr/>
          <p:nvPr/>
        </p:nvSpPr>
        <p:spPr>
          <a:xfrm>
            <a:off x="3905915" y="149748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9" name="object 849"/>
          <p:cNvSpPr/>
          <p:nvPr/>
        </p:nvSpPr>
        <p:spPr>
          <a:xfrm>
            <a:off x="3413664" y="14944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0" name="object 850"/>
          <p:cNvSpPr/>
          <p:nvPr/>
        </p:nvSpPr>
        <p:spPr>
          <a:xfrm>
            <a:off x="3905915" y="14944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1" name="object 851"/>
          <p:cNvSpPr/>
          <p:nvPr/>
        </p:nvSpPr>
        <p:spPr>
          <a:xfrm>
            <a:off x="3413664" y="14868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2" name="object 852"/>
          <p:cNvSpPr/>
          <p:nvPr/>
        </p:nvSpPr>
        <p:spPr>
          <a:xfrm>
            <a:off x="3905915" y="14868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3" name="object 853"/>
          <p:cNvSpPr/>
          <p:nvPr/>
        </p:nvSpPr>
        <p:spPr>
          <a:xfrm>
            <a:off x="3413664" y="147767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F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4" name="object 854"/>
          <p:cNvSpPr/>
          <p:nvPr/>
        </p:nvSpPr>
        <p:spPr>
          <a:xfrm>
            <a:off x="3905915" y="147767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F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5" name="object 855"/>
          <p:cNvSpPr/>
          <p:nvPr/>
        </p:nvSpPr>
        <p:spPr>
          <a:xfrm>
            <a:off x="3413664" y="14670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0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6" name="object 856"/>
          <p:cNvSpPr/>
          <p:nvPr/>
        </p:nvSpPr>
        <p:spPr>
          <a:xfrm>
            <a:off x="3905915" y="14670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0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7" name="object 857"/>
          <p:cNvSpPr/>
          <p:nvPr/>
        </p:nvSpPr>
        <p:spPr>
          <a:xfrm>
            <a:off x="3413664" y="14593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0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8" name="object 858"/>
          <p:cNvSpPr/>
          <p:nvPr/>
        </p:nvSpPr>
        <p:spPr>
          <a:xfrm>
            <a:off x="3905915" y="14593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0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9" name="object 859"/>
          <p:cNvSpPr/>
          <p:nvPr/>
        </p:nvSpPr>
        <p:spPr>
          <a:xfrm>
            <a:off x="3413664" y="14563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0" name="object 860"/>
          <p:cNvSpPr/>
          <p:nvPr/>
        </p:nvSpPr>
        <p:spPr>
          <a:xfrm>
            <a:off x="3905915" y="14563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1" name="object 861"/>
          <p:cNvSpPr/>
          <p:nvPr/>
        </p:nvSpPr>
        <p:spPr>
          <a:xfrm>
            <a:off x="3413664" y="144567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2" name="object 862"/>
          <p:cNvSpPr/>
          <p:nvPr/>
        </p:nvSpPr>
        <p:spPr>
          <a:xfrm>
            <a:off x="3905915" y="144567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3" name="object 863"/>
          <p:cNvSpPr/>
          <p:nvPr/>
        </p:nvSpPr>
        <p:spPr>
          <a:xfrm>
            <a:off x="3413664" y="14380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1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4" name="object 864"/>
          <p:cNvSpPr/>
          <p:nvPr/>
        </p:nvSpPr>
        <p:spPr>
          <a:xfrm>
            <a:off x="3905915" y="14380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1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5" name="object 865"/>
          <p:cNvSpPr/>
          <p:nvPr/>
        </p:nvSpPr>
        <p:spPr>
          <a:xfrm>
            <a:off x="3413664" y="143652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6" name="object 866"/>
          <p:cNvSpPr/>
          <p:nvPr/>
        </p:nvSpPr>
        <p:spPr>
          <a:xfrm>
            <a:off x="3905915" y="143652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7" name="object 867"/>
          <p:cNvSpPr/>
          <p:nvPr/>
        </p:nvSpPr>
        <p:spPr>
          <a:xfrm>
            <a:off x="3413664" y="142586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2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8" name="object 868"/>
          <p:cNvSpPr/>
          <p:nvPr/>
        </p:nvSpPr>
        <p:spPr>
          <a:xfrm>
            <a:off x="3905915" y="142586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2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9" name="object 869"/>
          <p:cNvSpPr/>
          <p:nvPr/>
        </p:nvSpPr>
        <p:spPr>
          <a:xfrm>
            <a:off x="3413664" y="14151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2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0" name="object 870"/>
          <p:cNvSpPr/>
          <p:nvPr/>
        </p:nvSpPr>
        <p:spPr>
          <a:xfrm>
            <a:off x="3905915" y="14151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2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1" name="object 871"/>
          <p:cNvSpPr/>
          <p:nvPr/>
        </p:nvSpPr>
        <p:spPr>
          <a:xfrm>
            <a:off x="3413664" y="141366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2" name="object 872"/>
          <p:cNvSpPr/>
          <p:nvPr/>
        </p:nvSpPr>
        <p:spPr>
          <a:xfrm>
            <a:off x="3905915" y="141366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3" name="object 873"/>
          <p:cNvSpPr/>
          <p:nvPr/>
        </p:nvSpPr>
        <p:spPr>
          <a:xfrm>
            <a:off x="3413664" y="14060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4" name="object 874"/>
          <p:cNvSpPr/>
          <p:nvPr/>
        </p:nvSpPr>
        <p:spPr>
          <a:xfrm>
            <a:off x="3905915" y="14060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5" name="object 875"/>
          <p:cNvSpPr/>
          <p:nvPr/>
        </p:nvSpPr>
        <p:spPr>
          <a:xfrm>
            <a:off x="3413664" y="13953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6" name="object 876"/>
          <p:cNvSpPr/>
          <p:nvPr/>
        </p:nvSpPr>
        <p:spPr>
          <a:xfrm>
            <a:off x="3905915" y="13953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7" name="object 877"/>
          <p:cNvSpPr/>
          <p:nvPr/>
        </p:nvSpPr>
        <p:spPr>
          <a:xfrm>
            <a:off x="3413664" y="13923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8" name="object 878"/>
          <p:cNvSpPr/>
          <p:nvPr/>
        </p:nvSpPr>
        <p:spPr>
          <a:xfrm>
            <a:off x="3905915" y="13923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9" name="object 879"/>
          <p:cNvSpPr/>
          <p:nvPr/>
        </p:nvSpPr>
        <p:spPr>
          <a:xfrm>
            <a:off x="3413664" y="13847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4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0" name="object 880"/>
          <p:cNvSpPr/>
          <p:nvPr/>
        </p:nvSpPr>
        <p:spPr>
          <a:xfrm>
            <a:off x="3905915" y="13847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4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1" name="object 881"/>
          <p:cNvSpPr/>
          <p:nvPr/>
        </p:nvSpPr>
        <p:spPr>
          <a:xfrm>
            <a:off x="3413664" y="137404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2" name="object 882"/>
          <p:cNvSpPr/>
          <p:nvPr/>
        </p:nvSpPr>
        <p:spPr>
          <a:xfrm>
            <a:off x="3905915" y="137404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3" name="object 883"/>
          <p:cNvSpPr/>
          <p:nvPr/>
        </p:nvSpPr>
        <p:spPr>
          <a:xfrm>
            <a:off x="3413664" y="13649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4" name="object 884"/>
          <p:cNvSpPr/>
          <p:nvPr/>
        </p:nvSpPr>
        <p:spPr>
          <a:xfrm>
            <a:off x="3905915" y="13649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5" name="object 885"/>
          <p:cNvSpPr/>
          <p:nvPr/>
        </p:nvSpPr>
        <p:spPr>
          <a:xfrm>
            <a:off x="3413664" y="13572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6" name="object 886"/>
          <p:cNvSpPr/>
          <p:nvPr/>
        </p:nvSpPr>
        <p:spPr>
          <a:xfrm>
            <a:off x="3905915" y="13572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7" name="object 887"/>
          <p:cNvSpPr/>
          <p:nvPr/>
        </p:nvSpPr>
        <p:spPr>
          <a:xfrm>
            <a:off x="3413664" y="13542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8" name="object 888"/>
          <p:cNvSpPr/>
          <p:nvPr/>
        </p:nvSpPr>
        <p:spPr>
          <a:xfrm>
            <a:off x="3905915" y="135423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9" name="object 889"/>
          <p:cNvSpPr/>
          <p:nvPr/>
        </p:nvSpPr>
        <p:spPr>
          <a:xfrm>
            <a:off x="3413664" y="134356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0" name="object 890"/>
          <p:cNvSpPr/>
          <p:nvPr/>
        </p:nvSpPr>
        <p:spPr>
          <a:xfrm>
            <a:off x="3905915" y="134356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1" name="object 891"/>
          <p:cNvSpPr/>
          <p:nvPr/>
        </p:nvSpPr>
        <p:spPr>
          <a:xfrm>
            <a:off x="3413664" y="13359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2" name="object 892"/>
          <p:cNvSpPr/>
          <p:nvPr/>
        </p:nvSpPr>
        <p:spPr>
          <a:xfrm>
            <a:off x="3905915" y="13359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3" name="object 893"/>
          <p:cNvSpPr/>
          <p:nvPr/>
        </p:nvSpPr>
        <p:spPr>
          <a:xfrm>
            <a:off x="3413664" y="132984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4" name="object 894"/>
          <p:cNvSpPr/>
          <p:nvPr/>
        </p:nvSpPr>
        <p:spPr>
          <a:xfrm>
            <a:off x="3905915" y="132984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5" name="object 895"/>
          <p:cNvSpPr/>
          <p:nvPr/>
        </p:nvSpPr>
        <p:spPr>
          <a:xfrm>
            <a:off x="3413664" y="131765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6" name="object 896"/>
          <p:cNvSpPr/>
          <p:nvPr/>
        </p:nvSpPr>
        <p:spPr>
          <a:xfrm>
            <a:off x="3905915" y="131765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7" name="object 897"/>
          <p:cNvSpPr/>
          <p:nvPr/>
        </p:nvSpPr>
        <p:spPr>
          <a:xfrm>
            <a:off x="3413664" y="131156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8" name="object 898"/>
          <p:cNvSpPr/>
          <p:nvPr/>
        </p:nvSpPr>
        <p:spPr>
          <a:xfrm>
            <a:off x="3905915" y="131156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9" name="object 899"/>
          <p:cNvSpPr/>
          <p:nvPr/>
        </p:nvSpPr>
        <p:spPr>
          <a:xfrm>
            <a:off x="3413664" y="13039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8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0" name="object 900"/>
          <p:cNvSpPr/>
          <p:nvPr/>
        </p:nvSpPr>
        <p:spPr>
          <a:xfrm>
            <a:off x="3905915" y="13039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8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1" name="object 901"/>
          <p:cNvSpPr/>
          <p:nvPr/>
        </p:nvSpPr>
        <p:spPr>
          <a:xfrm>
            <a:off x="3413664" y="129327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2" name="object 902"/>
          <p:cNvSpPr/>
          <p:nvPr/>
        </p:nvSpPr>
        <p:spPr>
          <a:xfrm>
            <a:off x="3905915" y="129327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3" name="object 903"/>
          <p:cNvSpPr/>
          <p:nvPr/>
        </p:nvSpPr>
        <p:spPr>
          <a:xfrm>
            <a:off x="3413664" y="12902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4" name="object 904"/>
          <p:cNvSpPr/>
          <p:nvPr/>
        </p:nvSpPr>
        <p:spPr>
          <a:xfrm>
            <a:off x="3905915" y="12902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5" name="object 905"/>
          <p:cNvSpPr/>
          <p:nvPr/>
        </p:nvSpPr>
        <p:spPr>
          <a:xfrm>
            <a:off x="3413664" y="12826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9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6" name="object 906"/>
          <p:cNvSpPr/>
          <p:nvPr/>
        </p:nvSpPr>
        <p:spPr>
          <a:xfrm>
            <a:off x="3905915" y="12826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9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7" name="object 907"/>
          <p:cNvSpPr/>
          <p:nvPr/>
        </p:nvSpPr>
        <p:spPr>
          <a:xfrm>
            <a:off x="3413664" y="127193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8" name="object 908"/>
          <p:cNvSpPr/>
          <p:nvPr/>
        </p:nvSpPr>
        <p:spPr>
          <a:xfrm>
            <a:off x="3905915" y="127193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9" name="object 909"/>
          <p:cNvSpPr/>
          <p:nvPr/>
        </p:nvSpPr>
        <p:spPr>
          <a:xfrm>
            <a:off x="3413664" y="126279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E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0" name="object 910"/>
          <p:cNvSpPr/>
          <p:nvPr/>
        </p:nvSpPr>
        <p:spPr>
          <a:xfrm>
            <a:off x="3905915" y="126279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E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1" name="object 911"/>
          <p:cNvSpPr/>
          <p:nvPr/>
        </p:nvSpPr>
        <p:spPr>
          <a:xfrm>
            <a:off x="3413664" y="12551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2" name="object 912"/>
          <p:cNvSpPr/>
          <p:nvPr/>
        </p:nvSpPr>
        <p:spPr>
          <a:xfrm>
            <a:off x="3905915" y="12551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3" name="object 913"/>
          <p:cNvSpPr/>
          <p:nvPr/>
        </p:nvSpPr>
        <p:spPr>
          <a:xfrm>
            <a:off x="3413664" y="12521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4" name="object 914"/>
          <p:cNvSpPr/>
          <p:nvPr/>
        </p:nvSpPr>
        <p:spPr>
          <a:xfrm>
            <a:off x="3905915" y="12521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5" name="object 915"/>
          <p:cNvSpPr/>
          <p:nvPr/>
        </p:nvSpPr>
        <p:spPr>
          <a:xfrm>
            <a:off x="3413664" y="1247680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0" y="5079"/>
                </a:moveTo>
                <a:lnTo>
                  <a:pt x="3048" y="5079"/>
                </a:lnTo>
                <a:lnTo>
                  <a:pt x="3048" y="0"/>
                </a:lnTo>
                <a:lnTo>
                  <a:pt x="0" y="0"/>
                </a:lnTo>
                <a:lnTo>
                  <a:pt x="0" y="5079"/>
                </a:lnTo>
                <a:close/>
              </a:path>
            </a:pathLst>
          </a:custGeom>
          <a:solidFill>
            <a:srgbClr val="FFE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6" name="object 916"/>
          <p:cNvSpPr/>
          <p:nvPr/>
        </p:nvSpPr>
        <p:spPr>
          <a:xfrm>
            <a:off x="3413664" y="1246346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7" name="object 917"/>
          <p:cNvSpPr/>
          <p:nvPr/>
        </p:nvSpPr>
        <p:spPr>
          <a:xfrm>
            <a:off x="3905915" y="12475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E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8" name="object 918"/>
          <p:cNvSpPr/>
          <p:nvPr/>
        </p:nvSpPr>
        <p:spPr>
          <a:xfrm>
            <a:off x="3416711" y="1246410"/>
            <a:ext cx="489584" cy="0"/>
          </a:xfrm>
          <a:custGeom>
            <a:avLst/>
            <a:gdLst/>
            <a:ahLst/>
            <a:cxnLst/>
            <a:rect l="l" t="t" r="r" b="b"/>
            <a:pathLst>
              <a:path w="489585">
                <a:moveTo>
                  <a:pt x="0" y="0"/>
                </a:moveTo>
                <a:lnTo>
                  <a:pt x="489203" y="0"/>
                </a:lnTo>
              </a:path>
            </a:pathLst>
          </a:custGeom>
          <a:ln w="3175">
            <a:solidFill>
              <a:srgbClr val="F692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9" name="object 919"/>
          <p:cNvSpPr/>
          <p:nvPr/>
        </p:nvSpPr>
        <p:spPr>
          <a:xfrm>
            <a:off x="3416711" y="124755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4571">
            <a:solidFill>
              <a:srgbClr val="F692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0" name="object 920"/>
          <p:cNvSpPr/>
          <p:nvPr/>
        </p:nvSpPr>
        <p:spPr>
          <a:xfrm>
            <a:off x="3907058" y="1247553"/>
            <a:ext cx="0" cy="818515"/>
          </a:xfrm>
          <a:custGeom>
            <a:avLst/>
            <a:gdLst/>
            <a:ahLst/>
            <a:cxnLst/>
            <a:rect l="l" t="t" r="r" b="b"/>
            <a:pathLst>
              <a:path h="818514">
                <a:moveTo>
                  <a:pt x="0" y="0"/>
                </a:moveTo>
                <a:lnTo>
                  <a:pt x="0" y="818387"/>
                </a:lnTo>
              </a:path>
            </a:pathLst>
          </a:custGeom>
          <a:ln w="3175">
            <a:solidFill>
              <a:srgbClr val="F692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1" name="object 921"/>
          <p:cNvSpPr/>
          <p:nvPr/>
        </p:nvSpPr>
        <p:spPr>
          <a:xfrm>
            <a:off x="3413664" y="206746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BE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2" name="object 922"/>
          <p:cNvSpPr/>
          <p:nvPr/>
        </p:nvSpPr>
        <p:spPr>
          <a:xfrm>
            <a:off x="3413664" y="124602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3" name="object 923"/>
          <p:cNvSpPr/>
          <p:nvPr/>
        </p:nvSpPr>
        <p:spPr>
          <a:xfrm>
            <a:off x="3416711" y="1247553"/>
            <a:ext cx="489584" cy="818515"/>
          </a:xfrm>
          <a:custGeom>
            <a:avLst/>
            <a:gdLst/>
            <a:ahLst/>
            <a:cxnLst/>
            <a:rect l="l" t="t" r="r" b="b"/>
            <a:pathLst>
              <a:path w="489585" h="818514">
                <a:moveTo>
                  <a:pt x="0" y="0"/>
                </a:moveTo>
                <a:lnTo>
                  <a:pt x="489203" y="0"/>
                </a:lnTo>
                <a:lnTo>
                  <a:pt x="489203" y="818388"/>
                </a:lnTo>
                <a:lnTo>
                  <a:pt x="0" y="8183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4" name="object 924"/>
          <p:cNvSpPr/>
          <p:nvPr/>
        </p:nvSpPr>
        <p:spPr>
          <a:xfrm>
            <a:off x="3413664" y="206517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BE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5" name="object 925"/>
          <p:cNvSpPr/>
          <p:nvPr/>
        </p:nvSpPr>
        <p:spPr>
          <a:xfrm>
            <a:off x="3413664" y="205908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BE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6" name="object 926"/>
          <p:cNvSpPr/>
          <p:nvPr/>
        </p:nvSpPr>
        <p:spPr>
          <a:xfrm>
            <a:off x="3413664" y="205451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BF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7" name="object 927"/>
          <p:cNvSpPr/>
          <p:nvPr/>
        </p:nvSpPr>
        <p:spPr>
          <a:xfrm>
            <a:off x="3413664" y="204765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BF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8" name="object 928"/>
          <p:cNvSpPr/>
          <p:nvPr/>
        </p:nvSpPr>
        <p:spPr>
          <a:xfrm>
            <a:off x="3413664" y="204155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BF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9" name="object 929"/>
          <p:cNvSpPr/>
          <p:nvPr/>
        </p:nvSpPr>
        <p:spPr>
          <a:xfrm>
            <a:off x="3413664" y="203774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0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0" name="object 930"/>
          <p:cNvSpPr/>
          <p:nvPr/>
        </p:nvSpPr>
        <p:spPr>
          <a:xfrm>
            <a:off x="3413664" y="203088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C0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1" name="object 931"/>
          <p:cNvSpPr/>
          <p:nvPr/>
        </p:nvSpPr>
        <p:spPr>
          <a:xfrm>
            <a:off x="3413664" y="202403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08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2" name="object 932"/>
          <p:cNvSpPr/>
          <p:nvPr/>
        </p:nvSpPr>
        <p:spPr>
          <a:xfrm>
            <a:off x="3413664" y="202022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18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3" name="object 933"/>
          <p:cNvSpPr/>
          <p:nvPr/>
        </p:nvSpPr>
        <p:spPr>
          <a:xfrm>
            <a:off x="3413664" y="201412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C1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4" name="object 934"/>
          <p:cNvSpPr/>
          <p:nvPr/>
        </p:nvSpPr>
        <p:spPr>
          <a:xfrm>
            <a:off x="3413664" y="200726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1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5" name="object 935"/>
          <p:cNvSpPr/>
          <p:nvPr/>
        </p:nvSpPr>
        <p:spPr>
          <a:xfrm>
            <a:off x="3413664" y="200421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2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6" name="object 936"/>
          <p:cNvSpPr/>
          <p:nvPr/>
        </p:nvSpPr>
        <p:spPr>
          <a:xfrm>
            <a:off x="3413664" y="199964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28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7" name="object 937"/>
          <p:cNvSpPr/>
          <p:nvPr/>
        </p:nvSpPr>
        <p:spPr>
          <a:xfrm>
            <a:off x="3413664" y="199202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28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8" name="object 938"/>
          <p:cNvSpPr/>
          <p:nvPr/>
        </p:nvSpPr>
        <p:spPr>
          <a:xfrm>
            <a:off x="3413664" y="198440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3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9" name="object 939"/>
          <p:cNvSpPr/>
          <p:nvPr/>
        </p:nvSpPr>
        <p:spPr>
          <a:xfrm>
            <a:off x="3413664" y="197678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3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0" name="object 940"/>
          <p:cNvSpPr/>
          <p:nvPr/>
        </p:nvSpPr>
        <p:spPr>
          <a:xfrm>
            <a:off x="3413664" y="197221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3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1" name="object 941"/>
          <p:cNvSpPr/>
          <p:nvPr/>
        </p:nvSpPr>
        <p:spPr>
          <a:xfrm>
            <a:off x="3413664" y="196916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4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2" name="object 942"/>
          <p:cNvSpPr/>
          <p:nvPr/>
        </p:nvSpPr>
        <p:spPr>
          <a:xfrm>
            <a:off x="3413664" y="196307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4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3" name="object 943"/>
          <p:cNvSpPr/>
          <p:nvPr/>
        </p:nvSpPr>
        <p:spPr>
          <a:xfrm>
            <a:off x="3413664" y="195773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4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4" name="object 944"/>
          <p:cNvSpPr/>
          <p:nvPr/>
        </p:nvSpPr>
        <p:spPr>
          <a:xfrm>
            <a:off x="3413664" y="195316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C5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5" name="object 945"/>
          <p:cNvSpPr/>
          <p:nvPr/>
        </p:nvSpPr>
        <p:spPr>
          <a:xfrm>
            <a:off x="3413664" y="194706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C5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6" name="object 946"/>
          <p:cNvSpPr/>
          <p:nvPr/>
        </p:nvSpPr>
        <p:spPr>
          <a:xfrm>
            <a:off x="3413664" y="194249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6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7" name="object 947"/>
          <p:cNvSpPr/>
          <p:nvPr/>
        </p:nvSpPr>
        <p:spPr>
          <a:xfrm>
            <a:off x="3413664" y="193716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69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8" name="object 948"/>
          <p:cNvSpPr/>
          <p:nvPr/>
        </p:nvSpPr>
        <p:spPr>
          <a:xfrm>
            <a:off x="3413664" y="193182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6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9" name="object 949"/>
          <p:cNvSpPr/>
          <p:nvPr/>
        </p:nvSpPr>
        <p:spPr>
          <a:xfrm>
            <a:off x="3413664" y="192725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C7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0" name="object 950"/>
          <p:cNvSpPr/>
          <p:nvPr/>
        </p:nvSpPr>
        <p:spPr>
          <a:xfrm>
            <a:off x="3413664" y="192116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C7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1" name="object 951"/>
          <p:cNvSpPr/>
          <p:nvPr/>
        </p:nvSpPr>
        <p:spPr>
          <a:xfrm>
            <a:off x="3413664" y="191735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2" name="object 952"/>
          <p:cNvSpPr/>
          <p:nvPr/>
        </p:nvSpPr>
        <p:spPr>
          <a:xfrm>
            <a:off x="3413664" y="191201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C8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3" name="object 953"/>
          <p:cNvSpPr/>
          <p:nvPr/>
        </p:nvSpPr>
        <p:spPr>
          <a:xfrm>
            <a:off x="3413664" y="190515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89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4" name="object 954"/>
          <p:cNvSpPr/>
          <p:nvPr/>
        </p:nvSpPr>
        <p:spPr>
          <a:xfrm>
            <a:off x="3413664" y="190211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99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5" name="object 955"/>
          <p:cNvSpPr/>
          <p:nvPr/>
        </p:nvSpPr>
        <p:spPr>
          <a:xfrm>
            <a:off x="3413664" y="18975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99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6" name="object 956"/>
          <p:cNvSpPr/>
          <p:nvPr/>
        </p:nvSpPr>
        <p:spPr>
          <a:xfrm>
            <a:off x="3413664" y="188991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9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7" name="object 957"/>
          <p:cNvSpPr/>
          <p:nvPr/>
        </p:nvSpPr>
        <p:spPr>
          <a:xfrm>
            <a:off x="3413664" y="188229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A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8" name="object 958"/>
          <p:cNvSpPr/>
          <p:nvPr/>
        </p:nvSpPr>
        <p:spPr>
          <a:xfrm>
            <a:off x="3413664" y="187467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A9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9" name="object 959"/>
          <p:cNvSpPr/>
          <p:nvPr/>
        </p:nvSpPr>
        <p:spPr>
          <a:xfrm>
            <a:off x="3413664" y="187010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A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0" name="object 960"/>
          <p:cNvSpPr/>
          <p:nvPr/>
        </p:nvSpPr>
        <p:spPr>
          <a:xfrm>
            <a:off x="3413664" y="186705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B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1" name="object 961"/>
          <p:cNvSpPr/>
          <p:nvPr/>
        </p:nvSpPr>
        <p:spPr>
          <a:xfrm>
            <a:off x="3413664" y="186020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CB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2" name="object 962"/>
          <p:cNvSpPr/>
          <p:nvPr/>
        </p:nvSpPr>
        <p:spPr>
          <a:xfrm>
            <a:off x="3413664" y="185410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B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3" name="object 963"/>
          <p:cNvSpPr/>
          <p:nvPr/>
        </p:nvSpPr>
        <p:spPr>
          <a:xfrm>
            <a:off x="3413664" y="185029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C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4" name="object 964"/>
          <p:cNvSpPr/>
          <p:nvPr/>
        </p:nvSpPr>
        <p:spPr>
          <a:xfrm>
            <a:off x="3413664" y="184343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CC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5" name="object 965"/>
          <p:cNvSpPr/>
          <p:nvPr/>
        </p:nvSpPr>
        <p:spPr>
          <a:xfrm>
            <a:off x="3413664" y="183657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C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6" name="object 966"/>
          <p:cNvSpPr/>
          <p:nvPr/>
        </p:nvSpPr>
        <p:spPr>
          <a:xfrm>
            <a:off x="3413664" y="183276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D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7" name="object 967"/>
          <p:cNvSpPr/>
          <p:nvPr/>
        </p:nvSpPr>
        <p:spPr>
          <a:xfrm>
            <a:off x="3413664" y="182667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CD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8" name="object 968"/>
          <p:cNvSpPr/>
          <p:nvPr/>
        </p:nvSpPr>
        <p:spPr>
          <a:xfrm>
            <a:off x="3413664" y="181981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DA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9" name="object 969"/>
          <p:cNvSpPr/>
          <p:nvPr/>
        </p:nvSpPr>
        <p:spPr>
          <a:xfrm>
            <a:off x="3413664" y="181524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EA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0" name="object 970"/>
          <p:cNvSpPr/>
          <p:nvPr/>
        </p:nvSpPr>
        <p:spPr>
          <a:xfrm>
            <a:off x="3413664" y="180914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E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1" name="object 971"/>
          <p:cNvSpPr/>
          <p:nvPr/>
        </p:nvSpPr>
        <p:spPr>
          <a:xfrm>
            <a:off x="3413664" y="180305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CE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2" name="object 972"/>
          <p:cNvSpPr/>
          <p:nvPr/>
        </p:nvSpPr>
        <p:spPr>
          <a:xfrm>
            <a:off x="3413664" y="179847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F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3" name="object 973"/>
          <p:cNvSpPr/>
          <p:nvPr/>
        </p:nvSpPr>
        <p:spPr>
          <a:xfrm>
            <a:off x="3413664" y="179238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FA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4" name="object 974"/>
          <p:cNvSpPr/>
          <p:nvPr/>
        </p:nvSpPr>
        <p:spPr>
          <a:xfrm>
            <a:off x="3413664" y="178628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F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5" name="object 975"/>
          <p:cNvSpPr/>
          <p:nvPr/>
        </p:nvSpPr>
        <p:spPr>
          <a:xfrm>
            <a:off x="3413664" y="178171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D0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6" name="object 976"/>
          <p:cNvSpPr/>
          <p:nvPr/>
        </p:nvSpPr>
        <p:spPr>
          <a:xfrm>
            <a:off x="3413664" y="177561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D0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7" name="object 977"/>
          <p:cNvSpPr/>
          <p:nvPr/>
        </p:nvSpPr>
        <p:spPr>
          <a:xfrm>
            <a:off x="3413664" y="176952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D0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8" name="object 978"/>
          <p:cNvSpPr/>
          <p:nvPr/>
        </p:nvSpPr>
        <p:spPr>
          <a:xfrm>
            <a:off x="3413664" y="176495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D1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9" name="object 979"/>
          <p:cNvSpPr/>
          <p:nvPr/>
        </p:nvSpPr>
        <p:spPr>
          <a:xfrm>
            <a:off x="3413664" y="175809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D1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0" name="object 980"/>
          <p:cNvSpPr/>
          <p:nvPr/>
        </p:nvSpPr>
        <p:spPr>
          <a:xfrm>
            <a:off x="3413664" y="175199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1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1" name="object 981"/>
          <p:cNvSpPr/>
          <p:nvPr/>
        </p:nvSpPr>
        <p:spPr>
          <a:xfrm>
            <a:off x="3413664" y="174666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D2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2" name="object 982"/>
          <p:cNvSpPr/>
          <p:nvPr/>
        </p:nvSpPr>
        <p:spPr>
          <a:xfrm>
            <a:off x="3413664" y="173751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2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3" name="object 983"/>
          <p:cNvSpPr/>
          <p:nvPr/>
        </p:nvSpPr>
        <p:spPr>
          <a:xfrm>
            <a:off x="3413664" y="172761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D3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4" name="object 984"/>
          <p:cNvSpPr/>
          <p:nvPr/>
        </p:nvSpPr>
        <p:spPr>
          <a:xfrm>
            <a:off x="3413664" y="171923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D3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5" name="object 985"/>
          <p:cNvSpPr/>
          <p:nvPr/>
        </p:nvSpPr>
        <p:spPr>
          <a:xfrm>
            <a:off x="3413664" y="171389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4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6" name="object 986"/>
          <p:cNvSpPr/>
          <p:nvPr/>
        </p:nvSpPr>
        <p:spPr>
          <a:xfrm>
            <a:off x="3413664" y="1700181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0" y="12192"/>
                </a:moveTo>
                <a:lnTo>
                  <a:pt x="495300" y="12192"/>
                </a:lnTo>
                <a:lnTo>
                  <a:pt x="4953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7" name="object 987"/>
          <p:cNvSpPr/>
          <p:nvPr/>
        </p:nvSpPr>
        <p:spPr>
          <a:xfrm>
            <a:off x="3413664" y="169713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D4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8" name="object 988"/>
          <p:cNvSpPr/>
          <p:nvPr/>
        </p:nvSpPr>
        <p:spPr>
          <a:xfrm>
            <a:off x="3413664" y="169103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D5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9" name="object 989"/>
          <p:cNvSpPr/>
          <p:nvPr/>
        </p:nvSpPr>
        <p:spPr>
          <a:xfrm>
            <a:off x="3413664" y="1675797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0" y="12192"/>
                </a:moveTo>
                <a:lnTo>
                  <a:pt x="495300" y="12192"/>
                </a:lnTo>
                <a:lnTo>
                  <a:pt x="4953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0" name="object 990"/>
          <p:cNvSpPr/>
          <p:nvPr/>
        </p:nvSpPr>
        <p:spPr>
          <a:xfrm>
            <a:off x="3413664" y="167198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D5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1" name="object 991"/>
          <p:cNvSpPr/>
          <p:nvPr/>
        </p:nvSpPr>
        <p:spPr>
          <a:xfrm>
            <a:off x="3413664" y="166512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D6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2" name="object 992"/>
          <p:cNvSpPr/>
          <p:nvPr/>
        </p:nvSpPr>
        <p:spPr>
          <a:xfrm>
            <a:off x="3413664" y="165674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D6B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3" name="object 993"/>
          <p:cNvSpPr/>
          <p:nvPr/>
        </p:nvSpPr>
        <p:spPr>
          <a:xfrm>
            <a:off x="3413664" y="164912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D6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4" name="object 994"/>
          <p:cNvSpPr/>
          <p:nvPr/>
        </p:nvSpPr>
        <p:spPr>
          <a:xfrm>
            <a:off x="3413664" y="164379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D7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5" name="object 995"/>
          <p:cNvSpPr/>
          <p:nvPr/>
        </p:nvSpPr>
        <p:spPr>
          <a:xfrm>
            <a:off x="3413664" y="163541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7B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6" name="object 996"/>
          <p:cNvSpPr/>
          <p:nvPr/>
        </p:nvSpPr>
        <p:spPr>
          <a:xfrm>
            <a:off x="3413664" y="162474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7" name="object 997"/>
          <p:cNvSpPr/>
          <p:nvPr/>
        </p:nvSpPr>
        <p:spPr>
          <a:xfrm>
            <a:off x="3413664" y="161636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D8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8" name="object 998"/>
          <p:cNvSpPr/>
          <p:nvPr/>
        </p:nvSpPr>
        <p:spPr>
          <a:xfrm>
            <a:off x="3413664" y="161178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9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9" name="object 999"/>
          <p:cNvSpPr/>
          <p:nvPr/>
        </p:nvSpPr>
        <p:spPr>
          <a:xfrm>
            <a:off x="3413664" y="160493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9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0" name="object 1000"/>
          <p:cNvSpPr/>
          <p:nvPr/>
        </p:nvSpPr>
        <p:spPr>
          <a:xfrm>
            <a:off x="3413664" y="159578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D9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1" name="object 1001"/>
          <p:cNvSpPr/>
          <p:nvPr/>
        </p:nvSpPr>
        <p:spPr>
          <a:xfrm>
            <a:off x="3413664" y="159045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A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2" name="object 1002"/>
          <p:cNvSpPr/>
          <p:nvPr/>
        </p:nvSpPr>
        <p:spPr>
          <a:xfrm>
            <a:off x="3413664" y="158435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DA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3" name="object 1003"/>
          <p:cNvSpPr/>
          <p:nvPr/>
        </p:nvSpPr>
        <p:spPr>
          <a:xfrm>
            <a:off x="3413664" y="157445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DAB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4" name="object 1004"/>
          <p:cNvSpPr/>
          <p:nvPr/>
        </p:nvSpPr>
        <p:spPr>
          <a:xfrm>
            <a:off x="3413664" y="156759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A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5" name="object 1005"/>
          <p:cNvSpPr/>
          <p:nvPr/>
        </p:nvSpPr>
        <p:spPr>
          <a:xfrm>
            <a:off x="3413664" y="156225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DB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6" name="object 1006"/>
          <p:cNvSpPr/>
          <p:nvPr/>
        </p:nvSpPr>
        <p:spPr>
          <a:xfrm>
            <a:off x="3413664" y="155311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B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7" name="object 1007"/>
          <p:cNvSpPr/>
          <p:nvPr/>
        </p:nvSpPr>
        <p:spPr>
          <a:xfrm>
            <a:off x="3413664" y="154625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B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8" name="object 1008"/>
          <p:cNvSpPr/>
          <p:nvPr/>
        </p:nvSpPr>
        <p:spPr>
          <a:xfrm>
            <a:off x="3413664" y="153939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DC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9" name="object 1009"/>
          <p:cNvSpPr/>
          <p:nvPr/>
        </p:nvSpPr>
        <p:spPr>
          <a:xfrm>
            <a:off x="3413664" y="153101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DCC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0" name="object 1010"/>
          <p:cNvSpPr/>
          <p:nvPr/>
        </p:nvSpPr>
        <p:spPr>
          <a:xfrm>
            <a:off x="3413664" y="152492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DDC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1" name="object 1011"/>
          <p:cNvSpPr/>
          <p:nvPr/>
        </p:nvSpPr>
        <p:spPr>
          <a:xfrm>
            <a:off x="3413664" y="15165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D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2" name="object 1012"/>
          <p:cNvSpPr/>
          <p:nvPr/>
        </p:nvSpPr>
        <p:spPr>
          <a:xfrm>
            <a:off x="3413664" y="151044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E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3" name="object 1013"/>
          <p:cNvSpPr/>
          <p:nvPr/>
        </p:nvSpPr>
        <p:spPr>
          <a:xfrm>
            <a:off x="3413664" y="1497489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0" y="12192"/>
                </a:moveTo>
                <a:lnTo>
                  <a:pt x="495300" y="12192"/>
                </a:lnTo>
                <a:lnTo>
                  <a:pt x="4953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4" name="object 1014"/>
          <p:cNvSpPr/>
          <p:nvPr/>
        </p:nvSpPr>
        <p:spPr>
          <a:xfrm>
            <a:off x="3413664" y="149596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E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5" name="object 1015"/>
          <p:cNvSpPr/>
          <p:nvPr/>
        </p:nvSpPr>
        <p:spPr>
          <a:xfrm>
            <a:off x="3413664" y="149063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DF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6" name="object 1016"/>
          <p:cNvSpPr/>
          <p:nvPr/>
        </p:nvSpPr>
        <p:spPr>
          <a:xfrm>
            <a:off x="3413664" y="148224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DF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7" name="object 1017"/>
          <p:cNvSpPr/>
          <p:nvPr/>
        </p:nvSpPr>
        <p:spPr>
          <a:xfrm>
            <a:off x="3413664" y="147234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0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8" name="object 1018"/>
          <p:cNvSpPr/>
          <p:nvPr/>
        </p:nvSpPr>
        <p:spPr>
          <a:xfrm>
            <a:off x="3413664" y="146319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E0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9" name="object 1019"/>
          <p:cNvSpPr/>
          <p:nvPr/>
        </p:nvSpPr>
        <p:spPr>
          <a:xfrm>
            <a:off x="3413664" y="145786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1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0" name="object 1020"/>
          <p:cNvSpPr/>
          <p:nvPr/>
        </p:nvSpPr>
        <p:spPr>
          <a:xfrm>
            <a:off x="3413664" y="145100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1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1" name="object 1021"/>
          <p:cNvSpPr/>
          <p:nvPr/>
        </p:nvSpPr>
        <p:spPr>
          <a:xfrm>
            <a:off x="3413664" y="144186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1C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2" name="object 1022"/>
          <p:cNvSpPr/>
          <p:nvPr/>
        </p:nvSpPr>
        <p:spPr>
          <a:xfrm>
            <a:off x="3413664" y="143729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2C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3" name="object 1023"/>
          <p:cNvSpPr/>
          <p:nvPr/>
        </p:nvSpPr>
        <p:spPr>
          <a:xfrm>
            <a:off x="3413664" y="143119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2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4" name="object 1024"/>
          <p:cNvSpPr/>
          <p:nvPr/>
        </p:nvSpPr>
        <p:spPr>
          <a:xfrm>
            <a:off x="3413664" y="142052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E2C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5" name="object 1025"/>
          <p:cNvSpPr/>
          <p:nvPr/>
        </p:nvSpPr>
        <p:spPr>
          <a:xfrm>
            <a:off x="3413664" y="141443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2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6" name="object 1026"/>
          <p:cNvSpPr/>
          <p:nvPr/>
        </p:nvSpPr>
        <p:spPr>
          <a:xfrm>
            <a:off x="3413664" y="140985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7" name="object 1027"/>
          <p:cNvSpPr/>
          <p:nvPr/>
        </p:nvSpPr>
        <p:spPr>
          <a:xfrm>
            <a:off x="3413664" y="140071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8" name="object 1028"/>
          <p:cNvSpPr/>
          <p:nvPr/>
        </p:nvSpPr>
        <p:spPr>
          <a:xfrm>
            <a:off x="3413664" y="139385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3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9" name="object 1029"/>
          <p:cNvSpPr/>
          <p:nvPr/>
        </p:nvSpPr>
        <p:spPr>
          <a:xfrm>
            <a:off x="3413664" y="138852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E4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0" name="object 1030"/>
          <p:cNvSpPr/>
          <p:nvPr/>
        </p:nvSpPr>
        <p:spPr>
          <a:xfrm>
            <a:off x="3413664" y="137937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4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1" name="object 1031"/>
          <p:cNvSpPr/>
          <p:nvPr/>
        </p:nvSpPr>
        <p:spPr>
          <a:xfrm>
            <a:off x="3413664" y="136947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E5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2" name="object 1032"/>
          <p:cNvSpPr/>
          <p:nvPr/>
        </p:nvSpPr>
        <p:spPr>
          <a:xfrm>
            <a:off x="3413664" y="136109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5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3" name="object 1033"/>
          <p:cNvSpPr/>
          <p:nvPr/>
        </p:nvSpPr>
        <p:spPr>
          <a:xfrm>
            <a:off x="3413664" y="135575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6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4" name="object 1034"/>
          <p:cNvSpPr/>
          <p:nvPr/>
        </p:nvSpPr>
        <p:spPr>
          <a:xfrm>
            <a:off x="3413664" y="134889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E6D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5" name="object 1035"/>
          <p:cNvSpPr/>
          <p:nvPr/>
        </p:nvSpPr>
        <p:spPr>
          <a:xfrm>
            <a:off x="3413664" y="133975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6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6" name="object 1036"/>
          <p:cNvSpPr/>
          <p:nvPr/>
        </p:nvSpPr>
        <p:spPr>
          <a:xfrm>
            <a:off x="3413664" y="133289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E7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7" name="object 1037"/>
          <p:cNvSpPr/>
          <p:nvPr/>
        </p:nvSpPr>
        <p:spPr>
          <a:xfrm>
            <a:off x="3413664" y="1317657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0" y="12192"/>
                </a:moveTo>
                <a:lnTo>
                  <a:pt x="495300" y="12192"/>
                </a:lnTo>
                <a:lnTo>
                  <a:pt x="4953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8" name="object 1038"/>
          <p:cNvSpPr/>
          <p:nvPr/>
        </p:nvSpPr>
        <p:spPr>
          <a:xfrm>
            <a:off x="3413664" y="131460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E7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9" name="object 1039"/>
          <p:cNvSpPr/>
          <p:nvPr/>
        </p:nvSpPr>
        <p:spPr>
          <a:xfrm>
            <a:off x="3413664" y="130775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E8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0" name="object 1040"/>
          <p:cNvSpPr/>
          <p:nvPr/>
        </p:nvSpPr>
        <p:spPr>
          <a:xfrm>
            <a:off x="3413664" y="129860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8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1" name="object 1041"/>
          <p:cNvSpPr/>
          <p:nvPr/>
        </p:nvSpPr>
        <p:spPr>
          <a:xfrm>
            <a:off x="3413664" y="129174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8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2" name="object 1042"/>
          <p:cNvSpPr/>
          <p:nvPr/>
        </p:nvSpPr>
        <p:spPr>
          <a:xfrm>
            <a:off x="3413664" y="128641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9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3" name="object 1043"/>
          <p:cNvSpPr/>
          <p:nvPr/>
        </p:nvSpPr>
        <p:spPr>
          <a:xfrm>
            <a:off x="3413664" y="127727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9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4" name="object 1044"/>
          <p:cNvSpPr/>
          <p:nvPr/>
        </p:nvSpPr>
        <p:spPr>
          <a:xfrm>
            <a:off x="3413664" y="126736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EA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5" name="object 1045"/>
          <p:cNvSpPr/>
          <p:nvPr/>
        </p:nvSpPr>
        <p:spPr>
          <a:xfrm>
            <a:off x="3413664" y="125898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A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6" name="object 1046"/>
          <p:cNvSpPr/>
          <p:nvPr/>
        </p:nvSpPr>
        <p:spPr>
          <a:xfrm>
            <a:off x="3413664" y="125364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B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7" name="object 1047"/>
          <p:cNvSpPr/>
          <p:nvPr/>
        </p:nvSpPr>
        <p:spPr>
          <a:xfrm>
            <a:off x="3413664" y="124831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8" name="object 1048"/>
          <p:cNvSpPr/>
          <p:nvPr/>
        </p:nvSpPr>
        <p:spPr>
          <a:xfrm>
            <a:off x="3416711" y="1247553"/>
            <a:ext cx="489584" cy="818515"/>
          </a:xfrm>
          <a:custGeom>
            <a:avLst/>
            <a:gdLst/>
            <a:ahLst/>
            <a:cxnLst/>
            <a:rect l="l" t="t" r="r" b="b"/>
            <a:pathLst>
              <a:path w="489585" h="818514">
                <a:moveTo>
                  <a:pt x="0" y="0"/>
                </a:moveTo>
                <a:lnTo>
                  <a:pt x="489203" y="0"/>
                </a:lnTo>
                <a:lnTo>
                  <a:pt x="489203" y="818387"/>
                </a:lnTo>
                <a:lnTo>
                  <a:pt x="0" y="818387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692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9" name="object 1049"/>
          <p:cNvSpPr/>
          <p:nvPr/>
        </p:nvSpPr>
        <p:spPr>
          <a:xfrm>
            <a:off x="1915572" y="220780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0" name="object 1050"/>
          <p:cNvSpPr/>
          <p:nvPr/>
        </p:nvSpPr>
        <p:spPr>
          <a:xfrm>
            <a:off x="1915572" y="219891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7" y="7620"/>
                </a:lnTo>
                <a:lnTo>
                  <a:pt x="3047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1" name="object 1051"/>
          <p:cNvSpPr/>
          <p:nvPr/>
        </p:nvSpPr>
        <p:spPr>
          <a:xfrm>
            <a:off x="2409348" y="21985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7" y="0"/>
                </a:moveTo>
                <a:lnTo>
                  <a:pt x="0" y="0"/>
                </a:lnTo>
                <a:lnTo>
                  <a:pt x="0" y="7620"/>
                </a:lnTo>
                <a:lnTo>
                  <a:pt x="3047" y="7620"/>
                </a:lnTo>
                <a:lnTo>
                  <a:pt x="3047" y="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2" name="object 1052"/>
          <p:cNvSpPr/>
          <p:nvPr/>
        </p:nvSpPr>
        <p:spPr>
          <a:xfrm>
            <a:off x="1915572" y="218481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3" name="object 1053"/>
          <p:cNvSpPr/>
          <p:nvPr/>
        </p:nvSpPr>
        <p:spPr>
          <a:xfrm>
            <a:off x="2409348" y="218481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4" name="object 1054"/>
          <p:cNvSpPr/>
          <p:nvPr/>
        </p:nvSpPr>
        <p:spPr>
          <a:xfrm>
            <a:off x="1915572" y="21695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5" name="object 1055"/>
          <p:cNvSpPr/>
          <p:nvPr/>
        </p:nvSpPr>
        <p:spPr>
          <a:xfrm>
            <a:off x="2409348" y="21695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6" name="object 1056"/>
          <p:cNvSpPr/>
          <p:nvPr/>
        </p:nvSpPr>
        <p:spPr>
          <a:xfrm>
            <a:off x="1915572" y="215585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7" name="object 1057"/>
          <p:cNvSpPr/>
          <p:nvPr/>
        </p:nvSpPr>
        <p:spPr>
          <a:xfrm>
            <a:off x="2409348" y="215585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8" name="object 1058"/>
          <p:cNvSpPr/>
          <p:nvPr/>
        </p:nvSpPr>
        <p:spPr>
          <a:xfrm>
            <a:off x="1915572" y="214214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9" name="object 1059"/>
          <p:cNvSpPr/>
          <p:nvPr/>
        </p:nvSpPr>
        <p:spPr>
          <a:xfrm>
            <a:off x="2409348" y="214214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0" name="object 1060"/>
          <p:cNvSpPr/>
          <p:nvPr/>
        </p:nvSpPr>
        <p:spPr>
          <a:xfrm>
            <a:off x="1915572" y="21269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1" name="object 1061"/>
          <p:cNvSpPr/>
          <p:nvPr/>
        </p:nvSpPr>
        <p:spPr>
          <a:xfrm>
            <a:off x="2409348" y="21269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2" name="object 1062"/>
          <p:cNvSpPr/>
          <p:nvPr/>
        </p:nvSpPr>
        <p:spPr>
          <a:xfrm>
            <a:off x="1915572" y="21131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3" name="object 1063"/>
          <p:cNvSpPr/>
          <p:nvPr/>
        </p:nvSpPr>
        <p:spPr>
          <a:xfrm>
            <a:off x="2409348" y="21131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4" name="object 1064"/>
          <p:cNvSpPr/>
          <p:nvPr/>
        </p:nvSpPr>
        <p:spPr>
          <a:xfrm>
            <a:off x="1915572" y="20994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5" name="object 1065"/>
          <p:cNvSpPr/>
          <p:nvPr/>
        </p:nvSpPr>
        <p:spPr>
          <a:xfrm>
            <a:off x="2409348" y="20994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6" name="object 1066"/>
          <p:cNvSpPr/>
          <p:nvPr/>
        </p:nvSpPr>
        <p:spPr>
          <a:xfrm>
            <a:off x="1915572" y="20857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7" name="object 1067"/>
          <p:cNvSpPr/>
          <p:nvPr/>
        </p:nvSpPr>
        <p:spPr>
          <a:xfrm>
            <a:off x="2409348" y="20857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8" name="object 1068"/>
          <p:cNvSpPr/>
          <p:nvPr/>
        </p:nvSpPr>
        <p:spPr>
          <a:xfrm>
            <a:off x="1915572" y="20705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9" name="object 1069"/>
          <p:cNvSpPr/>
          <p:nvPr/>
        </p:nvSpPr>
        <p:spPr>
          <a:xfrm>
            <a:off x="2409348" y="20705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0" name="object 1070"/>
          <p:cNvSpPr/>
          <p:nvPr/>
        </p:nvSpPr>
        <p:spPr>
          <a:xfrm>
            <a:off x="1915572" y="205679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1" name="object 1071"/>
          <p:cNvSpPr/>
          <p:nvPr/>
        </p:nvSpPr>
        <p:spPr>
          <a:xfrm>
            <a:off x="2409348" y="205679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2" name="object 1072"/>
          <p:cNvSpPr/>
          <p:nvPr/>
        </p:nvSpPr>
        <p:spPr>
          <a:xfrm>
            <a:off x="1915572" y="204308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3" name="object 1073"/>
          <p:cNvSpPr/>
          <p:nvPr/>
        </p:nvSpPr>
        <p:spPr>
          <a:xfrm>
            <a:off x="2409348" y="204308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4" name="object 1074"/>
          <p:cNvSpPr/>
          <p:nvPr/>
        </p:nvSpPr>
        <p:spPr>
          <a:xfrm>
            <a:off x="1915572" y="202936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5" name="object 1075"/>
          <p:cNvSpPr/>
          <p:nvPr/>
        </p:nvSpPr>
        <p:spPr>
          <a:xfrm>
            <a:off x="2409348" y="202936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6" name="object 1076"/>
          <p:cNvSpPr/>
          <p:nvPr/>
        </p:nvSpPr>
        <p:spPr>
          <a:xfrm>
            <a:off x="1915572" y="20141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7" name="object 1077"/>
          <p:cNvSpPr/>
          <p:nvPr/>
        </p:nvSpPr>
        <p:spPr>
          <a:xfrm>
            <a:off x="2409348" y="20141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8" name="object 1078"/>
          <p:cNvSpPr/>
          <p:nvPr/>
        </p:nvSpPr>
        <p:spPr>
          <a:xfrm>
            <a:off x="1915572" y="20004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9" name="object 1079"/>
          <p:cNvSpPr/>
          <p:nvPr/>
        </p:nvSpPr>
        <p:spPr>
          <a:xfrm>
            <a:off x="2409348" y="20004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0" name="object 1080"/>
          <p:cNvSpPr/>
          <p:nvPr/>
        </p:nvSpPr>
        <p:spPr>
          <a:xfrm>
            <a:off x="1915572" y="19866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1" name="object 1081"/>
          <p:cNvSpPr/>
          <p:nvPr/>
        </p:nvSpPr>
        <p:spPr>
          <a:xfrm>
            <a:off x="2409348" y="19866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2" name="object 1082"/>
          <p:cNvSpPr/>
          <p:nvPr/>
        </p:nvSpPr>
        <p:spPr>
          <a:xfrm>
            <a:off x="1915572" y="19729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3" name="object 1083"/>
          <p:cNvSpPr/>
          <p:nvPr/>
        </p:nvSpPr>
        <p:spPr>
          <a:xfrm>
            <a:off x="2409348" y="19729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4" name="object 1084"/>
          <p:cNvSpPr/>
          <p:nvPr/>
        </p:nvSpPr>
        <p:spPr>
          <a:xfrm>
            <a:off x="1915572" y="195773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5" name="object 1085"/>
          <p:cNvSpPr/>
          <p:nvPr/>
        </p:nvSpPr>
        <p:spPr>
          <a:xfrm>
            <a:off x="2409348" y="195773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6" name="object 1086"/>
          <p:cNvSpPr/>
          <p:nvPr/>
        </p:nvSpPr>
        <p:spPr>
          <a:xfrm>
            <a:off x="1915572" y="194402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7" name="object 1087"/>
          <p:cNvSpPr/>
          <p:nvPr/>
        </p:nvSpPr>
        <p:spPr>
          <a:xfrm>
            <a:off x="2409348" y="194402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8" name="object 1088"/>
          <p:cNvSpPr/>
          <p:nvPr/>
        </p:nvSpPr>
        <p:spPr>
          <a:xfrm>
            <a:off x="1915572" y="19303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9" name="object 1089"/>
          <p:cNvSpPr/>
          <p:nvPr/>
        </p:nvSpPr>
        <p:spPr>
          <a:xfrm>
            <a:off x="2409348" y="19303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0" name="object 1090"/>
          <p:cNvSpPr/>
          <p:nvPr/>
        </p:nvSpPr>
        <p:spPr>
          <a:xfrm>
            <a:off x="1915572" y="1915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1" name="object 1091"/>
          <p:cNvSpPr/>
          <p:nvPr/>
        </p:nvSpPr>
        <p:spPr>
          <a:xfrm>
            <a:off x="2409348" y="1915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2" name="object 1092"/>
          <p:cNvSpPr/>
          <p:nvPr/>
        </p:nvSpPr>
        <p:spPr>
          <a:xfrm>
            <a:off x="1915572" y="190134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3" name="object 1093"/>
          <p:cNvSpPr/>
          <p:nvPr/>
        </p:nvSpPr>
        <p:spPr>
          <a:xfrm>
            <a:off x="2409348" y="190134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4" name="object 1094"/>
          <p:cNvSpPr/>
          <p:nvPr/>
        </p:nvSpPr>
        <p:spPr>
          <a:xfrm>
            <a:off x="1915572" y="188763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5" name="object 1095"/>
          <p:cNvSpPr/>
          <p:nvPr/>
        </p:nvSpPr>
        <p:spPr>
          <a:xfrm>
            <a:off x="2409348" y="188763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6" name="object 1096"/>
          <p:cNvSpPr/>
          <p:nvPr/>
        </p:nvSpPr>
        <p:spPr>
          <a:xfrm>
            <a:off x="1915572" y="18739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7" name="object 1097"/>
          <p:cNvSpPr/>
          <p:nvPr/>
        </p:nvSpPr>
        <p:spPr>
          <a:xfrm>
            <a:off x="2409348" y="18739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8" name="object 1098"/>
          <p:cNvSpPr/>
          <p:nvPr/>
        </p:nvSpPr>
        <p:spPr>
          <a:xfrm>
            <a:off x="1915572" y="18586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9" name="object 1099"/>
          <p:cNvSpPr/>
          <p:nvPr/>
        </p:nvSpPr>
        <p:spPr>
          <a:xfrm>
            <a:off x="2409348" y="18586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0" name="object 1100"/>
          <p:cNvSpPr/>
          <p:nvPr/>
        </p:nvSpPr>
        <p:spPr>
          <a:xfrm>
            <a:off x="1915572" y="184496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1" name="object 1101"/>
          <p:cNvSpPr/>
          <p:nvPr/>
        </p:nvSpPr>
        <p:spPr>
          <a:xfrm>
            <a:off x="2409348" y="184496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2" name="object 1102"/>
          <p:cNvSpPr/>
          <p:nvPr/>
        </p:nvSpPr>
        <p:spPr>
          <a:xfrm>
            <a:off x="1915572" y="18312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3" name="object 1103"/>
          <p:cNvSpPr/>
          <p:nvPr/>
        </p:nvSpPr>
        <p:spPr>
          <a:xfrm>
            <a:off x="2409348" y="18312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4" name="object 1104"/>
          <p:cNvSpPr/>
          <p:nvPr/>
        </p:nvSpPr>
        <p:spPr>
          <a:xfrm>
            <a:off x="1915572" y="18175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5" name="object 1105"/>
          <p:cNvSpPr/>
          <p:nvPr/>
        </p:nvSpPr>
        <p:spPr>
          <a:xfrm>
            <a:off x="2409348" y="18175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6" name="object 1106"/>
          <p:cNvSpPr/>
          <p:nvPr/>
        </p:nvSpPr>
        <p:spPr>
          <a:xfrm>
            <a:off x="1915572" y="18022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7" name="object 1107"/>
          <p:cNvSpPr/>
          <p:nvPr/>
        </p:nvSpPr>
        <p:spPr>
          <a:xfrm>
            <a:off x="2409348" y="18022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8" name="object 1108"/>
          <p:cNvSpPr/>
          <p:nvPr/>
        </p:nvSpPr>
        <p:spPr>
          <a:xfrm>
            <a:off x="1915572" y="178857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9" name="object 1109"/>
          <p:cNvSpPr/>
          <p:nvPr/>
        </p:nvSpPr>
        <p:spPr>
          <a:xfrm>
            <a:off x="2409348" y="178857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0" name="object 1110"/>
          <p:cNvSpPr/>
          <p:nvPr/>
        </p:nvSpPr>
        <p:spPr>
          <a:xfrm>
            <a:off x="1915572" y="17702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1" name="object 1111"/>
          <p:cNvSpPr/>
          <p:nvPr/>
        </p:nvSpPr>
        <p:spPr>
          <a:xfrm>
            <a:off x="2409348" y="17702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2" name="object 1112"/>
          <p:cNvSpPr/>
          <p:nvPr/>
        </p:nvSpPr>
        <p:spPr>
          <a:xfrm>
            <a:off x="1915572" y="1745901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3" name="object 1113"/>
          <p:cNvSpPr/>
          <p:nvPr/>
        </p:nvSpPr>
        <p:spPr>
          <a:xfrm>
            <a:off x="2409348" y="1745901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4" name="object 1114"/>
          <p:cNvSpPr/>
          <p:nvPr/>
        </p:nvSpPr>
        <p:spPr>
          <a:xfrm>
            <a:off x="1915572" y="1723041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59"/>
                </a:lnTo>
                <a:lnTo>
                  <a:pt x="3047" y="22859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5" name="object 1115"/>
          <p:cNvSpPr/>
          <p:nvPr/>
        </p:nvSpPr>
        <p:spPr>
          <a:xfrm>
            <a:off x="2409348" y="1723041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59"/>
                </a:lnTo>
                <a:lnTo>
                  <a:pt x="3047" y="22859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6" name="object 1116"/>
          <p:cNvSpPr/>
          <p:nvPr/>
        </p:nvSpPr>
        <p:spPr>
          <a:xfrm>
            <a:off x="1915572" y="1701705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7" y="0"/>
                </a:moveTo>
                <a:lnTo>
                  <a:pt x="0" y="0"/>
                </a:lnTo>
                <a:lnTo>
                  <a:pt x="0" y="21336"/>
                </a:lnTo>
                <a:lnTo>
                  <a:pt x="3047" y="21336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7" name="object 1117"/>
          <p:cNvSpPr/>
          <p:nvPr/>
        </p:nvSpPr>
        <p:spPr>
          <a:xfrm>
            <a:off x="2409348" y="1701705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7" y="0"/>
                </a:moveTo>
                <a:lnTo>
                  <a:pt x="0" y="0"/>
                </a:lnTo>
                <a:lnTo>
                  <a:pt x="0" y="21336"/>
                </a:lnTo>
                <a:lnTo>
                  <a:pt x="3047" y="21336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8" name="object 1118"/>
          <p:cNvSpPr/>
          <p:nvPr/>
        </p:nvSpPr>
        <p:spPr>
          <a:xfrm>
            <a:off x="1915572" y="168494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9" name="object 1119"/>
          <p:cNvSpPr/>
          <p:nvPr/>
        </p:nvSpPr>
        <p:spPr>
          <a:xfrm>
            <a:off x="2409348" y="168494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0" name="object 1120"/>
          <p:cNvSpPr/>
          <p:nvPr/>
        </p:nvSpPr>
        <p:spPr>
          <a:xfrm>
            <a:off x="1915572" y="166665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1" name="object 1121"/>
          <p:cNvSpPr/>
          <p:nvPr/>
        </p:nvSpPr>
        <p:spPr>
          <a:xfrm>
            <a:off x="2409348" y="166665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2" name="object 1122"/>
          <p:cNvSpPr/>
          <p:nvPr/>
        </p:nvSpPr>
        <p:spPr>
          <a:xfrm>
            <a:off x="1915572" y="164988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3" name="object 1123"/>
          <p:cNvSpPr/>
          <p:nvPr/>
        </p:nvSpPr>
        <p:spPr>
          <a:xfrm>
            <a:off x="2409348" y="164988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4" name="object 1124"/>
          <p:cNvSpPr/>
          <p:nvPr/>
        </p:nvSpPr>
        <p:spPr>
          <a:xfrm>
            <a:off x="1915572" y="16316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5" name="object 1125"/>
          <p:cNvSpPr/>
          <p:nvPr/>
        </p:nvSpPr>
        <p:spPr>
          <a:xfrm>
            <a:off x="2409348" y="16316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6" name="object 1126"/>
          <p:cNvSpPr/>
          <p:nvPr/>
        </p:nvSpPr>
        <p:spPr>
          <a:xfrm>
            <a:off x="1915572" y="161331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7" name="object 1127"/>
          <p:cNvSpPr/>
          <p:nvPr/>
        </p:nvSpPr>
        <p:spPr>
          <a:xfrm>
            <a:off x="2409348" y="161331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8" name="object 1128"/>
          <p:cNvSpPr/>
          <p:nvPr/>
        </p:nvSpPr>
        <p:spPr>
          <a:xfrm>
            <a:off x="1915572" y="159654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9" name="object 1129"/>
          <p:cNvSpPr/>
          <p:nvPr/>
        </p:nvSpPr>
        <p:spPr>
          <a:xfrm>
            <a:off x="2409348" y="159654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0" name="object 1130"/>
          <p:cNvSpPr/>
          <p:nvPr/>
        </p:nvSpPr>
        <p:spPr>
          <a:xfrm>
            <a:off x="1915572" y="15782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1" name="object 1131"/>
          <p:cNvSpPr/>
          <p:nvPr/>
        </p:nvSpPr>
        <p:spPr>
          <a:xfrm>
            <a:off x="2409348" y="15782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2" name="object 1132"/>
          <p:cNvSpPr/>
          <p:nvPr/>
        </p:nvSpPr>
        <p:spPr>
          <a:xfrm>
            <a:off x="1915572" y="156149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3" name="object 1133"/>
          <p:cNvSpPr/>
          <p:nvPr/>
        </p:nvSpPr>
        <p:spPr>
          <a:xfrm>
            <a:off x="2409348" y="156149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4" name="object 1134"/>
          <p:cNvSpPr/>
          <p:nvPr/>
        </p:nvSpPr>
        <p:spPr>
          <a:xfrm>
            <a:off x="1915572" y="154320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5" name="object 1135"/>
          <p:cNvSpPr/>
          <p:nvPr/>
        </p:nvSpPr>
        <p:spPr>
          <a:xfrm>
            <a:off x="2409348" y="154320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6" name="object 1136"/>
          <p:cNvSpPr/>
          <p:nvPr/>
        </p:nvSpPr>
        <p:spPr>
          <a:xfrm>
            <a:off x="1915572" y="152492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7" name="object 1137"/>
          <p:cNvSpPr/>
          <p:nvPr/>
        </p:nvSpPr>
        <p:spPr>
          <a:xfrm>
            <a:off x="2409348" y="152492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8" name="object 1138"/>
          <p:cNvSpPr/>
          <p:nvPr/>
        </p:nvSpPr>
        <p:spPr>
          <a:xfrm>
            <a:off x="1915572" y="150815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9" name="object 1139"/>
          <p:cNvSpPr/>
          <p:nvPr/>
        </p:nvSpPr>
        <p:spPr>
          <a:xfrm>
            <a:off x="2409348" y="150815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0" name="object 1140"/>
          <p:cNvSpPr/>
          <p:nvPr/>
        </p:nvSpPr>
        <p:spPr>
          <a:xfrm>
            <a:off x="1915572" y="148986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1" name="object 1141"/>
          <p:cNvSpPr/>
          <p:nvPr/>
        </p:nvSpPr>
        <p:spPr>
          <a:xfrm>
            <a:off x="2409348" y="148986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2" name="object 1142"/>
          <p:cNvSpPr/>
          <p:nvPr/>
        </p:nvSpPr>
        <p:spPr>
          <a:xfrm>
            <a:off x="1915572" y="14868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3" name="object 1143"/>
          <p:cNvSpPr/>
          <p:nvPr/>
        </p:nvSpPr>
        <p:spPr>
          <a:xfrm>
            <a:off x="2409348" y="14868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4" name="object 1144"/>
          <p:cNvSpPr/>
          <p:nvPr/>
        </p:nvSpPr>
        <p:spPr>
          <a:xfrm>
            <a:off x="1915572" y="14731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5" name="object 1145"/>
          <p:cNvSpPr/>
          <p:nvPr/>
        </p:nvSpPr>
        <p:spPr>
          <a:xfrm>
            <a:off x="2409348" y="14731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6" name="object 1146"/>
          <p:cNvSpPr/>
          <p:nvPr/>
        </p:nvSpPr>
        <p:spPr>
          <a:xfrm>
            <a:off x="1915572" y="146396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7" name="object 1147"/>
          <p:cNvSpPr/>
          <p:nvPr/>
        </p:nvSpPr>
        <p:spPr>
          <a:xfrm>
            <a:off x="2409348" y="146396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8" name="object 1148"/>
          <p:cNvSpPr/>
          <p:nvPr/>
        </p:nvSpPr>
        <p:spPr>
          <a:xfrm>
            <a:off x="1915572" y="14548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9" name="object 1149"/>
          <p:cNvSpPr/>
          <p:nvPr/>
        </p:nvSpPr>
        <p:spPr>
          <a:xfrm>
            <a:off x="2409348" y="14548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0" name="object 1150"/>
          <p:cNvSpPr/>
          <p:nvPr/>
        </p:nvSpPr>
        <p:spPr>
          <a:xfrm>
            <a:off x="1915572" y="14395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1" name="object 1151"/>
          <p:cNvSpPr/>
          <p:nvPr/>
        </p:nvSpPr>
        <p:spPr>
          <a:xfrm>
            <a:off x="2409348" y="14395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2" name="object 1152"/>
          <p:cNvSpPr/>
          <p:nvPr/>
        </p:nvSpPr>
        <p:spPr>
          <a:xfrm>
            <a:off x="1915572" y="14365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3" name="object 1153"/>
          <p:cNvSpPr/>
          <p:nvPr/>
        </p:nvSpPr>
        <p:spPr>
          <a:xfrm>
            <a:off x="2409348" y="14365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4" name="object 1154"/>
          <p:cNvSpPr/>
          <p:nvPr/>
        </p:nvSpPr>
        <p:spPr>
          <a:xfrm>
            <a:off x="1915572" y="14197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5" name="object 1155"/>
          <p:cNvSpPr/>
          <p:nvPr/>
        </p:nvSpPr>
        <p:spPr>
          <a:xfrm>
            <a:off x="2409348" y="14197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6" name="object 1156"/>
          <p:cNvSpPr/>
          <p:nvPr/>
        </p:nvSpPr>
        <p:spPr>
          <a:xfrm>
            <a:off x="1915572" y="14014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7" name="object 1157"/>
          <p:cNvSpPr/>
          <p:nvPr/>
        </p:nvSpPr>
        <p:spPr>
          <a:xfrm>
            <a:off x="2409348" y="14014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8" name="object 1158"/>
          <p:cNvSpPr/>
          <p:nvPr/>
        </p:nvSpPr>
        <p:spPr>
          <a:xfrm>
            <a:off x="1915572" y="13847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9" name="object 1159"/>
          <p:cNvSpPr/>
          <p:nvPr/>
        </p:nvSpPr>
        <p:spPr>
          <a:xfrm>
            <a:off x="2409348" y="13847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0" name="object 1160"/>
          <p:cNvSpPr/>
          <p:nvPr/>
        </p:nvSpPr>
        <p:spPr>
          <a:xfrm>
            <a:off x="1915572" y="13664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1" name="object 1161"/>
          <p:cNvSpPr/>
          <p:nvPr/>
        </p:nvSpPr>
        <p:spPr>
          <a:xfrm>
            <a:off x="2409348" y="13664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2" name="object 1162"/>
          <p:cNvSpPr/>
          <p:nvPr/>
        </p:nvSpPr>
        <p:spPr>
          <a:xfrm>
            <a:off x="1915572" y="13496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3" name="object 1163"/>
          <p:cNvSpPr/>
          <p:nvPr/>
        </p:nvSpPr>
        <p:spPr>
          <a:xfrm>
            <a:off x="2409348" y="13496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4" name="object 1164"/>
          <p:cNvSpPr/>
          <p:nvPr/>
        </p:nvSpPr>
        <p:spPr>
          <a:xfrm>
            <a:off x="1915572" y="134661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5" name="object 1165"/>
          <p:cNvSpPr/>
          <p:nvPr/>
        </p:nvSpPr>
        <p:spPr>
          <a:xfrm>
            <a:off x="2409348" y="134661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6" name="object 1166"/>
          <p:cNvSpPr/>
          <p:nvPr/>
        </p:nvSpPr>
        <p:spPr>
          <a:xfrm>
            <a:off x="1915572" y="13313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7" name="object 1167"/>
          <p:cNvSpPr/>
          <p:nvPr/>
        </p:nvSpPr>
        <p:spPr>
          <a:xfrm>
            <a:off x="2409348" y="13313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8" name="object 1168"/>
          <p:cNvSpPr/>
          <p:nvPr/>
        </p:nvSpPr>
        <p:spPr>
          <a:xfrm>
            <a:off x="1915572" y="132222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9" name="object 1169"/>
          <p:cNvSpPr/>
          <p:nvPr/>
        </p:nvSpPr>
        <p:spPr>
          <a:xfrm>
            <a:off x="2409348" y="132222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0" name="object 1170"/>
          <p:cNvSpPr/>
          <p:nvPr/>
        </p:nvSpPr>
        <p:spPr>
          <a:xfrm>
            <a:off x="1915572" y="13130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1" name="object 1171"/>
          <p:cNvSpPr/>
          <p:nvPr/>
        </p:nvSpPr>
        <p:spPr>
          <a:xfrm>
            <a:off x="2409348" y="13130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2" name="object 1172"/>
          <p:cNvSpPr/>
          <p:nvPr/>
        </p:nvSpPr>
        <p:spPr>
          <a:xfrm>
            <a:off x="1915572" y="12993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3" name="object 1173"/>
          <p:cNvSpPr/>
          <p:nvPr/>
        </p:nvSpPr>
        <p:spPr>
          <a:xfrm>
            <a:off x="2409348" y="12993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4" name="object 1174"/>
          <p:cNvSpPr/>
          <p:nvPr/>
        </p:nvSpPr>
        <p:spPr>
          <a:xfrm>
            <a:off x="1915572" y="12963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5" name="object 1175"/>
          <p:cNvSpPr/>
          <p:nvPr/>
        </p:nvSpPr>
        <p:spPr>
          <a:xfrm>
            <a:off x="2409348" y="12963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6" name="object 1176"/>
          <p:cNvSpPr/>
          <p:nvPr/>
        </p:nvSpPr>
        <p:spPr>
          <a:xfrm>
            <a:off x="1915572" y="127803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7" name="object 1177"/>
          <p:cNvSpPr/>
          <p:nvPr/>
        </p:nvSpPr>
        <p:spPr>
          <a:xfrm>
            <a:off x="2409348" y="127803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8" name="object 1178"/>
          <p:cNvSpPr/>
          <p:nvPr/>
        </p:nvSpPr>
        <p:spPr>
          <a:xfrm>
            <a:off x="1915572" y="127498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9" name="object 1179"/>
          <p:cNvSpPr/>
          <p:nvPr/>
        </p:nvSpPr>
        <p:spPr>
          <a:xfrm>
            <a:off x="2409348" y="127498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0" name="object 1180"/>
          <p:cNvSpPr/>
          <p:nvPr/>
        </p:nvSpPr>
        <p:spPr>
          <a:xfrm>
            <a:off x="1915572" y="12612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1" name="object 1181"/>
          <p:cNvSpPr/>
          <p:nvPr/>
        </p:nvSpPr>
        <p:spPr>
          <a:xfrm>
            <a:off x="2409348" y="12612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2" name="object 1182"/>
          <p:cNvSpPr/>
          <p:nvPr/>
        </p:nvSpPr>
        <p:spPr>
          <a:xfrm>
            <a:off x="1915572" y="12521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3" name="object 1183"/>
          <p:cNvSpPr/>
          <p:nvPr/>
        </p:nvSpPr>
        <p:spPr>
          <a:xfrm>
            <a:off x="2409348" y="12521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4" name="object 1184"/>
          <p:cNvSpPr/>
          <p:nvPr/>
        </p:nvSpPr>
        <p:spPr>
          <a:xfrm>
            <a:off x="1915572" y="124298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5" name="object 1185"/>
          <p:cNvSpPr/>
          <p:nvPr/>
        </p:nvSpPr>
        <p:spPr>
          <a:xfrm>
            <a:off x="2409348" y="124298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6" name="object 1186"/>
          <p:cNvSpPr/>
          <p:nvPr/>
        </p:nvSpPr>
        <p:spPr>
          <a:xfrm>
            <a:off x="1915572" y="122774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7" name="object 1187"/>
          <p:cNvSpPr/>
          <p:nvPr/>
        </p:nvSpPr>
        <p:spPr>
          <a:xfrm>
            <a:off x="2409348" y="122774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8" name="object 1188"/>
          <p:cNvSpPr/>
          <p:nvPr/>
        </p:nvSpPr>
        <p:spPr>
          <a:xfrm>
            <a:off x="1915572" y="122469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9" name="object 1189"/>
          <p:cNvSpPr/>
          <p:nvPr/>
        </p:nvSpPr>
        <p:spPr>
          <a:xfrm>
            <a:off x="2409348" y="122469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0" name="object 1190"/>
          <p:cNvSpPr/>
          <p:nvPr/>
        </p:nvSpPr>
        <p:spPr>
          <a:xfrm>
            <a:off x="1915572" y="120792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1" name="object 1191"/>
          <p:cNvSpPr/>
          <p:nvPr/>
        </p:nvSpPr>
        <p:spPr>
          <a:xfrm>
            <a:off x="2409348" y="120792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2" name="object 1192"/>
          <p:cNvSpPr/>
          <p:nvPr/>
        </p:nvSpPr>
        <p:spPr>
          <a:xfrm>
            <a:off x="1915572" y="118964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3" name="object 1193"/>
          <p:cNvSpPr/>
          <p:nvPr/>
        </p:nvSpPr>
        <p:spPr>
          <a:xfrm>
            <a:off x="2409348" y="118964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4" name="object 1194"/>
          <p:cNvSpPr/>
          <p:nvPr/>
        </p:nvSpPr>
        <p:spPr>
          <a:xfrm>
            <a:off x="1915572" y="117287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5" name="object 1195"/>
          <p:cNvSpPr/>
          <p:nvPr/>
        </p:nvSpPr>
        <p:spPr>
          <a:xfrm>
            <a:off x="2409348" y="117287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6" name="object 1196"/>
          <p:cNvSpPr/>
          <p:nvPr/>
        </p:nvSpPr>
        <p:spPr>
          <a:xfrm>
            <a:off x="1915572" y="115458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7" name="object 1197"/>
          <p:cNvSpPr/>
          <p:nvPr/>
        </p:nvSpPr>
        <p:spPr>
          <a:xfrm>
            <a:off x="2409348" y="115458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8" name="object 1198"/>
          <p:cNvSpPr/>
          <p:nvPr/>
        </p:nvSpPr>
        <p:spPr>
          <a:xfrm>
            <a:off x="1915572" y="11363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9" name="object 1199"/>
          <p:cNvSpPr/>
          <p:nvPr/>
        </p:nvSpPr>
        <p:spPr>
          <a:xfrm>
            <a:off x="2409348" y="11363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0" name="object 1200"/>
          <p:cNvSpPr/>
          <p:nvPr/>
        </p:nvSpPr>
        <p:spPr>
          <a:xfrm>
            <a:off x="1915572" y="11195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1" name="object 1201"/>
          <p:cNvSpPr/>
          <p:nvPr/>
        </p:nvSpPr>
        <p:spPr>
          <a:xfrm>
            <a:off x="2409348" y="11195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2" name="object 1202"/>
          <p:cNvSpPr/>
          <p:nvPr/>
        </p:nvSpPr>
        <p:spPr>
          <a:xfrm>
            <a:off x="1915572" y="11012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3" name="object 1203"/>
          <p:cNvSpPr/>
          <p:nvPr/>
        </p:nvSpPr>
        <p:spPr>
          <a:xfrm>
            <a:off x="2409348" y="11012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4" name="object 1204"/>
          <p:cNvSpPr/>
          <p:nvPr/>
        </p:nvSpPr>
        <p:spPr>
          <a:xfrm>
            <a:off x="1915572" y="10844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5" name="object 1205"/>
          <p:cNvSpPr/>
          <p:nvPr/>
        </p:nvSpPr>
        <p:spPr>
          <a:xfrm>
            <a:off x="2409348" y="10844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6" name="object 1206"/>
          <p:cNvSpPr/>
          <p:nvPr/>
        </p:nvSpPr>
        <p:spPr>
          <a:xfrm>
            <a:off x="1915572" y="1074960"/>
            <a:ext cx="3175" cy="10160"/>
          </a:xfrm>
          <a:custGeom>
            <a:avLst/>
            <a:gdLst/>
            <a:ahLst/>
            <a:cxnLst/>
            <a:rect l="l" t="t" r="r" b="b"/>
            <a:pathLst>
              <a:path w="3175" h="10159">
                <a:moveTo>
                  <a:pt x="0" y="10159"/>
                </a:moveTo>
                <a:lnTo>
                  <a:pt x="3047" y="10159"/>
                </a:lnTo>
                <a:lnTo>
                  <a:pt x="3047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7" name="object 1207"/>
          <p:cNvSpPr/>
          <p:nvPr/>
        </p:nvSpPr>
        <p:spPr>
          <a:xfrm>
            <a:off x="1915572" y="107369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E5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8" name="object 1208"/>
          <p:cNvSpPr/>
          <p:nvPr/>
        </p:nvSpPr>
        <p:spPr>
          <a:xfrm>
            <a:off x="2409348" y="10753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9" name="object 1209"/>
          <p:cNvSpPr/>
          <p:nvPr/>
        </p:nvSpPr>
        <p:spPr>
          <a:xfrm>
            <a:off x="1915572" y="220780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0" name="object 1210"/>
          <p:cNvSpPr/>
          <p:nvPr/>
        </p:nvSpPr>
        <p:spPr>
          <a:xfrm>
            <a:off x="1915572" y="219891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7" y="7620"/>
                </a:lnTo>
                <a:lnTo>
                  <a:pt x="3047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1" name="object 1211"/>
          <p:cNvSpPr/>
          <p:nvPr/>
        </p:nvSpPr>
        <p:spPr>
          <a:xfrm>
            <a:off x="2409348" y="21985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7" y="0"/>
                </a:moveTo>
                <a:lnTo>
                  <a:pt x="0" y="0"/>
                </a:lnTo>
                <a:lnTo>
                  <a:pt x="0" y="7620"/>
                </a:lnTo>
                <a:lnTo>
                  <a:pt x="3047" y="7620"/>
                </a:lnTo>
                <a:lnTo>
                  <a:pt x="3047" y="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2" name="object 1212"/>
          <p:cNvSpPr/>
          <p:nvPr/>
        </p:nvSpPr>
        <p:spPr>
          <a:xfrm>
            <a:off x="1915572" y="218481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3" name="object 1213"/>
          <p:cNvSpPr/>
          <p:nvPr/>
        </p:nvSpPr>
        <p:spPr>
          <a:xfrm>
            <a:off x="2409348" y="218481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4" name="object 1214"/>
          <p:cNvSpPr/>
          <p:nvPr/>
        </p:nvSpPr>
        <p:spPr>
          <a:xfrm>
            <a:off x="1915572" y="21695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5" name="object 1215"/>
          <p:cNvSpPr/>
          <p:nvPr/>
        </p:nvSpPr>
        <p:spPr>
          <a:xfrm>
            <a:off x="2409348" y="21695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6" name="object 1216"/>
          <p:cNvSpPr/>
          <p:nvPr/>
        </p:nvSpPr>
        <p:spPr>
          <a:xfrm>
            <a:off x="1915572" y="215585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7" name="object 1217"/>
          <p:cNvSpPr/>
          <p:nvPr/>
        </p:nvSpPr>
        <p:spPr>
          <a:xfrm>
            <a:off x="2409348" y="215585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8" name="object 1218"/>
          <p:cNvSpPr/>
          <p:nvPr/>
        </p:nvSpPr>
        <p:spPr>
          <a:xfrm>
            <a:off x="1915572" y="214214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9" name="object 1219"/>
          <p:cNvSpPr/>
          <p:nvPr/>
        </p:nvSpPr>
        <p:spPr>
          <a:xfrm>
            <a:off x="2409348" y="214214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0" name="object 1220"/>
          <p:cNvSpPr/>
          <p:nvPr/>
        </p:nvSpPr>
        <p:spPr>
          <a:xfrm>
            <a:off x="1915572" y="21269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1" name="object 1221"/>
          <p:cNvSpPr/>
          <p:nvPr/>
        </p:nvSpPr>
        <p:spPr>
          <a:xfrm>
            <a:off x="2409348" y="21269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2" name="object 1222"/>
          <p:cNvSpPr/>
          <p:nvPr/>
        </p:nvSpPr>
        <p:spPr>
          <a:xfrm>
            <a:off x="1915572" y="21131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3" name="object 1223"/>
          <p:cNvSpPr/>
          <p:nvPr/>
        </p:nvSpPr>
        <p:spPr>
          <a:xfrm>
            <a:off x="2409348" y="21131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4" name="object 1224"/>
          <p:cNvSpPr/>
          <p:nvPr/>
        </p:nvSpPr>
        <p:spPr>
          <a:xfrm>
            <a:off x="1915572" y="20994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5" name="object 1225"/>
          <p:cNvSpPr/>
          <p:nvPr/>
        </p:nvSpPr>
        <p:spPr>
          <a:xfrm>
            <a:off x="2409348" y="20994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6" name="object 1226"/>
          <p:cNvSpPr/>
          <p:nvPr/>
        </p:nvSpPr>
        <p:spPr>
          <a:xfrm>
            <a:off x="1915572" y="20857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7" name="object 1227"/>
          <p:cNvSpPr/>
          <p:nvPr/>
        </p:nvSpPr>
        <p:spPr>
          <a:xfrm>
            <a:off x="2409348" y="20857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8" name="object 1228"/>
          <p:cNvSpPr/>
          <p:nvPr/>
        </p:nvSpPr>
        <p:spPr>
          <a:xfrm>
            <a:off x="1915572" y="20705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9" name="object 1229"/>
          <p:cNvSpPr/>
          <p:nvPr/>
        </p:nvSpPr>
        <p:spPr>
          <a:xfrm>
            <a:off x="2409348" y="20705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0" name="object 1230"/>
          <p:cNvSpPr/>
          <p:nvPr/>
        </p:nvSpPr>
        <p:spPr>
          <a:xfrm>
            <a:off x="1915572" y="205679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1" name="object 1231"/>
          <p:cNvSpPr/>
          <p:nvPr/>
        </p:nvSpPr>
        <p:spPr>
          <a:xfrm>
            <a:off x="2409348" y="205679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2" name="object 1232"/>
          <p:cNvSpPr/>
          <p:nvPr/>
        </p:nvSpPr>
        <p:spPr>
          <a:xfrm>
            <a:off x="1915572" y="204308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3" name="object 1233"/>
          <p:cNvSpPr/>
          <p:nvPr/>
        </p:nvSpPr>
        <p:spPr>
          <a:xfrm>
            <a:off x="2409348" y="204308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4" name="object 1234"/>
          <p:cNvSpPr/>
          <p:nvPr/>
        </p:nvSpPr>
        <p:spPr>
          <a:xfrm>
            <a:off x="1915572" y="202936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5" name="object 1235"/>
          <p:cNvSpPr/>
          <p:nvPr/>
        </p:nvSpPr>
        <p:spPr>
          <a:xfrm>
            <a:off x="2409348" y="202936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6" name="object 1236"/>
          <p:cNvSpPr/>
          <p:nvPr/>
        </p:nvSpPr>
        <p:spPr>
          <a:xfrm>
            <a:off x="1915572" y="20141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7" name="object 1237"/>
          <p:cNvSpPr/>
          <p:nvPr/>
        </p:nvSpPr>
        <p:spPr>
          <a:xfrm>
            <a:off x="2409348" y="20141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8" name="object 1238"/>
          <p:cNvSpPr/>
          <p:nvPr/>
        </p:nvSpPr>
        <p:spPr>
          <a:xfrm>
            <a:off x="1915572" y="20004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9" name="object 1239"/>
          <p:cNvSpPr/>
          <p:nvPr/>
        </p:nvSpPr>
        <p:spPr>
          <a:xfrm>
            <a:off x="2409348" y="20004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0" name="object 1240"/>
          <p:cNvSpPr/>
          <p:nvPr/>
        </p:nvSpPr>
        <p:spPr>
          <a:xfrm>
            <a:off x="1915572" y="19866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1" name="object 1241"/>
          <p:cNvSpPr/>
          <p:nvPr/>
        </p:nvSpPr>
        <p:spPr>
          <a:xfrm>
            <a:off x="2409348" y="19866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2" name="object 1242"/>
          <p:cNvSpPr/>
          <p:nvPr/>
        </p:nvSpPr>
        <p:spPr>
          <a:xfrm>
            <a:off x="1915572" y="19729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3" name="object 1243"/>
          <p:cNvSpPr/>
          <p:nvPr/>
        </p:nvSpPr>
        <p:spPr>
          <a:xfrm>
            <a:off x="2409348" y="19729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4" name="object 1244"/>
          <p:cNvSpPr/>
          <p:nvPr/>
        </p:nvSpPr>
        <p:spPr>
          <a:xfrm>
            <a:off x="1915572" y="195773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5" name="object 1245"/>
          <p:cNvSpPr/>
          <p:nvPr/>
        </p:nvSpPr>
        <p:spPr>
          <a:xfrm>
            <a:off x="2409348" y="195773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6" name="object 1246"/>
          <p:cNvSpPr/>
          <p:nvPr/>
        </p:nvSpPr>
        <p:spPr>
          <a:xfrm>
            <a:off x="1915572" y="194402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7" name="object 1247"/>
          <p:cNvSpPr/>
          <p:nvPr/>
        </p:nvSpPr>
        <p:spPr>
          <a:xfrm>
            <a:off x="2409348" y="194402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8" name="object 1248"/>
          <p:cNvSpPr/>
          <p:nvPr/>
        </p:nvSpPr>
        <p:spPr>
          <a:xfrm>
            <a:off x="1915572" y="19303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9" name="object 1249"/>
          <p:cNvSpPr/>
          <p:nvPr/>
        </p:nvSpPr>
        <p:spPr>
          <a:xfrm>
            <a:off x="2409348" y="19303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0" name="object 1250"/>
          <p:cNvSpPr/>
          <p:nvPr/>
        </p:nvSpPr>
        <p:spPr>
          <a:xfrm>
            <a:off x="1915572" y="1915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1" name="object 1251"/>
          <p:cNvSpPr/>
          <p:nvPr/>
        </p:nvSpPr>
        <p:spPr>
          <a:xfrm>
            <a:off x="2409348" y="1915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2" name="object 1252"/>
          <p:cNvSpPr/>
          <p:nvPr/>
        </p:nvSpPr>
        <p:spPr>
          <a:xfrm>
            <a:off x="1915572" y="190134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3" name="object 1253"/>
          <p:cNvSpPr/>
          <p:nvPr/>
        </p:nvSpPr>
        <p:spPr>
          <a:xfrm>
            <a:off x="2409348" y="190134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4" name="object 1254"/>
          <p:cNvSpPr/>
          <p:nvPr/>
        </p:nvSpPr>
        <p:spPr>
          <a:xfrm>
            <a:off x="1915572" y="188763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5" name="object 1255"/>
          <p:cNvSpPr/>
          <p:nvPr/>
        </p:nvSpPr>
        <p:spPr>
          <a:xfrm>
            <a:off x="2409348" y="188763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6" name="object 1256"/>
          <p:cNvSpPr/>
          <p:nvPr/>
        </p:nvSpPr>
        <p:spPr>
          <a:xfrm>
            <a:off x="1915572" y="18739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7" name="object 1257"/>
          <p:cNvSpPr/>
          <p:nvPr/>
        </p:nvSpPr>
        <p:spPr>
          <a:xfrm>
            <a:off x="2409348" y="18739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8" name="object 1258"/>
          <p:cNvSpPr/>
          <p:nvPr/>
        </p:nvSpPr>
        <p:spPr>
          <a:xfrm>
            <a:off x="1915572" y="18586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9" name="object 1259"/>
          <p:cNvSpPr/>
          <p:nvPr/>
        </p:nvSpPr>
        <p:spPr>
          <a:xfrm>
            <a:off x="2409348" y="18586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0" name="object 1260"/>
          <p:cNvSpPr/>
          <p:nvPr/>
        </p:nvSpPr>
        <p:spPr>
          <a:xfrm>
            <a:off x="1915572" y="184496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1" name="object 1261"/>
          <p:cNvSpPr/>
          <p:nvPr/>
        </p:nvSpPr>
        <p:spPr>
          <a:xfrm>
            <a:off x="2409348" y="184496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2" name="object 1262"/>
          <p:cNvSpPr/>
          <p:nvPr/>
        </p:nvSpPr>
        <p:spPr>
          <a:xfrm>
            <a:off x="1915572" y="18312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3" name="object 1263"/>
          <p:cNvSpPr/>
          <p:nvPr/>
        </p:nvSpPr>
        <p:spPr>
          <a:xfrm>
            <a:off x="2409348" y="18312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4" name="object 1264"/>
          <p:cNvSpPr/>
          <p:nvPr/>
        </p:nvSpPr>
        <p:spPr>
          <a:xfrm>
            <a:off x="1915572" y="18175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5" name="object 1265"/>
          <p:cNvSpPr/>
          <p:nvPr/>
        </p:nvSpPr>
        <p:spPr>
          <a:xfrm>
            <a:off x="2409348" y="18175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6" name="object 1266"/>
          <p:cNvSpPr/>
          <p:nvPr/>
        </p:nvSpPr>
        <p:spPr>
          <a:xfrm>
            <a:off x="1915572" y="18022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7" name="object 1267"/>
          <p:cNvSpPr/>
          <p:nvPr/>
        </p:nvSpPr>
        <p:spPr>
          <a:xfrm>
            <a:off x="2409348" y="18022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8" name="object 1268"/>
          <p:cNvSpPr/>
          <p:nvPr/>
        </p:nvSpPr>
        <p:spPr>
          <a:xfrm>
            <a:off x="1915572" y="178857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9" name="object 1269"/>
          <p:cNvSpPr/>
          <p:nvPr/>
        </p:nvSpPr>
        <p:spPr>
          <a:xfrm>
            <a:off x="2409348" y="178857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0" name="object 1270"/>
          <p:cNvSpPr/>
          <p:nvPr/>
        </p:nvSpPr>
        <p:spPr>
          <a:xfrm>
            <a:off x="1915572" y="17702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1" name="object 1271"/>
          <p:cNvSpPr/>
          <p:nvPr/>
        </p:nvSpPr>
        <p:spPr>
          <a:xfrm>
            <a:off x="2409348" y="17702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2" name="object 1272"/>
          <p:cNvSpPr/>
          <p:nvPr/>
        </p:nvSpPr>
        <p:spPr>
          <a:xfrm>
            <a:off x="1915572" y="1745901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3" name="object 1273"/>
          <p:cNvSpPr/>
          <p:nvPr/>
        </p:nvSpPr>
        <p:spPr>
          <a:xfrm>
            <a:off x="2409348" y="1745901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4" name="object 1274"/>
          <p:cNvSpPr/>
          <p:nvPr/>
        </p:nvSpPr>
        <p:spPr>
          <a:xfrm>
            <a:off x="1915572" y="1723041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59"/>
                </a:lnTo>
                <a:lnTo>
                  <a:pt x="3047" y="22859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5" name="object 1275"/>
          <p:cNvSpPr/>
          <p:nvPr/>
        </p:nvSpPr>
        <p:spPr>
          <a:xfrm>
            <a:off x="2409348" y="1723041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59"/>
                </a:lnTo>
                <a:lnTo>
                  <a:pt x="3047" y="22859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6" name="object 1276"/>
          <p:cNvSpPr/>
          <p:nvPr/>
        </p:nvSpPr>
        <p:spPr>
          <a:xfrm>
            <a:off x="1915572" y="1701705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7" y="0"/>
                </a:moveTo>
                <a:lnTo>
                  <a:pt x="0" y="0"/>
                </a:lnTo>
                <a:lnTo>
                  <a:pt x="0" y="21336"/>
                </a:lnTo>
                <a:lnTo>
                  <a:pt x="3047" y="21336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7" name="object 1277"/>
          <p:cNvSpPr/>
          <p:nvPr/>
        </p:nvSpPr>
        <p:spPr>
          <a:xfrm>
            <a:off x="2409348" y="1701705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7" y="0"/>
                </a:moveTo>
                <a:lnTo>
                  <a:pt x="0" y="0"/>
                </a:lnTo>
                <a:lnTo>
                  <a:pt x="0" y="21336"/>
                </a:lnTo>
                <a:lnTo>
                  <a:pt x="3047" y="21336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8" name="object 1278"/>
          <p:cNvSpPr/>
          <p:nvPr/>
        </p:nvSpPr>
        <p:spPr>
          <a:xfrm>
            <a:off x="1915572" y="168494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9" name="object 1279"/>
          <p:cNvSpPr/>
          <p:nvPr/>
        </p:nvSpPr>
        <p:spPr>
          <a:xfrm>
            <a:off x="2409348" y="168494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0" name="object 1280"/>
          <p:cNvSpPr/>
          <p:nvPr/>
        </p:nvSpPr>
        <p:spPr>
          <a:xfrm>
            <a:off x="1915572" y="166665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1" name="object 1281"/>
          <p:cNvSpPr/>
          <p:nvPr/>
        </p:nvSpPr>
        <p:spPr>
          <a:xfrm>
            <a:off x="2409348" y="166665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2" name="object 1282"/>
          <p:cNvSpPr/>
          <p:nvPr/>
        </p:nvSpPr>
        <p:spPr>
          <a:xfrm>
            <a:off x="1915572" y="164988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3" name="object 1283"/>
          <p:cNvSpPr/>
          <p:nvPr/>
        </p:nvSpPr>
        <p:spPr>
          <a:xfrm>
            <a:off x="2409348" y="164988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4" name="object 1284"/>
          <p:cNvSpPr/>
          <p:nvPr/>
        </p:nvSpPr>
        <p:spPr>
          <a:xfrm>
            <a:off x="1915572" y="16316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5" name="object 1285"/>
          <p:cNvSpPr/>
          <p:nvPr/>
        </p:nvSpPr>
        <p:spPr>
          <a:xfrm>
            <a:off x="2409348" y="16316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6" name="object 1286"/>
          <p:cNvSpPr/>
          <p:nvPr/>
        </p:nvSpPr>
        <p:spPr>
          <a:xfrm>
            <a:off x="1915572" y="161331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7" name="object 1287"/>
          <p:cNvSpPr/>
          <p:nvPr/>
        </p:nvSpPr>
        <p:spPr>
          <a:xfrm>
            <a:off x="2409348" y="161331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8" name="object 1288"/>
          <p:cNvSpPr/>
          <p:nvPr/>
        </p:nvSpPr>
        <p:spPr>
          <a:xfrm>
            <a:off x="1915572" y="159654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9" name="object 1289"/>
          <p:cNvSpPr/>
          <p:nvPr/>
        </p:nvSpPr>
        <p:spPr>
          <a:xfrm>
            <a:off x="2409348" y="159654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0" name="object 1290"/>
          <p:cNvSpPr/>
          <p:nvPr/>
        </p:nvSpPr>
        <p:spPr>
          <a:xfrm>
            <a:off x="1915572" y="15782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1" name="object 1291"/>
          <p:cNvSpPr/>
          <p:nvPr/>
        </p:nvSpPr>
        <p:spPr>
          <a:xfrm>
            <a:off x="2409348" y="15782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2" name="object 1292"/>
          <p:cNvSpPr/>
          <p:nvPr/>
        </p:nvSpPr>
        <p:spPr>
          <a:xfrm>
            <a:off x="1915572" y="156149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3" name="object 1293"/>
          <p:cNvSpPr/>
          <p:nvPr/>
        </p:nvSpPr>
        <p:spPr>
          <a:xfrm>
            <a:off x="2409348" y="156149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4" name="object 1294"/>
          <p:cNvSpPr/>
          <p:nvPr/>
        </p:nvSpPr>
        <p:spPr>
          <a:xfrm>
            <a:off x="1915572" y="154320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5" name="object 1295"/>
          <p:cNvSpPr/>
          <p:nvPr/>
        </p:nvSpPr>
        <p:spPr>
          <a:xfrm>
            <a:off x="2409348" y="154320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6" name="object 1296"/>
          <p:cNvSpPr/>
          <p:nvPr/>
        </p:nvSpPr>
        <p:spPr>
          <a:xfrm>
            <a:off x="1915572" y="152492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7" name="object 1297"/>
          <p:cNvSpPr/>
          <p:nvPr/>
        </p:nvSpPr>
        <p:spPr>
          <a:xfrm>
            <a:off x="2409348" y="152492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8" name="object 1298"/>
          <p:cNvSpPr/>
          <p:nvPr/>
        </p:nvSpPr>
        <p:spPr>
          <a:xfrm>
            <a:off x="1915572" y="150815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9" name="object 1299"/>
          <p:cNvSpPr/>
          <p:nvPr/>
        </p:nvSpPr>
        <p:spPr>
          <a:xfrm>
            <a:off x="2409348" y="150815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0" name="object 1300"/>
          <p:cNvSpPr/>
          <p:nvPr/>
        </p:nvSpPr>
        <p:spPr>
          <a:xfrm>
            <a:off x="1915572" y="148986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1" name="object 1301"/>
          <p:cNvSpPr/>
          <p:nvPr/>
        </p:nvSpPr>
        <p:spPr>
          <a:xfrm>
            <a:off x="2409348" y="148986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2" name="object 1302"/>
          <p:cNvSpPr/>
          <p:nvPr/>
        </p:nvSpPr>
        <p:spPr>
          <a:xfrm>
            <a:off x="1915572" y="14868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3" name="object 1303"/>
          <p:cNvSpPr/>
          <p:nvPr/>
        </p:nvSpPr>
        <p:spPr>
          <a:xfrm>
            <a:off x="2409348" y="14868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4" name="object 1304"/>
          <p:cNvSpPr/>
          <p:nvPr/>
        </p:nvSpPr>
        <p:spPr>
          <a:xfrm>
            <a:off x="1915572" y="14731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5" name="object 1305"/>
          <p:cNvSpPr/>
          <p:nvPr/>
        </p:nvSpPr>
        <p:spPr>
          <a:xfrm>
            <a:off x="2409348" y="14731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6" name="object 1306"/>
          <p:cNvSpPr/>
          <p:nvPr/>
        </p:nvSpPr>
        <p:spPr>
          <a:xfrm>
            <a:off x="1915572" y="146396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7" name="object 1307"/>
          <p:cNvSpPr/>
          <p:nvPr/>
        </p:nvSpPr>
        <p:spPr>
          <a:xfrm>
            <a:off x="2409348" y="146396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8" name="object 1308"/>
          <p:cNvSpPr/>
          <p:nvPr/>
        </p:nvSpPr>
        <p:spPr>
          <a:xfrm>
            <a:off x="1915572" y="14548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9" name="object 1309"/>
          <p:cNvSpPr/>
          <p:nvPr/>
        </p:nvSpPr>
        <p:spPr>
          <a:xfrm>
            <a:off x="2409348" y="14548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0" name="object 1310"/>
          <p:cNvSpPr/>
          <p:nvPr/>
        </p:nvSpPr>
        <p:spPr>
          <a:xfrm>
            <a:off x="1915572" y="14395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1" name="object 1311"/>
          <p:cNvSpPr/>
          <p:nvPr/>
        </p:nvSpPr>
        <p:spPr>
          <a:xfrm>
            <a:off x="2409348" y="143957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2" name="object 1312"/>
          <p:cNvSpPr/>
          <p:nvPr/>
        </p:nvSpPr>
        <p:spPr>
          <a:xfrm>
            <a:off x="1915572" y="14365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3" name="object 1313"/>
          <p:cNvSpPr/>
          <p:nvPr/>
        </p:nvSpPr>
        <p:spPr>
          <a:xfrm>
            <a:off x="2409348" y="14365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4" name="object 1314"/>
          <p:cNvSpPr/>
          <p:nvPr/>
        </p:nvSpPr>
        <p:spPr>
          <a:xfrm>
            <a:off x="1915572" y="14197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5" name="object 1315"/>
          <p:cNvSpPr/>
          <p:nvPr/>
        </p:nvSpPr>
        <p:spPr>
          <a:xfrm>
            <a:off x="2409348" y="14197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6" name="object 1316"/>
          <p:cNvSpPr/>
          <p:nvPr/>
        </p:nvSpPr>
        <p:spPr>
          <a:xfrm>
            <a:off x="1915572" y="14014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7" name="object 1317"/>
          <p:cNvSpPr/>
          <p:nvPr/>
        </p:nvSpPr>
        <p:spPr>
          <a:xfrm>
            <a:off x="2409348" y="14014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8" name="object 1318"/>
          <p:cNvSpPr/>
          <p:nvPr/>
        </p:nvSpPr>
        <p:spPr>
          <a:xfrm>
            <a:off x="1915572" y="13847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9" name="object 1319"/>
          <p:cNvSpPr/>
          <p:nvPr/>
        </p:nvSpPr>
        <p:spPr>
          <a:xfrm>
            <a:off x="2409348" y="13847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0" name="object 1320"/>
          <p:cNvSpPr/>
          <p:nvPr/>
        </p:nvSpPr>
        <p:spPr>
          <a:xfrm>
            <a:off x="1915572" y="13664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1" name="object 1321"/>
          <p:cNvSpPr/>
          <p:nvPr/>
        </p:nvSpPr>
        <p:spPr>
          <a:xfrm>
            <a:off x="2409348" y="13664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2" name="object 1322"/>
          <p:cNvSpPr/>
          <p:nvPr/>
        </p:nvSpPr>
        <p:spPr>
          <a:xfrm>
            <a:off x="1915572" y="13496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3" name="object 1323"/>
          <p:cNvSpPr/>
          <p:nvPr/>
        </p:nvSpPr>
        <p:spPr>
          <a:xfrm>
            <a:off x="2409348" y="13496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4" name="object 1324"/>
          <p:cNvSpPr/>
          <p:nvPr/>
        </p:nvSpPr>
        <p:spPr>
          <a:xfrm>
            <a:off x="1915572" y="134661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5" name="object 1325"/>
          <p:cNvSpPr/>
          <p:nvPr/>
        </p:nvSpPr>
        <p:spPr>
          <a:xfrm>
            <a:off x="2409348" y="134661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6" name="object 1326"/>
          <p:cNvSpPr/>
          <p:nvPr/>
        </p:nvSpPr>
        <p:spPr>
          <a:xfrm>
            <a:off x="1915572" y="13313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7" name="object 1327"/>
          <p:cNvSpPr/>
          <p:nvPr/>
        </p:nvSpPr>
        <p:spPr>
          <a:xfrm>
            <a:off x="2409348" y="13313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8" name="object 1328"/>
          <p:cNvSpPr/>
          <p:nvPr/>
        </p:nvSpPr>
        <p:spPr>
          <a:xfrm>
            <a:off x="1915572" y="132222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9" name="object 1329"/>
          <p:cNvSpPr/>
          <p:nvPr/>
        </p:nvSpPr>
        <p:spPr>
          <a:xfrm>
            <a:off x="2409348" y="132222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0" name="object 1330"/>
          <p:cNvSpPr/>
          <p:nvPr/>
        </p:nvSpPr>
        <p:spPr>
          <a:xfrm>
            <a:off x="1915572" y="13130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1" name="object 1331"/>
          <p:cNvSpPr/>
          <p:nvPr/>
        </p:nvSpPr>
        <p:spPr>
          <a:xfrm>
            <a:off x="2409348" y="13130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2" name="object 1332"/>
          <p:cNvSpPr/>
          <p:nvPr/>
        </p:nvSpPr>
        <p:spPr>
          <a:xfrm>
            <a:off x="1915572" y="12993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3" name="object 1333"/>
          <p:cNvSpPr/>
          <p:nvPr/>
        </p:nvSpPr>
        <p:spPr>
          <a:xfrm>
            <a:off x="2409348" y="12993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4" name="object 1334"/>
          <p:cNvSpPr/>
          <p:nvPr/>
        </p:nvSpPr>
        <p:spPr>
          <a:xfrm>
            <a:off x="1915572" y="12963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5" name="object 1335"/>
          <p:cNvSpPr/>
          <p:nvPr/>
        </p:nvSpPr>
        <p:spPr>
          <a:xfrm>
            <a:off x="2409348" y="12963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6" name="object 1336"/>
          <p:cNvSpPr/>
          <p:nvPr/>
        </p:nvSpPr>
        <p:spPr>
          <a:xfrm>
            <a:off x="1915572" y="127803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7" name="object 1337"/>
          <p:cNvSpPr/>
          <p:nvPr/>
        </p:nvSpPr>
        <p:spPr>
          <a:xfrm>
            <a:off x="2409348" y="127803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8" name="object 1338"/>
          <p:cNvSpPr/>
          <p:nvPr/>
        </p:nvSpPr>
        <p:spPr>
          <a:xfrm>
            <a:off x="1915572" y="127498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9" name="object 1339"/>
          <p:cNvSpPr/>
          <p:nvPr/>
        </p:nvSpPr>
        <p:spPr>
          <a:xfrm>
            <a:off x="2409348" y="127498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0" name="object 1340"/>
          <p:cNvSpPr/>
          <p:nvPr/>
        </p:nvSpPr>
        <p:spPr>
          <a:xfrm>
            <a:off x="1915572" y="12612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1" name="object 1341"/>
          <p:cNvSpPr/>
          <p:nvPr/>
        </p:nvSpPr>
        <p:spPr>
          <a:xfrm>
            <a:off x="2409348" y="12612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2" name="object 1342"/>
          <p:cNvSpPr/>
          <p:nvPr/>
        </p:nvSpPr>
        <p:spPr>
          <a:xfrm>
            <a:off x="1915572" y="12521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3" name="object 1343"/>
          <p:cNvSpPr/>
          <p:nvPr/>
        </p:nvSpPr>
        <p:spPr>
          <a:xfrm>
            <a:off x="2409348" y="12521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4" name="object 1344"/>
          <p:cNvSpPr/>
          <p:nvPr/>
        </p:nvSpPr>
        <p:spPr>
          <a:xfrm>
            <a:off x="1915572" y="124298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5" name="object 1345"/>
          <p:cNvSpPr/>
          <p:nvPr/>
        </p:nvSpPr>
        <p:spPr>
          <a:xfrm>
            <a:off x="2409348" y="124298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6" name="object 1346"/>
          <p:cNvSpPr/>
          <p:nvPr/>
        </p:nvSpPr>
        <p:spPr>
          <a:xfrm>
            <a:off x="1915572" y="122774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7" name="object 1347"/>
          <p:cNvSpPr/>
          <p:nvPr/>
        </p:nvSpPr>
        <p:spPr>
          <a:xfrm>
            <a:off x="2409348" y="122774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8" name="object 1348"/>
          <p:cNvSpPr/>
          <p:nvPr/>
        </p:nvSpPr>
        <p:spPr>
          <a:xfrm>
            <a:off x="1915572" y="122469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9" name="object 1349"/>
          <p:cNvSpPr/>
          <p:nvPr/>
        </p:nvSpPr>
        <p:spPr>
          <a:xfrm>
            <a:off x="2409348" y="122469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0" name="object 1350"/>
          <p:cNvSpPr/>
          <p:nvPr/>
        </p:nvSpPr>
        <p:spPr>
          <a:xfrm>
            <a:off x="1915572" y="120792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1" name="object 1351"/>
          <p:cNvSpPr/>
          <p:nvPr/>
        </p:nvSpPr>
        <p:spPr>
          <a:xfrm>
            <a:off x="2409348" y="120792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2" name="object 1352"/>
          <p:cNvSpPr/>
          <p:nvPr/>
        </p:nvSpPr>
        <p:spPr>
          <a:xfrm>
            <a:off x="1915572" y="118964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3" name="object 1353"/>
          <p:cNvSpPr/>
          <p:nvPr/>
        </p:nvSpPr>
        <p:spPr>
          <a:xfrm>
            <a:off x="2409348" y="118964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4" name="object 1354"/>
          <p:cNvSpPr/>
          <p:nvPr/>
        </p:nvSpPr>
        <p:spPr>
          <a:xfrm>
            <a:off x="1915572" y="117287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5" name="object 1355"/>
          <p:cNvSpPr/>
          <p:nvPr/>
        </p:nvSpPr>
        <p:spPr>
          <a:xfrm>
            <a:off x="2409348" y="117287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6" name="object 1356"/>
          <p:cNvSpPr/>
          <p:nvPr/>
        </p:nvSpPr>
        <p:spPr>
          <a:xfrm>
            <a:off x="1915572" y="115458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7" name="object 1357"/>
          <p:cNvSpPr/>
          <p:nvPr/>
        </p:nvSpPr>
        <p:spPr>
          <a:xfrm>
            <a:off x="2409348" y="115458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8" name="object 1358"/>
          <p:cNvSpPr/>
          <p:nvPr/>
        </p:nvSpPr>
        <p:spPr>
          <a:xfrm>
            <a:off x="1915572" y="11363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9" name="object 1359"/>
          <p:cNvSpPr/>
          <p:nvPr/>
        </p:nvSpPr>
        <p:spPr>
          <a:xfrm>
            <a:off x="2409348" y="11363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0" name="object 1360"/>
          <p:cNvSpPr/>
          <p:nvPr/>
        </p:nvSpPr>
        <p:spPr>
          <a:xfrm>
            <a:off x="1915572" y="11195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1" name="object 1361"/>
          <p:cNvSpPr/>
          <p:nvPr/>
        </p:nvSpPr>
        <p:spPr>
          <a:xfrm>
            <a:off x="2409348" y="11195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2" name="object 1362"/>
          <p:cNvSpPr/>
          <p:nvPr/>
        </p:nvSpPr>
        <p:spPr>
          <a:xfrm>
            <a:off x="1915572" y="11012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3" name="object 1363"/>
          <p:cNvSpPr/>
          <p:nvPr/>
        </p:nvSpPr>
        <p:spPr>
          <a:xfrm>
            <a:off x="2409348" y="11012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4" name="object 1364"/>
          <p:cNvSpPr/>
          <p:nvPr/>
        </p:nvSpPr>
        <p:spPr>
          <a:xfrm>
            <a:off x="1915572" y="10844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5" name="object 1365"/>
          <p:cNvSpPr/>
          <p:nvPr/>
        </p:nvSpPr>
        <p:spPr>
          <a:xfrm>
            <a:off x="2409348" y="10844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6" name="object 1366"/>
          <p:cNvSpPr/>
          <p:nvPr/>
        </p:nvSpPr>
        <p:spPr>
          <a:xfrm>
            <a:off x="1915572" y="1074960"/>
            <a:ext cx="3175" cy="10160"/>
          </a:xfrm>
          <a:custGeom>
            <a:avLst/>
            <a:gdLst/>
            <a:ahLst/>
            <a:cxnLst/>
            <a:rect l="l" t="t" r="r" b="b"/>
            <a:pathLst>
              <a:path w="3175" h="10159">
                <a:moveTo>
                  <a:pt x="0" y="10159"/>
                </a:moveTo>
                <a:lnTo>
                  <a:pt x="3047" y="10159"/>
                </a:lnTo>
                <a:lnTo>
                  <a:pt x="3047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7" name="object 1367"/>
          <p:cNvSpPr/>
          <p:nvPr/>
        </p:nvSpPr>
        <p:spPr>
          <a:xfrm>
            <a:off x="1915572" y="107369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E5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8" name="object 1368"/>
          <p:cNvSpPr/>
          <p:nvPr/>
        </p:nvSpPr>
        <p:spPr>
          <a:xfrm>
            <a:off x="2409348" y="10753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9" name="object 1369"/>
          <p:cNvSpPr/>
          <p:nvPr/>
        </p:nvSpPr>
        <p:spPr>
          <a:xfrm>
            <a:off x="1918619" y="1074198"/>
            <a:ext cx="490855" cy="0"/>
          </a:xfrm>
          <a:custGeom>
            <a:avLst/>
            <a:gdLst/>
            <a:ahLst/>
            <a:cxnLst/>
            <a:rect l="l" t="t" r="r" b="b"/>
            <a:pathLst>
              <a:path w="490855">
                <a:moveTo>
                  <a:pt x="0" y="0"/>
                </a:moveTo>
                <a:lnTo>
                  <a:pt x="490727" y="0"/>
                </a:lnTo>
              </a:path>
            </a:pathLst>
          </a:custGeom>
          <a:ln w="3175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0" name="object 1370"/>
          <p:cNvSpPr/>
          <p:nvPr/>
        </p:nvSpPr>
        <p:spPr>
          <a:xfrm>
            <a:off x="1918619" y="107534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4571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1" name="object 1371"/>
          <p:cNvSpPr/>
          <p:nvPr/>
        </p:nvSpPr>
        <p:spPr>
          <a:xfrm>
            <a:off x="2410491" y="1075341"/>
            <a:ext cx="0" cy="1130935"/>
          </a:xfrm>
          <a:custGeom>
            <a:avLst/>
            <a:gdLst/>
            <a:ahLst/>
            <a:cxnLst/>
            <a:rect l="l" t="t" r="r" b="b"/>
            <a:pathLst>
              <a:path h="1130935">
                <a:moveTo>
                  <a:pt x="0" y="0"/>
                </a:moveTo>
                <a:lnTo>
                  <a:pt x="0" y="1130807"/>
                </a:lnTo>
              </a:path>
            </a:pathLst>
          </a:custGeom>
          <a:ln w="3175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2" name="object 1372"/>
          <p:cNvSpPr/>
          <p:nvPr/>
        </p:nvSpPr>
        <p:spPr>
          <a:xfrm>
            <a:off x="1915572" y="220767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3" name="object 1373"/>
          <p:cNvSpPr/>
          <p:nvPr/>
        </p:nvSpPr>
        <p:spPr>
          <a:xfrm>
            <a:off x="1915572" y="107381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E5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4" name="object 1374"/>
          <p:cNvSpPr/>
          <p:nvPr/>
        </p:nvSpPr>
        <p:spPr>
          <a:xfrm>
            <a:off x="1918620" y="1075341"/>
            <a:ext cx="490855" cy="1130935"/>
          </a:xfrm>
          <a:custGeom>
            <a:avLst/>
            <a:gdLst/>
            <a:ahLst/>
            <a:cxnLst/>
            <a:rect l="l" t="t" r="r" b="b"/>
            <a:pathLst>
              <a:path w="490855" h="1130935">
                <a:moveTo>
                  <a:pt x="0" y="0"/>
                </a:moveTo>
                <a:lnTo>
                  <a:pt x="490728" y="0"/>
                </a:lnTo>
                <a:lnTo>
                  <a:pt x="490728" y="1130807"/>
                </a:lnTo>
                <a:lnTo>
                  <a:pt x="0" y="11308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5" name="object 1375"/>
          <p:cNvSpPr/>
          <p:nvPr/>
        </p:nvSpPr>
        <p:spPr>
          <a:xfrm>
            <a:off x="1915572" y="220386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10668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6" name="object 1376"/>
          <p:cNvSpPr/>
          <p:nvPr/>
        </p:nvSpPr>
        <p:spPr>
          <a:xfrm>
            <a:off x="1915572" y="218481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7" name="object 1377"/>
          <p:cNvSpPr/>
          <p:nvPr/>
        </p:nvSpPr>
        <p:spPr>
          <a:xfrm>
            <a:off x="1915572" y="216957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8" name="object 1378"/>
          <p:cNvSpPr/>
          <p:nvPr/>
        </p:nvSpPr>
        <p:spPr>
          <a:xfrm>
            <a:off x="1915572" y="215585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9" name="object 1379"/>
          <p:cNvSpPr/>
          <p:nvPr/>
        </p:nvSpPr>
        <p:spPr>
          <a:xfrm>
            <a:off x="1915572" y="2142141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0" name="object 1380"/>
          <p:cNvSpPr/>
          <p:nvPr/>
        </p:nvSpPr>
        <p:spPr>
          <a:xfrm>
            <a:off x="1915572" y="212690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1" name="object 1381"/>
          <p:cNvSpPr/>
          <p:nvPr/>
        </p:nvSpPr>
        <p:spPr>
          <a:xfrm>
            <a:off x="1915572" y="211318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2" name="object 1382"/>
          <p:cNvSpPr/>
          <p:nvPr/>
        </p:nvSpPr>
        <p:spPr>
          <a:xfrm>
            <a:off x="1915572" y="209946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3" name="object 1383"/>
          <p:cNvSpPr/>
          <p:nvPr/>
        </p:nvSpPr>
        <p:spPr>
          <a:xfrm>
            <a:off x="1915572" y="208575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4" name="object 1384"/>
          <p:cNvSpPr/>
          <p:nvPr/>
        </p:nvSpPr>
        <p:spPr>
          <a:xfrm>
            <a:off x="1915572" y="207051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5" name="object 1385"/>
          <p:cNvSpPr/>
          <p:nvPr/>
        </p:nvSpPr>
        <p:spPr>
          <a:xfrm>
            <a:off x="1915572" y="205679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6" name="object 1386"/>
          <p:cNvSpPr/>
          <p:nvPr/>
        </p:nvSpPr>
        <p:spPr>
          <a:xfrm>
            <a:off x="1915572" y="2043081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7" name="object 1387"/>
          <p:cNvSpPr/>
          <p:nvPr/>
        </p:nvSpPr>
        <p:spPr>
          <a:xfrm>
            <a:off x="1915572" y="202936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8" name="object 1388"/>
          <p:cNvSpPr/>
          <p:nvPr/>
        </p:nvSpPr>
        <p:spPr>
          <a:xfrm>
            <a:off x="1915572" y="201412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9" name="object 1389"/>
          <p:cNvSpPr/>
          <p:nvPr/>
        </p:nvSpPr>
        <p:spPr>
          <a:xfrm>
            <a:off x="1915572" y="200040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0" name="object 1390"/>
          <p:cNvSpPr/>
          <p:nvPr/>
        </p:nvSpPr>
        <p:spPr>
          <a:xfrm>
            <a:off x="1915572" y="198669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1" name="object 1391"/>
          <p:cNvSpPr/>
          <p:nvPr/>
        </p:nvSpPr>
        <p:spPr>
          <a:xfrm>
            <a:off x="1915572" y="197297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2" name="object 1392"/>
          <p:cNvSpPr/>
          <p:nvPr/>
        </p:nvSpPr>
        <p:spPr>
          <a:xfrm>
            <a:off x="1915572" y="195773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3" name="object 1393"/>
          <p:cNvSpPr/>
          <p:nvPr/>
        </p:nvSpPr>
        <p:spPr>
          <a:xfrm>
            <a:off x="1915572" y="1944021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4" name="object 1394"/>
          <p:cNvSpPr/>
          <p:nvPr/>
        </p:nvSpPr>
        <p:spPr>
          <a:xfrm>
            <a:off x="1915572" y="193030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5" name="object 1395"/>
          <p:cNvSpPr/>
          <p:nvPr/>
        </p:nvSpPr>
        <p:spPr>
          <a:xfrm>
            <a:off x="1915572" y="191506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6" name="object 1396"/>
          <p:cNvSpPr/>
          <p:nvPr/>
        </p:nvSpPr>
        <p:spPr>
          <a:xfrm>
            <a:off x="1915572" y="190134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7" name="object 1397"/>
          <p:cNvSpPr/>
          <p:nvPr/>
        </p:nvSpPr>
        <p:spPr>
          <a:xfrm>
            <a:off x="1915572" y="188763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8" name="object 1398"/>
          <p:cNvSpPr/>
          <p:nvPr/>
        </p:nvSpPr>
        <p:spPr>
          <a:xfrm>
            <a:off x="1915572" y="187391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9" name="object 1399"/>
          <p:cNvSpPr/>
          <p:nvPr/>
        </p:nvSpPr>
        <p:spPr>
          <a:xfrm>
            <a:off x="1915572" y="185867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0" name="object 1400"/>
          <p:cNvSpPr/>
          <p:nvPr/>
        </p:nvSpPr>
        <p:spPr>
          <a:xfrm>
            <a:off x="1915572" y="1844961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1" name="object 1401"/>
          <p:cNvSpPr/>
          <p:nvPr/>
        </p:nvSpPr>
        <p:spPr>
          <a:xfrm>
            <a:off x="1915572" y="183124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2" name="object 1402"/>
          <p:cNvSpPr/>
          <p:nvPr/>
        </p:nvSpPr>
        <p:spPr>
          <a:xfrm>
            <a:off x="1915572" y="181752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3" name="object 1403"/>
          <p:cNvSpPr/>
          <p:nvPr/>
        </p:nvSpPr>
        <p:spPr>
          <a:xfrm>
            <a:off x="1915572" y="180228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4" name="object 1404"/>
          <p:cNvSpPr/>
          <p:nvPr/>
        </p:nvSpPr>
        <p:spPr>
          <a:xfrm>
            <a:off x="1915572" y="178857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5" name="object 1405"/>
          <p:cNvSpPr/>
          <p:nvPr/>
        </p:nvSpPr>
        <p:spPr>
          <a:xfrm>
            <a:off x="1915572" y="177028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6" name="object 1406"/>
          <p:cNvSpPr/>
          <p:nvPr/>
        </p:nvSpPr>
        <p:spPr>
          <a:xfrm>
            <a:off x="1915572" y="1745901"/>
            <a:ext cx="497205" cy="24765"/>
          </a:xfrm>
          <a:custGeom>
            <a:avLst/>
            <a:gdLst/>
            <a:ahLst/>
            <a:cxnLst/>
            <a:rect l="l" t="t" r="r" b="b"/>
            <a:pathLst>
              <a:path w="497205" h="24764">
                <a:moveTo>
                  <a:pt x="0" y="24384"/>
                </a:moveTo>
                <a:lnTo>
                  <a:pt x="496823" y="24384"/>
                </a:lnTo>
                <a:lnTo>
                  <a:pt x="496823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7" name="object 1407"/>
          <p:cNvSpPr/>
          <p:nvPr/>
        </p:nvSpPr>
        <p:spPr>
          <a:xfrm>
            <a:off x="1915572" y="1723041"/>
            <a:ext cx="497205" cy="22860"/>
          </a:xfrm>
          <a:custGeom>
            <a:avLst/>
            <a:gdLst/>
            <a:ahLst/>
            <a:cxnLst/>
            <a:rect l="l" t="t" r="r" b="b"/>
            <a:pathLst>
              <a:path w="497205" h="22860">
                <a:moveTo>
                  <a:pt x="0" y="22859"/>
                </a:moveTo>
                <a:lnTo>
                  <a:pt x="496823" y="22859"/>
                </a:lnTo>
                <a:lnTo>
                  <a:pt x="496823" y="0"/>
                </a:lnTo>
                <a:lnTo>
                  <a:pt x="0" y="0"/>
                </a:lnTo>
                <a:lnTo>
                  <a:pt x="0" y="22859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8" name="object 1408"/>
          <p:cNvSpPr/>
          <p:nvPr/>
        </p:nvSpPr>
        <p:spPr>
          <a:xfrm>
            <a:off x="1915572" y="1701705"/>
            <a:ext cx="497205" cy="21590"/>
          </a:xfrm>
          <a:custGeom>
            <a:avLst/>
            <a:gdLst/>
            <a:ahLst/>
            <a:cxnLst/>
            <a:rect l="l" t="t" r="r" b="b"/>
            <a:pathLst>
              <a:path w="497205" h="21589">
                <a:moveTo>
                  <a:pt x="0" y="21336"/>
                </a:moveTo>
                <a:lnTo>
                  <a:pt x="496823" y="21336"/>
                </a:lnTo>
                <a:lnTo>
                  <a:pt x="496823" y="0"/>
                </a:lnTo>
                <a:lnTo>
                  <a:pt x="0" y="0"/>
                </a:lnTo>
                <a:lnTo>
                  <a:pt x="0" y="21336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9" name="object 1409"/>
          <p:cNvSpPr/>
          <p:nvPr/>
        </p:nvSpPr>
        <p:spPr>
          <a:xfrm>
            <a:off x="1915572" y="168494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0" name="object 1410"/>
          <p:cNvSpPr/>
          <p:nvPr/>
        </p:nvSpPr>
        <p:spPr>
          <a:xfrm>
            <a:off x="1915572" y="166665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1" name="object 1411"/>
          <p:cNvSpPr/>
          <p:nvPr/>
        </p:nvSpPr>
        <p:spPr>
          <a:xfrm>
            <a:off x="1915572" y="1649889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2" name="object 1412"/>
          <p:cNvSpPr/>
          <p:nvPr/>
        </p:nvSpPr>
        <p:spPr>
          <a:xfrm>
            <a:off x="1915572" y="1631601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3" name="object 1413"/>
          <p:cNvSpPr/>
          <p:nvPr/>
        </p:nvSpPr>
        <p:spPr>
          <a:xfrm>
            <a:off x="1915572" y="161331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4" name="object 1414"/>
          <p:cNvSpPr/>
          <p:nvPr/>
        </p:nvSpPr>
        <p:spPr>
          <a:xfrm>
            <a:off x="1915572" y="1596549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5" name="object 1415"/>
          <p:cNvSpPr/>
          <p:nvPr/>
        </p:nvSpPr>
        <p:spPr>
          <a:xfrm>
            <a:off x="1915572" y="1578261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6" name="object 1416"/>
          <p:cNvSpPr/>
          <p:nvPr/>
        </p:nvSpPr>
        <p:spPr>
          <a:xfrm>
            <a:off x="1915572" y="1561497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7" name="object 1417"/>
          <p:cNvSpPr/>
          <p:nvPr/>
        </p:nvSpPr>
        <p:spPr>
          <a:xfrm>
            <a:off x="1915572" y="154320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8" name="object 1418"/>
          <p:cNvSpPr/>
          <p:nvPr/>
        </p:nvSpPr>
        <p:spPr>
          <a:xfrm>
            <a:off x="1915572" y="1524921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9" name="object 1419"/>
          <p:cNvSpPr/>
          <p:nvPr/>
        </p:nvSpPr>
        <p:spPr>
          <a:xfrm>
            <a:off x="1915572" y="1508157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0" name="object 1420"/>
          <p:cNvSpPr/>
          <p:nvPr/>
        </p:nvSpPr>
        <p:spPr>
          <a:xfrm>
            <a:off x="1915572" y="148986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1" name="object 1421"/>
          <p:cNvSpPr/>
          <p:nvPr/>
        </p:nvSpPr>
        <p:spPr>
          <a:xfrm>
            <a:off x="1915572" y="148834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2" name="object 1422"/>
          <p:cNvSpPr/>
          <p:nvPr/>
        </p:nvSpPr>
        <p:spPr>
          <a:xfrm>
            <a:off x="1915572" y="147310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3" name="object 1423"/>
          <p:cNvSpPr/>
          <p:nvPr/>
        </p:nvSpPr>
        <p:spPr>
          <a:xfrm>
            <a:off x="1915572" y="146853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4">
            <a:solidFill>
              <a:srgbClr val="FF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4" name="object 1424"/>
          <p:cNvSpPr/>
          <p:nvPr/>
        </p:nvSpPr>
        <p:spPr>
          <a:xfrm>
            <a:off x="1915572" y="145938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3">
            <a:solidFill>
              <a:srgbClr val="FFD1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5" name="object 1425"/>
          <p:cNvSpPr/>
          <p:nvPr/>
        </p:nvSpPr>
        <p:spPr>
          <a:xfrm>
            <a:off x="1915572" y="143957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6" name="object 1426"/>
          <p:cNvSpPr/>
          <p:nvPr/>
        </p:nvSpPr>
        <p:spPr>
          <a:xfrm>
            <a:off x="1915572" y="143805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2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7" name="object 1427"/>
          <p:cNvSpPr/>
          <p:nvPr/>
        </p:nvSpPr>
        <p:spPr>
          <a:xfrm>
            <a:off x="1915572" y="1419765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8" name="object 1428"/>
          <p:cNvSpPr/>
          <p:nvPr/>
        </p:nvSpPr>
        <p:spPr>
          <a:xfrm>
            <a:off x="1915572" y="140147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9" name="object 1429"/>
          <p:cNvSpPr/>
          <p:nvPr/>
        </p:nvSpPr>
        <p:spPr>
          <a:xfrm>
            <a:off x="1915572" y="1384713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0" name="object 1430"/>
          <p:cNvSpPr/>
          <p:nvPr/>
        </p:nvSpPr>
        <p:spPr>
          <a:xfrm>
            <a:off x="1915572" y="136642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1" name="object 1431"/>
          <p:cNvSpPr/>
          <p:nvPr/>
        </p:nvSpPr>
        <p:spPr>
          <a:xfrm>
            <a:off x="1915572" y="134966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2" name="object 1432"/>
          <p:cNvSpPr/>
          <p:nvPr/>
        </p:nvSpPr>
        <p:spPr>
          <a:xfrm>
            <a:off x="1915572" y="134813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7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3" name="object 1433"/>
          <p:cNvSpPr/>
          <p:nvPr/>
        </p:nvSpPr>
        <p:spPr>
          <a:xfrm>
            <a:off x="1915572" y="133137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4" name="object 1434"/>
          <p:cNvSpPr/>
          <p:nvPr/>
        </p:nvSpPr>
        <p:spPr>
          <a:xfrm>
            <a:off x="1915572" y="132680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4">
            <a:solidFill>
              <a:srgbClr val="FFD8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5" name="object 1435"/>
          <p:cNvSpPr/>
          <p:nvPr/>
        </p:nvSpPr>
        <p:spPr>
          <a:xfrm>
            <a:off x="1915572" y="131765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4">
            <a:solidFill>
              <a:srgbClr val="FF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6" name="object 1436"/>
          <p:cNvSpPr/>
          <p:nvPr/>
        </p:nvSpPr>
        <p:spPr>
          <a:xfrm>
            <a:off x="1915572" y="129936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7" name="object 1437"/>
          <p:cNvSpPr/>
          <p:nvPr/>
        </p:nvSpPr>
        <p:spPr>
          <a:xfrm>
            <a:off x="1915572" y="129784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8" name="object 1438"/>
          <p:cNvSpPr/>
          <p:nvPr/>
        </p:nvSpPr>
        <p:spPr>
          <a:xfrm>
            <a:off x="1915572" y="127803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9" name="object 1439"/>
          <p:cNvSpPr/>
          <p:nvPr/>
        </p:nvSpPr>
        <p:spPr>
          <a:xfrm>
            <a:off x="1915572" y="127650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A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0" name="object 1440"/>
          <p:cNvSpPr/>
          <p:nvPr/>
        </p:nvSpPr>
        <p:spPr>
          <a:xfrm>
            <a:off x="1915572" y="126126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1" name="object 1441"/>
          <p:cNvSpPr/>
          <p:nvPr/>
        </p:nvSpPr>
        <p:spPr>
          <a:xfrm>
            <a:off x="1915572" y="125669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4">
            <a:solidFill>
              <a:srgbClr val="FFD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2" name="object 1442"/>
          <p:cNvSpPr/>
          <p:nvPr/>
        </p:nvSpPr>
        <p:spPr>
          <a:xfrm>
            <a:off x="1915572" y="124755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4">
            <a:solidFill>
              <a:srgbClr val="FFDC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3" name="object 1443"/>
          <p:cNvSpPr/>
          <p:nvPr/>
        </p:nvSpPr>
        <p:spPr>
          <a:xfrm>
            <a:off x="1915572" y="122774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4" name="object 1444"/>
          <p:cNvSpPr/>
          <p:nvPr/>
        </p:nvSpPr>
        <p:spPr>
          <a:xfrm>
            <a:off x="1915572" y="122621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D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5" name="object 1445"/>
          <p:cNvSpPr/>
          <p:nvPr/>
        </p:nvSpPr>
        <p:spPr>
          <a:xfrm>
            <a:off x="1915572" y="1207929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6" name="object 1446"/>
          <p:cNvSpPr/>
          <p:nvPr/>
        </p:nvSpPr>
        <p:spPr>
          <a:xfrm>
            <a:off x="1915572" y="1189641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7" name="object 1447"/>
          <p:cNvSpPr/>
          <p:nvPr/>
        </p:nvSpPr>
        <p:spPr>
          <a:xfrm>
            <a:off x="1915572" y="1172877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8" name="object 1448"/>
          <p:cNvSpPr/>
          <p:nvPr/>
        </p:nvSpPr>
        <p:spPr>
          <a:xfrm>
            <a:off x="1915572" y="115458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9" name="object 1449"/>
          <p:cNvSpPr/>
          <p:nvPr/>
        </p:nvSpPr>
        <p:spPr>
          <a:xfrm>
            <a:off x="1915572" y="1136301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0" name="object 1450"/>
          <p:cNvSpPr/>
          <p:nvPr/>
        </p:nvSpPr>
        <p:spPr>
          <a:xfrm>
            <a:off x="1915572" y="1119537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1" name="object 1451"/>
          <p:cNvSpPr/>
          <p:nvPr/>
        </p:nvSpPr>
        <p:spPr>
          <a:xfrm>
            <a:off x="1915572" y="110124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2" name="object 1452"/>
          <p:cNvSpPr/>
          <p:nvPr/>
        </p:nvSpPr>
        <p:spPr>
          <a:xfrm>
            <a:off x="1915572" y="1084485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3" name="object 1453"/>
          <p:cNvSpPr/>
          <p:nvPr/>
        </p:nvSpPr>
        <p:spPr>
          <a:xfrm>
            <a:off x="1915572" y="107229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3" y="12192"/>
                </a:lnTo>
                <a:lnTo>
                  <a:pt x="496823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4" name="object 1454"/>
          <p:cNvSpPr/>
          <p:nvPr/>
        </p:nvSpPr>
        <p:spPr>
          <a:xfrm>
            <a:off x="1918619" y="1075341"/>
            <a:ext cx="490855" cy="1130935"/>
          </a:xfrm>
          <a:custGeom>
            <a:avLst/>
            <a:gdLst/>
            <a:ahLst/>
            <a:cxnLst/>
            <a:rect l="l" t="t" r="r" b="b"/>
            <a:pathLst>
              <a:path w="490855" h="1130935">
                <a:moveTo>
                  <a:pt x="0" y="0"/>
                </a:moveTo>
                <a:lnTo>
                  <a:pt x="490727" y="0"/>
                </a:lnTo>
                <a:lnTo>
                  <a:pt x="490727" y="1130807"/>
                </a:lnTo>
                <a:lnTo>
                  <a:pt x="0" y="1130807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5" name="object 1455"/>
          <p:cNvSpPr/>
          <p:nvPr/>
        </p:nvSpPr>
        <p:spPr>
          <a:xfrm>
            <a:off x="2032920" y="111344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131063" y="0"/>
                </a:moveTo>
                <a:lnTo>
                  <a:pt x="80367" y="9858"/>
                </a:lnTo>
                <a:lnTo>
                  <a:pt x="38671" y="36575"/>
                </a:lnTo>
                <a:lnTo>
                  <a:pt x="10406" y="75866"/>
                </a:lnTo>
                <a:lnTo>
                  <a:pt x="0" y="123443"/>
                </a:lnTo>
                <a:lnTo>
                  <a:pt x="10406" y="171902"/>
                </a:lnTo>
                <a:lnTo>
                  <a:pt x="38671" y="211645"/>
                </a:lnTo>
                <a:lnTo>
                  <a:pt x="80367" y="238529"/>
                </a:lnTo>
                <a:lnTo>
                  <a:pt x="131063" y="248411"/>
                </a:lnTo>
                <a:lnTo>
                  <a:pt x="182403" y="238529"/>
                </a:lnTo>
                <a:lnTo>
                  <a:pt x="224028" y="211645"/>
                </a:lnTo>
                <a:lnTo>
                  <a:pt x="251936" y="171902"/>
                </a:lnTo>
                <a:lnTo>
                  <a:pt x="262128" y="123443"/>
                </a:lnTo>
                <a:lnTo>
                  <a:pt x="251936" y="75866"/>
                </a:lnTo>
                <a:lnTo>
                  <a:pt x="224028" y="36575"/>
                </a:lnTo>
                <a:lnTo>
                  <a:pt x="182403" y="9858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6" name="object 1456"/>
          <p:cNvSpPr/>
          <p:nvPr/>
        </p:nvSpPr>
        <p:spPr>
          <a:xfrm>
            <a:off x="2032919" y="111344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0" y="123443"/>
                </a:moveTo>
                <a:lnTo>
                  <a:pt x="10406" y="75866"/>
                </a:lnTo>
                <a:lnTo>
                  <a:pt x="38671" y="36575"/>
                </a:lnTo>
                <a:lnTo>
                  <a:pt x="80367" y="9858"/>
                </a:lnTo>
                <a:lnTo>
                  <a:pt x="131063" y="0"/>
                </a:lnTo>
                <a:lnTo>
                  <a:pt x="182403" y="9858"/>
                </a:lnTo>
                <a:lnTo>
                  <a:pt x="224027" y="36575"/>
                </a:lnTo>
                <a:lnTo>
                  <a:pt x="251936" y="75866"/>
                </a:lnTo>
                <a:lnTo>
                  <a:pt x="262127" y="123443"/>
                </a:lnTo>
                <a:lnTo>
                  <a:pt x="251936" y="171902"/>
                </a:lnTo>
                <a:lnTo>
                  <a:pt x="224027" y="211645"/>
                </a:lnTo>
                <a:lnTo>
                  <a:pt x="182403" y="238529"/>
                </a:lnTo>
                <a:lnTo>
                  <a:pt x="131063" y="248411"/>
                </a:lnTo>
                <a:lnTo>
                  <a:pt x="80367" y="238529"/>
                </a:lnTo>
                <a:lnTo>
                  <a:pt x="38671" y="211645"/>
                </a:lnTo>
                <a:lnTo>
                  <a:pt x="10406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7" name="object 1457"/>
          <p:cNvSpPr/>
          <p:nvPr/>
        </p:nvSpPr>
        <p:spPr>
          <a:xfrm>
            <a:off x="2032920" y="1509681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4">
                <a:moveTo>
                  <a:pt x="131063" y="0"/>
                </a:moveTo>
                <a:lnTo>
                  <a:pt x="80367" y="9644"/>
                </a:lnTo>
                <a:lnTo>
                  <a:pt x="38671" y="36004"/>
                </a:lnTo>
                <a:lnTo>
                  <a:pt x="10406" y="75223"/>
                </a:lnTo>
                <a:lnTo>
                  <a:pt x="0" y="123444"/>
                </a:lnTo>
                <a:lnTo>
                  <a:pt x="10406" y="171664"/>
                </a:lnTo>
                <a:lnTo>
                  <a:pt x="38671" y="210883"/>
                </a:lnTo>
                <a:lnTo>
                  <a:pt x="80367" y="237243"/>
                </a:lnTo>
                <a:lnTo>
                  <a:pt x="131063" y="246888"/>
                </a:lnTo>
                <a:lnTo>
                  <a:pt x="182403" y="237243"/>
                </a:lnTo>
                <a:lnTo>
                  <a:pt x="224028" y="210883"/>
                </a:lnTo>
                <a:lnTo>
                  <a:pt x="251936" y="171664"/>
                </a:lnTo>
                <a:lnTo>
                  <a:pt x="262128" y="123444"/>
                </a:lnTo>
                <a:lnTo>
                  <a:pt x="251936" y="75223"/>
                </a:lnTo>
                <a:lnTo>
                  <a:pt x="224028" y="36004"/>
                </a:lnTo>
                <a:lnTo>
                  <a:pt x="182403" y="9644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8" name="object 1458"/>
          <p:cNvSpPr/>
          <p:nvPr/>
        </p:nvSpPr>
        <p:spPr>
          <a:xfrm>
            <a:off x="2032919" y="1509681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4">
                <a:moveTo>
                  <a:pt x="0" y="123443"/>
                </a:moveTo>
                <a:lnTo>
                  <a:pt x="10406" y="75223"/>
                </a:lnTo>
                <a:lnTo>
                  <a:pt x="38671" y="36004"/>
                </a:lnTo>
                <a:lnTo>
                  <a:pt x="80367" y="9644"/>
                </a:lnTo>
                <a:lnTo>
                  <a:pt x="131063" y="0"/>
                </a:lnTo>
                <a:lnTo>
                  <a:pt x="182403" y="9644"/>
                </a:lnTo>
                <a:lnTo>
                  <a:pt x="224027" y="36004"/>
                </a:lnTo>
                <a:lnTo>
                  <a:pt x="251936" y="75223"/>
                </a:lnTo>
                <a:lnTo>
                  <a:pt x="262127" y="123443"/>
                </a:lnTo>
                <a:lnTo>
                  <a:pt x="251936" y="171664"/>
                </a:lnTo>
                <a:lnTo>
                  <a:pt x="224027" y="210883"/>
                </a:lnTo>
                <a:lnTo>
                  <a:pt x="182403" y="237243"/>
                </a:lnTo>
                <a:lnTo>
                  <a:pt x="131063" y="246887"/>
                </a:lnTo>
                <a:lnTo>
                  <a:pt x="80367" y="237243"/>
                </a:lnTo>
                <a:lnTo>
                  <a:pt x="38671" y="210883"/>
                </a:lnTo>
                <a:lnTo>
                  <a:pt x="10406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9" name="object 1459"/>
          <p:cNvSpPr/>
          <p:nvPr/>
        </p:nvSpPr>
        <p:spPr>
          <a:xfrm>
            <a:off x="2032920" y="1904397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131063" y="0"/>
                </a:moveTo>
                <a:lnTo>
                  <a:pt x="80367" y="9882"/>
                </a:lnTo>
                <a:lnTo>
                  <a:pt x="38671" y="36766"/>
                </a:lnTo>
                <a:lnTo>
                  <a:pt x="10406" y="76509"/>
                </a:lnTo>
                <a:lnTo>
                  <a:pt x="0" y="124968"/>
                </a:lnTo>
                <a:lnTo>
                  <a:pt x="10406" y="172545"/>
                </a:lnTo>
                <a:lnTo>
                  <a:pt x="38671" y="211835"/>
                </a:lnTo>
                <a:lnTo>
                  <a:pt x="80367" y="238553"/>
                </a:lnTo>
                <a:lnTo>
                  <a:pt x="131063" y="248411"/>
                </a:lnTo>
                <a:lnTo>
                  <a:pt x="182403" y="238553"/>
                </a:lnTo>
                <a:lnTo>
                  <a:pt x="224028" y="211835"/>
                </a:lnTo>
                <a:lnTo>
                  <a:pt x="251936" y="172545"/>
                </a:lnTo>
                <a:lnTo>
                  <a:pt x="262128" y="124968"/>
                </a:lnTo>
                <a:lnTo>
                  <a:pt x="251936" y="76509"/>
                </a:lnTo>
                <a:lnTo>
                  <a:pt x="224028" y="36766"/>
                </a:lnTo>
                <a:lnTo>
                  <a:pt x="182403" y="9882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0" name="object 1460"/>
          <p:cNvSpPr/>
          <p:nvPr/>
        </p:nvSpPr>
        <p:spPr>
          <a:xfrm>
            <a:off x="2032919" y="1904397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0" y="124967"/>
                </a:moveTo>
                <a:lnTo>
                  <a:pt x="10406" y="76509"/>
                </a:lnTo>
                <a:lnTo>
                  <a:pt x="38671" y="36766"/>
                </a:lnTo>
                <a:lnTo>
                  <a:pt x="80367" y="9882"/>
                </a:lnTo>
                <a:lnTo>
                  <a:pt x="131063" y="0"/>
                </a:lnTo>
                <a:lnTo>
                  <a:pt x="182403" y="9882"/>
                </a:lnTo>
                <a:lnTo>
                  <a:pt x="224027" y="36766"/>
                </a:lnTo>
                <a:lnTo>
                  <a:pt x="251936" y="76509"/>
                </a:lnTo>
                <a:lnTo>
                  <a:pt x="262127" y="124967"/>
                </a:lnTo>
                <a:lnTo>
                  <a:pt x="251936" y="172545"/>
                </a:lnTo>
                <a:lnTo>
                  <a:pt x="224027" y="211835"/>
                </a:lnTo>
                <a:lnTo>
                  <a:pt x="182403" y="238553"/>
                </a:lnTo>
                <a:lnTo>
                  <a:pt x="131063" y="248411"/>
                </a:lnTo>
                <a:lnTo>
                  <a:pt x="80367" y="238553"/>
                </a:lnTo>
                <a:lnTo>
                  <a:pt x="38671" y="211835"/>
                </a:lnTo>
                <a:lnTo>
                  <a:pt x="10406" y="172545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1" name="object 1461"/>
          <p:cNvSpPr/>
          <p:nvPr/>
        </p:nvSpPr>
        <p:spPr>
          <a:xfrm>
            <a:off x="2759867" y="1230789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5">
                <a:moveTo>
                  <a:pt x="131064" y="0"/>
                </a:moveTo>
                <a:lnTo>
                  <a:pt x="80367" y="9644"/>
                </a:lnTo>
                <a:lnTo>
                  <a:pt x="38671" y="36004"/>
                </a:lnTo>
                <a:lnTo>
                  <a:pt x="10406" y="75223"/>
                </a:lnTo>
                <a:lnTo>
                  <a:pt x="0" y="123443"/>
                </a:lnTo>
                <a:lnTo>
                  <a:pt x="10406" y="171664"/>
                </a:lnTo>
                <a:lnTo>
                  <a:pt x="38671" y="210883"/>
                </a:lnTo>
                <a:lnTo>
                  <a:pt x="80367" y="237243"/>
                </a:lnTo>
                <a:lnTo>
                  <a:pt x="131064" y="246887"/>
                </a:lnTo>
                <a:lnTo>
                  <a:pt x="182403" y="237243"/>
                </a:lnTo>
                <a:lnTo>
                  <a:pt x="224027" y="210883"/>
                </a:lnTo>
                <a:lnTo>
                  <a:pt x="251936" y="171664"/>
                </a:lnTo>
                <a:lnTo>
                  <a:pt x="262128" y="123443"/>
                </a:lnTo>
                <a:lnTo>
                  <a:pt x="251936" y="75223"/>
                </a:lnTo>
                <a:lnTo>
                  <a:pt x="224028" y="36004"/>
                </a:lnTo>
                <a:lnTo>
                  <a:pt x="182403" y="9644"/>
                </a:lnTo>
                <a:lnTo>
                  <a:pt x="1310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2" name="object 1462"/>
          <p:cNvSpPr/>
          <p:nvPr/>
        </p:nvSpPr>
        <p:spPr>
          <a:xfrm>
            <a:off x="2759867" y="1230789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5">
                <a:moveTo>
                  <a:pt x="0" y="123443"/>
                </a:moveTo>
                <a:lnTo>
                  <a:pt x="10406" y="75223"/>
                </a:lnTo>
                <a:lnTo>
                  <a:pt x="38671" y="36004"/>
                </a:lnTo>
                <a:lnTo>
                  <a:pt x="80367" y="9644"/>
                </a:lnTo>
                <a:lnTo>
                  <a:pt x="131063" y="0"/>
                </a:lnTo>
                <a:lnTo>
                  <a:pt x="182403" y="9644"/>
                </a:lnTo>
                <a:lnTo>
                  <a:pt x="224027" y="36004"/>
                </a:lnTo>
                <a:lnTo>
                  <a:pt x="251936" y="75223"/>
                </a:lnTo>
                <a:lnTo>
                  <a:pt x="262127" y="123443"/>
                </a:lnTo>
                <a:lnTo>
                  <a:pt x="251936" y="171664"/>
                </a:lnTo>
                <a:lnTo>
                  <a:pt x="224027" y="210883"/>
                </a:lnTo>
                <a:lnTo>
                  <a:pt x="182403" y="237243"/>
                </a:lnTo>
                <a:lnTo>
                  <a:pt x="131063" y="246887"/>
                </a:lnTo>
                <a:lnTo>
                  <a:pt x="80367" y="237243"/>
                </a:lnTo>
                <a:lnTo>
                  <a:pt x="38671" y="210883"/>
                </a:lnTo>
                <a:lnTo>
                  <a:pt x="10406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3" name="object 1463"/>
          <p:cNvSpPr txBox="1"/>
          <p:nvPr/>
        </p:nvSpPr>
        <p:spPr>
          <a:xfrm>
            <a:off x="2680619" y="1263770"/>
            <a:ext cx="487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23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64" name="object 1464"/>
          <p:cNvSpPr/>
          <p:nvPr/>
        </p:nvSpPr>
        <p:spPr>
          <a:xfrm>
            <a:off x="2744628" y="1721517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131063" y="0"/>
                </a:moveTo>
                <a:lnTo>
                  <a:pt x="79724" y="9644"/>
                </a:lnTo>
                <a:lnTo>
                  <a:pt x="38100" y="36004"/>
                </a:lnTo>
                <a:lnTo>
                  <a:pt x="10191" y="75223"/>
                </a:lnTo>
                <a:lnTo>
                  <a:pt x="0" y="123443"/>
                </a:lnTo>
                <a:lnTo>
                  <a:pt x="10191" y="171902"/>
                </a:lnTo>
                <a:lnTo>
                  <a:pt x="38100" y="211645"/>
                </a:lnTo>
                <a:lnTo>
                  <a:pt x="79724" y="238529"/>
                </a:lnTo>
                <a:lnTo>
                  <a:pt x="131063" y="248411"/>
                </a:lnTo>
                <a:lnTo>
                  <a:pt x="181760" y="238529"/>
                </a:lnTo>
                <a:lnTo>
                  <a:pt x="223456" y="211645"/>
                </a:lnTo>
                <a:lnTo>
                  <a:pt x="251721" y="171902"/>
                </a:lnTo>
                <a:lnTo>
                  <a:pt x="262127" y="123443"/>
                </a:lnTo>
                <a:lnTo>
                  <a:pt x="251721" y="75223"/>
                </a:lnTo>
                <a:lnTo>
                  <a:pt x="223456" y="36004"/>
                </a:lnTo>
                <a:lnTo>
                  <a:pt x="181760" y="9644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5" name="object 1465"/>
          <p:cNvSpPr/>
          <p:nvPr/>
        </p:nvSpPr>
        <p:spPr>
          <a:xfrm>
            <a:off x="2744628" y="1721517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0" y="123443"/>
                </a:moveTo>
                <a:lnTo>
                  <a:pt x="10191" y="75223"/>
                </a:lnTo>
                <a:lnTo>
                  <a:pt x="38099" y="36004"/>
                </a:lnTo>
                <a:lnTo>
                  <a:pt x="79724" y="9644"/>
                </a:lnTo>
                <a:lnTo>
                  <a:pt x="131063" y="0"/>
                </a:lnTo>
                <a:lnTo>
                  <a:pt x="181760" y="9644"/>
                </a:lnTo>
                <a:lnTo>
                  <a:pt x="223456" y="36004"/>
                </a:lnTo>
                <a:lnTo>
                  <a:pt x="251721" y="75223"/>
                </a:lnTo>
                <a:lnTo>
                  <a:pt x="262127" y="123443"/>
                </a:lnTo>
                <a:lnTo>
                  <a:pt x="251721" y="171902"/>
                </a:lnTo>
                <a:lnTo>
                  <a:pt x="223456" y="211645"/>
                </a:lnTo>
                <a:lnTo>
                  <a:pt x="181760" y="238529"/>
                </a:lnTo>
                <a:lnTo>
                  <a:pt x="131063" y="248411"/>
                </a:lnTo>
                <a:lnTo>
                  <a:pt x="79724" y="238529"/>
                </a:lnTo>
                <a:lnTo>
                  <a:pt x="38099" y="211645"/>
                </a:lnTo>
                <a:lnTo>
                  <a:pt x="10191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6" name="object 1466"/>
          <p:cNvSpPr txBox="1"/>
          <p:nvPr/>
        </p:nvSpPr>
        <p:spPr>
          <a:xfrm>
            <a:off x="2680619" y="1756061"/>
            <a:ext cx="487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271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67" name="object 1467"/>
          <p:cNvSpPr/>
          <p:nvPr/>
        </p:nvSpPr>
        <p:spPr>
          <a:xfrm>
            <a:off x="3552347" y="1492917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4" h="248919">
                <a:moveTo>
                  <a:pt x="131063" y="0"/>
                </a:moveTo>
                <a:lnTo>
                  <a:pt x="80367" y="9882"/>
                </a:lnTo>
                <a:lnTo>
                  <a:pt x="38671" y="36766"/>
                </a:lnTo>
                <a:lnTo>
                  <a:pt x="10406" y="76509"/>
                </a:lnTo>
                <a:lnTo>
                  <a:pt x="0" y="124967"/>
                </a:lnTo>
                <a:lnTo>
                  <a:pt x="10406" y="173188"/>
                </a:lnTo>
                <a:lnTo>
                  <a:pt x="38671" y="212407"/>
                </a:lnTo>
                <a:lnTo>
                  <a:pt x="80367" y="238767"/>
                </a:lnTo>
                <a:lnTo>
                  <a:pt x="131063" y="248411"/>
                </a:lnTo>
                <a:lnTo>
                  <a:pt x="182403" y="238767"/>
                </a:lnTo>
                <a:lnTo>
                  <a:pt x="224027" y="212407"/>
                </a:lnTo>
                <a:lnTo>
                  <a:pt x="251936" y="173188"/>
                </a:lnTo>
                <a:lnTo>
                  <a:pt x="262127" y="124967"/>
                </a:lnTo>
                <a:lnTo>
                  <a:pt x="251936" y="76509"/>
                </a:lnTo>
                <a:lnTo>
                  <a:pt x="224027" y="36766"/>
                </a:lnTo>
                <a:lnTo>
                  <a:pt x="182403" y="9882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8" name="object 1468"/>
          <p:cNvSpPr/>
          <p:nvPr/>
        </p:nvSpPr>
        <p:spPr>
          <a:xfrm>
            <a:off x="3552347" y="1492917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4" h="248919">
                <a:moveTo>
                  <a:pt x="0" y="124967"/>
                </a:moveTo>
                <a:lnTo>
                  <a:pt x="10406" y="76509"/>
                </a:lnTo>
                <a:lnTo>
                  <a:pt x="38671" y="36766"/>
                </a:lnTo>
                <a:lnTo>
                  <a:pt x="80367" y="9882"/>
                </a:lnTo>
                <a:lnTo>
                  <a:pt x="131063" y="0"/>
                </a:lnTo>
                <a:lnTo>
                  <a:pt x="182403" y="9882"/>
                </a:lnTo>
                <a:lnTo>
                  <a:pt x="224027" y="36766"/>
                </a:lnTo>
                <a:lnTo>
                  <a:pt x="251936" y="76509"/>
                </a:lnTo>
                <a:lnTo>
                  <a:pt x="262127" y="124967"/>
                </a:lnTo>
                <a:lnTo>
                  <a:pt x="251936" y="173188"/>
                </a:lnTo>
                <a:lnTo>
                  <a:pt x="224027" y="212407"/>
                </a:lnTo>
                <a:lnTo>
                  <a:pt x="182403" y="238767"/>
                </a:lnTo>
                <a:lnTo>
                  <a:pt x="131063" y="248411"/>
                </a:lnTo>
                <a:lnTo>
                  <a:pt x="80367" y="238767"/>
                </a:lnTo>
                <a:lnTo>
                  <a:pt x="38671" y="212407"/>
                </a:lnTo>
                <a:lnTo>
                  <a:pt x="10406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9" name="object 1469"/>
          <p:cNvSpPr/>
          <p:nvPr/>
        </p:nvSpPr>
        <p:spPr>
          <a:xfrm>
            <a:off x="2293523" y="1230789"/>
            <a:ext cx="466725" cy="134620"/>
          </a:xfrm>
          <a:custGeom>
            <a:avLst/>
            <a:gdLst/>
            <a:ahLst/>
            <a:cxnLst/>
            <a:rect l="l" t="t" r="r" b="b"/>
            <a:pathLst>
              <a:path w="466725" h="134619">
                <a:moveTo>
                  <a:pt x="422599" y="120115"/>
                </a:moveTo>
                <a:lnTo>
                  <a:pt x="419100" y="134111"/>
                </a:lnTo>
                <a:lnTo>
                  <a:pt x="466343" y="123443"/>
                </a:lnTo>
                <a:lnTo>
                  <a:pt x="464602" y="121919"/>
                </a:lnTo>
                <a:lnTo>
                  <a:pt x="429767" y="121919"/>
                </a:lnTo>
                <a:lnTo>
                  <a:pt x="422599" y="120115"/>
                </a:lnTo>
                <a:close/>
              </a:path>
              <a:path w="466725" h="134619">
                <a:moveTo>
                  <a:pt x="426005" y="106489"/>
                </a:moveTo>
                <a:lnTo>
                  <a:pt x="422599" y="120115"/>
                </a:lnTo>
                <a:lnTo>
                  <a:pt x="429767" y="121919"/>
                </a:lnTo>
                <a:lnTo>
                  <a:pt x="432815" y="108203"/>
                </a:lnTo>
                <a:lnTo>
                  <a:pt x="426005" y="106489"/>
                </a:lnTo>
                <a:close/>
              </a:path>
              <a:path w="466725" h="134619">
                <a:moveTo>
                  <a:pt x="429767" y="91439"/>
                </a:moveTo>
                <a:lnTo>
                  <a:pt x="426005" y="106489"/>
                </a:lnTo>
                <a:lnTo>
                  <a:pt x="432815" y="108203"/>
                </a:lnTo>
                <a:lnTo>
                  <a:pt x="429767" y="121919"/>
                </a:lnTo>
                <a:lnTo>
                  <a:pt x="464602" y="121919"/>
                </a:lnTo>
                <a:lnTo>
                  <a:pt x="429767" y="91439"/>
                </a:lnTo>
                <a:close/>
              </a:path>
              <a:path w="466725" h="134619">
                <a:moveTo>
                  <a:pt x="3048" y="0"/>
                </a:moveTo>
                <a:lnTo>
                  <a:pt x="0" y="13715"/>
                </a:lnTo>
                <a:lnTo>
                  <a:pt x="422599" y="120115"/>
                </a:lnTo>
                <a:lnTo>
                  <a:pt x="426005" y="106489"/>
                </a:lnTo>
                <a:lnTo>
                  <a:pt x="30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0" name="object 1470"/>
          <p:cNvSpPr/>
          <p:nvPr/>
        </p:nvSpPr>
        <p:spPr>
          <a:xfrm>
            <a:off x="2290476" y="1233837"/>
            <a:ext cx="454659" cy="611505"/>
          </a:xfrm>
          <a:custGeom>
            <a:avLst/>
            <a:gdLst/>
            <a:ahLst/>
            <a:cxnLst/>
            <a:rect l="l" t="t" r="r" b="b"/>
            <a:pathLst>
              <a:path w="454660" h="611505">
                <a:moveTo>
                  <a:pt x="422800" y="581420"/>
                </a:moveTo>
                <a:lnTo>
                  <a:pt x="411479" y="589788"/>
                </a:lnTo>
                <a:lnTo>
                  <a:pt x="454151" y="611124"/>
                </a:lnTo>
                <a:lnTo>
                  <a:pt x="450219" y="586740"/>
                </a:lnTo>
                <a:lnTo>
                  <a:pt x="426720" y="586740"/>
                </a:lnTo>
                <a:lnTo>
                  <a:pt x="422800" y="581420"/>
                </a:lnTo>
                <a:close/>
              </a:path>
              <a:path w="454660" h="611505">
                <a:moveTo>
                  <a:pt x="434318" y="572907"/>
                </a:moveTo>
                <a:lnTo>
                  <a:pt x="422800" y="581420"/>
                </a:lnTo>
                <a:lnTo>
                  <a:pt x="426720" y="586740"/>
                </a:lnTo>
                <a:lnTo>
                  <a:pt x="438912" y="579120"/>
                </a:lnTo>
                <a:lnTo>
                  <a:pt x="434318" y="572907"/>
                </a:lnTo>
                <a:close/>
              </a:path>
              <a:path w="454660" h="611505">
                <a:moveTo>
                  <a:pt x="446532" y="563880"/>
                </a:moveTo>
                <a:lnTo>
                  <a:pt x="434318" y="572907"/>
                </a:lnTo>
                <a:lnTo>
                  <a:pt x="438912" y="579120"/>
                </a:lnTo>
                <a:lnTo>
                  <a:pt x="426720" y="586740"/>
                </a:lnTo>
                <a:lnTo>
                  <a:pt x="450219" y="586740"/>
                </a:lnTo>
                <a:lnTo>
                  <a:pt x="446532" y="563880"/>
                </a:lnTo>
                <a:close/>
              </a:path>
              <a:path w="454660" h="611505">
                <a:moveTo>
                  <a:pt x="10668" y="0"/>
                </a:moveTo>
                <a:lnTo>
                  <a:pt x="0" y="7620"/>
                </a:lnTo>
                <a:lnTo>
                  <a:pt x="422800" y="581420"/>
                </a:lnTo>
                <a:lnTo>
                  <a:pt x="434318" y="572907"/>
                </a:lnTo>
                <a:lnTo>
                  <a:pt x="106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1" name="object 1471"/>
          <p:cNvSpPr/>
          <p:nvPr/>
        </p:nvSpPr>
        <p:spPr>
          <a:xfrm>
            <a:off x="2292000" y="1354233"/>
            <a:ext cx="467995" cy="285115"/>
          </a:xfrm>
          <a:custGeom>
            <a:avLst/>
            <a:gdLst/>
            <a:ahLst/>
            <a:cxnLst/>
            <a:rect l="l" t="t" r="r" b="b"/>
            <a:pathLst>
              <a:path w="467994" h="285114">
                <a:moveTo>
                  <a:pt x="428131" y="15917"/>
                </a:moveTo>
                <a:lnTo>
                  <a:pt x="0" y="272796"/>
                </a:lnTo>
                <a:lnTo>
                  <a:pt x="7619" y="284988"/>
                </a:lnTo>
                <a:lnTo>
                  <a:pt x="434984" y="27666"/>
                </a:lnTo>
                <a:lnTo>
                  <a:pt x="428131" y="15917"/>
                </a:lnTo>
                <a:close/>
              </a:path>
              <a:path w="467994" h="285114">
                <a:moveTo>
                  <a:pt x="459896" y="12192"/>
                </a:moveTo>
                <a:lnTo>
                  <a:pt x="434339" y="12192"/>
                </a:lnTo>
                <a:lnTo>
                  <a:pt x="440436" y="24384"/>
                </a:lnTo>
                <a:lnTo>
                  <a:pt x="434984" y="27666"/>
                </a:lnTo>
                <a:lnTo>
                  <a:pt x="441960" y="39624"/>
                </a:lnTo>
                <a:lnTo>
                  <a:pt x="459896" y="12192"/>
                </a:lnTo>
                <a:close/>
              </a:path>
              <a:path w="467994" h="285114">
                <a:moveTo>
                  <a:pt x="434339" y="12192"/>
                </a:moveTo>
                <a:lnTo>
                  <a:pt x="428131" y="15917"/>
                </a:lnTo>
                <a:lnTo>
                  <a:pt x="434984" y="27666"/>
                </a:lnTo>
                <a:lnTo>
                  <a:pt x="440436" y="24384"/>
                </a:lnTo>
                <a:lnTo>
                  <a:pt x="434339" y="12192"/>
                </a:lnTo>
                <a:close/>
              </a:path>
              <a:path w="467994" h="285114">
                <a:moveTo>
                  <a:pt x="467867" y="0"/>
                </a:moveTo>
                <a:lnTo>
                  <a:pt x="420624" y="3048"/>
                </a:lnTo>
                <a:lnTo>
                  <a:pt x="428131" y="15917"/>
                </a:lnTo>
                <a:lnTo>
                  <a:pt x="434339" y="12192"/>
                </a:lnTo>
                <a:lnTo>
                  <a:pt x="459896" y="12192"/>
                </a:lnTo>
                <a:lnTo>
                  <a:pt x="46786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2" name="object 1472"/>
          <p:cNvSpPr/>
          <p:nvPr/>
        </p:nvSpPr>
        <p:spPr>
          <a:xfrm>
            <a:off x="2292000" y="1627029"/>
            <a:ext cx="452755" cy="219710"/>
          </a:xfrm>
          <a:custGeom>
            <a:avLst/>
            <a:gdLst/>
            <a:ahLst/>
            <a:cxnLst/>
            <a:rect l="l" t="t" r="r" b="b"/>
            <a:pathLst>
              <a:path w="452755" h="219710">
                <a:moveTo>
                  <a:pt x="411808" y="206072"/>
                </a:moveTo>
                <a:lnTo>
                  <a:pt x="405384" y="219455"/>
                </a:lnTo>
                <a:lnTo>
                  <a:pt x="452627" y="217931"/>
                </a:lnTo>
                <a:lnTo>
                  <a:pt x="445389" y="208788"/>
                </a:lnTo>
                <a:lnTo>
                  <a:pt x="417575" y="208788"/>
                </a:lnTo>
                <a:lnTo>
                  <a:pt x="411808" y="206072"/>
                </a:lnTo>
                <a:close/>
              </a:path>
              <a:path w="452755" h="219710">
                <a:moveTo>
                  <a:pt x="417705" y="193786"/>
                </a:moveTo>
                <a:lnTo>
                  <a:pt x="411808" y="206072"/>
                </a:lnTo>
                <a:lnTo>
                  <a:pt x="417575" y="208788"/>
                </a:lnTo>
                <a:lnTo>
                  <a:pt x="423672" y="196596"/>
                </a:lnTo>
                <a:lnTo>
                  <a:pt x="417705" y="193786"/>
                </a:lnTo>
                <a:close/>
              </a:path>
              <a:path w="452755" h="219710">
                <a:moveTo>
                  <a:pt x="423672" y="181355"/>
                </a:moveTo>
                <a:lnTo>
                  <a:pt x="417705" y="193786"/>
                </a:lnTo>
                <a:lnTo>
                  <a:pt x="423672" y="196596"/>
                </a:lnTo>
                <a:lnTo>
                  <a:pt x="417575" y="208788"/>
                </a:lnTo>
                <a:lnTo>
                  <a:pt x="445389" y="208788"/>
                </a:lnTo>
                <a:lnTo>
                  <a:pt x="423672" y="181355"/>
                </a:lnTo>
                <a:close/>
              </a:path>
              <a:path w="452755" h="219710">
                <a:moveTo>
                  <a:pt x="6095" y="0"/>
                </a:moveTo>
                <a:lnTo>
                  <a:pt x="0" y="12192"/>
                </a:lnTo>
                <a:lnTo>
                  <a:pt x="411808" y="206072"/>
                </a:lnTo>
                <a:lnTo>
                  <a:pt x="417705" y="193786"/>
                </a:lnTo>
                <a:lnTo>
                  <a:pt x="609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3" name="object 1473"/>
          <p:cNvSpPr/>
          <p:nvPr/>
        </p:nvSpPr>
        <p:spPr>
          <a:xfrm>
            <a:off x="2288951" y="1354233"/>
            <a:ext cx="471170" cy="678180"/>
          </a:xfrm>
          <a:custGeom>
            <a:avLst/>
            <a:gdLst/>
            <a:ahLst/>
            <a:cxnLst/>
            <a:rect l="l" t="t" r="r" b="b"/>
            <a:pathLst>
              <a:path w="471169" h="678180">
                <a:moveTo>
                  <a:pt x="441485" y="31011"/>
                </a:moveTo>
                <a:lnTo>
                  <a:pt x="0" y="670560"/>
                </a:lnTo>
                <a:lnTo>
                  <a:pt x="12192" y="678180"/>
                </a:lnTo>
                <a:lnTo>
                  <a:pt x="453275" y="39213"/>
                </a:lnTo>
                <a:lnTo>
                  <a:pt x="441485" y="31011"/>
                </a:lnTo>
                <a:close/>
              </a:path>
              <a:path w="471169" h="678180">
                <a:moveTo>
                  <a:pt x="467573" y="25908"/>
                </a:moveTo>
                <a:lnTo>
                  <a:pt x="445008" y="25908"/>
                </a:lnTo>
                <a:lnTo>
                  <a:pt x="457200" y="33527"/>
                </a:lnTo>
                <a:lnTo>
                  <a:pt x="453275" y="39213"/>
                </a:lnTo>
                <a:lnTo>
                  <a:pt x="464820" y="47244"/>
                </a:lnTo>
                <a:lnTo>
                  <a:pt x="467573" y="25908"/>
                </a:lnTo>
                <a:close/>
              </a:path>
              <a:path w="471169" h="678180">
                <a:moveTo>
                  <a:pt x="445008" y="25908"/>
                </a:moveTo>
                <a:lnTo>
                  <a:pt x="441485" y="31011"/>
                </a:lnTo>
                <a:lnTo>
                  <a:pt x="453275" y="39213"/>
                </a:lnTo>
                <a:lnTo>
                  <a:pt x="457200" y="33527"/>
                </a:lnTo>
                <a:lnTo>
                  <a:pt x="445008" y="25908"/>
                </a:lnTo>
                <a:close/>
              </a:path>
              <a:path w="471169" h="678180">
                <a:moveTo>
                  <a:pt x="470915" y="0"/>
                </a:moveTo>
                <a:lnTo>
                  <a:pt x="429768" y="22860"/>
                </a:lnTo>
                <a:lnTo>
                  <a:pt x="441485" y="31011"/>
                </a:lnTo>
                <a:lnTo>
                  <a:pt x="445008" y="25908"/>
                </a:lnTo>
                <a:lnTo>
                  <a:pt x="467573" y="25908"/>
                </a:lnTo>
                <a:lnTo>
                  <a:pt x="47091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4" name="object 1474"/>
          <p:cNvSpPr/>
          <p:nvPr/>
        </p:nvSpPr>
        <p:spPr>
          <a:xfrm>
            <a:off x="2293523" y="1841913"/>
            <a:ext cx="451484" cy="193675"/>
          </a:xfrm>
          <a:custGeom>
            <a:avLst/>
            <a:gdLst/>
            <a:ahLst/>
            <a:cxnLst/>
            <a:rect l="l" t="t" r="r" b="b"/>
            <a:pathLst>
              <a:path w="451485" h="193675">
                <a:moveTo>
                  <a:pt x="408853" y="12983"/>
                </a:moveTo>
                <a:lnTo>
                  <a:pt x="0" y="179831"/>
                </a:lnTo>
                <a:lnTo>
                  <a:pt x="4571" y="193547"/>
                </a:lnTo>
                <a:lnTo>
                  <a:pt x="413738" y="25684"/>
                </a:lnTo>
                <a:lnTo>
                  <a:pt x="408853" y="12983"/>
                </a:lnTo>
                <a:close/>
              </a:path>
              <a:path w="451485" h="193675">
                <a:moveTo>
                  <a:pt x="444436" y="10667"/>
                </a:moveTo>
                <a:lnTo>
                  <a:pt x="414527" y="10667"/>
                </a:lnTo>
                <a:lnTo>
                  <a:pt x="420624" y="22859"/>
                </a:lnTo>
                <a:lnTo>
                  <a:pt x="413738" y="25684"/>
                </a:lnTo>
                <a:lnTo>
                  <a:pt x="419100" y="39623"/>
                </a:lnTo>
                <a:lnTo>
                  <a:pt x="444436" y="10667"/>
                </a:lnTo>
                <a:close/>
              </a:path>
              <a:path w="451485" h="193675">
                <a:moveTo>
                  <a:pt x="414527" y="10667"/>
                </a:moveTo>
                <a:lnTo>
                  <a:pt x="408853" y="12983"/>
                </a:lnTo>
                <a:lnTo>
                  <a:pt x="413738" y="25684"/>
                </a:lnTo>
                <a:lnTo>
                  <a:pt x="420624" y="22859"/>
                </a:lnTo>
                <a:lnTo>
                  <a:pt x="414527" y="10667"/>
                </a:lnTo>
                <a:close/>
              </a:path>
              <a:path w="451485" h="193675">
                <a:moveTo>
                  <a:pt x="403860" y="0"/>
                </a:moveTo>
                <a:lnTo>
                  <a:pt x="408853" y="12983"/>
                </a:lnTo>
                <a:lnTo>
                  <a:pt x="414527" y="10667"/>
                </a:lnTo>
                <a:lnTo>
                  <a:pt x="444436" y="10667"/>
                </a:lnTo>
                <a:lnTo>
                  <a:pt x="451103" y="3047"/>
                </a:lnTo>
                <a:lnTo>
                  <a:pt x="40386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5" name="object 1475"/>
          <p:cNvSpPr/>
          <p:nvPr/>
        </p:nvSpPr>
        <p:spPr>
          <a:xfrm>
            <a:off x="3020472" y="1351185"/>
            <a:ext cx="532130" cy="266700"/>
          </a:xfrm>
          <a:custGeom>
            <a:avLst/>
            <a:gdLst/>
            <a:ahLst/>
            <a:cxnLst/>
            <a:rect l="l" t="t" r="r" b="b"/>
            <a:pathLst>
              <a:path w="532129" h="266700">
                <a:moveTo>
                  <a:pt x="497079" y="251605"/>
                </a:moveTo>
                <a:lnTo>
                  <a:pt x="489203" y="266700"/>
                </a:lnTo>
                <a:lnTo>
                  <a:pt x="531876" y="266700"/>
                </a:lnTo>
                <a:lnTo>
                  <a:pt x="523394" y="254508"/>
                </a:lnTo>
                <a:lnTo>
                  <a:pt x="502919" y="254508"/>
                </a:lnTo>
                <a:lnTo>
                  <a:pt x="497079" y="251605"/>
                </a:lnTo>
                <a:close/>
              </a:path>
              <a:path w="532129" h="266700">
                <a:moveTo>
                  <a:pt x="499290" y="247367"/>
                </a:moveTo>
                <a:lnTo>
                  <a:pt x="497079" y="251605"/>
                </a:lnTo>
                <a:lnTo>
                  <a:pt x="502919" y="254508"/>
                </a:lnTo>
                <a:lnTo>
                  <a:pt x="504443" y="249936"/>
                </a:lnTo>
                <a:lnTo>
                  <a:pt x="499290" y="247367"/>
                </a:lnTo>
                <a:close/>
              </a:path>
              <a:path w="532129" h="266700">
                <a:moveTo>
                  <a:pt x="507491" y="231648"/>
                </a:moveTo>
                <a:lnTo>
                  <a:pt x="499290" y="247367"/>
                </a:lnTo>
                <a:lnTo>
                  <a:pt x="504443" y="249936"/>
                </a:lnTo>
                <a:lnTo>
                  <a:pt x="502919" y="254508"/>
                </a:lnTo>
                <a:lnTo>
                  <a:pt x="523394" y="254508"/>
                </a:lnTo>
                <a:lnTo>
                  <a:pt x="507491" y="231648"/>
                </a:lnTo>
                <a:close/>
              </a:path>
              <a:path w="532129" h="266700">
                <a:moveTo>
                  <a:pt x="3048" y="0"/>
                </a:moveTo>
                <a:lnTo>
                  <a:pt x="0" y="4572"/>
                </a:lnTo>
                <a:lnTo>
                  <a:pt x="497079" y="251605"/>
                </a:lnTo>
                <a:lnTo>
                  <a:pt x="499290" y="247367"/>
                </a:lnTo>
                <a:lnTo>
                  <a:pt x="3048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6" name="object 1476"/>
          <p:cNvSpPr/>
          <p:nvPr/>
        </p:nvSpPr>
        <p:spPr>
          <a:xfrm>
            <a:off x="3005232" y="1614837"/>
            <a:ext cx="547370" cy="233679"/>
          </a:xfrm>
          <a:custGeom>
            <a:avLst/>
            <a:gdLst/>
            <a:ahLst/>
            <a:cxnLst/>
            <a:rect l="l" t="t" r="r" b="b"/>
            <a:pathLst>
              <a:path w="547370" h="233680">
                <a:moveTo>
                  <a:pt x="511781" y="14856"/>
                </a:moveTo>
                <a:lnTo>
                  <a:pt x="0" y="228600"/>
                </a:lnTo>
                <a:lnTo>
                  <a:pt x="3047" y="233172"/>
                </a:lnTo>
                <a:lnTo>
                  <a:pt x="513535" y="19339"/>
                </a:lnTo>
                <a:lnTo>
                  <a:pt x="511781" y="14856"/>
                </a:lnTo>
                <a:close/>
              </a:path>
              <a:path w="547370" h="233680">
                <a:moveTo>
                  <a:pt x="539278" y="12192"/>
                </a:moveTo>
                <a:lnTo>
                  <a:pt x="518159" y="12192"/>
                </a:lnTo>
                <a:lnTo>
                  <a:pt x="519683" y="16764"/>
                </a:lnTo>
                <a:lnTo>
                  <a:pt x="513535" y="19339"/>
                </a:lnTo>
                <a:lnTo>
                  <a:pt x="519683" y="35052"/>
                </a:lnTo>
                <a:lnTo>
                  <a:pt x="539278" y="12192"/>
                </a:lnTo>
                <a:close/>
              </a:path>
              <a:path w="547370" h="233680">
                <a:moveTo>
                  <a:pt x="518159" y="12192"/>
                </a:moveTo>
                <a:lnTo>
                  <a:pt x="511781" y="14856"/>
                </a:lnTo>
                <a:lnTo>
                  <a:pt x="513535" y="19339"/>
                </a:lnTo>
                <a:lnTo>
                  <a:pt x="519683" y="16764"/>
                </a:lnTo>
                <a:lnTo>
                  <a:pt x="518159" y="12192"/>
                </a:lnTo>
                <a:close/>
              </a:path>
              <a:path w="547370" h="233680">
                <a:moveTo>
                  <a:pt x="505967" y="0"/>
                </a:moveTo>
                <a:lnTo>
                  <a:pt x="511781" y="14856"/>
                </a:lnTo>
                <a:lnTo>
                  <a:pt x="518159" y="12192"/>
                </a:lnTo>
                <a:lnTo>
                  <a:pt x="539278" y="12192"/>
                </a:lnTo>
                <a:lnTo>
                  <a:pt x="547115" y="3048"/>
                </a:lnTo>
                <a:lnTo>
                  <a:pt x="505967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7" name="object 1477"/>
          <p:cNvSpPr txBox="1"/>
          <p:nvPr/>
        </p:nvSpPr>
        <p:spPr>
          <a:xfrm>
            <a:off x="1270411" y="2577535"/>
            <a:ext cx="36830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全零初始化：网络中不同的神经元有相同的输出，进行同样的参数更新； 因此，这些神经元学到的参数都一样，等价于一个神经元。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78" name="object 1478"/>
          <p:cNvSpPr txBox="1"/>
          <p:nvPr/>
        </p:nvSpPr>
        <p:spPr>
          <a:xfrm>
            <a:off x="2338659" y="142144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9" name="object 147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0" name="object 148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3" name="object 1483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76048" y="212519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428">
            <a:solidFill>
              <a:srgbClr val="9EEA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76048" y="211548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8" y="7620"/>
                </a:lnTo>
                <a:lnTo>
                  <a:pt x="3048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9E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9823" y="21158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9E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76048" y="210366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69823" y="210366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76048" y="209147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69823" y="209147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76048" y="20792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69823" y="20792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76048" y="20655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69823" y="20655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76048" y="205337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69823" y="205337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76048" y="20411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69823" y="20411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76048" y="20289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69823" y="20289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76048" y="20152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69823" y="20152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76048" y="20030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69823" y="20030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76048" y="19924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8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69823" y="19924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8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76048" y="198174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9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69823" y="198174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9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676048" y="19710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A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69823" y="19710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A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676048" y="196650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AB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69823" y="196650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AB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76048" y="19604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AB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169823" y="19604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AB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676048" y="194974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C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69823" y="194974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C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76048" y="193907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D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169823" y="193907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D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676048" y="19284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E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169823" y="19284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E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676048" y="19162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169823" y="19162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76048" y="190250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169823" y="190250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676048" y="18903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69823" y="18903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676048" y="18781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169823" y="18781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676048" y="18659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169823" y="18659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676048" y="18522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169823" y="18522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76048" y="18400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169823" y="18400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676048" y="18278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169823" y="18278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676048" y="181563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169823" y="181563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676048" y="18019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69823" y="18019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76048" y="17897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169823" y="17897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76048" y="177753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169823" y="177753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76048" y="176534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169823" y="176534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76048" y="175314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169823" y="175314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76048" y="17379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169823" y="17379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676048" y="17226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169823" y="17226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676048" y="17150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BF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169823" y="17150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BF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676048" y="17074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BF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169823" y="17074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BF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676048" y="16906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169823" y="16906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676048" y="16723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169823" y="16723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676048" y="165256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8" y="0"/>
                </a:moveTo>
                <a:lnTo>
                  <a:pt x="0" y="0"/>
                </a:lnTo>
                <a:lnTo>
                  <a:pt x="0" y="19812"/>
                </a:lnTo>
                <a:lnTo>
                  <a:pt x="3048" y="19812"/>
                </a:lnTo>
                <a:lnTo>
                  <a:pt x="3048" y="0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169823" y="165256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8" y="0"/>
                </a:moveTo>
                <a:lnTo>
                  <a:pt x="0" y="0"/>
                </a:lnTo>
                <a:lnTo>
                  <a:pt x="0" y="19812"/>
                </a:lnTo>
                <a:lnTo>
                  <a:pt x="3048" y="19812"/>
                </a:lnTo>
                <a:lnTo>
                  <a:pt x="3048" y="0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676048" y="1631229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8" y="0"/>
                </a:moveTo>
                <a:lnTo>
                  <a:pt x="0" y="0"/>
                </a:lnTo>
                <a:lnTo>
                  <a:pt x="0" y="21335"/>
                </a:lnTo>
                <a:lnTo>
                  <a:pt x="3048" y="21335"/>
                </a:lnTo>
                <a:lnTo>
                  <a:pt x="3048" y="0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169823" y="1631229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8" y="0"/>
                </a:moveTo>
                <a:lnTo>
                  <a:pt x="0" y="0"/>
                </a:lnTo>
                <a:lnTo>
                  <a:pt x="0" y="21335"/>
                </a:lnTo>
                <a:lnTo>
                  <a:pt x="3048" y="21335"/>
                </a:lnTo>
                <a:lnTo>
                  <a:pt x="3048" y="0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676048" y="161294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169823" y="161294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676048" y="15977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169823" y="15977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676048" y="15900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6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169823" y="15900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6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676048" y="158093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6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169823" y="158093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6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676048" y="15656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169823" y="15656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676048" y="155045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169823" y="155045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676048" y="153521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169823" y="153521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676048" y="15260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A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169823" y="15260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A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676048" y="15184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A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169823" y="15184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A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676048" y="15032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169823" y="15032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676048" y="14879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169823" y="14879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676048" y="14712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169823" y="14712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676048" y="14635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E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169823" y="14635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E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676048" y="14559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E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169823" y="14559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E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676048" y="14407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169823" y="14407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676048" y="14254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169823" y="14254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676048" y="140872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169823" y="140872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676048" y="14011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169823" y="14011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676048" y="139348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2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169823" y="139348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2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676048" y="13782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169823" y="13782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676048" y="136148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169823" y="136148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676048" y="134624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169823" y="134624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676048" y="13386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6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3169823" y="13386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6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676048" y="13310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3169823" y="13310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2676048" y="13142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3169823" y="13142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2676048" y="12989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169823" y="12989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2676048" y="128375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169823" y="128375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676048" y="12761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169823" y="12761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2676048" y="126851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169823" y="126851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2676048" y="125175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169823" y="125175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2676048" y="12365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3169823" y="12365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2676048" y="12212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3169823" y="12212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2676048" y="12136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E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3169823" y="12136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E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2676048" y="12045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DE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169823" y="12045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DE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2676048" y="11892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169823" y="11892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2676048" y="11740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169823" y="11740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676048" y="1158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169823" y="1158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2676048" y="11496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E2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169823" y="11496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E2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676048" y="114202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2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3169823" y="114202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2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2676048" y="11267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3169823" y="11267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2676048" y="111980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19"/>
                </a:moveTo>
                <a:lnTo>
                  <a:pt x="3048" y="7619"/>
                </a:lnTo>
                <a:lnTo>
                  <a:pt x="3048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E4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2676048" y="111757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175">
            <a:solidFill>
              <a:srgbClr val="E4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169823" y="11191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4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2679095" y="1119165"/>
            <a:ext cx="490855" cy="1004569"/>
          </a:xfrm>
          <a:custGeom>
            <a:avLst/>
            <a:gdLst/>
            <a:ahLst/>
            <a:cxnLst/>
            <a:rect l="l" t="t" r="r" b="b"/>
            <a:pathLst>
              <a:path w="490855" h="1004569">
                <a:moveTo>
                  <a:pt x="490727" y="0"/>
                </a:moveTo>
                <a:lnTo>
                  <a:pt x="0" y="0"/>
                </a:lnTo>
                <a:lnTo>
                  <a:pt x="0" y="1004316"/>
                </a:lnTo>
                <a:lnTo>
                  <a:pt x="4907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2676048" y="212519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428">
            <a:solidFill>
              <a:srgbClr val="9EEA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2676048" y="211548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8" y="7620"/>
                </a:lnTo>
                <a:lnTo>
                  <a:pt x="3048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9E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3169823" y="21158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9E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2676048" y="210366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3169823" y="210366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2676048" y="209147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3169823" y="209147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2676048" y="20792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169823" y="20792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2676048" y="20655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169823" y="20655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2676048" y="205337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3169823" y="205337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2676048" y="20411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169823" y="20411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2676048" y="20289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3169823" y="202899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2676048" y="20152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3169823" y="20152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2676048" y="20030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169823" y="200308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2676048" y="19924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8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3169823" y="19924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8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2676048" y="198174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9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3169823" y="198174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9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2676048" y="19710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A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3169823" y="197108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A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2676048" y="196650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AB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3169823" y="196650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AB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2676048" y="19604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AB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3169823" y="19604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AB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2676048" y="194974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C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3169823" y="194974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C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2676048" y="193907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D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3169823" y="193907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D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2676048" y="19284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E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3169823" y="19284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AE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2676048" y="19162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3169823" y="19162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2676048" y="190250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3169823" y="190250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2676048" y="18903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3169823" y="189030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2676048" y="18781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3169823" y="18781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2676048" y="18659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3169823" y="18659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2676048" y="18522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3169823" y="18522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6"/>
                </a:lnTo>
                <a:lnTo>
                  <a:pt x="3048" y="13716"/>
                </a:lnTo>
                <a:lnTo>
                  <a:pt x="3048" y="0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2676048" y="18400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3169823" y="1840017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2676048" y="18278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3169823" y="18278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2676048" y="181563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3169823" y="181563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2676048" y="18019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3169823" y="18019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8" y="0"/>
                </a:moveTo>
                <a:lnTo>
                  <a:pt x="0" y="0"/>
                </a:lnTo>
                <a:lnTo>
                  <a:pt x="0" y="13715"/>
                </a:lnTo>
                <a:lnTo>
                  <a:pt x="3048" y="13715"/>
                </a:lnTo>
                <a:lnTo>
                  <a:pt x="3048" y="0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2676048" y="17897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3169823" y="178972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2676048" y="177753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3169823" y="177753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2676048" y="176534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3169823" y="176534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1"/>
                </a:lnTo>
                <a:lnTo>
                  <a:pt x="3048" y="12191"/>
                </a:lnTo>
                <a:lnTo>
                  <a:pt x="3048" y="0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2676048" y="175314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3169823" y="1753149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2676048" y="17379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3169823" y="17379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2676048" y="17226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3169823" y="17226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2676048" y="17150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BF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3169823" y="171504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BF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2676048" y="17074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BF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3169823" y="17074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BF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2676048" y="16906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3169823" y="16906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2676048" y="16723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3169823" y="16723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2676048" y="165256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8" y="0"/>
                </a:moveTo>
                <a:lnTo>
                  <a:pt x="0" y="0"/>
                </a:lnTo>
                <a:lnTo>
                  <a:pt x="0" y="19812"/>
                </a:lnTo>
                <a:lnTo>
                  <a:pt x="3048" y="19812"/>
                </a:lnTo>
                <a:lnTo>
                  <a:pt x="3048" y="0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3169823" y="165256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8" y="0"/>
                </a:moveTo>
                <a:lnTo>
                  <a:pt x="0" y="0"/>
                </a:lnTo>
                <a:lnTo>
                  <a:pt x="0" y="19812"/>
                </a:lnTo>
                <a:lnTo>
                  <a:pt x="3048" y="19812"/>
                </a:lnTo>
                <a:lnTo>
                  <a:pt x="3048" y="0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2676048" y="1631229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8" y="0"/>
                </a:moveTo>
                <a:lnTo>
                  <a:pt x="0" y="0"/>
                </a:lnTo>
                <a:lnTo>
                  <a:pt x="0" y="21335"/>
                </a:lnTo>
                <a:lnTo>
                  <a:pt x="3048" y="21335"/>
                </a:lnTo>
                <a:lnTo>
                  <a:pt x="3048" y="0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3169823" y="1631229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8" y="0"/>
                </a:moveTo>
                <a:lnTo>
                  <a:pt x="0" y="0"/>
                </a:lnTo>
                <a:lnTo>
                  <a:pt x="0" y="21335"/>
                </a:lnTo>
                <a:lnTo>
                  <a:pt x="3048" y="21335"/>
                </a:lnTo>
                <a:lnTo>
                  <a:pt x="3048" y="0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2676048" y="161294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3169823" y="161294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8" y="0"/>
                </a:moveTo>
                <a:lnTo>
                  <a:pt x="0" y="0"/>
                </a:lnTo>
                <a:lnTo>
                  <a:pt x="0" y="18287"/>
                </a:lnTo>
                <a:lnTo>
                  <a:pt x="3048" y="18287"/>
                </a:lnTo>
                <a:lnTo>
                  <a:pt x="3048" y="0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2676048" y="15977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3169823" y="15977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2676048" y="15900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6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3169823" y="159008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6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2676048" y="158093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6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3169823" y="158093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6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2676048" y="15656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3169823" y="15656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2676048" y="155045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3169823" y="155045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2676048" y="153521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3169823" y="153521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2676048" y="15260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A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3169823" y="15260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CA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2676048" y="15184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A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3169823" y="15184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A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2676048" y="15032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3169823" y="15032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2676048" y="14879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3169823" y="14879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2676048" y="14712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3169823" y="14712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2676048" y="14635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E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3169823" y="146358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CE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2676048" y="14559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E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3169823" y="14559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CE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2676048" y="14407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3169823" y="14407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2676048" y="14254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3169823" y="14254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2676048" y="140872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3169823" y="140872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2676048" y="14011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3169823" y="14011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2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2676048" y="139348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2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3169823" y="139348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2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2676048" y="13782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3169823" y="13782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2676048" y="136148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3169823" y="136148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4"/>
                </a:lnTo>
                <a:lnTo>
                  <a:pt x="3048" y="16764"/>
                </a:lnTo>
                <a:lnTo>
                  <a:pt x="3048" y="0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2676048" y="134624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3169823" y="134624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2676048" y="13386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6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3169823" y="13386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D6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2676048" y="13310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3169823" y="13310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6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2676048" y="13142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3169823" y="13142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2676048" y="12989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3169823" y="12989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2676048" y="128375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3169823" y="128375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2676048" y="12761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3169823" y="12761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2676048" y="126851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3169823" y="126851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A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2676048" y="125175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3169823" y="125175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8" y="0"/>
                </a:moveTo>
                <a:lnTo>
                  <a:pt x="0" y="0"/>
                </a:lnTo>
                <a:lnTo>
                  <a:pt x="0" y="16763"/>
                </a:lnTo>
                <a:lnTo>
                  <a:pt x="3048" y="16763"/>
                </a:lnTo>
                <a:lnTo>
                  <a:pt x="3048" y="0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2676048" y="12365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3169823" y="12365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2676048" y="12212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3169823" y="122127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2676048" y="12136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E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3169823" y="12136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DE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2676048" y="12045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DE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3169823" y="12045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DE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2676048" y="11892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3169823" y="11892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2676048" y="11740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3169823" y="11740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40"/>
                </a:lnTo>
                <a:lnTo>
                  <a:pt x="3048" y="15240"/>
                </a:lnTo>
                <a:lnTo>
                  <a:pt x="3048" y="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2676048" y="1158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3169823" y="1158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2676048" y="11496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E2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3169823" y="11496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E2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2676048" y="114202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2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3169823" y="114202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2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2676048" y="11267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3169823" y="11267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8" y="0"/>
                </a:moveTo>
                <a:lnTo>
                  <a:pt x="0" y="0"/>
                </a:lnTo>
                <a:lnTo>
                  <a:pt x="0" y="15239"/>
                </a:lnTo>
                <a:lnTo>
                  <a:pt x="3048" y="15239"/>
                </a:lnTo>
                <a:lnTo>
                  <a:pt x="3048" y="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2676048" y="111980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19"/>
                </a:moveTo>
                <a:lnTo>
                  <a:pt x="3048" y="7619"/>
                </a:lnTo>
                <a:lnTo>
                  <a:pt x="3048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E4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2676048" y="111757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175">
            <a:solidFill>
              <a:srgbClr val="E4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3169823" y="11191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E4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2679095" y="1118022"/>
            <a:ext cx="490855" cy="0"/>
          </a:xfrm>
          <a:custGeom>
            <a:avLst/>
            <a:gdLst/>
            <a:ahLst/>
            <a:cxnLst/>
            <a:rect l="l" t="t" r="r" b="b"/>
            <a:pathLst>
              <a:path w="490855">
                <a:moveTo>
                  <a:pt x="0" y="0"/>
                </a:moveTo>
                <a:lnTo>
                  <a:pt x="490727" y="0"/>
                </a:lnTo>
              </a:path>
            </a:pathLst>
          </a:custGeom>
          <a:ln w="3175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2679095" y="11191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4571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3170966" y="1119165"/>
            <a:ext cx="0" cy="1004569"/>
          </a:xfrm>
          <a:custGeom>
            <a:avLst/>
            <a:gdLst/>
            <a:ahLst/>
            <a:cxnLst/>
            <a:rect l="l" t="t" r="r" b="b"/>
            <a:pathLst>
              <a:path h="1004569">
                <a:moveTo>
                  <a:pt x="0" y="0"/>
                </a:moveTo>
                <a:lnTo>
                  <a:pt x="0" y="1004315"/>
                </a:lnTo>
              </a:path>
            </a:pathLst>
          </a:custGeom>
          <a:ln w="3175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2676048" y="212500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175">
            <a:solidFill>
              <a:srgbClr val="9EEA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2676048" y="111764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3175">
            <a:solidFill>
              <a:srgbClr val="E4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2679095" y="1119165"/>
            <a:ext cx="490855" cy="1004569"/>
          </a:xfrm>
          <a:custGeom>
            <a:avLst/>
            <a:gdLst/>
            <a:ahLst/>
            <a:cxnLst/>
            <a:rect l="l" t="t" r="r" b="b"/>
            <a:pathLst>
              <a:path w="490855" h="1004569">
                <a:moveTo>
                  <a:pt x="0" y="0"/>
                </a:moveTo>
                <a:lnTo>
                  <a:pt x="490727" y="0"/>
                </a:lnTo>
                <a:lnTo>
                  <a:pt x="490727" y="1004316"/>
                </a:lnTo>
                <a:lnTo>
                  <a:pt x="0" y="10043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7" name="object 337"/>
          <p:cNvSpPr/>
          <p:nvPr/>
        </p:nvSpPr>
        <p:spPr>
          <a:xfrm>
            <a:off x="2676048" y="212119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9EEA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2676048" y="2103669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9F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2676048" y="2091477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0E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2676048" y="2079285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1"/>
                </a:moveTo>
                <a:lnTo>
                  <a:pt x="496824" y="12191"/>
                </a:lnTo>
                <a:lnTo>
                  <a:pt x="496824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A1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/>
          <p:nvPr/>
        </p:nvSpPr>
        <p:spPr>
          <a:xfrm>
            <a:off x="2676048" y="206556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4" y="13716"/>
                </a:lnTo>
                <a:lnTo>
                  <a:pt x="496824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A2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2676048" y="2053377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3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2676048" y="2041185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1"/>
                </a:moveTo>
                <a:lnTo>
                  <a:pt x="496824" y="12191"/>
                </a:lnTo>
                <a:lnTo>
                  <a:pt x="496824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A4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2676048" y="202899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A5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2676048" y="201527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4" y="13716"/>
                </a:lnTo>
                <a:lnTo>
                  <a:pt x="496824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A6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2676048" y="2003085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1"/>
                </a:moveTo>
                <a:lnTo>
                  <a:pt x="496824" y="12191"/>
                </a:lnTo>
                <a:lnTo>
                  <a:pt x="496824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A7E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2676048" y="199775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8E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2676048" y="198708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9E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2676048" y="197641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AE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2676048" y="196879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4572">
            <a:solidFill>
              <a:srgbClr val="ABE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2676048" y="196346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6095">
            <a:solidFill>
              <a:srgbClr val="ABED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2676048" y="195507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CED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2676048" y="194441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DED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2676048" y="193374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AEED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2676048" y="1916217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1"/>
                </a:moveTo>
                <a:lnTo>
                  <a:pt x="496824" y="12191"/>
                </a:lnTo>
                <a:lnTo>
                  <a:pt x="496824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AF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2676048" y="1902501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4" y="13716"/>
                </a:lnTo>
                <a:lnTo>
                  <a:pt x="496824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B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2676048" y="1890309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1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2676048" y="1878117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1"/>
                </a:moveTo>
                <a:lnTo>
                  <a:pt x="496824" y="12191"/>
                </a:lnTo>
                <a:lnTo>
                  <a:pt x="496824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B2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2676048" y="1865925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3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2676048" y="185220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4" y="13716"/>
                </a:lnTo>
                <a:lnTo>
                  <a:pt x="496824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B4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2676048" y="1840017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1"/>
                </a:moveTo>
                <a:lnTo>
                  <a:pt x="496824" y="12191"/>
                </a:lnTo>
                <a:lnTo>
                  <a:pt x="496824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B5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/>
          <p:nvPr/>
        </p:nvSpPr>
        <p:spPr>
          <a:xfrm>
            <a:off x="2676048" y="1827825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6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object 363"/>
          <p:cNvSpPr/>
          <p:nvPr/>
        </p:nvSpPr>
        <p:spPr>
          <a:xfrm>
            <a:off x="2676048" y="181563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7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2676048" y="180191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4" y="13715"/>
                </a:lnTo>
                <a:lnTo>
                  <a:pt x="496824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B8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2676048" y="1789725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9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2676048" y="177753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AEE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2676048" y="1765341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1"/>
                </a:moveTo>
                <a:lnTo>
                  <a:pt x="496824" y="12191"/>
                </a:lnTo>
                <a:lnTo>
                  <a:pt x="496824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BB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/>
          <p:nvPr/>
        </p:nvSpPr>
        <p:spPr>
          <a:xfrm>
            <a:off x="2676048" y="1753149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4" y="12192"/>
                </a:lnTo>
                <a:lnTo>
                  <a:pt x="4968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BC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2676048" y="173790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BD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2676048" y="172266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BE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2676048" y="171885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19">
            <a:solidFill>
              <a:srgbClr val="BFE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2676048" y="171123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19">
            <a:solidFill>
              <a:srgbClr val="BFF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2676048" y="1690665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4" y="16764"/>
                </a:lnTo>
                <a:lnTo>
                  <a:pt x="496824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C0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2676048" y="167237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4" y="18287"/>
                </a:lnTo>
                <a:lnTo>
                  <a:pt x="496824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C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2676048" y="1652565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4" y="19812"/>
                </a:lnTo>
                <a:lnTo>
                  <a:pt x="496824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C2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2676048" y="1631229"/>
            <a:ext cx="497205" cy="21590"/>
          </a:xfrm>
          <a:custGeom>
            <a:avLst/>
            <a:gdLst/>
            <a:ahLst/>
            <a:cxnLst/>
            <a:rect l="l" t="t" r="r" b="b"/>
            <a:pathLst>
              <a:path w="497205" h="21589">
                <a:moveTo>
                  <a:pt x="0" y="21335"/>
                </a:moveTo>
                <a:lnTo>
                  <a:pt x="496824" y="21335"/>
                </a:lnTo>
                <a:lnTo>
                  <a:pt x="496824" y="0"/>
                </a:lnTo>
                <a:lnTo>
                  <a:pt x="0" y="0"/>
                </a:lnTo>
                <a:lnTo>
                  <a:pt x="0" y="21335"/>
                </a:lnTo>
                <a:close/>
              </a:path>
            </a:pathLst>
          </a:custGeom>
          <a:solidFill>
            <a:srgbClr val="C3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2676048" y="1612941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4" y="18287"/>
                </a:lnTo>
                <a:lnTo>
                  <a:pt x="496824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C4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2676048" y="159770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C5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2676048" y="159389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19">
            <a:solidFill>
              <a:srgbClr val="C6F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2676048" y="158550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9143">
            <a:solidFill>
              <a:srgbClr val="C6F2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2676048" y="156569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C7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2676048" y="155045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C8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2676048" y="153521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C9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2676048" y="153064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9143">
            <a:solidFill>
              <a:srgbClr val="CAF2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2676048" y="152226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CAF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2676048" y="150321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39"/>
                </a:moveTo>
                <a:lnTo>
                  <a:pt x="496824" y="15239"/>
                </a:lnTo>
                <a:lnTo>
                  <a:pt x="496824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CB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2676048" y="148797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CC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/>
          <p:nvPr/>
        </p:nvSpPr>
        <p:spPr>
          <a:xfrm>
            <a:off x="2676048" y="1471209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4" y="16763"/>
                </a:lnTo>
                <a:lnTo>
                  <a:pt x="496824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CDF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2676048" y="146739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CEF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2676048" y="145977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19">
            <a:solidFill>
              <a:srgbClr val="CEF4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2676048" y="144072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C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2676048" y="142548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0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/>
          <p:nvPr/>
        </p:nvSpPr>
        <p:spPr>
          <a:xfrm>
            <a:off x="2676048" y="1408725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4" y="16763"/>
                </a:lnTo>
                <a:lnTo>
                  <a:pt x="496824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D1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object 394"/>
          <p:cNvSpPr/>
          <p:nvPr/>
        </p:nvSpPr>
        <p:spPr>
          <a:xfrm>
            <a:off x="2676048" y="140491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2F4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/>
          <p:nvPr/>
        </p:nvSpPr>
        <p:spPr>
          <a:xfrm>
            <a:off x="2676048" y="139729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19">
            <a:solidFill>
              <a:srgbClr val="D2F5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2676048" y="137824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3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/>
          <p:nvPr/>
        </p:nvSpPr>
        <p:spPr>
          <a:xfrm>
            <a:off x="2676048" y="136148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4" y="16764"/>
                </a:lnTo>
                <a:lnTo>
                  <a:pt x="496824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D4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/>
          <p:nvPr/>
        </p:nvSpPr>
        <p:spPr>
          <a:xfrm>
            <a:off x="2676048" y="134624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5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9" name="object 399"/>
          <p:cNvSpPr/>
          <p:nvPr/>
        </p:nvSpPr>
        <p:spPr>
          <a:xfrm>
            <a:off x="2676048" y="134243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19">
            <a:solidFill>
              <a:srgbClr val="D6F5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0" name="object 400"/>
          <p:cNvSpPr/>
          <p:nvPr/>
        </p:nvSpPr>
        <p:spPr>
          <a:xfrm>
            <a:off x="2676048" y="133481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6F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1" name="object 401"/>
          <p:cNvSpPr/>
          <p:nvPr/>
        </p:nvSpPr>
        <p:spPr>
          <a:xfrm>
            <a:off x="2676048" y="1314237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4" y="16763"/>
                </a:lnTo>
                <a:lnTo>
                  <a:pt x="496824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D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/>
          <p:nvPr/>
        </p:nvSpPr>
        <p:spPr>
          <a:xfrm>
            <a:off x="2676048" y="129899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8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object 403"/>
          <p:cNvSpPr/>
          <p:nvPr/>
        </p:nvSpPr>
        <p:spPr>
          <a:xfrm>
            <a:off x="2676048" y="128375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9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/>
          <p:nvPr/>
        </p:nvSpPr>
        <p:spPr>
          <a:xfrm>
            <a:off x="2676048" y="127994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AF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/>
          <p:nvPr/>
        </p:nvSpPr>
        <p:spPr>
          <a:xfrm>
            <a:off x="2676048" y="127232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AF7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/>
          <p:nvPr/>
        </p:nvSpPr>
        <p:spPr>
          <a:xfrm>
            <a:off x="2676048" y="1251753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4" y="16763"/>
                </a:lnTo>
                <a:lnTo>
                  <a:pt x="496824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D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2676048" y="123651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C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/>
          <p:nvPr/>
        </p:nvSpPr>
        <p:spPr>
          <a:xfrm>
            <a:off x="2676048" y="122127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D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9" name="object 409"/>
          <p:cNvSpPr/>
          <p:nvPr/>
        </p:nvSpPr>
        <p:spPr>
          <a:xfrm>
            <a:off x="2676048" y="121746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DEF7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/>
          <p:nvPr/>
        </p:nvSpPr>
        <p:spPr>
          <a:xfrm>
            <a:off x="2676048" y="120908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9143">
            <a:solidFill>
              <a:srgbClr val="DEF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1" name="object 411"/>
          <p:cNvSpPr/>
          <p:nvPr/>
        </p:nvSpPr>
        <p:spPr>
          <a:xfrm>
            <a:off x="2676048" y="118926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DF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/>
          <p:nvPr/>
        </p:nvSpPr>
        <p:spPr>
          <a:xfrm>
            <a:off x="2676048" y="117402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E0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3" name="object 413"/>
          <p:cNvSpPr/>
          <p:nvPr/>
        </p:nvSpPr>
        <p:spPr>
          <a:xfrm>
            <a:off x="2676048" y="115878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E1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4" name="object 414"/>
          <p:cNvSpPr/>
          <p:nvPr/>
        </p:nvSpPr>
        <p:spPr>
          <a:xfrm>
            <a:off x="2676048" y="115421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9143">
            <a:solidFill>
              <a:srgbClr val="E2F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5" name="object 415"/>
          <p:cNvSpPr/>
          <p:nvPr/>
        </p:nvSpPr>
        <p:spPr>
          <a:xfrm>
            <a:off x="2676048" y="114583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7620">
            <a:solidFill>
              <a:srgbClr val="E2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6" name="object 416"/>
          <p:cNvSpPr/>
          <p:nvPr/>
        </p:nvSpPr>
        <p:spPr>
          <a:xfrm>
            <a:off x="2676048" y="112678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4" y="15240"/>
                </a:lnTo>
                <a:lnTo>
                  <a:pt x="496824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E3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7" name="object 417"/>
          <p:cNvSpPr/>
          <p:nvPr/>
        </p:nvSpPr>
        <p:spPr>
          <a:xfrm>
            <a:off x="2676048" y="112145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4" y="0"/>
                </a:lnTo>
              </a:path>
            </a:pathLst>
          </a:custGeom>
          <a:ln w="10668">
            <a:solidFill>
              <a:srgbClr val="E4F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8" name="object 418"/>
          <p:cNvSpPr/>
          <p:nvPr/>
        </p:nvSpPr>
        <p:spPr>
          <a:xfrm>
            <a:off x="2679095" y="1119165"/>
            <a:ext cx="490855" cy="1004569"/>
          </a:xfrm>
          <a:custGeom>
            <a:avLst/>
            <a:gdLst/>
            <a:ahLst/>
            <a:cxnLst/>
            <a:rect l="l" t="t" r="r" b="b"/>
            <a:pathLst>
              <a:path w="490855" h="1004569">
                <a:moveTo>
                  <a:pt x="0" y="0"/>
                </a:moveTo>
                <a:lnTo>
                  <a:pt x="490727" y="0"/>
                </a:lnTo>
                <a:lnTo>
                  <a:pt x="490727" y="1004315"/>
                </a:lnTo>
                <a:lnTo>
                  <a:pt x="0" y="1004315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9" name="object 419"/>
          <p:cNvSpPr/>
          <p:nvPr/>
        </p:nvSpPr>
        <p:spPr>
          <a:xfrm>
            <a:off x="3413664" y="207357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BE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0" name="object 420"/>
          <p:cNvSpPr/>
          <p:nvPr/>
        </p:nvSpPr>
        <p:spPr>
          <a:xfrm>
            <a:off x="3413664" y="2067220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0" y="5080"/>
                </a:moveTo>
                <a:lnTo>
                  <a:pt x="3048" y="5080"/>
                </a:lnTo>
                <a:lnTo>
                  <a:pt x="3048" y="0"/>
                </a:lnTo>
                <a:lnTo>
                  <a:pt x="0" y="0"/>
                </a:lnTo>
                <a:lnTo>
                  <a:pt x="0" y="5080"/>
                </a:lnTo>
                <a:close/>
              </a:path>
            </a:pathLst>
          </a:custGeom>
          <a:solidFill>
            <a:srgbClr val="FFBE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1" name="object 421"/>
          <p:cNvSpPr/>
          <p:nvPr/>
        </p:nvSpPr>
        <p:spPr>
          <a:xfrm>
            <a:off x="3905915" y="20670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BE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2" name="object 422"/>
          <p:cNvSpPr/>
          <p:nvPr/>
        </p:nvSpPr>
        <p:spPr>
          <a:xfrm>
            <a:off x="3413664" y="206252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3905915" y="206252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/>
          <p:nvPr/>
        </p:nvSpPr>
        <p:spPr>
          <a:xfrm>
            <a:off x="3413664" y="205794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BF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5" name="object 425"/>
          <p:cNvSpPr/>
          <p:nvPr/>
        </p:nvSpPr>
        <p:spPr>
          <a:xfrm>
            <a:off x="3905915" y="205794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BF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6" name="object 426"/>
          <p:cNvSpPr/>
          <p:nvPr/>
        </p:nvSpPr>
        <p:spPr>
          <a:xfrm>
            <a:off x="3413664" y="204880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BF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7" name="object 427"/>
          <p:cNvSpPr/>
          <p:nvPr/>
        </p:nvSpPr>
        <p:spPr>
          <a:xfrm>
            <a:off x="3905915" y="204880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BF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8" name="object 428"/>
          <p:cNvSpPr/>
          <p:nvPr/>
        </p:nvSpPr>
        <p:spPr>
          <a:xfrm>
            <a:off x="3413664" y="20457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B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9" name="object 429"/>
          <p:cNvSpPr/>
          <p:nvPr/>
        </p:nvSpPr>
        <p:spPr>
          <a:xfrm>
            <a:off x="3905915" y="20457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B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0" name="object 430"/>
          <p:cNvSpPr/>
          <p:nvPr/>
        </p:nvSpPr>
        <p:spPr>
          <a:xfrm>
            <a:off x="3413664" y="204118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0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1" name="object 431"/>
          <p:cNvSpPr/>
          <p:nvPr/>
        </p:nvSpPr>
        <p:spPr>
          <a:xfrm>
            <a:off x="3905915" y="204118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0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2" name="object 432"/>
          <p:cNvSpPr/>
          <p:nvPr/>
        </p:nvSpPr>
        <p:spPr>
          <a:xfrm>
            <a:off x="3413664" y="20320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0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3" name="object 433"/>
          <p:cNvSpPr/>
          <p:nvPr/>
        </p:nvSpPr>
        <p:spPr>
          <a:xfrm>
            <a:off x="3905915" y="20320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0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4" name="object 434"/>
          <p:cNvSpPr/>
          <p:nvPr/>
        </p:nvSpPr>
        <p:spPr>
          <a:xfrm>
            <a:off x="3413664" y="20274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/>
          <p:nvPr/>
        </p:nvSpPr>
        <p:spPr>
          <a:xfrm>
            <a:off x="3905915" y="20274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6" name="object 436"/>
          <p:cNvSpPr/>
          <p:nvPr/>
        </p:nvSpPr>
        <p:spPr>
          <a:xfrm>
            <a:off x="3413664" y="20244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1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7" name="object 437"/>
          <p:cNvSpPr/>
          <p:nvPr/>
        </p:nvSpPr>
        <p:spPr>
          <a:xfrm>
            <a:off x="3905915" y="20244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1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8" name="object 438"/>
          <p:cNvSpPr/>
          <p:nvPr/>
        </p:nvSpPr>
        <p:spPr>
          <a:xfrm>
            <a:off x="3413664" y="201527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/>
          <p:nvPr/>
        </p:nvSpPr>
        <p:spPr>
          <a:xfrm>
            <a:off x="3905915" y="201527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0" name="object 440"/>
          <p:cNvSpPr/>
          <p:nvPr/>
        </p:nvSpPr>
        <p:spPr>
          <a:xfrm>
            <a:off x="3413664" y="201070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1" name="object 441"/>
          <p:cNvSpPr/>
          <p:nvPr/>
        </p:nvSpPr>
        <p:spPr>
          <a:xfrm>
            <a:off x="3905915" y="201070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2" name="object 442"/>
          <p:cNvSpPr/>
          <p:nvPr/>
        </p:nvSpPr>
        <p:spPr>
          <a:xfrm>
            <a:off x="3413664" y="2009181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2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3" name="object 443"/>
          <p:cNvSpPr/>
          <p:nvPr/>
        </p:nvSpPr>
        <p:spPr>
          <a:xfrm>
            <a:off x="3905915" y="2009181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2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4" name="object 444"/>
          <p:cNvSpPr/>
          <p:nvPr/>
        </p:nvSpPr>
        <p:spPr>
          <a:xfrm>
            <a:off x="3413664" y="20015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5" name="object 445"/>
          <p:cNvSpPr/>
          <p:nvPr/>
        </p:nvSpPr>
        <p:spPr>
          <a:xfrm>
            <a:off x="3905915" y="20015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6" name="object 446"/>
          <p:cNvSpPr/>
          <p:nvPr/>
        </p:nvSpPr>
        <p:spPr>
          <a:xfrm>
            <a:off x="3413664" y="19939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7" name="object 447"/>
          <p:cNvSpPr/>
          <p:nvPr/>
        </p:nvSpPr>
        <p:spPr>
          <a:xfrm>
            <a:off x="3905915" y="19939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8" name="object 448"/>
          <p:cNvSpPr/>
          <p:nvPr/>
        </p:nvSpPr>
        <p:spPr>
          <a:xfrm>
            <a:off x="3413664" y="19863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9" name="object 449"/>
          <p:cNvSpPr/>
          <p:nvPr/>
        </p:nvSpPr>
        <p:spPr>
          <a:xfrm>
            <a:off x="3905915" y="19863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0" name="object 450"/>
          <p:cNvSpPr/>
          <p:nvPr/>
        </p:nvSpPr>
        <p:spPr>
          <a:xfrm>
            <a:off x="3413664" y="19787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3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1" name="object 451"/>
          <p:cNvSpPr/>
          <p:nvPr/>
        </p:nvSpPr>
        <p:spPr>
          <a:xfrm>
            <a:off x="3905915" y="19787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3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2" name="object 452"/>
          <p:cNvSpPr/>
          <p:nvPr/>
        </p:nvSpPr>
        <p:spPr>
          <a:xfrm>
            <a:off x="3413664" y="1977177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3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3" name="object 453"/>
          <p:cNvSpPr/>
          <p:nvPr/>
        </p:nvSpPr>
        <p:spPr>
          <a:xfrm>
            <a:off x="3905915" y="1977177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3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4" name="object 454"/>
          <p:cNvSpPr/>
          <p:nvPr/>
        </p:nvSpPr>
        <p:spPr>
          <a:xfrm>
            <a:off x="3413664" y="197260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4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5" name="object 455"/>
          <p:cNvSpPr/>
          <p:nvPr/>
        </p:nvSpPr>
        <p:spPr>
          <a:xfrm>
            <a:off x="3905915" y="197260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4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6" name="object 456"/>
          <p:cNvSpPr/>
          <p:nvPr/>
        </p:nvSpPr>
        <p:spPr>
          <a:xfrm>
            <a:off x="3413664" y="196498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7" name="object 457"/>
          <p:cNvSpPr/>
          <p:nvPr/>
        </p:nvSpPr>
        <p:spPr>
          <a:xfrm>
            <a:off x="3905915" y="196498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8" name="object 458"/>
          <p:cNvSpPr/>
          <p:nvPr/>
        </p:nvSpPr>
        <p:spPr>
          <a:xfrm>
            <a:off x="3413664" y="196193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4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9" name="object 459"/>
          <p:cNvSpPr/>
          <p:nvPr/>
        </p:nvSpPr>
        <p:spPr>
          <a:xfrm>
            <a:off x="3905915" y="196193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4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0" name="object 460"/>
          <p:cNvSpPr/>
          <p:nvPr/>
        </p:nvSpPr>
        <p:spPr>
          <a:xfrm>
            <a:off x="3413664" y="195584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5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1" name="object 461"/>
          <p:cNvSpPr/>
          <p:nvPr/>
        </p:nvSpPr>
        <p:spPr>
          <a:xfrm>
            <a:off x="3905915" y="195584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5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2" name="object 462"/>
          <p:cNvSpPr/>
          <p:nvPr/>
        </p:nvSpPr>
        <p:spPr>
          <a:xfrm>
            <a:off x="3413664" y="194974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3" name="object 463"/>
          <p:cNvSpPr/>
          <p:nvPr/>
        </p:nvSpPr>
        <p:spPr>
          <a:xfrm>
            <a:off x="3905915" y="194974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4" name="object 464"/>
          <p:cNvSpPr/>
          <p:nvPr/>
        </p:nvSpPr>
        <p:spPr>
          <a:xfrm>
            <a:off x="3413664" y="19466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6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5" name="object 465"/>
          <p:cNvSpPr/>
          <p:nvPr/>
        </p:nvSpPr>
        <p:spPr>
          <a:xfrm>
            <a:off x="3905915" y="19466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6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6" name="object 466"/>
          <p:cNvSpPr/>
          <p:nvPr/>
        </p:nvSpPr>
        <p:spPr>
          <a:xfrm>
            <a:off x="3413664" y="19390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6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7" name="object 467"/>
          <p:cNvSpPr/>
          <p:nvPr/>
        </p:nvSpPr>
        <p:spPr>
          <a:xfrm>
            <a:off x="3905915" y="19390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6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8" name="object 468"/>
          <p:cNvSpPr/>
          <p:nvPr/>
        </p:nvSpPr>
        <p:spPr>
          <a:xfrm>
            <a:off x="3413664" y="19360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6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9" name="object 469"/>
          <p:cNvSpPr/>
          <p:nvPr/>
        </p:nvSpPr>
        <p:spPr>
          <a:xfrm>
            <a:off x="3905915" y="19360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6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0" name="object 470"/>
          <p:cNvSpPr/>
          <p:nvPr/>
        </p:nvSpPr>
        <p:spPr>
          <a:xfrm>
            <a:off x="3413664" y="192993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7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1" name="object 471"/>
          <p:cNvSpPr/>
          <p:nvPr/>
        </p:nvSpPr>
        <p:spPr>
          <a:xfrm>
            <a:off x="3905915" y="192993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7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2" name="object 472"/>
          <p:cNvSpPr/>
          <p:nvPr/>
        </p:nvSpPr>
        <p:spPr>
          <a:xfrm>
            <a:off x="3413664" y="192383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7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3" name="object 473"/>
          <p:cNvSpPr/>
          <p:nvPr/>
        </p:nvSpPr>
        <p:spPr>
          <a:xfrm>
            <a:off x="3905915" y="192383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7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4" name="object 474"/>
          <p:cNvSpPr/>
          <p:nvPr/>
        </p:nvSpPr>
        <p:spPr>
          <a:xfrm>
            <a:off x="3413664" y="192231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5" name="object 475"/>
          <p:cNvSpPr/>
          <p:nvPr/>
        </p:nvSpPr>
        <p:spPr>
          <a:xfrm>
            <a:off x="3905915" y="192231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6" name="object 476"/>
          <p:cNvSpPr/>
          <p:nvPr/>
        </p:nvSpPr>
        <p:spPr>
          <a:xfrm>
            <a:off x="3413664" y="191316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7" name="object 477"/>
          <p:cNvSpPr/>
          <p:nvPr/>
        </p:nvSpPr>
        <p:spPr>
          <a:xfrm>
            <a:off x="3905915" y="191316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8" name="object 478"/>
          <p:cNvSpPr/>
          <p:nvPr/>
        </p:nvSpPr>
        <p:spPr>
          <a:xfrm>
            <a:off x="3413664" y="19085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8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9" name="object 479"/>
          <p:cNvSpPr/>
          <p:nvPr/>
        </p:nvSpPr>
        <p:spPr>
          <a:xfrm>
            <a:off x="3905915" y="19085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8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0" name="object 480"/>
          <p:cNvSpPr/>
          <p:nvPr/>
        </p:nvSpPr>
        <p:spPr>
          <a:xfrm>
            <a:off x="3413664" y="190707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9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1" name="object 481"/>
          <p:cNvSpPr/>
          <p:nvPr/>
        </p:nvSpPr>
        <p:spPr>
          <a:xfrm>
            <a:off x="3905915" y="190707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9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2" name="object 482"/>
          <p:cNvSpPr/>
          <p:nvPr/>
        </p:nvSpPr>
        <p:spPr>
          <a:xfrm>
            <a:off x="3413664" y="18994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3" name="object 483"/>
          <p:cNvSpPr/>
          <p:nvPr/>
        </p:nvSpPr>
        <p:spPr>
          <a:xfrm>
            <a:off x="3905915" y="18994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4" name="object 484"/>
          <p:cNvSpPr/>
          <p:nvPr/>
        </p:nvSpPr>
        <p:spPr>
          <a:xfrm>
            <a:off x="3413664" y="189183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9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5" name="object 485"/>
          <p:cNvSpPr/>
          <p:nvPr/>
        </p:nvSpPr>
        <p:spPr>
          <a:xfrm>
            <a:off x="3905915" y="189183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9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6" name="object 486"/>
          <p:cNvSpPr/>
          <p:nvPr/>
        </p:nvSpPr>
        <p:spPr>
          <a:xfrm>
            <a:off x="3413664" y="18842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object 487"/>
          <p:cNvSpPr/>
          <p:nvPr/>
        </p:nvSpPr>
        <p:spPr>
          <a:xfrm>
            <a:off x="3905915" y="18842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8" name="object 488"/>
          <p:cNvSpPr/>
          <p:nvPr/>
        </p:nvSpPr>
        <p:spPr>
          <a:xfrm>
            <a:off x="3413664" y="187659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9" name="object 489"/>
          <p:cNvSpPr/>
          <p:nvPr/>
        </p:nvSpPr>
        <p:spPr>
          <a:xfrm>
            <a:off x="3905915" y="187659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0" name="object 490"/>
          <p:cNvSpPr/>
          <p:nvPr/>
        </p:nvSpPr>
        <p:spPr>
          <a:xfrm>
            <a:off x="3413664" y="187506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A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1" name="object 491"/>
          <p:cNvSpPr/>
          <p:nvPr/>
        </p:nvSpPr>
        <p:spPr>
          <a:xfrm>
            <a:off x="3905915" y="187506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A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2" name="object 492"/>
          <p:cNvSpPr/>
          <p:nvPr/>
        </p:nvSpPr>
        <p:spPr>
          <a:xfrm>
            <a:off x="3413664" y="18704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B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3" name="object 493"/>
          <p:cNvSpPr/>
          <p:nvPr/>
        </p:nvSpPr>
        <p:spPr>
          <a:xfrm>
            <a:off x="3905915" y="18704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B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4" name="object 494"/>
          <p:cNvSpPr/>
          <p:nvPr/>
        </p:nvSpPr>
        <p:spPr>
          <a:xfrm>
            <a:off x="3413664" y="18613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B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5" name="object 495"/>
          <p:cNvSpPr/>
          <p:nvPr/>
        </p:nvSpPr>
        <p:spPr>
          <a:xfrm>
            <a:off x="3905915" y="18613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B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6" name="object 496"/>
          <p:cNvSpPr/>
          <p:nvPr/>
        </p:nvSpPr>
        <p:spPr>
          <a:xfrm>
            <a:off x="3413664" y="185830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B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7" name="object 497"/>
          <p:cNvSpPr/>
          <p:nvPr/>
        </p:nvSpPr>
        <p:spPr>
          <a:xfrm>
            <a:off x="3905915" y="185830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B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8" name="object 498"/>
          <p:cNvSpPr/>
          <p:nvPr/>
        </p:nvSpPr>
        <p:spPr>
          <a:xfrm>
            <a:off x="3413664" y="185373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9" name="object 499"/>
          <p:cNvSpPr/>
          <p:nvPr/>
        </p:nvSpPr>
        <p:spPr>
          <a:xfrm>
            <a:off x="3905915" y="185373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0" name="object 500"/>
          <p:cNvSpPr/>
          <p:nvPr/>
        </p:nvSpPr>
        <p:spPr>
          <a:xfrm>
            <a:off x="3413664" y="184458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C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1" name="object 501"/>
          <p:cNvSpPr/>
          <p:nvPr/>
        </p:nvSpPr>
        <p:spPr>
          <a:xfrm>
            <a:off x="3905915" y="184458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C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2" name="object 502"/>
          <p:cNvSpPr/>
          <p:nvPr/>
        </p:nvSpPr>
        <p:spPr>
          <a:xfrm>
            <a:off x="3413664" y="18415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C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3" name="object 503"/>
          <p:cNvSpPr/>
          <p:nvPr/>
        </p:nvSpPr>
        <p:spPr>
          <a:xfrm>
            <a:off x="3905915" y="18415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C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4" name="object 504"/>
          <p:cNvSpPr/>
          <p:nvPr/>
        </p:nvSpPr>
        <p:spPr>
          <a:xfrm>
            <a:off x="3413664" y="18369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5" name="object 505"/>
          <p:cNvSpPr/>
          <p:nvPr/>
        </p:nvSpPr>
        <p:spPr>
          <a:xfrm>
            <a:off x="3905915" y="18369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6" name="object 506"/>
          <p:cNvSpPr/>
          <p:nvPr/>
        </p:nvSpPr>
        <p:spPr>
          <a:xfrm>
            <a:off x="3413664" y="18278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D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7" name="object 507"/>
          <p:cNvSpPr/>
          <p:nvPr/>
        </p:nvSpPr>
        <p:spPr>
          <a:xfrm>
            <a:off x="3905915" y="18278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D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8" name="object 508"/>
          <p:cNvSpPr/>
          <p:nvPr/>
        </p:nvSpPr>
        <p:spPr>
          <a:xfrm>
            <a:off x="3413664" y="18232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9" name="object 509"/>
          <p:cNvSpPr/>
          <p:nvPr/>
        </p:nvSpPr>
        <p:spPr>
          <a:xfrm>
            <a:off x="3905915" y="18232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object 510"/>
          <p:cNvSpPr/>
          <p:nvPr/>
        </p:nvSpPr>
        <p:spPr>
          <a:xfrm>
            <a:off x="3413664" y="18186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1" name="object 511"/>
          <p:cNvSpPr/>
          <p:nvPr/>
        </p:nvSpPr>
        <p:spPr>
          <a:xfrm>
            <a:off x="3905915" y="18186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2" name="object 512"/>
          <p:cNvSpPr/>
          <p:nvPr/>
        </p:nvSpPr>
        <p:spPr>
          <a:xfrm>
            <a:off x="3413664" y="18110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3" name="object 513"/>
          <p:cNvSpPr/>
          <p:nvPr/>
        </p:nvSpPr>
        <p:spPr>
          <a:xfrm>
            <a:off x="3905915" y="18110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4" name="object 514"/>
          <p:cNvSpPr/>
          <p:nvPr/>
        </p:nvSpPr>
        <p:spPr>
          <a:xfrm>
            <a:off x="3413664" y="180648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5" name="object 515"/>
          <p:cNvSpPr/>
          <p:nvPr/>
        </p:nvSpPr>
        <p:spPr>
          <a:xfrm>
            <a:off x="3905915" y="180648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6" name="object 516"/>
          <p:cNvSpPr/>
          <p:nvPr/>
        </p:nvSpPr>
        <p:spPr>
          <a:xfrm>
            <a:off x="3413664" y="180191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7" name="object 517"/>
          <p:cNvSpPr/>
          <p:nvPr/>
        </p:nvSpPr>
        <p:spPr>
          <a:xfrm>
            <a:off x="3905915" y="180191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object 518"/>
          <p:cNvSpPr/>
          <p:nvPr/>
        </p:nvSpPr>
        <p:spPr>
          <a:xfrm>
            <a:off x="3413664" y="17942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9" name="object 519"/>
          <p:cNvSpPr/>
          <p:nvPr/>
        </p:nvSpPr>
        <p:spPr>
          <a:xfrm>
            <a:off x="3905915" y="17942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object 520"/>
          <p:cNvSpPr/>
          <p:nvPr/>
        </p:nvSpPr>
        <p:spPr>
          <a:xfrm>
            <a:off x="3413664" y="178972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1" name="object 521"/>
          <p:cNvSpPr/>
          <p:nvPr/>
        </p:nvSpPr>
        <p:spPr>
          <a:xfrm>
            <a:off x="3905915" y="178972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2" name="object 522"/>
          <p:cNvSpPr/>
          <p:nvPr/>
        </p:nvSpPr>
        <p:spPr>
          <a:xfrm>
            <a:off x="3413664" y="17851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3" name="object 523"/>
          <p:cNvSpPr/>
          <p:nvPr/>
        </p:nvSpPr>
        <p:spPr>
          <a:xfrm>
            <a:off x="3905915" y="17851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4" name="object 524"/>
          <p:cNvSpPr/>
          <p:nvPr/>
        </p:nvSpPr>
        <p:spPr>
          <a:xfrm>
            <a:off x="3413664" y="177753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0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5" name="object 525"/>
          <p:cNvSpPr/>
          <p:nvPr/>
        </p:nvSpPr>
        <p:spPr>
          <a:xfrm>
            <a:off x="3905915" y="177753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0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6" name="object 526"/>
          <p:cNvSpPr/>
          <p:nvPr/>
        </p:nvSpPr>
        <p:spPr>
          <a:xfrm>
            <a:off x="3413664" y="177296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D0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7" name="object 527"/>
          <p:cNvSpPr/>
          <p:nvPr/>
        </p:nvSpPr>
        <p:spPr>
          <a:xfrm>
            <a:off x="3905915" y="177296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D0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8" name="object 528"/>
          <p:cNvSpPr/>
          <p:nvPr/>
        </p:nvSpPr>
        <p:spPr>
          <a:xfrm>
            <a:off x="3413664" y="176838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1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9" name="object 529"/>
          <p:cNvSpPr/>
          <p:nvPr/>
        </p:nvSpPr>
        <p:spPr>
          <a:xfrm>
            <a:off x="3905915" y="176838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1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0" name="object 530"/>
          <p:cNvSpPr/>
          <p:nvPr/>
        </p:nvSpPr>
        <p:spPr>
          <a:xfrm>
            <a:off x="3413664" y="17592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1" name="object 531"/>
          <p:cNvSpPr/>
          <p:nvPr/>
        </p:nvSpPr>
        <p:spPr>
          <a:xfrm>
            <a:off x="3905915" y="17592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2" name="object 532"/>
          <p:cNvSpPr/>
          <p:nvPr/>
        </p:nvSpPr>
        <p:spPr>
          <a:xfrm>
            <a:off x="3413664" y="17561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D1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3" name="object 533"/>
          <p:cNvSpPr/>
          <p:nvPr/>
        </p:nvSpPr>
        <p:spPr>
          <a:xfrm>
            <a:off x="3905915" y="17561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D1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4" name="object 534"/>
          <p:cNvSpPr/>
          <p:nvPr/>
        </p:nvSpPr>
        <p:spPr>
          <a:xfrm>
            <a:off x="3413664" y="17485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5" name="object 535"/>
          <p:cNvSpPr/>
          <p:nvPr/>
        </p:nvSpPr>
        <p:spPr>
          <a:xfrm>
            <a:off x="3905915" y="17485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6" name="object 536"/>
          <p:cNvSpPr/>
          <p:nvPr/>
        </p:nvSpPr>
        <p:spPr>
          <a:xfrm>
            <a:off x="3413664" y="17379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2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7" name="object 537"/>
          <p:cNvSpPr/>
          <p:nvPr/>
        </p:nvSpPr>
        <p:spPr>
          <a:xfrm>
            <a:off x="3905915" y="17379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2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8" name="object 538"/>
          <p:cNvSpPr/>
          <p:nvPr/>
        </p:nvSpPr>
        <p:spPr>
          <a:xfrm>
            <a:off x="3413664" y="17287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3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9" name="object 539"/>
          <p:cNvSpPr/>
          <p:nvPr/>
        </p:nvSpPr>
        <p:spPr>
          <a:xfrm>
            <a:off x="3905915" y="17287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3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0" name="object 540"/>
          <p:cNvSpPr/>
          <p:nvPr/>
        </p:nvSpPr>
        <p:spPr>
          <a:xfrm>
            <a:off x="3413664" y="17211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3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1" name="object 541"/>
          <p:cNvSpPr/>
          <p:nvPr/>
        </p:nvSpPr>
        <p:spPr>
          <a:xfrm>
            <a:off x="3905915" y="17211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3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2" name="object 542"/>
          <p:cNvSpPr/>
          <p:nvPr/>
        </p:nvSpPr>
        <p:spPr>
          <a:xfrm>
            <a:off x="3413664" y="17180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D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3" name="object 543"/>
          <p:cNvSpPr/>
          <p:nvPr/>
        </p:nvSpPr>
        <p:spPr>
          <a:xfrm>
            <a:off x="3905915" y="17180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D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4" name="object 544"/>
          <p:cNvSpPr/>
          <p:nvPr/>
        </p:nvSpPr>
        <p:spPr>
          <a:xfrm>
            <a:off x="3413664" y="170590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5" name="object 545"/>
          <p:cNvSpPr/>
          <p:nvPr/>
        </p:nvSpPr>
        <p:spPr>
          <a:xfrm>
            <a:off x="3905915" y="170590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6" name="object 546"/>
          <p:cNvSpPr/>
          <p:nvPr/>
        </p:nvSpPr>
        <p:spPr>
          <a:xfrm>
            <a:off x="3413664" y="169980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4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7" name="object 547"/>
          <p:cNvSpPr/>
          <p:nvPr/>
        </p:nvSpPr>
        <p:spPr>
          <a:xfrm>
            <a:off x="3905915" y="169980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4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8" name="object 548"/>
          <p:cNvSpPr/>
          <p:nvPr/>
        </p:nvSpPr>
        <p:spPr>
          <a:xfrm>
            <a:off x="3413664" y="16937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9" name="object 549"/>
          <p:cNvSpPr/>
          <p:nvPr/>
        </p:nvSpPr>
        <p:spPr>
          <a:xfrm>
            <a:off x="3905915" y="16937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0" name="object 550"/>
          <p:cNvSpPr/>
          <p:nvPr/>
        </p:nvSpPr>
        <p:spPr>
          <a:xfrm>
            <a:off x="3413664" y="168152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1" name="object 551"/>
          <p:cNvSpPr/>
          <p:nvPr/>
        </p:nvSpPr>
        <p:spPr>
          <a:xfrm>
            <a:off x="3905915" y="168152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2" name="object 552"/>
          <p:cNvSpPr/>
          <p:nvPr/>
        </p:nvSpPr>
        <p:spPr>
          <a:xfrm>
            <a:off x="3413664" y="16739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3" name="object 553"/>
          <p:cNvSpPr/>
          <p:nvPr/>
        </p:nvSpPr>
        <p:spPr>
          <a:xfrm>
            <a:off x="3905915" y="16739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/>
          <p:nvPr/>
        </p:nvSpPr>
        <p:spPr>
          <a:xfrm>
            <a:off x="3413664" y="166780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6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5" name="object 555"/>
          <p:cNvSpPr/>
          <p:nvPr/>
        </p:nvSpPr>
        <p:spPr>
          <a:xfrm>
            <a:off x="3905915" y="166780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6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6" name="object 556"/>
          <p:cNvSpPr/>
          <p:nvPr/>
        </p:nvSpPr>
        <p:spPr>
          <a:xfrm>
            <a:off x="3413664" y="165713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7" name="object 557"/>
          <p:cNvSpPr/>
          <p:nvPr/>
        </p:nvSpPr>
        <p:spPr>
          <a:xfrm>
            <a:off x="3905915" y="165713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8" name="object 558"/>
          <p:cNvSpPr/>
          <p:nvPr/>
        </p:nvSpPr>
        <p:spPr>
          <a:xfrm>
            <a:off x="3413664" y="16525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9" name="object 559"/>
          <p:cNvSpPr/>
          <p:nvPr/>
        </p:nvSpPr>
        <p:spPr>
          <a:xfrm>
            <a:off x="3905915" y="16525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0" name="object 560"/>
          <p:cNvSpPr/>
          <p:nvPr/>
        </p:nvSpPr>
        <p:spPr>
          <a:xfrm>
            <a:off x="3413664" y="164646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1" name="object 561"/>
          <p:cNvSpPr/>
          <p:nvPr/>
        </p:nvSpPr>
        <p:spPr>
          <a:xfrm>
            <a:off x="3905915" y="164646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2" name="object 562"/>
          <p:cNvSpPr/>
          <p:nvPr/>
        </p:nvSpPr>
        <p:spPr>
          <a:xfrm>
            <a:off x="3413664" y="163580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3" name="object 563"/>
          <p:cNvSpPr/>
          <p:nvPr/>
        </p:nvSpPr>
        <p:spPr>
          <a:xfrm>
            <a:off x="3905915" y="163580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4" name="object 564"/>
          <p:cNvSpPr/>
          <p:nvPr/>
        </p:nvSpPr>
        <p:spPr>
          <a:xfrm>
            <a:off x="3413664" y="162513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5" name="object 565"/>
          <p:cNvSpPr/>
          <p:nvPr/>
        </p:nvSpPr>
        <p:spPr>
          <a:xfrm>
            <a:off x="3905915" y="162513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6" name="object 566"/>
          <p:cNvSpPr/>
          <p:nvPr/>
        </p:nvSpPr>
        <p:spPr>
          <a:xfrm>
            <a:off x="3413664" y="161903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8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7" name="object 567"/>
          <p:cNvSpPr/>
          <p:nvPr/>
        </p:nvSpPr>
        <p:spPr>
          <a:xfrm>
            <a:off x="3905915" y="161903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8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8" name="object 568"/>
          <p:cNvSpPr/>
          <p:nvPr/>
        </p:nvSpPr>
        <p:spPr>
          <a:xfrm>
            <a:off x="3413664" y="161598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9" name="object 569"/>
          <p:cNvSpPr/>
          <p:nvPr/>
        </p:nvSpPr>
        <p:spPr>
          <a:xfrm>
            <a:off x="3905915" y="161598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0" name="object 570"/>
          <p:cNvSpPr/>
          <p:nvPr/>
        </p:nvSpPr>
        <p:spPr>
          <a:xfrm>
            <a:off x="3413664" y="160532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1" name="object 571"/>
          <p:cNvSpPr/>
          <p:nvPr/>
        </p:nvSpPr>
        <p:spPr>
          <a:xfrm>
            <a:off x="3905915" y="160532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2" name="object 572"/>
          <p:cNvSpPr/>
          <p:nvPr/>
        </p:nvSpPr>
        <p:spPr>
          <a:xfrm>
            <a:off x="3413664" y="15977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9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3" name="object 573"/>
          <p:cNvSpPr/>
          <p:nvPr/>
        </p:nvSpPr>
        <p:spPr>
          <a:xfrm>
            <a:off x="3905915" y="15977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9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4" name="object 574"/>
          <p:cNvSpPr/>
          <p:nvPr/>
        </p:nvSpPr>
        <p:spPr>
          <a:xfrm>
            <a:off x="3413664" y="159465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5" name="object 575"/>
          <p:cNvSpPr/>
          <p:nvPr/>
        </p:nvSpPr>
        <p:spPr>
          <a:xfrm>
            <a:off x="3905915" y="159465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6" name="object 576"/>
          <p:cNvSpPr/>
          <p:nvPr/>
        </p:nvSpPr>
        <p:spPr>
          <a:xfrm>
            <a:off x="3413664" y="15855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A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7" name="object 577"/>
          <p:cNvSpPr/>
          <p:nvPr/>
        </p:nvSpPr>
        <p:spPr>
          <a:xfrm>
            <a:off x="3905915" y="15855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A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8" name="object 578"/>
          <p:cNvSpPr/>
          <p:nvPr/>
        </p:nvSpPr>
        <p:spPr>
          <a:xfrm>
            <a:off x="3413664" y="157484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A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9" name="object 579"/>
          <p:cNvSpPr/>
          <p:nvPr/>
        </p:nvSpPr>
        <p:spPr>
          <a:xfrm>
            <a:off x="3905915" y="157484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A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0" name="object 580"/>
          <p:cNvSpPr/>
          <p:nvPr/>
        </p:nvSpPr>
        <p:spPr>
          <a:xfrm>
            <a:off x="3413664" y="157179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1" name="object 581"/>
          <p:cNvSpPr/>
          <p:nvPr/>
        </p:nvSpPr>
        <p:spPr>
          <a:xfrm>
            <a:off x="3905915" y="157179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2" name="object 582"/>
          <p:cNvSpPr/>
          <p:nvPr/>
        </p:nvSpPr>
        <p:spPr>
          <a:xfrm>
            <a:off x="3413664" y="15641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3" name="object 583"/>
          <p:cNvSpPr/>
          <p:nvPr/>
        </p:nvSpPr>
        <p:spPr>
          <a:xfrm>
            <a:off x="3905915" y="15641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4" name="object 584"/>
          <p:cNvSpPr/>
          <p:nvPr/>
        </p:nvSpPr>
        <p:spPr>
          <a:xfrm>
            <a:off x="3413664" y="15535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B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5" name="object 585"/>
          <p:cNvSpPr/>
          <p:nvPr/>
        </p:nvSpPr>
        <p:spPr>
          <a:xfrm>
            <a:off x="3905915" y="15535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B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6" name="object 586"/>
          <p:cNvSpPr/>
          <p:nvPr/>
        </p:nvSpPr>
        <p:spPr>
          <a:xfrm>
            <a:off x="3413664" y="15504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B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7" name="object 587"/>
          <p:cNvSpPr/>
          <p:nvPr/>
        </p:nvSpPr>
        <p:spPr>
          <a:xfrm>
            <a:off x="3905915" y="15504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B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8" name="object 588"/>
          <p:cNvSpPr/>
          <p:nvPr/>
        </p:nvSpPr>
        <p:spPr>
          <a:xfrm>
            <a:off x="3413664" y="153978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C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9" name="object 589"/>
          <p:cNvSpPr/>
          <p:nvPr/>
        </p:nvSpPr>
        <p:spPr>
          <a:xfrm>
            <a:off x="3905915" y="153978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C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0" name="object 590"/>
          <p:cNvSpPr/>
          <p:nvPr/>
        </p:nvSpPr>
        <p:spPr>
          <a:xfrm>
            <a:off x="3413664" y="153369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1" name="object 591"/>
          <p:cNvSpPr/>
          <p:nvPr/>
        </p:nvSpPr>
        <p:spPr>
          <a:xfrm>
            <a:off x="3905915" y="153369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2" name="object 592"/>
          <p:cNvSpPr/>
          <p:nvPr/>
        </p:nvSpPr>
        <p:spPr>
          <a:xfrm>
            <a:off x="3413664" y="152759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D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3" name="object 593"/>
          <p:cNvSpPr/>
          <p:nvPr/>
        </p:nvSpPr>
        <p:spPr>
          <a:xfrm>
            <a:off x="3905915" y="152759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D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4" name="object 594"/>
          <p:cNvSpPr/>
          <p:nvPr/>
        </p:nvSpPr>
        <p:spPr>
          <a:xfrm>
            <a:off x="3413664" y="151692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5" name="object 595"/>
          <p:cNvSpPr/>
          <p:nvPr/>
        </p:nvSpPr>
        <p:spPr>
          <a:xfrm>
            <a:off x="3905915" y="151692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6" name="object 596"/>
          <p:cNvSpPr/>
          <p:nvPr/>
        </p:nvSpPr>
        <p:spPr>
          <a:xfrm>
            <a:off x="3413664" y="1515405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D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7" name="object 597"/>
          <p:cNvSpPr/>
          <p:nvPr/>
        </p:nvSpPr>
        <p:spPr>
          <a:xfrm>
            <a:off x="3905915" y="1515405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D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8" name="object 598"/>
          <p:cNvSpPr/>
          <p:nvPr/>
        </p:nvSpPr>
        <p:spPr>
          <a:xfrm>
            <a:off x="3413664" y="150321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9" name="object 599"/>
          <p:cNvSpPr/>
          <p:nvPr/>
        </p:nvSpPr>
        <p:spPr>
          <a:xfrm>
            <a:off x="3905915" y="150321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0" name="object 600"/>
          <p:cNvSpPr/>
          <p:nvPr/>
        </p:nvSpPr>
        <p:spPr>
          <a:xfrm>
            <a:off x="3413664" y="15001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1" name="object 601"/>
          <p:cNvSpPr/>
          <p:nvPr/>
        </p:nvSpPr>
        <p:spPr>
          <a:xfrm>
            <a:off x="3905915" y="15001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2" name="object 602"/>
          <p:cNvSpPr/>
          <p:nvPr/>
        </p:nvSpPr>
        <p:spPr>
          <a:xfrm>
            <a:off x="3413664" y="14925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3" name="object 603"/>
          <p:cNvSpPr/>
          <p:nvPr/>
        </p:nvSpPr>
        <p:spPr>
          <a:xfrm>
            <a:off x="3905915" y="14925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4" name="object 604"/>
          <p:cNvSpPr/>
          <p:nvPr/>
        </p:nvSpPr>
        <p:spPr>
          <a:xfrm>
            <a:off x="3413664" y="14834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F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5" name="object 605"/>
          <p:cNvSpPr/>
          <p:nvPr/>
        </p:nvSpPr>
        <p:spPr>
          <a:xfrm>
            <a:off x="3905915" y="14834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F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6" name="object 606"/>
          <p:cNvSpPr/>
          <p:nvPr/>
        </p:nvSpPr>
        <p:spPr>
          <a:xfrm>
            <a:off x="3413664" y="147273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0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7" name="object 607"/>
          <p:cNvSpPr/>
          <p:nvPr/>
        </p:nvSpPr>
        <p:spPr>
          <a:xfrm>
            <a:off x="3905915" y="147273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0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8" name="object 608"/>
          <p:cNvSpPr/>
          <p:nvPr/>
        </p:nvSpPr>
        <p:spPr>
          <a:xfrm>
            <a:off x="3413664" y="14651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0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9" name="object 609"/>
          <p:cNvSpPr/>
          <p:nvPr/>
        </p:nvSpPr>
        <p:spPr>
          <a:xfrm>
            <a:off x="3905915" y="14651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0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0" name="object 610"/>
          <p:cNvSpPr/>
          <p:nvPr/>
        </p:nvSpPr>
        <p:spPr>
          <a:xfrm>
            <a:off x="3413664" y="14620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1" name="object 611"/>
          <p:cNvSpPr/>
          <p:nvPr/>
        </p:nvSpPr>
        <p:spPr>
          <a:xfrm>
            <a:off x="3905915" y="14620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2" name="object 612"/>
          <p:cNvSpPr/>
          <p:nvPr/>
        </p:nvSpPr>
        <p:spPr>
          <a:xfrm>
            <a:off x="3413664" y="14513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1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3" name="object 613"/>
          <p:cNvSpPr/>
          <p:nvPr/>
        </p:nvSpPr>
        <p:spPr>
          <a:xfrm>
            <a:off x="3905915" y="14513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1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4" name="object 614"/>
          <p:cNvSpPr/>
          <p:nvPr/>
        </p:nvSpPr>
        <p:spPr>
          <a:xfrm>
            <a:off x="3413664" y="14437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1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5" name="object 615"/>
          <p:cNvSpPr/>
          <p:nvPr/>
        </p:nvSpPr>
        <p:spPr>
          <a:xfrm>
            <a:off x="3905915" y="14437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1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6" name="object 616"/>
          <p:cNvSpPr/>
          <p:nvPr/>
        </p:nvSpPr>
        <p:spPr>
          <a:xfrm>
            <a:off x="3413664" y="144225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7" name="object 617"/>
          <p:cNvSpPr/>
          <p:nvPr/>
        </p:nvSpPr>
        <p:spPr>
          <a:xfrm>
            <a:off x="3905915" y="144225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8" name="object 618"/>
          <p:cNvSpPr/>
          <p:nvPr/>
        </p:nvSpPr>
        <p:spPr>
          <a:xfrm>
            <a:off x="3413664" y="14315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2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9" name="object 619"/>
          <p:cNvSpPr/>
          <p:nvPr/>
        </p:nvSpPr>
        <p:spPr>
          <a:xfrm>
            <a:off x="3905915" y="14315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2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0" name="object 620"/>
          <p:cNvSpPr/>
          <p:nvPr/>
        </p:nvSpPr>
        <p:spPr>
          <a:xfrm>
            <a:off x="3413664" y="14209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2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1" name="object 621"/>
          <p:cNvSpPr/>
          <p:nvPr/>
        </p:nvSpPr>
        <p:spPr>
          <a:xfrm>
            <a:off x="3905915" y="14209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2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2" name="object 622"/>
          <p:cNvSpPr/>
          <p:nvPr/>
        </p:nvSpPr>
        <p:spPr>
          <a:xfrm>
            <a:off x="3413664" y="141939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3" name="object 623"/>
          <p:cNvSpPr/>
          <p:nvPr/>
        </p:nvSpPr>
        <p:spPr>
          <a:xfrm>
            <a:off x="3905915" y="141939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4" name="object 624"/>
          <p:cNvSpPr/>
          <p:nvPr/>
        </p:nvSpPr>
        <p:spPr>
          <a:xfrm>
            <a:off x="3413664" y="14117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5" name="object 625"/>
          <p:cNvSpPr/>
          <p:nvPr/>
        </p:nvSpPr>
        <p:spPr>
          <a:xfrm>
            <a:off x="3905915" y="14117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6" name="object 626"/>
          <p:cNvSpPr/>
          <p:nvPr/>
        </p:nvSpPr>
        <p:spPr>
          <a:xfrm>
            <a:off x="3413664" y="14011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7" name="object 627"/>
          <p:cNvSpPr/>
          <p:nvPr/>
        </p:nvSpPr>
        <p:spPr>
          <a:xfrm>
            <a:off x="3905915" y="14011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8" name="object 628"/>
          <p:cNvSpPr/>
          <p:nvPr/>
        </p:nvSpPr>
        <p:spPr>
          <a:xfrm>
            <a:off x="3413664" y="13980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E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9" name="object 629"/>
          <p:cNvSpPr/>
          <p:nvPr/>
        </p:nvSpPr>
        <p:spPr>
          <a:xfrm>
            <a:off x="3905915" y="13980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E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0" name="object 630"/>
          <p:cNvSpPr/>
          <p:nvPr/>
        </p:nvSpPr>
        <p:spPr>
          <a:xfrm>
            <a:off x="3413664" y="13904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4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1" name="object 631"/>
          <p:cNvSpPr/>
          <p:nvPr/>
        </p:nvSpPr>
        <p:spPr>
          <a:xfrm>
            <a:off x="3905915" y="13904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4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2" name="object 632"/>
          <p:cNvSpPr/>
          <p:nvPr/>
        </p:nvSpPr>
        <p:spPr>
          <a:xfrm>
            <a:off x="3413664" y="137976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3" name="object 633"/>
          <p:cNvSpPr/>
          <p:nvPr/>
        </p:nvSpPr>
        <p:spPr>
          <a:xfrm>
            <a:off x="3905915" y="137976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4" name="object 634"/>
          <p:cNvSpPr/>
          <p:nvPr/>
        </p:nvSpPr>
        <p:spPr>
          <a:xfrm>
            <a:off x="3413664" y="13706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5" name="object 635"/>
          <p:cNvSpPr/>
          <p:nvPr/>
        </p:nvSpPr>
        <p:spPr>
          <a:xfrm>
            <a:off x="3905915" y="13706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6" name="object 636"/>
          <p:cNvSpPr/>
          <p:nvPr/>
        </p:nvSpPr>
        <p:spPr>
          <a:xfrm>
            <a:off x="3413664" y="13630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7" name="object 637"/>
          <p:cNvSpPr/>
          <p:nvPr/>
        </p:nvSpPr>
        <p:spPr>
          <a:xfrm>
            <a:off x="3905915" y="13630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8" name="object 638"/>
          <p:cNvSpPr/>
          <p:nvPr/>
        </p:nvSpPr>
        <p:spPr>
          <a:xfrm>
            <a:off x="3413664" y="13599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E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9" name="object 639"/>
          <p:cNvSpPr/>
          <p:nvPr/>
        </p:nvSpPr>
        <p:spPr>
          <a:xfrm>
            <a:off x="3905915" y="13599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E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0" name="object 640"/>
          <p:cNvSpPr/>
          <p:nvPr/>
        </p:nvSpPr>
        <p:spPr>
          <a:xfrm>
            <a:off x="3413664" y="134928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1" name="object 641"/>
          <p:cNvSpPr/>
          <p:nvPr/>
        </p:nvSpPr>
        <p:spPr>
          <a:xfrm>
            <a:off x="3905915" y="134928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2" name="object 642"/>
          <p:cNvSpPr/>
          <p:nvPr/>
        </p:nvSpPr>
        <p:spPr>
          <a:xfrm>
            <a:off x="3413664" y="13416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3" name="object 643"/>
          <p:cNvSpPr/>
          <p:nvPr/>
        </p:nvSpPr>
        <p:spPr>
          <a:xfrm>
            <a:off x="3905915" y="13416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4" name="object 644"/>
          <p:cNvSpPr/>
          <p:nvPr/>
        </p:nvSpPr>
        <p:spPr>
          <a:xfrm>
            <a:off x="3413664" y="133557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5" name="object 645"/>
          <p:cNvSpPr/>
          <p:nvPr/>
        </p:nvSpPr>
        <p:spPr>
          <a:xfrm>
            <a:off x="3905915" y="133557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6" name="object 646"/>
          <p:cNvSpPr/>
          <p:nvPr/>
        </p:nvSpPr>
        <p:spPr>
          <a:xfrm>
            <a:off x="3413664" y="132338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7" name="object 647"/>
          <p:cNvSpPr/>
          <p:nvPr/>
        </p:nvSpPr>
        <p:spPr>
          <a:xfrm>
            <a:off x="3905915" y="132338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8" name="object 648"/>
          <p:cNvSpPr/>
          <p:nvPr/>
        </p:nvSpPr>
        <p:spPr>
          <a:xfrm>
            <a:off x="3413664" y="131728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E7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9" name="object 649"/>
          <p:cNvSpPr/>
          <p:nvPr/>
        </p:nvSpPr>
        <p:spPr>
          <a:xfrm>
            <a:off x="3905915" y="131728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E7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0" name="object 650"/>
          <p:cNvSpPr/>
          <p:nvPr/>
        </p:nvSpPr>
        <p:spPr>
          <a:xfrm>
            <a:off x="3413664" y="13096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8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1" name="object 651"/>
          <p:cNvSpPr/>
          <p:nvPr/>
        </p:nvSpPr>
        <p:spPr>
          <a:xfrm>
            <a:off x="3905915" y="13096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8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2" name="object 652"/>
          <p:cNvSpPr/>
          <p:nvPr/>
        </p:nvSpPr>
        <p:spPr>
          <a:xfrm>
            <a:off x="3413664" y="12989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3" name="object 653"/>
          <p:cNvSpPr/>
          <p:nvPr/>
        </p:nvSpPr>
        <p:spPr>
          <a:xfrm>
            <a:off x="3905915" y="12989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4" name="object 654"/>
          <p:cNvSpPr/>
          <p:nvPr/>
        </p:nvSpPr>
        <p:spPr>
          <a:xfrm>
            <a:off x="3413664" y="129594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5" name="object 655"/>
          <p:cNvSpPr/>
          <p:nvPr/>
        </p:nvSpPr>
        <p:spPr>
          <a:xfrm>
            <a:off x="3905915" y="129594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6" name="object 656"/>
          <p:cNvSpPr/>
          <p:nvPr/>
        </p:nvSpPr>
        <p:spPr>
          <a:xfrm>
            <a:off x="3413664" y="12883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9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7" name="object 657"/>
          <p:cNvSpPr/>
          <p:nvPr/>
        </p:nvSpPr>
        <p:spPr>
          <a:xfrm>
            <a:off x="3905915" y="12883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9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8" name="object 658"/>
          <p:cNvSpPr/>
          <p:nvPr/>
        </p:nvSpPr>
        <p:spPr>
          <a:xfrm>
            <a:off x="3413664" y="127766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9" name="object 659"/>
          <p:cNvSpPr/>
          <p:nvPr/>
        </p:nvSpPr>
        <p:spPr>
          <a:xfrm>
            <a:off x="3905915" y="127766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0" name="object 660"/>
          <p:cNvSpPr/>
          <p:nvPr/>
        </p:nvSpPr>
        <p:spPr>
          <a:xfrm>
            <a:off x="3413664" y="12685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1" name="object 661"/>
          <p:cNvSpPr/>
          <p:nvPr/>
        </p:nvSpPr>
        <p:spPr>
          <a:xfrm>
            <a:off x="3905915" y="12685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2" name="object 662"/>
          <p:cNvSpPr/>
          <p:nvPr/>
        </p:nvSpPr>
        <p:spPr>
          <a:xfrm>
            <a:off x="3413664" y="12608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3" name="object 663"/>
          <p:cNvSpPr/>
          <p:nvPr/>
        </p:nvSpPr>
        <p:spPr>
          <a:xfrm>
            <a:off x="3905915" y="12608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4" name="object 664"/>
          <p:cNvSpPr/>
          <p:nvPr/>
        </p:nvSpPr>
        <p:spPr>
          <a:xfrm>
            <a:off x="3413664" y="125784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5" name="object 665"/>
          <p:cNvSpPr/>
          <p:nvPr/>
        </p:nvSpPr>
        <p:spPr>
          <a:xfrm>
            <a:off x="3905915" y="125784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6" name="object 666"/>
          <p:cNvSpPr/>
          <p:nvPr/>
        </p:nvSpPr>
        <p:spPr>
          <a:xfrm>
            <a:off x="3413664" y="1253150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0" y="5079"/>
                </a:moveTo>
                <a:lnTo>
                  <a:pt x="3048" y="5079"/>
                </a:lnTo>
                <a:lnTo>
                  <a:pt x="3048" y="0"/>
                </a:lnTo>
                <a:lnTo>
                  <a:pt x="0" y="0"/>
                </a:lnTo>
                <a:lnTo>
                  <a:pt x="0" y="5079"/>
                </a:lnTo>
                <a:close/>
              </a:path>
            </a:pathLst>
          </a:custGeom>
          <a:solidFill>
            <a:srgbClr val="FFE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7" name="object 667"/>
          <p:cNvSpPr/>
          <p:nvPr/>
        </p:nvSpPr>
        <p:spPr>
          <a:xfrm>
            <a:off x="3413664" y="125188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8" name="object 668"/>
          <p:cNvSpPr/>
          <p:nvPr/>
        </p:nvSpPr>
        <p:spPr>
          <a:xfrm>
            <a:off x="3905915" y="125327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E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9" name="object 669"/>
          <p:cNvSpPr/>
          <p:nvPr/>
        </p:nvSpPr>
        <p:spPr>
          <a:xfrm>
            <a:off x="3413664" y="207357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BE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0" name="object 670"/>
          <p:cNvSpPr/>
          <p:nvPr/>
        </p:nvSpPr>
        <p:spPr>
          <a:xfrm>
            <a:off x="3413664" y="2067220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0" y="5080"/>
                </a:moveTo>
                <a:lnTo>
                  <a:pt x="3048" y="5080"/>
                </a:lnTo>
                <a:lnTo>
                  <a:pt x="3048" y="0"/>
                </a:lnTo>
                <a:lnTo>
                  <a:pt x="0" y="0"/>
                </a:lnTo>
                <a:lnTo>
                  <a:pt x="0" y="5080"/>
                </a:lnTo>
                <a:close/>
              </a:path>
            </a:pathLst>
          </a:custGeom>
          <a:solidFill>
            <a:srgbClr val="FFBE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1" name="object 671"/>
          <p:cNvSpPr/>
          <p:nvPr/>
        </p:nvSpPr>
        <p:spPr>
          <a:xfrm>
            <a:off x="3905915" y="206709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BE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2" name="object 672"/>
          <p:cNvSpPr/>
          <p:nvPr/>
        </p:nvSpPr>
        <p:spPr>
          <a:xfrm>
            <a:off x="3413664" y="206252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3" name="object 673"/>
          <p:cNvSpPr/>
          <p:nvPr/>
        </p:nvSpPr>
        <p:spPr>
          <a:xfrm>
            <a:off x="3905915" y="206252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B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4" name="object 674"/>
          <p:cNvSpPr/>
          <p:nvPr/>
        </p:nvSpPr>
        <p:spPr>
          <a:xfrm>
            <a:off x="3413664" y="205794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BF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5" name="object 675"/>
          <p:cNvSpPr/>
          <p:nvPr/>
        </p:nvSpPr>
        <p:spPr>
          <a:xfrm>
            <a:off x="3905915" y="205794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BF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6" name="object 676"/>
          <p:cNvSpPr/>
          <p:nvPr/>
        </p:nvSpPr>
        <p:spPr>
          <a:xfrm>
            <a:off x="3413664" y="204880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BF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7" name="object 677"/>
          <p:cNvSpPr/>
          <p:nvPr/>
        </p:nvSpPr>
        <p:spPr>
          <a:xfrm>
            <a:off x="3905915" y="204880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BF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8" name="object 678"/>
          <p:cNvSpPr/>
          <p:nvPr/>
        </p:nvSpPr>
        <p:spPr>
          <a:xfrm>
            <a:off x="3413664" y="20457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B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9" name="object 679"/>
          <p:cNvSpPr/>
          <p:nvPr/>
        </p:nvSpPr>
        <p:spPr>
          <a:xfrm>
            <a:off x="3905915" y="20457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B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0" name="object 680"/>
          <p:cNvSpPr/>
          <p:nvPr/>
        </p:nvSpPr>
        <p:spPr>
          <a:xfrm>
            <a:off x="3413664" y="204118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0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1" name="object 681"/>
          <p:cNvSpPr/>
          <p:nvPr/>
        </p:nvSpPr>
        <p:spPr>
          <a:xfrm>
            <a:off x="3905915" y="204118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0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2" name="object 682"/>
          <p:cNvSpPr/>
          <p:nvPr/>
        </p:nvSpPr>
        <p:spPr>
          <a:xfrm>
            <a:off x="3413664" y="20320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0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3" name="object 683"/>
          <p:cNvSpPr/>
          <p:nvPr/>
        </p:nvSpPr>
        <p:spPr>
          <a:xfrm>
            <a:off x="3905915" y="20320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0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4" name="object 684"/>
          <p:cNvSpPr/>
          <p:nvPr/>
        </p:nvSpPr>
        <p:spPr>
          <a:xfrm>
            <a:off x="3413664" y="20274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5" name="object 685"/>
          <p:cNvSpPr/>
          <p:nvPr/>
        </p:nvSpPr>
        <p:spPr>
          <a:xfrm>
            <a:off x="3905915" y="20274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0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6" name="object 686"/>
          <p:cNvSpPr/>
          <p:nvPr/>
        </p:nvSpPr>
        <p:spPr>
          <a:xfrm>
            <a:off x="3413664" y="20244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1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7" name="object 687"/>
          <p:cNvSpPr/>
          <p:nvPr/>
        </p:nvSpPr>
        <p:spPr>
          <a:xfrm>
            <a:off x="3905915" y="202442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1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8" name="object 688"/>
          <p:cNvSpPr/>
          <p:nvPr/>
        </p:nvSpPr>
        <p:spPr>
          <a:xfrm>
            <a:off x="3413664" y="201527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9" name="object 689"/>
          <p:cNvSpPr/>
          <p:nvPr/>
        </p:nvSpPr>
        <p:spPr>
          <a:xfrm>
            <a:off x="3905915" y="201527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0" name="object 690"/>
          <p:cNvSpPr/>
          <p:nvPr/>
        </p:nvSpPr>
        <p:spPr>
          <a:xfrm>
            <a:off x="3413664" y="201070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1" name="object 691"/>
          <p:cNvSpPr/>
          <p:nvPr/>
        </p:nvSpPr>
        <p:spPr>
          <a:xfrm>
            <a:off x="3905915" y="201070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2" name="object 692"/>
          <p:cNvSpPr/>
          <p:nvPr/>
        </p:nvSpPr>
        <p:spPr>
          <a:xfrm>
            <a:off x="3413664" y="2009181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2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3" name="object 693"/>
          <p:cNvSpPr/>
          <p:nvPr/>
        </p:nvSpPr>
        <p:spPr>
          <a:xfrm>
            <a:off x="3905915" y="2009181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2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4" name="object 694"/>
          <p:cNvSpPr/>
          <p:nvPr/>
        </p:nvSpPr>
        <p:spPr>
          <a:xfrm>
            <a:off x="3413664" y="20015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5" name="object 695"/>
          <p:cNvSpPr/>
          <p:nvPr/>
        </p:nvSpPr>
        <p:spPr>
          <a:xfrm>
            <a:off x="3905915" y="20015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6" name="object 696"/>
          <p:cNvSpPr/>
          <p:nvPr/>
        </p:nvSpPr>
        <p:spPr>
          <a:xfrm>
            <a:off x="3413664" y="19939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7" name="object 697"/>
          <p:cNvSpPr/>
          <p:nvPr/>
        </p:nvSpPr>
        <p:spPr>
          <a:xfrm>
            <a:off x="3905915" y="199394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2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8" name="object 698"/>
          <p:cNvSpPr/>
          <p:nvPr/>
        </p:nvSpPr>
        <p:spPr>
          <a:xfrm>
            <a:off x="3413664" y="19863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9" name="object 699"/>
          <p:cNvSpPr/>
          <p:nvPr/>
        </p:nvSpPr>
        <p:spPr>
          <a:xfrm>
            <a:off x="3905915" y="198632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3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0" name="object 700"/>
          <p:cNvSpPr/>
          <p:nvPr/>
        </p:nvSpPr>
        <p:spPr>
          <a:xfrm>
            <a:off x="3413664" y="19787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3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1" name="object 701"/>
          <p:cNvSpPr/>
          <p:nvPr/>
        </p:nvSpPr>
        <p:spPr>
          <a:xfrm>
            <a:off x="3905915" y="19787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3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2" name="object 702"/>
          <p:cNvSpPr/>
          <p:nvPr/>
        </p:nvSpPr>
        <p:spPr>
          <a:xfrm>
            <a:off x="3413664" y="1977177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3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3" name="object 703"/>
          <p:cNvSpPr/>
          <p:nvPr/>
        </p:nvSpPr>
        <p:spPr>
          <a:xfrm>
            <a:off x="3905915" y="1977177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3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4" name="object 704"/>
          <p:cNvSpPr/>
          <p:nvPr/>
        </p:nvSpPr>
        <p:spPr>
          <a:xfrm>
            <a:off x="3413664" y="197260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4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5" name="object 705"/>
          <p:cNvSpPr/>
          <p:nvPr/>
        </p:nvSpPr>
        <p:spPr>
          <a:xfrm>
            <a:off x="3905915" y="197260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4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6" name="object 706"/>
          <p:cNvSpPr/>
          <p:nvPr/>
        </p:nvSpPr>
        <p:spPr>
          <a:xfrm>
            <a:off x="3413664" y="196498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7" name="object 707"/>
          <p:cNvSpPr/>
          <p:nvPr/>
        </p:nvSpPr>
        <p:spPr>
          <a:xfrm>
            <a:off x="3905915" y="196498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8" name="object 708"/>
          <p:cNvSpPr/>
          <p:nvPr/>
        </p:nvSpPr>
        <p:spPr>
          <a:xfrm>
            <a:off x="3413664" y="196193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4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9" name="object 709"/>
          <p:cNvSpPr/>
          <p:nvPr/>
        </p:nvSpPr>
        <p:spPr>
          <a:xfrm>
            <a:off x="3905915" y="196193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C4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0" name="object 710"/>
          <p:cNvSpPr/>
          <p:nvPr/>
        </p:nvSpPr>
        <p:spPr>
          <a:xfrm>
            <a:off x="3413664" y="195584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5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1" name="object 711"/>
          <p:cNvSpPr/>
          <p:nvPr/>
        </p:nvSpPr>
        <p:spPr>
          <a:xfrm>
            <a:off x="3905915" y="1955841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5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2" name="object 712"/>
          <p:cNvSpPr/>
          <p:nvPr/>
        </p:nvSpPr>
        <p:spPr>
          <a:xfrm>
            <a:off x="3413664" y="194974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3" name="object 713"/>
          <p:cNvSpPr/>
          <p:nvPr/>
        </p:nvSpPr>
        <p:spPr>
          <a:xfrm>
            <a:off x="3905915" y="194974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4" name="object 714"/>
          <p:cNvSpPr/>
          <p:nvPr/>
        </p:nvSpPr>
        <p:spPr>
          <a:xfrm>
            <a:off x="3413664" y="19466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6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5" name="object 715"/>
          <p:cNvSpPr/>
          <p:nvPr/>
        </p:nvSpPr>
        <p:spPr>
          <a:xfrm>
            <a:off x="3905915" y="19466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6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6" name="object 716"/>
          <p:cNvSpPr/>
          <p:nvPr/>
        </p:nvSpPr>
        <p:spPr>
          <a:xfrm>
            <a:off x="3413664" y="19390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6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7" name="object 717"/>
          <p:cNvSpPr/>
          <p:nvPr/>
        </p:nvSpPr>
        <p:spPr>
          <a:xfrm>
            <a:off x="3905915" y="19390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6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8" name="object 718"/>
          <p:cNvSpPr/>
          <p:nvPr/>
        </p:nvSpPr>
        <p:spPr>
          <a:xfrm>
            <a:off x="3413664" y="19360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6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9" name="object 719"/>
          <p:cNvSpPr/>
          <p:nvPr/>
        </p:nvSpPr>
        <p:spPr>
          <a:xfrm>
            <a:off x="3905915" y="193602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6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0" name="object 720"/>
          <p:cNvSpPr/>
          <p:nvPr/>
        </p:nvSpPr>
        <p:spPr>
          <a:xfrm>
            <a:off x="3413664" y="192993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7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1" name="object 721"/>
          <p:cNvSpPr/>
          <p:nvPr/>
        </p:nvSpPr>
        <p:spPr>
          <a:xfrm>
            <a:off x="3905915" y="192993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C7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2" name="object 722"/>
          <p:cNvSpPr/>
          <p:nvPr/>
        </p:nvSpPr>
        <p:spPr>
          <a:xfrm>
            <a:off x="3413664" y="192383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7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3" name="object 723"/>
          <p:cNvSpPr/>
          <p:nvPr/>
        </p:nvSpPr>
        <p:spPr>
          <a:xfrm>
            <a:off x="3905915" y="192383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C7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4" name="object 724"/>
          <p:cNvSpPr/>
          <p:nvPr/>
        </p:nvSpPr>
        <p:spPr>
          <a:xfrm>
            <a:off x="3413664" y="192231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5" name="object 725"/>
          <p:cNvSpPr/>
          <p:nvPr/>
        </p:nvSpPr>
        <p:spPr>
          <a:xfrm>
            <a:off x="3905915" y="192231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8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6" name="object 726"/>
          <p:cNvSpPr/>
          <p:nvPr/>
        </p:nvSpPr>
        <p:spPr>
          <a:xfrm>
            <a:off x="3413664" y="191316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7" name="object 727"/>
          <p:cNvSpPr/>
          <p:nvPr/>
        </p:nvSpPr>
        <p:spPr>
          <a:xfrm>
            <a:off x="3905915" y="191316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8" name="object 728"/>
          <p:cNvSpPr/>
          <p:nvPr/>
        </p:nvSpPr>
        <p:spPr>
          <a:xfrm>
            <a:off x="3413664" y="19085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8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9" name="object 729"/>
          <p:cNvSpPr/>
          <p:nvPr/>
        </p:nvSpPr>
        <p:spPr>
          <a:xfrm>
            <a:off x="3905915" y="19085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8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0" name="object 730"/>
          <p:cNvSpPr/>
          <p:nvPr/>
        </p:nvSpPr>
        <p:spPr>
          <a:xfrm>
            <a:off x="3413664" y="190707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9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1" name="object 731"/>
          <p:cNvSpPr/>
          <p:nvPr/>
        </p:nvSpPr>
        <p:spPr>
          <a:xfrm>
            <a:off x="3905915" y="190707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9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2" name="object 732"/>
          <p:cNvSpPr/>
          <p:nvPr/>
        </p:nvSpPr>
        <p:spPr>
          <a:xfrm>
            <a:off x="3413664" y="18994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3" name="object 733"/>
          <p:cNvSpPr/>
          <p:nvPr/>
        </p:nvSpPr>
        <p:spPr>
          <a:xfrm>
            <a:off x="3905915" y="18994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C9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4" name="object 734"/>
          <p:cNvSpPr/>
          <p:nvPr/>
        </p:nvSpPr>
        <p:spPr>
          <a:xfrm>
            <a:off x="3413664" y="189183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9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5" name="object 735"/>
          <p:cNvSpPr/>
          <p:nvPr/>
        </p:nvSpPr>
        <p:spPr>
          <a:xfrm>
            <a:off x="3905915" y="189183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9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6" name="object 736"/>
          <p:cNvSpPr/>
          <p:nvPr/>
        </p:nvSpPr>
        <p:spPr>
          <a:xfrm>
            <a:off x="3413664" y="18842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7" name="object 737"/>
          <p:cNvSpPr/>
          <p:nvPr/>
        </p:nvSpPr>
        <p:spPr>
          <a:xfrm>
            <a:off x="3905915" y="18842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8" name="object 738"/>
          <p:cNvSpPr/>
          <p:nvPr/>
        </p:nvSpPr>
        <p:spPr>
          <a:xfrm>
            <a:off x="3413664" y="187659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9" name="object 739"/>
          <p:cNvSpPr/>
          <p:nvPr/>
        </p:nvSpPr>
        <p:spPr>
          <a:xfrm>
            <a:off x="3905915" y="187659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A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0" name="object 740"/>
          <p:cNvSpPr/>
          <p:nvPr/>
        </p:nvSpPr>
        <p:spPr>
          <a:xfrm>
            <a:off x="3413664" y="187506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A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1" name="object 741"/>
          <p:cNvSpPr/>
          <p:nvPr/>
        </p:nvSpPr>
        <p:spPr>
          <a:xfrm>
            <a:off x="3905915" y="1875069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CA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2" name="object 742"/>
          <p:cNvSpPr/>
          <p:nvPr/>
        </p:nvSpPr>
        <p:spPr>
          <a:xfrm>
            <a:off x="3413664" y="18704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B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3" name="object 743"/>
          <p:cNvSpPr/>
          <p:nvPr/>
        </p:nvSpPr>
        <p:spPr>
          <a:xfrm>
            <a:off x="3905915" y="187049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B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4" name="object 744"/>
          <p:cNvSpPr/>
          <p:nvPr/>
        </p:nvSpPr>
        <p:spPr>
          <a:xfrm>
            <a:off x="3413664" y="18613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B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5" name="object 745"/>
          <p:cNvSpPr/>
          <p:nvPr/>
        </p:nvSpPr>
        <p:spPr>
          <a:xfrm>
            <a:off x="3905915" y="18613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CB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6" name="object 746"/>
          <p:cNvSpPr/>
          <p:nvPr/>
        </p:nvSpPr>
        <p:spPr>
          <a:xfrm>
            <a:off x="3413664" y="185830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B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7" name="object 747"/>
          <p:cNvSpPr/>
          <p:nvPr/>
        </p:nvSpPr>
        <p:spPr>
          <a:xfrm>
            <a:off x="3905915" y="185830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B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8" name="object 748"/>
          <p:cNvSpPr/>
          <p:nvPr/>
        </p:nvSpPr>
        <p:spPr>
          <a:xfrm>
            <a:off x="3413664" y="185373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9" name="object 749"/>
          <p:cNvSpPr/>
          <p:nvPr/>
        </p:nvSpPr>
        <p:spPr>
          <a:xfrm>
            <a:off x="3905915" y="185373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C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0" name="object 750"/>
          <p:cNvSpPr/>
          <p:nvPr/>
        </p:nvSpPr>
        <p:spPr>
          <a:xfrm>
            <a:off x="3413664" y="184458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C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1" name="object 751"/>
          <p:cNvSpPr/>
          <p:nvPr/>
        </p:nvSpPr>
        <p:spPr>
          <a:xfrm>
            <a:off x="3905915" y="184458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C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2" name="object 752"/>
          <p:cNvSpPr/>
          <p:nvPr/>
        </p:nvSpPr>
        <p:spPr>
          <a:xfrm>
            <a:off x="3413664" y="18415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C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3" name="object 753"/>
          <p:cNvSpPr/>
          <p:nvPr/>
        </p:nvSpPr>
        <p:spPr>
          <a:xfrm>
            <a:off x="3905915" y="184154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CC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4" name="object 754"/>
          <p:cNvSpPr/>
          <p:nvPr/>
        </p:nvSpPr>
        <p:spPr>
          <a:xfrm>
            <a:off x="3413664" y="18369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5" name="object 755"/>
          <p:cNvSpPr/>
          <p:nvPr/>
        </p:nvSpPr>
        <p:spPr>
          <a:xfrm>
            <a:off x="3905915" y="183696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6" name="object 756"/>
          <p:cNvSpPr/>
          <p:nvPr/>
        </p:nvSpPr>
        <p:spPr>
          <a:xfrm>
            <a:off x="3413664" y="18278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D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7" name="object 757"/>
          <p:cNvSpPr/>
          <p:nvPr/>
        </p:nvSpPr>
        <p:spPr>
          <a:xfrm>
            <a:off x="3905915" y="18278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CD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8" name="object 758"/>
          <p:cNvSpPr/>
          <p:nvPr/>
        </p:nvSpPr>
        <p:spPr>
          <a:xfrm>
            <a:off x="3413664" y="18232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9" name="object 759"/>
          <p:cNvSpPr/>
          <p:nvPr/>
        </p:nvSpPr>
        <p:spPr>
          <a:xfrm>
            <a:off x="3905915" y="18232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D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0" name="object 760"/>
          <p:cNvSpPr/>
          <p:nvPr/>
        </p:nvSpPr>
        <p:spPr>
          <a:xfrm>
            <a:off x="3413664" y="18186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1" name="object 761"/>
          <p:cNvSpPr/>
          <p:nvPr/>
        </p:nvSpPr>
        <p:spPr>
          <a:xfrm>
            <a:off x="3905915" y="181868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2" name="object 762"/>
          <p:cNvSpPr/>
          <p:nvPr/>
        </p:nvSpPr>
        <p:spPr>
          <a:xfrm>
            <a:off x="3413664" y="18110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3" name="object 763"/>
          <p:cNvSpPr/>
          <p:nvPr/>
        </p:nvSpPr>
        <p:spPr>
          <a:xfrm>
            <a:off x="3905915" y="181106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4" name="object 764"/>
          <p:cNvSpPr/>
          <p:nvPr/>
        </p:nvSpPr>
        <p:spPr>
          <a:xfrm>
            <a:off x="3413664" y="180648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5" name="object 765"/>
          <p:cNvSpPr/>
          <p:nvPr/>
        </p:nvSpPr>
        <p:spPr>
          <a:xfrm>
            <a:off x="3905915" y="180648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6" name="object 766"/>
          <p:cNvSpPr/>
          <p:nvPr/>
        </p:nvSpPr>
        <p:spPr>
          <a:xfrm>
            <a:off x="3413664" y="180191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7" name="object 767"/>
          <p:cNvSpPr/>
          <p:nvPr/>
        </p:nvSpPr>
        <p:spPr>
          <a:xfrm>
            <a:off x="3905915" y="180191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C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8" name="object 768"/>
          <p:cNvSpPr/>
          <p:nvPr/>
        </p:nvSpPr>
        <p:spPr>
          <a:xfrm>
            <a:off x="3413664" y="17942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9" name="object 769"/>
          <p:cNvSpPr/>
          <p:nvPr/>
        </p:nvSpPr>
        <p:spPr>
          <a:xfrm>
            <a:off x="3905915" y="17942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C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0" name="object 770"/>
          <p:cNvSpPr/>
          <p:nvPr/>
        </p:nvSpPr>
        <p:spPr>
          <a:xfrm>
            <a:off x="3413664" y="178972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1" name="object 771"/>
          <p:cNvSpPr/>
          <p:nvPr/>
        </p:nvSpPr>
        <p:spPr>
          <a:xfrm>
            <a:off x="3905915" y="178972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CF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2" name="object 772"/>
          <p:cNvSpPr/>
          <p:nvPr/>
        </p:nvSpPr>
        <p:spPr>
          <a:xfrm>
            <a:off x="3413664" y="17851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3" name="object 773"/>
          <p:cNvSpPr/>
          <p:nvPr/>
        </p:nvSpPr>
        <p:spPr>
          <a:xfrm>
            <a:off x="3905915" y="178515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4" name="object 774"/>
          <p:cNvSpPr/>
          <p:nvPr/>
        </p:nvSpPr>
        <p:spPr>
          <a:xfrm>
            <a:off x="3413664" y="177753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0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5" name="object 775"/>
          <p:cNvSpPr/>
          <p:nvPr/>
        </p:nvSpPr>
        <p:spPr>
          <a:xfrm>
            <a:off x="3905915" y="177753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0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6" name="object 776"/>
          <p:cNvSpPr/>
          <p:nvPr/>
        </p:nvSpPr>
        <p:spPr>
          <a:xfrm>
            <a:off x="3413664" y="177296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D0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7" name="object 777"/>
          <p:cNvSpPr/>
          <p:nvPr/>
        </p:nvSpPr>
        <p:spPr>
          <a:xfrm>
            <a:off x="3905915" y="177296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1"/>
                </a:lnTo>
                <a:lnTo>
                  <a:pt x="3048" y="4571"/>
                </a:lnTo>
                <a:lnTo>
                  <a:pt x="3048" y="0"/>
                </a:lnTo>
                <a:close/>
              </a:path>
            </a:pathLst>
          </a:custGeom>
          <a:solidFill>
            <a:srgbClr val="FFD0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8" name="object 778"/>
          <p:cNvSpPr/>
          <p:nvPr/>
        </p:nvSpPr>
        <p:spPr>
          <a:xfrm>
            <a:off x="3413664" y="176838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1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9" name="object 779"/>
          <p:cNvSpPr/>
          <p:nvPr/>
        </p:nvSpPr>
        <p:spPr>
          <a:xfrm>
            <a:off x="3905915" y="1768389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1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0" name="object 780"/>
          <p:cNvSpPr/>
          <p:nvPr/>
        </p:nvSpPr>
        <p:spPr>
          <a:xfrm>
            <a:off x="3413664" y="17592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1" name="object 781"/>
          <p:cNvSpPr/>
          <p:nvPr/>
        </p:nvSpPr>
        <p:spPr>
          <a:xfrm>
            <a:off x="3905915" y="175924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2" name="object 782"/>
          <p:cNvSpPr/>
          <p:nvPr/>
        </p:nvSpPr>
        <p:spPr>
          <a:xfrm>
            <a:off x="3413664" y="17561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D1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3" name="object 783"/>
          <p:cNvSpPr/>
          <p:nvPr/>
        </p:nvSpPr>
        <p:spPr>
          <a:xfrm>
            <a:off x="3905915" y="17561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D1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4" name="object 784"/>
          <p:cNvSpPr/>
          <p:nvPr/>
        </p:nvSpPr>
        <p:spPr>
          <a:xfrm>
            <a:off x="3413664" y="17485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5" name="object 785"/>
          <p:cNvSpPr/>
          <p:nvPr/>
        </p:nvSpPr>
        <p:spPr>
          <a:xfrm>
            <a:off x="3905915" y="17485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D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6" name="object 786"/>
          <p:cNvSpPr/>
          <p:nvPr/>
        </p:nvSpPr>
        <p:spPr>
          <a:xfrm>
            <a:off x="3413664" y="17379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2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7" name="object 787"/>
          <p:cNvSpPr/>
          <p:nvPr/>
        </p:nvSpPr>
        <p:spPr>
          <a:xfrm>
            <a:off x="3905915" y="173790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2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8" name="object 788"/>
          <p:cNvSpPr/>
          <p:nvPr/>
        </p:nvSpPr>
        <p:spPr>
          <a:xfrm>
            <a:off x="3413664" y="17287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3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9" name="object 789"/>
          <p:cNvSpPr/>
          <p:nvPr/>
        </p:nvSpPr>
        <p:spPr>
          <a:xfrm>
            <a:off x="3905915" y="17287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3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0" name="object 790"/>
          <p:cNvSpPr/>
          <p:nvPr/>
        </p:nvSpPr>
        <p:spPr>
          <a:xfrm>
            <a:off x="3413664" y="17211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3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1" name="object 791"/>
          <p:cNvSpPr/>
          <p:nvPr/>
        </p:nvSpPr>
        <p:spPr>
          <a:xfrm>
            <a:off x="3905915" y="17211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3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2" name="object 792"/>
          <p:cNvSpPr/>
          <p:nvPr/>
        </p:nvSpPr>
        <p:spPr>
          <a:xfrm>
            <a:off x="3413664" y="17180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D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3" name="object 793"/>
          <p:cNvSpPr/>
          <p:nvPr/>
        </p:nvSpPr>
        <p:spPr>
          <a:xfrm>
            <a:off x="3905915" y="171809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D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4" name="object 794"/>
          <p:cNvSpPr/>
          <p:nvPr/>
        </p:nvSpPr>
        <p:spPr>
          <a:xfrm>
            <a:off x="3413664" y="170590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5" name="object 795"/>
          <p:cNvSpPr/>
          <p:nvPr/>
        </p:nvSpPr>
        <p:spPr>
          <a:xfrm>
            <a:off x="3905915" y="1705905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6" name="object 796"/>
          <p:cNvSpPr/>
          <p:nvPr/>
        </p:nvSpPr>
        <p:spPr>
          <a:xfrm>
            <a:off x="3413664" y="169980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4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7" name="object 797"/>
          <p:cNvSpPr/>
          <p:nvPr/>
        </p:nvSpPr>
        <p:spPr>
          <a:xfrm>
            <a:off x="3905915" y="169980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D4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8" name="object 798"/>
          <p:cNvSpPr/>
          <p:nvPr/>
        </p:nvSpPr>
        <p:spPr>
          <a:xfrm>
            <a:off x="3413664" y="16937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9" name="object 799"/>
          <p:cNvSpPr/>
          <p:nvPr/>
        </p:nvSpPr>
        <p:spPr>
          <a:xfrm>
            <a:off x="3905915" y="169371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0" name="object 800"/>
          <p:cNvSpPr/>
          <p:nvPr/>
        </p:nvSpPr>
        <p:spPr>
          <a:xfrm>
            <a:off x="3413664" y="168152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1" name="object 801"/>
          <p:cNvSpPr/>
          <p:nvPr/>
        </p:nvSpPr>
        <p:spPr>
          <a:xfrm>
            <a:off x="3905915" y="168152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2" name="object 802"/>
          <p:cNvSpPr/>
          <p:nvPr/>
        </p:nvSpPr>
        <p:spPr>
          <a:xfrm>
            <a:off x="3413664" y="16739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3" name="object 803"/>
          <p:cNvSpPr/>
          <p:nvPr/>
        </p:nvSpPr>
        <p:spPr>
          <a:xfrm>
            <a:off x="3905915" y="16739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4" name="object 804"/>
          <p:cNvSpPr/>
          <p:nvPr/>
        </p:nvSpPr>
        <p:spPr>
          <a:xfrm>
            <a:off x="3413664" y="166780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6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5" name="object 805"/>
          <p:cNvSpPr/>
          <p:nvPr/>
        </p:nvSpPr>
        <p:spPr>
          <a:xfrm>
            <a:off x="3905915" y="166780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6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6" name="object 806"/>
          <p:cNvSpPr/>
          <p:nvPr/>
        </p:nvSpPr>
        <p:spPr>
          <a:xfrm>
            <a:off x="3413664" y="165713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7" name="object 807"/>
          <p:cNvSpPr/>
          <p:nvPr/>
        </p:nvSpPr>
        <p:spPr>
          <a:xfrm>
            <a:off x="3905915" y="165713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8" name="object 808"/>
          <p:cNvSpPr/>
          <p:nvPr/>
        </p:nvSpPr>
        <p:spPr>
          <a:xfrm>
            <a:off x="3413664" y="16525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9" name="object 809"/>
          <p:cNvSpPr/>
          <p:nvPr/>
        </p:nvSpPr>
        <p:spPr>
          <a:xfrm>
            <a:off x="3905915" y="1652565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D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0" name="object 810"/>
          <p:cNvSpPr/>
          <p:nvPr/>
        </p:nvSpPr>
        <p:spPr>
          <a:xfrm>
            <a:off x="3413664" y="164646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1" name="object 811"/>
          <p:cNvSpPr/>
          <p:nvPr/>
        </p:nvSpPr>
        <p:spPr>
          <a:xfrm>
            <a:off x="3905915" y="1646469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2" name="object 812"/>
          <p:cNvSpPr/>
          <p:nvPr/>
        </p:nvSpPr>
        <p:spPr>
          <a:xfrm>
            <a:off x="3413664" y="163580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3" name="object 813"/>
          <p:cNvSpPr/>
          <p:nvPr/>
        </p:nvSpPr>
        <p:spPr>
          <a:xfrm>
            <a:off x="3905915" y="163580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4" name="object 814"/>
          <p:cNvSpPr/>
          <p:nvPr/>
        </p:nvSpPr>
        <p:spPr>
          <a:xfrm>
            <a:off x="3413664" y="162513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5" name="object 815"/>
          <p:cNvSpPr/>
          <p:nvPr/>
        </p:nvSpPr>
        <p:spPr>
          <a:xfrm>
            <a:off x="3905915" y="162513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6" name="object 816"/>
          <p:cNvSpPr/>
          <p:nvPr/>
        </p:nvSpPr>
        <p:spPr>
          <a:xfrm>
            <a:off x="3413664" y="161903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8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7" name="object 817"/>
          <p:cNvSpPr/>
          <p:nvPr/>
        </p:nvSpPr>
        <p:spPr>
          <a:xfrm>
            <a:off x="3905915" y="161903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8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8" name="object 818"/>
          <p:cNvSpPr/>
          <p:nvPr/>
        </p:nvSpPr>
        <p:spPr>
          <a:xfrm>
            <a:off x="3413664" y="161598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9" name="object 819"/>
          <p:cNvSpPr/>
          <p:nvPr/>
        </p:nvSpPr>
        <p:spPr>
          <a:xfrm>
            <a:off x="3905915" y="161598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0" name="object 820"/>
          <p:cNvSpPr/>
          <p:nvPr/>
        </p:nvSpPr>
        <p:spPr>
          <a:xfrm>
            <a:off x="3413664" y="160532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1" name="object 821"/>
          <p:cNvSpPr/>
          <p:nvPr/>
        </p:nvSpPr>
        <p:spPr>
          <a:xfrm>
            <a:off x="3905915" y="160532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9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2" name="object 822"/>
          <p:cNvSpPr/>
          <p:nvPr/>
        </p:nvSpPr>
        <p:spPr>
          <a:xfrm>
            <a:off x="3413664" y="15977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9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3" name="object 823"/>
          <p:cNvSpPr/>
          <p:nvPr/>
        </p:nvSpPr>
        <p:spPr>
          <a:xfrm>
            <a:off x="3905915" y="1597701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9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4" name="object 824"/>
          <p:cNvSpPr/>
          <p:nvPr/>
        </p:nvSpPr>
        <p:spPr>
          <a:xfrm>
            <a:off x="3413664" y="159465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5" name="object 825"/>
          <p:cNvSpPr/>
          <p:nvPr/>
        </p:nvSpPr>
        <p:spPr>
          <a:xfrm>
            <a:off x="3905915" y="159465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6" name="object 826"/>
          <p:cNvSpPr/>
          <p:nvPr/>
        </p:nvSpPr>
        <p:spPr>
          <a:xfrm>
            <a:off x="3413664" y="15855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A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7" name="object 827"/>
          <p:cNvSpPr/>
          <p:nvPr/>
        </p:nvSpPr>
        <p:spPr>
          <a:xfrm>
            <a:off x="3905915" y="15855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3"/>
                </a:lnTo>
                <a:lnTo>
                  <a:pt x="3048" y="9143"/>
                </a:lnTo>
                <a:lnTo>
                  <a:pt x="3048" y="0"/>
                </a:lnTo>
                <a:close/>
              </a:path>
            </a:pathLst>
          </a:custGeom>
          <a:solidFill>
            <a:srgbClr val="FFDA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8" name="object 828"/>
          <p:cNvSpPr/>
          <p:nvPr/>
        </p:nvSpPr>
        <p:spPr>
          <a:xfrm>
            <a:off x="3413664" y="157484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A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9" name="object 829"/>
          <p:cNvSpPr/>
          <p:nvPr/>
        </p:nvSpPr>
        <p:spPr>
          <a:xfrm>
            <a:off x="3905915" y="157484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DA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0" name="object 830"/>
          <p:cNvSpPr/>
          <p:nvPr/>
        </p:nvSpPr>
        <p:spPr>
          <a:xfrm>
            <a:off x="3413664" y="157179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1" name="object 831"/>
          <p:cNvSpPr/>
          <p:nvPr/>
        </p:nvSpPr>
        <p:spPr>
          <a:xfrm>
            <a:off x="3905915" y="157179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2" name="object 832"/>
          <p:cNvSpPr/>
          <p:nvPr/>
        </p:nvSpPr>
        <p:spPr>
          <a:xfrm>
            <a:off x="3413664" y="15641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3" name="object 833"/>
          <p:cNvSpPr/>
          <p:nvPr/>
        </p:nvSpPr>
        <p:spPr>
          <a:xfrm>
            <a:off x="3905915" y="15641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4" name="object 834"/>
          <p:cNvSpPr/>
          <p:nvPr/>
        </p:nvSpPr>
        <p:spPr>
          <a:xfrm>
            <a:off x="3413664" y="15535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B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5" name="object 835"/>
          <p:cNvSpPr/>
          <p:nvPr/>
        </p:nvSpPr>
        <p:spPr>
          <a:xfrm>
            <a:off x="3905915" y="15535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B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6" name="object 836"/>
          <p:cNvSpPr/>
          <p:nvPr/>
        </p:nvSpPr>
        <p:spPr>
          <a:xfrm>
            <a:off x="3413664" y="15504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B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7" name="object 837"/>
          <p:cNvSpPr/>
          <p:nvPr/>
        </p:nvSpPr>
        <p:spPr>
          <a:xfrm>
            <a:off x="3905915" y="15504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B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8" name="object 838"/>
          <p:cNvSpPr/>
          <p:nvPr/>
        </p:nvSpPr>
        <p:spPr>
          <a:xfrm>
            <a:off x="3413664" y="153978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C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9" name="object 839"/>
          <p:cNvSpPr/>
          <p:nvPr/>
        </p:nvSpPr>
        <p:spPr>
          <a:xfrm>
            <a:off x="3905915" y="153978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C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0" name="object 840"/>
          <p:cNvSpPr/>
          <p:nvPr/>
        </p:nvSpPr>
        <p:spPr>
          <a:xfrm>
            <a:off x="3413664" y="153369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1" name="object 841"/>
          <p:cNvSpPr/>
          <p:nvPr/>
        </p:nvSpPr>
        <p:spPr>
          <a:xfrm>
            <a:off x="3905915" y="153369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2" name="object 842"/>
          <p:cNvSpPr/>
          <p:nvPr/>
        </p:nvSpPr>
        <p:spPr>
          <a:xfrm>
            <a:off x="3413664" y="152759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D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3" name="object 843"/>
          <p:cNvSpPr/>
          <p:nvPr/>
        </p:nvSpPr>
        <p:spPr>
          <a:xfrm>
            <a:off x="3905915" y="1527597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DD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4" name="object 844"/>
          <p:cNvSpPr/>
          <p:nvPr/>
        </p:nvSpPr>
        <p:spPr>
          <a:xfrm>
            <a:off x="3413664" y="151692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5" name="object 845"/>
          <p:cNvSpPr/>
          <p:nvPr/>
        </p:nvSpPr>
        <p:spPr>
          <a:xfrm>
            <a:off x="3905915" y="151692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D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6" name="object 846"/>
          <p:cNvSpPr/>
          <p:nvPr/>
        </p:nvSpPr>
        <p:spPr>
          <a:xfrm>
            <a:off x="3413664" y="1515405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D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7" name="object 847"/>
          <p:cNvSpPr/>
          <p:nvPr/>
        </p:nvSpPr>
        <p:spPr>
          <a:xfrm>
            <a:off x="3905915" y="1515405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D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8" name="object 848"/>
          <p:cNvSpPr/>
          <p:nvPr/>
        </p:nvSpPr>
        <p:spPr>
          <a:xfrm>
            <a:off x="3413664" y="150321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9" name="object 849"/>
          <p:cNvSpPr/>
          <p:nvPr/>
        </p:nvSpPr>
        <p:spPr>
          <a:xfrm>
            <a:off x="3905915" y="1503213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0" name="object 850"/>
          <p:cNvSpPr/>
          <p:nvPr/>
        </p:nvSpPr>
        <p:spPr>
          <a:xfrm>
            <a:off x="3413664" y="15001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1" name="object 851"/>
          <p:cNvSpPr/>
          <p:nvPr/>
        </p:nvSpPr>
        <p:spPr>
          <a:xfrm>
            <a:off x="3905915" y="15001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D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2" name="object 852"/>
          <p:cNvSpPr/>
          <p:nvPr/>
        </p:nvSpPr>
        <p:spPr>
          <a:xfrm>
            <a:off x="3413664" y="14925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3" name="object 853"/>
          <p:cNvSpPr/>
          <p:nvPr/>
        </p:nvSpPr>
        <p:spPr>
          <a:xfrm>
            <a:off x="3905915" y="149254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D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4" name="object 854"/>
          <p:cNvSpPr/>
          <p:nvPr/>
        </p:nvSpPr>
        <p:spPr>
          <a:xfrm>
            <a:off x="3413664" y="14834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F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5" name="object 855"/>
          <p:cNvSpPr/>
          <p:nvPr/>
        </p:nvSpPr>
        <p:spPr>
          <a:xfrm>
            <a:off x="3905915" y="14834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DF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6" name="object 856"/>
          <p:cNvSpPr/>
          <p:nvPr/>
        </p:nvSpPr>
        <p:spPr>
          <a:xfrm>
            <a:off x="3413664" y="147273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0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7" name="object 857"/>
          <p:cNvSpPr/>
          <p:nvPr/>
        </p:nvSpPr>
        <p:spPr>
          <a:xfrm>
            <a:off x="3905915" y="147273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0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8" name="object 858"/>
          <p:cNvSpPr/>
          <p:nvPr/>
        </p:nvSpPr>
        <p:spPr>
          <a:xfrm>
            <a:off x="3413664" y="14651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0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9" name="object 859"/>
          <p:cNvSpPr/>
          <p:nvPr/>
        </p:nvSpPr>
        <p:spPr>
          <a:xfrm>
            <a:off x="3905915" y="146511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0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0" name="object 860"/>
          <p:cNvSpPr/>
          <p:nvPr/>
        </p:nvSpPr>
        <p:spPr>
          <a:xfrm>
            <a:off x="3413664" y="14620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1" name="object 861"/>
          <p:cNvSpPr/>
          <p:nvPr/>
        </p:nvSpPr>
        <p:spPr>
          <a:xfrm>
            <a:off x="3905915" y="146206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2" name="object 862"/>
          <p:cNvSpPr/>
          <p:nvPr/>
        </p:nvSpPr>
        <p:spPr>
          <a:xfrm>
            <a:off x="3413664" y="14513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1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3" name="object 863"/>
          <p:cNvSpPr/>
          <p:nvPr/>
        </p:nvSpPr>
        <p:spPr>
          <a:xfrm>
            <a:off x="3905915" y="14513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1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4" name="object 864"/>
          <p:cNvSpPr/>
          <p:nvPr/>
        </p:nvSpPr>
        <p:spPr>
          <a:xfrm>
            <a:off x="3413664" y="14437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1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5" name="object 865"/>
          <p:cNvSpPr/>
          <p:nvPr/>
        </p:nvSpPr>
        <p:spPr>
          <a:xfrm>
            <a:off x="3905915" y="144377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1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6" name="object 866"/>
          <p:cNvSpPr/>
          <p:nvPr/>
        </p:nvSpPr>
        <p:spPr>
          <a:xfrm>
            <a:off x="3413664" y="144225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7" name="object 867"/>
          <p:cNvSpPr/>
          <p:nvPr/>
        </p:nvSpPr>
        <p:spPr>
          <a:xfrm>
            <a:off x="3905915" y="144225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8" name="object 868"/>
          <p:cNvSpPr/>
          <p:nvPr/>
        </p:nvSpPr>
        <p:spPr>
          <a:xfrm>
            <a:off x="3413664" y="14315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2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9" name="object 869"/>
          <p:cNvSpPr/>
          <p:nvPr/>
        </p:nvSpPr>
        <p:spPr>
          <a:xfrm>
            <a:off x="3905915" y="143158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2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0" name="object 870"/>
          <p:cNvSpPr/>
          <p:nvPr/>
        </p:nvSpPr>
        <p:spPr>
          <a:xfrm>
            <a:off x="3413664" y="14209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2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1" name="object 871"/>
          <p:cNvSpPr/>
          <p:nvPr/>
        </p:nvSpPr>
        <p:spPr>
          <a:xfrm>
            <a:off x="3905915" y="142091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2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2" name="object 872"/>
          <p:cNvSpPr/>
          <p:nvPr/>
        </p:nvSpPr>
        <p:spPr>
          <a:xfrm>
            <a:off x="3413664" y="141939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3" name="object 873"/>
          <p:cNvSpPr/>
          <p:nvPr/>
        </p:nvSpPr>
        <p:spPr>
          <a:xfrm>
            <a:off x="3905915" y="1419393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3048" y="0"/>
                </a:moveTo>
                <a:lnTo>
                  <a:pt x="0" y="0"/>
                </a:lnTo>
                <a:lnTo>
                  <a:pt x="0" y="1524"/>
                </a:lnTo>
                <a:lnTo>
                  <a:pt x="3048" y="1524"/>
                </a:lnTo>
                <a:lnTo>
                  <a:pt x="3048" y="0"/>
                </a:lnTo>
                <a:close/>
              </a:path>
            </a:pathLst>
          </a:custGeom>
          <a:solidFill>
            <a:srgbClr val="FFE2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4" name="object 874"/>
          <p:cNvSpPr/>
          <p:nvPr/>
        </p:nvSpPr>
        <p:spPr>
          <a:xfrm>
            <a:off x="3413664" y="14117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5" name="object 875"/>
          <p:cNvSpPr/>
          <p:nvPr/>
        </p:nvSpPr>
        <p:spPr>
          <a:xfrm>
            <a:off x="3905915" y="141177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6" name="object 876"/>
          <p:cNvSpPr/>
          <p:nvPr/>
        </p:nvSpPr>
        <p:spPr>
          <a:xfrm>
            <a:off x="3413664" y="14011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7" name="object 877"/>
          <p:cNvSpPr/>
          <p:nvPr/>
        </p:nvSpPr>
        <p:spPr>
          <a:xfrm>
            <a:off x="3905915" y="1401105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8" name="object 878"/>
          <p:cNvSpPr/>
          <p:nvPr/>
        </p:nvSpPr>
        <p:spPr>
          <a:xfrm>
            <a:off x="3413664" y="13980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E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9" name="object 879"/>
          <p:cNvSpPr/>
          <p:nvPr/>
        </p:nvSpPr>
        <p:spPr>
          <a:xfrm>
            <a:off x="3905915" y="13980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E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0" name="object 880"/>
          <p:cNvSpPr/>
          <p:nvPr/>
        </p:nvSpPr>
        <p:spPr>
          <a:xfrm>
            <a:off x="3413664" y="13904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4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1" name="object 881"/>
          <p:cNvSpPr/>
          <p:nvPr/>
        </p:nvSpPr>
        <p:spPr>
          <a:xfrm>
            <a:off x="3905915" y="139043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4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2" name="object 882"/>
          <p:cNvSpPr/>
          <p:nvPr/>
        </p:nvSpPr>
        <p:spPr>
          <a:xfrm>
            <a:off x="3413664" y="137976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3" name="object 883"/>
          <p:cNvSpPr/>
          <p:nvPr/>
        </p:nvSpPr>
        <p:spPr>
          <a:xfrm>
            <a:off x="3905915" y="137976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4" name="object 884"/>
          <p:cNvSpPr/>
          <p:nvPr/>
        </p:nvSpPr>
        <p:spPr>
          <a:xfrm>
            <a:off x="3413664" y="13706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5" name="object 885"/>
          <p:cNvSpPr/>
          <p:nvPr/>
        </p:nvSpPr>
        <p:spPr>
          <a:xfrm>
            <a:off x="3905915" y="137062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6" name="object 886"/>
          <p:cNvSpPr/>
          <p:nvPr/>
        </p:nvSpPr>
        <p:spPr>
          <a:xfrm>
            <a:off x="3413664" y="13630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7" name="object 887"/>
          <p:cNvSpPr/>
          <p:nvPr/>
        </p:nvSpPr>
        <p:spPr>
          <a:xfrm>
            <a:off x="3905915" y="136300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8" name="object 888"/>
          <p:cNvSpPr/>
          <p:nvPr/>
        </p:nvSpPr>
        <p:spPr>
          <a:xfrm>
            <a:off x="3413664" y="13599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E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9" name="object 889"/>
          <p:cNvSpPr/>
          <p:nvPr/>
        </p:nvSpPr>
        <p:spPr>
          <a:xfrm>
            <a:off x="3905915" y="135995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7"/>
                </a:lnTo>
                <a:lnTo>
                  <a:pt x="3048" y="3047"/>
                </a:lnTo>
                <a:lnTo>
                  <a:pt x="3048" y="0"/>
                </a:lnTo>
                <a:close/>
              </a:path>
            </a:pathLst>
          </a:custGeom>
          <a:solidFill>
            <a:srgbClr val="FFE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0" name="object 890"/>
          <p:cNvSpPr/>
          <p:nvPr/>
        </p:nvSpPr>
        <p:spPr>
          <a:xfrm>
            <a:off x="3413664" y="134928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1" name="object 891"/>
          <p:cNvSpPr/>
          <p:nvPr/>
        </p:nvSpPr>
        <p:spPr>
          <a:xfrm>
            <a:off x="3905915" y="1349289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8"/>
                </a:lnTo>
                <a:lnTo>
                  <a:pt x="3048" y="10668"/>
                </a:lnTo>
                <a:lnTo>
                  <a:pt x="3048" y="0"/>
                </a:lnTo>
                <a:close/>
              </a:path>
            </a:pathLst>
          </a:custGeom>
          <a:solidFill>
            <a:srgbClr val="FFE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2" name="object 892"/>
          <p:cNvSpPr/>
          <p:nvPr/>
        </p:nvSpPr>
        <p:spPr>
          <a:xfrm>
            <a:off x="3413664" y="13416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3" name="object 893"/>
          <p:cNvSpPr/>
          <p:nvPr/>
        </p:nvSpPr>
        <p:spPr>
          <a:xfrm>
            <a:off x="3905915" y="134166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6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4" name="object 894"/>
          <p:cNvSpPr/>
          <p:nvPr/>
        </p:nvSpPr>
        <p:spPr>
          <a:xfrm>
            <a:off x="3413664" y="133557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5" name="object 895"/>
          <p:cNvSpPr/>
          <p:nvPr/>
        </p:nvSpPr>
        <p:spPr>
          <a:xfrm>
            <a:off x="3905915" y="1335573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6"/>
                </a:lnTo>
                <a:lnTo>
                  <a:pt x="3048" y="6096"/>
                </a:lnTo>
                <a:lnTo>
                  <a:pt x="3048" y="0"/>
                </a:lnTo>
                <a:close/>
              </a:path>
            </a:pathLst>
          </a:custGeom>
          <a:solidFill>
            <a:srgbClr val="FFE7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6" name="object 896"/>
          <p:cNvSpPr/>
          <p:nvPr/>
        </p:nvSpPr>
        <p:spPr>
          <a:xfrm>
            <a:off x="3413664" y="132338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7" name="object 897"/>
          <p:cNvSpPr/>
          <p:nvPr/>
        </p:nvSpPr>
        <p:spPr>
          <a:xfrm>
            <a:off x="3905915" y="1323381"/>
            <a:ext cx="3175" cy="12700"/>
          </a:xfrm>
          <a:custGeom>
            <a:avLst/>
            <a:gdLst/>
            <a:ahLst/>
            <a:cxnLst/>
            <a:rect l="l" t="t" r="r" b="b"/>
            <a:pathLst>
              <a:path w="3175" h="12700">
                <a:moveTo>
                  <a:pt x="3048" y="0"/>
                </a:moveTo>
                <a:lnTo>
                  <a:pt x="0" y="0"/>
                </a:lnTo>
                <a:lnTo>
                  <a:pt x="0" y="12192"/>
                </a:lnTo>
                <a:lnTo>
                  <a:pt x="3048" y="12192"/>
                </a:lnTo>
                <a:lnTo>
                  <a:pt x="3048" y="0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8" name="object 898"/>
          <p:cNvSpPr/>
          <p:nvPr/>
        </p:nvSpPr>
        <p:spPr>
          <a:xfrm>
            <a:off x="3413664" y="131728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E7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9" name="object 899"/>
          <p:cNvSpPr/>
          <p:nvPr/>
        </p:nvSpPr>
        <p:spPr>
          <a:xfrm>
            <a:off x="3905915" y="1317285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3048" y="0"/>
                </a:moveTo>
                <a:lnTo>
                  <a:pt x="0" y="0"/>
                </a:lnTo>
                <a:lnTo>
                  <a:pt x="0" y="6095"/>
                </a:lnTo>
                <a:lnTo>
                  <a:pt x="3048" y="6095"/>
                </a:lnTo>
                <a:lnTo>
                  <a:pt x="3048" y="0"/>
                </a:lnTo>
                <a:close/>
              </a:path>
            </a:pathLst>
          </a:custGeom>
          <a:solidFill>
            <a:srgbClr val="FFE7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0" name="object 900"/>
          <p:cNvSpPr/>
          <p:nvPr/>
        </p:nvSpPr>
        <p:spPr>
          <a:xfrm>
            <a:off x="3413664" y="13096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8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1" name="object 901"/>
          <p:cNvSpPr/>
          <p:nvPr/>
        </p:nvSpPr>
        <p:spPr>
          <a:xfrm>
            <a:off x="3905915" y="13096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8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2" name="object 902"/>
          <p:cNvSpPr/>
          <p:nvPr/>
        </p:nvSpPr>
        <p:spPr>
          <a:xfrm>
            <a:off x="3413664" y="12989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3" name="object 903"/>
          <p:cNvSpPr/>
          <p:nvPr/>
        </p:nvSpPr>
        <p:spPr>
          <a:xfrm>
            <a:off x="3905915" y="1298997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4" name="object 904"/>
          <p:cNvSpPr/>
          <p:nvPr/>
        </p:nvSpPr>
        <p:spPr>
          <a:xfrm>
            <a:off x="3413664" y="129594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5" name="object 905"/>
          <p:cNvSpPr/>
          <p:nvPr/>
        </p:nvSpPr>
        <p:spPr>
          <a:xfrm>
            <a:off x="3905915" y="129594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6" name="object 906"/>
          <p:cNvSpPr/>
          <p:nvPr/>
        </p:nvSpPr>
        <p:spPr>
          <a:xfrm>
            <a:off x="3413664" y="12883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9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7" name="object 907"/>
          <p:cNvSpPr/>
          <p:nvPr/>
        </p:nvSpPr>
        <p:spPr>
          <a:xfrm>
            <a:off x="3905915" y="1288329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20"/>
                </a:lnTo>
                <a:lnTo>
                  <a:pt x="3048" y="7620"/>
                </a:lnTo>
                <a:lnTo>
                  <a:pt x="3048" y="0"/>
                </a:lnTo>
                <a:close/>
              </a:path>
            </a:pathLst>
          </a:custGeom>
          <a:solidFill>
            <a:srgbClr val="FFE9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8" name="object 908"/>
          <p:cNvSpPr/>
          <p:nvPr/>
        </p:nvSpPr>
        <p:spPr>
          <a:xfrm>
            <a:off x="3413664" y="127766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9" name="object 909"/>
          <p:cNvSpPr/>
          <p:nvPr/>
        </p:nvSpPr>
        <p:spPr>
          <a:xfrm>
            <a:off x="3905915" y="1277661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8" y="0"/>
                </a:moveTo>
                <a:lnTo>
                  <a:pt x="0" y="0"/>
                </a:lnTo>
                <a:lnTo>
                  <a:pt x="0" y="10667"/>
                </a:lnTo>
                <a:lnTo>
                  <a:pt x="3048" y="10667"/>
                </a:lnTo>
                <a:lnTo>
                  <a:pt x="3048" y="0"/>
                </a:lnTo>
                <a:close/>
              </a:path>
            </a:pathLst>
          </a:custGeom>
          <a:solidFill>
            <a:srgbClr val="FFE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0" name="object 910"/>
          <p:cNvSpPr/>
          <p:nvPr/>
        </p:nvSpPr>
        <p:spPr>
          <a:xfrm>
            <a:off x="3413664" y="12685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1" name="object 911"/>
          <p:cNvSpPr/>
          <p:nvPr/>
        </p:nvSpPr>
        <p:spPr>
          <a:xfrm>
            <a:off x="3905915" y="12685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8" y="0"/>
                </a:moveTo>
                <a:lnTo>
                  <a:pt x="0" y="0"/>
                </a:lnTo>
                <a:lnTo>
                  <a:pt x="0" y="9144"/>
                </a:lnTo>
                <a:lnTo>
                  <a:pt x="3048" y="9144"/>
                </a:lnTo>
                <a:lnTo>
                  <a:pt x="3048" y="0"/>
                </a:lnTo>
                <a:close/>
              </a:path>
            </a:pathLst>
          </a:custGeom>
          <a:solidFill>
            <a:srgbClr val="FFE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2" name="object 912"/>
          <p:cNvSpPr/>
          <p:nvPr/>
        </p:nvSpPr>
        <p:spPr>
          <a:xfrm>
            <a:off x="3413664" y="12608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3" name="object 913"/>
          <p:cNvSpPr/>
          <p:nvPr/>
        </p:nvSpPr>
        <p:spPr>
          <a:xfrm>
            <a:off x="3905915" y="1260897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8" y="0"/>
                </a:moveTo>
                <a:lnTo>
                  <a:pt x="0" y="0"/>
                </a:lnTo>
                <a:lnTo>
                  <a:pt x="0" y="7619"/>
                </a:lnTo>
                <a:lnTo>
                  <a:pt x="3048" y="7619"/>
                </a:lnTo>
                <a:lnTo>
                  <a:pt x="3048" y="0"/>
                </a:lnTo>
                <a:close/>
              </a:path>
            </a:pathLst>
          </a:custGeom>
          <a:solidFill>
            <a:srgbClr val="FFE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4" name="object 914"/>
          <p:cNvSpPr/>
          <p:nvPr/>
        </p:nvSpPr>
        <p:spPr>
          <a:xfrm>
            <a:off x="3413664" y="125784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5" name="object 915"/>
          <p:cNvSpPr/>
          <p:nvPr/>
        </p:nvSpPr>
        <p:spPr>
          <a:xfrm>
            <a:off x="3905915" y="125784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8" y="0"/>
                </a:move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3048" y="0"/>
                </a:lnTo>
                <a:close/>
              </a:path>
            </a:pathLst>
          </a:custGeom>
          <a:solidFill>
            <a:srgbClr val="FFE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6" name="object 916"/>
          <p:cNvSpPr/>
          <p:nvPr/>
        </p:nvSpPr>
        <p:spPr>
          <a:xfrm>
            <a:off x="3413664" y="1253150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0" y="5079"/>
                </a:moveTo>
                <a:lnTo>
                  <a:pt x="3048" y="5079"/>
                </a:lnTo>
                <a:lnTo>
                  <a:pt x="3048" y="0"/>
                </a:lnTo>
                <a:lnTo>
                  <a:pt x="0" y="0"/>
                </a:lnTo>
                <a:lnTo>
                  <a:pt x="0" y="5079"/>
                </a:lnTo>
                <a:close/>
              </a:path>
            </a:pathLst>
          </a:custGeom>
          <a:solidFill>
            <a:srgbClr val="FFE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7" name="object 917"/>
          <p:cNvSpPr/>
          <p:nvPr/>
        </p:nvSpPr>
        <p:spPr>
          <a:xfrm>
            <a:off x="3413664" y="125188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8" name="object 918"/>
          <p:cNvSpPr/>
          <p:nvPr/>
        </p:nvSpPr>
        <p:spPr>
          <a:xfrm>
            <a:off x="3905915" y="1253277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FFE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9" name="object 919"/>
          <p:cNvSpPr/>
          <p:nvPr/>
        </p:nvSpPr>
        <p:spPr>
          <a:xfrm>
            <a:off x="3416711" y="1252134"/>
            <a:ext cx="489584" cy="0"/>
          </a:xfrm>
          <a:custGeom>
            <a:avLst/>
            <a:gdLst/>
            <a:ahLst/>
            <a:cxnLst/>
            <a:rect l="l" t="t" r="r" b="b"/>
            <a:pathLst>
              <a:path w="489585">
                <a:moveTo>
                  <a:pt x="0" y="0"/>
                </a:moveTo>
                <a:lnTo>
                  <a:pt x="489203" y="0"/>
                </a:lnTo>
              </a:path>
            </a:pathLst>
          </a:custGeom>
          <a:ln w="3175">
            <a:solidFill>
              <a:srgbClr val="F692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0" name="object 920"/>
          <p:cNvSpPr/>
          <p:nvPr/>
        </p:nvSpPr>
        <p:spPr>
          <a:xfrm>
            <a:off x="3416711" y="12532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4571">
            <a:solidFill>
              <a:srgbClr val="F692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1" name="object 921"/>
          <p:cNvSpPr/>
          <p:nvPr/>
        </p:nvSpPr>
        <p:spPr>
          <a:xfrm>
            <a:off x="3907058" y="1253277"/>
            <a:ext cx="0" cy="818515"/>
          </a:xfrm>
          <a:custGeom>
            <a:avLst/>
            <a:gdLst/>
            <a:ahLst/>
            <a:cxnLst/>
            <a:rect l="l" t="t" r="r" b="b"/>
            <a:pathLst>
              <a:path h="818514">
                <a:moveTo>
                  <a:pt x="0" y="0"/>
                </a:moveTo>
                <a:lnTo>
                  <a:pt x="0" y="818387"/>
                </a:lnTo>
              </a:path>
            </a:pathLst>
          </a:custGeom>
          <a:ln w="3175">
            <a:solidFill>
              <a:srgbClr val="F692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2" name="object 922"/>
          <p:cNvSpPr/>
          <p:nvPr/>
        </p:nvSpPr>
        <p:spPr>
          <a:xfrm>
            <a:off x="3413664" y="207318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BE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3" name="object 923"/>
          <p:cNvSpPr/>
          <p:nvPr/>
        </p:nvSpPr>
        <p:spPr>
          <a:xfrm>
            <a:off x="3413664" y="125175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4" name="object 924"/>
          <p:cNvSpPr/>
          <p:nvPr/>
        </p:nvSpPr>
        <p:spPr>
          <a:xfrm>
            <a:off x="3416711" y="1253277"/>
            <a:ext cx="489584" cy="818515"/>
          </a:xfrm>
          <a:custGeom>
            <a:avLst/>
            <a:gdLst/>
            <a:ahLst/>
            <a:cxnLst/>
            <a:rect l="l" t="t" r="r" b="b"/>
            <a:pathLst>
              <a:path w="489585" h="818514">
                <a:moveTo>
                  <a:pt x="0" y="0"/>
                </a:moveTo>
                <a:lnTo>
                  <a:pt x="489203" y="0"/>
                </a:lnTo>
                <a:lnTo>
                  <a:pt x="489203" y="818388"/>
                </a:lnTo>
                <a:lnTo>
                  <a:pt x="0" y="8183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5" name="object 925"/>
          <p:cNvSpPr/>
          <p:nvPr/>
        </p:nvSpPr>
        <p:spPr>
          <a:xfrm>
            <a:off x="3413664" y="207090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BE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6" name="object 926"/>
          <p:cNvSpPr/>
          <p:nvPr/>
        </p:nvSpPr>
        <p:spPr>
          <a:xfrm>
            <a:off x="3413664" y="206480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BE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7" name="object 927"/>
          <p:cNvSpPr/>
          <p:nvPr/>
        </p:nvSpPr>
        <p:spPr>
          <a:xfrm>
            <a:off x="3413664" y="206023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BF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8" name="object 928"/>
          <p:cNvSpPr/>
          <p:nvPr/>
        </p:nvSpPr>
        <p:spPr>
          <a:xfrm>
            <a:off x="3413664" y="205337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BF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9" name="object 929"/>
          <p:cNvSpPr/>
          <p:nvPr/>
        </p:nvSpPr>
        <p:spPr>
          <a:xfrm>
            <a:off x="3413664" y="204728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BF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0" name="object 930"/>
          <p:cNvSpPr/>
          <p:nvPr/>
        </p:nvSpPr>
        <p:spPr>
          <a:xfrm>
            <a:off x="3413664" y="204347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C0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1" name="object 931"/>
          <p:cNvSpPr/>
          <p:nvPr/>
        </p:nvSpPr>
        <p:spPr>
          <a:xfrm>
            <a:off x="3413664" y="203661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C0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2" name="object 932"/>
          <p:cNvSpPr/>
          <p:nvPr/>
        </p:nvSpPr>
        <p:spPr>
          <a:xfrm>
            <a:off x="3413664" y="202975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08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3" name="object 933"/>
          <p:cNvSpPr/>
          <p:nvPr/>
        </p:nvSpPr>
        <p:spPr>
          <a:xfrm>
            <a:off x="3413664" y="202594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18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4" name="object 934"/>
          <p:cNvSpPr/>
          <p:nvPr/>
        </p:nvSpPr>
        <p:spPr>
          <a:xfrm>
            <a:off x="3413664" y="201984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C1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5" name="object 935"/>
          <p:cNvSpPr/>
          <p:nvPr/>
        </p:nvSpPr>
        <p:spPr>
          <a:xfrm>
            <a:off x="3413664" y="201299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C1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6" name="object 936"/>
          <p:cNvSpPr/>
          <p:nvPr/>
        </p:nvSpPr>
        <p:spPr>
          <a:xfrm>
            <a:off x="3413664" y="200994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2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7" name="object 937"/>
          <p:cNvSpPr/>
          <p:nvPr/>
        </p:nvSpPr>
        <p:spPr>
          <a:xfrm>
            <a:off x="3413664" y="200537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28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8" name="object 938"/>
          <p:cNvSpPr/>
          <p:nvPr/>
        </p:nvSpPr>
        <p:spPr>
          <a:xfrm>
            <a:off x="3413664" y="199775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28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9" name="object 939"/>
          <p:cNvSpPr/>
          <p:nvPr/>
        </p:nvSpPr>
        <p:spPr>
          <a:xfrm>
            <a:off x="3413664" y="199013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3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0" name="object 940"/>
          <p:cNvSpPr/>
          <p:nvPr/>
        </p:nvSpPr>
        <p:spPr>
          <a:xfrm>
            <a:off x="3413664" y="198251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3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1" name="object 941"/>
          <p:cNvSpPr/>
          <p:nvPr/>
        </p:nvSpPr>
        <p:spPr>
          <a:xfrm>
            <a:off x="3413664" y="19779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3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2" name="object 942"/>
          <p:cNvSpPr/>
          <p:nvPr/>
        </p:nvSpPr>
        <p:spPr>
          <a:xfrm>
            <a:off x="3413664" y="197489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C4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3" name="object 943"/>
          <p:cNvSpPr/>
          <p:nvPr/>
        </p:nvSpPr>
        <p:spPr>
          <a:xfrm>
            <a:off x="3413664" y="196879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4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4" name="object 944"/>
          <p:cNvSpPr/>
          <p:nvPr/>
        </p:nvSpPr>
        <p:spPr>
          <a:xfrm>
            <a:off x="3413664" y="196346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4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5" name="object 945"/>
          <p:cNvSpPr/>
          <p:nvPr/>
        </p:nvSpPr>
        <p:spPr>
          <a:xfrm>
            <a:off x="3413664" y="195888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C5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6" name="object 946"/>
          <p:cNvSpPr/>
          <p:nvPr/>
        </p:nvSpPr>
        <p:spPr>
          <a:xfrm>
            <a:off x="3413664" y="195279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C5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7" name="object 947"/>
          <p:cNvSpPr/>
          <p:nvPr/>
        </p:nvSpPr>
        <p:spPr>
          <a:xfrm>
            <a:off x="3413664" y="194822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6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8" name="object 948"/>
          <p:cNvSpPr/>
          <p:nvPr/>
        </p:nvSpPr>
        <p:spPr>
          <a:xfrm>
            <a:off x="3413664" y="194288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69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9" name="object 949"/>
          <p:cNvSpPr/>
          <p:nvPr/>
        </p:nvSpPr>
        <p:spPr>
          <a:xfrm>
            <a:off x="3413664" y="193755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6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0" name="object 950"/>
          <p:cNvSpPr/>
          <p:nvPr/>
        </p:nvSpPr>
        <p:spPr>
          <a:xfrm>
            <a:off x="3413664" y="193298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C7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1" name="object 951"/>
          <p:cNvSpPr/>
          <p:nvPr/>
        </p:nvSpPr>
        <p:spPr>
          <a:xfrm>
            <a:off x="3413664" y="192688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C7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2" name="object 952"/>
          <p:cNvSpPr/>
          <p:nvPr/>
        </p:nvSpPr>
        <p:spPr>
          <a:xfrm>
            <a:off x="3413664" y="192307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3" name="object 953"/>
          <p:cNvSpPr/>
          <p:nvPr/>
        </p:nvSpPr>
        <p:spPr>
          <a:xfrm>
            <a:off x="3413664" y="191774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C8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4" name="object 954"/>
          <p:cNvSpPr/>
          <p:nvPr/>
        </p:nvSpPr>
        <p:spPr>
          <a:xfrm>
            <a:off x="3413664" y="191088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C89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5" name="object 955"/>
          <p:cNvSpPr/>
          <p:nvPr/>
        </p:nvSpPr>
        <p:spPr>
          <a:xfrm>
            <a:off x="3413664" y="190783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99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6" name="object 956"/>
          <p:cNvSpPr/>
          <p:nvPr/>
        </p:nvSpPr>
        <p:spPr>
          <a:xfrm>
            <a:off x="3413664" y="190326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C99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7" name="object 957"/>
          <p:cNvSpPr/>
          <p:nvPr/>
        </p:nvSpPr>
        <p:spPr>
          <a:xfrm>
            <a:off x="3413664" y="189564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9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8" name="object 958"/>
          <p:cNvSpPr/>
          <p:nvPr/>
        </p:nvSpPr>
        <p:spPr>
          <a:xfrm>
            <a:off x="3413664" y="188802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A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9" name="object 959"/>
          <p:cNvSpPr/>
          <p:nvPr/>
        </p:nvSpPr>
        <p:spPr>
          <a:xfrm>
            <a:off x="3413664" y="188040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A9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0" name="object 960"/>
          <p:cNvSpPr/>
          <p:nvPr/>
        </p:nvSpPr>
        <p:spPr>
          <a:xfrm>
            <a:off x="3413664" y="187583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A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1" name="object 961"/>
          <p:cNvSpPr/>
          <p:nvPr/>
        </p:nvSpPr>
        <p:spPr>
          <a:xfrm>
            <a:off x="3413664" y="187278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CB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2" name="object 962"/>
          <p:cNvSpPr/>
          <p:nvPr/>
        </p:nvSpPr>
        <p:spPr>
          <a:xfrm>
            <a:off x="3413664" y="186592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CB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3" name="object 963"/>
          <p:cNvSpPr/>
          <p:nvPr/>
        </p:nvSpPr>
        <p:spPr>
          <a:xfrm>
            <a:off x="3413664" y="185982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B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4" name="object 964"/>
          <p:cNvSpPr/>
          <p:nvPr/>
        </p:nvSpPr>
        <p:spPr>
          <a:xfrm>
            <a:off x="3413664" y="185601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C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5" name="object 965"/>
          <p:cNvSpPr/>
          <p:nvPr/>
        </p:nvSpPr>
        <p:spPr>
          <a:xfrm>
            <a:off x="3413664" y="184916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CC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6" name="object 966"/>
          <p:cNvSpPr/>
          <p:nvPr/>
        </p:nvSpPr>
        <p:spPr>
          <a:xfrm>
            <a:off x="3413664" y="184306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CC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7" name="object 967"/>
          <p:cNvSpPr/>
          <p:nvPr/>
        </p:nvSpPr>
        <p:spPr>
          <a:xfrm>
            <a:off x="3413664" y="183925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D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8" name="object 968"/>
          <p:cNvSpPr/>
          <p:nvPr/>
        </p:nvSpPr>
        <p:spPr>
          <a:xfrm>
            <a:off x="3413664" y="183239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CD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9" name="object 969"/>
          <p:cNvSpPr/>
          <p:nvPr/>
        </p:nvSpPr>
        <p:spPr>
          <a:xfrm>
            <a:off x="3413664" y="18255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DA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0" name="object 970"/>
          <p:cNvSpPr/>
          <p:nvPr/>
        </p:nvSpPr>
        <p:spPr>
          <a:xfrm>
            <a:off x="3413664" y="182096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CEA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1" name="object 971"/>
          <p:cNvSpPr/>
          <p:nvPr/>
        </p:nvSpPr>
        <p:spPr>
          <a:xfrm>
            <a:off x="3413664" y="181487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E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2" name="object 972"/>
          <p:cNvSpPr/>
          <p:nvPr/>
        </p:nvSpPr>
        <p:spPr>
          <a:xfrm>
            <a:off x="3413664" y="180877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E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3" name="object 973"/>
          <p:cNvSpPr/>
          <p:nvPr/>
        </p:nvSpPr>
        <p:spPr>
          <a:xfrm>
            <a:off x="3413664" y="180420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CF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4" name="object 974"/>
          <p:cNvSpPr/>
          <p:nvPr/>
        </p:nvSpPr>
        <p:spPr>
          <a:xfrm>
            <a:off x="3413664" y="179810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CFA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5" name="object 975"/>
          <p:cNvSpPr/>
          <p:nvPr/>
        </p:nvSpPr>
        <p:spPr>
          <a:xfrm>
            <a:off x="3413664" y="179201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CF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6" name="object 976"/>
          <p:cNvSpPr/>
          <p:nvPr/>
        </p:nvSpPr>
        <p:spPr>
          <a:xfrm>
            <a:off x="3413664" y="17874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D0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7" name="object 977"/>
          <p:cNvSpPr/>
          <p:nvPr/>
        </p:nvSpPr>
        <p:spPr>
          <a:xfrm>
            <a:off x="3413664" y="178134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D0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8" name="object 978"/>
          <p:cNvSpPr/>
          <p:nvPr/>
        </p:nvSpPr>
        <p:spPr>
          <a:xfrm>
            <a:off x="3413664" y="177524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1">
            <a:solidFill>
              <a:srgbClr val="FFD0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9" name="object 979"/>
          <p:cNvSpPr/>
          <p:nvPr/>
        </p:nvSpPr>
        <p:spPr>
          <a:xfrm>
            <a:off x="3413664" y="177067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D1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0" name="object 980"/>
          <p:cNvSpPr/>
          <p:nvPr/>
        </p:nvSpPr>
        <p:spPr>
          <a:xfrm>
            <a:off x="3413664" y="176381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D1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1" name="object 981"/>
          <p:cNvSpPr/>
          <p:nvPr/>
        </p:nvSpPr>
        <p:spPr>
          <a:xfrm>
            <a:off x="3413664" y="175772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1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2" name="object 982"/>
          <p:cNvSpPr/>
          <p:nvPr/>
        </p:nvSpPr>
        <p:spPr>
          <a:xfrm>
            <a:off x="3413664" y="175238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D2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3" name="object 983"/>
          <p:cNvSpPr/>
          <p:nvPr/>
        </p:nvSpPr>
        <p:spPr>
          <a:xfrm>
            <a:off x="3413664" y="174324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2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4" name="object 984"/>
          <p:cNvSpPr/>
          <p:nvPr/>
        </p:nvSpPr>
        <p:spPr>
          <a:xfrm>
            <a:off x="3413664" y="173333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D3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5" name="object 985"/>
          <p:cNvSpPr/>
          <p:nvPr/>
        </p:nvSpPr>
        <p:spPr>
          <a:xfrm>
            <a:off x="3413664" y="172495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D3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6" name="object 986"/>
          <p:cNvSpPr/>
          <p:nvPr/>
        </p:nvSpPr>
        <p:spPr>
          <a:xfrm>
            <a:off x="3413664" y="171962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4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7" name="object 987"/>
          <p:cNvSpPr/>
          <p:nvPr/>
        </p:nvSpPr>
        <p:spPr>
          <a:xfrm>
            <a:off x="3413664" y="1705905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0" y="12192"/>
                </a:moveTo>
                <a:lnTo>
                  <a:pt x="495300" y="12192"/>
                </a:lnTo>
                <a:lnTo>
                  <a:pt x="4953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D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8" name="object 988"/>
          <p:cNvSpPr/>
          <p:nvPr/>
        </p:nvSpPr>
        <p:spPr>
          <a:xfrm>
            <a:off x="3413664" y="170285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D4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9" name="object 989"/>
          <p:cNvSpPr/>
          <p:nvPr/>
        </p:nvSpPr>
        <p:spPr>
          <a:xfrm>
            <a:off x="3413664" y="169676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D5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0" name="object 990"/>
          <p:cNvSpPr/>
          <p:nvPr/>
        </p:nvSpPr>
        <p:spPr>
          <a:xfrm>
            <a:off x="3413664" y="1681521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0" y="12192"/>
                </a:moveTo>
                <a:lnTo>
                  <a:pt x="495300" y="12192"/>
                </a:lnTo>
                <a:lnTo>
                  <a:pt x="4953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D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1" name="object 991"/>
          <p:cNvSpPr/>
          <p:nvPr/>
        </p:nvSpPr>
        <p:spPr>
          <a:xfrm>
            <a:off x="3413664" y="167771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D5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2" name="object 992"/>
          <p:cNvSpPr/>
          <p:nvPr/>
        </p:nvSpPr>
        <p:spPr>
          <a:xfrm>
            <a:off x="3413664" y="167085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D6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3" name="object 993"/>
          <p:cNvSpPr/>
          <p:nvPr/>
        </p:nvSpPr>
        <p:spPr>
          <a:xfrm>
            <a:off x="3413664" y="166247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6B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4" name="object 994"/>
          <p:cNvSpPr/>
          <p:nvPr/>
        </p:nvSpPr>
        <p:spPr>
          <a:xfrm>
            <a:off x="3413664" y="165485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4572">
            <a:solidFill>
              <a:srgbClr val="FFD6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5" name="object 995"/>
          <p:cNvSpPr/>
          <p:nvPr/>
        </p:nvSpPr>
        <p:spPr>
          <a:xfrm>
            <a:off x="3413664" y="164951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D7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6" name="object 996"/>
          <p:cNvSpPr/>
          <p:nvPr/>
        </p:nvSpPr>
        <p:spPr>
          <a:xfrm>
            <a:off x="3413664" y="164113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7B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7" name="object 997"/>
          <p:cNvSpPr/>
          <p:nvPr/>
        </p:nvSpPr>
        <p:spPr>
          <a:xfrm>
            <a:off x="3413664" y="163046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8" name="object 998"/>
          <p:cNvSpPr/>
          <p:nvPr/>
        </p:nvSpPr>
        <p:spPr>
          <a:xfrm>
            <a:off x="3413664" y="162208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D8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9" name="object 999"/>
          <p:cNvSpPr/>
          <p:nvPr/>
        </p:nvSpPr>
        <p:spPr>
          <a:xfrm>
            <a:off x="3413664" y="161751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9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0" name="object 1000"/>
          <p:cNvSpPr/>
          <p:nvPr/>
        </p:nvSpPr>
        <p:spPr>
          <a:xfrm>
            <a:off x="3413664" y="161065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9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1" name="object 1001"/>
          <p:cNvSpPr/>
          <p:nvPr/>
        </p:nvSpPr>
        <p:spPr>
          <a:xfrm>
            <a:off x="3413664" y="160151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D9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2" name="object 1002"/>
          <p:cNvSpPr/>
          <p:nvPr/>
        </p:nvSpPr>
        <p:spPr>
          <a:xfrm>
            <a:off x="3413664" y="159617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A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3" name="object 1003"/>
          <p:cNvSpPr/>
          <p:nvPr/>
        </p:nvSpPr>
        <p:spPr>
          <a:xfrm>
            <a:off x="3413664" y="159008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3">
            <a:solidFill>
              <a:srgbClr val="FFDA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4" name="object 1004"/>
          <p:cNvSpPr/>
          <p:nvPr/>
        </p:nvSpPr>
        <p:spPr>
          <a:xfrm>
            <a:off x="3413664" y="158017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DAB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5" name="object 1005"/>
          <p:cNvSpPr/>
          <p:nvPr/>
        </p:nvSpPr>
        <p:spPr>
          <a:xfrm>
            <a:off x="3413664" y="157331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A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6" name="object 1006"/>
          <p:cNvSpPr/>
          <p:nvPr/>
        </p:nvSpPr>
        <p:spPr>
          <a:xfrm>
            <a:off x="3413664" y="156798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DB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7" name="object 1007"/>
          <p:cNvSpPr/>
          <p:nvPr/>
        </p:nvSpPr>
        <p:spPr>
          <a:xfrm>
            <a:off x="3413664" y="15588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B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8" name="object 1008"/>
          <p:cNvSpPr/>
          <p:nvPr/>
        </p:nvSpPr>
        <p:spPr>
          <a:xfrm>
            <a:off x="3413664" y="155198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B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9" name="object 1009"/>
          <p:cNvSpPr/>
          <p:nvPr/>
        </p:nvSpPr>
        <p:spPr>
          <a:xfrm>
            <a:off x="3413664" y="154512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C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0" name="object 1010"/>
          <p:cNvSpPr/>
          <p:nvPr/>
        </p:nvSpPr>
        <p:spPr>
          <a:xfrm>
            <a:off x="3413664" y="153674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DCC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1" name="object 1011"/>
          <p:cNvSpPr/>
          <p:nvPr/>
        </p:nvSpPr>
        <p:spPr>
          <a:xfrm>
            <a:off x="3413664" y="153064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DDC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2" name="object 1012"/>
          <p:cNvSpPr/>
          <p:nvPr/>
        </p:nvSpPr>
        <p:spPr>
          <a:xfrm>
            <a:off x="3413664" y="152226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DD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3" name="object 1013"/>
          <p:cNvSpPr/>
          <p:nvPr/>
        </p:nvSpPr>
        <p:spPr>
          <a:xfrm>
            <a:off x="3413664" y="151616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E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4" name="object 1014"/>
          <p:cNvSpPr/>
          <p:nvPr/>
        </p:nvSpPr>
        <p:spPr>
          <a:xfrm>
            <a:off x="3413664" y="1503213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0" y="12192"/>
                </a:moveTo>
                <a:lnTo>
                  <a:pt x="495300" y="12192"/>
                </a:lnTo>
                <a:lnTo>
                  <a:pt x="4953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D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5" name="object 1015"/>
          <p:cNvSpPr/>
          <p:nvPr/>
        </p:nvSpPr>
        <p:spPr>
          <a:xfrm>
            <a:off x="3413664" y="150168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DE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6" name="object 1016"/>
          <p:cNvSpPr/>
          <p:nvPr/>
        </p:nvSpPr>
        <p:spPr>
          <a:xfrm>
            <a:off x="3413664" y="149635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DF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7" name="object 1017"/>
          <p:cNvSpPr/>
          <p:nvPr/>
        </p:nvSpPr>
        <p:spPr>
          <a:xfrm>
            <a:off x="3413664" y="148797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DF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8" name="object 1018"/>
          <p:cNvSpPr/>
          <p:nvPr/>
        </p:nvSpPr>
        <p:spPr>
          <a:xfrm>
            <a:off x="3413664" y="147806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E0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9" name="object 1019"/>
          <p:cNvSpPr/>
          <p:nvPr/>
        </p:nvSpPr>
        <p:spPr>
          <a:xfrm>
            <a:off x="3413664" y="146892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0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0" name="object 1020"/>
          <p:cNvSpPr/>
          <p:nvPr/>
        </p:nvSpPr>
        <p:spPr>
          <a:xfrm>
            <a:off x="3413664" y="146358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1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1" name="object 1021"/>
          <p:cNvSpPr/>
          <p:nvPr/>
        </p:nvSpPr>
        <p:spPr>
          <a:xfrm>
            <a:off x="3413664" y="145673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E1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2" name="object 1022"/>
          <p:cNvSpPr/>
          <p:nvPr/>
        </p:nvSpPr>
        <p:spPr>
          <a:xfrm>
            <a:off x="3413664" y="144758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1C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3" name="object 1023"/>
          <p:cNvSpPr/>
          <p:nvPr/>
        </p:nvSpPr>
        <p:spPr>
          <a:xfrm>
            <a:off x="3413664" y="144301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2C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4" name="object 1024"/>
          <p:cNvSpPr/>
          <p:nvPr/>
        </p:nvSpPr>
        <p:spPr>
          <a:xfrm>
            <a:off x="3413664" y="143691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E2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5" name="object 1025"/>
          <p:cNvSpPr/>
          <p:nvPr/>
        </p:nvSpPr>
        <p:spPr>
          <a:xfrm>
            <a:off x="3413664" y="142625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2C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6" name="object 1026"/>
          <p:cNvSpPr/>
          <p:nvPr/>
        </p:nvSpPr>
        <p:spPr>
          <a:xfrm>
            <a:off x="3413664" y="142015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2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7" name="object 1027"/>
          <p:cNvSpPr/>
          <p:nvPr/>
        </p:nvSpPr>
        <p:spPr>
          <a:xfrm>
            <a:off x="3413664" y="141558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E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8" name="object 1028"/>
          <p:cNvSpPr/>
          <p:nvPr/>
        </p:nvSpPr>
        <p:spPr>
          <a:xfrm>
            <a:off x="3413664" y="14064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9" name="object 1029"/>
          <p:cNvSpPr/>
          <p:nvPr/>
        </p:nvSpPr>
        <p:spPr>
          <a:xfrm>
            <a:off x="3413664" y="139958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3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0" name="object 1030"/>
          <p:cNvSpPr/>
          <p:nvPr/>
        </p:nvSpPr>
        <p:spPr>
          <a:xfrm>
            <a:off x="3413664" y="139424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4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1" name="object 1031"/>
          <p:cNvSpPr/>
          <p:nvPr/>
        </p:nvSpPr>
        <p:spPr>
          <a:xfrm>
            <a:off x="3413664" y="138510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E4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2" name="object 1032"/>
          <p:cNvSpPr/>
          <p:nvPr/>
        </p:nvSpPr>
        <p:spPr>
          <a:xfrm>
            <a:off x="3413664" y="137519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E5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3" name="object 1033"/>
          <p:cNvSpPr/>
          <p:nvPr/>
        </p:nvSpPr>
        <p:spPr>
          <a:xfrm>
            <a:off x="3413664" y="136681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5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4" name="object 1034"/>
          <p:cNvSpPr/>
          <p:nvPr/>
        </p:nvSpPr>
        <p:spPr>
          <a:xfrm>
            <a:off x="3413664" y="136148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6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5" name="object 1035"/>
          <p:cNvSpPr/>
          <p:nvPr/>
        </p:nvSpPr>
        <p:spPr>
          <a:xfrm>
            <a:off x="3413664" y="135462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8">
            <a:solidFill>
              <a:srgbClr val="FFE6D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6" name="object 1036"/>
          <p:cNvSpPr/>
          <p:nvPr/>
        </p:nvSpPr>
        <p:spPr>
          <a:xfrm>
            <a:off x="3413664" y="134547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E6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7" name="object 1037"/>
          <p:cNvSpPr/>
          <p:nvPr/>
        </p:nvSpPr>
        <p:spPr>
          <a:xfrm>
            <a:off x="3413664" y="133862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6">
            <a:solidFill>
              <a:srgbClr val="FFE7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8" name="object 1038"/>
          <p:cNvSpPr/>
          <p:nvPr/>
        </p:nvSpPr>
        <p:spPr>
          <a:xfrm>
            <a:off x="3413664" y="1323381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0" y="12192"/>
                </a:moveTo>
                <a:lnTo>
                  <a:pt x="495300" y="12192"/>
                </a:lnTo>
                <a:lnTo>
                  <a:pt x="4953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E7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9" name="object 1039"/>
          <p:cNvSpPr/>
          <p:nvPr/>
        </p:nvSpPr>
        <p:spPr>
          <a:xfrm>
            <a:off x="3413664" y="132033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6095">
            <a:solidFill>
              <a:srgbClr val="FFE7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0" name="object 1040"/>
          <p:cNvSpPr/>
          <p:nvPr/>
        </p:nvSpPr>
        <p:spPr>
          <a:xfrm>
            <a:off x="3413664" y="131347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8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1" name="object 1041"/>
          <p:cNvSpPr/>
          <p:nvPr/>
        </p:nvSpPr>
        <p:spPr>
          <a:xfrm>
            <a:off x="3413664" y="1304331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E8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2" name="object 1042"/>
          <p:cNvSpPr/>
          <p:nvPr/>
        </p:nvSpPr>
        <p:spPr>
          <a:xfrm>
            <a:off x="3413664" y="129747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8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3" name="object 1043"/>
          <p:cNvSpPr/>
          <p:nvPr/>
        </p:nvSpPr>
        <p:spPr>
          <a:xfrm>
            <a:off x="3413664" y="12921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9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4" name="object 1044"/>
          <p:cNvSpPr/>
          <p:nvPr/>
        </p:nvSpPr>
        <p:spPr>
          <a:xfrm>
            <a:off x="3413664" y="1282995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0667">
            <a:solidFill>
              <a:srgbClr val="FFE9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5" name="object 1045"/>
          <p:cNvSpPr/>
          <p:nvPr/>
        </p:nvSpPr>
        <p:spPr>
          <a:xfrm>
            <a:off x="3413664" y="127308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9144">
            <a:solidFill>
              <a:srgbClr val="FFEA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6" name="object 1046"/>
          <p:cNvSpPr/>
          <p:nvPr/>
        </p:nvSpPr>
        <p:spPr>
          <a:xfrm>
            <a:off x="3413664" y="1264707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19">
            <a:solidFill>
              <a:srgbClr val="FFEA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7" name="object 1047"/>
          <p:cNvSpPr/>
          <p:nvPr/>
        </p:nvSpPr>
        <p:spPr>
          <a:xfrm>
            <a:off x="3413664" y="125937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175">
            <a:solidFill>
              <a:srgbClr val="FFEB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8" name="object 1048"/>
          <p:cNvSpPr/>
          <p:nvPr/>
        </p:nvSpPr>
        <p:spPr>
          <a:xfrm>
            <a:off x="3413664" y="125403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7620">
            <a:solidFill>
              <a:srgbClr val="FFE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9" name="object 1049"/>
          <p:cNvSpPr/>
          <p:nvPr/>
        </p:nvSpPr>
        <p:spPr>
          <a:xfrm>
            <a:off x="3416711" y="1253277"/>
            <a:ext cx="489584" cy="818515"/>
          </a:xfrm>
          <a:custGeom>
            <a:avLst/>
            <a:gdLst/>
            <a:ahLst/>
            <a:cxnLst/>
            <a:rect l="l" t="t" r="r" b="b"/>
            <a:pathLst>
              <a:path w="489585" h="818514">
                <a:moveTo>
                  <a:pt x="0" y="0"/>
                </a:moveTo>
                <a:lnTo>
                  <a:pt x="489203" y="0"/>
                </a:lnTo>
                <a:lnTo>
                  <a:pt x="489203" y="818387"/>
                </a:lnTo>
                <a:lnTo>
                  <a:pt x="0" y="818387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F692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0" name="object 1050"/>
          <p:cNvSpPr/>
          <p:nvPr/>
        </p:nvSpPr>
        <p:spPr>
          <a:xfrm>
            <a:off x="1915572" y="221327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1" name="object 1051"/>
          <p:cNvSpPr/>
          <p:nvPr/>
        </p:nvSpPr>
        <p:spPr>
          <a:xfrm>
            <a:off x="1915572" y="220438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7" y="7620"/>
                </a:lnTo>
                <a:lnTo>
                  <a:pt x="3047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2" name="object 1052"/>
          <p:cNvSpPr/>
          <p:nvPr/>
        </p:nvSpPr>
        <p:spPr>
          <a:xfrm>
            <a:off x="2409348" y="22042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7" y="0"/>
                </a:moveTo>
                <a:lnTo>
                  <a:pt x="0" y="0"/>
                </a:lnTo>
                <a:lnTo>
                  <a:pt x="0" y="7620"/>
                </a:lnTo>
                <a:lnTo>
                  <a:pt x="3047" y="7620"/>
                </a:lnTo>
                <a:lnTo>
                  <a:pt x="3047" y="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3" name="object 1053"/>
          <p:cNvSpPr/>
          <p:nvPr/>
        </p:nvSpPr>
        <p:spPr>
          <a:xfrm>
            <a:off x="1915572" y="219053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4" name="object 1054"/>
          <p:cNvSpPr/>
          <p:nvPr/>
        </p:nvSpPr>
        <p:spPr>
          <a:xfrm>
            <a:off x="2409348" y="219053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5" name="object 1055"/>
          <p:cNvSpPr/>
          <p:nvPr/>
        </p:nvSpPr>
        <p:spPr>
          <a:xfrm>
            <a:off x="1915572" y="21752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6" name="object 1056"/>
          <p:cNvSpPr/>
          <p:nvPr/>
        </p:nvSpPr>
        <p:spPr>
          <a:xfrm>
            <a:off x="2409348" y="21752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7" name="object 1057"/>
          <p:cNvSpPr/>
          <p:nvPr/>
        </p:nvSpPr>
        <p:spPr>
          <a:xfrm>
            <a:off x="1915572" y="216158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8" name="object 1058"/>
          <p:cNvSpPr/>
          <p:nvPr/>
        </p:nvSpPr>
        <p:spPr>
          <a:xfrm>
            <a:off x="2409348" y="216158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9" name="object 1059"/>
          <p:cNvSpPr/>
          <p:nvPr/>
        </p:nvSpPr>
        <p:spPr>
          <a:xfrm>
            <a:off x="1915572" y="214786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0" name="object 1060"/>
          <p:cNvSpPr/>
          <p:nvPr/>
        </p:nvSpPr>
        <p:spPr>
          <a:xfrm>
            <a:off x="2409348" y="214786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1" name="object 1061"/>
          <p:cNvSpPr/>
          <p:nvPr/>
        </p:nvSpPr>
        <p:spPr>
          <a:xfrm>
            <a:off x="1915572" y="21326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2" name="object 1062"/>
          <p:cNvSpPr/>
          <p:nvPr/>
        </p:nvSpPr>
        <p:spPr>
          <a:xfrm>
            <a:off x="2409348" y="21326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3" name="object 1063"/>
          <p:cNvSpPr/>
          <p:nvPr/>
        </p:nvSpPr>
        <p:spPr>
          <a:xfrm>
            <a:off x="1915572" y="21189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4" name="object 1064"/>
          <p:cNvSpPr/>
          <p:nvPr/>
        </p:nvSpPr>
        <p:spPr>
          <a:xfrm>
            <a:off x="2409348" y="21189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5" name="object 1065"/>
          <p:cNvSpPr/>
          <p:nvPr/>
        </p:nvSpPr>
        <p:spPr>
          <a:xfrm>
            <a:off x="1915572" y="21051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6" name="object 1066"/>
          <p:cNvSpPr/>
          <p:nvPr/>
        </p:nvSpPr>
        <p:spPr>
          <a:xfrm>
            <a:off x="2409348" y="21051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7" name="object 1067"/>
          <p:cNvSpPr/>
          <p:nvPr/>
        </p:nvSpPr>
        <p:spPr>
          <a:xfrm>
            <a:off x="1915572" y="20914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8" name="object 1068"/>
          <p:cNvSpPr/>
          <p:nvPr/>
        </p:nvSpPr>
        <p:spPr>
          <a:xfrm>
            <a:off x="2409348" y="20914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9" name="object 1069"/>
          <p:cNvSpPr/>
          <p:nvPr/>
        </p:nvSpPr>
        <p:spPr>
          <a:xfrm>
            <a:off x="1915572" y="207623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0" name="object 1070"/>
          <p:cNvSpPr/>
          <p:nvPr/>
        </p:nvSpPr>
        <p:spPr>
          <a:xfrm>
            <a:off x="2409348" y="207623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1" name="object 1071"/>
          <p:cNvSpPr/>
          <p:nvPr/>
        </p:nvSpPr>
        <p:spPr>
          <a:xfrm>
            <a:off x="1915572" y="206252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2" name="object 1072"/>
          <p:cNvSpPr/>
          <p:nvPr/>
        </p:nvSpPr>
        <p:spPr>
          <a:xfrm>
            <a:off x="2409348" y="206252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3" name="object 1073"/>
          <p:cNvSpPr/>
          <p:nvPr/>
        </p:nvSpPr>
        <p:spPr>
          <a:xfrm>
            <a:off x="1915572" y="20488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4" name="object 1074"/>
          <p:cNvSpPr/>
          <p:nvPr/>
        </p:nvSpPr>
        <p:spPr>
          <a:xfrm>
            <a:off x="2409348" y="20488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5" name="object 1075"/>
          <p:cNvSpPr/>
          <p:nvPr/>
        </p:nvSpPr>
        <p:spPr>
          <a:xfrm>
            <a:off x="1915572" y="203508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6" name="object 1076"/>
          <p:cNvSpPr/>
          <p:nvPr/>
        </p:nvSpPr>
        <p:spPr>
          <a:xfrm>
            <a:off x="2409348" y="203508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7" name="object 1077"/>
          <p:cNvSpPr/>
          <p:nvPr/>
        </p:nvSpPr>
        <p:spPr>
          <a:xfrm>
            <a:off x="1915572" y="20198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8" name="object 1078"/>
          <p:cNvSpPr/>
          <p:nvPr/>
        </p:nvSpPr>
        <p:spPr>
          <a:xfrm>
            <a:off x="2409348" y="20198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9" name="object 1079"/>
          <p:cNvSpPr/>
          <p:nvPr/>
        </p:nvSpPr>
        <p:spPr>
          <a:xfrm>
            <a:off x="1915572" y="200613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0" name="object 1080"/>
          <p:cNvSpPr/>
          <p:nvPr/>
        </p:nvSpPr>
        <p:spPr>
          <a:xfrm>
            <a:off x="2409348" y="200613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1" name="object 1081"/>
          <p:cNvSpPr/>
          <p:nvPr/>
        </p:nvSpPr>
        <p:spPr>
          <a:xfrm>
            <a:off x="1915572" y="19924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2" name="object 1082"/>
          <p:cNvSpPr/>
          <p:nvPr/>
        </p:nvSpPr>
        <p:spPr>
          <a:xfrm>
            <a:off x="2409348" y="19924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3" name="object 1083"/>
          <p:cNvSpPr/>
          <p:nvPr/>
        </p:nvSpPr>
        <p:spPr>
          <a:xfrm>
            <a:off x="1915572" y="197870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4" name="object 1084"/>
          <p:cNvSpPr/>
          <p:nvPr/>
        </p:nvSpPr>
        <p:spPr>
          <a:xfrm>
            <a:off x="2409348" y="197870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5" name="object 1085"/>
          <p:cNvSpPr/>
          <p:nvPr/>
        </p:nvSpPr>
        <p:spPr>
          <a:xfrm>
            <a:off x="1915572" y="19634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6" name="object 1086"/>
          <p:cNvSpPr/>
          <p:nvPr/>
        </p:nvSpPr>
        <p:spPr>
          <a:xfrm>
            <a:off x="2409348" y="19634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7" name="object 1087"/>
          <p:cNvSpPr/>
          <p:nvPr/>
        </p:nvSpPr>
        <p:spPr>
          <a:xfrm>
            <a:off x="1915572" y="19497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8" name="object 1088"/>
          <p:cNvSpPr/>
          <p:nvPr/>
        </p:nvSpPr>
        <p:spPr>
          <a:xfrm>
            <a:off x="2409348" y="19497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9" name="object 1089"/>
          <p:cNvSpPr/>
          <p:nvPr/>
        </p:nvSpPr>
        <p:spPr>
          <a:xfrm>
            <a:off x="1915572" y="19360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0" name="object 1090"/>
          <p:cNvSpPr/>
          <p:nvPr/>
        </p:nvSpPr>
        <p:spPr>
          <a:xfrm>
            <a:off x="2409348" y="19360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1" name="object 1091"/>
          <p:cNvSpPr/>
          <p:nvPr/>
        </p:nvSpPr>
        <p:spPr>
          <a:xfrm>
            <a:off x="1915572" y="1920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2" name="object 1092"/>
          <p:cNvSpPr/>
          <p:nvPr/>
        </p:nvSpPr>
        <p:spPr>
          <a:xfrm>
            <a:off x="2409348" y="1920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3" name="object 1093"/>
          <p:cNvSpPr/>
          <p:nvPr/>
        </p:nvSpPr>
        <p:spPr>
          <a:xfrm>
            <a:off x="1915572" y="190707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4" name="object 1094"/>
          <p:cNvSpPr/>
          <p:nvPr/>
        </p:nvSpPr>
        <p:spPr>
          <a:xfrm>
            <a:off x="2409348" y="190707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5" name="object 1095"/>
          <p:cNvSpPr/>
          <p:nvPr/>
        </p:nvSpPr>
        <p:spPr>
          <a:xfrm>
            <a:off x="1915572" y="189335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6" name="object 1096"/>
          <p:cNvSpPr/>
          <p:nvPr/>
        </p:nvSpPr>
        <p:spPr>
          <a:xfrm>
            <a:off x="2409348" y="189335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7" name="object 1097"/>
          <p:cNvSpPr/>
          <p:nvPr/>
        </p:nvSpPr>
        <p:spPr>
          <a:xfrm>
            <a:off x="1915572" y="187964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8" name="object 1098"/>
          <p:cNvSpPr/>
          <p:nvPr/>
        </p:nvSpPr>
        <p:spPr>
          <a:xfrm>
            <a:off x="2409348" y="187964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9" name="object 1099"/>
          <p:cNvSpPr/>
          <p:nvPr/>
        </p:nvSpPr>
        <p:spPr>
          <a:xfrm>
            <a:off x="1915572" y="18644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0" name="object 1100"/>
          <p:cNvSpPr/>
          <p:nvPr/>
        </p:nvSpPr>
        <p:spPr>
          <a:xfrm>
            <a:off x="2409348" y="18644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1" name="object 1101"/>
          <p:cNvSpPr/>
          <p:nvPr/>
        </p:nvSpPr>
        <p:spPr>
          <a:xfrm>
            <a:off x="1915572" y="18506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2" name="object 1102"/>
          <p:cNvSpPr/>
          <p:nvPr/>
        </p:nvSpPr>
        <p:spPr>
          <a:xfrm>
            <a:off x="2409348" y="18506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3" name="object 1103"/>
          <p:cNvSpPr/>
          <p:nvPr/>
        </p:nvSpPr>
        <p:spPr>
          <a:xfrm>
            <a:off x="1915572" y="18369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4" name="object 1104"/>
          <p:cNvSpPr/>
          <p:nvPr/>
        </p:nvSpPr>
        <p:spPr>
          <a:xfrm>
            <a:off x="2409348" y="18369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5" name="object 1105"/>
          <p:cNvSpPr/>
          <p:nvPr/>
        </p:nvSpPr>
        <p:spPr>
          <a:xfrm>
            <a:off x="1915572" y="18232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6" name="object 1106"/>
          <p:cNvSpPr/>
          <p:nvPr/>
        </p:nvSpPr>
        <p:spPr>
          <a:xfrm>
            <a:off x="2409348" y="18232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7" name="object 1107"/>
          <p:cNvSpPr/>
          <p:nvPr/>
        </p:nvSpPr>
        <p:spPr>
          <a:xfrm>
            <a:off x="1915572" y="18080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8" name="object 1108"/>
          <p:cNvSpPr/>
          <p:nvPr/>
        </p:nvSpPr>
        <p:spPr>
          <a:xfrm>
            <a:off x="2409348" y="18080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9" name="object 1109"/>
          <p:cNvSpPr/>
          <p:nvPr/>
        </p:nvSpPr>
        <p:spPr>
          <a:xfrm>
            <a:off x="1915572" y="179429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0" name="object 1110"/>
          <p:cNvSpPr/>
          <p:nvPr/>
        </p:nvSpPr>
        <p:spPr>
          <a:xfrm>
            <a:off x="2409348" y="179429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1" name="object 1111"/>
          <p:cNvSpPr/>
          <p:nvPr/>
        </p:nvSpPr>
        <p:spPr>
          <a:xfrm>
            <a:off x="1915572" y="177600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2" name="object 1112"/>
          <p:cNvSpPr/>
          <p:nvPr/>
        </p:nvSpPr>
        <p:spPr>
          <a:xfrm>
            <a:off x="2409348" y="177600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3" name="object 1113"/>
          <p:cNvSpPr/>
          <p:nvPr/>
        </p:nvSpPr>
        <p:spPr>
          <a:xfrm>
            <a:off x="1915572" y="1751625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4" name="object 1114"/>
          <p:cNvSpPr/>
          <p:nvPr/>
        </p:nvSpPr>
        <p:spPr>
          <a:xfrm>
            <a:off x="2409348" y="1751625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5" name="object 1115"/>
          <p:cNvSpPr/>
          <p:nvPr/>
        </p:nvSpPr>
        <p:spPr>
          <a:xfrm>
            <a:off x="1915572" y="1728765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60"/>
                </a:lnTo>
                <a:lnTo>
                  <a:pt x="3047" y="22860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6" name="object 1116"/>
          <p:cNvSpPr/>
          <p:nvPr/>
        </p:nvSpPr>
        <p:spPr>
          <a:xfrm>
            <a:off x="2409348" y="1728765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60"/>
                </a:lnTo>
                <a:lnTo>
                  <a:pt x="3047" y="22860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7" name="object 1117"/>
          <p:cNvSpPr/>
          <p:nvPr/>
        </p:nvSpPr>
        <p:spPr>
          <a:xfrm>
            <a:off x="1915572" y="1707429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7" y="0"/>
                </a:moveTo>
                <a:lnTo>
                  <a:pt x="0" y="0"/>
                </a:lnTo>
                <a:lnTo>
                  <a:pt x="0" y="21335"/>
                </a:lnTo>
                <a:lnTo>
                  <a:pt x="3047" y="21335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8" name="object 1118"/>
          <p:cNvSpPr/>
          <p:nvPr/>
        </p:nvSpPr>
        <p:spPr>
          <a:xfrm>
            <a:off x="2409348" y="1707429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7" y="0"/>
                </a:moveTo>
                <a:lnTo>
                  <a:pt x="0" y="0"/>
                </a:lnTo>
                <a:lnTo>
                  <a:pt x="0" y="21335"/>
                </a:lnTo>
                <a:lnTo>
                  <a:pt x="3047" y="21335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9" name="object 1119"/>
          <p:cNvSpPr/>
          <p:nvPr/>
        </p:nvSpPr>
        <p:spPr>
          <a:xfrm>
            <a:off x="1915572" y="16906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0" name="object 1120"/>
          <p:cNvSpPr/>
          <p:nvPr/>
        </p:nvSpPr>
        <p:spPr>
          <a:xfrm>
            <a:off x="2409348" y="16906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1" name="object 1121"/>
          <p:cNvSpPr/>
          <p:nvPr/>
        </p:nvSpPr>
        <p:spPr>
          <a:xfrm>
            <a:off x="1915572" y="16723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2" name="object 1122"/>
          <p:cNvSpPr/>
          <p:nvPr/>
        </p:nvSpPr>
        <p:spPr>
          <a:xfrm>
            <a:off x="2409348" y="16723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3" name="object 1123"/>
          <p:cNvSpPr/>
          <p:nvPr/>
        </p:nvSpPr>
        <p:spPr>
          <a:xfrm>
            <a:off x="1915572" y="16556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4" name="object 1124"/>
          <p:cNvSpPr/>
          <p:nvPr/>
        </p:nvSpPr>
        <p:spPr>
          <a:xfrm>
            <a:off x="2409348" y="16556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5" name="object 1125"/>
          <p:cNvSpPr/>
          <p:nvPr/>
        </p:nvSpPr>
        <p:spPr>
          <a:xfrm>
            <a:off x="1915572" y="16373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6" name="object 1126"/>
          <p:cNvSpPr/>
          <p:nvPr/>
        </p:nvSpPr>
        <p:spPr>
          <a:xfrm>
            <a:off x="2409348" y="16373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7" name="object 1127"/>
          <p:cNvSpPr/>
          <p:nvPr/>
        </p:nvSpPr>
        <p:spPr>
          <a:xfrm>
            <a:off x="1915572" y="16190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8" name="object 1128"/>
          <p:cNvSpPr/>
          <p:nvPr/>
        </p:nvSpPr>
        <p:spPr>
          <a:xfrm>
            <a:off x="2409348" y="16190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9" name="object 1129"/>
          <p:cNvSpPr/>
          <p:nvPr/>
        </p:nvSpPr>
        <p:spPr>
          <a:xfrm>
            <a:off x="1915572" y="160227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0" name="object 1130"/>
          <p:cNvSpPr/>
          <p:nvPr/>
        </p:nvSpPr>
        <p:spPr>
          <a:xfrm>
            <a:off x="2409348" y="160227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1" name="object 1131"/>
          <p:cNvSpPr/>
          <p:nvPr/>
        </p:nvSpPr>
        <p:spPr>
          <a:xfrm>
            <a:off x="1915572" y="15839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2" name="object 1132"/>
          <p:cNvSpPr/>
          <p:nvPr/>
        </p:nvSpPr>
        <p:spPr>
          <a:xfrm>
            <a:off x="2409348" y="15839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3" name="object 1133"/>
          <p:cNvSpPr/>
          <p:nvPr/>
        </p:nvSpPr>
        <p:spPr>
          <a:xfrm>
            <a:off x="1915572" y="156722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4" name="object 1134"/>
          <p:cNvSpPr/>
          <p:nvPr/>
        </p:nvSpPr>
        <p:spPr>
          <a:xfrm>
            <a:off x="2409348" y="156722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5" name="object 1135"/>
          <p:cNvSpPr/>
          <p:nvPr/>
        </p:nvSpPr>
        <p:spPr>
          <a:xfrm>
            <a:off x="1915572" y="154893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6" name="object 1136"/>
          <p:cNvSpPr/>
          <p:nvPr/>
        </p:nvSpPr>
        <p:spPr>
          <a:xfrm>
            <a:off x="2409348" y="154893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7" name="object 1137"/>
          <p:cNvSpPr/>
          <p:nvPr/>
        </p:nvSpPr>
        <p:spPr>
          <a:xfrm>
            <a:off x="1915572" y="153064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8" name="object 1138"/>
          <p:cNvSpPr/>
          <p:nvPr/>
        </p:nvSpPr>
        <p:spPr>
          <a:xfrm>
            <a:off x="2409348" y="153064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9" name="object 1139"/>
          <p:cNvSpPr/>
          <p:nvPr/>
        </p:nvSpPr>
        <p:spPr>
          <a:xfrm>
            <a:off x="1915572" y="151388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0" name="object 1140"/>
          <p:cNvSpPr/>
          <p:nvPr/>
        </p:nvSpPr>
        <p:spPr>
          <a:xfrm>
            <a:off x="2409348" y="151388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1" name="object 1141"/>
          <p:cNvSpPr/>
          <p:nvPr/>
        </p:nvSpPr>
        <p:spPr>
          <a:xfrm>
            <a:off x="1915572" y="149559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2" name="object 1142"/>
          <p:cNvSpPr/>
          <p:nvPr/>
        </p:nvSpPr>
        <p:spPr>
          <a:xfrm>
            <a:off x="2409348" y="149559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3" name="object 1143"/>
          <p:cNvSpPr/>
          <p:nvPr/>
        </p:nvSpPr>
        <p:spPr>
          <a:xfrm>
            <a:off x="1915572" y="14925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4" name="object 1144"/>
          <p:cNvSpPr/>
          <p:nvPr/>
        </p:nvSpPr>
        <p:spPr>
          <a:xfrm>
            <a:off x="2409348" y="14925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5" name="object 1145"/>
          <p:cNvSpPr/>
          <p:nvPr/>
        </p:nvSpPr>
        <p:spPr>
          <a:xfrm>
            <a:off x="1915572" y="14788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6" name="object 1146"/>
          <p:cNvSpPr/>
          <p:nvPr/>
        </p:nvSpPr>
        <p:spPr>
          <a:xfrm>
            <a:off x="2409348" y="14788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7" name="object 1147"/>
          <p:cNvSpPr/>
          <p:nvPr/>
        </p:nvSpPr>
        <p:spPr>
          <a:xfrm>
            <a:off x="1915572" y="14696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8" name="object 1148"/>
          <p:cNvSpPr/>
          <p:nvPr/>
        </p:nvSpPr>
        <p:spPr>
          <a:xfrm>
            <a:off x="2409348" y="14696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9" name="object 1149"/>
          <p:cNvSpPr/>
          <p:nvPr/>
        </p:nvSpPr>
        <p:spPr>
          <a:xfrm>
            <a:off x="1915572" y="14605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0" name="object 1150"/>
          <p:cNvSpPr/>
          <p:nvPr/>
        </p:nvSpPr>
        <p:spPr>
          <a:xfrm>
            <a:off x="2409348" y="14605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1" name="object 1151"/>
          <p:cNvSpPr/>
          <p:nvPr/>
        </p:nvSpPr>
        <p:spPr>
          <a:xfrm>
            <a:off x="1915572" y="14453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2" name="object 1152"/>
          <p:cNvSpPr/>
          <p:nvPr/>
        </p:nvSpPr>
        <p:spPr>
          <a:xfrm>
            <a:off x="2409348" y="14453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3" name="object 1153"/>
          <p:cNvSpPr/>
          <p:nvPr/>
        </p:nvSpPr>
        <p:spPr>
          <a:xfrm>
            <a:off x="1915572" y="144225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4" name="object 1154"/>
          <p:cNvSpPr/>
          <p:nvPr/>
        </p:nvSpPr>
        <p:spPr>
          <a:xfrm>
            <a:off x="2409348" y="144225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5" name="object 1155"/>
          <p:cNvSpPr/>
          <p:nvPr/>
        </p:nvSpPr>
        <p:spPr>
          <a:xfrm>
            <a:off x="1915572" y="142548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6" name="object 1156"/>
          <p:cNvSpPr/>
          <p:nvPr/>
        </p:nvSpPr>
        <p:spPr>
          <a:xfrm>
            <a:off x="2409348" y="142548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7" name="object 1157"/>
          <p:cNvSpPr/>
          <p:nvPr/>
        </p:nvSpPr>
        <p:spPr>
          <a:xfrm>
            <a:off x="1915572" y="14072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8" name="object 1158"/>
          <p:cNvSpPr/>
          <p:nvPr/>
        </p:nvSpPr>
        <p:spPr>
          <a:xfrm>
            <a:off x="2409348" y="14072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9" name="object 1159"/>
          <p:cNvSpPr/>
          <p:nvPr/>
        </p:nvSpPr>
        <p:spPr>
          <a:xfrm>
            <a:off x="1915572" y="13904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0" name="object 1160"/>
          <p:cNvSpPr/>
          <p:nvPr/>
        </p:nvSpPr>
        <p:spPr>
          <a:xfrm>
            <a:off x="2409348" y="13904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1" name="object 1161"/>
          <p:cNvSpPr/>
          <p:nvPr/>
        </p:nvSpPr>
        <p:spPr>
          <a:xfrm>
            <a:off x="1915572" y="13721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2" name="object 1162"/>
          <p:cNvSpPr/>
          <p:nvPr/>
        </p:nvSpPr>
        <p:spPr>
          <a:xfrm>
            <a:off x="2409348" y="13721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3" name="object 1163"/>
          <p:cNvSpPr/>
          <p:nvPr/>
        </p:nvSpPr>
        <p:spPr>
          <a:xfrm>
            <a:off x="1915572" y="13553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4" name="object 1164"/>
          <p:cNvSpPr/>
          <p:nvPr/>
        </p:nvSpPr>
        <p:spPr>
          <a:xfrm>
            <a:off x="2409348" y="13553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5" name="object 1165"/>
          <p:cNvSpPr/>
          <p:nvPr/>
        </p:nvSpPr>
        <p:spPr>
          <a:xfrm>
            <a:off x="1915572" y="135233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6" name="object 1166"/>
          <p:cNvSpPr/>
          <p:nvPr/>
        </p:nvSpPr>
        <p:spPr>
          <a:xfrm>
            <a:off x="2409348" y="135233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7" name="object 1167"/>
          <p:cNvSpPr/>
          <p:nvPr/>
        </p:nvSpPr>
        <p:spPr>
          <a:xfrm>
            <a:off x="1915572" y="13370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8" name="object 1168"/>
          <p:cNvSpPr/>
          <p:nvPr/>
        </p:nvSpPr>
        <p:spPr>
          <a:xfrm>
            <a:off x="2409348" y="13370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9" name="object 1169"/>
          <p:cNvSpPr/>
          <p:nvPr/>
        </p:nvSpPr>
        <p:spPr>
          <a:xfrm>
            <a:off x="1915572" y="13279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0" name="object 1170"/>
          <p:cNvSpPr/>
          <p:nvPr/>
        </p:nvSpPr>
        <p:spPr>
          <a:xfrm>
            <a:off x="2409348" y="13279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1" name="object 1171"/>
          <p:cNvSpPr/>
          <p:nvPr/>
        </p:nvSpPr>
        <p:spPr>
          <a:xfrm>
            <a:off x="1915572" y="13188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2" name="object 1172"/>
          <p:cNvSpPr/>
          <p:nvPr/>
        </p:nvSpPr>
        <p:spPr>
          <a:xfrm>
            <a:off x="2409348" y="13188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3" name="object 1173"/>
          <p:cNvSpPr/>
          <p:nvPr/>
        </p:nvSpPr>
        <p:spPr>
          <a:xfrm>
            <a:off x="1915572" y="13050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4" name="object 1174"/>
          <p:cNvSpPr/>
          <p:nvPr/>
        </p:nvSpPr>
        <p:spPr>
          <a:xfrm>
            <a:off x="2409348" y="13050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5" name="object 1175"/>
          <p:cNvSpPr/>
          <p:nvPr/>
        </p:nvSpPr>
        <p:spPr>
          <a:xfrm>
            <a:off x="1915572" y="13020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6" name="object 1176"/>
          <p:cNvSpPr/>
          <p:nvPr/>
        </p:nvSpPr>
        <p:spPr>
          <a:xfrm>
            <a:off x="2409348" y="13020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7" name="object 1177"/>
          <p:cNvSpPr/>
          <p:nvPr/>
        </p:nvSpPr>
        <p:spPr>
          <a:xfrm>
            <a:off x="1915572" y="128375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8" name="object 1178"/>
          <p:cNvSpPr/>
          <p:nvPr/>
        </p:nvSpPr>
        <p:spPr>
          <a:xfrm>
            <a:off x="2409348" y="128375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9" name="object 1179"/>
          <p:cNvSpPr/>
          <p:nvPr/>
        </p:nvSpPr>
        <p:spPr>
          <a:xfrm>
            <a:off x="1915572" y="128070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0" name="object 1180"/>
          <p:cNvSpPr/>
          <p:nvPr/>
        </p:nvSpPr>
        <p:spPr>
          <a:xfrm>
            <a:off x="2409348" y="128070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1" name="object 1181"/>
          <p:cNvSpPr/>
          <p:nvPr/>
        </p:nvSpPr>
        <p:spPr>
          <a:xfrm>
            <a:off x="1915572" y="12669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2" name="object 1182"/>
          <p:cNvSpPr/>
          <p:nvPr/>
        </p:nvSpPr>
        <p:spPr>
          <a:xfrm>
            <a:off x="2409348" y="12669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3" name="object 1183"/>
          <p:cNvSpPr/>
          <p:nvPr/>
        </p:nvSpPr>
        <p:spPr>
          <a:xfrm>
            <a:off x="1915572" y="12578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4" name="object 1184"/>
          <p:cNvSpPr/>
          <p:nvPr/>
        </p:nvSpPr>
        <p:spPr>
          <a:xfrm>
            <a:off x="2409348" y="12578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5" name="object 1185"/>
          <p:cNvSpPr/>
          <p:nvPr/>
        </p:nvSpPr>
        <p:spPr>
          <a:xfrm>
            <a:off x="1915572" y="124870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6" name="object 1186"/>
          <p:cNvSpPr/>
          <p:nvPr/>
        </p:nvSpPr>
        <p:spPr>
          <a:xfrm>
            <a:off x="2409348" y="124870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7" name="object 1187"/>
          <p:cNvSpPr/>
          <p:nvPr/>
        </p:nvSpPr>
        <p:spPr>
          <a:xfrm>
            <a:off x="1915572" y="12334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8" name="object 1188"/>
          <p:cNvSpPr/>
          <p:nvPr/>
        </p:nvSpPr>
        <p:spPr>
          <a:xfrm>
            <a:off x="2409348" y="12334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9" name="object 1189"/>
          <p:cNvSpPr/>
          <p:nvPr/>
        </p:nvSpPr>
        <p:spPr>
          <a:xfrm>
            <a:off x="1915572" y="123041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0" name="object 1190"/>
          <p:cNvSpPr/>
          <p:nvPr/>
        </p:nvSpPr>
        <p:spPr>
          <a:xfrm>
            <a:off x="2409348" y="123041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1" name="object 1191"/>
          <p:cNvSpPr/>
          <p:nvPr/>
        </p:nvSpPr>
        <p:spPr>
          <a:xfrm>
            <a:off x="1915572" y="121365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2" name="object 1192"/>
          <p:cNvSpPr/>
          <p:nvPr/>
        </p:nvSpPr>
        <p:spPr>
          <a:xfrm>
            <a:off x="2409348" y="121365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3" name="object 1193"/>
          <p:cNvSpPr/>
          <p:nvPr/>
        </p:nvSpPr>
        <p:spPr>
          <a:xfrm>
            <a:off x="1915572" y="119536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4" name="object 1194"/>
          <p:cNvSpPr/>
          <p:nvPr/>
        </p:nvSpPr>
        <p:spPr>
          <a:xfrm>
            <a:off x="2409348" y="119536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5" name="object 1195"/>
          <p:cNvSpPr/>
          <p:nvPr/>
        </p:nvSpPr>
        <p:spPr>
          <a:xfrm>
            <a:off x="1915572" y="117860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6" name="object 1196"/>
          <p:cNvSpPr/>
          <p:nvPr/>
        </p:nvSpPr>
        <p:spPr>
          <a:xfrm>
            <a:off x="2409348" y="117860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7" name="object 1197"/>
          <p:cNvSpPr/>
          <p:nvPr/>
        </p:nvSpPr>
        <p:spPr>
          <a:xfrm>
            <a:off x="1915572" y="116031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8" name="object 1198"/>
          <p:cNvSpPr/>
          <p:nvPr/>
        </p:nvSpPr>
        <p:spPr>
          <a:xfrm>
            <a:off x="2409348" y="116031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9" name="object 1199"/>
          <p:cNvSpPr/>
          <p:nvPr/>
        </p:nvSpPr>
        <p:spPr>
          <a:xfrm>
            <a:off x="1915572" y="11420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0" name="object 1200"/>
          <p:cNvSpPr/>
          <p:nvPr/>
        </p:nvSpPr>
        <p:spPr>
          <a:xfrm>
            <a:off x="2409348" y="11420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1" name="object 1201"/>
          <p:cNvSpPr/>
          <p:nvPr/>
        </p:nvSpPr>
        <p:spPr>
          <a:xfrm>
            <a:off x="1915572" y="11252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2" name="object 1202"/>
          <p:cNvSpPr/>
          <p:nvPr/>
        </p:nvSpPr>
        <p:spPr>
          <a:xfrm>
            <a:off x="2409348" y="11252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3" name="object 1203"/>
          <p:cNvSpPr/>
          <p:nvPr/>
        </p:nvSpPr>
        <p:spPr>
          <a:xfrm>
            <a:off x="1915572" y="11069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4" name="object 1204"/>
          <p:cNvSpPr/>
          <p:nvPr/>
        </p:nvSpPr>
        <p:spPr>
          <a:xfrm>
            <a:off x="2409348" y="11069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5" name="object 1205"/>
          <p:cNvSpPr/>
          <p:nvPr/>
        </p:nvSpPr>
        <p:spPr>
          <a:xfrm>
            <a:off x="1915572" y="10902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6" name="object 1206"/>
          <p:cNvSpPr/>
          <p:nvPr/>
        </p:nvSpPr>
        <p:spPr>
          <a:xfrm>
            <a:off x="2409348" y="10902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7" name="object 1207"/>
          <p:cNvSpPr/>
          <p:nvPr/>
        </p:nvSpPr>
        <p:spPr>
          <a:xfrm>
            <a:off x="1915572" y="1081700"/>
            <a:ext cx="3175" cy="8890"/>
          </a:xfrm>
          <a:custGeom>
            <a:avLst/>
            <a:gdLst/>
            <a:ahLst/>
            <a:cxnLst/>
            <a:rect l="l" t="t" r="r" b="b"/>
            <a:pathLst>
              <a:path w="3175" h="8890">
                <a:moveTo>
                  <a:pt x="0" y="8889"/>
                </a:moveTo>
                <a:lnTo>
                  <a:pt x="3047" y="8889"/>
                </a:lnTo>
                <a:lnTo>
                  <a:pt x="3047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8" name="object 1208"/>
          <p:cNvSpPr/>
          <p:nvPr/>
        </p:nvSpPr>
        <p:spPr>
          <a:xfrm>
            <a:off x="1915572" y="107947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E5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9" name="object 1209"/>
          <p:cNvSpPr/>
          <p:nvPr/>
        </p:nvSpPr>
        <p:spPr>
          <a:xfrm>
            <a:off x="2409348" y="10810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0" name="object 1210"/>
          <p:cNvSpPr/>
          <p:nvPr/>
        </p:nvSpPr>
        <p:spPr>
          <a:xfrm>
            <a:off x="1915572" y="221327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1" name="object 1211"/>
          <p:cNvSpPr/>
          <p:nvPr/>
        </p:nvSpPr>
        <p:spPr>
          <a:xfrm>
            <a:off x="1915572" y="220438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20"/>
                </a:moveTo>
                <a:lnTo>
                  <a:pt x="3047" y="7620"/>
                </a:lnTo>
                <a:lnTo>
                  <a:pt x="3047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2" name="object 1212"/>
          <p:cNvSpPr/>
          <p:nvPr/>
        </p:nvSpPr>
        <p:spPr>
          <a:xfrm>
            <a:off x="2409348" y="2204253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7" y="0"/>
                </a:moveTo>
                <a:lnTo>
                  <a:pt x="0" y="0"/>
                </a:lnTo>
                <a:lnTo>
                  <a:pt x="0" y="7620"/>
                </a:lnTo>
                <a:lnTo>
                  <a:pt x="3047" y="7620"/>
                </a:lnTo>
                <a:lnTo>
                  <a:pt x="3047" y="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3" name="object 1213"/>
          <p:cNvSpPr/>
          <p:nvPr/>
        </p:nvSpPr>
        <p:spPr>
          <a:xfrm>
            <a:off x="1915572" y="219053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4" name="object 1214"/>
          <p:cNvSpPr/>
          <p:nvPr/>
        </p:nvSpPr>
        <p:spPr>
          <a:xfrm>
            <a:off x="2409348" y="219053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5" name="object 1215"/>
          <p:cNvSpPr/>
          <p:nvPr/>
        </p:nvSpPr>
        <p:spPr>
          <a:xfrm>
            <a:off x="1915572" y="21752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6" name="object 1216"/>
          <p:cNvSpPr/>
          <p:nvPr/>
        </p:nvSpPr>
        <p:spPr>
          <a:xfrm>
            <a:off x="2409348" y="21752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7" name="object 1217"/>
          <p:cNvSpPr/>
          <p:nvPr/>
        </p:nvSpPr>
        <p:spPr>
          <a:xfrm>
            <a:off x="1915572" y="216158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8" name="object 1218"/>
          <p:cNvSpPr/>
          <p:nvPr/>
        </p:nvSpPr>
        <p:spPr>
          <a:xfrm>
            <a:off x="2409348" y="216158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9" name="object 1219"/>
          <p:cNvSpPr/>
          <p:nvPr/>
        </p:nvSpPr>
        <p:spPr>
          <a:xfrm>
            <a:off x="1915572" y="214786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0" name="object 1220"/>
          <p:cNvSpPr/>
          <p:nvPr/>
        </p:nvSpPr>
        <p:spPr>
          <a:xfrm>
            <a:off x="2409348" y="214786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1" name="object 1221"/>
          <p:cNvSpPr/>
          <p:nvPr/>
        </p:nvSpPr>
        <p:spPr>
          <a:xfrm>
            <a:off x="1915572" y="21326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2" name="object 1222"/>
          <p:cNvSpPr/>
          <p:nvPr/>
        </p:nvSpPr>
        <p:spPr>
          <a:xfrm>
            <a:off x="2409348" y="21326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3" name="object 1223"/>
          <p:cNvSpPr/>
          <p:nvPr/>
        </p:nvSpPr>
        <p:spPr>
          <a:xfrm>
            <a:off x="1915572" y="21189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4" name="object 1224"/>
          <p:cNvSpPr/>
          <p:nvPr/>
        </p:nvSpPr>
        <p:spPr>
          <a:xfrm>
            <a:off x="2409348" y="211890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5" name="object 1225"/>
          <p:cNvSpPr/>
          <p:nvPr/>
        </p:nvSpPr>
        <p:spPr>
          <a:xfrm>
            <a:off x="1915572" y="21051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6" name="object 1226"/>
          <p:cNvSpPr/>
          <p:nvPr/>
        </p:nvSpPr>
        <p:spPr>
          <a:xfrm>
            <a:off x="2409348" y="21051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7" name="object 1227"/>
          <p:cNvSpPr/>
          <p:nvPr/>
        </p:nvSpPr>
        <p:spPr>
          <a:xfrm>
            <a:off x="1915572" y="20914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8" name="object 1228"/>
          <p:cNvSpPr/>
          <p:nvPr/>
        </p:nvSpPr>
        <p:spPr>
          <a:xfrm>
            <a:off x="2409348" y="209147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9" name="object 1229"/>
          <p:cNvSpPr/>
          <p:nvPr/>
        </p:nvSpPr>
        <p:spPr>
          <a:xfrm>
            <a:off x="1915572" y="207623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0" name="object 1230"/>
          <p:cNvSpPr/>
          <p:nvPr/>
        </p:nvSpPr>
        <p:spPr>
          <a:xfrm>
            <a:off x="2409348" y="207623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1" name="object 1231"/>
          <p:cNvSpPr/>
          <p:nvPr/>
        </p:nvSpPr>
        <p:spPr>
          <a:xfrm>
            <a:off x="1915572" y="206252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2" name="object 1232"/>
          <p:cNvSpPr/>
          <p:nvPr/>
        </p:nvSpPr>
        <p:spPr>
          <a:xfrm>
            <a:off x="2409348" y="206252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3" name="object 1233"/>
          <p:cNvSpPr/>
          <p:nvPr/>
        </p:nvSpPr>
        <p:spPr>
          <a:xfrm>
            <a:off x="1915572" y="20488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4" name="object 1234"/>
          <p:cNvSpPr/>
          <p:nvPr/>
        </p:nvSpPr>
        <p:spPr>
          <a:xfrm>
            <a:off x="2409348" y="204880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5" name="object 1235"/>
          <p:cNvSpPr/>
          <p:nvPr/>
        </p:nvSpPr>
        <p:spPr>
          <a:xfrm>
            <a:off x="1915572" y="203508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6" name="object 1236"/>
          <p:cNvSpPr/>
          <p:nvPr/>
        </p:nvSpPr>
        <p:spPr>
          <a:xfrm>
            <a:off x="2409348" y="203508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7" name="object 1237"/>
          <p:cNvSpPr/>
          <p:nvPr/>
        </p:nvSpPr>
        <p:spPr>
          <a:xfrm>
            <a:off x="1915572" y="20198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8" name="object 1238"/>
          <p:cNvSpPr/>
          <p:nvPr/>
        </p:nvSpPr>
        <p:spPr>
          <a:xfrm>
            <a:off x="2409348" y="20198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9" name="object 1239"/>
          <p:cNvSpPr/>
          <p:nvPr/>
        </p:nvSpPr>
        <p:spPr>
          <a:xfrm>
            <a:off x="1915572" y="200613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0" name="object 1240"/>
          <p:cNvSpPr/>
          <p:nvPr/>
        </p:nvSpPr>
        <p:spPr>
          <a:xfrm>
            <a:off x="2409348" y="200613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1" name="object 1241"/>
          <p:cNvSpPr/>
          <p:nvPr/>
        </p:nvSpPr>
        <p:spPr>
          <a:xfrm>
            <a:off x="1915572" y="19924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2" name="object 1242"/>
          <p:cNvSpPr/>
          <p:nvPr/>
        </p:nvSpPr>
        <p:spPr>
          <a:xfrm>
            <a:off x="2409348" y="199241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3" name="object 1243"/>
          <p:cNvSpPr/>
          <p:nvPr/>
        </p:nvSpPr>
        <p:spPr>
          <a:xfrm>
            <a:off x="1915572" y="197870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4" name="object 1244"/>
          <p:cNvSpPr/>
          <p:nvPr/>
        </p:nvSpPr>
        <p:spPr>
          <a:xfrm>
            <a:off x="2409348" y="197870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5" name="object 1245"/>
          <p:cNvSpPr/>
          <p:nvPr/>
        </p:nvSpPr>
        <p:spPr>
          <a:xfrm>
            <a:off x="1915572" y="19634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6" name="object 1246"/>
          <p:cNvSpPr/>
          <p:nvPr/>
        </p:nvSpPr>
        <p:spPr>
          <a:xfrm>
            <a:off x="2409348" y="19634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7" name="object 1247"/>
          <p:cNvSpPr/>
          <p:nvPr/>
        </p:nvSpPr>
        <p:spPr>
          <a:xfrm>
            <a:off x="1915572" y="19497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8" name="object 1248"/>
          <p:cNvSpPr/>
          <p:nvPr/>
        </p:nvSpPr>
        <p:spPr>
          <a:xfrm>
            <a:off x="2409348" y="194974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9" name="object 1249"/>
          <p:cNvSpPr/>
          <p:nvPr/>
        </p:nvSpPr>
        <p:spPr>
          <a:xfrm>
            <a:off x="1915572" y="19360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0" name="object 1250"/>
          <p:cNvSpPr/>
          <p:nvPr/>
        </p:nvSpPr>
        <p:spPr>
          <a:xfrm>
            <a:off x="2409348" y="19360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1" name="object 1251"/>
          <p:cNvSpPr/>
          <p:nvPr/>
        </p:nvSpPr>
        <p:spPr>
          <a:xfrm>
            <a:off x="1915572" y="1920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2" name="object 1252"/>
          <p:cNvSpPr/>
          <p:nvPr/>
        </p:nvSpPr>
        <p:spPr>
          <a:xfrm>
            <a:off x="2409348" y="1920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3" name="object 1253"/>
          <p:cNvSpPr/>
          <p:nvPr/>
        </p:nvSpPr>
        <p:spPr>
          <a:xfrm>
            <a:off x="1915572" y="190707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4" name="object 1254"/>
          <p:cNvSpPr/>
          <p:nvPr/>
        </p:nvSpPr>
        <p:spPr>
          <a:xfrm>
            <a:off x="2409348" y="190707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5" name="object 1255"/>
          <p:cNvSpPr/>
          <p:nvPr/>
        </p:nvSpPr>
        <p:spPr>
          <a:xfrm>
            <a:off x="1915572" y="189335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6" name="object 1256"/>
          <p:cNvSpPr/>
          <p:nvPr/>
        </p:nvSpPr>
        <p:spPr>
          <a:xfrm>
            <a:off x="2409348" y="189335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7" name="object 1257"/>
          <p:cNvSpPr/>
          <p:nvPr/>
        </p:nvSpPr>
        <p:spPr>
          <a:xfrm>
            <a:off x="1915572" y="187964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8" name="object 1258"/>
          <p:cNvSpPr/>
          <p:nvPr/>
        </p:nvSpPr>
        <p:spPr>
          <a:xfrm>
            <a:off x="2409348" y="1879641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9" name="object 1259"/>
          <p:cNvSpPr/>
          <p:nvPr/>
        </p:nvSpPr>
        <p:spPr>
          <a:xfrm>
            <a:off x="1915572" y="18644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0" name="object 1260"/>
          <p:cNvSpPr/>
          <p:nvPr/>
        </p:nvSpPr>
        <p:spPr>
          <a:xfrm>
            <a:off x="2409348" y="18644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1" name="object 1261"/>
          <p:cNvSpPr/>
          <p:nvPr/>
        </p:nvSpPr>
        <p:spPr>
          <a:xfrm>
            <a:off x="1915572" y="18506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2" name="object 1262"/>
          <p:cNvSpPr/>
          <p:nvPr/>
        </p:nvSpPr>
        <p:spPr>
          <a:xfrm>
            <a:off x="2409348" y="18506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3" name="object 1263"/>
          <p:cNvSpPr/>
          <p:nvPr/>
        </p:nvSpPr>
        <p:spPr>
          <a:xfrm>
            <a:off x="1915572" y="18369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4" name="object 1264"/>
          <p:cNvSpPr/>
          <p:nvPr/>
        </p:nvSpPr>
        <p:spPr>
          <a:xfrm>
            <a:off x="2409348" y="183696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5" name="object 1265"/>
          <p:cNvSpPr/>
          <p:nvPr/>
        </p:nvSpPr>
        <p:spPr>
          <a:xfrm>
            <a:off x="1915572" y="18232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6" name="object 1266"/>
          <p:cNvSpPr/>
          <p:nvPr/>
        </p:nvSpPr>
        <p:spPr>
          <a:xfrm>
            <a:off x="2409348" y="182325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7" name="object 1267"/>
          <p:cNvSpPr/>
          <p:nvPr/>
        </p:nvSpPr>
        <p:spPr>
          <a:xfrm>
            <a:off x="1915572" y="18080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8" name="object 1268"/>
          <p:cNvSpPr/>
          <p:nvPr/>
        </p:nvSpPr>
        <p:spPr>
          <a:xfrm>
            <a:off x="2409348" y="180801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9" name="object 1269"/>
          <p:cNvSpPr/>
          <p:nvPr/>
        </p:nvSpPr>
        <p:spPr>
          <a:xfrm>
            <a:off x="1915572" y="179429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0" name="object 1270"/>
          <p:cNvSpPr/>
          <p:nvPr/>
        </p:nvSpPr>
        <p:spPr>
          <a:xfrm>
            <a:off x="2409348" y="1794297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1" name="object 1271"/>
          <p:cNvSpPr/>
          <p:nvPr/>
        </p:nvSpPr>
        <p:spPr>
          <a:xfrm>
            <a:off x="1915572" y="177600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2" name="object 1272"/>
          <p:cNvSpPr/>
          <p:nvPr/>
        </p:nvSpPr>
        <p:spPr>
          <a:xfrm>
            <a:off x="2409348" y="177600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3" name="object 1273"/>
          <p:cNvSpPr/>
          <p:nvPr/>
        </p:nvSpPr>
        <p:spPr>
          <a:xfrm>
            <a:off x="1915572" y="1751625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4" name="object 1274"/>
          <p:cNvSpPr/>
          <p:nvPr/>
        </p:nvSpPr>
        <p:spPr>
          <a:xfrm>
            <a:off x="2409348" y="1751625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5" name="object 1275"/>
          <p:cNvSpPr/>
          <p:nvPr/>
        </p:nvSpPr>
        <p:spPr>
          <a:xfrm>
            <a:off x="1915572" y="1728765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60"/>
                </a:lnTo>
                <a:lnTo>
                  <a:pt x="3047" y="22860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6" name="object 1276"/>
          <p:cNvSpPr/>
          <p:nvPr/>
        </p:nvSpPr>
        <p:spPr>
          <a:xfrm>
            <a:off x="2409348" y="1728765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60"/>
                </a:lnTo>
                <a:lnTo>
                  <a:pt x="3047" y="22860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7" name="object 1277"/>
          <p:cNvSpPr/>
          <p:nvPr/>
        </p:nvSpPr>
        <p:spPr>
          <a:xfrm>
            <a:off x="1915572" y="1707429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7" y="0"/>
                </a:moveTo>
                <a:lnTo>
                  <a:pt x="0" y="0"/>
                </a:lnTo>
                <a:lnTo>
                  <a:pt x="0" y="21335"/>
                </a:lnTo>
                <a:lnTo>
                  <a:pt x="3047" y="21335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8" name="object 1278"/>
          <p:cNvSpPr/>
          <p:nvPr/>
        </p:nvSpPr>
        <p:spPr>
          <a:xfrm>
            <a:off x="2409348" y="1707429"/>
            <a:ext cx="3175" cy="21590"/>
          </a:xfrm>
          <a:custGeom>
            <a:avLst/>
            <a:gdLst/>
            <a:ahLst/>
            <a:cxnLst/>
            <a:rect l="l" t="t" r="r" b="b"/>
            <a:pathLst>
              <a:path w="3175" h="21589">
                <a:moveTo>
                  <a:pt x="3047" y="0"/>
                </a:moveTo>
                <a:lnTo>
                  <a:pt x="0" y="0"/>
                </a:lnTo>
                <a:lnTo>
                  <a:pt x="0" y="21335"/>
                </a:lnTo>
                <a:lnTo>
                  <a:pt x="3047" y="21335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9" name="object 1279"/>
          <p:cNvSpPr/>
          <p:nvPr/>
        </p:nvSpPr>
        <p:spPr>
          <a:xfrm>
            <a:off x="1915572" y="16906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0" name="object 1280"/>
          <p:cNvSpPr/>
          <p:nvPr/>
        </p:nvSpPr>
        <p:spPr>
          <a:xfrm>
            <a:off x="2409348" y="169066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1" name="object 1281"/>
          <p:cNvSpPr/>
          <p:nvPr/>
        </p:nvSpPr>
        <p:spPr>
          <a:xfrm>
            <a:off x="1915572" y="16723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2" name="object 1282"/>
          <p:cNvSpPr/>
          <p:nvPr/>
        </p:nvSpPr>
        <p:spPr>
          <a:xfrm>
            <a:off x="2409348" y="167237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3" name="object 1283"/>
          <p:cNvSpPr/>
          <p:nvPr/>
        </p:nvSpPr>
        <p:spPr>
          <a:xfrm>
            <a:off x="1915572" y="16556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4" name="object 1284"/>
          <p:cNvSpPr/>
          <p:nvPr/>
        </p:nvSpPr>
        <p:spPr>
          <a:xfrm>
            <a:off x="2409348" y="165561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5" name="object 1285"/>
          <p:cNvSpPr/>
          <p:nvPr/>
        </p:nvSpPr>
        <p:spPr>
          <a:xfrm>
            <a:off x="1915572" y="16373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6" name="object 1286"/>
          <p:cNvSpPr/>
          <p:nvPr/>
        </p:nvSpPr>
        <p:spPr>
          <a:xfrm>
            <a:off x="2409348" y="16373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7" name="object 1287"/>
          <p:cNvSpPr/>
          <p:nvPr/>
        </p:nvSpPr>
        <p:spPr>
          <a:xfrm>
            <a:off x="1915572" y="16190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8" name="object 1288"/>
          <p:cNvSpPr/>
          <p:nvPr/>
        </p:nvSpPr>
        <p:spPr>
          <a:xfrm>
            <a:off x="2409348" y="16190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9" name="object 1289"/>
          <p:cNvSpPr/>
          <p:nvPr/>
        </p:nvSpPr>
        <p:spPr>
          <a:xfrm>
            <a:off x="1915572" y="160227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0" name="object 1290"/>
          <p:cNvSpPr/>
          <p:nvPr/>
        </p:nvSpPr>
        <p:spPr>
          <a:xfrm>
            <a:off x="2409348" y="160227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1" name="object 1291"/>
          <p:cNvSpPr/>
          <p:nvPr/>
        </p:nvSpPr>
        <p:spPr>
          <a:xfrm>
            <a:off x="1915572" y="15839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2" name="object 1292"/>
          <p:cNvSpPr/>
          <p:nvPr/>
        </p:nvSpPr>
        <p:spPr>
          <a:xfrm>
            <a:off x="2409348" y="15839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3" name="object 1293"/>
          <p:cNvSpPr/>
          <p:nvPr/>
        </p:nvSpPr>
        <p:spPr>
          <a:xfrm>
            <a:off x="1915572" y="156722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4" name="object 1294"/>
          <p:cNvSpPr/>
          <p:nvPr/>
        </p:nvSpPr>
        <p:spPr>
          <a:xfrm>
            <a:off x="2409348" y="156722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5" name="object 1295"/>
          <p:cNvSpPr/>
          <p:nvPr/>
        </p:nvSpPr>
        <p:spPr>
          <a:xfrm>
            <a:off x="1915572" y="154893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6" name="object 1296"/>
          <p:cNvSpPr/>
          <p:nvPr/>
        </p:nvSpPr>
        <p:spPr>
          <a:xfrm>
            <a:off x="2409348" y="154893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7" name="object 1297"/>
          <p:cNvSpPr/>
          <p:nvPr/>
        </p:nvSpPr>
        <p:spPr>
          <a:xfrm>
            <a:off x="1915572" y="153064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8" name="object 1298"/>
          <p:cNvSpPr/>
          <p:nvPr/>
        </p:nvSpPr>
        <p:spPr>
          <a:xfrm>
            <a:off x="2409348" y="153064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9" name="object 1299"/>
          <p:cNvSpPr/>
          <p:nvPr/>
        </p:nvSpPr>
        <p:spPr>
          <a:xfrm>
            <a:off x="1915572" y="151388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0" name="object 1300"/>
          <p:cNvSpPr/>
          <p:nvPr/>
        </p:nvSpPr>
        <p:spPr>
          <a:xfrm>
            <a:off x="2409348" y="151388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1" name="object 1301"/>
          <p:cNvSpPr/>
          <p:nvPr/>
        </p:nvSpPr>
        <p:spPr>
          <a:xfrm>
            <a:off x="1915572" y="149559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2" name="object 1302"/>
          <p:cNvSpPr/>
          <p:nvPr/>
        </p:nvSpPr>
        <p:spPr>
          <a:xfrm>
            <a:off x="2409348" y="149559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8"/>
                </a:lnTo>
                <a:lnTo>
                  <a:pt x="3047" y="1828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3" name="object 1303"/>
          <p:cNvSpPr/>
          <p:nvPr/>
        </p:nvSpPr>
        <p:spPr>
          <a:xfrm>
            <a:off x="1915572" y="14925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4" name="object 1304"/>
          <p:cNvSpPr/>
          <p:nvPr/>
        </p:nvSpPr>
        <p:spPr>
          <a:xfrm>
            <a:off x="2409348" y="14925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5" name="object 1305"/>
          <p:cNvSpPr/>
          <p:nvPr/>
        </p:nvSpPr>
        <p:spPr>
          <a:xfrm>
            <a:off x="1915572" y="14788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6" name="object 1306"/>
          <p:cNvSpPr/>
          <p:nvPr/>
        </p:nvSpPr>
        <p:spPr>
          <a:xfrm>
            <a:off x="2409348" y="147882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7" name="object 1307"/>
          <p:cNvSpPr/>
          <p:nvPr/>
        </p:nvSpPr>
        <p:spPr>
          <a:xfrm>
            <a:off x="1915572" y="14696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8" name="object 1308"/>
          <p:cNvSpPr/>
          <p:nvPr/>
        </p:nvSpPr>
        <p:spPr>
          <a:xfrm>
            <a:off x="2409348" y="146968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9" name="object 1309"/>
          <p:cNvSpPr/>
          <p:nvPr/>
        </p:nvSpPr>
        <p:spPr>
          <a:xfrm>
            <a:off x="1915572" y="14605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0" name="object 1310"/>
          <p:cNvSpPr/>
          <p:nvPr/>
        </p:nvSpPr>
        <p:spPr>
          <a:xfrm>
            <a:off x="2409348" y="146054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1" name="object 1311"/>
          <p:cNvSpPr/>
          <p:nvPr/>
        </p:nvSpPr>
        <p:spPr>
          <a:xfrm>
            <a:off x="1915572" y="14453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2" name="object 1312"/>
          <p:cNvSpPr/>
          <p:nvPr/>
        </p:nvSpPr>
        <p:spPr>
          <a:xfrm>
            <a:off x="2409348" y="144530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3" name="object 1313"/>
          <p:cNvSpPr/>
          <p:nvPr/>
        </p:nvSpPr>
        <p:spPr>
          <a:xfrm>
            <a:off x="1915572" y="144225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4" name="object 1314"/>
          <p:cNvSpPr/>
          <p:nvPr/>
        </p:nvSpPr>
        <p:spPr>
          <a:xfrm>
            <a:off x="2409348" y="1442253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5" name="object 1315"/>
          <p:cNvSpPr/>
          <p:nvPr/>
        </p:nvSpPr>
        <p:spPr>
          <a:xfrm>
            <a:off x="1915572" y="142548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6" name="object 1316"/>
          <p:cNvSpPr/>
          <p:nvPr/>
        </p:nvSpPr>
        <p:spPr>
          <a:xfrm>
            <a:off x="2409348" y="142548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7" name="object 1317"/>
          <p:cNvSpPr/>
          <p:nvPr/>
        </p:nvSpPr>
        <p:spPr>
          <a:xfrm>
            <a:off x="1915572" y="14072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8" name="object 1318"/>
          <p:cNvSpPr/>
          <p:nvPr/>
        </p:nvSpPr>
        <p:spPr>
          <a:xfrm>
            <a:off x="2409348" y="140720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9" name="object 1319"/>
          <p:cNvSpPr/>
          <p:nvPr/>
        </p:nvSpPr>
        <p:spPr>
          <a:xfrm>
            <a:off x="1915572" y="13904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0" name="object 1320"/>
          <p:cNvSpPr/>
          <p:nvPr/>
        </p:nvSpPr>
        <p:spPr>
          <a:xfrm>
            <a:off x="2409348" y="1390437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1" name="object 1321"/>
          <p:cNvSpPr/>
          <p:nvPr/>
        </p:nvSpPr>
        <p:spPr>
          <a:xfrm>
            <a:off x="1915572" y="13721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2" name="object 1322"/>
          <p:cNvSpPr/>
          <p:nvPr/>
        </p:nvSpPr>
        <p:spPr>
          <a:xfrm>
            <a:off x="2409348" y="13721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3" name="object 1323"/>
          <p:cNvSpPr/>
          <p:nvPr/>
        </p:nvSpPr>
        <p:spPr>
          <a:xfrm>
            <a:off x="1915572" y="13553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4" name="object 1324"/>
          <p:cNvSpPr/>
          <p:nvPr/>
        </p:nvSpPr>
        <p:spPr>
          <a:xfrm>
            <a:off x="2409348" y="1355385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5" name="object 1325"/>
          <p:cNvSpPr/>
          <p:nvPr/>
        </p:nvSpPr>
        <p:spPr>
          <a:xfrm>
            <a:off x="1915572" y="135233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6" name="object 1326"/>
          <p:cNvSpPr/>
          <p:nvPr/>
        </p:nvSpPr>
        <p:spPr>
          <a:xfrm>
            <a:off x="2409348" y="135233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7" name="object 1327"/>
          <p:cNvSpPr/>
          <p:nvPr/>
        </p:nvSpPr>
        <p:spPr>
          <a:xfrm>
            <a:off x="1915572" y="13370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8" name="object 1328"/>
          <p:cNvSpPr/>
          <p:nvPr/>
        </p:nvSpPr>
        <p:spPr>
          <a:xfrm>
            <a:off x="2409348" y="1337097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9" name="object 1329"/>
          <p:cNvSpPr/>
          <p:nvPr/>
        </p:nvSpPr>
        <p:spPr>
          <a:xfrm>
            <a:off x="1915572" y="13279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0" name="object 1330"/>
          <p:cNvSpPr/>
          <p:nvPr/>
        </p:nvSpPr>
        <p:spPr>
          <a:xfrm>
            <a:off x="2409348" y="132795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1" name="object 1331"/>
          <p:cNvSpPr/>
          <p:nvPr/>
        </p:nvSpPr>
        <p:spPr>
          <a:xfrm>
            <a:off x="1915572" y="13188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2" name="object 1332"/>
          <p:cNvSpPr/>
          <p:nvPr/>
        </p:nvSpPr>
        <p:spPr>
          <a:xfrm>
            <a:off x="2409348" y="131880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3" name="object 1333"/>
          <p:cNvSpPr/>
          <p:nvPr/>
        </p:nvSpPr>
        <p:spPr>
          <a:xfrm>
            <a:off x="1915572" y="13050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4" name="object 1334"/>
          <p:cNvSpPr/>
          <p:nvPr/>
        </p:nvSpPr>
        <p:spPr>
          <a:xfrm>
            <a:off x="2409348" y="13050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5" name="object 1335"/>
          <p:cNvSpPr/>
          <p:nvPr/>
        </p:nvSpPr>
        <p:spPr>
          <a:xfrm>
            <a:off x="1915572" y="13020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6" name="object 1336"/>
          <p:cNvSpPr/>
          <p:nvPr/>
        </p:nvSpPr>
        <p:spPr>
          <a:xfrm>
            <a:off x="2409348" y="130204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7" name="object 1337"/>
          <p:cNvSpPr/>
          <p:nvPr/>
        </p:nvSpPr>
        <p:spPr>
          <a:xfrm>
            <a:off x="1915572" y="128375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8" name="object 1338"/>
          <p:cNvSpPr/>
          <p:nvPr/>
        </p:nvSpPr>
        <p:spPr>
          <a:xfrm>
            <a:off x="2409348" y="128375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9" name="object 1339"/>
          <p:cNvSpPr/>
          <p:nvPr/>
        </p:nvSpPr>
        <p:spPr>
          <a:xfrm>
            <a:off x="1915572" y="128070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0" name="object 1340"/>
          <p:cNvSpPr/>
          <p:nvPr/>
        </p:nvSpPr>
        <p:spPr>
          <a:xfrm>
            <a:off x="2409348" y="1280709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1" name="object 1341"/>
          <p:cNvSpPr/>
          <p:nvPr/>
        </p:nvSpPr>
        <p:spPr>
          <a:xfrm>
            <a:off x="1915572" y="12669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2" name="object 1342"/>
          <p:cNvSpPr/>
          <p:nvPr/>
        </p:nvSpPr>
        <p:spPr>
          <a:xfrm>
            <a:off x="2409348" y="1266993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6"/>
                </a:lnTo>
                <a:lnTo>
                  <a:pt x="3047" y="13716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3" name="object 1343"/>
          <p:cNvSpPr/>
          <p:nvPr/>
        </p:nvSpPr>
        <p:spPr>
          <a:xfrm>
            <a:off x="1915572" y="12578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4" name="object 1344"/>
          <p:cNvSpPr/>
          <p:nvPr/>
        </p:nvSpPr>
        <p:spPr>
          <a:xfrm>
            <a:off x="2409348" y="12578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5" name="object 1345"/>
          <p:cNvSpPr/>
          <p:nvPr/>
        </p:nvSpPr>
        <p:spPr>
          <a:xfrm>
            <a:off x="1915572" y="124870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6" name="object 1346"/>
          <p:cNvSpPr/>
          <p:nvPr/>
        </p:nvSpPr>
        <p:spPr>
          <a:xfrm>
            <a:off x="2409348" y="124870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7" name="object 1347"/>
          <p:cNvSpPr/>
          <p:nvPr/>
        </p:nvSpPr>
        <p:spPr>
          <a:xfrm>
            <a:off x="1915572" y="12334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8" name="object 1348"/>
          <p:cNvSpPr/>
          <p:nvPr/>
        </p:nvSpPr>
        <p:spPr>
          <a:xfrm>
            <a:off x="2409348" y="12334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40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9" name="object 1349"/>
          <p:cNvSpPr/>
          <p:nvPr/>
        </p:nvSpPr>
        <p:spPr>
          <a:xfrm>
            <a:off x="1915572" y="123041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0" name="object 1350"/>
          <p:cNvSpPr/>
          <p:nvPr/>
        </p:nvSpPr>
        <p:spPr>
          <a:xfrm>
            <a:off x="2409348" y="123041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1" name="object 1351"/>
          <p:cNvSpPr/>
          <p:nvPr/>
        </p:nvSpPr>
        <p:spPr>
          <a:xfrm>
            <a:off x="1915572" y="121365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2" name="object 1352"/>
          <p:cNvSpPr/>
          <p:nvPr/>
        </p:nvSpPr>
        <p:spPr>
          <a:xfrm>
            <a:off x="2409348" y="1213653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3" name="object 1353"/>
          <p:cNvSpPr/>
          <p:nvPr/>
        </p:nvSpPr>
        <p:spPr>
          <a:xfrm>
            <a:off x="1915572" y="119536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4" name="object 1354"/>
          <p:cNvSpPr/>
          <p:nvPr/>
        </p:nvSpPr>
        <p:spPr>
          <a:xfrm>
            <a:off x="2409348" y="119536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5" name="object 1355"/>
          <p:cNvSpPr/>
          <p:nvPr/>
        </p:nvSpPr>
        <p:spPr>
          <a:xfrm>
            <a:off x="1915572" y="117860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6" name="object 1356"/>
          <p:cNvSpPr/>
          <p:nvPr/>
        </p:nvSpPr>
        <p:spPr>
          <a:xfrm>
            <a:off x="2409348" y="117860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7" name="object 1357"/>
          <p:cNvSpPr/>
          <p:nvPr/>
        </p:nvSpPr>
        <p:spPr>
          <a:xfrm>
            <a:off x="1915572" y="116031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8" name="object 1358"/>
          <p:cNvSpPr/>
          <p:nvPr/>
        </p:nvSpPr>
        <p:spPr>
          <a:xfrm>
            <a:off x="2409348" y="116031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9" name="object 1359"/>
          <p:cNvSpPr/>
          <p:nvPr/>
        </p:nvSpPr>
        <p:spPr>
          <a:xfrm>
            <a:off x="1915572" y="11420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0" name="object 1360"/>
          <p:cNvSpPr/>
          <p:nvPr/>
        </p:nvSpPr>
        <p:spPr>
          <a:xfrm>
            <a:off x="2409348" y="114202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1" name="object 1361"/>
          <p:cNvSpPr/>
          <p:nvPr/>
        </p:nvSpPr>
        <p:spPr>
          <a:xfrm>
            <a:off x="1915572" y="11252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2" name="object 1362"/>
          <p:cNvSpPr/>
          <p:nvPr/>
        </p:nvSpPr>
        <p:spPr>
          <a:xfrm>
            <a:off x="2409348" y="11252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3" name="object 1363"/>
          <p:cNvSpPr/>
          <p:nvPr/>
        </p:nvSpPr>
        <p:spPr>
          <a:xfrm>
            <a:off x="1915572" y="11069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4" name="object 1364"/>
          <p:cNvSpPr/>
          <p:nvPr/>
        </p:nvSpPr>
        <p:spPr>
          <a:xfrm>
            <a:off x="2409348" y="11069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5" name="object 1365"/>
          <p:cNvSpPr/>
          <p:nvPr/>
        </p:nvSpPr>
        <p:spPr>
          <a:xfrm>
            <a:off x="1915572" y="10902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6" name="object 1366"/>
          <p:cNvSpPr/>
          <p:nvPr/>
        </p:nvSpPr>
        <p:spPr>
          <a:xfrm>
            <a:off x="2409348" y="10902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7" name="object 1367"/>
          <p:cNvSpPr/>
          <p:nvPr/>
        </p:nvSpPr>
        <p:spPr>
          <a:xfrm>
            <a:off x="1915572" y="1081700"/>
            <a:ext cx="3175" cy="8890"/>
          </a:xfrm>
          <a:custGeom>
            <a:avLst/>
            <a:gdLst/>
            <a:ahLst/>
            <a:cxnLst/>
            <a:rect l="l" t="t" r="r" b="b"/>
            <a:pathLst>
              <a:path w="3175" h="8890">
                <a:moveTo>
                  <a:pt x="0" y="8889"/>
                </a:moveTo>
                <a:lnTo>
                  <a:pt x="3047" y="8889"/>
                </a:lnTo>
                <a:lnTo>
                  <a:pt x="3047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8" name="object 1368"/>
          <p:cNvSpPr/>
          <p:nvPr/>
        </p:nvSpPr>
        <p:spPr>
          <a:xfrm>
            <a:off x="1915572" y="107947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E5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9" name="object 1369"/>
          <p:cNvSpPr/>
          <p:nvPr/>
        </p:nvSpPr>
        <p:spPr>
          <a:xfrm>
            <a:off x="2409348" y="1081065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4"/>
                </a:lnTo>
                <a:lnTo>
                  <a:pt x="3047" y="9144"/>
                </a:lnTo>
                <a:lnTo>
                  <a:pt x="3047" y="0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0" name="object 1370"/>
          <p:cNvSpPr/>
          <p:nvPr/>
        </p:nvSpPr>
        <p:spPr>
          <a:xfrm>
            <a:off x="1918619" y="1079922"/>
            <a:ext cx="490855" cy="0"/>
          </a:xfrm>
          <a:custGeom>
            <a:avLst/>
            <a:gdLst/>
            <a:ahLst/>
            <a:cxnLst/>
            <a:rect l="l" t="t" r="r" b="b"/>
            <a:pathLst>
              <a:path w="490855">
                <a:moveTo>
                  <a:pt x="0" y="0"/>
                </a:moveTo>
                <a:lnTo>
                  <a:pt x="490727" y="0"/>
                </a:lnTo>
              </a:path>
            </a:pathLst>
          </a:custGeom>
          <a:ln w="3175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1" name="object 1371"/>
          <p:cNvSpPr/>
          <p:nvPr/>
        </p:nvSpPr>
        <p:spPr>
          <a:xfrm>
            <a:off x="1918619" y="10810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4571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2" name="object 1372"/>
          <p:cNvSpPr/>
          <p:nvPr/>
        </p:nvSpPr>
        <p:spPr>
          <a:xfrm>
            <a:off x="2410491" y="1081065"/>
            <a:ext cx="0" cy="1130935"/>
          </a:xfrm>
          <a:custGeom>
            <a:avLst/>
            <a:gdLst/>
            <a:ahLst/>
            <a:cxnLst/>
            <a:rect l="l" t="t" r="r" b="b"/>
            <a:pathLst>
              <a:path h="1130935">
                <a:moveTo>
                  <a:pt x="0" y="0"/>
                </a:moveTo>
                <a:lnTo>
                  <a:pt x="0" y="1130807"/>
                </a:lnTo>
              </a:path>
            </a:pathLst>
          </a:custGeom>
          <a:ln w="3175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3" name="object 1373"/>
          <p:cNvSpPr/>
          <p:nvPr/>
        </p:nvSpPr>
        <p:spPr>
          <a:xfrm>
            <a:off x="1915572" y="221339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4" name="object 1374"/>
          <p:cNvSpPr/>
          <p:nvPr/>
        </p:nvSpPr>
        <p:spPr>
          <a:xfrm>
            <a:off x="1915572" y="107954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E5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5" name="object 1375"/>
          <p:cNvSpPr/>
          <p:nvPr/>
        </p:nvSpPr>
        <p:spPr>
          <a:xfrm>
            <a:off x="1918620" y="1081065"/>
            <a:ext cx="490855" cy="1130935"/>
          </a:xfrm>
          <a:custGeom>
            <a:avLst/>
            <a:gdLst/>
            <a:ahLst/>
            <a:cxnLst/>
            <a:rect l="l" t="t" r="r" b="b"/>
            <a:pathLst>
              <a:path w="490855" h="1130935">
                <a:moveTo>
                  <a:pt x="0" y="0"/>
                </a:moveTo>
                <a:lnTo>
                  <a:pt x="490728" y="0"/>
                </a:lnTo>
                <a:lnTo>
                  <a:pt x="490728" y="1130808"/>
                </a:lnTo>
                <a:lnTo>
                  <a:pt x="0" y="11308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6" name="object 1376"/>
          <p:cNvSpPr/>
          <p:nvPr/>
        </p:nvSpPr>
        <p:spPr>
          <a:xfrm>
            <a:off x="1915572" y="220958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10668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7" name="object 1377"/>
          <p:cNvSpPr/>
          <p:nvPr/>
        </p:nvSpPr>
        <p:spPr>
          <a:xfrm>
            <a:off x="1915572" y="219053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8" name="object 1378"/>
          <p:cNvSpPr/>
          <p:nvPr/>
        </p:nvSpPr>
        <p:spPr>
          <a:xfrm>
            <a:off x="1915572" y="217529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9" name="object 1379"/>
          <p:cNvSpPr/>
          <p:nvPr/>
        </p:nvSpPr>
        <p:spPr>
          <a:xfrm>
            <a:off x="1915572" y="2161581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0" name="object 1380"/>
          <p:cNvSpPr/>
          <p:nvPr/>
        </p:nvSpPr>
        <p:spPr>
          <a:xfrm>
            <a:off x="1915572" y="214786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1" name="object 1381"/>
          <p:cNvSpPr/>
          <p:nvPr/>
        </p:nvSpPr>
        <p:spPr>
          <a:xfrm>
            <a:off x="1915572" y="213262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2" name="object 1382"/>
          <p:cNvSpPr/>
          <p:nvPr/>
        </p:nvSpPr>
        <p:spPr>
          <a:xfrm>
            <a:off x="1915572" y="211890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3" name="object 1383"/>
          <p:cNvSpPr/>
          <p:nvPr/>
        </p:nvSpPr>
        <p:spPr>
          <a:xfrm>
            <a:off x="1915572" y="210519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4" name="object 1384"/>
          <p:cNvSpPr/>
          <p:nvPr/>
        </p:nvSpPr>
        <p:spPr>
          <a:xfrm>
            <a:off x="1915572" y="209147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5" name="object 1385"/>
          <p:cNvSpPr/>
          <p:nvPr/>
        </p:nvSpPr>
        <p:spPr>
          <a:xfrm>
            <a:off x="1915572" y="207623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6" name="object 1386"/>
          <p:cNvSpPr/>
          <p:nvPr/>
        </p:nvSpPr>
        <p:spPr>
          <a:xfrm>
            <a:off x="1915572" y="2062521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7" name="object 1387"/>
          <p:cNvSpPr/>
          <p:nvPr/>
        </p:nvSpPr>
        <p:spPr>
          <a:xfrm>
            <a:off x="1915572" y="204880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8" name="object 1388"/>
          <p:cNvSpPr/>
          <p:nvPr/>
        </p:nvSpPr>
        <p:spPr>
          <a:xfrm>
            <a:off x="1915572" y="203508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9" name="object 1389"/>
          <p:cNvSpPr/>
          <p:nvPr/>
        </p:nvSpPr>
        <p:spPr>
          <a:xfrm>
            <a:off x="1915572" y="201984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0" name="object 1390"/>
          <p:cNvSpPr/>
          <p:nvPr/>
        </p:nvSpPr>
        <p:spPr>
          <a:xfrm>
            <a:off x="1915572" y="200613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1" name="object 1391"/>
          <p:cNvSpPr/>
          <p:nvPr/>
        </p:nvSpPr>
        <p:spPr>
          <a:xfrm>
            <a:off x="1915572" y="199241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2" name="object 1392"/>
          <p:cNvSpPr/>
          <p:nvPr/>
        </p:nvSpPr>
        <p:spPr>
          <a:xfrm>
            <a:off x="1915572" y="1978701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3" name="object 1393"/>
          <p:cNvSpPr/>
          <p:nvPr/>
        </p:nvSpPr>
        <p:spPr>
          <a:xfrm>
            <a:off x="1915572" y="196346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4" name="object 1394"/>
          <p:cNvSpPr/>
          <p:nvPr/>
        </p:nvSpPr>
        <p:spPr>
          <a:xfrm>
            <a:off x="1915572" y="194974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5" name="object 1395"/>
          <p:cNvSpPr/>
          <p:nvPr/>
        </p:nvSpPr>
        <p:spPr>
          <a:xfrm>
            <a:off x="1915572" y="193602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6" name="object 1396"/>
          <p:cNvSpPr/>
          <p:nvPr/>
        </p:nvSpPr>
        <p:spPr>
          <a:xfrm>
            <a:off x="1915572" y="192078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7" name="object 1397"/>
          <p:cNvSpPr/>
          <p:nvPr/>
        </p:nvSpPr>
        <p:spPr>
          <a:xfrm>
            <a:off x="1915572" y="190707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8" name="object 1398"/>
          <p:cNvSpPr/>
          <p:nvPr/>
        </p:nvSpPr>
        <p:spPr>
          <a:xfrm>
            <a:off x="1915572" y="189335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9" name="object 1399"/>
          <p:cNvSpPr/>
          <p:nvPr/>
        </p:nvSpPr>
        <p:spPr>
          <a:xfrm>
            <a:off x="1915572" y="1879641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0" name="object 1400"/>
          <p:cNvSpPr/>
          <p:nvPr/>
        </p:nvSpPr>
        <p:spPr>
          <a:xfrm>
            <a:off x="1915572" y="186440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1" name="object 1401"/>
          <p:cNvSpPr/>
          <p:nvPr/>
        </p:nvSpPr>
        <p:spPr>
          <a:xfrm>
            <a:off x="1915572" y="185068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2" name="object 1402"/>
          <p:cNvSpPr/>
          <p:nvPr/>
        </p:nvSpPr>
        <p:spPr>
          <a:xfrm>
            <a:off x="1915572" y="183696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3" name="object 1403"/>
          <p:cNvSpPr/>
          <p:nvPr/>
        </p:nvSpPr>
        <p:spPr>
          <a:xfrm>
            <a:off x="1915572" y="182325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4" name="object 1404"/>
          <p:cNvSpPr/>
          <p:nvPr/>
        </p:nvSpPr>
        <p:spPr>
          <a:xfrm>
            <a:off x="1915572" y="180801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5" name="object 1405"/>
          <p:cNvSpPr/>
          <p:nvPr/>
        </p:nvSpPr>
        <p:spPr>
          <a:xfrm>
            <a:off x="1915572" y="1794297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6" name="object 1406"/>
          <p:cNvSpPr/>
          <p:nvPr/>
        </p:nvSpPr>
        <p:spPr>
          <a:xfrm>
            <a:off x="1915572" y="177600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7" name="object 1407"/>
          <p:cNvSpPr/>
          <p:nvPr/>
        </p:nvSpPr>
        <p:spPr>
          <a:xfrm>
            <a:off x="1915572" y="1751625"/>
            <a:ext cx="497205" cy="24765"/>
          </a:xfrm>
          <a:custGeom>
            <a:avLst/>
            <a:gdLst/>
            <a:ahLst/>
            <a:cxnLst/>
            <a:rect l="l" t="t" r="r" b="b"/>
            <a:pathLst>
              <a:path w="497205" h="24764">
                <a:moveTo>
                  <a:pt x="0" y="24383"/>
                </a:moveTo>
                <a:lnTo>
                  <a:pt x="496823" y="24383"/>
                </a:lnTo>
                <a:lnTo>
                  <a:pt x="496823" y="0"/>
                </a:lnTo>
                <a:lnTo>
                  <a:pt x="0" y="0"/>
                </a:lnTo>
                <a:lnTo>
                  <a:pt x="0" y="24383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8" name="object 1408"/>
          <p:cNvSpPr/>
          <p:nvPr/>
        </p:nvSpPr>
        <p:spPr>
          <a:xfrm>
            <a:off x="1915572" y="1728765"/>
            <a:ext cx="497205" cy="22860"/>
          </a:xfrm>
          <a:custGeom>
            <a:avLst/>
            <a:gdLst/>
            <a:ahLst/>
            <a:cxnLst/>
            <a:rect l="l" t="t" r="r" b="b"/>
            <a:pathLst>
              <a:path w="497205" h="22860">
                <a:moveTo>
                  <a:pt x="0" y="22860"/>
                </a:moveTo>
                <a:lnTo>
                  <a:pt x="496823" y="22860"/>
                </a:lnTo>
                <a:lnTo>
                  <a:pt x="496823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9" name="object 1409"/>
          <p:cNvSpPr/>
          <p:nvPr/>
        </p:nvSpPr>
        <p:spPr>
          <a:xfrm>
            <a:off x="1915572" y="1707429"/>
            <a:ext cx="497205" cy="21590"/>
          </a:xfrm>
          <a:custGeom>
            <a:avLst/>
            <a:gdLst/>
            <a:ahLst/>
            <a:cxnLst/>
            <a:rect l="l" t="t" r="r" b="b"/>
            <a:pathLst>
              <a:path w="497205" h="21589">
                <a:moveTo>
                  <a:pt x="0" y="21335"/>
                </a:moveTo>
                <a:lnTo>
                  <a:pt x="496823" y="21335"/>
                </a:lnTo>
                <a:lnTo>
                  <a:pt x="496823" y="0"/>
                </a:lnTo>
                <a:lnTo>
                  <a:pt x="0" y="0"/>
                </a:lnTo>
                <a:lnTo>
                  <a:pt x="0" y="21335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0" name="object 1410"/>
          <p:cNvSpPr/>
          <p:nvPr/>
        </p:nvSpPr>
        <p:spPr>
          <a:xfrm>
            <a:off x="1915572" y="1690665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1" name="object 1411"/>
          <p:cNvSpPr/>
          <p:nvPr/>
        </p:nvSpPr>
        <p:spPr>
          <a:xfrm>
            <a:off x="1915572" y="167237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2" name="object 1412"/>
          <p:cNvSpPr/>
          <p:nvPr/>
        </p:nvSpPr>
        <p:spPr>
          <a:xfrm>
            <a:off x="1915572" y="1655613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3" name="object 1413"/>
          <p:cNvSpPr/>
          <p:nvPr/>
        </p:nvSpPr>
        <p:spPr>
          <a:xfrm>
            <a:off x="1915572" y="163732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4" name="object 1414"/>
          <p:cNvSpPr/>
          <p:nvPr/>
        </p:nvSpPr>
        <p:spPr>
          <a:xfrm>
            <a:off x="1915572" y="161903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5" name="object 1415"/>
          <p:cNvSpPr/>
          <p:nvPr/>
        </p:nvSpPr>
        <p:spPr>
          <a:xfrm>
            <a:off x="1915572" y="1602273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6" name="object 1416"/>
          <p:cNvSpPr/>
          <p:nvPr/>
        </p:nvSpPr>
        <p:spPr>
          <a:xfrm>
            <a:off x="1915572" y="158398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7" name="object 1417"/>
          <p:cNvSpPr/>
          <p:nvPr/>
        </p:nvSpPr>
        <p:spPr>
          <a:xfrm>
            <a:off x="1915572" y="156722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8" name="object 1418"/>
          <p:cNvSpPr/>
          <p:nvPr/>
        </p:nvSpPr>
        <p:spPr>
          <a:xfrm>
            <a:off x="1915572" y="154893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9" name="object 1419"/>
          <p:cNvSpPr/>
          <p:nvPr/>
        </p:nvSpPr>
        <p:spPr>
          <a:xfrm>
            <a:off x="1915572" y="153064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0" name="object 1420"/>
          <p:cNvSpPr/>
          <p:nvPr/>
        </p:nvSpPr>
        <p:spPr>
          <a:xfrm>
            <a:off x="1915572" y="151388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1" name="object 1421"/>
          <p:cNvSpPr/>
          <p:nvPr/>
        </p:nvSpPr>
        <p:spPr>
          <a:xfrm>
            <a:off x="1915572" y="149559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2" name="object 1422"/>
          <p:cNvSpPr/>
          <p:nvPr/>
        </p:nvSpPr>
        <p:spPr>
          <a:xfrm>
            <a:off x="1915572" y="149406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3" name="object 1423"/>
          <p:cNvSpPr/>
          <p:nvPr/>
        </p:nvSpPr>
        <p:spPr>
          <a:xfrm>
            <a:off x="1915572" y="147882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4" name="object 1424"/>
          <p:cNvSpPr/>
          <p:nvPr/>
        </p:nvSpPr>
        <p:spPr>
          <a:xfrm>
            <a:off x="1915572" y="147425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3">
            <a:solidFill>
              <a:srgbClr val="FF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5" name="object 1425"/>
          <p:cNvSpPr/>
          <p:nvPr/>
        </p:nvSpPr>
        <p:spPr>
          <a:xfrm>
            <a:off x="1915572" y="146511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4">
            <a:solidFill>
              <a:srgbClr val="FFD1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6" name="object 1426"/>
          <p:cNvSpPr/>
          <p:nvPr/>
        </p:nvSpPr>
        <p:spPr>
          <a:xfrm>
            <a:off x="1915572" y="144530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7" name="object 1427"/>
          <p:cNvSpPr/>
          <p:nvPr/>
        </p:nvSpPr>
        <p:spPr>
          <a:xfrm>
            <a:off x="1915572" y="144377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2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8" name="object 1428"/>
          <p:cNvSpPr/>
          <p:nvPr/>
        </p:nvSpPr>
        <p:spPr>
          <a:xfrm>
            <a:off x="1915572" y="1425489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9" name="object 1429"/>
          <p:cNvSpPr/>
          <p:nvPr/>
        </p:nvSpPr>
        <p:spPr>
          <a:xfrm>
            <a:off x="1915572" y="1407201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0" name="object 1430"/>
          <p:cNvSpPr/>
          <p:nvPr/>
        </p:nvSpPr>
        <p:spPr>
          <a:xfrm>
            <a:off x="1915572" y="1390437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1" name="object 1431"/>
          <p:cNvSpPr/>
          <p:nvPr/>
        </p:nvSpPr>
        <p:spPr>
          <a:xfrm>
            <a:off x="1915572" y="137214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2" name="object 1432"/>
          <p:cNvSpPr/>
          <p:nvPr/>
        </p:nvSpPr>
        <p:spPr>
          <a:xfrm>
            <a:off x="1915572" y="1355385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3" name="object 1433"/>
          <p:cNvSpPr/>
          <p:nvPr/>
        </p:nvSpPr>
        <p:spPr>
          <a:xfrm>
            <a:off x="1915572" y="135386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7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4" name="object 1434"/>
          <p:cNvSpPr/>
          <p:nvPr/>
        </p:nvSpPr>
        <p:spPr>
          <a:xfrm>
            <a:off x="1915572" y="1337097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5" name="object 1435"/>
          <p:cNvSpPr/>
          <p:nvPr/>
        </p:nvSpPr>
        <p:spPr>
          <a:xfrm>
            <a:off x="1915572" y="133252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4">
            <a:solidFill>
              <a:srgbClr val="FFD8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6" name="object 1436"/>
          <p:cNvSpPr/>
          <p:nvPr/>
        </p:nvSpPr>
        <p:spPr>
          <a:xfrm>
            <a:off x="1915572" y="132338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3">
            <a:solidFill>
              <a:srgbClr val="FF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7" name="object 1437"/>
          <p:cNvSpPr/>
          <p:nvPr/>
        </p:nvSpPr>
        <p:spPr>
          <a:xfrm>
            <a:off x="1915572" y="130509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8" name="object 1438"/>
          <p:cNvSpPr/>
          <p:nvPr/>
        </p:nvSpPr>
        <p:spPr>
          <a:xfrm>
            <a:off x="1915572" y="130356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9" name="object 1439"/>
          <p:cNvSpPr/>
          <p:nvPr/>
        </p:nvSpPr>
        <p:spPr>
          <a:xfrm>
            <a:off x="1915572" y="128375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0" name="object 1440"/>
          <p:cNvSpPr/>
          <p:nvPr/>
        </p:nvSpPr>
        <p:spPr>
          <a:xfrm>
            <a:off x="1915572" y="1282233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A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1" name="object 1441"/>
          <p:cNvSpPr/>
          <p:nvPr/>
        </p:nvSpPr>
        <p:spPr>
          <a:xfrm>
            <a:off x="1915572" y="1266993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6"/>
                </a:moveTo>
                <a:lnTo>
                  <a:pt x="496823" y="13716"/>
                </a:lnTo>
                <a:lnTo>
                  <a:pt x="496823" y="0"/>
                </a:lnTo>
                <a:lnTo>
                  <a:pt x="0" y="0"/>
                </a:lnTo>
                <a:lnTo>
                  <a:pt x="0" y="13716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2" name="object 1442"/>
          <p:cNvSpPr/>
          <p:nvPr/>
        </p:nvSpPr>
        <p:spPr>
          <a:xfrm>
            <a:off x="1915572" y="126242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3">
            <a:solidFill>
              <a:srgbClr val="FFD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3" name="object 1443"/>
          <p:cNvSpPr/>
          <p:nvPr/>
        </p:nvSpPr>
        <p:spPr>
          <a:xfrm>
            <a:off x="1915572" y="125327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4">
            <a:solidFill>
              <a:srgbClr val="FFDC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4" name="object 1444"/>
          <p:cNvSpPr/>
          <p:nvPr/>
        </p:nvSpPr>
        <p:spPr>
          <a:xfrm>
            <a:off x="1915572" y="123346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40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5" name="object 1445"/>
          <p:cNvSpPr/>
          <p:nvPr/>
        </p:nvSpPr>
        <p:spPr>
          <a:xfrm>
            <a:off x="1915572" y="123194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D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6" name="object 1446"/>
          <p:cNvSpPr/>
          <p:nvPr/>
        </p:nvSpPr>
        <p:spPr>
          <a:xfrm>
            <a:off x="1915572" y="1213653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7" name="object 1447"/>
          <p:cNvSpPr/>
          <p:nvPr/>
        </p:nvSpPr>
        <p:spPr>
          <a:xfrm>
            <a:off x="1915572" y="119536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8" name="object 1448"/>
          <p:cNvSpPr/>
          <p:nvPr/>
        </p:nvSpPr>
        <p:spPr>
          <a:xfrm>
            <a:off x="1915572" y="117860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9" name="object 1449"/>
          <p:cNvSpPr/>
          <p:nvPr/>
        </p:nvSpPr>
        <p:spPr>
          <a:xfrm>
            <a:off x="1915572" y="116031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0" name="object 1450"/>
          <p:cNvSpPr/>
          <p:nvPr/>
        </p:nvSpPr>
        <p:spPr>
          <a:xfrm>
            <a:off x="1915572" y="114202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1" name="object 1451"/>
          <p:cNvSpPr/>
          <p:nvPr/>
        </p:nvSpPr>
        <p:spPr>
          <a:xfrm>
            <a:off x="1915572" y="112526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2" name="object 1452"/>
          <p:cNvSpPr/>
          <p:nvPr/>
        </p:nvSpPr>
        <p:spPr>
          <a:xfrm>
            <a:off x="1915572" y="110697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3" name="object 1453"/>
          <p:cNvSpPr/>
          <p:nvPr/>
        </p:nvSpPr>
        <p:spPr>
          <a:xfrm>
            <a:off x="1915572" y="1090209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4" name="object 1454"/>
          <p:cNvSpPr/>
          <p:nvPr/>
        </p:nvSpPr>
        <p:spPr>
          <a:xfrm>
            <a:off x="1915572" y="1078017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3" y="12192"/>
                </a:lnTo>
                <a:lnTo>
                  <a:pt x="496823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5" name="object 1455"/>
          <p:cNvSpPr/>
          <p:nvPr/>
        </p:nvSpPr>
        <p:spPr>
          <a:xfrm>
            <a:off x="1918619" y="1081065"/>
            <a:ext cx="490855" cy="1130935"/>
          </a:xfrm>
          <a:custGeom>
            <a:avLst/>
            <a:gdLst/>
            <a:ahLst/>
            <a:cxnLst/>
            <a:rect l="l" t="t" r="r" b="b"/>
            <a:pathLst>
              <a:path w="490855" h="1130935">
                <a:moveTo>
                  <a:pt x="0" y="0"/>
                </a:moveTo>
                <a:lnTo>
                  <a:pt x="490727" y="0"/>
                </a:lnTo>
                <a:lnTo>
                  <a:pt x="490727" y="1130807"/>
                </a:lnTo>
                <a:lnTo>
                  <a:pt x="0" y="1130807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6" name="object 1456"/>
          <p:cNvSpPr/>
          <p:nvPr/>
        </p:nvSpPr>
        <p:spPr>
          <a:xfrm>
            <a:off x="2032920" y="1119165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131063" y="0"/>
                </a:moveTo>
                <a:lnTo>
                  <a:pt x="80367" y="9858"/>
                </a:lnTo>
                <a:lnTo>
                  <a:pt x="38671" y="36575"/>
                </a:lnTo>
                <a:lnTo>
                  <a:pt x="10406" y="75866"/>
                </a:lnTo>
                <a:lnTo>
                  <a:pt x="0" y="123444"/>
                </a:lnTo>
                <a:lnTo>
                  <a:pt x="10406" y="171902"/>
                </a:lnTo>
                <a:lnTo>
                  <a:pt x="38671" y="211645"/>
                </a:lnTo>
                <a:lnTo>
                  <a:pt x="80367" y="238529"/>
                </a:lnTo>
                <a:lnTo>
                  <a:pt x="131063" y="248412"/>
                </a:lnTo>
                <a:lnTo>
                  <a:pt x="182403" y="238529"/>
                </a:lnTo>
                <a:lnTo>
                  <a:pt x="224028" y="211645"/>
                </a:lnTo>
                <a:lnTo>
                  <a:pt x="251936" y="171902"/>
                </a:lnTo>
                <a:lnTo>
                  <a:pt x="262128" y="123444"/>
                </a:lnTo>
                <a:lnTo>
                  <a:pt x="251936" y="75866"/>
                </a:lnTo>
                <a:lnTo>
                  <a:pt x="224028" y="36575"/>
                </a:lnTo>
                <a:lnTo>
                  <a:pt x="182403" y="9858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7" name="object 1457"/>
          <p:cNvSpPr/>
          <p:nvPr/>
        </p:nvSpPr>
        <p:spPr>
          <a:xfrm>
            <a:off x="2032919" y="1119165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0" y="123443"/>
                </a:moveTo>
                <a:lnTo>
                  <a:pt x="10406" y="75866"/>
                </a:lnTo>
                <a:lnTo>
                  <a:pt x="38671" y="36575"/>
                </a:lnTo>
                <a:lnTo>
                  <a:pt x="80367" y="9858"/>
                </a:lnTo>
                <a:lnTo>
                  <a:pt x="131063" y="0"/>
                </a:lnTo>
                <a:lnTo>
                  <a:pt x="182403" y="9858"/>
                </a:lnTo>
                <a:lnTo>
                  <a:pt x="224027" y="36575"/>
                </a:lnTo>
                <a:lnTo>
                  <a:pt x="251936" y="75866"/>
                </a:lnTo>
                <a:lnTo>
                  <a:pt x="262127" y="123443"/>
                </a:lnTo>
                <a:lnTo>
                  <a:pt x="251936" y="171902"/>
                </a:lnTo>
                <a:lnTo>
                  <a:pt x="224027" y="211645"/>
                </a:lnTo>
                <a:lnTo>
                  <a:pt x="182403" y="238529"/>
                </a:lnTo>
                <a:lnTo>
                  <a:pt x="131063" y="248411"/>
                </a:lnTo>
                <a:lnTo>
                  <a:pt x="80367" y="238529"/>
                </a:lnTo>
                <a:lnTo>
                  <a:pt x="38671" y="211645"/>
                </a:lnTo>
                <a:lnTo>
                  <a:pt x="10406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8" name="object 1458"/>
          <p:cNvSpPr/>
          <p:nvPr/>
        </p:nvSpPr>
        <p:spPr>
          <a:xfrm>
            <a:off x="2032920" y="1515405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4">
                <a:moveTo>
                  <a:pt x="131063" y="0"/>
                </a:moveTo>
                <a:lnTo>
                  <a:pt x="80367" y="9644"/>
                </a:lnTo>
                <a:lnTo>
                  <a:pt x="38671" y="36004"/>
                </a:lnTo>
                <a:lnTo>
                  <a:pt x="10406" y="75223"/>
                </a:lnTo>
                <a:lnTo>
                  <a:pt x="0" y="123443"/>
                </a:lnTo>
                <a:lnTo>
                  <a:pt x="10406" y="171664"/>
                </a:lnTo>
                <a:lnTo>
                  <a:pt x="38671" y="210883"/>
                </a:lnTo>
                <a:lnTo>
                  <a:pt x="80367" y="237243"/>
                </a:lnTo>
                <a:lnTo>
                  <a:pt x="131063" y="246887"/>
                </a:lnTo>
                <a:lnTo>
                  <a:pt x="182403" y="237243"/>
                </a:lnTo>
                <a:lnTo>
                  <a:pt x="224028" y="210883"/>
                </a:lnTo>
                <a:lnTo>
                  <a:pt x="251936" y="171664"/>
                </a:lnTo>
                <a:lnTo>
                  <a:pt x="262128" y="123443"/>
                </a:lnTo>
                <a:lnTo>
                  <a:pt x="251936" y="75223"/>
                </a:lnTo>
                <a:lnTo>
                  <a:pt x="224028" y="36004"/>
                </a:lnTo>
                <a:lnTo>
                  <a:pt x="182403" y="9644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9" name="object 1459"/>
          <p:cNvSpPr/>
          <p:nvPr/>
        </p:nvSpPr>
        <p:spPr>
          <a:xfrm>
            <a:off x="2032919" y="1515405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4">
                <a:moveTo>
                  <a:pt x="0" y="123443"/>
                </a:moveTo>
                <a:lnTo>
                  <a:pt x="10406" y="75223"/>
                </a:lnTo>
                <a:lnTo>
                  <a:pt x="38671" y="36004"/>
                </a:lnTo>
                <a:lnTo>
                  <a:pt x="80367" y="9644"/>
                </a:lnTo>
                <a:lnTo>
                  <a:pt x="131063" y="0"/>
                </a:lnTo>
                <a:lnTo>
                  <a:pt x="182403" y="9644"/>
                </a:lnTo>
                <a:lnTo>
                  <a:pt x="224027" y="36004"/>
                </a:lnTo>
                <a:lnTo>
                  <a:pt x="251936" y="75223"/>
                </a:lnTo>
                <a:lnTo>
                  <a:pt x="262127" y="123443"/>
                </a:lnTo>
                <a:lnTo>
                  <a:pt x="251936" y="171664"/>
                </a:lnTo>
                <a:lnTo>
                  <a:pt x="224027" y="210883"/>
                </a:lnTo>
                <a:lnTo>
                  <a:pt x="182403" y="237243"/>
                </a:lnTo>
                <a:lnTo>
                  <a:pt x="131063" y="246887"/>
                </a:lnTo>
                <a:lnTo>
                  <a:pt x="80367" y="237243"/>
                </a:lnTo>
                <a:lnTo>
                  <a:pt x="38671" y="210883"/>
                </a:lnTo>
                <a:lnTo>
                  <a:pt x="10406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0" name="object 1460"/>
          <p:cNvSpPr/>
          <p:nvPr/>
        </p:nvSpPr>
        <p:spPr>
          <a:xfrm>
            <a:off x="2032920" y="191012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131063" y="0"/>
                </a:moveTo>
                <a:lnTo>
                  <a:pt x="80367" y="9882"/>
                </a:lnTo>
                <a:lnTo>
                  <a:pt x="38671" y="36766"/>
                </a:lnTo>
                <a:lnTo>
                  <a:pt x="10406" y="76509"/>
                </a:lnTo>
                <a:lnTo>
                  <a:pt x="0" y="124968"/>
                </a:lnTo>
                <a:lnTo>
                  <a:pt x="10406" y="172545"/>
                </a:lnTo>
                <a:lnTo>
                  <a:pt x="38671" y="211836"/>
                </a:lnTo>
                <a:lnTo>
                  <a:pt x="80367" y="238553"/>
                </a:lnTo>
                <a:lnTo>
                  <a:pt x="131063" y="248412"/>
                </a:lnTo>
                <a:lnTo>
                  <a:pt x="182403" y="238553"/>
                </a:lnTo>
                <a:lnTo>
                  <a:pt x="224028" y="211836"/>
                </a:lnTo>
                <a:lnTo>
                  <a:pt x="251936" y="172545"/>
                </a:lnTo>
                <a:lnTo>
                  <a:pt x="262128" y="124968"/>
                </a:lnTo>
                <a:lnTo>
                  <a:pt x="251936" y="76509"/>
                </a:lnTo>
                <a:lnTo>
                  <a:pt x="224028" y="36766"/>
                </a:lnTo>
                <a:lnTo>
                  <a:pt x="182403" y="9882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1" name="object 1461"/>
          <p:cNvSpPr/>
          <p:nvPr/>
        </p:nvSpPr>
        <p:spPr>
          <a:xfrm>
            <a:off x="2032919" y="191012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0" y="124967"/>
                </a:moveTo>
                <a:lnTo>
                  <a:pt x="10406" y="76509"/>
                </a:lnTo>
                <a:lnTo>
                  <a:pt x="38671" y="36766"/>
                </a:lnTo>
                <a:lnTo>
                  <a:pt x="80367" y="9882"/>
                </a:lnTo>
                <a:lnTo>
                  <a:pt x="131063" y="0"/>
                </a:lnTo>
                <a:lnTo>
                  <a:pt x="182403" y="9882"/>
                </a:lnTo>
                <a:lnTo>
                  <a:pt x="224027" y="36766"/>
                </a:lnTo>
                <a:lnTo>
                  <a:pt x="251936" y="76509"/>
                </a:lnTo>
                <a:lnTo>
                  <a:pt x="262127" y="124967"/>
                </a:lnTo>
                <a:lnTo>
                  <a:pt x="251936" y="172545"/>
                </a:lnTo>
                <a:lnTo>
                  <a:pt x="224027" y="211835"/>
                </a:lnTo>
                <a:lnTo>
                  <a:pt x="182403" y="238553"/>
                </a:lnTo>
                <a:lnTo>
                  <a:pt x="131063" y="248411"/>
                </a:lnTo>
                <a:lnTo>
                  <a:pt x="80367" y="238553"/>
                </a:lnTo>
                <a:lnTo>
                  <a:pt x="38671" y="211835"/>
                </a:lnTo>
                <a:lnTo>
                  <a:pt x="10406" y="172545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2" name="object 1462"/>
          <p:cNvSpPr/>
          <p:nvPr/>
        </p:nvSpPr>
        <p:spPr>
          <a:xfrm>
            <a:off x="2759867" y="1236513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5">
                <a:moveTo>
                  <a:pt x="131064" y="0"/>
                </a:moveTo>
                <a:lnTo>
                  <a:pt x="80367" y="9644"/>
                </a:lnTo>
                <a:lnTo>
                  <a:pt x="38671" y="36004"/>
                </a:lnTo>
                <a:lnTo>
                  <a:pt x="10406" y="75223"/>
                </a:lnTo>
                <a:lnTo>
                  <a:pt x="0" y="123444"/>
                </a:lnTo>
                <a:lnTo>
                  <a:pt x="10406" y="171664"/>
                </a:lnTo>
                <a:lnTo>
                  <a:pt x="38671" y="210883"/>
                </a:lnTo>
                <a:lnTo>
                  <a:pt x="80367" y="237243"/>
                </a:lnTo>
                <a:lnTo>
                  <a:pt x="131064" y="246887"/>
                </a:lnTo>
                <a:lnTo>
                  <a:pt x="182403" y="237243"/>
                </a:lnTo>
                <a:lnTo>
                  <a:pt x="224028" y="210883"/>
                </a:lnTo>
                <a:lnTo>
                  <a:pt x="251936" y="171664"/>
                </a:lnTo>
                <a:lnTo>
                  <a:pt x="262128" y="123444"/>
                </a:lnTo>
                <a:lnTo>
                  <a:pt x="251936" y="75223"/>
                </a:lnTo>
                <a:lnTo>
                  <a:pt x="224028" y="36004"/>
                </a:lnTo>
                <a:lnTo>
                  <a:pt x="182403" y="9644"/>
                </a:lnTo>
                <a:lnTo>
                  <a:pt x="1310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3" name="object 1463"/>
          <p:cNvSpPr/>
          <p:nvPr/>
        </p:nvSpPr>
        <p:spPr>
          <a:xfrm>
            <a:off x="2759867" y="1236513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5">
                <a:moveTo>
                  <a:pt x="0" y="123443"/>
                </a:moveTo>
                <a:lnTo>
                  <a:pt x="10406" y="75223"/>
                </a:lnTo>
                <a:lnTo>
                  <a:pt x="38671" y="36004"/>
                </a:lnTo>
                <a:lnTo>
                  <a:pt x="80367" y="9644"/>
                </a:lnTo>
                <a:lnTo>
                  <a:pt x="131063" y="0"/>
                </a:lnTo>
                <a:lnTo>
                  <a:pt x="182403" y="9644"/>
                </a:lnTo>
                <a:lnTo>
                  <a:pt x="224027" y="36004"/>
                </a:lnTo>
                <a:lnTo>
                  <a:pt x="251936" y="75223"/>
                </a:lnTo>
                <a:lnTo>
                  <a:pt x="262127" y="123443"/>
                </a:lnTo>
                <a:lnTo>
                  <a:pt x="251936" y="171664"/>
                </a:lnTo>
                <a:lnTo>
                  <a:pt x="224027" y="210883"/>
                </a:lnTo>
                <a:lnTo>
                  <a:pt x="182403" y="237243"/>
                </a:lnTo>
                <a:lnTo>
                  <a:pt x="131063" y="246887"/>
                </a:lnTo>
                <a:lnTo>
                  <a:pt x="80367" y="237243"/>
                </a:lnTo>
                <a:lnTo>
                  <a:pt x="38671" y="210883"/>
                </a:lnTo>
                <a:lnTo>
                  <a:pt x="10406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4" name="object 1464"/>
          <p:cNvSpPr txBox="1"/>
          <p:nvPr/>
        </p:nvSpPr>
        <p:spPr>
          <a:xfrm>
            <a:off x="2847751" y="1269494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65" name="object 1465"/>
          <p:cNvSpPr/>
          <p:nvPr/>
        </p:nvSpPr>
        <p:spPr>
          <a:xfrm>
            <a:off x="2744628" y="172724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131063" y="0"/>
                </a:moveTo>
                <a:lnTo>
                  <a:pt x="79724" y="9644"/>
                </a:lnTo>
                <a:lnTo>
                  <a:pt x="38100" y="36004"/>
                </a:lnTo>
                <a:lnTo>
                  <a:pt x="10191" y="75223"/>
                </a:lnTo>
                <a:lnTo>
                  <a:pt x="0" y="123443"/>
                </a:lnTo>
                <a:lnTo>
                  <a:pt x="10191" y="171902"/>
                </a:lnTo>
                <a:lnTo>
                  <a:pt x="38100" y="211645"/>
                </a:lnTo>
                <a:lnTo>
                  <a:pt x="79724" y="238529"/>
                </a:lnTo>
                <a:lnTo>
                  <a:pt x="131063" y="248411"/>
                </a:lnTo>
                <a:lnTo>
                  <a:pt x="181760" y="238529"/>
                </a:lnTo>
                <a:lnTo>
                  <a:pt x="223456" y="211645"/>
                </a:lnTo>
                <a:lnTo>
                  <a:pt x="251721" y="171902"/>
                </a:lnTo>
                <a:lnTo>
                  <a:pt x="262127" y="123443"/>
                </a:lnTo>
                <a:lnTo>
                  <a:pt x="251721" y="75223"/>
                </a:lnTo>
                <a:lnTo>
                  <a:pt x="223456" y="36004"/>
                </a:lnTo>
                <a:lnTo>
                  <a:pt x="181760" y="9644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6" name="object 1466"/>
          <p:cNvSpPr/>
          <p:nvPr/>
        </p:nvSpPr>
        <p:spPr>
          <a:xfrm>
            <a:off x="2744628" y="172724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0" y="123443"/>
                </a:moveTo>
                <a:lnTo>
                  <a:pt x="10191" y="75223"/>
                </a:lnTo>
                <a:lnTo>
                  <a:pt x="38099" y="36004"/>
                </a:lnTo>
                <a:lnTo>
                  <a:pt x="79724" y="9644"/>
                </a:lnTo>
                <a:lnTo>
                  <a:pt x="131063" y="0"/>
                </a:lnTo>
                <a:lnTo>
                  <a:pt x="181760" y="9644"/>
                </a:lnTo>
                <a:lnTo>
                  <a:pt x="223456" y="36004"/>
                </a:lnTo>
                <a:lnTo>
                  <a:pt x="251721" y="75223"/>
                </a:lnTo>
                <a:lnTo>
                  <a:pt x="262127" y="123443"/>
                </a:lnTo>
                <a:lnTo>
                  <a:pt x="251721" y="171902"/>
                </a:lnTo>
                <a:lnTo>
                  <a:pt x="223456" y="211645"/>
                </a:lnTo>
                <a:lnTo>
                  <a:pt x="181760" y="238529"/>
                </a:lnTo>
                <a:lnTo>
                  <a:pt x="131063" y="248411"/>
                </a:lnTo>
                <a:lnTo>
                  <a:pt x="79724" y="238529"/>
                </a:lnTo>
                <a:lnTo>
                  <a:pt x="38099" y="211645"/>
                </a:lnTo>
                <a:lnTo>
                  <a:pt x="10191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7" name="object 1467"/>
          <p:cNvSpPr txBox="1"/>
          <p:nvPr/>
        </p:nvSpPr>
        <p:spPr>
          <a:xfrm>
            <a:off x="2680619" y="1761785"/>
            <a:ext cx="487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271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68" name="object 1468"/>
          <p:cNvSpPr/>
          <p:nvPr/>
        </p:nvSpPr>
        <p:spPr>
          <a:xfrm>
            <a:off x="3552347" y="149864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4" h="248919">
                <a:moveTo>
                  <a:pt x="131063" y="0"/>
                </a:moveTo>
                <a:lnTo>
                  <a:pt x="80367" y="9882"/>
                </a:lnTo>
                <a:lnTo>
                  <a:pt x="38671" y="36766"/>
                </a:lnTo>
                <a:lnTo>
                  <a:pt x="10406" y="76509"/>
                </a:lnTo>
                <a:lnTo>
                  <a:pt x="0" y="124968"/>
                </a:lnTo>
                <a:lnTo>
                  <a:pt x="10406" y="173188"/>
                </a:lnTo>
                <a:lnTo>
                  <a:pt x="38671" y="212407"/>
                </a:lnTo>
                <a:lnTo>
                  <a:pt x="80367" y="238767"/>
                </a:lnTo>
                <a:lnTo>
                  <a:pt x="131063" y="248412"/>
                </a:lnTo>
                <a:lnTo>
                  <a:pt x="182403" y="238767"/>
                </a:lnTo>
                <a:lnTo>
                  <a:pt x="224027" y="212407"/>
                </a:lnTo>
                <a:lnTo>
                  <a:pt x="251936" y="173188"/>
                </a:lnTo>
                <a:lnTo>
                  <a:pt x="262127" y="124968"/>
                </a:lnTo>
                <a:lnTo>
                  <a:pt x="251936" y="76509"/>
                </a:lnTo>
                <a:lnTo>
                  <a:pt x="224027" y="36766"/>
                </a:lnTo>
                <a:lnTo>
                  <a:pt x="182403" y="9882"/>
                </a:lnTo>
                <a:lnTo>
                  <a:pt x="131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9" name="object 1469"/>
          <p:cNvSpPr/>
          <p:nvPr/>
        </p:nvSpPr>
        <p:spPr>
          <a:xfrm>
            <a:off x="3552347" y="149864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4" h="248919">
                <a:moveTo>
                  <a:pt x="0" y="124967"/>
                </a:moveTo>
                <a:lnTo>
                  <a:pt x="10406" y="76509"/>
                </a:lnTo>
                <a:lnTo>
                  <a:pt x="38671" y="36766"/>
                </a:lnTo>
                <a:lnTo>
                  <a:pt x="80367" y="9882"/>
                </a:lnTo>
                <a:lnTo>
                  <a:pt x="131063" y="0"/>
                </a:lnTo>
                <a:lnTo>
                  <a:pt x="182403" y="9882"/>
                </a:lnTo>
                <a:lnTo>
                  <a:pt x="224027" y="36766"/>
                </a:lnTo>
                <a:lnTo>
                  <a:pt x="251936" y="76509"/>
                </a:lnTo>
                <a:lnTo>
                  <a:pt x="262127" y="124967"/>
                </a:lnTo>
                <a:lnTo>
                  <a:pt x="251936" y="173188"/>
                </a:lnTo>
                <a:lnTo>
                  <a:pt x="224027" y="212407"/>
                </a:lnTo>
                <a:lnTo>
                  <a:pt x="182403" y="238767"/>
                </a:lnTo>
                <a:lnTo>
                  <a:pt x="131063" y="248411"/>
                </a:lnTo>
                <a:lnTo>
                  <a:pt x="80367" y="238767"/>
                </a:lnTo>
                <a:lnTo>
                  <a:pt x="38671" y="212407"/>
                </a:lnTo>
                <a:lnTo>
                  <a:pt x="10406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0" name="object 1470"/>
          <p:cNvSpPr/>
          <p:nvPr/>
        </p:nvSpPr>
        <p:spPr>
          <a:xfrm>
            <a:off x="2293523" y="1236513"/>
            <a:ext cx="466725" cy="134620"/>
          </a:xfrm>
          <a:custGeom>
            <a:avLst/>
            <a:gdLst/>
            <a:ahLst/>
            <a:cxnLst/>
            <a:rect l="l" t="t" r="r" b="b"/>
            <a:pathLst>
              <a:path w="466725" h="134619">
                <a:moveTo>
                  <a:pt x="422599" y="120115"/>
                </a:moveTo>
                <a:lnTo>
                  <a:pt x="419100" y="134112"/>
                </a:lnTo>
                <a:lnTo>
                  <a:pt x="466343" y="123444"/>
                </a:lnTo>
                <a:lnTo>
                  <a:pt x="464602" y="121920"/>
                </a:lnTo>
                <a:lnTo>
                  <a:pt x="429767" y="121920"/>
                </a:lnTo>
                <a:lnTo>
                  <a:pt x="422599" y="120115"/>
                </a:lnTo>
                <a:close/>
              </a:path>
              <a:path w="466725" h="134619">
                <a:moveTo>
                  <a:pt x="426005" y="106489"/>
                </a:moveTo>
                <a:lnTo>
                  <a:pt x="422599" y="120115"/>
                </a:lnTo>
                <a:lnTo>
                  <a:pt x="429767" y="121920"/>
                </a:lnTo>
                <a:lnTo>
                  <a:pt x="432815" y="108203"/>
                </a:lnTo>
                <a:lnTo>
                  <a:pt x="426005" y="106489"/>
                </a:lnTo>
                <a:close/>
              </a:path>
              <a:path w="466725" h="134619">
                <a:moveTo>
                  <a:pt x="429767" y="91439"/>
                </a:moveTo>
                <a:lnTo>
                  <a:pt x="426005" y="106489"/>
                </a:lnTo>
                <a:lnTo>
                  <a:pt x="432815" y="108203"/>
                </a:lnTo>
                <a:lnTo>
                  <a:pt x="429767" y="121920"/>
                </a:lnTo>
                <a:lnTo>
                  <a:pt x="464602" y="121920"/>
                </a:lnTo>
                <a:lnTo>
                  <a:pt x="429767" y="91439"/>
                </a:lnTo>
                <a:close/>
              </a:path>
              <a:path w="466725" h="134619">
                <a:moveTo>
                  <a:pt x="3048" y="0"/>
                </a:moveTo>
                <a:lnTo>
                  <a:pt x="0" y="13715"/>
                </a:lnTo>
                <a:lnTo>
                  <a:pt x="422599" y="120115"/>
                </a:lnTo>
                <a:lnTo>
                  <a:pt x="426005" y="106489"/>
                </a:lnTo>
                <a:lnTo>
                  <a:pt x="30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1" name="object 1471"/>
          <p:cNvSpPr/>
          <p:nvPr/>
        </p:nvSpPr>
        <p:spPr>
          <a:xfrm>
            <a:off x="2290476" y="1239561"/>
            <a:ext cx="454659" cy="611505"/>
          </a:xfrm>
          <a:custGeom>
            <a:avLst/>
            <a:gdLst/>
            <a:ahLst/>
            <a:cxnLst/>
            <a:rect l="l" t="t" r="r" b="b"/>
            <a:pathLst>
              <a:path w="454660" h="611505">
                <a:moveTo>
                  <a:pt x="422800" y="581420"/>
                </a:moveTo>
                <a:lnTo>
                  <a:pt x="411479" y="589788"/>
                </a:lnTo>
                <a:lnTo>
                  <a:pt x="454151" y="611124"/>
                </a:lnTo>
                <a:lnTo>
                  <a:pt x="450219" y="586739"/>
                </a:lnTo>
                <a:lnTo>
                  <a:pt x="426720" y="586739"/>
                </a:lnTo>
                <a:lnTo>
                  <a:pt x="422800" y="581420"/>
                </a:lnTo>
                <a:close/>
              </a:path>
              <a:path w="454660" h="611505">
                <a:moveTo>
                  <a:pt x="434318" y="572907"/>
                </a:moveTo>
                <a:lnTo>
                  <a:pt x="422800" y="581420"/>
                </a:lnTo>
                <a:lnTo>
                  <a:pt x="426720" y="586739"/>
                </a:lnTo>
                <a:lnTo>
                  <a:pt x="438912" y="579119"/>
                </a:lnTo>
                <a:lnTo>
                  <a:pt x="434318" y="572907"/>
                </a:lnTo>
                <a:close/>
              </a:path>
              <a:path w="454660" h="611505">
                <a:moveTo>
                  <a:pt x="446532" y="563880"/>
                </a:moveTo>
                <a:lnTo>
                  <a:pt x="434318" y="572907"/>
                </a:lnTo>
                <a:lnTo>
                  <a:pt x="438912" y="579119"/>
                </a:lnTo>
                <a:lnTo>
                  <a:pt x="426720" y="586739"/>
                </a:lnTo>
                <a:lnTo>
                  <a:pt x="450219" y="586739"/>
                </a:lnTo>
                <a:lnTo>
                  <a:pt x="446532" y="563880"/>
                </a:lnTo>
                <a:close/>
              </a:path>
              <a:path w="454660" h="611505">
                <a:moveTo>
                  <a:pt x="10668" y="0"/>
                </a:moveTo>
                <a:lnTo>
                  <a:pt x="0" y="7619"/>
                </a:lnTo>
                <a:lnTo>
                  <a:pt x="422800" y="581420"/>
                </a:lnTo>
                <a:lnTo>
                  <a:pt x="434318" y="572907"/>
                </a:lnTo>
                <a:lnTo>
                  <a:pt x="106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2" name="object 1472"/>
          <p:cNvSpPr/>
          <p:nvPr/>
        </p:nvSpPr>
        <p:spPr>
          <a:xfrm>
            <a:off x="2292000" y="1359957"/>
            <a:ext cx="467995" cy="285115"/>
          </a:xfrm>
          <a:custGeom>
            <a:avLst/>
            <a:gdLst/>
            <a:ahLst/>
            <a:cxnLst/>
            <a:rect l="l" t="t" r="r" b="b"/>
            <a:pathLst>
              <a:path w="467994" h="285114">
                <a:moveTo>
                  <a:pt x="428131" y="15917"/>
                </a:moveTo>
                <a:lnTo>
                  <a:pt x="0" y="272795"/>
                </a:lnTo>
                <a:lnTo>
                  <a:pt x="7619" y="284987"/>
                </a:lnTo>
                <a:lnTo>
                  <a:pt x="434984" y="27666"/>
                </a:lnTo>
                <a:lnTo>
                  <a:pt x="428131" y="15917"/>
                </a:lnTo>
                <a:close/>
              </a:path>
              <a:path w="467994" h="285114">
                <a:moveTo>
                  <a:pt x="459896" y="12191"/>
                </a:moveTo>
                <a:lnTo>
                  <a:pt x="434339" y="12191"/>
                </a:lnTo>
                <a:lnTo>
                  <a:pt x="440436" y="24383"/>
                </a:lnTo>
                <a:lnTo>
                  <a:pt x="434984" y="27666"/>
                </a:lnTo>
                <a:lnTo>
                  <a:pt x="441960" y="39623"/>
                </a:lnTo>
                <a:lnTo>
                  <a:pt x="459896" y="12191"/>
                </a:lnTo>
                <a:close/>
              </a:path>
              <a:path w="467994" h="285114">
                <a:moveTo>
                  <a:pt x="434339" y="12191"/>
                </a:moveTo>
                <a:lnTo>
                  <a:pt x="428131" y="15917"/>
                </a:lnTo>
                <a:lnTo>
                  <a:pt x="434984" y="27666"/>
                </a:lnTo>
                <a:lnTo>
                  <a:pt x="440436" y="24383"/>
                </a:lnTo>
                <a:lnTo>
                  <a:pt x="434339" y="12191"/>
                </a:lnTo>
                <a:close/>
              </a:path>
              <a:path w="467994" h="285114">
                <a:moveTo>
                  <a:pt x="467867" y="0"/>
                </a:moveTo>
                <a:lnTo>
                  <a:pt x="420624" y="3047"/>
                </a:lnTo>
                <a:lnTo>
                  <a:pt x="428131" y="15917"/>
                </a:lnTo>
                <a:lnTo>
                  <a:pt x="434339" y="12191"/>
                </a:lnTo>
                <a:lnTo>
                  <a:pt x="459896" y="12191"/>
                </a:lnTo>
                <a:lnTo>
                  <a:pt x="46786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3" name="object 1473"/>
          <p:cNvSpPr/>
          <p:nvPr/>
        </p:nvSpPr>
        <p:spPr>
          <a:xfrm>
            <a:off x="2292000" y="1632753"/>
            <a:ext cx="452755" cy="219710"/>
          </a:xfrm>
          <a:custGeom>
            <a:avLst/>
            <a:gdLst/>
            <a:ahLst/>
            <a:cxnLst/>
            <a:rect l="l" t="t" r="r" b="b"/>
            <a:pathLst>
              <a:path w="452755" h="219710">
                <a:moveTo>
                  <a:pt x="411808" y="206072"/>
                </a:moveTo>
                <a:lnTo>
                  <a:pt x="405384" y="219456"/>
                </a:lnTo>
                <a:lnTo>
                  <a:pt x="452627" y="217932"/>
                </a:lnTo>
                <a:lnTo>
                  <a:pt x="445388" y="208788"/>
                </a:lnTo>
                <a:lnTo>
                  <a:pt x="417575" y="208788"/>
                </a:lnTo>
                <a:lnTo>
                  <a:pt x="411808" y="206072"/>
                </a:lnTo>
                <a:close/>
              </a:path>
              <a:path w="452755" h="219710">
                <a:moveTo>
                  <a:pt x="417705" y="193786"/>
                </a:moveTo>
                <a:lnTo>
                  <a:pt x="411808" y="206072"/>
                </a:lnTo>
                <a:lnTo>
                  <a:pt x="417575" y="208788"/>
                </a:lnTo>
                <a:lnTo>
                  <a:pt x="423672" y="196596"/>
                </a:lnTo>
                <a:lnTo>
                  <a:pt x="417705" y="193786"/>
                </a:lnTo>
                <a:close/>
              </a:path>
              <a:path w="452755" h="219710">
                <a:moveTo>
                  <a:pt x="423672" y="181356"/>
                </a:moveTo>
                <a:lnTo>
                  <a:pt x="417705" y="193786"/>
                </a:lnTo>
                <a:lnTo>
                  <a:pt x="423672" y="196596"/>
                </a:lnTo>
                <a:lnTo>
                  <a:pt x="417575" y="208788"/>
                </a:lnTo>
                <a:lnTo>
                  <a:pt x="445388" y="208788"/>
                </a:lnTo>
                <a:lnTo>
                  <a:pt x="423672" y="181356"/>
                </a:lnTo>
                <a:close/>
              </a:path>
              <a:path w="452755" h="219710">
                <a:moveTo>
                  <a:pt x="6095" y="0"/>
                </a:moveTo>
                <a:lnTo>
                  <a:pt x="0" y="12192"/>
                </a:lnTo>
                <a:lnTo>
                  <a:pt x="411808" y="206072"/>
                </a:lnTo>
                <a:lnTo>
                  <a:pt x="417705" y="193786"/>
                </a:lnTo>
                <a:lnTo>
                  <a:pt x="609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4" name="object 1474"/>
          <p:cNvSpPr/>
          <p:nvPr/>
        </p:nvSpPr>
        <p:spPr>
          <a:xfrm>
            <a:off x="2288951" y="1359957"/>
            <a:ext cx="471170" cy="678180"/>
          </a:xfrm>
          <a:custGeom>
            <a:avLst/>
            <a:gdLst/>
            <a:ahLst/>
            <a:cxnLst/>
            <a:rect l="l" t="t" r="r" b="b"/>
            <a:pathLst>
              <a:path w="471169" h="678180">
                <a:moveTo>
                  <a:pt x="441485" y="31011"/>
                </a:moveTo>
                <a:lnTo>
                  <a:pt x="0" y="670559"/>
                </a:lnTo>
                <a:lnTo>
                  <a:pt x="12192" y="678179"/>
                </a:lnTo>
                <a:lnTo>
                  <a:pt x="453275" y="39213"/>
                </a:lnTo>
                <a:lnTo>
                  <a:pt x="441485" y="31011"/>
                </a:lnTo>
                <a:close/>
              </a:path>
              <a:path w="471169" h="678180">
                <a:moveTo>
                  <a:pt x="467573" y="25907"/>
                </a:moveTo>
                <a:lnTo>
                  <a:pt x="445008" y="25907"/>
                </a:lnTo>
                <a:lnTo>
                  <a:pt x="457200" y="33527"/>
                </a:lnTo>
                <a:lnTo>
                  <a:pt x="453275" y="39213"/>
                </a:lnTo>
                <a:lnTo>
                  <a:pt x="464820" y="47243"/>
                </a:lnTo>
                <a:lnTo>
                  <a:pt x="467573" y="25907"/>
                </a:lnTo>
                <a:close/>
              </a:path>
              <a:path w="471169" h="678180">
                <a:moveTo>
                  <a:pt x="445008" y="25907"/>
                </a:moveTo>
                <a:lnTo>
                  <a:pt x="441485" y="31011"/>
                </a:lnTo>
                <a:lnTo>
                  <a:pt x="453275" y="39213"/>
                </a:lnTo>
                <a:lnTo>
                  <a:pt x="457200" y="33527"/>
                </a:lnTo>
                <a:lnTo>
                  <a:pt x="445008" y="25907"/>
                </a:lnTo>
                <a:close/>
              </a:path>
              <a:path w="471169" h="678180">
                <a:moveTo>
                  <a:pt x="470915" y="0"/>
                </a:moveTo>
                <a:lnTo>
                  <a:pt x="429768" y="22859"/>
                </a:lnTo>
                <a:lnTo>
                  <a:pt x="441485" y="31011"/>
                </a:lnTo>
                <a:lnTo>
                  <a:pt x="445008" y="25907"/>
                </a:lnTo>
                <a:lnTo>
                  <a:pt x="467573" y="25907"/>
                </a:lnTo>
                <a:lnTo>
                  <a:pt x="47091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5" name="object 1475"/>
          <p:cNvSpPr/>
          <p:nvPr/>
        </p:nvSpPr>
        <p:spPr>
          <a:xfrm>
            <a:off x="2293523" y="1847637"/>
            <a:ext cx="451484" cy="193675"/>
          </a:xfrm>
          <a:custGeom>
            <a:avLst/>
            <a:gdLst/>
            <a:ahLst/>
            <a:cxnLst/>
            <a:rect l="l" t="t" r="r" b="b"/>
            <a:pathLst>
              <a:path w="451485" h="193675">
                <a:moveTo>
                  <a:pt x="408853" y="12983"/>
                </a:moveTo>
                <a:lnTo>
                  <a:pt x="0" y="179831"/>
                </a:lnTo>
                <a:lnTo>
                  <a:pt x="4571" y="193548"/>
                </a:lnTo>
                <a:lnTo>
                  <a:pt x="413738" y="25684"/>
                </a:lnTo>
                <a:lnTo>
                  <a:pt x="408853" y="12983"/>
                </a:lnTo>
                <a:close/>
              </a:path>
              <a:path w="451485" h="193675">
                <a:moveTo>
                  <a:pt x="444436" y="10668"/>
                </a:moveTo>
                <a:lnTo>
                  <a:pt x="414527" y="10668"/>
                </a:lnTo>
                <a:lnTo>
                  <a:pt x="420624" y="22860"/>
                </a:lnTo>
                <a:lnTo>
                  <a:pt x="413738" y="25684"/>
                </a:lnTo>
                <a:lnTo>
                  <a:pt x="419100" y="39624"/>
                </a:lnTo>
                <a:lnTo>
                  <a:pt x="444436" y="10668"/>
                </a:lnTo>
                <a:close/>
              </a:path>
              <a:path w="451485" h="193675">
                <a:moveTo>
                  <a:pt x="414527" y="10668"/>
                </a:moveTo>
                <a:lnTo>
                  <a:pt x="408853" y="12983"/>
                </a:lnTo>
                <a:lnTo>
                  <a:pt x="413738" y="25684"/>
                </a:lnTo>
                <a:lnTo>
                  <a:pt x="420624" y="22860"/>
                </a:lnTo>
                <a:lnTo>
                  <a:pt x="414527" y="10668"/>
                </a:lnTo>
                <a:close/>
              </a:path>
              <a:path w="451485" h="193675">
                <a:moveTo>
                  <a:pt x="403860" y="0"/>
                </a:moveTo>
                <a:lnTo>
                  <a:pt x="408853" y="12983"/>
                </a:lnTo>
                <a:lnTo>
                  <a:pt x="414527" y="10668"/>
                </a:lnTo>
                <a:lnTo>
                  <a:pt x="444436" y="10668"/>
                </a:lnTo>
                <a:lnTo>
                  <a:pt x="451103" y="3048"/>
                </a:lnTo>
                <a:lnTo>
                  <a:pt x="40386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6" name="object 1476"/>
          <p:cNvSpPr/>
          <p:nvPr/>
        </p:nvSpPr>
        <p:spPr>
          <a:xfrm>
            <a:off x="3020472" y="1356909"/>
            <a:ext cx="532130" cy="266700"/>
          </a:xfrm>
          <a:custGeom>
            <a:avLst/>
            <a:gdLst/>
            <a:ahLst/>
            <a:cxnLst/>
            <a:rect l="l" t="t" r="r" b="b"/>
            <a:pathLst>
              <a:path w="532129" h="266700">
                <a:moveTo>
                  <a:pt x="497079" y="251605"/>
                </a:moveTo>
                <a:lnTo>
                  <a:pt x="489203" y="266699"/>
                </a:lnTo>
                <a:lnTo>
                  <a:pt x="531876" y="266699"/>
                </a:lnTo>
                <a:lnTo>
                  <a:pt x="523394" y="254507"/>
                </a:lnTo>
                <a:lnTo>
                  <a:pt x="502919" y="254507"/>
                </a:lnTo>
                <a:lnTo>
                  <a:pt x="497079" y="251605"/>
                </a:lnTo>
                <a:close/>
              </a:path>
              <a:path w="532129" h="266700">
                <a:moveTo>
                  <a:pt x="499290" y="247367"/>
                </a:moveTo>
                <a:lnTo>
                  <a:pt x="497079" y="251605"/>
                </a:lnTo>
                <a:lnTo>
                  <a:pt x="502919" y="254507"/>
                </a:lnTo>
                <a:lnTo>
                  <a:pt x="504443" y="249935"/>
                </a:lnTo>
                <a:lnTo>
                  <a:pt x="499290" y="247367"/>
                </a:lnTo>
                <a:close/>
              </a:path>
              <a:path w="532129" h="266700">
                <a:moveTo>
                  <a:pt x="507491" y="231647"/>
                </a:moveTo>
                <a:lnTo>
                  <a:pt x="499290" y="247367"/>
                </a:lnTo>
                <a:lnTo>
                  <a:pt x="504443" y="249935"/>
                </a:lnTo>
                <a:lnTo>
                  <a:pt x="502919" y="254507"/>
                </a:lnTo>
                <a:lnTo>
                  <a:pt x="523394" y="254507"/>
                </a:lnTo>
                <a:lnTo>
                  <a:pt x="507491" y="231647"/>
                </a:lnTo>
                <a:close/>
              </a:path>
              <a:path w="532129" h="266700">
                <a:moveTo>
                  <a:pt x="3048" y="0"/>
                </a:moveTo>
                <a:lnTo>
                  <a:pt x="0" y="4571"/>
                </a:lnTo>
                <a:lnTo>
                  <a:pt x="497079" y="251605"/>
                </a:lnTo>
                <a:lnTo>
                  <a:pt x="499290" y="247367"/>
                </a:lnTo>
                <a:lnTo>
                  <a:pt x="3048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7" name="object 1477"/>
          <p:cNvSpPr/>
          <p:nvPr/>
        </p:nvSpPr>
        <p:spPr>
          <a:xfrm>
            <a:off x="3005232" y="1620561"/>
            <a:ext cx="547370" cy="233679"/>
          </a:xfrm>
          <a:custGeom>
            <a:avLst/>
            <a:gdLst/>
            <a:ahLst/>
            <a:cxnLst/>
            <a:rect l="l" t="t" r="r" b="b"/>
            <a:pathLst>
              <a:path w="547370" h="233680">
                <a:moveTo>
                  <a:pt x="511781" y="14856"/>
                </a:moveTo>
                <a:lnTo>
                  <a:pt x="0" y="228600"/>
                </a:lnTo>
                <a:lnTo>
                  <a:pt x="3047" y="233171"/>
                </a:lnTo>
                <a:lnTo>
                  <a:pt x="513535" y="19339"/>
                </a:lnTo>
                <a:lnTo>
                  <a:pt x="511781" y="14856"/>
                </a:lnTo>
                <a:close/>
              </a:path>
              <a:path w="547370" h="233680">
                <a:moveTo>
                  <a:pt x="539278" y="12191"/>
                </a:moveTo>
                <a:lnTo>
                  <a:pt x="518159" y="12191"/>
                </a:lnTo>
                <a:lnTo>
                  <a:pt x="519683" y="16763"/>
                </a:lnTo>
                <a:lnTo>
                  <a:pt x="513535" y="19339"/>
                </a:lnTo>
                <a:lnTo>
                  <a:pt x="519683" y="35051"/>
                </a:lnTo>
                <a:lnTo>
                  <a:pt x="539278" y="12191"/>
                </a:lnTo>
                <a:close/>
              </a:path>
              <a:path w="547370" h="233680">
                <a:moveTo>
                  <a:pt x="518159" y="12191"/>
                </a:moveTo>
                <a:lnTo>
                  <a:pt x="511781" y="14856"/>
                </a:lnTo>
                <a:lnTo>
                  <a:pt x="513535" y="19339"/>
                </a:lnTo>
                <a:lnTo>
                  <a:pt x="519683" y="16763"/>
                </a:lnTo>
                <a:lnTo>
                  <a:pt x="518159" y="12191"/>
                </a:lnTo>
                <a:close/>
              </a:path>
              <a:path w="547370" h="233680">
                <a:moveTo>
                  <a:pt x="505967" y="0"/>
                </a:moveTo>
                <a:lnTo>
                  <a:pt x="511781" y="14856"/>
                </a:lnTo>
                <a:lnTo>
                  <a:pt x="518159" y="12191"/>
                </a:lnTo>
                <a:lnTo>
                  <a:pt x="539278" y="12191"/>
                </a:lnTo>
                <a:lnTo>
                  <a:pt x="547115" y="3047"/>
                </a:lnTo>
                <a:lnTo>
                  <a:pt x="505967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8" name="object 1478"/>
          <p:cNvSpPr txBox="1"/>
          <p:nvPr/>
        </p:nvSpPr>
        <p:spPr>
          <a:xfrm>
            <a:off x="1270411" y="2583259"/>
            <a:ext cx="36830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全零初始化：网络中不同的神经元有相同的输出，进行同样的参数更新； 因此，这些神经元学到的参数都一样，等价于一个神经元。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79" name="object 1479"/>
          <p:cNvSpPr txBox="1"/>
          <p:nvPr/>
        </p:nvSpPr>
        <p:spPr>
          <a:xfrm>
            <a:off x="4313875" y="1329961"/>
            <a:ext cx="1423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议：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初始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免全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初始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80" name="object 1480"/>
          <p:cNvSpPr txBox="1">
            <a:spLocks noGrp="1"/>
          </p:cNvSpPr>
          <p:nvPr>
            <p:ph type="title"/>
          </p:nvPr>
        </p:nvSpPr>
        <p:spPr>
          <a:xfrm>
            <a:off x="2338659" y="147869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全零初始化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1" name="object 148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2" name="object 148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5" name="object 1485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407" y="546947"/>
            <a:ext cx="2912110" cy="8077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5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络结构</a:t>
            </a:r>
            <a:r>
              <a:rPr sz="1000" spc="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：10</a:t>
            </a:r>
            <a:r>
              <a:rPr sz="1000" spc="5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个隐层，1个输</a:t>
            </a:r>
            <a:r>
              <a:rPr sz="1000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5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1000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5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隐层包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含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500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，使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的双曲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正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函数。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569" y="1405576"/>
            <a:ext cx="1257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i="1" spc="5" dirty="0">
                <a:latin typeface="Cambria Math" panose="02040503050406030204"/>
                <a:cs typeface="Cambria Math" panose="02040503050406030204"/>
              </a:rPr>
              <a:t>N(0,0.01)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4010" y="1405576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高斯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布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1660" y="142144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随机权值初始化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41204" y="618141"/>
            <a:ext cx="2362941" cy="12992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5410" y="2102196"/>
            <a:ext cx="5553683" cy="600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49827" y="2700347"/>
            <a:ext cx="3390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除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两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续所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活值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此时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传递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层；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终，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络得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到训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54376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407" y="551150"/>
            <a:ext cx="2912110" cy="8089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络结构</a:t>
            </a:r>
            <a:r>
              <a:rPr sz="1000" spc="35" dirty="0">
                <a:latin typeface="黑体" panose="02010609060101010101" charset="-122"/>
                <a:cs typeface="黑体" panose="02010609060101010101" charset="-122"/>
              </a:rPr>
              <a:t>：10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个隐层，1个输</a:t>
            </a: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5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隐层包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含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500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，使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的双曲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正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函数。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569" y="1411295"/>
            <a:ext cx="1143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10" dirty="0">
                <a:latin typeface="Cambria Math" panose="02040503050406030204"/>
                <a:cs typeface="Cambria Math" panose="02040503050406030204"/>
              </a:rPr>
              <a:t>N(0,1)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6281" y="1411295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高斯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布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1660" y="147869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随机权值初始化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41211" y="657164"/>
            <a:ext cx="2429977" cy="12986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1959" y="2088032"/>
            <a:ext cx="5488203" cy="599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50057" y="2722891"/>
            <a:ext cx="3898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乎所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元都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饱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-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此时，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部梯度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都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是零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终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得不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54376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01" y="1016866"/>
            <a:ext cx="3753485" cy="1320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验结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化时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让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权值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相等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并不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保证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络能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正常的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 panose="05000000000000000000"/>
              <a:buChar char=""/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训练。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5080" indent="-172085">
              <a:lnSpc>
                <a:spcPct val="25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效的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始化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活值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局部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度的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差在传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尽量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持一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致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持网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中正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和反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流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0059" y="142144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随机权值初始化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1308" y="1874637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95" dirty="0">
                <a:latin typeface="Cambria Math" panose="02040503050406030204"/>
                <a:cs typeface="Cambria Math" panose="02040503050406030204"/>
              </a:rPr>
              <a:t>f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5872" y="267555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5872" y="2664120"/>
            <a:ext cx="3175" cy="10160"/>
          </a:xfrm>
          <a:custGeom>
            <a:avLst/>
            <a:gdLst/>
            <a:ahLst/>
            <a:cxnLst/>
            <a:rect l="l" t="t" r="r" b="b"/>
            <a:pathLst>
              <a:path w="3175" h="10160">
                <a:moveTo>
                  <a:pt x="0" y="10159"/>
                </a:moveTo>
                <a:lnTo>
                  <a:pt x="3047" y="10159"/>
                </a:lnTo>
                <a:lnTo>
                  <a:pt x="3047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99647" y="26645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5872" y="26507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99647" y="26507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5872" y="26355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99647" y="26355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5872" y="26203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99647" y="26203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5872" y="2605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99647" y="2605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5872" y="25898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99647" y="25898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5872" y="25745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99647" y="25745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05872" y="25593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99647" y="25593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5872" y="25441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99647" y="25441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5872" y="25288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99647" y="25288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5872" y="25136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99647" y="25136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5872" y="24983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99647" y="24983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5872" y="24831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99647" y="24831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5872" y="24679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99647" y="24679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5872" y="24526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99647" y="24526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5872" y="24374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99647" y="24374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05872" y="24221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99647" y="24221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05872" y="24069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99647" y="24069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05872" y="23917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99647" y="23917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05872" y="23764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99647" y="23764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05872" y="236274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999647" y="236274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05872" y="23475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999647" y="23475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05872" y="23322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999647" y="23322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05872" y="23170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999647" y="23170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05872" y="2301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99647" y="2301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05872" y="22865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99647" y="22865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05872" y="22713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99647" y="22713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05872" y="22560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999647" y="22560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05872" y="22408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999647" y="22408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05872" y="22255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999647" y="22255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05872" y="220577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999647" y="220577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05872" y="2179869"/>
            <a:ext cx="3175" cy="26034"/>
          </a:xfrm>
          <a:custGeom>
            <a:avLst/>
            <a:gdLst/>
            <a:ahLst/>
            <a:cxnLst/>
            <a:rect l="l" t="t" r="r" b="b"/>
            <a:pathLst>
              <a:path w="3175" h="26035">
                <a:moveTo>
                  <a:pt x="3047" y="0"/>
                </a:moveTo>
                <a:lnTo>
                  <a:pt x="0" y="0"/>
                </a:lnTo>
                <a:lnTo>
                  <a:pt x="0" y="25907"/>
                </a:lnTo>
                <a:lnTo>
                  <a:pt x="3047" y="25907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001172" y="2179869"/>
            <a:ext cx="0" cy="26034"/>
          </a:xfrm>
          <a:custGeom>
            <a:avLst/>
            <a:gdLst/>
            <a:ahLst/>
            <a:cxnLst/>
            <a:rect l="l" t="t" r="r" b="b"/>
            <a:pathLst>
              <a:path h="26035">
                <a:moveTo>
                  <a:pt x="0" y="25907"/>
                </a:moveTo>
                <a:lnTo>
                  <a:pt x="0" y="0"/>
                </a:lnTo>
                <a:lnTo>
                  <a:pt x="0" y="25907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05872" y="2155485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999647" y="2155485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05872" y="2132625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60"/>
                </a:lnTo>
                <a:lnTo>
                  <a:pt x="3047" y="22860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999647" y="2132625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60"/>
                </a:lnTo>
                <a:lnTo>
                  <a:pt x="3047" y="22860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05872" y="21143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999647" y="21143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05872" y="209452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999647" y="209452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05872" y="20762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999647" y="20762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05872" y="205642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999647" y="205642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05872" y="20381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999647" y="20381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05872" y="20198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999647" y="20198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05872" y="20000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999647" y="20000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05872" y="19817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999647" y="19817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05872" y="19619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999647" y="19619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05872" y="19436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999647" y="19436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05872" y="19238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999647" y="19238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05872" y="19055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999647" y="19055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05872" y="190250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999647" y="190250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05872" y="18872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999647" y="18872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05872" y="18765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7" y="0"/>
                </a:moveTo>
                <a:lnTo>
                  <a:pt x="0" y="0"/>
                </a:lnTo>
                <a:lnTo>
                  <a:pt x="0" y="10668"/>
                </a:lnTo>
                <a:lnTo>
                  <a:pt x="3047" y="10668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999647" y="18765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7" y="0"/>
                </a:moveTo>
                <a:lnTo>
                  <a:pt x="0" y="0"/>
                </a:lnTo>
                <a:lnTo>
                  <a:pt x="0" y="10668"/>
                </a:lnTo>
                <a:lnTo>
                  <a:pt x="3047" y="10668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05872" y="18674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999647" y="18674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05872" y="18522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999647" y="18522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05872" y="184916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999647" y="184916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05872" y="1829349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999647" y="1829349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05872" y="18110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999647" y="18110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05872" y="1791249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999647" y="1791249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05872" y="17729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999647" y="17729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505872" y="17546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999647" y="17546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05872" y="175010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7" y="0"/>
                </a:moveTo>
                <a:lnTo>
                  <a:pt x="0" y="0"/>
                </a:lnTo>
                <a:lnTo>
                  <a:pt x="0" y="4572"/>
                </a:lnTo>
                <a:lnTo>
                  <a:pt x="3047" y="4572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999647" y="175010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7" y="0"/>
                </a:moveTo>
                <a:lnTo>
                  <a:pt x="0" y="0"/>
                </a:lnTo>
                <a:lnTo>
                  <a:pt x="0" y="4572"/>
                </a:lnTo>
                <a:lnTo>
                  <a:pt x="3047" y="4572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05872" y="17348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99647" y="17348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505872" y="17257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99647" y="17257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505872" y="17165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999647" y="17165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505872" y="16998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999647" y="16998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05872" y="169676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999647" y="169676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505872" y="16784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999647" y="16784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05872" y="16754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999647" y="16754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505872" y="16586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999647" y="16586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505872" y="16495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999647" y="16495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505872" y="16403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999647" y="16403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505872" y="16251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999647" y="16251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505872" y="162208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999647" y="162208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505872" y="16022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999647" y="16022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505872" y="15839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999647" y="15839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505872" y="15641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999647" y="15641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505872" y="15458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999647" y="15458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505872" y="15260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999647" y="15260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505872" y="15077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999647" y="15077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505872" y="148949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999647" y="148949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505872" y="146968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999647" y="146968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505872" y="146270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19"/>
                </a:moveTo>
                <a:lnTo>
                  <a:pt x="3047" y="7619"/>
                </a:lnTo>
                <a:lnTo>
                  <a:pt x="3047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505872" y="1459842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4445">
            <a:solidFill>
              <a:srgbClr val="FFE5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999647" y="14620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7" y="0"/>
                </a:moveTo>
                <a:lnTo>
                  <a:pt x="0" y="0"/>
                </a:lnTo>
                <a:lnTo>
                  <a:pt x="0" y="7620"/>
                </a:lnTo>
                <a:lnTo>
                  <a:pt x="3047" y="7620"/>
                </a:lnTo>
                <a:lnTo>
                  <a:pt x="3047" y="0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505872" y="2675550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505872" y="2664120"/>
            <a:ext cx="3175" cy="10160"/>
          </a:xfrm>
          <a:custGeom>
            <a:avLst/>
            <a:gdLst/>
            <a:ahLst/>
            <a:cxnLst/>
            <a:rect l="l" t="t" r="r" b="b"/>
            <a:pathLst>
              <a:path w="3175" h="10160">
                <a:moveTo>
                  <a:pt x="0" y="10159"/>
                </a:moveTo>
                <a:lnTo>
                  <a:pt x="3047" y="10159"/>
                </a:lnTo>
                <a:lnTo>
                  <a:pt x="3047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999647" y="2664501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505872" y="26507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999647" y="2650785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505872" y="26355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999647" y="26355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505872" y="26203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999647" y="26203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505872" y="2605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999647" y="26050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505872" y="25898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999647" y="25898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505872" y="25745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999647" y="25745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505872" y="25593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999647" y="25593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505872" y="25441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999647" y="25441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505872" y="25288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999647" y="25288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505872" y="25136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999647" y="25136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505872" y="24983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999647" y="24983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505872" y="24831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999647" y="24831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505872" y="24679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999647" y="24679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505872" y="24526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999647" y="24526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505872" y="24374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999647" y="243742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505872" y="24221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999647" y="242218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505872" y="24069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999647" y="240694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505872" y="23917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999647" y="239170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505872" y="23764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999647" y="2376465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505872" y="236274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999647" y="2362749"/>
            <a:ext cx="3175" cy="13970"/>
          </a:xfrm>
          <a:custGeom>
            <a:avLst/>
            <a:gdLst/>
            <a:ahLst/>
            <a:cxnLst/>
            <a:rect l="l" t="t" r="r" b="b"/>
            <a:pathLst>
              <a:path w="3175" h="13969">
                <a:moveTo>
                  <a:pt x="3047" y="0"/>
                </a:moveTo>
                <a:lnTo>
                  <a:pt x="0" y="0"/>
                </a:lnTo>
                <a:lnTo>
                  <a:pt x="0" y="13715"/>
                </a:lnTo>
                <a:lnTo>
                  <a:pt x="3047" y="13715"/>
                </a:lnTo>
                <a:lnTo>
                  <a:pt x="3047" y="0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505872" y="23475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999647" y="23475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505872" y="23322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999647" y="23322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505872" y="23170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999647" y="23170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505872" y="2301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999647" y="23017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505872" y="22865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999647" y="228654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505872" y="22713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999647" y="22713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505872" y="22560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999647" y="225606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505872" y="22408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999647" y="224082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505872" y="22255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999647" y="222558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505872" y="220577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999647" y="220577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505872" y="2179869"/>
            <a:ext cx="3175" cy="26034"/>
          </a:xfrm>
          <a:custGeom>
            <a:avLst/>
            <a:gdLst/>
            <a:ahLst/>
            <a:cxnLst/>
            <a:rect l="l" t="t" r="r" b="b"/>
            <a:pathLst>
              <a:path w="3175" h="26035">
                <a:moveTo>
                  <a:pt x="3047" y="0"/>
                </a:moveTo>
                <a:lnTo>
                  <a:pt x="0" y="0"/>
                </a:lnTo>
                <a:lnTo>
                  <a:pt x="0" y="25907"/>
                </a:lnTo>
                <a:lnTo>
                  <a:pt x="3047" y="25907"/>
                </a:lnTo>
                <a:lnTo>
                  <a:pt x="3047" y="0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505872" y="2155485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999647" y="2155485"/>
            <a:ext cx="3175" cy="24765"/>
          </a:xfrm>
          <a:custGeom>
            <a:avLst/>
            <a:gdLst/>
            <a:ahLst/>
            <a:cxnLst/>
            <a:rect l="l" t="t" r="r" b="b"/>
            <a:pathLst>
              <a:path w="3175" h="24764">
                <a:moveTo>
                  <a:pt x="3047" y="0"/>
                </a:moveTo>
                <a:lnTo>
                  <a:pt x="0" y="0"/>
                </a:lnTo>
                <a:lnTo>
                  <a:pt x="0" y="24383"/>
                </a:lnTo>
                <a:lnTo>
                  <a:pt x="3047" y="24383"/>
                </a:lnTo>
                <a:lnTo>
                  <a:pt x="3047" y="0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505872" y="2132625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60"/>
                </a:lnTo>
                <a:lnTo>
                  <a:pt x="3047" y="22860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999647" y="2132625"/>
            <a:ext cx="3175" cy="22860"/>
          </a:xfrm>
          <a:custGeom>
            <a:avLst/>
            <a:gdLst/>
            <a:ahLst/>
            <a:cxnLst/>
            <a:rect l="l" t="t" r="r" b="b"/>
            <a:pathLst>
              <a:path w="3175" h="22860">
                <a:moveTo>
                  <a:pt x="3047" y="0"/>
                </a:moveTo>
                <a:lnTo>
                  <a:pt x="0" y="0"/>
                </a:lnTo>
                <a:lnTo>
                  <a:pt x="0" y="22860"/>
                </a:lnTo>
                <a:lnTo>
                  <a:pt x="3047" y="22860"/>
                </a:lnTo>
                <a:lnTo>
                  <a:pt x="3047" y="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505872" y="21143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999647" y="21143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505872" y="209452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999647" y="209452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505872" y="20762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999647" y="20762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505872" y="205642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999647" y="205642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505872" y="20381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999647" y="203813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505872" y="20198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999647" y="20198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505872" y="20000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999647" y="20000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505872" y="19817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999647" y="19817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505872" y="19619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999647" y="19619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505872" y="19436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999647" y="19436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505872" y="19238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999647" y="1923837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505872" y="19055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999647" y="1905549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505872" y="190250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999647" y="190250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505872" y="18872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999647" y="18872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505872" y="18765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7" y="0"/>
                </a:moveTo>
                <a:lnTo>
                  <a:pt x="0" y="0"/>
                </a:lnTo>
                <a:lnTo>
                  <a:pt x="0" y="10668"/>
                </a:lnTo>
                <a:lnTo>
                  <a:pt x="3047" y="10668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999647" y="1876593"/>
            <a:ext cx="3175" cy="10795"/>
          </a:xfrm>
          <a:custGeom>
            <a:avLst/>
            <a:gdLst/>
            <a:ahLst/>
            <a:cxnLst/>
            <a:rect l="l" t="t" r="r" b="b"/>
            <a:pathLst>
              <a:path w="3175" h="10794">
                <a:moveTo>
                  <a:pt x="3047" y="0"/>
                </a:moveTo>
                <a:lnTo>
                  <a:pt x="0" y="0"/>
                </a:lnTo>
                <a:lnTo>
                  <a:pt x="0" y="10668"/>
                </a:lnTo>
                <a:lnTo>
                  <a:pt x="3047" y="10668"/>
                </a:lnTo>
                <a:lnTo>
                  <a:pt x="3047" y="0"/>
                </a:lnTo>
                <a:close/>
              </a:path>
            </a:pathLst>
          </a:custGeom>
          <a:solidFill>
            <a:srgbClr val="FF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505872" y="18674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999647" y="1867449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1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505872" y="18522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999647" y="1852209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505872" y="184916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999647" y="184916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505872" y="1829349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999647" y="1829349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505872" y="18110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999647" y="18110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505872" y="1791249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999647" y="1791249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505872" y="17729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999647" y="1772961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505872" y="17546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999647" y="17546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505872" y="175010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7" y="0"/>
                </a:moveTo>
                <a:lnTo>
                  <a:pt x="0" y="0"/>
                </a:lnTo>
                <a:lnTo>
                  <a:pt x="0" y="4572"/>
                </a:lnTo>
                <a:lnTo>
                  <a:pt x="3047" y="4572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999647" y="175010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7" y="0"/>
                </a:moveTo>
                <a:lnTo>
                  <a:pt x="0" y="0"/>
                </a:lnTo>
                <a:lnTo>
                  <a:pt x="0" y="4572"/>
                </a:lnTo>
                <a:lnTo>
                  <a:pt x="3047" y="4572"/>
                </a:lnTo>
                <a:lnTo>
                  <a:pt x="3047" y="0"/>
                </a:lnTo>
                <a:close/>
              </a:path>
            </a:pathLst>
          </a:custGeom>
          <a:solidFill>
            <a:srgbClr val="FFD7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505872" y="17348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999647" y="1734861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39"/>
                </a:lnTo>
                <a:lnTo>
                  <a:pt x="3047" y="15239"/>
                </a:lnTo>
                <a:lnTo>
                  <a:pt x="3047" y="0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505872" y="17257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999647" y="17257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505872" y="17165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999647" y="17165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505872" y="16998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999647" y="1699809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4"/>
                </a:lnTo>
                <a:lnTo>
                  <a:pt x="3047" y="16764"/>
                </a:lnTo>
                <a:lnTo>
                  <a:pt x="3047" y="0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505872" y="169676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999647" y="1696761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505872" y="16784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999647" y="1678473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4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505872" y="16754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999647" y="167542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8"/>
                </a:lnTo>
                <a:lnTo>
                  <a:pt x="3047" y="3048"/>
                </a:lnTo>
                <a:lnTo>
                  <a:pt x="3047" y="0"/>
                </a:lnTo>
                <a:close/>
              </a:path>
            </a:pathLst>
          </a:custGeom>
          <a:solidFill>
            <a:srgbClr val="FF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505872" y="16586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999647" y="1658661"/>
            <a:ext cx="3175" cy="17145"/>
          </a:xfrm>
          <a:custGeom>
            <a:avLst/>
            <a:gdLst/>
            <a:ahLst/>
            <a:cxnLst/>
            <a:rect l="l" t="t" r="r" b="b"/>
            <a:pathLst>
              <a:path w="3175" h="17144">
                <a:moveTo>
                  <a:pt x="3047" y="0"/>
                </a:moveTo>
                <a:lnTo>
                  <a:pt x="0" y="0"/>
                </a:lnTo>
                <a:lnTo>
                  <a:pt x="0" y="16763"/>
                </a:lnTo>
                <a:lnTo>
                  <a:pt x="3047" y="1676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505872" y="16495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999647" y="1649517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505872" y="16403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999647" y="1640373"/>
            <a:ext cx="3175" cy="9525"/>
          </a:xfrm>
          <a:custGeom>
            <a:avLst/>
            <a:gdLst/>
            <a:ahLst/>
            <a:cxnLst/>
            <a:rect l="l" t="t" r="r" b="b"/>
            <a:pathLst>
              <a:path w="3175" h="9525">
                <a:moveTo>
                  <a:pt x="3047" y="0"/>
                </a:moveTo>
                <a:lnTo>
                  <a:pt x="0" y="0"/>
                </a:lnTo>
                <a:lnTo>
                  <a:pt x="0" y="9143"/>
                </a:lnTo>
                <a:lnTo>
                  <a:pt x="3047" y="9143"/>
                </a:lnTo>
                <a:lnTo>
                  <a:pt x="3047" y="0"/>
                </a:lnTo>
                <a:close/>
              </a:path>
            </a:pathLst>
          </a:custGeom>
          <a:solidFill>
            <a:srgbClr val="FF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505872" y="16251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999647" y="1625133"/>
            <a:ext cx="3175" cy="15240"/>
          </a:xfrm>
          <a:custGeom>
            <a:avLst/>
            <a:gdLst/>
            <a:ahLst/>
            <a:cxnLst/>
            <a:rect l="l" t="t" r="r" b="b"/>
            <a:pathLst>
              <a:path w="3175" h="15239">
                <a:moveTo>
                  <a:pt x="3047" y="0"/>
                </a:moveTo>
                <a:lnTo>
                  <a:pt x="0" y="0"/>
                </a:lnTo>
                <a:lnTo>
                  <a:pt x="0" y="15240"/>
                </a:lnTo>
                <a:lnTo>
                  <a:pt x="3047" y="15240"/>
                </a:lnTo>
                <a:lnTo>
                  <a:pt x="3047" y="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505872" y="162208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999647" y="162208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3047" y="0"/>
                </a:moveTo>
                <a:lnTo>
                  <a:pt x="0" y="0"/>
                </a:lnTo>
                <a:lnTo>
                  <a:pt x="0" y="3047"/>
                </a:lnTo>
                <a:lnTo>
                  <a:pt x="3047" y="3047"/>
                </a:lnTo>
                <a:lnTo>
                  <a:pt x="3047" y="0"/>
                </a:lnTo>
                <a:close/>
              </a:path>
            </a:pathLst>
          </a:custGeom>
          <a:solidFill>
            <a:srgbClr val="FFDD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505872" y="16022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999647" y="16022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505872" y="15839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999647" y="15839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505872" y="15641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999647" y="15641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505872" y="15458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999647" y="15458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505872" y="15260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999647" y="1526073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505872" y="15077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999647" y="1507785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505872" y="148949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999647" y="1489497"/>
            <a:ext cx="3175" cy="18415"/>
          </a:xfrm>
          <a:custGeom>
            <a:avLst/>
            <a:gdLst/>
            <a:ahLst/>
            <a:cxnLst/>
            <a:rect l="l" t="t" r="r" b="b"/>
            <a:pathLst>
              <a:path w="3175" h="18415">
                <a:moveTo>
                  <a:pt x="3047" y="0"/>
                </a:moveTo>
                <a:lnTo>
                  <a:pt x="0" y="0"/>
                </a:lnTo>
                <a:lnTo>
                  <a:pt x="0" y="18287"/>
                </a:lnTo>
                <a:lnTo>
                  <a:pt x="3047" y="18287"/>
                </a:lnTo>
                <a:lnTo>
                  <a:pt x="3047" y="0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505872" y="146968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999647" y="1469685"/>
            <a:ext cx="3175" cy="20320"/>
          </a:xfrm>
          <a:custGeom>
            <a:avLst/>
            <a:gdLst/>
            <a:ahLst/>
            <a:cxnLst/>
            <a:rect l="l" t="t" r="r" b="b"/>
            <a:pathLst>
              <a:path w="3175" h="20319">
                <a:moveTo>
                  <a:pt x="3047" y="0"/>
                </a:moveTo>
                <a:lnTo>
                  <a:pt x="0" y="0"/>
                </a:lnTo>
                <a:lnTo>
                  <a:pt x="0" y="19812"/>
                </a:lnTo>
                <a:lnTo>
                  <a:pt x="3047" y="19812"/>
                </a:lnTo>
                <a:lnTo>
                  <a:pt x="3047" y="0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505872" y="1462700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0" y="7619"/>
                </a:moveTo>
                <a:lnTo>
                  <a:pt x="3047" y="7619"/>
                </a:lnTo>
                <a:lnTo>
                  <a:pt x="3047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505872" y="1459842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4445">
            <a:solidFill>
              <a:srgbClr val="FFE5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999647" y="1462065"/>
            <a:ext cx="3175" cy="7620"/>
          </a:xfrm>
          <a:custGeom>
            <a:avLst/>
            <a:gdLst/>
            <a:ahLst/>
            <a:cxnLst/>
            <a:rect l="l" t="t" r="r" b="b"/>
            <a:pathLst>
              <a:path w="3175" h="7619">
                <a:moveTo>
                  <a:pt x="3047" y="0"/>
                </a:moveTo>
                <a:lnTo>
                  <a:pt x="0" y="0"/>
                </a:lnTo>
                <a:lnTo>
                  <a:pt x="0" y="7620"/>
                </a:lnTo>
                <a:lnTo>
                  <a:pt x="3047" y="7620"/>
                </a:lnTo>
                <a:lnTo>
                  <a:pt x="3047" y="0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508920" y="1460922"/>
            <a:ext cx="490855" cy="0"/>
          </a:xfrm>
          <a:custGeom>
            <a:avLst/>
            <a:gdLst/>
            <a:ahLst/>
            <a:cxnLst/>
            <a:rect l="l" t="t" r="r" b="b"/>
            <a:pathLst>
              <a:path w="490855">
                <a:moveTo>
                  <a:pt x="0" y="0"/>
                </a:moveTo>
                <a:lnTo>
                  <a:pt x="490727" y="0"/>
                </a:lnTo>
              </a:path>
            </a:pathLst>
          </a:custGeom>
          <a:ln w="3175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508920" y="14620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4571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1000791" y="1462065"/>
            <a:ext cx="0" cy="1211580"/>
          </a:xfrm>
          <a:custGeom>
            <a:avLst/>
            <a:gdLst/>
            <a:ahLst/>
            <a:cxnLst/>
            <a:rect l="l" t="t" r="r" b="b"/>
            <a:pathLst>
              <a:path h="1211580">
                <a:moveTo>
                  <a:pt x="0" y="0"/>
                </a:moveTo>
                <a:lnTo>
                  <a:pt x="0" y="1211579"/>
                </a:lnTo>
              </a:path>
            </a:pathLst>
          </a:custGeom>
          <a:ln w="3175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505872" y="267516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A2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505872" y="145977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4572">
            <a:solidFill>
              <a:srgbClr val="FFE5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508920" y="1462065"/>
            <a:ext cx="490855" cy="1211580"/>
          </a:xfrm>
          <a:custGeom>
            <a:avLst/>
            <a:gdLst/>
            <a:ahLst/>
            <a:cxnLst/>
            <a:rect l="l" t="t" r="r" b="b"/>
            <a:pathLst>
              <a:path w="490855" h="1211580">
                <a:moveTo>
                  <a:pt x="0" y="0"/>
                </a:moveTo>
                <a:lnTo>
                  <a:pt x="490728" y="0"/>
                </a:lnTo>
                <a:lnTo>
                  <a:pt x="490728" y="1211580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505872" y="2664501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3" y="12192"/>
                </a:lnTo>
                <a:lnTo>
                  <a:pt x="496823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A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505872" y="2650785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A3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505872" y="263554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A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505872" y="262030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5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505872" y="260506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A6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505872" y="258982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505872" y="257458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505872" y="255934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A9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505872" y="254410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A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7" name="object 337"/>
          <p:cNvSpPr/>
          <p:nvPr/>
        </p:nvSpPr>
        <p:spPr>
          <a:xfrm>
            <a:off x="505872" y="252886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505872" y="251362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C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505872" y="249838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D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505872" y="248314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AE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/>
          <p:nvPr/>
        </p:nvSpPr>
        <p:spPr>
          <a:xfrm>
            <a:off x="505872" y="246790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A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505872" y="245266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505872" y="243742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505872" y="242218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2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505872" y="240694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505872" y="239170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505872" y="2376465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505872" y="2362749"/>
            <a:ext cx="497205" cy="13970"/>
          </a:xfrm>
          <a:custGeom>
            <a:avLst/>
            <a:gdLst/>
            <a:ahLst/>
            <a:cxnLst/>
            <a:rect l="l" t="t" r="r" b="b"/>
            <a:pathLst>
              <a:path w="497205" h="13969">
                <a:moveTo>
                  <a:pt x="0" y="13715"/>
                </a:moveTo>
                <a:lnTo>
                  <a:pt x="496823" y="13715"/>
                </a:lnTo>
                <a:lnTo>
                  <a:pt x="496823" y="0"/>
                </a:lnTo>
                <a:lnTo>
                  <a:pt x="0" y="0"/>
                </a:lnTo>
                <a:lnTo>
                  <a:pt x="0" y="13715"/>
                </a:lnTo>
                <a:close/>
              </a:path>
            </a:pathLst>
          </a:custGeom>
          <a:solidFill>
            <a:srgbClr val="FFB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505872" y="234750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505872" y="233226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505872" y="231702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505872" y="230178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505872" y="228654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505872" y="227130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C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505872" y="225606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505872" y="224082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BE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505872" y="222558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BF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505872" y="2205777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C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505872" y="2179869"/>
            <a:ext cx="497205" cy="26034"/>
          </a:xfrm>
          <a:custGeom>
            <a:avLst/>
            <a:gdLst/>
            <a:ahLst/>
            <a:cxnLst/>
            <a:rect l="l" t="t" r="r" b="b"/>
            <a:pathLst>
              <a:path w="497205" h="26035">
                <a:moveTo>
                  <a:pt x="0" y="25907"/>
                </a:moveTo>
                <a:lnTo>
                  <a:pt x="496823" y="25907"/>
                </a:lnTo>
                <a:lnTo>
                  <a:pt x="496823" y="0"/>
                </a:lnTo>
                <a:lnTo>
                  <a:pt x="0" y="0"/>
                </a:lnTo>
                <a:lnTo>
                  <a:pt x="0" y="25907"/>
                </a:lnTo>
                <a:close/>
              </a:path>
            </a:pathLst>
          </a:custGeom>
          <a:solidFill>
            <a:srgbClr val="FFC1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505872" y="2155485"/>
            <a:ext cx="497205" cy="24765"/>
          </a:xfrm>
          <a:custGeom>
            <a:avLst/>
            <a:gdLst/>
            <a:ahLst/>
            <a:cxnLst/>
            <a:rect l="l" t="t" r="r" b="b"/>
            <a:pathLst>
              <a:path w="497205" h="24764">
                <a:moveTo>
                  <a:pt x="0" y="24383"/>
                </a:moveTo>
                <a:lnTo>
                  <a:pt x="496823" y="24383"/>
                </a:lnTo>
                <a:lnTo>
                  <a:pt x="496823" y="0"/>
                </a:lnTo>
                <a:lnTo>
                  <a:pt x="0" y="0"/>
                </a:lnTo>
                <a:lnTo>
                  <a:pt x="0" y="24383"/>
                </a:lnTo>
                <a:close/>
              </a:path>
            </a:pathLst>
          </a:custGeom>
          <a:solidFill>
            <a:srgbClr val="FFC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505872" y="2132625"/>
            <a:ext cx="497205" cy="22860"/>
          </a:xfrm>
          <a:custGeom>
            <a:avLst/>
            <a:gdLst/>
            <a:ahLst/>
            <a:cxnLst/>
            <a:rect l="l" t="t" r="r" b="b"/>
            <a:pathLst>
              <a:path w="497205" h="22860">
                <a:moveTo>
                  <a:pt x="0" y="22860"/>
                </a:moveTo>
                <a:lnTo>
                  <a:pt x="496823" y="22860"/>
                </a:lnTo>
                <a:lnTo>
                  <a:pt x="496823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FFC3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/>
          <p:nvPr/>
        </p:nvSpPr>
        <p:spPr>
          <a:xfrm>
            <a:off x="505872" y="211433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4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object 363"/>
          <p:cNvSpPr/>
          <p:nvPr/>
        </p:nvSpPr>
        <p:spPr>
          <a:xfrm>
            <a:off x="505872" y="2094525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C5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505872" y="207623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6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505872" y="2056425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C7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505872" y="203813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8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505872" y="201984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/>
          <p:nvPr/>
        </p:nvSpPr>
        <p:spPr>
          <a:xfrm>
            <a:off x="505872" y="2000037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C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505872" y="198174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505872" y="1961937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C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505872" y="194364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505872" y="1923837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C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505872" y="1905549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C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505872" y="190402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505872" y="188726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D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505872" y="188192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10668">
            <a:solidFill>
              <a:srgbClr val="FF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505872" y="1872021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3">
            <a:solidFill>
              <a:srgbClr val="FFD1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505872" y="1852209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505872" y="185068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2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505872" y="1829349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505872" y="1811061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505872" y="1791249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505872" y="1772961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D5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505872" y="175467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505872" y="1752387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4572">
            <a:solidFill>
              <a:srgbClr val="FFD7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505872" y="1734861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39"/>
                </a:moveTo>
                <a:lnTo>
                  <a:pt x="496823" y="15239"/>
                </a:lnTo>
                <a:lnTo>
                  <a:pt x="496823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FF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505872" y="173028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3">
            <a:solidFill>
              <a:srgbClr val="FFD8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/>
          <p:nvPr/>
        </p:nvSpPr>
        <p:spPr>
          <a:xfrm>
            <a:off x="505872" y="172114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3">
            <a:solidFill>
              <a:srgbClr val="FF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505872" y="1699809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4"/>
                </a:moveTo>
                <a:lnTo>
                  <a:pt x="496823" y="16764"/>
                </a:lnTo>
                <a:lnTo>
                  <a:pt x="496823" y="0"/>
                </a:lnTo>
                <a:lnTo>
                  <a:pt x="0" y="0"/>
                </a:lnTo>
                <a:lnTo>
                  <a:pt x="0" y="16764"/>
                </a:lnTo>
                <a:close/>
              </a:path>
            </a:pathLst>
          </a:custGeom>
          <a:solidFill>
            <a:srgbClr val="FFD9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505872" y="169828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505872" y="1678473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4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DA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505872" y="167694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A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/>
          <p:nvPr/>
        </p:nvSpPr>
        <p:spPr>
          <a:xfrm>
            <a:off x="505872" y="1658661"/>
            <a:ext cx="497205" cy="17145"/>
          </a:xfrm>
          <a:custGeom>
            <a:avLst/>
            <a:gdLst/>
            <a:ahLst/>
            <a:cxnLst/>
            <a:rect l="l" t="t" r="r" b="b"/>
            <a:pathLst>
              <a:path w="497205" h="17144">
                <a:moveTo>
                  <a:pt x="0" y="16763"/>
                </a:moveTo>
                <a:lnTo>
                  <a:pt x="496823" y="16763"/>
                </a:lnTo>
                <a:lnTo>
                  <a:pt x="496823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FFDB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object 394"/>
          <p:cNvSpPr/>
          <p:nvPr/>
        </p:nvSpPr>
        <p:spPr>
          <a:xfrm>
            <a:off x="505872" y="165408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3">
            <a:solidFill>
              <a:srgbClr val="FFD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/>
          <p:nvPr/>
        </p:nvSpPr>
        <p:spPr>
          <a:xfrm>
            <a:off x="505872" y="164494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9143">
            <a:solidFill>
              <a:srgbClr val="FFDC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505872" y="1625133"/>
            <a:ext cx="497205" cy="15240"/>
          </a:xfrm>
          <a:custGeom>
            <a:avLst/>
            <a:gdLst/>
            <a:ahLst/>
            <a:cxnLst/>
            <a:rect l="l" t="t" r="r" b="b"/>
            <a:pathLst>
              <a:path w="497205" h="15239">
                <a:moveTo>
                  <a:pt x="0" y="15240"/>
                </a:moveTo>
                <a:lnTo>
                  <a:pt x="496823" y="15240"/>
                </a:lnTo>
                <a:lnTo>
                  <a:pt x="496823" y="0"/>
                </a:lnTo>
                <a:lnTo>
                  <a:pt x="0" y="0"/>
                </a:lnTo>
                <a:lnTo>
                  <a:pt x="0" y="15240"/>
                </a:lnTo>
                <a:close/>
              </a:path>
            </a:pathLst>
          </a:custGeom>
          <a:solidFill>
            <a:srgbClr val="FFD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/>
          <p:nvPr/>
        </p:nvSpPr>
        <p:spPr>
          <a:xfrm>
            <a:off x="505872" y="1623609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23" y="0"/>
                </a:lnTo>
              </a:path>
            </a:pathLst>
          </a:custGeom>
          <a:ln w="3175">
            <a:solidFill>
              <a:srgbClr val="FFDD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/>
          <p:nvPr/>
        </p:nvSpPr>
        <p:spPr>
          <a:xfrm>
            <a:off x="505872" y="1602273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9" name="object 399"/>
          <p:cNvSpPr/>
          <p:nvPr/>
        </p:nvSpPr>
        <p:spPr>
          <a:xfrm>
            <a:off x="505872" y="158398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0" name="object 400"/>
          <p:cNvSpPr/>
          <p:nvPr/>
        </p:nvSpPr>
        <p:spPr>
          <a:xfrm>
            <a:off x="505872" y="1564173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1" name="object 401"/>
          <p:cNvSpPr/>
          <p:nvPr/>
        </p:nvSpPr>
        <p:spPr>
          <a:xfrm>
            <a:off x="505872" y="154588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/>
          <p:nvPr/>
        </p:nvSpPr>
        <p:spPr>
          <a:xfrm>
            <a:off x="505872" y="1526073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2"/>
                </a:moveTo>
                <a:lnTo>
                  <a:pt x="496823" y="19812"/>
                </a:lnTo>
                <a:lnTo>
                  <a:pt x="496823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object 403"/>
          <p:cNvSpPr/>
          <p:nvPr/>
        </p:nvSpPr>
        <p:spPr>
          <a:xfrm>
            <a:off x="505872" y="1507785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7"/>
                </a:moveTo>
                <a:lnTo>
                  <a:pt x="496823" y="18287"/>
                </a:lnTo>
                <a:lnTo>
                  <a:pt x="496823" y="0"/>
                </a:lnTo>
                <a:lnTo>
                  <a:pt x="0" y="0"/>
                </a:lnTo>
                <a:lnTo>
                  <a:pt x="0" y="18287"/>
                </a:lnTo>
                <a:close/>
              </a:path>
            </a:pathLst>
          </a:custGeom>
          <a:solidFill>
            <a:srgbClr val="FF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/>
          <p:nvPr/>
        </p:nvSpPr>
        <p:spPr>
          <a:xfrm>
            <a:off x="505872" y="1489497"/>
            <a:ext cx="497205" cy="18415"/>
          </a:xfrm>
          <a:custGeom>
            <a:avLst/>
            <a:gdLst/>
            <a:ahLst/>
            <a:cxnLst/>
            <a:rect l="l" t="t" r="r" b="b"/>
            <a:pathLst>
              <a:path w="497205" h="18415">
                <a:moveTo>
                  <a:pt x="0" y="18288"/>
                </a:moveTo>
                <a:lnTo>
                  <a:pt x="496823" y="18288"/>
                </a:lnTo>
                <a:lnTo>
                  <a:pt x="496823" y="0"/>
                </a:lnTo>
                <a:lnTo>
                  <a:pt x="0" y="0"/>
                </a:lnTo>
                <a:lnTo>
                  <a:pt x="0" y="18288"/>
                </a:lnTo>
                <a:close/>
              </a:path>
            </a:pathLst>
          </a:custGeom>
          <a:solidFill>
            <a:srgbClr val="FF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/>
          <p:nvPr/>
        </p:nvSpPr>
        <p:spPr>
          <a:xfrm>
            <a:off x="505872" y="1469685"/>
            <a:ext cx="497205" cy="20320"/>
          </a:xfrm>
          <a:custGeom>
            <a:avLst/>
            <a:gdLst/>
            <a:ahLst/>
            <a:cxnLst/>
            <a:rect l="l" t="t" r="r" b="b"/>
            <a:pathLst>
              <a:path w="497205" h="20319">
                <a:moveTo>
                  <a:pt x="0" y="19811"/>
                </a:moveTo>
                <a:lnTo>
                  <a:pt x="496823" y="19811"/>
                </a:lnTo>
                <a:lnTo>
                  <a:pt x="496823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/>
          <p:nvPr/>
        </p:nvSpPr>
        <p:spPr>
          <a:xfrm>
            <a:off x="505872" y="1457493"/>
            <a:ext cx="497205" cy="12700"/>
          </a:xfrm>
          <a:custGeom>
            <a:avLst/>
            <a:gdLst/>
            <a:ahLst/>
            <a:cxnLst/>
            <a:rect l="l" t="t" r="r" b="b"/>
            <a:pathLst>
              <a:path w="497205" h="12700">
                <a:moveTo>
                  <a:pt x="0" y="12192"/>
                </a:moveTo>
                <a:lnTo>
                  <a:pt x="496823" y="12192"/>
                </a:lnTo>
                <a:lnTo>
                  <a:pt x="496823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508920" y="1462065"/>
            <a:ext cx="490855" cy="1211580"/>
          </a:xfrm>
          <a:custGeom>
            <a:avLst/>
            <a:gdLst/>
            <a:ahLst/>
            <a:cxnLst/>
            <a:rect l="l" t="t" r="r" b="b"/>
            <a:pathLst>
              <a:path w="490855" h="1211580">
                <a:moveTo>
                  <a:pt x="0" y="0"/>
                </a:moveTo>
                <a:lnTo>
                  <a:pt x="490727" y="0"/>
                </a:lnTo>
                <a:lnTo>
                  <a:pt x="490727" y="1211579"/>
                </a:lnTo>
                <a:lnTo>
                  <a:pt x="0" y="1211579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/>
          <p:nvPr/>
        </p:nvSpPr>
        <p:spPr>
          <a:xfrm>
            <a:off x="623220" y="149864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131064" y="0"/>
                </a:moveTo>
                <a:lnTo>
                  <a:pt x="80367" y="9882"/>
                </a:lnTo>
                <a:lnTo>
                  <a:pt x="38671" y="36766"/>
                </a:lnTo>
                <a:lnTo>
                  <a:pt x="10406" y="76509"/>
                </a:lnTo>
                <a:lnTo>
                  <a:pt x="0" y="124968"/>
                </a:lnTo>
                <a:lnTo>
                  <a:pt x="10406" y="172545"/>
                </a:lnTo>
                <a:lnTo>
                  <a:pt x="38671" y="211836"/>
                </a:lnTo>
                <a:lnTo>
                  <a:pt x="80367" y="238553"/>
                </a:lnTo>
                <a:lnTo>
                  <a:pt x="131064" y="248412"/>
                </a:lnTo>
                <a:lnTo>
                  <a:pt x="182403" y="238553"/>
                </a:lnTo>
                <a:lnTo>
                  <a:pt x="224028" y="211836"/>
                </a:lnTo>
                <a:lnTo>
                  <a:pt x="251936" y="172545"/>
                </a:lnTo>
                <a:lnTo>
                  <a:pt x="262128" y="124968"/>
                </a:lnTo>
                <a:lnTo>
                  <a:pt x="251936" y="76509"/>
                </a:lnTo>
                <a:lnTo>
                  <a:pt x="224028" y="36766"/>
                </a:lnTo>
                <a:lnTo>
                  <a:pt x="182403" y="9882"/>
                </a:lnTo>
                <a:lnTo>
                  <a:pt x="1310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9" name="object 409"/>
          <p:cNvSpPr/>
          <p:nvPr/>
        </p:nvSpPr>
        <p:spPr>
          <a:xfrm>
            <a:off x="623220" y="1498641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0" y="124967"/>
                </a:moveTo>
                <a:lnTo>
                  <a:pt x="10406" y="76509"/>
                </a:lnTo>
                <a:lnTo>
                  <a:pt x="38671" y="36766"/>
                </a:lnTo>
                <a:lnTo>
                  <a:pt x="80367" y="9882"/>
                </a:lnTo>
                <a:lnTo>
                  <a:pt x="131063" y="0"/>
                </a:lnTo>
                <a:lnTo>
                  <a:pt x="182403" y="9882"/>
                </a:lnTo>
                <a:lnTo>
                  <a:pt x="224027" y="36766"/>
                </a:lnTo>
                <a:lnTo>
                  <a:pt x="251936" y="76509"/>
                </a:lnTo>
                <a:lnTo>
                  <a:pt x="262127" y="124967"/>
                </a:lnTo>
                <a:lnTo>
                  <a:pt x="251936" y="172545"/>
                </a:lnTo>
                <a:lnTo>
                  <a:pt x="224027" y="211835"/>
                </a:lnTo>
                <a:lnTo>
                  <a:pt x="182403" y="238553"/>
                </a:lnTo>
                <a:lnTo>
                  <a:pt x="131063" y="248411"/>
                </a:lnTo>
                <a:lnTo>
                  <a:pt x="80367" y="238553"/>
                </a:lnTo>
                <a:lnTo>
                  <a:pt x="38671" y="211835"/>
                </a:lnTo>
                <a:lnTo>
                  <a:pt x="10406" y="172545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/>
          <p:nvPr/>
        </p:nvSpPr>
        <p:spPr>
          <a:xfrm>
            <a:off x="623220" y="1873545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131064" y="0"/>
                </a:moveTo>
                <a:lnTo>
                  <a:pt x="80367" y="9882"/>
                </a:lnTo>
                <a:lnTo>
                  <a:pt x="38671" y="36766"/>
                </a:lnTo>
                <a:lnTo>
                  <a:pt x="10406" y="76509"/>
                </a:lnTo>
                <a:lnTo>
                  <a:pt x="0" y="124968"/>
                </a:lnTo>
                <a:lnTo>
                  <a:pt x="10406" y="173188"/>
                </a:lnTo>
                <a:lnTo>
                  <a:pt x="38671" y="212407"/>
                </a:lnTo>
                <a:lnTo>
                  <a:pt x="80367" y="238767"/>
                </a:lnTo>
                <a:lnTo>
                  <a:pt x="131064" y="248412"/>
                </a:lnTo>
                <a:lnTo>
                  <a:pt x="182403" y="238767"/>
                </a:lnTo>
                <a:lnTo>
                  <a:pt x="224028" y="212407"/>
                </a:lnTo>
                <a:lnTo>
                  <a:pt x="251936" y="173188"/>
                </a:lnTo>
                <a:lnTo>
                  <a:pt x="262128" y="124968"/>
                </a:lnTo>
                <a:lnTo>
                  <a:pt x="251936" y="76509"/>
                </a:lnTo>
                <a:lnTo>
                  <a:pt x="224028" y="36766"/>
                </a:lnTo>
                <a:lnTo>
                  <a:pt x="182403" y="9882"/>
                </a:lnTo>
                <a:lnTo>
                  <a:pt x="1310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1" name="object 411"/>
          <p:cNvSpPr/>
          <p:nvPr/>
        </p:nvSpPr>
        <p:spPr>
          <a:xfrm>
            <a:off x="623220" y="1873545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0" y="124967"/>
                </a:moveTo>
                <a:lnTo>
                  <a:pt x="10406" y="76509"/>
                </a:lnTo>
                <a:lnTo>
                  <a:pt x="38671" y="36766"/>
                </a:lnTo>
                <a:lnTo>
                  <a:pt x="80367" y="9882"/>
                </a:lnTo>
                <a:lnTo>
                  <a:pt x="131063" y="0"/>
                </a:lnTo>
                <a:lnTo>
                  <a:pt x="182403" y="9882"/>
                </a:lnTo>
                <a:lnTo>
                  <a:pt x="224027" y="36766"/>
                </a:lnTo>
                <a:lnTo>
                  <a:pt x="251936" y="76509"/>
                </a:lnTo>
                <a:lnTo>
                  <a:pt x="262127" y="124967"/>
                </a:lnTo>
                <a:lnTo>
                  <a:pt x="251936" y="173188"/>
                </a:lnTo>
                <a:lnTo>
                  <a:pt x="224027" y="212407"/>
                </a:lnTo>
                <a:lnTo>
                  <a:pt x="182403" y="238767"/>
                </a:lnTo>
                <a:lnTo>
                  <a:pt x="131063" y="248411"/>
                </a:lnTo>
                <a:lnTo>
                  <a:pt x="80367" y="238767"/>
                </a:lnTo>
                <a:lnTo>
                  <a:pt x="38671" y="212407"/>
                </a:lnTo>
                <a:lnTo>
                  <a:pt x="10406" y="173188"/>
                </a:lnTo>
                <a:lnTo>
                  <a:pt x="0" y="124967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/>
          <p:nvPr/>
        </p:nvSpPr>
        <p:spPr>
          <a:xfrm>
            <a:off x="623220" y="2388657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4">
                <a:moveTo>
                  <a:pt x="131064" y="0"/>
                </a:moveTo>
                <a:lnTo>
                  <a:pt x="80367" y="9644"/>
                </a:lnTo>
                <a:lnTo>
                  <a:pt x="38671" y="36004"/>
                </a:lnTo>
                <a:lnTo>
                  <a:pt x="10406" y="75223"/>
                </a:lnTo>
                <a:lnTo>
                  <a:pt x="0" y="123443"/>
                </a:lnTo>
                <a:lnTo>
                  <a:pt x="10406" y="171664"/>
                </a:lnTo>
                <a:lnTo>
                  <a:pt x="38671" y="210883"/>
                </a:lnTo>
                <a:lnTo>
                  <a:pt x="80367" y="237243"/>
                </a:lnTo>
                <a:lnTo>
                  <a:pt x="131064" y="246887"/>
                </a:lnTo>
                <a:lnTo>
                  <a:pt x="182403" y="237243"/>
                </a:lnTo>
                <a:lnTo>
                  <a:pt x="224028" y="210883"/>
                </a:lnTo>
                <a:lnTo>
                  <a:pt x="251936" y="171664"/>
                </a:lnTo>
                <a:lnTo>
                  <a:pt x="262128" y="123443"/>
                </a:lnTo>
                <a:lnTo>
                  <a:pt x="251936" y="75223"/>
                </a:lnTo>
                <a:lnTo>
                  <a:pt x="224028" y="36004"/>
                </a:lnTo>
                <a:lnTo>
                  <a:pt x="182403" y="9644"/>
                </a:lnTo>
                <a:lnTo>
                  <a:pt x="1310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3" name="object 413"/>
          <p:cNvSpPr/>
          <p:nvPr/>
        </p:nvSpPr>
        <p:spPr>
          <a:xfrm>
            <a:off x="623220" y="2388657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4">
                <a:moveTo>
                  <a:pt x="0" y="123443"/>
                </a:moveTo>
                <a:lnTo>
                  <a:pt x="10406" y="75223"/>
                </a:lnTo>
                <a:lnTo>
                  <a:pt x="38671" y="36004"/>
                </a:lnTo>
                <a:lnTo>
                  <a:pt x="80367" y="9644"/>
                </a:lnTo>
                <a:lnTo>
                  <a:pt x="131063" y="0"/>
                </a:lnTo>
                <a:lnTo>
                  <a:pt x="182403" y="9644"/>
                </a:lnTo>
                <a:lnTo>
                  <a:pt x="224027" y="36004"/>
                </a:lnTo>
                <a:lnTo>
                  <a:pt x="251936" y="75223"/>
                </a:lnTo>
                <a:lnTo>
                  <a:pt x="262127" y="123443"/>
                </a:lnTo>
                <a:lnTo>
                  <a:pt x="251936" y="171664"/>
                </a:lnTo>
                <a:lnTo>
                  <a:pt x="224027" y="210883"/>
                </a:lnTo>
                <a:lnTo>
                  <a:pt x="182403" y="237243"/>
                </a:lnTo>
                <a:lnTo>
                  <a:pt x="131063" y="246887"/>
                </a:lnTo>
                <a:lnTo>
                  <a:pt x="80367" y="237243"/>
                </a:lnTo>
                <a:lnTo>
                  <a:pt x="38671" y="210883"/>
                </a:lnTo>
                <a:lnTo>
                  <a:pt x="10406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4" name="object 414"/>
          <p:cNvSpPr/>
          <p:nvPr/>
        </p:nvSpPr>
        <p:spPr>
          <a:xfrm>
            <a:off x="1337975" y="1812585"/>
            <a:ext cx="391795" cy="368935"/>
          </a:xfrm>
          <a:custGeom>
            <a:avLst/>
            <a:gdLst/>
            <a:ahLst/>
            <a:cxnLst/>
            <a:rect l="l" t="t" r="r" b="b"/>
            <a:pathLst>
              <a:path w="391794" h="368935">
                <a:moveTo>
                  <a:pt x="0" y="184403"/>
                </a:moveTo>
                <a:lnTo>
                  <a:pt x="5211" y="142038"/>
                </a:lnTo>
                <a:lnTo>
                  <a:pt x="20047" y="103192"/>
                </a:lnTo>
                <a:lnTo>
                  <a:pt x="43307" y="68957"/>
                </a:lnTo>
                <a:lnTo>
                  <a:pt x="73791" y="40428"/>
                </a:lnTo>
                <a:lnTo>
                  <a:pt x="110301" y="18696"/>
                </a:lnTo>
                <a:lnTo>
                  <a:pt x="151635" y="4856"/>
                </a:lnTo>
                <a:lnTo>
                  <a:pt x="196595" y="0"/>
                </a:lnTo>
                <a:lnTo>
                  <a:pt x="248616" y="6568"/>
                </a:lnTo>
                <a:lnTo>
                  <a:pt x="295260" y="25117"/>
                </a:lnTo>
                <a:lnTo>
                  <a:pt x="334708" y="53911"/>
                </a:lnTo>
                <a:lnTo>
                  <a:pt x="365139" y="91214"/>
                </a:lnTo>
                <a:lnTo>
                  <a:pt x="384732" y="135290"/>
                </a:lnTo>
                <a:lnTo>
                  <a:pt x="391667" y="184403"/>
                </a:lnTo>
                <a:lnTo>
                  <a:pt x="384732" y="233517"/>
                </a:lnTo>
                <a:lnTo>
                  <a:pt x="365139" y="277593"/>
                </a:lnTo>
                <a:lnTo>
                  <a:pt x="334708" y="314896"/>
                </a:lnTo>
                <a:lnTo>
                  <a:pt x="295260" y="343690"/>
                </a:lnTo>
                <a:lnTo>
                  <a:pt x="248616" y="362239"/>
                </a:lnTo>
                <a:lnTo>
                  <a:pt x="196595" y="368807"/>
                </a:lnTo>
                <a:lnTo>
                  <a:pt x="151635" y="363951"/>
                </a:lnTo>
                <a:lnTo>
                  <a:pt x="110301" y="350111"/>
                </a:lnTo>
                <a:lnTo>
                  <a:pt x="73791" y="328379"/>
                </a:lnTo>
                <a:lnTo>
                  <a:pt x="43307" y="299850"/>
                </a:lnTo>
                <a:lnTo>
                  <a:pt x="20047" y="265615"/>
                </a:lnTo>
                <a:lnTo>
                  <a:pt x="5211" y="226769"/>
                </a:lnTo>
                <a:lnTo>
                  <a:pt x="0" y="184403"/>
                </a:lnTo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5" name="object 415"/>
          <p:cNvSpPr/>
          <p:nvPr/>
        </p:nvSpPr>
        <p:spPr>
          <a:xfrm>
            <a:off x="880775" y="1617513"/>
            <a:ext cx="457200" cy="379730"/>
          </a:xfrm>
          <a:custGeom>
            <a:avLst/>
            <a:gdLst/>
            <a:ahLst/>
            <a:cxnLst/>
            <a:rect l="l" t="t" r="r" b="b"/>
            <a:pathLst>
              <a:path w="457200" h="379730">
                <a:moveTo>
                  <a:pt x="419992" y="358403"/>
                </a:moveTo>
                <a:lnTo>
                  <a:pt x="411480" y="368807"/>
                </a:lnTo>
                <a:lnTo>
                  <a:pt x="457200" y="379475"/>
                </a:lnTo>
                <a:lnTo>
                  <a:pt x="450263" y="362712"/>
                </a:lnTo>
                <a:lnTo>
                  <a:pt x="425196" y="362712"/>
                </a:lnTo>
                <a:lnTo>
                  <a:pt x="419992" y="358403"/>
                </a:lnTo>
                <a:close/>
              </a:path>
              <a:path w="457200" h="379730">
                <a:moveTo>
                  <a:pt x="429623" y="346632"/>
                </a:moveTo>
                <a:lnTo>
                  <a:pt x="419992" y="358403"/>
                </a:lnTo>
                <a:lnTo>
                  <a:pt x="425196" y="362712"/>
                </a:lnTo>
                <a:lnTo>
                  <a:pt x="434340" y="350519"/>
                </a:lnTo>
                <a:lnTo>
                  <a:pt x="429623" y="346632"/>
                </a:lnTo>
                <a:close/>
              </a:path>
              <a:path w="457200" h="379730">
                <a:moveTo>
                  <a:pt x="438912" y="335280"/>
                </a:moveTo>
                <a:lnTo>
                  <a:pt x="429623" y="346632"/>
                </a:lnTo>
                <a:lnTo>
                  <a:pt x="434340" y="350519"/>
                </a:lnTo>
                <a:lnTo>
                  <a:pt x="425196" y="362712"/>
                </a:lnTo>
                <a:lnTo>
                  <a:pt x="450263" y="362712"/>
                </a:lnTo>
                <a:lnTo>
                  <a:pt x="438912" y="335280"/>
                </a:lnTo>
                <a:close/>
              </a:path>
              <a:path w="457200" h="379730">
                <a:moveTo>
                  <a:pt x="9143" y="0"/>
                </a:moveTo>
                <a:lnTo>
                  <a:pt x="0" y="10668"/>
                </a:lnTo>
                <a:lnTo>
                  <a:pt x="419992" y="358403"/>
                </a:lnTo>
                <a:lnTo>
                  <a:pt x="429623" y="346632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6" name="object 416"/>
          <p:cNvSpPr/>
          <p:nvPr/>
        </p:nvSpPr>
        <p:spPr>
          <a:xfrm>
            <a:off x="885347" y="1975653"/>
            <a:ext cx="452755" cy="43180"/>
          </a:xfrm>
          <a:custGeom>
            <a:avLst/>
            <a:gdLst/>
            <a:ahLst/>
            <a:cxnLst/>
            <a:rect l="l" t="t" r="r" b="b"/>
            <a:pathLst>
              <a:path w="452755" h="43180">
                <a:moveTo>
                  <a:pt x="417575" y="13716"/>
                </a:moveTo>
                <a:lnTo>
                  <a:pt x="409956" y="13743"/>
                </a:lnTo>
                <a:lnTo>
                  <a:pt x="409956" y="42672"/>
                </a:lnTo>
                <a:lnTo>
                  <a:pt x="437388" y="28956"/>
                </a:lnTo>
                <a:lnTo>
                  <a:pt x="417575" y="28956"/>
                </a:lnTo>
                <a:lnTo>
                  <a:pt x="417575" y="13716"/>
                </a:lnTo>
                <a:close/>
              </a:path>
              <a:path w="452755" h="43180">
                <a:moveTo>
                  <a:pt x="409956" y="13743"/>
                </a:moveTo>
                <a:lnTo>
                  <a:pt x="0" y="15240"/>
                </a:lnTo>
                <a:lnTo>
                  <a:pt x="0" y="28956"/>
                </a:lnTo>
                <a:lnTo>
                  <a:pt x="409956" y="28956"/>
                </a:lnTo>
                <a:lnTo>
                  <a:pt x="409956" y="13743"/>
                </a:lnTo>
                <a:close/>
              </a:path>
              <a:path w="452755" h="43180">
                <a:moveTo>
                  <a:pt x="437388" y="13716"/>
                </a:moveTo>
                <a:lnTo>
                  <a:pt x="417575" y="13716"/>
                </a:lnTo>
                <a:lnTo>
                  <a:pt x="417575" y="28956"/>
                </a:lnTo>
                <a:lnTo>
                  <a:pt x="437388" y="28956"/>
                </a:lnTo>
                <a:lnTo>
                  <a:pt x="452627" y="21336"/>
                </a:lnTo>
                <a:lnTo>
                  <a:pt x="437388" y="13716"/>
                </a:lnTo>
                <a:close/>
              </a:path>
              <a:path w="452755" h="43180">
                <a:moveTo>
                  <a:pt x="409956" y="0"/>
                </a:moveTo>
                <a:lnTo>
                  <a:pt x="409956" y="13743"/>
                </a:lnTo>
                <a:lnTo>
                  <a:pt x="437388" y="13716"/>
                </a:lnTo>
                <a:lnTo>
                  <a:pt x="4099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7" name="object 417"/>
          <p:cNvSpPr/>
          <p:nvPr/>
        </p:nvSpPr>
        <p:spPr>
          <a:xfrm>
            <a:off x="880775" y="1996989"/>
            <a:ext cx="457200" cy="520065"/>
          </a:xfrm>
          <a:custGeom>
            <a:avLst/>
            <a:gdLst/>
            <a:ahLst/>
            <a:cxnLst/>
            <a:rect l="l" t="t" r="r" b="b"/>
            <a:pathLst>
              <a:path w="457200" h="520064">
                <a:moveTo>
                  <a:pt x="423989" y="27704"/>
                </a:moveTo>
                <a:lnTo>
                  <a:pt x="0" y="510540"/>
                </a:lnTo>
                <a:lnTo>
                  <a:pt x="10668" y="519684"/>
                </a:lnTo>
                <a:lnTo>
                  <a:pt x="434657" y="36848"/>
                </a:lnTo>
                <a:lnTo>
                  <a:pt x="423989" y="27704"/>
                </a:lnTo>
                <a:close/>
              </a:path>
              <a:path w="457200" h="520064">
                <a:moveTo>
                  <a:pt x="451103" y="22860"/>
                </a:moveTo>
                <a:lnTo>
                  <a:pt x="428244" y="22860"/>
                </a:lnTo>
                <a:lnTo>
                  <a:pt x="438912" y="32004"/>
                </a:lnTo>
                <a:lnTo>
                  <a:pt x="434657" y="36848"/>
                </a:lnTo>
                <a:lnTo>
                  <a:pt x="445007" y="45719"/>
                </a:lnTo>
                <a:lnTo>
                  <a:pt x="451103" y="22860"/>
                </a:lnTo>
                <a:close/>
              </a:path>
              <a:path w="457200" h="520064">
                <a:moveTo>
                  <a:pt x="428244" y="22860"/>
                </a:moveTo>
                <a:lnTo>
                  <a:pt x="423989" y="27704"/>
                </a:lnTo>
                <a:lnTo>
                  <a:pt x="434657" y="36848"/>
                </a:lnTo>
                <a:lnTo>
                  <a:pt x="438912" y="32004"/>
                </a:lnTo>
                <a:lnTo>
                  <a:pt x="428244" y="22860"/>
                </a:lnTo>
                <a:close/>
              </a:path>
              <a:path w="457200" h="520064">
                <a:moveTo>
                  <a:pt x="457200" y="0"/>
                </a:moveTo>
                <a:lnTo>
                  <a:pt x="413004" y="18287"/>
                </a:lnTo>
                <a:lnTo>
                  <a:pt x="423989" y="27704"/>
                </a:lnTo>
                <a:lnTo>
                  <a:pt x="428244" y="22860"/>
                </a:lnTo>
                <a:lnTo>
                  <a:pt x="451103" y="22860"/>
                </a:lnTo>
                <a:lnTo>
                  <a:pt x="457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8" name="object 418"/>
          <p:cNvSpPr/>
          <p:nvPr/>
        </p:nvSpPr>
        <p:spPr>
          <a:xfrm>
            <a:off x="1749456" y="1975653"/>
            <a:ext cx="268605" cy="43180"/>
          </a:xfrm>
          <a:custGeom>
            <a:avLst/>
            <a:gdLst/>
            <a:ahLst/>
            <a:cxnLst/>
            <a:rect l="l" t="t" r="r" b="b"/>
            <a:pathLst>
              <a:path w="268605" h="43180">
                <a:moveTo>
                  <a:pt x="225551" y="0"/>
                </a:moveTo>
                <a:lnTo>
                  <a:pt x="225551" y="42672"/>
                </a:lnTo>
                <a:lnTo>
                  <a:pt x="252984" y="28956"/>
                </a:lnTo>
                <a:lnTo>
                  <a:pt x="233171" y="28956"/>
                </a:lnTo>
                <a:lnTo>
                  <a:pt x="233171" y="13716"/>
                </a:lnTo>
                <a:lnTo>
                  <a:pt x="252984" y="13716"/>
                </a:lnTo>
                <a:lnTo>
                  <a:pt x="225551" y="0"/>
                </a:lnTo>
                <a:close/>
              </a:path>
              <a:path w="268605" h="43180">
                <a:moveTo>
                  <a:pt x="225551" y="13716"/>
                </a:moveTo>
                <a:lnTo>
                  <a:pt x="0" y="13716"/>
                </a:lnTo>
                <a:lnTo>
                  <a:pt x="0" y="28956"/>
                </a:lnTo>
                <a:lnTo>
                  <a:pt x="225551" y="28956"/>
                </a:lnTo>
                <a:lnTo>
                  <a:pt x="225551" y="13716"/>
                </a:lnTo>
                <a:close/>
              </a:path>
              <a:path w="268605" h="43180">
                <a:moveTo>
                  <a:pt x="252984" y="13716"/>
                </a:moveTo>
                <a:lnTo>
                  <a:pt x="233171" y="13716"/>
                </a:lnTo>
                <a:lnTo>
                  <a:pt x="233171" y="28956"/>
                </a:lnTo>
                <a:lnTo>
                  <a:pt x="252984" y="28956"/>
                </a:lnTo>
                <a:lnTo>
                  <a:pt x="268224" y="21336"/>
                </a:lnTo>
                <a:lnTo>
                  <a:pt x="252984" y="13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9" name="object 419"/>
          <p:cNvSpPr txBox="1"/>
          <p:nvPr/>
        </p:nvSpPr>
        <p:spPr>
          <a:xfrm>
            <a:off x="676052" y="1490589"/>
            <a:ext cx="156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275" spc="412" baseline="-16000" dirty="0">
                <a:latin typeface="Cambria Math" panose="02040503050406030204"/>
                <a:cs typeface="Cambria Math" panose="02040503050406030204"/>
              </a:rPr>
              <a:t>l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0" name="object 420"/>
          <p:cNvSpPr txBox="1"/>
          <p:nvPr/>
        </p:nvSpPr>
        <p:spPr>
          <a:xfrm>
            <a:off x="510443" y="1863969"/>
            <a:ext cx="487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 algn="ctr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275" spc="30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510443" y="2365365"/>
            <a:ext cx="487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275" spc="60" baseline="-16000" dirty="0">
                <a:latin typeface="Cambria Math" panose="02040503050406030204"/>
                <a:cs typeface="Cambria Math" panose="02040503050406030204"/>
              </a:rPr>
              <a:t>N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2" name="object 422"/>
          <p:cNvSpPr txBox="1"/>
          <p:nvPr/>
        </p:nvSpPr>
        <p:spPr>
          <a:xfrm>
            <a:off x="1035716" y="1545453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412" baseline="-16000" dirty="0">
                <a:latin typeface="Cambria Math" panose="02040503050406030204"/>
                <a:cs typeface="Cambria Math" panose="02040503050406030204"/>
              </a:rPr>
              <a:t>l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3" name="object 423"/>
          <p:cNvSpPr txBox="1"/>
          <p:nvPr/>
        </p:nvSpPr>
        <p:spPr>
          <a:xfrm>
            <a:off x="1022000" y="1804533"/>
            <a:ext cx="198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4" name="object 424"/>
          <p:cNvSpPr txBox="1"/>
          <p:nvPr/>
        </p:nvSpPr>
        <p:spPr>
          <a:xfrm>
            <a:off x="1037239" y="2252589"/>
            <a:ext cx="2178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spc="120" baseline="-16000" dirty="0">
                <a:latin typeface="Cambria Math" panose="02040503050406030204"/>
                <a:cs typeface="Cambria Math" panose="02040503050406030204"/>
              </a:rPr>
              <a:t>N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5" name="object 425"/>
          <p:cNvSpPr txBox="1"/>
          <p:nvPr/>
        </p:nvSpPr>
        <p:spPr>
          <a:xfrm>
            <a:off x="665707" y="2065184"/>
            <a:ext cx="609600" cy="29146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…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02235">
              <a:lnSpc>
                <a:spcPct val="100000"/>
              </a:lnSpc>
              <a:spcBef>
                <a:spcPts val="190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…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6" name="object 426"/>
          <p:cNvSpPr txBox="1"/>
          <p:nvPr/>
        </p:nvSpPr>
        <p:spPr>
          <a:xfrm>
            <a:off x="2068988" y="1874637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latin typeface="Cambria Math" panose="02040503050406030204"/>
                <a:cs typeface="Cambria Math" panose="02040503050406030204"/>
              </a:rPr>
              <a:t>y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7" name="object 427"/>
          <p:cNvSpPr/>
          <p:nvPr/>
        </p:nvSpPr>
        <p:spPr>
          <a:xfrm>
            <a:off x="1529999" y="1827825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32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8" name="object 428"/>
          <p:cNvSpPr txBox="1"/>
          <p:nvPr/>
        </p:nvSpPr>
        <p:spPr>
          <a:xfrm>
            <a:off x="1393856" y="1906603"/>
            <a:ext cx="106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∑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9" name="object 429"/>
          <p:cNvSpPr txBox="1"/>
          <p:nvPr/>
        </p:nvSpPr>
        <p:spPr>
          <a:xfrm>
            <a:off x="2250284" y="1569790"/>
            <a:ext cx="2819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标：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活值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局部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度的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差在传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0" name="object 430"/>
          <p:cNvSpPr txBox="1"/>
          <p:nvPr/>
        </p:nvSpPr>
        <p:spPr>
          <a:xfrm>
            <a:off x="2250284" y="1721580"/>
            <a:ext cx="27920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尽量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持一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，即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找</a:t>
            </a:r>
            <a:r>
              <a:rPr sz="10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分布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得输 出</a:t>
            </a:r>
            <a:r>
              <a:rPr sz="1000" spc="21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0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2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方差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致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1" name="object 431"/>
          <p:cNvSpPr/>
          <p:nvPr/>
        </p:nvSpPr>
        <p:spPr>
          <a:xfrm>
            <a:off x="2810160" y="1138977"/>
            <a:ext cx="1800225" cy="166370"/>
          </a:xfrm>
          <a:custGeom>
            <a:avLst/>
            <a:gdLst/>
            <a:ahLst/>
            <a:cxnLst/>
            <a:rect l="l" t="t" r="r" b="b"/>
            <a:pathLst>
              <a:path w="1800225" h="166369">
                <a:moveTo>
                  <a:pt x="1746503" y="0"/>
                </a:moveTo>
                <a:lnTo>
                  <a:pt x="1744979" y="7620"/>
                </a:lnTo>
                <a:lnTo>
                  <a:pt x="1754433" y="11668"/>
                </a:lnTo>
                <a:lnTo>
                  <a:pt x="1762315" y="17145"/>
                </a:lnTo>
                <a:lnTo>
                  <a:pt x="1782127" y="55054"/>
                </a:lnTo>
                <a:lnTo>
                  <a:pt x="1784603" y="82296"/>
                </a:lnTo>
                <a:lnTo>
                  <a:pt x="1784008" y="96583"/>
                </a:lnTo>
                <a:lnTo>
                  <a:pt x="1768768" y="141136"/>
                </a:lnTo>
                <a:lnTo>
                  <a:pt x="1744979" y="158496"/>
                </a:lnTo>
                <a:lnTo>
                  <a:pt x="1746503" y="166115"/>
                </a:lnTo>
                <a:lnTo>
                  <a:pt x="1786127" y="137160"/>
                </a:lnTo>
                <a:lnTo>
                  <a:pt x="1798986" y="97726"/>
                </a:lnTo>
                <a:lnTo>
                  <a:pt x="1799843" y="82296"/>
                </a:lnTo>
                <a:lnTo>
                  <a:pt x="1798986" y="67746"/>
                </a:lnTo>
                <a:lnTo>
                  <a:pt x="1786127" y="28956"/>
                </a:lnTo>
                <a:lnTo>
                  <a:pt x="1758481" y="4310"/>
                </a:lnTo>
                <a:lnTo>
                  <a:pt x="1746503" y="0"/>
                </a:lnTo>
                <a:close/>
              </a:path>
              <a:path w="1800225" h="166369">
                <a:moveTo>
                  <a:pt x="51815" y="0"/>
                </a:moveTo>
                <a:lnTo>
                  <a:pt x="13715" y="28956"/>
                </a:lnTo>
                <a:lnTo>
                  <a:pt x="857" y="67746"/>
                </a:lnTo>
                <a:lnTo>
                  <a:pt x="0" y="82296"/>
                </a:lnTo>
                <a:lnTo>
                  <a:pt x="857" y="97726"/>
                </a:lnTo>
                <a:lnTo>
                  <a:pt x="13715" y="137160"/>
                </a:lnTo>
                <a:lnTo>
                  <a:pt x="51815" y="166115"/>
                </a:lnTo>
                <a:lnTo>
                  <a:pt x="54863" y="158496"/>
                </a:lnTo>
                <a:lnTo>
                  <a:pt x="45172" y="154233"/>
                </a:lnTo>
                <a:lnTo>
                  <a:pt x="36766" y="148399"/>
                </a:lnTo>
                <a:lnTo>
                  <a:pt x="17525" y="109727"/>
                </a:lnTo>
                <a:lnTo>
                  <a:pt x="15239" y="82296"/>
                </a:lnTo>
                <a:lnTo>
                  <a:pt x="15811" y="68032"/>
                </a:lnTo>
                <a:lnTo>
                  <a:pt x="29789" y="24336"/>
                </a:lnTo>
                <a:lnTo>
                  <a:pt x="54863" y="7620"/>
                </a:lnTo>
                <a:lnTo>
                  <a:pt x="518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2" name="object 432"/>
          <p:cNvSpPr txBox="1"/>
          <p:nvPr/>
        </p:nvSpPr>
        <p:spPr>
          <a:xfrm>
            <a:off x="2279807" y="1050585"/>
            <a:ext cx="2423160" cy="29908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325"/>
              </a:spcBef>
            </a:pPr>
            <a:r>
              <a:rPr sz="1400" spc="80" dirty="0">
                <a:latin typeface="Cambria Math" panose="02040503050406030204"/>
                <a:cs typeface="Cambria Math" panose="02040503050406030204"/>
              </a:rPr>
              <a:t>y </a:t>
            </a:r>
            <a:r>
              <a:rPr sz="140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400" spc="34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400" spc="9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500" spc="135" baseline="-17000" dirty="0">
                <a:latin typeface="Cambria Math" panose="02040503050406030204"/>
                <a:cs typeface="Cambria Math" panose="02040503050406030204"/>
              </a:rPr>
              <a:t>l </a:t>
            </a:r>
            <a:r>
              <a:rPr sz="1400" dirty="0">
                <a:latin typeface="Cambria Math" panose="02040503050406030204"/>
                <a:cs typeface="Cambria Math" panose="02040503050406030204"/>
              </a:rPr>
              <a:t>∗ </a:t>
            </a:r>
            <a:r>
              <a:rPr sz="1400" spc="14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500" spc="217" baseline="-17000" dirty="0">
                <a:latin typeface="Cambria Math" panose="02040503050406030204"/>
                <a:cs typeface="Cambria Math" panose="02040503050406030204"/>
              </a:rPr>
              <a:t>l </a:t>
            </a:r>
            <a:r>
              <a:rPr sz="1400" dirty="0">
                <a:latin typeface="Cambria Math" panose="02040503050406030204"/>
                <a:cs typeface="Cambria Math" panose="02040503050406030204"/>
              </a:rPr>
              <a:t>+ ⋯ + </a:t>
            </a:r>
            <a:r>
              <a:rPr sz="1400" spc="-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500" spc="-15" baseline="-17000" dirty="0">
                <a:latin typeface="Cambria Math" panose="02040503050406030204"/>
                <a:cs typeface="Cambria Math" panose="02040503050406030204"/>
              </a:rPr>
              <a:t>N </a:t>
            </a:r>
            <a:r>
              <a:rPr sz="1400" dirty="0">
                <a:latin typeface="Cambria Math" panose="02040503050406030204"/>
                <a:cs typeface="Cambria Math" panose="02040503050406030204"/>
              </a:rPr>
              <a:t>∗</a:t>
            </a:r>
            <a:r>
              <a:rPr sz="1400" spc="-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spc="4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500" spc="67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150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3" name="object 433"/>
          <p:cNvSpPr txBox="1">
            <a:spLocks noGrp="1"/>
          </p:cNvSpPr>
          <p:nvPr>
            <p:ph type="title"/>
          </p:nvPr>
        </p:nvSpPr>
        <p:spPr>
          <a:xfrm>
            <a:off x="730862" y="147869"/>
            <a:ext cx="4876800" cy="80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Xavier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初始化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52000"/>
              </a:lnSpc>
              <a:spcBef>
                <a:spcPts val="330"/>
              </a:spcBef>
            </a:pPr>
            <a:r>
              <a:rPr sz="1000" spc="5" dirty="0"/>
              <a:t>一</a:t>
            </a:r>
            <a:r>
              <a:rPr sz="1000" spc="-5" dirty="0"/>
              <a:t>个神</a:t>
            </a:r>
            <a:r>
              <a:rPr sz="1000" spc="5" dirty="0"/>
              <a:t>经</a:t>
            </a:r>
            <a:r>
              <a:rPr sz="1000" spc="-5" dirty="0"/>
              <a:t>元，</a:t>
            </a:r>
            <a:r>
              <a:rPr sz="1000" spc="5" dirty="0"/>
              <a:t>其</a:t>
            </a:r>
            <a:r>
              <a:rPr sz="1000" spc="-5" dirty="0"/>
              <a:t>输入为</a:t>
            </a:r>
            <a:r>
              <a:rPr sz="1000" spc="4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50" spc="67" baseline="-16000" dirty="0">
                <a:latin typeface="Cambria Math" panose="02040503050406030204"/>
                <a:cs typeface="Cambria Math" panose="02040503050406030204"/>
              </a:rPr>
              <a:t>l,</a:t>
            </a:r>
            <a:r>
              <a:rPr sz="1000" spc="4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50" spc="67" baseline="-16000" dirty="0">
                <a:latin typeface="Cambria Math" panose="02040503050406030204"/>
                <a:cs typeface="Cambria Math" panose="02040503050406030204"/>
              </a:rPr>
              <a:t>2,</a:t>
            </a:r>
            <a:r>
              <a:rPr sz="1050" spc="75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1000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2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50" spc="37" baseline="-16000" dirty="0">
                <a:latin typeface="Cambria Math" panose="02040503050406030204"/>
                <a:cs typeface="Cambria Math" panose="02040503050406030204"/>
              </a:rPr>
              <a:t>N,</a:t>
            </a:r>
            <a:r>
              <a:rPr sz="1000" spc="25" dirty="0"/>
              <a:t>，</a:t>
            </a:r>
            <a:r>
              <a:rPr sz="1000" spc="-5" dirty="0"/>
              <a:t>这</a:t>
            </a:r>
            <a:r>
              <a:rPr sz="1000" spc="70" dirty="0">
                <a:latin typeface="Cambria Math" panose="02040503050406030204"/>
                <a:cs typeface="Cambria Math" panose="02040503050406030204"/>
              </a:rPr>
              <a:t>N</a:t>
            </a:r>
            <a:r>
              <a:rPr sz="1000" spc="5" dirty="0"/>
              <a:t>个</a:t>
            </a:r>
            <a:r>
              <a:rPr sz="1000" spc="-5" dirty="0"/>
              <a:t>输入</a:t>
            </a:r>
            <a:r>
              <a:rPr sz="1000" spc="5" dirty="0"/>
              <a:t>是</a:t>
            </a:r>
            <a:r>
              <a:rPr sz="1000" spc="-5" dirty="0"/>
              <a:t>独立</a:t>
            </a:r>
            <a:r>
              <a:rPr sz="1000" spc="5" dirty="0"/>
              <a:t>同</a:t>
            </a:r>
            <a:r>
              <a:rPr sz="1000" spc="-5" dirty="0"/>
              <a:t>分布</a:t>
            </a:r>
            <a:r>
              <a:rPr sz="1000" spc="5" dirty="0"/>
              <a:t>的</a:t>
            </a:r>
            <a:r>
              <a:rPr sz="1000" spc="-5" dirty="0"/>
              <a:t>；其</a:t>
            </a:r>
            <a:r>
              <a:rPr sz="1000" spc="5" dirty="0"/>
              <a:t>权</a:t>
            </a:r>
            <a:r>
              <a:rPr sz="1000" spc="-5" dirty="0"/>
              <a:t>值为</a:t>
            </a:r>
            <a:r>
              <a:rPr sz="1000" spc="6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spc="89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000" spc="6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000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1000" spc="-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10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000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spc="15" baseline="-16000" dirty="0">
                <a:latin typeface="Cambria Math" panose="02040503050406030204"/>
                <a:cs typeface="Cambria Math" panose="02040503050406030204"/>
              </a:rPr>
              <a:t>N</a:t>
            </a:r>
            <a:r>
              <a:rPr sz="1000" spc="10" dirty="0"/>
              <a:t>，  </a:t>
            </a:r>
            <a:r>
              <a:rPr sz="1000" spc="5" dirty="0"/>
              <a:t>它</a:t>
            </a:r>
            <a:r>
              <a:rPr sz="1000" spc="-5" dirty="0"/>
              <a:t>们也</a:t>
            </a:r>
            <a:r>
              <a:rPr sz="1000" spc="5" dirty="0"/>
              <a:t>是</a:t>
            </a:r>
            <a:r>
              <a:rPr sz="1000" spc="-5" dirty="0"/>
              <a:t>独立</a:t>
            </a:r>
            <a:r>
              <a:rPr sz="1000" spc="5" dirty="0"/>
              <a:t>同</a:t>
            </a:r>
            <a:r>
              <a:rPr sz="1000" spc="-5" dirty="0"/>
              <a:t>分布</a:t>
            </a:r>
            <a:r>
              <a:rPr sz="1000" spc="5" dirty="0"/>
              <a:t>的</a:t>
            </a:r>
            <a:r>
              <a:rPr sz="1000" spc="-5" dirty="0"/>
              <a:t>，且</a:t>
            </a:r>
            <a:r>
              <a:rPr sz="1000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00" spc="-5" dirty="0"/>
              <a:t>与</a:t>
            </a:r>
            <a:r>
              <a:rPr sz="1000" spc="5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00" spc="5" dirty="0"/>
              <a:t>是</a:t>
            </a:r>
            <a:r>
              <a:rPr sz="1000" spc="-5" dirty="0"/>
              <a:t>独</a:t>
            </a:r>
            <a:r>
              <a:rPr sz="1000" spc="5" dirty="0"/>
              <a:t>立</a:t>
            </a:r>
            <a:r>
              <a:rPr sz="1000" spc="-5" dirty="0"/>
              <a:t>的</a:t>
            </a:r>
            <a:r>
              <a:rPr sz="1000" spc="-10" dirty="0"/>
              <a:t>；</a:t>
            </a:r>
            <a:r>
              <a:rPr sz="1000" spc="5" dirty="0"/>
              <a:t>其</a:t>
            </a:r>
            <a:r>
              <a:rPr sz="1000" spc="-5" dirty="0"/>
              <a:t>激活</a:t>
            </a:r>
            <a:r>
              <a:rPr sz="1000" spc="5" dirty="0"/>
              <a:t>函</a:t>
            </a:r>
            <a:r>
              <a:rPr sz="1000" spc="-5" dirty="0"/>
              <a:t>数为</a:t>
            </a:r>
            <a:r>
              <a:rPr sz="1000" spc="1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000" spc="120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sz="1000" spc="5" dirty="0"/>
              <a:t>其</a:t>
            </a:r>
            <a:r>
              <a:rPr sz="1000" spc="-5" dirty="0"/>
              <a:t>最终</a:t>
            </a:r>
            <a:r>
              <a:rPr sz="1000" spc="5" dirty="0"/>
              <a:t>输</a:t>
            </a:r>
            <a:r>
              <a:rPr sz="1000" spc="-5" dirty="0"/>
              <a:t>出</a:t>
            </a:r>
            <a:r>
              <a:rPr sz="1000" spc="6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000" spc="-5" dirty="0"/>
              <a:t>的</a:t>
            </a:r>
            <a:r>
              <a:rPr sz="1000" spc="5" dirty="0"/>
              <a:t>表</a:t>
            </a:r>
            <a:r>
              <a:rPr sz="1000" spc="-5" dirty="0"/>
              <a:t>达式：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4" name="object 43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8" name="object 43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0288" y="2015649"/>
            <a:ext cx="124968" cy="9448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73583" y="1912017"/>
            <a:ext cx="445134" cy="302260"/>
          </a:xfrm>
          <a:custGeom>
            <a:avLst/>
            <a:gdLst/>
            <a:ahLst/>
            <a:cxnLst/>
            <a:rect l="l" t="t" r="r" b="b"/>
            <a:pathLst>
              <a:path w="445135" h="302260">
                <a:moveTo>
                  <a:pt x="397763" y="0"/>
                </a:moveTo>
                <a:lnTo>
                  <a:pt x="394715" y="4572"/>
                </a:lnTo>
                <a:lnTo>
                  <a:pt x="403550" y="16859"/>
                </a:lnTo>
                <a:lnTo>
                  <a:pt x="411670" y="30861"/>
                </a:lnTo>
                <a:lnTo>
                  <a:pt x="429196" y="84010"/>
                </a:lnTo>
                <a:lnTo>
                  <a:pt x="433768" y="127444"/>
                </a:lnTo>
                <a:lnTo>
                  <a:pt x="434339" y="150875"/>
                </a:lnTo>
                <a:lnTo>
                  <a:pt x="433768" y="175164"/>
                </a:lnTo>
                <a:lnTo>
                  <a:pt x="429196" y="218598"/>
                </a:lnTo>
                <a:lnTo>
                  <a:pt x="418933" y="256055"/>
                </a:lnTo>
                <a:lnTo>
                  <a:pt x="394715" y="298703"/>
                </a:lnTo>
                <a:lnTo>
                  <a:pt x="397763" y="301751"/>
                </a:lnTo>
                <a:lnTo>
                  <a:pt x="425624" y="259961"/>
                </a:lnTo>
                <a:lnTo>
                  <a:pt x="437935" y="222027"/>
                </a:lnTo>
                <a:lnTo>
                  <a:pt x="444174" y="176307"/>
                </a:lnTo>
                <a:lnTo>
                  <a:pt x="445007" y="150875"/>
                </a:lnTo>
                <a:lnTo>
                  <a:pt x="444174" y="126325"/>
                </a:lnTo>
                <a:lnTo>
                  <a:pt x="437935" y="81224"/>
                </a:lnTo>
                <a:lnTo>
                  <a:pt x="425624" y="42648"/>
                </a:lnTo>
                <a:lnTo>
                  <a:pt x="408384" y="12311"/>
                </a:lnTo>
                <a:lnTo>
                  <a:pt x="397763" y="0"/>
                </a:lnTo>
                <a:close/>
              </a:path>
              <a:path w="445135" h="302260">
                <a:moveTo>
                  <a:pt x="47243" y="0"/>
                </a:moveTo>
                <a:lnTo>
                  <a:pt x="19383" y="42648"/>
                </a:lnTo>
                <a:lnTo>
                  <a:pt x="6429" y="81224"/>
                </a:lnTo>
                <a:lnTo>
                  <a:pt x="619" y="126325"/>
                </a:lnTo>
                <a:lnTo>
                  <a:pt x="0" y="150875"/>
                </a:lnTo>
                <a:lnTo>
                  <a:pt x="619" y="176307"/>
                </a:lnTo>
                <a:lnTo>
                  <a:pt x="6429" y="222027"/>
                </a:lnTo>
                <a:lnTo>
                  <a:pt x="19383" y="259961"/>
                </a:lnTo>
                <a:lnTo>
                  <a:pt x="47243" y="301751"/>
                </a:lnTo>
                <a:lnTo>
                  <a:pt x="50291" y="298703"/>
                </a:lnTo>
                <a:lnTo>
                  <a:pt x="40814" y="286392"/>
                </a:lnTo>
                <a:lnTo>
                  <a:pt x="32765" y="272224"/>
                </a:lnTo>
                <a:lnTo>
                  <a:pt x="15573" y="218598"/>
                </a:lnTo>
                <a:lnTo>
                  <a:pt x="9953" y="175164"/>
                </a:lnTo>
                <a:lnTo>
                  <a:pt x="9143" y="150875"/>
                </a:lnTo>
                <a:lnTo>
                  <a:pt x="9953" y="127444"/>
                </a:lnTo>
                <a:lnTo>
                  <a:pt x="15573" y="84010"/>
                </a:lnTo>
                <a:lnTo>
                  <a:pt x="25860" y="46577"/>
                </a:lnTo>
                <a:lnTo>
                  <a:pt x="50291" y="4572"/>
                </a:lnTo>
                <a:lnTo>
                  <a:pt x="47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119322" y="1827717"/>
            <a:ext cx="1051560" cy="4248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243205" algn="r">
              <a:lnSpc>
                <a:spcPct val="100000"/>
              </a:lnSpc>
              <a:spcBef>
                <a:spcPts val="340"/>
              </a:spcBef>
            </a:pPr>
            <a:r>
              <a:rPr sz="550" i="1" spc="70" dirty="0">
                <a:latin typeface="Cambria Math" panose="02040503050406030204"/>
                <a:cs typeface="Cambria Math" panose="02040503050406030204"/>
              </a:rPr>
              <a:t>n</a:t>
            </a:r>
            <a:endParaRPr sz="55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800" i="1" spc="35" dirty="0">
                <a:latin typeface="Cambria Math" panose="02040503050406030204"/>
                <a:cs typeface="Cambria Math" panose="02040503050406030204"/>
              </a:rPr>
              <a:t>Var </a:t>
            </a:r>
            <a:r>
              <a:rPr sz="800" i="1" spc="45" dirty="0">
                <a:latin typeface="Cambria Math" panose="02040503050406030204"/>
                <a:cs typeface="Cambria Math" panose="02040503050406030204"/>
              </a:rPr>
              <a:t>y </a:t>
            </a:r>
            <a:r>
              <a:rPr sz="8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800" i="1" spc="35" dirty="0">
                <a:latin typeface="Cambria Math" panose="02040503050406030204"/>
                <a:cs typeface="Cambria Math" panose="02040503050406030204"/>
              </a:rPr>
              <a:t>Var</a:t>
            </a:r>
            <a:r>
              <a:rPr sz="800" i="1" spc="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800" i="1" spc="170" dirty="0">
                <a:latin typeface="Cambria Math" panose="02040503050406030204"/>
                <a:cs typeface="Cambria Math" panose="02040503050406030204"/>
              </a:rPr>
              <a:t>Lw</a:t>
            </a:r>
            <a:r>
              <a:rPr sz="825" i="1" spc="254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17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825" i="1" spc="254" baseline="-15000" dirty="0">
                <a:latin typeface="Cambria Math" panose="02040503050406030204"/>
                <a:cs typeface="Cambria Math" panose="02040503050406030204"/>
              </a:rPr>
              <a:t>i</a:t>
            </a:r>
            <a:endParaRPr sz="825" baseline="-15000">
              <a:latin typeface="Cambria Math" panose="02040503050406030204"/>
              <a:cs typeface="Cambria Math" panose="02040503050406030204"/>
            </a:endParaRPr>
          </a:p>
          <a:p>
            <a:pPr marR="203835" algn="r">
              <a:lnSpc>
                <a:spcPct val="100000"/>
              </a:lnSpc>
              <a:spcBef>
                <a:spcPts val="320"/>
              </a:spcBef>
            </a:pPr>
            <a:r>
              <a:rPr sz="550" i="1" spc="6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550" i="1" spc="1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550" i="1" spc="190" dirty="0">
                <a:latin typeface="Cambria Math" panose="02040503050406030204"/>
                <a:cs typeface="Cambria Math" panose="02040503050406030204"/>
              </a:rPr>
              <a:t>l</a:t>
            </a:r>
            <a:endParaRPr sz="5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0979" y="1827717"/>
            <a:ext cx="723265" cy="4248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340"/>
              </a:spcBef>
            </a:pPr>
            <a:r>
              <a:rPr sz="550" i="1" spc="70" dirty="0">
                <a:latin typeface="Cambria Math" panose="02040503050406030204"/>
                <a:cs typeface="Cambria Math" panose="02040503050406030204"/>
              </a:rPr>
              <a:t>n</a:t>
            </a:r>
            <a:endParaRPr sz="55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8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800" i="1" spc="635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800" i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Var(w</a:t>
            </a:r>
            <a:r>
              <a:rPr sz="825" i="1" spc="44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825" i="1" spc="44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)</a:t>
            </a:r>
            <a:endParaRPr sz="800">
              <a:latin typeface="Cambria Math" panose="02040503050406030204"/>
              <a:cs typeface="Cambria Math" panose="02040503050406030204"/>
            </a:endParaRPr>
          </a:p>
          <a:p>
            <a:pPr marL="121920">
              <a:lnSpc>
                <a:spcPct val="100000"/>
              </a:lnSpc>
              <a:spcBef>
                <a:spcPts val="320"/>
              </a:spcBef>
            </a:pPr>
            <a:r>
              <a:rPr sz="550" i="1" spc="90" dirty="0">
                <a:latin typeface="Cambria Math" panose="02040503050406030204"/>
                <a:cs typeface="Cambria Math" panose="02040503050406030204"/>
              </a:rPr>
              <a:t>i=l</a:t>
            </a:r>
            <a:endParaRPr sz="5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59867" y="2286921"/>
            <a:ext cx="306705" cy="94615"/>
          </a:xfrm>
          <a:custGeom>
            <a:avLst/>
            <a:gdLst/>
            <a:ahLst/>
            <a:cxnLst/>
            <a:rect l="l" t="t" r="r" b="b"/>
            <a:pathLst>
              <a:path w="306705" h="94614">
                <a:moveTo>
                  <a:pt x="306324" y="0"/>
                </a:moveTo>
                <a:lnTo>
                  <a:pt x="284988" y="0"/>
                </a:lnTo>
                <a:lnTo>
                  <a:pt x="284988" y="4572"/>
                </a:lnTo>
                <a:lnTo>
                  <a:pt x="298704" y="4572"/>
                </a:lnTo>
                <a:lnTo>
                  <a:pt x="298704" y="91439"/>
                </a:lnTo>
                <a:lnTo>
                  <a:pt x="284988" y="91439"/>
                </a:lnTo>
                <a:lnTo>
                  <a:pt x="284988" y="94487"/>
                </a:lnTo>
                <a:lnTo>
                  <a:pt x="306324" y="94487"/>
                </a:lnTo>
                <a:lnTo>
                  <a:pt x="306324" y="0"/>
                </a:lnTo>
                <a:close/>
              </a:path>
              <a:path w="306705" h="94614">
                <a:moveTo>
                  <a:pt x="21336" y="0"/>
                </a:moveTo>
                <a:lnTo>
                  <a:pt x="0" y="0"/>
                </a:lnTo>
                <a:lnTo>
                  <a:pt x="0" y="94487"/>
                </a:lnTo>
                <a:lnTo>
                  <a:pt x="21336" y="94487"/>
                </a:lnTo>
                <a:lnTo>
                  <a:pt x="21336" y="91439"/>
                </a:lnTo>
                <a:lnTo>
                  <a:pt x="7620" y="91439"/>
                </a:lnTo>
                <a:lnTo>
                  <a:pt x="7620" y="4572"/>
                </a:lnTo>
                <a:lnTo>
                  <a:pt x="21336" y="4572"/>
                </a:lnTo>
                <a:lnTo>
                  <a:pt x="21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86185" y="2303193"/>
            <a:ext cx="52069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i="1" spc="50" dirty="0">
                <a:latin typeface="Cambria Math" panose="02040503050406030204"/>
                <a:cs typeface="Cambria Math" panose="02040503050406030204"/>
              </a:rPr>
              <a:t>i</a:t>
            </a:r>
            <a:endParaRPr sz="5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07211" y="2286921"/>
            <a:ext cx="279400" cy="94615"/>
          </a:xfrm>
          <a:custGeom>
            <a:avLst/>
            <a:gdLst/>
            <a:ahLst/>
            <a:cxnLst/>
            <a:rect l="l" t="t" r="r" b="b"/>
            <a:pathLst>
              <a:path w="279400" h="94614">
                <a:moveTo>
                  <a:pt x="278891" y="0"/>
                </a:moveTo>
                <a:lnTo>
                  <a:pt x="257555" y="0"/>
                </a:lnTo>
                <a:lnTo>
                  <a:pt x="257555" y="4572"/>
                </a:lnTo>
                <a:lnTo>
                  <a:pt x="271272" y="4572"/>
                </a:lnTo>
                <a:lnTo>
                  <a:pt x="271272" y="91439"/>
                </a:lnTo>
                <a:lnTo>
                  <a:pt x="257555" y="91439"/>
                </a:lnTo>
                <a:lnTo>
                  <a:pt x="257555" y="94487"/>
                </a:lnTo>
                <a:lnTo>
                  <a:pt x="278891" y="94487"/>
                </a:lnTo>
                <a:lnTo>
                  <a:pt x="278891" y="0"/>
                </a:lnTo>
                <a:close/>
              </a:path>
              <a:path w="279400" h="94614">
                <a:moveTo>
                  <a:pt x="21336" y="0"/>
                </a:moveTo>
                <a:lnTo>
                  <a:pt x="0" y="0"/>
                </a:lnTo>
                <a:lnTo>
                  <a:pt x="0" y="94487"/>
                </a:lnTo>
                <a:lnTo>
                  <a:pt x="21336" y="94487"/>
                </a:lnTo>
                <a:lnTo>
                  <a:pt x="21336" y="91439"/>
                </a:lnTo>
                <a:lnTo>
                  <a:pt x="7620" y="91439"/>
                </a:lnTo>
                <a:lnTo>
                  <a:pt x="7620" y="4572"/>
                </a:lnTo>
                <a:lnTo>
                  <a:pt x="21336" y="4572"/>
                </a:lnTo>
                <a:lnTo>
                  <a:pt x="21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10906" y="2249831"/>
            <a:ext cx="262382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825" i="1" spc="44" baseline="30000" dirty="0">
                <a:latin typeface="Cambria Math" panose="02040503050406030204"/>
                <a:cs typeface="Cambria Math" panose="02040503050406030204"/>
              </a:rPr>
              <a:t>n </a:t>
            </a:r>
            <a:r>
              <a:rPr sz="800" i="1" spc="25" dirty="0">
                <a:latin typeface="Cambria Math" panose="02040503050406030204"/>
                <a:cs typeface="Cambria Math" panose="02040503050406030204"/>
              </a:rPr>
              <a:t>E(w</a:t>
            </a:r>
            <a:r>
              <a:rPr sz="825" i="1" spc="37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25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825" i="1" spc="52" baseline="30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800" i="1" spc="35" dirty="0">
                <a:latin typeface="Cambria Math" panose="02040503050406030204"/>
                <a:cs typeface="Cambria Math" panose="02040503050406030204"/>
              </a:rPr>
              <a:t>Var( 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825" i="1" spc="44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800" i="1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E(z</a:t>
            </a:r>
            <a:r>
              <a:rPr sz="825" i="1" spc="44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825" i="1" spc="44" baseline="30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Var(w</a:t>
            </a:r>
            <a:r>
              <a:rPr sz="825" i="1" spc="44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800" i="1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8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800" i="1" spc="25" dirty="0">
                <a:latin typeface="Cambria Math" panose="02040503050406030204"/>
                <a:cs typeface="Cambria Math" panose="02040503050406030204"/>
              </a:rPr>
              <a:t>Var(w</a:t>
            </a:r>
            <a:r>
              <a:rPr sz="825" i="1" spc="37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25" dirty="0">
                <a:latin typeface="Cambria Math" panose="02040503050406030204"/>
                <a:cs typeface="Cambria Math" panose="02040503050406030204"/>
              </a:rPr>
              <a:t>)Var(z</a:t>
            </a:r>
            <a:r>
              <a:rPr sz="825" i="1" spc="37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25" dirty="0">
                <a:latin typeface="Cambria Math" panose="02040503050406030204"/>
                <a:cs typeface="Cambria Math" panose="02040503050406030204"/>
              </a:rPr>
              <a:t>)</a:t>
            </a:r>
            <a:endParaRPr sz="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3779" y="2434238"/>
            <a:ext cx="9626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825" i="1" spc="44" baseline="30000" dirty="0">
                <a:latin typeface="Cambria Math" panose="02040503050406030204"/>
                <a:cs typeface="Cambria Math" panose="02040503050406030204"/>
              </a:rPr>
              <a:t>n </a:t>
            </a:r>
            <a:r>
              <a:rPr sz="800" i="1" spc="25" dirty="0">
                <a:latin typeface="Cambria Math" panose="02040503050406030204"/>
                <a:cs typeface="Cambria Math" panose="02040503050406030204"/>
              </a:rPr>
              <a:t>Var(w</a:t>
            </a:r>
            <a:r>
              <a:rPr sz="825" i="1" spc="37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25" dirty="0">
                <a:latin typeface="Cambria Math" panose="02040503050406030204"/>
                <a:cs typeface="Cambria Math" panose="02040503050406030204"/>
              </a:rPr>
              <a:t>)Var(z</a:t>
            </a:r>
            <a:r>
              <a:rPr sz="825" i="1" spc="37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25" dirty="0">
                <a:latin typeface="Cambria Math" panose="02040503050406030204"/>
                <a:cs typeface="Cambria Math" panose="02040503050406030204"/>
              </a:rPr>
              <a:t>)</a:t>
            </a:r>
            <a:endParaRPr sz="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09036" y="2487569"/>
            <a:ext cx="52069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i="1" spc="50" dirty="0">
                <a:latin typeface="Cambria Math" panose="02040503050406030204"/>
                <a:cs typeface="Cambria Math" panose="02040503050406030204"/>
              </a:rPr>
              <a:t>i</a:t>
            </a:r>
            <a:endParaRPr sz="5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6651" y="2617113"/>
            <a:ext cx="88963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800" i="1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nVar(w</a:t>
            </a:r>
            <a:r>
              <a:rPr sz="825" i="1" spc="44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)Var(z</a:t>
            </a:r>
            <a:r>
              <a:rPr sz="825" i="1" spc="44" baseline="-15000" dirty="0">
                <a:latin typeface="Cambria Math" panose="02040503050406030204"/>
                <a:cs typeface="Cambria Math" panose="02040503050406030204"/>
              </a:rPr>
              <a:t>i</a:t>
            </a:r>
            <a:r>
              <a:rPr sz="800" i="1" spc="30" dirty="0">
                <a:latin typeface="Cambria Math" panose="02040503050406030204"/>
                <a:cs typeface="Cambria Math" panose="02040503050406030204"/>
              </a:rPr>
              <a:t>)</a:t>
            </a:r>
            <a:endParaRPr sz="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10160" y="1133253"/>
            <a:ext cx="1800225" cy="166370"/>
          </a:xfrm>
          <a:custGeom>
            <a:avLst/>
            <a:gdLst/>
            <a:ahLst/>
            <a:cxnLst/>
            <a:rect l="l" t="t" r="r" b="b"/>
            <a:pathLst>
              <a:path w="1800225" h="166369">
                <a:moveTo>
                  <a:pt x="1746503" y="0"/>
                </a:moveTo>
                <a:lnTo>
                  <a:pt x="1744979" y="7620"/>
                </a:lnTo>
                <a:lnTo>
                  <a:pt x="1754433" y="11668"/>
                </a:lnTo>
                <a:lnTo>
                  <a:pt x="1762315" y="17145"/>
                </a:lnTo>
                <a:lnTo>
                  <a:pt x="1782127" y="55054"/>
                </a:lnTo>
                <a:lnTo>
                  <a:pt x="1784603" y="82296"/>
                </a:lnTo>
                <a:lnTo>
                  <a:pt x="1784008" y="96583"/>
                </a:lnTo>
                <a:lnTo>
                  <a:pt x="1768768" y="141136"/>
                </a:lnTo>
                <a:lnTo>
                  <a:pt x="1744979" y="158496"/>
                </a:lnTo>
                <a:lnTo>
                  <a:pt x="1746503" y="166116"/>
                </a:lnTo>
                <a:lnTo>
                  <a:pt x="1786127" y="137160"/>
                </a:lnTo>
                <a:lnTo>
                  <a:pt x="1798986" y="97726"/>
                </a:lnTo>
                <a:lnTo>
                  <a:pt x="1799843" y="82296"/>
                </a:lnTo>
                <a:lnTo>
                  <a:pt x="1798986" y="67746"/>
                </a:lnTo>
                <a:lnTo>
                  <a:pt x="1786127" y="28955"/>
                </a:lnTo>
                <a:lnTo>
                  <a:pt x="1758481" y="4310"/>
                </a:lnTo>
                <a:lnTo>
                  <a:pt x="1746503" y="0"/>
                </a:lnTo>
                <a:close/>
              </a:path>
              <a:path w="1800225" h="166369">
                <a:moveTo>
                  <a:pt x="51815" y="0"/>
                </a:moveTo>
                <a:lnTo>
                  <a:pt x="13715" y="28955"/>
                </a:lnTo>
                <a:lnTo>
                  <a:pt x="857" y="67746"/>
                </a:lnTo>
                <a:lnTo>
                  <a:pt x="0" y="82296"/>
                </a:lnTo>
                <a:lnTo>
                  <a:pt x="857" y="97726"/>
                </a:lnTo>
                <a:lnTo>
                  <a:pt x="13715" y="137160"/>
                </a:lnTo>
                <a:lnTo>
                  <a:pt x="51815" y="166116"/>
                </a:lnTo>
                <a:lnTo>
                  <a:pt x="54863" y="158496"/>
                </a:lnTo>
                <a:lnTo>
                  <a:pt x="45172" y="154233"/>
                </a:lnTo>
                <a:lnTo>
                  <a:pt x="36766" y="148399"/>
                </a:lnTo>
                <a:lnTo>
                  <a:pt x="17525" y="109727"/>
                </a:lnTo>
                <a:lnTo>
                  <a:pt x="15239" y="82296"/>
                </a:lnTo>
                <a:lnTo>
                  <a:pt x="15811" y="68032"/>
                </a:lnTo>
                <a:lnTo>
                  <a:pt x="29789" y="24336"/>
                </a:lnTo>
                <a:lnTo>
                  <a:pt x="54863" y="7620"/>
                </a:lnTo>
                <a:lnTo>
                  <a:pt x="518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279807" y="1044861"/>
            <a:ext cx="2423160" cy="299085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340"/>
              </a:spcBef>
            </a:pPr>
            <a:r>
              <a:rPr sz="1400" i="1" spc="80" dirty="0">
                <a:latin typeface="Cambria Math" panose="02040503050406030204"/>
                <a:cs typeface="Cambria Math" panose="02040503050406030204"/>
              </a:rPr>
              <a:t>y 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400" i="1" spc="345" dirty="0">
                <a:latin typeface="Cambria Math" panose="02040503050406030204"/>
                <a:cs typeface="Cambria Math" panose="02040503050406030204"/>
              </a:rPr>
              <a:t>f </a:t>
            </a:r>
            <a:r>
              <a:rPr sz="1400" i="1" spc="9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500" i="1" spc="135" baseline="-17000" dirty="0">
                <a:latin typeface="Cambria Math" panose="02040503050406030204"/>
                <a:cs typeface="Cambria Math" panose="02040503050406030204"/>
              </a:rPr>
              <a:t>l 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∗ </a:t>
            </a:r>
            <a:r>
              <a:rPr sz="1400" i="1" spc="14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500" i="1" spc="217" baseline="-17000" dirty="0">
                <a:latin typeface="Cambria Math" panose="02040503050406030204"/>
                <a:cs typeface="Cambria Math" panose="02040503050406030204"/>
              </a:rPr>
              <a:t>l 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+ ⋯ + </a:t>
            </a:r>
            <a:r>
              <a:rPr sz="1400" i="1" spc="-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500" i="1" spc="-15" baseline="-17000" dirty="0">
                <a:latin typeface="Cambria Math" panose="02040503050406030204"/>
                <a:cs typeface="Cambria Math" panose="02040503050406030204"/>
              </a:rPr>
              <a:t>N </a:t>
            </a:r>
            <a:r>
              <a:rPr sz="1400" i="1" dirty="0">
                <a:latin typeface="Cambria Math" panose="02040503050406030204"/>
                <a:cs typeface="Cambria Math" panose="02040503050406030204"/>
              </a:rPr>
              <a:t>∗</a:t>
            </a:r>
            <a:r>
              <a:rPr sz="1400" i="1" spc="-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400" i="1" spc="4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500" i="1" spc="67" baseline="-17000" dirty="0">
                <a:latin typeface="Cambria Math" panose="02040503050406030204"/>
                <a:cs typeface="Cambria Math" panose="02040503050406030204"/>
              </a:rPr>
              <a:t>N</a:t>
            </a:r>
            <a:endParaRPr sz="150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32380" y="142144"/>
            <a:ext cx="4876800" cy="80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Xavier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初始化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52000"/>
              </a:lnSpc>
              <a:spcBef>
                <a:spcPts val="340"/>
              </a:spcBef>
            </a:pPr>
            <a:r>
              <a:rPr sz="1000" spc="5" dirty="0"/>
              <a:t>一</a:t>
            </a:r>
            <a:r>
              <a:rPr sz="1000" spc="-5" dirty="0"/>
              <a:t>个神</a:t>
            </a:r>
            <a:r>
              <a:rPr sz="1000" spc="5" dirty="0"/>
              <a:t>经</a:t>
            </a:r>
            <a:r>
              <a:rPr sz="1000" spc="-5" dirty="0"/>
              <a:t>元，</a:t>
            </a:r>
            <a:r>
              <a:rPr sz="1000" spc="5" dirty="0"/>
              <a:t>其</a:t>
            </a:r>
            <a:r>
              <a:rPr sz="1000" spc="-5" dirty="0"/>
              <a:t>输入为</a:t>
            </a:r>
            <a:r>
              <a:rPr sz="1000" i="1" spc="4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50" i="1" spc="67" baseline="-16000" dirty="0">
                <a:latin typeface="Cambria Math" panose="02040503050406030204"/>
                <a:cs typeface="Cambria Math" panose="02040503050406030204"/>
              </a:rPr>
              <a:t>l,</a:t>
            </a:r>
            <a:r>
              <a:rPr sz="1000" i="1" spc="4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50" i="1" spc="67" baseline="-16000" dirty="0">
                <a:latin typeface="Cambria Math" panose="02040503050406030204"/>
                <a:cs typeface="Cambria Math" panose="02040503050406030204"/>
              </a:rPr>
              <a:t>2,</a:t>
            </a:r>
            <a:r>
              <a:rPr sz="1050" i="1" spc="75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1000" i="1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2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50" i="1" spc="37" baseline="-16000" dirty="0">
                <a:latin typeface="Cambria Math" panose="02040503050406030204"/>
                <a:cs typeface="Cambria Math" panose="02040503050406030204"/>
              </a:rPr>
              <a:t>N,</a:t>
            </a:r>
            <a:r>
              <a:rPr sz="1000" spc="25" dirty="0"/>
              <a:t>，</a:t>
            </a:r>
            <a:r>
              <a:rPr sz="1000" spc="-5" dirty="0"/>
              <a:t>这</a:t>
            </a:r>
            <a:r>
              <a:rPr sz="1000" i="1" spc="70" dirty="0">
                <a:latin typeface="Cambria Math" panose="02040503050406030204"/>
                <a:cs typeface="Cambria Math" panose="02040503050406030204"/>
              </a:rPr>
              <a:t>N</a:t>
            </a:r>
            <a:r>
              <a:rPr sz="1000" spc="5" dirty="0"/>
              <a:t>个</a:t>
            </a:r>
            <a:r>
              <a:rPr sz="1000" spc="-5" dirty="0"/>
              <a:t>输入</a:t>
            </a:r>
            <a:r>
              <a:rPr sz="1000" spc="5" dirty="0"/>
              <a:t>是</a:t>
            </a:r>
            <a:r>
              <a:rPr sz="1000" spc="-5" dirty="0"/>
              <a:t>独立</a:t>
            </a:r>
            <a:r>
              <a:rPr sz="1000" spc="5" dirty="0"/>
              <a:t>同</a:t>
            </a:r>
            <a:r>
              <a:rPr sz="1000" spc="-5" dirty="0"/>
              <a:t>分布</a:t>
            </a:r>
            <a:r>
              <a:rPr sz="1000" spc="5" dirty="0"/>
              <a:t>的</a:t>
            </a:r>
            <a:r>
              <a:rPr sz="1000" spc="-5" dirty="0"/>
              <a:t>；其</a:t>
            </a:r>
            <a:r>
              <a:rPr sz="1000" spc="5" dirty="0"/>
              <a:t>权</a:t>
            </a:r>
            <a:r>
              <a:rPr sz="1000" spc="-5" dirty="0"/>
              <a:t>值为</a:t>
            </a:r>
            <a:r>
              <a:rPr sz="1000" i="1" spc="6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i="1" spc="89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000" i="1" spc="6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0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10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10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000" i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1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i="1" spc="15" baseline="-16000" dirty="0">
                <a:latin typeface="Cambria Math" panose="02040503050406030204"/>
                <a:cs typeface="Cambria Math" panose="02040503050406030204"/>
              </a:rPr>
              <a:t>N</a:t>
            </a:r>
            <a:r>
              <a:rPr sz="1000" spc="10" dirty="0"/>
              <a:t>，  </a:t>
            </a:r>
            <a:r>
              <a:rPr sz="1000" spc="5" dirty="0"/>
              <a:t>它</a:t>
            </a:r>
            <a:r>
              <a:rPr sz="1000" spc="-5" dirty="0"/>
              <a:t>们也</a:t>
            </a:r>
            <a:r>
              <a:rPr sz="1000" spc="5" dirty="0"/>
              <a:t>是</a:t>
            </a:r>
            <a:r>
              <a:rPr sz="1000" spc="-5" dirty="0"/>
              <a:t>独立</a:t>
            </a:r>
            <a:r>
              <a:rPr sz="1000" spc="5" dirty="0"/>
              <a:t>同</a:t>
            </a:r>
            <a:r>
              <a:rPr sz="1000" spc="-5" dirty="0"/>
              <a:t>分布</a:t>
            </a:r>
            <a:r>
              <a:rPr sz="1000" spc="5" dirty="0"/>
              <a:t>的</a:t>
            </a:r>
            <a:r>
              <a:rPr sz="1000" spc="-5" dirty="0"/>
              <a:t>，且</a:t>
            </a:r>
            <a:r>
              <a:rPr sz="1000" i="1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00" spc="-5" dirty="0"/>
              <a:t>与</a:t>
            </a:r>
            <a:r>
              <a:rPr sz="1000" i="1" spc="5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00" spc="5" dirty="0"/>
              <a:t>是</a:t>
            </a:r>
            <a:r>
              <a:rPr sz="1000" spc="-5" dirty="0"/>
              <a:t>独</a:t>
            </a:r>
            <a:r>
              <a:rPr sz="1000" spc="5" dirty="0"/>
              <a:t>立</a:t>
            </a:r>
            <a:r>
              <a:rPr sz="1000" spc="-5" dirty="0"/>
              <a:t>的</a:t>
            </a:r>
            <a:r>
              <a:rPr sz="1000" spc="-10" dirty="0"/>
              <a:t>；</a:t>
            </a:r>
            <a:r>
              <a:rPr sz="1000" spc="5" dirty="0"/>
              <a:t>其</a:t>
            </a:r>
            <a:r>
              <a:rPr sz="1000" spc="-5" dirty="0"/>
              <a:t>激活</a:t>
            </a:r>
            <a:r>
              <a:rPr sz="1000" spc="5" dirty="0"/>
              <a:t>函</a:t>
            </a:r>
            <a:r>
              <a:rPr sz="1000" spc="-5" dirty="0"/>
              <a:t>数为</a:t>
            </a:r>
            <a:r>
              <a:rPr sz="1000" i="1" spc="1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000" spc="120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sz="1000" spc="5" dirty="0"/>
              <a:t>其</a:t>
            </a:r>
            <a:r>
              <a:rPr sz="1000" spc="-5" dirty="0"/>
              <a:t>最终</a:t>
            </a:r>
            <a:r>
              <a:rPr sz="1000" spc="5" dirty="0"/>
              <a:t>输</a:t>
            </a:r>
            <a:r>
              <a:rPr sz="1000" spc="-5" dirty="0"/>
              <a:t>出</a:t>
            </a:r>
            <a:r>
              <a:rPr sz="1000" i="1" spc="6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000" spc="-5" dirty="0"/>
              <a:t>的</a:t>
            </a:r>
            <a:r>
              <a:rPr sz="1000" spc="5" dirty="0"/>
              <a:t>表</a:t>
            </a:r>
            <a:r>
              <a:rPr sz="1000" spc="-5" dirty="0"/>
              <a:t>达式：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6815" y="1349960"/>
            <a:ext cx="1730525" cy="1353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07467" y="2917857"/>
            <a:ext cx="220980" cy="141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279807" y="2858421"/>
            <a:ext cx="3124200" cy="230504"/>
          </a:xfrm>
          <a:prstGeom prst="rect">
            <a:avLst/>
          </a:prstGeom>
          <a:ln w="9143">
            <a:solidFill>
              <a:srgbClr val="FF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65"/>
              </a:spcBef>
            </a:pPr>
            <a:r>
              <a:rPr sz="1200" i="1" spc="135" dirty="0">
                <a:latin typeface="Cambria Math" panose="02040503050406030204"/>
                <a:cs typeface="Cambria Math" panose="02040503050406030204"/>
              </a:rPr>
              <a:t>var</a:t>
            </a:r>
            <a:r>
              <a:rPr sz="1200" i="1" spc="2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1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00" i="1" spc="2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200" i="1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200" i="1" spc="45" dirty="0">
                <a:latin typeface="Cambria Math" panose="02040503050406030204"/>
                <a:cs typeface="Cambria Math" panose="02040503050406030204"/>
              </a:rPr>
              <a:t>1/N</a:t>
            </a:r>
            <a:r>
              <a:rPr sz="1200" b="1" spc="5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200" b="1" spc="5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200" i="1" spc="5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200" b="1" spc="5" dirty="0">
                <a:latin typeface="黑体" panose="02010609060101010101" charset="-122"/>
                <a:cs typeface="黑体" panose="02010609060101010101" charset="-122"/>
              </a:rPr>
              <a:t>的方</a:t>
            </a: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差与</a:t>
            </a:r>
            <a:r>
              <a:rPr sz="1200" i="1" spc="7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200" b="1" spc="5" dirty="0">
                <a:latin typeface="黑体" panose="02010609060101010101" charset="-122"/>
                <a:cs typeface="黑体" panose="02010609060101010101" charset="-122"/>
              </a:rPr>
              <a:t>的方</a:t>
            </a: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差一</a:t>
            </a:r>
            <a:r>
              <a:rPr sz="1200" b="1" spc="5" dirty="0">
                <a:latin typeface="黑体" panose="02010609060101010101" charset="-122"/>
                <a:cs typeface="黑体" panose="02010609060101010101" charset="-122"/>
              </a:rPr>
              <a:t>致</a:t>
            </a:r>
            <a:r>
              <a:rPr sz="1200" b="1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98945" y="1381921"/>
            <a:ext cx="3581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假设</a:t>
            </a:r>
            <a:r>
              <a:rPr sz="1000" i="1" spc="26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为双曲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正切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函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3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i="1" spc="6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i="1" spc="89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000" i="1" spc="6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0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10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0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2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050" i="1" spc="30" baseline="-16000" dirty="0">
                <a:latin typeface="Cambria Math" panose="02040503050406030204"/>
                <a:cs typeface="Cambria Math" panose="02040503050406030204"/>
              </a:rPr>
              <a:t>N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独立同分布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3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i="1" spc="8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50" i="1" spc="120" baseline="-16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000" i="1" spc="8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000" i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⋯</a:t>
            </a:r>
            <a:r>
              <a:rPr sz="10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-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000" i="1" spc="-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i="1" spc="60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050" i="1" spc="89" baseline="-16000" dirty="0">
                <a:latin typeface="Cambria Math" panose="02040503050406030204"/>
                <a:cs typeface="Cambria Math" panose="02040503050406030204"/>
              </a:rPr>
              <a:t>N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独立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同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布，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w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z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独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立，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均值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都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0，则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554376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407" y="551150"/>
            <a:ext cx="291211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络结构</a:t>
            </a:r>
            <a:r>
              <a:rPr sz="1000" spc="35" dirty="0">
                <a:latin typeface="黑体" panose="02010609060101010101" charset="-122"/>
                <a:cs typeface="黑体" panose="02010609060101010101" charset="-122"/>
              </a:rPr>
              <a:t>：10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个隐层，1个输</a:t>
            </a: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5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隐层包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含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500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，使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的双曲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正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函数。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569" y="1182724"/>
            <a:ext cx="787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5260" y="1411295"/>
            <a:ext cx="1197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高斯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10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N</a:t>
            </a:r>
            <a:r>
              <a:rPr sz="10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569" y="1334514"/>
            <a:ext cx="1269365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45" dirty="0">
                <a:latin typeface="Cambria Math" panose="02040503050406030204"/>
                <a:cs typeface="Cambria Math" panose="02040503050406030204"/>
              </a:rPr>
              <a:t>N(0,</a:t>
            </a:r>
            <a:r>
              <a:rPr sz="10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1/N</a:t>
            </a:r>
            <a:r>
              <a:rPr sz="1000" spc="45" dirty="0">
                <a:latin typeface="Cambria Math" panose="02040503050406030204"/>
                <a:cs typeface="Cambria Math" panose="02040503050406030204"/>
              </a:rPr>
              <a:t>)</a:t>
            </a:r>
            <a:endParaRPr sz="1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5410" y="2232783"/>
            <a:ext cx="5553683" cy="5996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07672" y="147869"/>
            <a:ext cx="143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Xa</a:t>
            </a:r>
            <a:r>
              <a:rPr sz="1800" b="1" spc="5" dirty="0">
                <a:latin typeface="微软雅黑" panose="020B0503020204020204" charset="-122"/>
                <a:cs typeface="微软雅黑" panose="020B0503020204020204" charset="-122"/>
              </a:rPr>
              <a:t>v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i</a:t>
            </a:r>
            <a:r>
              <a:rPr sz="1800" b="1" spc="-10" dirty="0">
                <a:latin typeface="微软雅黑" panose="020B0503020204020204" charset="-122"/>
                <a:cs typeface="微软雅黑" panose="020B0503020204020204" charset="-122"/>
              </a:rPr>
              <a:t>e</a:t>
            </a:r>
            <a:r>
              <a:rPr sz="1800" b="1" spc="5" dirty="0"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初始化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48564" y="1137021"/>
            <a:ext cx="2463800" cy="5740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达到目的：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每层神经元激活值的方差基本相同！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54376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407" y="546947"/>
            <a:ext cx="2912110" cy="8077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络结构</a:t>
            </a:r>
            <a:r>
              <a:rPr sz="1000" spc="35" dirty="0">
                <a:latin typeface="黑体" panose="02010609060101010101" charset="-122"/>
                <a:cs typeface="黑体" panose="02010609060101010101" charset="-122"/>
              </a:rPr>
              <a:t>：10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个隐层，1个输</a:t>
            </a: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5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隐层包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含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500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，使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的ReLU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5260" y="1405576"/>
            <a:ext cx="1197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高斯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10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N</a:t>
            </a:r>
            <a:r>
              <a:rPr sz="10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569" y="1328796"/>
            <a:ext cx="1269365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i="1" spc="45" dirty="0">
                <a:latin typeface="Cambria Math" panose="02040503050406030204"/>
                <a:cs typeface="Cambria Math" panose="02040503050406030204"/>
              </a:rPr>
              <a:t>N(0,</a:t>
            </a:r>
            <a:r>
              <a:rPr sz="1000" i="1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1/N</a:t>
            </a:r>
            <a:r>
              <a:rPr sz="1000" i="1" spc="45" dirty="0">
                <a:latin typeface="Cambria Math" panose="02040503050406030204"/>
                <a:cs typeface="Cambria Math" panose="02040503050406030204"/>
              </a:rPr>
              <a:t>)</a:t>
            </a:r>
            <a:endParaRPr sz="1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66931" y="823881"/>
            <a:ext cx="780415" cy="215265"/>
          </a:xfrm>
          <a:custGeom>
            <a:avLst/>
            <a:gdLst/>
            <a:ahLst/>
            <a:cxnLst/>
            <a:rect l="l" t="t" r="r" b="b"/>
            <a:pathLst>
              <a:path w="780414" h="215265">
                <a:moveTo>
                  <a:pt x="0" y="0"/>
                </a:moveTo>
                <a:lnTo>
                  <a:pt x="780287" y="0"/>
                </a:lnTo>
                <a:lnTo>
                  <a:pt x="780287" y="214883"/>
                </a:lnTo>
                <a:lnTo>
                  <a:pt x="0" y="21488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07672" y="142144"/>
            <a:ext cx="143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Xa</a:t>
            </a:r>
            <a:r>
              <a:rPr sz="1800" b="1" spc="5" dirty="0">
                <a:latin typeface="微软雅黑" panose="020B0503020204020204" charset="-122"/>
                <a:cs typeface="微软雅黑" panose="020B0503020204020204" charset="-122"/>
              </a:rPr>
              <a:t>v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i</a:t>
            </a:r>
            <a:r>
              <a:rPr sz="1800" b="1" spc="-10" dirty="0">
                <a:latin typeface="微软雅黑" panose="020B0503020204020204" charset="-122"/>
                <a:cs typeface="微软雅黑" panose="020B0503020204020204" charset="-122"/>
              </a:rPr>
              <a:t>e</a:t>
            </a:r>
            <a:r>
              <a:rPr sz="1800" b="1" spc="5" dirty="0"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初始化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8903" y="2223946"/>
            <a:ext cx="5620598" cy="59908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58064" y="1507725"/>
            <a:ext cx="2921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Xavier初始化方法不太适合ReLU激活函数！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54376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407" y="551150"/>
            <a:ext cx="2912110" cy="8089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络结构</a:t>
            </a:r>
            <a:r>
              <a:rPr sz="1000" spc="35" dirty="0">
                <a:latin typeface="黑体" panose="02010609060101010101" charset="-122"/>
                <a:cs typeface="黑体" panose="02010609060101010101" charset="-122"/>
              </a:rPr>
              <a:t>：10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个隐层，1个输</a:t>
            </a: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5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1000" spc="6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55" dirty="0">
                <a:latin typeface="黑体" panose="02010609060101010101" charset="-122"/>
                <a:cs typeface="黑体" panose="02010609060101010101" charset="-122"/>
              </a:rPr>
              <a:t>隐层包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含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500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，使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的ReLU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569" y="1411295"/>
            <a:ext cx="25171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自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45" dirty="0">
                <a:latin typeface="Cambria Math" panose="02040503050406030204"/>
                <a:cs typeface="Cambria Math" panose="02040503050406030204"/>
              </a:rPr>
              <a:t>N(0,</a:t>
            </a:r>
            <a:r>
              <a:rPr sz="10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000" spc="45" dirty="0">
                <a:latin typeface="Cambria Math" panose="02040503050406030204"/>
                <a:cs typeface="Cambria Math" panose="02040503050406030204"/>
              </a:rPr>
              <a:t>/N)</a:t>
            </a:r>
            <a:r>
              <a:rPr sz="1000" spc="2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高斯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布</a:t>
            </a:r>
            <a:r>
              <a:rPr sz="1000" spc="15" dirty="0"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10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N</a:t>
            </a:r>
            <a:r>
              <a:rPr sz="10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569" y="1639866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1820" y="1384341"/>
            <a:ext cx="571500" cy="220979"/>
          </a:xfrm>
          <a:custGeom>
            <a:avLst/>
            <a:gdLst/>
            <a:ahLst/>
            <a:cxnLst/>
            <a:rect l="l" t="t" r="r" b="b"/>
            <a:pathLst>
              <a:path w="571500" h="220980">
                <a:moveTo>
                  <a:pt x="0" y="0"/>
                </a:moveTo>
                <a:lnTo>
                  <a:pt x="571499" y="0"/>
                </a:lnTo>
                <a:lnTo>
                  <a:pt x="571499" y="220979"/>
                </a:lnTo>
                <a:lnTo>
                  <a:pt x="0" y="220979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66931" y="829605"/>
            <a:ext cx="780415" cy="215265"/>
          </a:xfrm>
          <a:custGeom>
            <a:avLst/>
            <a:gdLst/>
            <a:ahLst/>
            <a:cxnLst/>
            <a:rect l="l" t="t" r="r" b="b"/>
            <a:pathLst>
              <a:path w="780414" h="215265">
                <a:moveTo>
                  <a:pt x="0" y="0"/>
                </a:moveTo>
                <a:lnTo>
                  <a:pt x="780287" y="0"/>
                </a:lnTo>
                <a:lnTo>
                  <a:pt x="780287" y="214883"/>
                </a:lnTo>
                <a:lnTo>
                  <a:pt x="0" y="214883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38713" y="1863939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修改此处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1003" y="1555029"/>
            <a:ext cx="55244" cy="325120"/>
          </a:xfrm>
          <a:custGeom>
            <a:avLst/>
            <a:gdLst/>
            <a:ahLst/>
            <a:cxnLst/>
            <a:rect l="l" t="t" r="r" b="b"/>
            <a:pathLst>
              <a:path w="55244" h="325119">
                <a:moveTo>
                  <a:pt x="20615" y="38674"/>
                </a:moveTo>
                <a:lnTo>
                  <a:pt x="16103" y="39215"/>
                </a:lnTo>
                <a:lnTo>
                  <a:pt x="50291" y="324612"/>
                </a:lnTo>
                <a:lnTo>
                  <a:pt x="54863" y="323088"/>
                </a:lnTo>
                <a:lnTo>
                  <a:pt x="20615" y="38674"/>
                </a:lnTo>
                <a:close/>
              </a:path>
              <a:path w="55244" h="325119">
                <a:moveTo>
                  <a:pt x="13715" y="0"/>
                </a:moveTo>
                <a:lnTo>
                  <a:pt x="0" y="41147"/>
                </a:lnTo>
                <a:lnTo>
                  <a:pt x="16103" y="39215"/>
                </a:lnTo>
                <a:lnTo>
                  <a:pt x="15239" y="32003"/>
                </a:lnTo>
                <a:lnTo>
                  <a:pt x="35051" y="32003"/>
                </a:lnTo>
                <a:lnTo>
                  <a:pt x="13715" y="0"/>
                </a:lnTo>
                <a:close/>
              </a:path>
              <a:path w="55244" h="325119">
                <a:moveTo>
                  <a:pt x="19812" y="32003"/>
                </a:moveTo>
                <a:lnTo>
                  <a:pt x="15239" y="32003"/>
                </a:lnTo>
                <a:lnTo>
                  <a:pt x="16103" y="39215"/>
                </a:lnTo>
                <a:lnTo>
                  <a:pt x="20615" y="38674"/>
                </a:lnTo>
                <a:lnTo>
                  <a:pt x="19812" y="32003"/>
                </a:lnTo>
                <a:close/>
              </a:path>
              <a:path w="55244" h="325119">
                <a:moveTo>
                  <a:pt x="35051" y="32003"/>
                </a:moveTo>
                <a:lnTo>
                  <a:pt x="19812" y="32003"/>
                </a:lnTo>
                <a:lnTo>
                  <a:pt x="20615" y="38674"/>
                </a:lnTo>
                <a:lnTo>
                  <a:pt x="38100" y="36575"/>
                </a:lnTo>
                <a:lnTo>
                  <a:pt x="35051" y="320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69928" y="147869"/>
            <a:ext cx="1911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 panose="020B0503020204020204" charset="-122"/>
                <a:cs typeface="微软雅黑" panose="020B0503020204020204" charset="-122"/>
              </a:rPr>
              <a:t>HE</a:t>
            </a: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初始化</a:t>
            </a:r>
            <a:r>
              <a:rPr sz="1800" b="1" spc="-10" dirty="0">
                <a:latin typeface="微软雅黑" panose="020B0503020204020204" charset="-122"/>
                <a:cs typeface="微软雅黑" panose="020B0503020204020204" charset="-122"/>
              </a:rPr>
              <a:t>(MSRA)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4764" y="1513449"/>
            <a:ext cx="1701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ReLU激活函数初始化方法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56820" y="1494069"/>
            <a:ext cx="535305" cy="97790"/>
          </a:xfrm>
          <a:custGeom>
            <a:avLst/>
            <a:gdLst/>
            <a:ahLst/>
            <a:cxnLst/>
            <a:rect l="l" t="t" r="r" b="b"/>
            <a:pathLst>
              <a:path w="535304" h="97790">
                <a:moveTo>
                  <a:pt x="37024" y="16248"/>
                </a:moveTo>
                <a:lnTo>
                  <a:pt x="36309" y="20712"/>
                </a:lnTo>
                <a:lnTo>
                  <a:pt x="533400" y="97535"/>
                </a:lnTo>
                <a:lnTo>
                  <a:pt x="534924" y="92963"/>
                </a:lnTo>
                <a:lnTo>
                  <a:pt x="37024" y="16248"/>
                </a:lnTo>
                <a:close/>
              </a:path>
              <a:path w="535304" h="97790">
                <a:moveTo>
                  <a:pt x="39624" y="0"/>
                </a:moveTo>
                <a:lnTo>
                  <a:pt x="0" y="12191"/>
                </a:lnTo>
                <a:lnTo>
                  <a:pt x="33527" y="38099"/>
                </a:lnTo>
                <a:lnTo>
                  <a:pt x="36309" y="20712"/>
                </a:lnTo>
                <a:lnTo>
                  <a:pt x="30479" y="19811"/>
                </a:lnTo>
                <a:lnTo>
                  <a:pt x="30479" y="15239"/>
                </a:lnTo>
                <a:lnTo>
                  <a:pt x="37185" y="15239"/>
                </a:lnTo>
                <a:lnTo>
                  <a:pt x="39624" y="0"/>
                </a:lnTo>
                <a:close/>
              </a:path>
              <a:path w="535304" h="97790">
                <a:moveTo>
                  <a:pt x="30479" y="15239"/>
                </a:moveTo>
                <a:lnTo>
                  <a:pt x="30479" y="19811"/>
                </a:lnTo>
                <a:lnTo>
                  <a:pt x="36309" y="20712"/>
                </a:lnTo>
                <a:lnTo>
                  <a:pt x="37024" y="16248"/>
                </a:lnTo>
                <a:lnTo>
                  <a:pt x="30479" y="15239"/>
                </a:lnTo>
                <a:close/>
              </a:path>
              <a:path w="535304" h="97790">
                <a:moveTo>
                  <a:pt x="37185" y="15239"/>
                </a:moveTo>
                <a:lnTo>
                  <a:pt x="30479" y="15239"/>
                </a:lnTo>
                <a:lnTo>
                  <a:pt x="37024" y="16248"/>
                </a:lnTo>
                <a:lnTo>
                  <a:pt x="37185" y="152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8903" y="2220814"/>
            <a:ext cx="5653856" cy="6331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54376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6552" y="942321"/>
            <a:ext cx="438912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好的初始化方法可以防止前向传播过程中的信息消失，也可以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buFont typeface="Wingdings" panose="05000000000000000000"/>
              <a:buChar char=""/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184785">
              <a:lnSpc>
                <a:spcPct val="100000"/>
              </a:lnSpc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解决反向传递过程中的梯度消失。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84785" marR="157480" indent="-172085">
              <a:lnSpc>
                <a:spcPct val="20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激活函数选择双曲正切或者Sigmoid时，建议使用Xaizer初始 化方法；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激活函数选择ReLU或Leakly</a:t>
            </a:r>
            <a:r>
              <a:rPr sz="1200" spc="-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ReLU时，推荐使用He初始化方法。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4878" y="110140"/>
            <a:ext cx="1978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权值初始化小结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9013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612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72947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08" y="1460481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295" dirty="0">
                <a:latin typeface="Cambria Math" panose="02040503050406030204"/>
                <a:cs typeface="Cambria Math" panose="02040503050406030204"/>
              </a:rPr>
              <a:t>f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4620" y="1086009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5">
                <a:moveTo>
                  <a:pt x="0" y="123443"/>
                </a:moveTo>
                <a:lnTo>
                  <a:pt x="10406" y="75223"/>
                </a:lnTo>
                <a:lnTo>
                  <a:pt x="38671" y="36004"/>
                </a:lnTo>
                <a:lnTo>
                  <a:pt x="80367" y="9644"/>
                </a:lnTo>
                <a:lnTo>
                  <a:pt x="131063" y="0"/>
                </a:lnTo>
                <a:lnTo>
                  <a:pt x="182403" y="9644"/>
                </a:lnTo>
                <a:lnTo>
                  <a:pt x="224027" y="36004"/>
                </a:lnTo>
                <a:lnTo>
                  <a:pt x="251936" y="75223"/>
                </a:lnTo>
                <a:lnTo>
                  <a:pt x="262127" y="123443"/>
                </a:lnTo>
                <a:lnTo>
                  <a:pt x="251936" y="171664"/>
                </a:lnTo>
                <a:lnTo>
                  <a:pt x="224027" y="210883"/>
                </a:lnTo>
                <a:lnTo>
                  <a:pt x="182403" y="237243"/>
                </a:lnTo>
                <a:lnTo>
                  <a:pt x="131063" y="246887"/>
                </a:lnTo>
                <a:lnTo>
                  <a:pt x="80367" y="237243"/>
                </a:lnTo>
                <a:lnTo>
                  <a:pt x="38671" y="210883"/>
                </a:lnTo>
                <a:lnTo>
                  <a:pt x="10406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4620" y="1460913"/>
            <a:ext cx="262255" cy="247015"/>
          </a:xfrm>
          <a:custGeom>
            <a:avLst/>
            <a:gdLst/>
            <a:ahLst/>
            <a:cxnLst/>
            <a:rect l="l" t="t" r="r" b="b"/>
            <a:pathLst>
              <a:path w="262255" h="247014">
                <a:moveTo>
                  <a:pt x="0" y="123443"/>
                </a:moveTo>
                <a:lnTo>
                  <a:pt x="10406" y="75223"/>
                </a:lnTo>
                <a:lnTo>
                  <a:pt x="38671" y="36004"/>
                </a:lnTo>
                <a:lnTo>
                  <a:pt x="80367" y="9644"/>
                </a:lnTo>
                <a:lnTo>
                  <a:pt x="131063" y="0"/>
                </a:lnTo>
                <a:lnTo>
                  <a:pt x="182403" y="9644"/>
                </a:lnTo>
                <a:lnTo>
                  <a:pt x="224027" y="36004"/>
                </a:lnTo>
                <a:lnTo>
                  <a:pt x="251936" y="75223"/>
                </a:lnTo>
                <a:lnTo>
                  <a:pt x="262127" y="123443"/>
                </a:lnTo>
                <a:lnTo>
                  <a:pt x="251936" y="171664"/>
                </a:lnTo>
                <a:lnTo>
                  <a:pt x="224027" y="210883"/>
                </a:lnTo>
                <a:lnTo>
                  <a:pt x="182403" y="237243"/>
                </a:lnTo>
                <a:lnTo>
                  <a:pt x="131063" y="246887"/>
                </a:lnTo>
                <a:lnTo>
                  <a:pt x="80367" y="237243"/>
                </a:lnTo>
                <a:lnTo>
                  <a:pt x="38671" y="210883"/>
                </a:lnTo>
                <a:lnTo>
                  <a:pt x="10406" y="171664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4620" y="1974500"/>
            <a:ext cx="262255" cy="248920"/>
          </a:xfrm>
          <a:custGeom>
            <a:avLst/>
            <a:gdLst/>
            <a:ahLst/>
            <a:cxnLst/>
            <a:rect l="l" t="t" r="r" b="b"/>
            <a:pathLst>
              <a:path w="262255" h="248919">
                <a:moveTo>
                  <a:pt x="0" y="123443"/>
                </a:moveTo>
                <a:lnTo>
                  <a:pt x="10406" y="75866"/>
                </a:lnTo>
                <a:lnTo>
                  <a:pt x="38671" y="36575"/>
                </a:lnTo>
                <a:lnTo>
                  <a:pt x="80367" y="9858"/>
                </a:lnTo>
                <a:lnTo>
                  <a:pt x="131063" y="0"/>
                </a:lnTo>
                <a:lnTo>
                  <a:pt x="182403" y="9858"/>
                </a:lnTo>
                <a:lnTo>
                  <a:pt x="224027" y="36575"/>
                </a:lnTo>
                <a:lnTo>
                  <a:pt x="251936" y="75866"/>
                </a:lnTo>
                <a:lnTo>
                  <a:pt x="262127" y="123443"/>
                </a:lnTo>
                <a:lnTo>
                  <a:pt x="251936" y="171902"/>
                </a:lnTo>
                <a:lnTo>
                  <a:pt x="224027" y="211645"/>
                </a:lnTo>
                <a:lnTo>
                  <a:pt x="182403" y="238529"/>
                </a:lnTo>
                <a:lnTo>
                  <a:pt x="131063" y="248411"/>
                </a:lnTo>
                <a:lnTo>
                  <a:pt x="80367" y="238529"/>
                </a:lnTo>
                <a:lnTo>
                  <a:pt x="38671" y="211645"/>
                </a:lnTo>
                <a:lnTo>
                  <a:pt x="10406" y="171902"/>
                </a:lnTo>
                <a:lnTo>
                  <a:pt x="0" y="12344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0900" y="1398429"/>
            <a:ext cx="390525" cy="368935"/>
          </a:xfrm>
          <a:custGeom>
            <a:avLst/>
            <a:gdLst/>
            <a:ahLst/>
            <a:cxnLst/>
            <a:rect l="l" t="t" r="r" b="b"/>
            <a:pathLst>
              <a:path w="390525" h="368935">
                <a:moveTo>
                  <a:pt x="0" y="184403"/>
                </a:moveTo>
                <a:lnTo>
                  <a:pt x="6935" y="135290"/>
                </a:lnTo>
                <a:lnTo>
                  <a:pt x="26528" y="91214"/>
                </a:lnTo>
                <a:lnTo>
                  <a:pt x="56959" y="53911"/>
                </a:lnTo>
                <a:lnTo>
                  <a:pt x="96407" y="25117"/>
                </a:lnTo>
                <a:lnTo>
                  <a:pt x="143051" y="6568"/>
                </a:lnTo>
                <a:lnTo>
                  <a:pt x="195071" y="0"/>
                </a:lnTo>
                <a:lnTo>
                  <a:pt x="247092" y="6568"/>
                </a:lnTo>
                <a:lnTo>
                  <a:pt x="293736" y="25117"/>
                </a:lnTo>
                <a:lnTo>
                  <a:pt x="333184" y="53911"/>
                </a:lnTo>
                <a:lnTo>
                  <a:pt x="363615" y="91214"/>
                </a:lnTo>
                <a:lnTo>
                  <a:pt x="383208" y="135290"/>
                </a:lnTo>
                <a:lnTo>
                  <a:pt x="390143" y="184403"/>
                </a:lnTo>
                <a:lnTo>
                  <a:pt x="383208" y="233517"/>
                </a:lnTo>
                <a:lnTo>
                  <a:pt x="363615" y="277593"/>
                </a:lnTo>
                <a:lnTo>
                  <a:pt x="333184" y="314896"/>
                </a:lnTo>
                <a:lnTo>
                  <a:pt x="293736" y="343690"/>
                </a:lnTo>
                <a:lnTo>
                  <a:pt x="247092" y="362239"/>
                </a:lnTo>
                <a:lnTo>
                  <a:pt x="195071" y="368807"/>
                </a:lnTo>
                <a:lnTo>
                  <a:pt x="143051" y="362239"/>
                </a:lnTo>
                <a:lnTo>
                  <a:pt x="96407" y="343690"/>
                </a:lnTo>
                <a:lnTo>
                  <a:pt x="56959" y="314896"/>
                </a:lnTo>
                <a:lnTo>
                  <a:pt x="26528" y="277593"/>
                </a:lnTo>
                <a:lnTo>
                  <a:pt x="6935" y="233517"/>
                </a:lnTo>
                <a:lnTo>
                  <a:pt x="0" y="184403"/>
                </a:lnTo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2176" y="1203357"/>
            <a:ext cx="459105" cy="379730"/>
          </a:xfrm>
          <a:custGeom>
            <a:avLst/>
            <a:gdLst/>
            <a:ahLst/>
            <a:cxnLst/>
            <a:rect l="l" t="t" r="r" b="b"/>
            <a:pathLst>
              <a:path w="459105" h="379730">
                <a:moveTo>
                  <a:pt x="420599" y="357662"/>
                </a:moveTo>
                <a:lnTo>
                  <a:pt x="411480" y="368808"/>
                </a:lnTo>
                <a:lnTo>
                  <a:pt x="458724" y="379475"/>
                </a:lnTo>
                <a:lnTo>
                  <a:pt x="451209" y="362712"/>
                </a:lnTo>
                <a:lnTo>
                  <a:pt x="426719" y="362712"/>
                </a:lnTo>
                <a:lnTo>
                  <a:pt x="420599" y="357662"/>
                </a:lnTo>
                <a:close/>
              </a:path>
              <a:path w="459105" h="379730">
                <a:moveTo>
                  <a:pt x="428888" y="347530"/>
                </a:moveTo>
                <a:lnTo>
                  <a:pt x="420599" y="357662"/>
                </a:lnTo>
                <a:lnTo>
                  <a:pt x="426719" y="362712"/>
                </a:lnTo>
                <a:lnTo>
                  <a:pt x="434340" y="352044"/>
                </a:lnTo>
                <a:lnTo>
                  <a:pt x="428888" y="347530"/>
                </a:lnTo>
                <a:close/>
              </a:path>
              <a:path w="459105" h="379730">
                <a:moveTo>
                  <a:pt x="438912" y="335279"/>
                </a:moveTo>
                <a:lnTo>
                  <a:pt x="428888" y="347530"/>
                </a:lnTo>
                <a:lnTo>
                  <a:pt x="434340" y="352044"/>
                </a:lnTo>
                <a:lnTo>
                  <a:pt x="426719" y="362712"/>
                </a:lnTo>
                <a:lnTo>
                  <a:pt x="451209" y="362712"/>
                </a:lnTo>
                <a:lnTo>
                  <a:pt x="438912" y="335279"/>
                </a:lnTo>
                <a:close/>
              </a:path>
              <a:path w="459105" h="379730">
                <a:moveTo>
                  <a:pt x="9143" y="0"/>
                </a:moveTo>
                <a:lnTo>
                  <a:pt x="0" y="10668"/>
                </a:lnTo>
                <a:lnTo>
                  <a:pt x="420599" y="357662"/>
                </a:lnTo>
                <a:lnTo>
                  <a:pt x="428888" y="347530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6748" y="1561497"/>
            <a:ext cx="454659" cy="43180"/>
          </a:xfrm>
          <a:custGeom>
            <a:avLst/>
            <a:gdLst/>
            <a:ahLst/>
            <a:cxnLst/>
            <a:rect l="l" t="t" r="r" b="b"/>
            <a:pathLst>
              <a:path w="454659" h="43180">
                <a:moveTo>
                  <a:pt x="441524" y="15239"/>
                </a:moveTo>
                <a:lnTo>
                  <a:pt x="417576" y="15239"/>
                </a:lnTo>
                <a:lnTo>
                  <a:pt x="417576" y="28955"/>
                </a:lnTo>
                <a:lnTo>
                  <a:pt x="409956" y="28983"/>
                </a:lnTo>
                <a:lnTo>
                  <a:pt x="409956" y="42672"/>
                </a:lnTo>
                <a:lnTo>
                  <a:pt x="454152" y="21335"/>
                </a:lnTo>
                <a:lnTo>
                  <a:pt x="441524" y="15239"/>
                </a:lnTo>
                <a:close/>
              </a:path>
              <a:path w="454659" h="43180">
                <a:moveTo>
                  <a:pt x="409956" y="15239"/>
                </a:moveTo>
                <a:lnTo>
                  <a:pt x="0" y="15239"/>
                </a:lnTo>
                <a:lnTo>
                  <a:pt x="0" y="30479"/>
                </a:lnTo>
                <a:lnTo>
                  <a:pt x="409956" y="28983"/>
                </a:lnTo>
                <a:lnTo>
                  <a:pt x="409956" y="15239"/>
                </a:lnTo>
                <a:close/>
              </a:path>
              <a:path w="454659" h="43180">
                <a:moveTo>
                  <a:pt x="409956" y="0"/>
                </a:moveTo>
                <a:lnTo>
                  <a:pt x="409956" y="28983"/>
                </a:lnTo>
                <a:lnTo>
                  <a:pt x="417576" y="28955"/>
                </a:lnTo>
                <a:lnTo>
                  <a:pt x="417576" y="15239"/>
                </a:lnTo>
                <a:lnTo>
                  <a:pt x="441524" y="15239"/>
                </a:lnTo>
                <a:lnTo>
                  <a:pt x="4099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2176" y="1582833"/>
            <a:ext cx="459105" cy="521334"/>
          </a:xfrm>
          <a:custGeom>
            <a:avLst/>
            <a:gdLst/>
            <a:ahLst/>
            <a:cxnLst/>
            <a:rect l="l" t="t" r="r" b="b"/>
            <a:pathLst>
              <a:path w="459105" h="521335">
                <a:moveTo>
                  <a:pt x="424811" y="28484"/>
                </a:moveTo>
                <a:lnTo>
                  <a:pt x="0" y="510540"/>
                </a:lnTo>
                <a:lnTo>
                  <a:pt x="10668" y="521208"/>
                </a:lnTo>
                <a:lnTo>
                  <a:pt x="435453" y="37675"/>
                </a:lnTo>
                <a:lnTo>
                  <a:pt x="424811" y="28484"/>
                </a:lnTo>
                <a:close/>
              </a:path>
              <a:path w="459105" h="521335">
                <a:moveTo>
                  <a:pt x="452824" y="22860"/>
                </a:moveTo>
                <a:lnTo>
                  <a:pt x="429768" y="22860"/>
                </a:lnTo>
                <a:lnTo>
                  <a:pt x="440436" y="32003"/>
                </a:lnTo>
                <a:lnTo>
                  <a:pt x="435453" y="37675"/>
                </a:lnTo>
                <a:lnTo>
                  <a:pt x="446531" y="47244"/>
                </a:lnTo>
                <a:lnTo>
                  <a:pt x="452824" y="22860"/>
                </a:lnTo>
                <a:close/>
              </a:path>
              <a:path w="459105" h="521335">
                <a:moveTo>
                  <a:pt x="429768" y="22860"/>
                </a:moveTo>
                <a:lnTo>
                  <a:pt x="424811" y="28484"/>
                </a:lnTo>
                <a:lnTo>
                  <a:pt x="435453" y="37675"/>
                </a:lnTo>
                <a:lnTo>
                  <a:pt x="440436" y="32003"/>
                </a:lnTo>
                <a:lnTo>
                  <a:pt x="429768" y="22860"/>
                </a:lnTo>
                <a:close/>
              </a:path>
              <a:path w="459105" h="521335">
                <a:moveTo>
                  <a:pt x="458724" y="0"/>
                </a:moveTo>
                <a:lnTo>
                  <a:pt x="413004" y="18288"/>
                </a:lnTo>
                <a:lnTo>
                  <a:pt x="424811" y="28484"/>
                </a:lnTo>
                <a:lnTo>
                  <a:pt x="429768" y="22860"/>
                </a:lnTo>
                <a:lnTo>
                  <a:pt x="452824" y="22860"/>
                </a:lnTo>
                <a:lnTo>
                  <a:pt x="458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20856" y="1561497"/>
            <a:ext cx="268605" cy="43180"/>
          </a:xfrm>
          <a:custGeom>
            <a:avLst/>
            <a:gdLst/>
            <a:ahLst/>
            <a:cxnLst/>
            <a:rect l="l" t="t" r="r" b="b"/>
            <a:pathLst>
              <a:path w="268605" h="43180">
                <a:moveTo>
                  <a:pt x="225551" y="0"/>
                </a:moveTo>
                <a:lnTo>
                  <a:pt x="225551" y="42672"/>
                </a:lnTo>
                <a:lnTo>
                  <a:pt x="252983" y="28955"/>
                </a:lnTo>
                <a:lnTo>
                  <a:pt x="233171" y="28955"/>
                </a:lnTo>
                <a:lnTo>
                  <a:pt x="233171" y="15239"/>
                </a:lnTo>
                <a:lnTo>
                  <a:pt x="256031" y="15239"/>
                </a:lnTo>
                <a:lnTo>
                  <a:pt x="225551" y="0"/>
                </a:lnTo>
                <a:close/>
              </a:path>
              <a:path w="268605" h="43180">
                <a:moveTo>
                  <a:pt x="225551" y="15239"/>
                </a:moveTo>
                <a:lnTo>
                  <a:pt x="0" y="15239"/>
                </a:lnTo>
                <a:lnTo>
                  <a:pt x="0" y="28955"/>
                </a:lnTo>
                <a:lnTo>
                  <a:pt x="225551" y="28955"/>
                </a:lnTo>
                <a:lnTo>
                  <a:pt x="225551" y="15239"/>
                </a:lnTo>
                <a:close/>
              </a:path>
              <a:path w="268605" h="43180">
                <a:moveTo>
                  <a:pt x="256031" y="15239"/>
                </a:moveTo>
                <a:lnTo>
                  <a:pt x="233171" y="15239"/>
                </a:lnTo>
                <a:lnTo>
                  <a:pt x="233171" y="28955"/>
                </a:lnTo>
                <a:lnTo>
                  <a:pt x="252983" y="28955"/>
                </a:lnTo>
                <a:lnTo>
                  <a:pt x="268224" y="21335"/>
                </a:lnTo>
                <a:lnTo>
                  <a:pt x="256031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47452" y="1076433"/>
            <a:ext cx="156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275" i="1" spc="412" baseline="-16000" dirty="0">
                <a:latin typeface="Cambria Math" panose="02040503050406030204"/>
                <a:cs typeface="Cambria Math" panose="02040503050406030204"/>
              </a:rPr>
              <a:t>l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9644" y="1449813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mbria Math" panose="02040503050406030204"/>
                <a:cs typeface="Cambria Math" panose="02040503050406030204"/>
              </a:rPr>
              <a:t>z</a:t>
            </a:r>
            <a:r>
              <a:rPr sz="1275" i="1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8976" y="1951209"/>
            <a:ext cx="99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30" dirty="0">
                <a:latin typeface="Cambria Math" panose="02040503050406030204"/>
                <a:cs typeface="Cambria Math" panose="02040503050406030204"/>
              </a:rPr>
              <a:t>z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9041" y="2022756"/>
            <a:ext cx="10985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i="1" spc="80" dirty="0">
                <a:latin typeface="Cambria Math" panose="02040503050406030204"/>
                <a:cs typeface="Cambria Math" panose="02040503050406030204"/>
              </a:rPr>
              <a:t>N</a:t>
            </a:r>
            <a:endParaRPr sz="8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8640" y="1131297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105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412" baseline="-16000" dirty="0">
                <a:latin typeface="Cambria Math" panose="02040503050406030204"/>
                <a:cs typeface="Cambria Math" panose="02040503050406030204"/>
              </a:rPr>
              <a:t>l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4924" y="1390377"/>
            <a:ext cx="198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8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8640" y="1838433"/>
            <a:ext cx="2178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8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275" i="1" spc="120" baseline="-16000" dirty="0">
                <a:latin typeface="Cambria Math" panose="02040503050406030204"/>
                <a:cs typeface="Cambria Math" panose="02040503050406030204"/>
              </a:rPr>
              <a:t>N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7158" y="1650837"/>
            <a:ext cx="609600" cy="29146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…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02235">
              <a:lnSpc>
                <a:spcPct val="100000"/>
              </a:lnSpc>
              <a:spcBef>
                <a:spcPts val="190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…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0388" y="1460481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65" dirty="0">
                <a:latin typeface="Cambria Math" panose="02040503050406030204"/>
                <a:cs typeface="Cambria Math" panose="02040503050406030204"/>
              </a:rPr>
              <a:t>y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02923" y="1413669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32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65256" y="1492370"/>
            <a:ext cx="106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Cambria Math" panose="02040503050406030204"/>
                <a:cs typeface="Cambria Math" panose="02040503050406030204"/>
              </a:rPr>
              <a:t>∑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2468" y="1098201"/>
            <a:ext cx="379730" cy="1045844"/>
          </a:xfrm>
          <a:custGeom>
            <a:avLst/>
            <a:gdLst/>
            <a:ahLst/>
            <a:cxnLst/>
            <a:rect l="l" t="t" r="r" b="b"/>
            <a:pathLst>
              <a:path w="379730" h="1045844">
                <a:moveTo>
                  <a:pt x="12191" y="1033272"/>
                </a:moveTo>
                <a:lnTo>
                  <a:pt x="6095" y="1033272"/>
                </a:lnTo>
                <a:lnTo>
                  <a:pt x="6095" y="1045464"/>
                </a:lnTo>
                <a:lnTo>
                  <a:pt x="48768" y="1045464"/>
                </a:lnTo>
                <a:lnTo>
                  <a:pt x="48768" y="1039368"/>
                </a:lnTo>
                <a:lnTo>
                  <a:pt x="12191" y="1039368"/>
                </a:lnTo>
                <a:lnTo>
                  <a:pt x="12191" y="1033272"/>
                </a:lnTo>
                <a:close/>
              </a:path>
              <a:path w="379730" h="1045844">
                <a:moveTo>
                  <a:pt x="12191" y="987551"/>
                </a:moveTo>
                <a:lnTo>
                  <a:pt x="0" y="987551"/>
                </a:lnTo>
                <a:lnTo>
                  <a:pt x="0" y="1039368"/>
                </a:lnTo>
                <a:lnTo>
                  <a:pt x="6095" y="1039368"/>
                </a:lnTo>
                <a:lnTo>
                  <a:pt x="6095" y="1033272"/>
                </a:lnTo>
                <a:lnTo>
                  <a:pt x="12191" y="1033272"/>
                </a:lnTo>
                <a:lnTo>
                  <a:pt x="12191" y="987551"/>
                </a:lnTo>
                <a:close/>
              </a:path>
              <a:path w="379730" h="1045844">
                <a:moveTo>
                  <a:pt x="48768" y="1033272"/>
                </a:moveTo>
                <a:lnTo>
                  <a:pt x="12191" y="1033272"/>
                </a:lnTo>
                <a:lnTo>
                  <a:pt x="12191" y="1039368"/>
                </a:lnTo>
                <a:lnTo>
                  <a:pt x="48768" y="1039368"/>
                </a:lnTo>
                <a:lnTo>
                  <a:pt x="48768" y="1033272"/>
                </a:lnTo>
                <a:close/>
              </a:path>
              <a:path w="379730" h="1045844">
                <a:moveTo>
                  <a:pt x="12191" y="899159"/>
                </a:moveTo>
                <a:lnTo>
                  <a:pt x="0" y="899159"/>
                </a:lnTo>
                <a:lnTo>
                  <a:pt x="0" y="949451"/>
                </a:lnTo>
                <a:lnTo>
                  <a:pt x="12191" y="949451"/>
                </a:lnTo>
                <a:lnTo>
                  <a:pt x="12191" y="899159"/>
                </a:lnTo>
                <a:close/>
              </a:path>
              <a:path w="379730" h="1045844">
                <a:moveTo>
                  <a:pt x="12191" y="810768"/>
                </a:moveTo>
                <a:lnTo>
                  <a:pt x="0" y="810768"/>
                </a:lnTo>
                <a:lnTo>
                  <a:pt x="0" y="861059"/>
                </a:lnTo>
                <a:lnTo>
                  <a:pt x="12191" y="861059"/>
                </a:lnTo>
                <a:lnTo>
                  <a:pt x="12191" y="810768"/>
                </a:lnTo>
                <a:close/>
              </a:path>
              <a:path w="379730" h="1045844">
                <a:moveTo>
                  <a:pt x="12191" y="720851"/>
                </a:moveTo>
                <a:lnTo>
                  <a:pt x="0" y="720851"/>
                </a:lnTo>
                <a:lnTo>
                  <a:pt x="0" y="772668"/>
                </a:lnTo>
                <a:lnTo>
                  <a:pt x="12191" y="772668"/>
                </a:lnTo>
                <a:lnTo>
                  <a:pt x="12191" y="720851"/>
                </a:lnTo>
                <a:close/>
              </a:path>
              <a:path w="379730" h="1045844">
                <a:moveTo>
                  <a:pt x="12191" y="632459"/>
                </a:moveTo>
                <a:lnTo>
                  <a:pt x="0" y="632459"/>
                </a:lnTo>
                <a:lnTo>
                  <a:pt x="0" y="682751"/>
                </a:lnTo>
                <a:lnTo>
                  <a:pt x="12191" y="682751"/>
                </a:lnTo>
                <a:lnTo>
                  <a:pt x="12191" y="632459"/>
                </a:lnTo>
                <a:close/>
              </a:path>
              <a:path w="379730" h="1045844">
                <a:moveTo>
                  <a:pt x="12191" y="544068"/>
                </a:moveTo>
                <a:lnTo>
                  <a:pt x="0" y="544068"/>
                </a:lnTo>
                <a:lnTo>
                  <a:pt x="0" y="594359"/>
                </a:lnTo>
                <a:lnTo>
                  <a:pt x="12191" y="594359"/>
                </a:lnTo>
                <a:lnTo>
                  <a:pt x="12191" y="544068"/>
                </a:lnTo>
                <a:close/>
              </a:path>
              <a:path w="379730" h="1045844">
                <a:moveTo>
                  <a:pt x="12191" y="454151"/>
                </a:moveTo>
                <a:lnTo>
                  <a:pt x="0" y="454151"/>
                </a:lnTo>
                <a:lnTo>
                  <a:pt x="0" y="505968"/>
                </a:lnTo>
                <a:lnTo>
                  <a:pt x="12191" y="505968"/>
                </a:lnTo>
                <a:lnTo>
                  <a:pt x="12191" y="454151"/>
                </a:lnTo>
                <a:close/>
              </a:path>
              <a:path w="379730" h="1045844">
                <a:moveTo>
                  <a:pt x="12191" y="365759"/>
                </a:moveTo>
                <a:lnTo>
                  <a:pt x="0" y="365759"/>
                </a:lnTo>
                <a:lnTo>
                  <a:pt x="0" y="416051"/>
                </a:lnTo>
                <a:lnTo>
                  <a:pt x="12191" y="416051"/>
                </a:lnTo>
                <a:lnTo>
                  <a:pt x="12191" y="365759"/>
                </a:lnTo>
                <a:close/>
              </a:path>
              <a:path w="379730" h="1045844">
                <a:moveTo>
                  <a:pt x="12191" y="277368"/>
                </a:moveTo>
                <a:lnTo>
                  <a:pt x="0" y="277368"/>
                </a:lnTo>
                <a:lnTo>
                  <a:pt x="0" y="327659"/>
                </a:lnTo>
                <a:lnTo>
                  <a:pt x="12191" y="327659"/>
                </a:lnTo>
                <a:lnTo>
                  <a:pt x="12191" y="277368"/>
                </a:lnTo>
                <a:close/>
              </a:path>
              <a:path w="379730" h="1045844">
                <a:moveTo>
                  <a:pt x="12191" y="187451"/>
                </a:moveTo>
                <a:lnTo>
                  <a:pt x="0" y="187451"/>
                </a:lnTo>
                <a:lnTo>
                  <a:pt x="0" y="239268"/>
                </a:lnTo>
                <a:lnTo>
                  <a:pt x="12191" y="239268"/>
                </a:lnTo>
                <a:lnTo>
                  <a:pt x="12191" y="187451"/>
                </a:lnTo>
                <a:close/>
              </a:path>
              <a:path w="379730" h="1045844">
                <a:moveTo>
                  <a:pt x="12191" y="99059"/>
                </a:moveTo>
                <a:lnTo>
                  <a:pt x="0" y="99059"/>
                </a:lnTo>
                <a:lnTo>
                  <a:pt x="0" y="149351"/>
                </a:lnTo>
                <a:lnTo>
                  <a:pt x="12191" y="149351"/>
                </a:lnTo>
                <a:lnTo>
                  <a:pt x="12191" y="99059"/>
                </a:lnTo>
                <a:close/>
              </a:path>
              <a:path w="379730" h="1045844">
                <a:moveTo>
                  <a:pt x="12191" y="10668"/>
                </a:moveTo>
                <a:lnTo>
                  <a:pt x="0" y="10668"/>
                </a:lnTo>
                <a:lnTo>
                  <a:pt x="0" y="60959"/>
                </a:lnTo>
                <a:lnTo>
                  <a:pt x="12191" y="60959"/>
                </a:lnTo>
                <a:lnTo>
                  <a:pt x="12191" y="10668"/>
                </a:lnTo>
                <a:close/>
              </a:path>
              <a:path w="379730" h="1045844">
                <a:moveTo>
                  <a:pt x="91440" y="0"/>
                </a:moveTo>
                <a:lnTo>
                  <a:pt x="41147" y="0"/>
                </a:lnTo>
                <a:lnTo>
                  <a:pt x="41147" y="13716"/>
                </a:lnTo>
                <a:lnTo>
                  <a:pt x="91440" y="13716"/>
                </a:lnTo>
                <a:lnTo>
                  <a:pt x="91440" y="0"/>
                </a:lnTo>
                <a:close/>
              </a:path>
              <a:path w="379730" h="1045844">
                <a:moveTo>
                  <a:pt x="179831" y="0"/>
                </a:moveTo>
                <a:lnTo>
                  <a:pt x="129540" y="0"/>
                </a:lnTo>
                <a:lnTo>
                  <a:pt x="129540" y="13716"/>
                </a:lnTo>
                <a:lnTo>
                  <a:pt x="179831" y="13716"/>
                </a:lnTo>
                <a:lnTo>
                  <a:pt x="179831" y="0"/>
                </a:lnTo>
                <a:close/>
              </a:path>
              <a:path w="379730" h="1045844">
                <a:moveTo>
                  <a:pt x="269748" y="0"/>
                </a:moveTo>
                <a:lnTo>
                  <a:pt x="217931" y="0"/>
                </a:lnTo>
                <a:lnTo>
                  <a:pt x="217931" y="13716"/>
                </a:lnTo>
                <a:lnTo>
                  <a:pt x="269748" y="13716"/>
                </a:lnTo>
                <a:lnTo>
                  <a:pt x="269748" y="0"/>
                </a:lnTo>
                <a:close/>
              </a:path>
              <a:path w="379730" h="1045844">
                <a:moveTo>
                  <a:pt x="358139" y="0"/>
                </a:moveTo>
                <a:lnTo>
                  <a:pt x="307848" y="0"/>
                </a:lnTo>
                <a:lnTo>
                  <a:pt x="307848" y="13716"/>
                </a:lnTo>
                <a:lnTo>
                  <a:pt x="358139" y="13716"/>
                </a:lnTo>
                <a:lnTo>
                  <a:pt x="358139" y="0"/>
                </a:lnTo>
                <a:close/>
              </a:path>
              <a:path w="379730" h="1045844">
                <a:moveTo>
                  <a:pt x="379475" y="30479"/>
                </a:moveTo>
                <a:lnTo>
                  <a:pt x="367283" y="30479"/>
                </a:lnTo>
                <a:lnTo>
                  <a:pt x="367283" y="80772"/>
                </a:lnTo>
                <a:lnTo>
                  <a:pt x="379475" y="80772"/>
                </a:lnTo>
                <a:lnTo>
                  <a:pt x="379475" y="30479"/>
                </a:lnTo>
                <a:close/>
              </a:path>
              <a:path w="379730" h="1045844">
                <a:moveTo>
                  <a:pt x="379475" y="118872"/>
                </a:moveTo>
                <a:lnTo>
                  <a:pt x="367283" y="118872"/>
                </a:lnTo>
                <a:lnTo>
                  <a:pt x="367283" y="169164"/>
                </a:lnTo>
                <a:lnTo>
                  <a:pt x="379475" y="169164"/>
                </a:lnTo>
                <a:lnTo>
                  <a:pt x="379475" y="118872"/>
                </a:lnTo>
                <a:close/>
              </a:path>
              <a:path w="379730" h="1045844">
                <a:moveTo>
                  <a:pt x="379475" y="207264"/>
                </a:moveTo>
                <a:lnTo>
                  <a:pt x="367283" y="207264"/>
                </a:lnTo>
                <a:lnTo>
                  <a:pt x="367283" y="259079"/>
                </a:lnTo>
                <a:lnTo>
                  <a:pt x="379475" y="259079"/>
                </a:lnTo>
                <a:lnTo>
                  <a:pt x="379475" y="207264"/>
                </a:lnTo>
                <a:close/>
              </a:path>
              <a:path w="379730" h="1045844">
                <a:moveTo>
                  <a:pt x="379475" y="297179"/>
                </a:moveTo>
                <a:lnTo>
                  <a:pt x="367283" y="297179"/>
                </a:lnTo>
                <a:lnTo>
                  <a:pt x="367283" y="347472"/>
                </a:lnTo>
                <a:lnTo>
                  <a:pt x="379475" y="347472"/>
                </a:lnTo>
                <a:lnTo>
                  <a:pt x="379475" y="297179"/>
                </a:lnTo>
                <a:close/>
              </a:path>
              <a:path w="379730" h="1045844">
                <a:moveTo>
                  <a:pt x="379475" y="385572"/>
                </a:moveTo>
                <a:lnTo>
                  <a:pt x="367283" y="385572"/>
                </a:lnTo>
                <a:lnTo>
                  <a:pt x="367283" y="435864"/>
                </a:lnTo>
                <a:lnTo>
                  <a:pt x="379475" y="435864"/>
                </a:lnTo>
                <a:lnTo>
                  <a:pt x="379475" y="385572"/>
                </a:lnTo>
                <a:close/>
              </a:path>
              <a:path w="379730" h="1045844">
                <a:moveTo>
                  <a:pt x="379475" y="473964"/>
                </a:moveTo>
                <a:lnTo>
                  <a:pt x="367283" y="473964"/>
                </a:lnTo>
                <a:lnTo>
                  <a:pt x="367283" y="525779"/>
                </a:lnTo>
                <a:lnTo>
                  <a:pt x="379475" y="525779"/>
                </a:lnTo>
                <a:lnTo>
                  <a:pt x="379475" y="473964"/>
                </a:lnTo>
                <a:close/>
              </a:path>
              <a:path w="379730" h="1045844">
                <a:moveTo>
                  <a:pt x="379475" y="563879"/>
                </a:moveTo>
                <a:lnTo>
                  <a:pt x="367283" y="563879"/>
                </a:lnTo>
                <a:lnTo>
                  <a:pt x="367283" y="614172"/>
                </a:lnTo>
                <a:lnTo>
                  <a:pt x="379475" y="614172"/>
                </a:lnTo>
                <a:lnTo>
                  <a:pt x="379475" y="563879"/>
                </a:lnTo>
                <a:close/>
              </a:path>
              <a:path w="379730" h="1045844">
                <a:moveTo>
                  <a:pt x="379475" y="652272"/>
                </a:moveTo>
                <a:lnTo>
                  <a:pt x="367283" y="652272"/>
                </a:lnTo>
                <a:lnTo>
                  <a:pt x="367283" y="702564"/>
                </a:lnTo>
                <a:lnTo>
                  <a:pt x="379475" y="702564"/>
                </a:lnTo>
                <a:lnTo>
                  <a:pt x="379475" y="652272"/>
                </a:lnTo>
                <a:close/>
              </a:path>
              <a:path w="379730" h="1045844">
                <a:moveTo>
                  <a:pt x="379475" y="740664"/>
                </a:moveTo>
                <a:lnTo>
                  <a:pt x="367283" y="740664"/>
                </a:lnTo>
                <a:lnTo>
                  <a:pt x="367283" y="792479"/>
                </a:lnTo>
                <a:lnTo>
                  <a:pt x="379475" y="792479"/>
                </a:lnTo>
                <a:lnTo>
                  <a:pt x="379475" y="740664"/>
                </a:lnTo>
                <a:close/>
              </a:path>
              <a:path w="379730" h="1045844">
                <a:moveTo>
                  <a:pt x="379475" y="830579"/>
                </a:moveTo>
                <a:lnTo>
                  <a:pt x="367283" y="830579"/>
                </a:lnTo>
                <a:lnTo>
                  <a:pt x="367283" y="880872"/>
                </a:lnTo>
                <a:lnTo>
                  <a:pt x="379475" y="880872"/>
                </a:lnTo>
                <a:lnTo>
                  <a:pt x="379475" y="830579"/>
                </a:lnTo>
                <a:close/>
              </a:path>
              <a:path w="379730" h="1045844">
                <a:moveTo>
                  <a:pt x="379475" y="918972"/>
                </a:moveTo>
                <a:lnTo>
                  <a:pt x="367283" y="918972"/>
                </a:lnTo>
                <a:lnTo>
                  <a:pt x="367283" y="969264"/>
                </a:lnTo>
                <a:lnTo>
                  <a:pt x="379475" y="969264"/>
                </a:lnTo>
                <a:lnTo>
                  <a:pt x="379475" y="918972"/>
                </a:lnTo>
                <a:close/>
              </a:path>
              <a:path w="379730" h="1045844">
                <a:moveTo>
                  <a:pt x="367283" y="1033272"/>
                </a:moveTo>
                <a:lnTo>
                  <a:pt x="353568" y="1033272"/>
                </a:lnTo>
                <a:lnTo>
                  <a:pt x="353568" y="1045464"/>
                </a:lnTo>
                <a:lnTo>
                  <a:pt x="376427" y="1045464"/>
                </a:lnTo>
                <a:lnTo>
                  <a:pt x="379475" y="1042416"/>
                </a:lnTo>
                <a:lnTo>
                  <a:pt x="379475" y="1039368"/>
                </a:lnTo>
                <a:lnTo>
                  <a:pt x="367283" y="1039368"/>
                </a:lnTo>
                <a:lnTo>
                  <a:pt x="367283" y="1033272"/>
                </a:lnTo>
                <a:close/>
              </a:path>
              <a:path w="379730" h="1045844">
                <a:moveTo>
                  <a:pt x="379475" y="1007364"/>
                </a:moveTo>
                <a:lnTo>
                  <a:pt x="367283" y="1007364"/>
                </a:lnTo>
                <a:lnTo>
                  <a:pt x="367283" y="1039368"/>
                </a:lnTo>
                <a:lnTo>
                  <a:pt x="373380" y="1033272"/>
                </a:lnTo>
                <a:lnTo>
                  <a:pt x="379475" y="1033272"/>
                </a:lnTo>
                <a:lnTo>
                  <a:pt x="379475" y="1007364"/>
                </a:lnTo>
                <a:close/>
              </a:path>
              <a:path w="379730" h="1045844">
                <a:moveTo>
                  <a:pt x="379475" y="1033272"/>
                </a:moveTo>
                <a:lnTo>
                  <a:pt x="373380" y="1033272"/>
                </a:lnTo>
                <a:lnTo>
                  <a:pt x="367283" y="1039368"/>
                </a:lnTo>
                <a:lnTo>
                  <a:pt x="379475" y="1039368"/>
                </a:lnTo>
                <a:lnTo>
                  <a:pt x="379475" y="1033272"/>
                </a:lnTo>
                <a:close/>
              </a:path>
              <a:path w="379730" h="1045844">
                <a:moveTo>
                  <a:pt x="315468" y="1033272"/>
                </a:moveTo>
                <a:lnTo>
                  <a:pt x="265175" y="1033272"/>
                </a:lnTo>
                <a:lnTo>
                  <a:pt x="265175" y="1045464"/>
                </a:lnTo>
                <a:lnTo>
                  <a:pt x="315468" y="1045464"/>
                </a:lnTo>
                <a:lnTo>
                  <a:pt x="315468" y="1033272"/>
                </a:lnTo>
                <a:close/>
              </a:path>
              <a:path w="379730" h="1045844">
                <a:moveTo>
                  <a:pt x="227075" y="1033272"/>
                </a:moveTo>
                <a:lnTo>
                  <a:pt x="175259" y="1033272"/>
                </a:lnTo>
                <a:lnTo>
                  <a:pt x="175259" y="1045464"/>
                </a:lnTo>
                <a:lnTo>
                  <a:pt x="227075" y="1045464"/>
                </a:lnTo>
                <a:lnTo>
                  <a:pt x="227075" y="1033272"/>
                </a:lnTo>
                <a:close/>
              </a:path>
              <a:path w="379730" h="1045844">
                <a:moveTo>
                  <a:pt x="137159" y="1033272"/>
                </a:moveTo>
                <a:lnTo>
                  <a:pt x="86868" y="1033272"/>
                </a:lnTo>
                <a:lnTo>
                  <a:pt x="86868" y="1045464"/>
                </a:lnTo>
                <a:lnTo>
                  <a:pt x="137159" y="1045464"/>
                </a:lnTo>
                <a:lnTo>
                  <a:pt x="137159" y="1033272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53344" y="2137569"/>
            <a:ext cx="52069" cy="227329"/>
          </a:xfrm>
          <a:custGeom>
            <a:avLst/>
            <a:gdLst/>
            <a:ahLst/>
            <a:cxnLst/>
            <a:rect l="l" t="t" r="r" b="b"/>
            <a:pathLst>
              <a:path w="52069" h="227330">
                <a:moveTo>
                  <a:pt x="28022" y="36768"/>
                </a:moveTo>
                <a:lnTo>
                  <a:pt x="0" y="225551"/>
                </a:lnTo>
                <a:lnTo>
                  <a:pt x="9143" y="227075"/>
                </a:lnTo>
                <a:lnTo>
                  <a:pt x="37228" y="37873"/>
                </a:lnTo>
                <a:lnTo>
                  <a:pt x="28022" y="36768"/>
                </a:lnTo>
                <a:close/>
              </a:path>
              <a:path w="52069" h="227330">
                <a:moveTo>
                  <a:pt x="48650" y="30479"/>
                </a:moveTo>
                <a:lnTo>
                  <a:pt x="28956" y="30479"/>
                </a:lnTo>
                <a:lnTo>
                  <a:pt x="38100" y="32003"/>
                </a:lnTo>
                <a:lnTo>
                  <a:pt x="37228" y="37873"/>
                </a:lnTo>
                <a:lnTo>
                  <a:pt x="51816" y="39624"/>
                </a:lnTo>
                <a:lnTo>
                  <a:pt x="48650" y="30479"/>
                </a:lnTo>
                <a:close/>
              </a:path>
              <a:path w="52069" h="227330">
                <a:moveTo>
                  <a:pt x="28956" y="30479"/>
                </a:moveTo>
                <a:lnTo>
                  <a:pt x="28022" y="36768"/>
                </a:lnTo>
                <a:lnTo>
                  <a:pt x="37228" y="37873"/>
                </a:lnTo>
                <a:lnTo>
                  <a:pt x="38100" y="32003"/>
                </a:lnTo>
                <a:lnTo>
                  <a:pt x="28956" y="30479"/>
                </a:lnTo>
                <a:close/>
              </a:path>
              <a:path w="52069" h="227330">
                <a:moveTo>
                  <a:pt x="38100" y="0"/>
                </a:moveTo>
                <a:lnTo>
                  <a:pt x="13715" y="35051"/>
                </a:lnTo>
                <a:lnTo>
                  <a:pt x="28022" y="36768"/>
                </a:lnTo>
                <a:lnTo>
                  <a:pt x="28956" y="30479"/>
                </a:lnTo>
                <a:lnTo>
                  <a:pt x="48650" y="30479"/>
                </a:lnTo>
                <a:lnTo>
                  <a:pt x="3810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5181" y="2377793"/>
            <a:ext cx="1397000" cy="73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045" marR="266700" algn="ctr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值初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始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化考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的对象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065" marR="5080" algn="ctr">
              <a:lnSpc>
                <a:spcPts val="1620"/>
              </a:lnSpc>
              <a:spcBef>
                <a:spcPts val="12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方法：调整权值分布使得输 出与输入具有相同的分布。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452959" y="142144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93067" y="1326801"/>
            <a:ext cx="379730" cy="544195"/>
          </a:xfrm>
          <a:custGeom>
            <a:avLst/>
            <a:gdLst/>
            <a:ahLst/>
            <a:cxnLst/>
            <a:rect l="l" t="t" r="r" b="b"/>
            <a:pathLst>
              <a:path w="379730" h="544194">
                <a:moveTo>
                  <a:pt x="13715" y="530351"/>
                </a:moveTo>
                <a:lnTo>
                  <a:pt x="7619" y="530351"/>
                </a:lnTo>
                <a:lnTo>
                  <a:pt x="7619" y="544068"/>
                </a:lnTo>
                <a:lnTo>
                  <a:pt x="25907" y="544068"/>
                </a:lnTo>
                <a:lnTo>
                  <a:pt x="25907" y="537972"/>
                </a:lnTo>
                <a:lnTo>
                  <a:pt x="13715" y="537972"/>
                </a:lnTo>
                <a:lnTo>
                  <a:pt x="13715" y="530351"/>
                </a:lnTo>
                <a:close/>
              </a:path>
              <a:path w="379730" h="544194">
                <a:moveTo>
                  <a:pt x="13715" y="486155"/>
                </a:moveTo>
                <a:lnTo>
                  <a:pt x="0" y="486155"/>
                </a:lnTo>
                <a:lnTo>
                  <a:pt x="0" y="537972"/>
                </a:lnTo>
                <a:lnTo>
                  <a:pt x="7619" y="537972"/>
                </a:lnTo>
                <a:lnTo>
                  <a:pt x="7619" y="530351"/>
                </a:lnTo>
                <a:lnTo>
                  <a:pt x="13715" y="530351"/>
                </a:lnTo>
                <a:lnTo>
                  <a:pt x="13715" y="486155"/>
                </a:lnTo>
                <a:close/>
              </a:path>
              <a:path w="379730" h="544194">
                <a:moveTo>
                  <a:pt x="25907" y="530351"/>
                </a:moveTo>
                <a:lnTo>
                  <a:pt x="13715" y="530351"/>
                </a:lnTo>
                <a:lnTo>
                  <a:pt x="13715" y="537972"/>
                </a:lnTo>
                <a:lnTo>
                  <a:pt x="25907" y="537972"/>
                </a:lnTo>
                <a:lnTo>
                  <a:pt x="25907" y="530351"/>
                </a:lnTo>
                <a:close/>
              </a:path>
              <a:path w="379730" h="544194">
                <a:moveTo>
                  <a:pt x="13715" y="397764"/>
                </a:moveTo>
                <a:lnTo>
                  <a:pt x="0" y="397764"/>
                </a:lnTo>
                <a:lnTo>
                  <a:pt x="0" y="448055"/>
                </a:lnTo>
                <a:lnTo>
                  <a:pt x="13715" y="448055"/>
                </a:lnTo>
                <a:lnTo>
                  <a:pt x="13715" y="397764"/>
                </a:lnTo>
                <a:close/>
              </a:path>
              <a:path w="379730" h="544194">
                <a:moveTo>
                  <a:pt x="13715" y="309372"/>
                </a:moveTo>
                <a:lnTo>
                  <a:pt x="0" y="309372"/>
                </a:lnTo>
                <a:lnTo>
                  <a:pt x="0" y="359664"/>
                </a:lnTo>
                <a:lnTo>
                  <a:pt x="13715" y="359664"/>
                </a:lnTo>
                <a:lnTo>
                  <a:pt x="13715" y="309372"/>
                </a:lnTo>
                <a:close/>
              </a:path>
              <a:path w="379730" h="544194">
                <a:moveTo>
                  <a:pt x="13715" y="219455"/>
                </a:moveTo>
                <a:lnTo>
                  <a:pt x="0" y="219455"/>
                </a:lnTo>
                <a:lnTo>
                  <a:pt x="0" y="271272"/>
                </a:lnTo>
                <a:lnTo>
                  <a:pt x="13715" y="271272"/>
                </a:lnTo>
                <a:lnTo>
                  <a:pt x="13715" y="219455"/>
                </a:lnTo>
                <a:close/>
              </a:path>
              <a:path w="379730" h="544194">
                <a:moveTo>
                  <a:pt x="13715" y="131064"/>
                </a:moveTo>
                <a:lnTo>
                  <a:pt x="0" y="131064"/>
                </a:lnTo>
                <a:lnTo>
                  <a:pt x="0" y="181355"/>
                </a:lnTo>
                <a:lnTo>
                  <a:pt x="13715" y="181355"/>
                </a:lnTo>
                <a:lnTo>
                  <a:pt x="13715" y="131064"/>
                </a:lnTo>
                <a:close/>
              </a:path>
              <a:path w="379730" h="544194">
                <a:moveTo>
                  <a:pt x="13715" y="42672"/>
                </a:moveTo>
                <a:lnTo>
                  <a:pt x="0" y="42672"/>
                </a:lnTo>
                <a:lnTo>
                  <a:pt x="0" y="92964"/>
                </a:lnTo>
                <a:lnTo>
                  <a:pt x="13715" y="92964"/>
                </a:lnTo>
                <a:lnTo>
                  <a:pt x="13715" y="42672"/>
                </a:lnTo>
                <a:close/>
              </a:path>
              <a:path w="379730" h="544194">
                <a:moveTo>
                  <a:pt x="59436" y="0"/>
                </a:moveTo>
                <a:lnTo>
                  <a:pt x="9143" y="0"/>
                </a:lnTo>
                <a:lnTo>
                  <a:pt x="9143" y="12192"/>
                </a:lnTo>
                <a:lnTo>
                  <a:pt x="59436" y="12192"/>
                </a:lnTo>
                <a:lnTo>
                  <a:pt x="59436" y="0"/>
                </a:lnTo>
                <a:close/>
              </a:path>
              <a:path w="379730" h="544194">
                <a:moveTo>
                  <a:pt x="149351" y="0"/>
                </a:moveTo>
                <a:lnTo>
                  <a:pt x="97536" y="0"/>
                </a:lnTo>
                <a:lnTo>
                  <a:pt x="97536" y="12192"/>
                </a:lnTo>
                <a:lnTo>
                  <a:pt x="149351" y="12192"/>
                </a:lnTo>
                <a:lnTo>
                  <a:pt x="149351" y="0"/>
                </a:lnTo>
                <a:close/>
              </a:path>
              <a:path w="379730" h="544194">
                <a:moveTo>
                  <a:pt x="237744" y="0"/>
                </a:moveTo>
                <a:lnTo>
                  <a:pt x="187451" y="0"/>
                </a:lnTo>
                <a:lnTo>
                  <a:pt x="187451" y="12192"/>
                </a:lnTo>
                <a:lnTo>
                  <a:pt x="237744" y="12192"/>
                </a:lnTo>
                <a:lnTo>
                  <a:pt x="237744" y="0"/>
                </a:lnTo>
                <a:close/>
              </a:path>
              <a:path w="379730" h="544194">
                <a:moveTo>
                  <a:pt x="326136" y="0"/>
                </a:moveTo>
                <a:lnTo>
                  <a:pt x="275844" y="0"/>
                </a:lnTo>
                <a:lnTo>
                  <a:pt x="275844" y="12192"/>
                </a:lnTo>
                <a:lnTo>
                  <a:pt x="326136" y="12192"/>
                </a:lnTo>
                <a:lnTo>
                  <a:pt x="326136" y="0"/>
                </a:lnTo>
                <a:close/>
              </a:path>
              <a:path w="379730" h="544194">
                <a:moveTo>
                  <a:pt x="367283" y="6096"/>
                </a:moveTo>
                <a:lnTo>
                  <a:pt x="367283" y="47244"/>
                </a:lnTo>
                <a:lnTo>
                  <a:pt x="379475" y="47244"/>
                </a:lnTo>
                <a:lnTo>
                  <a:pt x="379475" y="12192"/>
                </a:lnTo>
                <a:lnTo>
                  <a:pt x="373380" y="12192"/>
                </a:lnTo>
                <a:lnTo>
                  <a:pt x="367283" y="6096"/>
                </a:lnTo>
                <a:close/>
              </a:path>
              <a:path w="379730" h="544194">
                <a:moveTo>
                  <a:pt x="377951" y="0"/>
                </a:moveTo>
                <a:lnTo>
                  <a:pt x="364236" y="0"/>
                </a:lnTo>
                <a:lnTo>
                  <a:pt x="364236" y="12192"/>
                </a:lnTo>
                <a:lnTo>
                  <a:pt x="367283" y="12192"/>
                </a:lnTo>
                <a:lnTo>
                  <a:pt x="367283" y="6096"/>
                </a:lnTo>
                <a:lnTo>
                  <a:pt x="379475" y="6096"/>
                </a:lnTo>
                <a:lnTo>
                  <a:pt x="379475" y="3048"/>
                </a:lnTo>
                <a:lnTo>
                  <a:pt x="377951" y="0"/>
                </a:lnTo>
                <a:close/>
              </a:path>
              <a:path w="379730" h="544194">
                <a:moveTo>
                  <a:pt x="379475" y="6096"/>
                </a:moveTo>
                <a:lnTo>
                  <a:pt x="367283" y="6096"/>
                </a:lnTo>
                <a:lnTo>
                  <a:pt x="373380" y="12192"/>
                </a:lnTo>
                <a:lnTo>
                  <a:pt x="379475" y="12192"/>
                </a:lnTo>
                <a:lnTo>
                  <a:pt x="379475" y="6096"/>
                </a:lnTo>
                <a:close/>
              </a:path>
              <a:path w="379730" h="544194">
                <a:moveTo>
                  <a:pt x="379475" y="85344"/>
                </a:moveTo>
                <a:lnTo>
                  <a:pt x="367283" y="85344"/>
                </a:lnTo>
                <a:lnTo>
                  <a:pt x="367283" y="137159"/>
                </a:lnTo>
                <a:lnTo>
                  <a:pt x="379475" y="137159"/>
                </a:lnTo>
                <a:lnTo>
                  <a:pt x="379475" y="85344"/>
                </a:lnTo>
                <a:close/>
              </a:path>
              <a:path w="379730" h="544194">
                <a:moveTo>
                  <a:pt x="379475" y="175259"/>
                </a:moveTo>
                <a:lnTo>
                  <a:pt x="367283" y="175259"/>
                </a:lnTo>
                <a:lnTo>
                  <a:pt x="367283" y="225551"/>
                </a:lnTo>
                <a:lnTo>
                  <a:pt x="379475" y="225551"/>
                </a:lnTo>
                <a:lnTo>
                  <a:pt x="379475" y="175259"/>
                </a:lnTo>
                <a:close/>
              </a:path>
              <a:path w="379730" h="544194">
                <a:moveTo>
                  <a:pt x="379475" y="263651"/>
                </a:moveTo>
                <a:lnTo>
                  <a:pt x="367283" y="263651"/>
                </a:lnTo>
                <a:lnTo>
                  <a:pt x="367283" y="313944"/>
                </a:lnTo>
                <a:lnTo>
                  <a:pt x="379475" y="313944"/>
                </a:lnTo>
                <a:lnTo>
                  <a:pt x="379475" y="263651"/>
                </a:lnTo>
                <a:close/>
              </a:path>
              <a:path w="379730" h="544194">
                <a:moveTo>
                  <a:pt x="379475" y="352044"/>
                </a:moveTo>
                <a:lnTo>
                  <a:pt x="367283" y="352044"/>
                </a:lnTo>
                <a:lnTo>
                  <a:pt x="367283" y="403859"/>
                </a:lnTo>
                <a:lnTo>
                  <a:pt x="379475" y="403859"/>
                </a:lnTo>
                <a:lnTo>
                  <a:pt x="379475" y="352044"/>
                </a:lnTo>
                <a:close/>
              </a:path>
              <a:path w="379730" h="544194">
                <a:moveTo>
                  <a:pt x="379475" y="441959"/>
                </a:moveTo>
                <a:lnTo>
                  <a:pt x="367283" y="441959"/>
                </a:lnTo>
                <a:lnTo>
                  <a:pt x="367283" y="492251"/>
                </a:lnTo>
                <a:lnTo>
                  <a:pt x="379475" y="492251"/>
                </a:lnTo>
                <a:lnTo>
                  <a:pt x="379475" y="441959"/>
                </a:lnTo>
                <a:close/>
              </a:path>
              <a:path w="379730" h="544194">
                <a:moveTo>
                  <a:pt x="367283" y="530351"/>
                </a:moveTo>
                <a:lnTo>
                  <a:pt x="330707" y="530351"/>
                </a:lnTo>
                <a:lnTo>
                  <a:pt x="330707" y="544068"/>
                </a:lnTo>
                <a:lnTo>
                  <a:pt x="377951" y="544068"/>
                </a:lnTo>
                <a:lnTo>
                  <a:pt x="379475" y="541020"/>
                </a:lnTo>
                <a:lnTo>
                  <a:pt x="379475" y="537972"/>
                </a:lnTo>
                <a:lnTo>
                  <a:pt x="367283" y="537972"/>
                </a:lnTo>
                <a:lnTo>
                  <a:pt x="367283" y="530351"/>
                </a:lnTo>
                <a:close/>
              </a:path>
              <a:path w="379730" h="544194">
                <a:moveTo>
                  <a:pt x="373380" y="530351"/>
                </a:moveTo>
                <a:lnTo>
                  <a:pt x="367283" y="530351"/>
                </a:lnTo>
                <a:lnTo>
                  <a:pt x="367283" y="537972"/>
                </a:lnTo>
                <a:lnTo>
                  <a:pt x="373380" y="530351"/>
                </a:lnTo>
                <a:close/>
              </a:path>
              <a:path w="379730" h="544194">
                <a:moveTo>
                  <a:pt x="379475" y="530351"/>
                </a:moveTo>
                <a:lnTo>
                  <a:pt x="373380" y="530351"/>
                </a:lnTo>
                <a:lnTo>
                  <a:pt x="367283" y="537972"/>
                </a:lnTo>
                <a:lnTo>
                  <a:pt x="379475" y="537972"/>
                </a:lnTo>
                <a:lnTo>
                  <a:pt x="379475" y="530351"/>
                </a:lnTo>
                <a:close/>
              </a:path>
              <a:path w="379730" h="544194">
                <a:moveTo>
                  <a:pt x="292607" y="530351"/>
                </a:moveTo>
                <a:lnTo>
                  <a:pt x="240792" y="530351"/>
                </a:lnTo>
                <a:lnTo>
                  <a:pt x="240792" y="544068"/>
                </a:lnTo>
                <a:lnTo>
                  <a:pt x="292607" y="544068"/>
                </a:lnTo>
                <a:lnTo>
                  <a:pt x="292607" y="530351"/>
                </a:lnTo>
                <a:close/>
              </a:path>
              <a:path w="379730" h="544194">
                <a:moveTo>
                  <a:pt x="202692" y="530351"/>
                </a:moveTo>
                <a:lnTo>
                  <a:pt x="152400" y="530351"/>
                </a:lnTo>
                <a:lnTo>
                  <a:pt x="152400" y="544068"/>
                </a:lnTo>
                <a:lnTo>
                  <a:pt x="202692" y="544068"/>
                </a:lnTo>
                <a:lnTo>
                  <a:pt x="202692" y="530351"/>
                </a:lnTo>
                <a:close/>
              </a:path>
              <a:path w="379730" h="544194">
                <a:moveTo>
                  <a:pt x="114300" y="530351"/>
                </a:moveTo>
                <a:lnTo>
                  <a:pt x="64007" y="530351"/>
                </a:lnTo>
                <a:lnTo>
                  <a:pt x="64007" y="544068"/>
                </a:lnTo>
                <a:lnTo>
                  <a:pt x="114300" y="544068"/>
                </a:lnTo>
                <a:lnTo>
                  <a:pt x="114300" y="5303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305515" y="704557"/>
            <a:ext cx="787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归一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方法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虑的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象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96116" y="1041813"/>
            <a:ext cx="187960" cy="291465"/>
          </a:xfrm>
          <a:custGeom>
            <a:avLst/>
            <a:gdLst/>
            <a:ahLst/>
            <a:cxnLst/>
            <a:rect l="l" t="t" r="r" b="b"/>
            <a:pathLst>
              <a:path w="187960" h="291465">
                <a:moveTo>
                  <a:pt x="162947" y="261700"/>
                </a:moveTo>
                <a:lnTo>
                  <a:pt x="150875" y="269747"/>
                </a:lnTo>
                <a:lnTo>
                  <a:pt x="187451" y="291083"/>
                </a:lnTo>
                <a:lnTo>
                  <a:pt x="184839" y="266700"/>
                </a:lnTo>
                <a:lnTo>
                  <a:pt x="166115" y="266700"/>
                </a:lnTo>
                <a:lnTo>
                  <a:pt x="162947" y="261700"/>
                </a:lnTo>
                <a:close/>
              </a:path>
              <a:path w="187960" h="291465">
                <a:moveTo>
                  <a:pt x="170341" y="256771"/>
                </a:moveTo>
                <a:lnTo>
                  <a:pt x="162947" y="261700"/>
                </a:lnTo>
                <a:lnTo>
                  <a:pt x="166115" y="266700"/>
                </a:lnTo>
                <a:lnTo>
                  <a:pt x="173735" y="262127"/>
                </a:lnTo>
                <a:lnTo>
                  <a:pt x="170341" y="256771"/>
                </a:lnTo>
                <a:close/>
              </a:path>
              <a:path w="187960" h="291465">
                <a:moveTo>
                  <a:pt x="182879" y="248411"/>
                </a:moveTo>
                <a:lnTo>
                  <a:pt x="170341" y="256771"/>
                </a:lnTo>
                <a:lnTo>
                  <a:pt x="173735" y="262127"/>
                </a:lnTo>
                <a:lnTo>
                  <a:pt x="166115" y="266700"/>
                </a:lnTo>
                <a:lnTo>
                  <a:pt x="184839" y="266700"/>
                </a:lnTo>
                <a:lnTo>
                  <a:pt x="182879" y="248411"/>
                </a:lnTo>
                <a:close/>
              </a:path>
              <a:path w="187960" h="291465">
                <a:moveTo>
                  <a:pt x="7619" y="0"/>
                </a:moveTo>
                <a:lnTo>
                  <a:pt x="0" y="4571"/>
                </a:lnTo>
                <a:lnTo>
                  <a:pt x="162947" y="261700"/>
                </a:lnTo>
                <a:lnTo>
                  <a:pt x="170341" y="256771"/>
                </a:lnTo>
                <a:lnTo>
                  <a:pt x="76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195441" y="626776"/>
            <a:ext cx="11684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方法：直接对神经元的 输出进行批归一化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62688" y="1307912"/>
            <a:ext cx="2543810" cy="1148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0"/>
              </a:lnSpc>
            </a:pPr>
            <a:r>
              <a:rPr sz="900" dirty="0">
                <a:latin typeface="Wingdings" panose="05000000000000000000"/>
                <a:cs typeface="Wingdings" panose="05000000000000000000"/>
              </a:rPr>
              <a:t></a:t>
            </a:r>
            <a:r>
              <a:rPr sz="90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小批量梯度下降算法回顾：每次迭代时会读入一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42875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批数据，比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32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个样本；经过当前神经元后会有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42875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32个输出值</a:t>
            </a:r>
            <a:r>
              <a:rPr sz="900" i="1" spc="8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975" i="1" spc="120" baseline="-17000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900" i="1" spc="8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900" i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9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900" i="1" spc="-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30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975" i="1" spc="44" baseline="-17000" dirty="0">
                <a:latin typeface="Cambria Math" panose="02040503050406030204"/>
                <a:cs typeface="Cambria Math" panose="02040503050406030204"/>
              </a:rPr>
              <a:t>32</a:t>
            </a:r>
            <a:r>
              <a:rPr sz="90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42875" indent="-143510">
              <a:lnSpc>
                <a:spcPct val="150000"/>
              </a:lnSpc>
            </a:pPr>
            <a:r>
              <a:rPr sz="900" dirty="0">
                <a:latin typeface="Wingdings" panose="05000000000000000000"/>
                <a:cs typeface="Wingdings" panose="05000000000000000000"/>
              </a:rPr>
              <a:t></a:t>
            </a:r>
            <a:r>
              <a:rPr sz="90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批归一化操作：对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这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32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个输出进行减均值除方差 操作；可保证当前神经元的输出值的分布符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合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0  均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方差。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45416" y="2678119"/>
            <a:ext cx="2882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如果每一层的每个神经元进行批归一化，就能解决前向传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45416" y="2952439"/>
            <a:ext cx="1397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递过程中的信号消失问题。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147220" y="1131729"/>
            <a:ext cx="3619500" cy="1446530"/>
          </a:xfrm>
          <a:custGeom>
            <a:avLst/>
            <a:gdLst/>
            <a:ahLst/>
            <a:cxnLst/>
            <a:rect l="l" t="t" r="r" b="b"/>
            <a:pathLst>
              <a:path w="3619500" h="1446530">
                <a:moveTo>
                  <a:pt x="0" y="0"/>
                </a:moveTo>
                <a:lnTo>
                  <a:pt x="3619500" y="0"/>
                </a:lnTo>
                <a:lnTo>
                  <a:pt x="3619500" y="1446276"/>
                </a:lnTo>
                <a:lnTo>
                  <a:pt x="0" y="14462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680" y="648249"/>
            <a:ext cx="1031875" cy="178435"/>
          </a:xfrm>
          <a:prstGeom prst="rect">
            <a:avLst/>
          </a:prstGeom>
          <a:solidFill>
            <a:srgbClr val="F3F3F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spc="20" dirty="0">
                <a:latin typeface="Arial" panose="020B0604020202020204"/>
                <a:cs typeface="Arial" panose="020B0604020202020204"/>
              </a:rPr>
              <a:t>FC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680" y="1006389"/>
            <a:ext cx="1031875" cy="178435"/>
          </a:xfrm>
          <a:prstGeom prst="rect">
            <a:avLst/>
          </a:prstGeom>
          <a:solidFill>
            <a:srgbClr val="D9EAD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spc="25" dirty="0">
                <a:latin typeface="Arial" panose="020B0604020202020204"/>
                <a:cs typeface="Arial" panose="020B0604020202020204"/>
              </a:rPr>
              <a:t>BN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7792" y="872277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19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8648" y="956097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19812" y="0"/>
                </a:moveTo>
                <a:lnTo>
                  <a:pt x="0" y="0"/>
                </a:lnTo>
                <a:lnTo>
                  <a:pt x="9143" y="28955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8647" y="956097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2680" y="1341669"/>
            <a:ext cx="1031875" cy="178435"/>
          </a:xfrm>
          <a:prstGeom prst="rect">
            <a:avLst/>
          </a:prstGeom>
          <a:solidFill>
            <a:srgbClr val="F3F3F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75"/>
              </a:spcBef>
            </a:pPr>
            <a:r>
              <a:rPr sz="900" spc="15" dirty="0">
                <a:latin typeface="Arial" panose="020B0604020202020204"/>
                <a:cs typeface="Arial" panose="020B0604020202020204"/>
              </a:rPr>
              <a:t>tanh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8648" y="61014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19812" y="0"/>
                </a:moveTo>
                <a:lnTo>
                  <a:pt x="0" y="0"/>
                </a:lnTo>
                <a:lnTo>
                  <a:pt x="9143" y="28955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7792" y="1228893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0"/>
                </a:moveTo>
                <a:lnTo>
                  <a:pt x="0" y="82295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8648" y="131118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19812" y="0"/>
                </a:moveTo>
                <a:lnTo>
                  <a:pt x="0" y="0"/>
                </a:lnTo>
                <a:lnTo>
                  <a:pt x="9143" y="28956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8647" y="131118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680" y="1730289"/>
            <a:ext cx="1031875" cy="178435"/>
          </a:xfrm>
          <a:prstGeom prst="rect">
            <a:avLst/>
          </a:prstGeom>
          <a:solidFill>
            <a:srgbClr val="F3F3F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spc="20" dirty="0">
                <a:latin typeface="Arial" panose="020B0604020202020204"/>
                <a:cs typeface="Arial" panose="020B0604020202020204"/>
              </a:rPr>
              <a:t>FC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680" y="2088429"/>
            <a:ext cx="1031875" cy="178435"/>
          </a:xfrm>
          <a:prstGeom prst="rect">
            <a:avLst/>
          </a:prstGeom>
          <a:solidFill>
            <a:srgbClr val="D9EAD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spc="25" dirty="0">
                <a:latin typeface="Arial" panose="020B0604020202020204"/>
                <a:cs typeface="Arial" panose="020B0604020202020204"/>
              </a:rPr>
              <a:t>BN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7792" y="1954317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19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18648" y="2038137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19812" y="0"/>
                </a:moveTo>
                <a:lnTo>
                  <a:pt x="0" y="0"/>
                </a:lnTo>
                <a:lnTo>
                  <a:pt x="9143" y="28956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8647" y="2038137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7792" y="1577889"/>
            <a:ext cx="0" cy="116205"/>
          </a:xfrm>
          <a:custGeom>
            <a:avLst/>
            <a:gdLst/>
            <a:ahLst/>
            <a:cxnLst/>
            <a:rect l="l" t="t" r="r" b="b"/>
            <a:pathLst>
              <a:path h="116205">
                <a:moveTo>
                  <a:pt x="0" y="0"/>
                </a:moveTo>
                <a:lnTo>
                  <a:pt x="0" y="115823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8648" y="1693713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19812" y="0"/>
                </a:moveTo>
                <a:lnTo>
                  <a:pt x="0" y="0"/>
                </a:lnTo>
                <a:lnTo>
                  <a:pt x="9143" y="28956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8647" y="1693713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27792" y="2309409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19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8648" y="239322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19812" y="0"/>
                </a:moveTo>
                <a:lnTo>
                  <a:pt x="0" y="0"/>
                </a:lnTo>
                <a:lnTo>
                  <a:pt x="9143" y="28956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8647" y="239322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2680" y="2423709"/>
            <a:ext cx="1031875" cy="178435"/>
          </a:xfrm>
          <a:prstGeom prst="rect">
            <a:avLst/>
          </a:prstGeom>
          <a:solidFill>
            <a:srgbClr val="F3F3F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75"/>
              </a:spcBef>
            </a:pPr>
            <a:r>
              <a:rPr sz="900" spc="15" dirty="0">
                <a:latin typeface="Arial" panose="020B0604020202020204"/>
                <a:cs typeface="Arial" panose="020B0604020202020204"/>
              </a:rPr>
              <a:t>tanh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7792" y="2647737"/>
            <a:ext cx="0" cy="120650"/>
          </a:xfrm>
          <a:custGeom>
            <a:avLst/>
            <a:gdLst/>
            <a:ahLst/>
            <a:cxnLst/>
            <a:rect l="l" t="t" r="r" b="b"/>
            <a:pathLst>
              <a:path h="120650">
                <a:moveTo>
                  <a:pt x="0" y="0"/>
                </a:moveTo>
                <a:lnTo>
                  <a:pt x="0" y="120395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8648" y="2768133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19812" y="0"/>
                </a:moveTo>
                <a:lnTo>
                  <a:pt x="0" y="0"/>
                </a:lnTo>
                <a:lnTo>
                  <a:pt x="9143" y="28956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8647" y="2768132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49590" y="2746292"/>
            <a:ext cx="1257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 panose="020B0604020202020204"/>
                <a:cs typeface="Arial" panose="020B0604020202020204"/>
              </a:rPr>
              <a:t>.</a:t>
            </a:r>
            <a:r>
              <a:rPr sz="900" spc="15" dirty="0">
                <a:latin typeface="Arial" panose="020B0604020202020204"/>
                <a:cs typeface="Arial" panose="020B0604020202020204"/>
              </a:rPr>
              <a:t>.</a:t>
            </a:r>
            <a:r>
              <a:rPr sz="900" spc="10" dirty="0">
                <a:latin typeface="Arial" panose="020B0604020202020204"/>
                <a:cs typeface="Arial" panose="020B0604020202020204"/>
              </a:rPr>
              <a:t>.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90452" y="858015"/>
            <a:ext cx="1962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经常插入</a:t>
            </a:r>
            <a:r>
              <a:rPr sz="9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全连</a:t>
            </a:r>
            <a:r>
              <a:rPr sz="9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接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层后，</a:t>
            </a:r>
            <a:r>
              <a:rPr sz="9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非线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性激活前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27792" y="482133"/>
            <a:ext cx="0" cy="120650"/>
          </a:xfrm>
          <a:custGeom>
            <a:avLst/>
            <a:gdLst/>
            <a:ahLst/>
            <a:cxnLst/>
            <a:rect l="l" t="t" r="r" b="b"/>
            <a:pathLst>
              <a:path h="120650">
                <a:moveTo>
                  <a:pt x="0" y="0"/>
                </a:moveTo>
                <a:lnTo>
                  <a:pt x="0" y="120395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8648" y="60252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19812" y="0"/>
                </a:moveTo>
                <a:lnTo>
                  <a:pt x="0" y="0"/>
                </a:lnTo>
                <a:lnTo>
                  <a:pt x="9143" y="28956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18647" y="60252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44428" y="968289"/>
            <a:ext cx="451484" cy="135890"/>
          </a:xfrm>
          <a:custGeom>
            <a:avLst/>
            <a:gdLst/>
            <a:ahLst/>
            <a:cxnLst/>
            <a:rect l="l" t="t" r="r" b="b"/>
            <a:pathLst>
              <a:path w="451484" h="135890">
                <a:moveTo>
                  <a:pt x="32004" y="99060"/>
                </a:moveTo>
                <a:lnTo>
                  <a:pt x="0" y="128015"/>
                </a:lnTo>
                <a:lnTo>
                  <a:pt x="42672" y="135636"/>
                </a:lnTo>
                <a:lnTo>
                  <a:pt x="38227" y="120396"/>
                </a:lnTo>
                <a:lnTo>
                  <a:pt x="32004" y="120396"/>
                </a:lnTo>
                <a:lnTo>
                  <a:pt x="30480" y="115824"/>
                </a:lnTo>
                <a:lnTo>
                  <a:pt x="36415" y="114183"/>
                </a:lnTo>
                <a:lnTo>
                  <a:pt x="32004" y="99060"/>
                </a:lnTo>
                <a:close/>
              </a:path>
              <a:path w="451484" h="135890">
                <a:moveTo>
                  <a:pt x="36415" y="114183"/>
                </a:moveTo>
                <a:lnTo>
                  <a:pt x="30480" y="115824"/>
                </a:lnTo>
                <a:lnTo>
                  <a:pt x="32004" y="120396"/>
                </a:lnTo>
                <a:lnTo>
                  <a:pt x="37762" y="118804"/>
                </a:lnTo>
                <a:lnTo>
                  <a:pt x="36415" y="114183"/>
                </a:lnTo>
                <a:close/>
              </a:path>
              <a:path w="451484" h="135890">
                <a:moveTo>
                  <a:pt x="37762" y="118804"/>
                </a:moveTo>
                <a:lnTo>
                  <a:pt x="32004" y="120396"/>
                </a:lnTo>
                <a:lnTo>
                  <a:pt x="38227" y="120396"/>
                </a:lnTo>
                <a:lnTo>
                  <a:pt x="37762" y="118804"/>
                </a:lnTo>
                <a:close/>
              </a:path>
              <a:path w="451484" h="135890">
                <a:moveTo>
                  <a:pt x="449580" y="0"/>
                </a:moveTo>
                <a:lnTo>
                  <a:pt x="36415" y="114183"/>
                </a:lnTo>
                <a:lnTo>
                  <a:pt x="37762" y="118804"/>
                </a:lnTo>
                <a:lnTo>
                  <a:pt x="451104" y="4572"/>
                </a:lnTo>
                <a:lnTo>
                  <a:pt x="4495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41380" y="1020105"/>
            <a:ext cx="455930" cy="1156970"/>
          </a:xfrm>
          <a:custGeom>
            <a:avLst/>
            <a:gdLst/>
            <a:ahLst/>
            <a:cxnLst/>
            <a:rect l="l" t="t" r="r" b="b"/>
            <a:pathLst>
              <a:path w="455930" h="1156970">
                <a:moveTo>
                  <a:pt x="0" y="1114044"/>
                </a:moveTo>
                <a:lnTo>
                  <a:pt x="3047" y="1156716"/>
                </a:lnTo>
                <a:lnTo>
                  <a:pt x="35051" y="1127760"/>
                </a:lnTo>
                <a:lnTo>
                  <a:pt x="16763" y="1127760"/>
                </a:lnTo>
                <a:lnTo>
                  <a:pt x="12192" y="1126236"/>
                </a:lnTo>
                <a:lnTo>
                  <a:pt x="14701" y="1119796"/>
                </a:lnTo>
                <a:lnTo>
                  <a:pt x="0" y="1114044"/>
                </a:lnTo>
                <a:close/>
              </a:path>
              <a:path w="455930" h="1156970">
                <a:moveTo>
                  <a:pt x="14701" y="1119796"/>
                </a:moveTo>
                <a:lnTo>
                  <a:pt x="12192" y="1126236"/>
                </a:lnTo>
                <a:lnTo>
                  <a:pt x="16763" y="1127760"/>
                </a:lnTo>
                <a:lnTo>
                  <a:pt x="19183" y="1121550"/>
                </a:lnTo>
                <a:lnTo>
                  <a:pt x="14701" y="1119796"/>
                </a:lnTo>
                <a:close/>
              </a:path>
              <a:path w="455930" h="1156970">
                <a:moveTo>
                  <a:pt x="19183" y="1121550"/>
                </a:moveTo>
                <a:lnTo>
                  <a:pt x="16763" y="1127760"/>
                </a:lnTo>
                <a:lnTo>
                  <a:pt x="35051" y="1127760"/>
                </a:lnTo>
                <a:lnTo>
                  <a:pt x="19183" y="1121550"/>
                </a:lnTo>
                <a:close/>
              </a:path>
              <a:path w="455930" h="1156970">
                <a:moveTo>
                  <a:pt x="451103" y="0"/>
                </a:moveTo>
                <a:lnTo>
                  <a:pt x="14701" y="1119796"/>
                </a:lnTo>
                <a:lnTo>
                  <a:pt x="19183" y="1121550"/>
                </a:lnTo>
                <a:lnTo>
                  <a:pt x="455675" y="1524"/>
                </a:lnTo>
                <a:lnTo>
                  <a:pt x="4511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881459" y="147869"/>
            <a:ext cx="208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批归一化与梯度消失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525428" y="1591605"/>
            <a:ext cx="2057400" cy="109575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792128" y="2545629"/>
            <a:ext cx="1600200" cy="44450"/>
          </a:xfrm>
          <a:custGeom>
            <a:avLst/>
            <a:gdLst/>
            <a:ahLst/>
            <a:cxnLst/>
            <a:rect l="l" t="t" r="r" b="b"/>
            <a:pathLst>
              <a:path w="1600200" h="44450">
                <a:moveTo>
                  <a:pt x="1557527" y="0"/>
                </a:moveTo>
                <a:lnTo>
                  <a:pt x="1557527" y="44195"/>
                </a:lnTo>
                <a:lnTo>
                  <a:pt x="1585975" y="28956"/>
                </a:lnTo>
                <a:lnTo>
                  <a:pt x="1563624" y="28956"/>
                </a:lnTo>
                <a:lnTo>
                  <a:pt x="1563624" y="15239"/>
                </a:lnTo>
                <a:lnTo>
                  <a:pt x="1588008" y="15239"/>
                </a:lnTo>
                <a:lnTo>
                  <a:pt x="1557527" y="0"/>
                </a:lnTo>
                <a:close/>
              </a:path>
              <a:path w="1600200" h="44450">
                <a:moveTo>
                  <a:pt x="1557527" y="15239"/>
                </a:moveTo>
                <a:lnTo>
                  <a:pt x="0" y="15239"/>
                </a:lnTo>
                <a:lnTo>
                  <a:pt x="0" y="28956"/>
                </a:lnTo>
                <a:lnTo>
                  <a:pt x="1557527" y="28956"/>
                </a:lnTo>
                <a:lnTo>
                  <a:pt x="1557527" y="15239"/>
                </a:lnTo>
                <a:close/>
              </a:path>
              <a:path w="1600200" h="44450">
                <a:moveTo>
                  <a:pt x="1588008" y="15239"/>
                </a:moveTo>
                <a:lnTo>
                  <a:pt x="1563624" y="15239"/>
                </a:lnTo>
                <a:lnTo>
                  <a:pt x="1563624" y="28956"/>
                </a:lnTo>
                <a:lnTo>
                  <a:pt x="1585975" y="28956"/>
                </a:lnTo>
                <a:lnTo>
                  <a:pt x="1600200" y="21335"/>
                </a:lnTo>
                <a:lnTo>
                  <a:pt x="1588008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570892" y="1500165"/>
            <a:ext cx="43180" cy="1066800"/>
          </a:xfrm>
          <a:custGeom>
            <a:avLst/>
            <a:gdLst/>
            <a:ahLst/>
            <a:cxnLst/>
            <a:rect l="l" t="t" r="r" b="b"/>
            <a:pathLst>
              <a:path w="43180" h="1066800">
                <a:moveTo>
                  <a:pt x="27432" y="36576"/>
                </a:moveTo>
                <a:lnTo>
                  <a:pt x="13716" y="36576"/>
                </a:lnTo>
                <a:lnTo>
                  <a:pt x="13716" y="1066800"/>
                </a:lnTo>
                <a:lnTo>
                  <a:pt x="27432" y="1066800"/>
                </a:lnTo>
                <a:lnTo>
                  <a:pt x="27432" y="36576"/>
                </a:lnTo>
                <a:close/>
              </a:path>
              <a:path w="43180" h="1066800">
                <a:moveTo>
                  <a:pt x="21336" y="0"/>
                </a:moveTo>
                <a:lnTo>
                  <a:pt x="0" y="44196"/>
                </a:lnTo>
                <a:lnTo>
                  <a:pt x="13716" y="44196"/>
                </a:lnTo>
                <a:lnTo>
                  <a:pt x="13716" y="36576"/>
                </a:lnTo>
                <a:lnTo>
                  <a:pt x="38993" y="36576"/>
                </a:lnTo>
                <a:lnTo>
                  <a:pt x="21336" y="0"/>
                </a:lnTo>
                <a:close/>
              </a:path>
              <a:path w="43180" h="1066800">
                <a:moveTo>
                  <a:pt x="38993" y="36576"/>
                </a:moveTo>
                <a:lnTo>
                  <a:pt x="27432" y="36576"/>
                </a:lnTo>
                <a:lnTo>
                  <a:pt x="27432" y="44196"/>
                </a:lnTo>
                <a:lnTo>
                  <a:pt x="42672" y="44196"/>
                </a:lnTo>
                <a:lnTo>
                  <a:pt x="38993" y="365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944528" y="2253021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8"/>
                </a:lnTo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25528" y="2253021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8"/>
                </a:lnTo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963870" y="2511520"/>
            <a:ext cx="3340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libri" panose="020F0502020204030204"/>
                <a:cs typeface="Calibri" panose="020F0502020204030204"/>
              </a:rPr>
              <a:t>..</a:t>
            </a:r>
            <a:r>
              <a:rPr sz="14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latin typeface="Calibri" panose="020F0502020204030204"/>
                <a:cs typeface="Calibri" panose="020F0502020204030204"/>
              </a:rPr>
              <a:t>….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71262" y="2787399"/>
            <a:ext cx="1054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小梯度、无梯度区域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154598" y="1635742"/>
            <a:ext cx="1771247" cy="1040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280820" y="2548677"/>
            <a:ext cx="1600200" cy="43180"/>
          </a:xfrm>
          <a:custGeom>
            <a:avLst/>
            <a:gdLst/>
            <a:ahLst/>
            <a:cxnLst/>
            <a:rect l="l" t="t" r="r" b="b"/>
            <a:pathLst>
              <a:path w="1600200" h="43180">
                <a:moveTo>
                  <a:pt x="1557527" y="0"/>
                </a:moveTo>
                <a:lnTo>
                  <a:pt x="1557527" y="42672"/>
                </a:lnTo>
                <a:lnTo>
                  <a:pt x="1584960" y="28956"/>
                </a:lnTo>
                <a:lnTo>
                  <a:pt x="1565148" y="28956"/>
                </a:lnTo>
                <a:lnTo>
                  <a:pt x="1565148" y="13716"/>
                </a:lnTo>
                <a:lnTo>
                  <a:pt x="1584960" y="13716"/>
                </a:lnTo>
                <a:lnTo>
                  <a:pt x="1557527" y="0"/>
                </a:lnTo>
                <a:close/>
              </a:path>
              <a:path w="1600200" h="43180">
                <a:moveTo>
                  <a:pt x="1557527" y="13716"/>
                </a:moveTo>
                <a:lnTo>
                  <a:pt x="0" y="13716"/>
                </a:lnTo>
                <a:lnTo>
                  <a:pt x="0" y="28956"/>
                </a:lnTo>
                <a:lnTo>
                  <a:pt x="1557527" y="28956"/>
                </a:lnTo>
                <a:lnTo>
                  <a:pt x="1557527" y="13716"/>
                </a:lnTo>
                <a:close/>
              </a:path>
              <a:path w="1600200" h="43180">
                <a:moveTo>
                  <a:pt x="1584960" y="13716"/>
                </a:moveTo>
                <a:lnTo>
                  <a:pt x="1565148" y="13716"/>
                </a:lnTo>
                <a:lnTo>
                  <a:pt x="1565148" y="28956"/>
                </a:lnTo>
                <a:lnTo>
                  <a:pt x="1584960" y="28956"/>
                </a:lnTo>
                <a:lnTo>
                  <a:pt x="1600200" y="21336"/>
                </a:lnTo>
                <a:lnTo>
                  <a:pt x="1584960" y="13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059584" y="1503213"/>
            <a:ext cx="44450" cy="1066800"/>
          </a:xfrm>
          <a:custGeom>
            <a:avLst/>
            <a:gdLst/>
            <a:ahLst/>
            <a:cxnLst/>
            <a:rect l="l" t="t" r="r" b="b"/>
            <a:pathLst>
              <a:path w="44450" h="1066800">
                <a:moveTo>
                  <a:pt x="28955" y="35051"/>
                </a:moveTo>
                <a:lnTo>
                  <a:pt x="15239" y="35051"/>
                </a:lnTo>
                <a:lnTo>
                  <a:pt x="15239" y="1066800"/>
                </a:lnTo>
                <a:lnTo>
                  <a:pt x="28955" y="1066800"/>
                </a:lnTo>
                <a:lnTo>
                  <a:pt x="28955" y="35051"/>
                </a:lnTo>
                <a:close/>
              </a:path>
              <a:path w="44450" h="1066800">
                <a:moveTo>
                  <a:pt x="21336" y="0"/>
                </a:moveTo>
                <a:lnTo>
                  <a:pt x="0" y="42672"/>
                </a:lnTo>
                <a:lnTo>
                  <a:pt x="15239" y="42672"/>
                </a:lnTo>
                <a:lnTo>
                  <a:pt x="15239" y="35051"/>
                </a:lnTo>
                <a:lnTo>
                  <a:pt x="40113" y="35051"/>
                </a:lnTo>
                <a:lnTo>
                  <a:pt x="21336" y="0"/>
                </a:lnTo>
                <a:close/>
              </a:path>
              <a:path w="44450" h="1066800">
                <a:moveTo>
                  <a:pt x="40113" y="35051"/>
                </a:moveTo>
                <a:lnTo>
                  <a:pt x="28955" y="35051"/>
                </a:lnTo>
                <a:lnTo>
                  <a:pt x="28955" y="42672"/>
                </a:lnTo>
                <a:lnTo>
                  <a:pt x="44195" y="42672"/>
                </a:lnTo>
                <a:lnTo>
                  <a:pt x="40113" y="3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903373" y="1760769"/>
            <a:ext cx="0" cy="1015365"/>
          </a:xfrm>
          <a:custGeom>
            <a:avLst/>
            <a:gdLst/>
            <a:ahLst/>
            <a:cxnLst/>
            <a:rect l="l" t="t" r="r" b="b"/>
            <a:pathLst>
              <a:path h="1015364">
                <a:moveTo>
                  <a:pt x="0" y="0"/>
                </a:moveTo>
                <a:lnTo>
                  <a:pt x="0" y="1014983"/>
                </a:lnTo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284373" y="1760769"/>
            <a:ext cx="0" cy="1015365"/>
          </a:xfrm>
          <a:custGeom>
            <a:avLst/>
            <a:gdLst/>
            <a:ahLst/>
            <a:cxnLst/>
            <a:rect l="l" t="t" r="r" b="b"/>
            <a:pathLst>
              <a:path h="1015364">
                <a:moveTo>
                  <a:pt x="0" y="0"/>
                </a:moveTo>
                <a:lnTo>
                  <a:pt x="0" y="1014983"/>
                </a:lnTo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923426" y="2514729"/>
            <a:ext cx="3340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libri" panose="020F0502020204030204"/>
                <a:cs typeface="Calibri" panose="020F0502020204030204"/>
              </a:rPr>
              <a:t>..</a:t>
            </a:r>
            <a:r>
              <a:rPr sz="14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latin typeface="Calibri" panose="020F0502020204030204"/>
                <a:cs typeface="Calibri" panose="020F0502020204030204"/>
              </a:rPr>
              <a:t>….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607211" y="2032041"/>
            <a:ext cx="471170" cy="190500"/>
          </a:xfrm>
          <a:custGeom>
            <a:avLst/>
            <a:gdLst/>
            <a:ahLst/>
            <a:cxnLst/>
            <a:rect l="l" t="t" r="r" b="b"/>
            <a:pathLst>
              <a:path w="471170" h="190500">
                <a:moveTo>
                  <a:pt x="0" y="47243"/>
                </a:moveTo>
                <a:lnTo>
                  <a:pt x="374903" y="47243"/>
                </a:lnTo>
                <a:lnTo>
                  <a:pt x="374903" y="0"/>
                </a:lnTo>
                <a:lnTo>
                  <a:pt x="470915" y="94487"/>
                </a:lnTo>
                <a:lnTo>
                  <a:pt x="374903" y="190499"/>
                </a:lnTo>
                <a:lnTo>
                  <a:pt x="374903" y="143255"/>
                </a:lnTo>
                <a:lnTo>
                  <a:pt x="0" y="143255"/>
                </a:lnTo>
                <a:lnTo>
                  <a:pt x="0" y="4724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608189" y="1717551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减均值 除方差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5428" y="1628493"/>
            <a:ext cx="1765224" cy="104096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92128" y="2539905"/>
            <a:ext cx="1600200" cy="44450"/>
          </a:xfrm>
          <a:custGeom>
            <a:avLst/>
            <a:gdLst/>
            <a:ahLst/>
            <a:cxnLst/>
            <a:rect l="l" t="t" r="r" b="b"/>
            <a:pathLst>
              <a:path w="1600200" h="44450">
                <a:moveTo>
                  <a:pt x="1557527" y="0"/>
                </a:moveTo>
                <a:lnTo>
                  <a:pt x="1557527" y="44196"/>
                </a:lnTo>
                <a:lnTo>
                  <a:pt x="1585976" y="28955"/>
                </a:lnTo>
                <a:lnTo>
                  <a:pt x="1563624" y="28955"/>
                </a:lnTo>
                <a:lnTo>
                  <a:pt x="1563624" y="15240"/>
                </a:lnTo>
                <a:lnTo>
                  <a:pt x="1588008" y="15240"/>
                </a:lnTo>
                <a:lnTo>
                  <a:pt x="1557527" y="0"/>
                </a:lnTo>
                <a:close/>
              </a:path>
              <a:path w="1600200" h="44450">
                <a:moveTo>
                  <a:pt x="1557527" y="15240"/>
                </a:moveTo>
                <a:lnTo>
                  <a:pt x="0" y="15240"/>
                </a:lnTo>
                <a:lnTo>
                  <a:pt x="0" y="28955"/>
                </a:lnTo>
                <a:lnTo>
                  <a:pt x="1557527" y="28955"/>
                </a:lnTo>
                <a:lnTo>
                  <a:pt x="1557527" y="15240"/>
                </a:lnTo>
                <a:close/>
              </a:path>
              <a:path w="1600200" h="44450">
                <a:moveTo>
                  <a:pt x="1588008" y="15240"/>
                </a:moveTo>
                <a:lnTo>
                  <a:pt x="1563624" y="15240"/>
                </a:lnTo>
                <a:lnTo>
                  <a:pt x="1563624" y="28955"/>
                </a:lnTo>
                <a:lnTo>
                  <a:pt x="1585976" y="28955"/>
                </a:lnTo>
                <a:lnTo>
                  <a:pt x="1600200" y="21336"/>
                </a:lnTo>
                <a:lnTo>
                  <a:pt x="1588008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70892" y="1494441"/>
            <a:ext cx="43180" cy="1066800"/>
          </a:xfrm>
          <a:custGeom>
            <a:avLst/>
            <a:gdLst/>
            <a:ahLst/>
            <a:cxnLst/>
            <a:rect l="l" t="t" r="r" b="b"/>
            <a:pathLst>
              <a:path w="43180" h="1066800">
                <a:moveTo>
                  <a:pt x="27432" y="36575"/>
                </a:moveTo>
                <a:lnTo>
                  <a:pt x="13716" y="36575"/>
                </a:lnTo>
                <a:lnTo>
                  <a:pt x="13716" y="1066800"/>
                </a:lnTo>
                <a:lnTo>
                  <a:pt x="27432" y="1066800"/>
                </a:lnTo>
                <a:lnTo>
                  <a:pt x="27432" y="36575"/>
                </a:lnTo>
                <a:close/>
              </a:path>
              <a:path w="43180" h="1066800">
                <a:moveTo>
                  <a:pt x="21336" y="0"/>
                </a:moveTo>
                <a:lnTo>
                  <a:pt x="0" y="44195"/>
                </a:lnTo>
                <a:lnTo>
                  <a:pt x="13716" y="44195"/>
                </a:lnTo>
                <a:lnTo>
                  <a:pt x="13716" y="36575"/>
                </a:lnTo>
                <a:lnTo>
                  <a:pt x="38993" y="36575"/>
                </a:lnTo>
                <a:lnTo>
                  <a:pt x="21336" y="0"/>
                </a:lnTo>
                <a:close/>
              </a:path>
              <a:path w="43180" h="1066800">
                <a:moveTo>
                  <a:pt x="38993" y="36575"/>
                </a:moveTo>
                <a:lnTo>
                  <a:pt x="27432" y="36575"/>
                </a:lnTo>
                <a:lnTo>
                  <a:pt x="27432" y="44195"/>
                </a:lnTo>
                <a:lnTo>
                  <a:pt x="42672" y="44195"/>
                </a:lnTo>
                <a:lnTo>
                  <a:pt x="38993" y="36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44528" y="2247297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7"/>
                </a:lnTo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25528" y="2247297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7"/>
                </a:lnTo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63870" y="2505960"/>
            <a:ext cx="3340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libri" panose="020F0502020204030204"/>
                <a:cs typeface="Calibri" panose="020F0502020204030204"/>
              </a:rPr>
              <a:t>..</a:t>
            </a:r>
            <a:r>
              <a:rPr sz="14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latin typeface="Calibri" panose="020F0502020204030204"/>
                <a:cs typeface="Calibri" panose="020F0502020204030204"/>
              </a:rPr>
              <a:t>….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1262" y="2781675"/>
            <a:ext cx="1054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小梯度、无梯度区域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680" y="642525"/>
            <a:ext cx="1031875" cy="178435"/>
          </a:xfrm>
          <a:prstGeom prst="rect">
            <a:avLst/>
          </a:prstGeom>
          <a:solidFill>
            <a:srgbClr val="F3F3F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spc="20" dirty="0">
                <a:latin typeface="Arial" panose="020B0604020202020204"/>
                <a:cs typeface="Arial" panose="020B0604020202020204"/>
              </a:rPr>
              <a:t>FC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680" y="1000665"/>
            <a:ext cx="1031875" cy="178435"/>
          </a:xfrm>
          <a:prstGeom prst="rect">
            <a:avLst/>
          </a:prstGeom>
          <a:solidFill>
            <a:srgbClr val="D9EAD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spc="25" dirty="0">
                <a:latin typeface="Arial" panose="020B0604020202020204"/>
                <a:cs typeface="Arial" panose="020B0604020202020204"/>
              </a:rPr>
              <a:t>BN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7792" y="866553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19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8648" y="950373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19812" y="0"/>
                </a:moveTo>
                <a:lnTo>
                  <a:pt x="0" y="0"/>
                </a:lnTo>
                <a:lnTo>
                  <a:pt x="9143" y="28955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18647" y="950373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2680" y="1335945"/>
            <a:ext cx="1031875" cy="178435"/>
          </a:xfrm>
          <a:prstGeom prst="rect">
            <a:avLst/>
          </a:prstGeom>
          <a:solidFill>
            <a:srgbClr val="F3F3F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75"/>
              </a:spcBef>
            </a:pPr>
            <a:r>
              <a:rPr sz="900" spc="15" dirty="0">
                <a:latin typeface="Arial" panose="020B0604020202020204"/>
                <a:cs typeface="Arial" panose="020B0604020202020204"/>
              </a:rPr>
              <a:t>tanh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8648" y="604425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19812" y="0"/>
                </a:moveTo>
                <a:lnTo>
                  <a:pt x="0" y="0"/>
                </a:lnTo>
                <a:lnTo>
                  <a:pt x="9143" y="28955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7792" y="1223169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0"/>
                </a:moveTo>
                <a:lnTo>
                  <a:pt x="0" y="82295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8648" y="1305465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19812" y="0"/>
                </a:moveTo>
                <a:lnTo>
                  <a:pt x="0" y="0"/>
                </a:lnTo>
                <a:lnTo>
                  <a:pt x="9143" y="28955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8647" y="1305465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2680" y="1724565"/>
            <a:ext cx="1031875" cy="178435"/>
          </a:xfrm>
          <a:prstGeom prst="rect">
            <a:avLst/>
          </a:prstGeom>
          <a:solidFill>
            <a:srgbClr val="F3F3F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spc="20" dirty="0">
                <a:latin typeface="Arial" panose="020B0604020202020204"/>
                <a:cs typeface="Arial" panose="020B0604020202020204"/>
              </a:rPr>
              <a:t>FC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2680" y="2082705"/>
            <a:ext cx="1031875" cy="178435"/>
          </a:xfrm>
          <a:prstGeom prst="rect">
            <a:avLst/>
          </a:prstGeom>
          <a:solidFill>
            <a:srgbClr val="D9EAD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spc="25" dirty="0">
                <a:latin typeface="Arial" panose="020B0604020202020204"/>
                <a:cs typeface="Arial" panose="020B0604020202020204"/>
              </a:rPr>
              <a:t>BN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7792" y="1948593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19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8648" y="2032413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19812" y="0"/>
                </a:moveTo>
                <a:lnTo>
                  <a:pt x="0" y="0"/>
                </a:lnTo>
                <a:lnTo>
                  <a:pt x="9143" y="28955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8647" y="2032412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7792" y="1572165"/>
            <a:ext cx="0" cy="116205"/>
          </a:xfrm>
          <a:custGeom>
            <a:avLst/>
            <a:gdLst/>
            <a:ahLst/>
            <a:cxnLst/>
            <a:rect l="l" t="t" r="r" b="b"/>
            <a:pathLst>
              <a:path h="116205">
                <a:moveTo>
                  <a:pt x="0" y="0"/>
                </a:moveTo>
                <a:lnTo>
                  <a:pt x="0" y="115823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8648" y="168798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19812" y="0"/>
                </a:moveTo>
                <a:lnTo>
                  <a:pt x="0" y="0"/>
                </a:lnTo>
                <a:lnTo>
                  <a:pt x="9143" y="28955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8647" y="168798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27792" y="2303684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19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8648" y="2387505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19812" y="0"/>
                </a:moveTo>
                <a:lnTo>
                  <a:pt x="0" y="0"/>
                </a:lnTo>
                <a:lnTo>
                  <a:pt x="9143" y="28955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18647" y="2387505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2680" y="2417984"/>
            <a:ext cx="1031875" cy="178435"/>
          </a:xfrm>
          <a:prstGeom prst="rect">
            <a:avLst/>
          </a:prstGeom>
          <a:solidFill>
            <a:srgbClr val="F3F3F3"/>
          </a:solidFill>
          <a:ln w="4571">
            <a:solidFill>
              <a:srgbClr val="6666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75"/>
              </a:spcBef>
            </a:pPr>
            <a:r>
              <a:rPr sz="900" spc="15" dirty="0">
                <a:latin typeface="Arial" panose="020B0604020202020204"/>
                <a:cs typeface="Arial" panose="020B0604020202020204"/>
              </a:rPr>
              <a:t>tanh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7792" y="2642012"/>
            <a:ext cx="0" cy="120650"/>
          </a:xfrm>
          <a:custGeom>
            <a:avLst/>
            <a:gdLst/>
            <a:ahLst/>
            <a:cxnLst/>
            <a:rect l="l" t="t" r="r" b="b"/>
            <a:pathLst>
              <a:path h="120650">
                <a:moveTo>
                  <a:pt x="0" y="0"/>
                </a:moveTo>
                <a:lnTo>
                  <a:pt x="0" y="120395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8648" y="276240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19812" y="0"/>
                </a:moveTo>
                <a:lnTo>
                  <a:pt x="0" y="0"/>
                </a:lnTo>
                <a:lnTo>
                  <a:pt x="9143" y="28956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18647" y="2762409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10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49590" y="2740613"/>
            <a:ext cx="1257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 panose="020B0604020202020204"/>
                <a:cs typeface="Arial" panose="020B0604020202020204"/>
              </a:rPr>
              <a:t>.</a:t>
            </a:r>
            <a:r>
              <a:rPr sz="900" spc="15" dirty="0">
                <a:latin typeface="Arial" panose="020B0604020202020204"/>
                <a:cs typeface="Arial" panose="020B0604020202020204"/>
              </a:rPr>
              <a:t>.</a:t>
            </a:r>
            <a:r>
              <a:rPr sz="900" spc="10" dirty="0">
                <a:latin typeface="Arial" panose="020B0604020202020204"/>
                <a:cs typeface="Arial" panose="020B0604020202020204"/>
              </a:rPr>
              <a:t>.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90452" y="852291"/>
            <a:ext cx="1962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经常插入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全连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接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层后，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非线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性激活前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27792" y="476409"/>
            <a:ext cx="0" cy="120650"/>
          </a:xfrm>
          <a:custGeom>
            <a:avLst/>
            <a:gdLst/>
            <a:ahLst/>
            <a:cxnLst/>
            <a:rect l="l" t="t" r="r" b="b"/>
            <a:pathLst>
              <a:path h="120650">
                <a:moveTo>
                  <a:pt x="0" y="0"/>
                </a:moveTo>
                <a:lnTo>
                  <a:pt x="0" y="120395"/>
                </a:lnTo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18648" y="596805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19812" y="0"/>
                </a:moveTo>
                <a:lnTo>
                  <a:pt x="0" y="0"/>
                </a:lnTo>
                <a:lnTo>
                  <a:pt x="9143" y="28955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18647" y="596805"/>
            <a:ext cx="20320" cy="29209"/>
          </a:xfrm>
          <a:custGeom>
            <a:avLst/>
            <a:gdLst/>
            <a:ahLst/>
            <a:cxnLst/>
            <a:rect l="l" t="t" r="r" b="b"/>
            <a:pathLst>
              <a:path w="20320" h="29209">
                <a:moveTo>
                  <a:pt x="0" y="0"/>
                </a:moveTo>
                <a:lnTo>
                  <a:pt x="9143" y="28955"/>
                </a:lnTo>
                <a:lnTo>
                  <a:pt x="19811" y="0"/>
                </a:lnTo>
                <a:lnTo>
                  <a:pt x="0" y="0"/>
                </a:lnTo>
                <a:close/>
              </a:path>
            </a:pathLst>
          </a:custGeom>
          <a:ln w="4571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44428" y="962565"/>
            <a:ext cx="451484" cy="135890"/>
          </a:xfrm>
          <a:custGeom>
            <a:avLst/>
            <a:gdLst/>
            <a:ahLst/>
            <a:cxnLst/>
            <a:rect l="l" t="t" r="r" b="b"/>
            <a:pathLst>
              <a:path w="451484" h="135890">
                <a:moveTo>
                  <a:pt x="32004" y="99059"/>
                </a:moveTo>
                <a:lnTo>
                  <a:pt x="0" y="128015"/>
                </a:lnTo>
                <a:lnTo>
                  <a:pt x="42672" y="135635"/>
                </a:lnTo>
                <a:lnTo>
                  <a:pt x="38226" y="120395"/>
                </a:lnTo>
                <a:lnTo>
                  <a:pt x="32004" y="120395"/>
                </a:lnTo>
                <a:lnTo>
                  <a:pt x="30480" y="115824"/>
                </a:lnTo>
                <a:lnTo>
                  <a:pt x="36415" y="114183"/>
                </a:lnTo>
                <a:lnTo>
                  <a:pt x="32004" y="99059"/>
                </a:lnTo>
                <a:close/>
              </a:path>
              <a:path w="451484" h="135890">
                <a:moveTo>
                  <a:pt x="36415" y="114183"/>
                </a:moveTo>
                <a:lnTo>
                  <a:pt x="30480" y="115824"/>
                </a:lnTo>
                <a:lnTo>
                  <a:pt x="32004" y="120395"/>
                </a:lnTo>
                <a:lnTo>
                  <a:pt x="37762" y="118804"/>
                </a:lnTo>
                <a:lnTo>
                  <a:pt x="36415" y="114183"/>
                </a:lnTo>
                <a:close/>
              </a:path>
              <a:path w="451484" h="135890">
                <a:moveTo>
                  <a:pt x="37762" y="118804"/>
                </a:moveTo>
                <a:lnTo>
                  <a:pt x="32004" y="120395"/>
                </a:lnTo>
                <a:lnTo>
                  <a:pt x="38226" y="120395"/>
                </a:lnTo>
                <a:lnTo>
                  <a:pt x="37762" y="118804"/>
                </a:lnTo>
                <a:close/>
              </a:path>
              <a:path w="451484" h="135890">
                <a:moveTo>
                  <a:pt x="449580" y="0"/>
                </a:moveTo>
                <a:lnTo>
                  <a:pt x="36415" y="114183"/>
                </a:lnTo>
                <a:lnTo>
                  <a:pt x="37762" y="118804"/>
                </a:lnTo>
                <a:lnTo>
                  <a:pt x="451104" y="4571"/>
                </a:lnTo>
                <a:lnTo>
                  <a:pt x="449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141380" y="1014381"/>
            <a:ext cx="455930" cy="1156970"/>
          </a:xfrm>
          <a:custGeom>
            <a:avLst/>
            <a:gdLst/>
            <a:ahLst/>
            <a:cxnLst/>
            <a:rect l="l" t="t" r="r" b="b"/>
            <a:pathLst>
              <a:path w="455930" h="1156970">
                <a:moveTo>
                  <a:pt x="0" y="1114044"/>
                </a:moveTo>
                <a:lnTo>
                  <a:pt x="3047" y="1156716"/>
                </a:lnTo>
                <a:lnTo>
                  <a:pt x="35051" y="1127760"/>
                </a:lnTo>
                <a:lnTo>
                  <a:pt x="16763" y="1127760"/>
                </a:lnTo>
                <a:lnTo>
                  <a:pt x="12192" y="1126236"/>
                </a:lnTo>
                <a:lnTo>
                  <a:pt x="14701" y="1119796"/>
                </a:lnTo>
                <a:lnTo>
                  <a:pt x="0" y="1114044"/>
                </a:lnTo>
                <a:close/>
              </a:path>
              <a:path w="455930" h="1156970">
                <a:moveTo>
                  <a:pt x="14701" y="1119796"/>
                </a:moveTo>
                <a:lnTo>
                  <a:pt x="12192" y="1126236"/>
                </a:lnTo>
                <a:lnTo>
                  <a:pt x="16763" y="1127760"/>
                </a:lnTo>
                <a:lnTo>
                  <a:pt x="19183" y="1121550"/>
                </a:lnTo>
                <a:lnTo>
                  <a:pt x="14701" y="1119796"/>
                </a:lnTo>
                <a:close/>
              </a:path>
              <a:path w="455930" h="1156970">
                <a:moveTo>
                  <a:pt x="19183" y="1121550"/>
                </a:moveTo>
                <a:lnTo>
                  <a:pt x="16763" y="1127760"/>
                </a:lnTo>
                <a:lnTo>
                  <a:pt x="35051" y="1127760"/>
                </a:lnTo>
                <a:lnTo>
                  <a:pt x="19183" y="1121550"/>
                </a:lnTo>
                <a:close/>
              </a:path>
              <a:path w="455930" h="1156970">
                <a:moveTo>
                  <a:pt x="451103" y="0"/>
                </a:moveTo>
                <a:lnTo>
                  <a:pt x="14701" y="1119796"/>
                </a:lnTo>
                <a:lnTo>
                  <a:pt x="19183" y="1121550"/>
                </a:lnTo>
                <a:lnTo>
                  <a:pt x="455675" y="1524"/>
                </a:lnTo>
                <a:lnTo>
                  <a:pt x="4511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881459" y="142144"/>
            <a:ext cx="208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批归一化与梯度消失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154598" y="1630017"/>
            <a:ext cx="1771247" cy="1040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280820" y="2542953"/>
            <a:ext cx="1600200" cy="43180"/>
          </a:xfrm>
          <a:custGeom>
            <a:avLst/>
            <a:gdLst/>
            <a:ahLst/>
            <a:cxnLst/>
            <a:rect l="l" t="t" r="r" b="b"/>
            <a:pathLst>
              <a:path w="1600200" h="43180">
                <a:moveTo>
                  <a:pt x="1557527" y="0"/>
                </a:moveTo>
                <a:lnTo>
                  <a:pt x="1557527" y="42672"/>
                </a:lnTo>
                <a:lnTo>
                  <a:pt x="1584960" y="28955"/>
                </a:lnTo>
                <a:lnTo>
                  <a:pt x="1565148" y="28955"/>
                </a:lnTo>
                <a:lnTo>
                  <a:pt x="1565148" y="13716"/>
                </a:lnTo>
                <a:lnTo>
                  <a:pt x="1584959" y="13716"/>
                </a:lnTo>
                <a:lnTo>
                  <a:pt x="1557527" y="0"/>
                </a:lnTo>
                <a:close/>
              </a:path>
              <a:path w="1600200" h="43180">
                <a:moveTo>
                  <a:pt x="1557527" y="13716"/>
                </a:moveTo>
                <a:lnTo>
                  <a:pt x="0" y="13716"/>
                </a:lnTo>
                <a:lnTo>
                  <a:pt x="0" y="28955"/>
                </a:lnTo>
                <a:lnTo>
                  <a:pt x="1557527" y="28955"/>
                </a:lnTo>
                <a:lnTo>
                  <a:pt x="1557527" y="13716"/>
                </a:lnTo>
                <a:close/>
              </a:path>
              <a:path w="1600200" h="43180">
                <a:moveTo>
                  <a:pt x="1584959" y="13716"/>
                </a:moveTo>
                <a:lnTo>
                  <a:pt x="1565148" y="13716"/>
                </a:lnTo>
                <a:lnTo>
                  <a:pt x="1565148" y="28955"/>
                </a:lnTo>
                <a:lnTo>
                  <a:pt x="1584960" y="28955"/>
                </a:lnTo>
                <a:lnTo>
                  <a:pt x="1600200" y="21336"/>
                </a:lnTo>
                <a:lnTo>
                  <a:pt x="1584959" y="13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059584" y="1497489"/>
            <a:ext cx="44450" cy="1066800"/>
          </a:xfrm>
          <a:custGeom>
            <a:avLst/>
            <a:gdLst/>
            <a:ahLst/>
            <a:cxnLst/>
            <a:rect l="l" t="t" r="r" b="b"/>
            <a:pathLst>
              <a:path w="44450" h="1066800">
                <a:moveTo>
                  <a:pt x="28955" y="35051"/>
                </a:moveTo>
                <a:lnTo>
                  <a:pt x="15239" y="35051"/>
                </a:lnTo>
                <a:lnTo>
                  <a:pt x="15239" y="1066800"/>
                </a:lnTo>
                <a:lnTo>
                  <a:pt x="28955" y="1066800"/>
                </a:lnTo>
                <a:lnTo>
                  <a:pt x="28955" y="35051"/>
                </a:lnTo>
                <a:close/>
              </a:path>
              <a:path w="44450" h="1066800">
                <a:moveTo>
                  <a:pt x="21336" y="0"/>
                </a:moveTo>
                <a:lnTo>
                  <a:pt x="0" y="42671"/>
                </a:lnTo>
                <a:lnTo>
                  <a:pt x="15239" y="42671"/>
                </a:lnTo>
                <a:lnTo>
                  <a:pt x="15239" y="35051"/>
                </a:lnTo>
                <a:lnTo>
                  <a:pt x="40113" y="35051"/>
                </a:lnTo>
                <a:lnTo>
                  <a:pt x="21336" y="0"/>
                </a:lnTo>
                <a:close/>
              </a:path>
              <a:path w="44450" h="1066800">
                <a:moveTo>
                  <a:pt x="40113" y="35051"/>
                </a:moveTo>
                <a:lnTo>
                  <a:pt x="28955" y="35051"/>
                </a:lnTo>
                <a:lnTo>
                  <a:pt x="28955" y="42671"/>
                </a:lnTo>
                <a:lnTo>
                  <a:pt x="44195" y="42671"/>
                </a:lnTo>
                <a:lnTo>
                  <a:pt x="40113" y="3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903373" y="1755045"/>
            <a:ext cx="0" cy="1015365"/>
          </a:xfrm>
          <a:custGeom>
            <a:avLst/>
            <a:gdLst/>
            <a:ahLst/>
            <a:cxnLst/>
            <a:rect l="l" t="t" r="r" b="b"/>
            <a:pathLst>
              <a:path h="1015364">
                <a:moveTo>
                  <a:pt x="0" y="0"/>
                </a:moveTo>
                <a:lnTo>
                  <a:pt x="0" y="1014983"/>
                </a:lnTo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284373" y="1755045"/>
            <a:ext cx="0" cy="1015365"/>
          </a:xfrm>
          <a:custGeom>
            <a:avLst/>
            <a:gdLst/>
            <a:ahLst/>
            <a:cxnLst/>
            <a:rect l="l" t="t" r="r" b="b"/>
            <a:pathLst>
              <a:path h="1015364">
                <a:moveTo>
                  <a:pt x="0" y="0"/>
                </a:moveTo>
                <a:lnTo>
                  <a:pt x="0" y="1014983"/>
                </a:lnTo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923426" y="2508991"/>
            <a:ext cx="3340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alibri" panose="020F0502020204030204"/>
                <a:cs typeface="Calibri" panose="020F0502020204030204"/>
              </a:rPr>
              <a:t>..</a:t>
            </a:r>
            <a:r>
              <a:rPr sz="14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latin typeface="Calibri" panose="020F0502020204030204"/>
                <a:cs typeface="Calibri" panose="020F0502020204030204"/>
              </a:rPr>
              <a:t>….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607211" y="2026317"/>
            <a:ext cx="471170" cy="190500"/>
          </a:xfrm>
          <a:custGeom>
            <a:avLst/>
            <a:gdLst/>
            <a:ahLst/>
            <a:cxnLst/>
            <a:rect l="l" t="t" r="r" b="b"/>
            <a:pathLst>
              <a:path w="471170" h="190500">
                <a:moveTo>
                  <a:pt x="0" y="47243"/>
                </a:moveTo>
                <a:lnTo>
                  <a:pt x="374903" y="47243"/>
                </a:lnTo>
                <a:lnTo>
                  <a:pt x="374903" y="0"/>
                </a:lnTo>
                <a:lnTo>
                  <a:pt x="470915" y="94487"/>
                </a:lnTo>
                <a:lnTo>
                  <a:pt x="374903" y="190499"/>
                </a:lnTo>
                <a:lnTo>
                  <a:pt x="374903" y="143255"/>
                </a:lnTo>
                <a:lnTo>
                  <a:pt x="0" y="143255"/>
                </a:lnTo>
                <a:lnTo>
                  <a:pt x="0" y="4724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608189" y="1711827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减均值 除方差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5367" y="1372149"/>
            <a:ext cx="611505" cy="117475"/>
          </a:xfrm>
          <a:custGeom>
            <a:avLst/>
            <a:gdLst/>
            <a:ahLst/>
            <a:cxnLst/>
            <a:rect l="l" t="t" r="r" b="b"/>
            <a:pathLst>
              <a:path w="611505" h="117475">
                <a:moveTo>
                  <a:pt x="582168" y="0"/>
                </a:moveTo>
                <a:lnTo>
                  <a:pt x="571500" y="0"/>
                </a:lnTo>
                <a:lnTo>
                  <a:pt x="571500" y="4572"/>
                </a:lnTo>
                <a:lnTo>
                  <a:pt x="577595" y="4572"/>
                </a:lnTo>
                <a:lnTo>
                  <a:pt x="582168" y="6096"/>
                </a:lnTo>
                <a:lnTo>
                  <a:pt x="586739" y="9143"/>
                </a:lnTo>
                <a:lnTo>
                  <a:pt x="589788" y="12191"/>
                </a:lnTo>
                <a:lnTo>
                  <a:pt x="591312" y="16763"/>
                </a:lnTo>
                <a:lnTo>
                  <a:pt x="591312" y="30479"/>
                </a:lnTo>
                <a:lnTo>
                  <a:pt x="589788" y="35051"/>
                </a:lnTo>
                <a:lnTo>
                  <a:pt x="589788" y="39624"/>
                </a:lnTo>
                <a:lnTo>
                  <a:pt x="588263" y="42672"/>
                </a:lnTo>
                <a:lnTo>
                  <a:pt x="588263" y="47243"/>
                </a:lnTo>
                <a:lnTo>
                  <a:pt x="591312" y="53339"/>
                </a:lnTo>
                <a:lnTo>
                  <a:pt x="594359" y="54863"/>
                </a:lnTo>
                <a:lnTo>
                  <a:pt x="595883" y="56387"/>
                </a:lnTo>
                <a:lnTo>
                  <a:pt x="598932" y="57912"/>
                </a:lnTo>
                <a:lnTo>
                  <a:pt x="598932" y="59436"/>
                </a:lnTo>
                <a:lnTo>
                  <a:pt x="595883" y="59436"/>
                </a:lnTo>
                <a:lnTo>
                  <a:pt x="589788" y="65531"/>
                </a:lnTo>
                <a:lnTo>
                  <a:pt x="588263" y="68579"/>
                </a:lnTo>
                <a:lnTo>
                  <a:pt x="588263" y="74675"/>
                </a:lnTo>
                <a:lnTo>
                  <a:pt x="589788" y="77724"/>
                </a:lnTo>
                <a:lnTo>
                  <a:pt x="589788" y="80772"/>
                </a:lnTo>
                <a:lnTo>
                  <a:pt x="591312" y="85343"/>
                </a:lnTo>
                <a:lnTo>
                  <a:pt x="591312" y="99060"/>
                </a:lnTo>
                <a:lnTo>
                  <a:pt x="589788" y="105155"/>
                </a:lnTo>
                <a:lnTo>
                  <a:pt x="586739" y="108203"/>
                </a:lnTo>
                <a:lnTo>
                  <a:pt x="582168" y="111251"/>
                </a:lnTo>
                <a:lnTo>
                  <a:pt x="577595" y="112775"/>
                </a:lnTo>
                <a:lnTo>
                  <a:pt x="571500" y="112775"/>
                </a:lnTo>
                <a:lnTo>
                  <a:pt x="571500" y="117348"/>
                </a:lnTo>
                <a:lnTo>
                  <a:pt x="582168" y="117348"/>
                </a:lnTo>
                <a:lnTo>
                  <a:pt x="589788" y="114300"/>
                </a:lnTo>
                <a:lnTo>
                  <a:pt x="594359" y="111251"/>
                </a:lnTo>
                <a:lnTo>
                  <a:pt x="598932" y="106679"/>
                </a:lnTo>
                <a:lnTo>
                  <a:pt x="601980" y="100584"/>
                </a:lnTo>
                <a:lnTo>
                  <a:pt x="601980" y="83820"/>
                </a:lnTo>
                <a:lnTo>
                  <a:pt x="598932" y="74675"/>
                </a:lnTo>
                <a:lnTo>
                  <a:pt x="598932" y="67055"/>
                </a:lnTo>
                <a:lnTo>
                  <a:pt x="603504" y="62484"/>
                </a:lnTo>
                <a:lnTo>
                  <a:pt x="606551" y="60960"/>
                </a:lnTo>
                <a:lnTo>
                  <a:pt x="611124" y="60960"/>
                </a:lnTo>
                <a:lnTo>
                  <a:pt x="611124" y="56387"/>
                </a:lnTo>
                <a:lnTo>
                  <a:pt x="606551" y="56387"/>
                </a:lnTo>
                <a:lnTo>
                  <a:pt x="603504" y="54863"/>
                </a:lnTo>
                <a:lnTo>
                  <a:pt x="600456" y="51815"/>
                </a:lnTo>
                <a:lnTo>
                  <a:pt x="598932" y="48767"/>
                </a:lnTo>
                <a:lnTo>
                  <a:pt x="598932" y="41148"/>
                </a:lnTo>
                <a:lnTo>
                  <a:pt x="600456" y="36575"/>
                </a:lnTo>
                <a:lnTo>
                  <a:pt x="601980" y="33527"/>
                </a:lnTo>
                <a:lnTo>
                  <a:pt x="601980" y="16763"/>
                </a:lnTo>
                <a:lnTo>
                  <a:pt x="598932" y="10667"/>
                </a:lnTo>
                <a:lnTo>
                  <a:pt x="589788" y="1524"/>
                </a:lnTo>
                <a:lnTo>
                  <a:pt x="582168" y="0"/>
                </a:lnTo>
                <a:close/>
              </a:path>
              <a:path w="611505" h="117475">
                <a:moveTo>
                  <a:pt x="39624" y="0"/>
                </a:moveTo>
                <a:lnTo>
                  <a:pt x="28956" y="0"/>
                </a:lnTo>
                <a:lnTo>
                  <a:pt x="21336" y="1524"/>
                </a:lnTo>
                <a:lnTo>
                  <a:pt x="12192" y="10667"/>
                </a:lnTo>
                <a:lnTo>
                  <a:pt x="9143" y="16763"/>
                </a:lnTo>
                <a:lnTo>
                  <a:pt x="9143" y="32003"/>
                </a:lnTo>
                <a:lnTo>
                  <a:pt x="12192" y="41148"/>
                </a:lnTo>
                <a:lnTo>
                  <a:pt x="12192" y="48767"/>
                </a:lnTo>
                <a:lnTo>
                  <a:pt x="10668" y="50291"/>
                </a:lnTo>
                <a:lnTo>
                  <a:pt x="9143" y="53339"/>
                </a:lnTo>
                <a:lnTo>
                  <a:pt x="7619" y="54863"/>
                </a:lnTo>
                <a:lnTo>
                  <a:pt x="4571" y="54863"/>
                </a:lnTo>
                <a:lnTo>
                  <a:pt x="0" y="56387"/>
                </a:lnTo>
                <a:lnTo>
                  <a:pt x="0" y="60960"/>
                </a:lnTo>
                <a:lnTo>
                  <a:pt x="4571" y="60960"/>
                </a:lnTo>
                <a:lnTo>
                  <a:pt x="7619" y="62484"/>
                </a:lnTo>
                <a:lnTo>
                  <a:pt x="12192" y="67055"/>
                </a:lnTo>
                <a:lnTo>
                  <a:pt x="12192" y="74675"/>
                </a:lnTo>
                <a:lnTo>
                  <a:pt x="9143" y="83820"/>
                </a:lnTo>
                <a:lnTo>
                  <a:pt x="9143" y="100584"/>
                </a:lnTo>
                <a:lnTo>
                  <a:pt x="12192" y="106679"/>
                </a:lnTo>
                <a:lnTo>
                  <a:pt x="16763" y="111251"/>
                </a:lnTo>
                <a:lnTo>
                  <a:pt x="21336" y="114300"/>
                </a:lnTo>
                <a:lnTo>
                  <a:pt x="28956" y="117348"/>
                </a:lnTo>
                <a:lnTo>
                  <a:pt x="39624" y="117348"/>
                </a:lnTo>
                <a:lnTo>
                  <a:pt x="39624" y="112775"/>
                </a:lnTo>
                <a:lnTo>
                  <a:pt x="33527" y="112775"/>
                </a:lnTo>
                <a:lnTo>
                  <a:pt x="28956" y="111251"/>
                </a:lnTo>
                <a:lnTo>
                  <a:pt x="24383" y="108203"/>
                </a:lnTo>
                <a:lnTo>
                  <a:pt x="21336" y="105155"/>
                </a:lnTo>
                <a:lnTo>
                  <a:pt x="19812" y="99060"/>
                </a:lnTo>
                <a:lnTo>
                  <a:pt x="19812" y="85343"/>
                </a:lnTo>
                <a:lnTo>
                  <a:pt x="21336" y="80772"/>
                </a:lnTo>
                <a:lnTo>
                  <a:pt x="21336" y="77724"/>
                </a:lnTo>
                <a:lnTo>
                  <a:pt x="22859" y="74675"/>
                </a:lnTo>
                <a:lnTo>
                  <a:pt x="22859" y="68579"/>
                </a:lnTo>
                <a:lnTo>
                  <a:pt x="21336" y="65531"/>
                </a:lnTo>
                <a:lnTo>
                  <a:pt x="15239" y="59436"/>
                </a:lnTo>
                <a:lnTo>
                  <a:pt x="12192" y="59436"/>
                </a:lnTo>
                <a:lnTo>
                  <a:pt x="12192" y="57912"/>
                </a:lnTo>
                <a:lnTo>
                  <a:pt x="15239" y="56387"/>
                </a:lnTo>
                <a:lnTo>
                  <a:pt x="16763" y="54863"/>
                </a:lnTo>
                <a:lnTo>
                  <a:pt x="19812" y="53339"/>
                </a:lnTo>
                <a:lnTo>
                  <a:pt x="22859" y="47243"/>
                </a:lnTo>
                <a:lnTo>
                  <a:pt x="22859" y="42672"/>
                </a:lnTo>
                <a:lnTo>
                  <a:pt x="21336" y="39624"/>
                </a:lnTo>
                <a:lnTo>
                  <a:pt x="21336" y="35051"/>
                </a:lnTo>
                <a:lnTo>
                  <a:pt x="19812" y="30479"/>
                </a:lnTo>
                <a:lnTo>
                  <a:pt x="19812" y="16763"/>
                </a:lnTo>
                <a:lnTo>
                  <a:pt x="21336" y="12191"/>
                </a:lnTo>
                <a:lnTo>
                  <a:pt x="24383" y="9143"/>
                </a:lnTo>
                <a:lnTo>
                  <a:pt x="28956" y="6096"/>
                </a:lnTo>
                <a:lnTo>
                  <a:pt x="33527" y="4572"/>
                </a:lnTo>
                <a:lnTo>
                  <a:pt x="39624" y="4572"/>
                </a:lnTo>
                <a:lnTo>
                  <a:pt x="396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17323" y="1715049"/>
            <a:ext cx="85725" cy="7620"/>
          </a:xfrm>
          <a:custGeom>
            <a:avLst/>
            <a:gdLst/>
            <a:ahLst/>
            <a:cxnLst/>
            <a:rect l="l" t="t" r="r" b="b"/>
            <a:pathLst>
              <a:path w="85725" h="7619">
                <a:moveTo>
                  <a:pt x="0" y="0"/>
                </a:moveTo>
                <a:lnTo>
                  <a:pt x="85343" y="0"/>
                </a:lnTo>
                <a:lnTo>
                  <a:pt x="85343" y="7619"/>
                </a:lnTo>
                <a:lnTo>
                  <a:pt x="0" y="76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85320" y="2038137"/>
            <a:ext cx="85725" cy="7620"/>
          </a:xfrm>
          <a:custGeom>
            <a:avLst/>
            <a:gdLst/>
            <a:ahLst/>
            <a:cxnLst/>
            <a:rect l="l" t="t" r="r" b="b"/>
            <a:pathLst>
              <a:path w="85725" h="7619">
                <a:moveTo>
                  <a:pt x="0" y="0"/>
                </a:moveTo>
                <a:lnTo>
                  <a:pt x="85343" y="0"/>
                </a:lnTo>
                <a:lnTo>
                  <a:pt x="85343" y="7619"/>
                </a:lnTo>
                <a:lnTo>
                  <a:pt x="0" y="76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99848" y="1984797"/>
            <a:ext cx="474345" cy="117475"/>
          </a:xfrm>
          <a:custGeom>
            <a:avLst/>
            <a:gdLst/>
            <a:ahLst/>
            <a:cxnLst/>
            <a:rect l="l" t="t" r="r" b="b"/>
            <a:pathLst>
              <a:path w="474344" h="117475">
                <a:moveTo>
                  <a:pt x="435863" y="0"/>
                </a:moveTo>
                <a:lnTo>
                  <a:pt x="434339" y="4571"/>
                </a:lnTo>
                <a:lnTo>
                  <a:pt x="440888" y="7429"/>
                </a:lnTo>
                <a:lnTo>
                  <a:pt x="446722" y="11429"/>
                </a:lnTo>
                <a:lnTo>
                  <a:pt x="462748" y="47934"/>
                </a:lnTo>
                <a:lnTo>
                  <a:pt x="463296" y="57911"/>
                </a:lnTo>
                <a:lnTo>
                  <a:pt x="462748" y="67889"/>
                </a:lnTo>
                <a:lnTo>
                  <a:pt x="446722" y="105156"/>
                </a:lnTo>
                <a:lnTo>
                  <a:pt x="434339" y="112775"/>
                </a:lnTo>
                <a:lnTo>
                  <a:pt x="435863" y="117347"/>
                </a:lnTo>
                <a:lnTo>
                  <a:pt x="468177" y="87701"/>
                </a:lnTo>
                <a:lnTo>
                  <a:pt x="473963" y="57911"/>
                </a:lnTo>
                <a:lnTo>
                  <a:pt x="473368" y="47672"/>
                </a:lnTo>
                <a:lnTo>
                  <a:pt x="458152" y="12644"/>
                </a:lnTo>
                <a:lnTo>
                  <a:pt x="444436" y="2881"/>
                </a:lnTo>
                <a:lnTo>
                  <a:pt x="435863" y="0"/>
                </a:lnTo>
                <a:close/>
              </a:path>
              <a:path w="474344" h="117475">
                <a:moveTo>
                  <a:pt x="36575" y="0"/>
                </a:moveTo>
                <a:lnTo>
                  <a:pt x="5143" y="28336"/>
                </a:lnTo>
                <a:lnTo>
                  <a:pt x="0" y="57911"/>
                </a:lnTo>
                <a:lnTo>
                  <a:pt x="571" y="68794"/>
                </a:lnTo>
                <a:lnTo>
                  <a:pt x="20574" y="109537"/>
                </a:lnTo>
                <a:lnTo>
                  <a:pt x="36575" y="117347"/>
                </a:lnTo>
                <a:lnTo>
                  <a:pt x="38100" y="112775"/>
                </a:lnTo>
                <a:lnTo>
                  <a:pt x="31551" y="109680"/>
                </a:lnTo>
                <a:lnTo>
                  <a:pt x="25717" y="105155"/>
                </a:lnTo>
                <a:lnTo>
                  <a:pt x="10977" y="67889"/>
                </a:lnTo>
                <a:lnTo>
                  <a:pt x="10667" y="57911"/>
                </a:lnTo>
                <a:lnTo>
                  <a:pt x="10977" y="47934"/>
                </a:lnTo>
                <a:lnTo>
                  <a:pt x="25717" y="11429"/>
                </a:lnTo>
                <a:lnTo>
                  <a:pt x="38100" y="4571"/>
                </a:lnTo>
                <a:lnTo>
                  <a:pt x="36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43360" y="2454189"/>
            <a:ext cx="297180" cy="207645"/>
          </a:xfrm>
          <a:custGeom>
            <a:avLst/>
            <a:gdLst/>
            <a:ahLst/>
            <a:cxnLst/>
            <a:rect l="l" t="t" r="r" b="b"/>
            <a:pathLst>
              <a:path w="297180" h="207644">
                <a:moveTo>
                  <a:pt x="18626" y="155448"/>
                </a:moveTo>
                <a:lnTo>
                  <a:pt x="9143" y="155448"/>
                </a:lnTo>
                <a:lnTo>
                  <a:pt x="38100" y="207263"/>
                </a:lnTo>
                <a:lnTo>
                  <a:pt x="41147" y="207263"/>
                </a:lnTo>
                <a:lnTo>
                  <a:pt x="42925" y="190500"/>
                </a:lnTo>
                <a:lnTo>
                  <a:pt x="38100" y="190500"/>
                </a:lnTo>
                <a:lnTo>
                  <a:pt x="18626" y="155448"/>
                </a:lnTo>
                <a:close/>
              </a:path>
              <a:path w="297180" h="207644">
                <a:moveTo>
                  <a:pt x="297179" y="0"/>
                </a:moveTo>
                <a:lnTo>
                  <a:pt x="56387" y="0"/>
                </a:lnTo>
                <a:lnTo>
                  <a:pt x="38100" y="190500"/>
                </a:lnTo>
                <a:lnTo>
                  <a:pt x="42925" y="190500"/>
                </a:lnTo>
                <a:lnTo>
                  <a:pt x="62483" y="6096"/>
                </a:lnTo>
                <a:lnTo>
                  <a:pt x="297179" y="6096"/>
                </a:lnTo>
                <a:lnTo>
                  <a:pt x="297179" y="0"/>
                </a:lnTo>
                <a:close/>
              </a:path>
              <a:path w="297180" h="207644">
                <a:moveTo>
                  <a:pt x="15239" y="149352"/>
                </a:moveTo>
                <a:lnTo>
                  <a:pt x="0" y="156972"/>
                </a:lnTo>
                <a:lnTo>
                  <a:pt x="1523" y="160019"/>
                </a:lnTo>
                <a:lnTo>
                  <a:pt x="9143" y="155448"/>
                </a:lnTo>
                <a:lnTo>
                  <a:pt x="18626" y="155448"/>
                </a:lnTo>
                <a:lnTo>
                  <a:pt x="15239" y="149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40311" y="2435139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5">
                <a:moveTo>
                  <a:pt x="0" y="0"/>
                </a:moveTo>
                <a:lnTo>
                  <a:pt x="300227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79556" y="548714"/>
            <a:ext cx="90678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5" dirty="0"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1150" b="1" spc="-5" dirty="0">
                <a:latin typeface="黑体" panose="02010609060101010101" charset="-122"/>
                <a:cs typeface="黑体" panose="02010609060101010101" charset="-122"/>
              </a:rPr>
              <a:t>归一</a:t>
            </a:r>
            <a:r>
              <a:rPr sz="1150" b="1" spc="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150" b="1" spc="-5" dirty="0">
                <a:latin typeface="黑体" panose="02010609060101010101" charset="-122"/>
                <a:cs typeface="黑体" panose="02010609060101010101" charset="-122"/>
              </a:rPr>
              <a:t>算法</a:t>
            </a:r>
            <a:endParaRPr sz="115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2959" y="147869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40161" y="807507"/>
          <a:ext cx="2667000" cy="20836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390"/>
                <a:gridCol w="1790700"/>
                <a:gridCol w="676910"/>
              </a:tblGrid>
              <a:tr h="1866899">
                <a:tc gridSpan="3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00" b="1" dirty="0">
                          <a:latin typeface="黑体" panose="02010609060101010101" charset="-122"/>
                          <a:cs typeface="黑体" panose="02010609060101010101" charset="-122"/>
                        </a:rPr>
                        <a:t>输入</a:t>
                      </a:r>
                      <a:r>
                        <a:rPr sz="1000" b="1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：</a:t>
                      </a:r>
                      <a:r>
                        <a:rPr sz="1000" b="1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ℬ</a:t>
                      </a:r>
                      <a:r>
                        <a:rPr sz="1000" spc="9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=</a:t>
                      </a:r>
                      <a:r>
                        <a:rPr sz="1000" spc="5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70" dirty="0">
                          <a:latin typeface="Cambria Math" panose="02040503050406030204"/>
                          <a:cs typeface="Cambria Math" panose="02040503050406030204"/>
                        </a:rPr>
                        <a:t>{x</a:t>
                      </a:r>
                      <a:r>
                        <a:rPr sz="1050" spc="104" baseline="-16000" dirty="0">
                          <a:latin typeface="Cambria Math" panose="02040503050406030204"/>
                          <a:cs typeface="Cambria Math" panose="02040503050406030204"/>
                        </a:rPr>
                        <a:t>l</a:t>
                      </a:r>
                      <a:r>
                        <a:rPr sz="1000" spc="70" dirty="0">
                          <a:latin typeface="Cambria Math" panose="02040503050406030204"/>
                          <a:cs typeface="Cambria Math" panose="02040503050406030204"/>
                        </a:rPr>
                        <a:t>,</a:t>
                      </a:r>
                      <a:r>
                        <a:rPr sz="1000" spc="-5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⋯</a:t>
                      </a:r>
                      <a:r>
                        <a:rPr sz="1000" spc="-5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,</a:t>
                      </a:r>
                      <a:r>
                        <a:rPr sz="1000" spc="-6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65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1050" spc="97" baseline="-16000" dirty="0">
                          <a:latin typeface="Cambria Math" panose="02040503050406030204"/>
                          <a:cs typeface="Cambria Math" panose="02040503050406030204"/>
                        </a:rPr>
                        <a:t>m</a:t>
                      </a:r>
                      <a:r>
                        <a:rPr sz="1050" spc="104" baseline="-16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}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;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4902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学</a:t>
                      </a: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习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参数</a:t>
                      </a:r>
                      <a:r>
                        <a:rPr sz="1000" spc="10" dirty="0">
                          <a:latin typeface="黑体" panose="02010609060101010101" charset="-122"/>
                          <a:cs typeface="黑体" panose="02010609060101010101" charset="-122"/>
                        </a:rPr>
                        <a:t>：</a:t>
                      </a:r>
                      <a:r>
                        <a:rPr sz="1000" spc="10" dirty="0">
                          <a:latin typeface="Cambria Math" panose="02040503050406030204"/>
                          <a:cs typeface="Cambria Math" panose="02040503050406030204"/>
                        </a:rPr>
                        <a:t>y,</a:t>
                      </a:r>
                      <a:r>
                        <a:rPr sz="1000" spc="-6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170" dirty="0">
                          <a:latin typeface="Cambria Math" panose="02040503050406030204"/>
                          <a:cs typeface="Cambria Math" panose="02040503050406030204"/>
                        </a:rPr>
                        <a:t>{3</a:t>
                      </a:r>
                      <a:endParaRPr sz="10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b="1" dirty="0">
                          <a:latin typeface="黑体" panose="02010609060101010101" charset="-122"/>
                          <a:cs typeface="黑体" panose="02010609060101010101" charset="-122"/>
                        </a:rPr>
                        <a:t>输出</a:t>
                      </a:r>
                      <a:r>
                        <a:rPr sz="1000" b="1" spc="-10" dirty="0">
                          <a:latin typeface="黑体" panose="02010609060101010101" charset="-122"/>
                          <a:cs typeface="黑体" panose="02010609060101010101" charset="-122"/>
                        </a:rPr>
                        <a:t>：</a:t>
                      </a:r>
                      <a:r>
                        <a:rPr sz="1000" b="1" spc="385" dirty="0">
                          <a:latin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000" spc="90" dirty="0">
                          <a:latin typeface="Cambria Math" panose="02040503050406030204"/>
                          <a:cs typeface="Cambria Math" panose="02040503050406030204"/>
                        </a:rPr>
                        <a:t>y</a:t>
                      </a:r>
                      <a:r>
                        <a:rPr sz="1050" spc="135" baseline="-16000" dirty="0">
                          <a:latin typeface="Cambria Math" panose="02040503050406030204"/>
                          <a:cs typeface="Cambria Math" panose="02040503050406030204"/>
                        </a:rPr>
                        <a:t>l</a:t>
                      </a:r>
                      <a:r>
                        <a:rPr sz="1000" spc="90" dirty="0">
                          <a:latin typeface="Cambria Math" panose="02040503050406030204"/>
                          <a:cs typeface="Cambria Math" panose="02040503050406030204"/>
                        </a:rPr>
                        <a:t>,</a:t>
                      </a:r>
                      <a:r>
                        <a:rPr sz="1000" spc="-5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⋯</a:t>
                      </a:r>
                      <a:r>
                        <a:rPr sz="1000" spc="-5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,</a:t>
                      </a:r>
                      <a:r>
                        <a:rPr sz="1000" spc="-5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30" dirty="0">
                          <a:latin typeface="Cambria Math" panose="02040503050406030204"/>
                          <a:cs typeface="Cambria Math" panose="02040503050406030204"/>
                        </a:rPr>
                        <a:t>y</a:t>
                      </a:r>
                      <a:r>
                        <a:rPr sz="1050" spc="44" baseline="-16000" dirty="0">
                          <a:latin typeface="Cambria Math" panose="02040503050406030204"/>
                          <a:cs typeface="Cambria Math" panose="02040503050406030204"/>
                        </a:rPr>
                        <a:t>m</a:t>
                      </a:r>
                      <a:endParaRPr sz="1050" baseline="-160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 marL="274320" indent="-228600">
                        <a:lnSpc>
                          <a:spcPts val="875"/>
                        </a:lnSpc>
                        <a:spcBef>
                          <a:spcPts val="1065"/>
                        </a:spcBef>
                        <a:buAutoNum type="arabicPeriod"/>
                        <a:tabLst>
                          <a:tab pos="274955" algn="l"/>
                        </a:tabLst>
                      </a:pP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计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算小</a:t>
                      </a: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批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量均</a:t>
                      </a: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值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：</a:t>
                      </a:r>
                      <a:r>
                        <a:rPr sz="10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μ</a:t>
                      </a:r>
                      <a:r>
                        <a:rPr sz="1000" spc="18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←</a:t>
                      </a:r>
                      <a:r>
                        <a:rPr sz="1000" spc="17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50" spc="345" baseline="48000" dirty="0">
                          <a:latin typeface="Cambria Math" panose="02040503050406030204"/>
                          <a:cs typeface="Cambria Math" panose="02040503050406030204"/>
                        </a:rPr>
                        <a:t>l</a:t>
                      </a:r>
                      <a:r>
                        <a:rPr sz="1050" spc="202" baseline="48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500" spc="67" baseline="3000" dirty="0">
                          <a:latin typeface="Cambria Math" panose="02040503050406030204"/>
                          <a:cs typeface="Cambria Math" panose="02040503050406030204"/>
                        </a:rPr>
                        <a:t>∑</a:t>
                      </a:r>
                      <a:r>
                        <a:rPr sz="1050" spc="67" baseline="32000" dirty="0">
                          <a:latin typeface="Cambria Math" panose="02040503050406030204"/>
                          <a:cs typeface="Cambria Math" panose="02040503050406030204"/>
                        </a:rPr>
                        <a:t>m</a:t>
                      </a:r>
                      <a:r>
                        <a:rPr sz="1050" spc="187" baseline="32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endParaRPr sz="10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 marL="1421765">
                        <a:lnSpc>
                          <a:spcPts val="515"/>
                        </a:lnSpc>
                        <a:tabLst>
                          <a:tab pos="1670050" algn="l"/>
                        </a:tabLst>
                      </a:pPr>
                      <a:r>
                        <a:rPr sz="1050" spc="30" baseline="4000" dirty="0">
                          <a:latin typeface="Cambria Math" panose="02040503050406030204"/>
                          <a:cs typeface="Cambria Math" panose="02040503050406030204"/>
                        </a:rPr>
                        <a:t>ℬ	</a:t>
                      </a:r>
                      <a:r>
                        <a:rPr sz="1050" spc="142" baseline="-20000" dirty="0">
                          <a:latin typeface="Cambria Math" panose="02040503050406030204"/>
                          <a:cs typeface="Cambria Math" panose="02040503050406030204"/>
                        </a:rPr>
                        <a:t>m </a:t>
                      </a:r>
                      <a:r>
                        <a:rPr sz="700" spc="90" dirty="0">
                          <a:latin typeface="Cambria Math" panose="02040503050406030204"/>
                          <a:cs typeface="Cambria Math" panose="02040503050406030204"/>
                        </a:rPr>
                        <a:t>i=l</a:t>
                      </a:r>
                      <a:r>
                        <a:rPr sz="700" spc="12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50" spc="60" baseline="4000" dirty="0">
                          <a:latin typeface="Cambria Math" panose="02040503050406030204"/>
                          <a:cs typeface="Cambria Math" panose="02040503050406030204"/>
                        </a:rPr>
                        <a:t>i</a:t>
                      </a:r>
                      <a:endParaRPr sz="1050" baseline="40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 marR="684530" algn="r">
                        <a:lnSpc>
                          <a:spcPts val="580"/>
                        </a:lnSpc>
                        <a:spcBef>
                          <a:spcPts val="830"/>
                        </a:spcBef>
                      </a:pPr>
                      <a:r>
                        <a:rPr sz="700" dirty="0">
                          <a:latin typeface="Cambria Math" panose="02040503050406030204"/>
                          <a:cs typeface="Cambria Math" panose="02040503050406030204"/>
                        </a:rPr>
                        <a:t>m</a:t>
                      </a:r>
                      <a:endParaRPr sz="7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 marL="274320" indent="-228600">
                        <a:lnSpc>
                          <a:spcPts val="745"/>
                        </a:lnSpc>
                        <a:buAutoNum type="arabicPeriod" startAt="2"/>
                        <a:tabLst>
                          <a:tab pos="274955" algn="l"/>
                          <a:tab pos="2093595" algn="l"/>
                        </a:tabLst>
                      </a:pP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计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算小</a:t>
                      </a: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批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量方</a:t>
                      </a: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差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：</a:t>
                      </a:r>
                      <a:r>
                        <a:rPr sz="1000" spc="-285" dirty="0">
                          <a:latin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000" spc="10" dirty="0">
                          <a:latin typeface="Cambria Math" panose="02040503050406030204"/>
                          <a:cs typeface="Cambria Math" panose="02040503050406030204"/>
                        </a:rPr>
                        <a:t>σ</a:t>
                      </a:r>
                      <a:r>
                        <a:rPr sz="1050" spc="15" baseline="32000" dirty="0">
                          <a:latin typeface="Cambria Math" panose="02040503050406030204"/>
                          <a:cs typeface="Cambria Math" panose="02040503050406030204"/>
                        </a:rPr>
                        <a:t>2 </a:t>
                      </a:r>
                      <a:r>
                        <a:rPr sz="1050" spc="150" baseline="32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←</a:t>
                      </a:r>
                      <a:r>
                        <a:rPr sz="1000" spc="19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50" spc="345" baseline="48000" dirty="0">
                          <a:latin typeface="Cambria Math" panose="02040503050406030204"/>
                          <a:cs typeface="Cambria Math" panose="02040503050406030204"/>
                        </a:rPr>
                        <a:t>l</a:t>
                      </a:r>
                      <a:r>
                        <a:rPr sz="1050" spc="209" baseline="48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805" dirty="0">
                          <a:latin typeface="Cambria Math" panose="02040503050406030204"/>
                          <a:cs typeface="Cambria Math" panose="02040503050406030204"/>
                        </a:rPr>
                        <a:t>I	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x − μ</a:t>
                      </a:r>
                      <a:r>
                        <a:rPr sz="1000" spc="12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50" spc="52" baseline="28000" dirty="0">
                          <a:latin typeface="Cambria Math" panose="02040503050406030204"/>
                          <a:cs typeface="Cambria Math" panose="02040503050406030204"/>
                        </a:rPr>
                        <a:t>2</a:t>
                      </a:r>
                      <a:endParaRPr sz="1050" baseline="280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 marL="1389380">
                        <a:lnSpc>
                          <a:spcPts val="640"/>
                        </a:lnSpc>
                        <a:tabLst>
                          <a:tab pos="1637030" algn="l"/>
                          <a:tab pos="1887855" algn="l"/>
                          <a:tab pos="2412365" algn="l"/>
                        </a:tabLst>
                      </a:pPr>
                      <a:r>
                        <a:rPr sz="1050" spc="30" baseline="20000" dirty="0">
                          <a:latin typeface="Cambria Math" panose="02040503050406030204"/>
                          <a:cs typeface="Cambria Math" panose="02040503050406030204"/>
                        </a:rPr>
                        <a:t>ℬ	</a:t>
                      </a:r>
                      <a:r>
                        <a:rPr sz="700" spc="95" dirty="0">
                          <a:latin typeface="Cambria Math" panose="02040503050406030204"/>
                          <a:cs typeface="Cambria Math" panose="02040503050406030204"/>
                        </a:rPr>
                        <a:t>m	</a:t>
                      </a:r>
                      <a:r>
                        <a:rPr sz="1050" spc="142" baseline="4000" dirty="0">
                          <a:latin typeface="Cambria Math" panose="02040503050406030204"/>
                          <a:cs typeface="Cambria Math" panose="02040503050406030204"/>
                        </a:rPr>
                        <a:t>i=l  </a:t>
                      </a:r>
                      <a:r>
                        <a:rPr sz="1050" spc="405" baseline="4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50" spc="60" baseline="24000" dirty="0">
                          <a:latin typeface="Cambria Math" panose="02040503050406030204"/>
                          <a:cs typeface="Cambria Math" panose="02040503050406030204"/>
                        </a:rPr>
                        <a:t>i	</a:t>
                      </a:r>
                      <a:r>
                        <a:rPr sz="1050" spc="30" baseline="24000" dirty="0">
                          <a:latin typeface="Cambria Math" panose="02040503050406030204"/>
                          <a:cs typeface="Cambria Math" panose="02040503050406030204"/>
                        </a:rPr>
                        <a:t>ℬ</a:t>
                      </a:r>
                      <a:endParaRPr sz="1050" baseline="240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4320" indent="-228600">
                        <a:lnSpc>
                          <a:spcPts val="850"/>
                        </a:lnSpc>
                        <a:buAutoNum type="arabicPeriod" startAt="3"/>
                        <a:tabLst>
                          <a:tab pos="274955" algn="l"/>
                          <a:tab pos="908685" algn="l"/>
                        </a:tabLst>
                      </a:pP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归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一化：</a:t>
                      </a:r>
                      <a:r>
                        <a:rPr lang="en-US"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r</a:t>
                      </a:r>
                      <a:r>
                        <a:rPr lang="en-US" sz="9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i  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←</a:t>
                      </a:r>
                      <a:r>
                        <a:rPr sz="1000" spc="18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50" spc="150" baseline="48000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sz="900" spc="150" baseline="42000" dirty="0">
                          <a:latin typeface="Cambria Math" panose="02040503050406030204"/>
                          <a:cs typeface="Cambria Math" panose="02040503050406030204"/>
                        </a:rPr>
                        <a:t>i</a:t>
                      </a:r>
                      <a:r>
                        <a:rPr sz="1050" spc="150" baseline="48000" dirty="0">
                          <a:latin typeface="Cambria Math" panose="02040503050406030204"/>
                          <a:cs typeface="Cambria Math" panose="02040503050406030204"/>
                        </a:rPr>
                        <a:t>-µ</a:t>
                      </a:r>
                      <a:r>
                        <a:rPr sz="900" spc="150" baseline="42000" dirty="0">
                          <a:latin typeface="Cambria Math" panose="02040503050406030204"/>
                          <a:cs typeface="Cambria Math" panose="02040503050406030204"/>
                        </a:rPr>
                        <a:t>ℬ</a:t>
                      </a:r>
                      <a:endParaRPr sz="900" baseline="420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 marR="675640" algn="ctr">
                        <a:lnSpc>
                          <a:spcPts val="440"/>
                        </a:lnSpc>
                      </a:pPr>
                      <a:r>
                        <a:rPr sz="700" dirty="0">
                          <a:latin typeface="Cambria Math" panose="02040503050406030204"/>
                          <a:cs typeface="Cambria Math" panose="02040503050406030204"/>
                        </a:rPr>
                        <a:t>i</a:t>
                      </a:r>
                      <a:endParaRPr sz="7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 marL="90170" algn="ctr">
                        <a:lnSpc>
                          <a:spcPts val="530"/>
                        </a:lnSpc>
                      </a:pPr>
                      <a:r>
                        <a:rPr sz="700" spc="-55" dirty="0">
                          <a:latin typeface="Cambria Math" panose="02040503050406030204"/>
                          <a:cs typeface="Cambria Math" panose="02040503050406030204"/>
                        </a:rPr>
                        <a:t>0"</a:t>
                      </a:r>
                      <a:r>
                        <a:rPr sz="900" spc="-82" baseline="28000" dirty="0">
                          <a:latin typeface="Cambria Math" panose="02040503050406030204"/>
                          <a:cs typeface="Cambria Math" panose="02040503050406030204"/>
                        </a:rPr>
                        <a:t>2</a:t>
                      </a:r>
                      <a:r>
                        <a:rPr sz="900" spc="-60" baseline="28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700" spc="-25" dirty="0">
                          <a:latin typeface="Cambria Math" panose="02040503050406030204"/>
                          <a:cs typeface="Cambria Math" panose="02040503050406030204"/>
                        </a:rPr>
                        <a:t>+E</a:t>
                      </a:r>
                      <a:endParaRPr sz="700">
                        <a:latin typeface="Cambria Math" panose="02040503050406030204"/>
                        <a:cs typeface="Cambria Math" panose="02040503050406030204"/>
                      </a:endParaRPr>
                    </a:p>
                    <a:p>
                      <a:pPr marL="33020" algn="ctr">
                        <a:lnSpc>
                          <a:spcPts val="465"/>
                        </a:lnSpc>
                      </a:pPr>
                      <a:r>
                        <a:rPr sz="600" dirty="0">
                          <a:latin typeface="Cambria Math" panose="02040503050406030204"/>
                          <a:cs typeface="Cambria Math" panose="02040503050406030204"/>
                        </a:rPr>
                        <a:t>ℬ</a:t>
                      </a:r>
                      <a:endParaRPr sz="6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216788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4.</a:t>
                      </a:r>
                      <a:endParaRPr sz="1000">
                        <a:latin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平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移缩</a:t>
                      </a:r>
                      <a:r>
                        <a:rPr sz="1000" spc="5" dirty="0">
                          <a:latin typeface="黑体" panose="02010609060101010101" charset="-122"/>
                          <a:cs typeface="黑体" panose="02010609060101010101" charset="-122"/>
                        </a:rPr>
                        <a:t>放</a:t>
                      </a:r>
                      <a:r>
                        <a:rPr sz="1000" spc="-5" dirty="0">
                          <a:latin typeface="黑体" panose="02010609060101010101" charset="-122"/>
                          <a:cs typeface="黑体" panose="02010609060101010101" charset="-122"/>
                        </a:rPr>
                        <a:t>：</a:t>
                      </a:r>
                      <a:r>
                        <a:rPr sz="1000" spc="-20" dirty="0">
                          <a:latin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000" spc="20" dirty="0">
                          <a:latin typeface="Cambria Math" panose="02040503050406030204"/>
                          <a:cs typeface="Cambria Math" panose="02040503050406030204"/>
                        </a:rPr>
                        <a:t>y</a:t>
                      </a:r>
                      <a:r>
                        <a:rPr sz="1050" spc="30" baseline="-16000" dirty="0">
                          <a:latin typeface="Cambria Math" panose="02040503050406030204"/>
                          <a:cs typeface="Cambria Math" panose="02040503050406030204"/>
                        </a:rPr>
                        <a:t>i</a:t>
                      </a:r>
                      <a:r>
                        <a:rPr sz="1050" spc="240" baseline="-16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←</a:t>
                      </a:r>
                      <a:r>
                        <a:rPr sz="1000" spc="55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180" dirty="0">
                          <a:latin typeface="Cambria Math" panose="02040503050406030204"/>
                          <a:cs typeface="Cambria Math" panose="02040503050406030204"/>
                        </a:rPr>
                        <a:t>γ</a:t>
                      </a:r>
                      <a:r>
                        <a:rPr lang="en-US" sz="1000" spc="-180" dirty="0">
                          <a:latin typeface="Cambria Math" panose="02040503050406030204"/>
                          <a:cs typeface="Cambria Math" panose="02040503050406030204"/>
                        </a:rPr>
                        <a:t>   </a:t>
                      </a:r>
                      <a:r>
                        <a:rPr sz="1000" spc="-180" dirty="0">
                          <a:latin typeface="Cambria Math" panose="02040503050406030204"/>
                          <a:cs typeface="Cambria Math" panose="02040503050406030204"/>
                        </a:rPr>
                        <a:t>x</a:t>
                      </a:r>
                      <a:r>
                        <a:rPr lang="en-US" sz="1000" spc="-180" dirty="0">
                          <a:latin typeface="Cambria Math" panose="02040503050406030204"/>
                          <a:cs typeface="Cambria Math" panose="02040503050406030204"/>
                        </a:rPr>
                        <a:t>     r</a:t>
                      </a:r>
                      <a:r>
                        <a:rPr sz="1050" spc="-270" baseline="-16000" dirty="0">
                          <a:latin typeface="Cambria Math" panose="02040503050406030204"/>
                          <a:cs typeface="Cambria Math" panose="02040503050406030204"/>
                        </a:rPr>
                        <a:t>i</a:t>
                      </a:r>
                      <a:r>
                        <a:rPr lang="en-US" sz="1050" spc="-270" baseline="-16000" dirty="0">
                          <a:latin typeface="Cambria Math" panose="02040503050406030204"/>
                          <a:cs typeface="Cambria Math" panose="02040503050406030204"/>
                        </a:rPr>
                        <a:t>   </a:t>
                      </a:r>
                      <a:r>
                        <a:rPr sz="1050" spc="202" baseline="-16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+</a:t>
                      </a:r>
                      <a:r>
                        <a:rPr sz="1000" dirty="0">
                          <a:latin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00" spc="-5" dirty="0">
                          <a:latin typeface="Cambria Math" panose="02040503050406030204"/>
                          <a:cs typeface="Cambria Math" panose="02040503050406030204"/>
                        </a:rPr>
                        <a:t>β</a:t>
                      </a:r>
                      <a:endParaRPr sz="1000">
                        <a:latin typeface="Cambria Math" panose="02040503050406030204"/>
                        <a:cs typeface="Cambria Math" panose="02040503050406030204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661567" y="589867"/>
            <a:ext cx="1854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问题：输出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均值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方差的正态分布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61567" y="864187"/>
            <a:ext cx="162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是最有利于网络分类的分布吗？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4267" y="1167280"/>
            <a:ext cx="182880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答：根据对分类的贡献自行决定数据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ts val="1025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分布的均值与方差。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42620" y="1110021"/>
            <a:ext cx="2458720" cy="619125"/>
          </a:xfrm>
          <a:custGeom>
            <a:avLst/>
            <a:gdLst/>
            <a:ahLst/>
            <a:cxnLst/>
            <a:rect l="l" t="t" r="r" b="b"/>
            <a:pathLst>
              <a:path w="2458720" h="619125">
                <a:moveTo>
                  <a:pt x="0" y="0"/>
                </a:moveTo>
                <a:lnTo>
                  <a:pt x="2458211" y="0"/>
                </a:lnTo>
                <a:lnTo>
                  <a:pt x="2458211" y="618743"/>
                </a:lnTo>
                <a:lnTo>
                  <a:pt x="0" y="6187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5" name="object 15"/>
          <p:cNvSpPr txBox="1"/>
          <p:nvPr/>
        </p:nvSpPr>
        <p:spPr>
          <a:xfrm>
            <a:off x="3684428" y="1678003"/>
            <a:ext cx="18542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问题：单张样本测试时，均值和方差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怎么设置？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7128" y="2255416"/>
            <a:ext cx="1943100" cy="937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回答：来自于训练中。累加训练时每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200000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个批次的均值和方差，最后进行平均， 用平均后的结果作为预测时的均值和 方差。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42620" y="2147865"/>
            <a:ext cx="2458720" cy="1049020"/>
          </a:xfrm>
          <a:custGeom>
            <a:avLst/>
            <a:gdLst/>
            <a:ahLst/>
            <a:cxnLst/>
            <a:rect l="l" t="t" r="r" b="b"/>
            <a:pathLst>
              <a:path w="2458720" h="1049020">
                <a:moveTo>
                  <a:pt x="0" y="0"/>
                </a:moveTo>
                <a:lnTo>
                  <a:pt x="2458211" y="0"/>
                </a:lnTo>
                <a:lnTo>
                  <a:pt x="2458211" y="1048512"/>
                </a:lnTo>
                <a:lnTo>
                  <a:pt x="0" y="10485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2125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3145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38356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i="1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i="1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314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35270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i="1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27000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69126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17073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59199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3609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6"/>
                </a:moveTo>
                <a:lnTo>
                  <a:pt x="0" y="280416"/>
                </a:lnTo>
                <a:lnTo>
                  <a:pt x="19812" y="318516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6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908" y="280416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39577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5"/>
                </a:moveTo>
                <a:lnTo>
                  <a:pt x="0" y="295655"/>
                </a:lnTo>
                <a:lnTo>
                  <a:pt x="28956" y="353568"/>
                </a:lnTo>
                <a:lnTo>
                  <a:pt x="52577" y="306324"/>
                </a:lnTo>
                <a:lnTo>
                  <a:pt x="19812" y="306324"/>
                </a:lnTo>
                <a:lnTo>
                  <a:pt x="19812" y="295655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5"/>
                </a:moveTo>
                <a:lnTo>
                  <a:pt x="38100" y="295655"/>
                </a:lnTo>
                <a:lnTo>
                  <a:pt x="38100" y="306324"/>
                </a:lnTo>
                <a:lnTo>
                  <a:pt x="52577" y="306324"/>
                </a:lnTo>
                <a:lnTo>
                  <a:pt x="57912" y="295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3081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4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3081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40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8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46001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8" y="333755"/>
                </a:lnTo>
                <a:lnTo>
                  <a:pt x="19812" y="333755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5"/>
                </a:lnTo>
                <a:lnTo>
                  <a:pt x="38100" y="333755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5"/>
                </a:lnTo>
                <a:lnTo>
                  <a:pt x="52578" y="333755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67693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8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76153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4"/>
                </a:moveTo>
                <a:lnTo>
                  <a:pt x="19812" y="47244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4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8"/>
                </a:lnTo>
                <a:lnTo>
                  <a:pt x="19812" y="56388"/>
                </a:lnTo>
                <a:lnTo>
                  <a:pt x="19812" y="47244"/>
                </a:lnTo>
                <a:lnTo>
                  <a:pt x="53216" y="47244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4"/>
                </a:moveTo>
                <a:lnTo>
                  <a:pt x="38100" y="47244"/>
                </a:lnTo>
                <a:lnTo>
                  <a:pt x="38100" y="56388"/>
                </a:lnTo>
                <a:lnTo>
                  <a:pt x="57912" y="56388"/>
                </a:lnTo>
                <a:lnTo>
                  <a:pt x="53216" y="47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05768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17657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27641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1"/>
                </a:lnTo>
                <a:lnTo>
                  <a:pt x="13716" y="286511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1"/>
                </a:lnTo>
                <a:lnTo>
                  <a:pt x="25907" y="286511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1"/>
                </a:lnTo>
                <a:lnTo>
                  <a:pt x="35173" y="286511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1017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3916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Clr>
                <a:srgbClr val="000000"/>
              </a:buClr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46157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585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3289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040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3307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0618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57494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</a:t>
            </a:r>
            <a:r>
              <a:rPr sz="900" spc="5" dirty="0">
                <a:latin typeface="微软雅黑" panose="020B0503020204020204" charset="-122"/>
                <a:cs typeface="微软雅黑" panose="020B0503020204020204" charset="-122"/>
              </a:rPr>
              <a:t>F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67223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27641"/>
            <a:ext cx="891540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0852" y="1243701"/>
            <a:ext cx="40887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黑体" panose="02010609060101010101" charset="-122"/>
                <a:cs typeface="黑体" panose="02010609060101010101" charset="-122"/>
              </a:rPr>
              <a:t>出现过拟合，得</a:t>
            </a:r>
            <a:r>
              <a:rPr sz="1200" spc="20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200" spc="35" dirty="0">
                <a:latin typeface="黑体" panose="02010609060101010101" charset="-122"/>
                <a:cs typeface="黑体" panose="02010609060101010101" charset="-122"/>
              </a:rPr>
              <a:t>的模型在训练集</a:t>
            </a:r>
            <a:r>
              <a:rPr sz="1200" spc="20" dirty="0">
                <a:latin typeface="黑体" panose="02010609060101010101" charset="-122"/>
                <a:cs typeface="黑体" panose="02010609060101010101" charset="-122"/>
              </a:rPr>
              <a:t>上的</a:t>
            </a:r>
            <a:r>
              <a:rPr sz="1200" spc="35" dirty="0">
                <a:latin typeface="黑体" panose="02010609060101010101" charset="-122"/>
                <a:cs typeface="黑体" panose="02010609060101010101" charset="-122"/>
              </a:rPr>
              <a:t>准确率很高，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但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在真实的场景中识别率确很低。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8659" y="147869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过拟合现象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059" y="142144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过拟合与欠拟合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9231" y="587661"/>
            <a:ext cx="4648200" cy="1211580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235585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过拟合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习时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包含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多，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至于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现这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235585" marR="339725">
              <a:lnSpc>
                <a:spcPct val="25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对已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测的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好，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对未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测得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象。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这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种情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况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下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型可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只是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住了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练集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据，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不是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征。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736" y="1893202"/>
            <a:ext cx="409321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欠拟合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述能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于不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很好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学习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生欠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因通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单。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059" y="147869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过拟合与欠拟合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2736" y="755940"/>
            <a:ext cx="409321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过拟合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习时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包含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多，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至于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现这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7620">
              <a:lnSpc>
                <a:spcPct val="25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对已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测的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好，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对未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测得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象。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这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种情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况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下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型可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只是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住了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练集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据，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不是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征。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420" y="1812585"/>
            <a:ext cx="4648200" cy="899160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255905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欠拟合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述能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至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于不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很好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学习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255905">
              <a:lnSpc>
                <a:spcPct val="100000"/>
              </a:lnSpc>
              <a:spcBef>
                <a:spcPts val="65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生欠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因通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单。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62560" y="2186337"/>
            <a:ext cx="899160" cy="607060"/>
          </a:xfrm>
          <a:custGeom>
            <a:avLst/>
            <a:gdLst/>
            <a:ahLst/>
            <a:cxnLst/>
            <a:rect l="l" t="t" r="r" b="b"/>
            <a:pathLst>
              <a:path w="899160" h="607060">
                <a:moveTo>
                  <a:pt x="13715" y="592836"/>
                </a:moveTo>
                <a:lnTo>
                  <a:pt x="7619" y="592836"/>
                </a:lnTo>
                <a:lnTo>
                  <a:pt x="7619" y="606552"/>
                </a:lnTo>
                <a:lnTo>
                  <a:pt x="33527" y="606552"/>
                </a:lnTo>
                <a:lnTo>
                  <a:pt x="33527" y="600456"/>
                </a:lnTo>
                <a:lnTo>
                  <a:pt x="13715" y="600456"/>
                </a:lnTo>
                <a:lnTo>
                  <a:pt x="13715" y="592836"/>
                </a:lnTo>
                <a:close/>
              </a:path>
              <a:path w="899160" h="607060">
                <a:moveTo>
                  <a:pt x="13715" y="548640"/>
                </a:moveTo>
                <a:lnTo>
                  <a:pt x="0" y="548640"/>
                </a:lnTo>
                <a:lnTo>
                  <a:pt x="0" y="600456"/>
                </a:lnTo>
                <a:lnTo>
                  <a:pt x="7619" y="600456"/>
                </a:lnTo>
                <a:lnTo>
                  <a:pt x="7619" y="592836"/>
                </a:lnTo>
                <a:lnTo>
                  <a:pt x="13715" y="592836"/>
                </a:lnTo>
                <a:lnTo>
                  <a:pt x="13715" y="548640"/>
                </a:lnTo>
                <a:close/>
              </a:path>
              <a:path w="899160" h="607060">
                <a:moveTo>
                  <a:pt x="33527" y="592836"/>
                </a:moveTo>
                <a:lnTo>
                  <a:pt x="13715" y="592836"/>
                </a:lnTo>
                <a:lnTo>
                  <a:pt x="13715" y="600456"/>
                </a:lnTo>
                <a:lnTo>
                  <a:pt x="33527" y="600456"/>
                </a:lnTo>
                <a:lnTo>
                  <a:pt x="33527" y="592836"/>
                </a:lnTo>
                <a:close/>
              </a:path>
              <a:path w="899160" h="607060">
                <a:moveTo>
                  <a:pt x="13715" y="460248"/>
                </a:moveTo>
                <a:lnTo>
                  <a:pt x="0" y="460248"/>
                </a:lnTo>
                <a:lnTo>
                  <a:pt x="0" y="510540"/>
                </a:lnTo>
                <a:lnTo>
                  <a:pt x="13715" y="510540"/>
                </a:lnTo>
                <a:lnTo>
                  <a:pt x="13715" y="460248"/>
                </a:lnTo>
                <a:close/>
              </a:path>
              <a:path w="899160" h="607060">
                <a:moveTo>
                  <a:pt x="13715" y="371856"/>
                </a:moveTo>
                <a:lnTo>
                  <a:pt x="0" y="371856"/>
                </a:lnTo>
                <a:lnTo>
                  <a:pt x="0" y="422148"/>
                </a:lnTo>
                <a:lnTo>
                  <a:pt x="13715" y="422148"/>
                </a:lnTo>
                <a:lnTo>
                  <a:pt x="13715" y="371856"/>
                </a:lnTo>
                <a:close/>
              </a:path>
              <a:path w="899160" h="607060">
                <a:moveTo>
                  <a:pt x="13715" y="281940"/>
                </a:moveTo>
                <a:lnTo>
                  <a:pt x="0" y="281940"/>
                </a:lnTo>
                <a:lnTo>
                  <a:pt x="0" y="333756"/>
                </a:lnTo>
                <a:lnTo>
                  <a:pt x="13715" y="333756"/>
                </a:lnTo>
                <a:lnTo>
                  <a:pt x="13715" y="281940"/>
                </a:lnTo>
                <a:close/>
              </a:path>
              <a:path w="899160" h="607060">
                <a:moveTo>
                  <a:pt x="13715" y="193548"/>
                </a:moveTo>
                <a:lnTo>
                  <a:pt x="0" y="193548"/>
                </a:lnTo>
                <a:lnTo>
                  <a:pt x="0" y="243840"/>
                </a:lnTo>
                <a:lnTo>
                  <a:pt x="13715" y="243840"/>
                </a:lnTo>
                <a:lnTo>
                  <a:pt x="13715" y="193548"/>
                </a:lnTo>
                <a:close/>
              </a:path>
              <a:path w="899160" h="607060">
                <a:moveTo>
                  <a:pt x="13715" y="105156"/>
                </a:moveTo>
                <a:lnTo>
                  <a:pt x="0" y="105156"/>
                </a:lnTo>
                <a:lnTo>
                  <a:pt x="0" y="155448"/>
                </a:lnTo>
                <a:lnTo>
                  <a:pt x="13715" y="155448"/>
                </a:lnTo>
                <a:lnTo>
                  <a:pt x="13715" y="105156"/>
                </a:lnTo>
                <a:close/>
              </a:path>
              <a:path w="899160" h="607060">
                <a:moveTo>
                  <a:pt x="13715" y="15240"/>
                </a:moveTo>
                <a:lnTo>
                  <a:pt x="0" y="15240"/>
                </a:lnTo>
                <a:lnTo>
                  <a:pt x="0" y="67056"/>
                </a:lnTo>
                <a:lnTo>
                  <a:pt x="13715" y="67056"/>
                </a:lnTo>
                <a:lnTo>
                  <a:pt x="13715" y="15240"/>
                </a:lnTo>
                <a:close/>
              </a:path>
              <a:path w="899160" h="607060">
                <a:moveTo>
                  <a:pt x="85343" y="0"/>
                </a:moveTo>
                <a:lnTo>
                  <a:pt x="35051" y="0"/>
                </a:lnTo>
                <a:lnTo>
                  <a:pt x="35051" y="12192"/>
                </a:lnTo>
                <a:lnTo>
                  <a:pt x="85343" y="12192"/>
                </a:lnTo>
                <a:lnTo>
                  <a:pt x="85343" y="0"/>
                </a:lnTo>
                <a:close/>
              </a:path>
              <a:path w="899160" h="607060">
                <a:moveTo>
                  <a:pt x="175260" y="0"/>
                </a:moveTo>
                <a:lnTo>
                  <a:pt x="123443" y="0"/>
                </a:lnTo>
                <a:lnTo>
                  <a:pt x="123443" y="12192"/>
                </a:lnTo>
                <a:lnTo>
                  <a:pt x="175260" y="12192"/>
                </a:lnTo>
                <a:lnTo>
                  <a:pt x="175260" y="0"/>
                </a:lnTo>
                <a:close/>
              </a:path>
              <a:path w="899160" h="607060">
                <a:moveTo>
                  <a:pt x="263651" y="0"/>
                </a:moveTo>
                <a:lnTo>
                  <a:pt x="213360" y="0"/>
                </a:lnTo>
                <a:lnTo>
                  <a:pt x="213360" y="12192"/>
                </a:lnTo>
                <a:lnTo>
                  <a:pt x="263651" y="12192"/>
                </a:lnTo>
                <a:lnTo>
                  <a:pt x="263651" y="0"/>
                </a:lnTo>
                <a:close/>
              </a:path>
              <a:path w="899160" h="607060">
                <a:moveTo>
                  <a:pt x="352043" y="0"/>
                </a:moveTo>
                <a:lnTo>
                  <a:pt x="301751" y="0"/>
                </a:lnTo>
                <a:lnTo>
                  <a:pt x="301751" y="12192"/>
                </a:lnTo>
                <a:lnTo>
                  <a:pt x="352043" y="12192"/>
                </a:lnTo>
                <a:lnTo>
                  <a:pt x="352043" y="0"/>
                </a:lnTo>
                <a:close/>
              </a:path>
              <a:path w="899160" h="607060">
                <a:moveTo>
                  <a:pt x="441960" y="0"/>
                </a:moveTo>
                <a:lnTo>
                  <a:pt x="390143" y="0"/>
                </a:lnTo>
                <a:lnTo>
                  <a:pt x="390143" y="12192"/>
                </a:lnTo>
                <a:lnTo>
                  <a:pt x="441960" y="12192"/>
                </a:lnTo>
                <a:lnTo>
                  <a:pt x="441960" y="0"/>
                </a:lnTo>
                <a:close/>
              </a:path>
              <a:path w="899160" h="607060">
                <a:moveTo>
                  <a:pt x="530351" y="0"/>
                </a:moveTo>
                <a:lnTo>
                  <a:pt x="480060" y="0"/>
                </a:lnTo>
                <a:lnTo>
                  <a:pt x="480060" y="12192"/>
                </a:lnTo>
                <a:lnTo>
                  <a:pt x="530351" y="12192"/>
                </a:lnTo>
                <a:lnTo>
                  <a:pt x="530351" y="0"/>
                </a:lnTo>
                <a:close/>
              </a:path>
              <a:path w="899160" h="607060">
                <a:moveTo>
                  <a:pt x="618743" y="0"/>
                </a:moveTo>
                <a:lnTo>
                  <a:pt x="568451" y="0"/>
                </a:lnTo>
                <a:lnTo>
                  <a:pt x="568451" y="12192"/>
                </a:lnTo>
                <a:lnTo>
                  <a:pt x="618743" y="12192"/>
                </a:lnTo>
                <a:lnTo>
                  <a:pt x="618743" y="0"/>
                </a:lnTo>
                <a:close/>
              </a:path>
              <a:path w="899160" h="607060">
                <a:moveTo>
                  <a:pt x="708660" y="0"/>
                </a:moveTo>
                <a:lnTo>
                  <a:pt x="656843" y="0"/>
                </a:lnTo>
                <a:lnTo>
                  <a:pt x="656843" y="12192"/>
                </a:lnTo>
                <a:lnTo>
                  <a:pt x="708660" y="12192"/>
                </a:lnTo>
                <a:lnTo>
                  <a:pt x="708660" y="0"/>
                </a:lnTo>
                <a:close/>
              </a:path>
              <a:path w="899160" h="607060">
                <a:moveTo>
                  <a:pt x="797051" y="0"/>
                </a:moveTo>
                <a:lnTo>
                  <a:pt x="746760" y="0"/>
                </a:lnTo>
                <a:lnTo>
                  <a:pt x="746760" y="12192"/>
                </a:lnTo>
                <a:lnTo>
                  <a:pt x="797051" y="12192"/>
                </a:lnTo>
                <a:lnTo>
                  <a:pt x="797051" y="0"/>
                </a:lnTo>
                <a:close/>
              </a:path>
              <a:path w="899160" h="607060">
                <a:moveTo>
                  <a:pt x="885443" y="0"/>
                </a:moveTo>
                <a:lnTo>
                  <a:pt x="835151" y="0"/>
                </a:lnTo>
                <a:lnTo>
                  <a:pt x="835151" y="12192"/>
                </a:lnTo>
                <a:lnTo>
                  <a:pt x="885443" y="12192"/>
                </a:lnTo>
                <a:lnTo>
                  <a:pt x="885443" y="0"/>
                </a:lnTo>
                <a:close/>
              </a:path>
              <a:path w="899160" h="607060">
                <a:moveTo>
                  <a:pt x="899160" y="36576"/>
                </a:moveTo>
                <a:lnTo>
                  <a:pt x="886967" y="36576"/>
                </a:lnTo>
                <a:lnTo>
                  <a:pt x="886967" y="88392"/>
                </a:lnTo>
                <a:lnTo>
                  <a:pt x="899160" y="88392"/>
                </a:lnTo>
                <a:lnTo>
                  <a:pt x="899160" y="36576"/>
                </a:lnTo>
                <a:close/>
              </a:path>
              <a:path w="899160" h="607060">
                <a:moveTo>
                  <a:pt x="899160" y="126492"/>
                </a:moveTo>
                <a:lnTo>
                  <a:pt x="886967" y="126492"/>
                </a:lnTo>
                <a:lnTo>
                  <a:pt x="886967" y="176784"/>
                </a:lnTo>
                <a:lnTo>
                  <a:pt x="899160" y="176784"/>
                </a:lnTo>
                <a:lnTo>
                  <a:pt x="899160" y="126492"/>
                </a:lnTo>
                <a:close/>
              </a:path>
              <a:path w="899160" h="607060">
                <a:moveTo>
                  <a:pt x="899160" y="214884"/>
                </a:moveTo>
                <a:lnTo>
                  <a:pt x="886967" y="214884"/>
                </a:lnTo>
                <a:lnTo>
                  <a:pt x="886967" y="265176"/>
                </a:lnTo>
                <a:lnTo>
                  <a:pt x="899160" y="265176"/>
                </a:lnTo>
                <a:lnTo>
                  <a:pt x="899160" y="214884"/>
                </a:lnTo>
                <a:close/>
              </a:path>
              <a:path w="899160" h="607060">
                <a:moveTo>
                  <a:pt x="899160" y="303276"/>
                </a:moveTo>
                <a:lnTo>
                  <a:pt x="886967" y="303276"/>
                </a:lnTo>
                <a:lnTo>
                  <a:pt x="886967" y="355092"/>
                </a:lnTo>
                <a:lnTo>
                  <a:pt x="899160" y="355092"/>
                </a:lnTo>
                <a:lnTo>
                  <a:pt x="899160" y="303276"/>
                </a:lnTo>
                <a:close/>
              </a:path>
              <a:path w="899160" h="607060">
                <a:moveTo>
                  <a:pt x="899160" y="393192"/>
                </a:moveTo>
                <a:lnTo>
                  <a:pt x="886967" y="393192"/>
                </a:lnTo>
                <a:lnTo>
                  <a:pt x="886967" y="443484"/>
                </a:lnTo>
                <a:lnTo>
                  <a:pt x="899160" y="443484"/>
                </a:lnTo>
                <a:lnTo>
                  <a:pt x="899160" y="393192"/>
                </a:lnTo>
                <a:close/>
              </a:path>
              <a:path w="899160" h="607060">
                <a:moveTo>
                  <a:pt x="899160" y="481584"/>
                </a:moveTo>
                <a:lnTo>
                  <a:pt x="886967" y="481584"/>
                </a:lnTo>
                <a:lnTo>
                  <a:pt x="886967" y="531876"/>
                </a:lnTo>
                <a:lnTo>
                  <a:pt x="899160" y="531876"/>
                </a:lnTo>
                <a:lnTo>
                  <a:pt x="899160" y="481584"/>
                </a:lnTo>
                <a:close/>
              </a:path>
              <a:path w="899160" h="607060">
                <a:moveTo>
                  <a:pt x="886967" y="592836"/>
                </a:moveTo>
                <a:lnTo>
                  <a:pt x="871727" y="592836"/>
                </a:lnTo>
                <a:lnTo>
                  <a:pt x="871727" y="606552"/>
                </a:lnTo>
                <a:lnTo>
                  <a:pt x="897636" y="606552"/>
                </a:lnTo>
                <a:lnTo>
                  <a:pt x="899160" y="603504"/>
                </a:lnTo>
                <a:lnTo>
                  <a:pt x="899160" y="600456"/>
                </a:lnTo>
                <a:lnTo>
                  <a:pt x="886967" y="600456"/>
                </a:lnTo>
                <a:lnTo>
                  <a:pt x="886967" y="592836"/>
                </a:lnTo>
                <a:close/>
              </a:path>
              <a:path w="899160" h="607060">
                <a:moveTo>
                  <a:pt x="899160" y="569976"/>
                </a:moveTo>
                <a:lnTo>
                  <a:pt x="886967" y="569976"/>
                </a:lnTo>
                <a:lnTo>
                  <a:pt x="886967" y="600456"/>
                </a:lnTo>
                <a:lnTo>
                  <a:pt x="893063" y="592836"/>
                </a:lnTo>
                <a:lnTo>
                  <a:pt x="899160" y="592836"/>
                </a:lnTo>
                <a:lnTo>
                  <a:pt x="899160" y="569976"/>
                </a:lnTo>
                <a:close/>
              </a:path>
              <a:path w="899160" h="607060">
                <a:moveTo>
                  <a:pt x="899160" y="592836"/>
                </a:moveTo>
                <a:lnTo>
                  <a:pt x="893063" y="592836"/>
                </a:lnTo>
                <a:lnTo>
                  <a:pt x="886967" y="600456"/>
                </a:lnTo>
                <a:lnTo>
                  <a:pt x="899160" y="600456"/>
                </a:lnTo>
                <a:lnTo>
                  <a:pt x="899160" y="592836"/>
                </a:lnTo>
                <a:close/>
              </a:path>
              <a:path w="899160" h="607060">
                <a:moveTo>
                  <a:pt x="833627" y="592836"/>
                </a:moveTo>
                <a:lnTo>
                  <a:pt x="783336" y="592836"/>
                </a:lnTo>
                <a:lnTo>
                  <a:pt x="783336" y="606552"/>
                </a:lnTo>
                <a:lnTo>
                  <a:pt x="833627" y="606552"/>
                </a:lnTo>
                <a:lnTo>
                  <a:pt x="833627" y="592836"/>
                </a:lnTo>
                <a:close/>
              </a:path>
              <a:path w="899160" h="607060">
                <a:moveTo>
                  <a:pt x="745236" y="592836"/>
                </a:moveTo>
                <a:lnTo>
                  <a:pt x="694943" y="592836"/>
                </a:lnTo>
                <a:lnTo>
                  <a:pt x="694943" y="606552"/>
                </a:lnTo>
                <a:lnTo>
                  <a:pt x="745236" y="606552"/>
                </a:lnTo>
                <a:lnTo>
                  <a:pt x="745236" y="592836"/>
                </a:lnTo>
                <a:close/>
              </a:path>
              <a:path w="899160" h="607060">
                <a:moveTo>
                  <a:pt x="656843" y="592836"/>
                </a:moveTo>
                <a:lnTo>
                  <a:pt x="605027" y="592836"/>
                </a:lnTo>
                <a:lnTo>
                  <a:pt x="605027" y="606552"/>
                </a:lnTo>
                <a:lnTo>
                  <a:pt x="656843" y="606552"/>
                </a:lnTo>
                <a:lnTo>
                  <a:pt x="656843" y="592836"/>
                </a:lnTo>
                <a:close/>
              </a:path>
              <a:path w="899160" h="607060">
                <a:moveTo>
                  <a:pt x="566927" y="592836"/>
                </a:moveTo>
                <a:lnTo>
                  <a:pt x="516636" y="592836"/>
                </a:lnTo>
                <a:lnTo>
                  <a:pt x="516636" y="606552"/>
                </a:lnTo>
                <a:lnTo>
                  <a:pt x="566927" y="606552"/>
                </a:lnTo>
                <a:lnTo>
                  <a:pt x="566927" y="592836"/>
                </a:lnTo>
                <a:close/>
              </a:path>
              <a:path w="899160" h="607060">
                <a:moveTo>
                  <a:pt x="478536" y="592836"/>
                </a:moveTo>
                <a:lnTo>
                  <a:pt x="428243" y="592836"/>
                </a:lnTo>
                <a:lnTo>
                  <a:pt x="428243" y="606552"/>
                </a:lnTo>
                <a:lnTo>
                  <a:pt x="478536" y="606552"/>
                </a:lnTo>
                <a:lnTo>
                  <a:pt x="478536" y="592836"/>
                </a:lnTo>
                <a:close/>
              </a:path>
              <a:path w="899160" h="607060">
                <a:moveTo>
                  <a:pt x="390143" y="592836"/>
                </a:moveTo>
                <a:lnTo>
                  <a:pt x="338327" y="592836"/>
                </a:lnTo>
                <a:lnTo>
                  <a:pt x="338327" y="606552"/>
                </a:lnTo>
                <a:lnTo>
                  <a:pt x="390143" y="606552"/>
                </a:lnTo>
                <a:lnTo>
                  <a:pt x="390143" y="592836"/>
                </a:lnTo>
                <a:close/>
              </a:path>
              <a:path w="899160" h="607060">
                <a:moveTo>
                  <a:pt x="300227" y="592836"/>
                </a:moveTo>
                <a:lnTo>
                  <a:pt x="249936" y="592836"/>
                </a:lnTo>
                <a:lnTo>
                  <a:pt x="249936" y="606552"/>
                </a:lnTo>
                <a:lnTo>
                  <a:pt x="300227" y="606552"/>
                </a:lnTo>
                <a:lnTo>
                  <a:pt x="300227" y="592836"/>
                </a:lnTo>
                <a:close/>
              </a:path>
              <a:path w="899160" h="607060">
                <a:moveTo>
                  <a:pt x="211836" y="592836"/>
                </a:moveTo>
                <a:lnTo>
                  <a:pt x="161543" y="592836"/>
                </a:lnTo>
                <a:lnTo>
                  <a:pt x="161543" y="606552"/>
                </a:lnTo>
                <a:lnTo>
                  <a:pt x="211836" y="606552"/>
                </a:lnTo>
                <a:lnTo>
                  <a:pt x="211836" y="592836"/>
                </a:lnTo>
                <a:close/>
              </a:path>
              <a:path w="899160" h="607060">
                <a:moveTo>
                  <a:pt x="123443" y="592836"/>
                </a:moveTo>
                <a:lnTo>
                  <a:pt x="71627" y="592836"/>
                </a:lnTo>
                <a:lnTo>
                  <a:pt x="71627" y="606552"/>
                </a:lnTo>
                <a:lnTo>
                  <a:pt x="123443" y="606552"/>
                </a:lnTo>
                <a:lnTo>
                  <a:pt x="123443" y="5928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92684" y="692287"/>
            <a:ext cx="3627120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器学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本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优化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泛化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问题。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 panose="05000000000000000000"/>
              <a:buChar char="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节模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练数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最佳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 panose="05000000000000000000"/>
              <a:buChar char="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练好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前所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见的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据上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性能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坏。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41479" y="2789841"/>
            <a:ext cx="1889760" cy="43180"/>
          </a:xfrm>
          <a:custGeom>
            <a:avLst/>
            <a:gdLst/>
            <a:ahLst/>
            <a:cxnLst/>
            <a:rect l="l" t="t" r="r" b="b"/>
            <a:pathLst>
              <a:path w="1889760" h="43180">
                <a:moveTo>
                  <a:pt x="1847087" y="0"/>
                </a:moveTo>
                <a:lnTo>
                  <a:pt x="1847087" y="42672"/>
                </a:lnTo>
                <a:lnTo>
                  <a:pt x="1874520" y="28955"/>
                </a:lnTo>
                <a:lnTo>
                  <a:pt x="1853183" y="28955"/>
                </a:lnTo>
                <a:lnTo>
                  <a:pt x="1853183" y="15239"/>
                </a:lnTo>
                <a:lnTo>
                  <a:pt x="1877567" y="15239"/>
                </a:lnTo>
                <a:lnTo>
                  <a:pt x="1847087" y="0"/>
                </a:lnTo>
                <a:close/>
              </a:path>
              <a:path w="1889760" h="43180">
                <a:moveTo>
                  <a:pt x="1847087" y="15239"/>
                </a:moveTo>
                <a:lnTo>
                  <a:pt x="0" y="15239"/>
                </a:lnTo>
                <a:lnTo>
                  <a:pt x="0" y="28955"/>
                </a:lnTo>
                <a:lnTo>
                  <a:pt x="1847087" y="28955"/>
                </a:lnTo>
                <a:lnTo>
                  <a:pt x="1847087" y="15239"/>
                </a:lnTo>
                <a:close/>
              </a:path>
              <a:path w="1889760" h="43180">
                <a:moveTo>
                  <a:pt x="1877567" y="15239"/>
                </a:moveTo>
                <a:lnTo>
                  <a:pt x="1853183" y="15239"/>
                </a:lnTo>
                <a:lnTo>
                  <a:pt x="1853183" y="28955"/>
                </a:lnTo>
                <a:lnTo>
                  <a:pt x="1874520" y="28955"/>
                </a:lnTo>
                <a:lnTo>
                  <a:pt x="1889759" y="21335"/>
                </a:lnTo>
                <a:lnTo>
                  <a:pt x="1877567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20144" y="1593501"/>
            <a:ext cx="44450" cy="1217930"/>
          </a:xfrm>
          <a:custGeom>
            <a:avLst/>
            <a:gdLst/>
            <a:ahLst/>
            <a:cxnLst/>
            <a:rect l="l" t="t" r="r" b="b"/>
            <a:pathLst>
              <a:path w="44450" h="1217930">
                <a:moveTo>
                  <a:pt x="28956" y="35051"/>
                </a:moveTo>
                <a:lnTo>
                  <a:pt x="15239" y="35051"/>
                </a:lnTo>
                <a:lnTo>
                  <a:pt x="15239" y="1217676"/>
                </a:lnTo>
                <a:lnTo>
                  <a:pt x="28956" y="1217676"/>
                </a:lnTo>
                <a:lnTo>
                  <a:pt x="28956" y="35051"/>
                </a:lnTo>
                <a:close/>
              </a:path>
              <a:path w="44450" h="1217930">
                <a:moveTo>
                  <a:pt x="21336" y="0"/>
                </a:moveTo>
                <a:lnTo>
                  <a:pt x="0" y="42672"/>
                </a:lnTo>
                <a:lnTo>
                  <a:pt x="15239" y="42672"/>
                </a:lnTo>
                <a:lnTo>
                  <a:pt x="15239" y="35051"/>
                </a:lnTo>
                <a:lnTo>
                  <a:pt x="40113" y="35051"/>
                </a:lnTo>
                <a:lnTo>
                  <a:pt x="21336" y="0"/>
                </a:lnTo>
                <a:close/>
              </a:path>
              <a:path w="44450" h="1217930">
                <a:moveTo>
                  <a:pt x="40113" y="35051"/>
                </a:moveTo>
                <a:lnTo>
                  <a:pt x="28956" y="35051"/>
                </a:lnTo>
                <a:lnTo>
                  <a:pt x="28956" y="42672"/>
                </a:lnTo>
                <a:lnTo>
                  <a:pt x="44195" y="42672"/>
                </a:lnTo>
                <a:lnTo>
                  <a:pt x="40113" y="3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20728" y="1942497"/>
            <a:ext cx="1542415" cy="815340"/>
          </a:xfrm>
          <a:custGeom>
            <a:avLst/>
            <a:gdLst/>
            <a:ahLst/>
            <a:cxnLst/>
            <a:rect l="l" t="t" r="r" b="b"/>
            <a:pathLst>
              <a:path w="1542414" h="815339">
                <a:moveTo>
                  <a:pt x="1542287" y="807719"/>
                </a:moveTo>
                <a:lnTo>
                  <a:pt x="1483844" y="811468"/>
                </a:lnTo>
                <a:lnTo>
                  <a:pt x="1425888" y="813804"/>
                </a:lnTo>
                <a:lnTo>
                  <a:pt x="1368464" y="814747"/>
                </a:lnTo>
                <a:lnTo>
                  <a:pt x="1311615" y="814322"/>
                </a:lnTo>
                <a:lnTo>
                  <a:pt x="1255382" y="812550"/>
                </a:lnTo>
                <a:lnTo>
                  <a:pt x="1199810" y="809452"/>
                </a:lnTo>
                <a:lnTo>
                  <a:pt x="1144940" y="805052"/>
                </a:lnTo>
                <a:lnTo>
                  <a:pt x="1090816" y="799372"/>
                </a:lnTo>
                <a:lnTo>
                  <a:pt x="1037480" y="792434"/>
                </a:lnTo>
                <a:lnTo>
                  <a:pt x="984975" y="784260"/>
                </a:lnTo>
                <a:lnTo>
                  <a:pt x="933345" y="774872"/>
                </a:lnTo>
                <a:lnTo>
                  <a:pt x="882631" y="764292"/>
                </a:lnTo>
                <a:lnTo>
                  <a:pt x="832877" y="752543"/>
                </a:lnTo>
                <a:lnTo>
                  <a:pt x="784126" y="739647"/>
                </a:lnTo>
                <a:lnTo>
                  <a:pt x="736420" y="725627"/>
                </a:lnTo>
                <a:lnTo>
                  <a:pt x="689802" y="710503"/>
                </a:lnTo>
                <a:lnTo>
                  <a:pt x="644315" y="694300"/>
                </a:lnTo>
                <a:lnTo>
                  <a:pt x="600002" y="677038"/>
                </a:lnTo>
                <a:lnTo>
                  <a:pt x="556906" y="658740"/>
                </a:lnTo>
                <a:lnTo>
                  <a:pt x="515069" y="639428"/>
                </a:lnTo>
                <a:lnTo>
                  <a:pt x="474535" y="619124"/>
                </a:lnTo>
                <a:lnTo>
                  <a:pt x="435346" y="597852"/>
                </a:lnTo>
                <a:lnTo>
                  <a:pt x="397545" y="575632"/>
                </a:lnTo>
                <a:lnTo>
                  <a:pt x="361174" y="552487"/>
                </a:lnTo>
                <a:lnTo>
                  <a:pt x="326277" y="528440"/>
                </a:lnTo>
                <a:lnTo>
                  <a:pt x="292897" y="503512"/>
                </a:lnTo>
                <a:lnTo>
                  <a:pt x="261076" y="477726"/>
                </a:lnTo>
                <a:lnTo>
                  <a:pt x="230857" y="451103"/>
                </a:lnTo>
                <a:lnTo>
                  <a:pt x="202283" y="423667"/>
                </a:lnTo>
                <a:lnTo>
                  <a:pt x="175397" y="395440"/>
                </a:lnTo>
                <a:lnTo>
                  <a:pt x="150242" y="366443"/>
                </a:lnTo>
                <a:lnTo>
                  <a:pt x="105294" y="306229"/>
                </a:lnTo>
                <a:lnTo>
                  <a:pt x="67782" y="243204"/>
                </a:lnTo>
                <a:lnTo>
                  <a:pt x="38050" y="177547"/>
                </a:lnTo>
                <a:lnTo>
                  <a:pt x="16439" y="109433"/>
                </a:lnTo>
                <a:lnTo>
                  <a:pt x="3292" y="39042"/>
                </a:lnTo>
                <a:lnTo>
                  <a:pt x="0" y="3047"/>
                </a:lnTo>
                <a:lnTo>
                  <a:pt x="0" y="1523"/>
                </a:lnTo>
                <a:lnTo>
                  <a:pt x="0" y="0"/>
                </a:lnTo>
              </a:path>
            </a:pathLst>
          </a:custGeom>
          <a:ln w="13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22251" y="1861725"/>
            <a:ext cx="1548765" cy="694055"/>
          </a:xfrm>
          <a:custGeom>
            <a:avLst/>
            <a:gdLst/>
            <a:ahLst/>
            <a:cxnLst/>
            <a:rect l="l" t="t" r="r" b="b"/>
            <a:pathLst>
              <a:path w="1548764" h="694055">
                <a:moveTo>
                  <a:pt x="1548383" y="478535"/>
                </a:moveTo>
                <a:lnTo>
                  <a:pt x="1510507" y="507460"/>
                </a:lnTo>
                <a:lnTo>
                  <a:pt x="1471690" y="534265"/>
                </a:lnTo>
                <a:lnTo>
                  <a:pt x="1432007" y="558958"/>
                </a:lnTo>
                <a:lnTo>
                  <a:pt x="1391529" y="581548"/>
                </a:lnTo>
                <a:lnTo>
                  <a:pt x="1350330" y="602042"/>
                </a:lnTo>
                <a:lnTo>
                  <a:pt x="1308483" y="620450"/>
                </a:lnTo>
                <a:lnTo>
                  <a:pt x="1266061" y="636778"/>
                </a:lnTo>
                <a:lnTo>
                  <a:pt x="1223135" y="651036"/>
                </a:lnTo>
                <a:lnTo>
                  <a:pt x="1179780" y="663231"/>
                </a:lnTo>
                <a:lnTo>
                  <a:pt x="1136067" y="673372"/>
                </a:lnTo>
                <a:lnTo>
                  <a:pt x="1092071" y="681466"/>
                </a:lnTo>
                <a:lnTo>
                  <a:pt x="1047863" y="687522"/>
                </a:lnTo>
                <a:lnTo>
                  <a:pt x="1003516" y="691548"/>
                </a:lnTo>
                <a:lnTo>
                  <a:pt x="959103" y="693552"/>
                </a:lnTo>
                <a:lnTo>
                  <a:pt x="914697" y="693542"/>
                </a:lnTo>
                <a:lnTo>
                  <a:pt x="870371" y="691527"/>
                </a:lnTo>
                <a:lnTo>
                  <a:pt x="826198" y="687514"/>
                </a:lnTo>
                <a:lnTo>
                  <a:pt x="782250" y="681512"/>
                </a:lnTo>
                <a:lnTo>
                  <a:pt x="738600" y="673528"/>
                </a:lnTo>
                <a:lnTo>
                  <a:pt x="695322" y="663571"/>
                </a:lnTo>
                <a:lnTo>
                  <a:pt x="652487" y="651650"/>
                </a:lnTo>
                <a:lnTo>
                  <a:pt x="610169" y="637771"/>
                </a:lnTo>
                <a:lnTo>
                  <a:pt x="568441" y="621944"/>
                </a:lnTo>
                <a:lnTo>
                  <a:pt x="527375" y="604177"/>
                </a:lnTo>
                <a:lnTo>
                  <a:pt x="487044" y="584477"/>
                </a:lnTo>
                <a:lnTo>
                  <a:pt x="447521" y="562852"/>
                </a:lnTo>
                <a:lnTo>
                  <a:pt x="408879" y="539312"/>
                </a:lnTo>
                <a:lnTo>
                  <a:pt x="371190" y="513864"/>
                </a:lnTo>
                <a:lnTo>
                  <a:pt x="334528" y="486516"/>
                </a:lnTo>
                <a:lnTo>
                  <a:pt x="298966" y="457276"/>
                </a:lnTo>
                <a:lnTo>
                  <a:pt x="264575" y="426153"/>
                </a:lnTo>
                <a:lnTo>
                  <a:pt x="231429" y="393154"/>
                </a:lnTo>
                <a:lnTo>
                  <a:pt x="199601" y="358288"/>
                </a:lnTo>
                <a:lnTo>
                  <a:pt x="169163" y="321563"/>
                </a:lnTo>
                <a:lnTo>
                  <a:pt x="137719" y="279598"/>
                </a:lnTo>
                <a:lnTo>
                  <a:pt x="108701" y="236086"/>
                </a:lnTo>
                <a:lnTo>
                  <a:pt x="82109" y="191162"/>
                </a:lnTo>
                <a:lnTo>
                  <a:pt x="57943" y="144957"/>
                </a:lnTo>
                <a:lnTo>
                  <a:pt x="36202" y="97607"/>
                </a:lnTo>
                <a:lnTo>
                  <a:pt x="16888" y="49243"/>
                </a:lnTo>
                <a:lnTo>
                  <a:pt x="0" y="0"/>
                </a:lnTo>
              </a:path>
            </a:pathLst>
          </a:custGeom>
          <a:ln w="13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23041" y="2091359"/>
            <a:ext cx="127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误 差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9865" y="2893009"/>
            <a:ext cx="434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模型能力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6618" y="2214808"/>
            <a:ext cx="3321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验证集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9641" y="2483045"/>
            <a:ext cx="3321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训练集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88696" y="2372265"/>
            <a:ext cx="38100" cy="78105"/>
          </a:xfrm>
          <a:custGeom>
            <a:avLst/>
            <a:gdLst/>
            <a:ahLst/>
            <a:cxnLst/>
            <a:rect l="l" t="t" r="r" b="b"/>
            <a:pathLst>
              <a:path w="38100" h="78105">
                <a:moveTo>
                  <a:pt x="16763" y="39624"/>
                </a:moveTo>
                <a:lnTo>
                  <a:pt x="0" y="39624"/>
                </a:lnTo>
                <a:lnTo>
                  <a:pt x="18287" y="77724"/>
                </a:lnTo>
                <a:lnTo>
                  <a:pt x="34930" y="45719"/>
                </a:lnTo>
                <a:lnTo>
                  <a:pt x="16763" y="45719"/>
                </a:lnTo>
                <a:lnTo>
                  <a:pt x="16763" y="39624"/>
                </a:lnTo>
                <a:close/>
              </a:path>
              <a:path w="38100" h="78105">
                <a:moveTo>
                  <a:pt x="21336" y="0"/>
                </a:moveTo>
                <a:lnTo>
                  <a:pt x="16763" y="0"/>
                </a:lnTo>
                <a:lnTo>
                  <a:pt x="16763" y="45719"/>
                </a:lnTo>
                <a:lnTo>
                  <a:pt x="21336" y="45719"/>
                </a:lnTo>
                <a:lnTo>
                  <a:pt x="21336" y="0"/>
                </a:lnTo>
                <a:close/>
              </a:path>
              <a:path w="38100" h="78105">
                <a:moveTo>
                  <a:pt x="38100" y="39624"/>
                </a:moveTo>
                <a:lnTo>
                  <a:pt x="21336" y="39624"/>
                </a:lnTo>
                <a:lnTo>
                  <a:pt x="21336" y="45719"/>
                </a:lnTo>
                <a:lnTo>
                  <a:pt x="34930" y="45719"/>
                </a:lnTo>
                <a:lnTo>
                  <a:pt x="38100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27964" y="2617629"/>
            <a:ext cx="38100" cy="116205"/>
          </a:xfrm>
          <a:custGeom>
            <a:avLst/>
            <a:gdLst/>
            <a:ahLst/>
            <a:cxnLst/>
            <a:rect l="l" t="t" r="r" b="b"/>
            <a:pathLst>
              <a:path w="38100" h="116205">
                <a:moveTo>
                  <a:pt x="0" y="74675"/>
                </a:moveTo>
                <a:lnTo>
                  <a:pt x="15239" y="115824"/>
                </a:lnTo>
                <a:lnTo>
                  <a:pt x="35242" y="83820"/>
                </a:lnTo>
                <a:lnTo>
                  <a:pt x="16763" y="83820"/>
                </a:lnTo>
                <a:lnTo>
                  <a:pt x="17532" y="76779"/>
                </a:lnTo>
                <a:lnTo>
                  <a:pt x="0" y="74675"/>
                </a:lnTo>
                <a:close/>
              </a:path>
              <a:path w="38100" h="116205">
                <a:moveTo>
                  <a:pt x="17532" y="76779"/>
                </a:moveTo>
                <a:lnTo>
                  <a:pt x="16763" y="83820"/>
                </a:lnTo>
                <a:lnTo>
                  <a:pt x="21336" y="83820"/>
                </a:lnTo>
                <a:lnTo>
                  <a:pt x="22044" y="77321"/>
                </a:lnTo>
                <a:lnTo>
                  <a:pt x="17532" y="76779"/>
                </a:lnTo>
                <a:close/>
              </a:path>
              <a:path w="38100" h="116205">
                <a:moveTo>
                  <a:pt x="22044" y="77321"/>
                </a:moveTo>
                <a:lnTo>
                  <a:pt x="21336" y="83820"/>
                </a:lnTo>
                <a:lnTo>
                  <a:pt x="35242" y="83820"/>
                </a:lnTo>
                <a:lnTo>
                  <a:pt x="38100" y="79248"/>
                </a:lnTo>
                <a:lnTo>
                  <a:pt x="22044" y="77321"/>
                </a:lnTo>
                <a:close/>
              </a:path>
              <a:path w="38100" h="116205">
                <a:moveTo>
                  <a:pt x="30480" y="0"/>
                </a:moveTo>
                <a:lnTo>
                  <a:pt x="25908" y="0"/>
                </a:lnTo>
                <a:lnTo>
                  <a:pt x="17532" y="76779"/>
                </a:lnTo>
                <a:lnTo>
                  <a:pt x="22044" y="77321"/>
                </a:lnTo>
                <a:lnTo>
                  <a:pt x="304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56913" y="1600614"/>
            <a:ext cx="10541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训练初期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：优化和泛 化是相关的：训练集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6913" y="2012092"/>
            <a:ext cx="10541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上的误差越小，验证 集上的误差也越小， 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泛化能力逐渐 增强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61401" y="1606671"/>
            <a:ext cx="128270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训练后期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：模型在验证 集上的错误率不再降低， 转而开始变高。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出 现过拟合，开始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学习仅 和训练数据有关的模式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79579" y="1831245"/>
            <a:ext cx="988060" cy="916305"/>
          </a:xfrm>
          <a:custGeom>
            <a:avLst/>
            <a:gdLst/>
            <a:ahLst/>
            <a:cxnLst/>
            <a:rect l="l" t="t" r="r" b="b"/>
            <a:pathLst>
              <a:path w="988060" h="916305">
                <a:moveTo>
                  <a:pt x="12192" y="903731"/>
                </a:moveTo>
                <a:lnTo>
                  <a:pt x="6095" y="903731"/>
                </a:lnTo>
                <a:lnTo>
                  <a:pt x="6095" y="915924"/>
                </a:lnTo>
                <a:lnTo>
                  <a:pt x="28956" y="915924"/>
                </a:lnTo>
                <a:lnTo>
                  <a:pt x="28956" y="909827"/>
                </a:lnTo>
                <a:lnTo>
                  <a:pt x="12192" y="909827"/>
                </a:lnTo>
                <a:lnTo>
                  <a:pt x="12192" y="903731"/>
                </a:lnTo>
                <a:close/>
              </a:path>
              <a:path w="988060" h="916305">
                <a:moveTo>
                  <a:pt x="12192" y="859535"/>
                </a:moveTo>
                <a:lnTo>
                  <a:pt x="0" y="859535"/>
                </a:lnTo>
                <a:lnTo>
                  <a:pt x="0" y="909827"/>
                </a:lnTo>
                <a:lnTo>
                  <a:pt x="6095" y="909827"/>
                </a:lnTo>
                <a:lnTo>
                  <a:pt x="6095" y="903731"/>
                </a:lnTo>
                <a:lnTo>
                  <a:pt x="12192" y="903731"/>
                </a:lnTo>
                <a:lnTo>
                  <a:pt x="12192" y="859535"/>
                </a:lnTo>
                <a:close/>
              </a:path>
              <a:path w="988060" h="916305">
                <a:moveTo>
                  <a:pt x="28956" y="903731"/>
                </a:moveTo>
                <a:lnTo>
                  <a:pt x="12192" y="903731"/>
                </a:lnTo>
                <a:lnTo>
                  <a:pt x="12192" y="909827"/>
                </a:lnTo>
                <a:lnTo>
                  <a:pt x="28956" y="909827"/>
                </a:lnTo>
                <a:lnTo>
                  <a:pt x="28956" y="903731"/>
                </a:lnTo>
                <a:close/>
              </a:path>
              <a:path w="988060" h="916305">
                <a:moveTo>
                  <a:pt x="12192" y="769620"/>
                </a:moveTo>
                <a:lnTo>
                  <a:pt x="0" y="769620"/>
                </a:lnTo>
                <a:lnTo>
                  <a:pt x="0" y="821435"/>
                </a:lnTo>
                <a:lnTo>
                  <a:pt x="12192" y="821435"/>
                </a:lnTo>
                <a:lnTo>
                  <a:pt x="12192" y="769620"/>
                </a:lnTo>
                <a:close/>
              </a:path>
              <a:path w="988060" h="916305">
                <a:moveTo>
                  <a:pt x="12192" y="681227"/>
                </a:moveTo>
                <a:lnTo>
                  <a:pt x="0" y="681227"/>
                </a:lnTo>
                <a:lnTo>
                  <a:pt x="0" y="731520"/>
                </a:lnTo>
                <a:lnTo>
                  <a:pt x="12192" y="731520"/>
                </a:lnTo>
                <a:lnTo>
                  <a:pt x="12192" y="681227"/>
                </a:lnTo>
                <a:close/>
              </a:path>
              <a:path w="988060" h="916305">
                <a:moveTo>
                  <a:pt x="12192" y="592835"/>
                </a:moveTo>
                <a:lnTo>
                  <a:pt x="0" y="592835"/>
                </a:lnTo>
                <a:lnTo>
                  <a:pt x="0" y="643127"/>
                </a:lnTo>
                <a:lnTo>
                  <a:pt x="12192" y="643127"/>
                </a:lnTo>
                <a:lnTo>
                  <a:pt x="12192" y="592835"/>
                </a:lnTo>
                <a:close/>
              </a:path>
              <a:path w="988060" h="916305">
                <a:moveTo>
                  <a:pt x="12192" y="502920"/>
                </a:moveTo>
                <a:lnTo>
                  <a:pt x="0" y="502920"/>
                </a:lnTo>
                <a:lnTo>
                  <a:pt x="0" y="554735"/>
                </a:lnTo>
                <a:lnTo>
                  <a:pt x="12192" y="554735"/>
                </a:lnTo>
                <a:lnTo>
                  <a:pt x="12192" y="502920"/>
                </a:lnTo>
                <a:close/>
              </a:path>
              <a:path w="988060" h="916305">
                <a:moveTo>
                  <a:pt x="12192" y="414527"/>
                </a:moveTo>
                <a:lnTo>
                  <a:pt x="0" y="414527"/>
                </a:lnTo>
                <a:lnTo>
                  <a:pt x="0" y="464820"/>
                </a:lnTo>
                <a:lnTo>
                  <a:pt x="12192" y="464820"/>
                </a:lnTo>
                <a:lnTo>
                  <a:pt x="12192" y="414527"/>
                </a:lnTo>
                <a:close/>
              </a:path>
              <a:path w="988060" h="916305">
                <a:moveTo>
                  <a:pt x="12192" y="326135"/>
                </a:moveTo>
                <a:lnTo>
                  <a:pt x="0" y="326135"/>
                </a:lnTo>
                <a:lnTo>
                  <a:pt x="0" y="376427"/>
                </a:lnTo>
                <a:lnTo>
                  <a:pt x="12192" y="376427"/>
                </a:lnTo>
                <a:lnTo>
                  <a:pt x="12192" y="326135"/>
                </a:lnTo>
                <a:close/>
              </a:path>
              <a:path w="988060" h="916305">
                <a:moveTo>
                  <a:pt x="12192" y="236220"/>
                </a:moveTo>
                <a:lnTo>
                  <a:pt x="0" y="236220"/>
                </a:lnTo>
                <a:lnTo>
                  <a:pt x="0" y="288035"/>
                </a:lnTo>
                <a:lnTo>
                  <a:pt x="12192" y="288035"/>
                </a:lnTo>
                <a:lnTo>
                  <a:pt x="12192" y="236220"/>
                </a:lnTo>
                <a:close/>
              </a:path>
              <a:path w="988060" h="916305">
                <a:moveTo>
                  <a:pt x="12192" y="147827"/>
                </a:moveTo>
                <a:lnTo>
                  <a:pt x="0" y="147827"/>
                </a:lnTo>
                <a:lnTo>
                  <a:pt x="0" y="198120"/>
                </a:lnTo>
                <a:lnTo>
                  <a:pt x="12192" y="198120"/>
                </a:lnTo>
                <a:lnTo>
                  <a:pt x="12192" y="147827"/>
                </a:lnTo>
                <a:close/>
              </a:path>
              <a:path w="988060" h="916305">
                <a:moveTo>
                  <a:pt x="12192" y="59435"/>
                </a:moveTo>
                <a:lnTo>
                  <a:pt x="0" y="59435"/>
                </a:lnTo>
                <a:lnTo>
                  <a:pt x="0" y="109727"/>
                </a:lnTo>
                <a:lnTo>
                  <a:pt x="12192" y="109727"/>
                </a:lnTo>
                <a:lnTo>
                  <a:pt x="12192" y="59435"/>
                </a:lnTo>
                <a:close/>
              </a:path>
              <a:path w="988060" h="916305">
                <a:moveTo>
                  <a:pt x="42671" y="0"/>
                </a:moveTo>
                <a:lnTo>
                  <a:pt x="1524" y="0"/>
                </a:lnTo>
                <a:lnTo>
                  <a:pt x="0" y="3048"/>
                </a:lnTo>
                <a:lnTo>
                  <a:pt x="0" y="21335"/>
                </a:lnTo>
                <a:lnTo>
                  <a:pt x="12192" y="21335"/>
                </a:lnTo>
                <a:lnTo>
                  <a:pt x="12192" y="13715"/>
                </a:lnTo>
                <a:lnTo>
                  <a:pt x="6095" y="13715"/>
                </a:lnTo>
                <a:lnTo>
                  <a:pt x="12192" y="6096"/>
                </a:lnTo>
                <a:lnTo>
                  <a:pt x="42671" y="6096"/>
                </a:lnTo>
                <a:lnTo>
                  <a:pt x="42671" y="0"/>
                </a:lnTo>
                <a:close/>
              </a:path>
              <a:path w="988060" h="916305">
                <a:moveTo>
                  <a:pt x="12192" y="6096"/>
                </a:moveTo>
                <a:lnTo>
                  <a:pt x="6095" y="13715"/>
                </a:lnTo>
                <a:lnTo>
                  <a:pt x="12192" y="13715"/>
                </a:lnTo>
                <a:lnTo>
                  <a:pt x="12192" y="6096"/>
                </a:lnTo>
                <a:close/>
              </a:path>
              <a:path w="988060" h="916305">
                <a:moveTo>
                  <a:pt x="42671" y="6096"/>
                </a:moveTo>
                <a:lnTo>
                  <a:pt x="12192" y="6096"/>
                </a:lnTo>
                <a:lnTo>
                  <a:pt x="12192" y="13715"/>
                </a:lnTo>
                <a:lnTo>
                  <a:pt x="42671" y="13715"/>
                </a:lnTo>
                <a:lnTo>
                  <a:pt x="42671" y="6096"/>
                </a:lnTo>
                <a:close/>
              </a:path>
              <a:path w="988060" h="916305">
                <a:moveTo>
                  <a:pt x="131063" y="0"/>
                </a:moveTo>
                <a:lnTo>
                  <a:pt x="80771" y="0"/>
                </a:lnTo>
                <a:lnTo>
                  <a:pt x="80771" y="13715"/>
                </a:lnTo>
                <a:lnTo>
                  <a:pt x="131063" y="13715"/>
                </a:lnTo>
                <a:lnTo>
                  <a:pt x="131063" y="0"/>
                </a:lnTo>
                <a:close/>
              </a:path>
              <a:path w="988060" h="916305">
                <a:moveTo>
                  <a:pt x="219456" y="0"/>
                </a:moveTo>
                <a:lnTo>
                  <a:pt x="169163" y="0"/>
                </a:lnTo>
                <a:lnTo>
                  <a:pt x="169163" y="13715"/>
                </a:lnTo>
                <a:lnTo>
                  <a:pt x="219456" y="13715"/>
                </a:lnTo>
                <a:lnTo>
                  <a:pt x="219456" y="0"/>
                </a:lnTo>
                <a:close/>
              </a:path>
              <a:path w="988060" h="916305">
                <a:moveTo>
                  <a:pt x="309371" y="0"/>
                </a:moveTo>
                <a:lnTo>
                  <a:pt x="257556" y="0"/>
                </a:lnTo>
                <a:lnTo>
                  <a:pt x="257556" y="13715"/>
                </a:lnTo>
                <a:lnTo>
                  <a:pt x="309371" y="13715"/>
                </a:lnTo>
                <a:lnTo>
                  <a:pt x="309371" y="0"/>
                </a:lnTo>
                <a:close/>
              </a:path>
              <a:path w="988060" h="916305">
                <a:moveTo>
                  <a:pt x="397763" y="0"/>
                </a:moveTo>
                <a:lnTo>
                  <a:pt x="347471" y="0"/>
                </a:lnTo>
                <a:lnTo>
                  <a:pt x="347471" y="13715"/>
                </a:lnTo>
                <a:lnTo>
                  <a:pt x="397763" y="13715"/>
                </a:lnTo>
                <a:lnTo>
                  <a:pt x="397763" y="0"/>
                </a:lnTo>
                <a:close/>
              </a:path>
              <a:path w="988060" h="916305">
                <a:moveTo>
                  <a:pt x="486156" y="0"/>
                </a:moveTo>
                <a:lnTo>
                  <a:pt x="435863" y="0"/>
                </a:lnTo>
                <a:lnTo>
                  <a:pt x="435863" y="13715"/>
                </a:lnTo>
                <a:lnTo>
                  <a:pt x="486156" y="13715"/>
                </a:lnTo>
                <a:lnTo>
                  <a:pt x="486156" y="0"/>
                </a:lnTo>
                <a:close/>
              </a:path>
              <a:path w="988060" h="916305">
                <a:moveTo>
                  <a:pt x="576071" y="0"/>
                </a:moveTo>
                <a:lnTo>
                  <a:pt x="524256" y="0"/>
                </a:lnTo>
                <a:lnTo>
                  <a:pt x="524256" y="13715"/>
                </a:lnTo>
                <a:lnTo>
                  <a:pt x="576071" y="13715"/>
                </a:lnTo>
                <a:lnTo>
                  <a:pt x="576071" y="0"/>
                </a:lnTo>
                <a:close/>
              </a:path>
              <a:path w="988060" h="916305">
                <a:moveTo>
                  <a:pt x="664464" y="0"/>
                </a:moveTo>
                <a:lnTo>
                  <a:pt x="614171" y="0"/>
                </a:lnTo>
                <a:lnTo>
                  <a:pt x="614171" y="13715"/>
                </a:lnTo>
                <a:lnTo>
                  <a:pt x="664464" y="13715"/>
                </a:lnTo>
                <a:lnTo>
                  <a:pt x="664464" y="0"/>
                </a:lnTo>
                <a:close/>
              </a:path>
              <a:path w="988060" h="916305">
                <a:moveTo>
                  <a:pt x="752856" y="0"/>
                </a:moveTo>
                <a:lnTo>
                  <a:pt x="702564" y="0"/>
                </a:lnTo>
                <a:lnTo>
                  <a:pt x="702564" y="13715"/>
                </a:lnTo>
                <a:lnTo>
                  <a:pt x="752856" y="13715"/>
                </a:lnTo>
                <a:lnTo>
                  <a:pt x="752856" y="0"/>
                </a:lnTo>
                <a:close/>
              </a:path>
              <a:path w="988060" h="916305">
                <a:moveTo>
                  <a:pt x="842771" y="0"/>
                </a:moveTo>
                <a:lnTo>
                  <a:pt x="790956" y="0"/>
                </a:lnTo>
                <a:lnTo>
                  <a:pt x="790956" y="13715"/>
                </a:lnTo>
                <a:lnTo>
                  <a:pt x="842771" y="13715"/>
                </a:lnTo>
                <a:lnTo>
                  <a:pt x="842771" y="0"/>
                </a:lnTo>
                <a:close/>
              </a:path>
              <a:path w="988060" h="916305">
                <a:moveTo>
                  <a:pt x="931164" y="0"/>
                </a:moveTo>
                <a:lnTo>
                  <a:pt x="880871" y="0"/>
                </a:lnTo>
                <a:lnTo>
                  <a:pt x="880871" y="13715"/>
                </a:lnTo>
                <a:lnTo>
                  <a:pt x="931164" y="13715"/>
                </a:lnTo>
                <a:lnTo>
                  <a:pt x="931164" y="0"/>
                </a:lnTo>
                <a:close/>
              </a:path>
              <a:path w="988060" h="916305">
                <a:moveTo>
                  <a:pt x="973835" y="6096"/>
                </a:moveTo>
                <a:lnTo>
                  <a:pt x="973835" y="45720"/>
                </a:lnTo>
                <a:lnTo>
                  <a:pt x="987552" y="45720"/>
                </a:lnTo>
                <a:lnTo>
                  <a:pt x="987552" y="13715"/>
                </a:lnTo>
                <a:lnTo>
                  <a:pt x="981456" y="13715"/>
                </a:lnTo>
                <a:lnTo>
                  <a:pt x="973835" y="6096"/>
                </a:lnTo>
                <a:close/>
              </a:path>
              <a:path w="988060" h="916305">
                <a:moveTo>
                  <a:pt x="984504" y="0"/>
                </a:moveTo>
                <a:lnTo>
                  <a:pt x="969264" y="0"/>
                </a:lnTo>
                <a:lnTo>
                  <a:pt x="969264" y="13715"/>
                </a:lnTo>
                <a:lnTo>
                  <a:pt x="973835" y="13715"/>
                </a:lnTo>
                <a:lnTo>
                  <a:pt x="973835" y="6096"/>
                </a:lnTo>
                <a:lnTo>
                  <a:pt x="987552" y="6096"/>
                </a:lnTo>
                <a:lnTo>
                  <a:pt x="987552" y="3048"/>
                </a:lnTo>
                <a:lnTo>
                  <a:pt x="984504" y="0"/>
                </a:lnTo>
                <a:close/>
              </a:path>
              <a:path w="988060" h="916305">
                <a:moveTo>
                  <a:pt x="987552" y="6096"/>
                </a:moveTo>
                <a:lnTo>
                  <a:pt x="973835" y="6096"/>
                </a:lnTo>
                <a:lnTo>
                  <a:pt x="981456" y="13715"/>
                </a:lnTo>
                <a:lnTo>
                  <a:pt x="987552" y="13715"/>
                </a:lnTo>
                <a:lnTo>
                  <a:pt x="987552" y="6096"/>
                </a:lnTo>
                <a:close/>
              </a:path>
              <a:path w="988060" h="916305">
                <a:moveTo>
                  <a:pt x="987552" y="83820"/>
                </a:moveTo>
                <a:lnTo>
                  <a:pt x="973835" y="83820"/>
                </a:lnTo>
                <a:lnTo>
                  <a:pt x="973835" y="135635"/>
                </a:lnTo>
                <a:lnTo>
                  <a:pt x="987552" y="135635"/>
                </a:lnTo>
                <a:lnTo>
                  <a:pt x="987552" y="83820"/>
                </a:lnTo>
                <a:close/>
              </a:path>
              <a:path w="988060" h="916305">
                <a:moveTo>
                  <a:pt x="987552" y="173735"/>
                </a:moveTo>
                <a:lnTo>
                  <a:pt x="973835" y="173735"/>
                </a:lnTo>
                <a:lnTo>
                  <a:pt x="973835" y="224027"/>
                </a:lnTo>
                <a:lnTo>
                  <a:pt x="987552" y="224027"/>
                </a:lnTo>
                <a:lnTo>
                  <a:pt x="987552" y="173735"/>
                </a:lnTo>
                <a:close/>
              </a:path>
              <a:path w="988060" h="916305">
                <a:moveTo>
                  <a:pt x="987552" y="262127"/>
                </a:moveTo>
                <a:lnTo>
                  <a:pt x="973835" y="262127"/>
                </a:lnTo>
                <a:lnTo>
                  <a:pt x="973835" y="312420"/>
                </a:lnTo>
                <a:lnTo>
                  <a:pt x="987552" y="312420"/>
                </a:lnTo>
                <a:lnTo>
                  <a:pt x="987552" y="262127"/>
                </a:lnTo>
                <a:close/>
              </a:path>
              <a:path w="988060" h="916305">
                <a:moveTo>
                  <a:pt x="987552" y="350520"/>
                </a:moveTo>
                <a:lnTo>
                  <a:pt x="973835" y="350520"/>
                </a:lnTo>
                <a:lnTo>
                  <a:pt x="973835" y="402335"/>
                </a:lnTo>
                <a:lnTo>
                  <a:pt x="987552" y="402335"/>
                </a:lnTo>
                <a:lnTo>
                  <a:pt x="987552" y="350520"/>
                </a:lnTo>
                <a:close/>
              </a:path>
              <a:path w="988060" h="916305">
                <a:moveTo>
                  <a:pt x="987552" y="440435"/>
                </a:moveTo>
                <a:lnTo>
                  <a:pt x="973835" y="440435"/>
                </a:lnTo>
                <a:lnTo>
                  <a:pt x="973835" y="490727"/>
                </a:lnTo>
                <a:lnTo>
                  <a:pt x="987552" y="490727"/>
                </a:lnTo>
                <a:lnTo>
                  <a:pt x="987552" y="440435"/>
                </a:lnTo>
                <a:close/>
              </a:path>
              <a:path w="988060" h="916305">
                <a:moveTo>
                  <a:pt x="987552" y="528827"/>
                </a:moveTo>
                <a:lnTo>
                  <a:pt x="973835" y="528827"/>
                </a:lnTo>
                <a:lnTo>
                  <a:pt x="973835" y="579120"/>
                </a:lnTo>
                <a:lnTo>
                  <a:pt x="987552" y="579120"/>
                </a:lnTo>
                <a:lnTo>
                  <a:pt x="987552" y="528827"/>
                </a:lnTo>
                <a:close/>
              </a:path>
              <a:path w="988060" h="916305">
                <a:moveTo>
                  <a:pt x="987552" y="617220"/>
                </a:moveTo>
                <a:lnTo>
                  <a:pt x="973835" y="617220"/>
                </a:lnTo>
                <a:lnTo>
                  <a:pt x="973835" y="669035"/>
                </a:lnTo>
                <a:lnTo>
                  <a:pt x="987552" y="669035"/>
                </a:lnTo>
                <a:lnTo>
                  <a:pt x="987552" y="617220"/>
                </a:lnTo>
                <a:close/>
              </a:path>
              <a:path w="988060" h="916305">
                <a:moveTo>
                  <a:pt x="987552" y="707135"/>
                </a:moveTo>
                <a:lnTo>
                  <a:pt x="973835" y="707135"/>
                </a:lnTo>
                <a:lnTo>
                  <a:pt x="973835" y="757427"/>
                </a:lnTo>
                <a:lnTo>
                  <a:pt x="987552" y="757427"/>
                </a:lnTo>
                <a:lnTo>
                  <a:pt x="987552" y="707135"/>
                </a:lnTo>
                <a:close/>
              </a:path>
              <a:path w="988060" h="916305">
                <a:moveTo>
                  <a:pt x="987552" y="795527"/>
                </a:moveTo>
                <a:lnTo>
                  <a:pt x="973835" y="795527"/>
                </a:lnTo>
                <a:lnTo>
                  <a:pt x="973835" y="845820"/>
                </a:lnTo>
                <a:lnTo>
                  <a:pt x="987552" y="845820"/>
                </a:lnTo>
                <a:lnTo>
                  <a:pt x="987552" y="795527"/>
                </a:lnTo>
                <a:close/>
              </a:path>
              <a:path w="988060" h="916305">
                <a:moveTo>
                  <a:pt x="973835" y="903731"/>
                </a:moveTo>
                <a:lnTo>
                  <a:pt x="955547" y="903731"/>
                </a:lnTo>
                <a:lnTo>
                  <a:pt x="955547" y="915924"/>
                </a:lnTo>
                <a:lnTo>
                  <a:pt x="984504" y="915924"/>
                </a:lnTo>
                <a:lnTo>
                  <a:pt x="987552" y="912876"/>
                </a:lnTo>
                <a:lnTo>
                  <a:pt x="987552" y="909827"/>
                </a:lnTo>
                <a:lnTo>
                  <a:pt x="973835" y="909827"/>
                </a:lnTo>
                <a:lnTo>
                  <a:pt x="973835" y="903731"/>
                </a:lnTo>
                <a:close/>
              </a:path>
              <a:path w="988060" h="916305">
                <a:moveTo>
                  <a:pt x="987552" y="883920"/>
                </a:moveTo>
                <a:lnTo>
                  <a:pt x="973835" y="883920"/>
                </a:lnTo>
                <a:lnTo>
                  <a:pt x="973835" y="909827"/>
                </a:lnTo>
                <a:lnTo>
                  <a:pt x="981456" y="903731"/>
                </a:lnTo>
                <a:lnTo>
                  <a:pt x="987552" y="903731"/>
                </a:lnTo>
                <a:lnTo>
                  <a:pt x="987552" y="883920"/>
                </a:lnTo>
                <a:close/>
              </a:path>
              <a:path w="988060" h="916305">
                <a:moveTo>
                  <a:pt x="987552" y="903731"/>
                </a:moveTo>
                <a:lnTo>
                  <a:pt x="981456" y="903731"/>
                </a:lnTo>
                <a:lnTo>
                  <a:pt x="973835" y="909827"/>
                </a:lnTo>
                <a:lnTo>
                  <a:pt x="987552" y="909827"/>
                </a:lnTo>
                <a:lnTo>
                  <a:pt x="987552" y="903731"/>
                </a:lnTo>
                <a:close/>
              </a:path>
              <a:path w="988060" h="916305">
                <a:moveTo>
                  <a:pt x="917447" y="903731"/>
                </a:moveTo>
                <a:lnTo>
                  <a:pt x="867156" y="903731"/>
                </a:lnTo>
                <a:lnTo>
                  <a:pt x="867156" y="915924"/>
                </a:lnTo>
                <a:lnTo>
                  <a:pt x="917447" y="915924"/>
                </a:lnTo>
                <a:lnTo>
                  <a:pt x="917447" y="903731"/>
                </a:lnTo>
                <a:close/>
              </a:path>
              <a:path w="988060" h="916305">
                <a:moveTo>
                  <a:pt x="829056" y="903731"/>
                </a:moveTo>
                <a:lnTo>
                  <a:pt x="777240" y="903731"/>
                </a:lnTo>
                <a:lnTo>
                  <a:pt x="777240" y="915924"/>
                </a:lnTo>
                <a:lnTo>
                  <a:pt x="829056" y="915924"/>
                </a:lnTo>
                <a:lnTo>
                  <a:pt x="829056" y="903731"/>
                </a:lnTo>
                <a:close/>
              </a:path>
              <a:path w="988060" h="916305">
                <a:moveTo>
                  <a:pt x="739140" y="903731"/>
                </a:moveTo>
                <a:lnTo>
                  <a:pt x="688847" y="903731"/>
                </a:lnTo>
                <a:lnTo>
                  <a:pt x="688847" y="915924"/>
                </a:lnTo>
                <a:lnTo>
                  <a:pt x="739140" y="915924"/>
                </a:lnTo>
                <a:lnTo>
                  <a:pt x="739140" y="903731"/>
                </a:lnTo>
                <a:close/>
              </a:path>
              <a:path w="988060" h="916305">
                <a:moveTo>
                  <a:pt x="650747" y="903731"/>
                </a:moveTo>
                <a:lnTo>
                  <a:pt x="600456" y="903731"/>
                </a:lnTo>
                <a:lnTo>
                  <a:pt x="600456" y="915924"/>
                </a:lnTo>
                <a:lnTo>
                  <a:pt x="650747" y="915924"/>
                </a:lnTo>
                <a:lnTo>
                  <a:pt x="650747" y="903731"/>
                </a:lnTo>
                <a:close/>
              </a:path>
              <a:path w="988060" h="916305">
                <a:moveTo>
                  <a:pt x="562356" y="903731"/>
                </a:moveTo>
                <a:lnTo>
                  <a:pt x="510539" y="903731"/>
                </a:lnTo>
                <a:lnTo>
                  <a:pt x="510539" y="915924"/>
                </a:lnTo>
                <a:lnTo>
                  <a:pt x="562356" y="915924"/>
                </a:lnTo>
                <a:lnTo>
                  <a:pt x="562356" y="903731"/>
                </a:lnTo>
                <a:close/>
              </a:path>
              <a:path w="988060" h="916305">
                <a:moveTo>
                  <a:pt x="472439" y="903731"/>
                </a:moveTo>
                <a:lnTo>
                  <a:pt x="422147" y="903731"/>
                </a:lnTo>
                <a:lnTo>
                  <a:pt x="422147" y="915924"/>
                </a:lnTo>
                <a:lnTo>
                  <a:pt x="472439" y="915924"/>
                </a:lnTo>
                <a:lnTo>
                  <a:pt x="472439" y="903731"/>
                </a:lnTo>
                <a:close/>
              </a:path>
              <a:path w="988060" h="916305">
                <a:moveTo>
                  <a:pt x="384047" y="903731"/>
                </a:moveTo>
                <a:lnTo>
                  <a:pt x="333756" y="903731"/>
                </a:lnTo>
                <a:lnTo>
                  <a:pt x="333756" y="915924"/>
                </a:lnTo>
                <a:lnTo>
                  <a:pt x="384047" y="915924"/>
                </a:lnTo>
                <a:lnTo>
                  <a:pt x="384047" y="903731"/>
                </a:lnTo>
                <a:close/>
              </a:path>
              <a:path w="988060" h="916305">
                <a:moveTo>
                  <a:pt x="295656" y="903731"/>
                </a:moveTo>
                <a:lnTo>
                  <a:pt x="243839" y="903731"/>
                </a:lnTo>
                <a:lnTo>
                  <a:pt x="243839" y="915924"/>
                </a:lnTo>
                <a:lnTo>
                  <a:pt x="295656" y="915924"/>
                </a:lnTo>
                <a:lnTo>
                  <a:pt x="295656" y="903731"/>
                </a:lnTo>
                <a:close/>
              </a:path>
              <a:path w="988060" h="916305">
                <a:moveTo>
                  <a:pt x="205739" y="903731"/>
                </a:moveTo>
                <a:lnTo>
                  <a:pt x="155447" y="903731"/>
                </a:lnTo>
                <a:lnTo>
                  <a:pt x="155447" y="915924"/>
                </a:lnTo>
                <a:lnTo>
                  <a:pt x="205739" y="915924"/>
                </a:lnTo>
                <a:lnTo>
                  <a:pt x="205739" y="903731"/>
                </a:lnTo>
                <a:close/>
              </a:path>
              <a:path w="988060" h="916305">
                <a:moveTo>
                  <a:pt x="117347" y="903731"/>
                </a:moveTo>
                <a:lnTo>
                  <a:pt x="67056" y="903731"/>
                </a:lnTo>
                <a:lnTo>
                  <a:pt x="67056" y="915924"/>
                </a:lnTo>
                <a:lnTo>
                  <a:pt x="117347" y="915924"/>
                </a:lnTo>
                <a:lnTo>
                  <a:pt x="117347" y="9037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881459" y="142144"/>
            <a:ext cx="208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学习过程中的过拟合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540" y="946521"/>
            <a:ext cx="635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最优方案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次优方案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应对</a:t>
            </a:r>
            <a:r>
              <a:rPr spc="-10" dirty="0"/>
              <a:t>过</a:t>
            </a:r>
            <a:r>
              <a:rPr spc="5" dirty="0"/>
              <a:t>拟合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540" y="940797"/>
            <a:ext cx="231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最优方案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——获取更多的训练数据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次优方案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应对</a:t>
            </a:r>
            <a:r>
              <a:rPr spc="-10" dirty="0"/>
              <a:t>过</a:t>
            </a:r>
            <a:r>
              <a:rPr spc="5" dirty="0"/>
              <a:t>拟合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540" y="946521"/>
            <a:ext cx="49022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最优方案——获取更多的训练数据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200000"/>
              </a:lnSpc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次优方案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——调节模型允许存储的信息量或者对模型允许存储的信息加以 约束，该类方法也称为正则化。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应对</a:t>
            </a:r>
            <a:r>
              <a:rPr spc="-10" dirty="0"/>
              <a:t>过</a:t>
            </a:r>
            <a:r>
              <a:rPr spc="5" dirty="0"/>
              <a:t>拟合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540" y="940797"/>
            <a:ext cx="490220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最优方案——获取更多的训练数据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200000"/>
              </a:lnSpc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次优方案——调节模型允许存储的信息量或者对模型允许存储的信息加以 约束，该类方法也称为正则化。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641985" indent="-172085">
              <a:lnSpc>
                <a:spcPct val="100000"/>
              </a:lnSpc>
              <a:buFont typeface="Wingdings" panose="05000000000000000000"/>
              <a:buChar char=""/>
              <a:tabLst>
                <a:tab pos="642620" algn="l"/>
              </a:tabLst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调节模型大小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8356" y="132933"/>
            <a:ext cx="12661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应对</a:t>
            </a:r>
            <a:r>
              <a:rPr spc="-10" dirty="0"/>
              <a:t>过</a:t>
            </a:r>
            <a:r>
              <a:rPr spc="5" dirty="0"/>
              <a:t>拟合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540" y="946521"/>
            <a:ext cx="49022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最优方案——获取更多的训练数据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200000"/>
              </a:lnSpc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次优方案——调节模型允许存储的信息量或者对模型允许存储的信息加以 约束，该类方法也称为正则化。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641985" indent="-172085">
              <a:lnSpc>
                <a:spcPct val="100000"/>
              </a:lnSpc>
              <a:buFont typeface="Wingdings" panose="05000000000000000000"/>
              <a:buChar char=""/>
              <a:tabLst>
                <a:tab pos="6426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调节模型大小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"/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641985" indent="-172085">
              <a:lnSpc>
                <a:spcPct val="100000"/>
              </a:lnSpc>
              <a:buFont typeface="Wingdings" panose="05000000000000000000"/>
              <a:buChar char=""/>
              <a:tabLst>
                <a:tab pos="642620" algn="l"/>
              </a:tabLst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约束模型权重，即权重正则化（常用的有L1、L2正则化）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8356" y="138710"/>
            <a:ext cx="12661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应对</a:t>
            </a:r>
            <a:r>
              <a:rPr spc="-10" dirty="0"/>
              <a:t>过</a:t>
            </a:r>
            <a:r>
              <a:rPr spc="5" dirty="0"/>
              <a:t>拟合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540" y="940797"/>
            <a:ext cx="490220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最优方案——获取更多的训练数据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200000"/>
              </a:lnSpc>
            </a:pPr>
            <a:r>
              <a:rPr sz="12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次优方案——调节模型允许存储的信息量或者对模型允许存储的信息加以 约束，该类方法也称为正则化。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641985" indent="-172085">
              <a:lnSpc>
                <a:spcPct val="100000"/>
              </a:lnSpc>
              <a:buFont typeface="Wingdings" panose="05000000000000000000"/>
              <a:buChar char=""/>
              <a:tabLst>
                <a:tab pos="6426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调节模型大小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"/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641985" indent="-172085">
              <a:lnSpc>
                <a:spcPct val="100000"/>
              </a:lnSpc>
              <a:buFont typeface="Wingdings" panose="05000000000000000000"/>
              <a:buChar char=""/>
              <a:tabLst>
                <a:tab pos="6426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约束模型权重，即权重正则化（常用的有L1、L2正则化）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buChar char=""/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641985" indent="-172085">
              <a:lnSpc>
                <a:spcPct val="100000"/>
              </a:lnSpc>
              <a:buFont typeface="Wingdings" panose="05000000000000000000"/>
              <a:buChar char=""/>
              <a:tabLst>
                <a:tab pos="642620" algn="l"/>
              </a:tabLst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随机失活（Dropout）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8356" y="132933"/>
            <a:ext cx="12661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应对</a:t>
            </a:r>
            <a:r>
              <a:rPr spc="-10" dirty="0"/>
              <a:t>过</a:t>
            </a:r>
            <a:r>
              <a:rPr spc="5" dirty="0"/>
              <a:t>拟合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312" y="926578"/>
            <a:ext cx="3119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让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隐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概率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被激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0423" y="138710"/>
            <a:ext cx="237871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随机</a:t>
            </a:r>
            <a:r>
              <a:rPr spc="-10" dirty="0"/>
              <a:t>失</a:t>
            </a:r>
            <a:r>
              <a:rPr spc="5" dirty="0"/>
              <a:t>活</a:t>
            </a:r>
            <a:r>
              <a:rPr spc="-5" dirty="0"/>
              <a:t>（Dropout）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312" y="920858"/>
            <a:ext cx="515112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概率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被激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5080" indent="-172085">
              <a:lnSpc>
                <a:spcPct val="200000"/>
              </a:lnSpc>
              <a:spcBef>
                <a:spcPts val="24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现方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式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过程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某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Dropout，就是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机将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些输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舍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弃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(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值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0），这些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被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舍弃的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好像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被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除了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样。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0423" y="132933"/>
            <a:ext cx="237871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随机</a:t>
            </a:r>
            <a:r>
              <a:rPr spc="-10" dirty="0"/>
              <a:t>失</a:t>
            </a:r>
            <a:r>
              <a:rPr spc="5" dirty="0"/>
              <a:t>活</a:t>
            </a:r>
            <a:r>
              <a:rPr spc="-5" dirty="0"/>
              <a:t>（Dropout）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312" y="926578"/>
            <a:ext cx="5152390" cy="1457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概率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被激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6350" indent="-172085">
              <a:lnSpc>
                <a:spcPct val="200000"/>
              </a:lnSpc>
              <a:spcBef>
                <a:spcPts val="24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现方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式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Dropout，就是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些输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舍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弃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(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0），这些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舍弃的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好像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除了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样。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5080" indent="-172085">
              <a:lnSpc>
                <a:spcPct val="200000"/>
              </a:lnSpc>
              <a:spcBef>
                <a:spcPts val="24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随机失活比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率（</a:t>
            </a:r>
            <a:r>
              <a:rPr sz="1000" spc="-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1000" spc="-2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ratio）：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被设为</a:t>
            </a:r>
            <a:r>
              <a:rPr sz="1000" spc="-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的特征所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占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比例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通常在</a:t>
            </a:r>
            <a:r>
              <a:rPr sz="1000" spc="-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0.2</a:t>
            </a:r>
            <a:r>
              <a:rPr sz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～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0.5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范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内。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0423" y="138710"/>
            <a:ext cx="237871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随机</a:t>
            </a:r>
            <a:r>
              <a:rPr spc="-10" dirty="0"/>
              <a:t>失</a:t>
            </a:r>
            <a:r>
              <a:rPr spc="5" dirty="0"/>
              <a:t>活</a:t>
            </a:r>
            <a:r>
              <a:rPr spc="-5" dirty="0"/>
              <a:t>（Dropout）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0423" y="132933"/>
            <a:ext cx="237871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随机</a:t>
            </a:r>
            <a:r>
              <a:rPr spc="-10" dirty="0"/>
              <a:t>失</a:t>
            </a:r>
            <a:r>
              <a:rPr spc="5" dirty="0"/>
              <a:t>活</a:t>
            </a:r>
            <a:r>
              <a:rPr spc="-5" dirty="0"/>
              <a:t>（Dropout）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812196" y="2340261"/>
            <a:ext cx="4221480" cy="558165"/>
          </a:xfrm>
          <a:custGeom>
            <a:avLst/>
            <a:gdLst/>
            <a:ahLst/>
            <a:cxnLst/>
            <a:rect l="l" t="t" r="r" b="b"/>
            <a:pathLst>
              <a:path w="4221480" h="558164">
                <a:moveTo>
                  <a:pt x="4571" y="553212"/>
                </a:moveTo>
                <a:lnTo>
                  <a:pt x="1523" y="553212"/>
                </a:lnTo>
                <a:lnTo>
                  <a:pt x="1523" y="557784"/>
                </a:lnTo>
                <a:lnTo>
                  <a:pt x="7619" y="557784"/>
                </a:lnTo>
                <a:lnTo>
                  <a:pt x="7619" y="556260"/>
                </a:lnTo>
                <a:lnTo>
                  <a:pt x="4571" y="556260"/>
                </a:lnTo>
                <a:lnTo>
                  <a:pt x="4571" y="553212"/>
                </a:lnTo>
                <a:close/>
              </a:path>
              <a:path w="4221480" h="558164">
                <a:moveTo>
                  <a:pt x="4571" y="536448"/>
                </a:moveTo>
                <a:lnTo>
                  <a:pt x="0" y="536448"/>
                </a:lnTo>
                <a:lnTo>
                  <a:pt x="0" y="556260"/>
                </a:lnTo>
                <a:lnTo>
                  <a:pt x="1523" y="556260"/>
                </a:lnTo>
                <a:lnTo>
                  <a:pt x="1523" y="553212"/>
                </a:lnTo>
                <a:lnTo>
                  <a:pt x="4571" y="553212"/>
                </a:lnTo>
                <a:lnTo>
                  <a:pt x="4571" y="536448"/>
                </a:lnTo>
                <a:close/>
              </a:path>
              <a:path w="4221480" h="558164">
                <a:moveTo>
                  <a:pt x="7619" y="553212"/>
                </a:moveTo>
                <a:lnTo>
                  <a:pt x="4571" y="553212"/>
                </a:lnTo>
                <a:lnTo>
                  <a:pt x="4571" y="556260"/>
                </a:lnTo>
                <a:lnTo>
                  <a:pt x="7619" y="556260"/>
                </a:lnTo>
                <a:lnTo>
                  <a:pt x="7619" y="553212"/>
                </a:lnTo>
                <a:close/>
              </a:path>
              <a:path w="4221480" h="558164">
                <a:moveTo>
                  <a:pt x="4571" y="502920"/>
                </a:moveTo>
                <a:lnTo>
                  <a:pt x="0" y="502920"/>
                </a:lnTo>
                <a:lnTo>
                  <a:pt x="0" y="522732"/>
                </a:lnTo>
                <a:lnTo>
                  <a:pt x="4571" y="522732"/>
                </a:lnTo>
                <a:lnTo>
                  <a:pt x="4571" y="502920"/>
                </a:lnTo>
                <a:close/>
              </a:path>
              <a:path w="4221480" h="558164">
                <a:moveTo>
                  <a:pt x="4571" y="470916"/>
                </a:moveTo>
                <a:lnTo>
                  <a:pt x="0" y="470916"/>
                </a:lnTo>
                <a:lnTo>
                  <a:pt x="0" y="489204"/>
                </a:lnTo>
                <a:lnTo>
                  <a:pt x="4571" y="489204"/>
                </a:lnTo>
                <a:lnTo>
                  <a:pt x="4571" y="470916"/>
                </a:lnTo>
                <a:close/>
              </a:path>
              <a:path w="4221480" h="558164">
                <a:moveTo>
                  <a:pt x="4571" y="437388"/>
                </a:moveTo>
                <a:lnTo>
                  <a:pt x="0" y="437388"/>
                </a:lnTo>
                <a:lnTo>
                  <a:pt x="0" y="455675"/>
                </a:lnTo>
                <a:lnTo>
                  <a:pt x="4571" y="455675"/>
                </a:lnTo>
                <a:lnTo>
                  <a:pt x="4571" y="437388"/>
                </a:lnTo>
                <a:close/>
              </a:path>
              <a:path w="4221480" h="558164">
                <a:moveTo>
                  <a:pt x="4571" y="403860"/>
                </a:moveTo>
                <a:lnTo>
                  <a:pt x="0" y="403860"/>
                </a:lnTo>
                <a:lnTo>
                  <a:pt x="0" y="422148"/>
                </a:lnTo>
                <a:lnTo>
                  <a:pt x="4571" y="422148"/>
                </a:lnTo>
                <a:lnTo>
                  <a:pt x="4571" y="403860"/>
                </a:lnTo>
                <a:close/>
              </a:path>
              <a:path w="4221480" h="558164">
                <a:moveTo>
                  <a:pt x="4571" y="370332"/>
                </a:moveTo>
                <a:lnTo>
                  <a:pt x="0" y="370332"/>
                </a:lnTo>
                <a:lnTo>
                  <a:pt x="0" y="388620"/>
                </a:lnTo>
                <a:lnTo>
                  <a:pt x="4571" y="388620"/>
                </a:lnTo>
                <a:lnTo>
                  <a:pt x="4571" y="370332"/>
                </a:lnTo>
                <a:close/>
              </a:path>
              <a:path w="4221480" h="558164">
                <a:moveTo>
                  <a:pt x="4571" y="336804"/>
                </a:moveTo>
                <a:lnTo>
                  <a:pt x="0" y="336804"/>
                </a:lnTo>
                <a:lnTo>
                  <a:pt x="0" y="356616"/>
                </a:lnTo>
                <a:lnTo>
                  <a:pt x="4571" y="356616"/>
                </a:lnTo>
                <a:lnTo>
                  <a:pt x="4571" y="336804"/>
                </a:lnTo>
                <a:close/>
              </a:path>
              <a:path w="4221480" h="558164">
                <a:moveTo>
                  <a:pt x="4571" y="303275"/>
                </a:moveTo>
                <a:lnTo>
                  <a:pt x="0" y="303275"/>
                </a:lnTo>
                <a:lnTo>
                  <a:pt x="0" y="323088"/>
                </a:lnTo>
                <a:lnTo>
                  <a:pt x="4571" y="323088"/>
                </a:lnTo>
                <a:lnTo>
                  <a:pt x="4571" y="303275"/>
                </a:lnTo>
                <a:close/>
              </a:path>
              <a:path w="4221480" h="558164">
                <a:moveTo>
                  <a:pt x="4571" y="269748"/>
                </a:moveTo>
                <a:lnTo>
                  <a:pt x="0" y="269748"/>
                </a:lnTo>
                <a:lnTo>
                  <a:pt x="0" y="289560"/>
                </a:lnTo>
                <a:lnTo>
                  <a:pt x="4571" y="289560"/>
                </a:lnTo>
                <a:lnTo>
                  <a:pt x="4571" y="269748"/>
                </a:lnTo>
                <a:close/>
              </a:path>
              <a:path w="4221480" h="558164">
                <a:moveTo>
                  <a:pt x="4571" y="236220"/>
                </a:moveTo>
                <a:lnTo>
                  <a:pt x="0" y="236220"/>
                </a:lnTo>
                <a:lnTo>
                  <a:pt x="0" y="256032"/>
                </a:lnTo>
                <a:lnTo>
                  <a:pt x="4571" y="256032"/>
                </a:lnTo>
                <a:lnTo>
                  <a:pt x="4571" y="236220"/>
                </a:lnTo>
                <a:close/>
              </a:path>
              <a:path w="4221480" h="558164">
                <a:moveTo>
                  <a:pt x="4571" y="204216"/>
                </a:moveTo>
                <a:lnTo>
                  <a:pt x="0" y="204216"/>
                </a:lnTo>
                <a:lnTo>
                  <a:pt x="0" y="222504"/>
                </a:lnTo>
                <a:lnTo>
                  <a:pt x="4571" y="222504"/>
                </a:lnTo>
                <a:lnTo>
                  <a:pt x="4571" y="204216"/>
                </a:lnTo>
                <a:close/>
              </a:path>
              <a:path w="4221480" h="558164">
                <a:moveTo>
                  <a:pt x="4571" y="170688"/>
                </a:moveTo>
                <a:lnTo>
                  <a:pt x="0" y="170688"/>
                </a:lnTo>
                <a:lnTo>
                  <a:pt x="0" y="188975"/>
                </a:lnTo>
                <a:lnTo>
                  <a:pt x="4571" y="188975"/>
                </a:lnTo>
                <a:lnTo>
                  <a:pt x="4571" y="170688"/>
                </a:lnTo>
                <a:close/>
              </a:path>
              <a:path w="4221480" h="558164">
                <a:moveTo>
                  <a:pt x="4571" y="137160"/>
                </a:moveTo>
                <a:lnTo>
                  <a:pt x="0" y="137160"/>
                </a:lnTo>
                <a:lnTo>
                  <a:pt x="0" y="155448"/>
                </a:lnTo>
                <a:lnTo>
                  <a:pt x="4571" y="155448"/>
                </a:lnTo>
                <a:lnTo>
                  <a:pt x="4571" y="137160"/>
                </a:lnTo>
                <a:close/>
              </a:path>
              <a:path w="4221480" h="558164">
                <a:moveTo>
                  <a:pt x="4571" y="103632"/>
                </a:moveTo>
                <a:lnTo>
                  <a:pt x="0" y="103632"/>
                </a:lnTo>
                <a:lnTo>
                  <a:pt x="0" y="121920"/>
                </a:lnTo>
                <a:lnTo>
                  <a:pt x="4571" y="121920"/>
                </a:lnTo>
                <a:lnTo>
                  <a:pt x="4571" y="103632"/>
                </a:lnTo>
                <a:close/>
              </a:path>
              <a:path w="4221480" h="558164">
                <a:moveTo>
                  <a:pt x="4571" y="70104"/>
                </a:moveTo>
                <a:lnTo>
                  <a:pt x="0" y="70104"/>
                </a:lnTo>
                <a:lnTo>
                  <a:pt x="0" y="89916"/>
                </a:lnTo>
                <a:lnTo>
                  <a:pt x="4571" y="89916"/>
                </a:lnTo>
                <a:lnTo>
                  <a:pt x="4571" y="70104"/>
                </a:lnTo>
                <a:close/>
              </a:path>
              <a:path w="4221480" h="558164">
                <a:moveTo>
                  <a:pt x="4571" y="36575"/>
                </a:moveTo>
                <a:lnTo>
                  <a:pt x="0" y="36575"/>
                </a:lnTo>
                <a:lnTo>
                  <a:pt x="0" y="56388"/>
                </a:lnTo>
                <a:lnTo>
                  <a:pt x="4571" y="56388"/>
                </a:lnTo>
                <a:lnTo>
                  <a:pt x="4571" y="36575"/>
                </a:lnTo>
                <a:close/>
              </a:path>
              <a:path w="4221480" h="558164">
                <a:moveTo>
                  <a:pt x="4571" y="3048"/>
                </a:moveTo>
                <a:lnTo>
                  <a:pt x="0" y="3048"/>
                </a:lnTo>
                <a:lnTo>
                  <a:pt x="0" y="22860"/>
                </a:lnTo>
                <a:lnTo>
                  <a:pt x="4571" y="22860"/>
                </a:lnTo>
                <a:lnTo>
                  <a:pt x="4571" y="3048"/>
                </a:lnTo>
                <a:close/>
              </a:path>
              <a:path w="4221480" h="558164">
                <a:moveTo>
                  <a:pt x="35051" y="0"/>
                </a:moveTo>
                <a:lnTo>
                  <a:pt x="15240" y="0"/>
                </a:lnTo>
                <a:lnTo>
                  <a:pt x="15240" y="4572"/>
                </a:lnTo>
                <a:lnTo>
                  <a:pt x="35051" y="4572"/>
                </a:lnTo>
                <a:lnTo>
                  <a:pt x="35051" y="0"/>
                </a:lnTo>
                <a:close/>
              </a:path>
              <a:path w="4221480" h="558164">
                <a:moveTo>
                  <a:pt x="68579" y="0"/>
                </a:moveTo>
                <a:lnTo>
                  <a:pt x="48767" y="0"/>
                </a:lnTo>
                <a:lnTo>
                  <a:pt x="48767" y="4572"/>
                </a:lnTo>
                <a:lnTo>
                  <a:pt x="68579" y="4572"/>
                </a:lnTo>
                <a:lnTo>
                  <a:pt x="68579" y="0"/>
                </a:lnTo>
                <a:close/>
              </a:path>
              <a:path w="4221480" h="558164">
                <a:moveTo>
                  <a:pt x="102108" y="0"/>
                </a:moveTo>
                <a:lnTo>
                  <a:pt x="82296" y="0"/>
                </a:lnTo>
                <a:lnTo>
                  <a:pt x="82296" y="4572"/>
                </a:lnTo>
                <a:lnTo>
                  <a:pt x="102108" y="4572"/>
                </a:lnTo>
                <a:lnTo>
                  <a:pt x="102108" y="0"/>
                </a:lnTo>
                <a:close/>
              </a:path>
              <a:path w="4221480" h="558164">
                <a:moveTo>
                  <a:pt x="134111" y="0"/>
                </a:moveTo>
                <a:lnTo>
                  <a:pt x="115823" y="0"/>
                </a:lnTo>
                <a:lnTo>
                  <a:pt x="115823" y="4572"/>
                </a:lnTo>
                <a:lnTo>
                  <a:pt x="134111" y="4572"/>
                </a:lnTo>
                <a:lnTo>
                  <a:pt x="134111" y="0"/>
                </a:lnTo>
                <a:close/>
              </a:path>
              <a:path w="4221480" h="558164">
                <a:moveTo>
                  <a:pt x="167640" y="0"/>
                </a:moveTo>
                <a:lnTo>
                  <a:pt x="149352" y="0"/>
                </a:lnTo>
                <a:lnTo>
                  <a:pt x="149352" y="4572"/>
                </a:lnTo>
                <a:lnTo>
                  <a:pt x="167640" y="4572"/>
                </a:lnTo>
                <a:lnTo>
                  <a:pt x="167640" y="0"/>
                </a:lnTo>
                <a:close/>
              </a:path>
              <a:path w="4221480" h="558164">
                <a:moveTo>
                  <a:pt x="201167" y="0"/>
                </a:moveTo>
                <a:lnTo>
                  <a:pt x="182879" y="0"/>
                </a:lnTo>
                <a:lnTo>
                  <a:pt x="182879" y="4572"/>
                </a:lnTo>
                <a:lnTo>
                  <a:pt x="201167" y="4572"/>
                </a:lnTo>
                <a:lnTo>
                  <a:pt x="201167" y="0"/>
                </a:lnTo>
                <a:close/>
              </a:path>
              <a:path w="4221480" h="558164">
                <a:moveTo>
                  <a:pt x="234696" y="0"/>
                </a:moveTo>
                <a:lnTo>
                  <a:pt x="216408" y="0"/>
                </a:lnTo>
                <a:lnTo>
                  <a:pt x="216408" y="4572"/>
                </a:lnTo>
                <a:lnTo>
                  <a:pt x="234696" y="4572"/>
                </a:lnTo>
                <a:lnTo>
                  <a:pt x="234696" y="0"/>
                </a:lnTo>
                <a:close/>
              </a:path>
              <a:path w="4221480" h="558164">
                <a:moveTo>
                  <a:pt x="268223" y="0"/>
                </a:moveTo>
                <a:lnTo>
                  <a:pt x="248411" y="0"/>
                </a:lnTo>
                <a:lnTo>
                  <a:pt x="248411" y="4572"/>
                </a:lnTo>
                <a:lnTo>
                  <a:pt x="268223" y="4572"/>
                </a:lnTo>
                <a:lnTo>
                  <a:pt x="268223" y="0"/>
                </a:lnTo>
                <a:close/>
              </a:path>
              <a:path w="4221480" h="558164">
                <a:moveTo>
                  <a:pt x="301752" y="0"/>
                </a:moveTo>
                <a:lnTo>
                  <a:pt x="281940" y="0"/>
                </a:lnTo>
                <a:lnTo>
                  <a:pt x="281940" y="4572"/>
                </a:lnTo>
                <a:lnTo>
                  <a:pt x="301752" y="4572"/>
                </a:lnTo>
                <a:lnTo>
                  <a:pt x="301752" y="0"/>
                </a:lnTo>
                <a:close/>
              </a:path>
              <a:path w="4221480" h="558164">
                <a:moveTo>
                  <a:pt x="335279" y="0"/>
                </a:moveTo>
                <a:lnTo>
                  <a:pt x="315467" y="0"/>
                </a:lnTo>
                <a:lnTo>
                  <a:pt x="315467" y="4572"/>
                </a:lnTo>
                <a:lnTo>
                  <a:pt x="335279" y="4572"/>
                </a:lnTo>
                <a:lnTo>
                  <a:pt x="335279" y="0"/>
                </a:lnTo>
                <a:close/>
              </a:path>
              <a:path w="4221480" h="558164">
                <a:moveTo>
                  <a:pt x="368808" y="0"/>
                </a:moveTo>
                <a:lnTo>
                  <a:pt x="348996" y="0"/>
                </a:lnTo>
                <a:lnTo>
                  <a:pt x="348996" y="4572"/>
                </a:lnTo>
                <a:lnTo>
                  <a:pt x="368808" y="4572"/>
                </a:lnTo>
                <a:lnTo>
                  <a:pt x="368808" y="0"/>
                </a:lnTo>
                <a:close/>
              </a:path>
              <a:path w="4221480" h="558164">
                <a:moveTo>
                  <a:pt x="400811" y="0"/>
                </a:moveTo>
                <a:lnTo>
                  <a:pt x="382523" y="0"/>
                </a:lnTo>
                <a:lnTo>
                  <a:pt x="382523" y="4572"/>
                </a:lnTo>
                <a:lnTo>
                  <a:pt x="400811" y="4572"/>
                </a:lnTo>
                <a:lnTo>
                  <a:pt x="400811" y="0"/>
                </a:lnTo>
                <a:close/>
              </a:path>
              <a:path w="4221480" h="558164">
                <a:moveTo>
                  <a:pt x="434340" y="0"/>
                </a:moveTo>
                <a:lnTo>
                  <a:pt x="416052" y="0"/>
                </a:lnTo>
                <a:lnTo>
                  <a:pt x="416052" y="4572"/>
                </a:lnTo>
                <a:lnTo>
                  <a:pt x="434340" y="4572"/>
                </a:lnTo>
                <a:lnTo>
                  <a:pt x="434340" y="0"/>
                </a:lnTo>
                <a:close/>
              </a:path>
              <a:path w="4221480" h="558164">
                <a:moveTo>
                  <a:pt x="467867" y="0"/>
                </a:moveTo>
                <a:lnTo>
                  <a:pt x="449579" y="0"/>
                </a:lnTo>
                <a:lnTo>
                  <a:pt x="449579" y="4572"/>
                </a:lnTo>
                <a:lnTo>
                  <a:pt x="467867" y="4572"/>
                </a:lnTo>
                <a:lnTo>
                  <a:pt x="467867" y="0"/>
                </a:lnTo>
                <a:close/>
              </a:path>
              <a:path w="4221480" h="558164">
                <a:moveTo>
                  <a:pt x="501396" y="0"/>
                </a:moveTo>
                <a:lnTo>
                  <a:pt x="483108" y="0"/>
                </a:lnTo>
                <a:lnTo>
                  <a:pt x="483108" y="4572"/>
                </a:lnTo>
                <a:lnTo>
                  <a:pt x="501396" y="4572"/>
                </a:lnTo>
                <a:lnTo>
                  <a:pt x="501396" y="0"/>
                </a:lnTo>
                <a:close/>
              </a:path>
              <a:path w="4221480" h="558164">
                <a:moveTo>
                  <a:pt x="534923" y="0"/>
                </a:moveTo>
                <a:lnTo>
                  <a:pt x="515111" y="0"/>
                </a:lnTo>
                <a:lnTo>
                  <a:pt x="515111" y="4572"/>
                </a:lnTo>
                <a:lnTo>
                  <a:pt x="534923" y="4572"/>
                </a:lnTo>
                <a:lnTo>
                  <a:pt x="534923" y="0"/>
                </a:lnTo>
                <a:close/>
              </a:path>
              <a:path w="4221480" h="558164">
                <a:moveTo>
                  <a:pt x="568452" y="0"/>
                </a:moveTo>
                <a:lnTo>
                  <a:pt x="548640" y="0"/>
                </a:lnTo>
                <a:lnTo>
                  <a:pt x="548640" y="4572"/>
                </a:lnTo>
                <a:lnTo>
                  <a:pt x="568452" y="4572"/>
                </a:lnTo>
                <a:lnTo>
                  <a:pt x="568452" y="0"/>
                </a:lnTo>
                <a:close/>
              </a:path>
              <a:path w="4221480" h="558164">
                <a:moveTo>
                  <a:pt x="601979" y="0"/>
                </a:moveTo>
                <a:lnTo>
                  <a:pt x="582167" y="0"/>
                </a:lnTo>
                <a:lnTo>
                  <a:pt x="582167" y="4572"/>
                </a:lnTo>
                <a:lnTo>
                  <a:pt x="601979" y="4572"/>
                </a:lnTo>
                <a:lnTo>
                  <a:pt x="601979" y="0"/>
                </a:lnTo>
                <a:close/>
              </a:path>
              <a:path w="4221480" h="558164">
                <a:moveTo>
                  <a:pt x="635508" y="0"/>
                </a:moveTo>
                <a:lnTo>
                  <a:pt x="615696" y="0"/>
                </a:lnTo>
                <a:lnTo>
                  <a:pt x="615696" y="4572"/>
                </a:lnTo>
                <a:lnTo>
                  <a:pt x="635508" y="4572"/>
                </a:lnTo>
                <a:lnTo>
                  <a:pt x="635508" y="0"/>
                </a:lnTo>
                <a:close/>
              </a:path>
              <a:path w="4221480" h="558164">
                <a:moveTo>
                  <a:pt x="667511" y="0"/>
                </a:moveTo>
                <a:lnTo>
                  <a:pt x="649223" y="0"/>
                </a:lnTo>
                <a:lnTo>
                  <a:pt x="649223" y="4572"/>
                </a:lnTo>
                <a:lnTo>
                  <a:pt x="667511" y="4572"/>
                </a:lnTo>
                <a:lnTo>
                  <a:pt x="667511" y="0"/>
                </a:lnTo>
                <a:close/>
              </a:path>
              <a:path w="4221480" h="558164">
                <a:moveTo>
                  <a:pt x="701040" y="0"/>
                </a:moveTo>
                <a:lnTo>
                  <a:pt x="682752" y="0"/>
                </a:lnTo>
                <a:lnTo>
                  <a:pt x="682752" y="4572"/>
                </a:lnTo>
                <a:lnTo>
                  <a:pt x="701040" y="4572"/>
                </a:lnTo>
                <a:lnTo>
                  <a:pt x="701040" y="0"/>
                </a:lnTo>
                <a:close/>
              </a:path>
              <a:path w="4221480" h="558164">
                <a:moveTo>
                  <a:pt x="734567" y="0"/>
                </a:moveTo>
                <a:lnTo>
                  <a:pt x="716279" y="0"/>
                </a:lnTo>
                <a:lnTo>
                  <a:pt x="716279" y="4572"/>
                </a:lnTo>
                <a:lnTo>
                  <a:pt x="734567" y="4572"/>
                </a:lnTo>
                <a:lnTo>
                  <a:pt x="734567" y="0"/>
                </a:lnTo>
                <a:close/>
              </a:path>
              <a:path w="4221480" h="558164">
                <a:moveTo>
                  <a:pt x="768096" y="0"/>
                </a:moveTo>
                <a:lnTo>
                  <a:pt x="749808" y="0"/>
                </a:lnTo>
                <a:lnTo>
                  <a:pt x="749808" y="4572"/>
                </a:lnTo>
                <a:lnTo>
                  <a:pt x="768096" y="4572"/>
                </a:lnTo>
                <a:lnTo>
                  <a:pt x="768096" y="0"/>
                </a:lnTo>
                <a:close/>
              </a:path>
              <a:path w="4221480" h="558164">
                <a:moveTo>
                  <a:pt x="801623" y="0"/>
                </a:moveTo>
                <a:lnTo>
                  <a:pt x="781811" y="0"/>
                </a:lnTo>
                <a:lnTo>
                  <a:pt x="781811" y="4572"/>
                </a:lnTo>
                <a:lnTo>
                  <a:pt x="801623" y="4572"/>
                </a:lnTo>
                <a:lnTo>
                  <a:pt x="801623" y="0"/>
                </a:lnTo>
                <a:close/>
              </a:path>
              <a:path w="4221480" h="558164">
                <a:moveTo>
                  <a:pt x="835152" y="0"/>
                </a:moveTo>
                <a:lnTo>
                  <a:pt x="815340" y="0"/>
                </a:lnTo>
                <a:lnTo>
                  <a:pt x="815340" y="4572"/>
                </a:lnTo>
                <a:lnTo>
                  <a:pt x="835152" y="4572"/>
                </a:lnTo>
                <a:lnTo>
                  <a:pt x="835152" y="0"/>
                </a:lnTo>
                <a:close/>
              </a:path>
              <a:path w="4221480" h="558164">
                <a:moveTo>
                  <a:pt x="868679" y="0"/>
                </a:moveTo>
                <a:lnTo>
                  <a:pt x="848867" y="0"/>
                </a:lnTo>
                <a:lnTo>
                  <a:pt x="848867" y="4572"/>
                </a:lnTo>
                <a:lnTo>
                  <a:pt x="868679" y="4572"/>
                </a:lnTo>
                <a:lnTo>
                  <a:pt x="868679" y="0"/>
                </a:lnTo>
                <a:close/>
              </a:path>
              <a:path w="4221480" h="558164">
                <a:moveTo>
                  <a:pt x="902208" y="0"/>
                </a:moveTo>
                <a:lnTo>
                  <a:pt x="882396" y="0"/>
                </a:lnTo>
                <a:lnTo>
                  <a:pt x="882396" y="4572"/>
                </a:lnTo>
                <a:lnTo>
                  <a:pt x="902208" y="4572"/>
                </a:lnTo>
                <a:lnTo>
                  <a:pt x="902208" y="0"/>
                </a:lnTo>
                <a:close/>
              </a:path>
              <a:path w="4221480" h="558164">
                <a:moveTo>
                  <a:pt x="934211" y="0"/>
                </a:moveTo>
                <a:lnTo>
                  <a:pt x="915923" y="0"/>
                </a:lnTo>
                <a:lnTo>
                  <a:pt x="915923" y="4572"/>
                </a:lnTo>
                <a:lnTo>
                  <a:pt x="934211" y="4572"/>
                </a:lnTo>
                <a:lnTo>
                  <a:pt x="934211" y="0"/>
                </a:lnTo>
                <a:close/>
              </a:path>
              <a:path w="4221480" h="558164">
                <a:moveTo>
                  <a:pt x="967740" y="0"/>
                </a:moveTo>
                <a:lnTo>
                  <a:pt x="949452" y="0"/>
                </a:lnTo>
                <a:lnTo>
                  <a:pt x="949452" y="4572"/>
                </a:lnTo>
                <a:lnTo>
                  <a:pt x="967740" y="4572"/>
                </a:lnTo>
                <a:lnTo>
                  <a:pt x="967740" y="0"/>
                </a:lnTo>
                <a:close/>
              </a:path>
              <a:path w="4221480" h="558164">
                <a:moveTo>
                  <a:pt x="1001267" y="0"/>
                </a:moveTo>
                <a:lnTo>
                  <a:pt x="982979" y="0"/>
                </a:lnTo>
                <a:lnTo>
                  <a:pt x="982979" y="4572"/>
                </a:lnTo>
                <a:lnTo>
                  <a:pt x="1001267" y="4572"/>
                </a:lnTo>
                <a:lnTo>
                  <a:pt x="1001267" y="0"/>
                </a:lnTo>
                <a:close/>
              </a:path>
              <a:path w="4221480" h="558164">
                <a:moveTo>
                  <a:pt x="1034796" y="0"/>
                </a:moveTo>
                <a:lnTo>
                  <a:pt x="1016508" y="0"/>
                </a:lnTo>
                <a:lnTo>
                  <a:pt x="1016508" y="4572"/>
                </a:lnTo>
                <a:lnTo>
                  <a:pt x="1034796" y="4572"/>
                </a:lnTo>
                <a:lnTo>
                  <a:pt x="1034796" y="0"/>
                </a:lnTo>
                <a:close/>
              </a:path>
              <a:path w="4221480" h="558164">
                <a:moveTo>
                  <a:pt x="1068323" y="0"/>
                </a:moveTo>
                <a:lnTo>
                  <a:pt x="1048511" y="0"/>
                </a:lnTo>
                <a:lnTo>
                  <a:pt x="1048511" y="4572"/>
                </a:lnTo>
                <a:lnTo>
                  <a:pt x="1068323" y="4572"/>
                </a:lnTo>
                <a:lnTo>
                  <a:pt x="1068323" y="0"/>
                </a:lnTo>
                <a:close/>
              </a:path>
              <a:path w="4221480" h="558164">
                <a:moveTo>
                  <a:pt x="1101852" y="0"/>
                </a:moveTo>
                <a:lnTo>
                  <a:pt x="1082040" y="0"/>
                </a:lnTo>
                <a:lnTo>
                  <a:pt x="1082040" y="4572"/>
                </a:lnTo>
                <a:lnTo>
                  <a:pt x="1101852" y="4572"/>
                </a:lnTo>
                <a:lnTo>
                  <a:pt x="1101852" y="0"/>
                </a:lnTo>
                <a:close/>
              </a:path>
              <a:path w="4221480" h="558164">
                <a:moveTo>
                  <a:pt x="1135380" y="0"/>
                </a:moveTo>
                <a:lnTo>
                  <a:pt x="1115567" y="0"/>
                </a:lnTo>
                <a:lnTo>
                  <a:pt x="1115567" y="4572"/>
                </a:lnTo>
                <a:lnTo>
                  <a:pt x="1135380" y="4572"/>
                </a:lnTo>
                <a:lnTo>
                  <a:pt x="1135380" y="0"/>
                </a:lnTo>
                <a:close/>
              </a:path>
              <a:path w="4221480" h="558164">
                <a:moveTo>
                  <a:pt x="1168908" y="0"/>
                </a:moveTo>
                <a:lnTo>
                  <a:pt x="1149096" y="0"/>
                </a:lnTo>
                <a:lnTo>
                  <a:pt x="1149096" y="4572"/>
                </a:lnTo>
                <a:lnTo>
                  <a:pt x="1168908" y="4572"/>
                </a:lnTo>
                <a:lnTo>
                  <a:pt x="1168908" y="0"/>
                </a:lnTo>
                <a:close/>
              </a:path>
              <a:path w="4221480" h="558164">
                <a:moveTo>
                  <a:pt x="1200911" y="0"/>
                </a:moveTo>
                <a:lnTo>
                  <a:pt x="1182623" y="0"/>
                </a:lnTo>
                <a:lnTo>
                  <a:pt x="1182623" y="4572"/>
                </a:lnTo>
                <a:lnTo>
                  <a:pt x="1200911" y="4572"/>
                </a:lnTo>
                <a:lnTo>
                  <a:pt x="1200911" y="0"/>
                </a:lnTo>
                <a:close/>
              </a:path>
              <a:path w="4221480" h="558164">
                <a:moveTo>
                  <a:pt x="1234440" y="0"/>
                </a:moveTo>
                <a:lnTo>
                  <a:pt x="1216152" y="0"/>
                </a:lnTo>
                <a:lnTo>
                  <a:pt x="1216152" y="4572"/>
                </a:lnTo>
                <a:lnTo>
                  <a:pt x="1234440" y="4572"/>
                </a:lnTo>
                <a:lnTo>
                  <a:pt x="1234440" y="0"/>
                </a:lnTo>
                <a:close/>
              </a:path>
              <a:path w="4221480" h="558164">
                <a:moveTo>
                  <a:pt x="1267967" y="0"/>
                </a:moveTo>
                <a:lnTo>
                  <a:pt x="1249680" y="0"/>
                </a:lnTo>
                <a:lnTo>
                  <a:pt x="1249680" y="4572"/>
                </a:lnTo>
                <a:lnTo>
                  <a:pt x="1267967" y="4572"/>
                </a:lnTo>
                <a:lnTo>
                  <a:pt x="1267967" y="0"/>
                </a:lnTo>
                <a:close/>
              </a:path>
              <a:path w="4221480" h="558164">
                <a:moveTo>
                  <a:pt x="1301496" y="0"/>
                </a:moveTo>
                <a:lnTo>
                  <a:pt x="1283208" y="0"/>
                </a:lnTo>
                <a:lnTo>
                  <a:pt x="1283208" y="4572"/>
                </a:lnTo>
                <a:lnTo>
                  <a:pt x="1301496" y="4572"/>
                </a:lnTo>
                <a:lnTo>
                  <a:pt x="1301496" y="0"/>
                </a:lnTo>
                <a:close/>
              </a:path>
              <a:path w="4221480" h="558164">
                <a:moveTo>
                  <a:pt x="1335023" y="0"/>
                </a:moveTo>
                <a:lnTo>
                  <a:pt x="1315211" y="0"/>
                </a:lnTo>
                <a:lnTo>
                  <a:pt x="1315211" y="4572"/>
                </a:lnTo>
                <a:lnTo>
                  <a:pt x="1335023" y="4572"/>
                </a:lnTo>
                <a:lnTo>
                  <a:pt x="1335023" y="0"/>
                </a:lnTo>
                <a:close/>
              </a:path>
              <a:path w="4221480" h="558164">
                <a:moveTo>
                  <a:pt x="1368552" y="0"/>
                </a:moveTo>
                <a:lnTo>
                  <a:pt x="1348740" y="0"/>
                </a:lnTo>
                <a:lnTo>
                  <a:pt x="1348740" y="4572"/>
                </a:lnTo>
                <a:lnTo>
                  <a:pt x="1368552" y="4572"/>
                </a:lnTo>
                <a:lnTo>
                  <a:pt x="1368552" y="0"/>
                </a:lnTo>
                <a:close/>
              </a:path>
              <a:path w="4221480" h="558164">
                <a:moveTo>
                  <a:pt x="1402080" y="0"/>
                </a:moveTo>
                <a:lnTo>
                  <a:pt x="1382267" y="0"/>
                </a:lnTo>
                <a:lnTo>
                  <a:pt x="1382267" y="4572"/>
                </a:lnTo>
                <a:lnTo>
                  <a:pt x="1402080" y="4572"/>
                </a:lnTo>
                <a:lnTo>
                  <a:pt x="1402080" y="0"/>
                </a:lnTo>
                <a:close/>
              </a:path>
              <a:path w="4221480" h="558164">
                <a:moveTo>
                  <a:pt x="1435608" y="0"/>
                </a:moveTo>
                <a:lnTo>
                  <a:pt x="1415796" y="0"/>
                </a:lnTo>
                <a:lnTo>
                  <a:pt x="1415796" y="4572"/>
                </a:lnTo>
                <a:lnTo>
                  <a:pt x="1435608" y="4572"/>
                </a:lnTo>
                <a:lnTo>
                  <a:pt x="1435608" y="0"/>
                </a:lnTo>
                <a:close/>
              </a:path>
              <a:path w="4221480" h="558164">
                <a:moveTo>
                  <a:pt x="1467611" y="0"/>
                </a:moveTo>
                <a:lnTo>
                  <a:pt x="1449323" y="0"/>
                </a:lnTo>
                <a:lnTo>
                  <a:pt x="1449323" y="4572"/>
                </a:lnTo>
                <a:lnTo>
                  <a:pt x="1467611" y="4572"/>
                </a:lnTo>
                <a:lnTo>
                  <a:pt x="1467611" y="0"/>
                </a:lnTo>
                <a:close/>
              </a:path>
              <a:path w="4221480" h="558164">
                <a:moveTo>
                  <a:pt x="1501140" y="0"/>
                </a:moveTo>
                <a:lnTo>
                  <a:pt x="1482852" y="0"/>
                </a:lnTo>
                <a:lnTo>
                  <a:pt x="1482852" y="4572"/>
                </a:lnTo>
                <a:lnTo>
                  <a:pt x="1501140" y="4572"/>
                </a:lnTo>
                <a:lnTo>
                  <a:pt x="1501140" y="0"/>
                </a:lnTo>
                <a:close/>
              </a:path>
              <a:path w="4221480" h="558164">
                <a:moveTo>
                  <a:pt x="1534667" y="0"/>
                </a:moveTo>
                <a:lnTo>
                  <a:pt x="1516380" y="0"/>
                </a:lnTo>
                <a:lnTo>
                  <a:pt x="1516380" y="4572"/>
                </a:lnTo>
                <a:lnTo>
                  <a:pt x="1534667" y="4572"/>
                </a:lnTo>
                <a:lnTo>
                  <a:pt x="1534667" y="0"/>
                </a:lnTo>
                <a:close/>
              </a:path>
              <a:path w="4221480" h="558164">
                <a:moveTo>
                  <a:pt x="1568196" y="0"/>
                </a:moveTo>
                <a:lnTo>
                  <a:pt x="1549908" y="0"/>
                </a:lnTo>
                <a:lnTo>
                  <a:pt x="1549908" y="4572"/>
                </a:lnTo>
                <a:lnTo>
                  <a:pt x="1568196" y="4572"/>
                </a:lnTo>
                <a:lnTo>
                  <a:pt x="1568196" y="0"/>
                </a:lnTo>
                <a:close/>
              </a:path>
              <a:path w="4221480" h="558164">
                <a:moveTo>
                  <a:pt x="1601723" y="0"/>
                </a:moveTo>
                <a:lnTo>
                  <a:pt x="1581911" y="0"/>
                </a:lnTo>
                <a:lnTo>
                  <a:pt x="1581911" y="4572"/>
                </a:lnTo>
                <a:lnTo>
                  <a:pt x="1601723" y="4572"/>
                </a:lnTo>
                <a:lnTo>
                  <a:pt x="1601723" y="0"/>
                </a:lnTo>
                <a:close/>
              </a:path>
              <a:path w="4221480" h="558164">
                <a:moveTo>
                  <a:pt x="1635252" y="0"/>
                </a:moveTo>
                <a:lnTo>
                  <a:pt x="1615440" y="0"/>
                </a:lnTo>
                <a:lnTo>
                  <a:pt x="1615440" y="4572"/>
                </a:lnTo>
                <a:lnTo>
                  <a:pt x="1635252" y="4572"/>
                </a:lnTo>
                <a:lnTo>
                  <a:pt x="1635252" y="0"/>
                </a:lnTo>
                <a:close/>
              </a:path>
              <a:path w="4221480" h="558164">
                <a:moveTo>
                  <a:pt x="1668779" y="0"/>
                </a:moveTo>
                <a:lnTo>
                  <a:pt x="1648967" y="0"/>
                </a:lnTo>
                <a:lnTo>
                  <a:pt x="1648967" y="4572"/>
                </a:lnTo>
                <a:lnTo>
                  <a:pt x="1668779" y="4572"/>
                </a:lnTo>
                <a:lnTo>
                  <a:pt x="1668779" y="0"/>
                </a:lnTo>
                <a:close/>
              </a:path>
              <a:path w="4221480" h="558164">
                <a:moveTo>
                  <a:pt x="1702307" y="0"/>
                </a:moveTo>
                <a:lnTo>
                  <a:pt x="1682496" y="0"/>
                </a:lnTo>
                <a:lnTo>
                  <a:pt x="1682496" y="4572"/>
                </a:lnTo>
                <a:lnTo>
                  <a:pt x="1702307" y="4572"/>
                </a:lnTo>
                <a:lnTo>
                  <a:pt x="1702307" y="0"/>
                </a:lnTo>
                <a:close/>
              </a:path>
              <a:path w="4221480" h="558164">
                <a:moveTo>
                  <a:pt x="1734312" y="0"/>
                </a:moveTo>
                <a:lnTo>
                  <a:pt x="1716024" y="0"/>
                </a:lnTo>
                <a:lnTo>
                  <a:pt x="1716024" y="4572"/>
                </a:lnTo>
                <a:lnTo>
                  <a:pt x="1734312" y="4572"/>
                </a:lnTo>
                <a:lnTo>
                  <a:pt x="1734312" y="0"/>
                </a:lnTo>
                <a:close/>
              </a:path>
              <a:path w="4221480" h="558164">
                <a:moveTo>
                  <a:pt x="1767839" y="0"/>
                </a:moveTo>
                <a:lnTo>
                  <a:pt x="1749552" y="0"/>
                </a:lnTo>
                <a:lnTo>
                  <a:pt x="1749552" y="4572"/>
                </a:lnTo>
                <a:lnTo>
                  <a:pt x="1767839" y="4572"/>
                </a:lnTo>
                <a:lnTo>
                  <a:pt x="1767839" y="0"/>
                </a:lnTo>
                <a:close/>
              </a:path>
              <a:path w="4221480" h="558164">
                <a:moveTo>
                  <a:pt x="1801367" y="0"/>
                </a:moveTo>
                <a:lnTo>
                  <a:pt x="1783079" y="0"/>
                </a:lnTo>
                <a:lnTo>
                  <a:pt x="1783079" y="4572"/>
                </a:lnTo>
                <a:lnTo>
                  <a:pt x="1801367" y="4572"/>
                </a:lnTo>
                <a:lnTo>
                  <a:pt x="1801367" y="0"/>
                </a:lnTo>
                <a:close/>
              </a:path>
              <a:path w="4221480" h="558164">
                <a:moveTo>
                  <a:pt x="1834895" y="0"/>
                </a:moveTo>
                <a:lnTo>
                  <a:pt x="1816607" y="0"/>
                </a:lnTo>
                <a:lnTo>
                  <a:pt x="1816607" y="4572"/>
                </a:lnTo>
                <a:lnTo>
                  <a:pt x="1834895" y="4572"/>
                </a:lnTo>
                <a:lnTo>
                  <a:pt x="1834895" y="0"/>
                </a:lnTo>
                <a:close/>
              </a:path>
              <a:path w="4221480" h="558164">
                <a:moveTo>
                  <a:pt x="1868424" y="0"/>
                </a:moveTo>
                <a:lnTo>
                  <a:pt x="1848612" y="0"/>
                </a:lnTo>
                <a:lnTo>
                  <a:pt x="1848612" y="4572"/>
                </a:lnTo>
                <a:lnTo>
                  <a:pt x="1868424" y="4572"/>
                </a:lnTo>
                <a:lnTo>
                  <a:pt x="1868424" y="0"/>
                </a:lnTo>
                <a:close/>
              </a:path>
              <a:path w="4221480" h="558164">
                <a:moveTo>
                  <a:pt x="1901952" y="0"/>
                </a:moveTo>
                <a:lnTo>
                  <a:pt x="1882139" y="0"/>
                </a:lnTo>
                <a:lnTo>
                  <a:pt x="1882139" y="4572"/>
                </a:lnTo>
                <a:lnTo>
                  <a:pt x="1901952" y="4572"/>
                </a:lnTo>
                <a:lnTo>
                  <a:pt x="1901952" y="0"/>
                </a:lnTo>
                <a:close/>
              </a:path>
              <a:path w="4221480" h="558164">
                <a:moveTo>
                  <a:pt x="1935479" y="0"/>
                </a:moveTo>
                <a:lnTo>
                  <a:pt x="1915667" y="0"/>
                </a:lnTo>
                <a:lnTo>
                  <a:pt x="1915667" y="4572"/>
                </a:lnTo>
                <a:lnTo>
                  <a:pt x="1935479" y="4572"/>
                </a:lnTo>
                <a:lnTo>
                  <a:pt x="1935479" y="0"/>
                </a:lnTo>
                <a:close/>
              </a:path>
              <a:path w="4221480" h="558164">
                <a:moveTo>
                  <a:pt x="1969007" y="0"/>
                </a:moveTo>
                <a:lnTo>
                  <a:pt x="1949195" y="0"/>
                </a:lnTo>
                <a:lnTo>
                  <a:pt x="1949195" y="4572"/>
                </a:lnTo>
                <a:lnTo>
                  <a:pt x="1969007" y="4572"/>
                </a:lnTo>
                <a:lnTo>
                  <a:pt x="1969007" y="0"/>
                </a:lnTo>
                <a:close/>
              </a:path>
              <a:path w="4221480" h="558164">
                <a:moveTo>
                  <a:pt x="2001012" y="0"/>
                </a:moveTo>
                <a:lnTo>
                  <a:pt x="1982724" y="0"/>
                </a:lnTo>
                <a:lnTo>
                  <a:pt x="1982724" y="4572"/>
                </a:lnTo>
                <a:lnTo>
                  <a:pt x="2001012" y="4572"/>
                </a:lnTo>
                <a:lnTo>
                  <a:pt x="2001012" y="0"/>
                </a:lnTo>
                <a:close/>
              </a:path>
              <a:path w="4221480" h="558164">
                <a:moveTo>
                  <a:pt x="2034539" y="0"/>
                </a:moveTo>
                <a:lnTo>
                  <a:pt x="2016252" y="0"/>
                </a:lnTo>
                <a:lnTo>
                  <a:pt x="2016252" y="4572"/>
                </a:lnTo>
                <a:lnTo>
                  <a:pt x="2034539" y="4572"/>
                </a:lnTo>
                <a:lnTo>
                  <a:pt x="2034539" y="0"/>
                </a:lnTo>
                <a:close/>
              </a:path>
              <a:path w="4221480" h="558164">
                <a:moveTo>
                  <a:pt x="2068067" y="0"/>
                </a:moveTo>
                <a:lnTo>
                  <a:pt x="2049779" y="0"/>
                </a:lnTo>
                <a:lnTo>
                  <a:pt x="2049779" y="4572"/>
                </a:lnTo>
                <a:lnTo>
                  <a:pt x="2068067" y="4572"/>
                </a:lnTo>
                <a:lnTo>
                  <a:pt x="2068067" y="0"/>
                </a:lnTo>
                <a:close/>
              </a:path>
              <a:path w="4221480" h="558164">
                <a:moveTo>
                  <a:pt x="2101595" y="0"/>
                </a:moveTo>
                <a:lnTo>
                  <a:pt x="2083307" y="0"/>
                </a:lnTo>
                <a:lnTo>
                  <a:pt x="2083307" y="4572"/>
                </a:lnTo>
                <a:lnTo>
                  <a:pt x="2101595" y="4572"/>
                </a:lnTo>
                <a:lnTo>
                  <a:pt x="2101595" y="0"/>
                </a:lnTo>
                <a:close/>
              </a:path>
              <a:path w="4221480" h="558164">
                <a:moveTo>
                  <a:pt x="2135124" y="0"/>
                </a:moveTo>
                <a:lnTo>
                  <a:pt x="2115312" y="0"/>
                </a:lnTo>
                <a:lnTo>
                  <a:pt x="2115312" y="4572"/>
                </a:lnTo>
                <a:lnTo>
                  <a:pt x="2135124" y="4572"/>
                </a:lnTo>
                <a:lnTo>
                  <a:pt x="2135124" y="0"/>
                </a:lnTo>
                <a:close/>
              </a:path>
              <a:path w="4221480" h="558164">
                <a:moveTo>
                  <a:pt x="2168652" y="0"/>
                </a:moveTo>
                <a:lnTo>
                  <a:pt x="2148840" y="0"/>
                </a:lnTo>
                <a:lnTo>
                  <a:pt x="2148840" y="4572"/>
                </a:lnTo>
                <a:lnTo>
                  <a:pt x="2168652" y="4572"/>
                </a:lnTo>
                <a:lnTo>
                  <a:pt x="2168652" y="0"/>
                </a:lnTo>
                <a:close/>
              </a:path>
              <a:path w="4221480" h="558164">
                <a:moveTo>
                  <a:pt x="2202179" y="0"/>
                </a:moveTo>
                <a:lnTo>
                  <a:pt x="2182367" y="0"/>
                </a:lnTo>
                <a:lnTo>
                  <a:pt x="2182367" y="4572"/>
                </a:lnTo>
                <a:lnTo>
                  <a:pt x="2202179" y="4572"/>
                </a:lnTo>
                <a:lnTo>
                  <a:pt x="2202179" y="0"/>
                </a:lnTo>
                <a:close/>
              </a:path>
              <a:path w="4221480" h="558164">
                <a:moveTo>
                  <a:pt x="2235707" y="0"/>
                </a:moveTo>
                <a:lnTo>
                  <a:pt x="2215895" y="0"/>
                </a:lnTo>
                <a:lnTo>
                  <a:pt x="2215895" y="4572"/>
                </a:lnTo>
                <a:lnTo>
                  <a:pt x="2235707" y="4572"/>
                </a:lnTo>
                <a:lnTo>
                  <a:pt x="2235707" y="0"/>
                </a:lnTo>
                <a:close/>
              </a:path>
              <a:path w="4221480" h="558164">
                <a:moveTo>
                  <a:pt x="2267712" y="0"/>
                </a:moveTo>
                <a:lnTo>
                  <a:pt x="2249424" y="0"/>
                </a:lnTo>
                <a:lnTo>
                  <a:pt x="2249424" y="4572"/>
                </a:lnTo>
                <a:lnTo>
                  <a:pt x="2267712" y="4572"/>
                </a:lnTo>
                <a:lnTo>
                  <a:pt x="2267712" y="0"/>
                </a:lnTo>
                <a:close/>
              </a:path>
              <a:path w="4221480" h="558164">
                <a:moveTo>
                  <a:pt x="2301240" y="0"/>
                </a:moveTo>
                <a:lnTo>
                  <a:pt x="2282952" y="0"/>
                </a:lnTo>
                <a:lnTo>
                  <a:pt x="2282952" y="4572"/>
                </a:lnTo>
                <a:lnTo>
                  <a:pt x="2301240" y="4572"/>
                </a:lnTo>
                <a:lnTo>
                  <a:pt x="2301240" y="0"/>
                </a:lnTo>
                <a:close/>
              </a:path>
              <a:path w="4221480" h="558164">
                <a:moveTo>
                  <a:pt x="2334767" y="0"/>
                </a:moveTo>
                <a:lnTo>
                  <a:pt x="2316479" y="0"/>
                </a:lnTo>
                <a:lnTo>
                  <a:pt x="2316479" y="4572"/>
                </a:lnTo>
                <a:lnTo>
                  <a:pt x="2334767" y="4572"/>
                </a:lnTo>
                <a:lnTo>
                  <a:pt x="2334767" y="0"/>
                </a:lnTo>
                <a:close/>
              </a:path>
              <a:path w="4221480" h="558164">
                <a:moveTo>
                  <a:pt x="2368295" y="0"/>
                </a:moveTo>
                <a:lnTo>
                  <a:pt x="2350007" y="0"/>
                </a:lnTo>
                <a:lnTo>
                  <a:pt x="2350007" y="4572"/>
                </a:lnTo>
                <a:lnTo>
                  <a:pt x="2368295" y="4572"/>
                </a:lnTo>
                <a:lnTo>
                  <a:pt x="2368295" y="0"/>
                </a:lnTo>
                <a:close/>
              </a:path>
              <a:path w="4221480" h="558164">
                <a:moveTo>
                  <a:pt x="2401824" y="0"/>
                </a:moveTo>
                <a:lnTo>
                  <a:pt x="2382012" y="0"/>
                </a:lnTo>
                <a:lnTo>
                  <a:pt x="2382012" y="4572"/>
                </a:lnTo>
                <a:lnTo>
                  <a:pt x="2401824" y="4572"/>
                </a:lnTo>
                <a:lnTo>
                  <a:pt x="2401824" y="0"/>
                </a:lnTo>
                <a:close/>
              </a:path>
              <a:path w="4221480" h="558164">
                <a:moveTo>
                  <a:pt x="2435352" y="0"/>
                </a:moveTo>
                <a:lnTo>
                  <a:pt x="2415540" y="0"/>
                </a:lnTo>
                <a:lnTo>
                  <a:pt x="2415540" y="4572"/>
                </a:lnTo>
                <a:lnTo>
                  <a:pt x="2435352" y="4572"/>
                </a:lnTo>
                <a:lnTo>
                  <a:pt x="2435352" y="0"/>
                </a:lnTo>
                <a:close/>
              </a:path>
              <a:path w="4221480" h="558164">
                <a:moveTo>
                  <a:pt x="2468879" y="0"/>
                </a:moveTo>
                <a:lnTo>
                  <a:pt x="2449067" y="0"/>
                </a:lnTo>
                <a:lnTo>
                  <a:pt x="2449067" y="4572"/>
                </a:lnTo>
                <a:lnTo>
                  <a:pt x="2468879" y="4572"/>
                </a:lnTo>
                <a:lnTo>
                  <a:pt x="2468879" y="0"/>
                </a:lnTo>
                <a:close/>
              </a:path>
              <a:path w="4221480" h="558164">
                <a:moveTo>
                  <a:pt x="2502407" y="0"/>
                </a:moveTo>
                <a:lnTo>
                  <a:pt x="2482595" y="0"/>
                </a:lnTo>
                <a:lnTo>
                  <a:pt x="2482595" y="4572"/>
                </a:lnTo>
                <a:lnTo>
                  <a:pt x="2502407" y="4572"/>
                </a:lnTo>
                <a:lnTo>
                  <a:pt x="2502407" y="0"/>
                </a:lnTo>
                <a:close/>
              </a:path>
              <a:path w="4221480" h="558164">
                <a:moveTo>
                  <a:pt x="2534412" y="0"/>
                </a:moveTo>
                <a:lnTo>
                  <a:pt x="2516124" y="0"/>
                </a:lnTo>
                <a:lnTo>
                  <a:pt x="2516124" y="4572"/>
                </a:lnTo>
                <a:lnTo>
                  <a:pt x="2534412" y="4572"/>
                </a:lnTo>
                <a:lnTo>
                  <a:pt x="2534412" y="0"/>
                </a:lnTo>
                <a:close/>
              </a:path>
              <a:path w="4221480" h="558164">
                <a:moveTo>
                  <a:pt x="2567940" y="0"/>
                </a:moveTo>
                <a:lnTo>
                  <a:pt x="2549652" y="0"/>
                </a:lnTo>
                <a:lnTo>
                  <a:pt x="2549652" y="4572"/>
                </a:lnTo>
                <a:lnTo>
                  <a:pt x="2567940" y="4572"/>
                </a:lnTo>
                <a:lnTo>
                  <a:pt x="2567940" y="0"/>
                </a:lnTo>
                <a:close/>
              </a:path>
              <a:path w="4221480" h="558164">
                <a:moveTo>
                  <a:pt x="2601467" y="0"/>
                </a:moveTo>
                <a:lnTo>
                  <a:pt x="2583179" y="0"/>
                </a:lnTo>
                <a:lnTo>
                  <a:pt x="2583179" y="4572"/>
                </a:lnTo>
                <a:lnTo>
                  <a:pt x="2601467" y="4572"/>
                </a:lnTo>
                <a:lnTo>
                  <a:pt x="2601467" y="0"/>
                </a:lnTo>
                <a:close/>
              </a:path>
              <a:path w="4221480" h="558164">
                <a:moveTo>
                  <a:pt x="2634995" y="0"/>
                </a:moveTo>
                <a:lnTo>
                  <a:pt x="2616707" y="0"/>
                </a:lnTo>
                <a:lnTo>
                  <a:pt x="2616707" y="4572"/>
                </a:lnTo>
                <a:lnTo>
                  <a:pt x="2634995" y="4572"/>
                </a:lnTo>
                <a:lnTo>
                  <a:pt x="2634995" y="0"/>
                </a:lnTo>
                <a:close/>
              </a:path>
              <a:path w="4221480" h="558164">
                <a:moveTo>
                  <a:pt x="2668524" y="0"/>
                </a:moveTo>
                <a:lnTo>
                  <a:pt x="2648712" y="0"/>
                </a:lnTo>
                <a:lnTo>
                  <a:pt x="2648712" y="4572"/>
                </a:lnTo>
                <a:lnTo>
                  <a:pt x="2668524" y="4572"/>
                </a:lnTo>
                <a:lnTo>
                  <a:pt x="2668524" y="0"/>
                </a:lnTo>
                <a:close/>
              </a:path>
              <a:path w="4221480" h="558164">
                <a:moveTo>
                  <a:pt x="2702052" y="0"/>
                </a:moveTo>
                <a:lnTo>
                  <a:pt x="2682240" y="0"/>
                </a:lnTo>
                <a:lnTo>
                  <a:pt x="2682240" y="4572"/>
                </a:lnTo>
                <a:lnTo>
                  <a:pt x="2702052" y="4572"/>
                </a:lnTo>
                <a:lnTo>
                  <a:pt x="2702052" y="0"/>
                </a:lnTo>
                <a:close/>
              </a:path>
              <a:path w="4221480" h="558164">
                <a:moveTo>
                  <a:pt x="2735579" y="0"/>
                </a:moveTo>
                <a:lnTo>
                  <a:pt x="2715767" y="0"/>
                </a:lnTo>
                <a:lnTo>
                  <a:pt x="2715767" y="4572"/>
                </a:lnTo>
                <a:lnTo>
                  <a:pt x="2735579" y="4572"/>
                </a:lnTo>
                <a:lnTo>
                  <a:pt x="2735579" y="0"/>
                </a:lnTo>
                <a:close/>
              </a:path>
              <a:path w="4221480" h="558164">
                <a:moveTo>
                  <a:pt x="2769107" y="0"/>
                </a:moveTo>
                <a:lnTo>
                  <a:pt x="2749295" y="0"/>
                </a:lnTo>
                <a:lnTo>
                  <a:pt x="2749295" y="4572"/>
                </a:lnTo>
                <a:lnTo>
                  <a:pt x="2769107" y="4572"/>
                </a:lnTo>
                <a:lnTo>
                  <a:pt x="2769107" y="0"/>
                </a:lnTo>
                <a:close/>
              </a:path>
              <a:path w="4221480" h="558164">
                <a:moveTo>
                  <a:pt x="2801112" y="0"/>
                </a:moveTo>
                <a:lnTo>
                  <a:pt x="2782824" y="0"/>
                </a:lnTo>
                <a:lnTo>
                  <a:pt x="2782824" y="4572"/>
                </a:lnTo>
                <a:lnTo>
                  <a:pt x="2801112" y="4572"/>
                </a:lnTo>
                <a:lnTo>
                  <a:pt x="2801112" y="0"/>
                </a:lnTo>
                <a:close/>
              </a:path>
              <a:path w="4221480" h="558164">
                <a:moveTo>
                  <a:pt x="2834640" y="0"/>
                </a:moveTo>
                <a:lnTo>
                  <a:pt x="2816352" y="0"/>
                </a:lnTo>
                <a:lnTo>
                  <a:pt x="2816352" y="4572"/>
                </a:lnTo>
                <a:lnTo>
                  <a:pt x="2834640" y="4572"/>
                </a:lnTo>
                <a:lnTo>
                  <a:pt x="2834640" y="0"/>
                </a:lnTo>
                <a:close/>
              </a:path>
              <a:path w="4221480" h="558164">
                <a:moveTo>
                  <a:pt x="2868167" y="0"/>
                </a:moveTo>
                <a:lnTo>
                  <a:pt x="2849879" y="0"/>
                </a:lnTo>
                <a:lnTo>
                  <a:pt x="2849879" y="4572"/>
                </a:lnTo>
                <a:lnTo>
                  <a:pt x="2868167" y="4572"/>
                </a:lnTo>
                <a:lnTo>
                  <a:pt x="2868167" y="0"/>
                </a:lnTo>
                <a:close/>
              </a:path>
              <a:path w="4221480" h="558164">
                <a:moveTo>
                  <a:pt x="2901695" y="0"/>
                </a:moveTo>
                <a:lnTo>
                  <a:pt x="2883407" y="0"/>
                </a:lnTo>
                <a:lnTo>
                  <a:pt x="2883407" y="4572"/>
                </a:lnTo>
                <a:lnTo>
                  <a:pt x="2901695" y="4572"/>
                </a:lnTo>
                <a:lnTo>
                  <a:pt x="2901695" y="0"/>
                </a:lnTo>
                <a:close/>
              </a:path>
              <a:path w="4221480" h="558164">
                <a:moveTo>
                  <a:pt x="2935224" y="0"/>
                </a:moveTo>
                <a:lnTo>
                  <a:pt x="2915412" y="0"/>
                </a:lnTo>
                <a:lnTo>
                  <a:pt x="2915412" y="4572"/>
                </a:lnTo>
                <a:lnTo>
                  <a:pt x="2935224" y="4572"/>
                </a:lnTo>
                <a:lnTo>
                  <a:pt x="2935224" y="0"/>
                </a:lnTo>
                <a:close/>
              </a:path>
              <a:path w="4221480" h="558164">
                <a:moveTo>
                  <a:pt x="2968752" y="0"/>
                </a:moveTo>
                <a:lnTo>
                  <a:pt x="2948940" y="0"/>
                </a:lnTo>
                <a:lnTo>
                  <a:pt x="2948940" y="4572"/>
                </a:lnTo>
                <a:lnTo>
                  <a:pt x="2968752" y="4572"/>
                </a:lnTo>
                <a:lnTo>
                  <a:pt x="2968752" y="0"/>
                </a:lnTo>
                <a:close/>
              </a:path>
              <a:path w="4221480" h="558164">
                <a:moveTo>
                  <a:pt x="3002279" y="0"/>
                </a:moveTo>
                <a:lnTo>
                  <a:pt x="2982467" y="0"/>
                </a:lnTo>
                <a:lnTo>
                  <a:pt x="2982467" y="4572"/>
                </a:lnTo>
                <a:lnTo>
                  <a:pt x="3002279" y="4572"/>
                </a:lnTo>
                <a:lnTo>
                  <a:pt x="3002279" y="0"/>
                </a:lnTo>
                <a:close/>
              </a:path>
              <a:path w="4221480" h="558164">
                <a:moveTo>
                  <a:pt x="3035807" y="0"/>
                </a:moveTo>
                <a:lnTo>
                  <a:pt x="3015995" y="0"/>
                </a:lnTo>
                <a:lnTo>
                  <a:pt x="3015995" y="4572"/>
                </a:lnTo>
                <a:lnTo>
                  <a:pt x="3035807" y="4572"/>
                </a:lnTo>
                <a:lnTo>
                  <a:pt x="3035807" y="0"/>
                </a:lnTo>
                <a:close/>
              </a:path>
              <a:path w="4221480" h="558164">
                <a:moveTo>
                  <a:pt x="3067812" y="0"/>
                </a:moveTo>
                <a:lnTo>
                  <a:pt x="3049524" y="0"/>
                </a:lnTo>
                <a:lnTo>
                  <a:pt x="3049524" y="4572"/>
                </a:lnTo>
                <a:lnTo>
                  <a:pt x="3067812" y="4572"/>
                </a:lnTo>
                <a:lnTo>
                  <a:pt x="3067812" y="0"/>
                </a:lnTo>
                <a:close/>
              </a:path>
              <a:path w="4221480" h="558164">
                <a:moveTo>
                  <a:pt x="3101340" y="0"/>
                </a:moveTo>
                <a:lnTo>
                  <a:pt x="3083052" y="0"/>
                </a:lnTo>
                <a:lnTo>
                  <a:pt x="3083052" y="4572"/>
                </a:lnTo>
                <a:lnTo>
                  <a:pt x="3101340" y="4572"/>
                </a:lnTo>
                <a:lnTo>
                  <a:pt x="3101340" y="0"/>
                </a:lnTo>
                <a:close/>
              </a:path>
              <a:path w="4221480" h="558164">
                <a:moveTo>
                  <a:pt x="3134867" y="0"/>
                </a:moveTo>
                <a:lnTo>
                  <a:pt x="3116579" y="0"/>
                </a:lnTo>
                <a:lnTo>
                  <a:pt x="3116579" y="4572"/>
                </a:lnTo>
                <a:lnTo>
                  <a:pt x="3134867" y="4572"/>
                </a:lnTo>
                <a:lnTo>
                  <a:pt x="3134867" y="0"/>
                </a:lnTo>
                <a:close/>
              </a:path>
              <a:path w="4221480" h="558164">
                <a:moveTo>
                  <a:pt x="3168395" y="0"/>
                </a:moveTo>
                <a:lnTo>
                  <a:pt x="3150107" y="0"/>
                </a:lnTo>
                <a:lnTo>
                  <a:pt x="3150107" y="4572"/>
                </a:lnTo>
                <a:lnTo>
                  <a:pt x="3168395" y="4572"/>
                </a:lnTo>
                <a:lnTo>
                  <a:pt x="3168395" y="0"/>
                </a:lnTo>
                <a:close/>
              </a:path>
              <a:path w="4221480" h="558164">
                <a:moveTo>
                  <a:pt x="3201924" y="0"/>
                </a:moveTo>
                <a:lnTo>
                  <a:pt x="3182112" y="0"/>
                </a:lnTo>
                <a:lnTo>
                  <a:pt x="3182112" y="4572"/>
                </a:lnTo>
                <a:lnTo>
                  <a:pt x="3201924" y="4572"/>
                </a:lnTo>
                <a:lnTo>
                  <a:pt x="3201924" y="0"/>
                </a:lnTo>
                <a:close/>
              </a:path>
              <a:path w="4221480" h="558164">
                <a:moveTo>
                  <a:pt x="3235452" y="0"/>
                </a:moveTo>
                <a:lnTo>
                  <a:pt x="3215640" y="0"/>
                </a:lnTo>
                <a:lnTo>
                  <a:pt x="3215640" y="4572"/>
                </a:lnTo>
                <a:lnTo>
                  <a:pt x="3235452" y="4572"/>
                </a:lnTo>
                <a:lnTo>
                  <a:pt x="3235452" y="0"/>
                </a:lnTo>
                <a:close/>
              </a:path>
              <a:path w="4221480" h="558164">
                <a:moveTo>
                  <a:pt x="3268979" y="0"/>
                </a:moveTo>
                <a:lnTo>
                  <a:pt x="3249167" y="0"/>
                </a:lnTo>
                <a:lnTo>
                  <a:pt x="3249167" y="4572"/>
                </a:lnTo>
                <a:lnTo>
                  <a:pt x="3268979" y="4572"/>
                </a:lnTo>
                <a:lnTo>
                  <a:pt x="3268979" y="0"/>
                </a:lnTo>
                <a:close/>
              </a:path>
              <a:path w="4221480" h="558164">
                <a:moveTo>
                  <a:pt x="3302507" y="0"/>
                </a:moveTo>
                <a:lnTo>
                  <a:pt x="3282695" y="0"/>
                </a:lnTo>
                <a:lnTo>
                  <a:pt x="3282695" y="4572"/>
                </a:lnTo>
                <a:lnTo>
                  <a:pt x="3302507" y="4572"/>
                </a:lnTo>
                <a:lnTo>
                  <a:pt x="3302507" y="0"/>
                </a:lnTo>
                <a:close/>
              </a:path>
              <a:path w="4221480" h="558164">
                <a:moveTo>
                  <a:pt x="3334512" y="0"/>
                </a:moveTo>
                <a:lnTo>
                  <a:pt x="3316224" y="0"/>
                </a:lnTo>
                <a:lnTo>
                  <a:pt x="3316224" y="4572"/>
                </a:lnTo>
                <a:lnTo>
                  <a:pt x="3334512" y="4572"/>
                </a:lnTo>
                <a:lnTo>
                  <a:pt x="3334512" y="0"/>
                </a:lnTo>
                <a:close/>
              </a:path>
              <a:path w="4221480" h="558164">
                <a:moveTo>
                  <a:pt x="3368040" y="0"/>
                </a:moveTo>
                <a:lnTo>
                  <a:pt x="3349752" y="0"/>
                </a:lnTo>
                <a:lnTo>
                  <a:pt x="3349752" y="4572"/>
                </a:lnTo>
                <a:lnTo>
                  <a:pt x="3368040" y="4572"/>
                </a:lnTo>
                <a:lnTo>
                  <a:pt x="3368040" y="0"/>
                </a:lnTo>
                <a:close/>
              </a:path>
              <a:path w="4221480" h="558164">
                <a:moveTo>
                  <a:pt x="3401567" y="0"/>
                </a:moveTo>
                <a:lnTo>
                  <a:pt x="3383279" y="0"/>
                </a:lnTo>
                <a:lnTo>
                  <a:pt x="3383279" y="4572"/>
                </a:lnTo>
                <a:lnTo>
                  <a:pt x="3401567" y="4572"/>
                </a:lnTo>
                <a:lnTo>
                  <a:pt x="3401567" y="0"/>
                </a:lnTo>
                <a:close/>
              </a:path>
              <a:path w="4221480" h="558164">
                <a:moveTo>
                  <a:pt x="3435095" y="0"/>
                </a:moveTo>
                <a:lnTo>
                  <a:pt x="3416807" y="0"/>
                </a:lnTo>
                <a:lnTo>
                  <a:pt x="3416807" y="4572"/>
                </a:lnTo>
                <a:lnTo>
                  <a:pt x="3435095" y="4572"/>
                </a:lnTo>
                <a:lnTo>
                  <a:pt x="3435095" y="0"/>
                </a:lnTo>
                <a:close/>
              </a:path>
              <a:path w="4221480" h="558164">
                <a:moveTo>
                  <a:pt x="3468624" y="0"/>
                </a:moveTo>
                <a:lnTo>
                  <a:pt x="3448812" y="0"/>
                </a:lnTo>
                <a:lnTo>
                  <a:pt x="3448812" y="4572"/>
                </a:lnTo>
                <a:lnTo>
                  <a:pt x="3468624" y="4572"/>
                </a:lnTo>
                <a:lnTo>
                  <a:pt x="3468624" y="0"/>
                </a:lnTo>
                <a:close/>
              </a:path>
              <a:path w="4221480" h="558164">
                <a:moveTo>
                  <a:pt x="3502152" y="0"/>
                </a:moveTo>
                <a:lnTo>
                  <a:pt x="3482340" y="0"/>
                </a:lnTo>
                <a:lnTo>
                  <a:pt x="3482340" y="4572"/>
                </a:lnTo>
                <a:lnTo>
                  <a:pt x="3502152" y="4572"/>
                </a:lnTo>
                <a:lnTo>
                  <a:pt x="3502152" y="0"/>
                </a:lnTo>
                <a:close/>
              </a:path>
              <a:path w="4221480" h="558164">
                <a:moveTo>
                  <a:pt x="3535679" y="0"/>
                </a:moveTo>
                <a:lnTo>
                  <a:pt x="3515867" y="0"/>
                </a:lnTo>
                <a:lnTo>
                  <a:pt x="3515867" y="4572"/>
                </a:lnTo>
                <a:lnTo>
                  <a:pt x="3535679" y="4572"/>
                </a:lnTo>
                <a:lnTo>
                  <a:pt x="3535679" y="0"/>
                </a:lnTo>
                <a:close/>
              </a:path>
              <a:path w="4221480" h="558164">
                <a:moveTo>
                  <a:pt x="3569207" y="0"/>
                </a:moveTo>
                <a:lnTo>
                  <a:pt x="3549395" y="0"/>
                </a:lnTo>
                <a:lnTo>
                  <a:pt x="3549395" y="4572"/>
                </a:lnTo>
                <a:lnTo>
                  <a:pt x="3569207" y="4572"/>
                </a:lnTo>
                <a:lnTo>
                  <a:pt x="3569207" y="0"/>
                </a:lnTo>
                <a:close/>
              </a:path>
              <a:path w="4221480" h="558164">
                <a:moveTo>
                  <a:pt x="3601212" y="0"/>
                </a:moveTo>
                <a:lnTo>
                  <a:pt x="3582924" y="0"/>
                </a:lnTo>
                <a:lnTo>
                  <a:pt x="3582924" y="4572"/>
                </a:lnTo>
                <a:lnTo>
                  <a:pt x="3601212" y="4572"/>
                </a:lnTo>
                <a:lnTo>
                  <a:pt x="3601212" y="0"/>
                </a:lnTo>
                <a:close/>
              </a:path>
              <a:path w="4221480" h="558164">
                <a:moveTo>
                  <a:pt x="3634740" y="0"/>
                </a:moveTo>
                <a:lnTo>
                  <a:pt x="3616452" y="0"/>
                </a:lnTo>
                <a:lnTo>
                  <a:pt x="3616452" y="4572"/>
                </a:lnTo>
                <a:lnTo>
                  <a:pt x="3634740" y="4572"/>
                </a:lnTo>
                <a:lnTo>
                  <a:pt x="3634740" y="0"/>
                </a:lnTo>
                <a:close/>
              </a:path>
              <a:path w="4221480" h="558164">
                <a:moveTo>
                  <a:pt x="3668267" y="0"/>
                </a:moveTo>
                <a:lnTo>
                  <a:pt x="3649979" y="0"/>
                </a:lnTo>
                <a:lnTo>
                  <a:pt x="3649979" y="4572"/>
                </a:lnTo>
                <a:lnTo>
                  <a:pt x="3668267" y="4572"/>
                </a:lnTo>
                <a:lnTo>
                  <a:pt x="3668267" y="0"/>
                </a:lnTo>
                <a:close/>
              </a:path>
              <a:path w="4221480" h="558164">
                <a:moveTo>
                  <a:pt x="3701795" y="0"/>
                </a:moveTo>
                <a:lnTo>
                  <a:pt x="3683507" y="0"/>
                </a:lnTo>
                <a:lnTo>
                  <a:pt x="3683507" y="4572"/>
                </a:lnTo>
                <a:lnTo>
                  <a:pt x="3701795" y="4572"/>
                </a:lnTo>
                <a:lnTo>
                  <a:pt x="3701795" y="0"/>
                </a:lnTo>
                <a:close/>
              </a:path>
              <a:path w="4221480" h="558164">
                <a:moveTo>
                  <a:pt x="3735324" y="0"/>
                </a:moveTo>
                <a:lnTo>
                  <a:pt x="3715512" y="0"/>
                </a:lnTo>
                <a:lnTo>
                  <a:pt x="3715512" y="4572"/>
                </a:lnTo>
                <a:lnTo>
                  <a:pt x="3735324" y="4572"/>
                </a:lnTo>
                <a:lnTo>
                  <a:pt x="3735324" y="0"/>
                </a:lnTo>
                <a:close/>
              </a:path>
              <a:path w="4221480" h="558164">
                <a:moveTo>
                  <a:pt x="3768852" y="0"/>
                </a:moveTo>
                <a:lnTo>
                  <a:pt x="3749040" y="0"/>
                </a:lnTo>
                <a:lnTo>
                  <a:pt x="3749040" y="4572"/>
                </a:lnTo>
                <a:lnTo>
                  <a:pt x="3768852" y="4572"/>
                </a:lnTo>
                <a:lnTo>
                  <a:pt x="3768852" y="0"/>
                </a:lnTo>
                <a:close/>
              </a:path>
              <a:path w="4221480" h="558164">
                <a:moveTo>
                  <a:pt x="3802379" y="0"/>
                </a:moveTo>
                <a:lnTo>
                  <a:pt x="3782567" y="0"/>
                </a:lnTo>
                <a:lnTo>
                  <a:pt x="3782567" y="4572"/>
                </a:lnTo>
                <a:lnTo>
                  <a:pt x="3802379" y="4572"/>
                </a:lnTo>
                <a:lnTo>
                  <a:pt x="3802379" y="0"/>
                </a:lnTo>
                <a:close/>
              </a:path>
              <a:path w="4221480" h="558164">
                <a:moveTo>
                  <a:pt x="3835907" y="0"/>
                </a:moveTo>
                <a:lnTo>
                  <a:pt x="3816095" y="0"/>
                </a:lnTo>
                <a:lnTo>
                  <a:pt x="3816095" y="4572"/>
                </a:lnTo>
                <a:lnTo>
                  <a:pt x="3835907" y="4572"/>
                </a:lnTo>
                <a:lnTo>
                  <a:pt x="3835907" y="0"/>
                </a:lnTo>
                <a:close/>
              </a:path>
              <a:path w="4221480" h="558164">
                <a:moveTo>
                  <a:pt x="3867912" y="0"/>
                </a:moveTo>
                <a:lnTo>
                  <a:pt x="3849624" y="0"/>
                </a:lnTo>
                <a:lnTo>
                  <a:pt x="3849624" y="4572"/>
                </a:lnTo>
                <a:lnTo>
                  <a:pt x="3867912" y="4572"/>
                </a:lnTo>
                <a:lnTo>
                  <a:pt x="3867912" y="0"/>
                </a:lnTo>
                <a:close/>
              </a:path>
              <a:path w="4221480" h="558164">
                <a:moveTo>
                  <a:pt x="3901440" y="0"/>
                </a:moveTo>
                <a:lnTo>
                  <a:pt x="3883152" y="0"/>
                </a:lnTo>
                <a:lnTo>
                  <a:pt x="3883152" y="4572"/>
                </a:lnTo>
                <a:lnTo>
                  <a:pt x="3901440" y="4572"/>
                </a:lnTo>
                <a:lnTo>
                  <a:pt x="3901440" y="0"/>
                </a:lnTo>
                <a:close/>
              </a:path>
              <a:path w="4221480" h="558164">
                <a:moveTo>
                  <a:pt x="3934967" y="0"/>
                </a:moveTo>
                <a:lnTo>
                  <a:pt x="3916679" y="0"/>
                </a:lnTo>
                <a:lnTo>
                  <a:pt x="3916679" y="4572"/>
                </a:lnTo>
                <a:lnTo>
                  <a:pt x="3934967" y="4572"/>
                </a:lnTo>
                <a:lnTo>
                  <a:pt x="3934967" y="0"/>
                </a:lnTo>
                <a:close/>
              </a:path>
              <a:path w="4221480" h="558164">
                <a:moveTo>
                  <a:pt x="3968495" y="0"/>
                </a:moveTo>
                <a:lnTo>
                  <a:pt x="3950207" y="0"/>
                </a:lnTo>
                <a:lnTo>
                  <a:pt x="3950207" y="4572"/>
                </a:lnTo>
                <a:lnTo>
                  <a:pt x="3968495" y="4572"/>
                </a:lnTo>
                <a:lnTo>
                  <a:pt x="3968495" y="0"/>
                </a:lnTo>
                <a:close/>
              </a:path>
              <a:path w="4221480" h="558164">
                <a:moveTo>
                  <a:pt x="4002024" y="0"/>
                </a:moveTo>
                <a:lnTo>
                  <a:pt x="3982212" y="0"/>
                </a:lnTo>
                <a:lnTo>
                  <a:pt x="3982212" y="4572"/>
                </a:lnTo>
                <a:lnTo>
                  <a:pt x="4002024" y="4572"/>
                </a:lnTo>
                <a:lnTo>
                  <a:pt x="4002024" y="0"/>
                </a:lnTo>
                <a:close/>
              </a:path>
              <a:path w="4221480" h="558164">
                <a:moveTo>
                  <a:pt x="4035552" y="0"/>
                </a:moveTo>
                <a:lnTo>
                  <a:pt x="4015740" y="0"/>
                </a:lnTo>
                <a:lnTo>
                  <a:pt x="4015740" y="4572"/>
                </a:lnTo>
                <a:lnTo>
                  <a:pt x="4035552" y="4572"/>
                </a:lnTo>
                <a:lnTo>
                  <a:pt x="4035552" y="0"/>
                </a:lnTo>
                <a:close/>
              </a:path>
              <a:path w="4221480" h="558164">
                <a:moveTo>
                  <a:pt x="4069079" y="0"/>
                </a:moveTo>
                <a:lnTo>
                  <a:pt x="4049267" y="0"/>
                </a:lnTo>
                <a:lnTo>
                  <a:pt x="4049267" y="4572"/>
                </a:lnTo>
                <a:lnTo>
                  <a:pt x="4069079" y="4572"/>
                </a:lnTo>
                <a:lnTo>
                  <a:pt x="4069079" y="0"/>
                </a:lnTo>
                <a:close/>
              </a:path>
              <a:path w="4221480" h="558164">
                <a:moveTo>
                  <a:pt x="4102607" y="0"/>
                </a:moveTo>
                <a:lnTo>
                  <a:pt x="4082795" y="0"/>
                </a:lnTo>
                <a:lnTo>
                  <a:pt x="4082795" y="4572"/>
                </a:lnTo>
                <a:lnTo>
                  <a:pt x="4102607" y="4572"/>
                </a:lnTo>
                <a:lnTo>
                  <a:pt x="4102607" y="0"/>
                </a:lnTo>
                <a:close/>
              </a:path>
              <a:path w="4221480" h="558164">
                <a:moveTo>
                  <a:pt x="4134612" y="0"/>
                </a:moveTo>
                <a:lnTo>
                  <a:pt x="4116324" y="0"/>
                </a:lnTo>
                <a:lnTo>
                  <a:pt x="4116324" y="4572"/>
                </a:lnTo>
                <a:lnTo>
                  <a:pt x="4134612" y="4572"/>
                </a:lnTo>
                <a:lnTo>
                  <a:pt x="4134612" y="0"/>
                </a:lnTo>
                <a:close/>
              </a:path>
              <a:path w="4221480" h="558164">
                <a:moveTo>
                  <a:pt x="4168140" y="0"/>
                </a:moveTo>
                <a:lnTo>
                  <a:pt x="4149852" y="0"/>
                </a:lnTo>
                <a:lnTo>
                  <a:pt x="4149852" y="4572"/>
                </a:lnTo>
                <a:lnTo>
                  <a:pt x="4168140" y="4572"/>
                </a:lnTo>
                <a:lnTo>
                  <a:pt x="4168140" y="0"/>
                </a:lnTo>
                <a:close/>
              </a:path>
              <a:path w="4221480" h="558164">
                <a:moveTo>
                  <a:pt x="4201668" y="0"/>
                </a:moveTo>
                <a:lnTo>
                  <a:pt x="4183379" y="0"/>
                </a:lnTo>
                <a:lnTo>
                  <a:pt x="4183379" y="4572"/>
                </a:lnTo>
                <a:lnTo>
                  <a:pt x="4201668" y="4572"/>
                </a:lnTo>
                <a:lnTo>
                  <a:pt x="4201668" y="0"/>
                </a:lnTo>
                <a:close/>
              </a:path>
              <a:path w="4221480" h="558164">
                <a:moveTo>
                  <a:pt x="4216908" y="3048"/>
                </a:moveTo>
                <a:lnTo>
                  <a:pt x="4216908" y="19812"/>
                </a:lnTo>
                <a:lnTo>
                  <a:pt x="4221480" y="19812"/>
                </a:lnTo>
                <a:lnTo>
                  <a:pt x="4221480" y="4572"/>
                </a:lnTo>
                <a:lnTo>
                  <a:pt x="4218432" y="4572"/>
                </a:lnTo>
                <a:lnTo>
                  <a:pt x="4216908" y="3048"/>
                </a:lnTo>
                <a:close/>
              </a:path>
              <a:path w="4221480" h="558164">
                <a:moveTo>
                  <a:pt x="4218432" y="0"/>
                </a:moveTo>
                <a:lnTo>
                  <a:pt x="4216908" y="0"/>
                </a:lnTo>
                <a:lnTo>
                  <a:pt x="4216908" y="3048"/>
                </a:lnTo>
                <a:lnTo>
                  <a:pt x="4218432" y="4572"/>
                </a:lnTo>
                <a:lnTo>
                  <a:pt x="4221480" y="4572"/>
                </a:lnTo>
                <a:lnTo>
                  <a:pt x="4221480" y="3048"/>
                </a:lnTo>
                <a:lnTo>
                  <a:pt x="4218432" y="0"/>
                </a:lnTo>
                <a:close/>
              </a:path>
              <a:path w="4221480" h="558164">
                <a:moveTo>
                  <a:pt x="4221480" y="33528"/>
                </a:moveTo>
                <a:lnTo>
                  <a:pt x="4216908" y="33528"/>
                </a:lnTo>
                <a:lnTo>
                  <a:pt x="4216908" y="51816"/>
                </a:lnTo>
                <a:lnTo>
                  <a:pt x="4221480" y="51816"/>
                </a:lnTo>
                <a:lnTo>
                  <a:pt x="4221480" y="33528"/>
                </a:lnTo>
                <a:close/>
              </a:path>
              <a:path w="4221480" h="558164">
                <a:moveTo>
                  <a:pt x="4221480" y="67056"/>
                </a:moveTo>
                <a:lnTo>
                  <a:pt x="4216908" y="67056"/>
                </a:lnTo>
                <a:lnTo>
                  <a:pt x="4216908" y="85344"/>
                </a:lnTo>
                <a:lnTo>
                  <a:pt x="4221480" y="85344"/>
                </a:lnTo>
                <a:lnTo>
                  <a:pt x="4221480" y="67056"/>
                </a:lnTo>
                <a:close/>
              </a:path>
              <a:path w="4221480" h="558164">
                <a:moveTo>
                  <a:pt x="4221480" y="100584"/>
                </a:moveTo>
                <a:lnTo>
                  <a:pt x="4216908" y="100584"/>
                </a:lnTo>
                <a:lnTo>
                  <a:pt x="4216908" y="118872"/>
                </a:lnTo>
                <a:lnTo>
                  <a:pt x="4221480" y="118872"/>
                </a:lnTo>
                <a:lnTo>
                  <a:pt x="4221480" y="100584"/>
                </a:lnTo>
                <a:close/>
              </a:path>
              <a:path w="4221480" h="558164">
                <a:moveTo>
                  <a:pt x="4221480" y="134112"/>
                </a:moveTo>
                <a:lnTo>
                  <a:pt x="4216908" y="134112"/>
                </a:lnTo>
                <a:lnTo>
                  <a:pt x="4216908" y="152400"/>
                </a:lnTo>
                <a:lnTo>
                  <a:pt x="4221480" y="152400"/>
                </a:lnTo>
                <a:lnTo>
                  <a:pt x="4221480" y="134112"/>
                </a:lnTo>
                <a:close/>
              </a:path>
              <a:path w="4221480" h="558164">
                <a:moveTo>
                  <a:pt x="4221480" y="166116"/>
                </a:moveTo>
                <a:lnTo>
                  <a:pt x="4216908" y="166116"/>
                </a:lnTo>
                <a:lnTo>
                  <a:pt x="4216908" y="185928"/>
                </a:lnTo>
                <a:lnTo>
                  <a:pt x="4221480" y="185928"/>
                </a:lnTo>
                <a:lnTo>
                  <a:pt x="4221480" y="166116"/>
                </a:lnTo>
                <a:close/>
              </a:path>
              <a:path w="4221480" h="558164">
                <a:moveTo>
                  <a:pt x="4221480" y="199644"/>
                </a:moveTo>
                <a:lnTo>
                  <a:pt x="4216908" y="199644"/>
                </a:lnTo>
                <a:lnTo>
                  <a:pt x="4216908" y="219456"/>
                </a:lnTo>
                <a:lnTo>
                  <a:pt x="4221480" y="219456"/>
                </a:lnTo>
                <a:lnTo>
                  <a:pt x="4221480" y="199644"/>
                </a:lnTo>
                <a:close/>
              </a:path>
              <a:path w="4221480" h="558164">
                <a:moveTo>
                  <a:pt x="4221480" y="233172"/>
                </a:moveTo>
                <a:lnTo>
                  <a:pt x="4216908" y="233172"/>
                </a:lnTo>
                <a:lnTo>
                  <a:pt x="4216908" y="252984"/>
                </a:lnTo>
                <a:lnTo>
                  <a:pt x="4221480" y="252984"/>
                </a:lnTo>
                <a:lnTo>
                  <a:pt x="4221480" y="233172"/>
                </a:lnTo>
                <a:close/>
              </a:path>
              <a:path w="4221480" h="558164">
                <a:moveTo>
                  <a:pt x="4221480" y="266700"/>
                </a:moveTo>
                <a:lnTo>
                  <a:pt x="4216908" y="266700"/>
                </a:lnTo>
                <a:lnTo>
                  <a:pt x="4216908" y="286512"/>
                </a:lnTo>
                <a:lnTo>
                  <a:pt x="4221480" y="286512"/>
                </a:lnTo>
                <a:lnTo>
                  <a:pt x="4221480" y="266700"/>
                </a:lnTo>
                <a:close/>
              </a:path>
              <a:path w="4221480" h="558164">
                <a:moveTo>
                  <a:pt x="4221480" y="300228"/>
                </a:moveTo>
                <a:lnTo>
                  <a:pt x="4216908" y="300228"/>
                </a:lnTo>
                <a:lnTo>
                  <a:pt x="4216908" y="318516"/>
                </a:lnTo>
                <a:lnTo>
                  <a:pt x="4221480" y="318516"/>
                </a:lnTo>
                <a:lnTo>
                  <a:pt x="4221480" y="300228"/>
                </a:lnTo>
                <a:close/>
              </a:path>
              <a:path w="4221480" h="558164">
                <a:moveTo>
                  <a:pt x="4221480" y="333756"/>
                </a:moveTo>
                <a:lnTo>
                  <a:pt x="4216908" y="333756"/>
                </a:lnTo>
                <a:lnTo>
                  <a:pt x="4216908" y="352044"/>
                </a:lnTo>
                <a:lnTo>
                  <a:pt x="4221480" y="352044"/>
                </a:lnTo>
                <a:lnTo>
                  <a:pt x="4221480" y="333756"/>
                </a:lnTo>
                <a:close/>
              </a:path>
              <a:path w="4221480" h="558164">
                <a:moveTo>
                  <a:pt x="4221480" y="367284"/>
                </a:moveTo>
                <a:lnTo>
                  <a:pt x="4216908" y="367284"/>
                </a:lnTo>
                <a:lnTo>
                  <a:pt x="4216908" y="385572"/>
                </a:lnTo>
                <a:lnTo>
                  <a:pt x="4221480" y="385572"/>
                </a:lnTo>
                <a:lnTo>
                  <a:pt x="4221480" y="367284"/>
                </a:lnTo>
                <a:close/>
              </a:path>
              <a:path w="4221480" h="558164">
                <a:moveTo>
                  <a:pt x="4221480" y="400812"/>
                </a:moveTo>
                <a:lnTo>
                  <a:pt x="4216908" y="400812"/>
                </a:lnTo>
                <a:lnTo>
                  <a:pt x="4216908" y="419100"/>
                </a:lnTo>
                <a:lnTo>
                  <a:pt x="4221480" y="419100"/>
                </a:lnTo>
                <a:lnTo>
                  <a:pt x="4221480" y="400812"/>
                </a:lnTo>
                <a:close/>
              </a:path>
              <a:path w="4221480" h="558164">
                <a:moveTo>
                  <a:pt x="4221480" y="432816"/>
                </a:moveTo>
                <a:lnTo>
                  <a:pt x="4216908" y="432816"/>
                </a:lnTo>
                <a:lnTo>
                  <a:pt x="4216908" y="452628"/>
                </a:lnTo>
                <a:lnTo>
                  <a:pt x="4221480" y="452628"/>
                </a:lnTo>
                <a:lnTo>
                  <a:pt x="4221480" y="432816"/>
                </a:lnTo>
                <a:close/>
              </a:path>
              <a:path w="4221480" h="558164">
                <a:moveTo>
                  <a:pt x="4221480" y="466344"/>
                </a:moveTo>
                <a:lnTo>
                  <a:pt x="4216908" y="466344"/>
                </a:lnTo>
                <a:lnTo>
                  <a:pt x="4216908" y="486156"/>
                </a:lnTo>
                <a:lnTo>
                  <a:pt x="4221480" y="486156"/>
                </a:lnTo>
                <a:lnTo>
                  <a:pt x="4221480" y="466344"/>
                </a:lnTo>
                <a:close/>
              </a:path>
              <a:path w="4221480" h="558164">
                <a:moveTo>
                  <a:pt x="4221480" y="499872"/>
                </a:moveTo>
                <a:lnTo>
                  <a:pt x="4216908" y="499872"/>
                </a:lnTo>
                <a:lnTo>
                  <a:pt x="4216908" y="519684"/>
                </a:lnTo>
                <a:lnTo>
                  <a:pt x="4221480" y="519684"/>
                </a:lnTo>
                <a:lnTo>
                  <a:pt x="4221480" y="499872"/>
                </a:lnTo>
                <a:close/>
              </a:path>
              <a:path w="4221480" h="558164">
                <a:moveTo>
                  <a:pt x="4221480" y="533400"/>
                </a:moveTo>
                <a:lnTo>
                  <a:pt x="4216908" y="533400"/>
                </a:lnTo>
                <a:lnTo>
                  <a:pt x="4216908" y="553212"/>
                </a:lnTo>
                <a:lnTo>
                  <a:pt x="4221480" y="553212"/>
                </a:lnTo>
                <a:lnTo>
                  <a:pt x="4221480" y="533400"/>
                </a:lnTo>
                <a:close/>
              </a:path>
              <a:path w="4221480" h="558164">
                <a:moveTo>
                  <a:pt x="4207764" y="553212"/>
                </a:moveTo>
                <a:lnTo>
                  <a:pt x="4189476" y="553212"/>
                </a:lnTo>
                <a:lnTo>
                  <a:pt x="4189476" y="557784"/>
                </a:lnTo>
                <a:lnTo>
                  <a:pt x="4207764" y="557784"/>
                </a:lnTo>
                <a:lnTo>
                  <a:pt x="4207764" y="553212"/>
                </a:lnTo>
                <a:close/>
              </a:path>
              <a:path w="4221480" h="558164">
                <a:moveTo>
                  <a:pt x="4174236" y="553212"/>
                </a:moveTo>
                <a:lnTo>
                  <a:pt x="4155948" y="553212"/>
                </a:lnTo>
                <a:lnTo>
                  <a:pt x="4155948" y="557784"/>
                </a:lnTo>
                <a:lnTo>
                  <a:pt x="4174236" y="557784"/>
                </a:lnTo>
                <a:lnTo>
                  <a:pt x="4174236" y="553212"/>
                </a:lnTo>
                <a:close/>
              </a:path>
              <a:path w="4221480" h="558164">
                <a:moveTo>
                  <a:pt x="4140707" y="553212"/>
                </a:moveTo>
                <a:lnTo>
                  <a:pt x="4122419" y="553212"/>
                </a:lnTo>
                <a:lnTo>
                  <a:pt x="4122419" y="557784"/>
                </a:lnTo>
                <a:lnTo>
                  <a:pt x="4140707" y="557784"/>
                </a:lnTo>
                <a:lnTo>
                  <a:pt x="4140707" y="553212"/>
                </a:lnTo>
                <a:close/>
              </a:path>
              <a:path w="4221480" h="558164">
                <a:moveTo>
                  <a:pt x="4107179" y="553212"/>
                </a:moveTo>
                <a:lnTo>
                  <a:pt x="4088891" y="553212"/>
                </a:lnTo>
                <a:lnTo>
                  <a:pt x="4088891" y="557784"/>
                </a:lnTo>
                <a:lnTo>
                  <a:pt x="4107179" y="557784"/>
                </a:lnTo>
                <a:lnTo>
                  <a:pt x="4107179" y="553212"/>
                </a:lnTo>
                <a:close/>
              </a:path>
              <a:path w="4221480" h="558164">
                <a:moveTo>
                  <a:pt x="4075176" y="553212"/>
                </a:moveTo>
                <a:lnTo>
                  <a:pt x="4055364" y="553212"/>
                </a:lnTo>
                <a:lnTo>
                  <a:pt x="4055364" y="557784"/>
                </a:lnTo>
                <a:lnTo>
                  <a:pt x="4075176" y="557784"/>
                </a:lnTo>
                <a:lnTo>
                  <a:pt x="4075176" y="553212"/>
                </a:lnTo>
                <a:close/>
              </a:path>
              <a:path w="4221480" h="558164">
                <a:moveTo>
                  <a:pt x="4041648" y="553212"/>
                </a:moveTo>
                <a:lnTo>
                  <a:pt x="4021836" y="553212"/>
                </a:lnTo>
                <a:lnTo>
                  <a:pt x="4021836" y="557784"/>
                </a:lnTo>
                <a:lnTo>
                  <a:pt x="4041648" y="557784"/>
                </a:lnTo>
                <a:lnTo>
                  <a:pt x="4041648" y="553212"/>
                </a:lnTo>
                <a:close/>
              </a:path>
              <a:path w="4221480" h="558164">
                <a:moveTo>
                  <a:pt x="4008119" y="553212"/>
                </a:moveTo>
                <a:lnTo>
                  <a:pt x="3988307" y="553212"/>
                </a:lnTo>
                <a:lnTo>
                  <a:pt x="3988307" y="557784"/>
                </a:lnTo>
                <a:lnTo>
                  <a:pt x="4008119" y="557784"/>
                </a:lnTo>
                <a:lnTo>
                  <a:pt x="4008119" y="553212"/>
                </a:lnTo>
                <a:close/>
              </a:path>
              <a:path w="4221480" h="558164">
                <a:moveTo>
                  <a:pt x="3974591" y="553212"/>
                </a:moveTo>
                <a:lnTo>
                  <a:pt x="3954779" y="553212"/>
                </a:lnTo>
                <a:lnTo>
                  <a:pt x="3954779" y="557784"/>
                </a:lnTo>
                <a:lnTo>
                  <a:pt x="3974591" y="557784"/>
                </a:lnTo>
                <a:lnTo>
                  <a:pt x="3974591" y="553212"/>
                </a:lnTo>
                <a:close/>
              </a:path>
              <a:path w="4221480" h="558164">
                <a:moveTo>
                  <a:pt x="3941064" y="553212"/>
                </a:moveTo>
                <a:lnTo>
                  <a:pt x="3922776" y="553212"/>
                </a:lnTo>
                <a:lnTo>
                  <a:pt x="3922776" y="557784"/>
                </a:lnTo>
                <a:lnTo>
                  <a:pt x="3941064" y="557784"/>
                </a:lnTo>
                <a:lnTo>
                  <a:pt x="3941064" y="553212"/>
                </a:lnTo>
                <a:close/>
              </a:path>
              <a:path w="4221480" h="558164">
                <a:moveTo>
                  <a:pt x="3907536" y="553212"/>
                </a:moveTo>
                <a:lnTo>
                  <a:pt x="3889248" y="553212"/>
                </a:lnTo>
                <a:lnTo>
                  <a:pt x="3889248" y="557784"/>
                </a:lnTo>
                <a:lnTo>
                  <a:pt x="3907536" y="557784"/>
                </a:lnTo>
                <a:lnTo>
                  <a:pt x="3907536" y="553212"/>
                </a:lnTo>
                <a:close/>
              </a:path>
              <a:path w="4221480" h="558164">
                <a:moveTo>
                  <a:pt x="3874007" y="553212"/>
                </a:moveTo>
                <a:lnTo>
                  <a:pt x="3855719" y="553212"/>
                </a:lnTo>
                <a:lnTo>
                  <a:pt x="3855719" y="557784"/>
                </a:lnTo>
                <a:lnTo>
                  <a:pt x="3874007" y="557784"/>
                </a:lnTo>
                <a:lnTo>
                  <a:pt x="3874007" y="553212"/>
                </a:lnTo>
                <a:close/>
              </a:path>
              <a:path w="4221480" h="558164">
                <a:moveTo>
                  <a:pt x="3840479" y="553212"/>
                </a:moveTo>
                <a:lnTo>
                  <a:pt x="3822191" y="553212"/>
                </a:lnTo>
                <a:lnTo>
                  <a:pt x="3822191" y="557784"/>
                </a:lnTo>
                <a:lnTo>
                  <a:pt x="3840479" y="557784"/>
                </a:lnTo>
                <a:lnTo>
                  <a:pt x="3840479" y="553212"/>
                </a:lnTo>
                <a:close/>
              </a:path>
              <a:path w="4221480" h="558164">
                <a:moveTo>
                  <a:pt x="3808476" y="553212"/>
                </a:moveTo>
                <a:lnTo>
                  <a:pt x="3788664" y="553212"/>
                </a:lnTo>
                <a:lnTo>
                  <a:pt x="3788664" y="557784"/>
                </a:lnTo>
                <a:lnTo>
                  <a:pt x="3808476" y="557784"/>
                </a:lnTo>
                <a:lnTo>
                  <a:pt x="3808476" y="553212"/>
                </a:lnTo>
                <a:close/>
              </a:path>
              <a:path w="4221480" h="558164">
                <a:moveTo>
                  <a:pt x="3774948" y="553212"/>
                </a:moveTo>
                <a:lnTo>
                  <a:pt x="3755136" y="553212"/>
                </a:lnTo>
                <a:lnTo>
                  <a:pt x="3755136" y="557784"/>
                </a:lnTo>
                <a:lnTo>
                  <a:pt x="3774948" y="557784"/>
                </a:lnTo>
                <a:lnTo>
                  <a:pt x="3774948" y="553212"/>
                </a:lnTo>
                <a:close/>
              </a:path>
              <a:path w="4221480" h="558164">
                <a:moveTo>
                  <a:pt x="3741419" y="553212"/>
                </a:moveTo>
                <a:lnTo>
                  <a:pt x="3721607" y="553212"/>
                </a:lnTo>
                <a:lnTo>
                  <a:pt x="3721607" y="557784"/>
                </a:lnTo>
                <a:lnTo>
                  <a:pt x="3741419" y="557784"/>
                </a:lnTo>
                <a:lnTo>
                  <a:pt x="3741419" y="553212"/>
                </a:lnTo>
                <a:close/>
              </a:path>
              <a:path w="4221480" h="558164">
                <a:moveTo>
                  <a:pt x="3707891" y="553212"/>
                </a:moveTo>
                <a:lnTo>
                  <a:pt x="3688079" y="553212"/>
                </a:lnTo>
                <a:lnTo>
                  <a:pt x="3688079" y="557784"/>
                </a:lnTo>
                <a:lnTo>
                  <a:pt x="3707891" y="557784"/>
                </a:lnTo>
                <a:lnTo>
                  <a:pt x="3707891" y="553212"/>
                </a:lnTo>
                <a:close/>
              </a:path>
              <a:path w="4221480" h="558164">
                <a:moveTo>
                  <a:pt x="3674364" y="553212"/>
                </a:moveTo>
                <a:lnTo>
                  <a:pt x="3656076" y="553212"/>
                </a:lnTo>
                <a:lnTo>
                  <a:pt x="3656076" y="557784"/>
                </a:lnTo>
                <a:lnTo>
                  <a:pt x="3674364" y="557784"/>
                </a:lnTo>
                <a:lnTo>
                  <a:pt x="3674364" y="553212"/>
                </a:lnTo>
                <a:close/>
              </a:path>
              <a:path w="4221480" h="558164">
                <a:moveTo>
                  <a:pt x="3640836" y="553212"/>
                </a:moveTo>
                <a:lnTo>
                  <a:pt x="3622548" y="553212"/>
                </a:lnTo>
                <a:lnTo>
                  <a:pt x="3622548" y="557784"/>
                </a:lnTo>
                <a:lnTo>
                  <a:pt x="3640836" y="557784"/>
                </a:lnTo>
                <a:lnTo>
                  <a:pt x="3640836" y="553212"/>
                </a:lnTo>
                <a:close/>
              </a:path>
              <a:path w="4221480" h="558164">
                <a:moveTo>
                  <a:pt x="3607307" y="553212"/>
                </a:moveTo>
                <a:lnTo>
                  <a:pt x="3589019" y="553212"/>
                </a:lnTo>
                <a:lnTo>
                  <a:pt x="3589019" y="557784"/>
                </a:lnTo>
                <a:lnTo>
                  <a:pt x="3607307" y="557784"/>
                </a:lnTo>
                <a:lnTo>
                  <a:pt x="3607307" y="553212"/>
                </a:lnTo>
                <a:close/>
              </a:path>
              <a:path w="4221480" h="558164">
                <a:moveTo>
                  <a:pt x="3573779" y="553212"/>
                </a:moveTo>
                <a:lnTo>
                  <a:pt x="3555491" y="553212"/>
                </a:lnTo>
                <a:lnTo>
                  <a:pt x="3555491" y="557784"/>
                </a:lnTo>
                <a:lnTo>
                  <a:pt x="3573779" y="557784"/>
                </a:lnTo>
                <a:lnTo>
                  <a:pt x="3573779" y="553212"/>
                </a:lnTo>
                <a:close/>
              </a:path>
              <a:path w="4221480" h="558164">
                <a:moveTo>
                  <a:pt x="3541776" y="553212"/>
                </a:moveTo>
                <a:lnTo>
                  <a:pt x="3521964" y="553212"/>
                </a:lnTo>
                <a:lnTo>
                  <a:pt x="3521964" y="557784"/>
                </a:lnTo>
                <a:lnTo>
                  <a:pt x="3541776" y="557784"/>
                </a:lnTo>
                <a:lnTo>
                  <a:pt x="3541776" y="553212"/>
                </a:lnTo>
                <a:close/>
              </a:path>
              <a:path w="4221480" h="558164">
                <a:moveTo>
                  <a:pt x="3508248" y="553212"/>
                </a:moveTo>
                <a:lnTo>
                  <a:pt x="3488436" y="553212"/>
                </a:lnTo>
                <a:lnTo>
                  <a:pt x="3488436" y="557784"/>
                </a:lnTo>
                <a:lnTo>
                  <a:pt x="3508248" y="557784"/>
                </a:lnTo>
                <a:lnTo>
                  <a:pt x="3508248" y="553212"/>
                </a:lnTo>
                <a:close/>
              </a:path>
              <a:path w="4221480" h="558164">
                <a:moveTo>
                  <a:pt x="3474719" y="553212"/>
                </a:moveTo>
                <a:lnTo>
                  <a:pt x="3454907" y="553212"/>
                </a:lnTo>
                <a:lnTo>
                  <a:pt x="3454907" y="557784"/>
                </a:lnTo>
                <a:lnTo>
                  <a:pt x="3474719" y="557784"/>
                </a:lnTo>
                <a:lnTo>
                  <a:pt x="3474719" y="553212"/>
                </a:lnTo>
                <a:close/>
              </a:path>
              <a:path w="4221480" h="558164">
                <a:moveTo>
                  <a:pt x="3441191" y="553212"/>
                </a:moveTo>
                <a:lnTo>
                  <a:pt x="3421379" y="553212"/>
                </a:lnTo>
                <a:lnTo>
                  <a:pt x="3421379" y="557784"/>
                </a:lnTo>
                <a:lnTo>
                  <a:pt x="3441191" y="557784"/>
                </a:lnTo>
                <a:lnTo>
                  <a:pt x="3441191" y="553212"/>
                </a:lnTo>
                <a:close/>
              </a:path>
              <a:path w="4221480" h="558164">
                <a:moveTo>
                  <a:pt x="3407664" y="553212"/>
                </a:moveTo>
                <a:lnTo>
                  <a:pt x="3389376" y="553212"/>
                </a:lnTo>
                <a:lnTo>
                  <a:pt x="3389376" y="557784"/>
                </a:lnTo>
                <a:lnTo>
                  <a:pt x="3407664" y="557784"/>
                </a:lnTo>
                <a:lnTo>
                  <a:pt x="3407664" y="553212"/>
                </a:lnTo>
                <a:close/>
              </a:path>
              <a:path w="4221480" h="558164">
                <a:moveTo>
                  <a:pt x="3374136" y="553212"/>
                </a:moveTo>
                <a:lnTo>
                  <a:pt x="3355848" y="553212"/>
                </a:lnTo>
                <a:lnTo>
                  <a:pt x="3355848" y="557784"/>
                </a:lnTo>
                <a:lnTo>
                  <a:pt x="3374136" y="557784"/>
                </a:lnTo>
                <a:lnTo>
                  <a:pt x="3374136" y="553212"/>
                </a:lnTo>
                <a:close/>
              </a:path>
              <a:path w="4221480" h="558164">
                <a:moveTo>
                  <a:pt x="3340607" y="553212"/>
                </a:moveTo>
                <a:lnTo>
                  <a:pt x="3322319" y="553212"/>
                </a:lnTo>
                <a:lnTo>
                  <a:pt x="3322319" y="557784"/>
                </a:lnTo>
                <a:lnTo>
                  <a:pt x="3340607" y="557784"/>
                </a:lnTo>
                <a:lnTo>
                  <a:pt x="3340607" y="553212"/>
                </a:lnTo>
                <a:close/>
              </a:path>
              <a:path w="4221480" h="558164">
                <a:moveTo>
                  <a:pt x="3307079" y="553212"/>
                </a:moveTo>
                <a:lnTo>
                  <a:pt x="3288791" y="553212"/>
                </a:lnTo>
                <a:lnTo>
                  <a:pt x="3288791" y="557784"/>
                </a:lnTo>
                <a:lnTo>
                  <a:pt x="3307079" y="557784"/>
                </a:lnTo>
                <a:lnTo>
                  <a:pt x="3307079" y="553212"/>
                </a:lnTo>
                <a:close/>
              </a:path>
              <a:path w="4221480" h="558164">
                <a:moveTo>
                  <a:pt x="3275076" y="553212"/>
                </a:moveTo>
                <a:lnTo>
                  <a:pt x="3255264" y="553212"/>
                </a:lnTo>
                <a:lnTo>
                  <a:pt x="3255264" y="557784"/>
                </a:lnTo>
                <a:lnTo>
                  <a:pt x="3275076" y="557784"/>
                </a:lnTo>
                <a:lnTo>
                  <a:pt x="3275076" y="553212"/>
                </a:lnTo>
                <a:close/>
              </a:path>
              <a:path w="4221480" h="558164">
                <a:moveTo>
                  <a:pt x="3241548" y="553212"/>
                </a:moveTo>
                <a:lnTo>
                  <a:pt x="3221736" y="553212"/>
                </a:lnTo>
                <a:lnTo>
                  <a:pt x="3221736" y="557784"/>
                </a:lnTo>
                <a:lnTo>
                  <a:pt x="3241548" y="557784"/>
                </a:lnTo>
                <a:lnTo>
                  <a:pt x="3241548" y="553212"/>
                </a:lnTo>
                <a:close/>
              </a:path>
              <a:path w="4221480" h="558164">
                <a:moveTo>
                  <a:pt x="3208019" y="553212"/>
                </a:moveTo>
                <a:lnTo>
                  <a:pt x="3188207" y="553212"/>
                </a:lnTo>
                <a:lnTo>
                  <a:pt x="3188207" y="557784"/>
                </a:lnTo>
                <a:lnTo>
                  <a:pt x="3208019" y="557784"/>
                </a:lnTo>
                <a:lnTo>
                  <a:pt x="3208019" y="553212"/>
                </a:lnTo>
                <a:close/>
              </a:path>
              <a:path w="4221480" h="558164">
                <a:moveTo>
                  <a:pt x="3174491" y="553212"/>
                </a:moveTo>
                <a:lnTo>
                  <a:pt x="3154679" y="553212"/>
                </a:lnTo>
                <a:lnTo>
                  <a:pt x="3154679" y="557784"/>
                </a:lnTo>
                <a:lnTo>
                  <a:pt x="3174491" y="557784"/>
                </a:lnTo>
                <a:lnTo>
                  <a:pt x="3174491" y="553212"/>
                </a:lnTo>
                <a:close/>
              </a:path>
              <a:path w="4221480" h="558164">
                <a:moveTo>
                  <a:pt x="3140964" y="553212"/>
                </a:moveTo>
                <a:lnTo>
                  <a:pt x="3122676" y="553212"/>
                </a:lnTo>
                <a:lnTo>
                  <a:pt x="3122676" y="557784"/>
                </a:lnTo>
                <a:lnTo>
                  <a:pt x="3140964" y="557784"/>
                </a:lnTo>
                <a:lnTo>
                  <a:pt x="3140964" y="553212"/>
                </a:lnTo>
                <a:close/>
              </a:path>
              <a:path w="4221480" h="558164">
                <a:moveTo>
                  <a:pt x="3107436" y="553212"/>
                </a:moveTo>
                <a:lnTo>
                  <a:pt x="3089148" y="553212"/>
                </a:lnTo>
                <a:lnTo>
                  <a:pt x="3089148" y="557784"/>
                </a:lnTo>
                <a:lnTo>
                  <a:pt x="3107436" y="557784"/>
                </a:lnTo>
                <a:lnTo>
                  <a:pt x="3107436" y="553212"/>
                </a:lnTo>
                <a:close/>
              </a:path>
              <a:path w="4221480" h="558164">
                <a:moveTo>
                  <a:pt x="3073907" y="553212"/>
                </a:moveTo>
                <a:lnTo>
                  <a:pt x="3055619" y="553212"/>
                </a:lnTo>
                <a:lnTo>
                  <a:pt x="3055619" y="557784"/>
                </a:lnTo>
                <a:lnTo>
                  <a:pt x="3073907" y="557784"/>
                </a:lnTo>
                <a:lnTo>
                  <a:pt x="3073907" y="553212"/>
                </a:lnTo>
                <a:close/>
              </a:path>
              <a:path w="4221480" h="558164">
                <a:moveTo>
                  <a:pt x="3040379" y="553212"/>
                </a:moveTo>
                <a:lnTo>
                  <a:pt x="3022091" y="553212"/>
                </a:lnTo>
                <a:lnTo>
                  <a:pt x="3022091" y="557784"/>
                </a:lnTo>
                <a:lnTo>
                  <a:pt x="3040379" y="557784"/>
                </a:lnTo>
                <a:lnTo>
                  <a:pt x="3040379" y="553212"/>
                </a:lnTo>
                <a:close/>
              </a:path>
              <a:path w="4221480" h="558164">
                <a:moveTo>
                  <a:pt x="3008376" y="553212"/>
                </a:moveTo>
                <a:lnTo>
                  <a:pt x="2988564" y="553212"/>
                </a:lnTo>
                <a:lnTo>
                  <a:pt x="2988564" y="557784"/>
                </a:lnTo>
                <a:lnTo>
                  <a:pt x="3008376" y="557784"/>
                </a:lnTo>
                <a:lnTo>
                  <a:pt x="3008376" y="553212"/>
                </a:lnTo>
                <a:close/>
              </a:path>
              <a:path w="4221480" h="558164">
                <a:moveTo>
                  <a:pt x="2974848" y="553212"/>
                </a:moveTo>
                <a:lnTo>
                  <a:pt x="2955036" y="553212"/>
                </a:lnTo>
                <a:lnTo>
                  <a:pt x="2955036" y="557784"/>
                </a:lnTo>
                <a:lnTo>
                  <a:pt x="2974848" y="557784"/>
                </a:lnTo>
                <a:lnTo>
                  <a:pt x="2974848" y="553212"/>
                </a:lnTo>
                <a:close/>
              </a:path>
              <a:path w="4221480" h="558164">
                <a:moveTo>
                  <a:pt x="2941319" y="553212"/>
                </a:moveTo>
                <a:lnTo>
                  <a:pt x="2921507" y="553212"/>
                </a:lnTo>
                <a:lnTo>
                  <a:pt x="2921507" y="557784"/>
                </a:lnTo>
                <a:lnTo>
                  <a:pt x="2941319" y="557784"/>
                </a:lnTo>
                <a:lnTo>
                  <a:pt x="2941319" y="553212"/>
                </a:lnTo>
                <a:close/>
              </a:path>
              <a:path w="4221480" h="558164">
                <a:moveTo>
                  <a:pt x="2907791" y="553212"/>
                </a:moveTo>
                <a:lnTo>
                  <a:pt x="2887979" y="553212"/>
                </a:lnTo>
                <a:lnTo>
                  <a:pt x="2887979" y="557784"/>
                </a:lnTo>
                <a:lnTo>
                  <a:pt x="2907791" y="557784"/>
                </a:lnTo>
                <a:lnTo>
                  <a:pt x="2907791" y="553212"/>
                </a:lnTo>
                <a:close/>
              </a:path>
              <a:path w="4221480" h="558164">
                <a:moveTo>
                  <a:pt x="2874264" y="553212"/>
                </a:moveTo>
                <a:lnTo>
                  <a:pt x="2855976" y="553212"/>
                </a:lnTo>
                <a:lnTo>
                  <a:pt x="2855976" y="557784"/>
                </a:lnTo>
                <a:lnTo>
                  <a:pt x="2874264" y="557784"/>
                </a:lnTo>
                <a:lnTo>
                  <a:pt x="2874264" y="553212"/>
                </a:lnTo>
                <a:close/>
              </a:path>
              <a:path w="4221480" h="558164">
                <a:moveTo>
                  <a:pt x="2840736" y="553212"/>
                </a:moveTo>
                <a:lnTo>
                  <a:pt x="2822448" y="553212"/>
                </a:lnTo>
                <a:lnTo>
                  <a:pt x="2822448" y="557784"/>
                </a:lnTo>
                <a:lnTo>
                  <a:pt x="2840736" y="557784"/>
                </a:lnTo>
                <a:lnTo>
                  <a:pt x="2840736" y="553212"/>
                </a:lnTo>
                <a:close/>
              </a:path>
              <a:path w="4221480" h="558164">
                <a:moveTo>
                  <a:pt x="2807207" y="553212"/>
                </a:moveTo>
                <a:lnTo>
                  <a:pt x="2788919" y="553212"/>
                </a:lnTo>
                <a:lnTo>
                  <a:pt x="2788919" y="557784"/>
                </a:lnTo>
                <a:lnTo>
                  <a:pt x="2807207" y="557784"/>
                </a:lnTo>
                <a:lnTo>
                  <a:pt x="2807207" y="553212"/>
                </a:lnTo>
                <a:close/>
              </a:path>
              <a:path w="4221480" h="558164">
                <a:moveTo>
                  <a:pt x="2773679" y="553212"/>
                </a:moveTo>
                <a:lnTo>
                  <a:pt x="2755391" y="553212"/>
                </a:lnTo>
                <a:lnTo>
                  <a:pt x="2755391" y="557784"/>
                </a:lnTo>
                <a:lnTo>
                  <a:pt x="2773679" y="557784"/>
                </a:lnTo>
                <a:lnTo>
                  <a:pt x="2773679" y="553212"/>
                </a:lnTo>
                <a:close/>
              </a:path>
              <a:path w="4221480" h="558164">
                <a:moveTo>
                  <a:pt x="2741676" y="553212"/>
                </a:moveTo>
                <a:lnTo>
                  <a:pt x="2721864" y="553212"/>
                </a:lnTo>
                <a:lnTo>
                  <a:pt x="2721864" y="557784"/>
                </a:lnTo>
                <a:lnTo>
                  <a:pt x="2741676" y="557784"/>
                </a:lnTo>
                <a:lnTo>
                  <a:pt x="2741676" y="553212"/>
                </a:lnTo>
                <a:close/>
              </a:path>
              <a:path w="4221480" h="558164">
                <a:moveTo>
                  <a:pt x="2708148" y="553212"/>
                </a:moveTo>
                <a:lnTo>
                  <a:pt x="2688336" y="553212"/>
                </a:lnTo>
                <a:lnTo>
                  <a:pt x="2688336" y="557784"/>
                </a:lnTo>
                <a:lnTo>
                  <a:pt x="2708148" y="557784"/>
                </a:lnTo>
                <a:lnTo>
                  <a:pt x="2708148" y="553212"/>
                </a:lnTo>
                <a:close/>
              </a:path>
              <a:path w="4221480" h="558164">
                <a:moveTo>
                  <a:pt x="2674619" y="553212"/>
                </a:moveTo>
                <a:lnTo>
                  <a:pt x="2654807" y="553212"/>
                </a:lnTo>
                <a:lnTo>
                  <a:pt x="2654807" y="557784"/>
                </a:lnTo>
                <a:lnTo>
                  <a:pt x="2674619" y="557784"/>
                </a:lnTo>
                <a:lnTo>
                  <a:pt x="2674619" y="553212"/>
                </a:lnTo>
                <a:close/>
              </a:path>
              <a:path w="4221480" h="558164">
                <a:moveTo>
                  <a:pt x="2641091" y="553212"/>
                </a:moveTo>
                <a:lnTo>
                  <a:pt x="2621279" y="553212"/>
                </a:lnTo>
                <a:lnTo>
                  <a:pt x="2621279" y="557784"/>
                </a:lnTo>
                <a:lnTo>
                  <a:pt x="2641091" y="557784"/>
                </a:lnTo>
                <a:lnTo>
                  <a:pt x="2641091" y="553212"/>
                </a:lnTo>
                <a:close/>
              </a:path>
              <a:path w="4221480" h="558164">
                <a:moveTo>
                  <a:pt x="2607564" y="553212"/>
                </a:moveTo>
                <a:lnTo>
                  <a:pt x="2589276" y="553212"/>
                </a:lnTo>
                <a:lnTo>
                  <a:pt x="2589276" y="557784"/>
                </a:lnTo>
                <a:lnTo>
                  <a:pt x="2607564" y="557784"/>
                </a:lnTo>
                <a:lnTo>
                  <a:pt x="2607564" y="553212"/>
                </a:lnTo>
                <a:close/>
              </a:path>
              <a:path w="4221480" h="558164">
                <a:moveTo>
                  <a:pt x="2574036" y="553212"/>
                </a:moveTo>
                <a:lnTo>
                  <a:pt x="2555748" y="553212"/>
                </a:lnTo>
                <a:lnTo>
                  <a:pt x="2555748" y="557784"/>
                </a:lnTo>
                <a:lnTo>
                  <a:pt x="2574036" y="557784"/>
                </a:lnTo>
                <a:lnTo>
                  <a:pt x="2574036" y="553212"/>
                </a:lnTo>
                <a:close/>
              </a:path>
              <a:path w="4221480" h="558164">
                <a:moveTo>
                  <a:pt x="2540507" y="553212"/>
                </a:moveTo>
                <a:lnTo>
                  <a:pt x="2522219" y="553212"/>
                </a:lnTo>
                <a:lnTo>
                  <a:pt x="2522219" y="557784"/>
                </a:lnTo>
                <a:lnTo>
                  <a:pt x="2540507" y="557784"/>
                </a:lnTo>
                <a:lnTo>
                  <a:pt x="2540507" y="553212"/>
                </a:lnTo>
                <a:close/>
              </a:path>
              <a:path w="4221480" h="558164">
                <a:moveTo>
                  <a:pt x="2506979" y="553212"/>
                </a:moveTo>
                <a:lnTo>
                  <a:pt x="2488691" y="553212"/>
                </a:lnTo>
                <a:lnTo>
                  <a:pt x="2488691" y="557784"/>
                </a:lnTo>
                <a:lnTo>
                  <a:pt x="2506979" y="557784"/>
                </a:lnTo>
                <a:lnTo>
                  <a:pt x="2506979" y="553212"/>
                </a:lnTo>
                <a:close/>
              </a:path>
              <a:path w="4221480" h="558164">
                <a:moveTo>
                  <a:pt x="2474976" y="553212"/>
                </a:moveTo>
                <a:lnTo>
                  <a:pt x="2455164" y="553212"/>
                </a:lnTo>
                <a:lnTo>
                  <a:pt x="2455164" y="557784"/>
                </a:lnTo>
                <a:lnTo>
                  <a:pt x="2474976" y="557784"/>
                </a:lnTo>
                <a:lnTo>
                  <a:pt x="2474976" y="553212"/>
                </a:lnTo>
                <a:close/>
              </a:path>
              <a:path w="4221480" h="558164">
                <a:moveTo>
                  <a:pt x="2441448" y="553212"/>
                </a:moveTo>
                <a:lnTo>
                  <a:pt x="2421636" y="553212"/>
                </a:lnTo>
                <a:lnTo>
                  <a:pt x="2421636" y="557784"/>
                </a:lnTo>
                <a:lnTo>
                  <a:pt x="2441448" y="557784"/>
                </a:lnTo>
                <a:lnTo>
                  <a:pt x="2441448" y="553212"/>
                </a:lnTo>
                <a:close/>
              </a:path>
              <a:path w="4221480" h="558164">
                <a:moveTo>
                  <a:pt x="2407919" y="553212"/>
                </a:moveTo>
                <a:lnTo>
                  <a:pt x="2388107" y="553212"/>
                </a:lnTo>
                <a:lnTo>
                  <a:pt x="2388107" y="557784"/>
                </a:lnTo>
                <a:lnTo>
                  <a:pt x="2407919" y="557784"/>
                </a:lnTo>
                <a:lnTo>
                  <a:pt x="2407919" y="553212"/>
                </a:lnTo>
                <a:close/>
              </a:path>
              <a:path w="4221480" h="558164">
                <a:moveTo>
                  <a:pt x="2374391" y="553212"/>
                </a:moveTo>
                <a:lnTo>
                  <a:pt x="2354579" y="553212"/>
                </a:lnTo>
                <a:lnTo>
                  <a:pt x="2354579" y="557784"/>
                </a:lnTo>
                <a:lnTo>
                  <a:pt x="2374391" y="557784"/>
                </a:lnTo>
                <a:lnTo>
                  <a:pt x="2374391" y="553212"/>
                </a:lnTo>
                <a:close/>
              </a:path>
              <a:path w="4221480" h="558164">
                <a:moveTo>
                  <a:pt x="2340864" y="553212"/>
                </a:moveTo>
                <a:lnTo>
                  <a:pt x="2322576" y="553212"/>
                </a:lnTo>
                <a:lnTo>
                  <a:pt x="2322576" y="557784"/>
                </a:lnTo>
                <a:lnTo>
                  <a:pt x="2340864" y="557784"/>
                </a:lnTo>
                <a:lnTo>
                  <a:pt x="2340864" y="553212"/>
                </a:lnTo>
                <a:close/>
              </a:path>
              <a:path w="4221480" h="558164">
                <a:moveTo>
                  <a:pt x="2307336" y="553212"/>
                </a:moveTo>
                <a:lnTo>
                  <a:pt x="2289048" y="553212"/>
                </a:lnTo>
                <a:lnTo>
                  <a:pt x="2289048" y="557784"/>
                </a:lnTo>
                <a:lnTo>
                  <a:pt x="2307336" y="557784"/>
                </a:lnTo>
                <a:lnTo>
                  <a:pt x="2307336" y="553212"/>
                </a:lnTo>
                <a:close/>
              </a:path>
              <a:path w="4221480" h="558164">
                <a:moveTo>
                  <a:pt x="2273807" y="553212"/>
                </a:moveTo>
                <a:lnTo>
                  <a:pt x="2255519" y="553212"/>
                </a:lnTo>
                <a:lnTo>
                  <a:pt x="2255519" y="557784"/>
                </a:lnTo>
                <a:lnTo>
                  <a:pt x="2273807" y="557784"/>
                </a:lnTo>
                <a:lnTo>
                  <a:pt x="2273807" y="553212"/>
                </a:lnTo>
                <a:close/>
              </a:path>
              <a:path w="4221480" h="558164">
                <a:moveTo>
                  <a:pt x="2240279" y="553212"/>
                </a:moveTo>
                <a:lnTo>
                  <a:pt x="2221991" y="553212"/>
                </a:lnTo>
                <a:lnTo>
                  <a:pt x="2221991" y="557784"/>
                </a:lnTo>
                <a:lnTo>
                  <a:pt x="2240279" y="557784"/>
                </a:lnTo>
                <a:lnTo>
                  <a:pt x="2240279" y="553212"/>
                </a:lnTo>
                <a:close/>
              </a:path>
              <a:path w="4221480" h="558164">
                <a:moveTo>
                  <a:pt x="2208276" y="553212"/>
                </a:moveTo>
                <a:lnTo>
                  <a:pt x="2188464" y="553212"/>
                </a:lnTo>
                <a:lnTo>
                  <a:pt x="2188464" y="557784"/>
                </a:lnTo>
                <a:lnTo>
                  <a:pt x="2208276" y="557784"/>
                </a:lnTo>
                <a:lnTo>
                  <a:pt x="2208276" y="553212"/>
                </a:lnTo>
                <a:close/>
              </a:path>
              <a:path w="4221480" h="558164">
                <a:moveTo>
                  <a:pt x="2174748" y="553212"/>
                </a:moveTo>
                <a:lnTo>
                  <a:pt x="2154936" y="553212"/>
                </a:lnTo>
                <a:lnTo>
                  <a:pt x="2154936" y="557784"/>
                </a:lnTo>
                <a:lnTo>
                  <a:pt x="2174748" y="557784"/>
                </a:lnTo>
                <a:lnTo>
                  <a:pt x="2174748" y="553212"/>
                </a:lnTo>
                <a:close/>
              </a:path>
              <a:path w="4221480" h="558164">
                <a:moveTo>
                  <a:pt x="2141219" y="553212"/>
                </a:moveTo>
                <a:lnTo>
                  <a:pt x="2121407" y="553212"/>
                </a:lnTo>
                <a:lnTo>
                  <a:pt x="2121407" y="557784"/>
                </a:lnTo>
                <a:lnTo>
                  <a:pt x="2141219" y="557784"/>
                </a:lnTo>
                <a:lnTo>
                  <a:pt x="2141219" y="553212"/>
                </a:lnTo>
                <a:close/>
              </a:path>
              <a:path w="4221480" h="558164">
                <a:moveTo>
                  <a:pt x="2107691" y="553212"/>
                </a:moveTo>
                <a:lnTo>
                  <a:pt x="2087879" y="553212"/>
                </a:lnTo>
                <a:lnTo>
                  <a:pt x="2087879" y="557784"/>
                </a:lnTo>
                <a:lnTo>
                  <a:pt x="2107691" y="557784"/>
                </a:lnTo>
                <a:lnTo>
                  <a:pt x="2107691" y="553212"/>
                </a:lnTo>
                <a:close/>
              </a:path>
              <a:path w="4221480" h="558164">
                <a:moveTo>
                  <a:pt x="2074164" y="553212"/>
                </a:moveTo>
                <a:lnTo>
                  <a:pt x="2055876" y="553212"/>
                </a:lnTo>
                <a:lnTo>
                  <a:pt x="2055876" y="557784"/>
                </a:lnTo>
                <a:lnTo>
                  <a:pt x="2074164" y="557784"/>
                </a:lnTo>
                <a:lnTo>
                  <a:pt x="2074164" y="553212"/>
                </a:lnTo>
                <a:close/>
              </a:path>
              <a:path w="4221480" h="558164">
                <a:moveTo>
                  <a:pt x="2040636" y="553212"/>
                </a:moveTo>
                <a:lnTo>
                  <a:pt x="2022348" y="553212"/>
                </a:lnTo>
                <a:lnTo>
                  <a:pt x="2022348" y="557784"/>
                </a:lnTo>
                <a:lnTo>
                  <a:pt x="2040636" y="557784"/>
                </a:lnTo>
                <a:lnTo>
                  <a:pt x="2040636" y="553212"/>
                </a:lnTo>
                <a:close/>
              </a:path>
              <a:path w="4221480" h="558164">
                <a:moveTo>
                  <a:pt x="2007107" y="553212"/>
                </a:moveTo>
                <a:lnTo>
                  <a:pt x="1988819" y="553212"/>
                </a:lnTo>
                <a:lnTo>
                  <a:pt x="1988819" y="557784"/>
                </a:lnTo>
                <a:lnTo>
                  <a:pt x="2007107" y="557784"/>
                </a:lnTo>
                <a:lnTo>
                  <a:pt x="2007107" y="553212"/>
                </a:lnTo>
                <a:close/>
              </a:path>
              <a:path w="4221480" h="558164">
                <a:moveTo>
                  <a:pt x="1973579" y="553212"/>
                </a:moveTo>
                <a:lnTo>
                  <a:pt x="1955291" y="553212"/>
                </a:lnTo>
                <a:lnTo>
                  <a:pt x="1955291" y="557784"/>
                </a:lnTo>
                <a:lnTo>
                  <a:pt x="1973579" y="557784"/>
                </a:lnTo>
                <a:lnTo>
                  <a:pt x="1973579" y="553212"/>
                </a:lnTo>
                <a:close/>
              </a:path>
              <a:path w="4221480" h="558164">
                <a:moveTo>
                  <a:pt x="1941576" y="553212"/>
                </a:moveTo>
                <a:lnTo>
                  <a:pt x="1921764" y="553212"/>
                </a:lnTo>
                <a:lnTo>
                  <a:pt x="1921764" y="557784"/>
                </a:lnTo>
                <a:lnTo>
                  <a:pt x="1941576" y="557784"/>
                </a:lnTo>
                <a:lnTo>
                  <a:pt x="1941576" y="553212"/>
                </a:lnTo>
                <a:close/>
              </a:path>
              <a:path w="4221480" h="558164">
                <a:moveTo>
                  <a:pt x="1908048" y="553212"/>
                </a:moveTo>
                <a:lnTo>
                  <a:pt x="1888236" y="553212"/>
                </a:lnTo>
                <a:lnTo>
                  <a:pt x="1888236" y="557784"/>
                </a:lnTo>
                <a:lnTo>
                  <a:pt x="1908048" y="557784"/>
                </a:lnTo>
                <a:lnTo>
                  <a:pt x="1908048" y="553212"/>
                </a:lnTo>
                <a:close/>
              </a:path>
              <a:path w="4221480" h="558164">
                <a:moveTo>
                  <a:pt x="1874519" y="553212"/>
                </a:moveTo>
                <a:lnTo>
                  <a:pt x="1854707" y="553212"/>
                </a:lnTo>
                <a:lnTo>
                  <a:pt x="1854707" y="557784"/>
                </a:lnTo>
                <a:lnTo>
                  <a:pt x="1874519" y="557784"/>
                </a:lnTo>
                <a:lnTo>
                  <a:pt x="1874519" y="553212"/>
                </a:lnTo>
                <a:close/>
              </a:path>
              <a:path w="4221480" h="558164">
                <a:moveTo>
                  <a:pt x="1840991" y="553212"/>
                </a:moveTo>
                <a:lnTo>
                  <a:pt x="1821179" y="553212"/>
                </a:lnTo>
                <a:lnTo>
                  <a:pt x="1821179" y="557784"/>
                </a:lnTo>
                <a:lnTo>
                  <a:pt x="1840991" y="557784"/>
                </a:lnTo>
                <a:lnTo>
                  <a:pt x="1840991" y="553212"/>
                </a:lnTo>
                <a:close/>
              </a:path>
              <a:path w="4221480" h="558164">
                <a:moveTo>
                  <a:pt x="1807464" y="553212"/>
                </a:moveTo>
                <a:lnTo>
                  <a:pt x="1789176" y="553212"/>
                </a:lnTo>
                <a:lnTo>
                  <a:pt x="1789176" y="557784"/>
                </a:lnTo>
                <a:lnTo>
                  <a:pt x="1807464" y="557784"/>
                </a:lnTo>
                <a:lnTo>
                  <a:pt x="1807464" y="553212"/>
                </a:lnTo>
                <a:close/>
              </a:path>
              <a:path w="4221480" h="558164">
                <a:moveTo>
                  <a:pt x="1773936" y="553212"/>
                </a:moveTo>
                <a:lnTo>
                  <a:pt x="1755648" y="553212"/>
                </a:lnTo>
                <a:lnTo>
                  <a:pt x="1755648" y="557784"/>
                </a:lnTo>
                <a:lnTo>
                  <a:pt x="1773936" y="557784"/>
                </a:lnTo>
                <a:lnTo>
                  <a:pt x="1773936" y="553212"/>
                </a:lnTo>
                <a:close/>
              </a:path>
              <a:path w="4221480" h="558164">
                <a:moveTo>
                  <a:pt x="1740407" y="553212"/>
                </a:moveTo>
                <a:lnTo>
                  <a:pt x="1722119" y="553212"/>
                </a:lnTo>
                <a:lnTo>
                  <a:pt x="1722119" y="557784"/>
                </a:lnTo>
                <a:lnTo>
                  <a:pt x="1740407" y="557784"/>
                </a:lnTo>
                <a:lnTo>
                  <a:pt x="1740407" y="553212"/>
                </a:lnTo>
                <a:close/>
              </a:path>
              <a:path w="4221480" h="558164">
                <a:moveTo>
                  <a:pt x="1706879" y="553212"/>
                </a:moveTo>
                <a:lnTo>
                  <a:pt x="1688591" y="553212"/>
                </a:lnTo>
                <a:lnTo>
                  <a:pt x="1688591" y="557784"/>
                </a:lnTo>
                <a:lnTo>
                  <a:pt x="1706879" y="557784"/>
                </a:lnTo>
                <a:lnTo>
                  <a:pt x="1706879" y="553212"/>
                </a:lnTo>
                <a:close/>
              </a:path>
              <a:path w="4221480" h="558164">
                <a:moveTo>
                  <a:pt x="1674876" y="553212"/>
                </a:moveTo>
                <a:lnTo>
                  <a:pt x="1655064" y="553212"/>
                </a:lnTo>
                <a:lnTo>
                  <a:pt x="1655064" y="557784"/>
                </a:lnTo>
                <a:lnTo>
                  <a:pt x="1674876" y="557784"/>
                </a:lnTo>
                <a:lnTo>
                  <a:pt x="1674876" y="553212"/>
                </a:lnTo>
                <a:close/>
              </a:path>
              <a:path w="4221480" h="558164">
                <a:moveTo>
                  <a:pt x="1641348" y="553212"/>
                </a:moveTo>
                <a:lnTo>
                  <a:pt x="1621536" y="553212"/>
                </a:lnTo>
                <a:lnTo>
                  <a:pt x="1621536" y="557784"/>
                </a:lnTo>
                <a:lnTo>
                  <a:pt x="1641348" y="557784"/>
                </a:lnTo>
                <a:lnTo>
                  <a:pt x="1641348" y="553212"/>
                </a:lnTo>
                <a:close/>
              </a:path>
              <a:path w="4221480" h="558164">
                <a:moveTo>
                  <a:pt x="1607820" y="553212"/>
                </a:moveTo>
                <a:lnTo>
                  <a:pt x="1588008" y="553212"/>
                </a:lnTo>
                <a:lnTo>
                  <a:pt x="1588008" y="557784"/>
                </a:lnTo>
                <a:lnTo>
                  <a:pt x="1607820" y="557784"/>
                </a:lnTo>
                <a:lnTo>
                  <a:pt x="1607820" y="553212"/>
                </a:lnTo>
                <a:close/>
              </a:path>
              <a:path w="4221480" h="558164">
                <a:moveTo>
                  <a:pt x="1574292" y="553212"/>
                </a:moveTo>
                <a:lnTo>
                  <a:pt x="1554480" y="553212"/>
                </a:lnTo>
                <a:lnTo>
                  <a:pt x="1554480" y="557784"/>
                </a:lnTo>
                <a:lnTo>
                  <a:pt x="1574292" y="557784"/>
                </a:lnTo>
                <a:lnTo>
                  <a:pt x="1574292" y="553212"/>
                </a:lnTo>
                <a:close/>
              </a:path>
              <a:path w="4221480" h="558164">
                <a:moveTo>
                  <a:pt x="1540764" y="553212"/>
                </a:moveTo>
                <a:lnTo>
                  <a:pt x="1522476" y="553212"/>
                </a:lnTo>
                <a:lnTo>
                  <a:pt x="1522476" y="557784"/>
                </a:lnTo>
                <a:lnTo>
                  <a:pt x="1540764" y="557784"/>
                </a:lnTo>
                <a:lnTo>
                  <a:pt x="1540764" y="553212"/>
                </a:lnTo>
                <a:close/>
              </a:path>
              <a:path w="4221480" h="558164">
                <a:moveTo>
                  <a:pt x="1507236" y="553212"/>
                </a:moveTo>
                <a:lnTo>
                  <a:pt x="1488948" y="553212"/>
                </a:lnTo>
                <a:lnTo>
                  <a:pt x="1488948" y="557784"/>
                </a:lnTo>
                <a:lnTo>
                  <a:pt x="1507236" y="557784"/>
                </a:lnTo>
                <a:lnTo>
                  <a:pt x="1507236" y="553212"/>
                </a:lnTo>
                <a:close/>
              </a:path>
              <a:path w="4221480" h="558164">
                <a:moveTo>
                  <a:pt x="1473708" y="553212"/>
                </a:moveTo>
                <a:lnTo>
                  <a:pt x="1455420" y="553212"/>
                </a:lnTo>
                <a:lnTo>
                  <a:pt x="1455420" y="557784"/>
                </a:lnTo>
                <a:lnTo>
                  <a:pt x="1473708" y="557784"/>
                </a:lnTo>
                <a:lnTo>
                  <a:pt x="1473708" y="553212"/>
                </a:lnTo>
                <a:close/>
              </a:path>
              <a:path w="4221480" h="558164">
                <a:moveTo>
                  <a:pt x="1440180" y="553212"/>
                </a:moveTo>
                <a:lnTo>
                  <a:pt x="1421892" y="553212"/>
                </a:lnTo>
                <a:lnTo>
                  <a:pt x="1421892" y="557784"/>
                </a:lnTo>
                <a:lnTo>
                  <a:pt x="1440180" y="557784"/>
                </a:lnTo>
                <a:lnTo>
                  <a:pt x="1440180" y="553212"/>
                </a:lnTo>
                <a:close/>
              </a:path>
              <a:path w="4221480" h="558164">
                <a:moveTo>
                  <a:pt x="1408176" y="553212"/>
                </a:moveTo>
                <a:lnTo>
                  <a:pt x="1388364" y="553212"/>
                </a:lnTo>
                <a:lnTo>
                  <a:pt x="1388364" y="557784"/>
                </a:lnTo>
                <a:lnTo>
                  <a:pt x="1408176" y="557784"/>
                </a:lnTo>
                <a:lnTo>
                  <a:pt x="1408176" y="553212"/>
                </a:lnTo>
                <a:close/>
              </a:path>
              <a:path w="4221480" h="558164">
                <a:moveTo>
                  <a:pt x="1374648" y="553212"/>
                </a:moveTo>
                <a:lnTo>
                  <a:pt x="1354836" y="553212"/>
                </a:lnTo>
                <a:lnTo>
                  <a:pt x="1354836" y="557784"/>
                </a:lnTo>
                <a:lnTo>
                  <a:pt x="1374648" y="557784"/>
                </a:lnTo>
                <a:lnTo>
                  <a:pt x="1374648" y="553212"/>
                </a:lnTo>
                <a:close/>
              </a:path>
              <a:path w="4221480" h="558164">
                <a:moveTo>
                  <a:pt x="1341120" y="553212"/>
                </a:moveTo>
                <a:lnTo>
                  <a:pt x="1321308" y="553212"/>
                </a:lnTo>
                <a:lnTo>
                  <a:pt x="1321308" y="557784"/>
                </a:lnTo>
                <a:lnTo>
                  <a:pt x="1341120" y="557784"/>
                </a:lnTo>
                <a:lnTo>
                  <a:pt x="1341120" y="553212"/>
                </a:lnTo>
                <a:close/>
              </a:path>
              <a:path w="4221480" h="558164">
                <a:moveTo>
                  <a:pt x="1307592" y="553212"/>
                </a:moveTo>
                <a:lnTo>
                  <a:pt x="1287780" y="553212"/>
                </a:lnTo>
                <a:lnTo>
                  <a:pt x="1287780" y="557784"/>
                </a:lnTo>
                <a:lnTo>
                  <a:pt x="1307592" y="557784"/>
                </a:lnTo>
                <a:lnTo>
                  <a:pt x="1307592" y="553212"/>
                </a:lnTo>
                <a:close/>
              </a:path>
              <a:path w="4221480" h="558164">
                <a:moveTo>
                  <a:pt x="1274064" y="553212"/>
                </a:moveTo>
                <a:lnTo>
                  <a:pt x="1255776" y="553212"/>
                </a:lnTo>
                <a:lnTo>
                  <a:pt x="1255776" y="557784"/>
                </a:lnTo>
                <a:lnTo>
                  <a:pt x="1274064" y="557784"/>
                </a:lnTo>
                <a:lnTo>
                  <a:pt x="1274064" y="553212"/>
                </a:lnTo>
                <a:close/>
              </a:path>
              <a:path w="4221480" h="558164">
                <a:moveTo>
                  <a:pt x="1240536" y="553212"/>
                </a:moveTo>
                <a:lnTo>
                  <a:pt x="1222248" y="553212"/>
                </a:lnTo>
                <a:lnTo>
                  <a:pt x="1222248" y="557784"/>
                </a:lnTo>
                <a:lnTo>
                  <a:pt x="1240536" y="557784"/>
                </a:lnTo>
                <a:lnTo>
                  <a:pt x="1240536" y="553212"/>
                </a:lnTo>
                <a:close/>
              </a:path>
              <a:path w="4221480" h="558164">
                <a:moveTo>
                  <a:pt x="1207008" y="553212"/>
                </a:moveTo>
                <a:lnTo>
                  <a:pt x="1188720" y="553212"/>
                </a:lnTo>
                <a:lnTo>
                  <a:pt x="1188720" y="557784"/>
                </a:lnTo>
                <a:lnTo>
                  <a:pt x="1207008" y="557784"/>
                </a:lnTo>
                <a:lnTo>
                  <a:pt x="1207008" y="553212"/>
                </a:lnTo>
                <a:close/>
              </a:path>
              <a:path w="4221480" h="558164">
                <a:moveTo>
                  <a:pt x="1173480" y="553212"/>
                </a:moveTo>
                <a:lnTo>
                  <a:pt x="1155192" y="553212"/>
                </a:lnTo>
                <a:lnTo>
                  <a:pt x="1155192" y="557784"/>
                </a:lnTo>
                <a:lnTo>
                  <a:pt x="1173480" y="557784"/>
                </a:lnTo>
                <a:lnTo>
                  <a:pt x="1173480" y="553212"/>
                </a:lnTo>
                <a:close/>
              </a:path>
              <a:path w="4221480" h="558164">
                <a:moveTo>
                  <a:pt x="1141476" y="553212"/>
                </a:moveTo>
                <a:lnTo>
                  <a:pt x="1121664" y="553212"/>
                </a:lnTo>
                <a:lnTo>
                  <a:pt x="1121664" y="557784"/>
                </a:lnTo>
                <a:lnTo>
                  <a:pt x="1141476" y="557784"/>
                </a:lnTo>
                <a:lnTo>
                  <a:pt x="1141476" y="553212"/>
                </a:lnTo>
                <a:close/>
              </a:path>
              <a:path w="4221480" h="558164">
                <a:moveTo>
                  <a:pt x="1107948" y="553212"/>
                </a:moveTo>
                <a:lnTo>
                  <a:pt x="1088136" y="553212"/>
                </a:lnTo>
                <a:lnTo>
                  <a:pt x="1088136" y="557784"/>
                </a:lnTo>
                <a:lnTo>
                  <a:pt x="1107948" y="557784"/>
                </a:lnTo>
                <a:lnTo>
                  <a:pt x="1107948" y="553212"/>
                </a:lnTo>
                <a:close/>
              </a:path>
              <a:path w="4221480" h="558164">
                <a:moveTo>
                  <a:pt x="1074420" y="553212"/>
                </a:moveTo>
                <a:lnTo>
                  <a:pt x="1054608" y="553212"/>
                </a:lnTo>
                <a:lnTo>
                  <a:pt x="1054608" y="557784"/>
                </a:lnTo>
                <a:lnTo>
                  <a:pt x="1074420" y="557784"/>
                </a:lnTo>
                <a:lnTo>
                  <a:pt x="1074420" y="553212"/>
                </a:lnTo>
                <a:close/>
              </a:path>
              <a:path w="4221480" h="558164">
                <a:moveTo>
                  <a:pt x="1040891" y="553212"/>
                </a:moveTo>
                <a:lnTo>
                  <a:pt x="1021079" y="553212"/>
                </a:lnTo>
                <a:lnTo>
                  <a:pt x="1021079" y="557784"/>
                </a:lnTo>
                <a:lnTo>
                  <a:pt x="1040891" y="557784"/>
                </a:lnTo>
                <a:lnTo>
                  <a:pt x="1040891" y="553212"/>
                </a:lnTo>
                <a:close/>
              </a:path>
              <a:path w="4221480" h="558164">
                <a:moveTo>
                  <a:pt x="1007364" y="553212"/>
                </a:moveTo>
                <a:lnTo>
                  <a:pt x="989076" y="553212"/>
                </a:lnTo>
                <a:lnTo>
                  <a:pt x="989076" y="557784"/>
                </a:lnTo>
                <a:lnTo>
                  <a:pt x="1007364" y="557784"/>
                </a:lnTo>
                <a:lnTo>
                  <a:pt x="1007364" y="553212"/>
                </a:lnTo>
                <a:close/>
              </a:path>
              <a:path w="4221480" h="558164">
                <a:moveTo>
                  <a:pt x="973835" y="553212"/>
                </a:moveTo>
                <a:lnTo>
                  <a:pt x="955547" y="553212"/>
                </a:lnTo>
                <a:lnTo>
                  <a:pt x="955547" y="557784"/>
                </a:lnTo>
                <a:lnTo>
                  <a:pt x="973835" y="557784"/>
                </a:lnTo>
                <a:lnTo>
                  <a:pt x="973835" y="553212"/>
                </a:lnTo>
                <a:close/>
              </a:path>
              <a:path w="4221480" h="558164">
                <a:moveTo>
                  <a:pt x="940308" y="553212"/>
                </a:moveTo>
                <a:lnTo>
                  <a:pt x="922020" y="553212"/>
                </a:lnTo>
                <a:lnTo>
                  <a:pt x="922020" y="557784"/>
                </a:lnTo>
                <a:lnTo>
                  <a:pt x="940308" y="557784"/>
                </a:lnTo>
                <a:lnTo>
                  <a:pt x="940308" y="553212"/>
                </a:lnTo>
                <a:close/>
              </a:path>
              <a:path w="4221480" h="558164">
                <a:moveTo>
                  <a:pt x="906779" y="553212"/>
                </a:moveTo>
                <a:lnTo>
                  <a:pt x="888491" y="553212"/>
                </a:lnTo>
                <a:lnTo>
                  <a:pt x="888491" y="557784"/>
                </a:lnTo>
                <a:lnTo>
                  <a:pt x="906779" y="557784"/>
                </a:lnTo>
                <a:lnTo>
                  <a:pt x="906779" y="553212"/>
                </a:lnTo>
                <a:close/>
              </a:path>
              <a:path w="4221480" h="558164">
                <a:moveTo>
                  <a:pt x="874776" y="553212"/>
                </a:moveTo>
                <a:lnTo>
                  <a:pt x="854964" y="553212"/>
                </a:lnTo>
                <a:lnTo>
                  <a:pt x="854964" y="557784"/>
                </a:lnTo>
                <a:lnTo>
                  <a:pt x="874776" y="557784"/>
                </a:lnTo>
                <a:lnTo>
                  <a:pt x="874776" y="553212"/>
                </a:lnTo>
                <a:close/>
              </a:path>
              <a:path w="4221480" h="558164">
                <a:moveTo>
                  <a:pt x="841247" y="553212"/>
                </a:moveTo>
                <a:lnTo>
                  <a:pt x="821435" y="553212"/>
                </a:lnTo>
                <a:lnTo>
                  <a:pt x="821435" y="557784"/>
                </a:lnTo>
                <a:lnTo>
                  <a:pt x="841247" y="557784"/>
                </a:lnTo>
                <a:lnTo>
                  <a:pt x="841247" y="553212"/>
                </a:lnTo>
                <a:close/>
              </a:path>
              <a:path w="4221480" h="558164">
                <a:moveTo>
                  <a:pt x="807720" y="553212"/>
                </a:moveTo>
                <a:lnTo>
                  <a:pt x="787908" y="553212"/>
                </a:lnTo>
                <a:lnTo>
                  <a:pt x="787908" y="557784"/>
                </a:lnTo>
                <a:lnTo>
                  <a:pt x="807720" y="557784"/>
                </a:lnTo>
                <a:lnTo>
                  <a:pt x="807720" y="553212"/>
                </a:lnTo>
                <a:close/>
              </a:path>
              <a:path w="4221480" h="558164">
                <a:moveTo>
                  <a:pt x="774191" y="553212"/>
                </a:moveTo>
                <a:lnTo>
                  <a:pt x="754379" y="553212"/>
                </a:lnTo>
                <a:lnTo>
                  <a:pt x="754379" y="557784"/>
                </a:lnTo>
                <a:lnTo>
                  <a:pt x="774191" y="557784"/>
                </a:lnTo>
                <a:lnTo>
                  <a:pt x="774191" y="553212"/>
                </a:lnTo>
                <a:close/>
              </a:path>
              <a:path w="4221480" h="558164">
                <a:moveTo>
                  <a:pt x="740664" y="553212"/>
                </a:moveTo>
                <a:lnTo>
                  <a:pt x="722376" y="553212"/>
                </a:lnTo>
                <a:lnTo>
                  <a:pt x="722376" y="557784"/>
                </a:lnTo>
                <a:lnTo>
                  <a:pt x="740664" y="557784"/>
                </a:lnTo>
                <a:lnTo>
                  <a:pt x="740664" y="553212"/>
                </a:lnTo>
                <a:close/>
              </a:path>
              <a:path w="4221480" h="558164">
                <a:moveTo>
                  <a:pt x="707135" y="553212"/>
                </a:moveTo>
                <a:lnTo>
                  <a:pt x="688847" y="553212"/>
                </a:lnTo>
                <a:lnTo>
                  <a:pt x="688847" y="557784"/>
                </a:lnTo>
                <a:lnTo>
                  <a:pt x="707135" y="557784"/>
                </a:lnTo>
                <a:lnTo>
                  <a:pt x="707135" y="553212"/>
                </a:lnTo>
                <a:close/>
              </a:path>
              <a:path w="4221480" h="558164">
                <a:moveTo>
                  <a:pt x="673608" y="553212"/>
                </a:moveTo>
                <a:lnTo>
                  <a:pt x="655320" y="553212"/>
                </a:lnTo>
                <a:lnTo>
                  <a:pt x="655320" y="557784"/>
                </a:lnTo>
                <a:lnTo>
                  <a:pt x="673608" y="557784"/>
                </a:lnTo>
                <a:lnTo>
                  <a:pt x="673608" y="553212"/>
                </a:lnTo>
                <a:close/>
              </a:path>
              <a:path w="4221480" h="558164">
                <a:moveTo>
                  <a:pt x="640079" y="553212"/>
                </a:moveTo>
                <a:lnTo>
                  <a:pt x="621791" y="553212"/>
                </a:lnTo>
                <a:lnTo>
                  <a:pt x="621791" y="557784"/>
                </a:lnTo>
                <a:lnTo>
                  <a:pt x="640079" y="557784"/>
                </a:lnTo>
                <a:lnTo>
                  <a:pt x="640079" y="553212"/>
                </a:lnTo>
                <a:close/>
              </a:path>
              <a:path w="4221480" h="558164">
                <a:moveTo>
                  <a:pt x="608076" y="553212"/>
                </a:moveTo>
                <a:lnTo>
                  <a:pt x="588264" y="553212"/>
                </a:lnTo>
                <a:lnTo>
                  <a:pt x="588264" y="557784"/>
                </a:lnTo>
                <a:lnTo>
                  <a:pt x="608076" y="557784"/>
                </a:lnTo>
                <a:lnTo>
                  <a:pt x="608076" y="553212"/>
                </a:lnTo>
                <a:close/>
              </a:path>
              <a:path w="4221480" h="558164">
                <a:moveTo>
                  <a:pt x="574547" y="553212"/>
                </a:moveTo>
                <a:lnTo>
                  <a:pt x="554735" y="553212"/>
                </a:lnTo>
                <a:lnTo>
                  <a:pt x="554735" y="557784"/>
                </a:lnTo>
                <a:lnTo>
                  <a:pt x="574547" y="557784"/>
                </a:lnTo>
                <a:lnTo>
                  <a:pt x="574547" y="553212"/>
                </a:lnTo>
                <a:close/>
              </a:path>
              <a:path w="4221480" h="558164">
                <a:moveTo>
                  <a:pt x="541020" y="553212"/>
                </a:moveTo>
                <a:lnTo>
                  <a:pt x="521208" y="553212"/>
                </a:lnTo>
                <a:lnTo>
                  <a:pt x="521208" y="557784"/>
                </a:lnTo>
                <a:lnTo>
                  <a:pt x="541020" y="557784"/>
                </a:lnTo>
                <a:lnTo>
                  <a:pt x="541020" y="553212"/>
                </a:lnTo>
                <a:close/>
              </a:path>
              <a:path w="4221480" h="558164">
                <a:moveTo>
                  <a:pt x="507491" y="553212"/>
                </a:moveTo>
                <a:lnTo>
                  <a:pt x="487679" y="553212"/>
                </a:lnTo>
                <a:lnTo>
                  <a:pt x="487679" y="557784"/>
                </a:lnTo>
                <a:lnTo>
                  <a:pt x="507491" y="557784"/>
                </a:lnTo>
                <a:lnTo>
                  <a:pt x="507491" y="553212"/>
                </a:lnTo>
                <a:close/>
              </a:path>
              <a:path w="4221480" h="558164">
                <a:moveTo>
                  <a:pt x="473964" y="553212"/>
                </a:moveTo>
                <a:lnTo>
                  <a:pt x="455676" y="553212"/>
                </a:lnTo>
                <a:lnTo>
                  <a:pt x="455676" y="557784"/>
                </a:lnTo>
                <a:lnTo>
                  <a:pt x="473964" y="557784"/>
                </a:lnTo>
                <a:lnTo>
                  <a:pt x="473964" y="553212"/>
                </a:lnTo>
                <a:close/>
              </a:path>
              <a:path w="4221480" h="558164">
                <a:moveTo>
                  <a:pt x="440435" y="553212"/>
                </a:moveTo>
                <a:lnTo>
                  <a:pt x="422147" y="553212"/>
                </a:lnTo>
                <a:lnTo>
                  <a:pt x="422147" y="557784"/>
                </a:lnTo>
                <a:lnTo>
                  <a:pt x="440435" y="557784"/>
                </a:lnTo>
                <a:lnTo>
                  <a:pt x="440435" y="553212"/>
                </a:lnTo>
                <a:close/>
              </a:path>
              <a:path w="4221480" h="558164">
                <a:moveTo>
                  <a:pt x="406908" y="553212"/>
                </a:moveTo>
                <a:lnTo>
                  <a:pt x="388620" y="553212"/>
                </a:lnTo>
                <a:lnTo>
                  <a:pt x="388620" y="557784"/>
                </a:lnTo>
                <a:lnTo>
                  <a:pt x="406908" y="557784"/>
                </a:lnTo>
                <a:lnTo>
                  <a:pt x="406908" y="553212"/>
                </a:lnTo>
                <a:close/>
              </a:path>
              <a:path w="4221480" h="558164">
                <a:moveTo>
                  <a:pt x="373379" y="553212"/>
                </a:moveTo>
                <a:lnTo>
                  <a:pt x="355091" y="553212"/>
                </a:lnTo>
                <a:lnTo>
                  <a:pt x="355091" y="557784"/>
                </a:lnTo>
                <a:lnTo>
                  <a:pt x="373379" y="557784"/>
                </a:lnTo>
                <a:lnTo>
                  <a:pt x="373379" y="553212"/>
                </a:lnTo>
                <a:close/>
              </a:path>
              <a:path w="4221480" h="558164">
                <a:moveTo>
                  <a:pt x="341376" y="553212"/>
                </a:moveTo>
                <a:lnTo>
                  <a:pt x="321564" y="553212"/>
                </a:lnTo>
                <a:lnTo>
                  <a:pt x="321564" y="557784"/>
                </a:lnTo>
                <a:lnTo>
                  <a:pt x="341376" y="557784"/>
                </a:lnTo>
                <a:lnTo>
                  <a:pt x="341376" y="553212"/>
                </a:lnTo>
                <a:close/>
              </a:path>
              <a:path w="4221480" h="558164">
                <a:moveTo>
                  <a:pt x="307847" y="553212"/>
                </a:moveTo>
                <a:lnTo>
                  <a:pt x="288035" y="553212"/>
                </a:lnTo>
                <a:lnTo>
                  <a:pt x="288035" y="557784"/>
                </a:lnTo>
                <a:lnTo>
                  <a:pt x="307847" y="557784"/>
                </a:lnTo>
                <a:lnTo>
                  <a:pt x="307847" y="553212"/>
                </a:lnTo>
                <a:close/>
              </a:path>
              <a:path w="4221480" h="558164">
                <a:moveTo>
                  <a:pt x="274320" y="553212"/>
                </a:moveTo>
                <a:lnTo>
                  <a:pt x="254508" y="553212"/>
                </a:lnTo>
                <a:lnTo>
                  <a:pt x="254508" y="557784"/>
                </a:lnTo>
                <a:lnTo>
                  <a:pt x="274320" y="557784"/>
                </a:lnTo>
                <a:lnTo>
                  <a:pt x="274320" y="553212"/>
                </a:lnTo>
                <a:close/>
              </a:path>
              <a:path w="4221480" h="558164">
                <a:moveTo>
                  <a:pt x="240791" y="553212"/>
                </a:moveTo>
                <a:lnTo>
                  <a:pt x="220979" y="553212"/>
                </a:lnTo>
                <a:lnTo>
                  <a:pt x="220979" y="557784"/>
                </a:lnTo>
                <a:lnTo>
                  <a:pt x="240791" y="557784"/>
                </a:lnTo>
                <a:lnTo>
                  <a:pt x="240791" y="553212"/>
                </a:lnTo>
                <a:close/>
              </a:path>
              <a:path w="4221480" h="558164">
                <a:moveTo>
                  <a:pt x="207264" y="553212"/>
                </a:moveTo>
                <a:lnTo>
                  <a:pt x="188976" y="553212"/>
                </a:lnTo>
                <a:lnTo>
                  <a:pt x="188976" y="557784"/>
                </a:lnTo>
                <a:lnTo>
                  <a:pt x="207264" y="557784"/>
                </a:lnTo>
                <a:lnTo>
                  <a:pt x="207264" y="553212"/>
                </a:lnTo>
                <a:close/>
              </a:path>
              <a:path w="4221480" h="558164">
                <a:moveTo>
                  <a:pt x="173735" y="553212"/>
                </a:moveTo>
                <a:lnTo>
                  <a:pt x="155447" y="553212"/>
                </a:lnTo>
                <a:lnTo>
                  <a:pt x="155447" y="557784"/>
                </a:lnTo>
                <a:lnTo>
                  <a:pt x="173735" y="557784"/>
                </a:lnTo>
                <a:lnTo>
                  <a:pt x="173735" y="553212"/>
                </a:lnTo>
                <a:close/>
              </a:path>
              <a:path w="4221480" h="558164">
                <a:moveTo>
                  <a:pt x="140208" y="553212"/>
                </a:moveTo>
                <a:lnTo>
                  <a:pt x="121920" y="553212"/>
                </a:lnTo>
                <a:lnTo>
                  <a:pt x="121920" y="557784"/>
                </a:lnTo>
                <a:lnTo>
                  <a:pt x="140208" y="557784"/>
                </a:lnTo>
                <a:lnTo>
                  <a:pt x="140208" y="553212"/>
                </a:lnTo>
                <a:close/>
              </a:path>
              <a:path w="4221480" h="558164">
                <a:moveTo>
                  <a:pt x="106679" y="553212"/>
                </a:moveTo>
                <a:lnTo>
                  <a:pt x="88391" y="553212"/>
                </a:lnTo>
                <a:lnTo>
                  <a:pt x="88391" y="557784"/>
                </a:lnTo>
                <a:lnTo>
                  <a:pt x="106679" y="557784"/>
                </a:lnTo>
                <a:lnTo>
                  <a:pt x="106679" y="553212"/>
                </a:lnTo>
                <a:close/>
              </a:path>
              <a:path w="4221480" h="558164">
                <a:moveTo>
                  <a:pt x="74676" y="553212"/>
                </a:moveTo>
                <a:lnTo>
                  <a:pt x="54863" y="553212"/>
                </a:lnTo>
                <a:lnTo>
                  <a:pt x="54863" y="557784"/>
                </a:lnTo>
                <a:lnTo>
                  <a:pt x="74676" y="557784"/>
                </a:lnTo>
                <a:lnTo>
                  <a:pt x="74676" y="553212"/>
                </a:lnTo>
                <a:close/>
              </a:path>
              <a:path w="4221480" h="558164">
                <a:moveTo>
                  <a:pt x="41147" y="553212"/>
                </a:moveTo>
                <a:lnTo>
                  <a:pt x="21335" y="553212"/>
                </a:lnTo>
                <a:lnTo>
                  <a:pt x="21335" y="557784"/>
                </a:lnTo>
                <a:lnTo>
                  <a:pt x="41147" y="557784"/>
                </a:lnTo>
                <a:lnTo>
                  <a:pt x="41147" y="55321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3312" y="920858"/>
            <a:ext cx="5151120" cy="1959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概率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被激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5080" indent="-172085">
              <a:lnSpc>
                <a:spcPct val="200000"/>
              </a:lnSpc>
              <a:spcBef>
                <a:spcPts val="24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现方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式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Dropout，就是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些输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舍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弃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(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0），这些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舍弃的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好像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除了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样。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5080" indent="-172085">
              <a:lnSpc>
                <a:spcPct val="200000"/>
              </a:lnSpc>
              <a:spcBef>
                <a:spcPts val="24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比率（</a:t>
            </a:r>
            <a:r>
              <a:rPr sz="1000" spc="1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Dropout ratio）：是被</a:t>
            </a:r>
            <a:r>
              <a:rPr sz="1000" spc="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0 的特</a:t>
            </a:r>
            <a:r>
              <a:rPr sz="1000" spc="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所占</a:t>
            </a:r>
            <a:r>
              <a:rPr sz="1000" spc="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比例</a:t>
            </a:r>
            <a:r>
              <a:rPr sz="1000" spc="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通常在</a:t>
            </a:r>
            <a:r>
              <a:rPr sz="1000" spc="1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0.2——0.5  </a:t>
            </a:r>
            <a:r>
              <a:rPr sz="1000" spc="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范</a:t>
            </a:r>
            <a:r>
              <a:rPr sz="10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围内。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545465">
              <a:lnSpc>
                <a:spcPct val="100000"/>
              </a:lnSpc>
              <a:spcBef>
                <a:spcPts val="710"/>
              </a:spcBef>
            </a:pPr>
            <a:r>
              <a:rPr sz="900" spc="1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例</a:t>
            </a:r>
            <a:r>
              <a:rPr sz="900" spc="-1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r>
              <a:rPr sz="9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假设某一层对给定输入样本的返回值应该是向量：[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0.2</a:t>
            </a:r>
            <a:r>
              <a:rPr sz="9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900" spc="-2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0.5,</a:t>
            </a:r>
            <a:r>
              <a:rPr sz="900" spc="-2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1.3,</a:t>
            </a:r>
            <a:r>
              <a:rPr sz="900" spc="-2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0.8</a:t>
            </a:r>
            <a:r>
              <a:rPr sz="9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900" spc="-2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1.1]</a:t>
            </a:r>
            <a:r>
              <a:rPr sz="9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545465">
              <a:lnSpc>
                <a:spcPct val="100000"/>
              </a:lnSpc>
              <a:tabLst>
                <a:tab pos="3576320" algn="l"/>
              </a:tabLst>
            </a:pPr>
            <a:r>
              <a:rPr sz="9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900" spc="1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9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后，这个向量会有几个随机的元素变成：[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,	0.5, </a:t>
            </a:r>
            <a:r>
              <a:rPr sz="9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1.3,  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5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900" spc="-5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1.1] </a:t>
            </a:r>
            <a:r>
              <a:rPr sz="900" dirty="0">
                <a:solidFill>
                  <a:srgbClr val="231F2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0423" y="138710"/>
            <a:ext cx="237871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随机</a:t>
            </a:r>
            <a:r>
              <a:rPr spc="-10" dirty="0"/>
              <a:t>失</a:t>
            </a:r>
            <a:r>
              <a:rPr spc="5" dirty="0"/>
              <a:t>活</a:t>
            </a:r>
            <a:r>
              <a:rPr spc="-5" dirty="0"/>
              <a:t>（Dropout）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80084" y="690417"/>
            <a:ext cx="2057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止过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合呢？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0423" y="132933"/>
            <a:ext cx="237871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随机</a:t>
            </a:r>
            <a:r>
              <a:rPr sz="1950" spc="-10" dirty="0"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195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950" spc="-5" dirty="0">
                <a:latin typeface="黑体" panose="02010609060101010101" charset="-122"/>
                <a:cs typeface="黑体" panose="02010609060101010101" charset="-122"/>
              </a:rPr>
              <a:t>（Dropout）</a:t>
            </a:r>
            <a:endParaRPr sz="195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0084" y="684698"/>
            <a:ext cx="4787900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止过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合呢？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200000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释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失活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得每次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新梯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时参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计算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低了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型容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以能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防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止过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合。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0423" y="138710"/>
            <a:ext cx="237871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随机</a:t>
            </a:r>
            <a:r>
              <a:rPr spc="-10" dirty="0"/>
              <a:t>失</a:t>
            </a:r>
            <a:r>
              <a:rPr spc="5" dirty="0"/>
              <a:t>活</a:t>
            </a:r>
            <a:r>
              <a:rPr spc="-5" dirty="0"/>
              <a:t>（Dropout）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2570891" y="2681265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51079" y="2624877"/>
            <a:ext cx="41275" cy="56515"/>
          </a:xfrm>
          <a:custGeom>
            <a:avLst/>
            <a:gdLst/>
            <a:ahLst/>
            <a:cxnLst/>
            <a:rect l="l" t="t" r="r" b="b"/>
            <a:pathLst>
              <a:path w="41275" h="56514">
                <a:moveTo>
                  <a:pt x="19812" y="0"/>
                </a:moveTo>
                <a:lnTo>
                  <a:pt x="0" y="56387"/>
                </a:lnTo>
                <a:lnTo>
                  <a:pt x="41148" y="56387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51079" y="2624876"/>
            <a:ext cx="41275" cy="56515"/>
          </a:xfrm>
          <a:custGeom>
            <a:avLst/>
            <a:gdLst/>
            <a:ahLst/>
            <a:cxnLst/>
            <a:rect l="l" t="t" r="r" b="b"/>
            <a:pathLst>
              <a:path w="41275" h="56514">
                <a:moveTo>
                  <a:pt x="41147" y="56387"/>
                </a:moveTo>
                <a:lnTo>
                  <a:pt x="19811" y="0"/>
                </a:lnTo>
                <a:lnTo>
                  <a:pt x="0" y="56387"/>
                </a:lnTo>
                <a:lnTo>
                  <a:pt x="41147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71475" y="2606589"/>
            <a:ext cx="977265" cy="417830"/>
          </a:xfrm>
          <a:custGeom>
            <a:avLst/>
            <a:gdLst/>
            <a:ahLst/>
            <a:cxnLst/>
            <a:rect l="l" t="t" r="r" b="b"/>
            <a:pathLst>
              <a:path w="977264" h="417830">
                <a:moveTo>
                  <a:pt x="0" y="417575"/>
                </a:moveTo>
                <a:lnTo>
                  <a:pt x="9768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39215" y="2583729"/>
            <a:ext cx="62865" cy="41275"/>
          </a:xfrm>
          <a:custGeom>
            <a:avLst/>
            <a:gdLst/>
            <a:ahLst/>
            <a:cxnLst/>
            <a:rect l="l" t="t" r="r" b="b"/>
            <a:pathLst>
              <a:path w="62864" h="41275">
                <a:moveTo>
                  <a:pt x="62484" y="0"/>
                </a:moveTo>
                <a:lnTo>
                  <a:pt x="0" y="3047"/>
                </a:lnTo>
                <a:lnTo>
                  <a:pt x="16763" y="41147"/>
                </a:lnTo>
                <a:lnTo>
                  <a:pt x="624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39215" y="2583729"/>
            <a:ext cx="62865" cy="41275"/>
          </a:xfrm>
          <a:custGeom>
            <a:avLst/>
            <a:gdLst/>
            <a:ahLst/>
            <a:cxnLst/>
            <a:rect l="l" t="t" r="r" b="b"/>
            <a:pathLst>
              <a:path w="62864" h="41275">
                <a:moveTo>
                  <a:pt x="16763" y="41147"/>
                </a:moveTo>
                <a:lnTo>
                  <a:pt x="62483" y="0"/>
                </a:lnTo>
                <a:lnTo>
                  <a:pt x="0" y="3047"/>
                </a:lnTo>
                <a:lnTo>
                  <a:pt x="16763" y="4114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12623" y="2606589"/>
            <a:ext cx="977265" cy="417830"/>
          </a:xfrm>
          <a:custGeom>
            <a:avLst/>
            <a:gdLst/>
            <a:ahLst/>
            <a:cxnLst/>
            <a:rect l="l" t="t" r="r" b="b"/>
            <a:pathLst>
              <a:path w="977264" h="417830">
                <a:moveTo>
                  <a:pt x="976883" y="417575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59283" y="2583729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0" y="0"/>
                </a:moveTo>
                <a:lnTo>
                  <a:pt x="44195" y="41147"/>
                </a:lnTo>
                <a:lnTo>
                  <a:pt x="60960" y="3047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59283" y="2583729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60959" y="3047"/>
                </a:moveTo>
                <a:lnTo>
                  <a:pt x="0" y="0"/>
                </a:lnTo>
                <a:lnTo>
                  <a:pt x="44195" y="41147"/>
                </a:lnTo>
                <a:lnTo>
                  <a:pt x="60959" y="304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42519" y="2614209"/>
            <a:ext cx="603885" cy="340360"/>
          </a:xfrm>
          <a:custGeom>
            <a:avLst/>
            <a:gdLst/>
            <a:ahLst/>
            <a:cxnLst/>
            <a:rect l="l" t="t" r="r" b="b"/>
            <a:pathLst>
              <a:path w="603885" h="340360">
                <a:moveTo>
                  <a:pt x="0" y="339851"/>
                </a:moveTo>
                <a:lnTo>
                  <a:pt x="60350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35356" y="2585253"/>
            <a:ext cx="60960" cy="47625"/>
          </a:xfrm>
          <a:custGeom>
            <a:avLst/>
            <a:gdLst/>
            <a:ahLst/>
            <a:cxnLst/>
            <a:rect l="l" t="t" r="r" b="b"/>
            <a:pathLst>
              <a:path w="60960" h="47625">
                <a:moveTo>
                  <a:pt x="60960" y="0"/>
                </a:moveTo>
                <a:lnTo>
                  <a:pt x="0" y="10668"/>
                </a:lnTo>
                <a:lnTo>
                  <a:pt x="21336" y="47244"/>
                </a:lnTo>
                <a:lnTo>
                  <a:pt x="6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35356" y="2585253"/>
            <a:ext cx="60960" cy="47625"/>
          </a:xfrm>
          <a:custGeom>
            <a:avLst/>
            <a:gdLst/>
            <a:ahLst/>
            <a:cxnLst/>
            <a:rect l="l" t="t" r="r" b="b"/>
            <a:pathLst>
              <a:path w="60960" h="47625">
                <a:moveTo>
                  <a:pt x="21335" y="47243"/>
                </a:moveTo>
                <a:lnTo>
                  <a:pt x="60959" y="0"/>
                </a:lnTo>
                <a:lnTo>
                  <a:pt x="0" y="10667"/>
                </a:lnTo>
                <a:lnTo>
                  <a:pt x="21335" y="47243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42519" y="2638593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80" h="315594">
                <a:moveTo>
                  <a:pt x="0" y="315467"/>
                </a:moveTo>
                <a:lnTo>
                  <a:pt x="22097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45211" y="2591349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0"/>
                </a:moveTo>
                <a:lnTo>
                  <a:pt x="0" y="35051"/>
                </a:lnTo>
                <a:lnTo>
                  <a:pt x="35051" y="59436"/>
                </a:lnTo>
                <a:lnTo>
                  <a:pt x="502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45211" y="2591348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35051" y="59435"/>
                </a:moveTo>
                <a:lnTo>
                  <a:pt x="50291" y="0"/>
                </a:lnTo>
                <a:lnTo>
                  <a:pt x="0" y="35051"/>
                </a:lnTo>
                <a:lnTo>
                  <a:pt x="35051" y="594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77800" y="2681265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56464" y="2624877"/>
            <a:ext cx="41275" cy="56515"/>
          </a:xfrm>
          <a:custGeom>
            <a:avLst/>
            <a:gdLst/>
            <a:ahLst/>
            <a:cxnLst/>
            <a:rect l="l" t="t" r="r" b="b"/>
            <a:pathLst>
              <a:path w="41275" h="56514">
                <a:moveTo>
                  <a:pt x="21336" y="0"/>
                </a:moveTo>
                <a:lnTo>
                  <a:pt x="0" y="56387"/>
                </a:lnTo>
                <a:lnTo>
                  <a:pt x="41148" y="56387"/>
                </a:lnTo>
                <a:lnTo>
                  <a:pt x="213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56463" y="2624876"/>
            <a:ext cx="41275" cy="56515"/>
          </a:xfrm>
          <a:custGeom>
            <a:avLst/>
            <a:gdLst/>
            <a:ahLst/>
            <a:cxnLst/>
            <a:rect l="l" t="t" r="r" b="b"/>
            <a:pathLst>
              <a:path w="41275" h="56514">
                <a:moveTo>
                  <a:pt x="41147" y="56387"/>
                </a:moveTo>
                <a:lnTo>
                  <a:pt x="21335" y="0"/>
                </a:lnTo>
                <a:lnTo>
                  <a:pt x="0" y="56387"/>
                </a:lnTo>
                <a:lnTo>
                  <a:pt x="41147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383183" y="2681265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361847" y="2624877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21336" y="0"/>
                </a:moveTo>
                <a:lnTo>
                  <a:pt x="0" y="56387"/>
                </a:lnTo>
                <a:lnTo>
                  <a:pt x="42672" y="56387"/>
                </a:lnTo>
                <a:lnTo>
                  <a:pt x="213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361847" y="2624876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42671" y="56387"/>
                </a:moveTo>
                <a:lnTo>
                  <a:pt x="21335" y="0"/>
                </a:lnTo>
                <a:lnTo>
                  <a:pt x="0" y="56387"/>
                </a:lnTo>
                <a:lnTo>
                  <a:pt x="42671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788567" y="2681265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767232" y="2624877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21335" y="0"/>
                </a:moveTo>
                <a:lnTo>
                  <a:pt x="0" y="56387"/>
                </a:lnTo>
                <a:lnTo>
                  <a:pt x="42671" y="56387"/>
                </a:lnTo>
                <a:lnTo>
                  <a:pt x="213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67232" y="2624876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42671" y="56387"/>
                </a:moveTo>
                <a:lnTo>
                  <a:pt x="21335" y="0"/>
                </a:lnTo>
                <a:lnTo>
                  <a:pt x="0" y="56387"/>
                </a:lnTo>
                <a:lnTo>
                  <a:pt x="42671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97483" y="2638593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220979" y="3154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463956" y="2591349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0" y="0"/>
                </a:moveTo>
                <a:lnTo>
                  <a:pt x="15240" y="59436"/>
                </a:lnTo>
                <a:lnTo>
                  <a:pt x="50292" y="35051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463956" y="2591348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35051"/>
                </a:moveTo>
                <a:lnTo>
                  <a:pt x="0" y="0"/>
                </a:lnTo>
                <a:lnTo>
                  <a:pt x="15239" y="59435"/>
                </a:lnTo>
                <a:lnTo>
                  <a:pt x="50291" y="3505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13435" y="2614209"/>
            <a:ext cx="605155" cy="340360"/>
          </a:xfrm>
          <a:custGeom>
            <a:avLst/>
            <a:gdLst/>
            <a:ahLst/>
            <a:cxnLst/>
            <a:rect l="l" t="t" r="r" b="b"/>
            <a:pathLst>
              <a:path w="605154" h="340360">
                <a:moveTo>
                  <a:pt x="605027" y="339851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63144" y="2585253"/>
            <a:ext cx="60960" cy="47625"/>
          </a:xfrm>
          <a:custGeom>
            <a:avLst/>
            <a:gdLst/>
            <a:ahLst/>
            <a:cxnLst/>
            <a:rect l="l" t="t" r="r" b="b"/>
            <a:pathLst>
              <a:path w="60960" h="47625">
                <a:moveTo>
                  <a:pt x="0" y="0"/>
                </a:moveTo>
                <a:lnTo>
                  <a:pt x="41147" y="47244"/>
                </a:lnTo>
                <a:lnTo>
                  <a:pt x="60959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63143" y="2585253"/>
            <a:ext cx="60960" cy="47625"/>
          </a:xfrm>
          <a:custGeom>
            <a:avLst/>
            <a:gdLst/>
            <a:ahLst/>
            <a:cxnLst/>
            <a:rect l="l" t="t" r="r" b="b"/>
            <a:pathLst>
              <a:path w="60960" h="47625">
                <a:moveTo>
                  <a:pt x="60959" y="10667"/>
                </a:moveTo>
                <a:lnTo>
                  <a:pt x="0" y="0"/>
                </a:lnTo>
                <a:lnTo>
                  <a:pt x="41147" y="47243"/>
                </a:lnTo>
                <a:lnTo>
                  <a:pt x="60959" y="106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453288" y="2638593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0" y="315467"/>
                </a:moveTo>
                <a:lnTo>
                  <a:pt x="22097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57503" y="2591349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2" y="0"/>
                </a:moveTo>
                <a:lnTo>
                  <a:pt x="0" y="35051"/>
                </a:lnTo>
                <a:lnTo>
                  <a:pt x="33528" y="59436"/>
                </a:lnTo>
                <a:lnTo>
                  <a:pt x="5029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57503" y="2591348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33527" y="59435"/>
                </a:moveTo>
                <a:lnTo>
                  <a:pt x="50291" y="0"/>
                </a:lnTo>
                <a:lnTo>
                  <a:pt x="0" y="35051"/>
                </a:lnTo>
                <a:lnTo>
                  <a:pt x="33527" y="594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92100" y="2638593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220979" y="3154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58572" y="2591349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0" y="0"/>
                </a:moveTo>
                <a:lnTo>
                  <a:pt x="15239" y="59436"/>
                </a:lnTo>
                <a:lnTo>
                  <a:pt x="50291" y="35051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58572" y="2591348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35051"/>
                </a:moveTo>
                <a:lnTo>
                  <a:pt x="0" y="0"/>
                </a:lnTo>
                <a:lnTo>
                  <a:pt x="15239" y="59435"/>
                </a:lnTo>
                <a:lnTo>
                  <a:pt x="50291" y="3505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705003" y="2620304"/>
            <a:ext cx="579120" cy="403860"/>
          </a:xfrm>
          <a:custGeom>
            <a:avLst/>
            <a:gdLst/>
            <a:ahLst/>
            <a:cxnLst/>
            <a:rect l="l" t="t" r="r" b="b"/>
            <a:pathLst>
              <a:path w="579120" h="403860">
                <a:moveTo>
                  <a:pt x="579119" y="40385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57760" y="2586777"/>
            <a:ext cx="58419" cy="50800"/>
          </a:xfrm>
          <a:custGeom>
            <a:avLst/>
            <a:gdLst/>
            <a:ahLst/>
            <a:cxnLst/>
            <a:rect l="l" t="t" r="r" b="b"/>
            <a:pathLst>
              <a:path w="58419" h="50800">
                <a:moveTo>
                  <a:pt x="0" y="0"/>
                </a:moveTo>
                <a:lnTo>
                  <a:pt x="35051" y="50292"/>
                </a:lnTo>
                <a:lnTo>
                  <a:pt x="57912" y="1676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57759" y="2586776"/>
            <a:ext cx="58419" cy="50800"/>
          </a:xfrm>
          <a:custGeom>
            <a:avLst/>
            <a:gdLst/>
            <a:ahLst/>
            <a:cxnLst/>
            <a:rect l="l" t="t" r="r" b="b"/>
            <a:pathLst>
              <a:path w="58419" h="50800">
                <a:moveTo>
                  <a:pt x="57911" y="16763"/>
                </a:moveTo>
                <a:lnTo>
                  <a:pt x="0" y="0"/>
                </a:lnTo>
                <a:lnTo>
                  <a:pt x="35051" y="50291"/>
                </a:lnTo>
                <a:lnTo>
                  <a:pt x="57911" y="16763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685191" y="2638593"/>
            <a:ext cx="222885" cy="315595"/>
          </a:xfrm>
          <a:custGeom>
            <a:avLst/>
            <a:gdLst/>
            <a:ahLst/>
            <a:cxnLst/>
            <a:rect l="l" t="t" r="r" b="b"/>
            <a:pathLst>
              <a:path w="222885" h="315594">
                <a:moveTo>
                  <a:pt x="222503" y="3154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653188" y="2591349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0" y="0"/>
                </a:moveTo>
                <a:lnTo>
                  <a:pt x="15239" y="59436"/>
                </a:lnTo>
                <a:lnTo>
                  <a:pt x="50291" y="35051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653187" y="2591348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35051"/>
                </a:moveTo>
                <a:lnTo>
                  <a:pt x="0" y="0"/>
                </a:lnTo>
                <a:lnTo>
                  <a:pt x="15239" y="59435"/>
                </a:lnTo>
                <a:lnTo>
                  <a:pt x="50291" y="3505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47903" y="2638593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0" y="315467"/>
                </a:moveTo>
                <a:lnTo>
                  <a:pt x="22097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252120" y="2591349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0"/>
                </a:moveTo>
                <a:lnTo>
                  <a:pt x="0" y="35051"/>
                </a:lnTo>
                <a:lnTo>
                  <a:pt x="33527" y="59436"/>
                </a:lnTo>
                <a:lnTo>
                  <a:pt x="502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52120" y="2591348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33527" y="59435"/>
                </a:moveTo>
                <a:lnTo>
                  <a:pt x="50291" y="0"/>
                </a:lnTo>
                <a:lnTo>
                  <a:pt x="0" y="35051"/>
                </a:lnTo>
                <a:lnTo>
                  <a:pt x="33527" y="594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076859" y="2620304"/>
            <a:ext cx="579120" cy="403860"/>
          </a:xfrm>
          <a:custGeom>
            <a:avLst/>
            <a:gdLst/>
            <a:ahLst/>
            <a:cxnLst/>
            <a:rect l="l" t="t" r="r" b="b"/>
            <a:pathLst>
              <a:path w="579120" h="403860">
                <a:moveTo>
                  <a:pt x="0" y="403859"/>
                </a:moveTo>
                <a:lnTo>
                  <a:pt x="57911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43788" y="2586777"/>
            <a:ext cx="59690" cy="50800"/>
          </a:xfrm>
          <a:custGeom>
            <a:avLst/>
            <a:gdLst/>
            <a:ahLst/>
            <a:cxnLst/>
            <a:rect l="l" t="t" r="r" b="b"/>
            <a:pathLst>
              <a:path w="59689" h="50800">
                <a:moveTo>
                  <a:pt x="59436" y="0"/>
                </a:moveTo>
                <a:lnTo>
                  <a:pt x="0" y="16764"/>
                </a:lnTo>
                <a:lnTo>
                  <a:pt x="24384" y="50292"/>
                </a:lnTo>
                <a:lnTo>
                  <a:pt x="594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43788" y="2586776"/>
            <a:ext cx="59690" cy="50800"/>
          </a:xfrm>
          <a:custGeom>
            <a:avLst/>
            <a:gdLst/>
            <a:ahLst/>
            <a:cxnLst/>
            <a:rect l="l" t="t" r="r" b="b"/>
            <a:pathLst>
              <a:path w="59689" h="50800">
                <a:moveTo>
                  <a:pt x="24383" y="50291"/>
                </a:moveTo>
                <a:lnTo>
                  <a:pt x="59435" y="0"/>
                </a:lnTo>
                <a:lnTo>
                  <a:pt x="0" y="16763"/>
                </a:lnTo>
                <a:lnTo>
                  <a:pt x="24383" y="5029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595020" y="2172248"/>
            <a:ext cx="198119" cy="23926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316127" y="2175297"/>
            <a:ext cx="402590" cy="260985"/>
          </a:xfrm>
          <a:custGeom>
            <a:avLst/>
            <a:gdLst/>
            <a:ahLst/>
            <a:cxnLst/>
            <a:rect l="l" t="t" r="r" b="b"/>
            <a:pathLst>
              <a:path w="402589" h="260985">
                <a:moveTo>
                  <a:pt x="402335" y="260603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267359" y="2143293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0" y="0"/>
                </a:moveTo>
                <a:lnTo>
                  <a:pt x="36575" y="48768"/>
                </a:lnTo>
                <a:lnTo>
                  <a:pt x="59436" y="1371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267359" y="2143293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59435" y="13715"/>
                </a:moveTo>
                <a:lnTo>
                  <a:pt x="0" y="0"/>
                </a:lnTo>
                <a:lnTo>
                  <a:pt x="36575" y="48767"/>
                </a:lnTo>
                <a:lnTo>
                  <a:pt x="59435" y="1371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18363" y="2158533"/>
            <a:ext cx="800100" cy="277495"/>
          </a:xfrm>
          <a:custGeom>
            <a:avLst/>
            <a:gdLst/>
            <a:ahLst/>
            <a:cxnLst/>
            <a:rect l="l" t="t" r="r" b="b"/>
            <a:pathLst>
              <a:path w="800100" h="277494">
                <a:moveTo>
                  <a:pt x="800099" y="2773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863500" y="2138721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60" h="40005">
                <a:moveTo>
                  <a:pt x="60960" y="0"/>
                </a:moveTo>
                <a:lnTo>
                  <a:pt x="0" y="0"/>
                </a:lnTo>
                <a:lnTo>
                  <a:pt x="47244" y="39624"/>
                </a:lnTo>
                <a:lnTo>
                  <a:pt x="6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863500" y="2138721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60" h="40005">
                <a:moveTo>
                  <a:pt x="60959" y="0"/>
                </a:moveTo>
                <a:lnTo>
                  <a:pt x="0" y="0"/>
                </a:lnTo>
                <a:lnTo>
                  <a:pt x="47243" y="39623"/>
                </a:lnTo>
                <a:lnTo>
                  <a:pt x="60959" y="0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89635" y="2172248"/>
            <a:ext cx="198119" cy="2392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910743" y="2175297"/>
            <a:ext cx="402590" cy="260985"/>
          </a:xfrm>
          <a:custGeom>
            <a:avLst/>
            <a:gdLst/>
            <a:ahLst/>
            <a:cxnLst/>
            <a:rect l="l" t="t" r="r" b="b"/>
            <a:pathLst>
              <a:path w="402589" h="260985">
                <a:moveTo>
                  <a:pt x="402335" y="260603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861976" y="2143293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0" y="0"/>
                </a:moveTo>
                <a:lnTo>
                  <a:pt x="36575" y="48768"/>
                </a:lnTo>
                <a:lnTo>
                  <a:pt x="59436" y="1371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861975" y="2143293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59435" y="13715"/>
                </a:moveTo>
                <a:lnTo>
                  <a:pt x="0" y="0"/>
                </a:lnTo>
                <a:lnTo>
                  <a:pt x="36575" y="48767"/>
                </a:lnTo>
                <a:lnTo>
                  <a:pt x="59435" y="1371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47903" y="2173773"/>
            <a:ext cx="405765" cy="262255"/>
          </a:xfrm>
          <a:custGeom>
            <a:avLst/>
            <a:gdLst/>
            <a:ahLst/>
            <a:cxnLst/>
            <a:rect l="l" t="t" r="r" b="b"/>
            <a:pathLst>
              <a:path w="405764" h="262255">
                <a:moveTo>
                  <a:pt x="0" y="262127"/>
                </a:moveTo>
                <a:lnTo>
                  <a:pt x="4053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441096" y="2143293"/>
            <a:ext cx="60960" cy="48895"/>
          </a:xfrm>
          <a:custGeom>
            <a:avLst/>
            <a:gdLst/>
            <a:ahLst/>
            <a:cxnLst/>
            <a:rect l="l" t="t" r="r" b="b"/>
            <a:pathLst>
              <a:path w="60960" h="48894">
                <a:moveTo>
                  <a:pt x="60959" y="0"/>
                </a:moveTo>
                <a:lnTo>
                  <a:pt x="0" y="13715"/>
                </a:lnTo>
                <a:lnTo>
                  <a:pt x="22859" y="48768"/>
                </a:lnTo>
                <a:lnTo>
                  <a:pt x="6095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441095" y="2143293"/>
            <a:ext cx="60960" cy="48895"/>
          </a:xfrm>
          <a:custGeom>
            <a:avLst/>
            <a:gdLst/>
            <a:ahLst/>
            <a:cxnLst/>
            <a:rect l="l" t="t" r="r" b="b"/>
            <a:pathLst>
              <a:path w="60960" h="48894">
                <a:moveTo>
                  <a:pt x="22859" y="48767"/>
                </a:moveTo>
                <a:lnTo>
                  <a:pt x="60959" y="0"/>
                </a:lnTo>
                <a:lnTo>
                  <a:pt x="0" y="13715"/>
                </a:lnTo>
                <a:lnTo>
                  <a:pt x="22859" y="487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973228" y="2172248"/>
            <a:ext cx="201167" cy="2392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808635" y="2231685"/>
            <a:ext cx="99060" cy="204470"/>
          </a:xfrm>
          <a:custGeom>
            <a:avLst/>
            <a:gdLst/>
            <a:ahLst/>
            <a:cxnLst/>
            <a:rect l="l" t="t" r="r" b="b"/>
            <a:pathLst>
              <a:path w="99060" h="204469">
                <a:moveTo>
                  <a:pt x="99059" y="204215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784251" y="2178345"/>
            <a:ext cx="44450" cy="62865"/>
          </a:xfrm>
          <a:custGeom>
            <a:avLst/>
            <a:gdLst/>
            <a:ahLst/>
            <a:cxnLst/>
            <a:rect l="l" t="t" r="r" b="b"/>
            <a:pathLst>
              <a:path w="44450" h="62864">
                <a:moveTo>
                  <a:pt x="0" y="0"/>
                </a:moveTo>
                <a:lnTo>
                  <a:pt x="6096" y="62484"/>
                </a:lnTo>
                <a:lnTo>
                  <a:pt x="44196" y="44196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784251" y="2178345"/>
            <a:ext cx="44450" cy="62865"/>
          </a:xfrm>
          <a:custGeom>
            <a:avLst/>
            <a:gdLst/>
            <a:ahLst/>
            <a:cxnLst/>
            <a:rect l="l" t="t" r="r" b="b"/>
            <a:pathLst>
              <a:path w="44450" h="62864">
                <a:moveTo>
                  <a:pt x="44195" y="44195"/>
                </a:moveTo>
                <a:lnTo>
                  <a:pt x="0" y="0"/>
                </a:lnTo>
                <a:lnTo>
                  <a:pt x="6095" y="62483"/>
                </a:lnTo>
                <a:lnTo>
                  <a:pt x="44195" y="4419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48715" y="2173773"/>
            <a:ext cx="135635" cy="266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570891" y="2221017"/>
            <a:ext cx="157480" cy="186055"/>
          </a:xfrm>
          <a:custGeom>
            <a:avLst/>
            <a:gdLst/>
            <a:ahLst/>
            <a:cxnLst/>
            <a:rect l="l" t="t" r="r" b="b"/>
            <a:pathLst>
              <a:path w="157480" h="186055">
                <a:moveTo>
                  <a:pt x="0" y="185927"/>
                </a:moveTo>
                <a:lnTo>
                  <a:pt x="156971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711100" y="2176821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53339" y="0"/>
                </a:moveTo>
                <a:lnTo>
                  <a:pt x="0" y="30480"/>
                </a:lnTo>
                <a:lnTo>
                  <a:pt x="32003" y="57912"/>
                </a:lnTo>
                <a:lnTo>
                  <a:pt x="533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711100" y="2176821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32003" y="57911"/>
                </a:moveTo>
                <a:lnTo>
                  <a:pt x="53339" y="0"/>
                </a:lnTo>
                <a:lnTo>
                  <a:pt x="0" y="30479"/>
                </a:lnTo>
                <a:lnTo>
                  <a:pt x="32003" y="5791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642519" y="2173773"/>
            <a:ext cx="405765" cy="262255"/>
          </a:xfrm>
          <a:custGeom>
            <a:avLst/>
            <a:gdLst/>
            <a:ahLst/>
            <a:cxnLst/>
            <a:rect l="l" t="t" r="r" b="b"/>
            <a:pathLst>
              <a:path w="405764" h="262255">
                <a:moveTo>
                  <a:pt x="0" y="262127"/>
                </a:moveTo>
                <a:lnTo>
                  <a:pt x="4053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035711" y="2143293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59436" y="0"/>
                </a:moveTo>
                <a:lnTo>
                  <a:pt x="0" y="13715"/>
                </a:lnTo>
                <a:lnTo>
                  <a:pt x="22860" y="48768"/>
                </a:lnTo>
                <a:lnTo>
                  <a:pt x="594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035711" y="2143293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22859" y="48767"/>
                </a:moveTo>
                <a:lnTo>
                  <a:pt x="59435" y="0"/>
                </a:lnTo>
                <a:lnTo>
                  <a:pt x="0" y="13715"/>
                </a:lnTo>
                <a:lnTo>
                  <a:pt x="22859" y="487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642519" y="2158533"/>
            <a:ext cx="802005" cy="277495"/>
          </a:xfrm>
          <a:custGeom>
            <a:avLst/>
            <a:gdLst/>
            <a:ahLst/>
            <a:cxnLst/>
            <a:rect l="l" t="t" r="r" b="b"/>
            <a:pathLst>
              <a:path w="802004" h="277494">
                <a:moveTo>
                  <a:pt x="0" y="277367"/>
                </a:moveTo>
                <a:lnTo>
                  <a:pt x="80162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438047" y="2138721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60" h="40005">
                <a:moveTo>
                  <a:pt x="60960" y="0"/>
                </a:moveTo>
                <a:lnTo>
                  <a:pt x="0" y="0"/>
                </a:lnTo>
                <a:lnTo>
                  <a:pt x="13715" y="39624"/>
                </a:lnTo>
                <a:lnTo>
                  <a:pt x="6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438047" y="2138721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60" h="40005">
                <a:moveTo>
                  <a:pt x="13715" y="39623"/>
                </a:moveTo>
                <a:lnTo>
                  <a:pt x="60959" y="0"/>
                </a:lnTo>
                <a:lnTo>
                  <a:pt x="0" y="0"/>
                </a:lnTo>
                <a:lnTo>
                  <a:pt x="13715" y="39623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308507" y="1721145"/>
            <a:ext cx="279400" cy="242570"/>
          </a:xfrm>
          <a:custGeom>
            <a:avLst/>
            <a:gdLst/>
            <a:ahLst/>
            <a:cxnLst/>
            <a:rect l="l" t="t" r="r" b="b"/>
            <a:pathLst>
              <a:path w="279400" h="242569">
                <a:moveTo>
                  <a:pt x="278891" y="242315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265835" y="1683045"/>
            <a:ext cx="58419" cy="53340"/>
          </a:xfrm>
          <a:custGeom>
            <a:avLst/>
            <a:gdLst/>
            <a:ahLst/>
            <a:cxnLst/>
            <a:rect l="l" t="t" r="r" b="b"/>
            <a:pathLst>
              <a:path w="58420" h="53339">
                <a:moveTo>
                  <a:pt x="0" y="0"/>
                </a:moveTo>
                <a:lnTo>
                  <a:pt x="28955" y="53340"/>
                </a:lnTo>
                <a:lnTo>
                  <a:pt x="57912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265835" y="1683045"/>
            <a:ext cx="58419" cy="53340"/>
          </a:xfrm>
          <a:custGeom>
            <a:avLst/>
            <a:gdLst/>
            <a:ahLst/>
            <a:cxnLst/>
            <a:rect l="l" t="t" r="r" b="b"/>
            <a:pathLst>
              <a:path w="58420" h="53339">
                <a:moveTo>
                  <a:pt x="57911" y="21335"/>
                </a:moveTo>
                <a:lnTo>
                  <a:pt x="0" y="0"/>
                </a:lnTo>
                <a:lnTo>
                  <a:pt x="28955" y="53339"/>
                </a:lnTo>
                <a:lnTo>
                  <a:pt x="57911" y="213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182015" y="1776009"/>
            <a:ext cx="0" cy="187960"/>
          </a:xfrm>
          <a:custGeom>
            <a:avLst/>
            <a:gdLst/>
            <a:ahLst/>
            <a:cxnLst/>
            <a:rect l="l" t="t" r="r" b="b"/>
            <a:pathLst>
              <a:path h="187960">
                <a:moveTo>
                  <a:pt x="0" y="187451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160679" y="1718097"/>
            <a:ext cx="43180" cy="58419"/>
          </a:xfrm>
          <a:custGeom>
            <a:avLst/>
            <a:gdLst/>
            <a:ahLst/>
            <a:cxnLst/>
            <a:rect l="l" t="t" r="r" b="b"/>
            <a:pathLst>
              <a:path w="43180" h="58419">
                <a:moveTo>
                  <a:pt x="21336" y="0"/>
                </a:moveTo>
                <a:lnTo>
                  <a:pt x="0" y="57911"/>
                </a:lnTo>
                <a:lnTo>
                  <a:pt x="42672" y="57911"/>
                </a:lnTo>
                <a:lnTo>
                  <a:pt x="213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160679" y="1718097"/>
            <a:ext cx="43180" cy="58419"/>
          </a:xfrm>
          <a:custGeom>
            <a:avLst/>
            <a:gdLst/>
            <a:ahLst/>
            <a:cxnLst/>
            <a:rect l="l" t="t" r="r" b="b"/>
            <a:pathLst>
              <a:path w="43180" h="58419">
                <a:moveTo>
                  <a:pt x="42671" y="57911"/>
                </a:moveTo>
                <a:lnTo>
                  <a:pt x="21335" y="0"/>
                </a:lnTo>
                <a:lnTo>
                  <a:pt x="0" y="57911"/>
                </a:lnTo>
                <a:lnTo>
                  <a:pt x="42671" y="5791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846735" y="1728765"/>
            <a:ext cx="216535" cy="264160"/>
          </a:xfrm>
          <a:custGeom>
            <a:avLst/>
            <a:gdLst/>
            <a:ahLst/>
            <a:cxnLst/>
            <a:rect l="l" t="t" r="r" b="b"/>
            <a:pathLst>
              <a:path w="216535" h="264160">
                <a:moveTo>
                  <a:pt x="0" y="263651"/>
                </a:moveTo>
                <a:lnTo>
                  <a:pt x="216407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046379" y="1684569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53340" y="0"/>
                </a:moveTo>
                <a:lnTo>
                  <a:pt x="0" y="32004"/>
                </a:lnTo>
                <a:lnTo>
                  <a:pt x="32004" y="57912"/>
                </a:lnTo>
                <a:lnTo>
                  <a:pt x="5334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046379" y="1684569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32003" y="57911"/>
                </a:moveTo>
                <a:lnTo>
                  <a:pt x="53339" y="0"/>
                </a:lnTo>
                <a:lnTo>
                  <a:pt x="0" y="32003"/>
                </a:lnTo>
                <a:lnTo>
                  <a:pt x="32003" y="5791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462687" y="2397801"/>
            <a:ext cx="217931" cy="2164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868072" y="2397801"/>
            <a:ext cx="217931" cy="2164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274979" y="2397801"/>
            <a:ext cx="216407" cy="2164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680364" y="2397801"/>
            <a:ext cx="216407" cy="2164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462687" y="2915960"/>
            <a:ext cx="217931" cy="2164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868072" y="2915960"/>
            <a:ext cx="217931" cy="2164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274979" y="2915960"/>
            <a:ext cx="216407" cy="21640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680364" y="2915960"/>
            <a:ext cx="216407" cy="2164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666903" y="1954317"/>
            <a:ext cx="217931" cy="21640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073811" y="1954317"/>
            <a:ext cx="216407" cy="2164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479195" y="1954317"/>
            <a:ext cx="216407" cy="2164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082956" y="1500165"/>
            <a:ext cx="198120" cy="200025"/>
          </a:xfrm>
          <a:custGeom>
            <a:avLst/>
            <a:gdLst/>
            <a:ahLst/>
            <a:cxnLst/>
            <a:rect l="l" t="t" r="r" b="b"/>
            <a:pathLst>
              <a:path w="198120" h="200025">
                <a:moveTo>
                  <a:pt x="0" y="100583"/>
                </a:moveTo>
                <a:lnTo>
                  <a:pt x="18287" y="41147"/>
                </a:lnTo>
                <a:lnTo>
                  <a:pt x="67055" y="6095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30479"/>
                </a:lnTo>
                <a:lnTo>
                  <a:pt x="190499" y="62483"/>
                </a:lnTo>
                <a:lnTo>
                  <a:pt x="198119" y="100583"/>
                </a:lnTo>
                <a:lnTo>
                  <a:pt x="193547" y="131063"/>
                </a:lnTo>
                <a:lnTo>
                  <a:pt x="178307" y="158495"/>
                </a:lnTo>
                <a:lnTo>
                  <a:pt x="156971" y="179831"/>
                </a:lnTo>
                <a:lnTo>
                  <a:pt x="129539" y="195071"/>
                </a:lnTo>
                <a:lnTo>
                  <a:pt x="99059" y="199643"/>
                </a:lnTo>
                <a:lnTo>
                  <a:pt x="67055" y="195071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100583"/>
                </a:lnTo>
                <a:close/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594763" y="2606589"/>
            <a:ext cx="977265" cy="417830"/>
          </a:xfrm>
          <a:custGeom>
            <a:avLst/>
            <a:gdLst/>
            <a:ahLst/>
            <a:cxnLst/>
            <a:rect l="l" t="t" r="r" b="b"/>
            <a:pathLst>
              <a:path w="977264" h="417830">
                <a:moveTo>
                  <a:pt x="0" y="417575"/>
                </a:moveTo>
                <a:lnTo>
                  <a:pt x="9768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564028" y="2583729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60960" y="0"/>
                </a:moveTo>
                <a:lnTo>
                  <a:pt x="0" y="3047"/>
                </a:lnTo>
                <a:lnTo>
                  <a:pt x="15239" y="41147"/>
                </a:lnTo>
                <a:lnTo>
                  <a:pt x="6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564027" y="2583729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15239" y="41147"/>
                </a:moveTo>
                <a:lnTo>
                  <a:pt x="60959" y="0"/>
                </a:lnTo>
                <a:lnTo>
                  <a:pt x="0" y="3047"/>
                </a:lnTo>
                <a:lnTo>
                  <a:pt x="15239" y="4114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565807" y="2638593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0" y="315467"/>
                </a:moveTo>
                <a:lnTo>
                  <a:pt x="22097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770023" y="2591349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0"/>
                </a:moveTo>
                <a:lnTo>
                  <a:pt x="0" y="35051"/>
                </a:lnTo>
                <a:lnTo>
                  <a:pt x="33527" y="59436"/>
                </a:lnTo>
                <a:lnTo>
                  <a:pt x="502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770023" y="2591348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33527" y="59435"/>
                </a:moveTo>
                <a:lnTo>
                  <a:pt x="50291" y="0"/>
                </a:lnTo>
                <a:lnTo>
                  <a:pt x="0" y="35051"/>
                </a:lnTo>
                <a:lnTo>
                  <a:pt x="33527" y="594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711856" y="2681265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690520" y="2624877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21335" y="0"/>
                </a:moveTo>
                <a:lnTo>
                  <a:pt x="0" y="56387"/>
                </a:lnTo>
                <a:lnTo>
                  <a:pt x="42671" y="56387"/>
                </a:lnTo>
                <a:lnTo>
                  <a:pt x="213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690519" y="2624876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42671" y="56387"/>
                </a:moveTo>
                <a:lnTo>
                  <a:pt x="21335" y="0"/>
                </a:lnTo>
                <a:lnTo>
                  <a:pt x="0" y="56387"/>
                </a:lnTo>
                <a:lnTo>
                  <a:pt x="42671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038247" y="2614209"/>
            <a:ext cx="603885" cy="340360"/>
          </a:xfrm>
          <a:custGeom>
            <a:avLst/>
            <a:gdLst/>
            <a:ahLst/>
            <a:cxnLst/>
            <a:rect l="l" t="t" r="r" b="b"/>
            <a:pathLst>
              <a:path w="603885" h="340360">
                <a:moveTo>
                  <a:pt x="603503" y="339851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987956" y="2585253"/>
            <a:ext cx="59690" cy="47625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0" y="0"/>
                </a:moveTo>
                <a:lnTo>
                  <a:pt x="39624" y="47244"/>
                </a:lnTo>
                <a:lnTo>
                  <a:pt x="59436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987956" y="2585253"/>
            <a:ext cx="59690" cy="47625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10667"/>
                </a:moveTo>
                <a:lnTo>
                  <a:pt x="0" y="0"/>
                </a:lnTo>
                <a:lnTo>
                  <a:pt x="39623" y="47243"/>
                </a:lnTo>
                <a:lnTo>
                  <a:pt x="59435" y="106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518307" y="2172248"/>
            <a:ext cx="198119" cy="2392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841651" y="2158533"/>
            <a:ext cx="800100" cy="277495"/>
          </a:xfrm>
          <a:custGeom>
            <a:avLst/>
            <a:gdLst/>
            <a:ahLst/>
            <a:cxnLst/>
            <a:rect l="l" t="t" r="r" b="b"/>
            <a:pathLst>
              <a:path w="800100" h="277494">
                <a:moveTo>
                  <a:pt x="800099" y="2773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786788" y="2138721"/>
            <a:ext cx="62865" cy="40005"/>
          </a:xfrm>
          <a:custGeom>
            <a:avLst/>
            <a:gdLst/>
            <a:ahLst/>
            <a:cxnLst/>
            <a:rect l="l" t="t" r="r" b="b"/>
            <a:pathLst>
              <a:path w="62864" h="40005">
                <a:moveTo>
                  <a:pt x="62484" y="0"/>
                </a:moveTo>
                <a:lnTo>
                  <a:pt x="0" y="0"/>
                </a:lnTo>
                <a:lnTo>
                  <a:pt x="48767" y="39624"/>
                </a:lnTo>
                <a:lnTo>
                  <a:pt x="624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786788" y="2138721"/>
            <a:ext cx="62865" cy="40005"/>
          </a:xfrm>
          <a:custGeom>
            <a:avLst/>
            <a:gdLst/>
            <a:ahLst/>
            <a:cxnLst/>
            <a:rect l="l" t="t" r="r" b="b"/>
            <a:pathLst>
              <a:path w="62864" h="40005">
                <a:moveTo>
                  <a:pt x="62483" y="0"/>
                </a:moveTo>
                <a:lnTo>
                  <a:pt x="0" y="0"/>
                </a:lnTo>
                <a:lnTo>
                  <a:pt x="48767" y="39623"/>
                </a:lnTo>
                <a:lnTo>
                  <a:pt x="62483" y="0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971191" y="2173773"/>
            <a:ext cx="405765" cy="262255"/>
          </a:xfrm>
          <a:custGeom>
            <a:avLst/>
            <a:gdLst/>
            <a:ahLst/>
            <a:cxnLst/>
            <a:rect l="l" t="t" r="r" b="b"/>
            <a:pathLst>
              <a:path w="405764" h="262255">
                <a:moveTo>
                  <a:pt x="0" y="262127"/>
                </a:moveTo>
                <a:lnTo>
                  <a:pt x="4053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365908" y="2143293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59436" y="0"/>
                </a:moveTo>
                <a:lnTo>
                  <a:pt x="0" y="13715"/>
                </a:lnTo>
                <a:lnTo>
                  <a:pt x="21336" y="48768"/>
                </a:lnTo>
                <a:lnTo>
                  <a:pt x="594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365907" y="2143293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21335" y="48767"/>
                </a:moveTo>
                <a:lnTo>
                  <a:pt x="59435" y="0"/>
                </a:lnTo>
                <a:lnTo>
                  <a:pt x="0" y="13715"/>
                </a:lnTo>
                <a:lnTo>
                  <a:pt x="21335" y="487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702967" y="2173773"/>
            <a:ext cx="132587" cy="26669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233319" y="1721145"/>
            <a:ext cx="277495" cy="242570"/>
          </a:xfrm>
          <a:custGeom>
            <a:avLst/>
            <a:gdLst/>
            <a:ahLst/>
            <a:cxnLst/>
            <a:rect l="l" t="t" r="r" b="b"/>
            <a:pathLst>
              <a:path w="277495" h="242569">
                <a:moveTo>
                  <a:pt x="277367" y="242315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5189123" y="1683045"/>
            <a:ext cx="58419" cy="53340"/>
          </a:xfrm>
          <a:custGeom>
            <a:avLst/>
            <a:gdLst/>
            <a:ahLst/>
            <a:cxnLst/>
            <a:rect l="l" t="t" r="r" b="b"/>
            <a:pathLst>
              <a:path w="58420" h="53339">
                <a:moveTo>
                  <a:pt x="0" y="0"/>
                </a:moveTo>
                <a:lnTo>
                  <a:pt x="30479" y="53340"/>
                </a:lnTo>
                <a:lnTo>
                  <a:pt x="57912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5189123" y="1683045"/>
            <a:ext cx="58419" cy="53340"/>
          </a:xfrm>
          <a:custGeom>
            <a:avLst/>
            <a:gdLst/>
            <a:ahLst/>
            <a:cxnLst/>
            <a:rect l="l" t="t" r="r" b="b"/>
            <a:pathLst>
              <a:path w="58420" h="53339">
                <a:moveTo>
                  <a:pt x="57911" y="21335"/>
                </a:moveTo>
                <a:lnTo>
                  <a:pt x="0" y="0"/>
                </a:lnTo>
                <a:lnTo>
                  <a:pt x="30479" y="53339"/>
                </a:lnTo>
                <a:lnTo>
                  <a:pt x="57911" y="213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770023" y="1728765"/>
            <a:ext cx="216535" cy="264160"/>
          </a:xfrm>
          <a:custGeom>
            <a:avLst/>
            <a:gdLst/>
            <a:ahLst/>
            <a:cxnLst/>
            <a:rect l="l" t="t" r="r" b="b"/>
            <a:pathLst>
              <a:path w="216535" h="264160">
                <a:moveTo>
                  <a:pt x="0" y="263651"/>
                </a:moveTo>
                <a:lnTo>
                  <a:pt x="216407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969667" y="1684569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53340" y="0"/>
                </a:moveTo>
                <a:lnTo>
                  <a:pt x="0" y="32004"/>
                </a:lnTo>
                <a:lnTo>
                  <a:pt x="33528" y="57912"/>
                </a:lnTo>
                <a:lnTo>
                  <a:pt x="5334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969667" y="1684569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33527" y="57911"/>
                </a:moveTo>
                <a:lnTo>
                  <a:pt x="53339" y="0"/>
                </a:lnTo>
                <a:lnTo>
                  <a:pt x="0" y="32003"/>
                </a:lnTo>
                <a:lnTo>
                  <a:pt x="33527" y="5791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395120" y="2406945"/>
            <a:ext cx="200025" cy="158750"/>
          </a:xfrm>
          <a:custGeom>
            <a:avLst/>
            <a:gdLst/>
            <a:ahLst/>
            <a:cxnLst/>
            <a:rect l="l" t="t" r="r" b="b"/>
            <a:pathLst>
              <a:path w="200025" h="158750">
                <a:moveTo>
                  <a:pt x="100583" y="0"/>
                </a:moveTo>
                <a:lnTo>
                  <a:pt x="41147" y="19812"/>
                </a:lnTo>
                <a:lnTo>
                  <a:pt x="6095" y="68580"/>
                </a:lnTo>
                <a:lnTo>
                  <a:pt x="0" y="99060"/>
                </a:lnTo>
                <a:lnTo>
                  <a:pt x="6095" y="131063"/>
                </a:lnTo>
                <a:lnTo>
                  <a:pt x="19812" y="158496"/>
                </a:lnTo>
                <a:lnTo>
                  <a:pt x="179831" y="158496"/>
                </a:lnTo>
                <a:lnTo>
                  <a:pt x="195071" y="131063"/>
                </a:lnTo>
                <a:lnTo>
                  <a:pt x="199643" y="99060"/>
                </a:lnTo>
                <a:lnTo>
                  <a:pt x="198119" y="79248"/>
                </a:lnTo>
                <a:lnTo>
                  <a:pt x="182879" y="44196"/>
                </a:lnTo>
                <a:lnTo>
                  <a:pt x="155447" y="16763"/>
                </a:lnTo>
                <a:lnTo>
                  <a:pt x="118871" y="1524"/>
                </a:lnTo>
                <a:lnTo>
                  <a:pt x="10058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414932" y="2565441"/>
            <a:ext cx="160020" cy="21590"/>
          </a:xfrm>
          <a:custGeom>
            <a:avLst/>
            <a:gdLst/>
            <a:ahLst/>
            <a:cxnLst/>
            <a:rect l="l" t="t" r="r" b="b"/>
            <a:pathLst>
              <a:path w="160020" h="21589">
                <a:moveTo>
                  <a:pt x="160019" y="0"/>
                </a:moveTo>
                <a:lnTo>
                  <a:pt x="0" y="0"/>
                </a:lnTo>
                <a:lnTo>
                  <a:pt x="21335" y="21335"/>
                </a:lnTo>
                <a:lnTo>
                  <a:pt x="138683" y="21335"/>
                </a:lnTo>
                <a:lnTo>
                  <a:pt x="16001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436267" y="2586777"/>
            <a:ext cx="117475" cy="13970"/>
          </a:xfrm>
          <a:custGeom>
            <a:avLst/>
            <a:gdLst/>
            <a:ahLst/>
            <a:cxnLst/>
            <a:rect l="l" t="t" r="r" b="b"/>
            <a:pathLst>
              <a:path w="117475" h="13969">
                <a:moveTo>
                  <a:pt x="117348" y="0"/>
                </a:moveTo>
                <a:lnTo>
                  <a:pt x="0" y="0"/>
                </a:lnTo>
                <a:lnTo>
                  <a:pt x="27432" y="13716"/>
                </a:lnTo>
                <a:lnTo>
                  <a:pt x="89916" y="13716"/>
                </a:lnTo>
                <a:lnTo>
                  <a:pt x="11734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463700" y="2600493"/>
            <a:ext cx="62865" cy="5080"/>
          </a:xfrm>
          <a:custGeom>
            <a:avLst/>
            <a:gdLst/>
            <a:ahLst/>
            <a:cxnLst/>
            <a:rect l="l" t="t" r="r" b="b"/>
            <a:pathLst>
              <a:path w="62864" h="5080">
                <a:moveTo>
                  <a:pt x="62484" y="0"/>
                </a:moveTo>
                <a:lnTo>
                  <a:pt x="0" y="0"/>
                </a:lnTo>
                <a:lnTo>
                  <a:pt x="32003" y="4571"/>
                </a:lnTo>
                <a:lnTo>
                  <a:pt x="624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395120" y="2406945"/>
            <a:ext cx="200025" cy="198120"/>
          </a:xfrm>
          <a:custGeom>
            <a:avLst/>
            <a:gdLst/>
            <a:ahLst/>
            <a:cxnLst/>
            <a:rect l="l" t="t" r="r" b="b"/>
            <a:pathLst>
              <a:path w="200025" h="198119">
                <a:moveTo>
                  <a:pt x="0" y="99059"/>
                </a:moveTo>
                <a:lnTo>
                  <a:pt x="19811" y="41147"/>
                </a:lnTo>
                <a:lnTo>
                  <a:pt x="68579" y="4571"/>
                </a:lnTo>
                <a:lnTo>
                  <a:pt x="100583" y="0"/>
                </a:lnTo>
                <a:lnTo>
                  <a:pt x="138683" y="7619"/>
                </a:lnTo>
                <a:lnTo>
                  <a:pt x="170687" y="28955"/>
                </a:lnTo>
                <a:lnTo>
                  <a:pt x="192023" y="60959"/>
                </a:lnTo>
                <a:lnTo>
                  <a:pt x="199643" y="99059"/>
                </a:lnTo>
                <a:lnTo>
                  <a:pt x="195071" y="131063"/>
                </a:lnTo>
                <a:lnTo>
                  <a:pt x="179831" y="158495"/>
                </a:lnTo>
                <a:lnTo>
                  <a:pt x="158495" y="179831"/>
                </a:lnTo>
                <a:lnTo>
                  <a:pt x="131063" y="193547"/>
                </a:lnTo>
                <a:lnTo>
                  <a:pt x="100583" y="198119"/>
                </a:lnTo>
                <a:lnTo>
                  <a:pt x="68579" y="193547"/>
                </a:lnTo>
                <a:lnTo>
                  <a:pt x="41147" y="179831"/>
                </a:lnTo>
                <a:lnTo>
                  <a:pt x="19811" y="158495"/>
                </a:lnTo>
                <a:lnTo>
                  <a:pt x="6095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792883" y="2397801"/>
            <a:ext cx="216407" cy="21640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207411" y="2406945"/>
            <a:ext cx="198120" cy="158750"/>
          </a:xfrm>
          <a:custGeom>
            <a:avLst/>
            <a:gdLst/>
            <a:ahLst/>
            <a:cxnLst/>
            <a:rect l="l" t="t" r="r" b="b"/>
            <a:pathLst>
              <a:path w="198120" h="158750">
                <a:moveTo>
                  <a:pt x="99060" y="0"/>
                </a:moveTo>
                <a:lnTo>
                  <a:pt x="39624" y="19812"/>
                </a:lnTo>
                <a:lnTo>
                  <a:pt x="4572" y="68580"/>
                </a:lnTo>
                <a:lnTo>
                  <a:pt x="0" y="99060"/>
                </a:lnTo>
                <a:lnTo>
                  <a:pt x="4572" y="131063"/>
                </a:lnTo>
                <a:lnTo>
                  <a:pt x="18287" y="158496"/>
                </a:lnTo>
                <a:lnTo>
                  <a:pt x="179832" y="158496"/>
                </a:lnTo>
                <a:lnTo>
                  <a:pt x="193548" y="131063"/>
                </a:lnTo>
                <a:lnTo>
                  <a:pt x="198120" y="99060"/>
                </a:lnTo>
                <a:lnTo>
                  <a:pt x="196596" y="79248"/>
                </a:lnTo>
                <a:lnTo>
                  <a:pt x="181355" y="44196"/>
                </a:lnTo>
                <a:lnTo>
                  <a:pt x="153924" y="16763"/>
                </a:lnTo>
                <a:lnTo>
                  <a:pt x="118872" y="1524"/>
                </a:lnTo>
                <a:lnTo>
                  <a:pt x="990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5225700" y="2565441"/>
            <a:ext cx="161925" cy="21590"/>
          </a:xfrm>
          <a:custGeom>
            <a:avLst/>
            <a:gdLst/>
            <a:ahLst/>
            <a:cxnLst/>
            <a:rect l="l" t="t" r="r" b="b"/>
            <a:pathLst>
              <a:path w="161925" h="21589">
                <a:moveTo>
                  <a:pt x="161544" y="0"/>
                </a:moveTo>
                <a:lnTo>
                  <a:pt x="0" y="0"/>
                </a:lnTo>
                <a:lnTo>
                  <a:pt x="21336" y="21335"/>
                </a:lnTo>
                <a:lnTo>
                  <a:pt x="138684" y="21335"/>
                </a:lnTo>
                <a:lnTo>
                  <a:pt x="1615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5247035" y="2586777"/>
            <a:ext cx="117475" cy="13970"/>
          </a:xfrm>
          <a:custGeom>
            <a:avLst/>
            <a:gdLst/>
            <a:ahLst/>
            <a:cxnLst/>
            <a:rect l="l" t="t" r="r" b="b"/>
            <a:pathLst>
              <a:path w="117475" h="13969">
                <a:moveTo>
                  <a:pt x="117348" y="0"/>
                </a:moveTo>
                <a:lnTo>
                  <a:pt x="0" y="0"/>
                </a:lnTo>
                <a:lnTo>
                  <a:pt x="27431" y="13716"/>
                </a:lnTo>
                <a:lnTo>
                  <a:pt x="91439" y="13716"/>
                </a:lnTo>
                <a:lnTo>
                  <a:pt x="11734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5274467" y="2600493"/>
            <a:ext cx="64135" cy="5080"/>
          </a:xfrm>
          <a:custGeom>
            <a:avLst/>
            <a:gdLst/>
            <a:ahLst/>
            <a:cxnLst/>
            <a:rect l="l" t="t" r="r" b="b"/>
            <a:pathLst>
              <a:path w="64135" h="5080">
                <a:moveTo>
                  <a:pt x="64008" y="0"/>
                </a:moveTo>
                <a:lnTo>
                  <a:pt x="0" y="0"/>
                </a:lnTo>
                <a:lnTo>
                  <a:pt x="32004" y="4571"/>
                </a:lnTo>
                <a:lnTo>
                  <a:pt x="640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5207411" y="2406945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99059"/>
                </a:moveTo>
                <a:lnTo>
                  <a:pt x="18287" y="41147"/>
                </a:lnTo>
                <a:lnTo>
                  <a:pt x="67055" y="4571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28955"/>
                </a:lnTo>
                <a:lnTo>
                  <a:pt x="190499" y="60959"/>
                </a:lnTo>
                <a:lnTo>
                  <a:pt x="198119" y="99059"/>
                </a:lnTo>
                <a:lnTo>
                  <a:pt x="193547" y="131063"/>
                </a:lnTo>
                <a:lnTo>
                  <a:pt x="179831" y="158495"/>
                </a:lnTo>
                <a:lnTo>
                  <a:pt x="156971" y="179831"/>
                </a:lnTo>
                <a:lnTo>
                  <a:pt x="131063" y="193547"/>
                </a:lnTo>
                <a:lnTo>
                  <a:pt x="99059" y="198119"/>
                </a:lnTo>
                <a:lnTo>
                  <a:pt x="67055" y="193547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5603651" y="2397801"/>
            <a:ext cx="216407" cy="21640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4385976" y="2915960"/>
            <a:ext cx="217931" cy="2164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4802028" y="2925105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99060" y="0"/>
                </a:moveTo>
                <a:lnTo>
                  <a:pt x="39624" y="19812"/>
                </a:lnTo>
                <a:lnTo>
                  <a:pt x="4572" y="68580"/>
                </a:lnTo>
                <a:lnTo>
                  <a:pt x="0" y="99059"/>
                </a:lnTo>
                <a:lnTo>
                  <a:pt x="4572" y="131063"/>
                </a:lnTo>
                <a:lnTo>
                  <a:pt x="18287" y="158495"/>
                </a:lnTo>
                <a:lnTo>
                  <a:pt x="39624" y="179831"/>
                </a:lnTo>
                <a:lnTo>
                  <a:pt x="67056" y="193547"/>
                </a:lnTo>
                <a:lnTo>
                  <a:pt x="99060" y="198119"/>
                </a:lnTo>
                <a:lnTo>
                  <a:pt x="129539" y="193547"/>
                </a:lnTo>
                <a:lnTo>
                  <a:pt x="156972" y="179831"/>
                </a:lnTo>
                <a:lnTo>
                  <a:pt x="178308" y="158495"/>
                </a:lnTo>
                <a:lnTo>
                  <a:pt x="193548" y="131063"/>
                </a:lnTo>
                <a:lnTo>
                  <a:pt x="198120" y="99059"/>
                </a:lnTo>
                <a:lnTo>
                  <a:pt x="196596" y="80771"/>
                </a:lnTo>
                <a:lnTo>
                  <a:pt x="181356" y="44195"/>
                </a:lnTo>
                <a:lnTo>
                  <a:pt x="153924" y="16763"/>
                </a:lnTo>
                <a:lnTo>
                  <a:pt x="118872" y="1524"/>
                </a:lnTo>
                <a:lnTo>
                  <a:pt x="990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4802027" y="2925104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99059"/>
                </a:moveTo>
                <a:lnTo>
                  <a:pt x="18287" y="41147"/>
                </a:lnTo>
                <a:lnTo>
                  <a:pt x="67055" y="4571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28955"/>
                </a:lnTo>
                <a:lnTo>
                  <a:pt x="190499" y="60959"/>
                </a:lnTo>
                <a:lnTo>
                  <a:pt x="198119" y="99059"/>
                </a:lnTo>
                <a:lnTo>
                  <a:pt x="193547" y="131063"/>
                </a:lnTo>
                <a:lnTo>
                  <a:pt x="178307" y="158495"/>
                </a:lnTo>
                <a:lnTo>
                  <a:pt x="156971" y="179831"/>
                </a:lnTo>
                <a:lnTo>
                  <a:pt x="129539" y="193547"/>
                </a:lnTo>
                <a:lnTo>
                  <a:pt x="99059" y="198119"/>
                </a:lnTo>
                <a:lnTo>
                  <a:pt x="67055" y="193547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5207411" y="2925105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99060" y="0"/>
                </a:moveTo>
                <a:lnTo>
                  <a:pt x="39624" y="19812"/>
                </a:lnTo>
                <a:lnTo>
                  <a:pt x="4572" y="68580"/>
                </a:lnTo>
                <a:lnTo>
                  <a:pt x="0" y="99059"/>
                </a:lnTo>
                <a:lnTo>
                  <a:pt x="4572" y="131063"/>
                </a:lnTo>
                <a:lnTo>
                  <a:pt x="18287" y="158495"/>
                </a:lnTo>
                <a:lnTo>
                  <a:pt x="39624" y="179831"/>
                </a:lnTo>
                <a:lnTo>
                  <a:pt x="67055" y="193547"/>
                </a:lnTo>
                <a:lnTo>
                  <a:pt x="99060" y="198119"/>
                </a:lnTo>
                <a:lnTo>
                  <a:pt x="131063" y="193547"/>
                </a:lnTo>
                <a:lnTo>
                  <a:pt x="156972" y="179831"/>
                </a:lnTo>
                <a:lnTo>
                  <a:pt x="179832" y="158495"/>
                </a:lnTo>
                <a:lnTo>
                  <a:pt x="193548" y="131063"/>
                </a:lnTo>
                <a:lnTo>
                  <a:pt x="198120" y="99059"/>
                </a:lnTo>
                <a:lnTo>
                  <a:pt x="196596" y="80771"/>
                </a:lnTo>
                <a:lnTo>
                  <a:pt x="181355" y="44195"/>
                </a:lnTo>
                <a:lnTo>
                  <a:pt x="153924" y="16763"/>
                </a:lnTo>
                <a:lnTo>
                  <a:pt x="118872" y="1524"/>
                </a:lnTo>
                <a:lnTo>
                  <a:pt x="990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5207411" y="2925104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99059"/>
                </a:moveTo>
                <a:lnTo>
                  <a:pt x="18287" y="41147"/>
                </a:lnTo>
                <a:lnTo>
                  <a:pt x="67055" y="4571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28955"/>
                </a:lnTo>
                <a:lnTo>
                  <a:pt x="190499" y="60959"/>
                </a:lnTo>
                <a:lnTo>
                  <a:pt x="198119" y="99059"/>
                </a:lnTo>
                <a:lnTo>
                  <a:pt x="193547" y="131063"/>
                </a:lnTo>
                <a:lnTo>
                  <a:pt x="179831" y="158495"/>
                </a:lnTo>
                <a:lnTo>
                  <a:pt x="156971" y="179831"/>
                </a:lnTo>
                <a:lnTo>
                  <a:pt x="131063" y="193547"/>
                </a:lnTo>
                <a:lnTo>
                  <a:pt x="99059" y="198119"/>
                </a:lnTo>
                <a:lnTo>
                  <a:pt x="67055" y="193547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5603651" y="2915960"/>
            <a:ext cx="216407" cy="21640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591715" y="1954317"/>
            <a:ext cx="216407" cy="2164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5006244" y="1963461"/>
            <a:ext cx="198120" cy="158750"/>
          </a:xfrm>
          <a:custGeom>
            <a:avLst/>
            <a:gdLst/>
            <a:ahLst/>
            <a:cxnLst/>
            <a:rect l="l" t="t" r="r" b="b"/>
            <a:pathLst>
              <a:path w="198120" h="158750">
                <a:moveTo>
                  <a:pt x="99059" y="0"/>
                </a:moveTo>
                <a:lnTo>
                  <a:pt x="39623" y="19812"/>
                </a:lnTo>
                <a:lnTo>
                  <a:pt x="4571" y="68580"/>
                </a:lnTo>
                <a:lnTo>
                  <a:pt x="0" y="99059"/>
                </a:lnTo>
                <a:lnTo>
                  <a:pt x="4571" y="131063"/>
                </a:lnTo>
                <a:lnTo>
                  <a:pt x="18287" y="158495"/>
                </a:lnTo>
                <a:lnTo>
                  <a:pt x="179831" y="158495"/>
                </a:lnTo>
                <a:lnTo>
                  <a:pt x="193547" y="131063"/>
                </a:lnTo>
                <a:lnTo>
                  <a:pt x="198119" y="99059"/>
                </a:lnTo>
                <a:lnTo>
                  <a:pt x="196595" y="80771"/>
                </a:lnTo>
                <a:lnTo>
                  <a:pt x="181355" y="44195"/>
                </a:lnTo>
                <a:lnTo>
                  <a:pt x="153923" y="16763"/>
                </a:lnTo>
                <a:lnTo>
                  <a:pt x="118871" y="1524"/>
                </a:lnTo>
                <a:lnTo>
                  <a:pt x="9905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5024532" y="2121957"/>
            <a:ext cx="161925" cy="21590"/>
          </a:xfrm>
          <a:custGeom>
            <a:avLst/>
            <a:gdLst/>
            <a:ahLst/>
            <a:cxnLst/>
            <a:rect l="l" t="t" r="r" b="b"/>
            <a:pathLst>
              <a:path w="161925" h="21589">
                <a:moveTo>
                  <a:pt x="161543" y="0"/>
                </a:moveTo>
                <a:lnTo>
                  <a:pt x="0" y="0"/>
                </a:lnTo>
                <a:lnTo>
                  <a:pt x="21335" y="21336"/>
                </a:lnTo>
                <a:lnTo>
                  <a:pt x="138683" y="21336"/>
                </a:lnTo>
                <a:lnTo>
                  <a:pt x="16154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5045867" y="2143293"/>
            <a:ext cx="117475" cy="13970"/>
          </a:xfrm>
          <a:custGeom>
            <a:avLst/>
            <a:gdLst/>
            <a:ahLst/>
            <a:cxnLst/>
            <a:rect l="l" t="t" r="r" b="b"/>
            <a:pathLst>
              <a:path w="117475" h="13969">
                <a:moveTo>
                  <a:pt x="117348" y="0"/>
                </a:moveTo>
                <a:lnTo>
                  <a:pt x="0" y="0"/>
                </a:lnTo>
                <a:lnTo>
                  <a:pt x="27432" y="13715"/>
                </a:lnTo>
                <a:lnTo>
                  <a:pt x="91440" y="13715"/>
                </a:lnTo>
                <a:lnTo>
                  <a:pt x="11734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5073300" y="2157009"/>
            <a:ext cx="64135" cy="5080"/>
          </a:xfrm>
          <a:custGeom>
            <a:avLst/>
            <a:gdLst/>
            <a:ahLst/>
            <a:cxnLst/>
            <a:rect l="l" t="t" r="r" b="b"/>
            <a:pathLst>
              <a:path w="64135" h="5080">
                <a:moveTo>
                  <a:pt x="64008" y="0"/>
                </a:moveTo>
                <a:lnTo>
                  <a:pt x="0" y="0"/>
                </a:lnTo>
                <a:lnTo>
                  <a:pt x="32003" y="4572"/>
                </a:lnTo>
                <a:lnTo>
                  <a:pt x="640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5006244" y="1963461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99059"/>
                </a:moveTo>
                <a:lnTo>
                  <a:pt x="18287" y="41147"/>
                </a:lnTo>
                <a:lnTo>
                  <a:pt x="67055" y="4571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28955"/>
                </a:lnTo>
                <a:lnTo>
                  <a:pt x="190499" y="60959"/>
                </a:lnTo>
                <a:lnTo>
                  <a:pt x="198119" y="99059"/>
                </a:lnTo>
                <a:lnTo>
                  <a:pt x="193547" y="131063"/>
                </a:lnTo>
                <a:lnTo>
                  <a:pt x="179831" y="158495"/>
                </a:lnTo>
                <a:lnTo>
                  <a:pt x="156971" y="179831"/>
                </a:lnTo>
                <a:lnTo>
                  <a:pt x="131063" y="193547"/>
                </a:lnTo>
                <a:lnTo>
                  <a:pt x="99059" y="198119"/>
                </a:lnTo>
                <a:lnTo>
                  <a:pt x="67055" y="193547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5402483" y="1954317"/>
            <a:ext cx="216407" cy="21640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5006244" y="1500165"/>
            <a:ext cx="198120" cy="200025"/>
          </a:xfrm>
          <a:custGeom>
            <a:avLst/>
            <a:gdLst/>
            <a:ahLst/>
            <a:cxnLst/>
            <a:rect l="l" t="t" r="r" b="b"/>
            <a:pathLst>
              <a:path w="198120" h="200025">
                <a:moveTo>
                  <a:pt x="0" y="100583"/>
                </a:moveTo>
                <a:lnTo>
                  <a:pt x="18287" y="41147"/>
                </a:lnTo>
                <a:lnTo>
                  <a:pt x="67055" y="6095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30479"/>
                </a:lnTo>
                <a:lnTo>
                  <a:pt x="190499" y="62483"/>
                </a:lnTo>
                <a:lnTo>
                  <a:pt x="198119" y="100583"/>
                </a:lnTo>
                <a:lnTo>
                  <a:pt x="193547" y="131063"/>
                </a:lnTo>
                <a:lnTo>
                  <a:pt x="179831" y="158495"/>
                </a:lnTo>
                <a:lnTo>
                  <a:pt x="156971" y="179831"/>
                </a:lnTo>
                <a:lnTo>
                  <a:pt x="131063" y="195071"/>
                </a:lnTo>
                <a:lnTo>
                  <a:pt x="99059" y="199643"/>
                </a:lnTo>
                <a:lnTo>
                  <a:pt x="67055" y="195071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100583"/>
                </a:lnTo>
                <a:close/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5042820" y="2006133"/>
            <a:ext cx="99060" cy="121920"/>
          </a:xfrm>
          <a:custGeom>
            <a:avLst/>
            <a:gdLst/>
            <a:ahLst/>
            <a:cxnLst/>
            <a:rect l="l" t="t" r="r" b="b"/>
            <a:pathLst>
              <a:path w="99060" h="121919">
                <a:moveTo>
                  <a:pt x="18287" y="0"/>
                </a:moveTo>
                <a:lnTo>
                  <a:pt x="0" y="18287"/>
                </a:lnTo>
                <a:lnTo>
                  <a:pt x="41147" y="60960"/>
                </a:lnTo>
                <a:lnTo>
                  <a:pt x="0" y="102108"/>
                </a:lnTo>
                <a:lnTo>
                  <a:pt x="18287" y="121919"/>
                </a:lnTo>
                <a:lnTo>
                  <a:pt x="60959" y="79248"/>
                </a:lnTo>
                <a:lnTo>
                  <a:pt x="99059" y="79248"/>
                </a:lnTo>
                <a:lnTo>
                  <a:pt x="79247" y="60960"/>
                </a:lnTo>
                <a:lnTo>
                  <a:pt x="99059" y="41148"/>
                </a:lnTo>
                <a:lnTo>
                  <a:pt x="60959" y="41148"/>
                </a:lnTo>
                <a:lnTo>
                  <a:pt x="1828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5103779" y="2006133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2672" y="0"/>
                </a:moveTo>
                <a:lnTo>
                  <a:pt x="0" y="41148"/>
                </a:lnTo>
                <a:lnTo>
                  <a:pt x="38100" y="41148"/>
                </a:lnTo>
                <a:lnTo>
                  <a:pt x="60960" y="18287"/>
                </a:lnTo>
                <a:lnTo>
                  <a:pt x="42672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5103779" y="2085381"/>
            <a:ext cx="60960" cy="43180"/>
          </a:xfrm>
          <a:custGeom>
            <a:avLst/>
            <a:gdLst/>
            <a:ahLst/>
            <a:cxnLst/>
            <a:rect l="l" t="t" r="r" b="b"/>
            <a:pathLst>
              <a:path w="60960" h="43180">
                <a:moveTo>
                  <a:pt x="38100" y="0"/>
                </a:moveTo>
                <a:lnTo>
                  <a:pt x="0" y="0"/>
                </a:lnTo>
                <a:lnTo>
                  <a:pt x="42672" y="42671"/>
                </a:lnTo>
                <a:lnTo>
                  <a:pt x="60960" y="22860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430171" y="2449617"/>
            <a:ext cx="100965" cy="121920"/>
          </a:xfrm>
          <a:custGeom>
            <a:avLst/>
            <a:gdLst/>
            <a:ahLst/>
            <a:cxnLst/>
            <a:rect l="l" t="t" r="r" b="b"/>
            <a:pathLst>
              <a:path w="100964" h="121919">
                <a:moveTo>
                  <a:pt x="19812" y="0"/>
                </a:moveTo>
                <a:lnTo>
                  <a:pt x="0" y="18287"/>
                </a:lnTo>
                <a:lnTo>
                  <a:pt x="42672" y="60959"/>
                </a:lnTo>
                <a:lnTo>
                  <a:pt x="0" y="103631"/>
                </a:lnTo>
                <a:lnTo>
                  <a:pt x="19812" y="121919"/>
                </a:lnTo>
                <a:lnTo>
                  <a:pt x="62483" y="80771"/>
                </a:lnTo>
                <a:lnTo>
                  <a:pt x="100583" y="80771"/>
                </a:lnTo>
                <a:lnTo>
                  <a:pt x="80772" y="60959"/>
                </a:lnTo>
                <a:lnTo>
                  <a:pt x="100583" y="41147"/>
                </a:lnTo>
                <a:lnTo>
                  <a:pt x="62483" y="41147"/>
                </a:lnTo>
                <a:lnTo>
                  <a:pt x="19812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492656" y="2449617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1148" y="0"/>
                </a:moveTo>
                <a:lnTo>
                  <a:pt x="0" y="41147"/>
                </a:lnTo>
                <a:lnTo>
                  <a:pt x="38100" y="41147"/>
                </a:lnTo>
                <a:lnTo>
                  <a:pt x="60960" y="18287"/>
                </a:lnTo>
                <a:lnTo>
                  <a:pt x="41148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492656" y="2530389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38100" y="0"/>
                </a:moveTo>
                <a:lnTo>
                  <a:pt x="0" y="0"/>
                </a:lnTo>
                <a:lnTo>
                  <a:pt x="41148" y="41148"/>
                </a:lnTo>
                <a:lnTo>
                  <a:pt x="60960" y="22860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5245511" y="2449617"/>
            <a:ext cx="99060" cy="121920"/>
          </a:xfrm>
          <a:custGeom>
            <a:avLst/>
            <a:gdLst/>
            <a:ahLst/>
            <a:cxnLst/>
            <a:rect l="l" t="t" r="r" b="b"/>
            <a:pathLst>
              <a:path w="99060" h="121919">
                <a:moveTo>
                  <a:pt x="18287" y="0"/>
                </a:moveTo>
                <a:lnTo>
                  <a:pt x="0" y="18287"/>
                </a:lnTo>
                <a:lnTo>
                  <a:pt x="41148" y="60959"/>
                </a:lnTo>
                <a:lnTo>
                  <a:pt x="0" y="103631"/>
                </a:lnTo>
                <a:lnTo>
                  <a:pt x="18287" y="121919"/>
                </a:lnTo>
                <a:lnTo>
                  <a:pt x="60960" y="80771"/>
                </a:lnTo>
                <a:lnTo>
                  <a:pt x="99060" y="80771"/>
                </a:lnTo>
                <a:lnTo>
                  <a:pt x="80772" y="60959"/>
                </a:lnTo>
                <a:lnTo>
                  <a:pt x="99060" y="41147"/>
                </a:lnTo>
                <a:lnTo>
                  <a:pt x="60960" y="41147"/>
                </a:lnTo>
                <a:lnTo>
                  <a:pt x="1828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5306471" y="2449617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2672" y="0"/>
                </a:moveTo>
                <a:lnTo>
                  <a:pt x="0" y="41147"/>
                </a:lnTo>
                <a:lnTo>
                  <a:pt x="38100" y="41147"/>
                </a:lnTo>
                <a:lnTo>
                  <a:pt x="60960" y="18287"/>
                </a:lnTo>
                <a:lnTo>
                  <a:pt x="42672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5306471" y="2530389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38100" y="0"/>
                </a:moveTo>
                <a:lnTo>
                  <a:pt x="0" y="0"/>
                </a:lnTo>
                <a:lnTo>
                  <a:pt x="42672" y="41148"/>
                </a:lnTo>
                <a:lnTo>
                  <a:pt x="60960" y="22860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5245511" y="2967777"/>
            <a:ext cx="99060" cy="121920"/>
          </a:xfrm>
          <a:custGeom>
            <a:avLst/>
            <a:gdLst/>
            <a:ahLst/>
            <a:cxnLst/>
            <a:rect l="l" t="t" r="r" b="b"/>
            <a:pathLst>
              <a:path w="99060" h="121919">
                <a:moveTo>
                  <a:pt x="18287" y="0"/>
                </a:moveTo>
                <a:lnTo>
                  <a:pt x="0" y="18287"/>
                </a:lnTo>
                <a:lnTo>
                  <a:pt x="41148" y="60960"/>
                </a:lnTo>
                <a:lnTo>
                  <a:pt x="0" y="103631"/>
                </a:lnTo>
                <a:lnTo>
                  <a:pt x="18287" y="121920"/>
                </a:lnTo>
                <a:lnTo>
                  <a:pt x="60960" y="80772"/>
                </a:lnTo>
                <a:lnTo>
                  <a:pt x="99060" y="80772"/>
                </a:lnTo>
                <a:lnTo>
                  <a:pt x="80772" y="60960"/>
                </a:lnTo>
                <a:lnTo>
                  <a:pt x="99060" y="41148"/>
                </a:lnTo>
                <a:lnTo>
                  <a:pt x="60960" y="41148"/>
                </a:lnTo>
                <a:lnTo>
                  <a:pt x="1828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5306471" y="2967777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2672" y="0"/>
                </a:moveTo>
                <a:lnTo>
                  <a:pt x="0" y="41148"/>
                </a:lnTo>
                <a:lnTo>
                  <a:pt x="38100" y="41148"/>
                </a:lnTo>
                <a:lnTo>
                  <a:pt x="60960" y="18287"/>
                </a:lnTo>
                <a:lnTo>
                  <a:pt x="42672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5306471" y="3048549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38100" y="0"/>
                </a:moveTo>
                <a:lnTo>
                  <a:pt x="0" y="0"/>
                </a:lnTo>
                <a:lnTo>
                  <a:pt x="42672" y="41148"/>
                </a:lnTo>
                <a:lnTo>
                  <a:pt x="60960" y="22859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4840128" y="2967777"/>
            <a:ext cx="99060" cy="121920"/>
          </a:xfrm>
          <a:custGeom>
            <a:avLst/>
            <a:gdLst/>
            <a:ahLst/>
            <a:cxnLst/>
            <a:rect l="l" t="t" r="r" b="b"/>
            <a:pathLst>
              <a:path w="99060" h="121919">
                <a:moveTo>
                  <a:pt x="18287" y="0"/>
                </a:moveTo>
                <a:lnTo>
                  <a:pt x="0" y="18287"/>
                </a:lnTo>
                <a:lnTo>
                  <a:pt x="41148" y="60960"/>
                </a:lnTo>
                <a:lnTo>
                  <a:pt x="0" y="103631"/>
                </a:lnTo>
                <a:lnTo>
                  <a:pt x="18287" y="121920"/>
                </a:lnTo>
                <a:lnTo>
                  <a:pt x="60960" y="80772"/>
                </a:lnTo>
                <a:lnTo>
                  <a:pt x="99060" y="80772"/>
                </a:lnTo>
                <a:lnTo>
                  <a:pt x="79248" y="60960"/>
                </a:lnTo>
                <a:lnTo>
                  <a:pt x="99060" y="41148"/>
                </a:lnTo>
                <a:lnTo>
                  <a:pt x="60960" y="41148"/>
                </a:lnTo>
                <a:lnTo>
                  <a:pt x="1828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901088" y="2967777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1148" y="0"/>
                </a:moveTo>
                <a:lnTo>
                  <a:pt x="0" y="41148"/>
                </a:lnTo>
                <a:lnTo>
                  <a:pt x="38100" y="41148"/>
                </a:lnTo>
                <a:lnTo>
                  <a:pt x="60960" y="18287"/>
                </a:lnTo>
                <a:lnTo>
                  <a:pt x="41148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4901088" y="3048549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38100" y="0"/>
                </a:moveTo>
                <a:lnTo>
                  <a:pt x="0" y="0"/>
                </a:lnTo>
                <a:lnTo>
                  <a:pt x="41148" y="41148"/>
                </a:lnTo>
                <a:lnTo>
                  <a:pt x="60960" y="22859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 txBox="1"/>
          <p:nvPr/>
        </p:nvSpPr>
        <p:spPr>
          <a:xfrm>
            <a:off x="580084" y="690417"/>
            <a:ext cx="4787900" cy="118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止过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合呢？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2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释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失活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得每次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新梯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时参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计算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了，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型容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止过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ct val="100000"/>
              </a:lnSpc>
              <a:spcBef>
                <a:spcPts val="77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释2：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8" name="object 16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0423" y="132933"/>
            <a:ext cx="237871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随机</a:t>
            </a:r>
            <a:r>
              <a:rPr spc="-10" dirty="0"/>
              <a:t>失</a:t>
            </a:r>
            <a:r>
              <a:rPr spc="5" dirty="0"/>
              <a:t>活</a:t>
            </a:r>
            <a:r>
              <a:rPr spc="-5" dirty="0"/>
              <a:t>（Dropout）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2570891" y="2675540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51079" y="2619153"/>
            <a:ext cx="41275" cy="56515"/>
          </a:xfrm>
          <a:custGeom>
            <a:avLst/>
            <a:gdLst/>
            <a:ahLst/>
            <a:cxnLst/>
            <a:rect l="l" t="t" r="r" b="b"/>
            <a:pathLst>
              <a:path w="41275" h="56514">
                <a:moveTo>
                  <a:pt x="19812" y="0"/>
                </a:moveTo>
                <a:lnTo>
                  <a:pt x="0" y="56388"/>
                </a:lnTo>
                <a:lnTo>
                  <a:pt x="41148" y="56388"/>
                </a:lnTo>
                <a:lnTo>
                  <a:pt x="198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51079" y="2619153"/>
            <a:ext cx="41275" cy="56515"/>
          </a:xfrm>
          <a:custGeom>
            <a:avLst/>
            <a:gdLst/>
            <a:ahLst/>
            <a:cxnLst/>
            <a:rect l="l" t="t" r="r" b="b"/>
            <a:pathLst>
              <a:path w="41275" h="56514">
                <a:moveTo>
                  <a:pt x="41147" y="56387"/>
                </a:moveTo>
                <a:lnTo>
                  <a:pt x="19811" y="0"/>
                </a:lnTo>
                <a:lnTo>
                  <a:pt x="0" y="56387"/>
                </a:lnTo>
                <a:lnTo>
                  <a:pt x="41147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71475" y="2600865"/>
            <a:ext cx="977265" cy="417830"/>
          </a:xfrm>
          <a:custGeom>
            <a:avLst/>
            <a:gdLst/>
            <a:ahLst/>
            <a:cxnLst/>
            <a:rect l="l" t="t" r="r" b="b"/>
            <a:pathLst>
              <a:path w="977264" h="417830">
                <a:moveTo>
                  <a:pt x="0" y="417575"/>
                </a:moveTo>
                <a:lnTo>
                  <a:pt x="9768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39215" y="2578005"/>
            <a:ext cx="62865" cy="41275"/>
          </a:xfrm>
          <a:custGeom>
            <a:avLst/>
            <a:gdLst/>
            <a:ahLst/>
            <a:cxnLst/>
            <a:rect l="l" t="t" r="r" b="b"/>
            <a:pathLst>
              <a:path w="62864" h="41275">
                <a:moveTo>
                  <a:pt x="62484" y="0"/>
                </a:moveTo>
                <a:lnTo>
                  <a:pt x="0" y="3048"/>
                </a:lnTo>
                <a:lnTo>
                  <a:pt x="16763" y="41148"/>
                </a:lnTo>
                <a:lnTo>
                  <a:pt x="624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39215" y="2578005"/>
            <a:ext cx="62865" cy="41275"/>
          </a:xfrm>
          <a:custGeom>
            <a:avLst/>
            <a:gdLst/>
            <a:ahLst/>
            <a:cxnLst/>
            <a:rect l="l" t="t" r="r" b="b"/>
            <a:pathLst>
              <a:path w="62864" h="41275">
                <a:moveTo>
                  <a:pt x="16763" y="41147"/>
                </a:moveTo>
                <a:lnTo>
                  <a:pt x="62483" y="0"/>
                </a:lnTo>
                <a:lnTo>
                  <a:pt x="0" y="3047"/>
                </a:lnTo>
                <a:lnTo>
                  <a:pt x="16763" y="4114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12623" y="2600865"/>
            <a:ext cx="977265" cy="417830"/>
          </a:xfrm>
          <a:custGeom>
            <a:avLst/>
            <a:gdLst/>
            <a:ahLst/>
            <a:cxnLst/>
            <a:rect l="l" t="t" r="r" b="b"/>
            <a:pathLst>
              <a:path w="977264" h="417830">
                <a:moveTo>
                  <a:pt x="976883" y="417575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59283" y="2578005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0" y="0"/>
                </a:moveTo>
                <a:lnTo>
                  <a:pt x="44195" y="41148"/>
                </a:lnTo>
                <a:lnTo>
                  <a:pt x="60960" y="3048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59283" y="2578005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60959" y="3047"/>
                </a:moveTo>
                <a:lnTo>
                  <a:pt x="0" y="0"/>
                </a:lnTo>
                <a:lnTo>
                  <a:pt x="44195" y="41147"/>
                </a:lnTo>
                <a:lnTo>
                  <a:pt x="60959" y="304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42519" y="2608484"/>
            <a:ext cx="603885" cy="340360"/>
          </a:xfrm>
          <a:custGeom>
            <a:avLst/>
            <a:gdLst/>
            <a:ahLst/>
            <a:cxnLst/>
            <a:rect l="l" t="t" r="r" b="b"/>
            <a:pathLst>
              <a:path w="603885" h="340360">
                <a:moveTo>
                  <a:pt x="0" y="339851"/>
                </a:moveTo>
                <a:lnTo>
                  <a:pt x="60350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35356" y="2579529"/>
            <a:ext cx="60960" cy="47625"/>
          </a:xfrm>
          <a:custGeom>
            <a:avLst/>
            <a:gdLst/>
            <a:ahLst/>
            <a:cxnLst/>
            <a:rect l="l" t="t" r="r" b="b"/>
            <a:pathLst>
              <a:path w="60960" h="47625">
                <a:moveTo>
                  <a:pt x="60960" y="0"/>
                </a:moveTo>
                <a:lnTo>
                  <a:pt x="0" y="10668"/>
                </a:lnTo>
                <a:lnTo>
                  <a:pt x="21336" y="47244"/>
                </a:lnTo>
                <a:lnTo>
                  <a:pt x="6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35356" y="2579528"/>
            <a:ext cx="60960" cy="47625"/>
          </a:xfrm>
          <a:custGeom>
            <a:avLst/>
            <a:gdLst/>
            <a:ahLst/>
            <a:cxnLst/>
            <a:rect l="l" t="t" r="r" b="b"/>
            <a:pathLst>
              <a:path w="60960" h="47625">
                <a:moveTo>
                  <a:pt x="21335" y="47243"/>
                </a:moveTo>
                <a:lnTo>
                  <a:pt x="60959" y="0"/>
                </a:lnTo>
                <a:lnTo>
                  <a:pt x="0" y="10667"/>
                </a:lnTo>
                <a:lnTo>
                  <a:pt x="21335" y="47243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42519" y="2632868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80" h="315594">
                <a:moveTo>
                  <a:pt x="0" y="315467"/>
                </a:moveTo>
                <a:lnTo>
                  <a:pt x="22097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45211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0"/>
                </a:moveTo>
                <a:lnTo>
                  <a:pt x="0" y="35051"/>
                </a:lnTo>
                <a:lnTo>
                  <a:pt x="35051" y="59435"/>
                </a:lnTo>
                <a:lnTo>
                  <a:pt x="502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45211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35051" y="59435"/>
                </a:moveTo>
                <a:lnTo>
                  <a:pt x="50291" y="0"/>
                </a:lnTo>
                <a:lnTo>
                  <a:pt x="0" y="35051"/>
                </a:lnTo>
                <a:lnTo>
                  <a:pt x="35051" y="594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77800" y="2675540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56464" y="2619153"/>
            <a:ext cx="41275" cy="56515"/>
          </a:xfrm>
          <a:custGeom>
            <a:avLst/>
            <a:gdLst/>
            <a:ahLst/>
            <a:cxnLst/>
            <a:rect l="l" t="t" r="r" b="b"/>
            <a:pathLst>
              <a:path w="41275" h="56514">
                <a:moveTo>
                  <a:pt x="21336" y="0"/>
                </a:moveTo>
                <a:lnTo>
                  <a:pt x="0" y="56388"/>
                </a:lnTo>
                <a:lnTo>
                  <a:pt x="41148" y="56388"/>
                </a:lnTo>
                <a:lnTo>
                  <a:pt x="213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56463" y="2619153"/>
            <a:ext cx="41275" cy="56515"/>
          </a:xfrm>
          <a:custGeom>
            <a:avLst/>
            <a:gdLst/>
            <a:ahLst/>
            <a:cxnLst/>
            <a:rect l="l" t="t" r="r" b="b"/>
            <a:pathLst>
              <a:path w="41275" h="56514">
                <a:moveTo>
                  <a:pt x="41147" y="56387"/>
                </a:moveTo>
                <a:lnTo>
                  <a:pt x="21335" y="0"/>
                </a:lnTo>
                <a:lnTo>
                  <a:pt x="0" y="56387"/>
                </a:lnTo>
                <a:lnTo>
                  <a:pt x="41147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383183" y="2675540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361847" y="2619153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21336" y="0"/>
                </a:moveTo>
                <a:lnTo>
                  <a:pt x="0" y="56388"/>
                </a:lnTo>
                <a:lnTo>
                  <a:pt x="42672" y="56388"/>
                </a:lnTo>
                <a:lnTo>
                  <a:pt x="213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361847" y="2619153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42671" y="56387"/>
                </a:moveTo>
                <a:lnTo>
                  <a:pt x="21335" y="0"/>
                </a:lnTo>
                <a:lnTo>
                  <a:pt x="0" y="56387"/>
                </a:lnTo>
                <a:lnTo>
                  <a:pt x="42671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788567" y="2675540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767232" y="2619153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21335" y="0"/>
                </a:moveTo>
                <a:lnTo>
                  <a:pt x="0" y="56388"/>
                </a:lnTo>
                <a:lnTo>
                  <a:pt x="42671" y="56388"/>
                </a:lnTo>
                <a:lnTo>
                  <a:pt x="213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67232" y="2619153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42671" y="56387"/>
                </a:moveTo>
                <a:lnTo>
                  <a:pt x="21335" y="0"/>
                </a:lnTo>
                <a:lnTo>
                  <a:pt x="0" y="56387"/>
                </a:lnTo>
                <a:lnTo>
                  <a:pt x="42671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97483" y="2632868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220979" y="3154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463956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0" y="0"/>
                </a:moveTo>
                <a:lnTo>
                  <a:pt x="15240" y="59435"/>
                </a:lnTo>
                <a:lnTo>
                  <a:pt x="50292" y="35051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463956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35051"/>
                </a:moveTo>
                <a:lnTo>
                  <a:pt x="0" y="0"/>
                </a:lnTo>
                <a:lnTo>
                  <a:pt x="15239" y="59435"/>
                </a:lnTo>
                <a:lnTo>
                  <a:pt x="50291" y="3505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13435" y="2608484"/>
            <a:ext cx="605155" cy="340360"/>
          </a:xfrm>
          <a:custGeom>
            <a:avLst/>
            <a:gdLst/>
            <a:ahLst/>
            <a:cxnLst/>
            <a:rect l="l" t="t" r="r" b="b"/>
            <a:pathLst>
              <a:path w="605154" h="340360">
                <a:moveTo>
                  <a:pt x="605027" y="339851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63144" y="2579529"/>
            <a:ext cx="60960" cy="47625"/>
          </a:xfrm>
          <a:custGeom>
            <a:avLst/>
            <a:gdLst/>
            <a:ahLst/>
            <a:cxnLst/>
            <a:rect l="l" t="t" r="r" b="b"/>
            <a:pathLst>
              <a:path w="60960" h="47625">
                <a:moveTo>
                  <a:pt x="0" y="0"/>
                </a:moveTo>
                <a:lnTo>
                  <a:pt x="41147" y="47244"/>
                </a:lnTo>
                <a:lnTo>
                  <a:pt x="60959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63143" y="2579528"/>
            <a:ext cx="60960" cy="47625"/>
          </a:xfrm>
          <a:custGeom>
            <a:avLst/>
            <a:gdLst/>
            <a:ahLst/>
            <a:cxnLst/>
            <a:rect l="l" t="t" r="r" b="b"/>
            <a:pathLst>
              <a:path w="60960" h="47625">
                <a:moveTo>
                  <a:pt x="60959" y="10667"/>
                </a:moveTo>
                <a:lnTo>
                  <a:pt x="0" y="0"/>
                </a:lnTo>
                <a:lnTo>
                  <a:pt x="41147" y="47243"/>
                </a:lnTo>
                <a:lnTo>
                  <a:pt x="60959" y="106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453288" y="2632868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0" y="315467"/>
                </a:moveTo>
                <a:lnTo>
                  <a:pt x="22097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57503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2" y="0"/>
                </a:moveTo>
                <a:lnTo>
                  <a:pt x="0" y="35051"/>
                </a:lnTo>
                <a:lnTo>
                  <a:pt x="33528" y="59435"/>
                </a:lnTo>
                <a:lnTo>
                  <a:pt x="5029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57503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33527" y="59435"/>
                </a:moveTo>
                <a:lnTo>
                  <a:pt x="50291" y="0"/>
                </a:lnTo>
                <a:lnTo>
                  <a:pt x="0" y="35051"/>
                </a:lnTo>
                <a:lnTo>
                  <a:pt x="33527" y="594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92100" y="2632868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220979" y="3154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58572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0" y="0"/>
                </a:moveTo>
                <a:lnTo>
                  <a:pt x="15239" y="59435"/>
                </a:lnTo>
                <a:lnTo>
                  <a:pt x="50291" y="35051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58572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35051"/>
                </a:moveTo>
                <a:lnTo>
                  <a:pt x="0" y="0"/>
                </a:lnTo>
                <a:lnTo>
                  <a:pt x="15239" y="59435"/>
                </a:lnTo>
                <a:lnTo>
                  <a:pt x="50291" y="3505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705003" y="2614581"/>
            <a:ext cx="579120" cy="403860"/>
          </a:xfrm>
          <a:custGeom>
            <a:avLst/>
            <a:gdLst/>
            <a:ahLst/>
            <a:cxnLst/>
            <a:rect l="l" t="t" r="r" b="b"/>
            <a:pathLst>
              <a:path w="579120" h="403860">
                <a:moveTo>
                  <a:pt x="579119" y="40385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57760" y="2581053"/>
            <a:ext cx="58419" cy="50800"/>
          </a:xfrm>
          <a:custGeom>
            <a:avLst/>
            <a:gdLst/>
            <a:ahLst/>
            <a:cxnLst/>
            <a:rect l="l" t="t" r="r" b="b"/>
            <a:pathLst>
              <a:path w="58419" h="50800">
                <a:moveTo>
                  <a:pt x="0" y="0"/>
                </a:moveTo>
                <a:lnTo>
                  <a:pt x="35051" y="50292"/>
                </a:lnTo>
                <a:lnTo>
                  <a:pt x="57912" y="1676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57759" y="2581053"/>
            <a:ext cx="58419" cy="50800"/>
          </a:xfrm>
          <a:custGeom>
            <a:avLst/>
            <a:gdLst/>
            <a:ahLst/>
            <a:cxnLst/>
            <a:rect l="l" t="t" r="r" b="b"/>
            <a:pathLst>
              <a:path w="58419" h="50800">
                <a:moveTo>
                  <a:pt x="57911" y="16763"/>
                </a:moveTo>
                <a:lnTo>
                  <a:pt x="0" y="0"/>
                </a:lnTo>
                <a:lnTo>
                  <a:pt x="35051" y="50291"/>
                </a:lnTo>
                <a:lnTo>
                  <a:pt x="57911" y="16763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685191" y="2632868"/>
            <a:ext cx="222885" cy="315595"/>
          </a:xfrm>
          <a:custGeom>
            <a:avLst/>
            <a:gdLst/>
            <a:ahLst/>
            <a:cxnLst/>
            <a:rect l="l" t="t" r="r" b="b"/>
            <a:pathLst>
              <a:path w="222885" h="315594">
                <a:moveTo>
                  <a:pt x="222503" y="3154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653188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0" y="0"/>
                </a:moveTo>
                <a:lnTo>
                  <a:pt x="15239" y="59435"/>
                </a:lnTo>
                <a:lnTo>
                  <a:pt x="50291" y="35051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653187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35051"/>
                </a:moveTo>
                <a:lnTo>
                  <a:pt x="0" y="0"/>
                </a:lnTo>
                <a:lnTo>
                  <a:pt x="15239" y="59435"/>
                </a:lnTo>
                <a:lnTo>
                  <a:pt x="50291" y="3505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47903" y="2632868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0" y="315467"/>
                </a:moveTo>
                <a:lnTo>
                  <a:pt x="22097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252120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0"/>
                </a:moveTo>
                <a:lnTo>
                  <a:pt x="0" y="35051"/>
                </a:lnTo>
                <a:lnTo>
                  <a:pt x="33527" y="59435"/>
                </a:lnTo>
                <a:lnTo>
                  <a:pt x="502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52120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33527" y="59435"/>
                </a:moveTo>
                <a:lnTo>
                  <a:pt x="50291" y="0"/>
                </a:lnTo>
                <a:lnTo>
                  <a:pt x="0" y="35051"/>
                </a:lnTo>
                <a:lnTo>
                  <a:pt x="33527" y="594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076859" y="2614581"/>
            <a:ext cx="579120" cy="403860"/>
          </a:xfrm>
          <a:custGeom>
            <a:avLst/>
            <a:gdLst/>
            <a:ahLst/>
            <a:cxnLst/>
            <a:rect l="l" t="t" r="r" b="b"/>
            <a:pathLst>
              <a:path w="579120" h="403860">
                <a:moveTo>
                  <a:pt x="0" y="403859"/>
                </a:moveTo>
                <a:lnTo>
                  <a:pt x="57911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43788" y="2581053"/>
            <a:ext cx="59690" cy="50800"/>
          </a:xfrm>
          <a:custGeom>
            <a:avLst/>
            <a:gdLst/>
            <a:ahLst/>
            <a:cxnLst/>
            <a:rect l="l" t="t" r="r" b="b"/>
            <a:pathLst>
              <a:path w="59689" h="50800">
                <a:moveTo>
                  <a:pt x="59436" y="0"/>
                </a:moveTo>
                <a:lnTo>
                  <a:pt x="0" y="16764"/>
                </a:lnTo>
                <a:lnTo>
                  <a:pt x="24384" y="50292"/>
                </a:lnTo>
                <a:lnTo>
                  <a:pt x="594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43788" y="2581053"/>
            <a:ext cx="59690" cy="50800"/>
          </a:xfrm>
          <a:custGeom>
            <a:avLst/>
            <a:gdLst/>
            <a:ahLst/>
            <a:cxnLst/>
            <a:rect l="l" t="t" r="r" b="b"/>
            <a:pathLst>
              <a:path w="59689" h="50800">
                <a:moveTo>
                  <a:pt x="24383" y="50291"/>
                </a:moveTo>
                <a:lnTo>
                  <a:pt x="59435" y="0"/>
                </a:lnTo>
                <a:lnTo>
                  <a:pt x="0" y="16763"/>
                </a:lnTo>
                <a:lnTo>
                  <a:pt x="24383" y="5029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595020" y="2166525"/>
            <a:ext cx="198119" cy="23926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316127" y="2169572"/>
            <a:ext cx="402590" cy="260985"/>
          </a:xfrm>
          <a:custGeom>
            <a:avLst/>
            <a:gdLst/>
            <a:ahLst/>
            <a:cxnLst/>
            <a:rect l="l" t="t" r="r" b="b"/>
            <a:pathLst>
              <a:path w="402589" h="260985">
                <a:moveTo>
                  <a:pt x="402335" y="260603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267359" y="2137569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0" y="0"/>
                </a:moveTo>
                <a:lnTo>
                  <a:pt x="36575" y="48767"/>
                </a:lnTo>
                <a:lnTo>
                  <a:pt x="59436" y="1371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267359" y="2137569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59435" y="13715"/>
                </a:moveTo>
                <a:lnTo>
                  <a:pt x="0" y="0"/>
                </a:lnTo>
                <a:lnTo>
                  <a:pt x="36575" y="48767"/>
                </a:lnTo>
                <a:lnTo>
                  <a:pt x="59435" y="1371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18363" y="2152809"/>
            <a:ext cx="800100" cy="277495"/>
          </a:xfrm>
          <a:custGeom>
            <a:avLst/>
            <a:gdLst/>
            <a:ahLst/>
            <a:cxnLst/>
            <a:rect l="l" t="t" r="r" b="b"/>
            <a:pathLst>
              <a:path w="800100" h="277494">
                <a:moveTo>
                  <a:pt x="800099" y="2773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863500" y="2132997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60" h="40005">
                <a:moveTo>
                  <a:pt x="60960" y="0"/>
                </a:moveTo>
                <a:lnTo>
                  <a:pt x="0" y="0"/>
                </a:lnTo>
                <a:lnTo>
                  <a:pt x="47244" y="39624"/>
                </a:lnTo>
                <a:lnTo>
                  <a:pt x="6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863500" y="2132997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60" h="40005">
                <a:moveTo>
                  <a:pt x="60959" y="0"/>
                </a:moveTo>
                <a:lnTo>
                  <a:pt x="0" y="0"/>
                </a:lnTo>
                <a:lnTo>
                  <a:pt x="47243" y="39623"/>
                </a:lnTo>
                <a:lnTo>
                  <a:pt x="60959" y="0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89635" y="2166525"/>
            <a:ext cx="198119" cy="2392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910743" y="2169572"/>
            <a:ext cx="402590" cy="260985"/>
          </a:xfrm>
          <a:custGeom>
            <a:avLst/>
            <a:gdLst/>
            <a:ahLst/>
            <a:cxnLst/>
            <a:rect l="l" t="t" r="r" b="b"/>
            <a:pathLst>
              <a:path w="402589" h="260985">
                <a:moveTo>
                  <a:pt x="402335" y="260603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861976" y="2137569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0" y="0"/>
                </a:moveTo>
                <a:lnTo>
                  <a:pt x="36575" y="48767"/>
                </a:lnTo>
                <a:lnTo>
                  <a:pt x="59436" y="1371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861975" y="2137569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59435" y="13715"/>
                </a:moveTo>
                <a:lnTo>
                  <a:pt x="0" y="0"/>
                </a:lnTo>
                <a:lnTo>
                  <a:pt x="36575" y="48767"/>
                </a:lnTo>
                <a:lnTo>
                  <a:pt x="59435" y="1371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47903" y="2168049"/>
            <a:ext cx="405765" cy="262255"/>
          </a:xfrm>
          <a:custGeom>
            <a:avLst/>
            <a:gdLst/>
            <a:ahLst/>
            <a:cxnLst/>
            <a:rect l="l" t="t" r="r" b="b"/>
            <a:pathLst>
              <a:path w="405764" h="262255">
                <a:moveTo>
                  <a:pt x="0" y="262127"/>
                </a:moveTo>
                <a:lnTo>
                  <a:pt x="4053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441096" y="2137569"/>
            <a:ext cx="60960" cy="48895"/>
          </a:xfrm>
          <a:custGeom>
            <a:avLst/>
            <a:gdLst/>
            <a:ahLst/>
            <a:cxnLst/>
            <a:rect l="l" t="t" r="r" b="b"/>
            <a:pathLst>
              <a:path w="60960" h="48894">
                <a:moveTo>
                  <a:pt x="60959" y="0"/>
                </a:moveTo>
                <a:lnTo>
                  <a:pt x="0" y="13715"/>
                </a:lnTo>
                <a:lnTo>
                  <a:pt x="22859" y="48767"/>
                </a:lnTo>
                <a:lnTo>
                  <a:pt x="6095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441095" y="2137569"/>
            <a:ext cx="60960" cy="48895"/>
          </a:xfrm>
          <a:custGeom>
            <a:avLst/>
            <a:gdLst/>
            <a:ahLst/>
            <a:cxnLst/>
            <a:rect l="l" t="t" r="r" b="b"/>
            <a:pathLst>
              <a:path w="60960" h="48894">
                <a:moveTo>
                  <a:pt x="22859" y="48767"/>
                </a:moveTo>
                <a:lnTo>
                  <a:pt x="60959" y="0"/>
                </a:lnTo>
                <a:lnTo>
                  <a:pt x="0" y="13715"/>
                </a:lnTo>
                <a:lnTo>
                  <a:pt x="22859" y="487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973228" y="2166525"/>
            <a:ext cx="201167" cy="2392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808635" y="2225961"/>
            <a:ext cx="99060" cy="204470"/>
          </a:xfrm>
          <a:custGeom>
            <a:avLst/>
            <a:gdLst/>
            <a:ahLst/>
            <a:cxnLst/>
            <a:rect l="l" t="t" r="r" b="b"/>
            <a:pathLst>
              <a:path w="99060" h="204469">
                <a:moveTo>
                  <a:pt x="99059" y="204215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784251" y="2172621"/>
            <a:ext cx="44450" cy="62865"/>
          </a:xfrm>
          <a:custGeom>
            <a:avLst/>
            <a:gdLst/>
            <a:ahLst/>
            <a:cxnLst/>
            <a:rect l="l" t="t" r="r" b="b"/>
            <a:pathLst>
              <a:path w="44450" h="62864">
                <a:moveTo>
                  <a:pt x="0" y="0"/>
                </a:moveTo>
                <a:lnTo>
                  <a:pt x="6096" y="62483"/>
                </a:lnTo>
                <a:lnTo>
                  <a:pt x="44196" y="44196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784251" y="2172621"/>
            <a:ext cx="44450" cy="62865"/>
          </a:xfrm>
          <a:custGeom>
            <a:avLst/>
            <a:gdLst/>
            <a:ahLst/>
            <a:cxnLst/>
            <a:rect l="l" t="t" r="r" b="b"/>
            <a:pathLst>
              <a:path w="44450" h="62864">
                <a:moveTo>
                  <a:pt x="44195" y="44195"/>
                </a:moveTo>
                <a:lnTo>
                  <a:pt x="0" y="0"/>
                </a:lnTo>
                <a:lnTo>
                  <a:pt x="6095" y="62483"/>
                </a:lnTo>
                <a:lnTo>
                  <a:pt x="44195" y="4419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48715" y="2168049"/>
            <a:ext cx="135635" cy="266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570891" y="2215293"/>
            <a:ext cx="157480" cy="186055"/>
          </a:xfrm>
          <a:custGeom>
            <a:avLst/>
            <a:gdLst/>
            <a:ahLst/>
            <a:cxnLst/>
            <a:rect l="l" t="t" r="r" b="b"/>
            <a:pathLst>
              <a:path w="157480" h="186055">
                <a:moveTo>
                  <a:pt x="0" y="185927"/>
                </a:moveTo>
                <a:lnTo>
                  <a:pt x="156971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711100" y="2171097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53339" y="0"/>
                </a:moveTo>
                <a:lnTo>
                  <a:pt x="0" y="30479"/>
                </a:lnTo>
                <a:lnTo>
                  <a:pt x="32003" y="57911"/>
                </a:lnTo>
                <a:lnTo>
                  <a:pt x="533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711100" y="2171097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32003" y="57911"/>
                </a:moveTo>
                <a:lnTo>
                  <a:pt x="53339" y="0"/>
                </a:lnTo>
                <a:lnTo>
                  <a:pt x="0" y="30479"/>
                </a:lnTo>
                <a:lnTo>
                  <a:pt x="32003" y="5791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642519" y="2168049"/>
            <a:ext cx="405765" cy="262255"/>
          </a:xfrm>
          <a:custGeom>
            <a:avLst/>
            <a:gdLst/>
            <a:ahLst/>
            <a:cxnLst/>
            <a:rect l="l" t="t" r="r" b="b"/>
            <a:pathLst>
              <a:path w="405764" h="262255">
                <a:moveTo>
                  <a:pt x="0" y="262127"/>
                </a:moveTo>
                <a:lnTo>
                  <a:pt x="4053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035711" y="2137569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59436" y="0"/>
                </a:moveTo>
                <a:lnTo>
                  <a:pt x="0" y="13715"/>
                </a:lnTo>
                <a:lnTo>
                  <a:pt x="22860" y="48767"/>
                </a:lnTo>
                <a:lnTo>
                  <a:pt x="594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035711" y="2137569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22859" y="48767"/>
                </a:moveTo>
                <a:lnTo>
                  <a:pt x="59435" y="0"/>
                </a:lnTo>
                <a:lnTo>
                  <a:pt x="0" y="13715"/>
                </a:lnTo>
                <a:lnTo>
                  <a:pt x="22859" y="487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642519" y="2152809"/>
            <a:ext cx="802005" cy="277495"/>
          </a:xfrm>
          <a:custGeom>
            <a:avLst/>
            <a:gdLst/>
            <a:ahLst/>
            <a:cxnLst/>
            <a:rect l="l" t="t" r="r" b="b"/>
            <a:pathLst>
              <a:path w="802004" h="277494">
                <a:moveTo>
                  <a:pt x="0" y="277367"/>
                </a:moveTo>
                <a:lnTo>
                  <a:pt x="80162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438047" y="2132997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60" h="40005">
                <a:moveTo>
                  <a:pt x="60960" y="0"/>
                </a:moveTo>
                <a:lnTo>
                  <a:pt x="0" y="0"/>
                </a:lnTo>
                <a:lnTo>
                  <a:pt x="13715" y="39624"/>
                </a:lnTo>
                <a:lnTo>
                  <a:pt x="6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438047" y="2132997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60" h="40005">
                <a:moveTo>
                  <a:pt x="13715" y="39623"/>
                </a:moveTo>
                <a:lnTo>
                  <a:pt x="60959" y="0"/>
                </a:lnTo>
                <a:lnTo>
                  <a:pt x="0" y="0"/>
                </a:lnTo>
                <a:lnTo>
                  <a:pt x="13715" y="39623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308507" y="1715421"/>
            <a:ext cx="279400" cy="242570"/>
          </a:xfrm>
          <a:custGeom>
            <a:avLst/>
            <a:gdLst/>
            <a:ahLst/>
            <a:cxnLst/>
            <a:rect l="l" t="t" r="r" b="b"/>
            <a:pathLst>
              <a:path w="279400" h="242569">
                <a:moveTo>
                  <a:pt x="278891" y="242315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265835" y="1677321"/>
            <a:ext cx="58419" cy="53340"/>
          </a:xfrm>
          <a:custGeom>
            <a:avLst/>
            <a:gdLst/>
            <a:ahLst/>
            <a:cxnLst/>
            <a:rect l="l" t="t" r="r" b="b"/>
            <a:pathLst>
              <a:path w="58420" h="53339">
                <a:moveTo>
                  <a:pt x="0" y="0"/>
                </a:moveTo>
                <a:lnTo>
                  <a:pt x="28955" y="53339"/>
                </a:lnTo>
                <a:lnTo>
                  <a:pt x="57912" y="2133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265835" y="1677321"/>
            <a:ext cx="58419" cy="53340"/>
          </a:xfrm>
          <a:custGeom>
            <a:avLst/>
            <a:gdLst/>
            <a:ahLst/>
            <a:cxnLst/>
            <a:rect l="l" t="t" r="r" b="b"/>
            <a:pathLst>
              <a:path w="58420" h="53339">
                <a:moveTo>
                  <a:pt x="57911" y="21335"/>
                </a:moveTo>
                <a:lnTo>
                  <a:pt x="0" y="0"/>
                </a:lnTo>
                <a:lnTo>
                  <a:pt x="28955" y="53339"/>
                </a:lnTo>
                <a:lnTo>
                  <a:pt x="57911" y="213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182015" y="1770284"/>
            <a:ext cx="0" cy="187960"/>
          </a:xfrm>
          <a:custGeom>
            <a:avLst/>
            <a:gdLst/>
            <a:ahLst/>
            <a:cxnLst/>
            <a:rect l="l" t="t" r="r" b="b"/>
            <a:pathLst>
              <a:path h="187960">
                <a:moveTo>
                  <a:pt x="0" y="187451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160679" y="1712373"/>
            <a:ext cx="43180" cy="58419"/>
          </a:xfrm>
          <a:custGeom>
            <a:avLst/>
            <a:gdLst/>
            <a:ahLst/>
            <a:cxnLst/>
            <a:rect l="l" t="t" r="r" b="b"/>
            <a:pathLst>
              <a:path w="43180" h="58419">
                <a:moveTo>
                  <a:pt x="21336" y="0"/>
                </a:moveTo>
                <a:lnTo>
                  <a:pt x="0" y="57911"/>
                </a:lnTo>
                <a:lnTo>
                  <a:pt x="42672" y="57911"/>
                </a:lnTo>
                <a:lnTo>
                  <a:pt x="213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160679" y="1712372"/>
            <a:ext cx="43180" cy="58419"/>
          </a:xfrm>
          <a:custGeom>
            <a:avLst/>
            <a:gdLst/>
            <a:ahLst/>
            <a:cxnLst/>
            <a:rect l="l" t="t" r="r" b="b"/>
            <a:pathLst>
              <a:path w="43180" h="58419">
                <a:moveTo>
                  <a:pt x="42671" y="57911"/>
                </a:moveTo>
                <a:lnTo>
                  <a:pt x="21335" y="0"/>
                </a:lnTo>
                <a:lnTo>
                  <a:pt x="0" y="57911"/>
                </a:lnTo>
                <a:lnTo>
                  <a:pt x="42671" y="5791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846735" y="1723041"/>
            <a:ext cx="216535" cy="264160"/>
          </a:xfrm>
          <a:custGeom>
            <a:avLst/>
            <a:gdLst/>
            <a:ahLst/>
            <a:cxnLst/>
            <a:rect l="l" t="t" r="r" b="b"/>
            <a:pathLst>
              <a:path w="216535" h="264160">
                <a:moveTo>
                  <a:pt x="0" y="263651"/>
                </a:moveTo>
                <a:lnTo>
                  <a:pt x="216407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046379" y="1678845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53340" y="0"/>
                </a:moveTo>
                <a:lnTo>
                  <a:pt x="0" y="32003"/>
                </a:lnTo>
                <a:lnTo>
                  <a:pt x="32004" y="57911"/>
                </a:lnTo>
                <a:lnTo>
                  <a:pt x="5334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046379" y="1678845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32003" y="57911"/>
                </a:moveTo>
                <a:lnTo>
                  <a:pt x="53339" y="0"/>
                </a:lnTo>
                <a:lnTo>
                  <a:pt x="0" y="32003"/>
                </a:lnTo>
                <a:lnTo>
                  <a:pt x="32003" y="5791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462687" y="2392077"/>
            <a:ext cx="217931" cy="2164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868072" y="2392077"/>
            <a:ext cx="217931" cy="2164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274979" y="2392077"/>
            <a:ext cx="216407" cy="2164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680364" y="2392077"/>
            <a:ext cx="216407" cy="2164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462687" y="2910237"/>
            <a:ext cx="217931" cy="2164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868072" y="2910237"/>
            <a:ext cx="217931" cy="2164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274979" y="2910237"/>
            <a:ext cx="216407" cy="2164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680364" y="2910237"/>
            <a:ext cx="216407" cy="2164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666903" y="1948593"/>
            <a:ext cx="217931" cy="2164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073811" y="1948593"/>
            <a:ext cx="216407" cy="2164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479195" y="1948593"/>
            <a:ext cx="216407" cy="2164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082956" y="1494441"/>
            <a:ext cx="198120" cy="200025"/>
          </a:xfrm>
          <a:custGeom>
            <a:avLst/>
            <a:gdLst/>
            <a:ahLst/>
            <a:cxnLst/>
            <a:rect l="l" t="t" r="r" b="b"/>
            <a:pathLst>
              <a:path w="198120" h="200025">
                <a:moveTo>
                  <a:pt x="0" y="100583"/>
                </a:moveTo>
                <a:lnTo>
                  <a:pt x="18287" y="41147"/>
                </a:lnTo>
                <a:lnTo>
                  <a:pt x="67055" y="6095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30479"/>
                </a:lnTo>
                <a:lnTo>
                  <a:pt x="190499" y="62483"/>
                </a:lnTo>
                <a:lnTo>
                  <a:pt x="198119" y="100583"/>
                </a:lnTo>
                <a:lnTo>
                  <a:pt x="193547" y="131063"/>
                </a:lnTo>
                <a:lnTo>
                  <a:pt x="178307" y="158495"/>
                </a:lnTo>
                <a:lnTo>
                  <a:pt x="156971" y="179831"/>
                </a:lnTo>
                <a:lnTo>
                  <a:pt x="129539" y="195071"/>
                </a:lnTo>
                <a:lnTo>
                  <a:pt x="99059" y="199643"/>
                </a:lnTo>
                <a:lnTo>
                  <a:pt x="67055" y="195071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100583"/>
                </a:lnTo>
                <a:close/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594763" y="2600865"/>
            <a:ext cx="977265" cy="417830"/>
          </a:xfrm>
          <a:custGeom>
            <a:avLst/>
            <a:gdLst/>
            <a:ahLst/>
            <a:cxnLst/>
            <a:rect l="l" t="t" r="r" b="b"/>
            <a:pathLst>
              <a:path w="977264" h="417830">
                <a:moveTo>
                  <a:pt x="0" y="417575"/>
                </a:moveTo>
                <a:lnTo>
                  <a:pt x="9768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564028" y="2578005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60960" y="0"/>
                </a:moveTo>
                <a:lnTo>
                  <a:pt x="0" y="3048"/>
                </a:lnTo>
                <a:lnTo>
                  <a:pt x="15239" y="41148"/>
                </a:lnTo>
                <a:lnTo>
                  <a:pt x="6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564027" y="2578005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15239" y="41147"/>
                </a:moveTo>
                <a:lnTo>
                  <a:pt x="60959" y="0"/>
                </a:lnTo>
                <a:lnTo>
                  <a:pt x="0" y="3047"/>
                </a:lnTo>
                <a:lnTo>
                  <a:pt x="15239" y="4114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565807" y="2632868"/>
            <a:ext cx="220979" cy="315595"/>
          </a:xfrm>
          <a:custGeom>
            <a:avLst/>
            <a:gdLst/>
            <a:ahLst/>
            <a:cxnLst/>
            <a:rect l="l" t="t" r="r" b="b"/>
            <a:pathLst>
              <a:path w="220979" h="315594">
                <a:moveTo>
                  <a:pt x="0" y="315467"/>
                </a:moveTo>
                <a:lnTo>
                  <a:pt x="220979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770023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50291" y="0"/>
                </a:moveTo>
                <a:lnTo>
                  <a:pt x="0" y="35051"/>
                </a:lnTo>
                <a:lnTo>
                  <a:pt x="33527" y="59435"/>
                </a:lnTo>
                <a:lnTo>
                  <a:pt x="502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770023" y="2585625"/>
            <a:ext cx="50800" cy="59690"/>
          </a:xfrm>
          <a:custGeom>
            <a:avLst/>
            <a:gdLst/>
            <a:ahLst/>
            <a:cxnLst/>
            <a:rect l="l" t="t" r="r" b="b"/>
            <a:pathLst>
              <a:path w="50800" h="59689">
                <a:moveTo>
                  <a:pt x="33527" y="59435"/>
                </a:moveTo>
                <a:lnTo>
                  <a:pt x="50291" y="0"/>
                </a:lnTo>
                <a:lnTo>
                  <a:pt x="0" y="35051"/>
                </a:lnTo>
                <a:lnTo>
                  <a:pt x="33527" y="594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711856" y="2675540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39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690520" y="2619153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21335" y="0"/>
                </a:moveTo>
                <a:lnTo>
                  <a:pt x="0" y="56388"/>
                </a:lnTo>
                <a:lnTo>
                  <a:pt x="42671" y="56388"/>
                </a:lnTo>
                <a:lnTo>
                  <a:pt x="213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690519" y="2619153"/>
            <a:ext cx="43180" cy="56515"/>
          </a:xfrm>
          <a:custGeom>
            <a:avLst/>
            <a:gdLst/>
            <a:ahLst/>
            <a:cxnLst/>
            <a:rect l="l" t="t" r="r" b="b"/>
            <a:pathLst>
              <a:path w="43179" h="56514">
                <a:moveTo>
                  <a:pt x="42671" y="56387"/>
                </a:moveTo>
                <a:lnTo>
                  <a:pt x="21335" y="0"/>
                </a:lnTo>
                <a:lnTo>
                  <a:pt x="0" y="56387"/>
                </a:lnTo>
                <a:lnTo>
                  <a:pt x="42671" y="5638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038247" y="2608484"/>
            <a:ext cx="603885" cy="340360"/>
          </a:xfrm>
          <a:custGeom>
            <a:avLst/>
            <a:gdLst/>
            <a:ahLst/>
            <a:cxnLst/>
            <a:rect l="l" t="t" r="r" b="b"/>
            <a:pathLst>
              <a:path w="603885" h="340360">
                <a:moveTo>
                  <a:pt x="603503" y="339851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987956" y="2579529"/>
            <a:ext cx="59690" cy="47625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0" y="0"/>
                </a:moveTo>
                <a:lnTo>
                  <a:pt x="39624" y="47244"/>
                </a:lnTo>
                <a:lnTo>
                  <a:pt x="59436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987956" y="2579528"/>
            <a:ext cx="59690" cy="47625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10667"/>
                </a:moveTo>
                <a:lnTo>
                  <a:pt x="0" y="0"/>
                </a:lnTo>
                <a:lnTo>
                  <a:pt x="39623" y="47243"/>
                </a:lnTo>
                <a:lnTo>
                  <a:pt x="59435" y="106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518307" y="2166525"/>
            <a:ext cx="198119" cy="2392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841651" y="2152809"/>
            <a:ext cx="800100" cy="277495"/>
          </a:xfrm>
          <a:custGeom>
            <a:avLst/>
            <a:gdLst/>
            <a:ahLst/>
            <a:cxnLst/>
            <a:rect l="l" t="t" r="r" b="b"/>
            <a:pathLst>
              <a:path w="800100" h="277494">
                <a:moveTo>
                  <a:pt x="800099" y="277367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786788" y="2132997"/>
            <a:ext cx="62865" cy="40005"/>
          </a:xfrm>
          <a:custGeom>
            <a:avLst/>
            <a:gdLst/>
            <a:ahLst/>
            <a:cxnLst/>
            <a:rect l="l" t="t" r="r" b="b"/>
            <a:pathLst>
              <a:path w="62864" h="40005">
                <a:moveTo>
                  <a:pt x="62484" y="0"/>
                </a:moveTo>
                <a:lnTo>
                  <a:pt x="0" y="0"/>
                </a:lnTo>
                <a:lnTo>
                  <a:pt x="48767" y="39624"/>
                </a:lnTo>
                <a:lnTo>
                  <a:pt x="624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786788" y="2132997"/>
            <a:ext cx="62865" cy="40005"/>
          </a:xfrm>
          <a:custGeom>
            <a:avLst/>
            <a:gdLst/>
            <a:ahLst/>
            <a:cxnLst/>
            <a:rect l="l" t="t" r="r" b="b"/>
            <a:pathLst>
              <a:path w="62864" h="40005">
                <a:moveTo>
                  <a:pt x="62483" y="0"/>
                </a:moveTo>
                <a:lnTo>
                  <a:pt x="0" y="0"/>
                </a:lnTo>
                <a:lnTo>
                  <a:pt x="48767" y="39623"/>
                </a:lnTo>
                <a:lnTo>
                  <a:pt x="62483" y="0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971191" y="2168049"/>
            <a:ext cx="405765" cy="262255"/>
          </a:xfrm>
          <a:custGeom>
            <a:avLst/>
            <a:gdLst/>
            <a:ahLst/>
            <a:cxnLst/>
            <a:rect l="l" t="t" r="r" b="b"/>
            <a:pathLst>
              <a:path w="405764" h="262255">
                <a:moveTo>
                  <a:pt x="0" y="262127"/>
                </a:moveTo>
                <a:lnTo>
                  <a:pt x="405383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365908" y="2137569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59436" y="0"/>
                </a:moveTo>
                <a:lnTo>
                  <a:pt x="0" y="13715"/>
                </a:lnTo>
                <a:lnTo>
                  <a:pt x="21336" y="48767"/>
                </a:lnTo>
                <a:lnTo>
                  <a:pt x="5943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365907" y="2137569"/>
            <a:ext cx="59690" cy="48895"/>
          </a:xfrm>
          <a:custGeom>
            <a:avLst/>
            <a:gdLst/>
            <a:ahLst/>
            <a:cxnLst/>
            <a:rect l="l" t="t" r="r" b="b"/>
            <a:pathLst>
              <a:path w="59689" h="48894">
                <a:moveTo>
                  <a:pt x="21335" y="48767"/>
                </a:moveTo>
                <a:lnTo>
                  <a:pt x="59435" y="0"/>
                </a:lnTo>
                <a:lnTo>
                  <a:pt x="0" y="13715"/>
                </a:lnTo>
                <a:lnTo>
                  <a:pt x="21335" y="48767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702967" y="2168049"/>
            <a:ext cx="132587" cy="26669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233319" y="1715421"/>
            <a:ext cx="277495" cy="242570"/>
          </a:xfrm>
          <a:custGeom>
            <a:avLst/>
            <a:gdLst/>
            <a:ahLst/>
            <a:cxnLst/>
            <a:rect l="l" t="t" r="r" b="b"/>
            <a:pathLst>
              <a:path w="277495" h="242569">
                <a:moveTo>
                  <a:pt x="277367" y="242315"/>
                </a:moveTo>
                <a:lnTo>
                  <a:pt x="0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5189123" y="1677321"/>
            <a:ext cx="58419" cy="53340"/>
          </a:xfrm>
          <a:custGeom>
            <a:avLst/>
            <a:gdLst/>
            <a:ahLst/>
            <a:cxnLst/>
            <a:rect l="l" t="t" r="r" b="b"/>
            <a:pathLst>
              <a:path w="58420" h="53339">
                <a:moveTo>
                  <a:pt x="0" y="0"/>
                </a:moveTo>
                <a:lnTo>
                  <a:pt x="30479" y="53339"/>
                </a:lnTo>
                <a:lnTo>
                  <a:pt x="57912" y="2133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5189123" y="1677321"/>
            <a:ext cx="58419" cy="53340"/>
          </a:xfrm>
          <a:custGeom>
            <a:avLst/>
            <a:gdLst/>
            <a:ahLst/>
            <a:cxnLst/>
            <a:rect l="l" t="t" r="r" b="b"/>
            <a:pathLst>
              <a:path w="58420" h="53339">
                <a:moveTo>
                  <a:pt x="57911" y="21335"/>
                </a:moveTo>
                <a:lnTo>
                  <a:pt x="0" y="0"/>
                </a:lnTo>
                <a:lnTo>
                  <a:pt x="30479" y="53339"/>
                </a:lnTo>
                <a:lnTo>
                  <a:pt x="57911" y="21335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770023" y="1723041"/>
            <a:ext cx="216535" cy="264160"/>
          </a:xfrm>
          <a:custGeom>
            <a:avLst/>
            <a:gdLst/>
            <a:ahLst/>
            <a:cxnLst/>
            <a:rect l="l" t="t" r="r" b="b"/>
            <a:pathLst>
              <a:path w="216535" h="264160">
                <a:moveTo>
                  <a:pt x="0" y="263651"/>
                </a:moveTo>
                <a:lnTo>
                  <a:pt x="216407" y="0"/>
                </a:lnTo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969667" y="1678845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53340" y="0"/>
                </a:moveTo>
                <a:lnTo>
                  <a:pt x="0" y="32003"/>
                </a:lnTo>
                <a:lnTo>
                  <a:pt x="33528" y="57911"/>
                </a:lnTo>
                <a:lnTo>
                  <a:pt x="5334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969667" y="1678845"/>
            <a:ext cx="53340" cy="58419"/>
          </a:xfrm>
          <a:custGeom>
            <a:avLst/>
            <a:gdLst/>
            <a:ahLst/>
            <a:cxnLst/>
            <a:rect l="l" t="t" r="r" b="b"/>
            <a:pathLst>
              <a:path w="53339" h="58419">
                <a:moveTo>
                  <a:pt x="33527" y="57911"/>
                </a:moveTo>
                <a:lnTo>
                  <a:pt x="53339" y="0"/>
                </a:lnTo>
                <a:lnTo>
                  <a:pt x="0" y="32003"/>
                </a:lnTo>
                <a:lnTo>
                  <a:pt x="33527" y="57911"/>
                </a:lnTo>
                <a:close/>
              </a:path>
            </a:pathLst>
          </a:custGeom>
          <a:ln w="9143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395120" y="2401221"/>
            <a:ext cx="200025" cy="158750"/>
          </a:xfrm>
          <a:custGeom>
            <a:avLst/>
            <a:gdLst/>
            <a:ahLst/>
            <a:cxnLst/>
            <a:rect l="l" t="t" r="r" b="b"/>
            <a:pathLst>
              <a:path w="200025" h="158750">
                <a:moveTo>
                  <a:pt x="100583" y="0"/>
                </a:moveTo>
                <a:lnTo>
                  <a:pt x="41147" y="19811"/>
                </a:lnTo>
                <a:lnTo>
                  <a:pt x="6095" y="68579"/>
                </a:lnTo>
                <a:lnTo>
                  <a:pt x="0" y="99059"/>
                </a:lnTo>
                <a:lnTo>
                  <a:pt x="6095" y="131063"/>
                </a:lnTo>
                <a:lnTo>
                  <a:pt x="19812" y="158496"/>
                </a:lnTo>
                <a:lnTo>
                  <a:pt x="179831" y="158496"/>
                </a:lnTo>
                <a:lnTo>
                  <a:pt x="195071" y="131063"/>
                </a:lnTo>
                <a:lnTo>
                  <a:pt x="199643" y="99059"/>
                </a:lnTo>
                <a:lnTo>
                  <a:pt x="198119" y="79248"/>
                </a:lnTo>
                <a:lnTo>
                  <a:pt x="182879" y="44196"/>
                </a:lnTo>
                <a:lnTo>
                  <a:pt x="155447" y="16763"/>
                </a:lnTo>
                <a:lnTo>
                  <a:pt x="118871" y="1524"/>
                </a:lnTo>
                <a:lnTo>
                  <a:pt x="10058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414932" y="2559717"/>
            <a:ext cx="160020" cy="21590"/>
          </a:xfrm>
          <a:custGeom>
            <a:avLst/>
            <a:gdLst/>
            <a:ahLst/>
            <a:cxnLst/>
            <a:rect l="l" t="t" r="r" b="b"/>
            <a:pathLst>
              <a:path w="160020" h="21589">
                <a:moveTo>
                  <a:pt x="160019" y="0"/>
                </a:moveTo>
                <a:lnTo>
                  <a:pt x="0" y="0"/>
                </a:lnTo>
                <a:lnTo>
                  <a:pt x="21335" y="21335"/>
                </a:lnTo>
                <a:lnTo>
                  <a:pt x="138683" y="21335"/>
                </a:lnTo>
                <a:lnTo>
                  <a:pt x="16001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436267" y="2581053"/>
            <a:ext cx="117475" cy="13970"/>
          </a:xfrm>
          <a:custGeom>
            <a:avLst/>
            <a:gdLst/>
            <a:ahLst/>
            <a:cxnLst/>
            <a:rect l="l" t="t" r="r" b="b"/>
            <a:pathLst>
              <a:path w="117475" h="13969">
                <a:moveTo>
                  <a:pt x="117348" y="0"/>
                </a:moveTo>
                <a:lnTo>
                  <a:pt x="0" y="0"/>
                </a:lnTo>
                <a:lnTo>
                  <a:pt x="27432" y="13716"/>
                </a:lnTo>
                <a:lnTo>
                  <a:pt x="89916" y="13716"/>
                </a:lnTo>
                <a:lnTo>
                  <a:pt x="11734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463700" y="2594769"/>
            <a:ext cx="62865" cy="5080"/>
          </a:xfrm>
          <a:custGeom>
            <a:avLst/>
            <a:gdLst/>
            <a:ahLst/>
            <a:cxnLst/>
            <a:rect l="l" t="t" r="r" b="b"/>
            <a:pathLst>
              <a:path w="62864" h="5080">
                <a:moveTo>
                  <a:pt x="62484" y="0"/>
                </a:moveTo>
                <a:lnTo>
                  <a:pt x="0" y="0"/>
                </a:lnTo>
                <a:lnTo>
                  <a:pt x="32003" y="4572"/>
                </a:lnTo>
                <a:lnTo>
                  <a:pt x="624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395120" y="2401221"/>
            <a:ext cx="200025" cy="198120"/>
          </a:xfrm>
          <a:custGeom>
            <a:avLst/>
            <a:gdLst/>
            <a:ahLst/>
            <a:cxnLst/>
            <a:rect l="l" t="t" r="r" b="b"/>
            <a:pathLst>
              <a:path w="200025" h="198119">
                <a:moveTo>
                  <a:pt x="0" y="99059"/>
                </a:moveTo>
                <a:lnTo>
                  <a:pt x="19811" y="41147"/>
                </a:lnTo>
                <a:lnTo>
                  <a:pt x="68579" y="4571"/>
                </a:lnTo>
                <a:lnTo>
                  <a:pt x="100583" y="0"/>
                </a:lnTo>
                <a:lnTo>
                  <a:pt x="138683" y="7619"/>
                </a:lnTo>
                <a:lnTo>
                  <a:pt x="170687" y="28955"/>
                </a:lnTo>
                <a:lnTo>
                  <a:pt x="192023" y="60959"/>
                </a:lnTo>
                <a:lnTo>
                  <a:pt x="199643" y="99059"/>
                </a:lnTo>
                <a:lnTo>
                  <a:pt x="195071" y="131063"/>
                </a:lnTo>
                <a:lnTo>
                  <a:pt x="179831" y="158495"/>
                </a:lnTo>
                <a:lnTo>
                  <a:pt x="158495" y="179831"/>
                </a:lnTo>
                <a:lnTo>
                  <a:pt x="131063" y="193547"/>
                </a:lnTo>
                <a:lnTo>
                  <a:pt x="100583" y="198119"/>
                </a:lnTo>
                <a:lnTo>
                  <a:pt x="68579" y="193547"/>
                </a:lnTo>
                <a:lnTo>
                  <a:pt x="41147" y="179831"/>
                </a:lnTo>
                <a:lnTo>
                  <a:pt x="19811" y="158495"/>
                </a:lnTo>
                <a:lnTo>
                  <a:pt x="6095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792883" y="2392077"/>
            <a:ext cx="216407" cy="2164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207411" y="2401221"/>
            <a:ext cx="198120" cy="158750"/>
          </a:xfrm>
          <a:custGeom>
            <a:avLst/>
            <a:gdLst/>
            <a:ahLst/>
            <a:cxnLst/>
            <a:rect l="l" t="t" r="r" b="b"/>
            <a:pathLst>
              <a:path w="198120" h="158750">
                <a:moveTo>
                  <a:pt x="99060" y="0"/>
                </a:moveTo>
                <a:lnTo>
                  <a:pt x="39624" y="19811"/>
                </a:lnTo>
                <a:lnTo>
                  <a:pt x="4572" y="68579"/>
                </a:lnTo>
                <a:lnTo>
                  <a:pt x="0" y="99059"/>
                </a:lnTo>
                <a:lnTo>
                  <a:pt x="4572" y="131063"/>
                </a:lnTo>
                <a:lnTo>
                  <a:pt x="18287" y="158496"/>
                </a:lnTo>
                <a:lnTo>
                  <a:pt x="179832" y="158496"/>
                </a:lnTo>
                <a:lnTo>
                  <a:pt x="193548" y="131063"/>
                </a:lnTo>
                <a:lnTo>
                  <a:pt x="198120" y="99059"/>
                </a:lnTo>
                <a:lnTo>
                  <a:pt x="196596" y="79248"/>
                </a:lnTo>
                <a:lnTo>
                  <a:pt x="181355" y="44196"/>
                </a:lnTo>
                <a:lnTo>
                  <a:pt x="153924" y="16763"/>
                </a:lnTo>
                <a:lnTo>
                  <a:pt x="118872" y="1524"/>
                </a:lnTo>
                <a:lnTo>
                  <a:pt x="990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5225700" y="2559717"/>
            <a:ext cx="161925" cy="21590"/>
          </a:xfrm>
          <a:custGeom>
            <a:avLst/>
            <a:gdLst/>
            <a:ahLst/>
            <a:cxnLst/>
            <a:rect l="l" t="t" r="r" b="b"/>
            <a:pathLst>
              <a:path w="161925" h="21589">
                <a:moveTo>
                  <a:pt x="161544" y="0"/>
                </a:moveTo>
                <a:lnTo>
                  <a:pt x="0" y="0"/>
                </a:lnTo>
                <a:lnTo>
                  <a:pt x="21336" y="21335"/>
                </a:lnTo>
                <a:lnTo>
                  <a:pt x="138684" y="21335"/>
                </a:lnTo>
                <a:lnTo>
                  <a:pt x="1615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5247035" y="2581053"/>
            <a:ext cx="117475" cy="13970"/>
          </a:xfrm>
          <a:custGeom>
            <a:avLst/>
            <a:gdLst/>
            <a:ahLst/>
            <a:cxnLst/>
            <a:rect l="l" t="t" r="r" b="b"/>
            <a:pathLst>
              <a:path w="117475" h="13969">
                <a:moveTo>
                  <a:pt x="117348" y="0"/>
                </a:moveTo>
                <a:lnTo>
                  <a:pt x="0" y="0"/>
                </a:lnTo>
                <a:lnTo>
                  <a:pt x="27431" y="13716"/>
                </a:lnTo>
                <a:lnTo>
                  <a:pt x="91439" y="13716"/>
                </a:lnTo>
                <a:lnTo>
                  <a:pt x="11734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5274467" y="2594769"/>
            <a:ext cx="64135" cy="5080"/>
          </a:xfrm>
          <a:custGeom>
            <a:avLst/>
            <a:gdLst/>
            <a:ahLst/>
            <a:cxnLst/>
            <a:rect l="l" t="t" r="r" b="b"/>
            <a:pathLst>
              <a:path w="64135" h="5080">
                <a:moveTo>
                  <a:pt x="64008" y="0"/>
                </a:moveTo>
                <a:lnTo>
                  <a:pt x="0" y="0"/>
                </a:lnTo>
                <a:lnTo>
                  <a:pt x="32004" y="4572"/>
                </a:lnTo>
                <a:lnTo>
                  <a:pt x="640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5207411" y="2401221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99059"/>
                </a:moveTo>
                <a:lnTo>
                  <a:pt x="18287" y="41147"/>
                </a:lnTo>
                <a:lnTo>
                  <a:pt x="67055" y="4571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28955"/>
                </a:lnTo>
                <a:lnTo>
                  <a:pt x="190499" y="60959"/>
                </a:lnTo>
                <a:lnTo>
                  <a:pt x="198119" y="99059"/>
                </a:lnTo>
                <a:lnTo>
                  <a:pt x="193547" y="131063"/>
                </a:lnTo>
                <a:lnTo>
                  <a:pt x="179831" y="158495"/>
                </a:lnTo>
                <a:lnTo>
                  <a:pt x="156971" y="179831"/>
                </a:lnTo>
                <a:lnTo>
                  <a:pt x="131063" y="193547"/>
                </a:lnTo>
                <a:lnTo>
                  <a:pt x="99059" y="198119"/>
                </a:lnTo>
                <a:lnTo>
                  <a:pt x="67055" y="193547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5603651" y="2392077"/>
            <a:ext cx="216407" cy="21640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4385976" y="2910237"/>
            <a:ext cx="217931" cy="21640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4802028" y="2919381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99060" y="0"/>
                </a:moveTo>
                <a:lnTo>
                  <a:pt x="39624" y="19812"/>
                </a:lnTo>
                <a:lnTo>
                  <a:pt x="4572" y="68580"/>
                </a:lnTo>
                <a:lnTo>
                  <a:pt x="0" y="99060"/>
                </a:lnTo>
                <a:lnTo>
                  <a:pt x="4572" y="131064"/>
                </a:lnTo>
                <a:lnTo>
                  <a:pt x="18287" y="158496"/>
                </a:lnTo>
                <a:lnTo>
                  <a:pt x="39624" y="179832"/>
                </a:lnTo>
                <a:lnTo>
                  <a:pt x="67056" y="193548"/>
                </a:lnTo>
                <a:lnTo>
                  <a:pt x="99060" y="198120"/>
                </a:lnTo>
                <a:lnTo>
                  <a:pt x="129539" y="193548"/>
                </a:lnTo>
                <a:lnTo>
                  <a:pt x="156972" y="179832"/>
                </a:lnTo>
                <a:lnTo>
                  <a:pt x="178308" y="158496"/>
                </a:lnTo>
                <a:lnTo>
                  <a:pt x="193548" y="131064"/>
                </a:lnTo>
                <a:lnTo>
                  <a:pt x="198120" y="99060"/>
                </a:lnTo>
                <a:lnTo>
                  <a:pt x="196596" y="80772"/>
                </a:lnTo>
                <a:lnTo>
                  <a:pt x="181356" y="44196"/>
                </a:lnTo>
                <a:lnTo>
                  <a:pt x="153924" y="16764"/>
                </a:lnTo>
                <a:lnTo>
                  <a:pt x="118872" y="1524"/>
                </a:lnTo>
                <a:lnTo>
                  <a:pt x="990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4802027" y="2919381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99059"/>
                </a:moveTo>
                <a:lnTo>
                  <a:pt x="18287" y="41147"/>
                </a:lnTo>
                <a:lnTo>
                  <a:pt x="67055" y="4571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28955"/>
                </a:lnTo>
                <a:lnTo>
                  <a:pt x="190499" y="60959"/>
                </a:lnTo>
                <a:lnTo>
                  <a:pt x="198119" y="99059"/>
                </a:lnTo>
                <a:lnTo>
                  <a:pt x="193547" y="131063"/>
                </a:lnTo>
                <a:lnTo>
                  <a:pt x="178307" y="158495"/>
                </a:lnTo>
                <a:lnTo>
                  <a:pt x="156971" y="179831"/>
                </a:lnTo>
                <a:lnTo>
                  <a:pt x="129539" y="193547"/>
                </a:lnTo>
                <a:lnTo>
                  <a:pt x="99059" y="198119"/>
                </a:lnTo>
                <a:lnTo>
                  <a:pt x="67055" y="193547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5207411" y="2919381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99060" y="0"/>
                </a:moveTo>
                <a:lnTo>
                  <a:pt x="39624" y="19812"/>
                </a:lnTo>
                <a:lnTo>
                  <a:pt x="4572" y="68580"/>
                </a:lnTo>
                <a:lnTo>
                  <a:pt x="0" y="99060"/>
                </a:lnTo>
                <a:lnTo>
                  <a:pt x="4572" y="131064"/>
                </a:lnTo>
                <a:lnTo>
                  <a:pt x="18287" y="158496"/>
                </a:lnTo>
                <a:lnTo>
                  <a:pt x="39624" y="179832"/>
                </a:lnTo>
                <a:lnTo>
                  <a:pt x="67055" y="193548"/>
                </a:lnTo>
                <a:lnTo>
                  <a:pt x="99060" y="198120"/>
                </a:lnTo>
                <a:lnTo>
                  <a:pt x="131063" y="193548"/>
                </a:lnTo>
                <a:lnTo>
                  <a:pt x="156972" y="179832"/>
                </a:lnTo>
                <a:lnTo>
                  <a:pt x="179832" y="158496"/>
                </a:lnTo>
                <a:lnTo>
                  <a:pt x="193548" y="131064"/>
                </a:lnTo>
                <a:lnTo>
                  <a:pt x="198120" y="99060"/>
                </a:lnTo>
                <a:lnTo>
                  <a:pt x="196596" y="80772"/>
                </a:lnTo>
                <a:lnTo>
                  <a:pt x="181355" y="44196"/>
                </a:lnTo>
                <a:lnTo>
                  <a:pt x="153924" y="16764"/>
                </a:lnTo>
                <a:lnTo>
                  <a:pt x="118872" y="1524"/>
                </a:lnTo>
                <a:lnTo>
                  <a:pt x="990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5207411" y="2919381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99059"/>
                </a:moveTo>
                <a:lnTo>
                  <a:pt x="18287" y="41147"/>
                </a:lnTo>
                <a:lnTo>
                  <a:pt x="67055" y="4571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28955"/>
                </a:lnTo>
                <a:lnTo>
                  <a:pt x="190499" y="60959"/>
                </a:lnTo>
                <a:lnTo>
                  <a:pt x="198119" y="99059"/>
                </a:lnTo>
                <a:lnTo>
                  <a:pt x="193547" y="131063"/>
                </a:lnTo>
                <a:lnTo>
                  <a:pt x="179831" y="158495"/>
                </a:lnTo>
                <a:lnTo>
                  <a:pt x="156971" y="179831"/>
                </a:lnTo>
                <a:lnTo>
                  <a:pt x="131063" y="193547"/>
                </a:lnTo>
                <a:lnTo>
                  <a:pt x="99059" y="198119"/>
                </a:lnTo>
                <a:lnTo>
                  <a:pt x="67055" y="193547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5603651" y="2910237"/>
            <a:ext cx="216407" cy="21640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591715" y="1948593"/>
            <a:ext cx="216407" cy="2164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5006244" y="1957737"/>
            <a:ext cx="198120" cy="158750"/>
          </a:xfrm>
          <a:custGeom>
            <a:avLst/>
            <a:gdLst/>
            <a:ahLst/>
            <a:cxnLst/>
            <a:rect l="l" t="t" r="r" b="b"/>
            <a:pathLst>
              <a:path w="198120" h="158750">
                <a:moveTo>
                  <a:pt x="99059" y="0"/>
                </a:moveTo>
                <a:lnTo>
                  <a:pt x="39623" y="19812"/>
                </a:lnTo>
                <a:lnTo>
                  <a:pt x="4571" y="68580"/>
                </a:lnTo>
                <a:lnTo>
                  <a:pt x="0" y="99060"/>
                </a:lnTo>
                <a:lnTo>
                  <a:pt x="4571" y="131064"/>
                </a:lnTo>
                <a:lnTo>
                  <a:pt x="18287" y="158496"/>
                </a:lnTo>
                <a:lnTo>
                  <a:pt x="179831" y="158496"/>
                </a:lnTo>
                <a:lnTo>
                  <a:pt x="193547" y="131064"/>
                </a:lnTo>
                <a:lnTo>
                  <a:pt x="198119" y="99060"/>
                </a:lnTo>
                <a:lnTo>
                  <a:pt x="196595" y="80772"/>
                </a:lnTo>
                <a:lnTo>
                  <a:pt x="181355" y="44196"/>
                </a:lnTo>
                <a:lnTo>
                  <a:pt x="153923" y="16764"/>
                </a:lnTo>
                <a:lnTo>
                  <a:pt x="118871" y="1524"/>
                </a:lnTo>
                <a:lnTo>
                  <a:pt x="9905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5024532" y="2116233"/>
            <a:ext cx="161925" cy="21590"/>
          </a:xfrm>
          <a:custGeom>
            <a:avLst/>
            <a:gdLst/>
            <a:ahLst/>
            <a:cxnLst/>
            <a:rect l="l" t="t" r="r" b="b"/>
            <a:pathLst>
              <a:path w="161925" h="21589">
                <a:moveTo>
                  <a:pt x="161543" y="0"/>
                </a:moveTo>
                <a:lnTo>
                  <a:pt x="0" y="0"/>
                </a:lnTo>
                <a:lnTo>
                  <a:pt x="21335" y="21336"/>
                </a:lnTo>
                <a:lnTo>
                  <a:pt x="138683" y="21336"/>
                </a:lnTo>
                <a:lnTo>
                  <a:pt x="16154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5045867" y="2137569"/>
            <a:ext cx="117475" cy="13970"/>
          </a:xfrm>
          <a:custGeom>
            <a:avLst/>
            <a:gdLst/>
            <a:ahLst/>
            <a:cxnLst/>
            <a:rect l="l" t="t" r="r" b="b"/>
            <a:pathLst>
              <a:path w="117475" h="13969">
                <a:moveTo>
                  <a:pt x="117348" y="0"/>
                </a:moveTo>
                <a:lnTo>
                  <a:pt x="0" y="0"/>
                </a:lnTo>
                <a:lnTo>
                  <a:pt x="27432" y="13715"/>
                </a:lnTo>
                <a:lnTo>
                  <a:pt x="91440" y="13715"/>
                </a:lnTo>
                <a:lnTo>
                  <a:pt x="11734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5073300" y="2151285"/>
            <a:ext cx="64135" cy="5080"/>
          </a:xfrm>
          <a:custGeom>
            <a:avLst/>
            <a:gdLst/>
            <a:ahLst/>
            <a:cxnLst/>
            <a:rect l="l" t="t" r="r" b="b"/>
            <a:pathLst>
              <a:path w="64135" h="5080">
                <a:moveTo>
                  <a:pt x="64008" y="0"/>
                </a:moveTo>
                <a:lnTo>
                  <a:pt x="0" y="0"/>
                </a:lnTo>
                <a:lnTo>
                  <a:pt x="32003" y="4572"/>
                </a:lnTo>
                <a:lnTo>
                  <a:pt x="640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5006244" y="1957737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99059"/>
                </a:moveTo>
                <a:lnTo>
                  <a:pt x="18287" y="41147"/>
                </a:lnTo>
                <a:lnTo>
                  <a:pt x="67055" y="4571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28955"/>
                </a:lnTo>
                <a:lnTo>
                  <a:pt x="190499" y="60959"/>
                </a:lnTo>
                <a:lnTo>
                  <a:pt x="198119" y="99059"/>
                </a:lnTo>
                <a:lnTo>
                  <a:pt x="193547" y="131063"/>
                </a:lnTo>
                <a:lnTo>
                  <a:pt x="179831" y="158495"/>
                </a:lnTo>
                <a:lnTo>
                  <a:pt x="156971" y="179831"/>
                </a:lnTo>
                <a:lnTo>
                  <a:pt x="131063" y="193547"/>
                </a:lnTo>
                <a:lnTo>
                  <a:pt x="99059" y="198119"/>
                </a:lnTo>
                <a:lnTo>
                  <a:pt x="67055" y="193547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99059"/>
                </a:lnTo>
                <a:close/>
              </a:path>
            </a:pathLst>
          </a:custGeom>
          <a:ln w="9143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5402483" y="1948593"/>
            <a:ext cx="216407" cy="21640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5006244" y="1494441"/>
            <a:ext cx="198120" cy="200025"/>
          </a:xfrm>
          <a:custGeom>
            <a:avLst/>
            <a:gdLst/>
            <a:ahLst/>
            <a:cxnLst/>
            <a:rect l="l" t="t" r="r" b="b"/>
            <a:pathLst>
              <a:path w="198120" h="200025">
                <a:moveTo>
                  <a:pt x="0" y="100583"/>
                </a:moveTo>
                <a:lnTo>
                  <a:pt x="18287" y="41147"/>
                </a:lnTo>
                <a:lnTo>
                  <a:pt x="67055" y="6095"/>
                </a:lnTo>
                <a:lnTo>
                  <a:pt x="99059" y="0"/>
                </a:lnTo>
                <a:lnTo>
                  <a:pt x="137159" y="7619"/>
                </a:lnTo>
                <a:lnTo>
                  <a:pt x="169163" y="30479"/>
                </a:lnTo>
                <a:lnTo>
                  <a:pt x="190499" y="62483"/>
                </a:lnTo>
                <a:lnTo>
                  <a:pt x="198119" y="100583"/>
                </a:lnTo>
                <a:lnTo>
                  <a:pt x="193547" y="131063"/>
                </a:lnTo>
                <a:lnTo>
                  <a:pt x="179831" y="158495"/>
                </a:lnTo>
                <a:lnTo>
                  <a:pt x="156971" y="179831"/>
                </a:lnTo>
                <a:lnTo>
                  <a:pt x="131063" y="195071"/>
                </a:lnTo>
                <a:lnTo>
                  <a:pt x="99059" y="199643"/>
                </a:lnTo>
                <a:lnTo>
                  <a:pt x="67055" y="195071"/>
                </a:lnTo>
                <a:lnTo>
                  <a:pt x="39623" y="179831"/>
                </a:lnTo>
                <a:lnTo>
                  <a:pt x="18287" y="158495"/>
                </a:lnTo>
                <a:lnTo>
                  <a:pt x="4571" y="131063"/>
                </a:lnTo>
                <a:lnTo>
                  <a:pt x="0" y="100583"/>
                </a:lnTo>
                <a:close/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5042820" y="2000409"/>
            <a:ext cx="99060" cy="121920"/>
          </a:xfrm>
          <a:custGeom>
            <a:avLst/>
            <a:gdLst/>
            <a:ahLst/>
            <a:cxnLst/>
            <a:rect l="l" t="t" r="r" b="b"/>
            <a:pathLst>
              <a:path w="99060" h="121919">
                <a:moveTo>
                  <a:pt x="18287" y="0"/>
                </a:moveTo>
                <a:lnTo>
                  <a:pt x="0" y="18288"/>
                </a:lnTo>
                <a:lnTo>
                  <a:pt x="41147" y="60960"/>
                </a:lnTo>
                <a:lnTo>
                  <a:pt x="0" y="102108"/>
                </a:lnTo>
                <a:lnTo>
                  <a:pt x="18287" y="121920"/>
                </a:lnTo>
                <a:lnTo>
                  <a:pt x="60959" y="79248"/>
                </a:lnTo>
                <a:lnTo>
                  <a:pt x="99059" y="79248"/>
                </a:lnTo>
                <a:lnTo>
                  <a:pt x="79247" y="60960"/>
                </a:lnTo>
                <a:lnTo>
                  <a:pt x="99059" y="41148"/>
                </a:lnTo>
                <a:lnTo>
                  <a:pt x="60959" y="41148"/>
                </a:lnTo>
                <a:lnTo>
                  <a:pt x="1828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5103779" y="2000409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2672" y="0"/>
                </a:moveTo>
                <a:lnTo>
                  <a:pt x="0" y="41148"/>
                </a:lnTo>
                <a:lnTo>
                  <a:pt x="38100" y="41148"/>
                </a:lnTo>
                <a:lnTo>
                  <a:pt x="60960" y="18288"/>
                </a:lnTo>
                <a:lnTo>
                  <a:pt x="42672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5103779" y="2079657"/>
            <a:ext cx="60960" cy="43180"/>
          </a:xfrm>
          <a:custGeom>
            <a:avLst/>
            <a:gdLst/>
            <a:ahLst/>
            <a:cxnLst/>
            <a:rect l="l" t="t" r="r" b="b"/>
            <a:pathLst>
              <a:path w="60960" h="43180">
                <a:moveTo>
                  <a:pt x="38100" y="0"/>
                </a:moveTo>
                <a:lnTo>
                  <a:pt x="0" y="0"/>
                </a:lnTo>
                <a:lnTo>
                  <a:pt x="42672" y="42672"/>
                </a:lnTo>
                <a:lnTo>
                  <a:pt x="60960" y="22860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430171" y="2443893"/>
            <a:ext cx="100965" cy="121920"/>
          </a:xfrm>
          <a:custGeom>
            <a:avLst/>
            <a:gdLst/>
            <a:ahLst/>
            <a:cxnLst/>
            <a:rect l="l" t="t" r="r" b="b"/>
            <a:pathLst>
              <a:path w="100964" h="121919">
                <a:moveTo>
                  <a:pt x="19812" y="0"/>
                </a:moveTo>
                <a:lnTo>
                  <a:pt x="0" y="18287"/>
                </a:lnTo>
                <a:lnTo>
                  <a:pt x="42672" y="60959"/>
                </a:lnTo>
                <a:lnTo>
                  <a:pt x="0" y="103631"/>
                </a:lnTo>
                <a:lnTo>
                  <a:pt x="19812" y="121920"/>
                </a:lnTo>
                <a:lnTo>
                  <a:pt x="62483" y="80772"/>
                </a:lnTo>
                <a:lnTo>
                  <a:pt x="100583" y="80772"/>
                </a:lnTo>
                <a:lnTo>
                  <a:pt x="80772" y="60959"/>
                </a:lnTo>
                <a:lnTo>
                  <a:pt x="100583" y="41148"/>
                </a:lnTo>
                <a:lnTo>
                  <a:pt x="62483" y="41148"/>
                </a:lnTo>
                <a:lnTo>
                  <a:pt x="19812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492656" y="2443893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1148" y="0"/>
                </a:moveTo>
                <a:lnTo>
                  <a:pt x="0" y="41148"/>
                </a:lnTo>
                <a:lnTo>
                  <a:pt x="38100" y="41148"/>
                </a:lnTo>
                <a:lnTo>
                  <a:pt x="60960" y="18287"/>
                </a:lnTo>
                <a:lnTo>
                  <a:pt x="41148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492656" y="2524665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38100" y="0"/>
                </a:moveTo>
                <a:lnTo>
                  <a:pt x="0" y="0"/>
                </a:lnTo>
                <a:lnTo>
                  <a:pt x="41148" y="41148"/>
                </a:lnTo>
                <a:lnTo>
                  <a:pt x="60960" y="22859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5245511" y="2443893"/>
            <a:ext cx="99060" cy="121920"/>
          </a:xfrm>
          <a:custGeom>
            <a:avLst/>
            <a:gdLst/>
            <a:ahLst/>
            <a:cxnLst/>
            <a:rect l="l" t="t" r="r" b="b"/>
            <a:pathLst>
              <a:path w="99060" h="121919">
                <a:moveTo>
                  <a:pt x="18287" y="0"/>
                </a:moveTo>
                <a:lnTo>
                  <a:pt x="0" y="18287"/>
                </a:lnTo>
                <a:lnTo>
                  <a:pt x="41148" y="60959"/>
                </a:lnTo>
                <a:lnTo>
                  <a:pt x="0" y="103631"/>
                </a:lnTo>
                <a:lnTo>
                  <a:pt x="18287" y="121920"/>
                </a:lnTo>
                <a:lnTo>
                  <a:pt x="60960" y="80772"/>
                </a:lnTo>
                <a:lnTo>
                  <a:pt x="99060" y="80772"/>
                </a:lnTo>
                <a:lnTo>
                  <a:pt x="80772" y="60959"/>
                </a:lnTo>
                <a:lnTo>
                  <a:pt x="99060" y="41148"/>
                </a:lnTo>
                <a:lnTo>
                  <a:pt x="60960" y="41148"/>
                </a:lnTo>
                <a:lnTo>
                  <a:pt x="1828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5306471" y="2443893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2672" y="0"/>
                </a:moveTo>
                <a:lnTo>
                  <a:pt x="0" y="41148"/>
                </a:lnTo>
                <a:lnTo>
                  <a:pt x="38100" y="41148"/>
                </a:lnTo>
                <a:lnTo>
                  <a:pt x="60960" y="18287"/>
                </a:lnTo>
                <a:lnTo>
                  <a:pt x="42672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5306471" y="2524665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38100" y="0"/>
                </a:moveTo>
                <a:lnTo>
                  <a:pt x="0" y="0"/>
                </a:lnTo>
                <a:lnTo>
                  <a:pt x="42672" y="41148"/>
                </a:lnTo>
                <a:lnTo>
                  <a:pt x="60960" y="22859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5245511" y="2962053"/>
            <a:ext cx="99060" cy="121920"/>
          </a:xfrm>
          <a:custGeom>
            <a:avLst/>
            <a:gdLst/>
            <a:ahLst/>
            <a:cxnLst/>
            <a:rect l="l" t="t" r="r" b="b"/>
            <a:pathLst>
              <a:path w="99060" h="121919">
                <a:moveTo>
                  <a:pt x="18287" y="0"/>
                </a:moveTo>
                <a:lnTo>
                  <a:pt x="0" y="18287"/>
                </a:lnTo>
                <a:lnTo>
                  <a:pt x="41148" y="60960"/>
                </a:lnTo>
                <a:lnTo>
                  <a:pt x="0" y="103632"/>
                </a:lnTo>
                <a:lnTo>
                  <a:pt x="18287" y="121920"/>
                </a:lnTo>
                <a:lnTo>
                  <a:pt x="60960" y="80772"/>
                </a:lnTo>
                <a:lnTo>
                  <a:pt x="99060" y="80772"/>
                </a:lnTo>
                <a:lnTo>
                  <a:pt x="80772" y="60960"/>
                </a:lnTo>
                <a:lnTo>
                  <a:pt x="99060" y="41148"/>
                </a:lnTo>
                <a:lnTo>
                  <a:pt x="60960" y="41148"/>
                </a:lnTo>
                <a:lnTo>
                  <a:pt x="1828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5306471" y="2962053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2672" y="0"/>
                </a:moveTo>
                <a:lnTo>
                  <a:pt x="0" y="41148"/>
                </a:lnTo>
                <a:lnTo>
                  <a:pt x="38100" y="41148"/>
                </a:lnTo>
                <a:lnTo>
                  <a:pt x="60960" y="18287"/>
                </a:lnTo>
                <a:lnTo>
                  <a:pt x="42672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5306471" y="3042825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38100" y="0"/>
                </a:moveTo>
                <a:lnTo>
                  <a:pt x="0" y="0"/>
                </a:lnTo>
                <a:lnTo>
                  <a:pt x="42672" y="41148"/>
                </a:lnTo>
                <a:lnTo>
                  <a:pt x="60960" y="22860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4840128" y="2962053"/>
            <a:ext cx="99060" cy="121920"/>
          </a:xfrm>
          <a:custGeom>
            <a:avLst/>
            <a:gdLst/>
            <a:ahLst/>
            <a:cxnLst/>
            <a:rect l="l" t="t" r="r" b="b"/>
            <a:pathLst>
              <a:path w="99060" h="121919">
                <a:moveTo>
                  <a:pt x="18287" y="0"/>
                </a:moveTo>
                <a:lnTo>
                  <a:pt x="0" y="18287"/>
                </a:lnTo>
                <a:lnTo>
                  <a:pt x="41148" y="60960"/>
                </a:lnTo>
                <a:lnTo>
                  <a:pt x="0" y="103632"/>
                </a:lnTo>
                <a:lnTo>
                  <a:pt x="18287" y="121920"/>
                </a:lnTo>
                <a:lnTo>
                  <a:pt x="60960" y="80772"/>
                </a:lnTo>
                <a:lnTo>
                  <a:pt x="99060" y="80772"/>
                </a:lnTo>
                <a:lnTo>
                  <a:pt x="79248" y="60960"/>
                </a:lnTo>
                <a:lnTo>
                  <a:pt x="99060" y="41148"/>
                </a:lnTo>
                <a:lnTo>
                  <a:pt x="60960" y="41148"/>
                </a:lnTo>
                <a:lnTo>
                  <a:pt x="18287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901088" y="2962053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41148" y="0"/>
                </a:moveTo>
                <a:lnTo>
                  <a:pt x="0" y="41148"/>
                </a:lnTo>
                <a:lnTo>
                  <a:pt x="38100" y="41148"/>
                </a:lnTo>
                <a:lnTo>
                  <a:pt x="60960" y="18287"/>
                </a:lnTo>
                <a:lnTo>
                  <a:pt x="41148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4901088" y="3042825"/>
            <a:ext cx="60960" cy="41275"/>
          </a:xfrm>
          <a:custGeom>
            <a:avLst/>
            <a:gdLst/>
            <a:ahLst/>
            <a:cxnLst/>
            <a:rect l="l" t="t" r="r" b="b"/>
            <a:pathLst>
              <a:path w="60960" h="41275">
                <a:moveTo>
                  <a:pt x="38100" y="0"/>
                </a:moveTo>
                <a:lnTo>
                  <a:pt x="0" y="0"/>
                </a:lnTo>
                <a:lnTo>
                  <a:pt x="41148" y="41148"/>
                </a:lnTo>
                <a:lnTo>
                  <a:pt x="60960" y="22860"/>
                </a:lnTo>
                <a:lnTo>
                  <a:pt x="3810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 txBox="1"/>
          <p:nvPr/>
        </p:nvSpPr>
        <p:spPr>
          <a:xfrm>
            <a:off x="580084" y="684698"/>
            <a:ext cx="4787900" cy="209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止过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合呢？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2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释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失活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得每次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新梯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时参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计算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了，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型容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止过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ct val="100000"/>
              </a:lnSpc>
              <a:spcBef>
                <a:spcPts val="77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释2：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5240" marR="3114040" algn="just">
              <a:lnSpc>
                <a:spcPct val="150000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机失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鼓励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散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，从这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角度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看随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失活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能起到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正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则化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作用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进而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防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止过拟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合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8" name="object 168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330325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33680">
              <a:lnSpc>
                <a:spcPct val="150000"/>
              </a:lnSpc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欠拟合、过拟合与  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503" y="2189013"/>
            <a:ext cx="893444" cy="187960"/>
          </a:xfrm>
          <a:custGeom>
            <a:avLst/>
            <a:gdLst/>
            <a:ahLst/>
            <a:cxnLst/>
            <a:rect l="l" t="t" r="r" b="b"/>
            <a:pathLst>
              <a:path w="893444" h="187960">
                <a:moveTo>
                  <a:pt x="0" y="0"/>
                </a:moveTo>
                <a:lnTo>
                  <a:pt x="893063" y="0"/>
                </a:lnTo>
                <a:lnTo>
                  <a:pt x="893063" y="187451"/>
                </a:lnTo>
                <a:lnTo>
                  <a:pt x="0" y="1874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4697" y="219612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SO</a:t>
            </a:r>
            <a:r>
              <a:rPr sz="900" spc="5" dirty="0">
                <a:latin typeface="微软雅黑" panose="020B0503020204020204" charset="-122"/>
                <a:cs typeface="微软雅黑" panose="020B0503020204020204" charset="-122"/>
              </a:rPr>
              <a:t>F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TMAX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901" y="2372947"/>
            <a:ext cx="118237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再谈激活函数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AutoNum type="arabicPeriod" startAt="5"/>
              <a:tabLst>
                <a:tab pos="140970" algn="l"/>
              </a:tabLst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动量法与自适应梯度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264" y="1003281"/>
            <a:ext cx="4376420" cy="95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超参数：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248920" indent="-236220">
              <a:lnSpc>
                <a:spcPct val="100000"/>
              </a:lnSpc>
              <a:buChar char="-"/>
              <a:tabLst>
                <a:tab pos="248285" algn="l"/>
                <a:tab pos="2489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网络结构——隐层神经元个数，网络层数，非线性单元选择等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-"/>
            </a:pP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248920" indent="-236220">
              <a:lnSpc>
                <a:spcPct val="100000"/>
              </a:lnSpc>
              <a:buChar char="-"/>
              <a:tabLst>
                <a:tab pos="248285" algn="l"/>
                <a:tab pos="248920" algn="l"/>
              </a:tabLst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优化相关</a:t>
            </a:r>
            <a:r>
              <a:rPr sz="1200" spc="-10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率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200" spc="-5" dirty="0"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比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率、正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则项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强度等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3023" y="132933"/>
            <a:ext cx="22567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神经</a:t>
            </a:r>
            <a:r>
              <a:rPr spc="-10" dirty="0"/>
              <a:t>网</a:t>
            </a:r>
            <a:r>
              <a:rPr spc="5" dirty="0"/>
              <a:t>络</a:t>
            </a:r>
            <a:r>
              <a:rPr spc="-10" dirty="0"/>
              <a:t>中的</a:t>
            </a:r>
            <a:r>
              <a:rPr spc="5" dirty="0"/>
              <a:t>超参数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1665089" y="2737555"/>
            <a:ext cx="2212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超参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要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何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找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合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适的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数？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5788" y="1004865"/>
            <a:ext cx="56515" cy="1728470"/>
          </a:xfrm>
          <a:custGeom>
            <a:avLst/>
            <a:gdLst/>
            <a:ahLst/>
            <a:cxnLst/>
            <a:rect l="l" t="t" r="r" b="b"/>
            <a:pathLst>
              <a:path w="56515" h="1728470">
                <a:moveTo>
                  <a:pt x="38100" y="48768"/>
                </a:moveTo>
                <a:lnTo>
                  <a:pt x="18287" y="48768"/>
                </a:lnTo>
                <a:lnTo>
                  <a:pt x="18287" y="1728216"/>
                </a:lnTo>
                <a:lnTo>
                  <a:pt x="38100" y="1728216"/>
                </a:lnTo>
                <a:lnTo>
                  <a:pt x="38100" y="48768"/>
                </a:lnTo>
                <a:close/>
              </a:path>
              <a:path w="56515" h="1728470">
                <a:moveTo>
                  <a:pt x="27431" y="0"/>
                </a:moveTo>
                <a:lnTo>
                  <a:pt x="0" y="57912"/>
                </a:lnTo>
                <a:lnTo>
                  <a:pt x="18287" y="57912"/>
                </a:lnTo>
                <a:lnTo>
                  <a:pt x="18287" y="48768"/>
                </a:lnTo>
                <a:lnTo>
                  <a:pt x="51816" y="48768"/>
                </a:lnTo>
                <a:lnTo>
                  <a:pt x="27431" y="0"/>
                </a:lnTo>
                <a:close/>
              </a:path>
              <a:path w="56515" h="1728470">
                <a:moveTo>
                  <a:pt x="51816" y="48768"/>
                </a:moveTo>
                <a:lnTo>
                  <a:pt x="38100" y="48768"/>
                </a:lnTo>
                <a:lnTo>
                  <a:pt x="38100" y="57912"/>
                </a:lnTo>
                <a:lnTo>
                  <a:pt x="56387" y="57912"/>
                </a:lnTo>
                <a:lnTo>
                  <a:pt x="51816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220" y="2705649"/>
            <a:ext cx="2019300" cy="56515"/>
          </a:xfrm>
          <a:custGeom>
            <a:avLst/>
            <a:gdLst/>
            <a:ahLst/>
            <a:cxnLst/>
            <a:rect l="l" t="t" r="r" b="b"/>
            <a:pathLst>
              <a:path w="2019300" h="56514">
                <a:moveTo>
                  <a:pt x="1962912" y="0"/>
                </a:moveTo>
                <a:lnTo>
                  <a:pt x="1962912" y="56387"/>
                </a:lnTo>
                <a:lnTo>
                  <a:pt x="1998525" y="38100"/>
                </a:lnTo>
                <a:lnTo>
                  <a:pt x="1972056" y="38100"/>
                </a:lnTo>
                <a:lnTo>
                  <a:pt x="1972056" y="18287"/>
                </a:lnTo>
                <a:lnTo>
                  <a:pt x="2000504" y="18287"/>
                </a:lnTo>
                <a:lnTo>
                  <a:pt x="1962912" y="0"/>
                </a:lnTo>
                <a:close/>
              </a:path>
              <a:path w="2019300" h="56514">
                <a:moveTo>
                  <a:pt x="1962912" y="18287"/>
                </a:moveTo>
                <a:lnTo>
                  <a:pt x="0" y="18287"/>
                </a:lnTo>
                <a:lnTo>
                  <a:pt x="0" y="38100"/>
                </a:lnTo>
                <a:lnTo>
                  <a:pt x="1962912" y="38100"/>
                </a:lnTo>
                <a:lnTo>
                  <a:pt x="1962912" y="18287"/>
                </a:lnTo>
                <a:close/>
              </a:path>
              <a:path w="2019300" h="56514">
                <a:moveTo>
                  <a:pt x="2000504" y="18287"/>
                </a:moveTo>
                <a:lnTo>
                  <a:pt x="1972056" y="18287"/>
                </a:lnTo>
                <a:lnTo>
                  <a:pt x="1972056" y="38100"/>
                </a:lnTo>
                <a:lnTo>
                  <a:pt x="1998525" y="38100"/>
                </a:lnTo>
                <a:lnTo>
                  <a:pt x="2019300" y="27431"/>
                </a:lnTo>
                <a:lnTo>
                  <a:pt x="2000504" y="18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6267" y="725782"/>
            <a:ext cx="615950" cy="1036955"/>
          </a:xfrm>
          <a:custGeom>
            <a:avLst/>
            <a:gdLst/>
            <a:ahLst/>
            <a:cxnLst/>
            <a:rect l="l" t="t" r="r" b="b"/>
            <a:pathLst>
              <a:path w="615950" h="1036955">
                <a:moveTo>
                  <a:pt x="0" y="871918"/>
                </a:moveTo>
                <a:lnTo>
                  <a:pt x="19568" y="928501"/>
                </a:lnTo>
                <a:lnTo>
                  <a:pt x="40599" y="978939"/>
                </a:lnTo>
                <a:lnTo>
                  <a:pt x="64190" y="1017088"/>
                </a:lnTo>
                <a:lnTo>
                  <a:pt x="91439" y="1036803"/>
                </a:lnTo>
                <a:lnTo>
                  <a:pt x="123443" y="1031938"/>
                </a:lnTo>
                <a:lnTo>
                  <a:pt x="171950" y="984599"/>
                </a:lnTo>
                <a:lnTo>
                  <a:pt x="199283" y="946642"/>
                </a:lnTo>
                <a:lnTo>
                  <a:pt x="228028" y="901255"/>
                </a:lnTo>
                <a:lnTo>
                  <a:pt x="257701" y="850010"/>
                </a:lnTo>
                <a:lnTo>
                  <a:pt x="287821" y="794480"/>
                </a:lnTo>
                <a:lnTo>
                  <a:pt x="317905" y="736234"/>
                </a:lnTo>
                <a:lnTo>
                  <a:pt x="347471" y="676846"/>
                </a:lnTo>
                <a:lnTo>
                  <a:pt x="366110" y="636990"/>
                </a:lnTo>
                <a:lnTo>
                  <a:pt x="385930" y="592011"/>
                </a:lnTo>
                <a:lnTo>
                  <a:pt x="406600" y="543007"/>
                </a:lnTo>
                <a:lnTo>
                  <a:pt x="427785" y="491078"/>
                </a:lnTo>
                <a:lnTo>
                  <a:pt x="449154" y="437321"/>
                </a:lnTo>
                <a:lnTo>
                  <a:pt x="470372" y="382835"/>
                </a:lnTo>
                <a:lnTo>
                  <a:pt x="491108" y="328721"/>
                </a:lnTo>
                <a:lnTo>
                  <a:pt x="511029" y="276075"/>
                </a:lnTo>
                <a:lnTo>
                  <a:pt x="529800" y="225997"/>
                </a:lnTo>
                <a:lnTo>
                  <a:pt x="547090" y="179586"/>
                </a:lnTo>
                <a:lnTo>
                  <a:pt x="562565" y="137941"/>
                </a:lnTo>
                <a:lnTo>
                  <a:pt x="575893" y="102160"/>
                </a:lnTo>
                <a:lnTo>
                  <a:pt x="586739" y="73342"/>
                </a:lnTo>
                <a:lnTo>
                  <a:pt x="609052" y="17168"/>
                </a:lnTo>
                <a:lnTo>
                  <a:pt x="615505" y="0"/>
                </a:lnTo>
                <a:lnTo>
                  <a:pt x="611385" y="8834"/>
                </a:lnTo>
                <a:lnTo>
                  <a:pt x="601979" y="30670"/>
                </a:lnTo>
              </a:path>
            </a:pathLst>
          </a:custGeom>
          <a:ln w="13715">
            <a:solidFill>
              <a:srgbClr val="E46C0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6267" y="1612941"/>
            <a:ext cx="1981200" cy="1043940"/>
          </a:xfrm>
          <a:custGeom>
            <a:avLst/>
            <a:gdLst/>
            <a:ahLst/>
            <a:cxnLst/>
            <a:rect l="l" t="t" r="r" b="b"/>
            <a:pathLst>
              <a:path w="1981200" h="1043939">
                <a:moveTo>
                  <a:pt x="0" y="0"/>
                </a:moveTo>
                <a:lnTo>
                  <a:pt x="21430" y="44883"/>
                </a:lnTo>
                <a:lnTo>
                  <a:pt x="42975" y="89696"/>
                </a:lnTo>
                <a:lnTo>
                  <a:pt x="64729" y="134349"/>
                </a:lnTo>
                <a:lnTo>
                  <a:pt x="86788" y="178753"/>
                </a:lnTo>
                <a:lnTo>
                  <a:pt x="109248" y="222819"/>
                </a:lnTo>
                <a:lnTo>
                  <a:pt x="132203" y="266457"/>
                </a:lnTo>
                <a:lnTo>
                  <a:pt x="155748" y="309578"/>
                </a:lnTo>
                <a:lnTo>
                  <a:pt x="179980" y="352093"/>
                </a:lnTo>
                <a:lnTo>
                  <a:pt x="204994" y="393912"/>
                </a:lnTo>
                <a:lnTo>
                  <a:pt x="230884" y="434946"/>
                </a:lnTo>
                <a:lnTo>
                  <a:pt x="257746" y="475106"/>
                </a:lnTo>
                <a:lnTo>
                  <a:pt x="285676" y="514303"/>
                </a:lnTo>
                <a:lnTo>
                  <a:pt x="314768" y="552447"/>
                </a:lnTo>
                <a:lnTo>
                  <a:pt x="345119" y="589449"/>
                </a:lnTo>
                <a:lnTo>
                  <a:pt x="376822" y="625219"/>
                </a:lnTo>
                <a:lnTo>
                  <a:pt x="409975" y="659668"/>
                </a:lnTo>
                <a:lnTo>
                  <a:pt x="444672" y="692708"/>
                </a:lnTo>
                <a:lnTo>
                  <a:pt x="481008" y="724248"/>
                </a:lnTo>
                <a:lnTo>
                  <a:pt x="519078" y="754199"/>
                </a:lnTo>
                <a:lnTo>
                  <a:pt x="558979" y="782472"/>
                </a:lnTo>
                <a:lnTo>
                  <a:pt x="600805" y="808978"/>
                </a:lnTo>
                <a:lnTo>
                  <a:pt x="644651" y="833627"/>
                </a:lnTo>
                <a:lnTo>
                  <a:pt x="682097" y="852457"/>
                </a:lnTo>
                <a:lnTo>
                  <a:pt x="720907" y="870030"/>
                </a:lnTo>
                <a:lnTo>
                  <a:pt x="761029" y="886397"/>
                </a:lnTo>
                <a:lnTo>
                  <a:pt x="802412" y="901605"/>
                </a:lnTo>
                <a:lnTo>
                  <a:pt x="845002" y="915704"/>
                </a:lnTo>
                <a:lnTo>
                  <a:pt x="888747" y="928743"/>
                </a:lnTo>
                <a:lnTo>
                  <a:pt x="933594" y="940769"/>
                </a:lnTo>
                <a:lnTo>
                  <a:pt x="979491" y="951833"/>
                </a:lnTo>
                <a:lnTo>
                  <a:pt x="1026385" y="961982"/>
                </a:lnTo>
                <a:lnTo>
                  <a:pt x="1074225" y="971266"/>
                </a:lnTo>
                <a:lnTo>
                  <a:pt x="1122957" y="979733"/>
                </a:lnTo>
                <a:lnTo>
                  <a:pt x="1172528" y="987432"/>
                </a:lnTo>
                <a:lnTo>
                  <a:pt x="1222887" y="994412"/>
                </a:lnTo>
                <a:lnTo>
                  <a:pt x="1273982" y="1000722"/>
                </a:lnTo>
                <a:lnTo>
                  <a:pt x="1325758" y="1006410"/>
                </a:lnTo>
                <a:lnTo>
                  <a:pt x="1378165" y="1011526"/>
                </a:lnTo>
                <a:lnTo>
                  <a:pt x="1431149" y="1016117"/>
                </a:lnTo>
                <a:lnTo>
                  <a:pt x="1484658" y="1020233"/>
                </a:lnTo>
                <a:lnTo>
                  <a:pt x="1538639" y="1023922"/>
                </a:lnTo>
                <a:lnTo>
                  <a:pt x="1593040" y="1027234"/>
                </a:lnTo>
                <a:lnTo>
                  <a:pt x="1647809" y="1030217"/>
                </a:lnTo>
                <a:lnTo>
                  <a:pt x="1702893" y="1032920"/>
                </a:lnTo>
                <a:lnTo>
                  <a:pt x="1758239" y="1035392"/>
                </a:lnTo>
                <a:lnTo>
                  <a:pt x="1813796" y="1037680"/>
                </a:lnTo>
                <a:lnTo>
                  <a:pt x="1869509" y="1039836"/>
                </a:lnTo>
                <a:lnTo>
                  <a:pt x="1925328" y="1041906"/>
                </a:lnTo>
                <a:lnTo>
                  <a:pt x="1981199" y="1043939"/>
                </a:lnTo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6267" y="1605321"/>
            <a:ext cx="1929764" cy="649605"/>
          </a:xfrm>
          <a:custGeom>
            <a:avLst/>
            <a:gdLst/>
            <a:ahLst/>
            <a:cxnLst/>
            <a:rect l="l" t="t" r="r" b="b"/>
            <a:pathLst>
              <a:path w="1929764" h="649605">
                <a:moveTo>
                  <a:pt x="0" y="0"/>
                </a:moveTo>
                <a:lnTo>
                  <a:pt x="1921" y="44447"/>
                </a:lnTo>
                <a:lnTo>
                  <a:pt x="4398" y="88656"/>
                </a:lnTo>
                <a:lnTo>
                  <a:pt x="7985" y="132429"/>
                </a:lnTo>
                <a:lnTo>
                  <a:pt x="13239" y="175568"/>
                </a:lnTo>
                <a:lnTo>
                  <a:pt x="20715" y="217875"/>
                </a:lnTo>
                <a:lnTo>
                  <a:pt x="30967" y="259153"/>
                </a:lnTo>
                <a:lnTo>
                  <a:pt x="44552" y="299203"/>
                </a:lnTo>
                <a:lnTo>
                  <a:pt x="62025" y="337828"/>
                </a:lnTo>
                <a:lnTo>
                  <a:pt x="83941" y="374830"/>
                </a:lnTo>
                <a:lnTo>
                  <a:pt x="110856" y="410012"/>
                </a:lnTo>
                <a:lnTo>
                  <a:pt x="143325" y="443175"/>
                </a:lnTo>
                <a:lnTo>
                  <a:pt x="181904" y="474122"/>
                </a:lnTo>
                <a:lnTo>
                  <a:pt x="227148" y="502655"/>
                </a:lnTo>
                <a:lnTo>
                  <a:pt x="279612" y="528576"/>
                </a:lnTo>
                <a:lnTo>
                  <a:pt x="339851" y="551687"/>
                </a:lnTo>
                <a:lnTo>
                  <a:pt x="403981" y="570396"/>
                </a:lnTo>
                <a:lnTo>
                  <a:pt x="474910" y="586626"/>
                </a:lnTo>
                <a:lnTo>
                  <a:pt x="512784" y="593864"/>
                </a:lnTo>
                <a:lnTo>
                  <a:pt x="552188" y="600544"/>
                </a:lnTo>
                <a:lnTo>
                  <a:pt x="593067" y="606687"/>
                </a:lnTo>
                <a:lnTo>
                  <a:pt x="635365" y="612314"/>
                </a:lnTo>
                <a:lnTo>
                  <a:pt x="679024" y="617445"/>
                </a:lnTo>
                <a:lnTo>
                  <a:pt x="723988" y="622102"/>
                </a:lnTo>
                <a:lnTo>
                  <a:pt x="770201" y="626304"/>
                </a:lnTo>
                <a:lnTo>
                  <a:pt x="817608" y="630072"/>
                </a:lnTo>
                <a:lnTo>
                  <a:pt x="866150" y="633428"/>
                </a:lnTo>
                <a:lnTo>
                  <a:pt x="915772" y="636391"/>
                </a:lnTo>
                <a:lnTo>
                  <a:pt x="966418" y="638982"/>
                </a:lnTo>
                <a:lnTo>
                  <a:pt x="1018031" y="641222"/>
                </a:lnTo>
                <a:lnTo>
                  <a:pt x="1070555" y="643132"/>
                </a:lnTo>
                <a:lnTo>
                  <a:pt x="1123934" y="644733"/>
                </a:lnTo>
                <a:lnTo>
                  <a:pt x="1178110" y="646044"/>
                </a:lnTo>
                <a:lnTo>
                  <a:pt x="1233029" y="647086"/>
                </a:lnTo>
                <a:lnTo>
                  <a:pt x="1288632" y="647881"/>
                </a:lnTo>
                <a:lnTo>
                  <a:pt x="1344865" y="648449"/>
                </a:lnTo>
                <a:lnTo>
                  <a:pt x="1401670" y="648810"/>
                </a:lnTo>
                <a:lnTo>
                  <a:pt x="1458991" y="648985"/>
                </a:lnTo>
                <a:lnTo>
                  <a:pt x="1516773" y="648995"/>
                </a:lnTo>
                <a:lnTo>
                  <a:pt x="1574957" y="648861"/>
                </a:lnTo>
                <a:lnTo>
                  <a:pt x="1633489" y="648603"/>
                </a:lnTo>
                <a:lnTo>
                  <a:pt x="1692312" y="648241"/>
                </a:lnTo>
                <a:lnTo>
                  <a:pt x="1751369" y="647797"/>
                </a:lnTo>
                <a:lnTo>
                  <a:pt x="1810604" y="647291"/>
                </a:lnTo>
                <a:lnTo>
                  <a:pt x="1869961" y="646744"/>
                </a:lnTo>
                <a:lnTo>
                  <a:pt x="1929383" y="646175"/>
                </a:lnTo>
              </a:path>
            </a:pathLst>
          </a:custGeom>
          <a:ln w="12191">
            <a:solidFill>
              <a:srgbClr val="4F62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6267" y="1597701"/>
            <a:ext cx="1937385" cy="848994"/>
          </a:xfrm>
          <a:custGeom>
            <a:avLst/>
            <a:gdLst/>
            <a:ahLst/>
            <a:cxnLst/>
            <a:rect l="l" t="t" r="r" b="b"/>
            <a:pathLst>
              <a:path w="1937385" h="848994">
                <a:moveTo>
                  <a:pt x="0" y="0"/>
                </a:moveTo>
                <a:lnTo>
                  <a:pt x="40074" y="31985"/>
                </a:lnTo>
                <a:lnTo>
                  <a:pt x="80194" y="63898"/>
                </a:lnTo>
                <a:lnTo>
                  <a:pt x="120387" y="95687"/>
                </a:lnTo>
                <a:lnTo>
                  <a:pt x="160677" y="127302"/>
                </a:lnTo>
                <a:lnTo>
                  <a:pt x="201091" y="158691"/>
                </a:lnTo>
                <a:lnTo>
                  <a:pt x="241653" y="189802"/>
                </a:lnTo>
                <a:lnTo>
                  <a:pt x="282391" y="220584"/>
                </a:lnTo>
                <a:lnTo>
                  <a:pt x="323329" y="250987"/>
                </a:lnTo>
                <a:lnTo>
                  <a:pt x="364493" y="280958"/>
                </a:lnTo>
                <a:lnTo>
                  <a:pt x="405909" y="310446"/>
                </a:lnTo>
                <a:lnTo>
                  <a:pt x="447602" y="339399"/>
                </a:lnTo>
                <a:lnTo>
                  <a:pt x="489599" y="367768"/>
                </a:lnTo>
                <a:lnTo>
                  <a:pt x="531924" y="395499"/>
                </a:lnTo>
                <a:lnTo>
                  <a:pt x="574604" y="422543"/>
                </a:lnTo>
                <a:lnTo>
                  <a:pt x="617664" y="448846"/>
                </a:lnTo>
                <a:lnTo>
                  <a:pt x="661129" y="474359"/>
                </a:lnTo>
                <a:lnTo>
                  <a:pt x="705027" y="499030"/>
                </a:lnTo>
                <a:lnTo>
                  <a:pt x="749381" y="522807"/>
                </a:lnTo>
                <a:lnTo>
                  <a:pt x="794218" y="545639"/>
                </a:lnTo>
                <a:lnTo>
                  <a:pt x="839564" y="567475"/>
                </a:lnTo>
                <a:lnTo>
                  <a:pt x="885443" y="588263"/>
                </a:lnTo>
                <a:lnTo>
                  <a:pt x="931024" y="607142"/>
                </a:lnTo>
                <a:lnTo>
                  <a:pt x="979391" y="625145"/>
                </a:lnTo>
                <a:lnTo>
                  <a:pt x="1030160" y="642303"/>
                </a:lnTo>
                <a:lnTo>
                  <a:pt x="1082943" y="658647"/>
                </a:lnTo>
                <a:lnTo>
                  <a:pt x="1137354" y="674207"/>
                </a:lnTo>
                <a:lnTo>
                  <a:pt x="1193008" y="689016"/>
                </a:lnTo>
                <a:lnTo>
                  <a:pt x="1249516" y="703103"/>
                </a:lnTo>
                <a:lnTo>
                  <a:pt x="1306493" y="716499"/>
                </a:lnTo>
                <a:lnTo>
                  <a:pt x="1363553" y="729236"/>
                </a:lnTo>
                <a:lnTo>
                  <a:pt x="1420309" y="741345"/>
                </a:lnTo>
                <a:lnTo>
                  <a:pt x="1476374" y="752855"/>
                </a:lnTo>
                <a:lnTo>
                  <a:pt x="1531363" y="763799"/>
                </a:lnTo>
                <a:lnTo>
                  <a:pt x="1584888" y="774208"/>
                </a:lnTo>
                <a:lnTo>
                  <a:pt x="1636564" y="784111"/>
                </a:lnTo>
                <a:lnTo>
                  <a:pt x="1686003" y="793540"/>
                </a:lnTo>
                <a:lnTo>
                  <a:pt x="1732820" y="802526"/>
                </a:lnTo>
                <a:lnTo>
                  <a:pt x="1776627" y="811100"/>
                </a:lnTo>
                <a:lnTo>
                  <a:pt x="1817039" y="819292"/>
                </a:lnTo>
                <a:lnTo>
                  <a:pt x="1886131" y="834657"/>
                </a:lnTo>
                <a:lnTo>
                  <a:pt x="1914038" y="841891"/>
                </a:lnTo>
                <a:lnTo>
                  <a:pt x="1937003" y="848867"/>
                </a:lnTo>
              </a:path>
            </a:pathLst>
          </a:custGeom>
          <a:ln w="12191">
            <a:solidFill>
              <a:srgbClr val="3185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47582" y="1153758"/>
            <a:ext cx="1124585" cy="881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24765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603885">
              <a:lnSpc>
                <a:spcPct val="100000"/>
              </a:lnSpc>
              <a:spcBef>
                <a:spcPts val="63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3834" y="2545169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中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0796" y="1744005"/>
            <a:ext cx="202692" cy="10972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40796" y="1224321"/>
            <a:ext cx="175260" cy="38100"/>
          </a:xfrm>
          <a:custGeom>
            <a:avLst/>
            <a:gdLst/>
            <a:ahLst/>
            <a:cxnLst/>
            <a:rect l="l" t="t" r="r" b="b"/>
            <a:pathLst>
              <a:path w="175259" h="38100">
                <a:moveTo>
                  <a:pt x="38100" y="0"/>
                </a:moveTo>
                <a:lnTo>
                  <a:pt x="0" y="19812"/>
                </a:lnTo>
                <a:lnTo>
                  <a:pt x="38100" y="38100"/>
                </a:lnTo>
                <a:lnTo>
                  <a:pt x="38100" y="21336"/>
                </a:lnTo>
                <a:lnTo>
                  <a:pt x="32004" y="21336"/>
                </a:lnTo>
                <a:lnTo>
                  <a:pt x="32004" y="16763"/>
                </a:lnTo>
                <a:lnTo>
                  <a:pt x="38100" y="16569"/>
                </a:lnTo>
                <a:lnTo>
                  <a:pt x="38100" y="0"/>
                </a:lnTo>
                <a:close/>
              </a:path>
              <a:path w="175259" h="38100">
                <a:moveTo>
                  <a:pt x="38100" y="16569"/>
                </a:moveTo>
                <a:lnTo>
                  <a:pt x="32004" y="16763"/>
                </a:lnTo>
                <a:lnTo>
                  <a:pt x="32004" y="21336"/>
                </a:lnTo>
                <a:lnTo>
                  <a:pt x="38100" y="21141"/>
                </a:lnTo>
                <a:lnTo>
                  <a:pt x="38100" y="16569"/>
                </a:lnTo>
                <a:close/>
              </a:path>
              <a:path w="175259" h="38100">
                <a:moveTo>
                  <a:pt x="38100" y="21141"/>
                </a:moveTo>
                <a:lnTo>
                  <a:pt x="32004" y="21336"/>
                </a:lnTo>
                <a:lnTo>
                  <a:pt x="38100" y="21336"/>
                </a:lnTo>
                <a:lnTo>
                  <a:pt x="38100" y="21141"/>
                </a:lnTo>
                <a:close/>
              </a:path>
              <a:path w="175259" h="38100">
                <a:moveTo>
                  <a:pt x="175260" y="12191"/>
                </a:moveTo>
                <a:lnTo>
                  <a:pt x="38100" y="16569"/>
                </a:lnTo>
                <a:lnTo>
                  <a:pt x="38100" y="21141"/>
                </a:lnTo>
                <a:lnTo>
                  <a:pt x="175260" y="16763"/>
                </a:lnTo>
                <a:lnTo>
                  <a:pt x="17526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39856" y="2446569"/>
            <a:ext cx="131063" cy="86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88367" y="2044233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8100" h="165100">
                <a:moveTo>
                  <a:pt x="16763" y="126492"/>
                </a:moveTo>
                <a:lnTo>
                  <a:pt x="0" y="126492"/>
                </a:lnTo>
                <a:lnTo>
                  <a:pt x="18287" y="164592"/>
                </a:lnTo>
                <a:lnTo>
                  <a:pt x="34930" y="132587"/>
                </a:lnTo>
                <a:lnTo>
                  <a:pt x="16763" y="132587"/>
                </a:lnTo>
                <a:lnTo>
                  <a:pt x="16763" y="126492"/>
                </a:lnTo>
                <a:close/>
              </a:path>
              <a:path w="38100" h="165100">
                <a:moveTo>
                  <a:pt x="21336" y="0"/>
                </a:moveTo>
                <a:lnTo>
                  <a:pt x="16763" y="0"/>
                </a:lnTo>
                <a:lnTo>
                  <a:pt x="16763" y="132587"/>
                </a:lnTo>
                <a:lnTo>
                  <a:pt x="21336" y="132587"/>
                </a:lnTo>
                <a:lnTo>
                  <a:pt x="21336" y="0"/>
                </a:lnTo>
                <a:close/>
              </a:path>
              <a:path w="38100" h="165100">
                <a:moveTo>
                  <a:pt x="38100" y="126492"/>
                </a:moveTo>
                <a:lnTo>
                  <a:pt x="21336" y="126492"/>
                </a:lnTo>
                <a:lnTo>
                  <a:pt x="21336" y="132587"/>
                </a:lnTo>
                <a:lnTo>
                  <a:pt x="34930" y="132587"/>
                </a:lnTo>
                <a:lnTo>
                  <a:pt x="38100" y="126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468356" y="138710"/>
            <a:ext cx="12661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学习</a:t>
            </a:r>
            <a:r>
              <a:rPr spc="-10" dirty="0"/>
              <a:t>率</a:t>
            </a:r>
            <a:r>
              <a:rPr spc="5" dirty="0"/>
              <a:t>设置</a:t>
            </a:r>
            <a:endParaRPr spc="5" dirty="0"/>
          </a:p>
        </p:txBody>
      </p:sp>
      <p:sp>
        <p:nvSpPr>
          <p:cNvPr id="15" name="object 15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5788" y="999141"/>
            <a:ext cx="56515" cy="1728470"/>
          </a:xfrm>
          <a:custGeom>
            <a:avLst/>
            <a:gdLst/>
            <a:ahLst/>
            <a:cxnLst/>
            <a:rect l="l" t="t" r="r" b="b"/>
            <a:pathLst>
              <a:path w="56515" h="1728470">
                <a:moveTo>
                  <a:pt x="38100" y="48767"/>
                </a:moveTo>
                <a:lnTo>
                  <a:pt x="18287" y="48767"/>
                </a:lnTo>
                <a:lnTo>
                  <a:pt x="18287" y="1728215"/>
                </a:lnTo>
                <a:lnTo>
                  <a:pt x="38100" y="1728215"/>
                </a:lnTo>
                <a:lnTo>
                  <a:pt x="38100" y="48767"/>
                </a:lnTo>
                <a:close/>
              </a:path>
              <a:path w="56515" h="1728470">
                <a:moveTo>
                  <a:pt x="27431" y="0"/>
                </a:moveTo>
                <a:lnTo>
                  <a:pt x="0" y="57911"/>
                </a:lnTo>
                <a:lnTo>
                  <a:pt x="18287" y="57911"/>
                </a:lnTo>
                <a:lnTo>
                  <a:pt x="18287" y="48767"/>
                </a:lnTo>
                <a:lnTo>
                  <a:pt x="51815" y="48767"/>
                </a:lnTo>
                <a:lnTo>
                  <a:pt x="27431" y="0"/>
                </a:lnTo>
                <a:close/>
              </a:path>
              <a:path w="56515" h="1728470">
                <a:moveTo>
                  <a:pt x="51815" y="48767"/>
                </a:moveTo>
                <a:lnTo>
                  <a:pt x="38100" y="48767"/>
                </a:lnTo>
                <a:lnTo>
                  <a:pt x="38100" y="57911"/>
                </a:lnTo>
                <a:lnTo>
                  <a:pt x="56387" y="57911"/>
                </a:lnTo>
                <a:lnTo>
                  <a:pt x="51815" y="48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220" y="2699925"/>
            <a:ext cx="2019300" cy="56515"/>
          </a:xfrm>
          <a:custGeom>
            <a:avLst/>
            <a:gdLst/>
            <a:ahLst/>
            <a:cxnLst/>
            <a:rect l="l" t="t" r="r" b="b"/>
            <a:pathLst>
              <a:path w="2019300" h="56514">
                <a:moveTo>
                  <a:pt x="1962912" y="0"/>
                </a:moveTo>
                <a:lnTo>
                  <a:pt x="1962912" y="56388"/>
                </a:lnTo>
                <a:lnTo>
                  <a:pt x="1998525" y="38100"/>
                </a:lnTo>
                <a:lnTo>
                  <a:pt x="1972056" y="38100"/>
                </a:lnTo>
                <a:lnTo>
                  <a:pt x="1972056" y="18288"/>
                </a:lnTo>
                <a:lnTo>
                  <a:pt x="2000504" y="18288"/>
                </a:lnTo>
                <a:lnTo>
                  <a:pt x="1962912" y="0"/>
                </a:lnTo>
                <a:close/>
              </a:path>
              <a:path w="2019300" h="56514">
                <a:moveTo>
                  <a:pt x="1962912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1962912" y="38100"/>
                </a:lnTo>
                <a:lnTo>
                  <a:pt x="1962912" y="18288"/>
                </a:lnTo>
                <a:close/>
              </a:path>
              <a:path w="2019300" h="56514">
                <a:moveTo>
                  <a:pt x="2000504" y="18288"/>
                </a:moveTo>
                <a:lnTo>
                  <a:pt x="1972056" y="18288"/>
                </a:lnTo>
                <a:lnTo>
                  <a:pt x="1972056" y="38100"/>
                </a:lnTo>
                <a:lnTo>
                  <a:pt x="1998525" y="38100"/>
                </a:lnTo>
                <a:lnTo>
                  <a:pt x="2019300" y="27431"/>
                </a:lnTo>
                <a:lnTo>
                  <a:pt x="2000504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6267" y="720058"/>
            <a:ext cx="615950" cy="1036955"/>
          </a:xfrm>
          <a:custGeom>
            <a:avLst/>
            <a:gdLst/>
            <a:ahLst/>
            <a:cxnLst/>
            <a:rect l="l" t="t" r="r" b="b"/>
            <a:pathLst>
              <a:path w="615950" h="1036955">
                <a:moveTo>
                  <a:pt x="0" y="871918"/>
                </a:moveTo>
                <a:lnTo>
                  <a:pt x="19568" y="928501"/>
                </a:lnTo>
                <a:lnTo>
                  <a:pt x="40599" y="978939"/>
                </a:lnTo>
                <a:lnTo>
                  <a:pt x="64190" y="1017088"/>
                </a:lnTo>
                <a:lnTo>
                  <a:pt x="91439" y="1036803"/>
                </a:lnTo>
                <a:lnTo>
                  <a:pt x="123443" y="1031938"/>
                </a:lnTo>
                <a:lnTo>
                  <a:pt x="171950" y="984599"/>
                </a:lnTo>
                <a:lnTo>
                  <a:pt x="199283" y="946642"/>
                </a:lnTo>
                <a:lnTo>
                  <a:pt x="228028" y="901255"/>
                </a:lnTo>
                <a:lnTo>
                  <a:pt x="257701" y="850010"/>
                </a:lnTo>
                <a:lnTo>
                  <a:pt x="287821" y="794480"/>
                </a:lnTo>
                <a:lnTo>
                  <a:pt x="317905" y="736234"/>
                </a:lnTo>
                <a:lnTo>
                  <a:pt x="347471" y="676846"/>
                </a:lnTo>
                <a:lnTo>
                  <a:pt x="366110" y="636990"/>
                </a:lnTo>
                <a:lnTo>
                  <a:pt x="385930" y="592011"/>
                </a:lnTo>
                <a:lnTo>
                  <a:pt x="406600" y="543007"/>
                </a:lnTo>
                <a:lnTo>
                  <a:pt x="427785" y="491078"/>
                </a:lnTo>
                <a:lnTo>
                  <a:pt x="449154" y="437321"/>
                </a:lnTo>
                <a:lnTo>
                  <a:pt x="470372" y="382835"/>
                </a:lnTo>
                <a:lnTo>
                  <a:pt x="491108" y="328721"/>
                </a:lnTo>
                <a:lnTo>
                  <a:pt x="511029" y="276075"/>
                </a:lnTo>
                <a:lnTo>
                  <a:pt x="529800" y="225997"/>
                </a:lnTo>
                <a:lnTo>
                  <a:pt x="547090" y="179586"/>
                </a:lnTo>
                <a:lnTo>
                  <a:pt x="562565" y="137941"/>
                </a:lnTo>
                <a:lnTo>
                  <a:pt x="575893" y="102160"/>
                </a:lnTo>
                <a:lnTo>
                  <a:pt x="586739" y="73342"/>
                </a:lnTo>
                <a:lnTo>
                  <a:pt x="609052" y="17168"/>
                </a:lnTo>
                <a:lnTo>
                  <a:pt x="615505" y="0"/>
                </a:lnTo>
                <a:lnTo>
                  <a:pt x="611385" y="8834"/>
                </a:lnTo>
                <a:lnTo>
                  <a:pt x="601979" y="30670"/>
                </a:lnTo>
              </a:path>
            </a:pathLst>
          </a:custGeom>
          <a:ln w="38099">
            <a:solidFill>
              <a:srgbClr val="E46C0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6267" y="1607217"/>
            <a:ext cx="1981200" cy="1043940"/>
          </a:xfrm>
          <a:custGeom>
            <a:avLst/>
            <a:gdLst/>
            <a:ahLst/>
            <a:cxnLst/>
            <a:rect l="l" t="t" r="r" b="b"/>
            <a:pathLst>
              <a:path w="1981200" h="1043939">
                <a:moveTo>
                  <a:pt x="0" y="0"/>
                </a:moveTo>
                <a:lnTo>
                  <a:pt x="21430" y="44883"/>
                </a:lnTo>
                <a:lnTo>
                  <a:pt x="42975" y="89696"/>
                </a:lnTo>
                <a:lnTo>
                  <a:pt x="64729" y="134349"/>
                </a:lnTo>
                <a:lnTo>
                  <a:pt x="86788" y="178753"/>
                </a:lnTo>
                <a:lnTo>
                  <a:pt x="109248" y="222819"/>
                </a:lnTo>
                <a:lnTo>
                  <a:pt x="132203" y="266457"/>
                </a:lnTo>
                <a:lnTo>
                  <a:pt x="155748" y="309578"/>
                </a:lnTo>
                <a:lnTo>
                  <a:pt x="179980" y="352093"/>
                </a:lnTo>
                <a:lnTo>
                  <a:pt x="204994" y="393912"/>
                </a:lnTo>
                <a:lnTo>
                  <a:pt x="230884" y="434946"/>
                </a:lnTo>
                <a:lnTo>
                  <a:pt x="257746" y="475106"/>
                </a:lnTo>
                <a:lnTo>
                  <a:pt x="285676" y="514303"/>
                </a:lnTo>
                <a:lnTo>
                  <a:pt x="314768" y="552447"/>
                </a:lnTo>
                <a:lnTo>
                  <a:pt x="345119" y="589449"/>
                </a:lnTo>
                <a:lnTo>
                  <a:pt x="376822" y="625219"/>
                </a:lnTo>
                <a:lnTo>
                  <a:pt x="409975" y="659668"/>
                </a:lnTo>
                <a:lnTo>
                  <a:pt x="444672" y="692708"/>
                </a:lnTo>
                <a:lnTo>
                  <a:pt x="481008" y="724248"/>
                </a:lnTo>
                <a:lnTo>
                  <a:pt x="519078" y="754199"/>
                </a:lnTo>
                <a:lnTo>
                  <a:pt x="558979" y="782472"/>
                </a:lnTo>
                <a:lnTo>
                  <a:pt x="600805" y="808978"/>
                </a:lnTo>
                <a:lnTo>
                  <a:pt x="644651" y="833627"/>
                </a:lnTo>
                <a:lnTo>
                  <a:pt x="682097" y="852457"/>
                </a:lnTo>
                <a:lnTo>
                  <a:pt x="720907" y="870030"/>
                </a:lnTo>
                <a:lnTo>
                  <a:pt x="761029" y="886397"/>
                </a:lnTo>
                <a:lnTo>
                  <a:pt x="802412" y="901605"/>
                </a:lnTo>
                <a:lnTo>
                  <a:pt x="845002" y="915704"/>
                </a:lnTo>
                <a:lnTo>
                  <a:pt x="888747" y="928743"/>
                </a:lnTo>
                <a:lnTo>
                  <a:pt x="933594" y="940769"/>
                </a:lnTo>
                <a:lnTo>
                  <a:pt x="979491" y="951833"/>
                </a:lnTo>
                <a:lnTo>
                  <a:pt x="1026385" y="961982"/>
                </a:lnTo>
                <a:lnTo>
                  <a:pt x="1074225" y="971266"/>
                </a:lnTo>
                <a:lnTo>
                  <a:pt x="1122957" y="979733"/>
                </a:lnTo>
                <a:lnTo>
                  <a:pt x="1172528" y="987432"/>
                </a:lnTo>
                <a:lnTo>
                  <a:pt x="1222887" y="994412"/>
                </a:lnTo>
                <a:lnTo>
                  <a:pt x="1273982" y="1000722"/>
                </a:lnTo>
                <a:lnTo>
                  <a:pt x="1325758" y="1006410"/>
                </a:lnTo>
                <a:lnTo>
                  <a:pt x="1378165" y="1011526"/>
                </a:lnTo>
                <a:lnTo>
                  <a:pt x="1431149" y="1016117"/>
                </a:lnTo>
                <a:lnTo>
                  <a:pt x="1484658" y="1020233"/>
                </a:lnTo>
                <a:lnTo>
                  <a:pt x="1538639" y="1023922"/>
                </a:lnTo>
                <a:lnTo>
                  <a:pt x="1593040" y="1027234"/>
                </a:lnTo>
                <a:lnTo>
                  <a:pt x="1647809" y="1030217"/>
                </a:lnTo>
                <a:lnTo>
                  <a:pt x="1702893" y="1032920"/>
                </a:lnTo>
                <a:lnTo>
                  <a:pt x="1758239" y="1035392"/>
                </a:lnTo>
                <a:lnTo>
                  <a:pt x="1813796" y="1037680"/>
                </a:lnTo>
                <a:lnTo>
                  <a:pt x="1869509" y="1039836"/>
                </a:lnTo>
                <a:lnTo>
                  <a:pt x="1925328" y="1041906"/>
                </a:lnTo>
                <a:lnTo>
                  <a:pt x="1981199" y="1043939"/>
                </a:lnTo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6267" y="1599597"/>
            <a:ext cx="1929764" cy="649605"/>
          </a:xfrm>
          <a:custGeom>
            <a:avLst/>
            <a:gdLst/>
            <a:ahLst/>
            <a:cxnLst/>
            <a:rect l="l" t="t" r="r" b="b"/>
            <a:pathLst>
              <a:path w="1929764" h="649605">
                <a:moveTo>
                  <a:pt x="0" y="0"/>
                </a:moveTo>
                <a:lnTo>
                  <a:pt x="1921" y="44447"/>
                </a:lnTo>
                <a:lnTo>
                  <a:pt x="4398" y="88656"/>
                </a:lnTo>
                <a:lnTo>
                  <a:pt x="7985" y="132429"/>
                </a:lnTo>
                <a:lnTo>
                  <a:pt x="13239" y="175568"/>
                </a:lnTo>
                <a:lnTo>
                  <a:pt x="20715" y="217875"/>
                </a:lnTo>
                <a:lnTo>
                  <a:pt x="30967" y="259153"/>
                </a:lnTo>
                <a:lnTo>
                  <a:pt x="44552" y="299203"/>
                </a:lnTo>
                <a:lnTo>
                  <a:pt x="62025" y="337828"/>
                </a:lnTo>
                <a:lnTo>
                  <a:pt x="83941" y="374830"/>
                </a:lnTo>
                <a:lnTo>
                  <a:pt x="110856" y="410012"/>
                </a:lnTo>
                <a:lnTo>
                  <a:pt x="143325" y="443175"/>
                </a:lnTo>
                <a:lnTo>
                  <a:pt x="181904" y="474122"/>
                </a:lnTo>
                <a:lnTo>
                  <a:pt x="227148" y="502655"/>
                </a:lnTo>
                <a:lnTo>
                  <a:pt x="279612" y="528576"/>
                </a:lnTo>
                <a:lnTo>
                  <a:pt x="339851" y="551687"/>
                </a:lnTo>
                <a:lnTo>
                  <a:pt x="403981" y="570396"/>
                </a:lnTo>
                <a:lnTo>
                  <a:pt x="474910" y="586626"/>
                </a:lnTo>
                <a:lnTo>
                  <a:pt x="512784" y="593864"/>
                </a:lnTo>
                <a:lnTo>
                  <a:pt x="552188" y="600544"/>
                </a:lnTo>
                <a:lnTo>
                  <a:pt x="593067" y="606687"/>
                </a:lnTo>
                <a:lnTo>
                  <a:pt x="635365" y="612314"/>
                </a:lnTo>
                <a:lnTo>
                  <a:pt x="679024" y="617445"/>
                </a:lnTo>
                <a:lnTo>
                  <a:pt x="723988" y="622102"/>
                </a:lnTo>
                <a:lnTo>
                  <a:pt x="770201" y="626304"/>
                </a:lnTo>
                <a:lnTo>
                  <a:pt x="817608" y="630072"/>
                </a:lnTo>
                <a:lnTo>
                  <a:pt x="866150" y="633428"/>
                </a:lnTo>
                <a:lnTo>
                  <a:pt x="915772" y="636391"/>
                </a:lnTo>
                <a:lnTo>
                  <a:pt x="966418" y="638982"/>
                </a:lnTo>
                <a:lnTo>
                  <a:pt x="1018031" y="641222"/>
                </a:lnTo>
                <a:lnTo>
                  <a:pt x="1070555" y="643132"/>
                </a:lnTo>
                <a:lnTo>
                  <a:pt x="1123934" y="644733"/>
                </a:lnTo>
                <a:lnTo>
                  <a:pt x="1178110" y="646044"/>
                </a:lnTo>
                <a:lnTo>
                  <a:pt x="1233029" y="647086"/>
                </a:lnTo>
                <a:lnTo>
                  <a:pt x="1288632" y="647881"/>
                </a:lnTo>
                <a:lnTo>
                  <a:pt x="1344865" y="648449"/>
                </a:lnTo>
                <a:lnTo>
                  <a:pt x="1401670" y="648810"/>
                </a:lnTo>
                <a:lnTo>
                  <a:pt x="1458991" y="648985"/>
                </a:lnTo>
                <a:lnTo>
                  <a:pt x="1516773" y="648995"/>
                </a:lnTo>
                <a:lnTo>
                  <a:pt x="1574957" y="648861"/>
                </a:lnTo>
                <a:lnTo>
                  <a:pt x="1633489" y="648603"/>
                </a:lnTo>
                <a:lnTo>
                  <a:pt x="1692312" y="648241"/>
                </a:lnTo>
                <a:lnTo>
                  <a:pt x="1751369" y="647797"/>
                </a:lnTo>
                <a:lnTo>
                  <a:pt x="1810604" y="647291"/>
                </a:lnTo>
                <a:lnTo>
                  <a:pt x="1869961" y="646744"/>
                </a:lnTo>
                <a:lnTo>
                  <a:pt x="1929383" y="646175"/>
                </a:lnTo>
              </a:path>
            </a:pathLst>
          </a:custGeom>
          <a:ln w="12191">
            <a:solidFill>
              <a:srgbClr val="4F62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6267" y="1591977"/>
            <a:ext cx="1937385" cy="848994"/>
          </a:xfrm>
          <a:custGeom>
            <a:avLst/>
            <a:gdLst/>
            <a:ahLst/>
            <a:cxnLst/>
            <a:rect l="l" t="t" r="r" b="b"/>
            <a:pathLst>
              <a:path w="1937385" h="848994">
                <a:moveTo>
                  <a:pt x="0" y="0"/>
                </a:moveTo>
                <a:lnTo>
                  <a:pt x="40074" y="31985"/>
                </a:lnTo>
                <a:lnTo>
                  <a:pt x="80194" y="63898"/>
                </a:lnTo>
                <a:lnTo>
                  <a:pt x="120387" y="95687"/>
                </a:lnTo>
                <a:lnTo>
                  <a:pt x="160677" y="127302"/>
                </a:lnTo>
                <a:lnTo>
                  <a:pt x="201091" y="158691"/>
                </a:lnTo>
                <a:lnTo>
                  <a:pt x="241653" y="189802"/>
                </a:lnTo>
                <a:lnTo>
                  <a:pt x="282391" y="220584"/>
                </a:lnTo>
                <a:lnTo>
                  <a:pt x="323329" y="250987"/>
                </a:lnTo>
                <a:lnTo>
                  <a:pt x="364493" y="280958"/>
                </a:lnTo>
                <a:lnTo>
                  <a:pt x="405909" y="310446"/>
                </a:lnTo>
                <a:lnTo>
                  <a:pt x="447602" y="339399"/>
                </a:lnTo>
                <a:lnTo>
                  <a:pt x="489599" y="367768"/>
                </a:lnTo>
                <a:lnTo>
                  <a:pt x="531924" y="395499"/>
                </a:lnTo>
                <a:lnTo>
                  <a:pt x="574604" y="422543"/>
                </a:lnTo>
                <a:lnTo>
                  <a:pt x="617664" y="448846"/>
                </a:lnTo>
                <a:lnTo>
                  <a:pt x="661129" y="474359"/>
                </a:lnTo>
                <a:lnTo>
                  <a:pt x="705027" y="499030"/>
                </a:lnTo>
                <a:lnTo>
                  <a:pt x="749381" y="522807"/>
                </a:lnTo>
                <a:lnTo>
                  <a:pt x="794218" y="545639"/>
                </a:lnTo>
                <a:lnTo>
                  <a:pt x="839564" y="567475"/>
                </a:lnTo>
                <a:lnTo>
                  <a:pt x="885443" y="588263"/>
                </a:lnTo>
                <a:lnTo>
                  <a:pt x="931024" y="607142"/>
                </a:lnTo>
                <a:lnTo>
                  <a:pt x="979391" y="625145"/>
                </a:lnTo>
                <a:lnTo>
                  <a:pt x="1030160" y="642303"/>
                </a:lnTo>
                <a:lnTo>
                  <a:pt x="1082943" y="658647"/>
                </a:lnTo>
                <a:lnTo>
                  <a:pt x="1137354" y="674207"/>
                </a:lnTo>
                <a:lnTo>
                  <a:pt x="1193008" y="689016"/>
                </a:lnTo>
                <a:lnTo>
                  <a:pt x="1249516" y="703103"/>
                </a:lnTo>
                <a:lnTo>
                  <a:pt x="1306493" y="716499"/>
                </a:lnTo>
                <a:lnTo>
                  <a:pt x="1363553" y="729236"/>
                </a:lnTo>
                <a:lnTo>
                  <a:pt x="1420309" y="741345"/>
                </a:lnTo>
                <a:lnTo>
                  <a:pt x="1476374" y="752855"/>
                </a:lnTo>
                <a:lnTo>
                  <a:pt x="1531363" y="763799"/>
                </a:lnTo>
                <a:lnTo>
                  <a:pt x="1584888" y="774208"/>
                </a:lnTo>
                <a:lnTo>
                  <a:pt x="1636564" y="784111"/>
                </a:lnTo>
                <a:lnTo>
                  <a:pt x="1686003" y="793540"/>
                </a:lnTo>
                <a:lnTo>
                  <a:pt x="1732820" y="802526"/>
                </a:lnTo>
                <a:lnTo>
                  <a:pt x="1776627" y="811100"/>
                </a:lnTo>
                <a:lnTo>
                  <a:pt x="1817039" y="819292"/>
                </a:lnTo>
                <a:lnTo>
                  <a:pt x="1886131" y="834657"/>
                </a:lnTo>
                <a:lnTo>
                  <a:pt x="1914038" y="841891"/>
                </a:lnTo>
                <a:lnTo>
                  <a:pt x="1937003" y="848867"/>
                </a:lnTo>
              </a:path>
            </a:pathLst>
          </a:custGeom>
          <a:ln w="12191">
            <a:solidFill>
              <a:srgbClr val="3185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47582" y="1148038"/>
            <a:ext cx="664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E46C0A"/>
                </a:solidFill>
                <a:latin typeface="黑体" panose="02010609060101010101" charset="-122"/>
                <a:cs typeface="黑体" panose="02010609060101010101" charset="-122"/>
              </a:rPr>
              <a:t>学习率过</a:t>
            </a:r>
            <a:r>
              <a:rPr sz="1000" b="1" spc="-10" dirty="0">
                <a:solidFill>
                  <a:srgbClr val="E46C0A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3834" y="2539450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中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0796" y="1738281"/>
            <a:ext cx="202692" cy="10972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40796" y="1218597"/>
            <a:ext cx="175260" cy="38100"/>
          </a:xfrm>
          <a:custGeom>
            <a:avLst/>
            <a:gdLst/>
            <a:ahLst/>
            <a:cxnLst/>
            <a:rect l="l" t="t" r="r" b="b"/>
            <a:pathLst>
              <a:path w="175259" h="38100">
                <a:moveTo>
                  <a:pt x="38100" y="0"/>
                </a:moveTo>
                <a:lnTo>
                  <a:pt x="0" y="19811"/>
                </a:lnTo>
                <a:lnTo>
                  <a:pt x="38100" y="38100"/>
                </a:lnTo>
                <a:lnTo>
                  <a:pt x="38100" y="21335"/>
                </a:lnTo>
                <a:lnTo>
                  <a:pt x="32004" y="21335"/>
                </a:lnTo>
                <a:lnTo>
                  <a:pt x="32004" y="16763"/>
                </a:lnTo>
                <a:lnTo>
                  <a:pt x="38100" y="16569"/>
                </a:lnTo>
                <a:lnTo>
                  <a:pt x="38100" y="0"/>
                </a:lnTo>
                <a:close/>
              </a:path>
              <a:path w="175259" h="38100">
                <a:moveTo>
                  <a:pt x="38100" y="16569"/>
                </a:moveTo>
                <a:lnTo>
                  <a:pt x="32004" y="16763"/>
                </a:lnTo>
                <a:lnTo>
                  <a:pt x="32004" y="21335"/>
                </a:lnTo>
                <a:lnTo>
                  <a:pt x="38100" y="21141"/>
                </a:lnTo>
                <a:lnTo>
                  <a:pt x="38100" y="16569"/>
                </a:lnTo>
                <a:close/>
              </a:path>
              <a:path w="175259" h="38100">
                <a:moveTo>
                  <a:pt x="38100" y="21141"/>
                </a:moveTo>
                <a:lnTo>
                  <a:pt x="32004" y="21335"/>
                </a:lnTo>
                <a:lnTo>
                  <a:pt x="38100" y="21335"/>
                </a:lnTo>
                <a:lnTo>
                  <a:pt x="38100" y="21141"/>
                </a:lnTo>
                <a:close/>
              </a:path>
              <a:path w="175259" h="38100">
                <a:moveTo>
                  <a:pt x="175260" y="12192"/>
                </a:moveTo>
                <a:lnTo>
                  <a:pt x="38100" y="16569"/>
                </a:lnTo>
                <a:lnTo>
                  <a:pt x="38100" y="21141"/>
                </a:lnTo>
                <a:lnTo>
                  <a:pt x="175260" y="16763"/>
                </a:lnTo>
                <a:lnTo>
                  <a:pt x="17526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39856" y="2440845"/>
            <a:ext cx="131063" cy="86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88367" y="2038509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8100" h="165100">
                <a:moveTo>
                  <a:pt x="16763" y="126492"/>
                </a:moveTo>
                <a:lnTo>
                  <a:pt x="0" y="126492"/>
                </a:lnTo>
                <a:lnTo>
                  <a:pt x="18287" y="164592"/>
                </a:lnTo>
                <a:lnTo>
                  <a:pt x="34930" y="132588"/>
                </a:lnTo>
                <a:lnTo>
                  <a:pt x="16763" y="132588"/>
                </a:lnTo>
                <a:lnTo>
                  <a:pt x="16763" y="126492"/>
                </a:lnTo>
                <a:close/>
              </a:path>
              <a:path w="38100" h="165100">
                <a:moveTo>
                  <a:pt x="21336" y="0"/>
                </a:moveTo>
                <a:lnTo>
                  <a:pt x="16763" y="0"/>
                </a:lnTo>
                <a:lnTo>
                  <a:pt x="16763" y="132588"/>
                </a:lnTo>
                <a:lnTo>
                  <a:pt x="21336" y="132588"/>
                </a:lnTo>
                <a:lnTo>
                  <a:pt x="21336" y="0"/>
                </a:lnTo>
                <a:close/>
              </a:path>
              <a:path w="38100" h="165100">
                <a:moveTo>
                  <a:pt x="38100" y="126492"/>
                </a:moveTo>
                <a:lnTo>
                  <a:pt x="21336" y="126492"/>
                </a:lnTo>
                <a:lnTo>
                  <a:pt x="21336" y="132588"/>
                </a:lnTo>
                <a:lnTo>
                  <a:pt x="34930" y="132588"/>
                </a:lnTo>
                <a:lnTo>
                  <a:pt x="38100" y="126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468356" y="132933"/>
            <a:ext cx="12661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学习</a:t>
            </a:r>
            <a:r>
              <a:rPr spc="-10" dirty="0"/>
              <a:t>率</a:t>
            </a:r>
            <a:r>
              <a:rPr spc="5" dirty="0"/>
              <a:t>设置</a:t>
            </a:r>
            <a:endParaRPr spc="5" dirty="0"/>
          </a:p>
        </p:txBody>
      </p:sp>
      <p:sp>
        <p:nvSpPr>
          <p:cNvPr id="15" name="object 15"/>
          <p:cNvSpPr txBox="1"/>
          <p:nvPr/>
        </p:nvSpPr>
        <p:spPr>
          <a:xfrm>
            <a:off x="1259725" y="1343088"/>
            <a:ext cx="3486785" cy="686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9481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69545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练过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无法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收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591185">
              <a:lnSpc>
                <a:spcPct val="100000"/>
              </a:lnSpc>
              <a:spcBef>
                <a:spcPts val="63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5788" y="1004865"/>
            <a:ext cx="56515" cy="1728470"/>
          </a:xfrm>
          <a:custGeom>
            <a:avLst/>
            <a:gdLst/>
            <a:ahLst/>
            <a:cxnLst/>
            <a:rect l="l" t="t" r="r" b="b"/>
            <a:pathLst>
              <a:path w="56515" h="1728470">
                <a:moveTo>
                  <a:pt x="38100" y="48768"/>
                </a:moveTo>
                <a:lnTo>
                  <a:pt x="18287" y="48768"/>
                </a:lnTo>
                <a:lnTo>
                  <a:pt x="18287" y="1728216"/>
                </a:lnTo>
                <a:lnTo>
                  <a:pt x="38100" y="1728216"/>
                </a:lnTo>
                <a:lnTo>
                  <a:pt x="38100" y="48768"/>
                </a:lnTo>
                <a:close/>
              </a:path>
              <a:path w="56515" h="1728470">
                <a:moveTo>
                  <a:pt x="27431" y="0"/>
                </a:moveTo>
                <a:lnTo>
                  <a:pt x="0" y="57912"/>
                </a:lnTo>
                <a:lnTo>
                  <a:pt x="18287" y="57912"/>
                </a:lnTo>
                <a:lnTo>
                  <a:pt x="18287" y="48768"/>
                </a:lnTo>
                <a:lnTo>
                  <a:pt x="51816" y="48768"/>
                </a:lnTo>
                <a:lnTo>
                  <a:pt x="27431" y="0"/>
                </a:lnTo>
                <a:close/>
              </a:path>
              <a:path w="56515" h="1728470">
                <a:moveTo>
                  <a:pt x="51816" y="48768"/>
                </a:moveTo>
                <a:lnTo>
                  <a:pt x="38100" y="48768"/>
                </a:lnTo>
                <a:lnTo>
                  <a:pt x="38100" y="57912"/>
                </a:lnTo>
                <a:lnTo>
                  <a:pt x="56387" y="57912"/>
                </a:lnTo>
                <a:lnTo>
                  <a:pt x="51816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220" y="2705649"/>
            <a:ext cx="2019300" cy="56515"/>
          </a:xfrm>
          <a:custGeom>
            <a:avLst/>
            <a:gdLst/>
            <a:ahLst/>
            <a:cxnLst/>
            <a:rect l="l" t="t" r="r" b="b"/>
            <a:pathLst>
              <a:path w="2019300" h="56514">
                <a:moveTo>
                  <a:pt x="1962912" y="0"/>
                </a:moveTo>
                <a:lnTo>
                  <a:pt x="1962912" y="56387"/>
                </a:lnTo>
                <a:lnTo>
                  <a:pt x="1998525" y="38100"/>
                </a:lnTo>
                <a:lnTo>
                  <a:pt x="1972056" y="38100"/>
                </a:lnTo>
                <a:lnTo>
                  <a:pt x="1972056" y="18287"/>
                </a:lnTo>
                <a:lnTo>
                  <a:pt x="2000504" y="18287"/>
                </a:lnTo>
                <a:lnTo>
                  <a:pt x="1962912" y="0"/>
                </a:lnTo>
                <a:close/>
              </a:path>
              <a:path w="2019300" h="56514">
                <a:moveTo>
                  <a:pt x="1962912" y="18287"/>
                </a:moveTo>
                <a:lnTo>
                  <a:pt x="0" y="18287"/>
                </a:lnTo>
                <a:lnTo>
                  <a:pt x="0" y="38100"/>
                </a:lnTo>
                <a:lnTo>
                  <a:pt x="1962912" y="38100"/>
                </a:lnTo>
                <a:lnTo>
                  <a:pt x="1962912" y="18287"/>
                </a:lnTo>
                <a:close/>
              </a:path>
              <a:path w="2019300" h="56514">
                <a:moveTo>
                  <a:pt x="2000504" y="18287"/>
                </a:moveTo>
                <a:lnTo>
                  <a:pt x="1972056" y="18287"/>
                </a:lnTo>
                <a:lnTo>
                  <a:pt x="1972056" y="38100"/>
                </a:lnTo>
                <a:lnTo>
                  <a:pt x="1998525" y="38100"/>
                </a:lnTo>
                <a:lnTo>
                  <a:pt x="2019300" y="27431"/>
                </a:lnTo>
                <a:lnTo>
                  <a:pt x="2000504" y="18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6267" y="725782"/>
            <a:ext cx="615950" cy="1036955"/>
          </a:xfrm>
          <a:custGeom>
            <a:avLst/>
            <a:gdLst/>
            <a:ahLst/>
            <a:cxnLst/>
            <a:rect l="l" t="t" r="r" b="b"/>
            <a:pathLst>
              <a:path w="615950" h="1036955">
                <a:moveTo>
                  <a:pt x="0" y="871918"/>
                </a:moveTo>
                <a:lnTo>
                  <a:pt x="19568" y="928501"/>
                </a:lnTo>
                <a:lnTo>
                  <a:pt x="40599" y="978939"/>
                </a:lnTo>
                <a:lnTo>
                  <a:pt x="64190" y="1017088"/>
                </a:lnTo>
                <a:lnTo>
                  <a:pt x="91439" y="1036803"/>
                </a:lnTo>
                <a:lnTo>
                  <a:pt x="123443" y="1031938"/>
                </a:lnTo>
                <a:lnTo>
                  <a:pt x="171950" y="984599"/>
                </a:lnTo>
                <a:lnTo>
                  <a:pt x="199283" y="946642"/>
                </a:lnTo>
                <a:lnTo>
                  <a:pt x="228028" y="901255"/>
                </a:lnTo>
                <a:lnTo>
                  <a:pt x="257701" y="850010"/>
                </a:lnTo>
                <a:lnTo>
                  <a:pt x="287821" y="794480"/>
                </a:lnTo>
                <a:lnTo>
                  <a:pt x="317905" y="736234"/>
                </a:lnTo>
                <a:lnTo>
                  <a:pt x="347471" y="676846"/>
                </a:lnTo>
                <a:lnTo>
                  <a:pt x="366110" y="636990"/>
                </a:lnTo>
                <a:lnTo>
                  <a:pt x="385930" y="592011"/>
                </a:lnTo>
                <a:lnTo>
                  <a:pt x="406600" y="543007"/>
                </a:lnTo>
                <a:lnTo>
                  <a:pt x="427785" y="491078"/>
                </a:lnTo>
                <a:lnTo>
                  <a:pt x="449154" y="437321"/>
                </a:lnTo>
                <a:lnTo>
                  <a:pt x="470372" y="382835"/>
                </a:lnTo>
                <a:lnTo>
                  <a:pt x="491108" y="328721"/>
                </a:lnTo>
                <a:lnTo>
                  <a:pt x="511029" y="276075"/>
                </a:lnTo>
                <a:lnTo>
                  <a:pt x="529800" y="225997"/>
                </a:lnTo>
                <a:lnTo>
                  <a:pt x="547090" y="179586"/>
                </a:lnTo>
                <a:lnTo>
                  <a:pt x="562565" y="137941"/>
                </a:lnTo>
                <a:lnTo>
                  <a:pt x="575893" y="102160"/>
                </a:lnTo>
                <a:lnTo>
                  <a:pt x="586739" y="73342"/>
                </a:lnTo>
                <a:lnTo>
                  <a:pt x="609052" y="17168"/>
                </a:lnTo>
                <a:lnTo>
                  <a:pt x="615505" y="0"/>
                </a:lnTo>
                <a:lnTo>
                  <a:pt x="611385" y="8834"/>
                </a:lnTo>
                <a:lnTo>
                  <a:pt x="601979" y="30670"/>
                </a:lnTo>
              </a:path>
            </a:pathLst>
          </a:custGeom>
          <a:ln w="13715">
            <a:solidFill>
              <a:srgbClr val="E46C0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6267" y="1612941"/>
            <a:ext cx="1981200" cy="1043940"/>
          </a:xfrm>
          <a:custGeom>
            <a:avLst/>
            <a:gdLst/>
            <a:ahLst/>
            <a:cxnLst/>
            <a:rect l="l" t="t" r="r" b="b"/>
            <a:pathLst>
              <a:path w="1981200" h="1043939">
                <a:moveTo>
                  <a:pt x="0" y="0"/>
                </a:moveTo>
                <a:lnTo>
                  <a:pt x="21430" y="44883"/>
                </a:lnTo>
                <a:lnTo>
                  <a:pt x="42975" y="89696"/>
                </a:lnTo>
                <a:lnTo>
                  <a:pt x="64729" y="134349"/>
                </a:lnTo>
                <a:lnTo>
                  <a:pt x="86788" y="178753"/>
                </a:lnTo>
                <a:lnTo>
                  <a:pt x="109248" y="222819"/>
                </a:lnTo>
                <a:lnTo>
                  <a:pt x="132203" y="266457"/>
                </a:lnTo>
                <a:lnTo>
                  <a:pt x="155748" y="309578"/>
                </a:lnTo>
                <a:lnTo>
                  <a:pt x="179980" y="352093"/>
                </a:lnTo>
                <a:lnTo>
                  <a:pt x="204994" y="393912"/>
                </a:lnTo>
                <a:lnTo>
                  <a:pt x="230884" y="434946"/>
                </a:lnTo>
                <a:lnTo>
                  <a:pt x="257746" y="475106"/>
                </a:lnTo>
                <a:lnTo>
                  <a:pt x="285676" y="514303"/>
                </a:lnTo>
                <a:lnTo>
                  <a:pt x="314768" y="552447"/>
                </a:lnTo>
                <a:lnTo>
                  <a:pt x="345119" y="589449"/>
                </a:lnTo>
                <a:lnTo>
                  <a:pt x="376822" y="625219"/>
                </a:lnTo>
                <a:lnTo>
                  <a:pt x="409975" y="659668"/>
                </a:lnTo>
                <a:lnTo>
                  <a:pt x="444672" y="692708"/>
                </a:lnTo>
                <a:lnTo>
                  <a:pt x="481008" y="724248"/>
                </a:lnTo>
                <a:lnTo>
                  <a:pt x="519078" y="754199"/>
                </a:lnTo>
                <a:lnTo>
                  <a:pt x="558979" y="782472"/>
                </a:lnTo>
                <a:lnTo>
                  <a:pt x="600805" y="808978"/>
                </a:lnTo>
                <a:lnTo>
                  <a:pt x="644651" y="833627"/>
                </a:lnTo>
                <a:lnTo>
                  <a:pt x="682097" y="852457"/>
                </a:lnTo>
                <a:lnTo>
                  <a:pt x="720907" y="870030"/>
                </a:lnTo>
                <a:lnTo>
                  <a:pt x="761029" y="886397"/>
                </a:lnTo>
                <a:lnTo>
                  <a:pt x="802412" y="901605"/>
                </a:lnTo>
                <a:lnTo>
                  <a:pt x="845002" y="915704"/>
                </a:lnTo>
                <a:lnTo>
                  <a:pt x="888747" y="928743"/>
                </a:lnTo>
                <a:lnTo>
                  <a:pt x="933594" y="940769"/>
                </a:lnTo>
                <a:lnTo>
                  <a:pt x="979491" y="951833"/>
                </a:lnTo>
                <a:lnTo>
                  <a:pt x="1026385" y="961982"/>
                </a:lnTo>
                <a:lnTo>
                  <a:pt x="1074225" y="971266"/>
                </a:lnTo>
                <a:lnTo>
                  <a:pt x="1122957" y="979733"/>
                </a:lnTo>
                <a:lnTo>
                  <a:pt x="1172528" y="987432"/>
                </a:lnTo>
                <a:lnTo>
                  <a:pt x="1222887" y="994412"/>
                </a:lnTo>
                <a:lnTo>
                  <a:pt x="1273982" y="1000722"/>
                </a:lnTo>
                <a:lnTo>
                  <a:pt x="1325758" y="1006410"/>
                </a:lnTo>
                <a:lnTo>
                  <a:pt x="1378165" y="1011526"/>
                </a:lnTo>
                <a:lnTo>
                  <a:pt x="1431149" y="1016117"/>
                </a:lnTo>
                <a:lnTo>
                  <a:pt x="1484658" y="1020233"/>
                </a:lnTo>
                <a:lnTo>
                  <a:pt x="1538639" y="1023922"/>
                </a:lnTo>
                <a:lnTo>
                  <a:pt x="1593040" y="1027234"/>
                </a:lnTo>
                <a:lnTo>
                  <a:pt x="1647809" y="1030217"/>
                </a:lnTo>
                <a:lnTo>
                  <a:pt x="1702893" y="1032920"/>
                </a:lnTo>
                <a:lnTo>
                  <a:pt x="1758239" y="1035392"/>
                </a:lnTo>
                <a:lnTo>
                  <a:pt x="1813796" y="1037680"/>
                </a:lnTo>
                <a:lnTo>
                  <a:pt x="1869509" y="1039836"/>
                </a:lnTo>
                <a:lnTo>
                  <a:pt x="1925328" y="1041906"/>
                </a:lnTo>
                <a:lnTo>
                  <a:pt x="1981199" y="1043939"/>
                </a:lnTo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6267" y="1605321"/>
            <a:ext cx="1929764" cy="649605"/>
          </a:xfrm>
          <a:custGeom>
            <a:avLst/>
            <a:gdLst/>
            <a:ahLst/>
            <a:cxnLst/>
            <a:rect l="l" t="t" r="r" b="b"/>
            <a:pathLst>
              <a:path w="1929764" h="649605">
                <a:moveTo>
                  <a:pt x="0" y="0"/>
                </a:moveTo>
                <a:lnTo>
                  <a:pt x="1921" y="44447"/>
                </a:lnTo>
                <a:lnTo>
                  <a:pt x="4398" y="88656"/>
                </a:lnTo>
                <a:lnTo>
                  <a:pt x="7985" y="132429"/>
                </a:lnTo>
                <a:lnTo>
                  <a:pt x="13239" y="175568"/>
                </a:lnTo>
                <a:lnTo>
                  <a:pt x="20715" y="217875"/>
                </a:lnTo>
                <a:lnTo>
                  <a:pt x="30967" y="259153"/>
                </a:lnTo>
                <a:lnTo>
                  <a:pt x="44552" y="299203"/>
                </a:lnTo>
                <a:lnTo>
                  <a:pt x="62025" y="337828"/>
                </a:lnTo>
                <a:lnTo>
                  <a:pt x="83941" y="374830"/>
                </a:lnTo>
                <a:lnTo>
                  <a:pt x="110856" y="410012"/>
                </a:lnTo>
                <a:lnTo>
                  <a:pt x="143325" y="443175"/>
                </a:lnTo>
                <a:lnTo>
                  <a:pt x="181904" y="474122"/>
                </a:lnTo>
                <a:lnTo>
                  <a:pt x="227148" y="502655"/>
                </a:lnTo>
                <a:lnTo>
                  <a:pt x="279612" y="528576"/>
                </a:lnTo>
                <a:lnTo>
                  <a:pt x="339851" y="551687"/>
                </a:lnTo>
                <a:lnTo>
                  <a:pt x="403981" y="570396"/>
                </a:lnTo>
                <a:lnTo>
                  <a:pt x="474910" y="586626"/>
                </a:lnTo>
                <a:lnTo>
                  <a:pt x="512784" y="593864"/>
                </a:lnTo>
                <a:lnTo>
                  <a:pt x="552188" y="600544"/>
                </a:lnTo>
                <a:lnTo>
                  <a:pt x="593067" y="606687"/>
                </a:lnTo>
                <a:lnTo>
                  <a:pt x="635365" y="612314"/>
                </a:lnTo>
                <a:lnTo>
                  <a:pt x="679024" y="617445"/>
                </a:lnTo>
                <a:lnTo>
                  <a:pt x="723988" y="622102"/>
                </a:lnTo>
                <a:lnTo>
                  <a:pt x="770201" y="626304"/>
                </a:lnTo>
                <a:lnTo>
                  <a:pt x="817608" y="630072"/>
                </a:lnTo>
                <a:lnTo>
                  <a:pt x="866150" y="633428"/>
                </a:lnTo>
                <a:lnTo>
                  <a:pt x="915772" y="636391"/>
                </a:lnTo>
                <a:lnTo>
                  <a:pt x="966418" y="638982"/>
                </a:lnTo>
                <a:lnTo>
                  <a:pt x="1018031" y="641222"/>
                </a:lnTo>
                <a:lnTo>
                  <a:pt x="1070555" y="643132"/>
                </a:lnTo>
                <a:lnTo>
                  <a:pt x="1123934" y="644733"/>
                </a:lnTo>
                <a:lnTo>
                  <a:pt x="1178110" y="646044"/>
                </a:lnTo>
                <a:lnTo>
                  <a:pt x="1233029" y="647086"/>
                </a:lnTo>
                <a:lnTo>
                  <a:pt x="1288632" y="647881"/>
                </a:lnTo>
                <a:lnTo>
                  <a:pt x="1344865" y="648449"/>
                </a:lnTo>
                <a:lnTo>
                  <a:pt x="1401670" y="648810"/>
                </a:lnTo>
                <a:lnTo>
                  <a:pt x="1458991" y="648985"/>
                </a:lnTo>
                <a:lnTo>
                  <a:pt x="1516773" y="648995"/>
                </a:lnTo>
                <a:lnTo>
                  <a:pt x="1574957" y="648861"/>
                </a:lnTo>
                <a:lnTo>
                  <a:pt x="1633489" y="648603"/>
                </a:lnTo>
                <a:lnTo>
                  <a:pt x="1692312" y="648241"/>
                </a:lnTo>
                <a:lnTo>
                  <a:pt x="1751369" y="647797"/>
                </a:lnTo>
                <a:lnTo>
                  <a:pt x="1810604" y="647291"/>
                </a:lnTo>
                <a:lnTo>
                  <a:pt x="1869961" y="646744"/>
                </a:lnTo>
                <a:lnTo>
                  <a:pt x="1929383" y="646175"/>
                </a:lnTo>
              </a:path>
            </a:pathLst>
          </a:custGeom>
          <a:ln w="38099">
            <a:solidFill>
              <a:srgbClr val="4F62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6267" y="1597701"/>
            <a:ext cx="1937385" cy="848994"/>
          </a:xfrm>
          <a:custGeom>
            <a:avLst/>
            <a:gdLst/>
            <a:ahLst/>
            <a:cxnLst/>
            <a:rect l="l" t="t" r="r" b="b"/>
            <a:pathLst>
              <a:path w="1937385" h="848994">
                <a:moveTo>
                  <a:pt x="0" y="0"/>
                </a:moveTo>
                <a:lnTo>
                  <a:pt x="40074" y="31985"/>
                </a:lnTo>
                <a:lnTo>
                  <a:pt x="80194" y="63898"/>
                </a:lnTo>
                <a:lnTo>
                  <a:pt x="120387" y="95687"/>
                </a:lnTo>
                <a:lnTo>
                  <a:pt x="160677" y="127302"/>
                </a:lnTo>
                <a:lnTo>
                  <a:pt x="201091" y="158691"/>
                </a:lnTo>
                <a:lnTo>
                  <a:pt x="241653" y="189802"/>
                </a:lnTo>
                <a:lnTo>
                  <a:pt x="282391" y="220584"/>
                </a:lnTo>
                <a:lnTo>
                  <a:pt x="323329" y="250987"/>
                </a:lnTo>
                <a:lnTo>
                  <a:pt x="364493" y="280958"/>
                </a:lnTo>
                <a:lnTo>
                  <a:pt x="405909" y="310446"/>
                </a:lnTo>
                <a:lnTo>
                  <a:pt x="447602" y="339399"/>
                </a:lnTo>
                <a:lnTo>
                  <a:pt x="489599" y="367768"/>
                </a:lnTo>
                <a:lnTo>
                  <a:pt x="531924" y="395499"/>
                </a:lnTo>
                <a:lnTo>
                  <a:pt x="574604" y="422543"/>
                </a:lnTo>
                <a:lnTo>
                  <a:pt x="617664" y="448846"/>
                </a:lnTo>
                <a:lnTo>
                  <a:pt x="661129" y="474359"/>
                </a:lnTo>
                <a:lnTo>
                  <a:pt x="705027" y="499030"/>
                </a:lnTo>
                <a:lnTo>
                  <a:pt x="749381" y="522807"/>
                </a:lnTo>
                <a:lnTo>
                  <a:pt x="794218" y="545639"/>
                </a:lnTo>
                <a:lnTo>
                  <a:pt x="839564" y="567475"/>
                </a:lnTo>
                <a:lnTo>
                  <a:pt x="885443" y="588263"/>
                </a:lnTo>
                <a:lnTo>
                  <a:pt x="931024" y="607142"/>
                </a:lnTo>
                <a:lnTo>
                  <a:pt x="979391" y="625145"/>
                </a:lnTo>
                <a:lnTo>
                  <a:pt x="1030160" y="642303"/>
                </a:lnTo>
                <a:lnTo>
                  <a:pt x="1082943" y="658647"/>
                </a:lnTo>
                <a:lnTo>
                  <a:pt x="1137354" y="674207"/>
                </a:lnTo>
                <a:lnTo>
                  <a:pt x="1193008" y="689016"/>
                </a:lnTo>
                <a:lnTo>
                  <a:pt x="1249516" y="703103"/>
                </a:lnTo>
                <a:lnTo>
                  <a:pt x="1306493" y="716499"/>
                </a:lnTo>
                <a:lnTo>
                  <a:pt x="1363553" y="729236"/>
                </a:lnTo>
                <a:lnTo>
                  <a:pt x="1420309" y="741345"/>
                </a:lnTo>
                <a:lnTo>
                  <a:pt x="1476374" y="752855"/>
                </a:lnTo>
                <a:lnTo>
                  <a:pt x="1531363" y="763799"/>
                </a:lnTo>
                <a:lnTo>
                  <a:pt x="1584888" y="774208"/>
                </a:lnTo>
                <a:lnTo>
                  <a:pt x="1636564" y="784111"/>
                </a:lnTo>
                <a:lnTo>
                  <a:pt x="1686003" y="793540"/>
                </a:lnTo>
                <a:lnTo>
                  <a:pt x="1732820" y="802526"/>
                </a:lnTo>
                <a:lnTo>
                  <a:pt x="1776627" y="811100"/>
                </a:lnTo>
                <a:lnTo>
                  <a:pt x="1817039" y="819292"/>
                </a:lnTo>
                <a:lnTo>
                  <a:pt x="1886131" y="834657"/>
                </a:lnTo>
                <a:lnTo>
                  <a:pt x="1914038" y="841891"/>
                </a:lnTo>
                <a:lnTo>
                  <a:pt x="1937003" y="848867"/>
                </a:lnTo>
              </a:path>
            </a:pathLst>
          </a:custGeom>
          <a:ln w="12191">
            <a:solidFill>
              <a:srgbClr val="3185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47582" y="1153758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9725" y="162468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8806" y="1857812"/>
            <a:ext cx="535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F6228"/>
                </a:solidFill>
                <a:latin typeface="黑体" panose="02010609060101010101" charset="-122"/>
                <a:cs typeface="黑体" panose="02010609060101010101" charset="-122"/>
              </a:rPr>
              <a:t>学习率</a:t>
            </a:r>
            <a:r>
              <a:rPr sz="1000" b="1" spc="-10" dirty="0">
                <a:solidFill>
                  <a:srgbClr val="4F6228"/>
                </a:solidFill>
                <a:latin typeface="黑体" panose="02010609060101010101" charset="-122"/>
                <a:cs typeface="黑体" panose="02010609060101010101" charset="-122"/>
              </a:rPr>
              <a:t>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834" y="2545169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中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40796" y="1744005"/>
            <a:ext cx="202692" cy="10972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40796" y="1224321"/>
            <a:ext cx="175260" cy="38100"/>
          </a:xfrm>
          <a:custGeom>
            <a:avLst/>
            <a:gdLst/>
            <a:ahLst/>
            <a:cxnLst/>
            <a:rect l="l" t="t" r="r" b="b"/>
            <a:pathLst>
              <a:path w="175259" h="38100">
                <a:moveTo>
                  <a:pt x="38100" y="0"/>
                </a:moveTo>
                <a:lnTo>
                  <a:pt x="0" y="19812"/>
                </a:lnTo>
                <a:lnTo>
                  <a:pt x="38100" y="38100"/>
                </a:lnTo>
                <a:lnTo>
                  <a:pt x="38100" y="21336"/>
                </a:lnTo>
                <a:lnTo>
                  <a:pt x="32004" y="21336"/>
                </a:lnTo>
                <a:lnTo>
                  <a:pt x="32004" y="16763"/>
                </a:lnTo>
                <a:lnTo>
                  <a:pt x="38100" y="16569"/>
                </a:lnTo>
                <a:lnTo>
                  <a:pt x="38100" y="0"/>
                </a:lnTo>
                <a:close/>
              </a:path>
              <a:path w="175259" h="38100">
                <a:moveTo>
                  <a:pt x="38100" y="16569"/>
                </a:moveTo>
                <a:lnTo>
                  <a:pt x="32004" y="16763"/>
                </a:lnTo>
                <a:lnTo>
                  <a:pt x="32004" y="21336"/>
                </a:lnTo>
                <a:lnTo>
                  <a:pt x="38100" y="21141"/>
                </a:lnTo>
                <a:lnTo>
                  <a:pt x="38100" y="16569"/>
                </a:lnTo>
                <a:close/>
              </a:path>
              <a:path w="175259" h="38100">
                <a:moveTo>
                  <a:pt x="38100" y="21141"/>
                </a:moveTo>
                <a:lnTo>
                  <a:pt x="32004" y="21336"/>
                </a:lnTo>
                <a:lnTo>
                  <a:pt x="38100" y="21336"/>
                </a:lnTo>
                <a:lnTo>
                  <a:pt x="38100" y="21141"/>
                </a:lnTo>
                <a:close/>
              </a:path>
              <a:path w="175259" h="38100">
                <a:moveTo>
                  <a:pt x="175260" y="12191"/>
                </a:moveTo>
                <a:lnTo>
                  <a:pt x="38100" y="16569"/>
                </a:lnTo>
                <a:lnTo>
                  <a:pt x="38100" y="21141"/>
                </a:lnTo>
                <a:lnTo>
                  <a:pt x="175260" y="16763"/>
                </a:lnTo>
                <a:lnTo>
                  <a:pt x="17526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39856" y="2446569"/>
            <a:ext cx="131063" cy="86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88367" y="2044233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8100" h="165100">
                <a:moveTo>
                  <a:pt x="16763" y="126492"/>
                </a:moveTo>
                <a:lnTo>
                  <a:pt x="0" y="126492"/>
                </a:lnTo>
                <a:lnTo>
                  <a:pt x="18287" y="164592"/>
                </a:lnTo>
                <a:lnTo>
                  <a:pt x="34930" y="132587"/>
                </a:lnTo>
                <a:lnTo>
                  <a:pt x="16763" y="132587"/>
                </a:lnTo>
                <a:lnTo>
                  <a:pt x="16763" y="126492"/>
                </a:lnTo>
                <a:close/>
              </a:path>
              <a:path w="38100" h="165100">
                <a:moveTo>
                  <a:pt x="21336" y="0"/>
                </a:moveTo>
                <a:lnTo>
                  <a:pt x="16763" y="0"/>
                </a:lnTo>
                <a:lnTo>
                  <a:pt x="16763" y="132587"/>
                </a:lnTo>
                <a:lnTo>
                  <a:pt x="21336" y="132587"/>
                </a:lnTo>
                <a:lnTo>
                  <a:pt x="21336" y="0"/>
                </a:lnTo>
                <a:close/>
              </a:path>
              <a:path w="38100" h="165100">
                <a:moveTo>
                  <a:pt x="38100" y="126492"/>
                </a:moveTo>
                <a:lnTo>
                  <a:pt x="21336" y="126492"/>
                </a:lnTo>
                <a:lnTo>
                  <a:pt x="21336" y="132587"/>
                </a:lnTo>
                <a:lnTo>
                  <a:pt x="34930" y="132587"/>
                </a:lnTo>
                <a:lnTo>
                  <a:pt x="38100" y="126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468356" y="138710"/>
            <a:ext cx="12661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学习</a:t>
            </a:r>
            <a:r>
              <a:rPr spc="-10" dirty="0"/>
              <a:t>率</a:t>
            </a:r>
            <a:r>
              <a:rPr spc="5" dirty="0"/>
              <a:t>设置</a:t>
            </a:r>
            <a:endParaRPr spc="5" dirty="0"/>
          </a:p>
        </p:txBody>
      </p:sp>
      <p:sp>
        <p:nvSpPr>
          <p:cNvPr id="17" name="object 17"/>
          <p:cNvSpPr txBox="1"/>
          <p:nvPr/>
        </p:nvSpPr>
        <p:spPr>
          <a:xfrm>
            <a:off x="2770040" y="1348808"/>
            <a:ext cx="1976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练过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无法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70040" y="1653527"/>
            <a:ext cx="2865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最小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附近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荡，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达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优。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5788" y="999141"/>
            <a:ext cx="56515" cy="1728470"/>
          </a:xfrm>
          <a:custGeom>
            <a:avLst/>
            <a:gdLst/>
            <a:ahLst/>
            <a:cxnLst/>
            <a:rect l="l" t="t" r="r" b="b"/>
            <a:pathLst>
              <a:path w="56515" h="1728470">
                <a:moveTo>
                  <a:pt x="38100" y="48767"/>
                </a:moveTo>
                <a:lnTo>
                  <a:pt x="18287" y="48767"/>
                </a:lnTo>
                <a:lnTo>
                  <a:pt x="18287" y="1728215"/>
                </a:lnTo>
                <a:lnTo>
                  <a:pt x="38100" y="1728215"/>
                </a:lnTo>
                <a:lnTo>
                  <a:pt x="38100" y="48767"/>
                </a:lnTo>
                <a:close/>
              </a:path>
              <a:path w="56515" h="1728470">
                <a:moveTo>
                  <a:pt x="27431" y="0"/>
                </a:moveTo>
                <a:lnTo>
                  <a:pt x="0" y="57911"/>
                </a:lnTo>
                <a:lnTo>
                  <a:pt x="18287" y="57911"/>
                </a:lnTo>
                <a:lnTo>
                  <a:pt x="18287" y="48767"/>
                </a:lnTo>
                <a:lnTo>
                  <a:pt x="51815" y="48767"/>
                </a:lnTo>
                <a:lnTo>
                  <a:pt x="27431" y="0"/>
                </a:lnTo>
                <a:close/>
              </a:path>
              <a:path w="56515" h="1728470">
                <a:moveTo>
                  <a:pt x="51815" y="48767"/>
                </a:moveTo>
                <a:lnTo>
                  <a:pt x="38100" y="48767"/>
                </a:lnTo>
                <a:lnTo>
                  <a:pt x="38100" y="57911"/>
                </a:lnTo>
                <a:lnTo>
                  <a:pt x="56387" y="57911"/>
                </a:lnTo>
                <a:lnTo>
                  <a:pt x="51815" y="48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220" y="2699925"/>
            <a:ext cx="2019300" cy="56515"/>
          </a:xfrm>
          <a:custGeom>
            <a:avLst/>
            <a:gdLst/>
            <a:ahLst/>
            <a:cxnLst/>
            <a:rect l="l" t="t" r="r" b="b"/>
            <a:pathLst>
              <a:path w="2019300" h="56514">
                <a:moveTo>
                  <a:pt x="1962912" y="0"/>
                </a:moveTo>
                <a:lnTo>
                  <a:pt x="1962912" y="56388"/>
                </a:lnTo>
                <a:lnTo>
                  <a:pt x="1998525" y="38100"/>
                </a:lnTo>
                <a:lnTo>
                  <a:pt x="1972056" y="38100"/>
                </a:lnTo>
                <a:lnTo>
                  <a:pt x="1972056" y="18288"/>
                </a:lnTo>
                <a:lnTo>
                  <a:pt x="2000504" y="18288"/>
                </a:lnTo>
                <a:lnTo>
                  <a:pt x="1962912" y="0"/>
                </a:lnTo>
                <a:close/>
              </a:path>
              <a:path w="2019300" h="56514">
                <a:moveTo>
                  <a:pt x="1962912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1962912" y="38100"/>
                </a:lnTo>
                <a:lnTo>
                  <a:pt x="1962912" y="18288"/>
                </a:lnTo>
                <a:close/>
              </a:path>
              <a:path w="2019300" h="56514">
                <a:moveTo>
                  <a:pt x="2000504" y="18288"/>
                </a:moveTo>
                <a:lnTo>
                  <a:pt x="1972056" y="18288"/>
                </a:lnTo>
                <a:lnTo>
                  <a:pt x="1972056" y="38100"/>
                </a:lnTo>
                <a:lnTo>
                  <a:pt x="1998525" y="38100"/>
                </a:lnTo>
                <a:lnTo>
                  <a:pt x="2019300" y="27431"/>
                </a:lnTo>
                <a:lnTo>
                  <a:pt x="2000504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6267" y="720058"/>
            <a:ext cx="615950" cy="1036955"/>
          </a:xfrm>
          <a:custGeom>
            <a:avLst/>
            <a:gdLst/>
            <a:ahLst/>
            <a:cxnLst/>
            <a:rect l="l" t="t" r="r" b="b"/>
            <a:pathLst>
              <a:path w="615950" h="1036955">
                <a:moveTo>
                  <a:pt x="0" y="871918"/>
                </a:moveTo>
                <a:lnTo>
                  <a:pt x="19568" y="928501"/>
                </a:lnTo>
                <a:lnTo>
                  <a:pt x="40599" y="978939"/>
                </a:lnTo>
                <a:lnTo>
                  <a:pt x="64190" y="1017088"/>
                </a:lnTo>
                <a:lnTo>
                  <a:pt x="91439" y="1036803"/>
                </a:lnTo>
                <a:lnTo>
                  <a:pt x="123443" y="1031938"/>
                </a:lnTo>
                <a:lnTo>
                  <a:pt x="171950" y="984599"/>
                </a:lnTo>
                <a:lnTo>
                  <a:pt x="199283" y="946642"/>
                </a:lnTo>
                <a:lnTo>
                  <a:pt x="228028" y="901255"/>
                </a:lnTo>
                <a:lnTo>
                  <a:pt x="257701" y="850010"/>
                </a:lnTo>
                <a:lnTo>
                  <a:pt x="287821" y="794480"/>
                </a:lnTo>
                <a:lnTo>
                  <a:pt x="317905" y="736234"/>
                </a:lnTo>
                <a:lnTo>
                  <a:pt x="347471" y="676846"/>
                </a:lnTo>
                <a:lnTo>
                  <a:pt x="366110" y="636990"/>
                </a:lnTo>
                <a:lnTo>
                  <a:pt x="385930" y="592011"/>
                </a:lnTo>
                <a:lnTo>
                  <a:pt x="406600" y="543007"/>
                </a:lnTo>
                <a:lnTo>
                  <a:pt x="427785" y="491078"/>
                </a:lnTo>
                <a:lnTo>
                  <a:pt x="449154" y="437321"/>
                </a:lnTo>
                <a:lnTo>
                  <a:pt x="470372" y="382835"/>
                </a:lnTo>
                <a:lnTo>
                  <a:pt x="491108" y="328721"/>
                </a:lnTo>
                <a:lnTo>
                  <a:pt x="511029" y="276075"/>
                </a:lnTo>
                <a:lnTo>
                  <a:pt x="529800" y="225997"/>
                </a:lnTo>
                <a:lnTo>
                  <a:pt x="547090" y="179586"/>
                </a:lnTo>
                <a:lnTo>
                  <a:pt x="562565" y="137941"/>
                </a:lnTo>
                <a:lnTo>
                  <a:pt x="575893" y="102160"/>
                </a:lnTo>
                <a:lnTo>
                  <a:pt x="586739" y="73342"/>
                </a:lnTo>
                <a:lnTo>
                  <a:pt x="609052" y="17168"/>
                </a:lnTo>
                <a:lnTo>
                  <a:pt x="615505" y="0"/>
                </a:lnTo>
                <a:lnTo>
                  <a:pt x="611385" y="8834"/>
                </a:lnTo>
                <a:lnTo>
                  <a:pt x="601979" y="30670"/>
                </a:lnTo>
              </a:path>
            </a:pathLst>
          </a:custGeom>
          <a:ln w="13715">
            <a:solidFill>
              <a:srgbClr val="E46C0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6267" y="1607217"/>
            <a:ext cx="1981200" cy="1043940"/>
          </a:xfrm>
          <a:custGeom>
            <a:avLst/>
            <a:gdLst/>
            <a:ahLst/>
            <a:cxnLst/>
            <a:rect l="l" t="t" r="r" b="b"/>
            <a:pathLst>
              <a:path w="1981200" h="1043939">
                <a:moveTo>
                  <a:pt x="0" y="0"/>
                </a:moveTo>
                <a:lnTo>
                  <a:pt x="21430" y="44883"/>
                </a:lnTo>
                <a:lnTo>
                  <a:pt x="42975" y="89696"/>
                </a:lnTo>
                <a:lnTo>
                  <a:pt x="64729" y="134349"/>
                </a:lnTo>
                <a:lnTo>
                  <a:pt x="86788" y="178753"/>
                </a:lnTo>
                <a:lnTo>
                  <a:pt x="109248" y="222819"/>
                </a:lnTo>
                <a:lnTo>
                  <a:pt x="132203" y="266457"/>
                </a:lnTo>
                <a:lnTo>
                  <a:pt x="155748" y="309578"/>
                </a:lnTo>
                <a:lnTo>
                  <a:pt x="179980" y="352093"/>
                </a:lnTo>
                <a:lnTo>
                  <a:pt x="204994" y="393912"/>
                </a:lnTo>
                <a:lnTo>
                  <a:pt x="230884" y="434946"/>
                </a:lnTo>
                <a:lnTo>
                  <a:pt x="257746" y="475106"/>
                </a:lnTo>
                <a:lnTo>
                  <a:pt x="285676" y="514303"/>
                </a:lnTo>
                <a:lnTo>
                  <a:pt x="314768" y="552447"/>
                </a:lnTo>
                <a:lnTo>
                  <a:pt x="345119" y="589449"/>
                </a:lnTo>
                <a:lnTo>
                  <a:pt x="376822" y="625219"/>
                </a:lnTo>
                <a:lnTo>
                  <a:pt x="409975" y="659668"/>
                </a:lnTo>
                <a:lnTo>
                  <a:pt x="444672" y="692708"/>
                </a:lnTo>
                <a:lnTo>
                  <a:pt x="481008" y="724248"/>
                </a:lnTo>
                <a:lnTo>
                  <a:pt x="519078" y="754199"/>
                </a:lnTo>
                <a:lnTo>
                  <a:pt x="558979" y="782472"/>
                </a:lnTo>
                <a:lnTo>
                  <a:pt x="600805" y="808978"/>
                </a:lnTo>
                <a:lnTo>
                  <a:pt x="644651" y="833627"/>
                </a:lnTo>
                <a:lnTo>
                  <a:pt x="682097" y="852457"/>
                </a:lnTo>
                <a:lnTo>
                  <a:pt x="720907" y="870030"/>
                </a:lnTo>
                <a:lnTo>
                  <a:pt x="761029" y="886397"/>
                </a:lnTo>
                <a:lnTo>
                  <a:pt x="802412" y="901605"/>
                </a:lnTo>
                <a:lnTo>
                  <a:pt x="845002" y="915704"/>
                </a:lnTo>
                <a:lnTo>
                  <a:pt x="888747" y="928743"/>
                </a:lnTo>
                <a:lnTo>
                  <a:pt x="933594" y="940769"/>
                </a:lnTo>
                <a:lnTo>
                  <a:pt x="979491" y="951833"/>
                </a:lnTo>
                <a:lnTo>
                  <a:pt x="1026385" y="961982"/>
                </a:lnTo>
                <a:lnTo>
                  <a:pt x="1074225" y="971266"/>
                </a:lnTo>
                <a:lnTo>
                  <a:pt x="1122957" y="979733"/>
                </a:lnTo>
                <a:lnTo>
                  <a:pt x="1172528" y="987432"/>
                </a:lnTo>
                <a:lnTo>
                  <a:pt x="1222887" y="994412"/>
                </a:lnTo>
                <a:lnTo>
                  <a:pt x="1273982" y="1000722"/>
                </a:lnTo>
                <a:lnTo>
                  <a:pt x="1325758" y="1006410"/>
                </a:lnTo>
                <a:lnTo>
                  <a:pt x="1378165" y="1011526"/>
                </a:lnTo>
                <a:lnTo>
                  <a:pt x="1431149" y="1016117"/>
                </a:lnTo>
                <a:lnTo>
                  <a:pt x="1484658" y="1020233"/>
                </a:lnTo>
                <a:lnTo>
                  <a:pt x="1538639" y="1023922"/>
                </a:lnTo>
                <a:lnTo>
                  <a:pt x="1593040" y="1027234"/>
                </a:lnTo>
                <a:lnTo>
                  <a:pt x="1647809" y="1030217"/>
                </a:lnTo>
                <a:lnTo>
                  <a:pt x="1702893" y="1032920"/>
                </a:lnTo>
                <a:lnTo>
                  <a:pt x="1758239" y="1035392"/>
                </a:lnTo>
                <a:lnTo>
                  <a:pt x="1813796" y="1037680"/>
                </a:lnTo>
                <a:lnTo>
                  <a:pt x="1869509" y="1039836"/>
                </a:lnTo>
                <a:lnTo>
                  <a:pt x="1925328" y="1041906"/>
                </a:lnTo>
                <a:lnTo>
                  <a:pt x="1981199" y="1043939"/>
                </a:lnTo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6267" y="1599597"/>
            <a:ext cx="1929764" cy="649605"/>
          </a:xfrm>
          <a:custGeom>
            <a:avLst/>
            <a:gdLst/>
            <a:ahLst/>
            <a:cxnLst/>
            <a:rect l="l" t="t" r="r" b="b"/>
            <a:pathLst>
              <a:path w="1929764" h="649605">
                <a:moveTo>
                  <a:pt x="0" y="0"/>
                </a:moveTo>
                <a:lnTo>
                  <a:pt x="1921" y="44447"/>
                </a:lnTo>
                <a:lnTo>
                  <a:pt x="4398" y="88656"/>
                </a:lnTo>
                <a:lnTo>
                  <a:pt x="7985" y="132429"/>
                </a:lnTo>
                <a:lnTo>
                  <a:pt x="13239" y="175568"/>
                </a:lnTo>
                <a:lnTo>
                  <a:pt x="20715" y="217875"/>
                </a:lnTo>
                <a:lnTo>
                  <a:pt x="30967" y="259153"/>
                </a:lnTo>
                <a:lnTo>
                  <a:pt x="44552" y="299203"/>
                </a:lnTo>
                <a:lnTo>
                  <a:pt x="62025" y="337828"/>
                </a:lnTo>
                <a:lnTo>
                  <a:pt x="83941" y="374830"/>
                </a:lnTo>
                <a:lnTo>
                  <a:pt x="110856" y="410012"/>
                </a:lnTo>
                <a:lnTo>
                  <a:pt x="143325" y="443175"/>
                </a:lnTo>
                <a:lnTo>
                  <a:pt x="181904" y="474122"/>
                </a:lnTo>
                <a:lnTo>
                  <a:pt x="227148" y="502655"/>
                </a:lnTo>
                <a:lnTo>
                  <a:pt x="279612" y="528576"/>
                </a:lnTo>
                <a:lnTo>
                  <a:pt x="339851" y="551687"/>
                </a:lnTo>
                <a:lnTo>
                  <a:pt x="403981" y="570396"/>
                </a:lnTo>
                <a:lnTo>
                  <a:pt x="474910" y="586626"/>
                </a:lnTo>
                <a:lnTo>
                  <a:pt x="512784" y="593864"/>
                </a:lnTo>
                <a:lnTo>
                  <a:pt x="552188" y="600544"/>
                </a:lnTo>
                <a:lnTo>
                  <a:pt x="593067" y="606687"/>
                </a:lnTo>
                <a:lnTo>
                  <a:pt x="635365" y="612314"/>
                </a:lnTo>
                <a:lnTo>
                  <a:pt x="679024" y="617445"/>
                </a:lnTo>
                <a:lnTo>
                  <a:pt x="723988" y="622102"/>
                </a:lnTo>
                <a:lnTo>
                  <a:pt x="770201" y="626304"/>
                </a:lnTo>
                <a:lnTo>
                  <a:pt x="817608" y="630072"/>
                </a:lnTo>
                <a:lnTo>
                  <a:pt x="866150" y="633428"/>
                </a:lnTo>
                <a:lnTo>
                  <a:pt x="915772" y="636391"/>
                </a:lnTo>
                <a:lnTo>
                  <a:pt x="966418" y="638982"/>
                </a:lnTo>
                <a:lnTo>
                  <a:pt x="1018031" y="641222"/>
                </a:lnTo>
                <a:lnTo>
                  <a:pt x="1070555" y="643132"/>
                </a:lnTo>
                <a:lnTo>
                  <a:pt x="1123934" y="644733"/>
                </a:lnTo>
                <a:lnTo>
                  <a:pt x="1178110" y="646044"/>
                </a:lnTo>
                <a:lnTo>
                  <a:pt x="1233029" y="647086"/>
                </a:lnTo>
                <a:lnTo>
                  <a:pt x="1288632" y="647881"/>
                </a:lnTo>
                <a:lnTo>
                  <a:pt x="1344865" y="648449"/>
                </a:lnTo>
                <a:lnTo>
                  <a:pt x="1401670" y="648810"/>
                </a:lnTo>
                <a:lnTo>
                  <a:pt x="1458991" y="648985"/>
                </a:lnTo>
                <a:lnTo>
                  <a:pt x="1516773" y="648995"/>
                </a:lnTo>
                <a:lnTo>
                  <a:pt x="1574957" y="648861"/>
                </a:lnTo>
                <a:lnTo>
                  <a:pt x="1633489" y="648603"/>
                </a:lnTo>
                <a:lnTo>
                  <a:pt x="1692312" y="648241"/>
                </a:lnTo>
                <a:lnTo>
                  <a:pt x="1751369" y="647797"/>
                </a:lnTo>
                <a:lnTo>
                  <a:pt x="1810604" y="647291"/>
                </a:lnTo>
                <a:lnTo>
                  <a:pt x="1869961" y="646744"/>
                </a:lnTo>
                <a:lnTo>
                  <a:pt x="1929383" y="646175"/>
                </a:lnTo>
              </a:path>
            </a:pathLst>
          </a:custGeom>
          <a:ln w="12191">
            <a:solidFill>
              <a:srgbClr val="4F62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6267" y="1591977"/>
            <a:ext cx="1937385" cy="848994"/>
          </a:xfrm>
          <a:custGeom>
            <a:avLst/>
            <a:gdLst/>
            <a:ahLst/>
            <a:cxnLst/>
            <a:rect l="l" t="t" r="r" b="b"/>
            <a:pathLst>
              <a:path w="1937385" h="848994">
                <a:moveTo>
                  <a:pt x="0" y="0"/>
                </a:moveTo>
                <a:lnTo>
                  <a:pt x="40074" y="31985"/>
                </a:lnTo>
                <a:lnTo>
                  <a:pt x="80194" y="63898"/>
                </a:lnTo>
                <a:lnTo>
                  <a:pt x="120387" y="95687"/>
                </a:lnTo>
                <a:lnTo>
                  <a:pt x="160677" y="127302"/>
                </a:lnTo>
                <a:lnTo>
                  <a:pt x="201091" y="158691"/>
                </a:lnTo>
                <a:lnTo>
                  <a:pt x="241653" y="189802"/>
                </a:lnTo>
                <a:lnTo>
                  <a:pt x="282391" y="220584"/>
                </a:lnTo>
                <a:lnTo>
                  <a:pt x="323329" y="250987"/>
                </a:lnTo>
                <a:lnTo>
                  <a:pt x="364493" y="280958"/>
                </a:lnTo>
                <a:lnTo>
                  <a:pt x="405909" y="310446"/>
                </a:lnTo>
                <a:lnTo>
                  <a:pt x="447602" y="339399"/>
                </a:lnTo>
                <a:lnTo>
                  <a:pt x="489599" y="367768"/>
                </a:lnTo>
                <a:lnTo>
                  <a:pt x="531924" y="395499"/>
                </a:lnTo>
                <a:lnTo>
                  <a:pt x="574604" y="422543"/>
                </a:lnTo>
                <a:lnTo>
                  <a:pt x="617664" y="448846"/>
                </a:lnTo>
                <a:lnTo>
                  <a:pt x="661129" y="474359"/>
                </a:lnTo>
                <a:lnTo>
                  <a:pt x="705027" y="499030"/>
                </a:lnTo>
                <a:lnTo>
                  <a:pt x="749381" y="522807"/>
                </a:lnTo>
                <a:lnTo>
                  <a:pt x="794218" y="545639"/>
                </a:lnTo>
                <a:lnTo>
                  <a:pt x="839564" y="567475"/>
                </a:lnTo>
                <a:lnTo>
                  <a:pt x="885443" y="588263"/>
                </a:lnTo>
                <a:lnTo>
                  <a:pt x="931024" y="607142"/>
                </a:lnTo>
                <a:lnTo>
                  <a:pt x="979391" y="625145"/>
                </a:lnTo>
                <a:lnTo>
                  <a:pt x="1030160" y="642303"/>
                </a:lnTo>
                <a:lnTo>
                  <a:pt x="1082943" y="658647"/>
                </a:lnTo>
                <a:lnTo>
                  <a:pt x="1137354" y="674207"/>
                </a:lnTo>
                <a:lnTo>
                  <a:pt x="1193008" y="689016"/>
                </a:lnTo>
                <a:lnTo>
                  <a:pt x="1249516" y="703103"/>
                </a:lnTo>
                <a:lnTo>
                  <a:pt x="1306493" y="716499"/>
                </a:lnTo>
                <a:lnTo>
                  <a:pt x="1363553" y="729236"/>
                </a:lnTo>
                <a:lnTo>
                  <a:pt x="1420309" y="741345"/>
                </a:lnTo>
                <a:lnTo>
                  <a:pt x="1476374" y="752855"/>
                </a:lnTo>
                <a:lnTo>
                  <a:pt x="1531363" y="763799"/>
                </a:lnTo>
                <a:lnTo>
                  <a:pt x="1584888" y="774208"/>
                </a:lnTo>
                <a:lnTo>
                  <a:pt x="1636564" y="784111"/>
                </a:lnTo>
                <a:lnTo>
                  <a:pt x="1686003" y="793540"/>
                </a:lnTo>
                <a:lnTo>
                  <a:pt x="1732820" y="802526"/>
                </a:lnTo>
                <a:lnTo>
                  <a:pt x="1776627" y="811100"/>
                </a:lnTo>
                <a:lnTo>
                  <a:pt x="1817039" y="819292"/>
                </a:lnTo>
                <a:lnTo>
                  <a:pt x="1886131" y="834657"/>
                </a:lnTo>
                <a:lnTo>
                  <a:pt x="1914038" y="841891"/>
                </a:lnTo>
                <a:lnTo>
                  <a:pt x="1937003" y="848867"/>
                </a:lnTo>
              </a:path>
            </a:pathLst>
          </a:custGeom>
          <a:ln w="38099">
            <a:solidFill>
              <a:srgbClr val="3185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47582" y="1148038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9725" y="1537381"/>
            <a:ext cx="1112520" cy="49212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000" b="1" dirty="0">
                <a:solidFill>
                  <a:srgbClr val="215968"/>
                </a:solidFill>
                <a:latin typeface="黑体" panose="02010609060101010101" charset="-122"/>
                <a:cs typeface="黑体" panose="02010609060101010101" charset="-122"/>
              </a:rPr>
              <a:t>学习率过</a:t>
            </a:r>
            <a:r>
              <a:rPr sz="1000" b="1" spc="-10" dirty="0">
                <a:solidFill>
                  <a:srgbClr val="215968"/>
                </a:solidFill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591185">
              <a:lnSpc>
                <a:spcPct val="100000"/>
              </a:lnSpc>
              <a:spcBef>
                <a:spcPts val="64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3834" y="2539450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中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40796" y="1738281"/>
            <a:ext cx="202692" cy="10972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40796" y="1218597"/>
            <a:ext cx="175260" cy="38100"/>
          </a:xfrm>
          <a:custGeom>
            <a:avLst/>
            <a:gdLst/>
            <a:ahLst/>
            <a:cxnLst/>
            <a:rect l="l" t="t" r="r" b="b"/>
            <a:pathLst>
              <a:path w="175259" h="38100">
                <a:moveTo>
                  <a:pt x="38100" y="0"/>
                </a:moveTo>
                <a:lnTo>
                  <a:pt x="0" y="19811"/>
                </a:lnTo>
                <a:lnTo>
                  <a:pt x="38100" y="38100"/>
                </a:lnTo>
                <a:lnTo>
                  <a:pt x="38100" y="21335"/>
                </a:lnTo>
                <a:lnTo>
                  <a:pt x="32004" y="21335"/>
                </a:lnTo>
                <a:lnTo>
                  <a:pt x="32004" y="16763"/>
                </a:lnTo>
                <a:lnTo>
                  <a:pt x="38100" y="16569"/>
                </a:lnTo>
                <a:lnTo>
                  <a:pt x="38100" y="0"/>
                </a:lnTo>
                <a:close/>
              </a:path>
              <a:path w="175259" h="38100">
                <a:moveTo>
                  <a:pt x="38100" y="16569"/>
                </a:moveTo>
                <a:lnTo>
                  <a:pt x="32004" y="16763"/>
                </a:lnTo>
                <a:lnTo>
                  <a:pt x="32004" y="21335"/>
                </a:lnTo>
                <a:lnTo>
                  <a:pt x="38100" y="21141"/>
                </a:lnTo>
                <a:lnTo>
                  <a:pt x="38100" y="16569"/>
                </a:lnTo>
                <a:close/>
              </a:path>
              <a:path w="175259" h="38100">
                <a:moveTo>
                  <a:pt x="38100" y="21141"/>
                </a:moveTo>
                <a:lnTo>
                  <a:pt x="32004" y="21335"/>
                </a:lnTo>
                <a:lnTo>
                  <a:pt x="38100" y="21335"/>
                </a:lnTo>
                <a:lnTo>
                  <a:pt x="38100" y="21141"/>
                </a:lnTo>
                <a:close/>
              </a:path>
              <a:path w="175259" h="38100">
                <a:moveTo>
                  <a:pt x="175260" y="12192"/>
                </a:moveTo>
                <a:lnTo>
                  <a:pt x="38100" y="16569"/>
                </a:lnTo>
                <a:lnTo>
                  <a:pt x="38100" y="21141"/>
                </a:lnTo>
                <a:lnTo>
                  <a:pt x="175260" y="16763"/>
                </a:lnTo>
                <a:lnTo>
                  <a:pt x="17526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39856" y="2440845"/>
            <a:ext cx="131063" cy="86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88367" y="2038509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8100" h="165100">
                <a:moveTo>
                  <a:pt x="16763" y="126492"/>
                </a:moveTo>
                <a:lnTo>
                  <a:pt x="0" y="126492"/>
                </a:lnTo>
                <a:lnTo>
                  <a:pt x="18287" y="164592"/>
                </a:lnTo>
                <a:lnTo>
                  <a:pt x="34930" y="132588"/>
                </a:lnTo>
                <a:lnTo>
                  <a:pt x="16763" y="132588"/>
                </a:lnTo>
                <a:lnTo>
                  <a:pt x="16763" y="126492"/>
                </a:lnTo>
                <a:close/>
              </a:path>
              <a:path w="38100" h="165100">
                <a:moveTo>
                  <a:pt x="21336" y="0"/>
                </a:moveTo>
                <a:lnTo>
                  <a:pt x="16763" y="0"/>
                </a:lnTo>
                <a:lnTo>
                  <a:pt x="16763" y="132588"/>
                </a:lnTo>
                <a:lnTo>
                  <a:pt x="21336" y="132588"/>
                </a:lnTo>
                <a:lnTo>
                  <a:pt x="21336" y="0"/>
                </a:lnTo>
                <a:close/>
              </a:path>
              <a:path w="38100" h="165100">
                <a:moveTo>
                  <a:pt x="38100" y="126492"/>
                </a:moveTo>
                <a:lnTo>
                  <a:pt x="21336" y="126492"/>
                </a:lnTo>
                <a:lnTo>
                  <a:pt x="21336" y="132588"/>
                </a:lnTo>
                <a:lnTo>
                  <a:pt x="34930" y="132588"/>
                </a:lnTo>
                <a:lnTo>
                  <a:pt x="38100" y="126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68356" y="132933"/>
            <a:ext cx="12661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学习</a:t>
            </a:r>
            <a:r>
              <a:rPr spc="-10" dirty="0"/>
              <a:t>率</a:t>
            </a:r>
            <a:r>
              <a:rPr spc="5" dirty="0"/>
              <a:t>设置</a:t>
            </a:r>
            <a:endParaRPr spc="5" dirty="0"/>
          </a:p>
        </p:txBody>
      </p:sp>
      <p:sp>
        <p:nvSpPr>
          <p:cNvPr id="16" name="object 16"/>
          <p:cNvSpPr txBox="1"/>
          <p:nvPr/>
        </p:nvSpPr>
        <p:spPr>
          <a:xfrm>
            <a:off x="2770040" y="1343088"/>
            <a:ext cx="1976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练过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无法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70040" y="1647808"/>
            <a:ext cx="2865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最小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附近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荡，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达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不到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优。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70040" y="1952653"/>
            <a:ext cx="1722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收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敛时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较长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5788" y="1004865"/>
            <a:ext cx="56515" cy="1728470"/>
          </a:xfrm>
          <a:custGeom>
            <a:avLst/>
            <a:gdLst/>
            <a:ahLst/>
            <a:cxnLst/>
            <a:rect l="l" t="t" r="r" b="b"/>
            <a:pathLst>
              <a:path w="56515" h="1728470">
                <a:moveTo>
                  <a:pt x="38100" y="48768"/>
                </a:moveTo>
                <a:lnTo>
                  <a:pt x="18287" y="48768"/>
                </a:lnTo>
                <a:lnTo>
                  <a:pt x="18287" y="1728216"/>
                </a:lnTo>
                <a:lnTo>
                  <a:pt x="38100" y="1728216"/>
                </a:lnTo>
                <a:lnTo>
                  <a:pt x="38100" y="48768"/>
                </a:lnTo>
                <a:close/>
              </a:path>
              <a:path w="56515" h="1728470">
                <a:moveTo>
                  <a:pt x="27431" y="0"/>
                </a:moveTo>
                <a:lnTo>
                  <a:pt x="0" y="57912"/>
                </a:lnTo>
                <a:lnTo>
                  <a:pt x="18287" y="57912"/>
                </a:lnTo>
                <a:lnTo>
                  <a:pt x="18287" y="48768"/>
                </a:lnTo>
                <a:lnTo>
                  <a:pt x="51816" y="48768"/>
                </a:lnTo>
                <a:lnTo>
                  <a:pt x="27431" y="0"/>
                </a:lnTo>
                <a:close/>
              </a:path>
              <a:path w="56515" h="1728470">
                <a:moveTo>
                  <a:pt x="51816" y="48768"/>
                </a:moveTo>
                <a:lnTo>
                  <a:pt x="38100" y="48768"/>
                </a:lnTo>
                <a:lnTo>
                  <a:pt x="38100" y="57912"/>
                </a:lnTo>
                <a:lnTo>
                  <a:pt x="56387" y="57912"/>
                </a:lnTo>
                <a:lnTo>
                  <a:pt x="51816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220" y="2705649"/>
            <a:ext cx="2019300" cy="56515"/>
          </a:xfrm>
          <a:custGeom>
            <a:avLst/>
            <a:gdLst/>
            <a:ahLst/>
            <a:cxnLst/>
            <a:rect l="l" t="t" r="r" b="b"/>
            <a:pathLst>
              <a:path w="2019300" h="56514">
                <a:moveTo>
                  <a:pt x="1962912" y="0"/>
                </a:moveTo>
                <a:lnTo>
                  <a:pt x="1962912" y="56387"/>
                </a:lnTo>
                <a:lnTo>
                  <a:pt x="1998525" y="38100"/>
                </a:lnTo>
                <a:lnTo>
                  <a:pt x="1972056" y="38100"/>
                </a:lnTo>
                <a:lnTo>
                  <a:pt x="1972056" y="18287"/>
                </a:lnTo>
                <a:lnTo>
                  <a:pt x="2000504" y="18287"/>
                </a:lnTo>
                <a:lnTo>
                  <a:pt x="1962912" y="0"/>
                </a:lnTo>
                <a:close/>
              </a:path>
              <a:path w="2019300" h="56514">
                <a:moveTo>
                  <a:pt x="1962912" y="18287"/>
                </a:moveTo>
                <a:lnTo>
                  <a:pt x="0" y="18287"/>
                </a:lnTo>
                <a:lnTo>
                  <a:pt x="0" y="38100"/>
                </a:lnTo>
                <a:lnTo>
                  <a:pt x="1962912" y="38100"/>
                </a:lnTo>
                <a:lnTo>
                  <a:pt x="1962912" y="18287"/>
                </a:lnTo>
                <a:close/>
              </a:path>
              <a:path w="2019300" h="56514">
                <a:moveTo>
                  <a:pt x="2000504" y="18287"/>
                </a:moveTo>
                <a:lnTo>
                  <a:pt x="1972056" y="18287"/>
                </a:lnTo>
                <a:lnTo>
                  <a:pt x="1972056" y="38100"/>
                </a:lnTo>
                <a:lnTo>
                  <a:pt x="1998525" y="38100"/>
                </a:lnTo>
                <a:lnTo>
                  <a:pt x="2019300" y="27431"/>
                </a:lnTo>
                <a:lnTo>
                  <a:pt x="2000504" y="18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6267" y="725782"/>
            <a:ext cx="615950" cy="1036955"/>
          </a:xfrm>
          <a:custGeom>
            <a:avLst/>
            <a:gdLst/>
            <a:ahLst/>
            <a:cxnLst/>
            <a:rect l="l" t="t" r="r" b="b"/>
            <a:pathLst>
              <a:path w="615950" h="1036955">
                <a:moveTo>
                  <a:pt x="0" y="871918"/>
                </a:moveTo>
                <a:lnTo>
                  <a:pt x="19568" y="928501"/>
                </a:lnTo>
                <a:lnTo>
                  <a:pt x="40599" y="978939"/>
                </a:lnTo>
                <a:lnTo>
                  <a:pt x="64190" y="1017088"/>
                </a:lnTo>
                <a:lnTo>
                  <a:pt x="91439" y="1036803"/>
                </a:lnTo>
                <a:lnTo>
                  <a:pt x="123443" y="1031938"/>
                </a:lnTo>
                <a:lnTo>
                  <a:pt x="171950" y="984599"/>
                </a:lnTo>
                <a:lnTo>
                  <a:pt x="199283" y="946642"/>
                </a:lnTo>
                <a:lnTo>
                  <a:pt x="228028" y="901255"/>
                </a:lnTo>
                <a:lnTo>
                  <a:pt x="257701" y="850010"/>
                </a:lnTo>
                <a:lnTo>
                  <a:pt x="287821" y="794480"/>
                </a:lnTo>
                <a:lnTo>
                  <a:pt x="317905" y="736234"/>
                </a:lnTo>
                <a:lnTo>
                  <a:pt x="347471" y="676846"/>
                </a:lnTo>
                <a:lnTo>
                  <a:pt x="366110" y="636990"/>
                </a:lnTo>
                <a:lnTo>
                  <a:pt x="385930" y="592011"/>
                </a:lnTo>
                <a:lnTo>
                  <a:pt x="406600" y="543007"/>
                </a:lnTo>
                <a:lnTo>
                  <a:pt x="427785" y="491078"/>
                </a:lnTo>
                <a:lnTo>
                  <a:pt x="449154" y="437321"/>
                </a:lnTo>
                <a:lnTo>
                  <a:pt x="470372" y="382835"/>
                </a:lnTo>
                <a:lnTo>
                  <a:pt x="491108" y="328721"/>
                </a:lnTo>
                <a:lnTo>
                  <a:pt x="511029" y="276075"/>
                </a:lnTo>
                <a:lnTo>
                  <a:pt x="529800" y="225997"/>
                </a:lnTo>
                <a:lnTo>
                  <a:pt x="547090" y="179586"/>
                </a:lnTo>
                <a:lnTo>
                  <a:pt x="562565" y="137941"/>
                </a:lnTo>
                <a:lnTo>
                  <a:pt x="575893" y="102160"/>
                </a:lnTo>
                <a:lnTo>
                  <a:pt x="586739" y="73342"/>
                </a:lnTo>
                <a:lnTo>
                  <a:pt x="609052" y="17168"/>
                </a:lnTo>
                <a:lnTo>
                  <a:pt x="615505" y="0"/>
                </a:lnTo>
                <a:lnTo>
                  <a:pt x="611385" y="8834"/>
                </a:lnTo>
                <a:lnTo>
                  <a:pt x="601979" y="30670"/>
                </a:lnTo>
              </a:path>
            </a:pathLst>
          </a:custGeom>
          <a:ln w="13715">
            <a:solidFill>
              <a:srgbClr val="E46C0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6267" y="1612941"/>
            <a:ext cx="1981200" cy="1043940"/>
          </a:xfrm>
          <a:custGeom>
            <a:avLst/>
            <a:gdLst/>
            <a:ahLst/>
            <a:cxnLst/>
            <a:rect l="l" t="t" r="r" b="b"/>
            <a:pathLst>
              <a:path w="1981200" h="1043939">
                <a:moveTo>
                  <a:pt x="0" y="0"/>
                </a:moveTo>
                <a:lnTo>
                  <a:pt x="21430" y="44883"/>
                </a:lnTo>
                <a:lnTo>
                  <a:pt x="42975" y="89696"/>
                </a:lnTo>
                <a:lnTo>
                  <a:pt x="64729" y="134349"/>
                </a:lnTo>
                <a:lnTo>
                  <a:pt x="86788" y="178753"/>
                </a:lnTo>
                <a:lnTo>
                  <a:pt x="109248" y="222819"/>
                </a:lnTo>
                <a:lnTo>
                  <a:pt x="132203" y="266457"/>
                </a:lnTo>
                <a:lnTo>
                  <a:pt x="155748" y="309578"/>
                </a:lnTo>
                <a:lnTo>
                  <a:pt x="179980" y="352093"/>
                </a:lnTo>
                <a:lnTo>
                  <a:pt x="204994" y="393912"/>
                </a:lnTo>
                <a:lnTo>
                  <a:pt x="230884" y="434946"/>
                </a:lnTo>
                <a:lnTo>
                  <a:pt x="257746" y="475106"/>
                </a:lnTo>
                <a:lnTo>
                  <a:pt x="285676" y="514303"/>
                </a:lnTo>
                <a:lnTo>
                  <a:pt x="314768" y="552447"/>
                </a:lnTo>
                <a:lnTo>
                  <a:pt x="345119" y="589449"/>
                </a:lnTo>
                <a:lnTo>
                  <a:pt x="376822" y="625219"/>
                </a:lnTo>
                <a:lnTo>
                  <a:pt x="409975" y="659668"/>
                </a:lnTo>
                <a:lnTo>
                  <a:pt x="444672" y="692708"/>
                </a:lnTo>
                <a:lnTo>
                  <a:pt x="481008" y="724248"/>
                </a:lnTo>
                <a:lnTo>
                  <a:pt x="519078" y="754199"/>
                </a:lnTo>
                <a:lnTo>
                  <a:pt x="558979" y="782472"/>
                </a:lnTo>
                <a:lnTo>
                  <a:pt x="600805" y="808978"/>
                </a:lnTo>
                <a:lnTo>
                  <a:pt x="644651" y="833627"/>
                </a:lnTo>
                <a:lnTo>
                  <a:pt x="682097" y="852457"/>
                </a:lnTo>
                <a:lnTo>
                  <a:pt x="720907" y="870030"/>
                </a:lnTo>
                <a:lnTo>
                  <a:pt x="761029" y="886397"/>
                </a:lnTo>
                <a:lnTo>
                  <a:pt x="802412" y="901605"/>
                </a:lnTo>
                <a:lnTo>
                  <a:pt x="845002" y="915704"/>
                </a:lnTo>
                <a:lnTo>
                  <a:pt x="888747" y="928743"/>
                </a:lnTo>
                <a:lnTo>
                  <a:pt x="933594" y="940769"/>
                </a:lnTo>
                <a:lnTo>
                  <a:pt x="979491" y="951833"/>
                </a:lnTo>
                <a:lnTo>
                  <a:pt x="1026385" y="961982"/>
                </a:lnTo>
                <a:lnTo>
                  <a:pt x="1074225" y="971266"/>
                </a:lnTo>
                <a:lnTo>
                  <a:pt x="1122957" y="979733"/>
                </a:lnTo>
                <a:lnTo>
                  <a:pt x="1172528" y="987432"/>
                </a:lnTo>
                <a:lnTo>
                  <a:pt x="1222887" y="994412"/>
                </a:lnTo>
                <a:lnTo>
                  <a:pt x="1273982" y="1000722"/>
                </a:lnTo>
                <a:lnTo>
                  <a:pt x="1325758" y="1006410"/>
                </a:lnTo>
                <a:lnTo>
                  <a:pt x="1378165" y="1011526"/>
                </a:lnTo>
                <a:lnTo>
                  <a:pt x="1431149" y="1016117"/>
                </a:lnTo>
                <a:lnTo>
                  <a:pt x="1484658" y="1020233"/>
                </a:lnTo>
                <a:lnTo>
                  <a:pt x="1538639" y="1023922"/>
                </a:lnTo>
                <a:lnTo>
                  <a:pt x="1593040" y="1027234"/>
                </a:lnTo>
                <a:lnTo>
                  <a:pt x="1647809" y="1030217"/>
                </a:lnTo>
                <a:lnTo>
                  <a:pt x="1702893" y="1032920"/>
                </a:lnTo>
                <a:lnTo>
                  <a:pt x="1758239" y="1035392"/>
                </a:lnTo>
                <a:lnTo>
                  <a:pt x="1813796" y="1037680"/>
                </a:lnTo>
                <a:lnTo>
                  <a:pt x="1869509" y="1039836"/>
                </a:lnTo>
                <a:lnTo>
                  <a:pt x="1925328" y="1041906"/>
                </a:lnTo>
                <a:lnTo>
                  <a:pt x="1981199" y="1043939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6267" y="1605321"/>
            <a:ext cx="1929764" cy="649605"/>
          </a:xfrm>
          <a:custGeom>
            <a:avLst/>
            <a:gdLst/>
            <a:ahLst/>
            <a:cxnLst/>
            <a:rect l="l" t="t" r="r" b="b"/>
            <a:pathLst>
              <a:path w="1929764" h="649605">
                <a:moveTo>
                  <a:pt x="0" y="0"/>
                </a:moveTo>
                <a:lnTo>
                  <a:pt x="1921" y="44447"/>
                </a:lnTo>
                <a:lnTo>
                  <a:pt x="4398" y="88656"/>
                </a:lnTo>
                <a:lnTo>
                  <a:pt x="7985" y="132429"/>
                </a:lnTo>
                <a:lnTo>
                  <a:pt x="13239" y="175568"/>
                </a:lnTo>
                <a:lnTo>
                  <a:pt x="20715" y="217875"/>
                </a:lnTo>
                <a:lnTo>
                  <a:pt x="30967" y="259153"/>
                </a:lnTo>
                <a:lnTo>
                  <a:pt x="44552" y="299203"/>
                </a:lnTo>
                <a:lnTo>
                  <a:pt x="62025" y="337828"/>
                </a:lnTo>
                <a:lnTo>
                  <a:pt x="83941" y="374830"/>
                </a:lnTo>
                <a:lnTo>
                  <a:pt x="110856" y="410012"/>
                </a:lnTo>
                <a:lnTo>
                  <a:pt x="143325" y="443175"/>
                </a:lnTo>
                <a:lnTo>
                  <a:pt x="181904" y="474122"/>
                </a:lnTo>
                <a:lnTo>
                  <a:pt x="227148" y="502655"/>
                </a:lnTo>
                <a:lnTo>
                  <a:pt x="279612" y="528576"/>
                </a:lnTo>
                <a:lnTo>
                  <a:pt x="339851" y="551687"/>
                </a:lnTo>
                <a:lnTo>
                  <a:pt x="403981" y="570396"/>
                </a:lnTo>
                <a:lnTo>
                  <a:pt x="474910" y="586626"/>
                </a:lnTo>
                <a:lnTo>
                  <a:pt x="512784" y="593864"/>
                </a:lnTo>
                <a:lnTo>
                  <a:pt x="552188" y="600544"/>
                </a:lnTo>
                <a:lnTo>
                  <a:pt x="593067" y="606687"/>
                </a:lnTo>
                <a:lnTo>
                  <a:pt x="635365" y="612314"/>
                </a:lnTo>
                <a:lnTo>
                  <a:pt x="679024" y="617445"/>
                </a:lnTo>
                <a:lnTo>
                  <a:pt x="723988" y="622102"/>
                </a:lnTo>
                <a:lnTo>
                  <a:pt x="770201" y="626304"/>
                </a:lnTo>
                <a:lnTo>
                  <a:pt x="817608" y="630072"/>
                </a:lnTo>
                <a:lnTo>
                  <a:pt x="866150" y="633428"/>
                </a:lnTo>
                <a:lnTo>
                  <a:pt x="915772" y="636391"/>
                </a:lnTo>
                <a:lnTo>
                  <a:pt x="966418" y="638982"/>
                </a:lnTo>
                <a:lnTo>
                  <a:pt x="1018031" y="641222"/>
                </a:lnTo>
                <a:lnTo>
                  <a:pt x="1070555" y="643132"/>
                </a:lnTo>
                <a:lnTo>
                  <a:pt x="1123934" y="644733"/>
                </a:lnTo>
                <a:lnTo>
                  <a:pt x="1178110" y="646044"/>
                </a:lnTo>
                <a:lnTo>
                  <a:pt x="1233029" y="647086"/>
                </a:lnTo>
                <a:lnTo>
                  <a:pt x="1288632" y="647881"/>
                </a:lnTo>
                <a:lnTo>
                  <a:pt x="1344865" y="648449"/>
                </a:lnTo>
                <a:lnTo>
                  <a:pt x="1401670" y="648810"/>
                </a:lnTo>
                <a:lnTo>
                  <a:pt x="1458991" y="648985"/>
                </a:lnTo>
                <a:lnTo>
                  <a:pt x="1516773" y="648995"/>
                </a:lnTo>
                <a:lnTo>
                  <a:pt x="1574957" y="648861"/>
                </a:lnTo>
                <a:lnTo>
                  <a:pt x="1633489" y="648603"/>
                </a:lnTo>
                <a:lnTo>
                  <a:pt x="1692312" y="648241"/>
                </a:lnTo>
                <a:lnTo>
                  <a:pt x="1751369" y="647797"/>
                </a:lnTo>
                <a:lnTo>
                  <a:pt x="1810604" y="647291"/>
                </a:lnTo>
                <a:lnTo>
                  <a:pt x="1869961" y="646744"/>
                </a:lnTo>
                <a:lnTo>
                  <a:pt x="1929383" y="646175"/>
                </a:lnTo>
              </a:path>
            </a:pathLst>
          </a:custGeom>
          <a:ln w="12191">
            <a:solidFill>
              <a:srgbClr val="4F62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6267" y="1597701"/>
            <a:ext cx="1937385" cy="848994"/>
          </a:xfrm>
          <a:custGeom>
            <a:avLst/>
            <a:gdLst/>
            <a:ahLst/>
            <a:cxnLst/>
            <a:rect l="l" t="t" r="r" b="b"/>
            <a:pathLst>
              <a:path w="1937385" h="848994">
                <a:moveTo>
                  <a:pt x="0" y="0"/>
                </a:moveTo>
                <a:lnTo>
                  <a:pt x="40074" y="31985"/>
                </a:lnTo>
                <a:lnTo>
                  <a:pt x="80194" y="63898"/>
                </a:lnTo>
                <a:lnTo>
                  <a:pt x="120387" y="95687"/>
                </a:lnTo>
                <a:lnTo>
                  <a:pt x="160677" y="127302"/>
                </a:lnTo>
                <a:lnTo>
                  <a:pt x="201091" y="158691"/>
                </a:lnTo>
                <a:lnTo>
                  <a:pt x="241653" y="189802"/>
                </a:lnTo>
                <a:lnTo>
                  <a:pt x="282391" y="220584"/>
                </a:lnTo>
                <a:lnTo>
                  <a:pt x="323329" y="250987"/>
                </a:lnTo>
                <a:lnTo>
                  <a:pt x="364493" y="280958"/>
                </a:lnTo>
                <a:lnTo>
                  <a:pt x="405909" y="310446"/>
                </a:lnTo>
                <a:lnTo>
                  <a:pt x="447602" y="339399"/>
                </a:lnTo>
                <a:lnTo>
                  <a:pt x="489599" y="367768"/>
                </a:lnTo>
                <a:lnTo>
                  <a:pt x="531924" y="395499"/>
                </a:lnTo>
                <a:lnTo>
                  <a:pt x="574604" y="422543"/>
                </a:lnTo>
                <a:lnTo>
                  <a:pt x="617664" y="448846"/>
                </a:lnTo>
                <a:lnTo>
                  <a:pt x="661129" y="474359"/>
                </a:lnTo>
                <a:lnTo>
                  <a:pt x="705027" y="499030"/>
                </a:lnTo>
                <a:lnTo>
                  <a:pt x="749381" y="522807"/>
                </a:lnTo>
                <a:lnTo>
                  <a:pt x="794218" y="545639"/>
                </a:lnTo>
                <a:lnTo>
                  <a:pt x="839564" y="567475"/>
                </a:lnTo>
                <a:lnTo>
                  <a:pt x="885443" y="588263"/>
                </a:lnTo>
                <a:lnTo>
                  <a:pt x="931024" y="607142"/>
                </a:lnTo>
                <a:lnTo>
                  <a:pt x="979391" y="625145"/>
                </a:lnTo>
                <a:lnTo>
                  <a:pt x="1030160" y="642303"/>
                </a:lnTo>
                <a:lnTo>
                  <a:pt x="1082943" y="658647"/>
                </a:lnTo>
                <a:lnTo>
                  <a:pt x="1137354" y="674207"/>
                </a:lnTo>
                <a:lnTo>
                  <a:pt x="1193008" y="689016"/>
                </a:lnTo>
                <a:lnTo>
                  <a:pt x="1249516" y="703103"/>
                </a:lnTo>
                <a:lnTo>
                  <a:pt x="1306493" y="716499"/>
                </a:lnTo>
                <a:lnTo>
                  <a:pt x="1363553" y="729236"/>
                </a:lnTo>
                <a:lnTo>
                  <a:pt x="1420309" y="741345"/>
                </a:lnTo>
                <a:lnTo>
                  <a:pt x="1476374" y="752855"/>
                </a:lnTo>
                <a:lnTo>
                  <a:pt x="1531363" y="763799"/>
                </a:lnTo>
                <a:lnTo>
                  <a:pt x="1584888" y="774208"/>
                </a:lnTo>
                <a:lnTo>
                  <a:pt x="1636564" y="784111"/>
                </a:lnTo>
                <a:lnTo>
                  <a:pt x="1686003" y="793540"/>
                </a:lnTo>
                <a:lnTo>
                  <a:pt x="1732820" y="802526"/>
                </a:lnTo>
                <a:lnTo>
                  <a:pt x="1776627" y="811100"/>
                </a:lnTo>
                <a:lnTo>
                  <a:pt x="1817039" y="819292"/>
                </a:lnTo>
                <a:lnTo>
                  <a:pt x="1886131" y="834657"/>
                </a:lnTo>
                <a:lnTo>
                  <a:pt x="1914038" y="841891"/>
                </a:lnTo>
                <a:lnTo>
                  <a:pt x="1937003" y="848867"/>
                </a:lnTo>
              </a:path>
            </a:pathLst>
          </a:custGeom>
          <a:ln w="12191">
            <a:solidFill>
              <a:srgbClr val="3185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47582" y="1153758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9725" y="162468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8806" y="1857812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834" y="2545169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中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40796" y="1744005"/>
            <a:ext cx="202692" cy="10972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40796" y="1224321"/>
            <a:ext cx="175260" cy="38100"/>
          </a:xfrm>
          <a:custGeom>
            <a:avLst/>
            <a:gdLst/>
            <a:ahLst/>
            <a:cxnLst/>
            <a:rect l="l" t="t" r="r" b="b"/>
            <a:pathLst>
              <a:path w="175259" h="38100">
                <a:moveTo>
                  <a:pt x="38100" y="0"/>
                </a:moveTo>
                <a:lnTo>
                  <a:pt x="0" y="19812"/>
                </a:lnTo>
                <a:lnTo>
                  <a:pt x="38100" y="38100"/>
                </a:lnTo>
                <a:lnTo>
                  <a:pt x="38100" y="21336"/>
                </a:lnTo>
                <a:lnTo>
                  <a:pt x="32004" y="21336"/>
                </a:lnTo>
                <a:lnTo>
                  <a:pt x="32004" y="16763"/>
                </a:lnTo>
                <a:lnTo>
                  <a:pt x="38100" y="16569"/>
                </a:lnTo>
                <a:lnTo>
                  <a:pt x="38100" y="0"/>
                </a:lnTo>
                <a:close/>
              </a:path>
              <a:path w="175259" h="38100">
                <a:moveTo>
                  <a:pt x="38100" y="16569"/>
                </a:moveTo>
                <a:lnTo>
                  <a:pt x="32004" y="16763"/>
                </a:lnTo>
                <a:lnTo>
                  <a:pt x="32004" y="21336"/>
                </a:lnTo>
                <a:lnTo>
                  <a:pt x="38100" y="21141"/>
                </a:lnTo>
                <a:lnTo>
                  <a:pt x="38100" y="16569"/>
                </a:lnTo>
                <a:close/>
              </a:path>
              <a:path w="175259" h="38100">
                <a:moveTo>
                  <a:pt x="38100" y="21141"/>
                </a:moveTo>
                <a:lnTo>
                  <a:pt x="32004" y="21336"/>
                </a:lnTo>
                <a:lnTo>
                  <a:pt x="38100" y="21336"/>
                </a:lnTo>
                <a:lnTo>
                  <a:pt x="38100" y="21141"/>
                </a:lnTo>
                <a:close/>
              </a:path>
              <a:path w="175259" h="38100">
                <a:moveTo>
                  <a:pt x="175260" y="12191"/>
                </a:moveTo>
                <a:lnTo>
                  <a:pt x="38100" y="16569"/>
                </a:lnTo>
                <a:lnTo>
                  <a:pt x="38100" y="21141"/>
                </a:lnTo>
                <a:lnTo>
                  <a:pt x="175260" y="16763"/>
                </a:lnTo>
                <a:lnTo>
                  <a:pt x="17526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39856" y="2446569"/>
            <a:ext cx="131063" cy="86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88367" y="2044233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8100" h="165100">
                <a:moveTo>
                  <a:pt x="16763" y="126492"/>
                </a:moveTo>
                <a:lnTo>
                  <a:pt x="0" y="126492"/>
                </a:lnTo>
                <a:lnTo>
                  <a:pt x="18287" y="164592"/>
                </a:lnTo>
                <a:lnTo>
                  <a:pt x="34930" y="132587"/>
                </a:lnTo>
                <a:lnTo>
                  <a:pt x="16763" y="132587"/>
                </a:lnTo>
                <a:lnTo>
                  <a:pt x="16763" y="126492"/>
                </a:lnTo>
                <a:close/>
              </a:path>
              <a:path w="38100" h="165100">
                <a:moveTo>
                  <a:pt x="21336" y="0"/>
                </a:moveTo>
                <a:lnTo>
                  <a:pt x="16763" y="0"/>
                </a:lnTo>
                <a:lnTo>
                  <a:pt x="16763" y="132587"/>
                </a:lnTo>
                <a:lnTo>
                  <a:pt x="21336" y="132587"/>
                </a:lnTo>
                <a:lnTo>
                  <a:pt x="21336" y="0"/>
                </a:lnTo>
                <a:close/>
              </a:path>
              <a:path w="38100" h="165100">
                <a:moveTo>
                  <a:pt x="38100" y="126492"/>
                </a:moveTo>
                <a:lnTo>
                  <a:pt x="21336" y="126492"/>
                </a:lnTo>
                <a:lnTo>
                  <a:pt x="21336" y="132587"/>
                </a:lnTo>
                <a:lnTo>
                  <a:pt x="34930" y="132587"/>
                </a:lnTo>
                <a:lnTo>
                  <a:pt x="38100" y="126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468356" y="138710"/>
            <a:ext cx="12661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学习</a:t>
            </a:r>
            <a:r>
              <a:rPr spc="-10" dirty="0"/>
              <a:t>率</a:t>
            </a:r>
            <a:r>
              <a:rPr spc="5" dirty="0"/>
              <a:t>设置</a:t>
            </a:r>
            <a:endParaRPr spc="5" dirty="0"/>
          </a:p>
        </p:txBody>
      </p:sp>
      <p:sp>
        <p:nvSpPr>
          <p:cNvPr id="17" name="object 17"/>
          <p:cNvSpPr txBox="1"/>
          <p:nvPr/>
        </p:nvSpPr>
        <p:spPr>
          <a:xfrm>
            <a:off x="2770040" y="1348808"/>
            <a:ext cx="1976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练过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无法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70040" y="1653527"/>
            <a:ext cx="2738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最小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附近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荡，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达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不到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70040" y="1958373"/>
            <a:ext cx="1722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敛时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较长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0040" y="2263219"/>
            <a:ext cx="1848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中，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收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敛快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结果好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9152" y="768562"/>
            <a:ext cx="393763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网格搜索法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①</a:t>
            </a:r>
            <a:r>
              <a:rPr sz="1000" spc="2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个超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取几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合这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超参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形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成多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超参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②</a:t>
            </a:r>
            <a:r>
              <a:rPr sz="1000" spc="2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验证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每组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③</a:t>
            </a:r>
            <a:r>
              <a:rPr sz="1000" spc="2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择性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最优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采用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那组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作为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终的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9944" y="132933"/>
            <a:ext cx="17602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超参</a:t>
            </a:r>
            <a:r>
              <a:rPr spc="-10" dirty="0"/>
              <a:t>数</a:t>
            </a:r>
            <a:r>
              <a:rPr spc="5" dirty="0"/>
              <a:t>优</a:t>
            </a:r>
            <a:r>
              <a:rPr spc="-10" dirty="0"/>
              <a:t>化方</a:t>
            </a:r>
            <a:r>
              <a:rPr spc="5" dirty="0"/>
              <a:t>法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9152" y="774282"/>
            <a:ext cx="3937635" cy="2310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网格搜索法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①</a:t>
            </a:r>
            <a:r>
              <a:rPr sz="1000" spc="2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个超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取几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合这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超参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形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成多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超参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②</a:t>
            </a:r>
            <a:r>
              <a:rPr sz="1000" spc="2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验证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每组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259080">
              <a:lnSpc>
                <a:spcPct val="2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③</a:t>
            </a:r>
            <a:r>
              <a:rPr sz="1000" spc="229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择性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最优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采用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那组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作为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终的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值。 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随机搜索法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①</a:t>
            </a:r>
            <a:r>
              <a:rPr sz="1000" spc="2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内随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取点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每个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对应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组超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②</a:t>
            </a:r>
            <a:r>
              <a:rPr sz="1000" spc="2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验证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上评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每组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③</a:t>
            </a:r>
            <a:r>
              <a:rPr sz="1000" spc="2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择性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最优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采用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那组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作为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终的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值。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9944" y="138710"/>
            <a:ext cx="17602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超参</a:t>
            </a:r>
            <a:r>
              <a:rPr spc="-10" dirty="0"/>
              <a:t>数</a:t>
            </a:r>
            <a:r>
              <a:rPr spc="5" dirty="0"/>
              <a:t>优</a:t>
            </a:r>
            <a:r>
              <a:rPr spc="-10" dirty="0"/>
              <a:t>化方</a:t>
            </a:r>
            <a:r>
              <a:rPr spc="5" dirty="0"/>
              <a:t>法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02021" y="1457390"/>
            <a:ext cx="144780" cy="85471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（不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要参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9944" y="132933"/>
            <a:ext cx="17602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超参</a:t>
            </a:r>
            <a:r>
              <a:rPr spc="-10" dirty="0"/>
              <a:t>数</a:t>
            </a:r>
            <a:r>
              <a:rPr spc="5" dirty="0"/>
              <a:t>优</a:t>
            </a:r>
            <a:r>
              <a:rPr spc="-10" dirty="0"/>
              <a:t>化方</a:t>
            </a:r>
            <a:r>
              <a:rPr spc="5" dirty="0"/>
              <a:t>法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1549303" y="2734561"/>
            <a:ext cx="734060" cy="3860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38735" algn="ctr">
              <a:lnSpc>
                <a:spcPct val="100000"/>
              </a:lnSpc>
              <a:spcBef>
                <a:spcPts val="41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900" spc="20" dirty="0">
                <a:latin typeface="黑体" panose="02010609060101010101" charset="-122"/>
                <a:cs typeface="黑体" panose="02010609060101010101" charset="-122"/>
              </a:rPr>
              <a:t>重要</a:t>
            </a: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900" spc="20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9444" y="1724133"/>
            <a:ext cx="114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30" dirty="0">
                <a:latin typeface="Cambria Math" panose="02040503050406030204"/>
                <a:cs typeface="Cambria Math" panose="02040503050406030204"/>
              </a:rPr>
              <a:t>6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79479" y="1148493"/>
          <a:ext cx="1422399" cy="1423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585"/>
                <a:gridCol w="347980"/>
                <a:gridCol w="348615"/>
                <a:gridCol w="363219"/>
              </a:tblGrid>
              <a:tr h="3665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45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665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480724" y="2565305"/>
            <a:ext cx="9226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1190" algn="l"/>
              </a:tabLst>
            </a:pPr>
            <a:r>
              <a:rPr sz="9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   </a:t>
            </a:r>
            <a:r>
              <a:rPr sz="900" i="1" spc="-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01	</a:t>
            </a:r>
            <a:r>
              <a:rPr sz="9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12623" y="1954689"/>
            <a:ext cx="100965" cy="814069"/>
          </a:xfrm>
          <a:custGeom>
            <a:avLst/>
            <a:gdLst/>
            <a:ahLst/>
            <a:cxnLst/>
            <a:rect l="l" t="t" r="r" b="b"/>
            <a:pathLst>
              <a:path w="100964" h="814069">
                <a:moveTo>
                  <a:pt x="20585" y="37977"/>
                </a:moveTo>
                <a:lnTo>
                  <a:pt x="15895" y="38352"/>
                </a:lnTo>
                <a:lnTo>
                  <a:pt x="96012" y="813815"/>
                </a:lnTo>
                <a:lnTo>
                  <a:pt x="100584" y="813815"/>
                </a:lnTo>
                <a:lnTo>
                  <a:pt x="20585" y="37977"/>
                </a:lnTo>
                <a:close/>
              </a:path>
              <a:path w="100964" h="814069">
                <a:moveTo>
                  <a:pt x="15239" y="0"/>
                </a:moveTo>
                <a:lnTo>
                  <a:pt x="0" y="39624"/>
                </a:lnTo>
                <a:lnTo>
                  <a:pt x="15895" y="38352"/>
                </a:lnTo>
                <a:lnTo>
                  <a:pt x="15239" y="32003"/>
                </a:lnTo>
                <a:lnTo>
                  <a:pt x="19812" y="30479"/>
                </a:lnTo>
                <a:lnTo>
                  <a:pt x="34289" y="30479"/>
                </a:lnTo>
                <a:lnTo>
                  <a:pt x="15239" y="0"/>
                </a:lnTo>
                <a:close/>
              </a:path>
              <a:path w="100964" h="814069">
                <a:moveTo>
                  <a:pt x="19812" y="30479"/>
                </a:moveTo>
                <a:lnTo>
                  <a:pt x="15239" y="32003"/>
                </a:lnTo>
                <a:lnTo>
                  <a:pt x="15895" y="38352"/>
                </a:lnTo>
                <a:lnTo>
                  <a:pt x="20585" y="37977"/>
                </a:lnTo>
                <a:lnTo>
                  <a:pt x="19812" y="30479"/>
                </a:lnTo>
                <a:close/>
              </a:path>
              <a:path w="100964" h="814069">
                <a:moveTo>
                  <a:pt x="34289" y="30479"/>
                </a:moveTo>
                <a:lnTo>
                  <a:pt x="19812" y="30479"/>
                </a:lnTo>
                <a:lnTo>
                  <a:pt x="20585" y="37977"/>
                </a:lnTo>
                <a:lnTo>
                  <a:pt x="38100" y="36575"/>
                </a:lnTo>
                <a:lnTo>
                  <a:pt x="34289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68200" y="2794413"/>
            <a:ext cx="1259205" cy="329565"/>
          </a:xfrm>
          <a:custGeom>
            <a:avLst/>
            <a:gdLst/>
            <a:ahLst/>
            <a:cxnLst/>
            <a:rect l="l" t="t" r="r" b="b"/>
            <a:pathLst>
              <a:path w="1259204" h="329564">
                <a:moveTo>
                  <a:pt x="4572" y="307847"/>
                </a:moveTo>
                <a:lnTo>
                  <a:pt x="0" y="307847"/>
                </a:lnTo>
                <a:lnTo>
                  <a:pt x="0" y="326135"/>
                </a:lnTo>
                <a:lnTo>
                  <a:pt x="4572" y="326135"/>
                </a:lnTo>
                <a:lnTo>
                  <a:pt x="4572" y="307847"/>
                </a:lnTo>
                <a:close/>
              </a:path>
              <a:path w="1259204" h="329564">
                <a:moveTo>
                  <a:pt x="4572" y="274319"/>
                </a:moveTo>
                <a:lnTo>
                  <a:pt x="0" y="274319"/>
                </a:lnTo>
                <a:lnTo>
                  <a:pt x="0" y="294131"/>
                </a:lnTo>
                <a:lnTo>
                  <a:pt x="4572" y="294131"/>
                </a:lnTo>
                <a:lnTo>
                  <a:pt x="4572" y="274319"/>
                </a:lnTo>
                <a:close/>
              </a:path>
              <a:path w="1259204" h="329564">
                <a:moveTo>
                  <a:pt x="4572" y="240791"/>
                </a:moveTo>
                <a:lnTo>
                  <a:pt x="0" y="240791"/>
                </a:lnTo>
                <a:lnTo>
                  <a:pt x="0" y="260603"/>
                </a:lnTo>
                <a:lnTo>
                  <a:pt x="4572" y="260603"/>
                </a:lnTo>
                <a:lnTo>
                  <a:pt x="4572" y="240791"/>
                </a:lnTo>
                <a:close/>
              </a:path>
              <a:path w="1259204" h="329564">
                <a:moveTo>
                  <a:pt x="4572" y="207263"/>
                </a:moveTo>
                <a:lnTo>
                  <a:pt x="0" y="207263"/>
                </a:lnTo>
                <a:lnTo>
                  <a:pt x="0" y="227075"/>
                </a:lnTo>
                <a:lnTo>
                  <a:pt x="4572" y="227075"/>
                </a:lnTo>
                <a:lnTo>
                  <a:pt x="4572" y="207263"/>
                </a:lnTo>
                <a:close/>
              </a:path>
              <a:path w="1259204" h="329564">
                <a:moveTo>
                  <a:pt x="4572" y="173735"/>
                </a:moveTo>
                <a:lnTo>
                  <a:pt x="0" y="173735"/>
                </a:lnTo>
                <a:lnTo>
                  <a:pt x="0" y="193547"/>
                </a:lnTo>
                <a:lnTo>
                  <a:pt x="4572" y="193547"/>
                </a:lnTo>
                <a:lnTo>
                  <a:pt x="4572" y="173735"/>
                </a:lnTo>
                <a:close/>
              </a:path>
              <a:path w="1259204" h="329564">
                <a:moveTo>
                  <a:pt x="4572" y="141731"/>
                </a:moveTo>
                <a:lnTo>
                  <a:pt x="0" y="141731"/>
                </a:lnTo>
                <a:lnTo>
                  <a:pt x="0" y="160019"/>
                </a:lnTo>
                <a:lnTo>
                  <a:pt x="4572" y="160019"/>
                </a:lnTo>
                <a:lnTo>
                  <a:pt x="4572" y="141731"/>
                </a:lnTo>
                <a:close/>
              </a:path>
              <a:path w="1259204" h="329564">
                <a:moveTo>
                  <a:pt x="4572" y="108203"/>
                </a:moveTo>
                <a:lnTo>
                  <a:pt x="0" y="108203"/>
                </a:lnTo>
                <a:lnTo>
                  <a:pt x="0" y="126491"/>
                </a:lnTo>
                <a:lnTo>
                  <a:pt x="4572" y="126491"/>
                </a:lnTo>
                <a:lnTo>
                  <a:pt x="4572" y="108203"/>
                </a:lnTo>
                <a:close/>
              </a:path>
              <a:path w="1259204" h="329564">
                <a:moveTo>
                  <a:pt x="4572" y="74675"/>
                </a:moveTo>
                <a:lnTo>
                  <a:pt x="0" y="74675"/>
                </a:lnTo>
                <a:lnTo>
                  <a:pt x="0" y="92963"/>
                </a:lnTo>
                <a:lnTo>
                  <a:pt x="4572" y="92963"/>
                </a:lnTo>
                <a:lnTo>
                  <a:pt x="4572" y="74675"/>
                </a:lnTo>
                <a:close/>
              </a:path>
              <a:path w="1259204" h="329564">
                <a:moveTo>
                  <a:pt x="4572" y="41147"/>
                </a:moveTo>
                <a:lnTo>
                  <a:pt x="0" y="41147"/>
                </a:lnTo>
                <a:lnTo>
                  <a:pt x="0" y="59435"/>
                </a:lnTo>
                <a:lnTo>
                  <a:pt x="4572" y="59435"/>
                </a:lnTo>
                <a:lnTo>
                  <a:pt x="4572" y="41147"/>
                </a:lnTo>
                <a:close/>
              </a:path>
              <a:path w="1259204" h="329564">
                <a:moveTo>
                  <a:pt x="4572" y="7619"/>
                </a:moveTo>
                <a:lnTo>
                  <a:pt x="0" y="7619"/>
                </a:lnTo>
                <a:lnTo>
                  <a:pt x="0" y="27431"/>
                </a:lnTo>
                <a:lnTo>
                  <a:pt x="4572" y="27431"/>
                </a:lnTo>
                <a:lnTo>
                  <a:pt x="4572" y="7619"/>
                </a:lnTo>
                <a:close/>
              </a:path>
              <a:path w="1259204" h="329564">
                <a:moveTo>
                  <a:pt x="30480" y="0"/>
                </a:moveTo>
                <a:lnTo>
                  <a:pt x="10668" y="0"/>
                </a:lnTo>
                <a:lnTo>
                  <a:pt x="10668" y="4571"/>
                </a:lnTo>
                <a:lnTo>
                  <a:pt x="30480" y="4571"/>
                </a:lnTo>
                <a:lnTo>
                  <a:pt x="30480" y="0"/>
                </a:lnTo>
                <a:close/>
              </a:path>
              <a:path w="1259204" h="329564">
                <a:moveTo>
                  <a:pt x="62483" y="0"/>
                </a:moveTo>
                <a:lnTo>
                  <a:pt x="44195" y="0"/>
                </a:lnTo>
                <a:lnTo>
                  <a:pt x="44195" y="4571"/>
                </a:lnTo>
                <a:lnTo>
                  <a:pt x="62483" y="4571"/>
                </a:lnTo>
                <a:lnTo>
                  <a:pt x="62483" y="0"/>
                </a:lnTo>
                <a:close/>
              </a:path>
              <a:path w="1259204" h="329564">
                <a:moveTo>
                  <a:pt x="96012" y="0"/>
                </a:moveTo>
                <a:lnTo>
                  <a:pt x="77724" y="0"/>
                </a:lnTo>
                <a:lnTo>
                  <a:pt x="77724" y="4571"/>
                </a:lnTo>
                <a:lnTo>
                  <a:pt x="96012" y="4571"/>
                </a:lnTo>
                <a:lnTo>
                  <a:pt x="96012" y="0"/>
                </a:lnTo>
                <a:close/>
              </a:path>
              <a:path w="1259204" h="329564">
                <a:moveTo>
                  <a:pt x="129539" y="0"/>
                </a:moveTo>
                <a:lnTo>
                  <a:pt x="111251" y="0"/>
                </a:lnTo>
                <a:lnTo>
                  <a:pt x="111251" y="4571"/>
                </a:lnTo>
                <a:lnTo>
                  <a:pt x="129539" y="4571"/>
                </a:lnTo>
                <a:lnTo>
                  <a:pt x="129539" y="0"/>
                </a:lnTo>
                <a:close/>
              </a:path>
              <a:path w="1259204" h="329564">
                <a:moveTo>
                  <a:pt x="163067" y="0"/>
                </a:moveTo>
                <a:lnTo>
                  <a:pt x="144779" y="0"/>
                </a:lnTo>
                <a:lnTo>
                  <a:pt x="144779" y="4571"/>
                </a:lnTo>
                <a:lnTo>
                  <a:pt x="163067" y="4571"/>
                </a:lnTo>
                <a:lnTo>
                  <a:pt x="163067" y="0"/>
                </a:lnTo>
                <a:close/>
              </a:path>
              <a:path w="1259204" h="329564">
                <a:moveTo>
                  <a:pt x="196596" y="0"/>
                </a:moveTo>
                <a:lnTo>
                  <a:pt x="176784" y="0"/>
                </a:lnTo>
                <a:lnTo>
                  <a:pt x="176784" y="4571"/>
                </a:lnTo>
                <a:lnTo>
                  <a:pt x="196596" y="4571"/>
                </a:lnTo>
                <a:lnTo>
                  <a:pt x="196596" y="0"/>
                </a:lnTo>
                <a:close/>
              </a:path>
              <a:path w="1259204" h="329564">
                <a:moveTo>
                  <a:pt x="230124" y="0"/>
                </a:moveTo>
                <a:lnTo>
                  <a:pt x="210312" y="0"/>
                </a:lnTo>
                <a:lnTo>
                  <a:pt x="210312" y="4571"/>
                </a:lnTo>
                <a:lnTo>
                  <a:pt x="230124" y="4571"/>
                </a:lnTo>
                <a:lnTo>
                  <a:pt x="230124" y="0"/>
                </a:lnTo>
                <a:close/>
              </a:path>
              <a:path w="1259204" h="329564">
                <a:moveTo>
                  <a:pt x="263651" y="0"/>
                </a:moveTo>
                <a:lnTo>
                  <a:pt x="243839" y="0"/>
                </a:lnTo>
                <a:lnTo>
                  <a:pt x="243839" y="4571"/>
                </a:lnTo>
                <a:lnTo>
                  <a:pt x="263651" y="4571"/>
                </a:lnTo>
                <a:lnTo>
                  <a:pt x="263651" y="0"/>
                </a:lnTo>
                <a:close/>
              </a:path>
              <a:path w="1259204" h="329564">
                <a:moveTo>
                  <a:pt x="297179" y="0"/>
                </a:moveTo>
                <a:lnTo>
                  <a:pt x="277367" y="0"/>
                </a:lnTo>
                <a:lnTo>
                  <a:pt x="277367" y="4571"/>
                </a:lnTo>
                <a:lnTo>
                  <a:pt x="297179" y="4571"/>
                </a:lnTo>
                <a:lnTo>
                  <a:pt x="297179" y="0"/>
                </a:lnTo>
                <a:close/>
              </a:path>
              <a:path w="1259204" h="329564">
                <a:moveTo>
                  <a:pt x="329184" y="0"/>
                </a:moveTo>
                <a:lnTo>
                  <a:pt x="310896" y="0"/>
                </a:lnTo>
                <a:lnTo>
                  <a:pt x="310896" y="4571"/>
                </a:lnTo>
                <a:lnTo>
                  <a:pt x="329184" y="4571"/>
                </a:lnTo>
                <a:lnTo>
                  <a:pt x="329184" y="0"/>
                </a:lnTo>
                <a:close/>
              </a:path>
              <a:path w="1259204" h="329564">
                <a:moveTo>
                  <a:pt x="362712" y="0"/>
                </a:moveTo>
                <a:lnTo>
                  <a:pt x="344424" y="0"/>
                </a:lnTo>
                <a:lnTo>
                  <a:pt x="344424" y="4571"/>
                </a:lnTo>
                <a:lnTo>
                  <a:pt x="362712" y="4571"/>
                </a:lnTo>
                <a:lnTo>
                  <a:pt x="362712" y="0"/>
                </a:lnTo>
                <a:close/>
              </a:path>
              <a:path w="1259204" h="329564">
                <a:moveTo>
                  <a:pt x="396239" y="0"/>
                </a:moveTo>
                <a:lnTo>
                  <a:pt x="377951" y="0"/>
                </a:lnTo>
                <a:lnTo>
                  <a:pt x="377951" y="4571"/>
                </a:lnTo>
                <a:lnTo>
                  <a:pt x="396239" y="4571"/>
                </a:lnTo>
                <a:lnTo>
                  <a:pt x="396239" y="0"/>
                </a:lnTo>
                <a:close/>
              </a:path>
              <a:path w="1259204" h="329564">
                <a:moveTo>
                  <a:pt x="429767" y="0"/>
                </a:moveTo>
                <a:lnTo>
                  <a:pt x="411479" y="0"/>
                </a:lnTo>
                <a:lnTo>
                  <a:pt x="411479" y="4571"/>
                </a:lnTo>
                <a:lnTo>
                  <a:pt x="429767" y="4571"/>
                </a:lnTo>
                <a:lnTo>
                  <a:pt x="429767" y="0"/>
                </a:lnTo>
                <a:close/>
              </a:path>
              <a:path w="1259204" h="329564">
                <a:moveTo>
                  <a:pt x="463296" y="0"/>
                </a:moveTo>
                <a:lnTo>
                  <a:pt x="443484" y="0"/>
                </a:lnTo>
                <a:lnTo>
                  <a:pt x="443484" y="4571"/>
                </a:lnTo>
                <a:lnTo>
                  <a:pt x="463296" y="4571"/>
                </a:lnTo>
                <a:lnTo>
                  <a:pt x="463296" y="0"/>
                </a:lnTo>
                <a:close/>
              </a:path>
              <a:path w="1259204" h="329564">
                <a:moveTo>
                  <a:pt x="496824" y="0"/>
                </a:moveTo>
                <a:lnTo>
                  <a:pt x="477012" y="0"/>
                </a:lnTo>
                <a:lnTo>
                  <a:pt x="477012" y="4571"/>
                </a:lnTo>
                <a:lnTo>
                  <a:pt x="496824" y="4571"/>
                </a:lnTo>
                <a:lnTo>
                  <a:pt x="496824" y="0"/>
                </a:lnTo>
                <a:close/>
              </a:path>
              <a:path w="1259204" h="329564">
                <a:moveTo>
                  <a:pt x="530351" y="0"/>
                </a:moveTo>
                <a:lnTo>
                  <a:pt x="510539" y="0"/>
                </a:lnTo>
                <a:lnTo>
                  <a:pt x="510539" y="4571"/>
                </a:lnTo>
                <a:lnTo>
                  <a:pt x="530351" y="4571"/>
                </a:lnTo>
                <a:lnTo>
                  <a:pt x="530351" y="0"/>
                </a:lnTo>
                <a:close/>
              </a:path>
              <a:path w="1259204" h="329564">
                <a:moveTo>
                  <a:pt x="563879" y="0"/>
                </a:moveTo>
                <a:lnTo>
                  <a:pt x="544067" y="0"/>
                </a:lnTo>
                <a:lnTo>
                  <a:pt x="544067" y="4571"/>
                </a:lnTo>
                <a:lnTo>
                  <a:pt x="563879" y="4571"/>
                </a:lnTo>
                <a:lnTo>
                  <a:pt x="563879" y="0"/>
                </a:lnTo>
                <a:close/>
              </a:path>
              <a:path w="1259204" h="329564">
                <a:moveTo>
                  <a:pt x="595884" y="0"/>
                </a:moveTo>
                <a:lnTo>
                  <a:pt x="577596" y="0"/>
                </a:lnTo>
                <a:lnTo>
                  <a:pt x="577596" y="4571"/>
                </a:lnTo>
                <a:lnTo>
                  <a:pt x="595884" y="4571"/>
                </a:lnTo>
                <a:lnTo>
                  <a:pt x="595884" y="0"/>
                </a:lnTo>
                <a:close/>
              </a:path>
              <a:path w="1259204" h="329564">
                <a:moveTo>
                  <a:pt x="629412" y="0"/>
                </a:moveTo>
                <a:lnTo>
                  <a:pt x="611124" y="0"/>
                </a:lnTo>
                <a:lnTo>
                  <a:pt x="611124" y="4571"/>
                </a:lnTo>
                <a:lnTo>
                  <a:pt x="629412" y="4571"/>
                </a:lnTo>
                <a:lnTo>
                  <a:pt x="629412" y="0"/>
                </a:lnTo>
                <a:close/>
              </a:path>
              <a:path w="1259204" h="329564">
                <a:moveTo>
                  <a:pt x="662939" y="0"/>
                </a:moveTo>
                <a:lnTo>
                  <a:pt x="644651" y="0"/>
                </a:lnTo>
                <a:lnTo>
                  <a:pt x="644651" y="4571"/>
                </a:lnTo>
                <a:lnTo>
                  <a:pt x="662939" y="4571"/>
                </a:lnTo>
                <a:lnTo>
                  <a:pt x="662939" y="0"/>
                </a:lnTo>
                <a:close/>
              </a:path>
              <a:path w="1259204" h="329564">
                <a:moveTo>
                  <a:pt x="696467" y="0"/>
                </a:moveTo>
                <a:lnTo>
                  <a:pt x="678179" y="0"/>
                </a:lnTo>
                <a:lnTo>
                  <a:pt x="678179" y="4571"/>
                </a:lnTo>
                <a:lnTo>
                  <a:pt x="696467" y="4571"/>
                </a:lnTo>
                <a:lnTo>
                  <a:pt x="696467" y="0"/>
                </a:lnTo>
                <a:close/>
              </a:path>
              <a:path w="1259204" h="329564">
                <a:moveTo>
                  <a:pt x="729996" y="0"/>
                </a:moveTo>
                <a:lnTo>
                  <a:pt x="710184" y="0"/>
                </a:lnTo>
                <a:lnTo>
                  <a:pt x="710184" y="4571"/>
                </a:lnTo>
                <a:lnTo>
                  <a:pt x="729996" y="4571"/>
                </a:lnTo>
                <a:lnTo>
                  <a:pt x="729996" y="0"/>
                </a:lnTo>
                <a:close/>
              </a:path>
              <a:path w="1259204" h="329564">
                <a:moveTo>
                  <a:pt x="763524" y="0"/>
                </a:moveTo>
                <a:lnTo>
                  <a:pt x="743712" y="0"/>
                </a:lnTo>
                <a:lnTo>
                  <a:pt x="743712" y="4571"/>
                </a:lnTo>
                <a:lnTo>
                  <a:pt x="763524" y="4571"/>
                </a:lnTo>
                <a:lnTo>
                  <a:pt x="763524" y="0"/>
                </a:lnTo>
                <a:close/>
              </a:path>
              <a:path w="1259204" h="329564">
                <a:moveTo>
                  <a:pt x="797051" y="0"/>
                </a:moveTo>
                <a:lnTo>
                  <a:pt x="777239" y="0"/>
                </a:lnTo>
                <a:lnTo>
                  <a:pt x="777239" y="4571"/>
                </a:lnTo>
                <a:lnTo>
                  <a:pt x="797051" y="4571"/>
                </a:lnTo>
                <a:lnTo>
                  <a:pt x="797051" y="0"/>
                </a:lnTo>
                <a:close/>
              </a:path>
              <a:path w="1259204" h="329564">
                <a:moveTo>
                  <a:pt x="830579" y="0"/>
                </a:moveTo>
                <a:lnTo>
                  <a:pt x="810767" y="0"/>
                </a:lnTo>
                <a:lnTo>
                  <a:pt x="810767" y="4571"/>
                </a:lnTo>
                <a:lnTo>
                  <a:pt x="830579" y="4571"/>
                </a:lnTo>
                <a:lnTo>
                  <a:pt x="830579" y="0"/>
                </a:lnTo>
                <a:close/>
              </a:path>
              <a:path w="1259204" h="329564">
                <a:moveTo>
                  <a:pt x="862584" y="0"/>
                </a:moveTo>
                <a:lnTo>
                  <a:pt x="844296" y="0"/>
                </a:lnTo>
                <a:lnTo>
                  <a:pt x="844296" y="4571"/>
                </a:lnTo>
                <a:lnTo>
                  <a:pt x="862584" y="4571"/>
                </a:lnTo>
                <a:lnTo>
                  <a:pt x="862584" y="0"/>
                </a:lnTo>
                <a:close/>
              </a:path>
              <a:path w="1259204" h="329564">
                <a:moveTo>
                  <a:pt x="896112" y="0"/>
                </a:moveTo>
                <a:lnTo>
                  <a:pt x="877824" y="0"/>
                </a:lnTo>
                <a:lnTo>
                  <a:pt x="877824" y="4571"/>
                </a:lnTo>
                <a:lnTo>
                  <a:pt x="896112" y="4571"/>
                </a:lnTo>
                <a:lnTo>
                  <a:pt x="896112" y="0"/>
                </a:lnTo>
                <a:close/>
              </a:path>
              <a:path w="1259204" h="329564">
                <a:moveTo>
                  <a:pt x="929639" y="0"/>
                </a:moveTo>
                <a:lnTo>
                  <a:pt x="911351" y="0"/>
                </a:lnTo>
                <a:lnTo>
                  <a:pt x="911351" y="4571"/>
                </a:lnTo>
                <a:lnTo>
                  <a:pt x="929639" y="4571"/>
                </a:lnTo>
                <a:lnTo>
                  <a:pt x="929639" y="0"/>
                </a:lnTo>
                <a:close/>
              </a:path>
              <a:path w="1259204" h="329564">
                <a:moveTo>
                  <a:pt x="963167" y="0"/>
                </a:moveTo>
                <a:lnTo>
                  <a:pt x="944879" y="0"/>
                </a:lnTo>
                <a:lnTo>
                  <a:pt x="944879" y="4571"/>
                </a:lnTo>
                <a:lnTo>
                  <a:pt x="963167" y="4571"/>
                </a:lnTo>
                <a:lnTo>
                  <a:pt x="963167" y="0"/>
                </a:lnTo>
                <a:close/>
              </a:path>
              <a:path w="1259204" h="329564">
                <a:moveTo>
                  <a:pt x="996696" y="0"/>
                </a:moveTo>
                <a:lnTo>
                  <a:pt x="976884" y="0"/>
                </a:lnTo>
                <a:lnTo>
                  <a:pt x="976884" y="4571"/>
                </a:lnTo>
                <a:lnTo>
                  <a:pt x="996696" y="4571"/>
                </a:lnTo>
                <a:lnTo>
                  <a:pt x="996696" y="0"/>
                </a:lnTo>
                <a:close/>
              </a:path>
              <a:path w="1259204" h="329564">
                <a:moveTo>
                  <a:pt x="1030224" y="0"/>
                </a:moveTo>
                <a:lnTo>
                  <a:pt x="1010412" y="0"/>
                </a:lnTo>
                <a:lnTo>
                  <a:pt x="1010412" y="4571"/>
                </a:lnTo>
                <a:lnTo>
                  <a:pt x="1030224" y="4571"/>
                </a:lnTo>
                <a:lnTo>
                  <a:pt x="1030224" y="0"/>
                </a:lnTo>
                <a:close/>
              </a:path>
              <a:path w="1259204" h="329564">
                <a:moveTo>
                  <a:pt x="1063752" y="0"/>
                </a:moveTo>
                <a:lnTo>
                  <a:pt x="1043939" y="0"/>
                </a:lnTo>
                <a:lnTo>
                  <a:pt x="1043939" y="4571"/>
                </a:lnTo>
                <a:lnTo>
                  <a:pt x="1063752" y="4571"/>
                </a:lnTo>
                <a:lnTo>
                  <a:pt x="1063752" y="0"/>
                </a:lnTo>
                <a:close/>
              </a:path>
              <a:path w="1259204" h="329564">
                <a:moveTo>
                  <a:pt x="1097279" y="0"/>
                </a:moveTo>
                <a:lnTo>
                  <a:pt x="1077467" y="0"/>
                </a:lnTo>
                <a:lnTo>
                  <a:pt x="1077467" y="4571"/>
                </a:lnTo>
                <a:lnTo>
                  <a:pt x="1097279" y="4571"/>
                </a:lnTo>
                <a:lnTo>
                  <a:pt x="1097279" y="0"/>
                </a:lnTo>
                <a:close/>
              </a:path>
              <a:path w="1259204" h="329564">
                <a:moveTo>
                  <a:pt x="1129284" y="0"/>
                </a:moveTo>
                <a:lnTo>
                  <a:pt x="1110996" y="0"/>
                </a:lnTo>
                <a:lnTo>
                  <a:pt x="1110996" y="4571"/>
                </a:lnTo>
                <a:lnTo>
                  <a:pt x="1129284" y="4571"/>
                </a:lnTo>
                <a:lnTo>
                  <a:pt x="1129284" y="0"/>
                </a:lnTo>
                <a:close/>
              </a:path>
              <a:path w="1259204" h="329564">
                <a:moveTo>
                  <a:pt x="1162812" y="0"/>
                </a:moveTo>
                <a:lnTo>
                  <a:pt x="1144524" y="0"/>
                </a:lnTo>
                <a:lnTo>
                  <a:pt x="1144524" y="4571"/>
                </a:lnTo>
                <a:lnTo>
                  <a:pt x="1162812" y="4571"/>
                </a:lnTo>
                <a:lnTo>
                  <a:pt x="1162812" y="0"/>
                </a:lnTo>
                <a:close/>
              </a:path>
              <a:path w="1259204" h="329564">
                <a:moveTo>
                  <a:pt x="1196339" y="0"/>
                </a:moveTo>
                <a:lnTo>
                  <a:pt x="1178052" y="0"/>
                </a:lnTo>
                <a:lnTo>
                  <a:pt x="1178052" y="4571"/>
                </a:lnTo>
                <a:lnTo>
                  <a:pt x="1196339" y="4571"/>
                </a:lnTo>
                <a:lnTo>
                  <a:pt x="1196339" y="0"/>
                </a:lnTo>
                <a:close/>
              </a:path>
              <a:path w="1259204" h="329564">
                <a:moveTo>
                  <a:pt x="1229867" y="0"/>
                </a:moveTo>
                <a:lnTo>
                  <a:pt x="1211579" y="0"/>
                </a:lnTo>
                <a:lnTo>
                  <a:pt x="1211579" y="4571"/>
                </a:lnTo>
                <a:lnTo>
                  <a:pt x="1229867" y="4571"/>
                </a:lnTo>
                <a:lnTo>
                  <a:pt x="1229867" y="0"/>
                </a:lnTo>
                <a:close/>
              </a:path>
              <a:path w="1259204" h="329564">
                <a:moveTo>
                  <a:pt x="1254252" y="1523"/>
                </a:moveTo>
                <a:lnTo>
                  <a:pt x="1254252" y="9143"/>
                </a:lnTo>
                <a:lnTo>
                  <a:pt x="1258824" y="9143"/>
                </a:lnTo>
                <a:lnTo>
                  <a:pt x="1258824" y="4571"/>
                </a:lnTo>
                <a:lnTo>
                  <a:pt x="1255776" y="4571"/>
                </a:lnTo>
                <a:lnTo>
                  <a:pt x="1254252" y="1523"/>
                </a:lnTo>
                <a:close/>
              </a:path>
              <a:path w="1259204" h="329564">
                <a:moveTo>
                  <a:pt x="1255776" y="0"/>
                </a:moveTo>
                <a:lnTo>
                  <a:pt x="1243584" y="0"/>
                </a:lnTo>
                <a:lnTo>
                  <a:pt x="1243584" y="4571"/>
                </a:lnTo>
                <a:lnTo>
                  <a:pt x="1254252" y="4571"/>
                </a:lnTo>
                <a:lnTo>
                  <a:pt x="1254252" y="1523"/>
                </a:lnTo>
                <a:lnTo>
                  <a:pt x="1258824" y="1523"/>
                </a:lnTo>
                <a:lnTo>
                  <a:pt x="1255776" y="0"/>
                </a:lnTo>
                <a:close/>
              </a:path>
              <a:path w="1259204" h="329564">
                <a:moveTo>
                  <a:pt x="1258824" y="1523"/>
                </a:moveTo>
                <a:lnTo>
                  <a:pt x="1254252" y="1523"/>
                </a:lnTo>
                <a:lnTo>
                  <a:pt x="1255776" y="4571"/>
                </a:lnTo>
                <a:lnTo>
                  <a:pt x="1258824" y="4571"/>
                </a:lnTo>
                <a:lnTo>
                  <a:pt x="1258824" y="1523"/>
                </a:lnTo>
                <a:close/>
              </a:path>
              <a:path w="1259204" h="329564">
                <a:moveTo>
                  <a:pt x="1258824" y="22859"/>
                </a:moveTo>
                <a:lnTo>
                  <a:pt x="1254252" y="22859"/>
                </a:lnTo>
                <a:lnTo>
                  <a:pt x="1254252" y="42671"/>
                </a:lnTo>
                <a:lnTo>
                  <a:pt x="1258824" y="42671"/>
                </a:lnTo>
                <a:lnTo>
                  <a:pt x="1258824" y="22859"/>
                </a:lnTo>
                <a:close/>
              </a:path>
              <a:path w="1259204" h="329564">
                <a:moveTo>
                  <a:pt x="1258824" y="56387"/>
                </a:moveTo>
                <a:lnTo>
                  <a:pt x="1254252" y="56387"/>
                </a:lnTo>
                <a:lnTo>
                  <a:pt x="1254252" y="76200"/>
                </a:lnTo>
                <a:lnTo>
                  <a:pt x="1258824" y="76200"/>
                </a:lnTo>
                <a:lnTo>
                  <a:pt x="1258824" y="56387"/>
                </a:lnTo>
                <a:close/>
              </a:path>
              <a:path w="1259204" h="329564">
                <a:moveTo>
                  <a:pt x="1258824" y="89915"/>
                </a:moveTo>
                <a:lnTo>
                  <a:pt x="1254252" y="89915"/>
                </a:lnTo>
                <a:lnTo>
                  <a:pt x="1254252" y="109727"/>
                </a:lnTo>
                <a:lnTo>
                  <a:pt x="1258824" y="109727"/>
                </a:lnTo>
                <a:lnTo>
                  <a:pt x="1258824" y="89915"/>
                </a:lnTo>
                <a:close/>
              </a:path>
              <a:path w="1259204" h="329564">
                <a:moveTo>
                  <a:pt x="1258824" y="123443"/>
                </a:moveTo>
                <a:lnTo>
                  <a:pt x="1254252" y="123443"/>
                </a:lnTo>
                <a:lnTo>
                  <a:pt x="1254252" y="141731"/>
                </a:lnTo>
                <a:lnTo>
                  <a:pt x="1258824" y="141731"/>
                </a:lnTo>
                <a:lnTo>
                  <a:pt x="1258824" y="123443"/>
                </a:lnTo>
                <a:close/>
              </a:path>
              <a:path w="1259204" h="329564">
                <a:moveTo>
                  <a:pt x="1258824" y="156971"/>
                </a:moveTo>
                <a:lnTo>
                  <a:pt x="1254252" y="156971"/>
                </a:lnTo>
                <a:lnTo>
                  <a:pt x="1254252" y="175259"/>
                </a:lnTo>
                <a:lnTo>
                  <a:pt x="1258824" y="175259"/>
                </a:lnTo>
                <a:lnTo>
                  <a:pt x="1258824" y="156971"/>
                </a:lnTo>
                <a:close/>
              </a:path>
              <a:path w="1259204" h="329564">
                <a:moveTo>
                  <a:pt x="1258824" y="190499"/>
                </a:moveTo>
                <a:lnTo>
                  <a:pt x="1254252" y="190499"/>
                </a:lnTo>
                <a:lnTo>
                  <a:pt x="1254252" y="208787"/>
                </a:lnTo>
                <a:lnTo>
                  <a:pt x="1258824" y="208787"/>
                </a:lnTo>
                <a:lnTo>
                  <a:pt x="1258824" y="190499"/>
                </a:lnTo>
                <a:close/>
              </a:path>
              <a:path w="1259204" h="329564">
                <a:moveTo>
                  <a:pt x="1258824" y="224027"/>
                </a:moveTo>
                <a:lnTo>
                  <a:pt x="1254252" y="224027"/>
                </a:lnTo>
                <a:lnTo>
                  <a:pt x="1254252" y="242315"/>
                </a:lnTo>
                <a:lnTo>
                  <a:pt x="1258824" y="242315"/>
                </a:lnTo>
                <a:lnTo>
                  <a:pt x="1258824" y="224027"/>
                </a:lnTo>
                <a:close/>
              </a:path>
              <a:path w="1259204" h="329564">
                <a:moveTo>
                  <a:pt x="1258824" y="256031"/>
                </a:moveTo>
                <a:lnTo>
                  <a:pt x="1254252" y="256031"/>
                </a:lnTo>
                <a:lnTo>
                  <a:pt x="1254252" y="275843"/>
                </a:lnTo>
                <a:lnTo>
                  <a:pt x="1258824" y="275843"/>
                </a:lnTo>
                <a:lnTo>
                  <a:pt x="1258824" y="256031"/>
                </a:lnTo>
                <a:close/>
              </a:path>
              <a:path w="1259204" h="329564">
                <a:moveTo>
                  <a:pt x="1258824" y="289559"/>
                </a:moveTo>
                <a:lnTo>
                  <a:pt x="1254252" y="289559"/>
                </a:lnTo>
                <a:lnTo>
                  <a:pt x="1254252" y="309371"/>
                </a:lnTo>
                <a:lnTo>
                  <a:pt x="1258824" y="309371"/>
                </a:lnTo>
                <a:lnTo>
                  <a:pt x="1258824" y="289559"/>
                </a:lnTo>
                <a:close/>
              </a:path>
              <a:path w="1259204" h="329564">
                <a:moveTo>
                  <a:pt x="1254252" y="324611"/>
                </a:moveTo>
                <a:lnTo>
                  <a:pt x="1240536" y="324611"/>
                </a:lnTo>
                <a:lnTo>
                  <a:pt x="1240536" y="329183"/>
                </a:lnTo>
                <a:lnTo>
                  <a:pt x="1255776" y="329183"/>
                </a:lnTo>
                <a:lnTo>
                  <a:pt x="1258824" y="326135"/>
                </a:lnTo>
                <a:lnTo>
                  <a:pt x="1254252" y="326135"/>
                </a:lnTo>
                <a:lnTo>
                  <a:pt x="1254252" y="324611"/>
                </a:lnTo>
                <a:close/>
              </a:path>
              <a:path w="1259204" h="329564">
                <a:moveTo>
                  <a:pt x="1258824" y="323087"/>
                </a:moveTo>
                <a:lnTo>
                  <a:pt x="1254252" y="323087"/>
                </a:lnTo>
                <a:lnTo>
                  <a:pt x="1254252" y="326135"/>
                </a:lnTo>
                <a:lnTo>
                  <a:pt x="1255776" y="324611"/>
                </a:lnTo>
                <a:lnTo>
                  <a:pt x="1258824" y="324611"/>
                </a:lnTo>
                <a:lnTo>
                  <a:pt x="1258824" y="323087"/>
                </a:lnTo>
                <a:close/>
              </a:path>
              <a:path w="1259204" h="329564">
                <a:moveTo>
                  <a:pt x="1258824" y="324611"/>
                </a:moveTo>
                <a:lnTo>
                  <a:pt x="1255776" y="324611"/>
                </a:lnTo>
                <a:lnTo>
                  <a:pt x="1254252" y="326135"/>
                </a:lnTo>
                <a:lnTo>
                  <a:pt x="1258824" y="326135"/>
                </a:lnTo>
                <a:lnTo>
                  <a:pt x="1258824" y="324611"/>
                </a:lnTo>
                <a:close/>
              </a:path>
              <a:path w="1259204" h="329564">
                <a:moveTo>
                  <a:pt x="1226820" y="324611"/>
                </a:moveTo>
                <a:lnTo>
                  <a:pt x="1207008" y="324611"/>
                </a:lnTo>
                <a:lnTo>
                  <a:pt x="1207008" y="329183"/>
                </a:lnTo>
                <a:lnTo>
                  <a:pt x="1226820" y="329183"/>
                </a:lnTo>
                <a:lnTo>
                  <a:pt x="1226820" y="324611"/>
                </a:lnTo>
                <a:close/>
              </a:path>
              <a:path w="1259204" h="329564">
                <a:moveTo>
                  <a:pt x="1193291" y="324611"/>
                </a:moveTo>
                <a:lnTo>
                  <a:pt x="1173479" y="324611"/>
                </a:lnTo>
                <a:lnTo>
                  <a:pt x="1173479" y="329183"/>
                </a:lnTo>
                <a:lnTo>
                  <a:pt x="1193291" y="329183"/>
                </a:lnTo>
                <a:lnTo>
                  <a:pt x="1193291" y="324611"/>
                </a:lnTo>
                <a:close/>
              </a:path>
              <a:path w="1259204" h="329564">
                <a:moveTo>
                  <a:pt x="1159764" y="324611"/>
                </a:moveTo>
                <a:lnTo>
                  <a:pt x="1139952" y="324611"/>
                </a:lnTo>
                <a:lnTo>
                  <a:pt x="1139952" y="329183"/>
                </a:lnTo>
                <a:lnTo>
                  <a:pt x="1159764" y="329183"/>
                </a:lnTo>
                <a:lnTo>
                  <a:pt x="1159764" y="324611"/>
                </a:lnTo>
                <a:close/>
              </a:path>
              <a:path w="1259204" h="329564">
                <a:moveTo>
                  <a:pt x="1126236" y="324611"/>
                </a:moveTo>
                <a:lnTo>
                  <a:pt x="1106424" y="324611"/>
                </a:lnTo>
                <a:lnTo>
                  <a:pt x="1106424" y="329183"/>
                </a:lnTo>
                <a:lnTo>
                  <a:pt x="1126236" y="329183"/>
                </a:lnTo>
                <a:lnTo>
                  <a:pt x="1126236" y="324611"/>
                </a:lnTo>
                <a:close/>
              </a:path>
              <a:path w="1259204" h="329564">
                <a:moveTo>
                  <a:pt x="1092708" y="324611"/>
                </a:moveTo>
                <a:lnTo>
                  <a:pt x="1074420" y="324611"/>
                </a:lnTo>
                <a:lnTo>
                  <a:pt x="1074420" y="329183"/>
                </a:lnTo>
                <a:lnTo>
                  <a:pt x="1092708" y="329183"/>
                </a:lnTo>
                <a:lnTo>
                  <a:pt x="1092708" y="324611"/>
                </a:lnTo>
                <a:close/>
              </a:path>
              <a:path w="1259204" h="329564">
                <a:moveTo>
                  <a:pt x="1059179" y="324611"/>
                </a:moveTo>
                <a:lnTo>
                  <a:pt x="1040891" y="324611"/>
                </a:lnTo>
                <a:lnTo>
                  <a:pt x="1040891" y="329183"/>
                </a:lnTo>
                <a:lnTo>
                  <a:pt x="1059179" y="329183"/>
                </a:lnTo>
                <a:lnTo>
                  <a:pt x="1059179" y="324611"/>
                </a:lnTo>
                <a:close/>
              </a:path>
              <a:path w="1259204" h="329564">
                <a:moveTo>
                  <a:pt x="1025651" y="324611"/>
                </a:moveTo>
                <a:lnTo>
                  <a:pt x="1007363" y="324611"/>
                </a:lnTo>
                <a:lnTo>
                  <a:pt x="1007363" y="329183"/>
                </a:lnTo>
                <a:lnTo>
                  <a:pt x="1025651" y="329183"/>
                </a:lnTo>
                <a:lnTo>
                  <a:pt x="1025651" y="324611"/>
                </a:lnTo>
                <a:close/>
              </a:path>
              <a:path w="1259204" h="329564">
                <a:moveTo>
                  <a:pt x="992124" y="324611"/>
                </a:moveTo>
                <a:lnTo>
                  <a:pt x="973836" y="324611"/>
                </a:lnTo>
                <a:lnTo>
                  <a:pt x="973836" y="329183"/>
                </a:lnTo>
                <a:lnTo>
                  <a:pt x="992124" y="329183"/>
                </a:lnTo>
                <a:lnTo>
                  <a:pt x="992124" y="324611"/>
                </a:lnTo>
                <a:close/>
              </a:path>
              <a:path w="1259204" h="329564">
                <a:moveTo>
                  <a:pt x="960120" y="324611"/>
                </a:moveTo>
                <a:lnTo>
                  <a:pt x="940308" y="324611"/>
                </a:lnTo>
                <a:lnTo>
                  <a:pt x="940308" y="329183"/>
                </a:lnTo>
                <a:lnTo>
                  <a:pt x="960120" y="329183"/>
                </a:lnTo>
                <a:lnTo>
                  <a:pt x="960120" y="324611"/>
                </a:lnTo>
                <a:close/>
              </a:path>
              <a:path w="1259204" h="329564">
                <a:moveTo>
                  <a:pt x="926591" y="324611"/>
                </a:moveTo>
                <a:lnTo>
                  <a:pt x="906779" y="324611"/>
                </a:lnTo>
                <a:lnTo>
                  <a:pt x="906779" y="329183"/>
                </a:lnTo>
                <a:lnTo>
                  <a:pt x="926591" y="329183"/>
                </a:lnTo>
                <a:lnTo>
                  <a:pt x="926591" y="324611"/>
                </a:lnTo>
                <a:close/>
              </a:path>
              <a:path w="1259204" h="329564">
                <a:moveTo>
                  <a:pt x="893063" y="324611"/>
                </a:moveTo>
                <a:lnTo>
                  <a:pt x="873251" y="324611"/>
                </a:lnTo>
                <a:lnTo>
                  <a:pt x="873251" y="329183"/>
                </a:lnTo>
                <a:lnTo>
                  <a:pt x="893063" y="329183"/>
                </a:lnTo>
                <a:lnTo>
                  <a:pt x="893063" y="324611"/>
                </a:lnTo>
                <a:close/>
              </a:path>
              <a:path w="1259204" h="329564">
                <a:moveTo>
                  <a:pt x="859536" y="324611"/>
                </a:moveTo>
                <a:lnTo>
                  <a:pt x="839724" y="324611"/>
                </a:lnTo>
                <a:lnTo>
                  <a:pt x="839724" y="329183"/>
                </a:lnTo>
                <a:lnTo>
                  <a:pt x="859536" y="329183"/>
                </a:lnTo>
                <a:lnTo>
                  <a:pt x="859536" y="324611"/>
                </a:lnTo>
                <a:close/>
              </a:path>
              <a:path w="1259204" h="329564">
                <a:moveTo>
                  <a:pt x="826008" y="324611"/>
                </a:moveTo>
                <a:lnTo>
                  <a:pt x="807720" y="324611"/>
                </a:lnTo>
                <a:lnTo>
                  <a:pt x="807720" y="329183"/>
                </a:lnTo>
                <a:lnTo>
                  <a:pt x="826008" y="329183"/>
                </a:lnTo>
                <a:lnTo>
                  <a:pt x="826008" y="324611"/>
                </a:lnTo>
                <a:close/>
              </a:path>
              <a:path w="1259204" h="329564">
                <a:moveTo>
                  <a:pt x="792479" y="324611"/>
                </a:moveTo>
                <a:lnTo>
                  <a:pt x="774191" y="324611"/>
                </a:lnTo>
                <a:lnTo>
                  <a:pt x="774191" y="329183"/>
                </a:lnTo>
                <a:lnTo>
                  <a:pt x="792479" y="329183"/>
                </a:lnTo>
                <a:lnTo>
                  <a:pt x="792479" y="324611"/>
                </a:lnTo>
                <a:close/>
              </a:path>
              <a:path w="1259204" h="329564">
                <a:moveTo>
                  <a:pt x="758951" y="324611"/>
                </a:moveTo>
                <a:lnTo>
                  <a:pt x="740663" y="324611"/>
                </a:lnTo>
                <a:lnTo>
                  <a:pt x="740663" y="329183"/>
                </a:lnTo>
                <a:lnTo>
                  <a:pt x="758951" y="329183"/>
                </a:lnTo>
                <a:lnTo>
                  <a:pt x="758951" y="324611"/>
                </a:lnTo>
                <a:close/>
              </a:path>
              <a:path w="1259204" h="329564">
                <a:moveTo>
                  <a:pt x="725424" y="324611"/>
                </a:moveTo>
                <a:lnTo>
                  <a:pt x="707136" y="324611"/>
                </a:lnTo>
                <a:lnTo>
                  <a:pt x="707136" y="329183"/>
                </a:lnTo>
                <a:lnTo>
                  <a:pt x="725424" y="329183"/>
                </a:lnTo>
                <a:lnTo>
                  <a:pt x="725424" y="324611"/>
                </a:lnTo>
                <a:close/>
              </a:path>
              <a:path w="1259204" h="329564">
                <a:moveTo>
                  <a:pt x="693420" y="324611"/>
                </a:moveTo>
                <a:lnTo>
                  <a:pt x="673608" y="324611"/>
                </a:lnTo>
                <a:lnTo>
                  <a:pt x="673608" y="329183"/>
                </a:lnTo>
                <a:lnTo>
                  <a:pt x="693420" y="329183"/>
                </a:lnTo>
                <a:lnTo>
                  <a:pt x="693420" y="324611"/>
                </a:lnTo>
                <a:close/>
              </a:path>
              <a:path w="1259204" h="329564">
                <a:moveTo>
                  <a:pt x="659891" y="324611"/>
                </a:moveTo>
                <a:lnTo>
                  <a:pt x="640079" y="324611"/>
                </a:lnTo>
                <a:lnTo>
                  <a:pt x="640079" y="329183"/>
                </a:lnTo>
                <a:lnTo>
                  <a:pt x="659891" y="329183"/>
                </a:lnTo>
                <a:lnTo>
                  <a:pt x="659891" y="324611"/>
                </a:lnTo>
                <a:close/>
              </a:path>
              <a:path w="1259204" h="329564">
                <a:moveTo>
                  <a:pt x="626363" y="324611"/>
                </a:moveTo>
                <a:lnTo>
                  <a:pt x="606551" y="324611"/>
                </a:lnTo>
                <a:lnTo>
                  <a:pt x="606551" y="329183"/>
                </a:lnTo>
                <a:lnTo>
                  <a:pt x="626363" y="329183"/>
                </a:lnTo>
                <a:lnTo>
                  <a:pt x="626363" y="324611"/>
                </a:lnTo>
                <a:close/>
              </a:path>
              <a:path w="1259204" h="329564">
                <a:moveTo>
                  <a:pt x="592836" y="324611"/>
                </a:moveTo>
                <a:lnTo>
                  <a:pt x="573024" y="324611"/>
                </a:lnTo>
                <a:lnTo>
                  <a:pt x="573024" y="329183"/>
                </a:lnTo>
                <a:lnTo>
                  <a:pt x="592836" y="329183"/>
                </a:lnTo>
                <a:lnTo>
                  <a:pt x="592836" y="324611"/>
                </a:lnTo>
                <a:close/>
              </a:path>
              <a:path w="1259204" h="329564">
                <a:moveTo>
                  <a:pt x="559308" y="324611"/>
                </a:moveTo>
                <a:lnTo>
                  <a:pt x="541020" y="324611"/>
                </a:lnTo>
                <a:lnTo>
                  <a:pt x="541020" y="329183"/>
                </a:lnTo>
                <a:lnTo>
                  <a:pt x="559308" y="329183"/>
                </a:lnTo>
                <a:lnTo>
                  <a:pt x="559308" y="324611"/>
                </a:lnTo>
                <a:close/>
              </a:path>
              <a:path w="1259204" h="329564">
                <a:moveTo>
                  <a:pt x="525779" y="324611"/>
                </a:moveTo>
                <a:lnTo>
                  <a:pt x="507491" y="324611"/>
                </a:lnTo>
                <a:lnTo>
                  <a:pt x="507491" y="329183"/>
                </a:lnTo>
                <a:lnTo>
                  <a:pt x="525779" y="329183"/>
                </a:lnTo>
                <a:lnTo>
                  <a:pt x="525779" y="324611"/>
                </a:lnTo>
                <a:close/>
              </a:path>
              <a:path w="1259204" h="329564">
                <a:moveTo>
                  <a:pt x="492251" y="324611"/>
                </a:moveTo>
                <a:lnTo>
                  <a:pt x="473963" y="324611"/>
                </a:lnTo>
                <a:lnTo>
                  <a:pt x="473963" y="329183"/>
                </a:lnTo>
                <a:lnTo>
                  <a:pt x="492251" y="329183"/>
                </a:lnTo>
                <a:lnTo>
                  <a:pt x="492251" y="324611"/>
                </a:lnTo>
                <a:close/>
              </a:path>
              <a:path w="1259204" h="329564">
                <a:moveTo>
                  <a:pt x="458724" y="324611"/>
                </a:moveTo>
                <a:lnTo>
                  <a:pt x="440436" y="324611"/>
                </a:lnTo>
                <a:lnTo>
                  <a:pt x="440436" y="329183"/>
                </a:lnTo>
                <a:lnTo>
                  <a:pt x="458724" y="329183"/>
                </a:lnTo>
                <a:lnTo>
                  <a:pt x="458724" y="324611"/>
                </a:lnTo>
                <a:close/>
              </a:path>
              <a:path w="1259204" h="329564">
                <a:moveTo>
                  <a:pt x="426720" y="324611"/>
                </a:moveTo>
                <a:lnTo>
                  <a:pt x="406908" y="324611"/>
                </a:lnTo>
                <a:lnTo>
                  <a:pt x="406908" y="329183"/>
                </a:lnTo>
                <a:lnTo>
                  <a:pt x="426720" y="329183"/>
                </a:lnTo>
                <a:lnTo>
                  <a:pt x="426720" y="324611"/>
                </a:lnTo>
                <a:close/>
              </a:path>
              <a:path w="1259204" h="329564">
                <a:moveTo>
                  <a:pt x="393191" y="324611"/>
                </a:moveTo>
                <a:lnTo>
                  <a:pt x="373379" y="324611"/>
                </a:lnTo>
                <a:lnTo>
                  <a:pt x="373379" y="329183"/>
                </a:lnTo>
                <a:lnTo>
                  <a:pt x="393191" y="329183"/>
                </a:lnTo>
                <a:lnTo>
                  <a:pt x="393191" y="324611"/>
                </a:lnTo>
                <a:close/>
              </a:path>
              <a:path w="1259204" h="329564">
                <a:moveTo>
                  <a:pt x="359663" y="324611"/>
                </a:moveTo>
                <a:lnTo>
                  <a:pt x="339851" y="324611"/>
                </a:lnTo>
                <a:lnTo>
                  <a:pt x="339851" y="329183"/>
                </a:lnTo>
                <a:lnTo>
                  <a:pt x="359663" y="329183"/>
                </a:lnTo>
                <a:lnTo>
                  <a:pt x="359663" y="324611"/>
                </a:lnTo>
                <a:close/>
              </a:path>
              <a:path w="1259204" h="329564">
                <a:moveTo>
                  <a:pt x="326136" y="324611"/>
                </a:moveTo>
                <a:lnTo>
                  <a:pt x="306324" y="324611"/>
                </a:lnTo>
                <a:lnTo>
                  <a:pt x="306324" y="329183"/>
                </a:lnTo>
                <a:lnTo>
                  <a:pt x="326136" y="329183"/>
                </a:lnTo>
                <a:lnTo>
                  <a:pt x="326136" y="324611"/>
                </a:lnTo>
                <a:close/>
              </a:path>
              <a:path w="1259204" h="329564">
                <a:moveTo>
                  <a:pt x="292608" y="324611"/>
                </a:moveTo>
                <a:lnTo>
                  <a:pt x="274320" y="324611"/>
                </a:lnTo>
                <a:lnTo>
                  <a:pt x="274320" y="329183"/>
                </a:lnTo>
                <a:lnTo>
                  <a:pt x="292608" y="329183"/>
                </a:lnTo>
                <a:lnTo>
                  <a:pt x="292608" y="324611"/>
                </a:lnTo>
                <a:close/>
              </a:path>
              <a:path w="1259204" h="329564">
                <a:moveTo>
                  <a:pt x="259079" y="324611"/>
                </a:moveTo>
                <a:lnTo>
                  <a:pt x="240791" y="324611"/>
                </a:lnTo>
                <a:lnTo>
                  <a:pt x="240791" y="329183"/>
                </a:lnTo>
                <a:lnTo>
                  <a:pt x="259079" y="329183"/>
                </a:lnTo>
                <a:lnTo>
                  <a:pt x="259079" y="324611"/>
                </a:lnTo>
                <a:close/>
              </a:path>
              <a:path w="1259204" h="329564">
                <a:moveTo>
                  <a:pt x="225551" y="324611"/>
                </a:moveTo>
                <a:lnTo>
                  <a:pt x="207263" y="324611"/>
                </a:lnTo>
                <a:lnTo>
                  <a:pt x="207263" y="329183"/>
                </a:lnTo>
                <a:lnTo>
                  <a:pt x="225551" y="329183"/>
                </a:lnTo>
                <a:lnTo>
                  <a:pt x="225551" y="324611"/>
                </a:lnTo>
                <a:close/>
              </a:path>
              <a:path w="1259204" h="329564">
                <a:moveTo>
                  <a:pt x="192024" y="324611"/>
                </a:moveTo>
                <a:lnTo>
                  <a:pt x="173736" y="324611"/>
                </a:lnTo>
                <a:lnTo>
                  <a:pt x="173736" y="329183"/>
                </a:lnTo>
                <a:lnTo>
                  <a:pt x="192024" y="329183"/>
                </a:lnTo>
                <a:lnTo>
                  <a:pt x="192024" y="324611"/>
                </a:lnTo>
                <a:close/>
              </a:path>
              <a:path w="1259204" h="329564">
                <a:moveTo>
                  <a:pt x="160020" y="324611"/>
                </a:moveTo>
                <a:lnTo>
                  <a:pt x="140208" y="324611"/>
                </a:lnTo>
                <a:lnTo>
                  <a:pt x="140208" y="329183"/>
                </a:lnTo>
                <a:lnTo>
                  <a:pt x="160020" y="329183"/>
                </a:lnTo>
                <a:lnTo>
                  <a:pt x="160020" y="324611"/>
                </a:lnTo>
                <a:close/>
              </a:path>
              <a:path w="1259204" h="329564">
                <a:moveTo>
                  <a:pt x="126492" y="324611"/>
                </a:moveTo>
                <a:lnTo>
                  <a:pt x="106680" y="324611"/>
                </a:lnTo>
                <a:lnTo>
                  <a:pt x="106680" y="329183"/>
                </a:lnTo>
                <a:lnTo>
                  <a:pt x="126492" y="329183"/>
                </a:lnTo>
                <a:lnTo>
                  <a:pt x="126492" y="324611"/>
                </a:lnTo>
                <a:close/>
              </a:path>
              <a:path w="1259204" h="329564">
                <a:moveTo>
                  <a:pt x="92963" y="324611"/>
                </a:moveTo>
                <a:lnTo>
                  <a:pt x="73151" y="324611"/>
                </a:lnTo>
                <a:lnTo>
                  <a:pt x="73151" y="329183"/>
                </a:lnTo>
                <a:lnTo>
                  <a:pt x="92963" y="329183"/>
                </a:lnTo>
                <a:lnTo>
                  <a:pt x="92963" y="324611"/>
                </a:lnTo>
                <a:close/>
              </a:path>
              <a:path w="1259204" h="329564">
                <a:moveTo>
                  <a:pt x="59436" y="324611"/>
                </a:moveTo>
                <a:lnTo>
                  <a:pt x="39624" y="324611"/>
                </a:lnTo>
                <a:lnTo>
                  <a:pt x="39624" y="329183"/>
                </a:lnTo>
                <a:lnTo>
                  <a:pt x="59436" y="329183"/>
                </a:lnTo>
                <a:lnTo>
                  <a:pt x="59436" y="324611"/>
                </a:lnTo>
                <a:close/>
              </a:path>
              <a:path w="1259204" h="329564">
                <a:moveTo>
                  <a:pt x="25907" y="324611"/>
                </a:moveTo>
                <a:lnTo>
                  <a:pt x="7619" y="324611"/>
                </a:lnTo>
                <a:lnTo>
                  <a:pt x="7619" y="329183"/>
                </a:lnTo>
                <a:lnTo>
                  <a:pt x="25907" y="329183"/>
                </a:lnTo>
                <a:lnTo>
                  <a:pt x="25907" y="3246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02782" y="2809106"/>
            <a:ext cx="1168400" cy="297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7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防止分母为零的参数，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ts val="1070"/>
              </a:lnSpc>
            </a:pPr>
            <a:r>
              <a:rPr sz="900" i="1" spc="50" dirty="0">
                <a:latin typeface="Cambria Math" panose="02040503050406030204"/>
                <a:cs typeface="Cambria Math" panose="02040503050406030204"/>
              </a:rPr>
              <a:t>o(10</a:t>
            </a:r>
            <a:r>
              <a:rPr sz="975" i="1" spc="75" baseline="26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900" i="1" spc="5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900" i="1" spc="-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975" i="1" spc="97" baseline="26000" dirty="0">
                <a:latin typeface="Cambria Math" panose="02040503050406030204"/>
                <a:cs typeface="Cambria Math" panose="02040503050406030204"/>
              </a:rPr>
              <a:t>-6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900" i="1" spc="-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975" i="1" spc="97" baseline="26000" dirty="0">
                <a:latin typeface="Cambria Math" panose="02040503050406030204"/>
                <a:cs typeface="Cambria Math" panose="02040503050406030204"/>
              </a:rPr>
              <a:t>-7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)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02021" y="1463069"/>
            <a:ext cx="144780" cy="85471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（不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要参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9944" y="138710"/>
            <a:ext cx="17602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超参</a:t>
            </a:r>
            <a:r>
              <a:rPr spc="-10" dirty="0"/>
              <a:t>数</a:t>
            </a:r>
            <a:r>
              <a:rPr spc="5" dirty="0"/>
              <a:t>优</a:t>
            </a:r>
            <a:r>
              <a:rPr spc="-10" dirty="0"/>
              <a:t>化方</a:t>
            </a:r>
            <a:r>
              <a:rPr spc="5" dirty="0"/>
              <a:t>法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1549303" y="2740329"/>
            <a:ext cx="734060" cy="3860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38735" algn="ctr">
              <a:lnSpc>
                <a:spcPct val="100000"/>
              </a:lnSpc>
              <a:spcBef>
                <a:spcPts val="41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900" spc="20" dirty="0">
                <a:latin typeface="黑体" panose="02010609060101010101" charset="-122"/>
                <a:cs typeface="黑体" panose="02010609060101010101" charset="-122"/>
              </a:rPr>
              <a:t>重要</a:t>
            </a: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900" spc="20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9444" y="1729857"/>
            <a:ext cx="114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 Math" panose="02040503050406030204"/>
                <a:cs typeface="Cambria Math" panose="02040503050406030204"/>
              </a:rPr>
              <a:t>6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0724" y="2571029"/>
            <a:ext cx="9226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1190" algn="l"/>
              </a:tabLst>
            </a:pPr>
            <a:r>
              <a:rPr sz="9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   </a:t>
            </a:r>
            <a:r>
              <a:rPr sz="900" spc="-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01	</a:t>
            </a:r>
            <a:r>
              <a:rPr sz="9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12623" y="1960413"/>
            <a:ext cx="100965" cy="814069"/>
          </a:xfrm>
          <a:custGeom>
            <a:avLst/>
            <a:gdLst/>
            <a:ahLst/>
            <a:cxnLst/>
            <a:rect l="l" t="t" r="r" b="b"/>
            <a:pathLst>
              <a:path w="100964" h="814069">
                <a:moveTo>
                  <a:pt x="20585" y="37977"/>
                </a:moveTo>
                <a:lnTo>
                  <a:pt x="15895" y="38352"/>
                </a:lnTo>
                <a:lnTo>
                  <a:pt x="96012" y="813816"/>
                </a:lnTo>
                <a:lnTo>
                  <a:pt x="100584" y="813816"/>
                </a:lnTo>
                <a:lnTo>
                  <a:pt x="20585" y="37977"/>
                </a:lnTo>
                <a:close/>
              </a:path>
              <a:path w="100964" h="814069">
                <a:moveTo>
                  <a:pt x="15239" y="0"/>
                </a:moveTo>
                <a:lnTo>
                  <a:pt x="0" y="39624"/>
                </a:lnTo>
                <a:lnTo>
                  <a:pt x="15895" y="38352"/>
                </a:lnTo>
                <a:lnTo>
                  <a:pt x="15239" y="32004"/>
                </a:lnTo>
                <a:lnTo>
                  <a:pt x="19812" y="30480"/>
                </a:lnTo>
                <a:lnTo>
                  <a:pt x="34289" y="30480"/>
                </a:lnTo>
                <a:lnTo>
                  <a:pt x="15239" y="0"/>
                </a:lnTo>
                <a:close/>
              </a:path>
              <a:path w="100964" h="814069">
                <a:moveTo>
                  <a:pt x="19812" y="30480"/>
                </a:moveTo>
                <a:lnTo>
                  <a:pt x="15239" y="32004"/>
                </a:lnTo>
                <a:lnTo>
                  <a:pt x="15895" y="38352"/>
                </a:lnTo>
                <a:lnTo>
                  <a:pt x="20585" y="37977"/>
                </a:lnTo>
                <a:lnTo>
                  <a:pt x="19812" y="30480"/>
                </a:lnTo>
                <a:close/>
              </a:path>
              <a:path w="100964" h="814069">
                <a:moveTo>
                  <a:pt x="34289" y="30480"/>
                </a:moveTo>
                <a:lnTo>
                  <a:pt x="19812" y="30480"/>
                </a:lnTo>
                <a:lnTo>
                  <a:pt x="20585" y="37977"/>
                </a:lnTo>
                <a:lnTo>
                  <a:pt x="38100" y="36575"/>
                </a:lnTo>
                <a:lnTo>
                  <a:pt x="34289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68200" y="2800137"/>
            <a:ext cx="1259205" cy="329565"/>
          </a:xfrm>
          <a:custGeom>
            <a:avLst/>
            <a:gdLst/>
            <a:ahLst/>
            <a:cxnLst/>
            <a:rect l="l" t="t" r="r" b="b"/>
            <a:pathLst>
              <a:path w="1259204" h="329564">
                <a:moveTo>
                  <a:pt x="4572" y="307848"/>
                </a:moveTo>
                <a:lnTo>
                  <a:pt x="0" y="307848"/>
                </a:lnTo>
                <a:lnTo>
                  <a:pt x="0" y="326136"/>
                </a:lnTo>
                <a:lnTo>
                  <a:pt x="4572" y="326136"/>
                </a:lnTo>
                <a:lnTo>
                  <a:pt x="4572" y="307848"/>
                </a:lnTo>
                <a:close/>
              </a:path>
              <a:path w="1259204" h="329564">
                <a:moveTo>
                  <a:pt x="4572" y="274319"/>
                </a:moveTo>
                <a:lnTo>
                  <a:pt x="0" y="274319"/>
                </a:lnTo>
                <a:lnTo>
                  <a:pt x="0" y="294131"/>
                </a:lnTo>
                <a:lnTo>
                  <a:pt x="4572" y="294131"/>
                </a:lnTo>
                <a:lnTo>
                  <a:pt x="4572" y="274319"/>
                </a:lnTo>
                <a:close/>
              </a:path>
              <a:path w="1259204" h="329564">
                <a:moveTo>
                  <a:pt x="4572" y="240792"/>
                </a:moveTo>
                <a:lnTo>
                  <a:pt x="0" y="240792"/>
                </a:lnTo>
                <a:lnTo>
                  <a:pt x="0" y="260604"/>
                </a:lnTo>
                <a:lnTo>
                  <a:pt x="4572" y="260604"/>
                </a:lnTo>
                <a:lnTo>
                  <a:pt x="4572" y="240792"/>
                </a:lnTo>
                <a:close/>
              </a:path>
              <a:path w="1259204" h="329564">
                <a:moveTo>
                  <a:pt x="4572" y="207263"/>
                </a:moveTo>
                <a:lnTo>
                  <a:pt x="0" y="207263"/>
                </a:lnTo>
                <a:lnTo>
                  <a:pt x="0" y="227075"/>
                </a:lnTo>
                <a:lnTo>
                  <a:pt x="4572" y="227075"/>
                </a:lnTo>
                <a:lnTo>
                  <a:pt x="4572" y="207263"/>
                </a:lnTo>
                <a:close/>
              </a:path>
              <a:path w="1259204" h="329564">
                <a:moveTo>
                  <a:pt x="4572" y="173736"/>
                </a:moveTo>
                <a:lnTo>
                  <a:pt x="0" y="173736"/>
                </a:lnTo>
                <a:lnTo>
                  <a:pt x="0" y="193548"/>
                </a:lnTo>
                <a:lnTo>
                  <a:pt x="4572" y="193548"/>
                </a:lnTo>
                <a:lnTo>
                  <a:pt x="4572" y="173736"/>
                </a:lnTo>
                <a:close/>
              </a:path>
              <a:path w="1259204" h="329564">
                <a:moveTo>
                  <a:pt x="4572" y="141731"/>
                </a:moveTo>
                <a:lnTo>
                  <a:pt x="0" y="141731"/>
                </a:lnTo>
                <a:lnTo>
                  <a:pt x="0" y="160019"/>
                </a:lnTo>
                <a:lnTo>
                  <a:pt x="4572" y="160019"/>
                </a:lnTo>
                <a:lnTo>
                  <a:pt x="4572" y="141731"/>
                </a:lnTo>
                <a:close/>
              </a:path>
              <a:path w="1259204" h="329564">
                <a:moveTo>
                  <a:pt x="4572" y="108204"/>
                </a:moveTo>
                <a:lnTo>
                  <a:pt x="0" y="108204"/>
                </a:lnTo>
                <a:lnTo>
                  <a:pt x="0" y="126492"/>
                </a:lnTo>
                <a:lnTo>
                  <a:pt x="4572" y="126492"/>
                </a:lnTo>
                <a:lnTo>
                  <a:pt x="4572" y="108204"/>
                </a:lnTo>
                <a:close/>
              </a:path>
              <a:path w="1259204" h="329564">
                <a:moveTo>
                  <a:pt x="4572" y="74675"/>
                </a:moveTo>
                <a:lnTo>
                  <a:pt x="0" y="74675"/>
                </a:lnTo>
                <a:lnTo>
                  <a:pt x="0" y="92963"/>
                </a:lnTo>
                <a:lnTo>
                  <a:pt x="4572" y="92963"/>
                </a:lnTo>
                <a:lnTo>
                  <a:pt x="4572" y="74675"/>
                </a:lnTo>
                <a:close/>
              </a:path>
              <a:path w="1259204" h="329564">
                <a:moveTo>
                  <a:pt x="4572" y="41148"/>
                </a:moveTo>
                <a:lnTo>
                  <a:pt x="0" y="41148"/>
                </a:lnTo>
                <a:lnTo>
                  <a:pt x="0" y="59436"/>
                </a:lnTo>
                <a:lnTo>
                  <a:pt x="4572" y="59436"/>
                </a:lnTo>
                <a:lnTo>
                  <a:pt x="4572" y="41148"/>
                </a:lnTo>
                <a:close/>
              </a:path>
              <a:path w="1259204" h="329564">
                <a:moveTo>
                  <a:pt x="4572" y="7619"/>
                </a:moveTo>
                <a:lnTo>
                  <a:pt x="0" y="7619"/>
                </a:lnTo>
                <a:lnTo>
                  <a:pt x="0" y="27431"/>
                </a:lnTo>
                <a:lnTo>
                  <a:pt x="4572" y="27431"/>
                </a:lnTo>
                <a:lnTo>
                  <a:pt x="4572" y="7619"/>
                </a:lnTo>
                <a:close/>
              </a:path>
              <a:path w="1259204" h="329564">
                <a:moveTo>
                  <a:pt x="30480" y="0"/>
                </a:moveTo>
                <a:lnTo>
                  <a:pt x="10668" y="0"/>
                </a:lnTo>
                <a:lnTo>
                  <a:pt x="10668" y="4571"/>
                </a:lnTo>
                <a:lnTo>
                  <a:pt x="30480" y="4571"/>
                </a:lnTo>
                <a:lnTo>
                  <a:pt x="30480" y="0"/>
                </a:lnTo>
                <a:close/>
              </a:path>
              <a:path w="1259204" h="329564">
                <a:moveTo>
                  <a:pt x="62483" y="0"/>
                </a:moveTo>
                <a:lnTo>
                  <a:pt x="44195" y="0"/>
                </a:lnTo>
                <a:lnTo>
                  <a:pt x="44195" y="4571"/>
                </a:lnTo>
                <a:lnTo>
                  <a:pt x="62483" y="4571"/>
                </a:lnTo>
                <a:lnTo>
                  <a:pt x="62483" y="0"/>
                </a:lnTo>
                <a:close/>
              </a:path>
              <a:path w="1259204" h="329564">
                <a:moveTo>
                  <a:pt x="96012" y="0"/>
                </a:moveTo>
                <a:lnTo>
                  <a:pt x="77724" y="0"/>
                </a:lnTo>
                <a:lnTo>
                  <a:pt x="77724" y="4571"/>
                </a:lnTo>
                <a:lnTo>
                  <a:pt x="96012" y="4571"/>
                </a:lnTo>
                <a:lnTo>
                  <a:pt x="96012" y="0"/>
                </a:lnTo>
                <a:close/>
              </a:path>
              <a:path w="1259204" h="329564">
                <a:moveTo>
                  <a:pt x="129539" y="0"/>
                </a:moveTo>
                <a:lnTo>
                  <a:pt x="111251" y="0"/>
                </a:lnTo>
                <a:lnTo>
                  <a:pt x="111251" y="4571"/>
                </a:lnTo>
                <a:lnTo>
                  <a:pt x="129539" y="4571"/>
                </a:lnTo>
                <a:lnTo>
                  <a:pt x="129539" y="0"/>
                </a:lnTo>
                <a:close/>
              </a:path>
              <a:path w="1259204" h="329564">
                <a:moveTo>
                  <a:pt x="163067" y="0"/>
                </a:moveTo>
                <a:lnTo>
                  <a:pt x="144779" y="0"/>
                </a:lnTo>
                <a:lnTo>
                  <a:pt x="144779" y="4571"/>
                </a:lnTo>
                <a:lnTo>
                  <a:pt x="163067" y="4571"/>
                </a:lnTo>
                <a:lnTo>
                  <a:pt x="163067" y="0"/>
                </a:lnTo>
                <a:close/>
              </a:path>
              <a:path w="1259204" h="329564">
                <a:moveTo>
                  <a:pt x="196596" y="0"/>
                </a:moveTo>
                <a:lnTo>
                  <a:pt x="176784" y="0"/>
                </a:lnTo>
                <a:lnTo>
                  <a:pt x="176784" y="4571"/>
                </a:lnTo>
                <a:lnTo>
                  <a:pt x="196596" y="4571"/>
                </a:lnTo>
                <a:lnTo>
                  <a:pt x="196596" y="0"/>
                </a:lnTo>
                <a:close/>
              </a:path>
              <a:path w="1259204" h="329564">
                <a:moveTo>
                  <a:pt x="230124" y="0"/>
                </a:moveTo>
                <a:lnTo>
                  <a:pt x="210312" y="0"/>
                </a:lnTo>
                <a:lnTo>
                  <a:pt x="210312" y="4571"/>
                </a:lnTo>
                <a:lnTo>
                  <a:pt x="230124" y="4571"/>
                </a:lnTo>
                <a:lnTo>
                  <a:pt x="230124" y="0"/>
                </a:lnTo>
                <a:close/>
              </a:path>
              <a:path w="1259204" h="329564">
                <a:moveTo>
                  <a:pt x="263651" y="0"/>
                </a:moveTo>
                <a:lnTo>
                  <a:pt x="243839" y="0"/>
                </a:lnTo>
                <a:lnTo>
                  <a:pt x="243839" y="4571"/>
                </a:lnTo>
                <a:lnTo>
                  <a:pt x="263651" y="4571"/>
                </a:lnTo>
                <a:lnTo>
                  <a:pt x="263651" y="0"/>
                </a:lnTo>
                <a:close/>
              </a:path>
              <a:path w="1259204" h="329564">
                <a:moveTo>
                  <a:pt x="297179" y="0"/>
                </a:moveTo>
                <a:lnTo>
                  <a:pt x="277367" y="0"/>
                </a:lnTo>
                <a:lnTo>
                  <a:pt x="277367" y="4571"/>
                </a:lnTo>
                <a:lnTo>
                  <a:pt x="297179" y="4571"/>
                </a:lnTo>
                <a:lnTo>
                  <a:pt x="297179" y="0"/>
                </a:lnTo>
                <a:close/>
              </a:path>
              <a:path w="1259204" h="329564">
                <a:moveTo>
                  <a:pt x="329184" y="0"/>
                </a:moveTo>
                <a:lnTo>
                  <a:pt x="310896" y="0"/>
                </a:lnTo>
                <a:lnTo>
                  <a:pt x="310896" y="4571"/>
                </a:lnTo>
                <a:lnTo>
                  <a:pt x="329184" y="4571"/>
                </a:lnTo>
                <a:lnTo>
                  <a:pt x="329184" y="0"/>
                </a:lnTo>
                <a:close/>
              </a:path>
              <a:path w="1259204" h="329564">
                <a:moveTo>
                  <a:pt x="362712" y="0"/>
                </a:moveTo>
                <a:lnTo>
                  <a:pt x="344424" y="0"/>
                </a:lnTo>
                <a:lnTo>
                  <a:pt x="344424" y="4571"/>
                </a:lnTo>
                <a:lnTo>
                  <a:pt x="362712" y="4571"/>
                </a:lnTo>
                <a:lnTo>
                  <a:pt x="362712" y="0"/>
                </a:lnTo>
                <a:close/>
              </a:path>
              <a:path w="1259204" h="329564">
                <a:moveTo>
                  <a:pt x="396239" y="0"/>
                </a:moveTo>
                <a:lnTo>
                  <a:pt x="377951" y="0"/>
                </a:lnTo>
                <a:lnTo>
                  <a:pt x="377951" y="4571"/>
                </a:lnTo>
                <a:lnTo>
                  <a:pt x="396239" y="4571"/>
                </a:lnTo>
                <a:lnTo>
                  <a:pt x="396239" y="0"/>
                </a:lnTo>
                <a:close/>
              </a:path>
              <a:path w="1259204" h="329564">
                <a:moveTo>
                  <a:pt x="429767" y="0"/>
                </a:moveTo>
                <a:lnTo>
                  <a:pt x="411479" y="0"/>
                </a:lnTo>
                <a:lnTo>
                  <a:pt x="411479" y="4571"/>
                </a:lnTo>
                <a:lnTo>
                  <a:pt x="429767" y="4571"/>
                </a:lnTo>
                <a:lnTo>
                  <a:pt x="429767" y="0"/>
                </a:lnTo>
                <a:close/>
              </a:path>
              <a:path w="1259204" h="329564">
                <a:moveTo>
                  <a:pt x="463296" y="0"/>
                </a:moveTo>
                <a:lnTo>
                  <a:pt x="443484" y="0"/>
                </a:lnTo>
                <a:lnTo>
                  <a:pt x="443484" y="4571"/>
                </a:lnTo>
                <a:lnTo>
                  <a:pt x="463296" y="4571"/>
                </a:lnTo>
                <a:lnTo>
                  <a:pt x="463296" y="0"/>
                </a:lnTo>
                <a:close/>
              </a:path>
              <a:path w="1259204" h="329564">
                <a:moveTo>
                  <a:pt x="496824" y="0"/>
                </a:moveTo>
                <a:lnTo>
                  <a:pt x="477012" y="0"/>
                </a:lnTo>
                <a:lnTo>
                  <a:pt x="477012" y="4571"/>
                </a:lnTo>
                <a:lnTo>
                  <a:pt x="496824" y="4571"/>
                </a:lnTo>
                <a:lnTo>
                  <a:pt x="496824" y="0"/>
                </a:lnTo>
                <a:close/>
              </a:path>
              <a:path w="1259204" h="329564">
                <a:moveTo>
                  <a:pt x="530351" y="0"/>
                </a:moveTo>
                <a:lnTo>
                  <a:pt x="510539" y="0"/>
                </a:lnTo>
                <a:lnTo>
                  <a:pt x="510539" y="4571"/>
                </a:lnTo>
                <a:lnTo>
                  <a:pt x="530351" y="4571"/>
                </a:lnTo>
                <a:lnTo>
                  <a:pt x="530351" y="0"/>
                </a:lnTo>
                <a:close/>
              </a:path>
              <a:path w="1259204" h="329564">
                <a:moveTo>
                  <a:pt x="563879" y="0"/>
                </a:moveTo>
                <a:lnTo>
                  <a:pt x="544067" y="0"/>
                </a:lnTo>
                <a:lnTo>
                  <a:pt x="544067" y="4571"/>
                </a:lnTo>
                <a:lnTo>
                  <a:pt x="563879" y="4571"/>
                </a:lnTo>
                <a:lnTo>
                  <a:pt x="563879" y="0"/>
                </a:lnTo>
                <a:close/>
              </a:path>
              <a:path w="1259204" h="329564">
                <a:moveTo>
                  <a:pt x="595884" y="0"/>
                </a:moveTo>
                <a:lnTo>
                  <a:pt x="577596" y="0"/>
                </a:lnTo>
                <a:lnTo>
                  <a:pt x="577596" y="4571"/>
                </a:lnTo>
                <a:lnTo>
                  <a:pt x="595884" y="4571"/>
                </a:lnTo>
                <a:lnTo>
                  <a:pt x="595884" y="0"/>
                </a:lnTo>
                <a:close/>
              </a:path>
              <a:path w="1259204" h="329564">
                <a:moveTo>
                  <a:pt x="629412" y="0"/>
                </a:moveTo>
                <a:lnTo>
                  <a:pt x="611124" y="0"/>
                </a:lnTo>
                <a:lnTo>
                  <a:pt x="611124" y="4571"/>
                </a:lnTo>
                <a:lnTo>
                  <a:pt x="629412" y="4571"/>
                </a:lnTo>
                <a:lnTo>
                  <a:pt x="629412" y="0"/>
                </a:lnTo>
                <a:close/>
              </a:path>
              <a:path w="1259204" h="329564">
                <a:moveTo>
                  <a:pt x="662939" y="0"/>
                </a:moveTo>
                <a:lnTo>
                  <a:pt x="644651" y="0"/>
                </a:lnTo>
                <a:lnTo>
                  <a:pt x="644651" y="4571"/>
                </a:lnTo>
                <a:lnTo>
                  <a:pt x="662939" y="4571"/>
                </a:lnTo>
                <a:lnTo>
                  <a:pt x="662939" y="0"/>
                </a:lnTo>
                <a:close/>
              </a:path>
              <a:path w="1259204" h="329564">
                <a:moveTo>
                  <a:pt x="696467" y="0"/>
                </a:moveTo>
                <a:lnTo>
                  <a:pt x="678179" y="0"/>
                </a:lnTo>
                <a:lnTo>
                  <a:pt x="678179" y="4571"/>
                </a:lnTo>
                <a:lnTo>
                  <a:pt x="696467" y="4571"/>
                </a:lnTo>
                <a:lnTo>
                  <a:pt x="696467" y="0"/>
                </a:lnTo>
                <a:close/>
              </a:path>
              <a:path w="1259204" h="329564">
                <a:moveTo>
                  <a:pt x="729996" y="0"/>
                </a:moveTo>
                <a:lnTo>
                  <a:pt x="710184" y="0"/>
                </a:lnTo>
                <a:lnTo>
                  <a:pt x="710184" y="4571"/>
                </a:lnTo>
                <a:lnTo>
                  <a:pt x="729996" y="4571"/>
                </a:lnTo>
                <a:lnTo>
                  <a:pt x="729996" y="0"/>
                </a:lnTo>
                <a:close/>
              </a:path>
              <a:path w="1259204" h="329564">
                <a:moveTo>
                  <a:pt x="763524" y="0"/>
                </a:moveTo>
                <a:lnTo>
                  <a:pt x="743712" y="0"/>
                </a:lnTo>
                <a:lnTo>
                  <a:pt x="743712" y="4571"/>
                </a:lnTo>
                <a:lnTo>
                  <a:pt x="763524" y="4571"/>
                </a:lnTo>
                <a:lnTo>
                  <a:pt x="763524" y="0"/>
                </a:lnTo>
                <a:close/>
              </a:path>
              <a:path w="1259204" h="329564">
                <a:moveTo>
                  <a:pt x="797051" y="0"/>
                </a:moveTo>
                <a:lnTo>
                  <a:pt x="777239" y="0"/>
                </a:lnTo>
                <a:lnTo>
                  <a:pt x="777239" y="4571"/>
                </a:lnTo>
                <a:lnTo>
                  <a:pt x="797051" y="4571"/>
                </a:lnTo>
                <a:lnTo>
                  <a:pt x="797051" y="0"/>
                </a:lnTo>
                <a:close/>
              </a:path>
              <a:path w="1259204" h="329564">
                <a:moveTo>
                  <a:pt x="830579" y="0"/>
                </a:moveTo>
                <a:lnTo>
                  <a:pt x="810767" y="0"/>
                </a:lnTo>
                <a:lnTo>
                  <a:pt x="810767" y="4571"/>
                </a:lnTo>
                <a:lnTo>
                  <a:pt x="830579" y="4571"/>
                </a:lnTo>
                <a:lnTo>
                  <a:pt x="830579" y="0"/>
                </a:lnTo>
                <a:close/>
              </a:path>
              <a:path w="1259204" h="329564">
                <a:moveTo>
                  <a:pt x="862584" y="0"/>
                </a:moveTo>
                <a:lnTo>
                  <a:pt x="844296" y="0"/>
                </a:lnTo>
                <a:lnTo>
                  <a:pt x="844296" y="4571"/>
                </a:lnTo>
                <a:lnTo>
                  <a:pt x="862584" y="4571"/>
                </a:lnTo>
                <a:lnTo>
                  <a:pt x="862584" y="0"/>
                </a:lnTo>
                <a:close/>
              </a:path>
              <a:path w="1259204" h="329564">
                <a:moveTo>
                  <a:pt x="896112" y="0"/>
                </a:moveTo>
                <a:lnTo>
                  <a:pt x="877824" y="0"/>
                </a:lnTo>
                <a:lnTo>
                  <a:pt x="877824" y="4571"/>
                </a:lnTo>
                <a:lnTo>
                  <a:pt x="896112" y="4571"/>
                </a:lnTo>
                <a:lnTo>
                  <a:pt x="896112" y="0"/>
                </a:lnTo>
                <a:close/>
              </a:path>
              <a:path w="1259204" h="329564">
                <a:moveTo>
                  <a:pt x="929639" y="0"/>
                </a:moveTo>
                <a:lnTo>
                  <a:pt x="911351" y="0"/>
                </a:lnTo>
                <a:lnTo>
                  <a:pt x="911351" y="4571"/>
                </a:lnTo>
                <a:lnTo>
                  <a:pt x="929639" y="4571"/>
                </a:lnTo>
                <a:lnTo>
                  <a:pt x="929639" y="0"/>
                </a:lnTo>
                <a:close/>
              </a:path>
              <a:path w="1259204" h="329564">
                <a:moveTo>
                  <a:pt x="963167" y="0"/>
                </a:moveTo>
                <a:lnTo>
                  <a:pt x="944879" y="0"/>
                </a:lnTo>
                <a:lnTo>
                  <a:pt x="944879" y="4571"/>
                </a:lnTo>
                <a:lnTo>
                  <a:pt x="963167" y="4571"/>
                </a:lnTo>
                <a:lnTo>
                  <a:pt x="963167" y="0"/>
                </a:lnTo>
                <a:close/>
              </a:path>
              <a:path w="1259204" h="329564">
                <a:moveTo>
                  <a:pt x="996696" y="0"/>
                </a:moveTo>
                <a:lnTo>
                  <a:pt x="976884" y="0"/>
                </a:lnTo>
                <a:lnTo>
                  <a:pt x="976884" y="4571"/>
                </a:lnTo>
                <a:lnTo>
                  <a:pt x="996696" y="4571"/>
                </a:lnTo>
                <a:lnTo>
                  <a:pt x="996696" y="0"/>
                </a:lnTo>
                <a:close/>
              </a:path>
              <a:path w="1259204" h="329564">
                <a:moveTo>
                  <a:pt x="1030224" y="0"/>
                </a:moveTo>
                <a:lnTo>
                  <a:pt x="1010412" y="0"/>
                </a:lnTo>
                <a:lnTo>
                  <a:pt x="1010412" y="4571"/>
                </a:lnTo>
                <a:lnTo>
                  <a:pt x="1030224" y="4571"/>
                </a:lnTo>
                <a:lnTo>
                  <a:pt x="1030224" y="0"/>
                </a:lnTo>
                <a:close/>
              </a:path>
              <a:path w="1259204" h="329564">
                <a:moveTo>
                  <a:pt x="1063752" y="0"/>
                </a:moveTo>
                <a:lnTo>
                  <a:pt x="1043939" y="0"/>
                </a:lnTo>
                <a:lnTo>
                  <a:pt x="1043939" y="4571"/>
                </a:lnTo>
                <a:lnTo>
                  <a:pt x="1063752" y="4571"/>
                </a:lnTo>
                <a:lnTo>
                  <a:pt x="1063752" y="0"/>
                </a:lnTo>
                <a:close/>
              </a:path>
              <a:path w="1259204" h="329564">
                <a:moveTo>
                  <a:pt x="1097279" y="0"/>
                </a:moveTo>
                <a:lnTo>
                  <a:pt x="1077467" y="0"/>
                </a:lnTo>
                <a:lnTo>
                  <a:pt x="1077467" y="4571"/>
                </a:lnTo>
                <a:lnTo>
                  <a:pt x="1097279" y="4571"/>
                </a:lnTo>
                <a:lnTo>
                  <a:pt x="1097279" y="0"/>
                </a:lnTo>
                <a:close/>
              </a:path>
              <a:path w="1259204" h="329564">
                <a:moveTo>
                  <a:pt x="1129284" y="0"/>
                </a:moveTo>
                <a:lnTo>
                  <a:pt x="1110996" y="0"/>
                </a:lnTo>
                <a:lnTo>
                  <a:pt x="1110996" y="4571"/>
                </a:lnTo>
                <a:lnTo>
                  <a:pt x="1129284" y="4571"/>
                </a:lnTo>
                <a:lnTo>
                  <a:pt x="1129284" y="0"/>
                </a:lnTo>
                <a:close/>
              </a:path>
              <a:path w="1259204" h="329564">
                <a:moveTo>
                  <a:pt x="1162812" y="0"/>
                </a:moveTo>
                <a:lnTo>
                  <a:pt x="1144524" y="0"/>
                </a:lnTo>
                <a:lnTo>
                  <a:pt x="1144524" y="4571"/>
                </a:lnTo>
                <a:lnTo>
                  <a:pt x="1162812" y="4571"/>
                </a:lnTo>
                <a:lnTo>
                  <a:pt x="1162812" y="0"/>
                </a:lnTo>
                <a:close/>
              </a:path>
              <a:path w="1259204" h="329564">
                <a:moveTo>
                  <a:pt x="1196339" y="0"/>
                </a:moveTo>
                <a:lnTo>
                  <a:pt x="1178052" y="0"/>
                </a:lnTo>
                <a:lnTo>
                  <a:pt x="1178052" y="4571"/>
                </a:lnTo>
                <a:lnTo>
                  <a:pt x="1196339" y="4571"/>
                </a:lnTo>
                <a:lnTo>
                  <a:pt x="1196339" y="0"/>
                </a:lnTo>
                <a:close/>
              </a:path>
              <a:path w="1259204" h="329564">
                <a:moveTo>
                  <a:pt x="1229867" y="0"/>
                </a:moveTo>
                <a:lnTo>
                  <a:pt x="1211579" y="0"/>
                </a:lnTo>
                <a:lnTo>
                  <a:pt x="1211579" y="4571"/>
                </a:lnTo>
                <a:lnTo>
                  <a:pt x="1229867" y="4571"/>
                </a:lnTo>
                <a:lnTo>
                  <a:pt x="1229867" y="0"/>
                </a:lnTo>
                <a:close/>
              </a:path>
              <a:path w="1259204" h="329564">
                <a:moveTo>
                  <a:pt x="1254252" y="1524"/>
                </a:moveTo>
                <a:lnTo>
                  <a:pt x="1254252" y="9143"/>
                </a:lnTo>
                <a:lnTo>
                  <a:pt x="1258824" y="9143"/>
                </a:lnTo>
                <a:lnTo>
                  <a:pt x="1258824" y="4571"/>
                </a:lnTo>
                <a:lnTo>
                  <a:pt x="1255776" y="4571"/>
                </a:lnTo>
                <a:lnTo>
                  <a:pt x="1254252" y="1524"/>
                </a:lnTo>
                <a:close/>
              </a:path>
              <a:path w="1259204" h="329564">
                <a:moveTo>
                  <a:pt x="1255776" y="0"/>
                </a:moveTo>
                <a:lnTo>
                  <a:pt x="1243584" y="0"/>
                </a:lnTo>
                <a:lnTo>
                  <a:pt x="1243584" y="4571"/>
                </a:lnTo>
                <a:lnTo>
                  <a:pt x="1254252" y="4571"/>
                </a:lnTo>
                <a:lnTo>
                  <a:pt x="1254252" y="1524"/>
                </a:lnTo>
                <a:lnTo>
                  <a:pt x="1258824" y="1524"/>
                </a:lnTo>
                <a:lnTo>
                  <a:pt x="1255776" y="0"/>
                </a:lnTo>
                <a:close/>
              </a:path>
              <a:path w="1259204" h="329564">
                <a:moveTo>
                  <a:pt x="1258824" y="1524"/>
                </a:moveTo>
                <a:lnTo>
                  <a:pt x="1254252" y="1524"/>
                </a:lnTo>
                <a:lnTo>
                  <a:pt x="1255776" y="4571"/>
                </a:lnTo>
                <a:lnTo>
                  <a:pt x="1258824" y="4571"/>
                </a:lnTo>
                <a:lnTo>
                  <a:pt x="1258824" y="1524"/>
                </a:lnTo>
                <a:close/>
              </a:path>
              <a:path w="1259204" h="329564">
                <a:moveTo>
                  <a:pt x="1258824" y="22860"/>
                </a:moveTo>
                <a:lnTo>
                  <a:pt x="1254252" y="22860"/>
                </a:lnTo>
                <a:lnTo>
                  <a:pt x="1254252" y="42671"/>
                </a:lnTo>
                <a:lnTo>
                  <a:pt x="1258824" y="42671"/>
                </a:lnTo>
                <a:lnTo>
                  <a:pt x="1258824" y="22860"/>
                </a:lnTo>
                <a:close/>
              </a:path>
              <a:path w="1259204" h="329564">
                <a:moveTo>
                  <a:pt x="1258824" y="56387"/>
                </a:moveTo>
                <a:lnTo>
                  <a:pt x="1254252" y="56387"/>
                </a:lnTo>
                <a:lnTo>
                  <a:pt x="1254252" y="76200"/>
                </a:lnTo>
                <a:lnTo>
                  <a:pt x="1258824" y="76200"/>
                </a:lnTo>
                <a:lnTo>
                  <a:pt x="1258824" y="56387"/>
                </a:lnTo>
                <a:close/>
              </a:path>
              <a:path w="1259204" h="329564">
                <a:moveTo>
                  <a:pt x="1258824" y="89915"/>
                </a:moveTo>
                <a:lnTo>
                  <a:pt x="1254252" y="89915"/>
                </a:lnTo>
                <a:lnTo>
                  <a:pt x="1254252" y="109727"/>
                </a:lnTo>
                <a:lnTo>
                  <a:pt x="1258824" y="109727"/>
                </a:lnTo>
                <a:lnTo>
                  <a:pt x="1258824" y="89915"/>
                </a:lnTo>
                <a:close/>
              </a:path>
              <a:path w="1259204" h="329564">
                <a:moveTo>
                  <a:pt x="1258824" y="123443"/>
                </a:moveTo>
                <a:lnTo>
                  <a:pt x="1254252" y="123443"/>
                </a:lnTo>
                <a:lnTo>
                  <a:pt x="1254252" y="141731"/>
                </a:lnTo>
                <a:lnTo>
                  <a:pt x="1258824" y="141731"/>
                </a:lnTo>
                <a:lnTo>
                  <a:pt x="1258824" y="123443"/>
                </a:lnTo>
                <a:close/>
              </a:path>
              <a:path w="1259204" h="329564">
                <a:moveTo>
                  <a:pt x="1258824" y="156971"/>
                </a:moveTo>
                <a:lnTo>
                  <a:pt x="1254252" y="156971"/>
                </a:lnTo>
                <a:lnTo>
                  <a:pt x="1254252" y="175260"/>
                </a:lnTo>
                <a:lnTo>
                  <a:pt x="1258824" y="175260"/>
                </a:lnTo>
                <a:lnTo>
                  <a:pt x="1258824" y="156971"/>
                </a:lnTo>
                <a:close/>
              </a:path>
              <a:path w="1259204" h="329564">
                <a:moveTo>
                  <a:pt x="1258824" y="190500"/>
                </a:moveTo>
                <a:lnTo>
                  <a:pt x="1254252" y="190500"/>
                </a:lnTo>
                <a:lnTo>
                  <a:pt x="1254252" y="208787"/>
                </a:lnTo>
                <a:lnTo>
                  <a:pt x="1258824" y="208787"/>
                </a:lnTo>
                <a:lnTo>
                  <a:pt x="1258824" y="190500"/>
                </a:lnTo>
                <a:close/>
              </a:path>
              <a:path w="1259204" h="329564">
                <a:moveTo>
                  <a:pt x="1258824" y="224027"/>
                </a:moveTo>
                <a:lnTo>
                  <a:pt x="1254252" y="224027"/>
                </a:lnTo>
                <a:lnTo>
                  <a:pt x="1254252" y="242315"/>
                </a:lnTo>
                <a:lnTo>
                  <a:pt x="1258824" y="242315"/>
                </a:lnTo>
                <a:lnTo>
                  <a:pt x="1258824" y="224027"/>
                </a:lnTo>
                <a:close/>
              </a:path>
              <a:path w="1259204" h="329564">
                <a:moveTo>
                  <a:pt x="1258824" y="256031"/>
                </a:moveTo>
                <a:lnTo>
                  <a:pt x="1254252" y="256031"/>
                </a:lnTo>
                <a:lnTo>
                  <a:pt x="1254252" y="275844"/>
                </a:lnTo>
                <a:lnTo>
                  <a:pt x="1258824" y="275844"/>
                </a:lnTo>
                <a:lnTo>
                  <a:pt x="1258824" y="256031"/>
                </a:lnTo>
                <a:close/>
              </a:path>
              <a:path w="1259204" h="329564">
                <a:moveTo>
                  <a:pt x="1258824" y="289560"/>
                </a:moveTo>
                <a:lnTo>
                  <a:pt x="1254252" y="289560"/>
                </a:lnTo>
                <a:lnTo>
                  <a:pt x="1254252" y="309371"/>
                </a:lnTo>
                <a:lnTo>
                  <a:pt x="1258824" y="309371"/>
                </a:lnTo>
                <a:lnTo>
                  <a:pt x="1258824" y="289560"/>
                </a:lnTo>
                <a:close/>
              </a:path>
              <a:path w="1259204" h="329564">
                <a:moveTo>
                  <a:pt x="1254252" y="324612"/>
                </a:moveTo>
                <a:lnTo>
                  <a:pt x="1240536" y="324612"/>
                </a:lnTo>
                <a:lnTo>
                  <a:pt x="1240536" y="329184"/>
                </a:lnTo>
                <a:lnTo>
                  <a:pt x="1255776" y="329184"/>
                </a:lnTo>
                <a:lnTo>
                  <a:pt x="1258824" y="326136"/>
                </a:lnTo>
                <a:lnTo>
                  <a:pt x="1254252" y="326136"/>
                </a:lnTo>
                <a:lnTo>
                  <a:pt x="1254252" y="324612"/>
                </a:lnTo>
                <a:close/>
              </a:path>
              <a:path w="1259204" h="329564">
                <a:moveTo>
                  <a:pt x="1258824" y="323088"/>
                </a:moveTo>
                <a:lnTo>
                  <a:pt x="1254252" y="323088"/>
                </a:lnTo>
                <a:lnTo>
                  <a:pt x="1254252" y="326136"/>
                </a:lnTo>
                <a:lnTo>
                  <a:pt x="1255776" y="324612"/>
                </a:lnTo>
                <a:lnTo>
                  <a:pt x="1258824" y="324612"/>
                </a:lnTo>
                <a:lnTo>
                  <a:pt x="1258824" y="323088"/>
                </a:lnTo>
                <a:close/>
              </a:path>
              <a:path w="1259204" h="329564">
                <a:moveTo>
                  <a:pt x="1258824" y="324612"/>
                </a:moveTo>
                <a:lnTo>
                  <a:pt x="1255776" y="324612"/>
                </a:lnTo>
                <a:lnTo>
                  <a:pt x="1254252" y="326136"/>
                </a:lnTo>
                <a:lnTo>
                  <a:pt x="1258824" y="326136"/>
                </a:lnTo>
                <a:lnTo>
                  <a:pt x="1258824" y="324612"/>
                </a:lnTo>
                <a:close/>
              </a:path>
              <a:path w="1259204" h="329564">
                <a:moveTo>
                  <a:pt x="1226820" y="324612"/>
                </a:moveTo>
                <a:lnTo>
                  <a:pt x="1207008" y="324612"/>
                </a:lnTo>
                <a:lnTo>
                  <a:pt x="1207008" y="329184"/>
                </a:lnTo>
                <a:lnTo>
                  <a:pt x="1226820" y="329184"/>
                </a:lnTo>
                <a:lnTo>
                  <a:pt x="1226820" y="324612"/>
                </a:lnTo>
                <a:close/>
              </a:path>
              <a:path w="1259204" h="329564">
                <a:moveTo>
                  <a:pt x="1193291" y="324612"/>
                </a:moveTo>
                <a:lnTo>
                  <a:pt x="1173479" y="324612"/>
                </a:lnTo>
                <a:lnTo>
                  <a:pt x="1173479" y="329184"/>
                </a:lnTo>
                <a:lnTo>
                  <a:pt x="1193291" y="329184"/>
                </a:lnTo>
                <a:lnTo>
                  <a:pt x="1193291" y="324612"/>
                </a:lnTo>
                <a:close/>
              </a:path>
              <a:path w="1259204" h="329564">
                <a:moveTo>
                  <a:pt x="1159764" y="324612"/>
                </a:moveTo>
                <a:lnTo>
                  <a:pt x="1139952" y="324612"/>
                </a:lnTo>
                <a:lnTo>
                  <a:pt x="1139952" y="329184"/>
                </a:lnTo>
                <a:lnTo>
                  <a:pt x="1159764" y="329184"/>
                </a:lnTo>
                <a:lnTo>
                  <a:pt x="1159764" y="324612"/>
                </a:lnTo>
                <a:close/>
              </a:path>
              <a:path w="1259204" h="329564">
                <a:moveTo>
                  <a:pt x="1126236" y="324612"/>
                </a:moveTo>
                <a:lnTo>
                  <a:pt x="1106424" y="324612"/>
                </a:lnTo>
                <a:lnTo>
                  <a:pt x="1106424" y="329184"/>
                </a:lnTo>
                <a:lnTo>
                  <a:pt x="1126236" y="329184"/>
                </a:lnTo>
                <a:lnTo>
                  <a:pt x="1126236" y="324612"/>
                </a:lnTo>
                <a:close/>
              </a:path>
              <a:path w="1259204" h="329564">
                <a:moveTo>
                  <a:pt x="1092708" y="324612"/>
                </a:moveTo>
                <a:lnTo>
                  <a:pt x="1074420" y="324612"/>
                </a:lnTo>
                <a:lnTo>
                  <a:pt x="1074420" y="329184"/>
                </a:lnTo>
                <a:lnTo>
                  <a:pt x="1092708" y="329184"/>
                </a:lnTo>
                <a:lnTo>
                  <a:pt x="1092708" y="324612"/>
                </a:lnTo>
                <a:close/>
              </a:path>
              <a:path w="1259204" h="329564">
                <a:moveTo>
                  <a:pt x="1059179" y="324612"/>
                </a:moveTo>
                <a:lnTo>
                  <a:pt x="1040891" y="324612"/>
                </a:lnTo>
                <a:lnTo>
                  <a:pt x="1040891" y="329184"/>
                </a:lnTo>
                <a:lnTo>
                  <a:pt x="1059179" y="329184"/>
                </a:lnTo>
                <a:lnTo>
                  <a:pt x="1059179" y="324612"/>
                </a:lnTo>
                <a:close/>
              </a:path>
              <a:path w="1259204" h="329564">
                <a:moveTo>
                  <a:pt x="1025651" y="324612"/>
                </a:moveTo>
                <a:lnTo>
                  <a:pt x="1007363" y="324612"/>
                </a:lnTo>
                <a:lnTo>
                  <a:pt x="1007363" y="329184"/>
                </a:lnTo>
                <a:lnTo>
                  <a:pt x="1025651" y="329184"/>
                </a:lnTo>
                <a:lnTo>
                  <a:pt x="1025651" y="324612"/>
                </a:lnTo>
                <a:close/>
              </a:path>
              <a:path w="1259204" h="329564">
                <a:moveTo>
                  <a:pt x="992124" y="324612"/>
                </a:moveTo>
                <a:lnTo>
                  <a:pt x="973836" y="324612"/>
                </a:lnTo>
                <a:lnTo>
                  <a:pt x="973836" y="329184"/>
                </a:lnTo>
                <a:lnTo>
                  <a:pt x="992124" y="329184"/>
                </a:lnTo>
                <a:lnTo>
                  <a:pt x="992124" y="324612"/>
                </a:lnTo>
                <a:close/>
              </a:path>
              <a:path w="1259204" h="329564">
                <a:moveTo>
                  <a:pt x="960120" y="324612"/>
                </a:moveTo>
                <a:lnTo>
                  <a:pt x="940308" y="324612"/>
                </a:lnTo>
                <a:lnTo>
                  <a:pt x="940308" y="329184"/>
                </a:lnTo>
                <a:lnTo>
                  <a:pt x="960120" y="329184"/>
                </a:lnTo>
                <a:lnTo>
                  <a:pt x="960120" y="324612"/>
                </a:lnTo>
                <a:close/>
              </a:path>
              <a:path w="1259204" h="329564">
                <a:moveTo>
                  <a:pt x="926591" y="324612"/>
                </a:moveTo>
                <a:lnTo>
                  <a:pt x="906779" y="324612"/>
                </a:lnTo>
                <a:lnTo>
                  <a:pt x="906779" y="329184"/>
                </a:lnTo>
                <a:lnTo>
                  <a:pt x="926591" y="329184"/>
                </a:lnTo>
                <a:lnTo>
                  <a:pt x="926591" y="324612"/>
                </a:lnTo>
                <a:close/>
              </a:path>
              <a:path w="1259204" h="329564">
                <a:moveTo>
                  <a:pt x="893063" y="324612"/>
                </a:moveTo>
                <a:lnTo>
                  <a:pt x="873251" y="324612"/>
                </a:lnTo>
                <a:lnTo>
                  <a:pt x="873251" y="329184"/>
                </a:lnTo>
                <a:lnTo>
                  <a:pt x="893063" y="329184"/>
                </a:lnTo>
                <a:lnTo>
                  <a:pt x="893063" y="324612"/>
                </a:lnTo>
                <a:close/>
              </a:path>
              <a:path w="1259204" h="329564">
                <a:moveTo>
                  <a:pt x="859536" y="324612"/>
                </a:moveTo>
                <a:lnTo>
                  <a:pt x="839724" y="324612"/>
                </a:lnTo>
                <a:lnTo>
                  <a:pt x="839724" y="329184"/>
                </a:lnTo>
                <a:lnTo>
                  <a:pt x="859536" y="329184"/>
                </a:lnTo>
                <a:lnTo>
                  <a:pt x="859536" y="324612"/>
                </a:lnTo>
                <a:close/>
              </a:path>
              <a:path w="1259204" h="329564">
                <a:moveTo>
                  <a:pt x="826008" y="324612"/>
                </a:moveTo>
                <a:lnTo>
                  <a:pt x="807720" y="324612"/>
                </a:lnTo>
                <a:lnTo>
                  <a:pt x="807720" y="329184"/>
                </a:lnTo>
                <a:lnTo>
                  <a:pt x="826008" y="329184"/>
                </a:lnTo>
                <a:lnTo>
                  <a:pt x="826008" y="324612"/>
                </a:lnTo>
                <a:close/>
              </a:path>
              <a:path w="1259204" h="329564">
                <a:moveTo>
                  <a:pt x="792479" y="324612"/>
                </a:moveTo>
                <a:lnTo>
                  <a:pt x="774191" y="324612"/>
                </a:lnTo>
                <a:lnTo>
                  <a:pt x="774191" y="329184"/>
                </a:lnTo>
                <a:lnTo>
                  <a:pt x="792479" y="329184"/>
                </a:lnTo>
                <a:lnTo>
                  <a:pt x="792479" y="324612"/>
                </a:lnTo>
                <a:close/>
              </a:path>
              <a:path w="1259204" h="329564">
                <a:moveTo>
                  <a:pt x="758951" y="324612"/>
                </a:moveTo>
                <a:lnTo>
                  <a:pt x="740663" y="324612"/>
                </a:lnTo>
                <a:lnTo>
                  <a:pt x="740663" y="329184"/>
                </a:lnTo>
                <a:lnTo>
                  <a:pt x="758951" y="329184"/>
                </a:lnTo>
                <a:lnTo>
                  <a:pt x="758951" y="324612"/>
                </a:lnTo>
                <a:close/>
              </a:path>
              <a:path w="1259204" h="329564">
                <a:moveTo>
                  <a:pt x="725424" y="324612"/>
                </a:moveTo>
                <a:lnTo>
                  <a:pt x="707136" y="324612"/>
                </a:lnTo>
                <a:lnTo>
                  <a:pt x="707136" y="329184"/>
                </a:lnTo>
                <a:lnTo>
                  <a:pt x="725424" y="329184"/>
                </a:lnTo>
                <a:lnTo>
                  <a:pt x="725424" y="324612"/>
                </a:lnTo>
                <a:close/>
              </a:path>
              <a:path w="1259204" h="329564">
                <a:moveTo>
                  <a:pt x="693420" y="324612"/>
                </a:moveTo>
                <a:lnTo>
                  <a:pt x="673608" y="324612"/>
                </a:lnTo>
                <a:lnTo>
                  <a:pt x="673608" y="329184"/>
                </a:lnTo>
                <a:lnTo>
                  <a:pt x="693420" y="329184"/>
                </a:lnTo>
                <a:lnTo>
                  <a:pt x="693420" y="324612"/>
                </a:lnTo>
                <a:close/>
              </a:path>
              <a:path w="1259204" h="329564">
                <a:moveTo>
                  <a:pt x="659891" y="324612"/>
                </a:moveTo>
                <a:lnTo>
                  <a:pt x="640079" y="324612"/>
                </a:lnTo>
                <a:lnTo>
                  <a:pt x="640079" y="329184"/>
                </a:lnTo>
                <a:lnTo>
                  <a:pt x="659891" y="329184"/>
                </a:lnTo>
                <a:lnTo>
                  <a:pt x="659891" y="324612"/>
                </a:lnTo>
                <a:close/>
              </a:path>
              <a:path w="1259204" h="329564">
                <a:moveTo>
                  <a:pt x="626363" y="324612"/>
                </a:moveTo>
                <a:lnTo>
                  <a:pt x="606551" y="324612"/>
                </a:lnTo>
                <a:lnTo>
                  <a:pt x="606551" y="329184"/>
                </a:lnTo>
                <a:lnTo>
                  <a:pt x="626363" y="329184"/>
                </a:lnTo>
                <a:lnTo>
                  <a:pt x="626363" y="324612"/>
                </a:lnTo>
                <a:close/>
              </a:path>
              <a:path w="1259204" h="329564">
                <a:moveTo>
                  <a:pt x="592836" y="324612"/>
                </a:moveTo>
                <a:lnTo>
                  <a:pt x="573024" y="324612"/>
                </a:lnTo>
                <a:lnTo>
                  <a:pt x="573024" y="329184"/>
                </a:lnTo>
                <a:lnTo>
                  <a:pt x="592836" y="329184"/>
                </a:lnTo>
                <a:lnTo>
                  <a:pt x="592836" y="324612"/>
                </a:lnTo>
                <a:close/>
              </a:path>
              <a:path w="1259204" h="329564">
                <a:moveTo>
                  <a:pt x="559308" y="324612"/>
                </a:moveTo>
                <a:lnTo>
                  <a:pt x="541020" y="324612"/>
                </a:lnTo>
                <a:lnTo>
                  <a:pt x="541020" y="329184"/>
                </a:lnTo>
                <a:lnTo>
                  <a:pt x="559308" y="329184"/>
                </a:lnTo>
                <a:lnTo>
                  <a:pt x="559308" y="324612"/>
                </a:lnTo>
                <a:close/>
              </a:path>
              <a:path w="1259204" h="329564">
                <a:moveTo>
                  <a:pt x="525779" y="324612"/>
                </a:moveTo>
                <a:lnTo>
                  <a:pt x="507491" y="324612"/>
                </a:lnTo>
                <a:lnTo>
                  <a:pt x="507491" y="329184"/>
                </a:lnTo>
                <a:lnTo>
                  <a:pt x="525779" y="329184"/>
                </a:lnTo>
                <a:lnTo>
                  <a:pt x="525779" y="324612"/>
                </a:lnTo>
                <a:close/>
              </a:path>
              <a:path w="1259204" h="329564">
                <a:moveTo>
                  <a:pt x="492251" y="324612"/>
                </a:moveTo>
                <a:lnTo>
                  <a:pt x="473963" y="324612"/>
                </a:lnTo>
                <a:lnTo>
                  <a:pt x="473963" y="329184"/>
                </a:lnTo>
                <a:lnTo>
                  <a:pt x="492251" y="329184"/>
                </a:lnTo>
                <a:lnTo>
                  <a:pt x="492251" y="324612"/>
                </a:lnTo>
                <a:close/>
              </a:path>
              <a:path w="1259204" h="329564">
                <a:moveTo>
                  <a:pt x="458724" y="324612"/>
                </a:moveTo>
                <a:lnTo>
                  <a:pt x="440436" y="324612"/>
                </a:lnTo>
                <a:lnTo>
                  <a:pt x="440436" y="329184"/>
                </a:lnTo>
                <a:lnTo>
                  <a:pt x="458724" y="329184"/>
                </a:lnTo>
                <a:lnTo>
                  <a:pt x="458724" y="324612"/>
                </a:lnTo>
                <a:close/>
              </a:path>
              <a:path w="1259204" h="329564">
                <a:moveTo>
                  <a:pt x="426720" y="324612"/>
                </a:moveTo>
                <a:lnTo>
                  <a:pt x="406908" y="324612"/>
                </a:lnTo>
                <a:lnTo>
                  <a:pt x="406908" y="329184"/>
                </a:lnTo>
                <a:lnTo>
                  <a:pt x="426720" y="329184"/>
                </a:lnTo>
                <a:lnTo>
                  <a:pt x="426720" y="324612"/>
                </a:lnTo>
                <a:close/>
              </a:path>
              <a:path w="1259204" h="329564">
                <a:moveTo>
                  <a:pt x="393191" y="324612"/>
                </a:moveTo>
                <a:lnTo>
                  <a:pt x="373379" y="324612"/>
                </a:lnTo>
                <a:lnTo>
                  <a:pt x="373379" y="329184"/>
                </a:lnTo>
                <a:lnTo>
                  <a:pt x="393191" y="329184"/>
                </a:lnTo>
                <a:lnTo>
                  <a:pt x="393191" y="324612"/>
                </a:lnTo>
                <a:close/>
              </a:path>
              <a:path w="1259204" h="329564">
                <a:moveTo>
                  <a:pt x="359663" y="324612"/>
                </a:moveTo>
                <a:lnTo>
                  <a:pt x="339851" y="324612"/>
                </a:lnTo>
                <a:lnTo>
                  <a:pt x="339851" y="329184"/>
                </a:lnTo>
                <a:lnTo>
                  <a:pt x="359663" y="329184"/>
                </a:lnTo>
                <a:lnTo>
                  <a:pt x="359663" y="324612"/>
                </a:lnTo>
                <a:close/>
              </a:path>
              <a:path w="1259204" h="329564">
                <a:moveTo>
                  <a:pt x="326136" y="324612"/>
                </a:moveTo>
                <a:lnTo>
                  <a:pt x="306324" y="324612"/>
                </a:lnTo>
                <a:lnTo>
                  <a:pt x="306324" y="329184"/>
                </a:lnTo>
                <a:lnTo>
                  <a:pt x="326136" y="329184"/>
                </a:lnTo>
                <a:lnTo>
                  <a:pt x="326136" y="324612"/>
                </a:lnTo>
                <a:close/>
              </a:path>
              <a:path w="1259204" h="329564">
                <a:moveTo>
                  <a:pt x="292608" y="324612"/>
                </a:moveTo>
                <a:lnTo>
                  <a:pt x="274320" y="324612"/>
                </a:lnTo>
                <a:lnTo>
                  <a:pt x="274320" y="329184"/>
                </a:lnTo>
                <a:lnTo>
                  <a:pt x="292608" y="329184"/>
                </a:lnTo>
                <a:lnTo>
                  <a:pt x="292608" y="324612"/>
                </a:lnTo>
                <a:close/>
              </a:path>
              <a:path w="1259204" h="329564">
                <a:moveTo>
                  <a:pt x="259079" y="324612"/>
                </a:moveTo>
                <a:lnTo>
                  <a:pt x="240791" y="324612"/>
                </a:lnTo>
                <a:lnTo>
                  <a:pt x="240791" y="329184"/>
                </a:lnTo>
                <a:lnTo>
                  <a:pt x="259079" y="329184"/>
                </a:lnTo>
                <a:lnTo>
                  <a:pt x="259079" y="324612"/>
                </a:lnTo>
                <a:close/>
              </a:path>
              <a:path w="1259204" h="329564">
                <a:moveTo>
                  <a:pt x="225551" y="324612"/>
                </a:moveTo>
                <a:lnTo>
                  <a:pt x="207263" y="324612"/>
                </a:lnTo>
                <a:lnTo>
                  <a:pt x="207263" y="329184"/>
                </a:lnTo>
                <a:lnTo>
                  <a:pt x="225551" y="329184"/>
                </a:lnTo>
                <a:lnTo>
                  <a:pt x="225551" y="324612"/>
                </a:lnTo>
                <a:close/>
              </a:path>
              <a:path w="1259204" h="329564">
                <a:moveTo>
                  <a:pt x="192024" y="324612"/>
                </a:moveTo>
                <a:lnTo>
                  <a:pt x="173736" y="324612"/>
                </a:lnTo>
                <a:lnTo>
                  <a:pt x="173736" y="329184"/>
                </a:lnTo>
                <a:lnTo>
                  <a:pt x="192024" y="329184"/>
                </a:lnTo>
                <a:lnTo>
                  <a:pt x="192024" y="324612"/>
                </a:lnTo>
                <a:close/>
              </a:path>
              <a:path w="1259204" h="329564">
                <a:moveTo>
                  <a:pt x="160020" y="324612"/>
                </a:moveTo>
                <a:lnTo>
                  <a:pt x="140208" y="324612"/>
                </a:lnTo>
                <a:lnTo>
                  <a:pt x="140208" y="329184"/>
                </a:lnTo>
                <a:lnTo>
                  <a:pt x="160020" y="329184"/>
                </a:lnTo>
                <a:lnTo>
                  <a:pt x="160020" y="324612"/>
                </a:lnTo>
                <a:close/>
              </a:path>
              <a:path w="1259204" h="329564">
                <a:moveTo>
                  <a:pt x="126492" y="324612"/>
                </a:moveTo>
                <a:lnTo>
                  <a:pt x="106680" y="324612"/>
                </a:lnTo>
                <a:lnTo>
                  <a:pt x="106680" y="329184"/>
                </a:lnTo>
                <a:lnTo>
                  <a:pt x="126492" y="329184"/>
                </a:lnTo>
                <a:lnTo>
                  <a:pt x="126492" y="324612"/>
                </a:lnTo>
                <a:close/>
              </a:path>
              <a:path w="1259204" h="329564">
                <a:moveTo>
                  <a:pt x="92963" y="324612"/>
                </a:moveTo>
                <a:lnTo>
                  <a:pt x="73151" y="324612"/>
                </a:lnTo>
                <a:lnTo>
                  <a:pt x="73151" y="329184"/>
                </a:lnTo>
                <a:lnTo>
                  <a:pt x="92963" y="329184"/>
                </a:lnTo>
                <a:lnTo>
                  <a:pt x="92963" y="324612"/>
                </a:lnTo>
                <a:close/>
              </a:path>
              <a:path w="1259204" h="329564">
                <a:moveTo>
                  <a:pt x="59436" y="324612"/>
                </a:moveTo>
                <a:lnTo>
                  <a:pt x="39624" y="324612"/>
                </a:lnTo>
                <a:lnTo>
                  <a:pt x="39624" y="329184"/>
                </a:lnTo>
                <a:lnTo>
                  <a:pt x="59436" y="329184"/>
                </a:lnTo>
                <a:lnTo>
                  <a:pt x="59436" y="324612"/>
                </a:lnTo>
                <a:close/>
              </a:path>
              <a:path w="1259204" h="329564">
                <a:moveTo>
                  <a:pt x="25907" y="324612"/>
                </a:moveTo>
                <a:lnTo>
                  <a:pt x="7619" y="324612"/>
                </a:lnTo>
                <a:lnTo>
                  <a:pt x="7619" y="329184"/>
                </a:lnTo>
                <a:lnTo>
                  <a:pt x="25907" y="329184"/>
                </a:lnTo>
                <a:lnTo>
                  <a:pt x="25907" y="324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02782" y="2814831"/>
            <a:ext cx="1168400" cy="297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7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防止分母为零的参数，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ts val="1070"/>
              </a:lnSpc>
            </a:pPr>
            <a:r>
              <a:rPr sz="900" spc="50" dirty="0">
                <a:latin typeface="Cambria Math" panose="02040503050406030204"/>
                <a:cs typeface="Cambria Math" panose="02040503050406030204"/>
              </a:rPr>
              <a:t>o(10</a:t>
            </a:r>
            <a:r>
              <a:rPr sz="975" spc="75" baseline="26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900" spc="5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900" spc="-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975" spc="97" baseline="26000" dirty="0">
                <a:latin typeface="Cambria Math" panose="02040503050406030204"/>
                <a:cs typeface="Cambria Math" panose="02040503050406030204"/>
              </a:rPr>
              <a:t>-6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900" spc="-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975" spc="97" baseline="26000" dirty="0">
                <a:latin typeface="Cambria Math" panose="02040503050406030204"/>
                <a:cs typeface="Cambria Math" panose="02040503050406030204"/>
              </a:rPr>
              <a:t>-7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)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79479" y="1154217"/>
          <a:ext cx="1422399" cy="1423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585"/>
                <a:gridCol w="347980"/>
                <a:gridCol w="348615"/>
                <a:gridCol w="363219"/>
              </a:tblGrid>
              <a:tr h="3665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45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665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190147" y="910377"/>
            <a:ext cx="1417320" cy="242570"/>
          </a:xfrm>
          <a:custGeom>
            <a:avLst/>
            <a:gdLst/>
            <a:ahLst/>
            <a:cxnLst/>
            <a:rect l="l" t="t" r="r" b="b"/>
            <a:pathLst>
              <a:path w="1417320" h="242569">
                <a:moveTo>
                  <a:pt x="0" y="242315"/>
                </a:moveTo>
                <a:lnTo>
                  <a:pt x="59435" y="217931"/>
                </a:lnTo>
                <a:lnTo>
                  <a:pt x="121919" y="204215"/>
                </a:lnTo>
                <a:lnTo>
                  <a:pt x="185927" y="198119"/>
                </a:lnTo>
                <a:lnTo>
                  <a:pt x="217931" y="196595"/>
                </a:lnTo>
                <a:lnTo>
                  <a:pt x="251459" y="196595"/>
                </a:lnTo>
                <a:lnTo>
                  <a:pt x="283463" y="196595"/>
                </a:lnTo>
                <a:lnTo>
                  <a:pt x="316991" y="198119"/>
                </a:lnTo>
                <a:lnTo>
                  <a:pt x="350519" y="198119"/>
                </a:lnTo>
                <a:lnTo>
                  <a:pt x="384047" y="199643"/>
                </a:lnTo>
                <a:lnTo>
                  <a:pt x="417575" y="201167"/>
                </a:lnTo>
                <a:lnTo>
                  <a:pt x="449579" y="201167"/>
                </a:lnTo>
                <a:lnTo>
                  <a:pt x="483107" y="201167"/>
                </a:lnTo>
                <a:lnTo>
                  <a:pt x="516635" y="198119"/>
                </a:lnTo>
                <a:lnTo>
                  <a:pt x="580643" y="190499"/>
                </a:lnTo>
                <a:lnTo>
                  <a:pt x="637031" y="175259"/>
                </a:lnTo>
                <a:lnTo>
                  <a:pt x="684275" y="144779"/>
                </a:lnTo>
                <a:lnTo>
                  <a:pt x="728471" y="105155"/>
                </a:lnTo>
                <a:lnTo>
                  <a:pt x="749807" y="83819"/>
                </a:lnTo>
                <a:lnTo>
                  <a:pt x="771143" y="62483"/>
                </a:lnTo>
                <a:lnTo>
                  <a:pt x="792479" y="42671"/>
                </a:lnTo>
                <a:lnTo>
                  <a:pt x="813815" y="25907"/>
                </a:lnTo>
                <a:lnTo>
                  <a:pt x="836675" y="13715"/>
                </a:lnTo>
                <a:lnTo>
                  <a:pt x="882395" y="0"/>
                </a:lnTo>
                <a:lnTo>
                  <a:pt x="908303" y="3047"/>
                </a:lnTo>
                <a:lnTo>
                  <a:pt x="932687" y="13715"/>
                </a:lnTo>
                <a:lnTo>
                  <a:pt x="954023" y="30479"/>
                </a:lnTo>
                <a:lnTo>
                  <a:pt x="973835" y="51815"/>
                </a:lnTo>
                <a:lnTo>
                  <a:pt x="990599" y="76199"/>
                </a:lnTo>
                <a:lnTo>
                  <a:pt x="1007363" y="100583"/>
                </a:lnTo>
                <a:lnTo>
                  <a:pt x="1042415" y="147827"/>
                </a:lnTo>
                <a:lnTo>
                  <a:pt x="1088135" y="176783"/>
                </a:lnTo>
                <a:lnTo>
                  <a:pt x="1146047" y="187451"/>
                </a:lnTo>
                <a:lnTo>
                  <a:pt x="1176527" y="187451"/>
                </a:lnTo>
                <a:lnTo>
                  <a:pt x="1210055" y="185927"/>
                </a:lnTo>
                <a:lnTo>
                  <a:pt x="1242059" y="184403"/>
                </a:lnTo>
                <a:lnTo>
                  <a:pt x="1274063" y="182879"/>
                </a:lnTo>
                <a:lnTo>
                  <a:pt x="1304543" y="181355"/>
                </a:lnTo>
                <a:lnTo>
                  <a:pt x="1333499" y="184403"/>
                </a:lnTo>
                <a:lnTo>
                  <a:pt x="1359407" y="188975"/>
                </a:lnTo>
                <a:lnTo>
                  <a:pt x="1402079" y="213359"/>
                </a:lnTo>
                <a:lnTo>
                  <a:pt x="1417319" y="234695"/>
                </a:lnTo>
              </a:path>
            </a:pathLst>
          </a:custGeom>
          <a:ln w="13715">
            <a:solidFill>
              <a:srgbClr val="6AA8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03329" y="1484163"/>
            <a:ext cx="88391" cy="8839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03329" y="1833159"/>
            <a:ext cx="88391" cy="88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03329" y="2182154"/>
            <a:ext cx="88391" cy="88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52325" y="1484163"/>
            <a:ext cx="88391" cy="883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52325" y="1833159"/>
            <a:ext cx="88391" cy="88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52325" y="2182154"/>
            <a:ext cx="88391" cy="883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99797" y="1484163"/>
            <a:ext cx="88391" cy="883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99797" y="1833159"/>
            <a:ext cx="88391" cy="883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99797" y="2182154"/>
            <a:ext cx="88391" cy="8839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03329" y="1060491"/>
            <a:ext cx="88391" cy="883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52325" y="1004103"/>
            <a:ext cx="88391" cy="883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99797" y="1030011"/>
            <a:ext cx="88391" cy="883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4600" y="1619501"/>
            <a:ext cx="787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试了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个不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率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15471" y="1158789"/>
            <a:ext cx="82550" cy="1423670"/>
          </a:xfrm>
          <a:custGeom>
            <a:avLst/>
            <a:gdLst/>
            <a:ahLst/>
            <a:cxnLst/>
            <a:rect l="l" t="t" r="r" b="b"/>
            <a:pathLst>
              <a:path w="82550" h="1423670">
                <a:moveTo>
                  <a:pt x="82295" y="1423415"/>
                </a:moveTo>
                <a:lnTo>
                  <a:pt x="59435" y="1414271"/>
                </a:lnTo>
                <a:lnTo>
                  <a:pt x="47243" y="1394459"/>
                </a:lnTo>
                <a:lnTo>
                  <a:pt x="41147" y="1367027"/>
                </a:lnTo>
                <a:lnTo>
                  <a:pt x="38099" y="1336547"/>
                </a:lnTo>
                <a:lnTo>
                  <a:pt x="35051" y="1310639"/>
                </a:lnTo>
                <a:lnTo>
                  <a:pt x="21335" y="1246631"/>
                </a:lnTo>
                <a:lnTo>
                  <a:pt x="13715" y="1181099"/>
                </a:lnTo>
                <a:lnTo>
                  <a:pt x="12191" y="1149095"/>
                </a:lnTo>
                <a:lnTo>
                  <a:pt x="12191" y="1117091"/>
                </a:lnTo>
                <a:lnTo>
                  <a:pt x="12191" y="1083563"/>
                </a:lnTo>
                <a:lnTo>
                  <a:pt x="13715" y="1051559"/>
                </a:lnTo>
                <a:lnTo>
                  <a:pt x="15239" y="1018031"/>
                </a:lnTo>
                <a:lnTo>
                  <a:pt x="18287" y="986027"/>
                </a:lnTo>
                <a:lnTo>
                  <a:pt x="22859" y="954023"/>
                </a:lnTo>
                <a:lnTo>
                  <a:pt x="28955" y="920495"/>
                </a:lnTo>
                <a:lnTo>
                  <a:pt x="35051" y="888491"/>
                </a:lnTo>
                <a:lnTo>
                  <a:pt x="39623" y="858011"/>
                </a:lnTo>
                <a:lnTo>
                  <a:pt x="44195" y="827531"/>
                </a:lnTo>
                <a:lnTo>
                  <a:pt x="45719" y="797051"/>
                </a:lnTo>
                <a:lnTo>
                  <a:pt x="47243" y="766571"/>
                </a:lnTo>
                <a:lnTo>
                  <a:pt x="45719" y="734567"/>
                </a:lnTo>
                <a:lnTo>
                  <a:pt x="44195" y="704087"/>
                </a:lnTo>
                <a:lnTo>
                  <a:pt x="42671" y="672083"/>
                </a:lnTo>
                <a:lnTo>
                  <a:pt x="39623" y="640079"/>
                </a:lnTo>
                <a:lnTo>
                  <a:pt x="36575" y="608075"/>
                </a:lnTo>
                <a:lnTo>
                  <a:pt x="32003" y="577595"/>
                </a:lnTo>
                <a:lnTo>
                  <a:pt x="27431" y="545591"/>
                </a:lnTo>
                <a:lnTo>
                  <a:pt x="22859" y="513587"/>
                </a:lnTo>
                <a:lnTo>
                  <a:pt x="18287" y="481583"/>
                </a:lnTo>
                <a:lnTo>
                  <a:pt x="13715" y="449579"/>
                </a:lnTo>
                <a:lnTo>
                  <a:pt x="10667" y="419099"/>
                </a:lnTo>
                <a:lnTo>
                  <a:pt x="6095" y="387095"/>
                </a:lnTo>
                <a:lnTo>
                  <a:pt x="3047" y="355091"/>
                </a:lnTo>
                <a:lnTo>
                  <a:pt x="1523" y="324611"/>
                </a:lnTo>
                <a:lnTo>
                  <a:pt x="0" y="294131"/>
                </a:lnTo>
                <a:lnTo>
                  <a:pt x="0" y="262127"/>
                </a:lnTo>
                <a:lnTo>
                  <a:pt x="0" y="231647"/>
                </a:lnTo>
                <a:lnTo>
                  <a:pt x="3047" y="202691"/>
                </a:lnTo>
                <a:lnTo>
                  <a:pt x="10667" y="141731"/>
                </a:lnTo>
                <a:lnTo>
                  <a:pt x="27431" y="83819"/>
                </a:lnTo>
                <a:lnTo>
                  <a:pt x="51815" y="27431"/>
                </a:lnTo>
                <a:lnTo>
                  <a:pt x="67055" y="0"/>
                </a:lnTo>
              </a:path>
            </a:pathLst>
          </a:custGeom>
          <a:ln w="13715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3056" y="360213"/>
            <a:ext cx="1542415" cy="472440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53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算：9组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验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3815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标：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好的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60517" y="553291"/>
            <a:ext cx="4845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u="sng" spc="-5" dirty="0">
                <a:uFill>
                  <a:solidFill>
                    <a:srgbClr val="000000"/>
                  </a:solidFill>
                </a:u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900" b="1" u="sng" spc="5" dirty="0">
                <a:uFill>
                  <a:solidFill>
                    <a:srgbClr val="000000"/>
                  </a:solidFill>
                </a:uFill>
                <a:latin typeface="黑体" panose="02010609060101010101" charset="-122"/>
                <a:cs typeface="黑体" panose="02010609060101010101" charset="-122"/>
              </a:rPr>
              <a:t>格</a:t>
            </a:r>
            <a:r>
              <a:rPr sz="900" b="1" u="sng" spc="-5" dirty="0">
                <a:uFill>
                  <a:solidFill>
                    <a:srgbClr val="000000"/>
                  </a:solidFill>
                </a:uFill>
                <a:latin typeface="黑体" panose="02010609060101010101" charset="-122"/>
                <a:cs typeface="黑体" panose="02010609060101010101" charset="-122"/>
              </a:rPr>
              <a:t>搜索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4051" y="1153065"/>
            <a:ext cx="1423670" cy="1423670"/>
          </a:xfrm>
          <a:custGeom>
            <a:avLst/>
            <a:gdLst/>
            <a:ahLst/>
            <a:cxnLst/>
            <a:rect l="l" t="t" r="r" b="b"/>
            <a:pathLst>
              <a:path w="1423670" h="1423670">
                <a:moveTo>
                  <a:pt x="0" y="0"/>
                </a:moveTo>
                <a:lnTo>
                  <a:pt x="1423415" y="0"/>
                </a:lnTo>
                <a:lnTo>
                  <a:pt x="1423415" y="1423415"/>
                </a:lnTo>
                <a:lnTo>
                  <a:pt x="0" y="1423415"/>
                </a:lnTo>
                <a:lnTo>
                  <a:pt x="0" y="0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92711" y="11530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2711" y="12048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2711" y="12582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2711" y="13100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2711" y="13618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92711" y="14151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92711" y="14670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92711" y="15188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92711" y="15721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92711" y="16239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92711" y="16773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92711" y="17291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92711" y="17809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92711" y="18342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92711" y="18861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92711" y="19379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92711" y="19912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92711" y="20430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92711" y="20964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92711" y="21482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92711" y="22000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92711" y="22533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92711" y="23052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92711" y="23570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92711" y="24103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92711" y="24621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92711" y="25155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92711" y="2567337"/>
            <a:ext cx="5080" cy="7620"/>
          </a:xfrm>
          <a:custGeom>
            <a:avLst/>
            <a:gdLst/>
            <a:ahLst/>
            <a:cxnLst/>
            <a:rect l="l" t="t" r="r" b="b"/>
            <a:pathLst>
              <a:path w="5080" h="7619">
                <a:moveTo>
                  <a:pt x="4571" y="0"/>
                </a:moveTo>
                <a:lnTo>
                  <a:pt x="0" y="0"/>
                </a:lnTo>
                <a:lnTo>
                  <a:pt x="0" y="7620"/>
                </a:lnTo>
                <a:lnTo>
                  <a:pt x="4571" y="762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84052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35867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89208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41024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94364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446180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497996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51336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603152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654967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708307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760123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811939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865279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917095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970435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022251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074067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27407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179223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231039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284379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336195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89535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441351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493167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099" y="0"/>
                </a:moveTo>
                <a:lnTo>
                  <a:pt x="0" y="0"/>
                </a:lnTo>
                <a:lnTo>
                  <a:pt x="0" y="4572"/>
                </a:lnTo>
                <a:lnTo>
                  <a:pt x="38099" y="4572"/>
                </a:lnTo>
                <a:lnTo>
                  <a:pt x="38099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546507" y="1861725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598323" y="1861725"/>
            <a:ext cx="9525" cy="5080"/>
          </a:xfrm>
          <a:custGeom>
            <a:avLst/>
            <a:gdLst/>
            <a:ahLst/>
            <a:cxnLst/>
            <a:rect l="l" t="t" r="r" b="b"/>
            <a:pathLst>
              <a:path w="9525" h="5080">
                <a:moveTo>
                  <a:pt x="9143" y="0"/>
                </a:moveTo>
                <a:lnTo>
                  <a:pt x="0" y="0"/>
                </a:lnTo>
                <a:lnTo>
                  <a:pt x="0" y="4572"/>
                </a:lnTo>
                <a:lnTo>
                  <a:pt x="9143" y="4572"/>
                </a:lnTo>
                <a:lnTo>
                  <a:pt x="9143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96244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249583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301400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354739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406556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458372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511711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563528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615344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668683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720500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773839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825656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877472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30811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982628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034444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087783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139600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192939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244756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296572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349911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401728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453544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506883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558700" y="1517301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612039" y="1517301"/>
            <a:ext cx="1905" cy="5080"/>
          </a:xfrm>
          <a:custGeom>
            <a:avLst/>
            <a:gdLst/>
            <a:ahLst/>
            <a:cxnLst/>
            <a:rect l="l" t="t" r="r" b="b"/>
            <a:pathLst>
              <a:path w="1905" h="5080">
                <a:moveTo>
                  <a:pt x="1524" y="0"/>
                </a:moveTo>
                <a:lnTo>
                  <a:pt x="0" y="0"/>
                </a:lnTo>
                <a:lnTo>
                  <a:pt x="0" y="4572"/>
                </a:lnTo>
                <a:lnTo>
                  <a:pt x="1524" y="4572"/>
                </a:lnTo>
                <a:lnTo>
                  <a:pt x="1524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187100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40439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92256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344072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397411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449228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501044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554383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606200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658016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711356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763172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816511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868328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920144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1973483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025300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077116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130456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182272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235611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287428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339244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392583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444400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496216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549556" y="2207673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4572"/>
                </a:lnTo>
                <a:lnTo>
                  <a:pt x="38100" y="4572"/>
                </a:lnTo>
                <a:lnTo>
                  <a:pt x="3810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601372" y="2207673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80">
                <a:moveTo>
                  <a:pt x="3048" y="0"/>
                </a:moveTo>
                <a:lnTo>
                  <a:pt x="0" y="0"/>
                </a:lnTo>
                <a:lnTo>
                  <a:pt x="0" y="4572"/>
                </a:lnTo>
                <a:lnTo>
                  <a:pt x="3048" y="4572"/>
                </a:lnTo>
                <a:lnTo>
                  <a:pt x="3048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241707" y="11530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241707" y="12048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241707" y="12582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241707" y="13100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241707" y="13618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2241707" y="14151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241707" y="14670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2241707" y="15188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241707" y="15721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2241707" y="16239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241707" y="16773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2241707" y="17291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241707" y="17809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241707" y="18342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241707" y="18861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2241707" y="19379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2241707" y="19912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2241707" y="20430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2241707" y="20964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2241707" y="21482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2241707" y="22000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2241707" y="22533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241707" y="23052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2241707" y="23570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2241707" y="24103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2241707" y="24621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2241707" y="25155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2241707" y="2567337"/>
            <a:ext cx="5080" cy="9525"/>
          </a:xfrm>
          <a:custGeom>
            <a:avLst/>
            <a:gdLst/>
            <a:ahLst/>
            <a:cxnLst/>
            <a:rect l="l" t="t" r="r" b="b"/>
            <a:pathLst>
              <a:path w="5080" h="9525">
                <a:moveTo>
                  <a:pt x="4572" y="0"/>
                </a:moveTo>
                <a:lnTo>
                  <a:pt x="0" y="0"/>
                </a:lnTo>
                <a:lnTo>
                  <a:pt x="0" y="9144"/>
                </a:lnTo>
                <a:lnTo>
                  <a:pt x="4572" y="9144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1543716" y="115306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1543716" y="120488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1543716" y="125822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1543716" y="1310037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1543716" y="136185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1543716" y="141519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1543716" y="1467009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1543716" y="151882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1543716" y="157216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1543716" y="162398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1543716" y="167732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1543716" y="1729137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1543716" y="178095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1543716" y="183429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1543716" y="1886109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1543716" y="193792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1543716" y="199126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1543716" y="204308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1543716" y="209642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1543716" y="2148237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1543716" y="220005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1543716" y="225339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1543716" y="2305209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1543716" y="235702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1543716" y="241036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1543716" y="246218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1543716" y="251552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1543716" y="2567337"/>
            <a:ext cx="6350" cy="9525"/>
          </a:xfrm>
          <a:custGeom>
            <a:avLst/>
            <a:gdLst/>
            <a:ahLst/>
            <a:cxnLst/>
            <a:rect l="l" t="t" r="r" b="b"/>
            <a:pathLst>
              <a:path w="6350" h="9525">
                <a:moveTo>
                  <a:pt x="6095" y="0"/>
                </a:moveTo>
                <a:lnTo>
                  <a:pt x="0" y="0"/>
                </a:lnTo>
                <a:lnTo>
                  <a:pt x="0" y="9144"/>
                </a:lnTo>
                <a:lnTo>
                  <a:pt x="6095" y="9144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1115471" y="1153065"/>
            <a:ext cx="82550" cy="1423670"/>
          </a:xfrm>
          <a:custGeom>
            <a:avLst/>
            <a:gdLst/>
            <a:ahLst/>
            <a:cxnLst/>
            <a:rect l="l" t="t" r="r" b="b"/>
            <a:pathLst>
              <a:path w="82550" h="1423670">
                <a:moveTo>
                  <a:pt x="82295" y="1423415"/>
                </a:moveTo>
                <a:lnTo>
                  <a:pt x="59435" y="1414271"/>
                </a:lnTo>
                <a:lnTo>
                  <a:pt x="47243" y="1394459"/>
                </a:lnTo>
                <a:lnTo>
                  <a:pt x="41147" y="1367027"/>
                </a:lnTo>
                <a:lnTo>
                  <a:pt x="38099" y="1336547"/>
                </a:lnTo>
                <a:lnTo>
                  <a:pt x="35051" y="1310639"/>
                </a:lnTo>
                <a:lnTo>
                  <a:pt x="21335" y="1246631"/>
                </a:lnTo>
                <a:lnTo>
                  <a:pt x="13715" y="1181099"/>
                </a:lnTo>
                <a:lnTo>
                  <a:pt x="12191" y="1149095"/>
                </a:lnTo>
                <a:lnTo>
                  <a:pt x="12191" y="1117091"/>
                </a:lnTo>
                <a:lnTo>
                  <a:pt x="12191" y="1083563"/>
                </a:lnTo>
                <a:lnTo>
                  <a:pt x="13715" y="1051559"/>
                </a:lnTo>
                <a:lnTo>
                  <a:pt x="15239" y="1018031"/>
                </a:lnTo>
                <a:lnTo>
                  <a:pt x="18287" y="986027"/>
                </a:lnTo>
                <a:lnTo>
                  <a:pt x="22859" y="954023"/>
                </a:lnTo>
                <a:lnTo>
                  <a:pt x="28955" y="920495"/>
                </a:lnTo>
                <a:lnTo>
                  <a:pt x="35051" y="888491"/>
                </a:lnTo>
                <a:lnTo>
                  <a:pt x="39623" y="858011"/>
                </a:lnTo>
                <a:lnTo>
                  <a:pt x="44195" y="827531"/>
                </a:lnTo>
                <a:lnTo>
                  <a:pt x="45719" y="797051"/>
                </a:lnTo>
                <a:lnTo>
                  <a:pt x="47243" y="766571"/>
                </a:lnTo>
                <a:lnTo>
                  <a:pt x="45719" y="734567"/>
                </a:lnTo>
                <a:lnTo>
                  <a:pt x="44195" y="704087"/>
                </a:lnTo>
                <a:lnTo>
                  <a:pt x="42671" y="672083"/>
                </a:lnTo>
                <a:lnTo>
                  <a:pt x="39623" y="640079"/>
                </a:lnTo>
                <a:lnTo>
                  <a:pt x="36575" y="608075"/>
                </a:lnTo>
                <a:lnTo>
                  <a:pt x="32003" y="577595"/>
                </a:lnTo>
                <a:lnTo>
                  <a:pt x="27431" y="545591"/>
                </a:lnTo>
                <a:lnTo>
                  <a:pt x="22859" y="513587"/>
                </a:lnTo>
                <a:lnTo>
                  <a:pt x="18287" y="481583"/>
                </a:lnTo>
                <a:lnTo>
                  <a:pt x="13715" y="449579"/>
                </a:lnTo>
                <a:lnTo>
                  <a:pt x="10667" y="419099"/>
                </a:lnTo>
                <a:lnTo>
                  <a:pt x="6095" y="387095"/>
                </a:lnTo>
                <a:lnTo>
                  <a:pt x="3047" y="355091"/>
                </a:lnTo>
                <a:lnTo>
                  <a:pt x="1523" y="324611"/>
                </a:lnTo>
                <a:lnTo>
                  <a:pt x="0" y="294131"/>
                </a:lnTo>
                <a:lnTo>
                  <a:pt x="0" y="262127"/>
                </a:lnTo>
                <a:lnTo>
                  <a:pt x="0" y="231647"/>
                </a:lnTo>
                <a:lnTo>
                  <a:pt x="3047" y="202691"/>
                </a:lnTo>
                <a:lnTo>
                  <a:pt x="10667" y="141731"/>
                </a:lnTo>
                <a:lnTo>
                  <a:pt x="27431" y="83819"/>
                </a:lnTo>
                <a:lnTo>
                  <a:pt x="51815" y="27431"/>
                </a:lnTo>
                <a:lnTo>
                  <a:pt x="67055" y="0"/>
                </a:lnTo>
              </a:path>
            </a:pathLst>
          </a:custGeom>
          <a:ln w="13715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1190147" y="904653"/>
            <a:ext cx="1417320" cy="242570"/>
          </a:xfrm>
          <a:custGeom>
            <a:avLst/>
            <a:gdLst/>
            <a:ahLst/>
            <a:cxnLst/>
            <a:rect l="l" t="t" r="r" b="b"/>
            <a:pathLst>
              <a:path w="1417320" h="242569">
                <a:moveTo>
                  <a:pt x="0" y="242315"/>
                </a:moveTo>
                <a:lnTo>
                  <a:pt x="59435" y="217931"/>
                </a:lnTo>
                <a:lnTo>
                  <a:pt x="121919" y="204215"/>
                </a:lnTo>
                <a:lnTo>
                  <a:pt x="185927" y="198119"/>
                </a:lnTo>
                <a:lnTo>
                  <a:pt x="217931" y="196595"/>
                </a:lnTo>
                <a:lnTo>
                  <a:pt x="251459" y="196595"/>
                </a:lnTo>
                <a:lnTo>
                  <a:pt x="283463" y="196595"/>
                </a:lnTo>
                <a:lnTo>
                  <a:pt x="316991" y="198119"/>
                </a:lnTo>
                <a:lnTo>
                  <a:pt x="350519" y="198119"/>
                </a:lnTo>
                <a:lnTo>
                  <a:pt x="384047" y="199643"/>
                </a:lnTo>
                <a:lnTo>
                  <a:pt x="417575" y="201167"/>
                </a:lnTo>
                <a:lnTo>
                  <a:pt x="449579" y="201167"/>
                </a:lnTo>
                <a:lnTo>
                  <a:pt x="483107" y="201167"/>
                </a:lnTo>
                <a:lnTo>
                  <a:pt x="516635" y="198119"/>
                </a:lnTo>
                <a:lnTo>
                  <a:pt x="580643" y="190499"/>
                </a:lnTo>
                <a:lnTo>
                  <a:pt x="637031" y="175259"/>
                </a:lnTo>
                <a:lnTo>
                  <a:pt x="684275" y="144779"/>
                </a:lnTo>
                <a:lnTo>
                  <a:pt x="728471" y="105155"/>
                </a:lnTo>
                <a:lnTo>
                  <a:pt x="749807" y="83819"/>
                </a:lnTo>
                <a:lnTo>
                  <a:pt x="771143" y="62483"/>
                </a:lnTo>
                <a:lnTo>
                  <a:pt x="792479" y="42671"/>
                </a:lnTo>
                <a:lnTo>
                  <a:pt x="813815" y="25907"/>
                </a:lnTo>
                <a:lnTo>
                  <a:pt x="836675" y="13715"/>
                </a:lnTo>
                <a:lnTo>
                  <a:pt x="882395" y="0"/>
                </a:lnTo>
                <a:lnTo>
                  <a:pt x="908303" y="3047"/>
                </a:lnTo>
                <a:lnTo>
                  <a:pt x="932687" y="13715"/>
                </a:lnTo>
                <a:lnTo>
                  <a:pt x="954023" y="30479"/>
                </a:lnTo>
                <a:lnTo>
                  <a:pt x="973835" y="51815"/>
                </a:lnTo>
                <a:lnTo>
                  <a:pt x="990599" y="76199"/>
                </a:lnTo>
                <a:lnTo>
                  <a:pt x="1007363" y="100583"/>
                </a:lnTo>
                <a:lnTo>
                  <a:pt x="1042415" y="147827"/>
                </a:lnTo>
                <a:lnTo>
                  <a:pt x="1088135" y="176783"/>
                </a:lnTo>
                <a:lnTo>
                  <a:pt x="1146047" y="187451"/>
                </a:lnTo>
                <a:lnTo>
                  <a:pt x="1176527" y="187451"/>
                </a:lnTo>
                <a:lnTo>
                  <a:pt x="1210055" y="185927"/>
                </a:lnTo>
                <a:lnTo>
                  <a:pt x="1242059" y="184403"/>
                </a:lnTo>
                <a:lnTo>
                  <a:pt x="1274063" y="182879"/>
                </a:lnTo>
                <a:lnTo>
                  <a:pt x="1304543" y="181355"/>
                </a:lnTo>
                <a:lnTo>
                  <a:pt x="1333499" y="184403"/>
                </a:lnTo>
                <a:lnTo>
                  <a:pt x="1359407" y="188975"/>
                </a:lnTo>
                <a:lnTo>
                  <a:pt x="1402079" y="213359"/>
                </a:lnTo>
                <a:lnTo>
                  <a:pt x="1417319" y="234695"/>
                </a:lnTo>
              </a:path>
            </a:pathLst>
          </a:custGeom>
          <a:ln w="13715">
            <a:solidFill>
              <a:srgbClr val="6AA8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 txBox="1"/>
          <p:nvPr/>
        </p:nvSpPr>
        <p:spPr>
          <a:xfrm>
            <a:off x="2802021" y="1457390"/>
            <a:ext cx="144780" cy="85471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（不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要参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4" name="object 174"/>
          <p:cNvSpPr txBox="1">
            <a:spLocks noGrp="1"/>
          </p:cNvSpPr>
          <p:nvPr>
            <p:ph type="title"/>
          </p:nvPr>
        </p:nvSpPr>
        <p:spPr>
          <a:xfrm>
            <a:off x="2219944" y="132933"/>
            <a:ext cx="17602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超参</a:t>
            </a:r>
            <a:r>
              <a:rPr spc="-10" dirty="0"/>
              <a:t>数</a:t>
            </a:r>
            <a:r>
              <a:rPr spc="5" dirty="0"/>
              <a:t>优</a:t>
            </a:r>
            <a:r>
              <a:rPr spc="-10" dirty="0"/>
              <a:t>化方</a:t>
            </a:r>
            <a:r>
              <a:rPr spc="5" dirty="0"/>
              <a:t>法</a:t>
            </a:r>
            <a:endParaRPr spc="5" dirty="0"/>
          </a:p>
        </p:txBody>
      </p:sp>
      <p:sp>
        <p:nvSpPr>
          <p:cNvPr id="175" name="object 175"/>
          <p:cNvSpPr txBox="1"/>
          <p:nvPr/>
        </p:nvSpPr>
        <p:spPr>
          <a:xfrm>
            <a:off x="1709323" y="277413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2669444" y="1724133"/>
            <a:ext cx="114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30" dirty="0">
                <a:latin typeface="Cambria Math" panose="02040503050406030204"/>
                <a:cs typeface="Cambria Math" panose="02040503050406030204"/>
              </a:rPr>
              <a:t>6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7" name="object 177"/>
          <p:cNvSpPr/>
          <p:nvPr/>
        </p:nvSpPr>
        <p:spPr>
          <a:xfrm>
            <a:off x="1892711" y="11530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1892711" y="12048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1892711" y="12582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1892711" y="13100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1892711" y="13618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1892711" y="14151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1892711" y="14670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1892711" y="15188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1892711" y="15721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1892711" y="16239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1892711" y="16773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1892711" y="17291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1892711" y="17809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1892711" y="18342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1892711" y="18861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1892711" y="19379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1892711" y="19912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1892711" y="20430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1892711" y="20964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1892711" y="21482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1892711" y="22000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1892711" y="22533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1892711" y="23052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1892711" y="23570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1892711" y="24103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1892711" y="24621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1892711" y="25155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1" y="0"/>
                </a:moveTo>
                <a:lnTo>
                  <a:pt x="0" y="0"/>
                </a:lnTo>
                <a:lnTo>
                  <a:pt x="0" y="38100"/>
                </a:lnTo>
                <a:lnTo>
                  <a:pt x="4571" y="3810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1892711" y="2567337"/>
            <a:ext cx="5080" cy="7620"/>
          </a:xfrm>
          <a:custGeom>
            <a:avLst/>
            <a:gdLst/>
            <a:ahLst/>
            <a:cxnLst/>
            <a:rect l="l" t="t" r="r" b="b"/>
            <a:pathLst>
              <a:path w="5080" h="7619">
                <a:moveTo>
                  <a:pt x="4571" y="0"/>
                </a:moveTo>
                <a:lnTo>
                  <a:pt x="0" y="0"/>
                </a:lnTo>
                <a:lnTo>
                  <a:pt x="0" y="7620"/>
                </a:lnTo>
                <a:lnTo>
                  <a:pt x="4571" y="7620"/>
                </a:lnTo>
                <a:lnTo>
                  <a:pt x="457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2241707" y="11530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2241707" y="12048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2241707" y="12582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2241707" y="13100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2241707" y="13618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2241707" y="14151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2241707" y="14670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2241707" y="15188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2241707" y="15721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2241707" y="16239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2241707" y="16773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2241707" y="17291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2241707" y="17809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2241707" y="18342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2241707" y="18861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2241707" y="19379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2241707" y="19912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2241707" y="20430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2241707" y="20964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2241707" y="2148237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2241707" y="220005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2241707" y="2253393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2241707" y="2305209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2241707" y="235702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2241707" y="2410365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2241707" y="246218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2241707" y="2515521"/>
            <a:ext cx="5080" cy="38100"/>
          </a:xfrm>
          <a:custGeom>
            <a:avLst/>
            <a:gdLst/>
            <a:ahLst/>
            <a:cxnLst/>
            <a:rect l="l" t="t" r="r" b="b"/>
            <a:pathLst>
              <a:path w="5080" h="38100">
                <a:moveTo>
                  <a:pt x="4572" y="0"/>
                </a:moveTo>
                <a:lnTo>
                  <a:pt x="0" y="0"/>
                </a:lnTo>
                <a:lnTo>
                  <a:pt x="0" y="38100"/>
                </a:lnTo>
                <a:lnTo>
                  <a:pt x="4572" y="38100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2241707" y="2567337"/>
            <a:ext cx="5080" cy="9525"/>
          </a:xfrm>
          <a:custGeom>
            <a:avLst/>
            <a:gdLst/>
            <a:ahLst/>
            <a:cxnLst/>
            <a:rect l="l" t="t" r="r" b="b"/>
            <a:pathLst>
              <a:path w="5080" h="9525">
                <a:moveTo>
                  <a:pt x="4572" y="0"/>
                </a:moveTo>
                <a:lnTo>
                  <a:pt x="0" y="0"/>
                </a:lnTo>
                <a:lnTo>
                  <a:pt x="0" y="9144"/>
                </a:lnTo>
                <a:lnTo>
                  <a:pt x="4572" y="9144"/>
                </a:lnTo>
                <a:lnTo>
                  <a:pt x="4572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1543716" y="115306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1543716" y="120488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1543716" y="125822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1543716" y="1310037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1543716" y="136185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1543716" y="141519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1543716" y="1467009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1543716" y="151882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1543716" y="157216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1543716" y="162398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1543716" y="167732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1543716" y="1729137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1543716" y="178095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1543716" y="183429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1543716" y="1886109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1543716" y="193792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1543716" y="199126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1543716" y="204308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1543716" y="209642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1543716" y="2148237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1543716" y="220005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1543716" y="2253393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1543716" y="2305209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1543716" y="235702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1543716" y="2410365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1543716" y="246218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1543716" y="2515521"/>
            <a:ext cx="6350" cy="38100"/>
          </a:xfrm>
          <a:custGeom>
            <a:avLst/>
            <a:gdLst/>
            <a:ahLst/>
            <a:cxnLst/>
            <a:rect l="l" t="t" r="r" b="b"/>
            <a:pathLst>
              <a:path w="6350" h="38100">
                <a:moveTo>
                  <a:pt x="6095" y="0"/>
                </a:moveTo>
                <a:lnTo>
                  <a:pt x="0" y="0"/>
                </a:lnTo>
                <a:lnTo>
                  <a:pt x="0" y="38100"/>
                </a:lnTo>
                <a:lnTo>
                  <a:pt x="6095" y="38100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1543716" y="2567337"/>
            <a:ext cx="6350" cy="9525"/>
          </a:xfrm>
          <a:custGeom>
            <a:avLst/>
            <a:gdLst/>
            <a:ahLst/>
            <a:cxnLst/>
            <a:rect l="l" t="t" r="r" b="b"/>
            <a:pathLst>
              <a:path w="6350" h="9525">
                <a:moveTo>
                  <a:pt x="6095" y="0"/>
                </a:moveTo>
                <a:lnTo>
                  <a:pt x="0" y="0"/>
                </a:lnTo>
                <a:lnTo>
                  <a:pt x="0" y="9144"/>
                </a:lnTo>
                <a:lnTo>
                  <a:pt x="6095" y="9144"/>
                </a:lnTo>
                <a:lnTo>
                  <a:pt x="609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 txBox="1"/>
          <p:nvPr/>
        </p:nvSpPr>
        <p:spPr>
          <a:xfrm>
            <a:off x="1480724" y="2565305"/>
            <a:ext cx="9226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1190" algn="l"/>
              </a:tabLst>
            </a:pPr>
            <a:r>
              <a:rPr sz="9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   </a:t>
            </a:r>
            <a:r>
              <a:rPr sz="900" i="1" spc="-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01	</a:t>
            </a:r>
            <a:r>
              <a:rPr sz="9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2" name="object 262"/>
          <p:cNvSpPr/>
          <p:nvPr/>
        </p:nvSpPr>
        <p:spPr>
          <a:xfrm>
            <a:off x="1505616" y="148072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2671" y="0"/>
                </a:moveTo>
                <a:lnTo>
                  <a:pt x="25907" y="4572"/>
                </a:lnTo>
                <a:lnTo>
                  <a:pt x="12191" y="12192"/>
                </a:lnTo>
                <a:lnTo>
                  <a:pt x="3047" y="25907"/>
                </a:lnTo>
                <a:lnTo>
                  <a:pt x="0" y="42672"/>
                </a:lnTo>
                <a:lnTo>
                  <a:pt x="3047" y="57911"/>
                </a:lnTo>
                <a:lnTo>
                  <a:pt x="12191" y="71627"/>
                </a:lnTo>
                <a:lnTo>
                  <a:pt x="25907" y="80772"/>
                </a:lnTo>
                <a:lnTo>
                  <a:pt x="42671" y="83820"/>
                </a:lnTo>
                <a:lnTo>
                  <a:pt x="57911" y="80772"/>
                </a:lnTo>
                <a:lnTo>
                  <a:pt x="71627" y="71627"/>
                </a:lnTo>
                <a:lnTo>
                  <a:pt x="80771" y="57911"/>
                </a:lnTo>
                <a:lnTo>
                  <a:pt x="83819" y="42672"/>
                </a:lnTo>
                <a:lnTo>
                  <a:pt x="77723" y="19811"/>
                </a:lnTo>
                <a:lnTo>
                  <a:pt x="50291" y="1524"/>
                </a:lnTo>
                <a:lnTo>
                  <a:pt x="4267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1505615" y="148072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2671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4571"/>
                </a:lnTo>
                <a:lnTo>
                  <a:pt x="42671" y="0"/>
                </a:lnTo>
                <a:lnTo>
                  <a:pt x="71627" y="12191"/>
                </a:lnTo>
                <a:lnTo>
                  <a:pt x="83819" y="42671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2671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2671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1505616" y="182972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2671" y="0"/>
                </a:moveTo>
                <a:lnTo>
                  <a:pt x="25907" y="3048"/>
                </a:lnTo>
                <a:lnTo>
                  <a:pt x="12191" y="12192"/>
                </a:lnTo>
                <a:lnTo>
                  <a:pt x="3047" y="25907"/>
                </a:lnTo>
                <a:lnTo>
                  <a:pt x="0" y="42672"/>
                </a:lnTo>
                <a:lnTo>
                  <a:pt x="3047" y="57911"/>
                </a:lnTo>
                <a:lnTo>
                  <a:pt x="12191" y="71627"/>
                </a:lnTo>
                <a:lnTo>
                  <a:pt x="25907" y="80772"/>
                </a:lnTo>
                <a:lnTo>
                  <a:pt x="42671" y="83820"/>
                </a:lnTo>
                <a:lnTo>
                  <a:pt x="57911" y="80772"/>
                </a:lnTo>
                <a:lnTo>
                  <a:pt x="71627" y="71627"/>
                </a:lnTo>
                <a:lnTo>
                  <a:pt x="80771" y="57911"/>
                </a:lnTo>
                <a:lnTo>
                  <a:pt x="83819" y="42672"/>
                </a:lnTo>
                <a:lnTo>
                  <a:pt x="77723" y="18287"/>
                </a:lnTo>
                <a:lnTo>
                  <a:pt x="50291" y="1524"/>
                </a:lnTo>
                <a:lnTo>
                  <a:pt x="4267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1505615" y="182972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2671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3047"/>
                </a:lnTo>
                <a:lnTo>
                  <a:pt x="42671" y="0"/>
                </a:lnTo>
                <a:lnTo>
                  <a:pt x="71627" y="12191"/>
                </a:lnTo>
                <a:lnTo>
                  <a:pt x="83819" y="42671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2671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2671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1505616" y="217871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2671" y="0"/>
                </a:moveTo>
                <a:lnTo>
                  <a:pt x="25907" y="3048"/>
                </a:lnTo>
                <a:lnTo>
                  <a:pt x="12191" y="12191"/>
                </a:lnTo>
                <a:lnTo>
                  <a:pt x="3047" y="25907"/>
                </a:lnTo>
                <a:lnTo>
                  <a:pt x="0" y="41148"/>
                </a:lnTo>
                <a:lnTo>
                  <a:pt x="3047" y="57911"/>
                </a:lnTo>
                <a:lnTo>
                  <a:pt x="12191" y="71627"/>
                </a:lnTo>
                <a:lnTo>
                  <a:pt x="25907" y="80772"/>
                </a:lnTo>
                <a:lnTo>
                  <a:pt x="42671" y="83819"/>
                </a:lnTo>
                <a:lnTo>
                  <a:pt x="57911" y="80772"/>
                </a:lnTo>
                <a:lnTo>
                  <a:pt x="71627" y="71627"/>
                </a:lnTo>
                <a:lnTo>
                  <a:pt x="80771" y="57911"/>
                </a:lnTo>
                <a:lnTo>
                  <a:pt x="83819" y="41148"/>
                </a:lnTo>
                <a:lnTo>
                  <a:pt x="77723" y="18287"/>
                </a:lnTo>
                <a:lnTo>
                  <a:pt x="50291" y="1524"/>
                </a:lnTo>
                <a:lnTo>
                  <a:pt x="4267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1505615" y="217871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1147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3047"/>
                </a:lnTo>
                <a:lnTo>
                  <a:pt x="42671" y="0"/>
                </a:lnTo>
                <a:lnTo>
                  <a:pt x="71627" y="12191"/>
                </a:lnTo>
                <a:lnTo>
                  <a:pt x="83819" y="41147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2671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1147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1854611" y="148072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1148" y="0"/>
                </a:moveTo>
                <a:lnTo>
                  <a:pt x="25907" y="4572"/>
                </a:lnTo>
                <a:lnTo>
                  <a:pt x="12192" y="12192"/>
                </a:lnTo>
                <a:lnTo>
                  <a:pt x="3048" y="25907"/>
                </a:lnTo>
                <a:lnTo>
                  <a:pt x="0" y="42672"/>
                </a:lnTo>
                <a:lnTo>
                  <a:pt x="3048" y="57911"/>
                </a:lnTo>
                <a:lnTo>
                  <a:pt x="12192" y="71627"/>
                </a:lnTo>
                <a:lnTo>
                  <a:pt x="25907" y="80772"/>
                </a:lnTo>
                <a:lnTo>
                  <a:pt x="41148" y="83820"/>
                </a:lnTo>
                <a:lnTo>
                  <a:pt x="57912" y="80772"/>
                </a:lnTo>
                <a:lnTo>
                  <a:pt x="71627" y="71627"/>
                </a:lnTo>
                <a:lnTo>
                  <a:pt x="80771" y="57911"/>
                </a:lnTo>
                <a:lnTo>
                  <a:pt x="83819" y="42672"/>
                </a:lnTo>
                <a:lnTo>
                  <a:pt x="76200" y="19811"/>
                </a:lnTo>
                <a:lnTo>
                  <a:pt x="50292" y="1524"/>
                </a:lnTo>
                <a:lnTo>
                  <a:pt x="411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1854611" y="148072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2671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4571"/>
                </a:lnTo>
                <a:lnTo>
                  <a:pt x="41147" y="0"/>
                </a:lnTo>
                <a:lnTo>
                  <a:pt x="71627" y="12191"/>
                </a:lnTo>
                <a:lnTo>
                  <a:pt x="83819" y="42671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1147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2671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1854611" y="182972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1148" y="0"/>
                </a:moveTo>
                <a:lnTo>
                  <a:pt x="25907" y="3048"/>
                </a:lnTo>
                <a:lnTo>
                  <a:pt x="12192" y="12192"/>
                </a:lnTo>
                <a:lnTo>
                  <a:pt x="3048" y="25907"/>
                </a:lnTo>
                <a:lnTo>
                  <a:pt x="0" y="42672"/>
                </a:lnTo>
                <a:lnTo>
                  <a:pt x="3048" y="57911"/>
                </a:lnTo>
                <a:lnTo>
                  <a:pt x="12192" y="71627"/>
                </a:lnTo>
                <a:lnTo>
                  <a:pt x="25907" y="80772"/>
                </a:lnTo>
                <a:lnTo>
                  <a:pt x="41148" y="83820"/>
                </a:lnTo>
                <a:lnTo>
                  <a:pt x="57912" y="80772"/>
                </a:lnTo>
                <a:lnTo>
                  <a:pt x="71627" y="71627"/>
                </a:lnTo>
                <a:lnTo>
                  <a:pt x="80771" y="57911"/>
                </a:lnTo>
                <a:lnTo>
                  <a:pt x="83819" y="42672"/>
                </a:lnTo>
                <a:lnTo>
                  <a:pt x="76200" y="18287"/>
                </a:lnTo>
                <a:lnTo>
                  <a:pt x="50292" y="1524"/>
                </a:lnTo>
                <a:lnTo>
                  <a:pt x="411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1854611" y="182972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2671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3047"/>
                </a:lnTo>
                <a:lnTo>
                  <a:pt x="41147" y="0"/>
                </a:lnTo>
                <a:lnTo>
                  <a:pt x="71627" y="12191"/>
                </a:lnTo>
                <a:lnTo>
                  <a:pt x="83819" y="42671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1147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2671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1854611" y="217871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1148" y="0"/>
                </a:moveTo>
                <a:lnTo>
                  <a:pt x="25907" y="3048"/>
                </a:lnTo>
                <a:lnTo>
                  <a:pt x="12192" y="12191"/>
                </a:lnTo>
                <a:lnTo>
                  <a:pt x="3048" y="25907"/>
                </a:lnTo>
                <a:lnTo>
                  <a:pt x="0" y="41148"/>
                </a:lnTo>
                <a:lnTo>
                  <a:pt x="3048" y="57911"/>
                </a:lnTo>
                <a:lnTo>
                  <a:pt x="12192" y="71627"/>
                </a:lnTo>
                <a:lnTo>
                  <a:pt x="25907" y="80772"/>
                </a:lnTo>
                <a:lnTo>
                  <a:pt x="41148" y="83819"/>
                </a:lnTo>
                <a:lnTo>
                  <a:pt x="57912" y="80772"/>
                </a:lnTo>
                <a:lnTo>
                  <a:pt x="71627" y="71627"/>
                </a:lnTo>
                <a:lnTo>
                  <a:pt x="80771" y="57911"/>
                </a:lnTo>
                <a:lnTo>
                  <a:pt x="83819" y="41148"/>
                </a:lnTo>
                <a:lnTo>
                  <a:pt x="76200" y="18287"/>
                </a:lnTo>
                <a:lnTo>
                  <a:pt x="50292" y="1524"/>
                </a:lnTo>
                <a:lnTo>
                  <a:pt x="411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1854611" y="217871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1147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3047"/>
                </a:lnTo>
                <a:lnTo>
                  <a:pt x="41147" y="0"/>
                </a:lnTo>
                <a:lnTo>
                  <a:pt x="71627" y="12191"/>
                </a:lnTo>
                <a:lnTo>
                  <a:pt x="83819" y="41147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1147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1147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2202083" y="148072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2672" y="0"/>
                </a:moveTo>
                <a:lnTo>
                  <a:pt x="25908" y="4572"/>
                </a:lnTo>
                <a:lnTo>
                  <a:pt x="12192" y="12192"/>
                </a:lnTo>
                <a:lnTo>
                  <a:pt x="3048" y="25907"/>
                </a:lnTo>
                <a:lnTo>
                  <a:pt x="0" y="42672"/>
                </a:lnTo>
                <a:lnTo>
                  <a:pt x="3048" y="57911"/>
                </a:lnTo>
                <a:lnTo>
                  <a:pt x="12192" y="71627"/>
                </a:lnTo>
                <a:lnTo>
                  <a:pt x="25908" y="80772"/>
                </a:lnTo>
                <a:lnTo>
                  <a:pt x="42672" y="83820"/>
                </a:lnTo>
                <a:lnTo>
                  <a:pt x="57912" y="80772"/>
                </a:lnTo>
                <a:lnTo>
                  <a:pt x="71628" y="71627"/>
                </a:lnTo>
                <a:lnTo>
                  <a:pt x="80772" y="57911"/>
                </a:lnTo>
                <a:lnTo>
                  <a:pt x="83820" y="42672"/>
                </a:lnTo>
                <a:lnTo>
                  <a:pt x="77724" y="19811"/>
                </a:lnTo>
                <a:lnTo>
                  <a:pt x="50292" y="1524"/>
                </a:lnTo>
                <a:lnTo>
                  <a:pt x="42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2202083" y="148072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2671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4571"/>
                </a:lnTo>
                <a:lnTo>
                  <a:pt x="42671" y="0"/>
                </a:lnTo>
                <a:lnTo>
                  <a:pt x="71627" y="12191"/>
                </a:lnTo>
                <a:lnTo>
                  <a:pt x="83819" y="42671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2671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2671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2202083" y="182972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2672" y="0"/>
                </a:moveTo>
                <a:lnTo>
                  <a:pt x="25908" y="3048"/>
                </a:lnTo>
                <a:lnTo>
                  <a:pt x="12192" y="12192"/>
                </a:lnTo>
                <a:lnTo>
                  <a:pt x="3048" y="25907"/>
                </a:lnTo>
                <a:lnTo>
                  <a:pt x="0" y="42672"/>
                </a:lnTo>
                <a:lnTo>
                  <a:pt x="3048" y="57911"/>
                </a:lnTo>
                <a:lnTo>
                  <a:pt x="12192" y="71627"/>
                </a:lnTo>
                <a:lnTo>
                  <a:pt x="25908" y="80772"/>
                </a:lnTo>
                <a:lnTo>
                  <a:pt x="42672" y="83820"/>
                </a:lnTo>
                <a:lnTo>
                  <a:pt x="57912" y="80772"/>
                </a:lnTo>
                <a:lnTo>
                  <a:pt x="71628" y="71627"/>
                </a:lnTo>
                <a:lnTo>
                  <a:pt x="80772" y="57911"/>
                </a:lnTo>
                <a:lnTo>
                  <a:pt x="83820" y="42672"/>
                </a:lnTo>
                <a:lnTo>
                  <a:pt x="77724" y="18287"/>
                </a:lnTo>
                <a:lnTo>
                  <a:pt x="50292" y="1524"/>
                </a:lnTo>
                <a:lnTo>
                  <a:pt x="42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2202083" y="182972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2671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3047"/>
                </a:lnTo>
                <a:lnTo>
                  <a:pt x="42671" y="0"/>
                </a:lnTo>
                <a:lnTo>
                  <a:pt x="71627" y="12191"/>
                </a:lnTo>
                <a:lnTo>
                  <a:pt x="83819" y="42671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2671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2671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2202083" y="217871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42672" y="0"/>
                </a:moveTo>
                <a:lnTo>
                  <a:pt x="25908" y="3048"/>
                </a:lnTo>
                <a:lnTo>
                  <a:pt x="12192" y="12191"/>
                </a:lnTo>
                <a:lnTo>
                  <a:pt x="3048" y="25907"/>
                </a:lnTo>
                <a:lnTo>
                  <a:pt x="0" y="41148"/>
                </a:lnTo>
                <a:lnTo>
                  <a:pt x="3048" y="57911"/>
                </a:lnTo>
                <a:lnTo>
                  <a:pt x="12192" y="71627"/>
                </a:lnTo>
                <a:lnTo>
                  <a:pt x="25908" y="80772"/>
                </a:lnTo>
                <a:lnTo>
                  <a:pt x="42672" y="83819"/>
                </a:lnTo>
                <a:lnTo>
                  <a:pt x="57912" y="80772"/>
                </a:lnTo>
                <a:lnTo>
                  <a:pt x="71628" y="71627"/>
                </a:lnTo>
                <a:lnTo>
                  <a:pt x="80772" y="57911"/>
                </a:lnTo>
                <a:lnTo>
                  <a:pt x="83820" y="41148"/>
                </a:lnTo>
                <a:lnTo>
                  <a:pt x="77724" y="18287"/>
                </a:lnTo>
                <a:lnTo>
                  <a:pt x="50292" y="1524"/>
                </a:lnTo>
                <a:lnTo>
                  <a:pt x="42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2202083" y="217871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1147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3047"/>
                </a:lnTo>
                <a:lnTo>
                  <a:pt x="42671" y="0"/>
                </a:lnTo>
                <a:lnTo>
                  <a:pt x="71627" y="12191"/>
                </a:lnTo>
                <a:lnTo>
                  <a:pt x="83819" y="41147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2671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1147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1505615" y="1057053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0" y="42671"/>
                </a:moveTo>
                <a:lnTo>
                  <a:pt x="3047" y="25907"/>
                </a:lnTo>
                <a:lnTo>
                  <a:pt x="12191" y="12191"/>
                </a:lnTo>
                <a:lnTo>
                  <a:pt x="25907" y="3047"/>
                </a:lnTo>
                <a:lnTo>
                  <a:pt x="42671" y="0"/>
                </a:lnTo>
                <a:lnTo>
                  <a:pt x="71627" y="12191"/>
                </a:lnTo>
                <a:lnTo>
                  <a:pt x="83819" y="42671"/>
                </a:lnTo>
                <a:lnTo>
                  <a:pt x="80771" y="57911"/>
                </a:lnTo>
                <a:lnTo>
                  <a:pt x="71627" y="71627"/>
                </a:lnTo>
                <a:lnTo>
                  <a:pt x="57911" y="80771"/>
                </a:lnTo>
                <a:lnTo>
                  <a:pt x="42671" y="83819"/>
                </a:lnTo>
                <a:lnTo>
                  <a:pt x="25907" y="80771"/>
                </a:lnTo>
                <a:lnTo>
                  <a:pt x="12191" y="71627"/>
                </a:lnTo>
                <a:lnTo>
                  <a:pt x="3047" y="57911"/>
                </a:lnTo>
                <a:lnTo>
                  <a:pt x="0" y="42671"/>
                </a:lnTo>
                <a:close/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1852325" y="998379"/>
            <a:ext cx="88391" cy="8839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2199797" y="1024287"/>
            <a:ext cx="88391" cy="88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 txBox="1"/>
          <p:nvPr/>
        </p:nvSpPr>
        <p:spPr>
          <a:xfrm>
            <a:off x="73056" y="354489"/>
            <a:ext cx="1542415" cy="472440"/>
          </a:xfrm>
          <a:prstGeom prst="rect">
            <a:avLst/>
          </a:prstGeom>
          <a:ln w="4571">
            <a:solidFill>
              <a:srgbClr val="FF0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53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算：9组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验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3815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标：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好的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284" name="object 284"/>
          <p:cNvGraphicFramePr>
            <a:graphicFrameLocks noGrp="1"/>
          </p:cNvGraphicFramePr>
          <p:nvPr/>
        </p:nvGraphicFramePr>
        <p:xfrm>
          <a:off x="3247547" y="1142397"/>
          <a:ext cx="1422399" cy="13792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585"/>
                <a:gridCol w="348615"/>
                <a:gridCol w="348615"/>
                <a:gridCol w="362584"/>
              </a:tblGrid>
              <a:tr h="3550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07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635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550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6350">
                      <a:solidFill>
                        <a:srgbClr val="595959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5" name="object 285"/>
          <p:cNvSpPr/>
          <p:nvPr/>
        </p:nvSpPr>
        <p:spPr>
          <a:xfrm>
            <a:off x="3189635" y="1153065"/>
            <a:ext cx="82550" cy="1423670"/>
          </a:xfrm>
          <a:custGeom>
            <a:avLst/>
            <a:gdLst/>
            <a:ahLst/>
            <a:cxnLst/>
            <a:rect l="l" t="t" r="r" b="b"/>
            <a:pathLst>
              <a:path w="82550" h="1423670">
                <a:moveTo>
                  <a:pt x="82295" y="1423415"/>
                </a:moveTo>
                <a:lnTo>
                  <a:pt x="59435" y="1414271"/>
                </a:lnTo>
                <a:lnTo>
                  <a:pt x="47243" y="1394459"/>
                </a:lnTo>
                <a:lnTo>
                  <a:pt x="41147" y="1367027"/>
                </a:lnTo>
                <a:lnTo>
                  <a:pt x="38099" y="1336547"/>
                </a:lnTo>
                <a:lnTo>
                  <a:pt x="35051" y="1310639"/>
                </a:lnTo>
                <a:lnTo>
                  <a:pt x="21335" y="1246631"/>
                </a:lnTo>
                <a:lnTo>
                  <a:pt x="13715" y="1181099"/>
                </a:lnTo>
                <a:lnTo>
                  <a:pt x="12191" y="1149095"/>
                </a:lnTo>
                <a:lnTo>
                  <a:pt x="12191" y="1117091"/>
                </a:lnTo>
                <a:lnTo>
                  <a:pt x="12191" y="1083563"/>
                </a:lnTo>
                <a:lnTo>
                  <a:pt x="13715" y="1051559"/>
                </a:lnTo>
                <a:lnTo>
                  <a:pt x="15239" y="1018031"/>
                </a:lnTo>
                <a:lnTo>
                  <a:pt x="18287" y="986027"/>
                </a:lnTo>
                <a:lnTo>
                  <a:pt x="22859" y="954023"/>
                </a:lnTo>
                <a:lnTo>
                  <a:pt x="28955" y="920495"/>
                </a:lnTo>
                <a:lnTo>
                  <a:pt x="35051" y="888491"/>
                </a:lnTo>
                <a:lnTo>
                  <a:pt x="39623" y="858011"/>
                </a:lnTo>
                <a:lnTo>
                  <a:pt x="44195" y="827531"/>
                </a:lnTo>
                <a:lnTo>
                  <a:pt x="45719" y="797051"/>
                </a:lnTo>
                <a:lnTo>
                  <a:pt x="47243" y="766571"/>
                </a:lnTo>
                <a:lnTo>
                  <a:pt x="45719" y="734567"/>
                </a:lnTo>
                <a:lnTo>
                  <a:pt x="44195" y="704087"/>
                </a:lnTo>
                <a:lnTo>
                  <a:pt x="42671" y="672083"/>
                </a:lnTo>
                <a:lnTo>
                  <a:pt x="39623" y="640079"/>
                </a:lnTo>
                <a:lnTo>
                  <a:pt x="36575" y="608075"/>
                </a:lnTo>
                <a:lnTo>
                  <a:pt x="32003" y="577595"/>
                </a:lnTo>
                <a:lnTo>
                  <a:pt x="27431" y="545591"/>
                </a:lnTo>
                <a:lnTo>
                  <a:pt x="22859" y="513587"/>
                </a:lnTo>
                <a:lnTo>
                  <a:pt x="18287" y="481583"/>
                </a:lnTo>
                <a:lnTo>
                  <a:pt x="15239" y="449579"/>
                </a:lnTo>
                <a:lnTo>
                  <a:pt x="10667" y="419099"/>
                </a:lnTo>
                <a:lnTo>
                  <a:pt x="6095" y="387095"/>
                </a:lnTo>
                <a:lnTo>
                  <a:pt x="4571" y="355091"/>
                </a:lnTo>
                <a:lnTo>
                  <a:pt x="1523" y="324611"/>
                </a:lnTo>
                <a:lnTo>
                  <a:pt x="0" y="294131"/>
                </a:lnTo>
                <a:lnTo>
                  <a:pt x="0" y="262127"/>
                </a:lnTo>
                <a:lnTo>
                  <a:pt x="0" y="231647"/>
                </a:lnTo>
                <a:lnTo>
                  <a:pt x="3047" y="202691"/>
                </a:lnTo>
                <a:lnTo>
                  <a:pt x="6095" y="172211"/>
                </a:lnTo>
                <a:lnTo>
                  <a:pt x="10667" y="141731"/>
                </a:lnTo>
                <a:lnTo>
                  <a:pt x="18287" y="112775"/>
                </a:lnTo>
                <a:lnTo>
                  <a:pt x="27431" y="83819"/>
                </a:lnTo>
                <a:lnTo>
                  <a:pt x="38099" y="54863"/>
                </a:lnTo>
                <a:lnTo>
                  <a:pt x="51815" y="27431"/>
                </a:lnTo>
                <a:lnTo>
                  <a:pt x="67055" y="0"/>
                </a:lnTo>
              </a:path>
            </a:pathLst>
          </a:custGeom>
          <a:ln w="13715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3264311" y="904653"/>
            <a:ext cx="1417320" cy="242570"/>
          </a:xfrm>
          <a:custGeom>
            <a:avLst/>
            <a:gdLst/>
            <a:ahLst/>
            <a:cxnLst/>
            <a:rect l="l" t="t" r="r" b="b"/>
            <a:pathLst>
              <a:path w="1417320" h="242569">
                <a:moveTo>
                  <a:pt x="0" y="242315"/>
                </a:moveTo>
                <a:lnTo>
                  <a:pt x="59435" y="217931"/>
                </a:lnTo>
                <a:lnTo>
                  <a:pt x="121919" y="204215"/>
                </a:lnTo>
                <a:lnTo>
                  <a:pt x="185927" y="198119"/>
                </a:lnTo>
                <a:lnTo>
                  <a:pt x="217931" y="196595"/>
                </a:lnTo>
                <a:lnTo>
                  <a:pt x="251459" y="196595"/>
                </a:lnTo>
                <a:lnTo>
                  <a:pt x="283463" y="196595"/>
                </a:lnTo>
                <a:lnTo>
                  <a:pt x="316991" y="198119"/>
                </a:lnTo>
                <a:lnTo>
                  <a:pt x="350519" y="198119"/>
                </a:lnTo>
                <a:lnTo>
                  <a:pt x="384047" y="199643"/>
                </a:lnTo>
                <a:lnTo>
                  <a:pt x="417575" y="201167"/>
                </a:lnTo>
                <a:lnTo>
                  <a:pt x="449579" y="201167"/>
                </a:lnTo>
                <a:lnTo>
                  <a:pt x="483107" y="201167"/>
                </a:lnTo>
                <a:lnTo>
                  <a:pt x="516635" y="198119"/>
                </a:lnTo>
                <a:lnTo>
                  <a:pt x="580643" y="190499"/>
                </a:lnTo>
                <a:lnTo>
                  <a:pt x="637031" y="175259"/>
                </a:lnTo>
                <a:lnTo>
                  <a:pt x="684275" y="144779"/>
                </a:lnTo>
                <a:lnTo>
                  <a:pt x="728471" y="105155"/>
                </a:lnTo>
                <a:lnTo>
                  <a:pt x="749807" y="83819"/>
                </a:lnTo>
                <a:lnTo>
                  <a:pt x="771143" y="62483"/>
                </a:lnTo>
                <a:lnTo>
                  <a:pt x="792479" y="42671"/>
                </a:lnTo>
                <a:lnTo>
                  <a:pt x="813815" y="25907"/>
                </a:lnTo>
                <a:lnTo>
                  <a:pt x="836675" y="13715"/>
                </a:lnTo>
                <a:lnTo>
                  <a:pt x="882395" y="0"/>
                </a:lnTo>
                <a:lnTo>
                  <a:pt x="908303" y="3047"/>
                </a:lnTo>
                <a:lnTo>
                  <a:pt x="932687" y="13715"/>
                </a:lnTo>
                <a:lnTo>
                  <a:pt x="954023" y="30479"/>
                </a:lnTo>
                <a:lnTo>
                  <a:pt x="973835" y="51815"/>
                </a:lnTo>
                <a:lnTo>
                  <a:pt x="990599" y="76199"/>
                </a:lnTo>
                <a:lnTo>
                  <a:pt x="1007363" y="100583"/>
                </a:lnTo>
                <a:lnTo>
                  <a:pt x="1042415" y="147827"/>
                </a:lnTo>
                <a:lnTo>
                  <a:pt x="1088135" y="176783"/>
                </a:lnTo>
                <a:lnTo>
                  <a:pt x="1146047" y="187451"/>
                </a:lnTo>
                <a:lnTo>
                  <a:pt x="1178051" y="187451"/>
                </a:lnTo>
                <a:lnTo>
                  <a:pt x="1210055" y="185927"/>
                </a:lnTo>
                <a:lnTo>
                  <a:pt x="1242059" y="184403"/>
                </a:lnTo>
                <a:lnTo>
                  <a:pt x="1274063" y="182879"/>
                </a:lnTo>
                <a:lnTo>
                  <a:pt x="1304543" y="181355"/>
                </a:lnTo>
                <a:lnTo>
                  <a:pt x="1333499" y="184403"/>
                </a:lnTo>
                <a:lnTo>
                  <a:pt x="1359407" y="188975"/>
                </a:lnTo>
                <a:lnTo>
                  <a:pt x="1402079" y="213359"/>
                </a:lnTo>
                <a:lnTo>
                  <a:pt x="1417319" y="234695"/>
                </a:lnTo>
              </a:path>
            </a:pathLst>
          </a:custGeom>
          <a:ln w="13715">
            <a:solidFill>
              <a:srgbClr val="6AA8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3359561" y="1659795"/>
            <a:ext cx="88391" cy="88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3501294" y="2208434"/>
            <a:ext cx="88391" cy="883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3548538" y="1281843"/>
            <a:ext cx="86867" cy="88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3882294" y="1778667"/>
            <a:ext cx="88391" cy="883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4144421" y="2435511"/>
            <a:ext cx="88391" cy="883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3737514" y="2043843"/>
            <a:ext cx="86867" cy="88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4305965" y="1972215"/>
            <a:ext cx="86867" cy="868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4415694" y="1329087"/>
            <a:ext cx="88391" cy="8839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4575713" y="1562259"/>
            <a:ext cx="88391" cy="883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3359561" y="1054767"/>
            <a:ext cx="88391" cy="883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3501294" y="1054767"/>
            <a:ext cx="134111" cy="883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3703985" y="1054767"/>
            <a:ext cx="88391" cy="883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3905153" y="984663"/>
            <a:ext cx="88391" cy="8839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4144421" y="864267"/>
            <a:ext cx="88391" cy="8839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4263294" y="998379"/>
            <a:ext cx="86867" cy="8839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4450745" y="1024287"/>
            <a:ext cx="88391" cy="8839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4575713" y="1054767"/>
            <a:ext cx="88391" cy="8839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 txBox="1"/>
          <p:nvPr/>
        </p:nvSpPr>
        <p:spPr>
          <a:xfrm>
            <a:off x="3629564" y="567341"/>
            <a:ext cx="4845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搜索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5" name="object 305"/>
          <p:cNvSpPr/>
          <p:nvPr/>
        </p:nvSpPr>
        <p:spPr>
          <a:xfrm>
            <a:off x="3643788" y="703485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0" y="0"/>
                </a:moveTo>
                <a:lnTo>
                  <a:pt x="458724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2712623" y="1954689"/>
            <a:ext cx="100965" cy="814069"/>
          </a:xfrm>
          <a:custGeom>
            <a:avLst/>
            <a:gdLst/>
            <a:ahLst/>
            <a:cxnLst/>
            <a:rect l="l" t="t" r="r" b="b"/>
            <a:pathLst>
              <a:path w="100964" h="814069">
                <a:moveTo>
                  <a:pt x="20585" y="37977"/>
                </a:moveTo>
                <a:lnTo>
                  <a:pt x="15895" y="38352"/>
                </a:lnTo>
                <a:lnTo>
                  <a:pt x="96012" y="813815"/>
                </a:lnTo>
                <a:lnTo>
                  <a:pt x="100584" y="813815"/>
                </a:lnTo>
                <a:lnTo>
                  <a:pt x="20585" y="37977"/>
                </a:lnTo>
                <a:close/>
              </a:path>
              <a:path w="100964" h="814069">
                <a:moveTo>
                  <a:pt x="15239" y="0"/>
                </a:moveTo>
                <a:lnTo>
                  <a:pt x="0" y="39624"/>
                </a:lnTo>
                <a:lnTo>
                  <a:pt x="15895" y="38352"/>
                </a:lnTo>
                <a:lnTo>
                  <a:pt x="15239" y="32003"/>
                </a:lnTo>
                <a:lnTo>
                  <a:pt x="19812" y="30479"/>
                </a:lnTo>
                <a:lnTo>
                  <a:pt x="34289" y="30479"/>
                </a:lnTo>
                <a:lnTo>
                  <a:pt x="15239" y="0"/>
                </a:lnTo>
                <a:close/>
              </a:path>
              <a:path w="100964" h="814069">
                <a:moveTo>
                  <a:pt x="19812" y="30479"/>
                </a:moveTo>
                <a:lnTo>
                  <a:pt x="15239" y="32003"/>
                </a:lnTo>
                <a:lnTo>
                  <a:pt x="15895" y="38352"/>
                </a:lnTo>
                <a:lnTo>
                  <a:pt x="20585" y="37977"/>
                </a:lnTo>
                <a:lnTo>
                  <a:pt x="19812" y="30479"/>
                </a:lnTo>
                <a:close/>
              </a:path>
              <a:path w="100964" h="814069">
                <a:moveTo>
                  <a:pt x="34289" y="30479"/>
                </a:moveTo>
                <a:lnTo>
                  <a:pt x="19812" y="30479"/>
                </a:lnTo>
                <a:lnTo>
                  <a:pt x="20585" y="37977"/>
                </a:lnTo>
                <a:lnTo>
                  <a:pt x="38100" y="36575"/>
                </a:lnTo>
                <a:lnTo>
                  <a:pt x="34289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2368200" y="2794413"/>
            <a:ext cx="1259205" cy="329565"/>
          </a:xfrm>
          <a:custGeom>
            <a:avLst/>
            <a:gdLst/>
            <a:ahLst/>
            <a:cxnLst/>
            <a:rect l="l" t="t" r="r" b="b"/>
            <a:pathLst>
              <a:path w="1259204" h="329564">
                <a:moveTo>
                  <a:pt x="4572" y="307847"/>
                </a:moveTo>
                <a:lnTo>
                  <a:pt x="0" y="307847"/>
                </a:lnTo>
                <a:lnTo>
                  <a:pt x="0" y="326135"/>
                </a:lnTo>
                <a:lnTo>
                  <a:pt x="4572" y="326135"/>
                </a:lnTo>
                <a:lnTo>
                  <a:pt x="4572" y="307847"/>
                </a:lnTo>
                <a:close/>
              </a:path>
              <a:path w="1259204" h="329564">
                <a:moveTo>
                  <a:pt x="4572" y="274319"/>
                </a:moveTo>
                <a:lnTo>
                  <a:pt x="0" y="274319"/>
                </a:lnTo>
                <a:lnTo>
                  <a:pt x="0" y="294131"/>
                </a:lnTo>
                <a:lnTo>
                  <a:pt x="4572" y="294131"/>
                </a:lnTo>
                <a:lnTo>
                  <a:pt x="4572" y="274319"/>
                </a:lnTo>
                <a:close/>
              </a:path>
              <a:path w="1259204" h="329564">
                <a:moveTo>
                  <a:pt x="4572" y="240791"/>
                </a:moveTo>
                <a:lnTo>
                  <a:pt x="0" y="240791"/>
                </a:lnTo>
                <a:lnTo>
                  <a:pt x="0" y="260603"/>
                </a:lnTo>
                <a:lnTo>
                  <a:pt x="4572" y="260603"/>
                </a:lnTo>
                <a:lnTo>
                  <a:pt x="4572" y="240791"/>
                </a:lnTo>
                <a:close/>
              </a:path>
              <a:path w="1259204" h="329564">
                <a:moveTo>
                  <a:pt x="4572" y="207263"/>
                </a:moveTo>
                <a:lnTo>
                  <a:pt x="0" y="207263"/>
                </a:lnTo>
                <a:lnTo>
                  <a:pt x="0" y="227075"/>
                </a:lnTo>
                <a:lnTo>
                  <a:pt x="4572" y="227075"/>
                </a:lnTo>
                <a:lnTo>
                  <a:pt x="4572" y="207263"/>
                </a:lnTo>
                <a:close/>
              </a:path>
              <a:path w="1259204" h="329564">
                <a:moveTo>
                  <a:pt x="4572" y="173735"/>
                </a:moveTo>
                <a:lnTo>
                  <a:pt x="0" y="173735"/>
                </a:lnTo>
                <a:lnTo>
                  <a:pt x="0" y="193547"/>
                </a:lnTo>
                <a:lnTo>
                  <a:pt x="4572" y="193547"/>
                </a:lnTo>
                <a:lnTo>
                  <a:pt x="4572" y="173735"/>
                </a:lnTo>
                <a:close/>
              </a:path>
              <a:path w="1259204" h="329564">
                <a:moveTo>
                  <a:pt x="4572" y="141731"/>
                </a:moveTo>
                <a:lnTo>
                  <a:pt x="0" y="141731"/>
                </a:lnTo>
                <a:lnTo>
                  <a:pt x="0" y="160019"/>
                </a:lnTo>
                <a:lnTo>
                  <a:pt x="4572" y="160019"/>
                </a:lnTo>
                <a:lnTo>
                  <a:pt x="4572" y="141731"/>
                </a:lnTo>
                <a:close/>
              </a:path>
              <a:path w="1259204" h="329564">
                <a:moveTo>
                  <a:pt x="4572" y="108203"/>
                </a:moveTo>
                <a:lnTo>
                  <a:pt x="0" y="108203"/>
                </a:lnTo>
                <a:lnTo>
                  <a:pt x="0" y="126491"/>
                </a:lnTo>
                <a:lnTo>
                  <a:pt x="4572" y="126491"/>
                </a:lnTo>
                <a:lnTo>
                  <a:pt x="4572" y="108203"/>
                </a:lnTo>
                <a:close/>
              </a:path>
              <a:path w="1259204" h="329564">
                <a:moveTo>
                  <a:pt x="4572" y="74675"/>
                </a:moveTo>
                <a:lnTo>
                  <a:pt x="0" y="74675"/>
                </a:lnTo>
                <a:lnTo>
                  <a:pt x="0" y="92963"/>
                </a:lnTo>
                <a:lnTo>
                  <a:pt x="4572" y="92963"/>
                </a:lnTo>
                <a:lnTo>
                  <a:pt x="4572" y="74675"/>
                </a:lnTo>
                <a:close/>
              </a:path>
              <a:path w="1259204" h="329564">
                <a:moveTo>
                  <a:pt x="4572" y="41147"/>
                </a:moveTo>
                <a:lnTo>
                  <a:pt x="0" y="41147"/>
                </a:lnTo>
                <a:lnTo>
                  <a:pt x="0" y="59435"/>
                </a:lnTo>
                <a:lnTo>
                  <a:pt x="4572" y="59435"/>
                </a:lnTo>
                <a:lnTo>
                  <a:pt x="4572" y="41147"/>
                </a:lnTo>
                <a:close/>
              </a:path>
              <a:path w="1259204" h="329564">
                <a:moveTo>
                  <a:pt x="4572" y="7619"/>
                </a:moveTo>
                <a:lnTo>
                  <a:pt x="0" y="7619"/>
                </a:lnTo>
                <a:lnTo>
                  <a:pt x="0" y="27431"/>
                </a:lnTo>
                <a:lnTo>
                  <a:pt x="4572" y="27431"/>
                </a:lnTo>
                <a:lnTo>
                  <a:pt x="4572" y="7619"/>
                </a:lnTo>
                <a:close/>
              </a:path>
              <a:path w="1259204" h="329564">
                <a:moveTo>
                  <a:pt x="30480" y="0"/>
                </a:moveTo>
                <a:lnTo>
                  <a:pt x="10668" y="0"/>
                </a:lnTo>
                <a:lnTo>
                  <a:pt x="10668" y="4571"/>
                </a:lnTo>
                <a:lnTo>
                  <a:pt x="30480" y="4571"/>
                </a:lnTo>
                <a:lnTo>
                  <a:pt x="30480" y="0"/>
                </a:lnTo>
                <a:close/>
              </a:path>
              <a:path w="1259204" h="329564">
                <a:moveTo>
                  <a:pt x="62483" y="0"/>
                </a:moveTo>
                <a:lnTo>
                  <a:pt x="44195" y="0"/>
                </a:lnTo>
                <a:lnTo>
                  <a:pt x="44195" y="4571"/>
                </a:lnTo>
                <a:lnTo>
                  <a:pt x="62483" y="4571"/>
                </a:lnTo>
                <a:lnTo>
                  <a:pt x="62483" y="0"/>
                </a:lnTo>
                <a:close/>
              </a:path>
              <a:path w="1259204" h="329564">
                <a:moveTo>
                  <a:pt x="96012" y="0"/>
                </a:moveTo>
                <a:lnTo>
                  <a:pt x="77724" y="0"/>
                </a:lnTo>
                <a:lnTo>
                  <a:pt x="77724" y="4571"/>
                </a:lnTo>
                <a:lnTo>
                  <a:pt x="96012" y="4571"/>
                </a:lnTo>
                <a:lnTo>
                  <a:pt x="96012" y="0"/>
                </a:lnTo>
                <a:close/>
              </a:path>
              <a:path w="1259204" h="329564">
                <a:moveTo>
                  <a:pt x="129539" y="0"/>
                </a:moveTo>
                <a:lnTo>
                  <a:pt x="111251" y="0"/>
                </a:lnTo>
                <a:lnTo>
                  <a:pt x="111251" y="4571"/>
                </a:lnTo>
                <a:lnTo>
                  <a:pt x="129539" y="4571"/>
                </a:lnTo>
                <a:lnTo>
                  <a:pt x="129539" y="0"/>
                </a:lnTo>
                <a:close/>
              </a:path>
              <a:path w="1259204" h="329564">
                <a:moveTo>
                  <a:pt x="163067" y="0"/>
                </a:moveTo>
                <a:lnTo>
                  <a:pt x="144779" y="0"/>
                </a:lnTo>
                <a:lnTo>
                  <a:pt x="144779" y="4571"/>
                </a:lnTo>
                <a:lnTo>
                  <a:pt x="163067" y="4571"/>
                </a:lnTo>
                <a:lnTo>
                  <a:pt x="163067" y="0"/>
                </a:lnTo>
                <a:close/>
              </a:path>
              <a:path w="1259204" h="329564">
                <a:moveTo>
                  <a:pt x="196596" y="0"/>
                </a:moveTo>
                <a:lnTo>
                  <a:pt x="176784" y="0"/>
                </a:lnTo>
                <a:lnTo>
                  <a:pt x="176784" y="4571"/>
                </a:lnTo>
                <a:lnTo>
                  <a:pt x="196596" y="4571"/>
                </a:lnTo>
                <a:lnTo>
                  <a:pt x="196596" y="0"/>
                </a:lnTo>
                <a:close/>
              </a:path>
              <a:path w="1259204" h="329564">
                <a:moveTo>
                  <a:pt x="230124" y="0"/>
                </a:moveTo>
                <a:lnTo>
                  <a:pt x="210312" y="0"/>
                </a:lnTo>
                <a:lnTo>
                  <a:pt x="210312" y="4571"/>
                </a:lnTo>
                <a:lnTo>
                  <a:pt x="230124" y="4571"/>
                </a:lnTo>
                <a:lnTo>
                  <a:pt x="230124" y="0"/>
                </a:lnTo>
                <a:close/>
              </a:path>
              <a:path w="1259204" h="329564">
                <a:moveTo>
                  <a:pt x="263651" y="0"/>
                </a:moveTo>
                <a:lnTo>
                  <a:pt x="243839" y="0"/>
                </a:lnTo>
                <a:lnTo>
                  <a:pt x="243839" y="4571"/>
                </a:lnTo>
                <a:lnTo>
                  <a:pt x="263651" y="4571"/>
                </a:lnTo>
                <a:lnTo>
                  <a:pt x="263651" y="0"/>
                </a:lnTo>
                <a:close/>
              </a:path>
              <a:path w="1259204" h="329564">
                <a:moveTo>
                  <a:pt x="297179" y="0"/>
                </a:moveTo>
                <a:lnTo>
                  <a:pt x="277367" y="0"/>
                </a:lnTo>
                <a:lnTo>
                  <a:pt x="277367" y="4571"/>
                </a:lnTo>
                <a:lnTo>
                  <a:pt x="297179" y="4571"/>
                </a:lnTo>
                <a:lnTo>
                  <a:pt x="297179" y="0"/>
                </a:lnTo>
                <a:close/>
              </a:path>
              <a:path w="1259204" h="329564">
                <a:moveTo>
                  <a:pt x="329184" y="0"/>
                </a:moveTo>
                <a:lnTo>
                  <a:pt x="310896" y="0"/>
                </a:lnTo>
                <a:lnTo>
                  <a:pt x="310896" y="4571"/>
                </a:lnTo>
                <a:lnTo>
                  <a:pt x="329184" y="4571"/>
                </a:lnTo>
                <a:lnTo>
                  <a:pt x="329184" y="0"/>
                </a:lnTo>
                <a:close/>
              </a:path>
              <a:path w="1259204" h="329564">
                <a:moveTo>
                  <a:pt x="362712" y="0"/>
                </a:moveTo>
                <a:lnTo>
                  <a:pt x="344424" y="0"/>
                </a:lnTo>
                <a:lnTo>
                  <a:pt x="344424" y="4571"/>
                </a:lnTo>
                <a:lnTo>
                  <a:pt x="362712" y="4571"/>
                </a:lnTo>
                <a:lnTo>
                  <a:pt x="362712" y="0"/>
                </a:lnTo>
                <a:close/>
              </a:path>
              <a:path w="1259204" h="329564">
                <a:moveTo>
                  <a:pt x="396239" y="0"/>
                </a:moveTo>
                <a:lnTo>
                  <a:pt x="377951" y="0"/>
                </a:lnTo>
                <a:lnTo>
                  <a:pt x="377951" y="4571"/>
                </a:lnTo>
                <a:lnTo>
                  <a:pt x="396239" y="4571"/>
                </a:lnTo>
                <a:lnTo>
                  <a:pt x="396239" y="0"/>
                </a:lnTo>
                <a:close/>
              </a:path>
              <a:path w="1259204" h="329564">
                <a:moveTo>
                  <a:pt x="429767" y="0"/>
                </a:moveTo>
                <a:lnTo>
                  <a:pt x="411479" y="0"/>
                </a:lnTo>
                <a:lnTo>
                  <a:pt x="411479" y="4571"/>
                </a:lnTo>
                <a:lnTo>
                  <a:pt x="429767" y="4571"/>
                </a:lnTo>
                <a:lnTo>
                  <a:pt x="429767" y="0"/>
                </a:lnTo>
                <a:close/>
              </a:path>
              <a:path w="1259204" h="329564">
                <a:moveTo>
                  <a:pt x="463296" y="0"/>
                </a:moveTo>
                <a:lnTo>
                  <a:pt x="443484" y="0"/>
                </a:lnTo>
                <a:lnTo>
                  <a:pt x="443484" y="4571"/>
                </a:lnTo>
                <a:lnTo>
                  <a:pt x="463296" y="4571"/>
                </a:lnTo>
                <a:lnTo>
                  <a:pt x="463296" y="0"/>
                </a:lnTo>
                <a:close/>
              </a:path>
              <a:path w="1259204" h="329564">
                <a:moveTo>
                  <a:pt x="496824" y="0"/>
                </a:moveTo>
                <a:lnTo>
                  <a:pt x="477012" y="0"/>
                </a:lnTo>
                <a:lnTo>
                  <a:pt x="477012" y="4571"/>
                </a:lnTo>
                <a:lnTo>
                  <a:pt x="496824" y="4571"/>
                </a:lnTo>
                <a:lnTo>
                  <a:pt x="496824" y="0"/>
                </a:lnTo>
                <a:close/>
              </a:path>
              <a:path w="1259204" h="329564">
                <a:moveTo>
                  <a:pt x="530351" y="0"/>
                </a:moveTo>
                <a:lnTo>
                  <a:pt x="510539" y="0"/>
                </a:lnTo>
                <a:lnTo>
                  <a:pt x="510539" y="4571"/>
                </a:lnTo>
                <a:lnTo>
                  <a:pt x="530351" y="4571"/>
                </a:lnTo>
                <a:lnTo>
                  <a:pt x="530351" y="0"/>
                </a:lnTo>
                <a:close/>
              </a:path>
              <a:path w="1259204" h="329564">
                <a:moveTo>
                  <a:pt x="563879" y="0"/>
                </a:moveTo>
                <a:lnTo>
                  <a:pt x="544067" y="0"/>
                </a:lnTo>
                <a:lnTo>
                  <a:pt x="544067" y="4571"/>
                </a:lnTo>
                <a:lnTo>
                  <a:pt x="563879" y="4571"/>
                </a:lnTo>
                <a:lnTo>
                  <a:pt x="563879" y="0"/>
                </a:lnTo>
                <a:close/>
              </a:path>
              <a:path w="1259204" h="329564">
                <a:moveTo>
                  <a:pt x="595884" y="0"/>
                </a:moveTo>
                <a:lnTo>
                  <a:pt x="577596" y="0"/>
                </a:lnTo>
                <a:lnTo>
                  <a:pt x="577596" y="4571"/>
                </a:lnTo>
                <a:lnTo>
                  <a:pt x="595884" y="4571"/>
                </a:lnTo>
                <a:lnTo>
                  <a:pt x="595884" y="0"/>
                </a:lnTo>
                <a:close/>
              </a:path>
              <a:path w="1259204" h="329564">
                <a:moveTo>
                  <a:pt x="629412" y="0"/>
                </a:moveTo>
                <a:lnTo>
                  <a:pt x="611124" y="0"/>
                </a:lnTo>
                <a:lnTo>
                  <a:pt x="611124" y="4571"/>
                </a:lnTo>
                <a:lnTo>
                  <a:pt x="629412" y="4571"/>
                </a:lnTo>
                <a:lnTo>
                  <a:pt x="629412" y="0"/>
                </a:lnTo>
                <a:close/>
              </a:path>
              <a:path w="1259204" h="329564">
                <a:moveTo>
                  <a:pt x="662939" y="0"/>
                </a:moveTo>
                <a:lnTo>
                  <a:pt x="644651" y="0"/>
                </a:lnTo>
                <a:lnTo>
                  <a:pt x="644651" y="4571"/>
                </a:lnTo>
                <a:lnTo>
                  <a:pt x="662939" y="4571"/>
                </a:lnTo>
                <a:lnTo>
                  <a:pt x="662939" y="0"/>
                </a:lnTo>
                <a:close/>
              </a:path>
              <a:path w="1259204" h="329564">
                <a:moveTo>
                  <a:pt x="696467" y="0"/>
                </a:moveTo>
                <a:lnTo>
                  <a:pt x="678179" y="0"/>
                </a:lnTo>
                <a:lnTo>
                  <a:pt x="678179" y="4571"/>
                </a:lnTo>
                <a:lnTo>
                  <a:pt x="696467" y="4571"/>
                </a:lnTo>
                <a:lnTo>
                  <a:pt x="696467" y="0"/>
                </a:lnTo>
                <a:close/>
              </a:path>
              <a:path w="1259204" h="329564">
                <a:moveTo>
                  <a:pt x="729996" y="0"/>
                </a:moveTo>
                <a:lnTo>
                  <a:pt x="710184" y="0"/>
                </a:lnTo>
                <a:lnTo>
                  <a:pt x="710184" y="4571"/>
                </a:lnTo>
                <a:lnTo>
                  <a:pt x="729996" y="4571"/>
                </a:lnTo>
                <a:lnTo>
                  <a:pt x="729996" y="0"/>
                </a:lnTo>
                <a:close/>
              </a:path>
              <a:path w="1259204" h="329564">
                <a:moveTo>
                  <a:pt x="763524" y="0"/>
                </a:moveTo>
                <a:lnTo>
                  <a:pt x="743712" y="0"/>
                </a:lnTo>
                <a:lnTo>
                  <a:pt x="743712" y="4571"/>
                </a:lnTo>
                <a:lnTo>
                  <a:pt x="763524" y="4571"/>
                </a:lnTo>
                <a:lnTo>
                  <a:pt x="763524" y="0"/>
                </a:lnTo>
                <a:close/>
              </a:path>
              <a:path w="1259204" h="329564">
                <a:moveTo>
                  <a:pt x="797051" y="0"/>
                </a:moveTo>
                <a:lnTo>
                  <a:pt x="777239" y="0"/>
                </a:lnTo>
                <a:lnTo>
                  <a:pt x="777239" y="4571"/>
                </a:lnTo>
                <a:lnTo>
                  <a:pt x="797051" y="4571"/>
                </a:lnTo>
                <a:lnTo>
                  <a:pt x="797051" y="0"/>
                </a:lnTo>
                <a:close/>
              </a:path>
              <a:path w="1259204" h="329564">
                <a:moveTo>
                  <a:pt x="830579" y="0"/>
                </a:moveTo>
                <a:lnTo>
                  <a:pt x="810767" y="0"/>
                </a:lnTo>
                <a:lnTo>
                  <a:pt x="810767" y="4571"/>
                </a:lnTo>
                <a:lnTo>
                  <a:pt x="830579" y="4571"/>
                </a:lnTo>
                <a:lnTo>
                  <a:pt x="830579" y="0"/>
                </a:lnTo>
                <a:close/>
              </a:path>
              <a:path w="1259204" h="329564">
                <a:moveTo>
                  <a:pt x="862584" y="0"/>
                </a:moveTo>
                <a:lnTo>
                  <a:pt x="844296" y="0"/>
                </a:lnTo>
                <a:lnTo>
                  <a:pt x="844296" y="4571"/>
                </a:lnTo>
                <a:lnTo>
                  <a:pt x="862584" y="4571"/>
                </a:lnTo>
                <a:lnTo>
                  <a:pt x="862584" y="0"/>
                </a:lnTo>
                <a:close/>
              </a:path>
              <a:path w="1259204" h="329564">
                <a:moveTo>
                  <a:pt x="896112" y="0"/>
                </a:moveTo>
                <a:lnTo>
                  <a:pt x="877824" y="0"/>
                </a:lnTo>
                <a:lnTo>
                  <a:pt x="877824" y="4571"/>
                </a:lnTo>
                <a:lnTo>
                  <a:pt x="896112" y="4571"/>
                </a:lnTo>
                <a:lnTo>
                  <a:pt x="896112" y="0"/>
                </a:lnTo>
                <a:close/>
              </a:path>
              <a:path w="1259204" h="329564">
                <a:moveTo>
                  <a:pt x="929639" y="0"/>
                </a:moveTo>
                <a:lnTo>
                  <a:pt x="911351" y="0"/>
                </a:lnTo>
                <a:lnTo>
                  <a:pt x="911351" y="4571"/>
                </a:lnTo>
                <a:lnTo>
                  <a:pt x="929639" y="4571"/>
                </a:lnTo>
                <a:lnTo>
                  <a:pt x="929639" y="0"/>
                </a:lnTo>
                <a:close/>
              </a:path>
              <a:path w="1259204" h="329564">
                <a:moveTo>
                  <a:pt x="963167" y="0"/>
                </a:moveTo>
                <a:lnTo>
                  <a:pt x="944879" y="0"/>
                </a:lnTo>
                <a:lnTo>
                  <a:pt x="944879" y="4571"/>
                </a:lnTo>
                <a:lnTo>
                  <a:pt x="963167" y="4571"/>
                </a:lnTo>
                <a:lnTo>
                  <a:pt x="963167" y="0"/>
                </a:lnTo>
                <a:close/>
              </a:path>
              <a:path w="1259204" h="329564">
                <a:moveTo>
                  <a:pt x="996696" y="0"/>
                </a:moveTo>
                <a:lnTo>
                  <a:pt x="976884" y="0"/>
                </a:lnTo>
                <a:lnTo>
                  <a:pt x="976884" y="4571"/>
                </a:lnTo>
                <a:lnTo>
                  <a:pt x="996696" y="4571"/>
                </a:lnTo>
                <a:lnTo>
                  <a:pt x="996696" y="0"/>
                </a:lnTo>
                <a:close/>
              </a:path>
              <a:path w="1259204" h="329564">
                <a:moveTo>
                  <a:pt x="1030224" y="0"/>
                </a:moveTo>
                <a:lnTo>
                  <a:pt x="1010412" y="0"/>
                </a:lnTo>
                <a:lnTo>
                  <a:pt x="1010412" y="4571"/>
                </a:lnTo>
                <a:lnTo>
                  <a:pt x="1030224" y="4571"/>
                </a:lnTo>
                <a:lnTo>
                  <a:pt x="1030224" y="0"/>
                </a:lnTo>
                <a:close/>
              </a:path>
              <a:path w="1259204" h="329564">
                <a:moveTo>
                  <a:pt x="1063752" y="0"/>
                </a:moveTo>
                <a:lnTo>
                  <a:pt x="1043939" y="0"/>
                </a:lnTo>
                <a:lnTo>
                  <a:pt x="1043939" y="4571"/>
                </a:lnTo>
                <a:lnTo>
                  <a:pt x="1063752" y="4571"/>
                </a:lnTo>
                <a:lnTo>
                  <a:pt x="1063752" y="0"/>
                </a:lnTo>
                <a:close/>
              </a:path>
              <a:path w="1259204" h="329564">
                <a:moveTo>
                  <a:pt x="1097279" y="0"/>
                </a:moveTo>
                <a:lnTo>
                  <a:pt x="1077467" y="0"/>
                </a:lnTo>
                <a:lnTo>
                  <a:pt x="1077467" y="4571"/>
                </a:lnTo>
                <a:lnTo>
                  <a:pt x="1097279" y="4571"/>
                </a:lnTo>
                <a:lnTo>
                  <a:pt x="1097279" y="0"/>
                </a:lnTo>
                <a:close/>
              </a:path>
              <a:path w="1259204" h="329564">
                <a:moveTo>
                  <a:pt x="1129284" y="0"/>
                </a:moveTo>
                <a:lnTo>
                  <a:pt x="1110996" y="0"/>
                </a:lnTo>
                <a:lnTo>
                  <a:pt x="1110996" y="4571"/>
                </a:lnTo>
                <a:lnTo>
                  <a:pt x="1129284" y="4571"/>
                </a:lnTo>
                <a:lnTo>
                  <a:pt x="1129284" y="0"/>
                </a:lnTo>
                <a:close/>
              </a:path>
              <a:path w="1259204" h="329564">
                <a:moveTo>
                  <a:pt x="1162812" y="0"/>
                </a:moveTo>
                <a:lnTo>
                  <a:pt x="1144524" y="0"/>
                </a:lnTo>
                <a:lnTo>
                  <a:pt x="1144524" y="4571"/>
                </a:lnTo>
                <a:lnTo>
                  <a:pt x="1162812" y="4571"/>
                </a:lnTo>
                <a:lnTo>
                  <a:pt x="1162812" y="0"/>
                </a:lnTo>
                <a:close/>
              </a:path>
              <a:path w="1259204" h="329564">
                <a:moveTo>
                  <a:pt x="1196339" y="0"/>
                </a:moveTo>
                <a:lnTo>
                  <a:pt x="1178052" y="0"/>
                </a:lnTo>
                <a:lnTo>
                  <a:pt x="1178052" y="4571"/>
                </a:lnTo>
                <a:lnTo>
                  <a:pt x="1196339" y="4571"/>
                </a:lnTo>
                <a:lnTo>
                  <a:pt x="1196339" y="0"/>
                </a:lnTo>
                <a:close/>
              </a:path>
              <a:path w="1259204" h="329564">
                <a:moveTo>
                  <a:pt x="1229867" y="0"/>
                </a:moveTo>
                <a:lnTo>
                  <a:pt x="1211579" y="0"/>
                </a:lnTo>
                <a:lnTo>
                  <a:pt x="1211579" y="4571"/>
                </a:lnTo>
                <a:lnTo>
                  <a:pt x="1229867" y="4571"/>
                </a:lnTo>
                <a:lnTo>
                  <a:pt x="1229867" y="0"/>
                </a:lnTo>
                <a:close/>
              </a:path>
              <a:path w="1259204" h="329564">
                <a:moveTo>
                  <a:pt x="1254252" y="1523"/>
                </a:moveTo>
                <a:lnTo>
                  <a:pt x="1254252" y="9143"/>
                </a:lnTo>
                <a:lnTo>
                  <a:pt x="1258824" y="9143"/>
                </a:lnTo>
                <a:lnTo>
                  <a:pt x="1258824" y="4571"/>
                </a:lnTo>
                <a:lnTo>
                  <a:pt x="1255776" y="4571"/>
                </a:lnTo>
                <a:lnTo>
                  <a:pt x="1254252" y="1523"/>
                </a:lnTo>
                <a:close/>
              </a:path>
              <a:path w="1259204" h="329564">
                <a:moveTo>
                  <a:pt x="1255776" y="0"/>
                </a:moveTo>
                <a:lnTo>
                  <a:pt x="1243584" y="0"/>
                </a:lnTo>
                <a:lnTo>
                  <a:pt x="1243584" y="4571"/>
                </a:lnTo>
                <a:lnTo>
                  <a:pt x="1254252" y="4571"/>
                </a:lnTo>
                <a:lnTo>
                  <a:pt x="1254252" y="1523"/>
                </a:lnTo>
                <a:lnTo>
                  <a:pt x="1258824" y="1523"/>
                </a:lnTo>
                <a:lnTo>
                  <a:pt x="1255776" y="0"/>
                </a:lnTo>
                <a:close/>
              </a:path>
              <a:path w="1259204" h="329564">
                <a:moveTo>
                  <a:pt x="1258824" y="1523"/>
                </a:moveTo>
                <a:lnTo>
                  <a:pt x="1254252" y="1523"/>
                </a:lnTo>
                <a:lnTo>
                  <a:pt x="1255776" y="4571"/>
                </a:lnTo>
                <a:lnTo>
                  <a:pt x="1258824" y="4571"/>
                </a:lnTo>
                <a:lnTo>
                  <a:pt x="1258824" y="1523"/>
                </a:lnTo>
                <a:close/>
              </a:path>
              <a:path w="1259204" h="329564">
                <a:moveTo>
                  <a:pt x="1258824" y="22859"/>
                </a:moveTo>
                <a:lnTo>
                  <a:pt x="1254252" y="22859"/>
                </a:lnTo>
                <a:lnTo>
                  <a:pt x="1254252" y="42671"/>
                </a:lnTo>
                <a:lnTo>
                  <a:pt x="1258824" y="42671"/>
                </a:lnTo>
                <a:lnTo>
                  <a:pt x="1258824" y="22859"/>
                </a:lnTo>
                <a:close/>
              </a:path>
              <a:path w="1259204" h="329564">
                <a:moveTo>
                  <a:pt x="1258824" y="56387"/>
                </a:moveTo>
                <a:lnTo>
                  <a:pt x="1254252" y="56387"/>
                </a:lnTo>
                <a:lnTo>
                  <a:pt x="1254252" y="76200"/>
                </a:lnTo>
                <a:lnTo>
                  <a:pt x="1258824" y="76200"/>
                </a:lnTo>
                <a:lnTo>
                  <a:pt x="1258824" y="56387"/>
                </a:lnTo>
                <a:close/>
              </a:path>
              <a:path w="1259204" h="329564">
                <a:moveTo>
                  <a:pt x="1258824" y="89915"/>
                </a:moveTo>
                <a:lnTo>
                  <a:pt x="1254252" y="89915"/>
                </a:lnTo>
                <a:lnTo>
                  <a:pt x="1254252" y="109727"/>
                </a:lnTo>
                <a:lnTo>
                  <a:pt x="1258824" y="109727"/>
                </a:lnTo>
                <a:lnTo>
                  <a:pt x="1258824" y="89915"/>
                </a:lnTo>
                <a:close/>
              </a:path>
              <a:path w="1259204" h="329564">
                <a:moveTo>
                  <a:pt x="1258824" y="123443"/>
                </a:moveTo>
                <a:lnTo>
                  <a:pt x="1254252" y="123443"/>
                </a:lnTo>
                <a:lnTo>
                  <a:pt x="1254252" y="141731"/>
                </a:lnTo>
                <a:lnTo>
                  <a:pt x="1258824" y="141731"/>
                </a:lnTo>
                <a:lnTo>
                  <a:pt x="1258824" y="123443"/>
                </a:lnTo>
                <a:close/>
              </a:path>
              <a:path w="1259204" h="329564">
                <a:moveTo>
                  <a:pt x="1258824" y="156971"/>
                </a:moveTo>
                <a:lnTo>
                  <a:pt x="1254252" y="156971"/>
                </a:lnTo>
                <a:lnTo>
                  <a:pt x="1254252" y="175259"/>
                </a:lnTo>
                <a:lnTo>
                  <a:pt x="1258824" y="175259"/>
                </a:lnTo>
                <a:lnTo>
                  <a:pt x="1258824" y="156971"/>
                </a:lnTo>
                <a:close/>
              </a:path>
              <a:path w="1259204" h="329564">
                <a:moveTo>
                  <a:pt x="1258824" y="190499"/>
                </a:moveTo>
                <a:lnTo>
                  <a:pt x="1254252" y="190499"/>
                </a:lnTo>
                <a:lnTo>
                  <a:pt x="1254252" y="208787"/>
                </a:lnTo>
                <a:lnTo>
                  <a:pt x="1258824" y="208787"/>
                </a:lnTo>
                <a:lnTo>
                  <a:pt x="1258824" y="190499"/>
                </a:lnTo>
                <a:close/>
              </a:path>
              <a:path w="1259204" h="329564">
                <a:moveTo>
                  <a:pt x="1258824" y="224027"/>
                </a:moveTo>
                <a:lnTo>
                  <a:pt x="1254252" y="224027"/>
                </a:lnTo>
                <a:lnTo>
                  <a:pt x="1254252" y="242315"/>
                </a:lnTo>
                <a:lnTo>
                  <a:pt x="1258824" y="242315"/>
                </a:lnTo>
                <a:lnTo>
                  <a:pt x="1258824" y="224027"/>
                </a:lnTo>
                <a:close/>
              </a:path>
              <a:path w="1259204" h="329564">
                <a:moveTo>
                  <a:pt x="1258824" y="256031"/>
                </a:moveTo>
                <a:lnTo>
                  <a:pt x="1254252" y="256031"/>
                </a:lnTo>
                <a:lnTo>
                  <a:pt x="1254252" y="275843"/>
                </a:lnTo>
                <a:lnTo>
                  <a:pt x="1258824" y="275843"/>
                </a:lnTo>
                <a:lnTo>
                  <a:pt x="1258824" y="256031"/>
                </a:lnTo>
                <a:close/>
              </a:path>
              <a:path w="1259204" h="329564">
                <a:moveTo>
                  <a:pt x="1258824" y="289559"/>
                </a:moveTo>
                <a:lnTo>
                  <a:pt x="1254252" y="289559"/>
                </a:lnTo>
                <a:lnTo>
                  <a:pt x="1254252" y="309371"/>
                </a:lnTo>
                <a:lnTo>
                  <a:pt x="1258824" y="309371"/>
                </a:lnTo>
                <a:lnTo>
                  <a:pt x="1258824" y="289559"/>
                </a:lnTo>
                <a:close/>
              </a:path>
              <a:path w="1259204" h="329564">
                <a:moveTo>
                  <a:pt x="1254252" y="324611"/>
                </a:moveTo>
                <a:lnTo>
                  <a:pt x="1240536" y="324611"/>
                </a:lnTo>
                <a:lnTo>
                  <a:pt x="1240536" y="329183"/>
                </a:lnTo>
                <a:lnTo>
                  <a:pt x="1255776" y="329183"/>
                </a:lnTo>
                <a:lnTo>
                  <a:pt x="1258824" y="326135"/>
                </a:lnTo>
                <a:lnTo>
                  <a:pt x="1254252" y="326135"/>
                </a:lnTo>
                <a:lnTo>
                  <a:pt x="1254252" y="324611"/>
                </a:lnTo>
                <a:close/>
              </a:path>
              <a:path w="1259204" h="329564">
                <a:moveTo>
                  <a:pt x="1258824" y="323087"/>
                </a:moveTo>
                <a:lnTo>
                  <a:pt x="1254252" y="323087"/>
                </a:lnTo>
                <a:lnTo>
                  <a:pt x="1254252" y="326135"/>
                </a:lnTo>
                <a:lnTo>
                  <a:pt x="1255776" y="324611"/>
                </a:lnTo>
                <a:lnTo>
                  <a:pt x="1258824" y="324611"/>
                </a:lnTo>
                <a:lnTo>
                  <a:pt x="1258824" y="323087"/>
                </a:lnTo>
                <a:close/>
              </a:path>
              <a:path w="1259204" h="329564">
                <a:moveTo>
                  <a:pt x="1258824" y="324611"/>
                </a:moveTo>
                <a:lnTo>
                  <a:pt x="1255776" y="324611"/>
                </a:lnTo>
                <a:lnTo>
                  <a:pt x="1254252" y="326135"/>
                </a:lnTo>
                <a:lnTo>
                  <a:pt x="1258824" y="326135"/>
                </a:lnTo>
                <a:lnTo>
                  <a:pt x="1258824" y="324611"/>
                </a:lnTo>
                <a:close/>
              </a:path>
              <a:path w="1259204" h="329564">
                <a:moveTo>
                  <a:pt x="1226820" y="324611"/>
                </a:moveTo>
                <a:lnTo>
                  <a:pt x="1207008" y="324611"/>
                </a:lnTo>
                <a:lnTo>
                  <a:pt x="1207008" y="329183"/>
                </a:lnTo>
                <a:lnTo>
                  <a:pt x="1226820" y="329183"/>
                </a:lnTo>
                <a:lnTo>
                  <a:pt x="1226820" y="324611"/>
                </a:lnTo>
                <a:close/>
              </a:path>
              <a:path w="1259204" h="329564">
                <a:moveTo>
                  <a:pt x="1193291" y="324611"/>
                </a:moveTo>
                <a:lnTo>
                  <a:pt x="1173479" y="324611"/>
                </a:lnTo>
                <a:lnTo>
                  <a:pt x="1173479" y="329183"/>
                </a:lnTo>
                <a:lnTo>
                  <a:pt x="1193291" y="329183"/>
                </a:lnTo>
                <a:lnTo>
                  <a:pt x="1193291" y="324611"/>
                </a:lnTo>
                <a:close/>
              </a:path>
              <a:path w="1259204" h="329564">
                <a:moveTo>
                  <a:pt x="1159764" y="324611"/>
                </a:moveTo>
                <a:lnTo>
                  <a:pt x="1139952" y="324611"/>
                </a:lnTo>
                <a:lnTo>
                  <a:pt x="1139952" y="329183"/>
                </a:lnTo>
                <a:lnTo>
                  <a:pt x="1159764" y="329183"/>
                </a:lnTo>
                <a:lnTo>
                  <a:pt x="1159764" y="324611"/>
                </a:lnTo>
                <a:close/>
              </a:path>
              <a:path w="1259204" h="329564">
                <a:moveTo>
                  <a:pt x="1126236" y="324611"/>
                </a:moveTo>
                <a:lnTo>
                  <a:pt x="1106424" y="324611"/>
                </a:lnTo>
                <a:lnTo>
                  <a:pt x="1106424" y="329183"/>
                </a:lnTo>
                <a:lnTo>
                  <a:pt x="1126236" y="329183"/>
                </a:lnTo>
                <a:lnTo>
                  <a:pt x="1126236" y="324611"/>
                </a:lnTo>
                <a:close/>
              </a:path>
              <a:path w="1259204" h="329564">
                <a:moveTo>
                  <a:pt x="1092708" y="324611"/>
                </a:moveTo>
                <a:lnTo>
                  <a:pt x="1074420" y="324611"/>
                </a:lnTo>
                <a:lnTo>
                  <a:pt x="1074420" y="329183"/>
                </a:lnTo>
                <a:lnTo>
                  <a:pt x="1092708" y="329183"/>
                </a:lnTo>
                <a:lnTo>
                  <a:pt x="1092708" y="324611"/>
                </a:lnTo>
                <a:close/>
              </a:path>
              <a:path w="1259204" h="329564">
                <a:moveTo>
                  <a:pt x="1059179" y="324611"/>
                </a:moveTo>
                <a:lnTo>
                  <a:pt x="1040891" y="324611"/>
                </a:lnTo>
                <a:lnTo>
                  <a:pt x="1040891" y="329183"/>
                </a:lnTo>
                <a:lnTo>
                  <a:pt x="1059179" y="329183"/>
                </a:lnTo>
                <a:lnTo>
                  <a:pt x="1059179" y="324611"/>
                </a:lnTo>
                <a:close/>
              </a:path>
              <a:path w="1259204" h="329564">
                <a:moveTo>
                  <a:pt x="1025651" y="324611"/>
                </a:moveTo>
                <a:lnTo>
                  <a:pt x="1007363" y="324611"/>
                </a:lnTo>
                <a:lnTo>
                  <a:pt x="1007363" y="329183"/>
                </a:lnTo>
                <a:lnTo>
                  <a:pt x="1025651" y="329183"/>
                </a:lnTo>
                <a:lnTo>
                  <a:pt x="1025651" y="324611"/>
                </a:lnTo>
                <a:close/>
              </a:path>
              <a:path w="1259204" h="329564">
                <a:moveTo>
                  <a:pt x="992124" y="324611"/>
                </a:moveTo>
                <a:lnTo>
                  <a:pt x="973836" y="324611"/>
                </a:lnTo>
                <a:lnTo>
                  <a:pt x="973836" y="329183"/>
                </a:lnTo>
                <a:lnTo>
                  <a:pt x="992124" y="329183"/>
                </a:lnTo>
                <a:lnTo>
                  <a:pt x="992124" y="324611"/>
                </a:lnTo>
                <a:close/>
              </a:path>
              <a:path w="1259204" h="329564">
                <a:moveTo>
                  <a:pt x="960120" y="324611"/>
                </a:moveTo>
                <a:lnTo>
                  <a:pt x="940308" y="324611"/>
                </a:lnTo>
                <a:lnTo>
                  <a:pt x="940308" y="329183"/>
                </a:lnTo>
                <a:lnTo>
                  <a:pt x="960120" y="329183"/>
                </a:lnTo>
                <a:lnTo>
                  <a:pt x="960120" y="324611"/>
                </a:lnTo>
                <a:close/>
              </a:path>
              <a:path w="1259204" h="329564">
                <a:moveTo>
                  <a:pt x="926591" y="324611"/>
                </a:moveTo>
                <a:lnTo>
                  <a:pt x="906779" y="324611"/>
                </a:lnTo>
                <a:lnTo>
                  <a:pt x="906779" y="329183"/>
                </a:lnTo>
                <a:lnTo>
                  <a:pt x="926591" y="329183"/>
                </a:lnTo>
                <a:lnTo>
                  <a:pt x="926591" y="324611"/>
                </a:lnTo>
                <a:close/>
              </a:path>
              <a:path w="1259204" h="329564">
                <a:moveTo>
                  <a:pt x="893063" y="324611"/>
                </a:moveTo>
                <a:lnTo>
                  <a:pt x="873251" y="324611"/>
                </a:lnTo>
                <a:lnTo>
                  <a:pt x="873251" y="329183"/>
                </a:lnTo>
                <a:lnTo>
                  <a:pt x="893063" y="329183"/>
                </a:lnTo>
                <a:lnTo>
                  <a:pt x="893063" y="324611"/>
                </a:lnTo>
                <a:close/>
              </a:path>
              <a:path w="1259204" h="329564">
                <a:moveTo>
                  <a:pt x="859536" y="324611"/>
                </a:moveTo>
                <a:lnTo>
                  <a:pt x="839724" y="324611"/>
                </a:lnTo>
                <a:lnTo>
                  <a:pt x="839724" y="329183"/>
                </a:lnTo>
                <a:lnTo>
                  <a:pt x="859536" y="329183"/>
                </a:lnTo>
                <a:lnTo>
                  <a:pt x="859536" y="324611"/>
                </a:lnTo>
                <a:close/>
              </a:path>
              <a:path w="1259204" h="329564">
                <a:moveTo>
                  <a:pt x="826008" y="324611"/>
                </a:moveTo>
                <a:lnTo>
                  <a:pt x="807720" y="324611"/>
                </a:lnTo>
                <a:lnTo>
                  <a:pt x="807720" y="329183"/>
                </a:lnTo>
                <a:lnTo>
                  <a:pt x="826008" y="329183"/>
                </a:lnTo>
                <a:lnTo>
                  <a:pt x="826008" y="324611"/>
                </a:lnTo>
                <a:close/>
              </a:path>
              <a:path w="1259204" h="329564">
                <a:moveTo>
                  <a:pt x="792479" y="324611"/>
                </a:moveTo>
                <a:lnTo>
                  <a:pt x="774191" y="324611"/>
                </a:lnTo>
                <a:lnTo>
                  <a:pt x="774191" y="329183"/>
                </a:lnTo>
                <a:lnTo>
                  <a:pt x="792479" y="329183"/>
                </a:lnTo>
                <a:lnTo>
                  <a:pt x="792479" y="324611"/>
                </a:lnTo>
                <a:close/>
              </a:path>
              <a:path w="1259204" h="329564">
                <a:moveTo>
                  <a:pt x="758951" y="324611"/>
                </a:moveTo>
                <a:lnTo>
                  <a:pt x="740663" y="324611"/>
                </a:lnTo>
                <a:lnTo>
                  <a:pt x="740663" y="329183"/>
                </a:lnTo>
                <a:lnTo>
                  <a:pt x="758951" y="329183"/>
                </a:lnTo>
                <a:lnTo>
                  <a:pt x="758951" y="324611"/>
                </a:lnTo>
                <a:close/>
              </a:path>
              <a:path w="1259204" h="329564">
                <a:moveTo>
                  <a:pt x="725424" y="324611"/>
                </a:moveTo>
                <a:lnTo>
                  <a:pt x="707136" y="324611"/>
                </a:lnTo>
                <a:lnTo>
                  <a:pt x="707136" y="329183"/>
                </a:lnTo>
                <a:lnTo>
                  <a:pt x="725424" y="329183"/>
                </a:lnTo>
                <a:lnTo>
                  <a:pt x="725424" y="324611"/>
                </a:lnTo>
                <a:close/>
              </a:path>
              <a:path w="1259204" h="329564">
                <a:moveTo>
                  <a:pt x="693420" y="324611"/>
                </a:moveTo>
                <a:lnTo>
                  <a:pt x="673608" y="324611"/>
                </a:lnTo>
                <a:lnTo>
                  <a:pt x="673608" y="329183"/>
                </a:lnTo>
                <a:lnTo>
                  <a:pt x="693420" y="329183"/>
                </a:lnTo>
                <a:lnTo>
                  <a:pt x="693420" y="324611"/>
                </a:lnTo>
                <a:close/>
              </a:path>
              <a:path w="1259204" h="329564">
                <a:moveTo>
                  <a:pt x="659891" y="324611"/>
                </a:moveTo>
                <a:lnTo>
                  <a:pt x="640079" y="324611"/>
                </a:lnTo>
                <a:lnTo>
                  <a:pt x="640079" y="329183"/>
                </a:lnTo>
                <a:lnTo>
                  <a:pt x="659891" y="329183"/>
                </a:lnTo>
                <a:lnTo>
                  <a:pt x="659891" y="324611"/>
                </a:lnTo>
                <a:close/>
              </a:path>
              <a:path w="1259204" h="329564">
                <a:moveTo>
                  <a:pt x="626363" y="324611"/>
                </a:moveTo>
                <a:lnTo>
                  <a:pt x="606551" y="324611"/>
                </a:lnTo>
                <a:lnTo>
                  <a:pt x="606551" y="329183"/>
                </a:lnTo>
                <a:lnTo>
                  <a:pt x="626363" y="329183"/>
                </a:lnTo>
                <a:lnTo>
                  <a:pt x="626363" y="324611"/>
                </a:lnTo>
                <a:close/>
              </a:path>
              <a:path w="1259204" h="329564">
                <a:moveTo>
                  <a:pt x="592836" y="324611"/>
                </a:moveTo>
                <a:lnTo>
                  <a:pt x="573024" y="324611"/>
                </a:lnTo>
                <a:lnTo>
                  <a:pt x="573024" y="329183"/>
                </a:lnTo>
                <a:lnTo>
                  <a:pt x="592836" y="329183"/>
                </a:lnTo>
                <a:lnTo>
                  <a:pt x="592836" y="324611"/>
                </a:lnTo>
                <a:close/>
              </a:path>
              <a:path w="1259204" h="329564">
                <a:moveTo>
                  <a:pt x="559308" y="324611"/>
                </a:moveTo>
                <a:lnTo>
                  <a:pt x="541020" y="324611"/>
                </a:lnTo>
                <a:lnTo>
                  <a:pt x="541020" y="329183"/>
                </a:lnTo>
                <a:lnTo>
                  <a:pt x="559308" y="329183"/>
                </a:lnTo>
                <a:lnTo>
                  <a:pt x="559308" y="324611"/>
                </a:lnTo>
                <a:close/>
              </a:path>
              <a:path w="1259204" h="329564">
                <a:moveTo>
                  <a:pt x="525779" y="324611"/>
                </a:moveTo>
                <a:lnTo>
                  <a:pt x="507491" y="324611"/>
                </a:lnTo>
                <a:lnTo>
                  <a:pt x="507491" y="329183"/>
                </a:lnTo>
                <a:lnTo>
                  <a:pt x="525779" y="329183"/>
                </a:lnTo>
                <a:lnTo>
                  <a:pt x="525779" y="324611"/>
                </a:lnTo>
                <a:close/>
              </a:path>
              <a:path w="1259204" h="329564">
                <a:moveTo>
                  <a:pt x="492251" y="324611"/>
                </a:moveTo>
                <a:lnTo>
                  <a:pt x="473963" y="324611"/>
                </a:lnTo>
                <a:lnTo>
                  <a:pt x="473963" y="329183"/>
                </a:lnTo>
                <a:lnTo>
                  <a:pt x="492251" y="329183"/>
                </a:lnTo>
                <a:lnTo>
                  <a:pt x="492251" y="324611"/>
                </a:lnTo>
                <a:close/>
              </a:path>
              <a:path w="1259204" h="329564">
                <a:moveTo>
                  <a:pt x="458724" y="324611"/>
                </a:moveTo>
                <a:lnTo>
                  <a:pt x="440436" y="324611"/>
                </a:lnTo>
                <a:lnTo>
                  <a:pt x="440436" y="329183"/>
                </a:lnTo>
                <a:lnTo>
                  <a:pt x="458724" y="329183"/>
                </a:lnTo>
                <a:lnTo>
                  <a:pt x="458724" y="324611"/>
                </a:lnTo>
                <a:close/>
              </a:path>
              <a:path w="1259204" h="329564">
                <a:moveTo>
                  <a:pt x="426720" y="324611"/>
                </a:moveTo>
                <a:lnTo>
                  <a:pt x="406908" y="324611"/>
                </a:lnTo>
                <a:lnTo>
                  <a:pt x="406908" y="329183"/>
                </a:lnTo>
                <a:lnTo>
                  <a:pt x="426720" y="329183"/>
                </a:lnTo>
                <a:lnTo>
                  <a:pt x="426720" y="324611"/>
                </a:lnTo>
                <a:close/>
              </a:path>
              <a:path w="1259204" h="329564">
                <a:moveTo>
                  <a:pt x="393191" y="324611"/>
                </a:moveTo>
                <a:lnTo>
                  <a:pt x="373379" y="324611"/>
                </a:lnTo>
                <a:lnTo>
                  <a:pt x="373379" y="329183"/>
                </a:lnTo>
                <a:lnTo>
                  <a:pt x="393191" y="329183"/>
                </a:lnTo>
                <a:lnTo>
                  <a:pt x="393191" y="324611"/>
                </a:lnTo>
                <a:close/>
              </a:path>
              <a:path w="1259204" h="329564">
                <a:moveTo>
                  <a:pt x="359663" y="324611"/>
                </a:moveTo>
                <a:lnTo>
                  <a:pt x="339851" y="324611"/>
                </a:lnTo>
                <a:lnTo>
                  <a:pt x="339851" y="329183"/>
                </a:lnTo>
                <a:lnTo>
                  <a:pt x="359663" y="329183"/>
                </a:lnTo>
                <a:lnTo>
                  <a:pt x="359663" y="324611"/>
                </a:lnTo>
                <a:close/>
              </a:path>
              <a:path w="1259204" h="329564">
                <a:moveTo>
                  <a:pt x="326136" y="324611"/>
                </a:moveTo>
                <a:lnTo>
                  <a:pt x="306324" y="324611"/>
                </a:lnTo>
                <a:lnTo>
                  <a:pt x="306324" y="329183"/>
                </a:lnTo>
                <a:lnTo>
                  <a:pt x="326136" y="329183"/>
                </a:lnTo>
                <a:lnTo>
                  <a:pt x="326136" y="324611"/>
                </a:lnTo>
                <a:close/>
              </a:path>
              <a:path w="1259204" h="329564">
                <a:moveTo>
                  <a:pt x="292608" y="324611"/>
                </a:moveTo>
                <a:lnTo>
                  <a:pt x="274320" y="324611"/>
                </a:lnTo>
                <a:lnTo>
                  <a:pt x="274320" y="329183"/>
                </a:lnTo>
                <a:lnTo>
                  <a:pt x="292608" y="329183"/>
                </a:lnTo>
                <a:lnTo>
                  <a:pt x="292608" y="324611"/>
                </a:lnTo>
                <a:close/>
              </a:path>
              <a:path w="1259204" h="329564">
                <a:moveTo>
                  <a:pt x="259079" y="324611"/>
                </a:moveTo>
                <a:lnTo>
                  <a:pt x="240791" y="324611"/>
                </a:lnTo>
                <a:lnTo>
                  <a:pt x="240791" y="329183"/>
                </a:lnTo>
                <a:lnTo>
                  <a:pt x="259079" y="329183"/>
                </a:lnTo>
                <a:lnTo>
                  <a:pt x="259079" y="324611"/>
                </a:lnTo>
                <a:close/>
              </a:path>
              <a:path w="1259204" h="329564">
                <a:moveTo>
                  <a:pt x="225551" y="324611"/>
                </a:moveTo>
                <a:lnTo>
                  <a:pt x="207263" y="324611"/>
                </a:lnTo>
                <a:lnTo>
                  <a:pt x="207263" y="329183"/>
                </a:lnTo>
                <a:lnTo>
                  <a:pt x="225551" y="329183"/>
                </a:lnTo>
                <a:lnTo>
                  <a:pt x="225551" y="324611"/>
                </a:lnTo>
                <a:close/>
              </a:path>
              <a:path w="1259204" h="329564">
                <a:moveTo>
                  <a:pt x="192024" y="324611"/>
                </a:moveTo>
                <a:lnTo>
                  <a:pt x="173736" y="324611"/>
                </a:lnTo>
                <a:lnTo>
                  <a:pt x="173736" y="329183"/>
                </a:lnTo>
                <a:lnTo>
                  <a:pt x="192024" y="329183"/>
                </a:lnTo>
                <a:lnTo>
                  <a:pt x="192024" y="324611"/>
                </a:lnTo>
                <a:close/>
              </a:path>
              <a:path w="1259204" h="329564">
                <a:moveTo>
                  <a:pt x="160020" y="324611"/>
                </a:moveTo>
                <a:lnTo>
                  <a:pt x="140208" y="324611"/>
                </a:lnTo>
                <a:lnTo>
                  <a:pt x="140208" y="329183"/>
                </a:lnTo>
                <a:lnTo>
                  <a:pt x="160020" y="329183"/>
                </a:lnTo>
                <a:lnTo>
                  <a:pt x="160020" y="324611"/>
                </a:lnTo>
                <a:close/>
              </a:path>
              <a:path w="1259204" h="329564">
                <a:moveTo>
                  <a:pt x="126492" y="324611"/>
                </a:moveTo>
                <a:lnTo>
                  <a:pt x="106680" y="324611"/>
                </a:lnTo>
                <a:lnTo>
                  <a:pt x="106680" y="329183"/>
                </a:lnTo>
                <a:lnTo>
                  <a:pt x="126492" y="329183"/>
                </a:lnTo>
                <a:lnTo>
                  <a:pt x="126492" y="324611"/>
                </a:lnTo>
                <a:close/>
              </a:path>
              <a:path w="1259204" h="329564">
                <a:moveTo>
                  <a:pt x="92963" y="324611"/>
                </a:moveTo>
                <a:lnTo>
                  <a:pt x="73151" y="324611"/>
                </a:lnTo>
                <a:lnTo>
                  <a:pt x="73151" y="329183"/>
                </a:lnTo>
                <a:lnTo>
                  <a:pt x="92963" y="329183"/>
                </a:lnTo>
                <a:lnTo>
                  <a:pt x="92963" y="324611"/>
                </a:lnTo>
                <a:close/>
              </a:path>
              <a:path w="1259204" h="329564">
                <a:moveTo>
                  <a:pt x="59436" y="324611"/>
                </a:moveTo>
                <a:lnTo>
                  <a:pt x="39624" y="324611"/>
                </a:lnTo>
                <a:lnTo>
                  <a:pt x="39624" y="329183"/>
                </a:lnTo>
                <a:lnTo>
                  <a:pt x="59436" y="329183"/>
                </a:lnTo>
                <a:lnTo>
                  <a:pt x="59436" y="324611"/>
                </a:lnTo>
                <a:close/>
              </a:path>
              <a:path w="1259204" h="329564">
                <a:moveTo>
                  <a:pt x="25907" y="324611"/>
                </a:moveTo>
                <a:lnTo>
                  <a:pt x="7619" y="324611"/>
                </a:lnTo>
                <a:lnTo>
                  <a:pt x="7619" y="329183"/>
                </a:lnTo>
                <a:lnTo>
                  <a:pt x="25907" y="329183"/>
                </a:lnTo>
                <a:lnTo>
                  <a:pt x="25907" y="3246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 txBox="1"/>
          <p:nvPr/>
        </p:nvSpPr>
        <p:spPr>
          <a:xfrm>
            <a:off x="2402782" y="2809106"/>
            <a:ext cx="1168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防止分母为零的参数，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3806386" y="2771045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学习率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0" name="object 310"/>
          <p:cNvSpPr txBox="1"/>
          <p:nvPr/>
        </p:nvSpPr>
        <p:spPr>
          <a:xfrm>
            <a:off x="3577786" y="2562218"/>
            <a:ext cx="9226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1190" algn="l"/>
              </a:tabLst>
            </a:pPr>
            <a:r>
              <a:rPr sz="9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    </a:t>
            </a:r>
            <a:r>
              <a:rPr sz="900" i="1" spc="-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01	</a:t>
            </a:r>
            <a:r>
              <a:rPr sz="900" i="1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00" i="1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11" name="object 311"/>
          <p:cNvSpPr txBox="1"/>
          <p:nvPr/>
        </p:nvSpPr>
        <p:spPr>
          <a:xfrm>
            <a:off x="4882281" y="1452754"/>
            <a:ext cx="144780" cy="85471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（不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要参</a:t>
            </a:r>
            <a:r>
              <a:rPr sz="900" spc="-1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2" name="object 312"/>
          <p:cNvSpPr txBox="1"/>
          <p:nvPr/>
        </p:nvSpPr>
        <p:spPr>
          <a:xfrm>
            <a:off x="4751228" y="1719561"/>
            <a:ext cx="114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30" dirty="0">
                <a:latin typeface="Cambria Math" panose="02040503050406030204"/>
                <a:cs typeface="Cambria Math" panose="02040503050406030204"/>
              </a:rPr>
              <a:t>6</a:t>
            </a:r>
            <a:endParaRPr sz="1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13" name="object 313"/>
          <p:cNvSpPr txBox="1"/>
          <p:nvPr/>
        </p:nvSpPr>
        <p:spPr>
          <a:xfrm>
            <a:off x="104600" y="1613782"/>
            <a:ext cx="787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试了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个不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率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4" name="object 314"/>
          <p:cNvSpPr txBox="1"/>
          <p:nvPr/>
        </p:nvSpPr>
        <p:spPr>
          <a:xfrm>
            <a:off x="5191602" y="1569383"/>
            <a:ext cx="7880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尝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试了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九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个不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率！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5" name="object 315"/>
          <p:cNvSpPr/>
          <p:nvPr/>
        </p:nvSpPr>
        <p:spPr>
          <a:xfrm>
            <a:off x="4265579" y="415449"/>
            <a:ext cx="685800" cy="544195"/>
          </a:xfrm>
          <a:custGeom>
            <a:avLst/>
            <a:gdLst/>
            <a:ahLst/>
            <a:cxnLst/>
            <a:rect l="l" t="t" r="r" b="b"/>
            <a:pathLst>
              <a:path w="685800" h="544194">
                <a:moveTo>
                  <a:pt x="86868" y="204216"/>
                </a:moveTo>
                <a:lnTo>
                  <a:pt x="0" y="298703"/>
                </a:lnTo>
                <a:lnTo>
                  <a:pt x="262128" y="544068"/>
                </a:lnTo>
                <a:lnTo>
                  <a:pt x="431596" y="361187"/>
                </a:lnTo>
                <a:lnTo>
                  <a:pt x="256032" y="361187"/>
                </a:lnTo>
                <a:lnTo>
                  <a:pt x="86868" y="204216"/>
                </a:lnTo>
                <a:close/>
              </a:path>
              <a:path w="685800" h="544194">
                <a:moveTo>
                  <a:pt x="591312" y="0"/>
                </a:moveTo>
                <a:lnTo>
                  <a:pt x="256032" y="361187"/>
                </a:lnTo>
                <a:lnTo>
                  <a:pt x="431596" y="361187"/>
                </a:lnTo>
                <a:lnTo>
                  <a:pt x="685800" y="86868"/>
                </a:lnTo>
                <a:lnTo>
                  <a:pt x="5913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4265579" y="415449"/>
            <a:ext cx="685800" cy="544195"/>
          </a:xfrm>
          <a:custGeom>
            <a:avLst/>
            <a:gdLst/>
            <a:ahLst/>
            <a:cxnLst/>
            <a:rect l="l" t="t" r="r" b="b"/>
            <a:pathLst>
              <a:path w="685800" h="544194">
                <a:moveTo>
                  <a:pt x="0" y="298703"/>
                </a:moveTo>
                <a:lnTo>
                  <a:pt x="86867" y="204215"/>
                </a:lnTo>
                <a:lnTo>
                  <a:pt x="256031" y="361187"/>
                </a:lnTo>
                <a:lnTo>
                  <a:pt x="591311" y="0"/>
                </a:lnTo>
                <a:lnTo>
                  <a:pt x="685799" y="86867"/>
                </a:lnTo>
                <a:lnTo>
                  <a:pt x="262127" y="544067"/>
                </a:lnTo>
                <a:lnTo>
                  <a:pt x="0" y="29870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 txBox="1"/>
          <p:nvPr/>
        </p:nvSpPr>
        <p:spPr>
          <a:xfrm>
            <a:off x="1660517" y="547567"/>
            <a:ext cx="4845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格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搜索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8" name="object 318"/>
          <p:cNvSpPr/>
          <p:nvPr/>
        </p:nvSpPr>
        <p:spPr>
          <a:xfrm>
            <a:off x="1673256" y="683673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5">
                <a:moveTo>
                  <a:pt x="0" y="0"/>
                </a:moveTo>
                <a:lnTo>
                  <a:pt x="45872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 txBox="1"/>
          <p:nvPr/>
        </p:nvSpPr>
        <p:spPr>
          <a:xfrm>
            <a:off x="2402782" y="2951136"/>
            <a:ext cx="995044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i="1" spc="50" dirty="0">
                <a:latin typeface="Cambria Math" panose="02040503050406030204"/>
                <a:cs typeface="Cambria Math" panose="02040503050406030204"/>
              </a:rPr>
              <a:t>o(10</a:t>
            </a:r>
            <a:r>
              <a:rPr sz="975" i="1" spc="75" baseline="26000" dirty="0">
                <a:latin typeface="Cambria Math" panose="02040503050406030204"/>
                <a:cs typeface="Cambria Math" panose="02040503050406030204"/>
              </a:rPr>
              <a:t>-5</a:t>
            </a:r>
            <a:r>
              <a:rPr sz="900" i="1" spc="5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900" i="1" spc="-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975" i="1" spc="97" baseline="26000" dirty="0">
                <a:latin typeface="Cambria Math" panose="02040503050406030204"/>
                <a:cs typeface="Cambria Math" panose="02040503050406030204"/>
              </a:rPr>
              <a:t>-6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900" i="1" spc="-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10</a:t>
            </a:r>
            <a:r>
              <a:rPr sz="975" i="1" spc="97" baseline="26000" dirty="0">
                <a:latin typeface="Cambria Math" panose="02040503050406030204"/>
                <a:cs typeface="Cambria Math" panose="02040503050406030204"/>
              </a:rPr>
              <a:t>-7</a:t>
            </a:r>
            <a:r>
              <a:rPr sz="900" i="1" spc="65" dirty="0">
                <a:latin typeface="Cambria Math" panose="02040503050406030204"/>
                <a:cs typeface="Cambria Math" panose="02040503050406030204"/>
              </a:rPr>
              <a:t>)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22" name="object 322"/>
          <p:cNvSpPr txBox="1"/>
          <p:nvPr/>
        </p:nvSpPr>
        <p:spPr>
          <a:xfrm>
            <a:off x="1549303" y="2969160"/>
            <a:ext cx="734060" cy="1447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900" spc="20" dirty="0">
                <a:latin typeface="黑体" panose="02010609060101010101" charset="-122"/>
                <a:cs typeface="黑体" panose="02010609060101010101" charset="-122"/>
              </a:rPr>
              <a:t>重要</a:t>
            </a: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900" spc="20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3" name="object 323"/>
          <p:cNvSpPr txBox="1"/>
          <p:nvPr/>
        </p:nvSpPr>
        <p:spPr>
          <a:xfrm>
            <a:off x="3646325" y="2964524"/>
            <a:ext cx="734060" cy="1447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900" spc="20" dirty="0">
                <a:latin typeface="黑体" panose="02010609060101010101" charset="-122"/>
                <a:cs typeface="黑体" panose="02010609060101010101" charset="-122"/>
              </a:rPr>
              <a:t>重要</a:t>
            </a: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900" spc="20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spc="3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6" name="object 326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238" y="870289"/>
            <a:ext cx="3500754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索策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5080" indent="-172085">
              <a:lnSpc>
                <a:spcPct val="25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搜索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利用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机法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较大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围里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样超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练一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周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，依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据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验证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正确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缩小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围。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9944" y="138710"/>
            <a:ext cx="17602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超参</a:t>
            </a:r>
            <a:r>
              <a:rPr spc="-10" dirty="0"/>
              <a:t>数</a:t>
            </a:r>
            <a:r>
              <a:rPr spc="5" dirty="0"/>
              <a:t>搜</a:t>
            </a:r>
            <a:r>
              <a:rPr spc="-10" dirty="0"/>
              <a:t>索策</a:t>
            </a:r>
            <a:r>
              <a:rPr spc="5" dirty="0"/>
              <a:t>略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4018691" y="962193"/>
            <a:ext cx="1635760" cy="1635760"/>
          </a:xfrm>
          <a:custGeom>
            <a:avLst/>
            <a:gdLst/>
            <a:ahLst/>
            <a:cxnLst/>
            <a:rect l="l" t="t" r="r" b="b"/>
            <a:pathLst>
              <a:path w="1635760" h="1635760">
                <a:moveTo>
                  <a:pt x="0" y="0"/>
                </a:moveTo>
                <a:lnTo>
                  <a:pt x="1635251" y="0"/>
                </a:lnTo>
                <a:lnTo>
                  <a:pt x="1635251" y="1635251"/>
                </a:lnTo>
                <a:lnTo>
                  <a:pt x="0" y="16352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70735" y="1230417"/>
            <a:ext cx="91439" cy="9143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34388" y="1300521"/>
            <a:ext cx="91439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64056" y="1652565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69439" y="1459017"/>
            <a:ext cx="91439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01800" y="2048804"/>
            <a:ext cx="91439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17495" y="1652565"/>
            <a:ext cx="91439" cy="914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42235" y="1916217"/>
            <a:ext cx="91439" cy="914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47391" y="1149645"/>
            <a:ext cx="91439" cy="914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20188" y="2128053"/>
            <a:ext cx="91439" cy="914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09647" y="2233209"/>
            <a:ext cx="91439" cy="914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90291" y="1291377"/>
            <a:ext cx="91439" cy="914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17395" y="2409993"/>
            <a:ext cx="91439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06956" y="1643421"/>
            <a:ext cx="91439" cy="914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46807" y="1891833"/>
            <a:ext cx="643255" cy="643255"/>
          </a:xfrm>
          <a:custGeom>
            <a:avLst/>
            <a:gdLst/>
            <a:ahLst/>
            <a:cxnLst/>
            <a:rect l="l" t="t" r="r" b="b"/>
            <a:pathLst>
              <a:path w="643254" h="643255">
                <a:moveTo>
                  <a:pt x="0" y="0"/>
                </a:moveTo>
                <a:lnTo>
                  <a:pt x="643127" y="0"/>
                </a:lnTo>
                <a:lnTo>
                  <a:pt x="643127" y="643127"/>
                </a:lnTo>
                <a:lnTo>
                  <a:pt x="0" y="643127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499818" y="737599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数空间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43759" y="2534961"/>
            <a:ext cx="189230" cy="338455"/>
          </a:xfrm>
          <a:custGeom>
            <a:avLst/>
            <a:gdLst/>
            <a:ahLst/>
            <a:cxnLst/>
            <a:rect l="l" t="t" r="r" b="b"/>
            <a:pathLst>
              <a:path w="189229" h="338455">
                <a:moveTo>
                  <a:pt x="168616" y="32398"/>
                </a:moveTo>
                <a:lnTo>
                  <a:pt x="0" y="336803"/>
                </a:lnTo>
                <a:lnTo>
                  <a:pt x="4572" y="338327"/>
                </a:lnTo>
                <a:lnTo>
                  <a:pt x="172263" y="34387"/>
                </a:lnTo>
                <a:lnTo>
                  <a:pt x="168616" y="32398"/>
                </a:lnTo>
                <a:close/>
              </a:path>
              <a:path w="189229" h="338455">
                <a:moveTo>
                  <a:pt x="188050" y="25907"/>
                </a:moveTo>
                <a:lnTo>
                  <a:pt x="172212" y="25907"/>
                </a:lnTo>
                <a:lnTo>
                  <a:pt x="175260" y="28956"/>
                </a:lnTo>
                <a:lnTo>
                  <a:pt x="172263" y="34387"/>
                </a:lnTo>
                <a:lnTo>
                  <a:pt x="187451" y="42671"/>
                </a:lnTo>
                <a:lnTo>
                  <a:pt x="188050" y="25907"/>
                </a:lnTo>
                <a:close/>
              </a:path>
              <a:path w="189229" h="338455">
                <a:moveTo>
                  <a:pt x="172212" y="25907"/>
                </a:moveTo>
                <a:lnTo>
                  <a:pt x="168616" y="32398"/>
                </a:lnTo>
                <a:lnTo>
                  <a:pt x="172263" y="34387"/>
                </a:lnTo>
                <a:lnTo>
                  <a:pt x="175260" y="28956"/>
                </a:lnTo>
                <a:lnTo>
                  <a:pt x="172212" y="25907"/>
                </a:lnTo>
                <a:close/>
              </a:path>
              <a:path w="189229" h="338455">
                <a:moveTo>
                  <a:pt x="188975" y="0"/>
                </a:moveTo>
                <a:lnTo>
                  <a:pt x="153924" y="24383"/>
                </a:lnTo>
                <a:lnTo>
                  <a:pt x="168616" y="32398"/>
                </a:lnTo>
                <a:lnTo>
                  <a:pt x="172212" y="25907"/>
                </a:lnTo>
                <a:lnTo>
                  <a:pt x="188050" y="25907"/>
                </a:lnTo>
                <a:lnTo>
                  <a:pt x="1889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63800" y="2377989"/>
            <a:ext cx="91439" cy="914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676527" y="2889607"/>
            <a:ext cx="533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缩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小后的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数空间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238" y="864569"/>
            <a:ext cx="3500754" cy="17011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索策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5080" indent="-172085">
              <a:lnSpc>
                <a:spcPct val="25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粗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搜索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利用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机法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较大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围里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样超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练一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周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，依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验证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正确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缩小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围。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marR="5080" indent="-172085">
              <a:lnSpc>
                <a:spcPct val="25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搜索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利用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机法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前述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缩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围内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样超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运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行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型五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十个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期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选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择验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集上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那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超参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9944" y="132933"/>
            <a:ext cx="17602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超参</a:t>
            </a:r>
            <a:r>
              <a:rPr spc="-10" dirty="0"/>
              <a:t>数</a:t>
            </a:r>
            <a:r>
              <a:rPr spc="5" dirty="0"/>
              <a:t>搜</a:t>
            </a:r>
            <a:r>
              <a:rPr spc="-10" dirty="0"/>
              <a:t>索策</a:t>
            </a:r>
            <a:r>
              <a:rPr spc="5" dirty="0"/>
              <a:t>略</a:t>
            </a:r>
            <a:endParaRPr spc="5" dirty="0"/>
          </a:p>
        </p:txBody>
      </p:sp>
      <p:sp>
        <p:nvSpPr>
          <p:cNvPr id="4" name="object 4"/>
          <p:cNvSpPr/>
          <p:nvPr/>
        </p:nvSpPr>
        <p:spPr>
          <a:xfrm>
            <a:off x="4018691" y="956469"/>
            <a:ext cx="1635760" cy="1635760"/>
          </a:xfrm>
          <a:custGeom>
            <a:avLst/>
            <a:gdLst/>
            <a:ahLst/>
            <a:cxnLst/>
            <a:rect l="l" t="t" r="r" b="b"/>
            <a:pathLst>
              <a:path w="1635760" h="1635760">
                <a:moveTo>
                  <a:pt x="0" y="0"/>
                </a:moveTo>
                <a:lnTo>
                  <a:pt x="1635251" y="0"/>
                </a:lnTo>
                <a:lnTo>
                  <a:pt x="1635251" y="1635251"/>
                </a:lnTo>
                <a:lnTo>
                  <a:pt x="0" y="163525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70735" y="1224693"/>
            <a:ext cx="91439" cy="9143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34388" y="1294797"/>
            <a:ext cx="91439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64056" y="1646841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69439" y="1453293"/>
            <a:ext cx="91439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01800" y="2043081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17495" y="1646841"/>
            <a:ext cx="91439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42235" y="1910493"/>
            <a:ext cx="91439" cy="914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47391" y="1143921"/>
            <a:ext cx="91439" cy="914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20188" y="2122328"/>
            <a:ext cx="91439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09647" y="2227484"/>
            <a:ext cx="91439" cy="914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90291" y="1285653"/>
            <a:ext cx="91439" cy="914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17395" y="2404268"/>
            <a:ext cx="91439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06956" y="1637697"/>
            <a:ext cx="91439" cy="914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46807" y="1886109"/>
            <a:ext cx="643255" cy="643255"/>
          </a:xfrm>
          <a:custGeom>
            <a:avLst/>
            <a:gdLst/>
            <a:ahLst/>
            <a:cxnLst/>
            <a:rect l="l" t="t" r="r" b="b"/>
            <a:pathLst>
              <a:path w="643254" h="643255">
                <a:moveTo>
                  <a:pt x="0" y="0"/>
                </a:moveTo>
                <a:lnTo>
                  <a:pt x="643127" y="0"/>
                </a:lnTo>
                <a:lnTo>
                  <a:pt x="643127" y="643127"/>
                </a:lnTo>
                <a:lnTo>
                  <a:pt x="0" y="643127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88767" y="2402745"/>
            <a:ext cx="91439" cy="914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22651" y="2129949"/>
            <a:ext cx="91439" cy="914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80919" y="2296065"/>
            <a:ext cx="91439" cy="914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381147" y="1892205"/>
            <a:ext cx="91439" cy="914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43403" y="1944021"/>
            <a:ext cx="91439" cy="9143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499818" y="731879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间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43759" y="2529237"/>
            <a:ext cx="189230" cy="338455"/>
          </a:xfrm>
          <a:custGeom>
            <a:avLst/>
            <a:gdLst/>
            <a:ahLst/>
            <a:cxnLst/>
            <a:rect l="l" t="t" r="r" b="b"/>
            <a:pathLst>
              <a:path w="189229" h="338455">
                <a:moveTo>
                  <a:pt x="168616" y="32398"/>
                </a:moveTo>
                <a:lnTo>
                  <a:pt x="0" y="336804"/>
                </a:lnTo>
                <a:lnTo>
                  <a:pt x="4572" y="338328"/>
                </a:lnTo>
                <a:lnTo>
                  <a:pt x="172263" y="34387"/>
                </a:lnTo>
                <a:lnTo>
                  <a:pt x="168616" y="32398"/>
                </a:lnTo>
                <a:close/>
              </a:path>
              <a:path w="189229" h="338455">
                <a:moveTo>
                  <a:pt x="188050" y="25908"/>
                </a:moveTo>
                <a:lnTo>
                  <a:pt x="172212" y="25908"/>
                </a:lnTo>
                <a:lnTo>
                  <a:pt x="175260" y="28956"/>
                </a:lnTo>
                <a:lnTo>
                  <a:pt x="172263" y="34387"/>
                </a:lnTo>
                <a:lnTo>
                  <a:pt x="187451" y="42672"/>
                </a:lnTo>
                <a:lnTo>
                  <a:pt x="188050" y="25908"/>
                </a:lnTo>
                <a:close/>
              </a:path>
              <a:path w="189229" h="338455">
                <a:moveTo>
                  <a:pt x="172212" y="25908"/>
                </a:moveTo>
                <a:lnTo>
                  <a:pt x="168616" y="32398"/>
                </a:lnTo>
                <a:lnTo>
                  <a:pt x="172263" y="34387"/>
                </a:lnTo>
                <a:lnTo>
                  <a:pt x="175260" y="28956"/>
                </a:lnTo>
                <a:lnTo>
                  <a:pt x="172212" y="25908"/>
                </a:lnTo>
                <a:close/>
              </a:path>
              <a:path w="189229" h="338455">
                <a:moveTo>
                  <a:pt x="188975" y="0"/>
                </a:moveTo>
                <a:lnTo>
                  <a:pt x="153924" y="24384"/>
                </a:lnTo>
                <a:lnTo>
                  <a:pt x="168616" y="32398"/>
                </a:lnTo>
                <a:lnTo>
                  <a:pt x="172212" y="25908"/>
                </a:lnTo>
                <a:lnTo>
                  <a:pt x="188050" y="25908"/>
                </a:lnTo>
                <a:lnTo>
                  <a:pt x="1889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676527" y="2883761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缩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小后超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63800" y="2215293"/>
            <a:ext cx="213360" cy="538480"/>
          </a:xfrm>
          <a:custGeom>
            <a:avLst/>
            <a:gdLst/>
            <a:ahLst/>
            <a:cxnLst/>
            <a:rect l="l" t="t" r="r" b="b"/>
            <a:pathLst>
              <a:path w="213360" h="538480">
                <a:moveTo>
                  <a:pt x="20474" y="33136"/>
                </a:moveTo>
                <a:lnTo>
                  <a:pt x="15487" y="35087"/>
                </a:lnTo>
                <a:lnTo>
                  <a:pt x="208787" y="537972"/>
                </a:lnTo>
                <a:lnTo>
                  <a:pt x="213360" y="536448"/>
                </a:lnTo>
                <a:lnTo>
                  <a:pt x="20474" y="33136"/>
                </a:lnTo>
                <a:close/>
              </a:path>
              <a:path w="213360" h="538480">
                <a:moveTo>
                  <a:pt x="4572" y="0"/>
                </a:moveTo>
                <a:lnTo>
                  <a:pt x="0" y="41148"/>
                </a:lnTo>
                <a:lnTo>
                  <a:pt x="15487" y="35087"/>
                </a:lnTo>
                <a:lnTo>
                  <a:pt x="13715" y="30479"/>
                </a:lnTo>
                <a:lnTo>
                  <a:pt x="18287" y="27431"/>
                </a:lnTo>
                <a:lnTo>
                  <a:pt x="35051" y="27431"/>
                </a:lnTo>
                <a:lnTo>
                  <a:pt x="4572" y="0"/>
                </a:lnTo>
                <a:close/>
              </a:path>
              <a:path w="213360" h="538480">
                <a:moveTo>
                  <a:pt x="18287" y="27431"/>
                </a:moveTo>
                <a:lnTo>
                  <a:pt x="13715" y="30479"/>
                </a:lnTo>
                <a:lnTo>
                  <a:pt x="15487" y="35087"/>
                </a:lnTo>
                <a:lnTo>
                  <a:pt x="20474" y="33136"/>
                </a:lnTo>
                <a:lnTo>
                  <a:pt x="18287" y="27431"/>
                </a:lnTo>
                <a:close/>
              </a:path>
              <a:path w="213360" h="538480">
                <a:moveTo>
                  <a:pt x="35051" y="27431"/>
                </a:moveTo>
                <a:lnTo>
                  <a:pt x="18287" y="27431"/>
                </a:lnTo>
                <a:lnTo>
                  <a:pt x="20474" y="33136"/>
                </a:lnTo>
                <a:lnTo>
                  <a:pt x="35051" y="27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337954" y="2800023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优超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400441" y="2970234"/>
            <a:ext cx="2800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76527" y="3053972"/>
            <a:ext cx="5334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数空间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6484" y="138710"/>
            <a:ext cx="20085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超参</a:t>
            </a:r>
            <a:r>
              <a:rPr spc="-10" dirty="0"/>
              <a:t>数</a:t>
            </a:r>
            <a:r>
              <a:rPr spc="5" dirty="0"/>
              <a:t>的</a:t>
            </a:r>
            <a:r>
              <a:rPr spc="-10" dirty="0"/>
              <a:t>标尺</a:t>
            </a:r>
            <a:r>
              <a:rPr spc="5" dirty="0"/>
              <a:t>空间</a:t>
            </a:r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458120" y="757545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以学习率为例：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9356" y="1652565"/>
            <a:ext cx="3572510" cy="0"/>
          </a:xfrm>
          <a:custGeom>
            <a:avLst/>
            <a:gdLst/>
            <a:ahLst/>
            <a:cxnLst/>
            <a:rect l="l" t="t" r="r" b="b"/>
            <a:pathLst>
              <a:path w="3572510">
                <a:moveTo>
                  <a:pt x="0" y="0"/>
                </a:moveTo>
                <a:lnTo>
                  <a:pt x="3572255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9356" y="1576365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1611" y="1576365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21083" y="1576365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18719" y="1576365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33120" y="1576365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97032" y="167804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992" y="1716141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0.25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10007" y="1719189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8311" y="1719189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0.75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8515" y="171614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72443" y="1576365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98200" y="1664325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6120" y="1573317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89183" y="1226937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0.01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7520" y="1423965"/>
            <a:ext cx="228600" cy="146685"/>
          </a:xfrm>
          <a:custGeom>
            <a:avLst/>
            <a:gdLst/>
            <a:ahLst/>
            <a:cxnLst/>
            <a:rect l="l" t="t" r="r" b="b"/>
            <a:pathLst>
              <a:path w="228600" h="146684">
                <a:moveTo>
                  <a:pt x="195781" y="129160"/>
                </a:moveTo>
                <a:lnTo>
                  <a:pt x="187452" y="143256"/>
                </a:lnTo>
                <a:lnTo>
                  <a:pt x="228600" y="146304"/>
                </a:lnTo>
                <a:lnTo>
                  <a:pt x="220598" y="132587"/>
                </a:lnTo>
                <a:lnTo>
                  <a:pt x="201168" y="132587"/>
                </a:lnTo>
                <a:lnTo>
                  <a:pt x="195781" y="129160"/>
                </a:lnTo>
                <a:close/>
              </a:path>
              <a:path w="228600" h="146684">
                <a:moveTo>
                  <a:pt x="198566" y="124447"/>
                </a:moveTo>
                <a:lnTo>
                  <a:pt x="195781" y="129160"/>
                </a:lnTo>
                <a:lnTo>
                  <a:pt x="201168" y="132587"/>
                </a:lnTo>
                <a:lnTo>
                  <a:pt x="204216" y="128016"/>
                </a:lnTo>
                <a:lnTo>
                  <a:pt x="198566" y="124447"/>
                </a:lnTo>
                <a:close/>
              </a:path>
              <a:path w="228600" h="146684">
                <a:moveTo>
                  <a:pt x="207263" y="109728"/>
                </a:moveTo>
                <a:lnTo>
                  <a:pt x="198566" y="124447"/>
                </a:lnTo>
                <a:lnTo>
                  <a:pt x="204216" y="128016"/>
                </a:lnTo>
                <a:lnTo>
                  <a:pt x="201168" y="132587"/>
                </a:lnTo>
                <a:lnTo>
                  <a:pt x="220598" y="132587"/>
                </a:lnTo>
                <a:lnTo>
                  <a:pt x="207263" y="109728"/>
                </a:lnTo>
                <a:close/>
              </a:path>
              <a:path w="228600" h="146684">
                <a:moveTo>
                  <a:pt x="1524" y="0"/>
                </a:moveTo>
                <a:lnTo>
                  <a:pt x="0" y="4572"/>
                </a:lnTo>
                <a:lnTo>
                  <a:pt x="195781" y="129160"/>
                </a:lnTo>
                <a:lnTo>
                  <a:pt x="198566" y="124447"/>
                </a:lnTo>
                <a:lnTo>
                  <a:pt x="1524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72443" y="1391961"/>
            <a:ext cx="3249295" cy="116205"/>
          </a:xfrm>
          <a:custGeom>
            <a:avLst/>
            <a:gdLst/>
            <a:ahLst/>
            <a:cxnLst/>
            <a:rect l="l" t="t" r="r" b="b"/>
            <a:pathLst>
              <a:path w="3249295" h="116205">
                <a:moveTo>
                  <a:pt x="0" y="115823"/>
                </a:moveTo>
                <a:lnTo>
                  <a:pt x="809" y="93273"/>
                </a:lnTo>
                <a:lnTo>
                  <a:pt x="3047" y="74866"/>
                </a:lnTo>
                <a:lnTo>
                  <a:pt x="6429" y="62460"/>
                </a:lnTo>
                <a:lnTo>
                  <a:pt x="10667" y="57911"/>
                </a:lnTo>
                <a:lnTo>
                  <a:pt x="1615439" y="57911"/>
                </a:lnTo>
                <a:lnTo>
                  <a:pt x="1618797" y="53363"/>
                </a:lnTo>
                <a:lnTo>
                  <a:pt x="1621726" y="40957"/>
                </a:lnTo>
                <a:lnTo>
                  <a:pt x="1623798" y="22550"/>
                </a:lnTo>
                <a:lnTo>
                  <a:pt x="1624583" y="0"/>
                </a:lnTo>
                <a:lnTo>
                  <a:pt x="1625369" y="22550"/>
                </a:lnTo>
                <a:lnTo>
                  <a:pt x="1627441" y="40957"/>
                </a:lnTo>
                <a:lnTo>
                  <a:pt x="1630370" y="53363"/>
                </a:lnTo>
                <a:lnTo>
                  <a:pt x="1633727" y="57911"/>
                </a:lnTo>
                <a:lnTo>
                  <a:pt x="3238499" y="57911"/>
                </a:lnTo>
                <a:lnTo>
                  <a:pt x="3242738" y="62460"/>
                </a:lnTo>
                <a:lnTo>
                  <a:pt x="3246119" y="74866"/>
                </a:lnTo>
                <a:lnTo>
                  <a:pt x="3248358" y="93273"/>
                </a:lnTo>
                <a:lnTo>
                  <a:pt x="3249167" y="115823"/>
                </a:lnTo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802032" y="1199429"/>
            <a:ext cx="198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sz="900" dirty="0">
                <a:latin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6484" y="132933"/>
            <a:ext cx="20085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超参</a:t>
            </a:r>
            <a:r>
              <a:rPr spc="-10" dirty="0"/>
              <a:t>数</a:t>
            </a:r>
            <a:r>
              <a:rPr spc="5" dirty="0"/>
              <a:t>的</a:t>
            </a:r>
            <a:r>
              <a:rPr spc="-10" dirty="0"/>
              <a:t>标尺</a:t>
            </a:r>
            <a:r>
              <a:rPr spc="5" dirty="0"/>
              <a:t>空间</a:t>
            </a:r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458120" y="751821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以学习率为例：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9356" y="2245772"/>
            <a:ext cx="0" cy="94615"/>
          </a:xfrm>
          <a:custGeom>
            <a:avLst/>
            <a:gdLst/>
            <a:ahLst/>
            <a:cxnLst/>
            <a:rect l="l" t="t" r="r" b="b"/>
            <a:pathLst>
              <a:path h="94614">
                <a:moveTo>
                  <a:pt x="0" y="0"/>
                </a:moveTo>
                <a:lnTo>
                  <a:pt x="0" y="944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0895" y="2245772"/>
            <a:ext cx="0" cy="94615"/>
          </a:xfrm>
          <a:custGeom>
            <a:avLst/>
            <a:gdLst/>
            <a:ahLst/>
            <a:cxnLst/>
            <a:rect l="l" t="t" r="r" b="b"/>
            <a:pathLst>
              <a:path h="94614">
                <a:moveTo>
                  <a:pt x="0" y="0"/>
                </a:moveTo>
                <a:lnTo>
                  <a:pt x="0" y="944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49356" y="2340261"/>
            <a:ext cx="891540" cy="0"/>
          </a:xfrm>
          <a:custGeom>
            <a:avLst/>
            <a:gdLst/>
            <a:ahLst/>
            <a:cxnLst/>
            <a:rect l="l" t="t" r="r" b="b"/>
            <a:pathLst>
              <a:path w="891539">
                <a:moveTo>
                  <a:pt x="0" y="0"/>
                </a:moveTo>
                <a:lnTo>
                  <a:pt x="891539" y="0"/>
                </a:lnTo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32435" y="2242725"/>
            <a:ext cx="0" cy="94615"/>
          </a:xfrm>
          <a:custGeom>
            <a:avLst/>
            <a:gdLst/>
            <a:ahLst/>
            <a:cxnLst/>
            <a:rect l="l" t="t" r="r" b="b"/>
            <a:pathLst>
              <a:path h="94614">
                <a:moveTo>
                  <a:pt x="0" y="0"/>
                </a:moveTo>
                <a:lnTo>
                  <a:pt x="0" y="944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40895" y="2337212"/>
            <a:ext cx="891540" cy="0"/>
          </a:xfrm>
          <a:custGeom>
            <a:avLst/>
            <a:gdLst/>
            <a:ahLst/>
            <a:cxnLst/>
            <a:rect l="l" t="t" r="r" b="b"/>
            <a:pathLst>
              <a:path w="891539">
                <a:moveTo>
                  <a:pt x="0" y="0"/>
                </a:moveTo>
                <a:lnTo>
                  <a:pt x="891539" y="0"/>
                </a:lnTo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27023" y="2242725"/>
            <a:ext cx="0" cy="94615"/>
          </a:xfrm>
          <a:custGeom>
            <a:avLst/>
            <a:gdLst/>
            <a:ahLst/>
            <a:cxnLst/>
            <a:rect l="l" t="t" r="r" b="b"/>
            <a:pathLst>
              <a:path h="94614">
                <a:moveTo>
                  <a:pt x="0" y="0"/>
                </a:moveTo>
                <a:lnTo>
                  <a:pt x="0" y="944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35483" y="2337212"/>
            <a:ext cx="891540" cy="0"/>
          </a:xfrm>
          <a:custGeom>
            <a:avLst/>
            <a:gdLst/>
            <a:ahLst/>
            <a:cxnLst/>
            <a:rect l="l" t="t" r="r" b="b"/>
            <a:pathLst>
              <a:path w="891539">
                <a:moveTo>
                  <a:pt x="0" y="0"/>
                </a:moveTo>
                <a:lnTo>
                  <a:pt x="891539" y="0"/>
                </a:lnTo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1611" y="2242725"/>
            <a:ext cx="0" cy="94615"/>
          </a:xfrm>
          <a:custGeom>
            <a:avLst/>
            <a:gdLst/>
            <a:ahLst/>
            <a:cxnLst/>
            <a:rect l="l" t="t" r="r" b="b"/>
            <a:pathLst>
              <a:path h="94614">
                <a:moveTo>
                  <a:pt x="0" y="0"/>
                </a:moveTo>
                <a:lnTo>
                  <a:pt x="0" y="944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30071" y="2337212"/>
            <a:ext cx="891540" cy="0"/>
          </a:xfrm>
          <a:custGeom>
            <a:avLst/>
            <a:gdLst/>
            <a:ahLst/>
            <a:cxnLst/>
            <a:rect l="l" t="t" r="r" b="b"/>
            <a:pathLst>
              <a:path w="891539">
                <a:moveTo>
                  <a:pt x="0" y="0"/>
                </a:moveTo>
                <a:lnTo>
                  <a:pt x="891539" y="0"/>
                </a:lnTo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49356" y="1646841"/>
            <a:ext cx="3572510" cy="0"/>
          </a:xfrm>
          <a:custGeom>
            <a:avLst/>
            <a:gdLst/>
            <a:ahLst/>
            <a:cxnLst/>
            <a:rect l="l" t="t" r="r" b="b"/>
            <a:pathLst>
              <a:path w="3572510">
                <a:moveTo>
                  <a:pt x="0" y="0"/>
                </a:moveTo>
                <a:lnTo>
                  <a:pt x="3572255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49356" y="1570641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21611" y="1570641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21083" y="1570641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18719" y="1570641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33120" y="1570641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97032" y="167231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19992" y="1710417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0.25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0007" y="1713465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18311" y="1713465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0.75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88515" y="171041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72443" y="1570641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98200" y="1658601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66120" y="1567593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199"/>
                </a:moveTo>
                <a:lnTo>
                  <a:pt x="0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89183" y="1221213"/>
            <a:ext cx="295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0.01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7520" y="1418241"/>
            <a:ext cx="228600" cy="146685"/>
          </a:xfrm>
          <a:custGeom>
            <a:avLst/>
            <a:gdLst/>
            <a:ahLst/>
            <a:cxnLst/>
            <a:rect l="l" t="t" r="r" b="b"/>
            <a:pathLst>
              <a:path w="228600" h="146684">
                <a:moveTo>
                  <a:pt x="195781" y="129160"/>
                </a:moveTo>
                <a:lnTo>
                  <a:pt x="187452" y="143255"/>
                </a:lnTo>
                <a:lnTo>
                  <a:pt x="228600" y="146303"/>
                </a:lnTo>
                <a:lnTo>
                  <a:pt x="220598" y="132587"/>
                </a:lnTo>
                <a:lnTo>
                  <a:pt x="201168" y="132587"/>
                </a:lnTo>
                <a:lnTo>
                  <a:pt x="195781" y="129160"/>
                </a:lnTo>
                <a:close/>
              </a:path>
              <a:path w="228600" h="146684">
                <a:moveTo>
                  <a:pt x="198566" y="124447"/>
                </a:moveTo>
                <a:lnTo>
                  <a:pt x="195781" y="129160"/>
                </a:lnTo>
                <a:lnTo>
                  <a:pt x="201168" y="132587"/>
                </a:lnTo>
                <a:lnTo>
                  <a:pt x="204216" y="128015"/>
                </a:lnTo>
                <a:lnTo>
                  <a:pt x="198566" y="124447"/>
                </a:lnTo>
                <a:close/>
              </a:path>
              <a:path w="228600" h="146684">
                <a:moveTo>
                  <a:pt x="207263" y="109727"/>
                </a:moveTo>
                <a:lnTo>
                  <a:pt x="198566" y="124447"/>
                </a:lnTo>
                <a:lnTo>
                  <a:pt x="204216" y="128015"/>
                </a:lnTo>
                <a:lnTo>
                  <a:pt x="201168" y="132587"/>
                </a:lnTo>
                <a:lnTo>
                  <a:pt x="220598" y="132587"/>
                </a:lnTo>
                <a:lnTo>
                  <a:pt x="207263" y="109727"/>
                </a:lnTo>
                <a:close/>
              </a:path>
              <a:path w="228600" h="146684">
                <a:moveTo>
                  <a:pt x="1524" y="0"/>
                </a:moveTo>
                <a:lnTo>
                  <a:pt x="0" y="4572"/>
                </a:lnTo>
                <a:lnTo>
                  <a:pt x="195781" y="129160"/>
                </a:lnTo>
                <a:lnTo>
                  <a:pt x="198566" y="124447"/>
                </a:lnTo>
                <a:lnTo>
                  <a:pt x="1524" y="0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26308" y="2043967"/>
            <a:ext cx="4760595" cy="106299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4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400" spc="5" dirty="0">
                <a:latin typeface="Calibri" panose="020F0502020204030204"/>
                <a:cs typeface="Calibri" panose="020F0502020204030204"/>
              </a:rPr>
              <a:t>o</a:t>
            </a:r>
            <a:r>
              <a:rPr sz="1400" spc="-5" dirty="0">
                <a:latin typeface="Calibri" panose="020F0502020204030204"/>
                <a:cs typeface="Calibri" panose="020F0502020204030204"/>
              </a:rPr>
              <a:t>g</a:t>
            </a:r>
            <a:r>
              <a:rPr sz="1400" dirty="0">
                <a:latin typeface="宋体" panose="02010600030101010101" pitchFamily="2" charset="-122"/>
                <a:cs typeface="宋体" panose="02010600030101010101" pitchFamily="2" charset="-122"/>
              </a:rPr>
              <a:t>空间</a:t>
            </a:r>
            <a:endParaRPr sz="1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15">
              <a:lnSpc>
                <a:spcPct val="100000"/>
              </a:lnSpc>
              <a:spcBef>
                <a:spcPts val="800"/>
              </a:spcBef>
              <a:tabLst>
                <a:tab pos="1005840" algn="l"/>
                <a:tab pos="1896110" algn="l"/>
                <a:tab pos="2804160" algn="l"/>
                <a:tab pos="3674745" algn="l"/>
              </a:tabLst>
            </a:pPr>
            <a:r>
              <a:rPr sz="1200" dirty="0">
                <a:latin typeface="Calibri" panose="020F0502020204030204"/>
                <a:cs typeface="Calibri" panose="020F0502020204030204"/>
              </a:rPr>
              <a:t>0.0001	0.001	0.01	0.1	1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议：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率、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正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则项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度这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超参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上进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随机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采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合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适！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72443" y="1386237"/>
            <a:ext cx="3249295" cy="116205"/>
          </a:xfrm>
          <a:custGeom>
            <a:avLst/>
            <a:gdLst/>
            <a:ahLst/>
            <a:cxnLst/>
            <a:rect l="l" t="t" r="r" b="b"/>
            <a:pathLst>
              <a:path w="3249295" h="116205">
                <a:moveTo>
                  <a:pt x="0" y="115823"/>
                </a:moveTo>
                <a:lnTo>
                  <a:pt x="809" y="93273"/>
                </a:lnTo>
                <a:lnTo>
                  <a:pt x="3047" y="74866"/>
                </a:lnTo>
                <a:lnTo>
                  <a:pt x="6429" y="62460"/>
                </a:lnTo>
                <a:lnTo>
                  <a:pt x="10667" y="57911"/>
                </a:lnTo>
                <a:lnTo>
                  <a:pt x="1615439" y="57911"/>
                </a:lnTo>
                <a:lnTo>
                  <a:pt x="1618797" y="53363"/>
                </a:lnTo>
                <a:lnTo>
                  <a:pt x="1621726" y="40957"/>
                </a:lnTo>
                <a:lnTo>
                  <a:pt x="1623798" y="22550"/>
                </a:lnTo>
                <a:lnTo>
                  <a:pt x="1624583" y="0"/>
                </a:lnTo>
                <a:lnTo>
                  <a:pt x="1625369" y="22550"/>
                </a:lnTo>
                <a:lnTo>
                  <a:pt x="1627441" y="40957"/>
                </a:lnTo>
                <a:lnTo>
                  <a:pt x="1630370" y="53363"/>
                </a:lnTo>
                <a:lnTo>
                  <a:pt x="1633727" y="57911"/>
                </a:lnTo>
                <a:lnTo>
                  <a:pt x="3238499" y="57911"/>
                </a:lnTo>
                <a:lnTo>
                  <a:pt x="3242738" y="62460"/>
                </a:lnTo>
                <a:lnTo>
                  <a:pt x="3246119" y="74866"/>
                </a:lnTo>
                <a:lnTo>
                  <a:pt x="3248358" y="93273"/>
                </a:lnTo>
                <a:lnTo>
                  <a:pt x="3249167" y="115823"/>
                </a:lnTo>
              </a:path>
            </a:pathLst>
          </a:custGeom>
          <a:ln w="457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802032" y="1193705"/>
            <a:ext cx="198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sz="900" dirty="0">
                <a:latin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14637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23825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52890" y="3272021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607" y="1257849"/>
            <a:ext cx="893444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分类模型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816" y="1798869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2671"/>
                </a:moveTo>
                <a:lnTo>
                  <a:pt x="3476" y="26360"/>
                </a:lnTo>
                <a:lnTo>
                  <a:pt x="12953" y="12763"/>
                </a:lnTo>
                <a:lnTo>
                  <a:pt x="27003" y="3452"/>
                </a:lnTo>
                <a:lnTo>
                  <a:pt x="44195" y="0"/>
                </a:lnTo>
                <a:lnTo>
                  <a:pt x="568451" y="0"/>
                </a:lnTo>
                <a:lnTo>
                  <a:pt x="585644" y="3452"/>
                </a:lnTo>
                <a:lnTo>
                  <a:pt x="599693" y="12763"/>
                </a:lnTo>
                <a:lnTo>
                  <a:pt x="609171" y="26360"/>
                </a:lnTo>
                <a:lnTo>
                  <a:pt x="612647" y="42671"/>
                </a:lnTo>
                <a:lnTo>
                  <a:pt x="612647" y="216407"/>
                </a:lnTo>
                <a:lnTo>
                  <a:pt x="609171" y="232719"/>
                </a:lnTo>
                <a:lnTo>
                  <a:pt x="599693" y="246316"/>
                </a:lnTo>
                <a:lnTo>
                  <a:pt x="585644" y="255627"/>
                </a:lnTo>
                <a:lnTo>
                  <a:pt x="568451" y="259079"/>
                </a:lnTo>
                <a:lnTo>
                  <a:pt x="44195" y="259079"/>
                </a:lnTo>
                <a:lnTo>
                  <a:pt x="27003" y="255627"/>
                </a:lnTo>
                <a:lnTo>
                  <a:pt x="12953" y="246316"/>
                </a:lnTo>
                <a:lnTo>
                  <a:pt x="3476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47651" y="1844081"/>
            <a:ext cx="431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预测值</a:t>
            </a:r>
            <a:r>
              <a:rPr sz="900" spc="-455" dirty="0">
                <a:latin typeface="Cambria Math" panose="02040503050406030204"/>
                <a:cs typeface="Cambria Math" panose="02040503050406030204"/>
              </a:rPr>
              <a:t>Y</a:t>
            </a:r>
            <a:r>
              <a:rPr sz="1350" spc="-735" baseline="9000" dirty="0">
                <a:latin typeface="Cambria Math" panose="02040503050406030204"/>
                <a:cs typeface="Cambria Math" panose="02040503050406030204"/>
              </a:rPr>
              <a:t>＾</a:t>
            </a:r>
            <a:endParaRPr sz="1350" baseline="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1367" y="1798869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4" h="259080">
                <a:moveTo>
                  <a:pt x="0" y="42671"/>
                </a:moveTo>
                <a:lnTo>
                  <a:pt x="3452" y="26360"/>
                </a:lnTo>
                <a:lnTo>
                  <a:pt x="12763" y="12763"/>
                </a:lnTo>
                <a:lnTo>
                  <a:pt x="26360" y="3452"/>
                </a:lnTo>
                <a:lnTo>
                  <a:pt x="42671" y="0"/>
                </a:lnTo>
                <a:lnTo>
                  <a:pt x="568451" y="0"/>
                </a:lnTo>
                <a:lnTo>
                  <a:pt x="584763" y="3452"/>
                </a:lnTo>
                <a:lnTo>
                  <a:pt x="598360" y="12763"/>
                </a:lnTo>
                <a:lnTo>
                  <a:pt x="607671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71" y="232719"/>
                </a:lnTo>
                <a:lnTo>
                  <a:pt x="598360" y="246316"/>
                </a:lnTo>
                <a:lnTo>
                  <a:pt x="584763" y="255627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27"/>
                </a:lnTo>
                <a:lnTo>
                  <a:pt x="12763" y="246316"/>
                </a:lnTo>
                <a:lnTo>
                  <a:pt x="3452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165" y="184099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真实值</a:t>
            </a:r>
            <a:r>
              <a:rPr sz="900" spc="25" dirty="0">
                <a:latin typeface="Cambria Math" panose="02040503050406030204"/>
                <a:cs typeface="Cambria Math" panose="02040503050406030204"/>
              </a:rPr>
              <a:t>Y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035" y="293272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238" y="26360"/>
                </a:lnTo>
                <a:lnTo>
                  <a:pt x="12191" y="12763"/>
                </a:lnTo>
                <a:lnTo>
                  <a:pt x="25717" y="3452"/>
                </a:lnTo>
                <a:lnTo>
                  <a:pt x="42671" y="0"/>
                </a:lnTo>
                <a:lnTo>
                  <a:pt x="566927" y="0"/>
                </a:lnTo>
                <a:lnTo>
                  <a:pt x="584120" y="3452"/>
                </a:lnTo>
                <a:lnTo>
                  <a:pt x="598169" y="12763"/>
                </a:lnTo>
                <a:lnTo>
                  <a:pt x="607647" y="26360"/>
                </a:lnTo>
                <a:lnTo>
                  <a:pt x="611123" y="42671"/>
                </a:lnTo>
                <a:lnTo>
                  <a:pt x="611123" y="216407"/>
                </a:lnTo>
                <a:lnTo>
                  <a:pt x="607647" y="232719"/>
                </a:lnTo>
                <a:lnTo>
                  <a:pt x="598169" y="246316"/>
                </a:lnTo>
                <a:lnTo>
                  <a:pt x="584120" y="255627"/>
                </a:lnTo>
                <a:lnTo>
                  <a:pt x="566927" y="259079"/>
                </a:lnTo>
                <a:lnTo>
                  <a:pt x="42671" y="259079"/>
                </a:lnTo>
                <a:lnTo>
                  <a:pt x="25717" y="255627"/>
                </a:lnTo>
                <a:lnTo>
                  <a:pt x="12191" y="246316"/>
                </a:lnTo>
                <a:lnTo>
                  <a:pt x="3238" y="232719"/>
                </a:lnTo>
                <a:lnTo>
                  <a:pt x="0" y="216407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9962" y="297485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损失值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760" y="122279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2671"/>
                </a:moveTo>
                <a:lnTo>
                  <a:pt x="3452" y="25717"/>
                </a:lnTo>
                <a:lnTo>
                  <a:pt x="12763" y="12191"/>
                </a:lnTo>
                <a:lnTo>
                  <a:pt x="26360" y="3238"/>
                </a:lnTo>
                <a:lnTo>
                  <a:pt x="42671" y="0"/>
                </a:lnTo>
                <a:lnTo>
                  <a:pt x="568451" y="0"/>
                </a:lnTo>
                <a:lnTo>
                  <a:pt x="585406" y="3238"/>
                </a:lnTo>
                <a:lnTo>
                  <a:pt x="598931" y="12191"/>
                </a:lnTo>
                <a:lnTo>
                  <a:pt x="607885" y="25717"/>
                </a:lnTo>
                <a:lnTo>
                  <a:pt x="611123" y="42671"/>
                </a:lnTo>
                <a:lnTo>
                  <a:pt x="611123" y="214883"/>
                </a:lnTo>
                <a:lnTo>
                  <a:pt x="607885" y="232076"/>
                </a:lnTo>
                <a:lnTo>
                  <a:pt x="598931" y="246125"/>
                </a:lnTo>
                <a:lnTo>
                  <a:pt x="585406" y="255603"/>
                </a:lnTo>
                <a:lnTo>
                  <a:pt x="568451" y="259079"/>
                </a:lnTo>
                <a:lnTo>
                  <a:pt x="42671" y="259079"/>
                </a:lnTo>
                <a:lnTo>
                  <a:pt x="26360" y="255603"/>
                </a:lnTo>
                <a:lnTo>
                  <a:pt x="12763" y="246125"/>
                </a:lnTo>
                <a:lnTo>
                  <a:pt x="3452" y="232076"/>
                </a:lnTo>
                <a:lnTo>
                  <a:pt x="0" y="214883"/>
                </a:lnTo>
                <a:lnTo>
                  <a:pt x="0" y="426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298" y="126492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模型参数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9328" y="939333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69">
                <a:moveTo>
                  <a:pt x="25908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8" y="286512"/>
                </a:lnTo>
                <a:lnTo>
                  <a:pt x="25908" y="0"/>
                </a:lnTo>
                <a:close/>
              </a:path>
              <a:path w="38100" h="318769">
                <a:moveTo>
                  <a:pt x="38100" y="280415"/>
                </a:moveTo>
                <a:lnTo>
                  <a:pt x="25908" y="280415"/>
                </a:lnTo>
                <a:lnTo>
                  <a:pt x="25908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183" y="1445301"/>
            <a:ext cx="58419" cy="353695"/>
          </a:xfrm>
          <a:custGeom>
            <a:avLst/>
            <a:gdLst/>
            <a:ahLst/>
            <a:cxnLst/>
            <a:rect l="l" t="t" r="r" b="b"/>
            <a:pathLst>
              <a:path w="58419" h="353694">
                <a:moveTo>
                  <a:pt x="19812" y="295656"/>
                </a:moveTo>
                <a:lnTo>
                  <a:pt x="0" y="295656"/>
                </a:lnTo>
                <a:lnTo>
                  <a:pt x="28956" y="353568"/>
                </a:lnTo>
                <a:lnTo>
                  <a:pt x="52578" y="306324"/>
                </a:lnTo>
                <a:lnTo>
                  <a:pt x="19812" y="306324"/>
                </a:lnTo>
                <a:lnTo>
                  <a:pt x="19812" y="295656"/>
                </a:lnTo>
                <a:close/>
              </a:path>
              <a:path w="58419" h="353694">
                <a:moveTo>
                  <a:pt x="38100" y="0"/>
                </a:moveTo>
                <a:lnTo>
                  <a:pt x="19812" y="0"/>
                </a:lnTo>
                <a:lnTo>
                  <a:pt x="19812" y="306324"/>
                </a:lnTo>
                <a:lnTo>
                  <a:pt x="38100" y="306324"/>
                </a:lnTo>
                <a:lnTo>
                  <a:pt x="38100" y="0"/>
                </a:lnTo>
                <a:close/>
              </a:path>
              <a:path w="58419" h="353694">
                <a:moveTo>
                  <a:pt x="57912" y="295656"/>
                </a:moveTo>
                <a:lnTo>
                  <a:pt x="38100" y="295656"/>
                </a:lnTo>
                <a:lnTo>
                  <a:pt x="38100" y="306324"/>
                </a:lnTo>
                <a:lnTo>
                  <a:pt x="52578" y="306324"/>
                </a:lnTo>
                <a:lnTo>
                  <a:pt x="57912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64567" y="2048805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687" y="299107"/>
                </a:moveTo>
                <a:lnTo>
                  <a:pt x="556259" y="315468"/>
                </a:lnTo>
                <a:lnTo>
                  <a:pt x="620268" y="315468"/>
                </a:lnTo>
                <a:lnTo>
                  <a:pt x="611031" y="303275"/>
                </a:lnTo>
                <a:lnTo>
                  <a:pt x="573023" y="303275"/>
                </a:lnTo>
                <a:lnTo>
                  <a:pt x="564687" y="299107"/>
                </a:lnTo>
                <a:close/>
              </a:path>
              <a:path w="620394" h="315594">
                <a:moveTo>
                  <a:pt x="573427" y="282141"/>
                </a:moveTo>
                <a:lnTo>
                  <a:pt x="564687" y="299107"/>
                </a:lnTo>
                <a:lnTo>
                  <a:pt x="573023" y="303275"/>
                </a:lnTo>
                <a:lnTo>
                  <a:pt x="582168" y="286512"/>
                </a:lnTo>
                <a:lnTo>
                  <a:pt x="573427" y="282141"/>
                </a:lnTo>
                <a:close/>
              </a:path>
              <a:path w="620394" h="315594">
                <a:moveTo>
                  <a:pt x="582168" y="265175"/>
                </a:moveTo>
                <a:lnTo>
                  <a:pt x="573427" y="282141"/>
                </a:lnTo>
                <a:lnTo>
                  <a:pt x="582168" y="286512"/>
                </a:lnTo>
                <a:lnTo>
                  <a:pt x="573023" y="303275"/>
                </a:lnTo>
                <a:lnTo>
                  <a:pt x="611031" y="303275"/>
                </a:lnTo>
                <a:lnTo>
                  <a:pt x="582168" y="265175"/>
                </a:lnTo>
                <a:close/>
              </a:path>
              <a:path w="620394" h="315594">
                <a:moveTo>
                  <a:pt x="9143" y="0"/>
                </a:moveTo>
                <a:lnTo>
                  <a:pt x="0" y="16763"/>
                </a:lnTo>
                <a:lnTo>
                  <a:pt x="564687" y="299107"/>
                </a:lnTo>
                <a:lnTo>
                  <a:pt x="573427" y="282141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835" y="2048805"/>
            <a:ext cx="756285" cy="320040"/>
          </a:xfrm>
          <a:custGeom>
            <a:avLst/>
            <a:gdLst/>
            <a:ahLst/>
            <a:cxnLst/>
            <a:rect l="l" t="t" r="r" b="b"/>
            <a:pathLst>
              <a:path w="756285" h="320039">
                <a:moveTo>
                  <a:pt x="42672" y="268224"/>
                </a:moveTo>
                <a:lnTo>
                  <a:pt x="0" y="315468"/>
                </a:lnTo>
                <a:lnTo>
                  <a:pt x="64008" y="320039"/>
                </a:lnTo>
                <a:lnTo>
                  <a:pt x="58360" y="306324"/>
                </a:lnTo>
                <a:lnTo>
                  <a:pt x="47243" y="306324"/>
                </a:lnTo>
                <a:lnTo>
                  <a:pt x="41148" y="288036"/>
                </a:lnTo>
                <a:lnTo>
                  <a:pt x="49439" y="284658"/>
                </a:lnTo>
                <a:lnTo>
                  <a:pt x="42672" y="268224"/>
                </a:lnTo>
                <a:close/>
              </a:path>
              <a:path w="756285" h="320039">
                <a:moveTo>
                  <a:pt x="49439" y="284658"/>
                </a:moveTo>
                <a:lnTo>
                  <a:pt x="41148" y="288036"/>
                </a:lnTo>
                <a:lnTo>
                  <a:pt x="47243" y="306324"/>
                </a:lnTo>
                <a:lnTo>
                  <a:pt x="56766" y="302453"/>
                </a:lnTo>
                <a:lnTo>
                  <a:pt x="49439" y="284658"/>
                </a:lnTo>
                <a:close/>
              </a:path>
              <a:path w="756285" h="320039">
                <a:moveTo>
                  <a:pt x="56766" y="302453"/>
                </a:moveTo>
                <a:lnTo>
                  <a:pt x="47243" y="306324"/>
                </a:lnTo>
                <a:lnTo>
                  <a:pt x="58360" y="306324"/>
                </a:lnTo>
                <a:lnTo>
                  <a:pt x="56766" y="302453"/>
                </a:lnTo>
                <a:close/>
              </a:path>
              <a:path w="756285" h="320039">
                <a:moveTo>
                  <a:pt x="748284" y="0"/>
                </a:moveTo>
                <a:lnTo>
                  <a:pt x="49439" y="284658"/>
                </a:lnTo>
                <a:lnTo>
                  <a:pt x="56766" y="302453"/>
                </a:lnTo>
                <a:lnTo>
                  <a:pt x="755903" y="18287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5879" y="2551725"/>
            <a:ext cx="58419" cy="381000"/>
          </a:xfrm>
          <a:custGeom>
            <a:avLst/>
            <a:gdLst/>
            <a:ahLst/>
            <a:cxnLst/>
            <a:rect l="l" t="t" r="r" b="b"/>
            <a:pathLst>
              <a:path w="58419" h="381000">
                <a:moveTo>
                  <a:pt x="19812" y="323088"/>
                </a:moveTo>
                <a:lnTo>
                  <a:pt x="0" y="323088"/>
                </a:lnTo>
                <a:lnTo>
                  <a:pt x="28956" y="381000"/>
                </a:lnTo>
                <a:lnTo>
                  <a:pt x="52577" y="333756"/>
                </a:lnTo>
                <a:lnTo>
                  <a:pt x="19812" y="333756"/>
                </a:lnTo>
                <a:lnTo>
                  <a:pt x="19812" y="323088"/>
                </a:lnTo>
                <a:close/>
              </a:path>
              <a:path w="58419" h="381000">
                <a:moveTo>
                  <a:pt x="38100" y="0"/>
                </a:moveTo>
                <a:lnTo>
                  <a:pt x="19812" y="0"/>
                </a:lnTo>
                <a:lnTo>
                  <a:pt x="19812" y="333756"/>
                </a:lnTo>
                <a:lnTo>
                  <a:pt x="38100" y="333756"/>
                </a:lnTo>
                <a:lnTo>
                  <a:pt x="38100" y="0"/>
                </a:lnTo>
                <a:close/>
              </a:path>
              <a:path w="58419" h="381000">
                <a:moveTo>
                  <a:pt x="57912" y="323088"/>
                </a:moveTo>
                <a:lnTo>
                  <a:pt x="38100" y="323088"/>
                </a:lnTo>
                <a:lnTo>
                  <a:pt x="38100" y="333756"/>
                </a:lnTo>
                <a:lnTo>
                  <a:pt x="52577" y="333756"/>
                </a:lnTo>
                <a:lnTo>
                  <a:pt x="57912" y="3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6036" y="2373417"/>
            <a:ext cx="1527175" cy="698500"/>
          </a:xfrm>
          <a:custGeom>
            <a:avLst/>
            <a:gdLst/>
            <a:ahLst/>
            <a:cxnLst/>
            <a:rect l="l" t="t" r="r" b="b"/>
            <a:pathLst>
              <a:path w="1527175" h="698500">
                <a:moveTo>
                  <a:pt x="56369" y="17822"/>
                </a:moveTo>
                <a:lnTo>
                  <a:pt x="48567" y="36028"/>
                </a:lnTo>
                <a:lnTo>
                  <a:pt x="1519427" y="697991"/>
                </a:lnTo>
                <a:lnTo>
                  <a:pt x="1527048" y="679703"/>
                </a:lnTo>
                <a:lnTo>
                  <a:pt x="56369" y="17822"/>
                </a:lnTo>
                <a:close/>
              </a:path>
              <a:path w="1527175" h="698500">
                <a:moveTo>
                  <a:pt x="64007" y="0"/>
                </a:moveTo>
                <a:lnTo>
                  <a:pt x="0" y="3047"/>
                </a:lnTo>
                <a:lnTo>
                  <a:pt x="41147" y="53339"/>
                </a:lnTo>
                <a:lnTo>
                  <a:pt x="48567" y="36028"/>
                </a:lnTo>
                <a:lnTo>
                  <a:pt x="39624" y="32003"/>
                </a:lnTo>
                <a:lnTo>
                  <a:pt x="47243" y="13715"/>
                </a:lnTo>
                <a:lnTo>
                  <a:pt x="58129" y="13715"/>
                </a:lnTo>
                <a:lnTo>
                  <a:pt x="64007" y="0"/>
                </a:lnTo>
                <a:close/>
              </a:path>
              <a:path w="1527175" h="698500">
                <a:moveTo>
                  <a:pt x="47243" y="13715"/>
                </a:moveTo>
                <a:lnTo>
                  <a:pt x="39624" y="32003"/>
                </a:lnTo>
                <a:lnTo>
                  <a:pt x="48567" y="36028"/>
                </a:lnTo>
                <a:lnTo>
                  <a:pt x="56369" y="17822"/>
                </a:lnTo>
                <a:lnTo>
                  <a:pt x="47243" y="13715"/>
                </a:lnTo>
                <a:close/>
              </a:path>
              <a:path w="1527175" h="698500">
                <a:moveTo>
                  <a:pt x="58129" y="13715"/>
                </a:moveTo>
                <a:lnTo>
                  <a:pt x="47243" y="13715"/>
                </a:lnTo>
                <a:lnTo>
                  <a:pt x="56369" y="17822"/>
                </a:lnTo>
                <a:lnTo>
                  <a:pt x="58129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7080" y="1481877"/>
            <a:ext cx="58419" cy="707390"/>
          </a:xfrm>
          <a:custGeom>
            <a:avLst/>
            <a:gdLst/>
            <a:ahLst/>
            <a:cxnLst/>
            <a:rect l="l" t="t" r="r" b="b"/>
            <a:pathLst>
              <a:path w="58419" h="707389">
                <a:moveTo>
                  <a:pt x="38100" y="47243"/>
                </a:moveTo>
                <a:lnTo>
                  <a:pt x="19812" y="47243"/>
                </a:lnTo>
                <a:lnTo>
                  <a:pt x="19812" y="707136"/>
                </a:lnTo>
                <a:lnTo>
                  <a:pt x="38100" y="707136"/>
                </a:lnTo>
                <a:lnTo>
                  <a:pt x="38100" y="47243"/>
                </a:lnTo>
                <a:close/>
              </a:path>
              <a:path w="58419" h="707389">
                <a:moveTo>
                  <a:pt x="28956" y="0"/>
                </a:moveTo>
                <a:lnTo>
                  <a:pt x="0" y="56387"/>
                </a:lnTo>
                <a:lnTo>
                  <a:pt x="19812" y="56387"/>
                </a:lnTo>
                <a:lnTo>
                  <a:pt x="19812" y="47243"/>
                </a:lnTo>
                <a:lnTo>
                  <a:pt x="53216" y="47243"/>
                </a:lnTo>
                <a:lnTo>
                  <a:pt x="28956" y="0"/>
                </a:lnTo>
                <a:close/>
              </a:path>
              <a:path w="58419" h="707389">
                <a:moveTo>
                  <a:pt x="53216" y="47243"/>
                </a:moveTo>
                <a:lnTo>
                  <a:pt x="38100" y="47243"/>
                </a:lnTo>
                <a:lnTo>
                  <a:pt x="38100" y="56387"/>
                </a:lnTo>
                <a:lnTo>
                  <a:pt x="57912" y="56387"/>
                </a:lnTo>
                <a:lnTo>
                  <a:pt x="53216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640" y="1711493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900" spc="-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更新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3883" y="1323381"/>
            <a:ext cx="459105" cy="56515"/>
          </a:xfrm>
          <a:custGeom>
            <a:avLst/>
            <a:gdLst/>
            <a:ahLst/>
            <a:cxnLst/>
            <a:rect l="l" t="t" r="r" b="b"/>
            <a:pathLst>
              <a:path w="459105" h="56515">
                <a:moveTo>
                  <a:pt x="402336" y="0"/>
                </a:moveTo>
                <a:lnTo>
                  <a:pt x="402336" y="56388"/>
                </a:lnTo>
                <a:lnTo>
                  <a:pt x="439928" y="38100"/>
                </a:lnTo>
                <a:lnTo>
                  <a:pt x="411480" y="38100"/>
                </a:lnTo>
                <a:lnTo>
                  <a:pt x="411480" y="18288"/>
                </a:lnTo>
                <a:lnTo>
                  <a:pt x="437949" y="18288"/>
                </a:lnTo>
                <a:lnTo>
                  <a:pt x="402336" y="0"/>
                </a:lnTo>
                <a:close/>
              </a:path>
              <a:path w="459105" h="56515">
                <a:moveTo>
                  <a:pt x="402336" y="18288"/>
                </a:moveTo>
                <a:lnTo>
                  <a:pt x="0" y="18288"/>
                </a:lnTo>
                <a:lnTo>
                  <a:pt x="0" y="38100"/>
                </a:lnTo>
                <a:lnTo>
                  <a:pt x="402336" y="38100"/>
                </a:lnTo>
                <a:lnTo>
                  <a:pt x="402336" y="18288"/>
                </a:lnTo>
                <a:close/>
              </a:path>
              <a:path w="459105" h="56515">
                <a:moveTo>
                  <a:pt x="437949" y="18288"/>
                </a:moveTo>
                <a:lnTo>
                  <a:pt x="411480" y="18288"/>
                </a:lnTo>
                <a:lnTo>
                  <a:pt x="411480" y="38100"/>
                </a:lnTo>
                <a:lnTo>
                  <a:pt x="439928" y="38100"/>
                </a:lnTo>
                <a:lnTo>
                  <a:pt x="458724" y="28956"/>
                </a:lnTo>
                <a:lnTo>
                  <a:pt x="437949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3232" y="43336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3716" y="280415"/>
                </a:moveTo>
                <a:lnTo>
                  <a:pt x="0" y="280415"/>
                </a:lnTo>
                <a:lnTo>
                  <a:pt x="19812" y="318515"/>
                </a:lnTo>
                <a:lnTo>
                  <a:pt x="35173" y="286512"/>
                </a:lnTo>
                <a:lnTo>
                  <a:pt x="13716" y="286512"/>
                </a:lnTo>
                <a:lnTo>
                  <a:pt x="13716" y="280415"/>
                </a:lnTo>
                <a:close/>
              </a:path>
              <a:path w="38100" h="318770">
                <a:moveTo>
                  <a:pt x="25907" y="0"/>
                </a:moveTo>
                <a:lnTo>
                  <a:pt x="13716" y="0"/>
                </a:lnTo>
                <a:lnTo>
                  <a:pt x="13716" y="286512"/>
                </a:lnTo>
                <a:lnTo>
                  <a:pt x="25907" y="286512"/>
                </a:lnTo>
                <a:lnTo>
                  <a:pt x="25907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907" y="280415"/>
                </a:lnTo>
                <a:lnTo>
                  <a:pt x="25907" y="286512"/>
                </a:lnTo>
                <a:lnTo>
                  <a:pt x="35173" y="286512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983644" y="266741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输入图像</a:t>
            </a:r>
            <a:r>
              <a:rPr sz="900" spc="65" dirty="0">
                <a:latin typeface="Cambria Math" panose="02040503050406030204"/>
                <a:cs typeface="Cambria Math" panose="02040503050406030204"/>
              </a:rPr>
              <a:t>X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018" y="609641"/>
            <a:ext cx="1435735" cy="8483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权值初始化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批归一化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欠拟合与过拟</a:t>
            </a:r>
            <a:r>
              <a:rPr sz="9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：dropout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SzPct val="89000"/>
              <a:buAutoNum type="arabicPeriod" startAt="8"/>
              <a:tabLst>
                <a:tab pos="17526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模型正则与超参数调优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2607" y="751881"/>
            <a:ext cx="893444" cy="18796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图像表示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8303" y="2364273"/>
            <a:ext cx="893444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9503" y="2189013"/>
            <a:ext cx="893444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优化算法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38607" y="75903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像素表示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03517" y="1196343"/>
            <a:ext cx="6915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多层感知器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/>
              <a:tabLst>
                <a:tab pos="14097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激活函数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87247" y="2263219"/>
            <a:ext cx="13773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与交叉熵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3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对比多类支撑向量机损失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1082" y="2435355"/>
            <a:ext cx="1034415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5" indent="-94615">
              <a:lnSpc>
                <a:spcPct val="100000"/>
              </a:lnSpc>
              <a:spcBef>
                <a:spcPts val="640"/>
              </a:spcBef>
              <a:buSzPct val="89000"/>
              <a:buAutoNum type="arabicPeriod" startAt="5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计算图与反向传播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40335" indent="-127635">
              <a:lnSpc>
                <a:spcPct val="100000"/>
              </a:lnSpc>
              <a:spcBef>
                <a:spcPts val="540"/>
              </a:spcBef>
              <a:buSzPct val="89000"/>
              <a:buAutoNum type="arabicPeriod" startAt="5"/>
              <a:tabLst>
                <a:tab pos="14097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动量法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07315" indent="-94615">
              <a:lnSpc>
                <a:spcPct val="100000"/>
              </a:lnSpc>
              <a:spcBef>
                <a:spcPts val="540"/>
              </a:spcBef>
              <a:buSzPct val="89000"/>
              <a:buAutoNum type="arabicPeriod" startAt="5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自适应梯度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7227" y="433365"/>
            <a:ext cx="891540" cy="187960"/>
          </a:xfrm>
          <a:prstGeom prst="rect">
            <a:avLst/>
          </a:prstGeom>
          <a:solidFill>
            <a:srgbClr val="FCD5B5"/>
          </a:solidFill>
          <a:ln w="12191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训练过程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0" y="20361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6047999" y="0"/>
                </a:moveTo>
                <a:lnTo>
                  <a:pt x="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0" y="3429549"/>
            <a:ext cx="6048375" cy="12700"/>
          </a:xfrm>
          <a:custGeom>
            <a:avLst/>
            <a:gdLst/>
            <a:ahLst/>
            <a:cxnLst/>
            <a:rect l="l" t="t" r="r" b="b"/>
            <a:pathLst>
              <a:path w="6048375" h="12700">
                <a:moveTo>
                  <a:pt x="0" y="0"/>
                </a:moveTo>
                <a:lnTo>
                  <a:pt x="6047999" y="0"/>
                </a:lnTo>
                <a:lnTo>
                  <a:pt x="6047999" y="12191"/>
                </a:lnTo>
                <a:lnTo>
                  <a:pt x="0" y="121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552890" y="3277746"/>
            <a:ext cx="1993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mFkNmRlODdiYzQyYjk2OGIxODg4NzZiMjk3NDc0ZT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23934</Words>
  <Application>WPS 演示</Application>
  <PresentationFormat>自定义</PresentationFormat>
  <Paragraphs>4717</Paragraphs>
  <Slides>176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176</vt:i4>
      </vt:variant>
    </vt:vector>
  </HeadingPairs>
  <TitlesOfParts>
    <vt:vector size="193" baseType="lpstr">
      <vt:lpstr>Arial</vt:lpstr>
      <vt:lpstr>宋体</vt:lpstr>
      <vt:lpstr>Wingdings</vt:lpstr>
      <vt:lpstr>黑体</vt:lpstr>
      <vt:lpstr>Calibri</vt:lpstr>
      <vt:lpstr>微软雅黑</vt:lpstr>
      <vt:lpstr>Cambria Math</vt:lpstr>
      <vt:lpstr>Times New Roman</vt:lpstr>
      <vt:lpstr>Symbol</vt:lpstr>
      <vt:lpstr>Arial Unicode MS</vt:lpstr>
      <vt:lpstr>Wingdings</vt:lpstr>
      <vt:lpstr>Arial</vt:lpstr>
      <vt:lpstr>΢</vt:lpstr>
      <vt:lpstr>Cambria Math</vt:lpstr>
      <vt:lpstr>Segoe Print</vt:lpstr>
      <vt:lpstr>Calibri</vt:lpstr>
      <vt:lpstr>Office Theme</vt:lpstr>
      <vt:lpstr>PowerPoint 演示文稿</vt:lpstr>
      <vt:lpstr>输入图像X</vt:lpstr>
      <vt:lpstr>如何表示图像？</vt:lpstr>
      <vt:lpstr>输入图像X</vt:lpstr>
      <vt:lpstr>线性分类器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全连接神经网络</vt:lpstr>
      <vt:lpstr>PowerPoint 演示文稿</vt:lpstr>
      <vt:lpstr>全连接神经网络的权值</vt:lpstr>
      <vt:lpstr>全连接神经网络的权值</vt:lpstr>
      <vt:lpstr>PowerPoint 演示文稿</vt:lpstr>
      <vt:lpstr>PowerPoint 演示文稿</vt:lpstr>
      <vt:lpstr>全连接神经网络的权值</vt:lpstr>
      <vt:lpstr>全连接神经网络与线性不可分</vt:lpstr>
      <vt:lpstr>全连接神经网络与线性不可分</vt:lpstr>
      <vt:lpstr>全连接神经网络与线性不可分</vt:lpstr>
      <vt:lpstr>全连接神经网络与线性不可分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全连接神经网络绘制与命名</vt:lpstr>
      <vt:lpstr>全连接神经网络绘制与命名</vt:lpstr>
      <vt:lpstr>输入图像X</vt:lpstr>
      <vt:lpstr>PowerPoint 演示文稿</vt:lpstr>
      <vt:lpstr>PowerPoint 演示文稿</vt:lpstr>
      <vt:lpstr>激活函数</vt:lpstr>
      <vt:lpstr>激活函数</vt:lpstr>
      <vt:lpstr>常用的激活函数</vt:lpstr>
      <vt:lpstr>常用的激活函数</vt:lpstr>
      <vt:lpstr>常用的激活函数</vt:lpstr>
      <vt:lpstr>常用的激活函数</vt:lpstr>
      <vt:lpstr>常用的激活函数</vt:lpstr>
      <vt:lpstr>网络结构设计</vt:lpstr>
      <vt:lpstr>网络结构设计</vt:lpstr>
      <vt:lpstr>网络结构设计</vt:lpstr>
      <vt:lpstr>全连接神经网络小结</vt:lpstr>
      <vt:lpstr>输入图像X</vt:lpstr>
      <vt:lpstr>SOFTMAX</vt:lpstr>
      <vt:lpstr>SOFTMAX</vt:lpstr>
      <vt:lpstr>SOFTMAX</vt:lpstr>
      <vt:lpstr>交叉熵损失</vt:lpstr>
      <vt:lpstr>交叉熵损失</vt:lpstr>
      <vt:lpstr>交叉熵损失</vt:lpstr>
      <vt:lpstr>熵：	H p = − ∑x p     x logp(x)</vt:lpstr>
      <vt:lpstr>交叉熵损失</vt:lpstr>
      <vt:lpstr>交叉熵损失</vt:lpstr>
      <vt:lpstr>交叉熵损失</vt:lpstr>
      <vt:lpstr>输入图像X</vt:lpstr>
      <vt:lpstr>交叉熵损失 vs 多类支撑向量机损失</vt:lpstr>
      <vt:lpstr>交叉熵损失 vs 多类支撑向量机损失</vt:lpstr>
      <vt:lpstr>交叉熵损失 vs 多类支撑向量机损失</vt:lpstr>
      <vt:lpstr>交叉熵损失 vs 多类支撑向量机损失</vt:lpstr>
      <vt:lpstr>输入图像X</vt:lpstr>
      <vt:lpstr>PowerPoint 演示文稿</vt:lpstr>
      <vt:lpstr>计算图与反向传播算法</vt:lpstr>
      <vt:lpstr>计算图的前反向计算</vt:lpstr>
      <vt:lpstr>计算图总结</vt:lpstr>
      <vt:lpstr>反向传播示例2</vt:lpstr>
      <vt:lpstr>反向传播示例2</vt:lpstr>
      <vt:lpstr>反向传播示例2</vt:lpstr>
      <vt:lpstr>反向传播示例2</vt:lpstr>
      <vt:lpstr>反向传播示例2</vt:lpstr>
      <vt:lpstr>反向传播示例2</vt:lpstr>
      <vt:lpstr>反向传播示例2</vt:lpstr>
      <vt:lpstr>反向传播示例2</vt:lpstr>
      <vt:lpstr>计算图的颗粒度</vt:lpstr>
      <vt:lpstr>计算图中常见的门单元</vt:lpstr>
      <vt:lpstr>输入图像X</vt:lpstr>
      <vt:lpstr>再看激活函数</vt:lpstr>
      <vt:lpstr>再看激活函数</vt:lpstr>
      <vt:lpstr>梯度消失</vt:lpstr>
      <vt:lpstr>激活函数</vt:lpstr>
      <vt:lpstr>激活函数选择</vt:lpstr>
      <vt:lpstr>激活函数选择</vt:lpstr>
      <vt:lpstr>梯度爆炸</vt:lpstr>
      <vt:lpstr>PowerPoint 演示文稿</vt:lpstr>
      <vt:lpstr>输入图像X</vt:lpstr>
      <vt:lpstr>梯度算法改进</vt:lpstr>
      <vt:lpstr>梯度算法改进</vt:lpstr>
      <vt:lpstr>梯度下降法存在的问题</vt:lpstr>
      <vt:lpstr>梯度下降法存在的问题</vt:lpstr>
      <vt:lpstr>梯度下降法存在的问题</vt:lpstr>
      <vt:lpstr>梯度下降法存在的问题</vt:lpstr>
      <vt:lpstr>梯度算法改进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动量法还有什么效果？</vt:lpstr>
      <vt:lpstr>动量法还有什么效果？</vt:lpstr>
      <vt:lpstr>动量法还有什么效果？</vt:lpstr>
      <vt:lpstr>梯度算法改进</vt:lpstr>
      <vt:lpstr>自适应梯度法</vt:lpstr>
      <vt:lpstr>自适应梯度法</vt:lpstr>
      <vt:lpstr>自适应梯度法</vt:lpstr>
      <vt:lpstr>自适应梯度法</vt:lpstr>
      <vt:lpstr>RMSProp</vt:lpstr>
      <vt:lpstr>RMSProp</vt:lpstr>
      <vt:lpstr>RMSProp</vt:lpstr>
      <vt:lpstr>梯度算法改进</vt:lpstr>
      <vt:lpstr>Adam</vt:lpstr>
      <vt:lpstr>Adam</vt:lpstr>
      <vt:lpstr>Adam</vt:lpstr>
      <vt:lpstr>Adam</vt:lpstr>
      <vt:lpstr>Adam</vt:lpstr>
      <vt:lpstr>Adam</vt:lpstr>
      <vt:lpstr>Adam</vt:lpstr>
      <vt:lpstr>梯度算法改进</vt:lpstr>
      <vt:lpstr>输入图像X</vt:lpstr>
      <vt:lpstr>输入图像X</vt:lpstr>
      <vt:lpstr>PowerPoint 演示文稿</vt:lpstr>
      <vt:lpstr>全零初始化</vt:lpstr>
      <vt:lpstr>随机权值初始化</vt:lpstr>
      <vt:lpstr>随机权值初始化</vt:lpstr>
      <vt:lpstr>随机权值初始化</vt:lpstr>
      <vt:lpstr>一个神经元，其输入为zl,z2, … zN,，这N个输入是独立同分布的；其权值为wl, … … , wN，  它们也是独立同分布的，且w与z是独立的；其激活函数为f；其最终输出y的表达式：</vt:lpstr>
      <vt:lpstr>一个神经元，其输入为zl,z2, … zN,，这N个输入是独立同分布的；其权值为wl, … … , wN，  它们也是独立同分布的，且w与z是独立的；其激活函数为f；其最终输出y的表达式：</vt:lpstr>
      <vt:lpstr>Xavier初始化</vt:lpstr>
      <vt:lpstr>Xavier初始化</vt:lpstr>
      <vt:lpstr>HE初始化(MSRA)</vt:lpstr>
      <vt:lpstr>权值初始化小结</vt:lpstr>
      <vt:lpstr>输入图像X</vt:lpstr>
      <vt:lpstr>批归一化</vt:lpstr>
      <vt:lpstr>PowerPoint 演示文稿</vt:lpstr>
      <vt:lpstr>PowerPoint 演示文稿</vt:lpstr>
      <vt:lpstr>PowerPoint 演示文稿</vt:lpstr>
      <vt:lpstr>输入图像X</vt:lpstr>
      <vt:lpstr>PowerPoint 演示文稿</vt:lpstr>
      <vt:lpstr>过拟合与欠拟合</vt:lpstr>
      <vt:lpstr>过拟合与欠拟合</vt:lpstr>
      <vt:lpstr>学习过程中的过拟合</vt:lpstr>
      <vt:lpstr>应对过拟合</vt:lpstr>
      <vt:lpstr>应对过拟合</vt:lpstr>
      <vt:lpstr>应对过拟合</vt:lpstr>
      <vt:lpstr>应对过拟合</vt:lpstr>
      <vt:lpstr>应对过拟合</vt:lpstr>
      <vt:lpstr>应对过拟合</vt:lpstr>
      <vt:lpstr>随机失活（Dropout）</vt:lpstr>
      <vt:lpstr>随机失活（Dropout）</vt:lpstr>
      <vt:lpstr>随机失活（Dropout）</vt:lpstr>
      <vt:lpstr>随机失活（Dropout）</vt:lpstr>
      <vt:lpstr>随机失活（Dropout）</vt:lpstr>
      <vt:lpstr>PowerPoint 演示文稿</vt:lpstr>
      <vt:lpstr>随机失活（Dropout）</vt:lpstr>
      <vt:lpstr>随机失活（Dropout）</vt:lpstr>
      <vt:lpstr>输入图像X</vt:lpstr>
      <vt:lpstr>神经网络中的超参数</vt:lpstr>
      <vt:lpstr>学习率设置</vt:lpstr>
      <vt:lpstr>学习率设置</vt:lpstr>
      <vt:lpstr>学习率设置</vt:lpstr>
      <vt:lpstr>学习率设置</vt:lpstr>
      <vt:lpstr>学习率设置</vt:lpstr>
      <vt:lpstr>超参数优化方法</vt:lpstr>
      <vt:lpstr>超参数优化方法</vt:lpstr>
      <vt:lpstr>超参数优化方法</vt:lpstr>
      <vt:lpstr>超参数优化方法</vt:lpstr>
      <vt:lpstr>超参数优化方法</vt:lpstr>
      <vt:lpstr>超参数搜索策略</vt:lpstr>
      <vt:lpstr>超参数搜索策略</vt:lpstr>
      <vt:lpstr>超参数的标尺空间</vt:lpstr>
      <vt:lpstr>超参数的标尺空间</vt:lpstr>
      <vt:lpstr>输入图像X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到处走走HJF</cp:lastModifiedBy>
  <cp:revision>26</cp:revision>
  <dcterms:created xsi:type="dcterms:W3CDTF">2020-11-12T04:35:00Z</dcterms:created>
  <dcterms:modified xsi:type="dcterms:W3CDTF">2024-04-17T08:13:55Z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2020-11-13T00:00:00Z</vt:filetime>
  </property>
  <property fmtid="{D5CDD505-2E9C-101B-9397-08002B2CF9AE}" pid="3" name="Creator">
    <vt:lpwstr>Adobe Acrobat Pro DC 19.8.20074</vt:lpwstr>
  </property>
  <property fmtid="{D5CDD505-2E9C-101B-9397-08002B2CF9AE}" pid="4" name="LastSaved">
    <vt:filetime>2020-11-13T00:00:00Z</vt:filetime>
  </property>
  <property fmtid="{D5CDD505-2E9C-101B-9397-08002B2CF9AE}" pid="5" name="ICV">
    <vt:lpwstr>A5A264789FDB49FC9246EDC80DB320CC_12</vt:lpwstr>
  </property>
  <property fmtid="{D5CDD505-2E9C-101B-9397-08002B2CF9AE}" pid="6" name="KSOProductBuildVer">
    <vt:lpwstr>2052-12.1.0.16729</vt:lpwstr>
  </property>
</Properties>
</file>